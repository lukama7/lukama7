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مرحباً. هذا الكورس لمن يريد أن يبدأ مساره في الحوكمة والمخاطر والامتثال، أو ما يُختصر بـ GRC، حتى لو لم يعمل في الأمن السيبراني من قبل. سنبدأ بالمفاهيم بلغة بسيطة، ثم الأطر والمعايير التي ستسمع عنها في كل إعلان وظيفي، ثم الشهادات وكيف تختار بينها، ثم الجزء العملي: خطة 90 يوماً، ومشاريع تبني بها خبرة، وكيف تكتب سيرتك وتضبط ملفك في لينكدإن وتستعد للمقابلة. الحروف الثلاثة على اليمين هي الفكرة كلها: الحوكمة تحدد من يقرر وبأي قواعد، والمخاطر تسأل ما الذي قد يحدث وماذا نفعل حياله، والامتثال يسأل هل نلتزم بالقواعد وكيف نثبت ذلك.</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هذه خريطة الكورس: تسع وحدات في مرحلتين. المرحلة الأولى، من الوحدة الأولى إلى الخامسة، المعرفة: ما هو GRC، ثم أساس تقني مختصر تحتاجه لتفهم ما تقيّمه، ثم المفاهيم الأساسية: المخاطر والضوابط والوثائق والأدلة والمؤشرات، ثم الأطر والمعايير وكيف تعرف ما ينطبق على الجهة، ثم الشهادات. والمرحلة الثانية، من السادسة إلى التاسعة، الوصول إلى الوظيفة: خطة تسعين يوماً ومشاريع لملف أعمالك، ثم السيرة الذاتية، ثم لينكدإن، ثم المقابلة. وفي الوحدات الثلاث الأولى أمثلة محلولة وتمارين قصيرة مع إجاباتها؛ أوقف الفيديو عندها وطبّق.</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GRC من أكثر مسارات الأمن السيبراني ترحيباً بالقادمين من تخصصات مختلفة، لأنه يجمع الفهم التقني بالكتابة والتحليل والتواصل. الخريج الجديد يبدأ عادة محللاً مبتدئاً، وموظف التقنية يملك ميزة فهم الأنظمة، ومختص التدقيق أو القانون أو الجودة يملك نصف المهارة أصلاً: قراءة النصوص، والأدلة، والعمليات. في نهاية الكورس يجب أن تملك ستة مخرجات ملموسة، لا معلومات فقط. أنصح أن تفتح ملفاً الآن تكتب فيه كل مخرج حين تنجزه.</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الوحدة الأولى تجيب عن سؤال واحد: ما الذي سأفعله فعلاً لو عملت في GRC؟ كثيرون يدخلون هذا المسار بصورة خاطئة: إما أنه «أوراق وسياسات» فقط، أو أنه يحتاج سنوات من الخبرة التقنية. الحقيقة بين الاثنين، وسنراها في خمس شرائح.</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احفظ الأسئلة الثلاثة، فهي أسهل طريقة لشرح GRC في مقابلة. الحوكمة: من يقرر وبأي قواعد وكيف نتابع؟ مثالها قرار تشكيل لجنة إشرافية واعتماد السياسات. المخاطر: ما الذي قد يضرنا، وما احتماله وأثره، وماذا نفعل؟ مثالها سجل مخاطر فيه خطر «حسابات مميزة بلا تحقق متعدد العوامل» بخطة معالجة ومالك وموعد. الامتثال: هل نلتزم بالأنظمة والمعايير وسياساتنا، وكيف نثبت؟ مثاله تقييم فجوات مقابل ضوابط الهيئة الوطنية للأمن السيبراني وسجل أدلة. الفكرة الأهم في الشريط السفلي: الثلاثة ليست أقساماً منفصلة. السياسة بلا تقييم مخاطر تحمي ما لا يهم، والامتثال بلا حوكمة يتحول إلى تعبئة نماذج.</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ثلاثة أسباب تجعل وظائف GRC مستمرة حتى حين تتغير التقنيات. الأول الأنظمة: في المملكة مثلاً تلتزم الجهات الحكومية والجهات المشمولة بضوابط الهيئة الوطنية للأمن السيبراني، ويلتزم من يعالج بيانات شخصية بنظام حماية البيانات الشخصية. النص وحده لا يطبق نفسه؛ أحد يجب أن يقرأه ويحوله إلى خطة وأدلة. الثاني الموارد: الميزانية محدودة دائماً، وتقييم المخاطر هو ما يجيب عن سؤال الإدارة: أين نصرف أولاً؟ الثالث الثقة: حين تتعاقد جهة مع مورد، أو تخضع لتقييم، يُطلب الدليل. لاحظ أننا لم نذكر أرقاماً عن حجم السوق أو الرواتب؛ هذه تتغير بسرعة، وابحث عنها في مصادر حديثة إن احتجتها.</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هذه المقارنة تساعدك أن تختار بوعي. إن كنت تحب الكتابة والتحليل والعمل مع الإدارات المختلفة، فـ GRC مناسب لك. وإن كنت تحب التحقيق اللحظي فمركز العمليات أقرب، أو الاختراق إن كنت تحب كسر الأنظمة، أو الهندسة إن كنت تحب البناء. لكن انتبه للملاحظة في الأسفل: أضعف مختصي GRC هم من لا يفهمون التقنية إطلاقاً، فيقبلون أي لقطة شاشة دليلاً. لا تحتاج أن تكون مهندساً، لكن تحتاج أن تعرف ما هو التحقق متعدد العوامل، وما هو سجل الأحداث، ولماذا يُفصل الشبكة إلى مناطق. والأدوار ليست جزراً معزولة: كثيرون بدؤوا في الدعم الفني أو مركز العمليات ثم انتقلوا إلى GRC، والعكس.</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هذا يوم مركّب من مهام شائعة لمحلل مبتدئ، وليس جدولاً ثابتاً. لاحظ ثلاثة أشياء. الأول: أغلب العمل تواصل ومتابعة؛ الأدلة لا تصل وحدها، والخطط لا تُنفذ دون من يتابعها. الثاني: هناك لحظة حكم مهني، مثل الساعة 12: هل لقطة الشاشة تكفي دليلاً؟ هنا تظهر قيمة فهمك التقني. الثالث: الكتابة حاضرة في كل شيء: إجراء، وتقرير، وشرائح للجنة. لذلك سنعطي السيرة الذاتية ولينكدإن وقتاً كاملاً لاحقاً؛ مهارة الكتابة نفسها تُقيَّم من سيرتك قبل أي مقابلة. والأدوات بسيطة غالباً: جداول البيانات والمستندات، وفي الجهات الكبيرة منصات GRC متخصصة.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الخرافة الأولى تجعل البعض يستخف بالمجال، والثانية تجعل البعض يدخله بلا أساس فيفشل في أول مراجعة دليل. الثالثة هي الأكثر ضرراً للخريجين: كثير من الإعلانات تطلب سنوات خبرة، لكن الجهات توظف مبتدئين أيضاً، وأحياناً بمسميات لا تحمل كلمة GRC: مساعد امتثال، أو محلل مخاطر مبتدئ، أو متدرب تدقيق تقنية المعلومات. والرابعة تجعل البعض يصرف ميزانيته على شهادات متتالية دون أن يبني ما يقوله في المقابلة. سنعالج كل خرافة عملياً في الوحدات القادمة: الأساس التقني في الوحدة 02، والمفاهيم في 03، والشهادات في 05، والمشاريع في 06.</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قبل المفاهيم الأساسية للحوكمة والمخاطر والامتثال، نحتاج أساساً تقنياً مختصراً. ستسمع في كل تقييم عن التحقق متعدد العوامل، والصلاحيات، والشبكة الافتراضية الخاصة، والسجلات، والنسخ الاحتياطي. لن نتعمق في البروتوكولات ولا الأوامر ولا إعداد المنتجات؛ هذا عمل المهندسين. ما يحتاجه مختص GRC أن يفهم ما الشيء، وما الذي قد يسوء فيه، وما الضابط الذي يعالجه، وما الدليل الذي يثبت أن الضابط يعمل.</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هذه الطريقة التي سنقرأ بها كل مفهوم تقني في الوحدة. أربعة أسئلة. ما هو؟ تعريف بجملة، دون تفاصيل الإعداد. ما الخطر؟ ما الذي قد يحدث لو غاب أو ضعف. ما الضابط؟ ما الذي يعالج الخطر، ومن أي مرجع. وما الدليل؟ ما الذي ستطلبه لتتأكد أن الضابط يعمل فعلاً. والمثال تحت كل سؤال هو التحقق متعدد العوامل. وكل الأمثلة في الوحدة من شركة توصيل افتراضية بسيطة، لها تطبيق لتتبع الشحنات، ونظام سحابي للرواتب، وبريد سحابي، ومورد خارجي يدعم خادم التتبع. المصدر: الضوابط الأساسية للأمن السيبراني ‎ECC-2:2024‎، الهيئة الوطنية للأمن السيبراني، ‎https://nca.gov.sa/en/regulatory-documents/controls-list/ecc‎/ . تاريخ التحقق من نصوص الضوابط: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الهويات والصلاحيات أكثر موضوع تقني ستقابله في GRC. خطوتان تختلطان كثيراً. المصادقة تجيب عن سؤال: هل أنت فعلاً من تدّعي؟ وتثبتها كلمة المرور، ومعها عامل ثانٍ مثل رمز من تطبيق، وهذا هو التحقق متعدد العوامل. ثم التفويض: ماذا يُسمح لك أن تفعل؟ ويحدده دورك. مسؤولة الرواتب تدخل بكلمة المرور والرمز، ثم يسمح لها دورها بعرض الرواتب وتعديلها. وتحت المخطط ثلاث أفكار. الحساب العادي يستخدم النظام، والحساب الإداري يغيّر إعداداته وصلاحيات الآخرين، لذلك هو أخطر ما يُسرق. وRBAC يعني أن الصلاحيات تُعطى للدور لا للشخص؛ فإذا انتقل موظف من الموارد البشرية إلى العمليات يجب أن تُزال صلاحيات الرواتب، وهذا من أكثر ما تجده في مراجعات الصلاحيات: صلاحيات قديمة بقيت بعد تغيير الدور.</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أربعة مفاهيم في الهويات بالأسئلة الأربعة. الحساب الإداري: خطره السيطرة على النظام كله، وضابطه أن تكون الحسابات الإدارية بأسماء أصحابها وتُدار صلاحياتها، وهذا الضابط ‎2-2-3-4‎ في ECC؛ والدليل قائمة الحسابات الإدارية ومالكيها وسجل استخدامها. التحقق متعدد العوامل: الضابط ‎2-2-3-2‎، ودليله الإعداد وسجل الدخول. RBAC وأقل صلاحية: الخطر صلاحيات زائدة تبقى بعد تغيير الدور؛ والضابط أدوار معتمدة ومراجعة دورية، ‎2-2-3-3‎ و‎2-2-3-5‎. وفصل المهام: لا يكمل شخص واحد عملية حساسة وحده، مثل تعديل الحساب البنكي للموظف ثم اعتماد مسير الرواتب. المصدر: الضوابط الأساسية للأمن السيبراني ‎ECC-2:2024‎، الهيئة الوطنية للأمن السيبراني، ‎https://nca.gov.sa/en/regulatory-documents/controls-list/ecc‎/ . تاريخ التحقق من نصوص الضوابط: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الدليل المركزي، مثل Active Directory، يحفظ حسابات الموظفين ومجموعاتهم في مكان واحد، وتسأله الأنظمة عند الدخول: من هذا المستخدم؟ وإلى أي مجموعة ينتمي؟ والطريقة التي تسأل بها تسمى LDAP. لا تحتاج أكثر من هذه الفكرة. لماذا يهم GRC؟ لأن تعطيل حساب واحد في الدليل يغلق كل ما يعتمد عليه، ولأن المجموعات تحدد الصلاحيات: من في مجموعة ‎VPN-Users‎ يدخل عن بعد. لكن انتبه للأنظمة التي لا يربطها الدليل، مثل نظام سحابي بحسابات مستقلة؛ تعطيل الحساب في الدليل لا يغلقه، ولهذا قد يبقى حساب المغادر نشطاً فيه. والأسئلة الأربعة في الأسفل: الخطر حساب مغادر نشط أو مجموعة إدارية متضخمة، والضابط ربط الدليل بإجراء المغادرين ومراجعة المجموعات الإدارية، والدليل مقارنة الحسابات المعطلة بقائمة المغادرين، وقائمة أعضاء المجموعات الإدارية.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صورة مبسطة جداً لشبكة الشركة في المثال. الموظف في المنزل يتصل من الإنترنت، فيمر أولاً بالجدار الناري، الذي يسمح بالاتصالات المعتمدة فقط، ثم ببوابة VPN، وهي نفق مشفر إلى الداخل، ومعها التحقق متعدد العوامل. والشبكة الداخلية مقسمة: شبكة للمكاتب وشبكة للخوادم، وبينهما قواعد؛ فإذا اختُرق جهاز موظف لا ينتقل المهاجم بسهولة إلى الخوادم. وتحتها خادم تطبيق التتبع، وهو سحابي خارج الشبكة الداخلية، ويدعمه مورد بأداة مكشوفة على الإنترنت؛ ليس كل خطر داخل الشبكة. وفي الأسفل السجلات: كل هذه الأجزاء تسجل من دخل ومتى، وبلا سجلات لا يمكن الاكتشاف ولا التحقيق.</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الشبكات بالأسئلة الأربعة. الجدار الناري: الضابط قواعد معتمدة لكل منها مالك وسبب، وتقييد الخدمات والمنافذ، وهذا ‎2-5-3-5‎؛ والدليل قائمة القواعد وتاريخ آخر مراجعة. VPN: الخطر كلمة مرور مسروقة تفتح الشبكة، والضابط التحقق متعدد العوامل ومجموعة محددة من المستخدمين. فصل الشبكات: ‎2-5-3-1‎، وفصل الإنتاج عن التطوير والاختبار ‎2-5-3-2‎. والسجلات: تُفعّل للأصول المهمة وللدخول عن بعد، وتُحفظ اثني عشر شهراً على الأقل، وهذا من ‎2-12-3‎. المصدر: الضوابط الأساسية للأمن السيبراني ‎ECC-2:2024‎، الهيئة الوطنية للأمن السيبراني، ‎https://nca.gov.sa/en/regulatory-documents/controls-list/ecc‎/ . تاريخ التحقق من نصوص الضوابط: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السحابة ثلاثة نماذج. IaaS: تستأجر خادماً، وتدير أنت نظام تشغيله وتطبيقه، مثل خادم تطبيق التتبع في المثال. PaaS: منصة تشغّل عليها تطبيقك دون أن تدير الخوادم. SaaS: خدمة جاهزة تستخدمها، مثل نظام الرواتب والبريد. الجدول يبين من يتولى كل طبقة عادةً. والسطر الذي لا يتغير: البيانات والحسابات والصلاحيات مسؤولية الجهة في كل النماذج. مزود نظام الرواتب يوفر أداة الصلاحيات، لكنه لا يعرف من يحتاج «تعديل الرواتب» في شركتك. والتقسيم الدقيق في عقد كل مزود ووثائقه، فلا تعمم الجدول. الخطر أن تفترض الجهة أن المزود يحمي كل شيء؛ والضابط مسؤوليات مكتوبة في العقد، ومنها حماية البيانات وإعادتها عند انتهاء الخدمة، كما في ECC ‎4-2-3‎. المصدر: الضوابط الأساسية للأمن السيبراني ‎ECC-2:2024‎، الهيئة الوطنية للأمن السيبراني، ‎https://nca.gov.sa/en/regulatory-documents/controls-list/ecc‎/ . تاريخ التحقق من نصوص الضوابط: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أربعة ضوابط حماية ستسأل عنها كثيراً. إدارة الثغرات والتحديثات: فحص دوري، وتصنيف حسب الخطورة، ومعالجة بمهل، واختبار التحديث قبل الإنتاج؛ وهذا ‎2-10-3‎. والدليل ليس السياسة، بل تقرير الفحص وقائمة الثغرات المفتوحة بأعمارها. التشفير: للبيانات المخزنة والمنقولة حسب تصنيفها، مع إدارة المفاتيح، ‎2-8-3‎. النسخ الاحتياطي: الخطر الحقيقي ليس غياب النسخ، بل نسخ لا تُستعاد عند الحاجة؛ لذلك يطلب ‎2-9-3‎ فحصاً دورياً لفعالية الاستعادة، والدليل محضر اختبار استعادة. وDLP أداة تمنع خروج البيانات الحساسة، ولا تعمل قبل تصنيف البيانات؛ ولا يسميها ECC بالاسم، بل تدخل في حماية البيانات حسب تصنيفها، ‎2-7‎. المصدر: الضوابط الأساسية للأمن السيبراني ‎ECC-2:2024‎، الهيئة الوطنية للأمن السيبراني، ‎https://nca.gov.sa/en/regulatory-documents/controls-list/ecc‎/ . تاريخ التحقق من نصوص الضوابط: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التطبيقات. ثلاث بيئات منفصلة: التطوير، حيث يُكتب الكود ببيانات وهمية؛ والاختبار، حيث يُجرَّب التغيير ببيانات غير حقيقية؛ والإنتاج، النظام الذي يخدم العملاء ببيانات حقيقية. ولا ينتقل تغيير إلى الإنتاج إلا عبر إدارة التغيير: طلب، ثم تقييم الأثر والمخاطر، ثم اعتماد، ثم اختبار، ثم تنفيذ في وقت محدد، ثم مراجعة بعد التنفيذ. ومثال مما يكشفه مختص GRC: سجل التغييرات في بوابة VPN يبين إنشاء استثناء من التحقق متعدد العوامل بعد تفعيله بدقائق، بلا طلب تغيير ولا موافقة. هذا ما تكشفه مطابقة سجل التغييرات بتذاكر التغيير.</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التطبيقات بالأسئلة الأربعة. فصل البيئات: الخطر تغيير غير مختبر يعطل الإنتاج، والضابط فصل شبكة الإنتاج عن التطوير والاختبار، ‎2-5-3-2‎، وبيانات غير حقيقية للاختبار. إدارة التغيير: الضابط إجراء معتمد، ومراجعة الإعداد الآمن قبل إطلاق المشاريع والتغييرات، ‎1-6-2‎؛ والدليل الأقوى مطابقة سجل التغييرات بالتذاكر، لا قراءة الإجراء. والتطوير الآمن: معايير الكود الآمن، ومصادر موثوقة للمكتبات، واختبار الالتزام قبل الإطلاق، ‎1-6-3‎. وهذا مدخل فقط؛ التعمق في البرمجة خارج هذا الكورس. المصدر: الضوابط الأساسية للأمن السيبراني ‎ECC-2:2024‎، الهيئة الوطنية للأمن السيبراني، ‎https://nca.gov.sa/en/regulatory-documents/controls-list/ecc‎/ . تاريخ التحقق من نصوص الضوابط: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تمرين قصير على الوحدة. ثلاثة مواقف افتراضية. لكل موقف اكتب: ما المفهوم التقني، وما الخطر، وما الضابط المناسب، وما الدليل الذي ستطلبه. أوقف الفيديو، وخذ عشر دقائق، ثم انتقل إلى الإجابة.</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الإجابة. الأول فصل المهام: موظف يعدّل الحساب البنكي ثم يعتمد المسير يستطيع تحويل راتب إلى حساب آخر دون أن يُكتشف؛ والضابط فصل التعديل عن الاعتماد وموافقة ثانية، والدليل تقرير بمن يجمع الصلاحيتين وعينة من التغييرات بموافقاتها. الثاني إدارة التغيير وفصل البيئات: الدليل تذكرة التغيير بموافقتها ونتيجة اختباره، ومطابقة سجل الخادم بالتذاكر. الثالث السجلات: تسعون يوماً أقل من اثني عشر شهراً يطلبها ‎2-12-3-5‎، ولا مراجعة. إن ذكرت ضابطاً آخر مناسباً بمبرر، فإجابتك مقبولة.</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هذه أطول وحدة في الكورس وأهمها. كل مصطلح فيها ستراه في الإعلانات الوظيفية وفي أسئلة المقابلة وفي العمل اليومي. لا تحفظ التعريفات حرفياً؛ اربط كل مصطلح بمثال من حياتك أو من جهة تعرفها. في آخر الوحدة قاموس بالعربية والإنجليزية، لأن أغلب المصادر والإعلانات تستخدم المصطلحين معاً.</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ثلاثية السرية والسلامة والتوافر، وتُختصر بالإنجليزية CIA، هي أول سؤال في أغلب المقابلات المبتدئة. أجب بمثال لا بتعريف. السرية: ملف رواتب وصل إلى غير المخول. السلامة: أحدهم عدّل مبلغاً في أمر صرف دون أن يُكتشف. التوافر: البوابة الإلكترونية متوقفة بسبب برمجية فدية. لاحظ أن الحادثة الواحدة قد تمس أكثر من ركن: برمجية الفدية توقف الخدمة، وقد تسرب البيانات قبل تشفيرها. بعض المراجع تضيف مفاهيم مثل الأصالة وعدم الإنكار، لكن الثلاثة الأساسية تكفي للبداية.</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استخدم مثالاً واحداً لكل المصطلحات، فهذا ما يثبتها في الذاكرة. الأصل الحاسوب وما عليه. التهديد شيء يأتي من الخارج أو من الظروف: سرقة، أو مهاجم، أو خطأ موظف. الثغرة شيء عندنا نستطيع إصلاحه: القرص غير مشفر. الاحتمال والأثر يقدّران الخطر. والخطر نفسه جملة تجمع الثلاثة الأولى. الخطأ الشائع في المقابلات: «التصيد ثغرة». لا؛ التصيد تهديد، والثغرة قد تكون ضعف التوعية أو غياب التحقق متعدد العوامل. وطريقة كتابة الخطر في السجل مهمة: «تسرب الرواتب بسبب سرقة حاسوب غير مشفر» أوضح بكثير من «خطر الحواسيب».</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المصفوفة أبسط أداة لترتيب المخاطر، وستراها في أغلب منهجيات الجهات. كل خطر يأخذ درجة احتمال ودرجة أثر من 1 إلى 5، والناتج يحدد مستواه. خطر الحاسوب في مثالنا: احتمال 3 لأن الموظف يتنقل، وأثر 4 لأن البيانات حساسة، فالناتج 12 وهو في المنطقة العالية، ومحاط بإطار في المصفوفة. نقطتان مهمتان. الأولى: الحدود والألوان قرار من الجهة في منهجيتها المعتمدة، وليست معياراً عالمياً ثابتاً. الثانية: الأرقام تقدير لا قياس دقيق؛ قيمتها في المقارنة بين المخاطر، وفي توحيد طريقة التفكير بين الإدارات. الألوان هنا تختلف في الإضاءة أيضاً، والمستوى مكتوب في المفتاح، فلا يعتمد القارئ على اللون وحده.</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المرجع الوطني لإدارة المخاطر. أصدرت الهيئة الوطنية للأمن السيبراني الإطار الوطني لإدارة مخاطر الأمن السيبراني، ورمزه ‎NFCRM-1:2025‎، في 23 يوليو 2025. ينطبق على الجهات الحكومية والجهات التابعة لها داخل المملكة وخارجها، وعلى جهات القطاع الخاص التي تملك أو تشغل أو تستضيف بنية تحتية وطنية حساسة، وتشجع الهيئة بقية الجهات على الاستفادة منه. منهجيته أربع مراحل: التحديد، ثم التقييم بمصفوفة الاحتمال والأثر، ثم المعالجة، ثم المتابعة. والمصفوفة في الشريحة السابقة مبنية على المنطق نفسه. وتنبيه: الجهات المشمولة به عليها التزامات إضافية، منها تعيين ضابط اتصال، والإبلاغ الفوري عن المخاطر العالية والحرجة. هذا مدخل تأسيسي فقط؛ اقرأ النص الرسمي كاملاً قبل أي استخدام عملي. المصدر: صفحة الإطار على nca.gov.sa ضمن الأطر والمعايير.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بعد تقييم الخطر نختار واحداً من أربعة خيارات، وقد نجمع بينها. التخفيف هو الأكثر استخداماً: ضابط يقلل الاحتمال أو الأثر، مثل تشفير القرص؛ لو سُرق الحاسوب لا تُقرأ البيانات، فيهبط الأثر من 4 إلى 1. التجنب: نوقف النشاط نفسه. النقل: التأمين أو العقد يحمّل طرفاً آخر جزءاً من الأثر المالي، لكن انتبه: المسؤولية أمام الجهات الرقابية والسمعة لا تنتقل. القبول: مقبول فقط حين يكون قراراً موثقاً ممن يملك الصلاحية، وله مدة ومراجعة؛ «تجاهل الخطر» ليس قبولاً. الشريط السفلي فيه ثلاثة مصطلحات تُسأل كثيراً: الخطر المتأصل قبل أي ضابط، والمتبقي بعد الضوابط، وشهية المخاطر هي الحد الذي تقبله الإدارة.</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الضابط هو أي إجراء أو آلية تقلل الخطر. نصنفه بطريقتين. الطبيعة: إداري مثل السياسات والتدريب، وتقني مثل التحقق متعدد العوامل والتشفير، ومادي مثل البطاقات والكاميرات. والوظيفة: وقائي يمنع، وكشفي يكتشف، وتصحيحي يعالج بعد الوقوع. في المقابلة قد يُطلب منك تصنيف ضابط، فاذكر الاثنين معاً: «التحقق متعدد العوامل ضابط تقني وقائي». والفكرة الأهم للعمل: لا تعتمد على نوع واحد. جهة عندها ضوابط وقائية ممتازة بلا ضوابط كشفية لن تعرف متى فشلت الوقاية. بعض المراجع تضيف أنواعاً أخرى مثل الضابط الرادع والتعويضي؛ التعويضي مهم في الامتثال: ضابط بديل حين لا يمكن تطبيق الأصلي.</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GRC لا يعمل لأجل الضوابط، بل لأجل أهداف العمل. خذ شركة توصيل افتراضية؛ أهدافها أربعة: استمرار التوصيل، وحماية بيانات العملاء، وصحة الرواتب، والالتزام بالعقود. وهذا مثال محلول يربط السلسلة كاملة، والأرقام تدريبية. الهدف: استمرار تتبع الشحنات، والوفاء بالتزام عقود المتاجر بإتاحة تسعة وتسعين في المئة شهرياً. الأصل الداعم: خادم تطبيق التتبع الذي يديره مورد خارجي. الخطر: تأخر ترقيع الثغرات الحرجة في خادم مكشوف على الإنترنت، فقد يُستغل ويتوقف التتبع أو تتسرب بيانات العملاء؛ وتقييمه بالمصفوفة أربعة في أربعة، ستة عشر، عالٍ. الضابط: فحص شهري وترقيع الحرج خلال أربعة عشر يوماً، والمهلة بند في عقد المورد. المالك: مدير تقنية المعلومات، والمورد ينفذ تحت إشرافه. المؤشر: عدد الثغرات الحرجة المفتوحة أكثر من أربعة عشر يوماً، وآخر قياس ثلاث، والحد صفر. والقرار المطلوب من الإدارة: كلفة ترقيع عاجل، وإضافة المهلة إلى العقد عند التجديد. لاحظ أن القرار له كلفة؛ لهذا يحتاج الإدارة.</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الإدارة تقرر بلغة الأعمال. خمسة أنواع للأثر تكفي غالباً: توقف خدمة، وتأخير عمليات، وتسرب بيانات، وتكلفة، والتزام تعاقدي أو نظامي. وفي الجدول أربعة أمثلة. ثغرة حرجة غير مرقعة تعني أن تتبع الشحنات قد يتوقف لكل المتاجر. حسابان لمغادرين نشطان يعنيان أن شخصين خارج الشركة قد يطلعان على الرواتب. نسخ يومي مع حد فقد مقبول أربع ساعات يعني أننا قد نفقد يوماً من تعديلات الرواتب. وعقد بلا بند إبلاغ يعني أننا قد لا نعلم بالتسرب في الوقت. اكتب الأثر هكذا في وصف الخطر والملاحظة والتقرير.</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كثير من العمل في GRC كتابة ومراجعة لهذه الوثائق، فاعرف الفرق بينها. السياسة قصيرة وعامة: ماذا نريد ولماذا، ويعتمدها صاحب الصلاحية. المعيار يحول السياسة إلى قيم قابلة للقياس، مثل طول كلمة المرور. الإجراء يحول المعيار إلى خطوات بمسؤول وتوقيت. والإرشاد توصيات تساعد ولا تلزم. الخطأ الشائع: سياسة طولها عشرون صفحة فيها كل التفاصيل التقنية، فتحتاج اعتماداً من الرئيس التنفيذي كلما تغير رقم. فصل المستويات يجعل تحديث المعيار أسهل من تحديث السياسة. القيم في الشريحة أمثلة فقط؛ لا تنقلها كما هي إلى جهة حقيقية دون الرجوع إلى المتطلبات المنطبقة عليها.</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الشريحة السابقة شرحت هرم الوثائق. هنا سياسة واحدة كاملة، سياسة التحكم بالوصول، وهي نموذج تعليمي. ست مكونات تجدها في معظم السياسات. الغرض: لماذا وُجدت. النطاق: أي أنظمة وأشخاص تشمل، وهنا تشمل الموردين أيضاً. المسؤوليات: من يعتمد ومن ينفذ ومن يتابع، بالوظيفة لا بالاسم. المتطلبات: البنود التي ستُسأل عن أدلتها، مثل المراجعة الدورية في البند 4.3. الاستثناءات: كيف نخرج عن السياسة بموافقة ومدة، لا بقرار فردي. والاعتماد والمراجعة: من اعتمدها، ومتى، ومتى تُراجع. والتفاصيل القابلة للقياس، مثل طول كلمة المرور، لا تُكتب هنا، بل في المعيار والإجراء.</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هذا النموذج من معهد المدققين الداخليين، وتستخدمه جهات كثيرة لتوزيع المسؤوليات. الخط الأول يملك المخاطر فعلاً: من يدير النظام هو من يطبق الضابط عليه. الخط الثاني، وفيه أغلب وظائف GRC، يضع الإطار والمنهجيات، ويدعم الخط الأول، ويراقب ويتحدى: هل الضابط مطبق فعلاً؟ والخط الثالث، المراجعة الداخلية، يعطي تأكيداً مستقلاً لمجلس الإدارة أو صاحب الصلاحية، ولذلك لا يصمم الضوابط ولا ينفذها. لماذا يهمك هذا؟ لأنه يحدد أين ستعمل: وظيفة «محلل امتثال الأمن السيبراني» خط ثانٍ غالباً، و«مدقق تقنية المعلومات» خط ثالث، ولكل منهما مسار شهادات مختلف قليلاً كما سنرى. التوزيع الدقيق يختلف من جهة لأخرى.</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أمن العاملين يربط ثلاث لحظات في حياة الموظف بالصلاحيات والمسؤوليات والتوعية. الانضمام: بنود المسؤوليات والسرية في عقد العمل، والتحقق من الموظفين في الوظائف الحساسة، والتوعية عند البدء، وهذا في ECC ‎1-9-3‎ و‎1-9-4‎. تغيير الدور: أكثر لحظة تُنسى؛ تُضاف صلاحيات الدور الجديد ولا تُزال القديمة، فتبقى صلاحية تعديل الرواتب مع موظف انتقل إلى العمليات أشهراً. والمغادرة: مراجعة الصلاحيات وإلغاؤها مباشرة، وهذا ECC ‎1-9-5‎. وفي الأسفل التوعية: عند الانضمام وخلال العمل، ويُقاس إكمالها، كما يطلب برنامج التوعية في ECC ‎1-10‎. المصدر: ‎ECC-2:2024‎ على ‎https://nca.gov.sa/en/regulatory-documents/controls-list/ecc‎/ .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الامتثال بلا دليل ادعاء. على اليمين أربعة أنواع من الأدلة مرتبة من الأضعف إلى الأقوى غالباً: الوثيقة تثبت أن القاعدة موجودة، والإعداد يثبت أن الضابط مضبوط، والسجلات تثبت أنه عمل فعلاً، والمقابلة والملاحظة تكمل الصورة. والدليل الجيد له أربع صفات: مرتبط بالضابط، ومؤرخ ضمن فترة التقييم، وصادر من مصدره، ويغطي المجتمع كله أو عينة مختارة بطريقة مبررة من قائمة مكتملة. وعلى اليسار عناصر الملاحظة كما يكتبها المدقق: الوضع القائم، والمعيار الذي يخالفه، والسبب، والأثر، والتوصية. تدرب على كتابة ملاحظاتك بهذا الشكل من الآن، فهذا ما يميز المحلل الجيد في أول تقرير يكتبه. إن أردت التعمق، فكورس ‎ECC-2:2024‎ المرافق فيه تمارين كاملة على قراءة الأدلة.</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شريحة الأدلة السابقة سألت: كيف نثبت أن الضابط يعمل؟ الآن نسأل سؤالاً أدق: أين الفجوة بالضبط؟ ثلاثة أسئلة بالترتيب. ملاءمة التصميم: هل الضابط، كما صُمّم، يغطي الخطر والنطاق المطلوبين؟ ودليله نص الإجراء ونطاقه. التنفيذ: هل طبقته الجهة فعلاً؟ ودليله أول تشغيل بتاريخ. وفاعلية التشغيل: هل عمل وفق تصميمه وبالتكرار المطلوب طوال الفترة؟ ودليله أدلة تغطي الفترة كلها. ولماذا الترتيب؟ لأنه لا معنى لاختبار تشغيل ضابط سيئ التصميم أو لم يبدأ. ونوع الفجوة يحدد العلاج.</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مثال محلول: مراجعة الصلاحيات في ثلاثة أنظمة، ولكل نظام فجوة مختلفة، والوثائق والأرقام افتراضية. البريد والملفات: الإجراء يطلب من مدير كل إدارة مراجعة حسابات موظفيه، لكن تصدير الحسابات يبين أربعة حسابات إدارية لا تتبع أي إدارة، فلا أحد يراجعها. هذه فجوة تصميم؛ ولو نُفذ الإجراء بإتقان لبقيت أخطر الحسابات خارج المراجعة. تطبيق التتبع: المعيار يطلب مراجعة شاملة كل ثلاثة أشهر وأول مراجعة قبل نهاية أبريل، لكن لا ملف ولا تصدير، والبريد يقول إنهم لم يحددوا بعد من يصدّر القائمة. فجوة تنفيذ: الضابط مصمم وموثق ولم يبدأ.</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الحالة الثالثة: نظام الرواتب؛ المراجعة طُبقت في الربع الأول ولم تعمل في الثاني. فجوة تشغيل. وفي الجدول لماذا يهمك نوع الفجوة: العلاج يختلف. فجوة التصميم تُعالج بتعديل الإجراء، وفجوة التنفيذ ببدء التطبيق بمالك وموعد، وفجوة التشغيل باستعادة الدورة المفقودة ومتابعة تمنع التكرار. لاحظ أن كل استنتاج بُني على دليل محدد، لا على انطباع.</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دورك. ثلاثة مواقف افتراضية. لكل موقف حدد نوع الفجوة، واذكر السبب، والدليل الذي يؤكد استنتاجك. أوقف الفيديو، وخذ عشر دقائق.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الإجابة. الأول فجوة تصميم: المعيار كما كُتب يسمح باستثناء بلا موافقة ولا مدة؛ والدليل نص المعيار وقائمة الاستثناءات. الثاني فجوة تنفيذ: المتطلب مكتوب ومعتمد في السياسة، لكنه لم يُطبق على العقد القائم. الثالث فجوة تشغيل: الضابط مصمم ومطبق، لكنه توقف تسعة أيام دون متابعة. والخطأ الشائع أن نسمي كل فجوة فجوة تشغيل؛ ابدأ دائماً بالتصميم.</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القاموس ذكر مؤشر المخاطر الرئيسي. هنا أربعة أنواع من المؤشرات، والفرق بينها في الغرض. KGI يقيس تحقق هدف العمل، مثل إتاحة تطبيق التتبع مقابل التزام تسعة وتسعين في المئة. KPI يقيس أداء عملية، مثل سرعة إغلاق تذاكر إزالة الصلاحيات. KRI يقيس التعرض للخطر، مثل الثغرات الحرجة المفتوحة طويلاً. وKCI يقيس هل يعمل الضابط، مثل نسبة المراجعات المعتمدة في موعدها. ولا تعامل هذه الحدود كأنها ثابتة؛ الجهات تستخدمها بطرق مختلفة، والمؤشر نفسه قد يُصنف بأكثر من طريقة. المهم أن يكون تعريفه مكتوباً: ماذا يقيس، ولماذا. والأمثلة والأرقام تدريبية.</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المؤشر بلا تعريف رقم بلا معنى. لكل مؤشر ستة أسئلة: ماذا يقيس، وكيف يُحسب، ومن أي مصدر، ومن مالكه، وكل كم يُقاس، وما الرقم الذي يستدعي إجراءً. خذ مؤشر الخطر في العمود الثالث: عدد الثغرات الحرجة المفتوحة أكثر من أربعة عشر يوماً، من تقرير فحص الثغرات، ومالكه مدير تقنية المعلومات والمورد ينفذ، شهرياً؛ وأي رقم أكبر من صفر يستدعي إجراءً، ويُصعَّد للجنة إن تجاوز عمر الثغرة ثلاثين يوماً. ولاحظ مؤشر الضابط في العمود الأخير: تجمعه GRC، لكن مالكي المراجعة هم مالكو الأنظمة. القيم تدريبية.</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هكذا يصل كل ما سبق إلى الإدارة: تقرير من صفحة واحدة للجنة كل ربع سنة. نعرضه على شريحتين ليُقرأ، والبيانات تدريبية. القسم الأول أهم المخاطر: ثلاثة فقط، بمستواها وحالتها ومالكها؛ خطران عاليان على خادم التتبع، وخطر عولج فانخفض. والقسم الثاني المؤشرات الأربعة التي عرّفناها، بقيمتها ومرجعها وحالتها؛ واحد فقط يتجاوز الحد: الثغرات الحرجة. اللجنة لا تحتاج تفاصيل كل ثغرة، بل ما يتجاوز الحد ولماذا يهمها.</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الجزء الثاني من التقرير. الملاحظات: ملاحظة التحقق متعدد العوامل على VPN تسير في موعدها، وملاحظة مراجعة صلاحيات الرواتب فيها إجراء متأخر عشرين يوماً. ثم حالة إجراءات التصحيح بثلاثة أرقام: خمسة منجزة، واثنان جاريان في موعدهما، وواحد متأخر. وأهم قسم في التقرير الأخير: القرارات المطلوبة. تقرير بلا قرار مطلوب معلومة فقط. هنا قراران: اعتماد كلفة ترقيع عاجل، وإضافة مهلة الترقيع وبند الإبلاغ إلى عقد المورد عند تجديده. وكل رقم في التقرير له مصدر تستطيع أن تريه للجنة إن سألت.</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أين يعيش كل هذا؟ في الجهات الصغيرة غالباً في جدول بيانات، وفي الكبيرة في منصة GRC. والفكرة واحدة: معرّف لكل شيء، وأعمدة تربط بينها. هذا نموذج تعليمي لورقة ربط في Excel. الصف الأول: المتطلب ECC ‎2-2-3-5‎، والضابط الداخلي الذي يحققه ‎CTL-AC-03‎، وأدلته، والخطر الذي يعالجه، والملاحظة ‎F-04‎ وإجراءات تصحيحها. فإذا سألتك اللجنة عن ‎F-04‎ وصلت في ثوانٍ إلى المتطلب والدليل والخطر. والصف الأخير بلا ملاحظة بعد، لكنه مرتبط بخطر وخطة معالجة. والمعرّفات افتراضية. لا تحتاج منصة لتبدأ؛ تحتاج الانضباط في الربط، وهذا مشروع جيد لملف أعمالك.</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حين تُسند خدمة إلى مورد، ينتقل جزء من العمل، ولا تنتقل المسؤولية. وإدارة مخاطر الأطراف الخارجية تربط التقييم بأربعة أشياء: العقد، والوصول، والمتابعة، والإنهاء. قبل التعاقد: تقييم المخاطر، ويطلبه ECC ‎4-1-3-1‎ لعقود خدمات التقنية والأمن المُسندة؛ والخطأ الشائع أن يأتي التقييم بعد التوقيع. العقد: الضابط ‎4-1-2‎ يطلب بنوداً للسرية والحذف الآمن للبيانات عند انتهاء الخدمة، وإجراءات التواصل عند الحوادث، وإلزام الطرف الخارجي بسياسات الجهة. الوصول: حسابات فردية بأقل صلاحية وتحقق متعدد العوامل، لا حساب مشترك لكل فنيي المورد. المتابعة: مراجعة دورية، ويطلب ‎4-1-4‎ مراجعة متطلبات الأطراف الخارجية دورياً. والإنهاء: إلغاء الصلاحيات وإعادة البيانات وحذفها؛ وكثيراً ما يبقى حساب المورد نشطاً بعد انتهاء العقد. وتحت كل مرحلة الدليل الذي يطلبه GRC. المصدر: ‎ECC-2:2024‎ على ‎https://nca.gov.sa/en/regulatory-documents/controls-list/ecc‎/ .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مجالان قريبان من GRC، وكثير من الوظائف تجمعهما معه. الاستمرارية: تحليل أثر الأعمال يجيب عن سؤالين لكل خدمة مهمة. RTO هو أقصى مدة توقف مقبولة حتى تعود الخدمة. وRPO هو أقصى كمية بيانات مقبول خسارتها، وتقاس بالوقت إلى الوراء حتى آخر نسخة. في المثال، إن كانت النسخة يومية وRPO أربع ساعات فهناك فجوة، وهذه ملاحظة تدقيق. الخصوصية: نظام حماية البيانات الشخصية السعودي يطبق على من يعالج بيانات أفراد في المملكة، والجهة المختصة الهيئة السعودية للبيانات والذكاء الاصطناعي، سدايا. صدر بالمرسوم الملكي م/19 بتاريخ ‎9/2/1443‎هـ، ودخل حيز النفاذ في 14 سبتمبر 2023، مع مهلة سنة للالتزام انتهت في 14 سبتمبر 2024، بحسب دليل سدايا الرسمي للنظام. النقاط هنا مبادئ عامة مختصرة. مدد الإبلاغ والتفاصيل في اللائحة التنفيذية، وقد تتغير، فارجع دائماً إلى النص الرسمي في موقع سدايا قبل أي استخدام عملي.</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أربعة مصطلحات تختلط على المبتدئين، وهي تكمل شريحة الاستمرارية السابقة. تحليل أثر الأعمال BIA يجيب: ما أهم الخدمات، وكم تتحمل الجهة توقفها؟ ومنه يخرج RTO وRPO؛ وفي مثال الرواتب أربع وعشرون ساعة وأربع ساعات. خطة استمرارية الأعمال BCP: كيف تستمر الخدمة المهمة أثناء التوقف، ومن يقرر. خطة التعافي من الكوارث DRP: كيف تُستعاد الأنظمة والبيانات تقنياً، وبأي ترتيب، وفي حدود RTO وRPO. والاستجابة للحوادث: اكتشاف الحادثة واحتواؤها والتعافي منها والإبلاغ عنها؛ وللجهات المشمولة بـ ECC متطلب إبلاغ الهيئة في ‎2-13-3‎، ويطلب ‎3-1-3‎ خطط استجابة تمس الاستمرارية وخطط تعافٍ من الكوارث. ودور GRC في الأسفل: يتأكد أن الخطط موجودة ومعتمدة ومختبرة، ويربط نتائجها بسجل المخاطر والملاحظات، ولا يقود الاستجابة الفنية. المصدر: ‎ECC-2:2024‎ على ‎https://nca.gov.sa/en/regulatory-documents/controls-list/ecc‎/ .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هذه مرجع سريع، لا تحاول حفظها دفعة واحدة. لاحظ أن الإعلانات الوظيفية في المنطقة تكتب كثيراً بالإنجليزية حتى لجهات محلية، فاعرف المصطلحين. ثلاثة منها تُسأل عنها كثيراً في المقابلات: سجل المخاطر، فاعرف أعمدته؛ وبيان قابلية التطبيق في ISO 27001؛ وفصل المهام، ومثاله الكلاسيكي أن من يطلب الدفعة المالية لا يعتمدها. وتمرين مقترح: افتح خمسة إعلانات وظيفية لـ GRC Analyst، وظلل كل مصطلح من هذه القائمة يظهر فيها. ستلاحظ أن هذه اللغة نفسها تتكرر.</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الإطار هو المرجع الذي نقيس عليه: قائمة متطلبات أو ضوابط مرتبة. بعض الأطر إلزامية على جهات معينة، مثل ضوابط الهيئة الوطنية للأمن السيبراني على الجهات الحكومية والبنية التحتية الحساسة، وبعضها اختياري تتبناه الجهة طوعاً أو لتحصل على شهادة، مثل ISO 27001. في هذه الوحدة نأخذ صورة عامة، ثم نتعمق في إطارين عالميين، ثم الأطر السعودية، وننتهي بتوصية: بأي إطار تبدأ دراستك.</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قبل الأطر، صنف المراجع. النظام أو التشريع ملزم بقوة القانون لمن يقع في نطاقه، مثل نظام حماية البيانات الشخصية. والضوابط التنظيمية ملزمة للجهات التي يحددها نطاقها، مثل الضوابط الأساسية للأمن السيبراني للجهات المشمولة. والإطار يرشد ويرتب العمل، وغالباً طوعي، مثل NIST CSF. والمعيار القابل للشهادة طوعي، وتمنح عليه جهة مانحة شهادة، مثل ISO 27001. والالتزام التعاقدي ملزم بالعقد لا بالقانون، مثل PCI DSS الذي تفرضه شبكات البطاقات عبر العقود. والضابط أصغر وحدة: إجراء أو إعداد محدد يحقق متطلباً، مثل التحقق متعدد العوامل. والسؤال الذي تبدأ به دائماً: هل هذا المرجع ملزم لهذه الجهة تحديداً، أم اختارته طوعاً؟ وفي هذه الوحدة لا نعامل المراجع بالعمق نفسه: ECC والإطار الوطني لإدارة المخاطر وISO 27001 وNIST CSF رئيسية؛ ومراجع القطاع والبيانات مقدمة؛ والبقية تعريف فقط.</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بدل حفظ أسماء الأطر، صنفها حسب السؤال الذي تجيب عنه. العمود الأول أنظمة إدارة من ISO تُمنح عليها شهادة من جهة مانحة معتمدة. الثاني أطر تساعد على اختيار الضوابط وترتيبها: NIST CSF لغة عامة، وNIST SP ‎800-53‎ قائمة ضوابط مفصلة جداً، وضوابط CIS قائمة عملية مرتبة بالأولوية. الثالث حوكمة: COBIT من ISACA، وهو أساس شهادة CGEIT، وCOSO للرقابة الداخلية، وتراه كثيراً في التدقيق المالي. الرابع متطلبات يفرضها القطاع أو العميل: PCI DSS على من يعالج بيانات البطاقات، وتقرير SOC 2 يطلبه العملاء من مزودي الخدمات السحابية، خاصة في السوق الأمريكي. وفي الواقع تعمل الجهة بعدة أطر معاً، فتبني مصفوفة مواءمة تربط كل ضابط داخلي بكل متطلب يحققه، فلا يتكرر العمل. أرقام الإصدارات تتغير، فتحقق من الإصدار الحالي في الموقع الرسمي لكل إطار.</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‎ISO/IEC‎ 27001 أشهر معيار لأمن المعلومات في العالم، وهو قابل للشهادة. البنود من 4 إلى 10 هي متطلبات نظام الإدارة نفسه: حدد نطاقك، والتزام القيادة، وقيّم المخاطر، ووفر الموارد، وشغّل، وقِس ودقق داخلياً، وحسّن. هذه البنود إلزامية بالكامل لمن يريد الشهادة. أما الملحق A في إصدار 2022 فيضم 93 ضابطاً في أربعة محاور: 37 تنظيمية، و8 بشرية، و14 مادية، و34 تقنية. تختار منها ما يعالج مخاطرك، وتوثق القرار والمبرر في بيان قابلية التطبيق. أما المعيار المرافق ‎ISO/IEC‎ 27002 فيشرح كل ضابط بالتفصيل، وهو مفيد جداً للمذاكرة. وانتهت الفترة الانتقالية من إصدار 2013 في 31 أكتوبر 2025، فالشهادات السارية الآن على إصدار 2022. وصدر للمعيار تعديل صغير في 2024 يخص تغير المناخ، ولم يغير عدد الضوابط. ونسخة المعيار مدفوعة من موقع ISO، لكن ملخصات الضوابط متاحة في مصادر كثيرة.</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إطار الأمن السيبراني من المعهد الوطني الأمريكي للمعايير والتقنية، NIST، طوعي، ويستخدم عالمياً كلغة مشتركة بين الفنيين والإدارة. صدر الإصدار 2.0 في فبراير 2024، وأهم تغيير فيه إضافة وظيفة سادسة هي الحوكمة، وتوضع في مركز الدائرة لأنها تحيط بالوظائف الخمس الأخرى. تحت الوظائف 22 فئة و106 فئات فرعية تصف النتائج المطلوبة، لا الأدوات. وأداتان مهمتان: الملف التعريفي الحالي والمستهدف، والفرق بينهما خطة عمل؛ والمستويات الأربعة: جزئي، ومطلع على المخاطر، وقابل للتكرار، ومتكيف. الإطار وكل وثائقه مجانية على موقع NIST، ولهذا أنصحك به كأول إطار تقرأه كاملاً. والملاحظة نفسها: تأكد من الإصدار الحالي قبل الاستشهاد به.</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مقارنتان تخلطهما المقابلات كثيراً. الأولى: NIST CSF وNIST RMF. CSF 2.0 إطار نتائج تستخدمه الجهة كلها لتصف وضعها المستهدف والحالي، كما رأيت في الشريحة السابقة. وRMF عملية من سبع خطوات لإدارة مخاطر نظام واحد عبر دورة حياته: التهيئة، والتصنيف، واختيار الضوابط، وتطبيقها، وتقييمها، والتفويض بالتشغيل، والمراقبة؛ ومرجعها SP ‎800-37‎ الإصدار الثاني. والثانية: تقييم الفجوات وتقييم النضج. تقييم الفجوات يقارن الوضع القائم بمتطلب محدد، مثل ضوابط ECC، ونتيجته قائمة فجوات: مطبق، أو مطبق جزئياً، أو غير مطبق. وتقييم النضج يقيس مستوى الممارسات على مقياس. ومستويات CSF الأربعة ليست درجة نضج لكل ضابط. المصادر: ‎https://www.nist.gov/cyberframework‎ ، و‎https://csrc.nist.gov/projects/risk-management/about-rmf‎ .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إن كنت تستهدف سوق العمل السعودي فهذه الأطر أهم لك من أي إطار عالمي، لأن كثيراً منها إلزامي. الهيئة الوطنية للأمن السيبراني تصدر مجموعة ضوابط، أساسها الضوابط الأساسية ‎ECC-2:2024‎، وتنطبق على الجهات الحكومية وجهاتها التابعة وجهات البنية التحتية الوطنية الحساسة. وبقية الضوابط تضيف متطلبات لسياقات محددة: السحابة، والبيانات، والأنظمة الحساسة، والتقنية التشغيلية، والعمل عن بعد، وحسابات التواصل الاجتماعي. أما ساما فلها إطارها الخاص للقطاع المالي الخاضع لإشرافها. والخصوصية عند سدايا. ولاحظ الإطار السعودي لكوادر الأمن السيبراني، وإصداره الحالي 1.5 لعام 2026: فيه فئة «الحوكمة والمخاطر والامتثال والأنظمة»، ومن أدوارها مسؤول مخاطر الأمن السيبراني، ومسؤول الامتثال، ومسؤول السياسات، ومقيّم الضوابط الأمنية، ومدقق الأمن السيبراني. استخدم أسماء هذه الأدوار ومهامها في سيرتك، لأنها لغة السوق المحلي. نطاق الانطباق هنا مختصر؛ النص الرسمي لكل ضابط يحدد نطاقه بدقة. الإصدارات تحققنا منها في 27 أكتوبر 2026 من nca.gov.sa وrulebook.sama.gov.sa، فراجعها قبل الاستشهاد بها.</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أربعة مراجع ترتبط بالقطاع ونوع البيانات، والسؤال فيها دائماً: هل نحن في نطاقها؟ إطار ساما للأمن السيبراني، الإصدار الأول لعام 2017، ينطبق على الجهات الخاضعة لإشراف البنك المركزي السعودي، ومنها البنوك وشركات التأمين والتمويل ومكاتب الائتمان. ونظام حماية البيانات الشخصية قانون، ينطبق على معالجة البيانات الشخصية المتعلقة بأفراد في المملكة، حتى لو كانت المعالجة من خارجها. وPCI DSS معيار من مجلس معايير أمن بطاقات الدفع، لمن يخزن بيانات البطاقات أو يعالجها أو ينقلها، وتفرضه شبكات البطاقات والبنوك بالعقود، لا القانون. وGDPR لائحة الاتحاد الأوروبي، وتنطبق المادة الثالثة منها أيضاً على جهات خارج الاتحاد تعرض سلعاً أو خدمات لأفراد فيه أو تراقب سلوكهم. المصادر: ‎rulebook.sama.gov.sa/en/cyber-security-framework-2‎ ، وdgp.sdaia.gov.sa ، و‎https://www.pcisecuritystandards.org/standards/pci-dss‎/ ، و‎EUR-Lex‎: ‎https://eur-lex.europa.eu/eli/reg/2016/679/oj‎ .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خمسة مراجع للتعريف والمقارنة فقط، وبعضها ظهر في خريطة الأطر. COBIT 2019 من ISACA لحوكمة التقنية وإدارتها. وضوابط CIS، الإصدار 8.1، ثمانية عشر ضابطاً و153 إجراءً، مقسمة إلى ثلاث مجموعات تنفيذ؛ والأولى تسميها CIS النظافة السيبرانية الأساسية، وهي بداية عملية لأي جهة. وNIST RMF عملية من سبع خطوات لإدارة مخاطر نظام واحد عبر دورة حياته، مصممة للأنظمة الفيدرالية الأمريكية. وHIPAA قانون أمريكي لحماية المعلومات الصحية، ويشمل خطط التأمين الصحي ومقدمي الرعاية المشمولين وشركاءهم. وSOX قانون أمريكي من 2002 لموثوقية التقارير المالية للشركات المدرجة، والقسم 404 فيه يطلب تقييم الرقابة الداخلية على التقارير المالية؛ وهنا يلتقي بضوابط التقنية. لا تتعمق فيها الآن؛ هذه مجالات للتوسع لاحقاً، ومثلها التعمق في COBIT وشهادة CGEIT. المصادر: ‎https://www.cisecurity.org/controls/implementation-groups‎ ، و‎https://csrc.nist.gov/projects/risk-management/about-rmf‎ ، و‎https://www.hhs.gov/hipaa/for-professionals/security/laws-regulations/index.html‎ ، و‎https://www.sec.gov/rules-regulations/2003/03/managements-report-internal-control-over-financial-reporting-certification-disclosure-exchange-act‎ .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الخريطة ذكرت أن ربط الأطر اسمه المواءمة. هذا مثال محلول. نبدأ من الضابط الداخلي: التحقق متعدد العوامل لكل مستخدمي VPN. ثم نسأل كل مرجع: ماذا يطلب، وماذا يغطي ضابطنا منه؟ ECC ‎2-2-3-2‎ يطلب التحقق للدخول عن بعد وللحسابات ذات الصلاحيات الهامة، بعوامل يحددها تقييم الأثر؛ وضابطنا يغطي الدخول عن بعد فقط، فالتغطية جزئية، والحسابات الهامة تحتاج ضابطاً آخر نربطه. وISO 27001 في الضابط A.8.5، المصادقة الآمنة، يطلب تقنيات وإجراءات مصادقة آمنة وفق قيود الوصول؛ والتحقق على VPN جزء منها. والأدلة نفسها تخدم المرجعين: الإعداد وسجل التغييرات وسجل الاتصالات. والأهم: التشابه لا يعني الالتزام. إن وجدنا الضابط مطبقاً جزئياً، فالنتيجة جزئية في المرجعين معاً. عناوين ضوابط الملحق A من ‎ISO/IEC‎ ‎27001:2022‎. النص الكامل للمعيار مدفوع من ‎https://www.iso.org/standard/27001‎ ، ولم نتمكن من فتح موقع ISO آلياً، فطابق العنوان والنص مع نسختك المرخصة قبل الاستشهاد.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دورك. ضابط مراجعة صلاحيات نظام الرواتب كل ثلاثة أشهر. اربطه بمرجعين: ECC ‎2-2-3-5‎ للمراجعة الدورية، وISO 27001 A.5.18 لصلاحيات الوصول. لكل مرجع: ماذا يغطي الضابط منه، وهل التغطية كلية أم جزئية، ولماذا؟ ثم ما الأدلة التي تخدم الاثنين. أوقف الفيديو، وخذ عشر دقائق.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الإجابة. مع ECC ‎2-2-3-5‎ التغطية جزئية: الضابط يغطي نظام الرواتب فقط، والمتطلب يشمل هويات الدخول والصلاحيات في كل الأنظمة، فبقية الأنظمة تحتاج ضوابط مراجعة. ومع ISO A.5.18 جزئية أيضاً: الضابط يخدم المراجعة والإزالة، ولا يغطي منح الصلاحيات وتعديلها. والأدلة مشتركة: ملف المراجعة واعتماده للمراجعة في المرجعين، وتذاكر الإزالة لجزء الإزالة في ISO. والخطأ الشائع أن تكتب «متوافق» لأن العنوانين متشابهان. عناوين ضوابط الملحق A من ‎ISO/IEC‎ ‎27001:2022‎. النص الكامل للمعيار مدفوع من ‎https://www.iso.org/standard/27001‎ ، ولم نتمكن من فتح موقع ISO آلياً، فطابق العنوان والنص مع نسختك المرخصة قبل الاستشهاد.</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هذا ترتيب مقترح، وليس قاعدة. NIST CSF أولاً لأنه مجاني ومتاح كاملاً، ويعطيك خريطة ذهنية. ثم ISO 27001 لأنه يعلمك منطق نظام الإدارة: سياسة، ومخاطر، وتدقيق داخلي، ومراجعة إدارة، وتحسين، وهذه اللغة نفسها في كل وظيفة GRC. ثم إطار القطاع الذي تريد العمل فيه. وإن كنت في السعودية وتستهدف الحكومة، فلا مانع أن تبدأ بـ ECC مباشرة؛ الكورس المرافق عن ‎ECC-2:2024‎ يشرحه ضابطاً ضابطاً. وأهم من الترتيب طريقة المذاكرة: الأسئلة الأربعة على اليسار. السؤال الرابع، المواءمة، هو ما يجعلك مفيداً لجهة تطبق أكثر من إطار.</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قبل أن ندخل في الشهادات، ثلاث حقائق. الأولى: الشهادة لا تعوض الفهم؛ المقابلة ستكشف الفرق خلال دقائق. الثانية: بعض الشهادات الكبيرة، مثل CISA وCISM وCISSP، تشترط سنوات خبرة قبل أن تُمنح، فلا تبدأ بها. الثالثة: الرسوم والشروط تتغير، والأرقام في هذه الوحدة من المواقع الرسمية وقت إعداد الكورس، فتحقق منها قبل التسجيل. الصور في هذه الوحدة بطاقات تعريفية صممناها للتوضيح، وليست شعارات الجهات المانحة.</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هذه الخريطة كلها في شريحة واحدة، ثم نأخذ كل مجموعة بالتفصيل. المرحلة الأولى لمن لا خبرة له: شهادة واحدة تكفي غالباً، CC أو Security+. وأضفنا IT Risk Fundamentals من ISACA، وهي شهادة إتمام للمبتدئين حلت مع IT Audit Fundamentals محل شهادة ITCA التي أوقفتها ISACA. المرحلة الثانية تعطيك مهارة محددة: ISO 27001 منفذ رئيسي أو مدقق رئيسي، وتقدمها جهات تدريب معتمدة؛ أو GRCP من OCEG؛ أو شهادات الخصوصية من IAPP. والمرحلة الثالثة شهادات قوية في السوق، لكن الجهات المانحة تشترط سنوات خبرة موثقة قبل منحها، ولو نجحت في الاختبار. وضع CGRC هنا لأنه يشترط خبرة أيضاً، وإن كانت أقل من CISSP. التفاصيل الدقيقة لكل شهادة في الشرائح التالية.</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شهادة واحدة من هذه تكفي للبداية. CC من ISC2 مصممة للمبتدئين تماماً، ومخطط اختبارها الجديد منذ 1 سبتمبر 2026 أضاف مجالاً للحوكمة الأمنية بنسبة 17.3%، وهذا مناسب لمن يتجه إلى GRC. تنبيه مهم: برنامج المليون شهادة المجانية انتهى. أعلنت ISC2 ذلك في 22 أبريل 2026، وأوقفت التسجيل في 20 مايو 2026، ومن لديه رمز اختبار مجاني سارٍ يجب أن يختبر قبل 31 ديسمبر 2026. Security+ أوسع وأعمق تقنياً، ومطلوبة كثيراً في الإعلانات. السعر الرسمي لم نتمكن من قراءته لأن موقع CompTIA يعرضه ديناميكياً حسب الدولة؛ مواقع غير رسمية تذكر نحو 425 دولاراً، ولم نتحقق من ذلك، فراجع موقع CompTIA. ولا يُقدَّم أي من الاختبارين بالعربية. المصادر: ‎isc2.org/certifications/cc‎ وصفحة أسعار اختبارات ISC2 وصفحة إعلان انتهاء البرنامج؛ ‎comptia.org/en-us/certifications/security‎؛ ‎isaca.org/credentialing/it-risk-fundamentals-certificate‎.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GRCP من OCEG من الشهادات القليلة المصممة لـ GRC نفسه، ومبنية على نموذج OCEG للقدرات: 30% مفاهيم أساسية و70% النموذج. لا تُباع منفصلة، بل ضمن اشتراك OCEG السنوي، وإعادة الاختبار مجانية. لاحظ أن صفحة OCEG تقول إن الشهادة تتجدد سنوياً مع الاشتراك، وفي الأسئلة الشائعة تقول إنك تحتاج النجاح مرة كل 5 سنوات؛ هذا تعارض في المصدر نفسه، فاسألهم. أما ISO 27001 فلا تصدرها ISO نفسها، بل جهات اعتماد وتدريب مثل PECB وBSI وغيرهما، ولكل جهة شروطها. أخذنا أرقام PECB مثالاً من أدلة المرشحين لعام 2026: الاختبار 80 سؤالاً بكتاب مفتوح، ودرجة Provisional لا تحتاج خبرة. مدة الاختبار ثلاث ساعات في كتيب 2024، ولم تُذكر في أدلة 2026. ولم نتحقق من قيمة الرسم السنوي ولا من توفر الاختبار بالعربية. سعر الدورة مع الاختبار يحدده مقدم التدريب. اختر Lead Implementer إن أردت تطبيق النظام في جهة، وLead Auditor إن أردت التدقيق. المصادر: ‎oceg.org/certifications/grc-professional-certification‎؛ pecb.com وأدلة المرشحين؛ bsigroup.com.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شهادات ISACA الأربع الكبيرة تشترك في الشكل: 150 سؤالاً في أربع ساعات، والنجاح 450 على مقياس من 200 إلى 800، والرسوم نفسها، ولكل محاولة رسم كامل، وحد أقصى أربع محاولات في 12 شهراً. الفرق في الخبرة والمحتوى. CISA للتدقيق، وهي الأشهر لوظائف المراجعة الداخلية لتقنية المعلومات، أي الخط الثالث. CRISC للمخاطر، وهي الأقرب لعمل محلل GRC في الخط الثاني، ومجالاتها: الحوكمة 26%، وتقييم المخاطر 22%، والاستجابة والتقارير 32%، والتقنية والأمن 20%. القاعدة المهمة للمبتدئ: ISACA تسمح لك بالاختبار قبل اكتمال الخبرة، ثم تقديم طلب الشهادة خلال 5 سنوات من النجاح. لكن لا تبدأ بها؛ ابدأ بشهادة مدخل وخبرة، ثم عد إليها. ولا تُقدَّم بالعربية. المصادر: ‎isaca.org/credentialing/cisa‎ و‎isaca.org/credentialing/crisc‎ ودليل المرشح لعام 2026.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CISM لمن يدير برنامج أمن المعلومات: الحوكمة، وإدارة المخاطر، والبرنامج، وإدارة الحوادث. أوزان المخطط الحالي: الحوكمة 17%، والمخاطر 20%، والبرنامج 33%، والحوادث 30%. لكن ISACA أعلنت مخطط اختبار جديداً يبدأ في 3 نوفمبر 2026، ولم تنشر أوزانه الجديدة في الصفحة وقت التحقق، فارجع إليها قبل أن تشتري أي مادة مذاكرة. CGEIT للقيادات التي تحكم تقنية المعلومات على مستوى الجهة، وتستند إلى COBIT، وشرط الخبرة فيها يشمل سنة على الأقل في المجال الأول، ولا إعفاء فيه. هاتان الشهادتان للمرحلة الثالثة؛ اعرفهما لتخطط، لا لتبدأ بهما. المصادر: ‎isaca.org/credentialing/cism‎ و‎isaca.org/credentialing/cgeit‎ ودليل المرشح.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CGRC هي الشهادة الوحيدة هنا التي تحمل GRC في اسمها، وكانت تسمى CAP حتى 15 فبراير 2023، وكانت مرتبطة بإطار إدارة المخاطر الأمريكي، فإن رأيت CAP في سيرة أحد فهي نفسها. شرط الخبرة سنتان فقط، والعمل بدوام جزئي والتدريب يُحتسبان بشروط. CISSP أوسع بكثير، ثماني مجالات تقنية وإدارية، ومجال الأمن وإدارة المخاطر فيها 16% فقط من الاختبار، فهي ليست شهادة GRC خالصة لكنها مطلوبة كثيراً للمناصب القيادية. وفي ISC2 مسار مفيد للمبتدئ: إن نجحت قبل اكتمال الخبرة تصبح Associate of ISC2 برسم سنوي 50 دولاراً، ثم تُمنح الشهادة عند اكتمال الخبرة: 3 سنوات مهلة في CGRC، و6 في CISSP. وتحتاج تزكية من عضو معتمد خلال 9 أشهر من النجاح. ولا تُقدَّمان بالعربية. المصادر: ‎isc2.org/certifications/cgrc‎ و‎isc2.org/certifications/cissp‎ و‎isc2.org/certifications/associate‎ وصفحة أسعار الاختبارات.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إن كنت تميل إلى الخصوصية فهذه ثلاث شهادات معروفة. ‎CIPP/E‎، أي Certified Information Privacy ‎Professional/Europe‎، تركز على القانون: اللائحة الأوروبية GDPR. CIPM، أي Certified Information Privacy Manager، تركز على بناء برنامج الخصوصية وتشغيله داخل الجهة، وهي قريبة جداً من عمل GRC. وCDPSE من ISACA، أي Certified Data Privacy Solutions Engineer، للجانب التقني: كيف تصمم الأنظمة لتحمي الخصوصية. لم نجد في صفحات IAPP شرط خبرة لـ ‎CIPP/E‎ وCIPM. سعر إعادة الاختبار في IAPP كان 375 دولاراً في دليل المرشح لعام 2022، ولم نتحقق من السعر الحالي. ولا تُقدَّم أي منها بالعربية. وفي السعودية، الوظيفة المقابلة في الإطار السعودي لكوادر الأمن السيبراني هي مسؤول حماية البيانات. المصادر: ‎iapp.org/certify/cippe‎ و‎iapp.org/certify/cipm‎ وstore.iapp.org و‎isaca.org/credentialing/cdpse‎.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هذه الشريحة تلخص كل ما سبق في صورة واحدة: الأعمدة حسب سنوات الخبرة المطلوبة قبل منح الشهادة، والرقم بجانب كل شهادة رسم الاختبار لغير الأعضاء بالدولار. أعضاء ISACA يدفعون 575 بدل 760. وانتبه لثلاث ملاحظات. الأولى: Security+ سعرها الرسمي لم نتمكن من قراءته، فكتبنا «غير مؤكد». الثانية: GRCP لا تُباع منفصلة، بل ضمن اشتراك OCEG السنوي: 499 دولاراً أول سنة. الثالثة: ISO 27001 يحدد سعرها مقدم التدريب، ودرجة Provisional عند PECB لا تحتاج خبرة، بينما لقب Lead يحتاج 5 سنوات. وتذكر أن الرسم السنوي للمحافظة على الشهادة يتراكم: من 45 إلى 135 دولاراً سنوياً حسب الجهة. الأرقام من المواقع الرسمية في 27 أكتوبر 2026، وتتغير، فراجعها قبل الدفع.</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هذه مسارات نقترحها نحن، وليست شروطاً من أي جهة. الفكرة: حدد الوظيفة أولاً، ثم اختر الشهادة التي تخدمها. محلل الامتثال في الخط الثاني يستفيد من ISO 27001 منفذ رئيسي لأنه يعلمه كيف يُبنى النظام، ثم CRISC أو CGRC حين تكتمل خبرته. ومدقق تقنية المعلومات في الخط الثالث يبدأ بشهادة مدخل، أو بشهادة إتمام IT Audit Fundamentals من ISACA، ثم مدقق رئيسي ISO 27001، وهدفه CISA. ومن يميل إلى الخصوصية يتجه إلى IAPP ثم CDPSE. أما الشهادات القيادية فهدف بعيد لكل المسارات. والقاعدة في الأسفل مهمة: كثير من المبتدئين يجمعون أربع شهادات مدخل بلا مشروع واحد. شهادة واحدة ومشروعان أقوى في المقابلة من أربع شهادات وحدها.</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هذه طريقة عامة تصلح لأي شهادة. ابدأ دائماً بمخطط الاختبار الرسمي من موقع الجهة، فهو مجاني ويحدد المجالات ونسبة كل مجال؛ وزّع وقتك عليها بالنسبة نفسها. ثم مصدر أساسي واحد، وبنك أسئلة واحد. والخطأ الأشهر: حفظ إجابات بنك الأسئلة. الاختبار الحقيقي يصوغ الأسئلة بطريقة مختلفة، فافهم السبب. وفي شهادات ISACA وISC2 بالذات، كثير من الأسئلة تطلب أفضل إجراء أو أول إجراء، والإجابة الصحيحة غالباً هي التي تبدأ بفهم المخاطر أو بإشراك الإدارة، لا بالحل التقني المباشر. وانتبه للتواريخ التي تحققنا منها: مخطط CC الجديد منذ 1 سبتمبر 2026، وCISM من 3 نوفمبر 2026، وSecurity+ ‎SY0-801‎ نحو 17 نوفمبر 2026، وCISSP من 15 أبريل 2027. إن اشتريت كتاباً قديماً لاختبار بعد هذه التواريخ فقد تذاكر محتوى تغير.</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كل الإعلانات تطلب خبرة، وكل مبتدئ يسأل: كيف أحصل على خبرة بلا وظيفة؟ الجواب في هذه الوحدة: مشاريع صغيرة واقعية تعملها بنفسك، وتنشرها، وتتكلم عنها في المقابلة بثقة. المدير الذي يقرأ سجل مخاطر كتبته أنت لشركة افتراضية يرى مهارتك مباشرة، وهذا أقوى من سطر في السيرة يقول «مهتم بـ GRC».</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هذه خطة مقترحة لمن يبدأ من الصفر، وليست وعداً بوظيفة خلال تسعين يوماً؛ مدة البحث عن عمل تختلف كثيراً حسب السوق والمدينة والتخصص. الفكرة أن كل مرحلة تنتهي بمخرَج ملموس تستطيع أن تريه لأحد. المرحلة الأولى بناء الأساس. الثانية تحويل المعرفة إلى عمل منشور، وهي الأهم. الثالثة دخول السوق: سيرة، وLinkedIn، وطلبات، ومحادثات تعريفية، وهي محادثة قصيرة تطلب فيها من مختص في المجال أن يحدثك عن عمله، لا أن يوظفك. ولا تؤجل التقديم حتى تحصل على الشهادة؛ قدّم بالتوازي.</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لا تحتاج المشاريع الستة كلها؛ مشروعان أو ثلاثة جيدة أفضل من ستة متسرعة. ابدأ بالأول والثاني لأنهما الأكثر طلباً. اخترع شركة افتراضية واحدة، مثلاً شركة توصيل متوسطة الحجم في الرياض بمئتي موظف، واستخدمها في كل المشاريع؛ هكذا تصبح قصة متكاملة تحكيها في المقابلة. اكتب في بداية كل مشروع صفحة قصيرة: المشكلة، وما فعلته، وما تعلمته. والتحذير مهم: لا تنشر أي وثيقة أو بيانات من جهة حقيقية، حتى من جهة تدربت فيها؛ هذا يخالف السرية، وهي أول قيمة في المهنة. تمارين كراسة ECC المرافقة تصلح نقطة انطلاق للمشروعين الثاني والسادس.</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المهارات في عمودين. مهارات المجال تتعلمها من هذا الكورس ومن المشاريع ومن مذاكرة الشهادة. منصات GRC التجارية كثيرة ومكلفة ولن تجدها مجاناً غالباً، فلا تقلق إن لم تجربها؛ يكفي أن تعرف ما تفعله: سجلات للمخاطر والضوابط، وتقييمات، وسير عمل للموافقات، ولوحات متابعة. وإن ذكرتها في المقابلة فقل بصدق إنك تعرف المفهوم ولم تستخدمها. أما المهارات الشخصية فهي في الغالب ما يميز محلل GRC الجيد: نصف العمل إقناع أشخاص لا يتبعون لك أن يغيروا طريقة عملهم. والإنجليزية ضرورية للمصادر والاختبارات، وكثير من الجهات تكتب تقاريرها بها.</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السيرة الذاتية وثيقة تسويقية، وليست سجلاً لكل ما فعلت. هدفها الوحيد أن تحصل على مقابلة. في هذه الوحدة نرى نموذج سيرة كاملة لمبتدئ في GRC، ثم كيف تمر من أنظمة الفرز الآلي، ثم كيف تكتب الإنجازات، ثم ماذا تكتب إن لم تكن لديك خبرة، وأخيراً أكثر الأخطاء شيوعاً. أغلب الإعلانات في المنطقة تطلب سيرة بالإنجليزية، فسنعرض النماذج بالإنجليزية.</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على اليسار نموذج سيرة لمبتدئة افتراضية، والاسم والبيانات كلها مثال. لاحظ الترتيب: الاسم والعنوان المهني، ثم ملخص قصير، ثم المهارات، ثم المشاريع، وفي الأسفل التعليم والشهادات. اللغات تضيفها سطراً قصيراً إن كان لديك مكان. المبتدئ يقدم المشاريع على التعليم لأنها أقوى دليل عنده. وإن كانت لديك خبرة عمل، ولو في مجال قريب مثل الدعم الفني أو التدقيق المالي، فضع قسم الخبرة قبل المشاريع. وكل سطر في المشاريع يبدأ بفعل وينتهي بنتيجة أو رقم، وسنتدرب على ذلك بعد شريحتين. والقاعدة المهمة: لا تضع شهادة لم تحصل عليها. اكتب «قيد الدراسة» مع موعد الاختبار المتوقع، فهذا صادق ومقبول.</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كثير من الشركات تستخدم نظام تتبع المتقدمين، ATS، يستخرج النص من سيرتك ويقارنه بالإعلان قبل أن يراها إنسان. الأنظمة تختلف كثيراً، وبعضها الحديث يقرأ التنسيقات المعقدة جيداً، لكن البسيط أضمن دائماً. القاعدة: إن لم تستطع أن تنسخ نص سيرتك وتلصقه في ملف نصي فيظهر مرتباً، فقد يواجه النظام المشكلة نفسها. وتمرين المطابقة على اليسار مهم: إذا قال الإعلان risk assessment فاكتبها بالصيغة نفسها، لا بمرادف. لكن لا تكتب مصطلحاً لا تعرفه؛ النظام قد يمررك، والمقابلة لن تمررك. وأيضاً عدّل السيرة قليلاً لكل إعلان مهم، بدل إرسال نسخة واحدة للجميع.</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الجملة على اليمين تصف مهمة؛ الجملة على اليسار تثبت قدرة. والفرق في المعادلة: فعل قوي، ثم ماذا فعلت، ثم بأي طريقة، ثم النتيجة. المثال الثالث مهم لمن عنده خبرة في مجال قريب: الدعم الفني ليس بعيداً عن GRC؛ طلبات الصلاحيات وسير الموافقات ضوابط فعلية، فصِغها بلغة GRC. وتحذير ضروري: الأرقام في الأمثلة توضيحية. اكتب أرقامك الحقيقية فقط، فكل رقم في سيرتك قد تُسأل عنه في المقابلة: كيف حسبته؟ إن لم يكن لديك رقم فاكتب النتيجة النوعية، مثل «اعتمدتها الإدارة» أو «استُخدمت في التدقيق».</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كثير من العاملين في GRC جاؤوا من مجالات أخرى، فلا تكتب «لا خبرة» وأنت عملت في مجال قريب. على اليمين خمس خلفيات شائعة وما يقابلها في GRC. موظف الدعم الفني تعامل مع طلبات صلاحيات وموافقات، وهذه ضوابط وصول. والمحاسب يعرف الرقابة الداخلية والعينات والأدلة أكثر من كثير من التقنيين. والقانوني قريب جداً من الامتثال والخصوصية. صغ هذه الخبرة بلغة GRC كما تدربنا في شريحة الإنجازات. وإن لم تكن لديك أي خبرة عمل، فعلى اليسار أقسام بديلة: المشاريع، والتدريب التعاوني، والتطوع، ومشروع التخرج. التطوع خيار يُنسى: جمعية خيرية صغيرة قد تحتاج من يكتب لها سياسة كلمات مرور أو نسخ احتياطي، وهذه تجربة حقيقية تذكرها.</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راجع سيرتك على هذه القائمة قبل أن ترسلها. اثنان منها مهمان بالذات في GRC. الأول: الأخطاء الإملائية؛ وظيفتك ستكون مراجعة وثائق واكتشاف الأخطاء، فخطأ في سيرتك يرسل رسالة سيئة. الثاني: المعلومات الحساسة. لا تضع رقم الهوية أو الجواز أو تاريخ الميلاد إن لم يطلبها الإعلان؛ مختص حماية بيانات يضع بياناته الحساسة في ملف يرسله لعشرات الجهات يناقض ما يعمل عليه. والخطأ الذي لا يُغتفر: شهادة لم تحصل عليها. الجهات تتحقق، وسجلات حاملي الشهادات متاحة للتحقق لدى كثير من الجهات المانحة.</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السيرة ترسلها أنت، أما LinkedIn فيجدك من خلاله الآخرون. مسؤولو التوظيف يبحثون بكلمات مثل GRC Analyst وISO 27001 وNCA ECC، فإن لم تكن هذه الكلمات في ملفك فلن تظهر لهم. في هذه الوحدة: شكل الملف المكتمل، ثم العنوان المهني، ثم النبذة، ثم كيف تبني شبكتك وتنشر، وأخيراً كيف تستخدم البحث عن الوظائف. الحدود والمقاسات المذكورة من صفحات مساعدة LinkedIn، وتحققنا منها في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على اليسار نموذج مبسط لملف مكتمل، رسمناه للتوضيح وليس لقطة من LinkedIn. الأرقام على اليمين من صفحات مساعدة LinkedIn: الصورة الشخصية بين 400×400 و7680×4320 بكسل، وحتى 8 ميغابايت، بصيغة JPG أو PNG. وصورة الخلفية مقاسها الموصى به 1584×396 بكسل. والرابط المخصص من 3 إلى 100 حرف، بلا مسافات أو رموز، ولا يحتوي كلمة LinkedIn، وتستطيع تغييره حتى 5 مرات في 6 أشهر. وتستطيع إضافة حتى 100 مهارة. أما قسم Featured فيعرض منشوراتك ومقالاتك وروابط وملفات خارجية أعلى الملف، ولا يظهر إن كان فارغاً. والخلفية فرصة: ضع فيها مجالك بكلمات قليلة. المصادر: صفحات مساعدة LinkedIn عن الصورة والخلفية والمهارات والرابط وقسم Featured، وتاريخ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العنوان المهني يظهر تحت اسمك في كل مكان: نتائج البحث، والتعليقات، وطلبات التواصل. لذلك هو أهم سطر. الأمثلة الضعيفة على اليمين لا تحتوي أي كلمة يبحث بها مسؤول التوظيف. والقوية تتبع المعادلة: الوظيفة المستهدفة، ثم مجالان أو ثلاثة، ثم دليل. كلمة ‎Entry-Level‎ صادقة وتوضح مستواك، فلا تكتب GRC Analyst وحدها إن لم تعمل بها بعد. والمثال الثاني لمن ينتقل من مجال قريب. والثالث بالعربية، ويصلح إن كانت الجهات التي تستهدفها تبحث بالعربية؛ ولا مانع من الدمج. عن الطول: لم نجد في صفحات مساعدة LinkedIn حداً رسمياً لعدد الحروف؛ مواقع غير رسمية تذكر 220 حرفاً، ولم نتحقق منه. والقاعدة العملية: ضع أهم الكلمات في البداية.</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النبذة مساحة تقول فيها ما لا تتسع له السيرة، لكن بلا إطالة. أربعة أجزاء: افتتاح يقول من أنت، ودليل من مشاريعك، ومجالات وأطر بكلمات البحث، ودعوة للتواصل. النموذج على اليسار لمبتدئة افتراضية، والألوان تبين كل جزء. اكتب بصيغة المتكلم وبلغة بسيطة. الحد الأقصى 2,600 حرف بحسب مدونة LinkedIn الرسمية للتوظيف في أبريل 2024، وليس في صفحات المساعدة؛ ونقترح 150 إلى 250 كلمة لأنها تُقرأ كاملة، وهذا اقتراح منا لا قاعدة. وإن كنت تستهدف جهات محلية تقرأ بالعربية، فاكتب فقرة عربية قصيرة بعد الإنجليزية.</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الشبكة ليست عدداً، بل أشخاص في المجال يعرفون اسمك. أضف من يعمل فيما تريد أن تعمل فيه، واكتب رسالة قصيرة مع طلب التواصل تذكر فيها سبباً حقيقياً، كما في المثال. الاسم في المثال افتراضي. ولا تطلب وظيفة في الرسالة الأولى. والنشر يجعلك مرئياً: لا تحتاج أن تكون خبيراً لتكتب؛ اكتب ما تعلمته هذا الأسبوع، فهذا يثبت أنك تتعلم باستمرار. اقتراحنا، وهو اقتراح لا قاعدة: منشور واحد أسبوعياً، وتعليقات مفيدة على منشورات المختصين. والتحذير مهم جداً في مجالنا: لا تكشف أي معلومة عن ضوابط جهة أو ثغراتها، حتى بنية حسنة. مسؤول التوظيف سيلاحظ ذلك، وسيقلقه.</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خاصية Open to Work تخبر مسؤولي التوظيف أنك متاح. المسار بحسب صفحة مساعدة LinkedIn: من Me، ثم View profile، ثم Open to، ثم Finding a new job، وتحدد المسميات والمواقع ونوع العمل وتاريخ البدء. وللظهور خياران: كل الأعضاء، ويضيف إطار OpenToWork إلى صورتك ويراه الجميع بمن فيهم زملاؤك الحاليون؛ أو مسؤولو التوظيف فقط، وتحاول LinkedIn إخفاءه عن مسؤولي التوظيف في جهتك الحالية لكنها تقول صراحة إنها لا تضمن ذلك تماماً. وفي البحث، لا تكتفِ بمسمى GRC Analyst؛ الجهات تسمي الوظيفة نفسها بأسماء مختلفة. ثلاثة من المسميات هنا من الإطار السعودي لكوادر الأمن السيبراني: مقيّم الضوابط الأمنية، ومسؤول سياسات الأمن السيبراني، ومدقق الأمن السيبراني، ومعها مسؤول المخاطر ومسؤول الامتثال. المصدر: صفحة مساعدة LinkedIn عن Open to Work، والإطار ‎SCyWF-1.5:2026‎.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الوحدة الأخيرة قصيرة وعملية. نبدأ بالأسئلة الأكثر تكراراً في مقابلات GRC للمبتدئين، ثم طريقة STAR للإجابة عن الأسئلة السلوكية، ثم قائمة مراجعة لكل ما في الكورس، ونختم بالخطوة التالية.</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هذه أسئلة شائعة في مقابلات GRC للمبتدئين، وليست قائمة رسمية. الأخضر أسئلة معرفة، وجوابها في شرائح الكورس المذكورة. البرتقالي أسئلة تطبيق، وهي الأهم، لأنها تكشف هل تفهم أم تحفظ. مثال: مالك النظام الذي يرفض الضابط. الجواب الجيد لا يبدأ بالتصعيد؛ يبدأ بفهم السبب، ثم شرح الخطر بلغة العمل، ثم اقتراح بديل مثل ضابط تعويضي، فإن تعذر فاستثناء موثق ومؤقت يقبله صاحب الصلاحية، والتصعيد آخر الخيارات. والأزرق أسئلة عن دورك ودافعك. سؤال «لماذا جهتنا» لا جواب له في الكورس: اقرأ عن الجهة قبل المقابلة، وما الأطر التي تنطبق عليها، واذكرها.</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الأسئلة السلوكية تبدأ عادة بـ «حدثنا عن مرة…». أجب بطريقة STAR: الموقف باختصار، ثم المهمة، ثم ما فعلته أنت تحديداً، ثم النتيجة. الإجراء هو الجزء الأطول، والنتيجة هي ما ينساه أغلب الناس. المثال هنا توضيحي ومن الواقع العملي لـ GRC: مراجعة صلاحيات كشفت حسابات لموظفين غادروا، وهي ملاحظة كلاسيكية في التدقيق. جهّز خمس قصص مسبقاً: عمل جماعي، وخلاف أو رفض، وخطأ تعلمت منه، وموعد ضيق، وتعلم شيء جديد بسرعة. ومن لا خبرة عمل له يأخذ قصصه من مشاريع الوحدة 6، أو من الدراسة أو التطوع. وكن صادقاً: لا تخترع قصة؛ الأسئلة اللاحقة ستكشفها.</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هذه قائمة الكورس كله في شريحة واحدة. اطبعها أو انسخها، وضع علامة على كل بند تنجزه. لا تحتاج أن تكتمل كلها قبل أول طلب توظيف؛ إن أنجزت عمودي المعرفة والدليل، وكانت سيرتك وملفك جاهزين، فابدأ التقديم، والشهادة تأتي بالتوازي. ولاحظ بند «لا بيانات لجهة حقيقية»: هذا أهم من أي شهادة، لأنه يثبت أنك تفهم السرية، وهي أساس المهنة.</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وصلنا إلى النهاية. لخصنا كل شيء في ثلاث خطوات لهذا الأسبوع فقط: اختر شهادة مدخل واحدة واقرأ مخططها، وابدأ مشروع سجل المخاطر لشركة افتراضية، وحدّث عنوانك المهني في LinkedIn. بعدها اتبع خطة التسعين يوماً في الوحدة السادسة. وإن أردت التعمق في الضوابط الأساسية للأمن السيبراني ‎ECC-2:2024‎، فالكورس المرافق وكراسة التمارين يأخذانك من الفهم إلى التطبيق. وتذكير أخير: الرسوم والشروط والإصدارات في هذا الكورس تحققنا منها من المواقع الرسمية في 27 أكتوبر 2026، وهي تتغير، فراجعها دائماً قبل أن تدفع أو تسجل. بالتوفيق.</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2.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0.png"/><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0.png"/><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 Id="rId7"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image" Target="../media/image67.png"/><Relationship Id="rId4" Type="http://schemas.openxmlformats.org/officeDocument/2006/relationships/image" Target="../media/image52.png"/><Relationship Id="rId5"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4466336" y="2067429"/>
            <a:ext cx="6912864"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300" b="1" i="0" lang="ar-SA" altLang="en-US">
                <a:solidFill>
                  <a:srgbClr val="7FD3C3"/>
                </a:solidFill>
                <a:latin typeface="IBM Plex Sans Arabic"/>
                <a:ea typeface="IBM Plex Sans Arabic"/>
                <a:cs typeface="IBM Plex Sans Arabic"/>
              </a:rPr>
              <a:t>كورس عملي للمبتدئين والخريجين</a:t>
            </a:r>
          </a:p>
        </p:txBody>
      </p:sp>
      <p:sp>
        <p:nvSpPr>
          <p:cNvPr id="4" name="Text 3"/>
          <p:cNvSpPr txBox="1"/>
          <p:nvPr/>
        </p:nvSpPr>
        <p:spPr>
          <a:xfrm>
            <a:off x="4466336" y="2534412"/>
            <a:ext cx="6912864" cy="817860"/>
          </a:xfrm>
          <a:prstGeom prst="rect">
            <a:avLst/>
          </a:prstGeom>
          <a:noFill/>
        </p:spPr>
        <p:txBody>
          <a:bodyPr wrap="square" tIns="0" rIns="0" bIns="0" lIns="0" anchor="t" rtlCol="0" anchorCtr="0">
            <a:noAutofit/>
          </a:bodyPr>
          <a:lstStyle/>
          <a:p>
            <a:pPr algn="r" rtl="1">
              <a:lnSpc>
                <a:spcPts val="6440"/>
              </a:lnSpc>
              <a:spcBef>
                <a:spcPts val="0"/>
              </a:spcBef>
              <a:spcAft>
                <a:spcPts val="0"/>
              </a:spcAft>
            </a:pPr>
            <a:r>
              <a:rPr sz="5600" b="1" i="0" lang="ar-SA" altLang="en-US">
                <a:solidFill>
                  <a:srgbClr val="F3EFE6"/>
                </a:solidFill>
                <a:latin typeface="Readex Pro"/>
                <a:ea typeface="Readex Pro"/>
                <a:cs typeface="Readex Pro"/>
              </a:rPr>
              <a:t>كيف تبدأ في GRC</a:t>
            </a:r>
          </a:p>
        </p:txBody>
      </p:sp>
      <p:sp>
        <p:nvSpPr>
          <p:cNvPr id="5" name="Text 4"/>
          <p:cNvSpPr txBox="1"/>
          <p:nvPr/>
        </p:nvSpPr>
        <p:spPr>
          <a:xfrm>
            <a:off x="4786376" y="3501497"/>
            <a:ext cx="6592824" cy="6858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lang="ar-SA" altLang="en-US">
                <a:solidFill>
                  <a:srgbClr val="D9E2E6"/>
                </a:solidFill>
                <a:latin typeface="IBM Plex Sans Arabic"/>
                <a:ea typeface="IBM Plex Sans Arabic"/>
                <a:cs typeface="IBM Plex Sans Arabic"/>
              </a:rPr>
              <a:t>الحوكمة والمخاطر والامتثال من الصفر: المفاهيم، والأطر، والشهادات، ثم السيرة الذاتية ولينكدإن والمقابلة.</a:t>
            </a:r>
          </a:p>
        </p:txBody>
      </p:sp>
      <p:sp>
        <p:nvSpPr>
          <p:cNvPr id="6" name="Text box 5"/>
          <p:cNvSpPr/>
          <p:nvPr/>
        </p:nvSpPr>
        <p:spPr>
          <a:xfrm>
            <a:off x="10553898" y="4440535"/>
            <a:ext cx="822127" cy="321270"/>
          </a:xfrm>
          <a:prstGeom prst="roundRect">
            <a:avLst>
              <a:gd name="adj" fmla="val 50000"/>
            </a:avLst>
          </a:prstGeom>
          <a:noFill/>
          <a:ln w="6350">
            <a:solidFill>
              <a:srgbClr val="4B5B6C"/>
            </a:solidFill>
          </a:ln>
        </p:spPr>
        <p:txBody>
          <a:bodyPr rtlCol="0" anchor="ctr" wrap="square" tIns="0" rIns="95827" bIns="47244" lIns="4387" anchorCtr="0">
            <a:noAutofit/>
          </a:bodyPr>
          <a:lstStyle/>
          <a:p>
            <a:pPr algn="r" rtl="1">
              <a:lnSpc>
                <a:spcPts val="1680"/>
              </a:lnSpc>
              <a:spcBef>
                <a:spcPts val="0"/>
              </a:spcBef>
              <a:spcAft>
                <a:spcPts val="0"/>
              </a:spcAft>
            </a:pPr>
            <a:r>
              <a:rPr sz="1200" b="0" i="0" lang="ar-SA" altLang="en-US">
                <a:solidFill>
                  <a:srgbClr val="F3EFE6"/>
                </a:solidFill>
                <a:latin typeface="IBM Plex Sans Arabic"/>
                <a:ea typeface="IBM Plex Sans Arabic"/>
                <a:cs typeface="IBM Plex Sans Arabic"/>
              </a:rPr>
              <a:t>9 وحدات</a:t>
            </a:r>
          </a:p>
        </p:txBody>
      </p:sp>
      <p:sp>
        <p:nvSpPr>
          <p:cNvPr id="7" name="Text box 6"/>
          <p:cNvSpPr/>
          <p:nvPr/>
        </p:nvSpPr>
        <p:spPr>
          <a:xfrm>
            <a:off x="9289157" y="4440535"/>
            <a:ext cx="1156791" cy="321270"/>
          </a:xfrm>
          <a:prstGeom prst="roundRect">
            <a:avLst>
              <a:gd name="adj" fmla="val 50000"/>
            </a:avLst>
          </a:prstGeom>
          <a:noFill/>
          <a:ln w="6350">
            <a:solidFill>
              <a:srgbClr val="4B5B6C"/>
            </a:solidFill>
          </a:ln>
        </p:spPr>
        <p:txBody>
          <a:bodyPr rtlCol="0" anchor="ctr" wrap="square" tIns="0" rIns="95827" bIns="47244" lIns="4387" anchorCtr="0">
            <a:noAutofit/>
          </a:bodyPr>
          <a:lstStyle/>
          <a:p>
            <a:pPr algn="r" rtl="1">
              <a:lnSpc>
                <a:spcPts val="1680"/>
              </a:lnSpc>
              <a:spcBef>
                <a:spcPts val="0"/>
              </a:spcBef>
              <a:spcAft>
                <a:spcPts val="0"/>
              </a:spcAft>
            </a:pPr>
            <a:r>
              <a:rPr sz="1200" b="0" i="0" lang="ar-SA" altLang="en-US">
                <a:solidFill>
                  <a:srgbClr val="F3EFE6"/>
                </a:solidFill>
                <a:latin typeface="IBM Plex Sans Arabic"/>
                <a:ea typeface="IBM Plex Sans Arabic"/>
                <a:cs typeface="IBM Plex Sans Arabic"/>
              </a:rPr>
              <a:t>خريطة شهادات</a:t>
            </a:r>
          </a:p>
        </p:txBody>
      </p:sp>
      <p:sp>
        <p:nvSpPr>
          <p:cNvPr id="8" name="Text box 7"/>
          <p:cNvSpPr/>
          <p:nvPr/>
        </p:nvSpPr>
        <p:spPr>
          <a:xfrm>
            <a:off x="7743527" y="4440535"/>
            <a:ext cx="1437680" cy="321270"/>
          </a:xfrm>
          <a:prstGeom prst="roundRect">
            <a:avLst>
              <a:gd name="adj" fmla="val 50000"/>
            </a:avLst>
          </a:prstGeom>
          <a:noFill/>
          <a:ln w="6350">
            <a:solidFill>
              <a:srgbClr val="4B5B6C"/>
            </a:solidFill>
          </a:ln>
        </p:spPr>
        <p:txBody>
          <a:bodyPr rtlCol="0" anchor="ctr" wrap="square" tIns="0" rIns="95827" bIns="47244" lIns="3672" anchorCtr="0">
            <a:noAutofit/>
          </a:bodyPr>
          <a:lstStyle/>
          <a:p>
            <a:pPr algn="r" rtl="1">
              <a:lnSpc>
                <a:spcPts val="1680"/>
              </a:lnSpc>
              <a:spcBef>
                <a:spcPts val="0"/>
              </a:spcBef>
              <a:spcAft>
                <a:spcPts val="0"/>
              </a:spcAft>
            </a:pPr>
            <a:r>
              <a:rPr sz="1200" b="0" i="0" lang="ar-SA" altLang="en-US">
                <a:solidFill>
                  <a:srgbClr val="F3EFE6"/>
                </a:solidFill>
                <a:latin typeface="IBM Plex Sans Arabic"/>
                <a:ea typeface="IBM Plex Sans Arabic"/>
                <a:cs typeface="IBM Plex Sans Arabic"/>
              </a:rPr>
              <a:t>نماذج سيرة ولينكدإن</a:t>
            </a:r>
          </a:p>
        </p:txBody>
      </p:sp>
      <p:sp>
        <p:nvSpPr>
          <p:cNvPr id="9" name="Text box 8"/>
          <p:cNvSpPr/>
          <p:nvPr/>
        </p:nvSpPr>
        <p:spPr>
          <a:xfrm>
            <a:off x="6598841" y="4440535"/>
            <a:ext cx="1036737" cy="321270"/>
          </a:xfrm>
          <a:prstGeom prst="roundRect">
            <a:avLst>
              <a:gd name="adj" fmla="val 50000"/>
            </a:avLst>
          </a:prstGeom>
          <a:noFill/>
          <a:ln w="6350">
            <a:solidFill>
              <a:srgbClr val="4B5B6C"/>
            </a:solidFill>
          </a:ln>
        </p:spPr>
        <p:txBody>
          <a:bodyPr rtlCol="0" anchor="ctr" wrap="square" tIns="0" rIns="95827" bIns="47244" lIns="4387" anchorCtr="0">
            <a:noAutofit/>
          </a:bodyPr>
          <a:lstStyle/>
          <a:p>
            <a:pPr algn="r" rtl="1">
              <a:lnSpc>
                <a:spcPts val="1680"/>
              </a:lnSpc>
              <a:spcBef>
                <a:spcPts val="0"/>
              </a:spcBef>
              <a:spcAft>
                <a:spcPts val="0"/>
              </a:spcAft>
            </a:pPr>
            <a:r>
              <a:rPr sz="1200" b="0" i="0" lang="ar-SA" altLang="en-US">
                <a:solidFill>
                  <a:srgbClr val="F3EFE6"/>
                </a:solidFill>
                <a:latin typeface="IBM Plex Sans Arabic"/>
                <a:ea typeface="IBM Plex Sans Arabic"/>
                <a:cs typeface="IBM Plex Sans Arabic"/>
              </a:rPr>
              <a:t>خطة 90 يوماً</a:t>
            </a:r>
          </a:p>
        </p:txBody>
      </p:sp>
      <p:sp>
        <p:nvSpPr>
          <p:cNvPr id="10" name="Box 9"/>
          <p:cNvSpPr/>
          <p:nvPr/>
        </p:nvSpPr>
        <p:spPr>
          <a:xfrm>
            <a:off x="812800" y="1964730"/>
            <a:ext cx="3556000" cy="891480"/>
          </a:xfrm>
          <a:prstGeom prst="roundRect">
            <a:avLst>
              <a:gd name="adj" fmla="val 14245"/>
            </a:avLst>
          </a:prstGeom>
          <a:solidFill>
            <a:srgbClr val="22344A"/>
          </a:solidFill>
          <a:ln>
            <a:noFill/>
          </a:ln>
        </p:spPr>
        <p:txBody>
          <a:bodyPr rtlCol="0" anchor="ctr"/>
          <a:lstStyle/>
          <a:p>
            <a:pPr algn="ctr"/>
          </a:p>
        </p:txBody>
      </p:sp>
      <p:sp>
        <p:nvSpPr>
          <p:cNvPr id="11" name="Rule 10"/>
          <p:cNvSpPr/>
          <p:nvPr/>
        </p:nvSpPr>
        <p:spPr>
          <a:xfrm>
            <a:off x="4318000" y="1964730"/>
            <a:ext cx="50800" cy="891480"/>
          </a:xfrm>
          <a:prstGeom prst="rect">
            <a:avLst/>
          </a:prstGeom>
          <a:solidFill>
            <a:srgbClr val="0E7C6B"/>
          </a:solidFill>
          <a:ln>
            <a:noFill/>
          </a:ln>
        </p:spPr>
        <p:txBody>
          <a:bodyPr rtlCol="0" anchor="ctr"/>
          <a:lstStyle/>
          <a:p>
            <a:pPr algn="ctr"/>
          </a:p>
        </p:txBody>
      </p:sp>
      <p:sp>
        <p:nvSpPr>
          <p:cNvPr id="12" name="Text 11"/>
          <p:cNvSpPr txBox="1"/>
          <p:nvPr/>
        </p:nvSpPr>
        <p:spPr>
          <a:xfrm>
            <a:off x="3535680" y="2241764"/>
            <a:ext cx="701040" cy="406400"/>
          </a:xfrm>
          <a:prstGeom prst="rect">
            <a:avLst/>
          </a:prstGeom>
          <a:noFill/>
        </p:spPr>
        <p:txBody>
          <a:bodyPr wrap="square" tIns="0" rIns="0" bIns="0" lIns="0" anchor="t" rtlCol="0" anchorCtr="0">
            <a:noAutofit/>
          </a:bodyPr>
          <a:lstStyle/>
          <a:p>
            <a:pPr algn="ctr">
              <a:lnSpc>
                <a:spcPts val="3200"/>
              </a:lnSpc>
              <a:spcBef>
                <a:spcPts val="0"/>
              </a:spcBef>
              <a:spcAft>
                <a:spcPts val="0"/>
              </a:spcAft>
            </a:pPr>
            <a:r>
              <a:rPr sz="3200" b="1" i="0">
                <a:solidFill>
                  <a:srgbClr val="7FD3C3"/>
                </a:solidFill>
                <a:latin typeface="Readex Pro"/>
                <a:ea typeface="Readex Pro"/>
                <a:cs typeface="Readex Pro"/>
              </a:rPr>
              <a:t>G</a:t>
            </a:r>
          </a:p>
        </p:txBody>
      </p:sp>
      <p:sp>
        <p:nvSpPr>
          <p:cNvPr id="13" name="Text 12"/>
          <p:cNvSpPr txBox="1"/>
          <p:nvPr/>
        </p:nvSpPr>
        <p:spPr>
          <a:xfrm>
            <a:off x="838200" y="2127671"/>
            <a:ext cx="266700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F3EFE6"/>
                </a:solidFill>
                <a:latin typeface="Readex Pro"/>
                <a:ea typeface="Readex Pro"/>
                <a:cs typeface="Readex Pro"/>
              </a:rPr>
              <a:t>الحوكمة</a:t>
            </a:r>
          </a:p>
        </p:txBody>
      </p:sp>
      <p:sp>
        <p:nvSpPr>
          <p:cNvPr id="14" name="Text 13"/>
          <p:cNvSpPr txBox="1"/>
          <p:nvPr/>
        </p:nvSpPr>
        <p:spPr>
          <a:xfrm>
            <a:off x="838200" y="2441468"/>
            <a:ext cx="26670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B9C4CC"/>
                </a:solidFill>
                <a:latin typeface="IBM Plex Sans Arabic"/>
                <a:ea typeface="IBM Plex Sans Arabic"/>
                <a:cs typeface="IBM Plex Sans Arabic"/>
              </a:rPr>
              <a:t>من يقرر، وبأي قواعد</a:t>
            </a:r>
          </a:p>
        </p:txBody>
      </p:sp>
      <p:sp>
        <p:nvSpPr>
          <p:cNvPr id="15" name="Box 14"/>
          <p:cNvSpPr/>
          <p:nvPr/>
        </p:nvSpPr>
        <p:spPr>
          <a:xfrm>
            <a:off x="812800" y="2983210"/>
            <a:ext cx="3556000" cy="891480"/>
          </a:xfrm>
          <a:prstGeom prst="roundRect">
            <a:avLst>
              <a:gd name="adj" fmla="val 14245"/>
            </a:avLst>
          </a:prstGeom>
          <a:solidFill>
            <a:srgbClr val="22344A"/>
          </a:solidFill>
          <a:ln>
            <a:noFill/>
          </a:ln>
        </p:spPr>
        <p:txBody>
          <a:bodyPr rtlCol="0" anchor="ctr"/>
          <a:lstStyle/>
          <a:p>
            <a:pPr algn="ctr"/>
          </a:p>
        </p:txBody>
      </p:sp>
      <p:sp>
        <p:nvSpPr>
          <p:cNvPr id="16" name="Rule 15"/>
          <p:cNvSpPr/>
          <p:nvPr/>
        </p:nvSpPr>
        <p:spPr>
          <a:xfrm>
            <a:off x="4318000" y="2983210"/>
            <a:ext cx="50800" cy="891480"/>
          </a:xfrm>
          <a:prstGeom prst="rect">
            <a:avLst/>
          </a:prstGeom>
          <a:solidFill>
            <a:srgbClr val="E0A33A"/>
          </a:solidFill>
          <a:ln>
            <a:noFill/>
          </a:ln>
        </p:spPr>
        <p:txBody>
          <a:bodyPr rtlCol="0" anchor="ctr"/>
          <a:lstStyle/>
          <a:p>
            <a:pPr algn="ctr"/>
          </a:p>
        </p:txBody>
      </p:sp>
      <p:sp>
        <p:nvSpPr>
          <p:cNvPr id="17" name="Text 16"/>
          <p:cNvSpPr txBox="1"/>
          <p:nvPr/>
        </p:nvSpPr>
        <p:spPr>
          <a:xfrm>
            <a:off x="3535680" y="3260245"/>
            <a:ext cx="701040" cy="406400"/>
          </a:xfrm>
          <a:prstGeom prst="rect">
            <a:avLst/>
          </a:prstGeom>
          <a:noFill/>
        </p:spPr>
        <p:txBody>
          <a:bodyPr wrap="square" tIns="0" rIns="0" bIns="0" lIns="0" anchor="t" rtlCol="0" anchorCtr="0">
            <a:noAutofit/>
          </a:bodyPr>
          <a:lstStyle/>
          <a:p>
            <a:pPr algn="ctr">
              <a:lnSpc>
                <a:spcPts val="3200"/>
              </a:lnSpc>
              <a:spcBef>
                <a:spcPts val="0"/>
              </a:spcBef>
              <a:spcAft>
                <a:spcPts val="0"/>
              </a:spcAft>
            </a:pPr>
            <a:r>
              <a:rPr sz="3200" b="1" i="0">
                <a:solidFill>
                  <a:srgbClr val="F2C46D"/>
                </a:solidFill>
                <a:latin typeface="Readex Pro"/>
                <a:ea typeface="Readex Pro"/>
                <a:cs typeface="Readex Pro"/>
              </a:rPr>
              <a:t>R</a:t>
            </a:r>
          </a:p>
        </p:txBody>
      </p:sp>
      <p:sp>
        <p:nvSpPr>
          <p:cNvPr id="18" name="Text 17"/>
          <p:cNvSpPr txBox="1"/>
          <p:nvPr/>
        </p:nvSpPr>
        <p:spPr>
          <a:xfrm>
            <a:off x="838200" y="3146151"/>
            <a:ext cx="266700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F3EFE6"/>
                </a:solidFill>
                <a:latin typeface="Readex Pro"/>
                <a:ea typeface="Readex Pro"/>
                <a:cs typeface="Readex Pro"/>
              </a:rPr>
              <a:t>المخاطر</a:t>
            </a:r>
          </a:p>
        </p:txBody>
      </p:sp>
      <p:sp>
        <p:nvSpPr>
          <p:cNvPr id="19" name="Text 18"/>
          <p:cNvSpPr txBox="1"/>
          <p:nvPr/>
        </p:nvSpPr>
        <p:spPr>
          <a:xfrm>
            <a:off x="838200" y="3459948"/>
            <a:ext cx="26670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B9C4CC"/>
                </a:solidFill>
                <a:latin typeface="IBM Plex Sans Arabic"/>
                <a:ea typeface="IBM Plex Sans Arabic"/>
                <a:cs typeface="IBM Plex Sans Arabic"/>
              </a:rPr>
              <a:t>ما الذي قد يحدث، وماذا نفعل</a:t>
            </a:r>
          </a:p>
        </p:txBody>
      </p:sp>
      <p:sp>
        <p:nvSpPr>
          <p:cNvPr id="20" name="Box 19"/>
          <p:cNvSpPr/>
          <p:nvPr/>
        </p:nvSpPr>
        <p:spPr>
          <a:xfrm>
            <a:off x="812800" y="4001691"/>
            <a:ext cx="3556000" cy="891480"/>
          </a:xfrm>
          <a:prstGeom prst="roundRect">
            <a:avLst>
              <a:gd name="adj" fmla="val 14245"/>
            </a:avLst>
          </a:prstGeom>
          <a:solidFill>
            <a:srgbClr val="22344A"/>
          </a:solidFill>
          <a:ln>
            <a:noFill/>
          </a:ln>
        </p:spPr>
        <p:txBody>
          <a:bodyPr rtlCol="0" anchor="ctr"/>
          <a:lstStyle/>
          <a:p>
            <a:pPr algn="ctr"/>
          </a:p>
        </p:txBody>
      </p:sp>
      <p:sp>
        <p:nvSpPr>
          <p:cNvPr id="21" name="Rule 20"/>
          <p:cNvSpPr/>
          <p:nvPr/>
        </p:nvSpPr>
        <p:spPr>
          <a:xfrm>
            <a:off x="4318000" y="4001691"/>
            <a:ext cx="50800" cy="891480"/>
          </a:xfrm>
          <a:prstGeom prst="rect">
            <a:avLst/>
          </a:prstGeom>
          <a:solidFill>
            <a:srgbClr val="6E9BD1"/>
          </a:solidFill>
          <a:ln>
            <a:noFill/>
          </a:ln>
        </p:spPr>
        <p:txBody>
          <a:bodyPr rtlCol="0" anchor="ctr"/>
          <a:lstStyle/>
          <a:p>
            <a:pPr algn="ctr"/>
          </a:p>
        </p:txBody>
      </p:sp>
      <p:sp>
        <p:nvSpPr>
          <p:cNvPr id="22" name="Text 21"/>
          <p:cNvSpPr txBox="1"/>
          <p:nvPr/>
        </p:nvSpPr>
        <p:spPr>
          <a:xfrm>
            <a:off x="3535680" y="4278725"/>
            <a:ext cx="701040" cy="406400"/>
          </a:xfrm>
          <a:prstGeom prst="rect">
            <a:avLst/>
          </a:prstGeom>
          <a:noFill/>
        </p:spPr>
        <p:txBody>
          <a:bodyPr wrap="square" tIns="0" rIns="0" bIns="0" lIns="0" anchor="t" rtlCol="0" anchorCtr="0">
            <a:noAutofit/>
          </a:bodyPr>
          <a:lstStyle/>
          <a:p>
            <a:pPr algn="ctr">
              <a:lnSpc>
                <a:spcPts val="3200"/>
              </a:lnSpc>
              <a:spcBef>
                <a:spcPts val="0"/>
              </a:spcBef>
              <a:spcAft>
                <a:spcPts val="0"/>
              </a:spcAft>
            </a:pPr>
            <a:r>
              <a:rPr sz="3200" b="1" i="0">
                <a:solidFill>
                  <a:srgbClr val="A9C6EA"/>
                </a:solidFill>
                <a:latin typeface="Readex Pro"/>
                <a:ea typeface="Readex Pro"/>
                <a:cs typeface="Readex Pro"/>
              </a:rPr>
              <a:t>C</a:t>
            </a:r>
          </a:p>
        </p:txBody>
      </p:sp>
      <p:sp>
        <p:nvSpPr>
          <p:cNvPr id="23" name="Text 22"/>
          <p:cNvSpPr txBox="1"/>
          <p:nvPr/>
        </p:nvSpPr>
        <p:spPr>
          <a:xfrm>
            <a:off x="838200" y="4164632"/>
            <a:ext cx="266700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F3EFE6"/>
                </a:solidFill>
                <a:latin typeface="Readex Pro"/>
                <a:ea typeface="Readex Pro"/>
                <a:cs typeface="Readex Pro"/>
              </a:rPr>
              <a:t>الامتثال</a:t>
            </a:r>
          </a:p>
        </p:txBody>
      </p:sp>
      <p:sp>
        <p:nvSpPr>
          <p:cNvPr id="24" name="Text 23"/>
          <p:cNvSpPr txBox="1"/>
          <p:nvPr/>
        </p:nvSpPr>
        <p:spPr>
          <a:xfrm>
            <a:off x="838200" y="4478429"/>
            <a:ext cx="26670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B9C4CC"/>
                </a:solidFill>
                <a:latin typeface="IBM Plex Sans Arabic"/>
                <a:ea typeface="IBM Plex Sans Arabic"/>
                <a:cs typeface="IBM Plex Sans Arabic"/>
              </a:rPr>
              <a:t>هل نلتزم، وكيف نثبت</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10719792" y="609600"/>
            <a:ext cx="659408"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البداية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خريطة الكورس: تسع وحدات من الفكرة إلى الوظيفة</a:t>
            </a:r>
          </a:p>
        </p:txBody>
      </p:sp>
      <p:sp>
        <p:nvSpPr>
          <p:cNvPr id="5" name="Box 4"/>
          <p:cNvSpPr/>
          <p:nvPr/>
        </p:nvSpPr>
        <p:spPr>
          <a:xfrm>
            <a:off x="9370715" y="1623020"/>
            <a:ext cx="2005310" cy="1982192"/>
          </a:xfrm>
          <a:prstGeom prst="roundRect">
            <a:avLst>
              <a:gd name="adj" fmla="val 5109"/>
            </a:avLst>
          </a:prstGeom>
          <a:solidFill>
            <a:srgbClr val="FFFDF8"/>
          </a:solidFill>
          <a:ln w="6350">
            <a:solidFill>
              <a:srgbClr val="E1DBCD"/>
            </a:solidFill>
          </a:ln>
        </p:spPr>
        <p:txBody>
          <a:bodyPr rtlCol="0" anchor="ctr"/>
          <a:lstStyle/>
          <a:p>
            <a:pPr algn="ctr"/>
          </a:p>
        </p:txBody>
      </p:sp>
      <p:sp>
        <p:nvSpPr>
          <p:cNvPr id="6" name="Text 5"/>
          <p:cNvSpPr txBox="1"/>
          <p:nvPr/>
        </p:nvSpPr>
        <p:spPr>
          <a:xfrm>
            <a:off x="9392940" y="1774785"/>
            <a:ext cx="182751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000" b="1" i="0">
                <a:solidFill>
                  <a:srgbClr val="0E7C6B"/>
                </a:solidFill>
                <a:latin typeface="Readex Pro"/>
                <a:ea typeface="Readex Pro"/>
                <a:cs typeface="Readex Pro"/>
              </a:rPr>
              <a:t>01</a:t>
            </a:r>
          </a:p>
        </p:txBody>
      </p:sp>
      <p:sp>
        <p:nvSpPr>
          <p:cNvPr id="7" name="Text 6"/>
          <p:cNvSpPr txBox="1"/>
          <p:nvPr/>
        </p:nvSpPr>
        <p:spPr>
          <a:xfrm>
            <a:off x="9392940" y="2068536"/>
            <a:ext cx="182751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Readex Pro"/>
                <a:ea typeface="Readex Pro"/>
                <a:cs typeface="Readex Pro"/>
              </a:rPr>
              <a:t>ما هو GRC؟</a:t>
            </a:r>
          </a:p>
        </p:txBody>
      </p:sp>
      <p:sp>
        <p:nvSpPr>
          <p:cNvPr id="8" name="Text 7"/>
          <p:cNvSpPr txBox="1"/>
          <p:nvPr/>
        </p:nvSpPr>
        <p:spPr>
          <a:xfrm>
            <a:off x="9475465" y="2391096"/>
            <a:ext cx="1744985" cy="49768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الفكرة، والأدوار، ويوم المختص.</a:t>
            </a:r>
          </a:p>
        </p:txBody>
      </p:sp>
      <p:sp>
        <p:nvSpPr>
          <p:cNvPr id="9" name="Box 8"/>
          <p:cNvSpPr/>
          <p:nvPr/>
        </p:nvSpPr>
        <p:spPr>
          <a:xfrm>
            <a:off x="7232055" y="1623020"/>
            <a:ext cx="2005310" cy="1982192"/>
          </a:xfrm>
          <a:prstGeom prst="roundRect">
            <a:avLst>
              <a:gd name="adj" fmla="val 5109"/>
            </a:avLst>
          </a:prstGeom>
          <a:solidFill>
            <a:srgbClr val="FFFDF8"/>
          </a:solidFill>
          <a:ln w="6350">
            <a:solidFill>
              <a:srgbClr val="E1DBCD"/>
            </a:solidFill>
          </a:ln>
        </p:spPr>
        <p:txBody>
          <a:bodyPr rtlCol="0" anchor="ctr"/>
          <a:lstStyle/>
          <a:p>
            <a:pPr algn="ctr"/>
          </a:p>
        </p:txBody>
      </p:sp>
      <p:sp>
        <p:nvSpPr>
          <p:cNvPr id="10" name="Text 9"/>
          <p:cNvSpPr txBox="1"/>
          <p:nvPr/>
        </p:nvSpPr>
        <p:spPr>
          <a:xfrm>
            <a:off x="7254280" y="1774785"/>
            <a:ext cx="182751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000" b="1" i="0">
                <a:solidFill>
                  <a:srgbClr val="0E7C6B"/>
                </a:solidFill>
                <a:latin typeface="Readex Pro"/>
                <a:ea typeface="Readex Pro"/>
                <a:cs typeface="Readex Pro"/>
              </a:rPr>
              <a:t>02</a:t>
            </a:r>
          </a:p>
        </p:txBody>
      </p:sp>
      <p:sp>
        <p:nvSpPr>
          <p:cNvPr id="11" name="Text 10"/>
          <p:cNvSpPr txBox="1"/>
          <p:nvPr/>
        </p:nvSpPr>
        <p:spPr>
          <a:xfrm>
            <a:off x="7254280" y="2068536"/>
            <a:ext cx="182751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Readex Pro"/>
                <a:ea typeface="Readex Pro"/>
                <a:cs typeface="Readex Pro"/>
              </a:rPr>
              <a:t>الأساس التقني</a:t>
            </a:r>
          </a:p>
        </p:txBody>
      </p:sp>
      <p:sp>
        <p:nvSpPr>
          <p:cNvPr id="12" name="Text 11"/>
          <p:cNvSpPr txBox="1"/>
          <p:nvPr/>
        </p:nvSpPr>
        <p:spPr>
          <a:xfrm>
            <a:off x="7336805" y="2391096"/>
            <a:ext cx="1744985" cy="746522"/>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الهويات، والشبكات، والسحابة، والحماية، والتغيير.</a:t>
            </a:r>
          </a:p>
        </p:txBody>
      </p:sp>
      <p:sp>
        <p:nvSpPr>
          <p:cNvPr id="13" name="Box 12"/>
          <p:cNvSpPr/>
          <p:nvPr/>
        </p:nvSpPr>
        <p:spPr>
          <a:xfrm>
            <a:off x="5093395" y="1623020"/>
            <a:ext cx="2005310" cy="1982192"/>
          </a:xfrm>
          <a:prstGeom prst="roundRect">
            <a:avLst>
              <a:gd name="adj" fmla="val 5109"/>
            </a:avLst>
          </a:prstGeom>
          <a:solidFill>
            <a:srgbClr val="FFFDF8"/>
          </a:solidFill>
          <a:ln w="6350">
            <a:solidFill>
              <a:srgbClr val="E1DBCD"/>
            </a:solidFill>
          </a:ln>
        </p:spPr>
        <p:txBody>
          <a:bodyPr rtlCol="0" anchor="ctr"/>
          <a:lstStyle/>
          <a:p>
            <a:pPr algn="ctr"/>
          </a:p>
        </p:txBody>
      </p:sp>
      <p:sp>
        <p:nvSpPr>
          <p:cNvPr id="14" name="Text 13"/>
          <p:cNvSpPr txBox="1"/>
          <p:nvPr/>
        </p:nvSpPr>
        <p:spPr>
          <a:xfrm>
            <a:off x="5115620" y="1774785"/>
            <a:ext cx="182751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000" b="1" i="0">
                <a:solidFill>
                  <a:srgbClr val="0E7C6B"/>
                </a:solidFill>
                <a:latin typeface="Readex Pro"/>
                <a:ea typeface="Readex Pro"/>
                <a:cs typeface="Readex Pro"/>
              </a:rPr>
              <a:t>03</a:t>
            </a:r>
          </a:p>
        </p:txBody>
      </p:sp>
      <p:sp>
        <p:nvSpPr>
          <p:cNvPr id="15" name="Text 14"/>
          <p:cNvSpPr txBox="1"/>
          <p:nvPr/>
        </p:nvSpPr>
        <p:spPr>
          <a:xfrm>
            <a:off x="5191820" y="2068536"/>
            <a:ext cx="1751310" cy="59432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Readex Pro"/>
                <a:ea typeface="Readex Pro"/>
                <a:cs typeface="Readex Pro"/>
              </a:rPr>
              <a:t>المفاهيم الأساسية</a:t>
            </a:r>
          </a:p>
        </p:txBody>
      </p:sp>
      <p:sp>
        <p:nvSpPr>
          <p:cNvPr id="16" name="Text 15"/>
          <p:cNvSpPr txBox="1"/>
          <p:nvPr/>
        </p:nvSpPr>
        <p:spPr>
          <a:xfrm>
            <a:off x="5198145" y="2688257"/>
            <a:ext cx="1744985" cy="746522"/>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المخاطر، والضوابط، والوثائق، والأدلة، والمؤشرات.</a:t>
            </a:r>
          </a:p>
        </p:txBody>
      </p:sp>
      <p:sp>
        <p:nvSpPr>
          <p:cNvPr id="17" name="Box 16"/>
          <p:cNvSpPr/>
          <p:nvPr/>
        </p:nvSpPr>
        <p:spPr>
          <a:xfrm>
            <a:off x="2954734" y="1623020"/>
            <a:ext cx="2005310" cy="1982192"/>
          </a:xfrm>
          <a:prstGeom prst="roundRect">
            <a:avLst>
              <a:gd name="adj" fmla="val 5109"/>
            </a:avLst>
          </a:prstGeom>
          <a:solidFill>
            <a:srgbClr val="FFFDF8"/>
          </a:solidFill>
          <a:ln w="6350">
            <a:solidFill>
              <a:srgbClr val="E1DBCD"/>
            </a:solidFill>
          </a:ln>
        </p:spPr>
        <p:txBody>
          <a:bodyPr rtlCol="0" anchor="ctr"/>
          <a:lstStyle/>
          <a:p>
            <a:pPr algn="ctr"/>
          </a:p>
        </p:txBody>
      </p:sp>
      <p:sp>
        <p:nvSpPr>
          <p:cNvPr id="18" name="Text 17"/>
          <p:cNvSpPr txBox="1"/>
          <p:nvPr/>
        </p:nvSpPr>
        <p:spPr>
          <a:xfrm>
            <a:off x="2976959" y="1774785"/>
            <a:ext cx="182751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000" b="1" i="0">
                <a:solidFill>
                  <a:srgbClr val="0E7C6B"/>
                </a:solidFill>
                <a:latin typeface="Readex Pro"/>
                <a:ea typeface="Readex Pro"/>
                <a:cs typeface="Readex Pro"/>
              </a:rPr>
              <a:t>04</a:t>
            </a:r>
          </a:p>
        </p:txBody>
      </p:sp>
      <p:sp>
        <p:nvSpPr>
          <p:cNvPr id="19" name="Text 18"/>
          <p:cNvSpPr txBox="1"/>
          <p:nvPr/>
        </p:nvSpPr>
        <p:spPr>
          <a:xfrm>
            <a:off x="2976959" y="2068536"/>
            <a:ext cx="182751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Readex Pro"/>
                <a:ea typeface="Readex Pro"/>
                <a:cs typeface="Readex Pro"/>
              </a:rPr>
              <a:t>الأطر والمعايير</a:t>
            </a:r>
          </a:p>
        </p:txBody>
      </p:sp>
      <p:sp>
        <p:nvSpPr>
          <p:cNvPr id="20" name="Text 19"/>
          <p:cNvSpPr txBox="1"/>
          <p:nvPr/>
        </p:nvSpPr>
        <p:spPr>
          <a:xfrm>
            <a:off x="3059485" y="2391096"/>
            <a:ext cx="1744985" cy="49768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العالمية والسعودية، والانطباق، والمواءمة.</a:t>
            </a:r>
          </a:p>
        </p:txBody>
      </p:sp>
      <p:sp>
        <p:nvSpPr>
          <p:cNvPr id="21" name="Box 20"/>
          <p:cNvSpPr/>
          <p:nvPr/>
        </p:nvSpPr>
        <p:spPr>
          <a:xfrm>
            <a:off x="816074" y="1623020"/>
            <a:ext cx="2005310" cy="1982192"/>
          </a:xfrm>
          <a:prstGeom prst="roundRect">
            <a:avLst>
              <a:gd name="adj" fmla="val 5109"/>
            </a:avLst>
          </a:prstGeom>
          <a:solidFill>
            <a:srgbClr val="FFFDF8"/>
          </a:solidFill>
          <a:ln w="6350">
            <a:solidFill>
              <a:srgbClr val="E1DBCD"/>
            </a:solidFill>
          </a:ln>
        </p:spPr>
        <p:txBody>
          <a:bodyPr rtlCol="0" anchor="ctr"/>
          <a:lstStyle/>
          <a:p>
            <a:pPr algn="ctr"/>
          </a:p>
        </p:txBody>
      </p:sp>
      <p:sp>
        <p:nvSpPr>
          <p:cNvPr id="22" name="Text 21"/>
          <p:cNvSpPr txBox="1"/>
          <p:nvPr/>
        </p:nvSpPr>
        <p:spPr>
          <a:xfrm>
            <a:off x="838299" y="1774785"/>
            <a:ext cx="182751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000" b="1" i="0">
                <a:solidFill>
                  <a:srgbClr val="0E7C6B"/>
                </a:solidFill>
                <a:latin typeface="Readex Pro"/>
                <a:ea typeface="Readex Pro"/>
                <a:cs typeface="Readex Pro"/>
              </a:rPr>
              <a:t>05</a:t>
            </a:r>
          </a:p>
        </p:txBody>
      </p:sp>
      <p:sp>
        <p:nvSpPr>
          <p:cNvPr id="23" name="Text 22"/>
          <p:cNvSpPr txBox="1"/>
          <p:nvPr/>
        </p:nvSpPr>
        <p:spPr>
          <a:xfrm>
            <a:off x="838299" y="2068536"/>
            <a:ext cx="182751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Readex Pro"/>
                <a:ea typeface="Readex Pro"/>
                <a:cs typeface="Readex Pro"/>
              </a:rPr>
              <a:t>الشهادات</a:t>
            </a:r>
          </a:p>
        </p:txBody>
      </p:sp>
      <p:sp>
        <p:nvSpPr>
          <p:cNvPr id="24" name="Text 23"/>
          <p:cNvSpPr txBox="1"/>
          <p:nvPr/>
        </p:nvSpPr>
        <p:spPr>
          <a:xfrm>
            <a:off x="920824" y="2391096"/>
            <a:ext cx="1744985" cy="49768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المستويات، والتكلفة، وكيف تختار.</a:t>
            </a:r>
          </a:p>
        </p:txBody>
      </p:sp>
      <p:sp>
        <p:nvSpPr>
          <p:cNvPr id="25" name="Box 24"/>
          <p:cNvSpPr/>
          <p:nvPr/>
        </p:nvSpPr>
        <p:spPr>
          <a:xfrm>
            <a:off x="8836025" y="3763962"/>
            <a:ext cx="2540000" cy="1484511"/>
          </a:xfrm>
          <a:prstGeom prst="roundRect">
            <a:avLst>
              <a:gd name="adj" fmla="val 6814"/>
            </a:avLst>
          </a:prstGeom>
          <a:solidFill>
            <a:srgbClr val="FFFDF8"/>
          </a:solidFill>
          <a:ln w="6350">
            <a:solidFill>
              <a:srgbClr val="E1DBCD"/>
            </a:solidFill>
          </a:ln>
        </p:spPr>
        <p:txBody>
          <a:bodyPr rtlCol="0" anchor="ctr"/>
          <a:lstStyle/>
          <a:p>
            <a:pPr algn="ctr"/>
          </a:p>
        </p:txBody>
      </p:sp>
      <p:sp>
        <p:nvSpPr>
          <p:cNvPr id="26" name="Text 25"/>
          <p:cNvSpPr txBox="1"/>
          <p:nvPr/>
        </p:nvSpPr>
        <p:spPr>
          <a:xfrm>
            <a:off x="8858250" y="3915728"/>
            <a:ext cx="236220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000" b="1" i="0">
                <a:solidFill>
                  <a:srgbClr val="8A4B12"/>
                </a:solidFill>
                <a:latin typeface="Readex Pro"/>
                <a:ea typeface="Readex Pro"/>
                <a:cs typeface="Readex Pro"/>
              </a:rPr>
              <a:t>06</a:t>
            </a:r>
          </a:p>
        </p:txBody>
      </p:sp>
      <p:sp>
        <p:nvSpPr>
          <p:cNvPr id="27" name="Text 26"/>
          <p:cNvSpPr txBox="1"/>
          <p:nvPr/>
        </p:nvSpPr>
        <p:spPr>
          <a:xfrm>
            <a:off x="8858250" y="4209478"/>
            <a:ext cx="236220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Readex Pro"/>
                <a:ea typeface="Readex Pro"/>
                <a:cs typeface="Readex Pro"/>
              </a:rPr>
              <a:t>خطة البداية</a:t>
            </a:r>
          </a:p>
        </p:txBody>
      </p:sp>
      <p:sp>
        <p:nvSpPr>
          <p:cNvPr id="28" name="Text 27"/>
          <p:cNvSpPr txBox="1"/>
          <p:nvPr/>
        </p:nvSpPr>
        <p:spPr>
          <a:xfrm>
            <a:off x="8858250" y="4532039"/>
            <a:ext cx="23622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90 يوماً ومشاريع تبني خبرتك.</a:t>
            </a:r>
          </a:p>
        </p:txBody>
      </p:sp>
      <p:sp>
        <p:nvSpPr>
          <p:cNvPr id="29" name="Box 28"/>
          <p:cNvSpPr/>
          <p:nvPr/>
        </p:nvSpPr>
        <p:spPr>
          <a:xfrm>
            <a:off x="6162675" y="3763962"/>
            <a:ext cx="2540000" cy="1484511"/>
          </a:xfrm>
          <a:prstGeom prst="roundRect">
            <a:avLst>
              <a:gd name="adj" fmla="val 6814"/>
            </a:avLst>
          </a:prstGeom>
          <a:solidFill>
            <a:srgbClr val="FFFDF8"/>
          </a:solidFill>
          <a:ln w="6350">
            <a:solidFill>
              <a:srgbClr val="E1DBCD"/>
            </a:solidFill>
          </a:ln>
        </p:spPr>
        <p:txBody>
          <a:bodyPr rtlCol="0" anchor="ctr"/>
          <a:lstStyle/>
          <a:p>
            <a:pPr algn="ctr"/>
          </a:p>
        </p:txBody>
      </p:sp>
      <p:sp>
        <p:nvSpPr>
          <p:cNvPr id="30" name="Text 29"/>
          <p:cNvSpPr txBox="1"/>
          <p:nvPr/>
        </p:nvSpPr>
        <p:spPr>
          <a:xfrm>
            <a:off x="6184900" y="3915728"/>
            <a:ext cx="236220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000" b="1" i="0">
                <a:solidFill>
                  <a:srgbClr val="8A4B12"/>
                </a:solidFill>
                <a:latin typeface="Readex Pro"/>
                <a:ea typeface="Readex Pro"/>
                <a:cs typeface="Readex Pro"/>
              </a:rPr>
              <a:t>07</a:t>
            </a:r>
          </a:p>
        </p:txBody>
      </p:sp>
      <p:sp>
        <p:nvSpPr>
          <p:cNvPr id="31" name="Text 30"/>
          <p:cNvSpPr txBox="1"/>
          <p:nvPr/>
        </p:nvSpPr>
        <p:spPr>
          <a:xfrm>
            <a:off x="6184900" y="4209478"/>
            <a:ext cx="236220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Readex Pro"/>
                <a:ea typeface="Readex Pro"/>
                <a:cs typeface="Readex Pro"/>
              </a:rPr>
              <a:t>السيرة الذاتية</a:t>
            </a:r>
          </a:p>
        </p:txBody>
      </p:sp>
      <p:sp>
        <p:nvSpPr>
          <p:cNvPr id="32" name="Text 31"/>
          <p:cNvSpPr txBox="1"/>
          <p:nvPr/>
        </p:nvSpPr>
        <p:spPr>
          <a:xfrm>
            <a:off x="6184900" y="4532039"/>
            <a:ext cx="23622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بنية واضحة وإنجازات تُقرأ.</a:t>
            </a:r>
          </a:p>
        </p:txBody>
      </p:sp>
      <p:sp>
        <p:nvSpPr>
          <p:cNvPr id="33" name="Box 32"/>
          <p:cNvSpPr/>
          <p:nvPr/>
        </p:nvSpPr>
        <p:spPr>
          <a:xfrm>
            <a:off x="3489325" y="3763962"/>
            <a:ext cx="2540000" cy="1484511"/>
          </a:xfrm>
          <a:prstGeom prst="roundRect">
            <a:avLst>
              <a:gd name="adj" fmla="val 6814"/>
            </a:avLst>
          </a:prstGeom>
          <a:solidFill>
            <a:srgbClr val="FFFDF8"/>
          </a:solidFill>
          <a:ln w="6350">
            <a:solidFill>
              <a:srgbClr val="E1DBCD"/>
            </a:solidFill>
          </a:ln>
        </p:spPr>
        <p:txBody>
          <a:bodyPr rtlCol="0" anchor="ctr"/>
          <a:lstStyle/>
          <a:p>
            <a:pPr algn="ctr"/>
          </a:p>
        </p:txBody>
      </p:sp>
      <p:sp>
        <p:nvSpPr>
          <p:cNvPr id="34" name="Text 33"/>
          <p:cNvSpPr txBox="1"/>
          <p:nvPr/>
        </p:nvSpPr>
        <p:spPr>
          <a:xfrm>
            <a:off x="3511550" y="3915728"/>
            <a:ext cx="236220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000" b="1" i="0">
                <a:solidFill>
                  <a:srgbClr val="8A4B12"/>
                </a:solidFill>
                <a:latin typeface="Readex Pro"/>
                <a:ea typeface="Readex Pro"/>
                <a:cs typeface="Readex Pro"/>
              </a:rPr>
              <a:t>08</a:t>
            </a:r>
          </a:p>
        </p:txBody>
      </p:sp>
      <p:sp>
        <p:nvSpPr>
          <p:cNvPr id="35" name="Text 34"/>
          <p:cNvSpPr txBox="1"/>
          <p:nvPr/>
        </p:nvSpPr>
        <p:spPr>
          <a:xfrm>
            <a:off x="3511550" y="4209478"/>
            <a:ext cx="236220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Readex Pro"/>
                <a:ea typeface="Readex Pro"/>
                <a:cs typeface="Readex Pro"/>
              </a:rPr>
              <a:t>لينكدإن</a:t>
            </a:r>
          </a:p>
        </p:txBody>
      </p:sp>
      <p:sp>
        <p:nvSpPr>
          <p:cNvPr id="36" name="Text 35"/>
          <p:cNvSpPr txBox="1"/>
          <p:nvPr/>
        </p:nvSpPr>
        <p:spPr>
          <a:xfrm>
            <a:off x="3511550" y="4532039"/>
            <a:ext cx="23622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ملف يجده مسؤول التوظيف.</a:t>
            </a:r>
          </a:p>
        </p:txBody>
      </p:sp>
      <p:sp>
        <p:nvSpPr>
          <p:cNvPr id="37" name="Box 36"/>
          <p:cNvSpPr/>
          <p:nvPr/>
        </p:nvSpPr>
        <p:spPr>
          <a:xfrm>
            <a:off x="815975" y="3763962"/>
            <a:ext cx="2540000" cy="1484511"/>
          </a:xfrm>
          <a:prstGeom prst="roundRect">
            <a:avLst>
              <a:gd name="adj" fmla="val 6814"/>
            </a:avLst>
          </a:prstGeom>
          <a:solidFill>
            <a:srgbClr val="FFFDF8"/>
          </a:solidFill>
          <a:ln w="6350">
            <a:solidFill>
              <a:srgbClr val="E1DBCD"/>
            </a:solidFill>
          </a:ln>
        </p:spPr>
        <p:txBody>
          <a:bodyPr rtlCol="0" anchor="ctr"/>
          <a:lstStyle/>
          <a:p>
            <a:pPr algn="ctr"/>
          </a:p>
        </p:txBody>
      </p:sp>
      <p:sp>
        <p:nvSpPr>
          <p:cNvPr id="38" name="Text 37"/>
          <p:cNvSpPr txBox="1"/>
          <p:nvPr/>
        </p:nvSpPr>
        <p:spPr>
          <a:xfrm>
            <a:off x="838200" y="3915728"/>
            <a:ext cx="236220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000" b="1" i="0">
                <a:solidFill>
                  <a:srgbClr val="8A4B12"/>
                </a:solidFill>
                <a:latin typeface="Readex Pro"/>
                <a:ea typeface="Readex Pro"/>
                <a:cs typeface="Readex Pro"/>
              </a:rPr>
              <a:t>09</a:t>
            </a:r>
          </a:p>
        </p:txBody>
      </p:sp>
      <p:sp>
        <p:nvSpPr>
          <p:cNvPr id="39" name="Text 38"/>
          <p:cNvSpPr txBox="1"/>
          <p:nvPr/>
        </p:nvSpPr>
        <p:spPr>
          <a:xfrm>
            <a:off x="904684" y="4209478"/>
            <a:ext cx="2295716" cy="59432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Readex Pro"/>
                <a:ea typeface="Readex Pro"/>
                <a:cs typeface="Readex Pro"/>
              </a:rPr>
              <a:t>المقابلة والخطوة التالية</a:t>
            </a:r>
          </a:p>
        </p:txBody>
      </p:sp>
      <p:sp>
        <p:nvSpPr>
          <p:cNvPr id="40" name="Text 39"/>
          <p:cNvSpPr txBox="1"/>
          <p:nvPr/>
        </p:nvSpPr>
        <p:spPr>
          <a:xfrm>
            <a:off x="838200" y="4829199"/>
            <a:ext cx="23622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أسئلة شائعة وقائمة تحقق.</a:t>
            </a:r>
          </a:p>
        </p:txBody>
      </p:sp>
      <p:sp>
        <p:nvSpPr>
          <p:cNvPr id="41" name="Box 40"/>
          <p:cNvSpPr/>
          <p:nvPr/>
        </p:nvSpPr>
        <p:spPr>
          <a:xfrm>
            <a:off x="11201400" y="5509419"/>
            <a:ext cx="177800" cy="38100"/>
          </a:xfrm>
          <a:prstGeom prst="roundRect">
            <a:avLst>
              <a:gd name="adj" fmla="val 50000"/>
            </a:avLst>
          </a:prstGeom>
          <a:solidFill>
            <a:srgbClr val="0E7C6B"/>
          </a:solidFill>
          <a:ln>
            <a:noFill/>
          </a:ln>
        </p:spPr>
        <p:txBody>
          <a:bodyPr rtlCol="0" anchor="ctr"/>
          <a:lstStyle/>
          <a:p>
            <a:pPr algn="ctr"/>
          </a:p>
        </p:txBody>
      </p:sp>
      <p:sp>
        <p:nvSpPr>
          <p:cNvPr id="42" name="Text 41"/>
          <p:cNvSpPr txBox="1"/>
          <p:nvPr/>
        </p:nvSpPr>
        <p:spPr>
          <a:xfrm>
            <a:off x="9121648" y="5376489"/>
            <a:ext cx="2016252"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الوحدات 01 إلى 05: المعرفة</a:t>
            </a:r>
          </a:p>
        </p:txBody>
      </p:sp>
      <p:sp>
        <p:nvSpPr>
          <p:cNvPr id="43" name="Box 42"/>
          <p:cNvSpPr/>
          <p:nvPr/>
        </p:nvSpPr>
        <p:spPr>
          <a:xfrm>
            <a:off x="8839200" y="5509419"/>
            <a:ext cx="177800" cy="38100"/>
          </a:xfrm>
          <a:prstGeom prst="roundRect">
            <a:avLst>
              <a:gd name="adj" fmla="val 50000"/>
            </a:avLst>
          </a:prstGeom>
          <a:solidFill>
            <a:srgbClr val="C27A16"/>
          </a:solidFill>
          <a:ln>
            <a:noFill/>
          </a:ln>
        </p:spPr>
        <p:txBody>
          <a:bodyPr rtlCol="0" anchor="ctr"/>
          <a:lstStyle/>
          <a:p>
            <a:pPr algn="ctr"/>
          </a:p>
        </p:txBody>
      </p:sp>
      <p:sp>
        <p:nvSpPr>
          <p:cNvPr id="44" name="Text 43"/>
          <p:cNvSpPr txBox="1"/>
          <p:nvPr/>
        </p:nvSpPr>
        <p:spPr>
          <a:xfrm>
            <a:off x="5907449" y="5376489"/>
            <a:ext cx="2868251"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الوحدات 06 إلى 09: الوصول إلى الوظيفة</a:t>
            </a:r>
          </a:p>
        </p:txBody>
      </p:sp>
      <p:sp>
        <p:nvSpPr>
          <p:cNvPr id="45" name="Text 44"/>
          <p:cNvSpPr txBox="1"/>
          <p:nvPr/>
        </p:nvSpPr>
        <p:spPr>
          <a:xfrm>
            <a:off x="230878" y="62146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البداية</a:t>
            </a:r>
          </a:p>
        </p:txBody>
      </p:sp>
      <p:sp>
        <p:nvSpPr>
          <p:cNvPr id="46" name="Text 45"/>
          <p:cNvSpPr txBox="1"/>
          <p:nvPr/>
        </p:nvSpPr>
        <p:spPr>
          <a:xfrm>
            <a:off x="721360" y="62146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10751046" y="812800"/>
            <a:ext cx="628154"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البداية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لمن هذا الكورس، وماذا ستملك في نهايته</a:t>
            </a:r>
          </a:p>
        </p:txBody>
      </p:sp>
      <p:sp>
        <p:nvSpPr>
          <p:cNvPr id="5" name="Text 4"/>
          <p:cNvSpPr txBox="1"/>
          <p:nvPr/>
        </p:nvSpPr>
        <p:spPr>
          <a:xfrm>
            <a:off x="6112256" y="1893911"/>
            <a:ext cx="5266944"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0E7C6B"/>
                </a:solidFill>
                <a:latin typeface="Readex Pro"/>
                <a:ea typeface="Readex Pro"/>
                <a:cs typeface="Readex Pro"/>
              </a:rPr>
              <a:t>لمن؟</a:t>
            </a:r>
          </a:p>
        </p:txBody>
      </p:sp>
      <p:sp>
        <p:nvSpPr>
          <p:cNvPr id="6" name="Box 5"/>
          <p:cNvSpPr/>
          <p:nvPr/>
        </p:nvSpPr>
        <p:spPr>
          <a:xfrm>
            <a:off x="6505575" y="2336105"/>
            <a:ext cx="4870450" cy="824210"/>
          </a:xfrm>
          <a:prstGeom prst="roundRect">
            <a:avLst>
              <a:gd name="adj" fmla="val 12232"/>
            </a:avLst>
          </a:prstGeom>
          <a:solidFill>
            <a:srgbClr val="FFFDF8"/>
          </a:solidFill>
          <a:ln w="6350">
            <a:solidFill>
              <a:srgbClr val="E1DBCD"/>
            </a:solidFill>
          </a:ln>
        </p:spPr>
        <p:txBody>
          <a:bodyPr rtlCol="0" anchor="ctr"/>
          <a:lstStyle/>
          <a:p>
            <a:pPr algn="ctr"/>
          </a:p>
        </p:txBody>
      </p:sp>
      <p:pic>
        <p:nvPicPr>
          <p:cNvPr id="7" name="Icon GraduationCap 6" descr="icon001.png"/>
          <p:cNvPicPr>
            <a:picLocks noChangeAspect="1"/>
          </p:cNvPicPr>
          <p:nvPr/>
        </p:nvPicPr>
        <p:blipFill>
          <a:blip r:embed="rId2"/>
          <a:stretch>
            <a:fillRect/>
          </a:stretch>
        </p:blipFill>
        <p:spPr>
          <a:xfrm>
            <a:off x="10915650" y="2491680"/>
            <a:ext cx="279400" cy="279400"/>
          </a:xfrm>
          <a:prstGeom prst="rect">
            <a:avLst/>
          </a:prstGeom>
        </p:spPr>
      </p:pic>
      <p:sp>
        <p:nvSpPr>
          <p:cNvPr id="8" name="Text 7"/>
          <p:cNvSpPr txBox="1"/>
          <p:nvPr/>
        </p:nvSpPr>
        <p:spPr>
          <a:xfrm>
            <a:off x="6527800" y="2462153"/>
            <a:ext cx="4260850" cy="2667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500" b="1" i="0" lang="ar-SA" altLang="en-US">
                <a:solidFill>
                  <a:srgbClr val="172433"/>
                </a:solidFill>
                <a:latin typeface="IBM Plex Sans Arabic"/>
                <a:ea typeface="IBM Plex Sans Arabic"/>
                <a:cs typeface="IBM Plex Sans Arabic"/>
              </a:rPr>
              <a:t>خريج جديد بلا خبرة</a:t>
            </a:r>
          </a:p>
        </p:txBody>
      </p:sp>
      <p:sp>
        <p:nvSpPr>
          <p:cNvPr id="9" name="Text 8"/>
          <p:cNvSpPr txBox="1"/>
          <p:nvPr/>
        </p:nvSpPr>
        <p:spPr>
          <a:xfrm>
            <a:off x="6527800" y="2756348"/>
            <a:ext cx="42608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من أي تخصص: حاسب، أو نظم، أو إدارة، أو قانون، أو محاسبة.</a:t>
            </a:r>
          </a:p>
        </p:txBody>
      </p:sp>
      <p:sp>
        <p:nvSpPr>
          <p:cNvPr id="10" name="Box 9"/>
          <p:cNvSpPr/>
          <p:nvPr/>
        </p:nvSpPr>
        <p:spPr>
          <a:xfrm>
            <a:off x="6505575" y="3293666"/>
            <a:ext cx="4870450" cy="824210"/>
          </a:xfrm>
          <a:prstGeom prst="roundRect">
            <a:avLst>
              <a:gd name="adj" fmla="val 12232"/>
            </a:avLst>
          </a:prstGeom>
          <a:solidFill>
            <a:srgbClr val="FFFDF8"/>
          </a:solidFill>
          <a:ln w="6350">
            <a:solidFill>
              <a:srgbClr val="E1DBCD"/>
            </a:solidFill>
          </a:ln>
        </p:spPr>
        <p:txBody>
          <a:bodyPr rtlCol="0" anchor="ctr"/>
          <a:lstStyle/>
          <a:p>
            <a:pPr algn="ctr"/>
          </a:p>
        </p:txBody>
      </p:sp>
      <p:pic>
        <p:nvPicPr>
          <p:cNvPr id="11" name="Icon Wrench 10" descr="icon002.png"/>
          <p:cNvPicPr>
            <a:picLocks noChangeAspect="1"/>
          </p:cNvPicPr>
          <p:nvPr/>
        </p:nvPicPr>
        <p:blipFill>
          <a:blip r:embed="rId3"/>
          <a:stretch>
            <a:fillRect/>
          </a:stretch>
        </p:blipFill>
        <p:spPr>
          <a:xfrm>
            <a:off x="10915650" y="3449241"/>
            <a:ext cx="279400" cy="279400"/>
          </a:xfrm>
          <a:prstGeom prst="rect">
            <a:avLst/>
          </a:prstGeom>
        </p:spPr>
      </p:pic>
      <p:sp>
        <p:nvSpPr>
          <p:cNvPr id="12" name="Text 11"/>
          <p:cNvSpPr txBox="1"/>
          <p:nvPr/>
        </p:nvSpPr>
        <p:spPr>
          <a:xfrm>
            <a:off x="6527800" y="3419713"/>
            <a:ext cx="4260850" cy="2667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500" b="1" i="0" lang="ar-SA" altLang="en-US">
                <a:solidFill>
                  <a:srgbClr val="172433"/>
                </a:solidFill>
                <a:latin typeface="IBM Plex Sans Arabic"/>
                <a:ea typeface="IBM Plex Sans Arabic"/>
                <a:cs typeface="IBM Plex Sans Arabic"/>
              </a:rPr>
              <a:t>موظف تقنية يريد التحول</a:t>
            </a:r>
          </a:p>
        </p:txBody>
      </p:sp>
      <p:sp>
        <p:nvSpPr>
          <p:cNvPr id="13" name="Text 12"/>
          <p:cNvSpPr txBox="1"/>
          <p:nvPr/>
        </p:nvSpPr>
        <p:spPr>
          <a:xfrm>
            <a:off x="6527800" y="3713909"/>
            <a:ext cx="42608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دعم فني، أو شبكات، أو تطوير، ويريد مساراً إدارياً تقنياً.</a:t>
            </a:r>
          </a:p>
        </p:txBody>
      </p:sp>
      <p:sp>
        <p:nvSpPr>
          <p:cNvPr id="14" name="Box 13"/>
          <p:cNvSpPr/>
          <p:nvPr/>
        </p:nvSpPr>
        <p:spPr>
          <a:xfrm>
            <a:off x="6505575" y="4251226"/>
            <a:ext cx="4870450" cy="824210"/>
          </a:xfrm>
          <a:prstGeom prst="roundRect">
            <a:avLst>
              <a:gd name="adj" fmla="val 12232"/>
            </a:avLst>
          </a:prstGeom>
          <a:solidFill>
            <a:srgbClr val="FFFDF8"/>
          </a:solidFill>
          <a:ln w="6350">
            <a:solidFill>
              <a:srgbClr val="E1DBCD"/>
            </a:solidFill>
          </a:ln>
        </p:spPr>
        <p:txBody>
          <a:bodyPr rtlCol="0" anchor="ctr"/>
          <a:lstStyle/>
          <a:p>
            <a:pPr algn="ctr"/>
          </a:p>
        </p:txBody>
      </p:sp>
      <p:pic>
        <p:nvPicPr>
          <p:cNvPr id="15" name="Icon Book 14" descr="icon003.png"/>
          <p:cNvPicPr>
            <a:picLocks noChangeAspect="1"/>
          </p:cNvPicPr>
          <p:nvPr/>
        </p:nvPicPr>
        <p:blipFill>
          <a:blip r:embed="rId4"/>
          <a:stretch>
            <a:fillRect/>
          </a:stretch>
        </p:blipFill>
        <p:spPr>
          <a:xfrm>
            <a:off x="10915650" y="4406801"/>
            <a:ext cx="279400" cy="279400"/>
          </a:xfrm>
          <a:prstGeom prst="rect">
            <a:avLst/>
          </a:prstGeom>
        </p:spPr>
      </p:pic>
      <p:sp>
        <p:nvSpPr>
          <p:cNvPr id="16" name="Text 15"/>
          <p:cNvSpPr txBox="1"/>
          <p:nvPr/>
        </p:nvSpPr>
        <p:spPr>
          <a:xfrm>
            <a:off x="6527800" y="4377273"/>
            <a:ext cx="4260850" cy="2667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500" b="1" i="0" lang="ar-SA" altLang="en-US">
                <a:solidFill>
                  <a:srgbClr val="172433"/>
                </a:solidFill>
                <a:latin typeface="IBM Plex Sans Arabic"/>
                <a:ea typeface="IBM Plex Sans Arabic"/>
                <a:cs typeface="IBM Plex Sans Arabic"/>
              </a:rPr>
              <a:t>مختص تدقيق أو قانون أو جودة</a:t>
            </a:r>
          </a:p>
        </p:txBody>
      </p:sp>
      <p:sp>
        <p:nvSpPr>
          <p:cNvPr id="17" name="Text 16"/>
          <p:cNvSpPr txBox="1"/>
          <p:nvPr/>
        </p:nvSpPr>
        <p:spPr>
          <a:xfrm>
            <a:off x="6527800" y="4671469"/>
            <a:ext cx="42608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يملك نصف المهارة، ويحتاج لغة الأمن السيبراني.</a:t>
            </a:r>
          </a:p>
        </p:txBody>
      </p:sp>
      <p:sp>
        <p:nvSpPr>
          <p:cNvPr id="18" name="Box 17"/>
          <p:cNvSpPr/>
          <p:nvPr/>
        </p:nvSpPr>
        <p:spPr>
          <a:xfrm>
            <a:off x="812800" y="1908770"/>
            <a:ext cx="5384800" cy="3169841"/>
          </a:xfrm>
          <a:prstGeom prst="roundRect">
            <a:avLst>
              <a:gd name="adj" fmla="val 4006"/>
            </a:avLst>
          </a:prstGeom>
          <a:solidFill>
            <a:srgbClr val="172433"/>
          </a:solidFill>
          <a:ln>
            <a:noFill/>
          </a:ln>
        </p:spPr>
        <p:txBody>
          <a:bodyPr rtlCol="0" anchor="ctr"/>
          <a:lstStyle/>
          <a:p>
            <a:pPr algn="ctr"/>
          </a:p>
        </p:txBody>
      </p:sp>
      <p:sp>
        <p:nvSpPr>
          <p:cNvPr id="19" name="Text 18"/>
          <p:cNvSpPr txBox="1"/>
          <p:nvPr/>
        </p:nvSpPr>
        <p:spPr>
          <a:xfrm>
            <a:off x="838200" y="2122511"/>
            <a:ext cx="510540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7FD3C3"/>
                </a:solidFill>
                <a:latin typeface="Readex Pro"/>
                <a:ea typeface="Readex Pro"/>
                <a:cs typeface="Readex Pro"/>
              </a:rPr>
              <a:t>ستخرج بستة أشياء</a:t>
            </a:r>
          </a:p>
        </p:txBody>
      </p:sp>
      <p:pic>
        <p:nvPicPr>
          <p:cNvPr id="20" name="Icon CheckCircle 19" descr="icon004.png"/>
          <p:cNvPicPr>
            <a:picLocks noChangeAspect="1"/>
          </p:cNvPicPr>
          <p:nvPr/>
        </p:nvPicPr>
        <p:blipFill>
          <a:blip r:embed="rId5"/>
          <a:stretch>
            <a:fillRect/>
          </a:stretch>
        </p:blipFill>
        <p:spPr>
          <a:xfrm>
            <a:off x="5715000" y="2576116"/>
            <a:ext cx="228600" cy="228600"/>
          </a:xfrm>
          <a:prstGeom prst="rect">
            <a:avLst/>
          </a:prstGeom>
        </p:spPr>
      </p:pic>
      <p:sp>
        <p:nvSpPr>
          <p:cNvPr id="21" name="Text 20"/>
          <p:cNvSpPr txBox="1"/>
          <p:nvPr/>
        </p:nvSpPr>
        <p:spPr>
          <a:xfrm>
            <a:off x="838200" y="2529526"/>
            <a:ext cx="4775200"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F3EFE6"/>
                </a:solidFill>
                <a:latin typeface="IBM Plex Sans Arabic"/>
                <a:ea typeface="IBM Plex Sans Arabic"/>
                <a:cs typeface="IBM Plex Sans Arabic"/>
              </a:rPr>
              <a:t>خريطة شهادات مناسبة لوضعك</a:t>
            </a:r>
          </a:p>
        </p:txBody>
      </p:sp>
      <p:pic>
        <p:nvPicPr>
          <p:cNvPr id="22" name="Icon CheckCircle 21" descr="icon004.png"/>
          <p:cNvPicPr>
            <a:picLocks noChangeAspect="1"/>
          </p:cNvPicPr>
          <p:nvPr/>
        </p:nvPicPr>
        <p:blipFill>
          <a:blip r:embed="rId5"/>
          <a:stretch>
            <a:fillRect/>
          </a:stretch>
        </p:blipFill>
        <p:spPr>
          <a:xfrm>
            <a:off x="5715000" y="2960886"/>
            <a:ext cx="228600" cy="228600"/>
          </a:xfrm>
          <a:prstGeom prst="rect">
            <a:avLst/>
          </a:prstGeom>
        </p:spPr>
      </p:pic>
      <p:sp>
        <p:nvSpPr>
          <p:cNvPr id="23" name="Text 22"/>
          <p:cNvSpPr txBox="1"/>
          <p:nvPr/>
        </p:nvSpPr>
        <p:spPr>
          <a:xfrm>
            <a:off x="838200" y="2914297"/>
            <a:ext cx="4775200"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F3EFE6"/>
                </a:solidFill>
                <a:latin typeface="IBM Plex Sans Arabic"/>
                <a:ea typeface="IBM Plex Sans Arabic"/>
                <a:cs typeface="IBM Plex Sans Arabic"/>
              </a:rPr>
              <a:t>خطة 90 يوماً مكتوبة</a:t>
            </a:r>
          </a:p>
        </p:txBody>
      </p:sp>
      <p:pic>
        <p:nvPicPr>
          <p:cNvPr id="24" name="Icon CheckCircle 23" descr="icon004.png"/>
          <p:cNvPicPr>
            <a:picLocks noChangeAspect="1"/>
          </p:cNvPicPr>
          <p:nvPr/>
        </p:nvPicPr>
        <p:blipFill>
          <a:blip r:embed="rId5"/>
          <a:stretch>
            <a:fillRect/>
          </a:stretch>
        </p:blipFill>
        <p:spPr>
          <a:xfrm>
            <a:off x="5715000" y="3345656"/>
            <a:ext cx="228600" cy="228600"/>
          </a:xfrm>
          <a:prstGeom prst="rect">
            <a:avLst/>
          </a:prstGeom>
        </p:spPr>
      </p:pic>
      <p:sp>
        <p:nvSpPr>
          <p:cNvPr id="25" name="Text 24"/>
          <p:cNvSpPr txBox="1"/>
          <p:nvPr/>
        </p:nvSpPr>
        <p:spPr>
          <a:xfrm>
            <a:off x="838200" y="3299067"/>
            <a:ext cx="4775200"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F3EFE6"/>
                </a:solidFill>
                <a:latin typeface="IBM Plex Sans Arabic"/>
                <a:ea typeface="IBM Plex Sans Arabic"/>
                <a:cs typeface="IBM Plex Sans Arabic"/>
              </a:rPr>
              <a:t>مشروعان في ملف أعمال</a:t>
            </a:r>
          </a:p>
        </p:txBody>
      </p:sp>
      <p:pic>
        <p:nvPicPr>
          <p:cNvPr id="26" name="Icon CheckCircle 25" descr="icon004.png"/>
          <p:cNvPicPr>
            <a:picLocks noChangeAspect="1"/>
          </p:cNvPicPr>
          <p:nvPr/>
        </p:nvPicPr>
        <p:blipFill>
          <a:blip r:embed="rId5"/>
          <a:stretch>
            <a:fillRect/>
          </a:stretch>
        </p:blipFill>
        <p:spPr>
          <a:xfrm>
            <a:off x="5715000" y="3730427"/>
            <a:ext cx="228600" cy="228600"/>
          </a:xfrm>
          <a:prstGeom prst="rect">
            <a:avLst/>
          </a:prstGeom>
        </p:spPr>
      </p:pic>
      <p:sp>
        <p:nvSpPr>
          <p:cNvPr id="27" name="Text 26"/>
          <p:cNvSpPr txBox="1"/>
          <p:nvPr/>
        </p:nvSpPr>
        <p:spPr>
          <a:xfrm>
            <a:off x="838200" y="3683837"/>
            <a:ext cx="4775200"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F3EFE6"/>
                </a:solidFill>
                <a:latin typeface="IBM Plex Sans Arabic"/>
                <a:ea typeface="IBM Plex Sans Arabic"/>
                <a:cs typeface="IBM Plex Sans Arabic"/>
              </a:rPr>
              <a:t>سيرة ذاتية تقرؤها أنظمة الفرز</a:t>
            </a:r>
          </a:p>
        </p:txBody>
      </p:sp>
      <p:pic>
        <p:nvPicPr>
          <p:cNvPr id="28" name="Icon CheckCircle 27" descr="icon004.png"/>
          <p:cNvPicPr>
            <a:picLocks noChangeAspect="1"/>
          </p:cNvPicPr>
          <p:nvPr/>
        </p:nvPicPr>
        <p:blipFill>
          <a:blip r:embed="rId5"/>
          <a:stretch>
            <a:fillRect/>
          </a:stretch>
        </p:blipFill>
        <p:spPr>
          <a:xfrm>
            <a:off x="5715000" y="4115197"/>
            <a:ext cx="228600" cy="228600"/>
          </a:xfrm>
          <a:prstGeom prst="rect">
            <a:avLst/>
          </a:prstGeom>
        </p:spPr>
      </p:pic>
      <p:sp>
        <p:nvSpPr>
          <p:cNvPr id="29" name="Text 28"/>
          <p:cNvSpPr txBox="1"/>
          <p:nvPr/>
        </p:nvSpPr>
        <p:spPr>
          <a:xfrm>
            <a:off x="838200" y="4068608"/>
            <a:ext cx="4775200"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F3EFE6"/>
                </a:solidFill>
                <a:latin typeface="IBM Plex Sans Arabic"/>
                <a:ea typeface="IBM Plex Sans Arabic"/>
                <a:cs typeface="IBM Plex Sans Arabic"/>
              </a:rPr>
              <a:t>ملف لينكدإن مكتمل</a:t>
            </a:r>
          </a:p>
        </p:txBody>
      </p:sp>
      <p:pic>
        <p:nvPicPr>
          <p:cNvPr id="30" name="Icon CheckCircle 29" descr="icon004.png"/>
          <p:cNvPicPr>
            <a:picLocks noChangeAspect="1"/>
          </p:cNvPicPr>
          <p:nvPr/>
        </p:nvPicPr>
        <p:blipFill>
          <a:blip r:embed="rId5"/>
          <a:stretch>
            <a:fillRect/>
          </a:stretch>
        </p:blipFill>
        <p:spPr>
          <a:xfrm>
            <a:off x="5715000" y="4499967"/>
            <a:ext cx="228600" cy="228600"/>
          </a:xfrm>
          <a:prstGeom prst="rect">
            <a:avLst/>
          </a:prstGeom>
        </p:spPr>
      </p:pic>
      <p:sp>
        <p:nvSpPr>
          <p:cNvPr id="31" name="Text 30"/>
          <p:cNvSpPr txBox="1"/>
          <p:nvPr/>
        </p:nvSpPr>
        <p:spPr>
          <a:xfrm>
            <a:off x="838200" y="4453378"/>
            <a:ext cx="4775200"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F3EFE6"/>
                </a:solidFill>
                <a:latin typeface="IBM Plex Sans Arabic"/>
                <a:ea typeface="IBM Plex Sans Arabic"/>
                <a:cs typeface="IBM Plex Sans Arabic"/>
              </a:rPr>
              <a:t>إجابات جاهزة لأسئلة المقابلة</a:t>
            </a:r>
          </a:p>
        </p:txBody>
      </p:sp>
      <p:sp>
        <p:nvSpPr>
          <p:cNvPr id="32" name="Text 31"/>
          <p:cNvSpPr txBox="1"/>
          <p:nvPr/>
        </p:nvSpPr>
        <p:spPr>
          <a:xfrm>
            <a:off x="230878" y="62146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البداية</a:t>
            </a:r>
          </a:p>
        </p:txBody>
      </p:sp>
      <p:sp>
        <p:nvSpPr>
          <p:cNvPr id="33" name="Text 32"/>
          <p:cNvSpPr txBox="1"/>
          <p:nvPr/>
        </p:nvSpPr>
        <p:spPr>
          <a:xfrm>
            <a:off x="721360" y="62146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48651" y="2075160"/>
            <a:ext cx="2330549"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01</a:t>
            </a:r>
          </a:p>
        </p:txBody>
      </p:sp>
      <p:sp>
        <p:nvSpPr>
          <p:cNvPr id="4" name="Text 3"/>
          <p:cNvSpPr txBox="1"/>
          <p:nvPr/>
        </p:nvSpPr>
        <p:spPr>
          <a:xfrm>
            <a:off x="5859919" y="2496626"/>
            <a:ext cx="3696732"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lang="ar-SA" altLang="en-US">
                <a:solidFill>
                  <a:srgbClr val="F3EFE6"/>
                </a:solidFill>
                <a:latin typeface="Readex Pro"/>
                <a:ea typeface="Readex Pro"/>
                <a:cs typeface="Readex Pro"/>
              </a:rPr>
              <a:t>ما هو GRC؟</a:t>
            </a:r>
          </a:p>
        </p:txBody>
      </p:sp>
      <p:sp>
        <p:nvSpPr>
          <p:cNvPr id="5" name="Text 4"/>
          <p:cNvSpPr txBox="1"/>
          <p:nvPr/>
        </p:nvSpPr>
        <p:spPr>
          <a:xfrm>
            <a:off x="546100" y="3393547"/>
            <a:ext cx="9156700" cy="6858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lang="ar-SA" altLang="en-US">
                <a:solidFill>
                  <a:srgbClr val="D9E2E6"/>
                </a:solidFill>
                <a:latin typeface="IBM Plex Sans Arabic"/>
                <a:ea typeface="IBM Plex Sans Arabic"/>
                <a:cs typeface="IBM Plex Sans Arabic"/>
              </a:rPr>
              <a:t>قبل الشهادات والسيرة الذاتية: افهم ما الذي يفعله مختص الحوكمة والمخاطر والامتثال، ولماذا تحتاجه كل جهة.</a:t>
            </a:r>
          </a:p>
        </p:txBody>
      </p:sp>
      <p:sp>
        <p:nvSpPr>
          <p:cNvPr id="6" name="Text box 5"/>
          <p:cNvSpPr/>
          <p:nvPr/>
        </p:nvSpPr>
        <p:spPr>
          <a:xfrm>
            <a:off x="10594280" y="4329410"/>
            <a:ext cx="784920"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التعريف</a:t>
            </a:r>
          </a:p>
        </p:txBody>
      </p:sp>
      <p:sp>
        <p:nvSpPr>
          <p:cNvPr id="7" name="Text box 6"/>
          <p:cNvSpPr/>
          <p:nvPr/>
        </p:nvSpPr>
        <p:spPr>
          <a:xfrm>
            <a:off x="8938716" y="4329410"/>
            <a:ext cx="1553964" cy="358080"/>
          </a:xfrm>
          <a:prstGeom prst="roundRect">
            <a:avLst>
              <a:gd name="adj" fmla="val 50000"/>
            </a:avLst>
          </a:prstGeom>
          <a:solidFill>
            <a:srgbClr val="22344A"/>
          </a:solidFill>
          <a:ln>
            <a:noFill/>
          </a:ln>
        </p:spPr>
        <p:txBody>
          <a:bodyPr rtlCol="0" anchor="ctr" wrap="square" tIns="0" rIns="99961" bIns="51181" lIns="28"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لماذا تحتاجه الجهات</a:t>
            </a:r>
          </a:p>
        </p:txBody>
      </p:sp>
      <p:sp>
        <p:nvSpPr>
          <p:cNvPr id="8" name="Text box 7"/>
          <p:cNvSpPr/>
          <p:nvPr/>
        </p:nvSpPr>
        <p:spPr>
          <a:xfrm>
            <a:off x="7150993" y="4329410"/>
            <a:ext cx="1686123" cy="358080"/>
          </a:xfrm>
          <a:prstGeom prst="roundRect">
            <a:avLst>
              <a:gd name="adj" fmla="val 50000"/>
            </a:avLst>
          </a:prstGeom>
          <a:solidFill>
            <a:srgbClr val="22344A"/>
          </a:solidFill>
          <a:ln>
            <a:noFill/>
          </a:ln>
        </p:spPr>
        <p:txBody>
          <a:bodyPr rtlCol="0" anchor="ctr" wrap="square" tIns="0" rIns="99961" bIns="51181" lIns="0"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الفرق عن الأدوار التقنية</a:t>
            </a:r>
          </a:p>
        </p:txBody>
      </p:sp>
      <p:sp>
        <p:nvSpPr>
          <p:cNvPr id="9" name="Text box 8"/>
          <p:cNvSpPr/>
          <p:nvPr/>
        </p:nvSpPr>
        <p:spPr>
          <a:xfrm>
            <a:off x="5976342" y="4329410"/>
            <a:ext cx="1073051"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يوم في العمل</a:t>
            </a:r>
          </a:p>
        </p:txBody>
      </p:sp>
      <p:sp>
        <p:nvSpPr>
          <p:cNvPr id="10" name="Text box 9"/>
          <p:cNvSpPr/>
          <p:nvPr/>
        </p:nvSpPr>
        <p:spPr>
          <a:xfrm>
            <a:off x="4855468" y="4329410"/>
            <a:ext cx="1019274"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أربع خرافات</a:t>
            </a:r>
          </a:p>
        </p:txBody>
      </p:sp>
      <p:sp>
        <p:nvSpPr>
          <p:cNvPr id="11" name="Text 10"/>
          <p:cNvSpPr txBox="1"/>
          <p:nvPr/>
        </p:nvSpPr>
        <p:spPr>
          <a:xfrm>
            <a:off x="230878" y="62146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93A3B1"/>
                </a:solidFill>
                <a:latin typeface="IBM Plex Sans Arabic"/>
                <a:ea typeface="IBM Plex Sans Arabic"/>
                <a:cs typeface="IBM Plex Sans Arabic"/>
              </a:rPr>
              <a:t>كيف تبدأ في GRC · الوحدة 01</a:t>
            </a:r>
          </a:p>
        </p:txBody>
      </p:sp>
      <p:sp>
        <p:nvSpPr>
          <p:cNvPr id="12" name="Text 11"/>
          <p:cNvSpPr txBox="1"/>
          <p:nvPr/>
        </p:nvSpPr>
        <p:spPr>
          <a:xfrm>
            <a:off x="721360" y="62146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622532" y="812800"/>
            <a:ext cx="1756668"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01 · ما هو GRC؟</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ثلاث كلمات، وسؤال لكل منها</a:t>
            </a:r>
          </a:p>
        </p:txBody>
      </p:sp>
      <p:sp>
        <p:nvSpPr>
          <p:cNvPr id="5" name="Box 4"/>
          <p:cNvSpPr/>
          <p:nvPr/>
        </p:nvSpPr>
        <p:spPr>
          <a:xfrm>
            <a:off x="7975600" y="1908770"/>
            <a:ext cx="3403600" cy="2693591"/>
          </a:xfrm>
          <a:prstGeom prst="roundRect">
            <a:avLst>
              <a:gd name="adj" fmla="val 4243"/>
            </a:avLst>
          </a:prstGeom>
          <a:solidFill>
            <a:srgbClr val="FFFDF8"/>
          </a:solidFill>
          <a:ln>
            <a:noFill/>
          </a:ln>
        </p:spPr>
        <p:txBody>
          <a:bodyPr rtlCol="0" anchor="ctr"/>
          <a:lstStyle/>
          <a:p>
            <a:pPr algn="ctr"/>
          </a:p>
        </p:txBody>
      </p:sp>
      <p:sp>
        <p:nvSpPr>
          <p:cNvPr id="6" name="Rule 5"/>
          <p:cNvSpPr/>
          <p:nvPr/>
        </p:nvSpPr>
        <p:spPr>
          <a:xfrm>
            <a:off x="7975600" y="1908770"/>
            <a:ext cx="3403600" cy="50800"/>
          </a:xfrm>
          <a:prstGeom prst="rect">
            <a:avLst/>
          </a:prstGeom>
          <a:solidFill>
            <a:srgbClr val="0E7C6B"/>
          </a:solidFill>
          <a:ln>
            <a:noFill/>
          </a:ln>
        </p:spPr>
        <p:txBody>
          <a:bodyPr rtlCol="0" anchor="ctr"/>
          <a:lstStyle/>
          <a:p>
            <a:pPr algn="ctr"/>
          </a:p>
        </p:txBody>
      </p:sp>
      <p:sp>
        <p:nvSpPr>
          <p:cNvPr id="7" name="Rule 6"/>
          <p:cNvSpPr/>
          <p:nvPr/>
        </p:nvSpPr>
        <p:spPr>
          <a:xfrm>
            <a:off x="11372850" y="1908770"/>
            <a:ext cx="6350" cy="2693591"/>
          </a:xfrm>
          <a:prstGeom prst="rect">
            <a:avLst/>
          </a:prstGeom>
          <a:solidFill>
            <a:srgbClr val="E1DBCD"/>
          </a:solidFill>
          <a:ln>
            <a:noFill/>
          </a:ln>
        </p:spPr>
        <p:txBody>
          <a:bodyPr rtlCol="0" anchor="ctr"/>
          <a:lstStyle/>
          <a:p>
            <a:pPr algn="ctr"/>
          </a:p>
        </p:txBody>
      </p:sp>
      <p:sp>
        <p:nvSpPr>
          <p:cNvPr id="8" name="Rule 7"/>
          <p:cNvSpPr/>
          <p:nvPr/>
        </p:nvSpPr>
        <p:spPr>
          <a:xfrm>
            <a:off x="7975600" y="4596011"/>
            <a:ext cx="3403600" cy="6350"/>
          </a:xfrm>
          <a:prstGeom prst="rect">
            <a:avLst/>
          </a:prstGeom>
          <a:solidFill>
            <a:srgbClr val="E1DBCD"/>
          </a:solidFill>
          <a:ln>
            <a:noFill/>
          </a:ln>
        </p:spPr>
        <p:txBody>
          <a:bodyPr rtlCol="0" anchor="ctr"/>
          <a:lstStyle/>
          <a:p>
            <a:pPr algn="ctr"/>
          </a:p>
        </p:txBody>
      </p:sp>
      <p:sp>
        <p:nvSpPr>
          <p:cNvPr id="9" name="Rule 8"/>
          <p:cNvSpPr/>
          <p:nvPr/>
        </p:nvSpPr>
        <p:spPr>
          <a:xfrm>
            <a:off x="7975600" y="1908770"/>
            <a:ext cx="6350" cy="2693591"/>
          </a:xfrm>
          <a:prstGeom prst="rect">
            <a:avLst/>
          </a:prstGeom>
          <a:solidFill>
            <a:srgbClr val="E1DBCD"/>
          </a:solidFill>
          <a:ln>
            <a:noFill/>
          </a:ln>
        </p:spPr>
        <p:txBody>
          <a:bodyPr rtlCol="0" anchor="ctr"/>
          <a:lstStyle/>
          <a:p>
            <a:pPr algn="ctr"/>
          </a:p>
        </p:txBody>
      </p:sp>
      <p:sp>
        <p:nvSpPr>
          <p:cNvPr id="10" name="Text 9"/>
          <p:cNvSpPr txBox="1"/>
          <p:nvPr/>
        </p:nvSpPr>
        <p:spPr>
          <a:xfrm>
            <a:off x="8001000" y="2152039"/>
            <a:ext cx="316865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0E7C6B"/>
                </a:solidFill>
                <a:latin typeface="Readex Pro"/>
                <a:ea typeface="Readex Pro"/>
                <a:cs typeface="Readex Pro"/>
              </a:rPr>
              <a:t>Governance</a:t>
            </a:r>
          </a:p>
        </p:txBody>
      </p:sp>
      <p:sp>
        <p:nvSpPr>
          <p:cNvPr id="11" name="Text 10"/>
          <p:cNvSpPr txBox="1"/>
          <p:nvPr/>
        </p:nvSpPr>
        <p:spPr>
          <a:xfrm>
            <a:off x="8001000" y="2474789"/>
            <a:ext cx="3168650" cy="335260"/>
          </a:xfrm>
          <a:prstGeom prst="rect">
            <a:avLst/>
          </a:prstGeom>
          <a:noFill/>
        </p:spPr>
        <p:txBody>
          <a:bodyPr wrap="square" tIns="0" rIns="0" bIns="0" lIns="0" anchor="t" rtlCol="0" anchorCtr="0">
            <a:noAutofit/>
          </a:bodyPr>
          <a:lstStyle/>
          <a:p>
            <a:pPr algn="r" rtl="1">
              <a:lnSpc>
                <a:spcPts val="2640"/>
              </a:lnSpc>
              <a:spcBef>
                <a:spcPts val="0"/>
              </a:spcBef>
              <a:spcAft>
                <a:spcPts val="0"/>
              </a:spcAft>
            </a:pPr>
            <a:r>
              <a:rPr sz="2200" b="1" i="0" lang="ar-SA" altLang="en-US">
                <a:solidFill>
                  <a:srgbClr val="172433"/>
                </a:solidFill>
                <a:latin typeface="Readex Pro"/>
                <a:ea typeface="Readex Pro"/>
                <a:cs typeface="Readex Pro"/>
              </a:rPr>
              <a:t>الحوكمة</a:t>
            </a:r>
          </a:p>
        </p:txBody>
      </p:sp>
      <p:sp>
        <p:nvSpPr>
          <p:cNvPr id="12" name="Text 11"/>
          <p:cNvSpPr txBox="1"/>
          <p:nvPr/>
        </p:nvSpPr>
        <p:spPr>
          <a:xfrm>
            <a:off x="8001000" y="2879392"/>
            <a:ext cx="3168650" cy="2667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400" b="0" i="0" lang="ar-SA" altLang="en-US">
                <a:solidFill>
                  <a:srgbClr val="172433"/>
                </a:solidFill>
                <a:latin typeface="IBM Plex Sans Arabic"/>
                <a:ea typeface="IBM Plex Sans Arabic"/>
                <a:cs typeface="IBM Plex Sans Arabic"/>
              </a:rPr>
              <a:t>من يقرر، وبأي قواعد، وكيف نتابع التنفيذ؟</a:t>
            </a:r>
          </a:p>
        </p:txBody>
      </p:sp>
      <p:sp>
        <p:nvSpPr>
          <p:cNvPr id="13" name="Rule 12"/>
          <p:cNvSpPr/>
          <p:nvPr/>
        </p:nvSpPr>
        <p:spPr>
          <a:xfrm>
            <a:off x="8185150" y="3284141"/>
            <a:ext cx="2984500" cy="6350"/>
          </a:xfrm>
          <a:prstGeom prst="rect">
            <a:avLst/>
          </a:prstGeom>
          <a:solidFill>
            <a:srgbClr val="E1DBCD"/>
          </a:solidFill>
          <a:ln>
            <a:noFill/>
          </a:ln>
        </p:spPr>
        <p:txBody>
          <a:bodyPr rtlCol="0" anchor="ctr"/>
          <a:lstStyle/>
          <a:p>
            <a:pPr algn="ctr"/>
          </a:p>
        </p:txBody>
      </p:sp>
      <p:sp>
        <p:nvSpPr>
          <p:cNvPr id="14" name="Text 13"/>
          <p:cNvSpPr txBox="1"/>
          <p:nvPr/>
        </p:nvSpPr>
        <p:spPr>
          <a:xfrm>
            <a:off x="8185150" y="3355769"/>
            <a:ext cx="29845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4E5A66"/>
                </a:solidFill>
                <a:latin typeface="IBM Plex Sans Arabic"/>
                <a:ea typeface="IBM Plex Sans Arabic"/>
                <a:cs typeface="IBM Plex Sans Arabic"/>
              </a:rPr>
              <a:t>ما تنتجه</a:t>
            </a:r>
          </a:p>
        </p:txBody>
      </p:sp>
      <p:sp>
        <p:nvSpPr>
          <p:cNvPr id="15" name="Text 14"/>
          <p:cNvSpPr txBox="1"/>
          <p:nvPr/>
        </p:nvSpPr>
        <p:spPr>
          <a:xfrm>
            <a:off x="8185150" y="3596965"/>
            <a:ext cx="2984500" cy="495300"/>
          </a:xfrm>
          <a:prstGeom prst="rect">
            <a:avLst/>
          </a:prstGeom>
          <a:noFill/>
        </p:spPr>
        <p:txBody>
          <a:bodyPr wrap="square" tIns="0" rIns="0" bIns="0" lIns="0" anchor="t" rtlCol="0" anchorCtr="0">
            <a:noAutofit/>
          </a:bodyPr>
          <a:lstStyle/>
          <a:p>
            <a:pPr algn="r" rtl="1">
              <a:lnSpc>
                <a:spcPts val="1950"/>
              </a:lnSpc>
              <a:spcBef>
                <a:spcPts val="0"/>
              </a:spcBef>
              <a:spcAft>
                <a:spcPts val="0"/>
              </a:spcAft>
            </a:pPr>
            <a:r>
              <a:rPr sz="1300" b="0" i="0" lang="ar-SA" altLang="en-US">
                <a:solidFill>
                  <a:srgbClr val="4E5A66"/>
                </a:solidFill>
                <a:latin typeface="IBM Plex Sans Arabic"/>
                <a:ea typeface="IBM Plex Sans Arabic"/>
                <a:cs typeface="IBM Plex Sans Arabic"/>
              </a:rPr>
              <a:t>استراتيجية، وسياسات معتمدة، ولجنة إشرافية، وأدوار ومسؤوليات.</a:t>
            </a:r>
          </a:p>
        </p:txBody>
      </p:sp>
      <p:sp>
        <p:nvSpPr>
          <p:cNvPr id="16" name="Box 15"/>
          <p:cNvSpPr/>
          <p:nvPr/>
        </p:nvSpPr>
        <p:spPr>
          <a:xfrm>
            <a:off x="4394200" y="1908770"/>
            <a:ext cx="3403600" cy="2693591"/>
          </a:xfrm>
          <a:prstGeom prst="roundRect">
            <a:avLst>
              <a:gd name="adj" fmla="val 4243"/>
            </a:avLst>
          </a:prstGeom>
          <a:solidFill>
            <a:srgbClr val="FFFDF8"/>
          </a:solidFill>
          <a:ln>
            <a:noFill/>
          </a:ln>
        </p:spPr>
        <p:txBody>
          <a:bodyPr rtlCol="0" anchor="ctr"/>
          <a:lstStyle/>
          <a:p>
            <a:pPr algn="ctr"/>
          </a:p>
        </p:txBody>
      </p:sp>
      <p:sp>
        <p:nvSpPr>
          <p:cNvPr id="17" name="Rule 16"/>
          <p:cNvSpPr/>
          <p:nvPr/>
        </p:nvSpPr>
        <p:spPr>
          <a:xfrm>
            <a:off x="4394200" y="1908770"/>
            <a:ext cx="3403600" cy="50800"/>
          </a:xfrm>
          <a:prstGeom prst="rect">
            <a:avLst/>
          </a:prstGeom>
          <a:solidFill>
            <a:srgbClr val="C27A16"/>
          </a:solidFill>
          <a:ln>
            <a:noFill/>
          </a:ln>
        </p:spPr>
        <p:txBody>
          <a:bodyPr rtlCol="0" anchor="ctr"/>
          <a:lstStyle/>
          <a:p>
            <a:pPr algn="ctr"/>
          </a:p>
        </p:txBody>
      </p:sp>
      <p:sp>
        <p:nvSpPr>
          <p:cNvPr id="18" name="Rule 17"/>
          <p:cNvSpPr/>
          <p:nvPr/>
        </p:nvSpPr>
        <p:spPr>
          <a:xfrm>
            <a:off x="7791450" y="1908770"/>
            <a:ext cx="6350" cy="2693591"/>
          </a:xfrm>
          <a:prstGeom prst="rect">
            <a:avLst/>
          </a:prstGeom>
          <a:solidFill>
            <a:srgbClr val="E1DBCD"/>
          </a:solidFill>
          <a:ln>
            <a:noFill/>
          </a:ln>
        </p:spPr>
        <p:txBody>
          <a:bodyPr rtlCol="0" anchor="ctr"/>
          <a:lstStyle/>
          <a:p>
            <a:pPr algn="ctr"/>
          </a:p>
        </p:txBody>
      </p:sp>
      <p:sp>
        <p:nvSpPr>
          <p:cNvPr id="19" name="Rule 18"/>
          <p:cNvSpPr/>
          <p:nvPr/>
        </p:nvSpPr>
        <p:spPr>
          <a:xfrm>
            <a:off x="4394200" y="4596011"/>
            <a:ext cx="3403600" cy="6350"/>
          </a:xfrm>
          <a:prstGeom prst="rect">
            <a:avLst/>
          </a:prstGeom>
          <a:solidFill>
            <a:srgbClr val="E1DBCD"/>
          </a:solidFill>
          <a:ln>
            <a:noFill/>
          </a:ln>
        </p:spPr>
        <p:txBody>
          <a:bodyPr rtlCol="0" anchor="ctr"/>
          <a:lstStyle/>
          <a:p>
            <a:pPr algn="ctr"/>
          </a:p>
        </p:txBody>
      </p:sp>
      <p:sp>
        <p:nvSpPr>
          <p:cNvPr id="20" name="Rule 19"/>
          <p:cNvSpPr/>
          <p:nvPr/>
        </p:nvSpPr>
        <p:spPr>
          <a:xfrm>
            <a:off x="4394200" y="1908770"/>
            <a:ext cx="6350" cy="2693591"/>
          </a:xfrm>
          <a:prstGeom prst="rect">
            <a:avLst/>
          </a:prstGeom>
          <a:solidFill>
            <a:srgbClr val="E1DBCD"/>
          </a:solidFill>
          <a:ln>
            <a:noFill/>
          </a:ln>
        </p:spPr>
        <p:txBody>
          <a:bodyPr rtlCol="0" anchor="ctr"/>
          <a:lstStyle/>
          <a:p>
            <a:pPr algn="ctr"/>
          </a:p>
        </p:txBody>
      </p:sp>
      <p:sp>
        <p:nvSpPr>
          <p:cNvPr id="21" name="Text 20"/>
          <p:cNvSpPr txBox="1"/>
          <p:nvPr/>
        </p:nvSpPr>
        <p:spPr>
          <a:xfrm>
            <a:off x="4419600" y="2152039"/>
            <a:ext cx="316865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9A5F0F"/>
                </a:solidFill>
                <a:latin typeface="Readex Pro"/>
                <a:ea typeface="Readex Pro"/>
                <a:cs typeface="Readex Pro"/>
              </a:rPr>
              <a:t>Risk</a:t>
            </a:r>
          </a:p>
        </p:txBody>
      </p:sp>
      <p:sp>
        <p:nvSpPr>
          <p:cNvPr id="22" name="Text 21"/>
          <p:cNvSpPr txBox="1"/>
          <p:nvPr/>
        </p:nvSpPr>
        <p:spPr>
          <a:xfrm>
            <a:off x="4419600" y="2474789"/>
            <a:ext cx="3168650" cy="335260"/>
          </a:xfrm>
          <a:prstGeom prst="rect">
            <a:avLst/>
          </a:prstGeom>
          <a:noFill/>
        </p:spPr>
        <p:txBody>
          <a:bodyPr wrap="square" tIns="0" rIns="0" bIns="0" lIns="0" anchor="t" rtlCol="0" anchorCtr="0">
            <a:noAutofit/>
          </a:bodyPr>
          <a:lstStyle/>
          <a:p>
            <a:pPr algn="r" rtl="1">
              <a:lnSpc>
                <a:spcPts val="2640"/>
              </a:lnSpc>
              <a:spcBef>
                <a:spcPts val="0"/>
              </a:spcBef>
              <a:spcAft>
                <a:spcPts val="0"/>
              </a:spcAft>
            </a:pPr>
            <a:r>
              <a:rPr sz="2200" b="1" i="0" lang="ar-SA" altLang="en-US">
                <a:solidFill>
                  <a:srgbClr val="172433"/>
                </a:solidFill>
                <a:latin typeface="Readex Pro"/>
                <a:ea typeface="Readex Pro"/>
                <a:cs typeface="Readex Pro"/>
              </a:rPr>
              <a:t>المخاطر</a:t>
            </a:r>
          </a:p>
        </p:txBody>
      </p:sp>
      <p:sp>
        <p:nvSpPr>
          <p:cNvPr id="23" name="Text 22"/>
          <p:cNvSpPr txBox="1"/>
          <p:nvPr/>
        </p:nvSpPr>
        <p:spPr>
          <a:xfrm>
            <a:off x="4514215" y="2879392"/>
            <a:ext cx="3074035" cy="5334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400" b="0" i="0" lang="ar-SA" altLang="en-US">
                <a:solidFill>
                  <a:srgbClr val="172433"/>
                </a:solidFill>
                <a:latin typeface="IBM Plex Sans Arabic"/>
                <a:ea typeface="IBM Plex Sans Arabic"/>
                <a:cs typeface="IBM Plex Sans Arabic"/>
              </a:rPr>
              <a:t>ما الذي قد يضرنا، وما احتماله وأثره، وماذا نفعل حياله؟</a:t>
            </a:r>
          </a:p>
        </p:txBody>
      </p:sp>
      <p:sp>
        <p:nvSpPr>
          <p:cNvPr id="24" name="Rule 23"/>
          <p:cNvSpPr/>
          <p:nvPr/>
        </p:nvSpPr>
        <p:spPr>
          <a:xfrm>
            <a:off x="4603750" y="3550841"/>
            <a:ext cx="2984500" cy="6350"/>
          </a:xfrm>
          <a:prstGeom prst="rect">
            <a:avLst/>
          </a:prstGeom>
          <a:solidFill>
            <a:srgbClr val="E1DBCD"/>
          </a:solidFill>
          <a:ln>
            <a:noFill/>
          </a:ln>
        </p:spPr>
        <p:txBody>
          <a:bodyPr rtlCol="0" anchor="ctr"/>
          <a:lstStyle/>
          <a:p>
            <a:pPr algn="ctr"/>
          </a:p>
        </p:txBody>
      </p:sp>
      <p:sp>
        <p:nvSpPr>
          <p:cNvPr id="25" name="Text 24"/>
          <p:cNvSpPr txBox="1"/>
          <p:nvPr/>
        </p:nvSpPr>
        <p:spPr>
          <a:xfrm>
            <a:off x="4603750" y="3622469"/>
            <a:ext cx="29845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4E5A66"/>
                </a:solidFill>
                <a:latin typeface="IBM Plex Sans Arabic"/>
                <a:ea typeface="IBM Plex Sans Arabic"/>
                <a:cs typeface="IBM Plex Sans Arabic"/>
              </a:rPr>
              <a:t>ما تنتجه</a:t>
            </a:r>
          </a:p>
        </p:txBody>
      </p:sp>
      <p:sp>
        <p:nvSpPr>
          <p:cNvPr id="26" name="Text 25"/>
          <p:cNvSpPr txBox="1"/>
          <p:nvPr/>
        </p:nvSpPr>
        <p:spPr>
          <a:xfrm>
            <a:off x="4603750" y="3863665"/>
            <a:ext cx="2984500" cy="495300"/>
          </a:xfrm>
          <a:prstGeom prst="rect">
            <a:avLst/>
          </a:prstGeom>
          <a:noFill/>
        </p:spPr>
        <p:txBody>
          <a:bodyPr wrap="square" tIns="0" rIns="0" bIns="0" lIns="0" anchor="t" rtlCol="0" anchorCtr="0">
            <a:noAutofit/>
          </a:bodyPr>
          <a:lstStyle/>
          <a:p>
            <a:pPr algn="r" rtl="1">
              <a:lnSpc>
                <a:spcPts val="1950"/>
              </a:lnSpc>
              <a:spcBef>
                <a:spcPts val="0"/>
              </a:spcBef>
              <a:spcAft>
                <a:spcPts val="0"/>
              </a:spcAft>
            </a:pPr>
            <a:r>
              <a:rPr sz="1300" b="0" i="0" lang="ar-SA" altLang="en-US">
                <a:solidFill>
                  <a:srgbClr val="4E5A66"/>
                </a:solidFill>
                <a:latin typeface="IBM Plex Sans Arabic"/>
                <a:ea typeface="IBM Plex Sans Arabic"/>
                <a:cs typeface="IBM Plex Sans Arabic"/>
              </a:rPr>
              <a:t>تقييم مخاطر، وسجل مخاطر، وخطط معالجة، وشهية للمخاطر.</a:t>
            </a:r>
          </a:p>
        </p:txBody>
      </p:sp>
      <p:sp>
        <p:nvSpPr>
          <p:cNvPr id="27" name="Box 26"/>
          <p:cNvSpPr/>
          <p:nvPr/>
        </p:nvSpPr>
        <p:spPr>
          <a:xfrm>
            <a:off x="812800" y="1908770"/>
            <a:ext cx="3403600" cy="2693591"/>
          </a:xfrm>
          <a:prstGeom prst="roundRect">
            <a:avLst>
              <a:gd name="adj" fmla="val 4243"/>
            </a:avLst>
          </a:prstGeom>
          <a:solidFill>
            <a:srgbClr val="FFFDF8"/>
          </a:solidFill>
          <a:ln>
            <a:noFill/>
          </a:ln>
        </p:spPr>
        <p:txBody>
          <a:bodyPr rtlCol="0" anchor="ctr"/>
          <a:lstStyle/>
          <a:p>
            <a:pPr algn="ctr"/>
          </a:p>
        </p:txBody>
      </p:sp>
      <p:sp>
        <p:nvSpPr>
          <p:cNvPr id="28" name="Rule 27"/>
          <p:cNvSpPr/>
          <p:nvPr/>
        </p:nvSpPr>
        <p:spPr>
          <a:xfrm>
            <a:off x="812800" y="1908770"/>
            <a:ext cx="3403600" cy="50800"/>
          </a:xfrm>
          <a:prstGeom prst="rect">
            <a:avLst/>
          </a:prstGeom>
          <a:solidFill>
            <a:srgbClr val="3E6FA8"/>
          </a:solidFill>
          <a:ln>
            <a:noFill/>
          </a:ln>
        </p:spPr>
        <p:txBody>
          <a:bodyPr rtlCol="0" anchor="ctr"/>
          <a:lstStyle/>
          <a:p>
            <a:pPr algn="ctr"/>
          </a:p>
        </p:txBody>
      </p:sp>
      <p:sp>
        <p:nvSpPr>
          <p:cNvPr id="29" name="Rule 28"/>
          <p:cNvSpPr/>
          <p:nvPr/>
        </p:nvSpPr>
        <p:spPr>
          <a:xfrm>
            <a:off x="4210050" y="1908770"/>
            <a:ext cx="6350" cy="2693591"/>
          </a:xfrm>
          <a:prstGeom prst="rect">
            <a:avLst/>
          </a:prstGeom>
          <a:solidFill>
            <a:srgbClr val="E1DBCD"/>
          </a:solidFill>
          <a:ln>
            <a:noFill/>
          </a:ln>
        </p:spPr>
        <p:txBody>
          <a:bodyPr rtlCol="0" anchor="ctr"/>
          <a:lstStyle/>
          <a:p>
            <a:pPr algn="ctr"/>
          </a:p>
        </p:txBody>
      </p:sp>
      <p:sp>
        <p:nvSpPr>
          <p:cNvPr id="30" name="Rule 29"/>
          <p:cNvSpPr/>
          <p:nvPr/>
        </p:nvSpPr>
        <p:spPr>
          <a:xfrm>
            <a:off x="812800" y="4596011"/>
            <a:ext cx="3403600" cy="6350"/>
          </a:xfrm>
          <a:prstGeom prst="rect">
            <a:avLst/>
          </a:prstGeom>
          <a:solidFill>
            <a:srgbClr val="E1DBCD"/>
          </a:solidFill>
          <a:ln>
            <a:noFill/>
          </a:ln>
        </p:spPr>
        <p:txBody>
          <a:bodyPr rtlCol="0" anchor="ctr"/>
          <a:lstStyle/>
          <a:p>
            <a:pPr algn="ctr"/>
          </a:p>
        </p:txBody>
      </p:sp>
      <p:sp>
        <p:nvSpPr>
          <p:cNvPr id="31" name="Rule 30"/>
          <p:cNvSpPr/>
          <p:nvPr/>
        </p:nvSpPr>
        <p:spPr>
          <a:xfrm>
            <a:off x="812800" y="1908770"/>
            <a:ext cx="6350" cy="2693591"/>
          </a:xfrm>
          <a:prstGeom prst="rect">
            <a:avLst/>
          </a:prstGeom>
          <a:solidFill>
            <a:srgbClr val="E1DBCD"/>
          </a:solidFill>
          <a:ln>
            <a:noFill/>
          </a:ln>
        </p:spPr>
        <p:txBody>
          <a:bodyPr rtlCol="0" anchor="ctr"/>
          <a:lstStyle/>
          <a:p>
            <a:pPr algn="ctr"/>
          </a:p>
        </p:txBody>
      </p:sp>
      <p:sp>
        <p:nvSpPr>
          <p:cNvPr id="32" name="Text 31"/>
          <p:cNvSpPr txBox="1"/>
          <p:nvPr/>
        </p:nvSpPr>
        <p:spPr>
          <a:xfrm>
            <a:off x="838200" y="2152039"/>
            <a:ext cx="316865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2F5C92"/>
                </a:solidFill>
                <a:latin typeface="Readex Pro"/>
                <a:ea typeface="Readex Pro"/>
                <a:cs typeface="Readex Pro"/>
              </a:rPr>
              <a:t>Compliance</a:t>
            </a:r>
          </a:p>
        </p:txBody>
      </p:sp>
      <p:sp>
        <p:nvSpPr>
          <p:cNvPr id="33" name="Text 32"/>
          <p:cNvSpPr txBox="1"/>
          <p:nvPr/>
        </p:nvSpPr>
        <p:spPr>
          <a:xfrm>
            <a:off x="838200" y="2474789"/>
            <a:ext cx="3168650" cy="335260"/>
          </a:xfrm>
          <a:prstGeom prst="rect">
            <a:avLst/>
          </a:prstGeom>
          <a:noFill/>
        </p:spPr>
        <p:txBody>
          <a:bodyPr wrap="square" tIns="0" rIns="0" bIns="0" lIns="0" anchor="t" rtlCol="0" anchorCtr="0">
            <a:noAutofit/>
          </a:bodyPr>
          <a:lstStyle/>
          <a:p>
            <a:pPr algn="r" rtl="1">
              <a:lnSpc>
                <a:spcPts val="2640"/>
              </a:lnSpc>
              <a:spcBef>
                <a:spcPts val="0"/>
              </a:spcBef>
              <a:spcAft>
                <a:spcPts val="0"/>
              </a:spcAft>
            </a:pPr>
            <a:r>
              <a:rPr sz="2200" b="1" i="0" lang="ar-SA" altLang="en-US">
                <a:solidFill>
                  <a:srgbClr val="172433"/>
                </a:solidFill>
                <a:latin typeface="Readex Pro"/>
                <a:ea typeface="Readex Pro"/>
                <a:cs typeface="Readex Pro"/>
              </a:rPr>
              <a:t>الامتثال</a:t>
            </a:r>
          </a:p>
        </p:txBody>
      </p:sp>
      <p:sp>
        <p:nvSpPr>
          <p:cNvPr id="34" name="Text 33"/>
          <p:cNvSpPr txBox="1"/>
          <p:nvPr/>
        </p:nvSpPr>
        <p:spPr>
          <a:xfrm>
            <a:off x="932815" y="2879392"/>
            <a:ext cx="3074035" cy="5334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400" b="0" i="0" lang="ar-SA" altLang="en-US">
                <a:solidFill>
                  <a:srgbClr val="172433"/>
                </a:solidFill>
                <a:latin typeface="IBM Plex Sans Arabic"/>
                <a:ea typeface="IBM Plex Sans Arabic"/>
                <a:cs typeface="IBM Plex Sans Arabic"/>
              </a:rPr>
              <a:t>هل نلتزم بالأنظمة والمعايير وسياساتنا، وكيف نثبت ذلك؟</a:t>
            </a:r>
          </a:p>
        </p:txBody>
      </p:sp>
      <p:sp>
        <p:nvSpPr>
          <p:cNvPr id="35" name="Rule 34"/>
          <p:cNvSpPr/>
          <p:nvPr/>
        </p:nvSpPr>
        <p:spPr>
          <a:xfrm>
            <a:off x="1022350" y="3550841"/>
            <a:ext cx="2984500" cy="6350"/>
          </a:xfrm>
          <a:prstGeom prst="rect">
            <a:avLst/>
          </a:prstGeom>
          <a:solidFill>
            <a:srgbClr val="E1DBCD"/>
          </a:solidFill>
          <a:ln>
            <a:noFill/>
          </a:ln>
        </p:spPr>
        <p:txBody>
          <a:bodyPr rtlCol="0" anchor="ctr"/>
          <a:lstStyle/>
          <a:p>
            <a:pPr algn="ctr"/>
          </a:p>
        </p:txBody>
      </p:sp>
      <p:sp>
        <p:nvSpPr>
          <p:cNvPr id="36" name="Text 35"/>
          <p:cNvSpPr txBox="1"/>
          <p:nvPr/>
        </p:nvSpPr>
        <p:spPr>
          <a:xfrm>
            <a:off x="1022350" y="3622469"/>
            <a:ext cx="29845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4E5A66"/>
                </a:solidFill>
                <a:latin typeface="IBM Plex Sans Arabic"/>
                <a:ea typeface="IBM Plex Sans Arabic"/>
                <a:cs typeface="IBM Plex Sans Arabic"/>
              </a:rPr>
              <a:t>ما تنتجه</a:t>
            </a:r>
          </a:p>
        </p:txBody>
      </p:sp>
      <p:sp>
        <p:nvSpPr>
          <p:cNvPr id="37" name="Text 36"/>
          <p:cNvSpPr txBox="1"/>
          <p:nvPr/>
        </p:nvSpPr>
        <p:spPr>
          <a:xfrm>
            <a:off x="1022350" y="3863665"/>
            <a:ext cx="2984500" cy="495300"/>
          </a:xfrm>
          <a:prstGeom prst="rect">
            <a:avLst/>
          </a:prstGeom>
          <a:noFill/>
        </p:spPr>
        <p:txBody>
          <a:bodyPr wrap="square" tIns="0" rIns="0" bIns="0" lIns="0" anchor="t" rtlCol="0" anchorCtr="0">
            <a:noAutofit/>
          </a:bodyPr>
          <a:lstStyle/>
          <a:p>
            <a:pPr algn="r" rtl="1">
              <a:lnSpc>
                <a:spcPts val="1950"/>
              </a:lnSpc>
              <a:spcBef>
                <a:spcPts val="0"/>
              </a:spcBef>
              <a:spcAft>
                <a:spcPts val="0"/>
              </a:spcAft>
            </a:pPr>
            <a:r>
              <a:rPr sz="1300" b="0" i="0" lang="ar-SA" altLang="en-US">
                <a:solidFill>
                  <a:srgbClr val="4E5A66"/>
                </a:solidFill>
                <a:latin typeface="IBM Plex Sans Arabic"/>
                <a:ea typeface="IBM Plex Sans Arabic"/>
                <a:cs typeface="IBM Plex Sans Arabic"/>
              </a:rPr>
              <a:t>تقييم فجوات، وسجل أدلة، وتقارير امتثال، ومتابعة ملاحظات التدقيق.</a:t>
            </a:r>
          </a:p>
        </p:txBody>
      </p:sp>
      <p:sp>
        <p:nvSpPr>
          <p:cNvPr id="38" name="Box 37"/>
          <p:cNvSpPr/>
          <p:nvPr/>
        </p:nvSpPr>
        <p:spPr>
          <a:xfrm>
            <a:off x="812800" y="4856361"/>
            <a:ext cx="10566400" cy="571500"/>
          </a:xfrm>
          <a:prstGeom prst="roundRect">
            <a:avLst>
              <a:gd name="adj" fmla="val 17777"/>
            </a:avLst>
          </a:prstGeom>
          <a:solidFill>
            <a:srgbClr val="172433"/>
          </a:solidFill>
          <a:ln>
            <a:noFill/>
          </a:ln>
        </p:spPr>
        <p:txBody>
          <a:bodyPr rtlCol="0" anchor="ctr"/>
          <a:lstStyle/>
          <a:p>
            <a:pPr algn="ctr"/>
          </a:p>
        </p:txBody>
      </p:sp>
      <p:pic>
        <p:nvPicPr>
          <p:cNvPr id="39" name="Icon Link 38" descr="icon005.png"/>
          <p:cNvPicPr>
            <a:picLocks noChangeAspect="1"/>
          </p:cNvPicPr>
          <p:nvPr/>
        </p:nvPicPr>
        <p:blipFill>
          <a:blip r:embed="rId2"/>
          <a:stretch>
            <a:fillRect/>
          </a:stretch>
        </p:blipFill>
        <p:spPr>
          <a:xfrm>
            <a:off x="10922000" y="5015111"/>
            <a:ext cx="254000" cy="254000"/>
          </a:xfrm>
          <a:prstGeom prst="rect">
            <a:avLst/>
          </a:prstGeom>
        </p:spPr>
      </p:pic>
      <p:sp>
        <p:nvSpPr>
          <p:cNvPr id="40" name="Text 39"/>
          <p:cNvSpPr txBox="1"/>
          <p:nvPr/>
        </p:nvSpPr>
        <p:spPr>
          <a:xfrm>
            <a:off x="838200" y="4972312"/>
            <a:ext cx="9956800" cy="2667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400" b="0" i="0" lang="ar-SA" altLang="en-US">
                <a:solidFill>
                  <a:srgbClr val="F3EFE6"/>
                </a:solidFill>
                <a:latin typeface="IBM Plex Sans Arabic"/>
                <a:ea typeface="IBM Plex Sans Arabic"/>
                <a:cs typeface="IBM Plex Sans Arabic"/>
              </a:rPr>
              <a:t>الحوكمة تضع القواعد، والمخاطر تحدد الأولويات، والامتثال يثبت التطبيق. قوة GRC في ربط الثلاثة معاً.</a:t>
            </a:r>
          </a:p>
        </p:txBody>
      </p:sp>
      <p:sp>
        <p:nvSpPr>
          <p:cNvPr id="41" name="Text 40"/>
          <p:cNvSpPr txBox="1"/>
          <p:nvPr/>
        </p:nvSpPr>
        <p:spPr>
          <a:xfrm>
            <a:off x="230878" y="62146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01 · ما هو GRC؟</a:t>
            </a:r>
          </a:p>
        </p:txBody>
      </p:sp>
      <p:sp>
        <p:nvSpPr>
          <p:cNvPr id="42" name="Text 41"/>
          <p:cNvSpPr txBox="1"/>
          <p:nvPr/>
        </p:nvSpPr>
        <p:spPr>
          <a:xfrm>
            <a:off x="721360" y="62146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7C6B"/>
        </a:solidFill>
        <a:effectLst/>
      </p:bgPr>
    </p:bg>
    <p:spTree>
      <p:nvGrpSpPr>
        <p:cNvPr id="1" name=""/>
        <p:cNvGrpSpPr/>
        <p:nvPr/>
      </p:nvGrpSpPr>
      <p:grpSpPr/>
      <p:sp>
        <p:nvSpPr>
          <p:cNvPr id="2" name="Text box 1"/>
          <p:cNvSpPr/>
          <p:nvPr/>
        </p:nvSpPr>
        <p:spPr>
          <a:xfrm>
            <a:off x="9622532" y="812800"/>
            <a:ext cx="1756668" cy="289520"/>
          </a:xfrm>
          <a:prstGeom prst="roundRect">
            <a:avLst>
              <a:gd name="adj" fmla="val 50000"/>
            </a:avLst>
          </a:prstGeom>
          <a:solidFill>
            <a:srgbClr val="CFEDE6"/>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B5E52"/>
                </a:solidFill>
                <a:latin typeface="IBM Plex Sans Arabic"/>
                <a:ea typeface="IBM Plex Sans Arabic"/>
                <a:cs typeface="IBM Plex Sans Arabic"/>
              </a:rPr>
              <a:t>الوحدة 01 · ما هو GRC؟</a:t>
            </a:r>
          </a:p>
        </p:txBody>
      </p:sp>
      <p:sp>
        <p:nvSpPr>
          <p:cNvPr id="3" name="Text 2"/>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FBF8F1"/>
                </a:solidFill>
                <a:latin typeface="Readex Pro"/>
                <a:ea typeface="Readex Pro"/>
                <a:cs typeface="Readex Pro"/>
              </a:rPr>
              <a:t>لماذا تحتاج كل جهة من يعمل في GRC؟</a:t>
            </a:r>
          </a:p>
        </p:txBody>
      </p:sp>
      <p:sp>
        <p:nvSpPr>
          <p:cNvPr id="4" name="Rule 3"/>
          <p:cNvSpPr/>
          <p:nvPr/>
        </p:nvSpPr>
        <p:spPr>
          <a:xfrm>
            <a:off x="7992566" y="1959570"/>
            <a:ext cx="3386634" cy="19050"/>
          </a:xfrm>
          <a:prstGeom prst="rect">
            <a:avLst/>
          </a:prstGeom>
          <a:solidFill>
            <a:srgbClr val="9FE0D2"/>
          </a:solidFill>
          <a:ln>
            <a:noFill/>
          </a:ln>
        </p:spPr>
        <p:txBody>
          <a:bodyPr rtlCol="0" anchor="ctr"/>
          <a:lstStyle/>
          <a:p>
            <a:pPr algn="ctr"/>
          </a:p>
        </p:txBody>
      </p:sp>
      <p:sp>
        <p:nvSpPr>
          <p:cNvPr id="5" name="Text 4"/>
          <p:cNvSpPr txBox="1"/>
          <p:nvPr/>
        </p:nvSpPr>
        <p:spPr>
          <a:xfrm>
            <a:off x="7992566" y="2169882"/>
            <a:ext cx="3386634"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CFEDE6"/>
                </a:solidFill>
                <a:latin typeface="Readex Pro"/>
                <a:ea typeface="Readex Pro"/>
                <a:cs typeface="Readex Pro"/>
              </a:rPr>
              <a:t>1</a:t>
            </a:r>
          </a:p>
        </p:txBody>
      </p:sp>
      <p:sp>
        <p:nvSpPr>
          <p:cNvPr id="6" name="Text 5"/>
          <p:cNvSpPr txBox="1"/>
          <p:nvPr/>
        </p:nvSpPr>
        <p:spPr>
          <a:xfrm>
            <a:off x="7992566" y="2673310"/>
            <a:ext cx="3386634"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lang="ar-SA" altLang="en-US">
                <a:solidFill>
                  <a:srgbClr val="FBF8F1"/>
                </a:solidFill>
                <a:latin typeface="Readex Pro"/>
                <a:ea typeface="Readex Pro"/>
                <a:cs typeface="Readex Pro"/>
              </a:rPr>
              <a:t>أنظمة ملزمة</a:t>
            </a:r>
          </a:p>
        </p:txBody>
      </p:sp>
      <p:sp>
        <p:nvSpPr>
          <p:cNvPr id="7" name="Text 6"/>
          <p:cNvSpPr txBox="1"/>
          <p:nvPr/>
        </p:nvSpPr>
        <p:spPr>
          <a:xfrm>
            <a:off x="7992566" y="3080726"/>
            <a:ext cx="3386634" cy="1102122"/>
          </a:xfrm>
          <a:prstGeom prst="rect">
            <a:avLst/>
          </a:prstGeom>
          <a:noFill/>
        </p:spPr>
        <p:txBody>
          <a:bodyPr wrap="square" tIns="0" rIns="0" bIns="0" lIns="0" anchor="t" rtlCol="0" anchorCtr="0">
            <a:noAutofit/>
          </a:bodyPr>
          <a:lstStyle/>
          <a:p>
            <a:pPr algn="r" rtl="1">
              <a:lnSpc>
                <a:spcPts val="2170"/>
              </a:lnSpc>
              <a:spcBef>
                <a:spcPts val="0"/>
              </a:spcBef>
              <a:spcAft>
                <a:spcPts val="0"/>
              </a:spcAft>
            </a:pPr>
            <a:r>
              <a:rPr sz="1400" b="0" i="0" lang="ar-SA" altLang="en-US">
                <a:solidFill>
                  <a:srgbClr val="E6F4F0"/>
                </a:solidFill>
                <a:latin typeface="IBM Plex Sans Arabic"/>
                <a:ea typeface="IBM Plex Sans Arabic"/>
                <a:cs typeface="IBM Plex Sans Arabic"/>
              </a:rPr>
              <a:t>الجهات المشمولة ملزمة بضوابط وتشريعات، مثل ضوابط الهيئة الوطنية للأمن السيبراني ونظام حماية البيانات الشخصية. أحدٌ ما يجب أن يحوّل النص إلى تطبيق.</a:t>
            </a:r>
          </a:p>
        </p:txBody>
      </p:sp>
      <p:sp>
        <p:nvSpPr>
          <p:cNvPr id="8" name="Rule 7"/>
          <p:cNvSpPr/>
          <p:nvPr/>
        </p:nvSpPr>
        <p:spPr>
          <a:xfrm>
            <a:off x="4402733" y="1959570"/>
            <a:ext cx="3386634" cy="19050"/>
          </a:xfrm>
          <a:prstGeom prst="rect">
            <a:avLst/>
          </a:prstGeom>
          <a:solidFill>
            <a:srgbClr val="9FE0D2"/>
          </a:solidFill>
          <a:ln>
            <a:noFill/>
          </a:ln>
        </p:spPr>
        <p:txBody>
          <a:bodyPr rtlCol="0" anchor="ctr"/>
          <a:lstStyle/>
          <a:p>
            <a:pPr algn="ctr"/>
          </a:p>
        </p:txBody>
      </p:sp>
      <p:sp>
        <p:nvSpPr>
          <p:cNvPr id="9" name="Text 8"/>
          <p:cNvSpPr txBox="1"/>
          <p:nvPr/>
        </p:nvSpPr>
        <p:spPr>
          <a:xfrm>
            <a:off x="4402733" y="2169882"/>
            <a:ext cx="3386634"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CFEDE6"/>
                </a:solidFill>
                <a:latin typeface="Readex Pro"/>
                <a:ea typeface="Readex Pro"/>
                <a:cs typeface="Readex Pro"/>
              </a:rPr>
              <a:t>2</a:t>
            </a:r>
          </a:p>
        </p:txBody>
      </p:sp>
      <p:sp>
        <p:nvSpPr>
          <p:cNvPr id="10" name="Text 9"/>
          <p:cNvSpPr txBox="1"/>
          <p:nvPr/>
        </p:nvSpPr>
        <p:spPr>
          <a:xfrm>
            <a:off x="4402733" y="2673310"/>
            <a:ext cx="3386634"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lang="ar-SA" altLang="en-US">
                <a:solidFill>
                  <a:srgbClr val="FBF8F1"/>
                </a:solidFill>
                <a:latin typeface="Readex Pro"/>
                <a:ea typeface="Readex Pro"/>
                <a:cs typeface="Readex Pro"/>
              </a:rPr>
              <a:t>موارد محدودة</a:t>
            </a:r>
          </a:p>
        </p:txBody>
      </p:sp>
      <p:sp>
        <p:nvSpPr>
          <p:cNvPr id="11" name="Text 10"/>
          <p:cNvSpPr txBox="1"/>
          <p:nvPr/>
        </p:nvSpPr>
        <p:spPr>
          <a:xfrm>
            <a:off x="4402733" y="3080726"/>
            <a:ext cx="3386634" cy="551061"/>
          </a:xfrm>
          <a:prstGeom prst="rect">
            <a:avLst/>
          </a:prstGeom>
          <a:noFill/>
        </p:spPr>
        <p:txBody>
          <a:bodyPr wrap="square" tIns="0" rIns="0" bIns="0" lIns="0" anchor="t" rtlCol="0" anchorCtr="0">
            <a:noAutofit/>
          </a:bodyPr>
          <a:lstStyle/>
          <a:p>
            <a:pPr algn="r" rtl="1">
              <a:lnSpc>
                <a:spcPts val="2170"/>
              </a:lnSpc>
              <a:spcBef>
                <a:spcPts val="0"/>
              </a:spcBef>
              <a:spcAft>
                <a:spcPts val="0"/>
              </a:spcAft>
            </a:pPr>
            <a:r>
              <a:rPr sz="1400" b="0" i="0" lang="ar-SA" altLang="en-US">
                <a:solidFill>
                  <a:srgbClr val="E6F4F0"/>
                </a:solidFill>
                <a:latin typeface="IBM Plex Sans Arabic"/>
                <a:ea typeface="IBM Plex Sans Arabic"/>
                <a:cs typeface="IBM Plex Sans Arabic"/>
              </a:rPr>
              <a:t>لا تستطيع جهة أن تحمي كل شيء بالقدر نفسه. تقييم المخاطر يحدد أين تُصرف الميزانية والجهد أولاً.</a:t>
            </a:r>
          </a:p>
        </p:txBody>
      </p:sp>
      <p:sp>
        <p:nvSpPr>
          <p:cNvPr id="12" name="Rule 11"/>
          <p:cNvSpPr/>
          <p:nvPr/>
        </p:nvSpPr>
        <p:spPr>
          <a:xfrm>
            <a:off x="812899" y="1959570"/>
            <a:ext cx="3386634" cy="19050"/>
          </a:xfrm>
          <a:prstGeom prst="rect">
            <a:avLst/>
          </a:prstGeom>
          <a:solidFill>
            <a:srgbClr val="9FE0D2"/>
          </a:solidFill>
          <a:ln>
            <a:noFill/>
          </a:ln>
        </p:spPr>
        <p:txBody>
          <a:bodyPr rtlCol="0" anchor="ctr"/>
          <a:lstStyle/>
          <a:p>
            <a:pPr algn="ctr"/>
          </a:p>
        </p:txBody>
      </p:sp>
      <p:sp>
        <p:nvSpPr>
          <p:cNvPr id="13" name="Text 12"/>
          <p:cNvSpPr txBox="1"/>
          <p:nvPr/>
        </p:nvSpPr>
        <p:spPr>
          <a:xfrm>
            <a:off x="812899" y="2169882"/>
            <a:ext cx="3386634"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CFEDE6"/>
                </a:solidFill>
                <a:latin typeface="Readex Pro"/>
                <a:ea typeface="Readex Pro"/>
                <a:cs typeface="Readex Pro"/>
              </a:rPr>
              <a:t>3</a:t>
            </a:r>
          </a:p>
        </p:txBody>
      </p:sp>
      <p:sp>
        <p:nvSpPr>
          <p:cNvPr id="14" name="Text 13"/>
          <p:cNvSpPr txBox="1"/>
          <p:nvPr/>
        </p:nvSpPr>
        <p:spPr>
          <a:xfrm>
            <a:off x="812899" y="2673310"/>
            <a:ext cx="3386634"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lang="ar-SA" altLang="en-US">
                <a:solidFill>
                  <a:srgbClr val="FBF8F1"/>
                </a:solidFill>
                <a:latin typeface="Readex Pro"/>
                <a:ea typeface="Readex Pro"/>
                <a:cs typeface="Readex Pro"/>
              </a:rPr>
              <a:t>ثقة تحتاج دليلاً</a:t>
            </a:r>
          </a:p>
        </p:txBody>
      </p:sp>
      <p:sp>
        <p:nvSpPr>
          <p:cNvPr id="15" name="Text 14"/>
          <p:cNvSpPr txBox="1"/>
          <p:nvPr/>
        </p:nvSpPr>
        <p:spPr>
          <a:xfrm>
            <a:off x="812899" y="3080726"/>
            <a:ext cx="3386634" cy="551061"/>
          </a:xfrm>
          <a:prstGeom prst="rect">
            <a:avLst/>
          </a:prstGeom>
          <a:noFill/>
        </p:spPr>
        <p:txBody>
          <a:bodyPr wrap="square" tIns="0" rIns="0" bIns="0" lIns="0" anchor="t" rtlCol="0" anchorCtr="0">
            <a:noAutofit/>
          </a:bodyPr>
          <a:lstStyle/>
          <a:p>
            <a:pPr algn="r" rtl="1">
              <a:lnSpc>
                <a:spcPts val="2170"/>
              </a:lnSpc>
              <a:spcBef>
                <a:spcPts val="0"/>
              </a:spcBef>
              <a:spcAft>
                <a:spcPts val="0"/>
              </a:spcAft>
            </a:pPr>
            <a:r>
              <a:rPr sz="1400" b="0" i="0" lang="ar-SA" altLang="en-US">
                <a:solidFill>
                  <a:srgbClr val="E6F4F0"/>
                </a:solidFill>
                <a:latin typeface="IBM Plex Sans Arabic"/>
                <a:ea typeface="IBM Plex Sans Arabic"/>
                <a:cs typeface="IBM Plex Sans Arabic"/>
              </a:rPr>
              <a:t>الجهات الرقابية والعملاء والشركاء يطلبون إثباتاً لا وعداً: سياسات معتمدة، وأدلة تطبيق، وتقارير تدقيق.</a:t>
            </a:r>
          </a:p>
        </p:txBody>
      </p:sp>
      <p:sp>
        <p:nvSpPr>
          <p:cNvPr id="16" name="Text 15"/>
          <p:cNvSpPr txBox="1"/>
          <p:nvPr/>
        </p:nvSpPr>
        <p:spPr>
          <a:xfrm>
            <a:off x="230878" y="62146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CFEDE6"/>
                </a:solidFill>
                <a:latin typeface="IBM Plex Sans Arabic"/>
                <a:ea typeface="IBM Plex Sans Arabic"/>
                <a:cs typeface="IBM Plex Sans Arabic"/>
              </a:rPr>
              <a:t>كيف تبدأ في GRC · الوحدة 01 · ما هو GRC؟</a:t>
            </a:r>
          </a:p>
        </p:txBody>
      </p:sp>
      <p:sp>
        <p:nvSpPr>
          <p:cNvPr id="17" name="Text 16"/>
          <p:cNvSpPr txBox="1"/>
          <p:nvPr/>
        </p:nvSpPr>
        <p:spPr>
          <a:xfrm>
            <a:off x="721360" y="62146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CFEDE6"/>
                </a:solidFill>
                <a:latin typeface="IBM Plex Sans Arabic"/>
                <a:ea typeface="IBM Plex Sans Arabic"/>
                <a:cs typeface="IBM Plex Sans Arab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622532" y="812800"/>
            <a:ext cx="1756668"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01 · ما هو GRC؟</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أين يقع GRC بين أدوار الأمن السيبراني</a:t>
            </a:r>
          </a:p>
        </p:txBody>
      </p:sp>
      <p:graphicFrame>
        <p:nvGraphicFramePr>
          <p:cNvPr id="5" name="Table 4"/>
          <p:cNvGraphicFramePr>
            <a:graphicFrameLocks noGrp="1"/>
          </p:cNvGraphicFramePr>
          <p:nvPr/>
        </p:nvGraphicFramePr>
        <p:xfrm>
          <a:off x="815975" y="1886545"/>
          <a:ext cx="10560050" cy="1920875"/>
        </p:xfrm>
        <a:graphic>
          <a:graphicData uri="http://schemas.openxmlformats.org/drawingml/2006/table">
            <a:tbl>
              <a:tblPr firstRow="0" bandRow="0" lastRow="0" firstCol="0" lastCol="0" bandCol="0">
                <a:tableStyleId>{2D5ABB26-0587-4C30-8999-92F81FD0307C}</a:tableStyleId>
              </a:tblPr>
              <a:tblGrid>
                <a:gridCol w="2956560"/>
                <a:gridCol w="3168015"/>
                <a:gridCol w="2745740"/>
                <a:gridCol w="1689735"/>
              </a:tblGrid>
              <a:tr h="339725">
                <a:tc>
                  <a:txBody>
                    <a:bodyPr wrap="square"/>
                    <a:lstStyle/>
                    <a:p>
                      <a:pPr algn="r" rtl="1">
                        <a:lnSpc>
                          <a:spcPts val="1750"/>
                        </a:lnSpc>
                        <a:spcBef>
                          <a:spcPts val="0"/>
                        </a:spcBef>
                        <a:spcAft>
                          <a:spcPts val="0"/>
                        </a:spcAft>
                      </a:pPr>
                      <a:r>
                        <a:rPr sz="1250" b="1" i="0" lang="ar-SA" altLang="en-US">
                          <a:solidFill>
                            <a:srgbClr val="F3EFE6"/>
                          </a:solidFill>
                          <a:latin typeface="IBM Plex Sans Arabic"/>
                          <a:ea typeface="IBM Plex Sans Arabic"/>
                          <a:cs typeface="IBM Plex Sans Arabic"/>
                        </a:rPr>
                        <a:t>المهارات الأهم</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750"/>
                        </a:lnSpc>
                        <a:spcBef>
                          <a:spcPts val="0"/>
                        </a:spcBef>
                        <a:spcAft>
                          <a:spcPts val="0"/>
                        </a:spcAft>
                      </a:pPr>
                      <a:r>
                        <a:rPr sz="1250" b="1" i="0" lang="ar-SA" altLang="en-US">
                          <a:solidFill>
                            <a:srgbClr val="F3EFE6"/>
                          </a:solidFill>
                          <a:latin typeface="IBM Plex Sans Arabic"/>
                          <a:ea typeface="IBM Plex Sans Arabic"/>
                          <a:cs typeface="IBM Plex Sans Arabic"/>
                        </a:rPr>
                        <a:t>يوم العمل</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750"/>
                        </a:lnSpc>
                        <a:spcBef>
                          <a:spcPts val="0"/>
                        </a:spcBef>
                        <a:spcAft>
                          <a:spcPts val="0"/>
                        </a:spcAft>
                      </a:pPr>
                      <a:r>
                        <a:rPr sz="1250" b="1" i="0" lang="ar-SA" altLang="en-US">
                          <a:solidFill>
                            <a:srgbClr val="F3EFE6"/>
                          </a:solidFill>
                          <a:latin typeface="IBM Plex Sans Arabic"/>
                          <a:ea typeface="IBM Plex Sans Arabic"/>
                          <a:cs typeface="IBM Plex Sans Arabic"/>
                        </a:rPr>
                        <a:t>السؤال الذي يجيب عنه</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750"/>
                        </a:lnSpc>
                        <a:spcBef>
                          <a:spcPts val="0"/>
                        </a:spcBef>
                        <a:spcAft>
                          <a:spcPts val="0"/>
                        </a:spcAft>
                      </a:pPr>
                      <a:r>
                        <a:rPr sz="1250" b="1" i="0" lang="ar-SA" altLang="en-US">
                          <a:solidFill>
                            <a:srgbClr val="F3EFE6"/>
                          </a:solidFill>
                          <a:latin typeface="IBM Plex Sans Arabic"/>
                          <a:ea typeface="IBM Plex Sans Arabic"/>
                          <a:cs typeface="IBM Plex Sans Arabic"/>
                        </a:rPr>
                        <a:t>الدور</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61975">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الكتابة، والتحليل، وفهم الأطر، والتواصل</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E3F1ED"/>
                    </a:solidFill>
                  </a:tcPr>
                </a:tc>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تقييم فجوات، وسجل مخاطر، وسياسات، ومتابعة أدلة</a:t>
                      </a:r>
                    </a:p>
                  </a:txBody>
                  <a:tcPr marT="66913" marR="95250" marB="44212" marL="5926" anchor="ctr">
                    <a:lnL w="6350">
                      <a:solidFill>
                        <a:srgbClr val="D9D2C2"/>
                      </a:solidFill>
                    </a:lnL>
                    <a:lnR w="6350">
                      <a:solidFill>
                        <a:srgbClr val="D9D2C2"/>
                      </a:solidFill>
                    </a:lnR>
                    <a:lnT w="6350">
                      <a:solidFill>
                        <a:srgbClr val="D9D2C2"/>
                      </a:solidFill>
                    </a:lnT>
                    <a:lnB w="6350">
                      <a:solidFill>
                        <a:srgbClr val="D9D2C2"/>
                      </a:solidFill>
                    </a:lnB>
                    <a:solidFill>
                      <a:srgbClr val="E3F1ED"/>
                    </a:solidFill>
                  </a:tcPr>
                </a:tc>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هل نحمي ما يهم، وهل نلتزم ونثبت؟</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E3F1ED"/>
                    </a:solidFill>
                  </a:tcPr>
                </a:tc>
                <a:tc>
                  <a:txBody>
                    <a:bodyPr wrap="square"/>
                    <a:lstStyle/>
                    <a:p>
                      <a:pPr algn="r" rtl="1">
                        <a:lnSpc>
                          <a:spcPts val="1750"/>
                        </a:lnSpc>
                        <a:spcBef>
                          <a:spcPts val="0"/>
                        </a:spcBef>
                        <a:spcAft>
                          <a:spcPts val="0"/>
                        </a:spcAft>
                      </a:pPr>
                      <a:r>
                        <a:rPr sz="1250" b="1" i="0">
                          <a:solidFill>
                            <a:srgbClr val="172433"/>
                          </a:solidFill>
                          <a:latin typeface="IBM Plex Sans Arabic"/>
                          <a:ea typeface="IBM Plex Sans Arabic"/>
                          <a:cs typeface="IBM Plex Sans Arabic"/>
                        </a:rPr>
                        <a:t>GRC</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E3F1ED"/>
                    </a:solidFill>
                  </a:tcPr>
                </a:tc>
              </a:tr>
              <a:tr h="339725">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الشبكات، والسجلات، والتحليل السريع</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فرز التنبيهات، والتحقيق، والتصعيد</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هل يحدث هجوم الآن؟</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750"/>
                        </a:lnSpc>
                        <a:spcBef>
                          <a:spcPts val="0"/>
                        </a:spcBef>
                        <a:spcAft>
                          <a:spcPts val="0"/>
                        </a:spcAft>
                      </a:pPr>
                      <a:r>
                        <a:rPr sz="1250" b="1" i="0" lang="ar-SA" altLang="en-US">
                          <a:solidFill>
                            <a:srgbClr val="172433"/>
                          </a:solidFill>
                          <a:latin typeface="IBM Plex Sans Arabic"/>
                          <a:ea typeface="IBM Plex Sans Arabic"/>
                          <a:cs typeface="IBM Plex Sans Arabic"/>
                        </a:rPr>
                        <a:t>مركز العمليات</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39725">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الأنظمة، والبرمجة، والتفكير الهجومي</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اختبار الأنظمة واكتشاف الثغرات وكتابة التقارير</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كيف يمكن اختراقنا؟</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750"/>
                        </a:lnSpc>
                        <a:spcBef>
                          <a:spcPts val="0"/>
                        </a:spcBef>
                        <a:spcAft>
                          <a:spcPts val="0"/>
                        </a:spcAft>
                      </a:pPr>
                      <a:r>
                        <a:rPr sz="1250" b="1" i="0" lang="ar-SA" altLang="en-US">
                          <a:solidFill>
                            <a:srgbClr val="172433"/>
                          </a:solidFill>
                          <a:latin typeface="IBM Plex Sans Arabic"/>
                          <a:ea typeface="IBM Plex Sans Arabic"/>
                          <a:cs typeface="IBM Plex Sans Arabic"/>
                        </a:rPr>
                        <a:t>اختبار الاختراق</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39725">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البنية التحتية، والسحابة، والأتمتة</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تصميم الضوابط التقنية وتشغيلها</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كيف نبني الحماية؟</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750"/>
                        </a:lnSpc>
                        <a:spcBef>
                          <a:spcPts val="0"/>
                        </a:spcBef>
                        <a:spcAft>
                          <a:spcPts val="0"/>
                        </a:spcAft>
                      </a:pPr>
                      <a:r>
                        <a:rPr sz="1250" b="1" i="0" lang="ar-SA" altLang="en-US">
                          <a:solidFill>
                            <a:srgbClr val="172433"/>
                          </a:solidFill>
                          <a:latin typeface="IBM Plex Sans Arabic"/>
                          <a:ea typeface="IBM Plex Sans Arabic"/>
                          <a:cs typeface="IBM Plex Sans Arabic"/>
                        </a:rPr>
                        <a:t>هندسة الأمن</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Box 5"/>
          <p:cNvSpPr/>
          <p:nvPr/>
        </p:nvSpPr>
        <p:spPr>
          <a:xfrm>
            <a:off x="812800" y="4039195"/>
            <a:ext cx="10566400" cy="549275"/>
          </a:xfrm>
          <a:prstGeom prst="roundRect">
            <a:avLst>
              <a:gd name="adj" fmla="val 16184"/>
            </a:avLst>
          </a:prstGeom>
          <a:solidFill>
            <a:srgbClr val="FFFDF8"/>
          </a:solidFill>
          <a:ln>
            <a:noFill/>
          </a:ln>
        </p:spPr>
        <p:txBody>
          <a:bodyPr rtlCol="0" anchor="ctr"/>
          <a:lstStyle/>
          <a:p>
            <a:pPr algn="ctr"/>
          </a:p>
        </p:txBody>
      </p:sp>
      <p:sp>
        <p:nvSpPr>
          <p:cNvPr id="7" name="Rule 6"/>
          <p:cNvSpPr/>
          <p:nvPr/>
        </p:nvSpPr>
        <p:spPr>
          <a:xfrm>
            <a:off x="812800" y="4039195"/>
            <a:ext cx="10566400" cy="6350"/>
          </a:xfrm>
          <a:prstGeom prst="rect">
            <a:avLst/>
          </a:prstGeom>
          <a:solidFill>
            <a:srgbClr val="E1DBCD"/>
          </a:solidFill>
          <a:ln>
            <a:noFill/>
          </a:ln>
        </p:spPr>
        <p:txBody>
          <a:bodyPr rtlCol="0" anchor="ctr"/>
          <a:lstStyle/>
          <a:p>
            <a:pPr algn="ctr"/>
          </a:p>
        </p:txBody>
      </p:sp>
      <p:sp>
        <p:nvSpPr>
          <p:cNvPr id="8" name="Rule 7"/>
          <p:cNvSpPr/>
          <p:nvPr/>
        </p:nvSpPr>
        <p:spPr>
          <a:xfrm>
            <a:off x="11328400" y="4039195"/>
            <a:ext cx="50800" cy="549275"/>
          </a:xfrm>
          <a:prstGeom prst="rect">
            <a:avLst/>
          </a:prstGeom>
          <a:solidFill>
            <a:srgbClr val="C27A16"/>
          </a:solidFill>
          <a:ln>
            <a:noFill/>
          </a:ln>
        </p:spPr>
        <p:txBody>
          <a:bodyPr rtlCol="0" anchor="ctr"/>
          <a:lstStyle/>
          <a:p>
            <a:pPr algn="ctr"/>
          </a:p>
        </p:txBody>
      </p:sp>
      <p:sp>
        <p:nvSpPr>
          <p:cNvPr id="9" name="Rule 8"/>
          <p:cNvSpPr/>
          <p:nvPr/>
        </p:nvSpPr>
        <p:spPr>
          <a:xfrm>
            <a:off x="812800" y="4582120"/>
            <a:ext cx="10566400" cy="6350"/>
          </a:xfrm>
          <a:prstGeom prst="rect">
            <a:avLst/>
          </a:prstGeom>
          <a:solidFill>
            <a:srgbClr val="E1DBCD"/>
          </a:solidFill>
          <a:ln>
            <a:noFill/>
          </a:ln>
        </p:spPr>
        <p:txBody>
          <a:bodyPr rtlCol="0" anchor="ctr"/>
          <a:lstStyle/>
          <a:p>
            <a:pPr algn="ctr"/>
          </a:p>
        </p:txBody>
      </p:sp>
      <p:sp>
        <p:nvSpPr>
          <p:cNvPr id="10" name="Rule 9"/>
          <p:cNvSpPr/>
          <p:nvPr/>
        </p:nvSpPr>
        <p:spPr>
          <a:xfrm>
            <a:off x="812800" y="4039195"/>
            <a:ext cx="6350" cy="549275"/>
          </a:xfrm>
          <a:prstGeom prst="rect">
            <a:avLst/>
          </a:prstGeom>
          <a:solidFill>
            <a:srgbClr val="E1DBCD"/>
          </a:solidFill>
          <a:ln>
            <a:noFill/>
          </a:ln>
        </p:spPr>
        <p:txBody>
          <a:bodyPr rtlCol="0" anchor="ctr"/>
          <a:lstStyle/>
          <a:p>
            <a:pPr algn="ctr"/>
          </a:p>
        </p:txBody>
      </p:sp>
      <p:pic>
        <p:nvPicPr>
          <p:cNvPr id="11" name="Icon Lightbulb 10" descr="icon006.png"/>
          <p:cNvPicPr>
            <a:picLocks noChangeAspect="1"/>
          </p:cNvPicPr>
          <p:nvPr/>
        </p:nvPicPr>
        <p:blipFill>
          <a:blip r:embed="rId2"/>
          <a:stretch>
            <a:fillRect/>
          </a:stretch>
        </p:blipFill>
        <p:spPr>
          <a:xfrm>
            <a:off x="10896600" y="4186833"/>
            <a:ext cx="254000" cy="254000"/>
          </a:xfrm>
          <a:prstGeom prst="rect">
            <a:avLst/>
          </a:prstGeom>
        </p:spPr>
      </p:pic>
      <p:sp>
        <p:nvSpPr>
          <p:cNvPr id="12" name="Text 11"/>
          <p:cNvSpPr txBox="1"/>
          <p:nvPr/>
        </p:nvSpPr>
        <p:spPr>
          <a:xfrm>
            <a:off x="838200" y="4150098"/>
            <a:ext cx="9931400" cy="257175"/>
          </a:xfrm>
          <a:prstGeom prst="rect">
            <a:avLst/>
          </a:prstGeom>
          <a:noFill/>
        </p:spPr>
        <p:txBody>
          <a:bodyPr wrap="square" tIns="0" rIns="0" bIns="0" lIns="0" anchor="t" rtlCol="0" anchorCtr="0">
            <a:noAutofit/>
          </a:bodyPr>
          <a:lstStyle/>
          <a:p>
            <a:pPr algn="r" rtl="1">
              <a:lnSpc>
                <a:spcPts val="2025"/>
              </a:lnSpc>
              <a:spcBef>
                <a:spcPts val="0"/>
              </a:spcBef>
              <a:spcAft>
                <a:spcPts val="0"/>
              </a:spcAft>
            </a:pPr>
            <a:r>
              <a:rPr sz="1350" b="0" i="0" lang="ar-SA" altLang="en-US">
                <a:solidFill>
                  <a:srgbClr val="172433"/>
                </a:solidFill>
                <a:latin typeface="IBM Plex Sans Arabic"/>
                <a:ea typeface="IBM Plex Sans Arabic"/>
                <a:cs typeface="IBM Plex Sans Arabic"/>
              </a:rPr>
              <a:t>مختص GRC لا ينفذ الضوابط التقنية بنفسه غالباً، لكنه يجب أن يفهمها بما يكفي ليسأل الأسئلة الصحيحة ويقرأ الدليل.</a:t>
            </a:r>
          </a:p>
        </p:txBody>
      </p:sp>
      <p:sp>
        <p:nvSpPr>
          <p:cNvPr id="13" name="Text 12"/>
          <p:cNvSpPr txBox="1"/>
          <p:nvPr/>
        </p:nvSpPr>
        <p:spPr>
          <a:xfrm>
            <a:off x="230878" y="62146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01 · ما هو GRC؟</a:t>
            </a:r>
          </a:p>
        </p:txBody>
      </p:sp>
      <p:sp>
        <p:nvSpPr>
          <p:cNvPr id="14" name="Text 13"/>
          <p:cNvSpPr txBox="1"/>
          <p:nvPr/>
        </p:nvSpPr>
        <p:spPr>
          <a:xfrm>
            <a:off x="721360" y="62146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622532" y="812800"/>
            <a:ext cx="1756668"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01 · ما هو GRC؟</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يوم في عمل محلل GRC مبتدئ</a:t>
            </a:r>
          </a:p>
        </p:txBody>
      </p:sp>
      <p:sp>
        <p:nvSpPr>
          <p:cNvPr id="5" name="Box 4"/>
          <p:cNvSpPr/>
          <p:nvPr/>
        </p:nvSpPr>
        <p:spPr>
          <a:xfrm>
            <a:off x="812800" y="1908770"/>
            <a:ext cx="10566400" cy="38100"/>
          </a:xfrm>
          <a:prstGeom prst="roundRect">
            <a:avLst>
              <a:gd name="adj" fmla="val 50000"/>
            </a:avLst>
          </a:prstGeom>
          <a:solidFill>
            <a:srgbClr val="CFC6B3"/>
          </a:solidFill>
          <a:ln>
            <a:noFill/>
          </a:ln>
        </p:spPr>
        <p:txBody>
          <a:bodyPr rtlCol="0" anchor="ctr"/>
          <a:lstStyle/>
          <a:p>
            <a:pPr algn="ctr"/>
          </a:p>
        </p:txBody>
      </p:sp>
      <p:sp>
        <p:nvSpPr>
          <p:cNvPr id="6" name="Text 5"/>
          <p:cNvSpPr txBox="1"/>
          <p:nvPr/>
        </p:nvSpPr>
        <p:spPr>
          <a:xfrm>
            <a:off x="9576256" y="2057741"/>
            <a:ext cx="1802944"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1" i="0">
                <a:solidFill>
                  <a:srgbClr val="0E7C6B"/>
                </a:solidFill>
                <a:latin typeface="Readex Pro"/>
                <a:ea typeface="Readex Pro"/>
                <a:cs typeface="Readex Pro"/>
              </a:rPr>
              <a:t>08:00</a:t>
            </a:r>
          </a:p>
        </p:txBody>
      </p:sp>
      <p:sp>
        <p:nvSpPr>
          <p:cNvPr id="7" name="Text 6"/>
          <p:cNvSpPr txBox="1"/>
          <p:nvPr/>
        </p:nvSpPr>
        <p:spPr>
          <a:xfrm>
            <a:off x="9663443" y="2366367"/>
            <a:ext cx="1715757" cy="714375"/>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0" i="0" lang="ar-SA" altLang="en-US">
                <a:solidFill>
                  <a:srgbClr val="172433"/>
                </a:solidFill>
                <a:latin typeface="IBM Plex Sans Arabic"/>
                <a:ea typeface="IBM Plex Sans Arabic"/>
                <a:cs typeface="IBM Plex Sans Arabic"/>
              </a:rPr>
              <a:t>البريد وطلبات الأدلة: ثلاث إدارات أرسلت ملفات، وواحدة تأخرت.</a:t>
            </a:r>
          </a:p>
        </p:txBody>
      </p:sp>
      <p:sp>
        <p:nvSpPr>
          <p:cNvPr id="8" name="Text 7"/>
          <p:cNvSpPr txBox="1"/>
          <p:nvPr/>
        </p:nvSpPr>
        <p:spPr>
          <a:xfrm>
            <a:off x="7796173" y="2057741"/>
            <a:ext cx="1802944"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1" i="0">
                <a:solidFill>
                  <a:srgbClr val="0E7C6B"/>
                </a:solidFill>
                <a:latin typeface="Readex Pro"/>
                <a:ea typeface="Readex Pro"/>
                <a:cs typeface="Readex Pro"/>
              </a:rPr>
              <a:t>09:00</a:t>
            </a:r>
          </a:p>
        </p:txBody>
      </p:sp>
      <p:sp>
        <p:nvSpPr>
          <p:cNvPr id="9" name="Text 8"/>
          <p:cNvSpPr txBox="1"/>
          <p:nvPr/>
        </p:nvSpPr>
        <p:spPr>
          <a:xfrm>
            <a:off x="7883359" y="2366367"/>
            <a:ext cx="1715757" cy="714375"/>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0" i="0" lang="ar-SA" altLang="en-US">
                <a:solidFill>
                  <a:srgbClr val="172433"/>
                </a:solidFill>
                <a:latin typeface="IBM Plex Sans Arabic"/>
                <a:ea typeface="IBM Plex Sans Arabic"/>
                <a:cs typeface="IBM Plex Sans Arabic"/>
              </a:rPr>
              <a:t>اجتماع قصير مع تقنية المعلومات لمتابعة خطة معالجة ثغرات.</a:t>
            </a:r>
          </a:p>
        </p:txBody>
      </p:sp>
      <p:sp>
        <p:nvSpPr>
          <p:cNvPr id="10" name="Text 9"/>
          <p:cNvSpPr txBox="1"/>
          <p:nvPr/>
        </p:nvSpPr>
        <p:spPr>
          <a:xfrm>
            <a:off x="6016089" y="2057741"/>
            <a:ext cx="1802944"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1" i="0">
                <a:solidFill>
                  <a:srgbClr val="0E7C6B"/>
                </a:solidFill>
                <a:latin typeface="Readex Pro"/>
                <a:ea typeface="Readex Pro"/>
                <a:cs typeface="Readex Pro"/>
              </a:rPr>
              <a:t>10:30</a:t>
            </a:r>
          </a:p>
        </p:txBody>
      </p:sp>
      <p:sp>
        <p:nvSpPr>
          <p:cNvPr id="11" name="Text 10"/>
          <p:cNvSpPr txBox="1"/>
          <p:nvPr/>
        </p:nvSpPr>
        <p:spPr>
          <a:xfrm>
            <a:off x="6103276" y="2366367"/>
            <a:ext cx="1715757" cy="476250"/>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0" i="0" lang="ar-SA" altLang="en-US">
                <a:solidFill>
                  <a:srgbClr val="172433"/>
                </a:solidFill>
                <a:latin typeface="IBM Plex Sans Arabic"/>
                <a:ea typeface="IBM Plex Sans Arabic"/>
                <a:cs typeface="IBM Plex Sans Arabic"/>
              </a:rPr>
              <a:t>تحديث سجل المخاطر بخطر جديد من مشروع تطبيق.</a:t>
            </a:r>
          </a:p>
        </p:txBody>
      </p:sp>
      <p:sp>
        <p:nvSpPr>
          <p:cNvPr id="12" name="Text 11"/>
          <p:cNvSpPr txBox="1"/>
          <p:nvPr/>
        </p:nvSpPr>
        <p:spPr>
          <a:xfrm>
            <a:off x="4236006" y="2057741"/>
            <a:ext cx="1802944"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1" i="0">
                <a:solidFill>
                  <a:srgbClr val="0E7C6B"/>
                </a:solidFill>
                <a:latin typeface="Readex Pro"/>
                <a:ea typeface="Readex Pro"/>
                <a:cs typeface="Readex Pro"/>
              </a:rPr>
              <a:t>12:00</a:t>
            </a:r>
          </a:p>
        </p:txBody>
      </p:sp>
      <p:sp>
        <p:nvSpPr>
          <p:cNvPr id="13" name="Text 12"/>
          <p:cNvSpPr txBox="1"/>
          <p:nvPr/>
        </p:nvSpPr>
        <p:spPr>
          <a:xfrm>
            <a:off x="4323192" y="2366367"/>
            <a:ext cx="1715757" cy="714375"/>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0" i="0" lang="ar-SA" altLang="en-US">
                <a:solidFill>
                  <a:srgbClr val="172433"/>
                </a:solidFill>
                <a:latin typeface="IBM Plex Sans Arabic"/>
                <a:ea typeface="IBM Plex Sans Arabic"/>
                <a:cs typeface="IBM Plex Sans Arabic"/>
              </a:rPr>
              <a:t>مراجعة دليل: هل تكفي لقطة الإعداد، أم نطلب سجلات؟</a:t>
            </a:r>
          </a:p>
        </p:txBody>
      </p:sp>
      <p:sp>
        <p:nvSpPr>
          <p:cNvPr id="14" name="Text 13"/>
          <p:cNvSpPr txBox="1"/>
          <p:nvPr/>
        </p:nvSpPr>
        <p:spPr>
          <a:xfrm>
            <a:off x="2455922" y="2057741"/>
            <a:ext cx="1802944"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1" i="0">
                <a:solidFill>
                  <a:srgbClr val="0E7C6B"/>
                </a:solidFill>
                <a:latin typeface="Readex Pro"/>
                <a:ea typeface="Readex Pro"/>
                <a:cs typeface="Readex Pro"/>
              </a:rPr>
              <a:t>14:00</a:t>
            </a:r>
          </a:p>
        </p:txBody>
      </p:sp>
      <p:sp>
        <p:nvSpPr>
          <p:cNvPr id="15" name="Text 14"/>
          <p:cNvSpPr txBox="1"/>
          <p:nvPr/>
        </p:nvSpPr>
        <p:spPr>
          <a:xfrm>
            <a:off x="2543109" y="2366367"/>
            <a:ext cx="1715757" cy="476250"/>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0" i="0" lang="ar-SA" altLang="en-US">
                <a:solidFill>
                  <a:srgbClr val="172433"/>
                </a:solidFill>
                <a:latin typeface="IBM Plex Sans Arabic"/>
                <a:ea typeface="IBM Plex Sans Arabic"/>
                <a:cs typeface="IBM Plex Sans Arabic"/>
              </a:rPr>
              <a:t>مسودة إجراء لمراجعة الصلاحيات دورياً.</a:t>
            </a:r>
          </a:p>
        </p:txBody>
      </p:sp>
      <p:sp>
        <p:nvSpPr>
          <p:cNvPr id="16" name="Text 15"/>
          <p:cNvSpPr txBox="1"/>
          <p:nvPr/>
        </p:nvSpPr>
        <p:spPr>
          <a:xfrm>
            <a:off x="675838" y="2057741"/>
            <a:ext cx="1802944"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1" i="0">
                <a:solidFill>
                  <a:srgbClr val="0E7C6B"/>
                </a:solidFill>
                <a:latin typeface="Readex Pro"/>
                <a:ea typeface="Readex Pro"/>
                <a:cs typeface="Readex Pro"/>
              </a:rPr>
              <a:t>15:30</a:t>
            </a:r>
          </a:p>
        </p:txBody>
      </p:sp>
      <p:sp>
        <p:nvSpPr>
          <p:cNvPr id="17" name="Text 16"/>
          <p:cNvSpPr txBox="1"/>
          <p:nvPr/>
        </p:nvSpPr>
        <p:spPr>
          <a:xfrm>
            <a:off x="763025" y="2366367"/>
            <a:ext cx="1715757" cy="476250"/>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0" i="0" lang="ar-SA" altLang="en-US">
                <a:solidFill>
                  <a:srgbClr val="172433"/>
                </a:solidFill>
                <a:latin typeface="IBM Plex Sans Arabic"/>
                <a:ea typeface="IBM Plex Sans Arabic"/>
                <a:cs typeface="IBM Plex Sans Arabic"/>
              </a:rPr>
              <a:t>شريحتان لتقرير اللجنة: المؤشرات والفجوات.</a:t>
            </a:r>
          </a:p>
        </p:txBody>
      </p:sp>
      <p:sp>
        <p:nvSpPr>
          <p:cNvPr id="18" name="Box 17"/>
          <p:cNvSpPr/>
          <p:nvPr/>
        </p:nvSpPr>
        <p:spPr>
          <a:xfrm>
            <a:off x="6175375" y="3370461"/>
            <a:ext cx="5200650" cy="490538"/>
          </a:xfrm>
          <a:prstGeom prst="roundRect">
            <a:avLst>
              <a:gd name="adj" fmla="val 17891"/>
            </a:avLst>
          </a:prstGeom>
          <a:solidFill>
            <a:srgbClr val="FFFDF8"/>
          </a:solidFill>
          <a:ln w="6350">
            <a:solidFill>
              <a:srgbClr val="E1DBCD"/>
            </a:solidFill>
          </a:ln>
        </p:spPr>
        <p:txBody>
          <a:bodyPr rtlCol="0" anchor="ctr"/>
          <a:lstStyle/>
          <a:p>
            <a:pPr algn="ctr"/>
          </a:p>
        </p:txBody>
      </p:sp>
      <p:pic>
        <p:nvPicPr>
          <p:cNvPr id="19" name="Icon Tool 18" descr="icon007.png"/>
          <p:cNvPicPr>
            <a:picLocks noChangeAspect="1"/>
          </p:cNvPicPr>
          <p:nvPr/>
        </p:nvPicPr>
        <p:blipFill>
          <a:blip r:embed="rId2"/>
          <a:stretch>
            <a:fillRect/>
          </a:stretch>
        </p:blipFill>
        <p:spPr>
          <a:xfrm>
            <a:off x="10991850" y="3501430"/>
            <a:ext cx="228600" cy="228600"/>
          </a:xfrm>
          <a:prstGeom prst="rect">
            <a:avLst/>
          </a:prstGeom>
        </p:spPr>
      </p:pic>
      <p:sp>
        <p:nvSpPr>
          <p:cNvPr id="20" name="Text 19"/>
          <p:cNvSpPr txBox="1"/>
          <p:nvPr/>
        </p:nvSpPr>
        <p:spPr>
          <a:xfrm>
            <a:off x="6197600" y="3472061"/>
            <a:ext cx="4692650"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4E5A66"/>
                </a:solidFill>
                <a:latin typeface="IBM Plex Sans Arabic"/>
                <a:ea typeface="IBM Plex Sans Arabic"/>
                <a:cs typeface="IBM Plex Sans Arabic"/>
              </a:rPr>
              <a:t>الأدوات: Excel وWord وPowerPoint، ونظام التذاكر، وأحياناً منصة GRC.</a:t>
            </a:r>
          </a:p>
        </p:txBody>
      </p:sp>
      <p:sp>
        <p:nvSpPr>
          <p:cNvPr id="21" name="Box 20"/>
          <p:cNvSpPr/>
          <p:nvPr/>
        </p:nvSpPr>
        <p:spPr>
          <a:xfrm>
            <a:off x="815975" y="3370461"/>
            <a:ext cx="5200650" cy="490538"/>
          </a:xfrm>
          <a:prstGeom prst="roundRect">
            <a:avLst>
              <a:gd name="adj" fmla="val 17891"/>
            </a:avLst>
          </a:prstGeom>
          <a:solidFill>
            <a:srgbClr val="FFFDF8"/>
          </a:solidFill>
          <a:ln w="6350">
            <a:solidFill>
              <a:srgbClr val="E1DBCD"/>
            </a:solidFill>
          </a:ln>
        </p:spPr>
        <p:txBody>
          <a:bodyPr rtlCol="0" anchor="ctr"/>
          <a:lstStyle/>
          <a:p>
            <a:pPr algn="ctr"/>
          </a:p>
        </p:txBody>
      </p:sp>
      <p:pic>
        <p:nvPicPr>
          <p:cNvPr id="22" name="Icon Users 21" descr="icon008.png"/>
          <p:cNvPicPr>
            <a:picLocks noChangeAspect="1"/>
          </p:cNvPicPr>
          <p:nvPr/>
        </p:nvPicPr>
        <p:blipFill>
          <a:blip r:embed="rId3"/>
          <a:stretch>
            <a:fillRect/>
          </a:stretch>
        </p:blipFill>
        <p:spPr>
          <a:xfrm>
            <a:off x="5632450" y="3501430"/>
            <a:ext cx="228600" cy="228600"/>
          </a:xfrm>
          <a:prstGeom prst="rect">
            <a:avLst/>
          </a:prstGeom>
        </p:spPr>
      </p:pic>
      <p:sp>
        <p:nvSpPr>
          <p:cNvPr id="23" name="Text 22"/>
          <p:cNvSpPr txBox="1"/>
          <p:nvPr/>
        </p:nvSpPr>
        <p:spPr>
          <a:xfrm>
            <a:off x="838200" y="3472061"/>
            <a:ext cx="4692650"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4E5A66"/>
                </a:solidFill>
                <a:latin typeface="IBM Plex Sans Arabic"/>
                <a:ea typeface="IBM Plex Sans Arabic"/>
                <a:cs typeface="IBM Plex Sans Arabic"/>
              </a:rPr>
              <a:t>من تعمل معهم: التقنية، والموارد البشرية، والمشتريات، والقانونية، والإدارة.</a:t>
            </a:r>
          </a:p>
        </p:txBody>
      </p:sp>
      <p:sp>
        <p:nvSpPr>
          <p:cNvPr id="24" name="Text 23"/>
          <p:cNvSpPr txBox="1"/>
          <p:nvPr/>
        </p:nvSpPr>
        <p:spPr>
          <a:xfrm>
            <a:off x="0" y="4094551"/>
            <a:ext cx="113792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6B7680"/>
                </a:solidFill>
                <a:latin typeface="IBM Plex Sans Arabic"/>
                <a:ea typeface="IBM Plex Sans Arabic"/>
                <a:cs typeface="IBM Plex Sans Arabic"/>
              </a:rPr>
              <a:t>مثال توضيحي؛ اليوم الفعلي يختلف حسب الجهة وحجمها وموسم التقييم.</a:t>
            </a:r>
          </a:p>
        </p:txBody>
      </p:sp>
      <p:sp>
        <p:nvSpPr>
          <p:cNvPr id="25" name="Text 24"/>
          <p:cNvSpPr txBox="1"/>
          <p:nvPr/>
        </p:nvSpPr>
        <p:spPr>
          <a:xfrm>
            <a:off x="230878" y="62146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01 · ما هو GRC؟</a:t>
            </a:r>
          </a:p>
        </p:txBody>
      </p:sp>
      <p:sp>
        <p:nvSpPr>
          <p:cNvPr id="26" name="Text 25"/>
          <p:cNvSpPr txBox="1"/>
          <p:nvPr/>
        </p:nvSpPr>
        <p:spPr>
          <a:xfrm>
            <a:off x="721360" y="62146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DE8D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622532" y="812800"/>
            <a:ext cx="1756668"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01 · ما هو GRC؟</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أربع خرافات تؤخر البداية</a:t>
            </a:r>
          </a:p>
        </p:txBody>
      </p:sp>
      <p:sp>
        <p:nvSpPr>
          <p:cNvPr id="5" name="Box 4"/>
          <p:cNvSpPr/>
          <p:nvPr/>
        </p:nvSpPr>
        <p:spPr>
          <a:xfrm>
            <a:off x="6172200" y="1883370"/>
            <a:ext cx="5207000" cy="1194991"/>
          </a:xfrm>
          <a:prstGeom prst="roundRect">
            <a:avLst>
              <a:gd name="adj" fmla="val 8502"/>
            </a:avLst>
          </a:prstGeom>
          <a:solidFill>
            <a:srgbClr val="FFFDF8"/>
          </a:solidFill>
          <a:ln>
            <a:noFill/>
          </a:ln>
        </p:spPr>
        <p:txBody>
          <a:bodyPr rtlCol="0" anchor="ctr"/>
          <a:lstStyle/>
          <a:p>
            <a:pPr algn="ctr"/>
          </a:p>
        </p:txBody>
      </p:sp>
      <p:sp>
        <p:nvSpPr>
          <p:cNvPr id="6" name="Text 5"/>
          <p:cNvSpPr txBox="1"/>
          <p:nvPr/>
        </p:nvSpPr>
        <p:spPr>
          <a:xfrm>
            <a:off x="6197600" y="2033611"/>
            <a:ext cx="49784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strike="sngStrike" lang="ar-SA" altLang="en-US">
                <a:solidFill>
                  <a:srgbClr val="8A4B12"/>
                </a:solidFill>
                <a:latin typeface="IBM Plex Sans Arabic"/>
                <a:ea typeface="IBM Plex Sans Arabic"/>
                <a:cs typeface="IBM Plex Sans Arabic"/>
              </a:rPr>
              <a:t>«GRC أوراق وسياسات فقط»</a:t>
            </a:r>
          </a:p>
        </p:txBody>
      </p:sp>
      <p:sp>
        <p:nvSpPr>
          <p:cNvPr id="7" name="Text 6"/>
          <p:cNvSpPr txBox="1"/>
          <p:nvPr/>
        </p:nvSpPr>
        <p:spPr>
          <a:xfrm>
            <a:off x="6231382" y="2351064"/>
            <a:ext cx="4944618" cy="514350"/>
          </a:xfrm>
          <a:prstGeom prst="rect">
            <a:avLst/>
          </a:prstGeom>
          <a:noFill/>
        </p:spPr>
        <p:txBody>
          <a:bodyPr wrap="square" tIns="0" rIns="0" bIns="0" lIns="0" anchor="t" rtlCol="0" anchorCtr="0">
            <a:noAutofit/>
          </a:bodyPr>
          <a:lstStyle/>
          <a:p>
            <a:pPr algn="r" rtl="1">
              <a:lnSpc>
                <a:spcPts val="2025"/>
              </a:lnSpc>
              <a:spcBef>
                <a:spcPts val="0"/>
              </a:spcBef>
              <a:spcAft>
                <a:spcPts val="0"/>
              </a:spcAft>
            </a:pPr>
            <a:r>
              <a:rPr sz="1350" b="0" i="0" lang="ar-SA" altLang="en-US">
                <a:solidFill>
                  <a:srgbClr val="172433"/>
                </a:solidFill>
                <a:latin typeface="IBM Plex Sans Arabic"/>
                <a:ea typeface="IBM Plex Sans Arabic"/>
                <a:cs typeface="IBM Plex Sans Arabic"/>
              </a:rPr>
              <a:t>السياسة بداية العمل لا نهايته. الجزء الأكبر هو التحقق من تطبيقها: أدلة، ومقابلات، وأنظمة.</a:t>
            </a:r>
          </a:p>
        </p:txBody>
      </p:sp>
      <p:sp>
        <p:nvSpPr>
          <p:cNvPr id="8" name="Box 7"/>
          <p:cNvSpPr/>
          <p:nvPr/>
        </p:nvSpPr>
        <p:spPr>
          <a:xfrm>
            <a:off x="812800" y="1883370"/>
            <a:ext cx="5207000" cy="1194991"/>
          </a:xfrm>
          <a:prstGeom prst="roundRect">
            <a:avLst>
              <a:gd name="adj" fmla="val 8502"/>
            </a:avLst>
          </a:prstGeom>
          <a:solidFill>
            <a:srgbClr val="FFFDF8"/>
          </a:solidFill>
          <a:ln>
            <a:noFill/>
          </a:ln>
        </p:spPr>
        <p:txBody>
          <a:bodyPr rtlCol="0" anchor="ctr"/>
          <a:lstStyle/>
          <a:p>
            <a:pPr algn="ctr"/>
          </a:p>
        </p:txBody>
      </p:sp>
      <p:sp>
        <p:nvSpPr>
          <p:cNvPr id="9" name="Text 8"/>
          <p:cNvSpPr txBox="1"/>
          <p:nvPr/>
        </p:nvSpPr>
        <p:spPr>
          <a:xfrm>
            <a:off x="838200" y="2033611"/>
            <a:ext cx="49784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strike="sngStrike" lang="ar-SA" altLang="en-US">
                <a:solidFill>
                  <a:srgbClr val="8A4B12"/>
                </a:solidFill>
                <a:latin typeface="IBM Plex Sans Arabic"/>
                <a:ea typeface="IBM Plex Sans Arabic"/>
                <a:cs typeface="IBM Plex Sans Arabic"/>
              </a:rPr>
              <a:t>«لا يحتاج أي معرفة تقنية»</a:t>
            </a:r>
          </a:p>
        </p:txBody>
      </p:sp>
      <p:sp>
        <p:nvSpPr>
          <p:cNvPr id="10" name="Text 9"/>
          <p:cNvSpPr txBox="1"/>
          <p:nvPr/>
        </p:nvSpPr>
        <p:spPr>
          <a:xfrm>
            <a:off x="871982" y="2351064"/>
            <a:ext cx="4944618" cy="514350"/>
          </a:xfrm>
          <a:prstGeom prst="rect">
            <a:avLst/>
          </a:prstGeom>
          <a:noFill/>
        </p:spPr>
        <p:txBody>
          <a:bodyPr wrap="square" tIns="0" rIns="0" bIns="0" lIns="0" anchor="t" rtlCol="0" anchorCtr="0">
            <a:noAutofit/>
          </a:bodyPr>
          <a:lstStyle/>
          <a:p>
            <a:pPr algn="r" rtl="1">
              <a:lnSpc>
                <a:spcPts val="2025"/>
              </a:lnSpc>
              <a:spcBef>
                <a:spcPts val="0"/>
              </a:spcBef>
              <a:spcAft>
                <a:spcPts val="0"/>
              </a:spcAft>
            </a:pPr>
            <a:r>
              <a:rPr sz="1350" b="0" i="0" lang="ar-SA" altLang="en-US">
                <a:solidFill>
                  <a:srgbClr val="172433"/>
                </a:solidFill>
                <a:latin typeface="IBM Plex Sans Arabic"/>
                <a:ea typeface="IBM Plex Sans Arabic"/>
                <a:cs typeface="IBM Plex Sans Arabic"/>
              </a:rPr>
              <a:t>تحتاج أساسيات تكفي لتسأل وتفهم الدليل: الشبكات، والهويات، والسجلات، والسحابة.</a:t>
            </a:r>
          </a:p>
        </p:txBody>
      </p:sp>
      <p:sp>
        <p:nvSpPr>
          <p:cNvPr id="11" name="Box 10"/>
          <p:cNvSpPr/>
          <p:nvPr/>
        </p:nvSpPr>
        <p:spPr>
          <a:xfrm>
            <a:off x="6172200" y="3230761"/>
            <a:ext cx="5207000" cy="1194991"/>
          </a:xfrm>
          <a:prstGeom prst="roundRect">
            <a:avLst>
              <a:gd name="adj" fmla="val 8502"/>
            </a:avLst>
          </a:prstGeom>
          <a:solidFill>
            <a:srgbClr val="FFFDF8"/>
          </a:solidFill>
          <a:ln>
            <a:noFill/>
          </a:ln>
        </p:spPr>
        <p:txBody>
          <a:bodyPr rtlCol="0" anchor="ctr"/>
          <a:lstStyle/>
          <a:p>
            <a:pPr algn="ctr"/>
          </a:p>
        </p:txBody>
      </p:sp>
      <p:sp>
        <p:nvSpPr>
          <p:cNvPr id="12" name="Text 11"/>
          <p:cNvSpPr txBox="1"/>
          <p:nvPr/>
        </p:nvSpPr>
        <p:spPr>
          <a:xfrm>
            <a:off x="6197600" y="3381002"/>
            <a:ext cx="49784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strike="sngStrike" lang="ar-SA" altLang="en-US">
                <a:solidFill>
                  <a:srgbClr val="8A4B12"/>
                </a:solidFill>
                <a:latin typeface="IBM Plex Sans Arabic"/>
                <a:ea typeface="IBM Plex Sans Arabic"/>
                <a:cs typeface="IBM Plex Sans Arabic"/>
              </a:rPr>
              <a:t>«لا يدخله إلا أصحاب الخبرة الطويلة»</a:t>
            </a:r>
          </a:p>
        </p:txBody>
      </p:sp>
      <p:sp>
        <p:nvSpPr>
          <p:cNvPr id="13" name="Text 12"/>
          <p:cNvSpPr txBox="1"/>
          <p:nvPr/>
        </p:nvSpPr>
        <p:spPr>
          <a:xfrm>
            <a:off x="6231382" y="3698454"/>
            <a:ext cx="4944618" cy="514350"/>
          </a:xfrm>
          <a:prstGeom prst="rect">
            <a:avLst/>
          </a:prstGeom>
          <a:noFill/>
        </p:spPr>
        <p:txBody>
          <a:bodyPr wrap="square" tIns="0" rIns="0" bIns="0" lIns="0" anchor="t" rtlCol="0" anchorCtr="0">
            <a:noAutofit/>
          </a:bodyPr>
          <a:lstStyle/>
          <a:p>
            <a:pPr algn="r" rtl="1">
              <a:lnSpc>
                <a:spcPts val="2025"/>
              </a:lnSpc>
              <a:spcBef>
                <a:spcPts val="0"/>
              </a:spcBef>
              <a:spcAft>
                <a:spcPts val="0"/>
              </a:spcAft>
            </a:pPr>
            <a:r>
              <a:rPr sz="1350" b="0" i="0" lang="ar-SA" altLang="en-US">
                <a:solidFill>
                  <a:srgbClr val="172433"/>
                </a:solidFill>
                <a:latin typeface="IBM Plex Sans Arabic"/>
                <a:ea typeface="IBM Plex Sans Arabic"/>
                <a:cs typeface="IBM Plex Sans Arabic"/>
              </a:rPr>
              <a:t>توجد وظائف مبتدئة مثل محلل أو مساعد امتثال، والمشاريع الشخصية تعوض جزءاً من الخبرة.</a:t>
            </a:r>
          </a:p>
        </p:txBody>
      </p:sp>
      <p:sp>
        <p:nvSpPr>
          <p:cNvPr id="14" name="Box 13"/>
          <p:cNvSpPr/>
          <p:nvPr/>
        </p:nvSpPr>
        <p:spPr>
          <a:xfrm>
            <a:off x="812800" y="3230761"/>
            <a:ext cx="5207000" cy="1194991"/>
          </a:xfrm>
          <a:prstGeom prst="roundRect">
            <a:avLst>
              <a:gd name="adj" fmla="val 8502"/>
            </a:avLst>
          </a:prstGeom>
          <a:solidFill>
            <a:srgbClr val="FFFDF8"/>
          </a:solidFill>
          <a:ln>
            <a:noFill/>
          </a:ln>
        </p:spPr>
        <p:txBody>
          <a:bodyPr rtlCol="0" anchor="ctr"/>
          <a:lstStyle/>
          <a:p>
            <a:pPr algn="ctr"/>
          </a:p>
        </p:txBody>
      </p:sp>
      <p:sp>
        <p:nvSpPr>
          <p:cNvPr id="15" name="Text 14"/>
          <p:cNvSpPr txBox="1"/>
          <p:nvPr/>
        </p:nvSpPr>
        <p:spPr>
          <a:xfrm>
            <a:off x="838200" y="3381002"/>
            <a:ext cx="49784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strike="sngStrike" lang="ar-SA" altLang="en-US">
                <a:solidFill>
                  <a:srgbClr val="8A4B12"/>
                </a:solidFill>
                <a:latin typeface="IBM Plex Sans Arabic"/>
                <a:ea typeface="IBM Plex Sans Arabic"/>
                <a:cs typeface="IBM Plex Sans Arabic"/>
              </a:rPr>
              <a:t>«تكفي شهادة واحدة»</a:t>
            </a:r>
          </a:p>
        </p:txBody>
      </p:sp>
      <p:sp>
        <p:nvSpPr>
          <p:cNvPr id="16" name="Text 15"/>
          <p:cNvSpPr txBox="1"/>
          <p:nvPr/>
        </p:nvSpPr>
        <p:spPr>
          <a:xfrm>
            <a:off x="838200" y="3698454"/>
            <a:ext cx="4978400" cy="257175"/>
          </a:xfrm>
          <a:prstGeom prst="rect">
            <a:avLst/>
          </a:prstGeom>
          <a:noFill/>
        </p:spPr>
        <p:txBody>
          <a:bodyPr wrap="square" tIns="0" rIns="0" bIns="0" lIns="0" anchor="t" rtlCol="0" anchorCtr="0">
            <a:noAutofit/>
          </a:bodyPr>
          <a:lstStyle/>
          <a:p>
            <a:pPr algn="r" rtl="1">
              <a:lnSpc>
                <a:spcPts val="2025"/>
              </a:lnSpc>
              <a:spcBef>
                <a:spcPts val="0"/>
              </a:spcBef>
              <a:spcAft>
                <a:spcPts val="0"/>
              </a:spcAft>
            </a:pPr>
            <a:r>
              <a:rPr sz="1350" b="0" i="0" lang="ar-SA" altLang="en-US">
                <a:solidFill>
                  <a:srgbClr val="172433"/>
                </a:solidFill>
                <a:latin typeface="IBM Plex Sans Arabic"/>
                <a:ea typeface="IBM Plex Sans Arabic"/>
                <a:cs typeface="IBM Plex Sans Arabic"/>
              </a:rPr>
              <a:t>الشهادة تفتح باب المقابلة. ما يقنع المقابِل هو أن تشرح مثالاً عملياً بلغتك.</a:t>
            </a:r>
          </a:p>
        </p:txBody>
      </p:sp>
      <p:sp>
        <p:nvSpPr>
          <p:cNvPr id="17" name="Text 16"/>
          <p:cNvSpPr txBox="1"/>
          <p:nvPr/>
        </p:nvSpPr>
        <p:spPr>
          <a:xfrm>
            <a:off x="230878" y="62146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01 · ما هو GRC؟</a:t>
            </a:r>
          </a:p>
        </p:txBody>
      </p:sp>
      <p:sp>
        <p:nvSpPr>
          <p:cNvPr id="18" name="Text 17"/>
          <p:cNvSpPr txBox="1"/>
          <p:nvPr/>
        </p:nvSpPr>
        <p:spPr>
          <a:xfrm>
            <a:off x="721360" y="62146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67701" y="1940620"/>
            <a:ext cx="2311499"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02</a:t>
            </a:r>
          </a:p>
        </p:txBody>
      </p:sp>
      <p:sp>
        <p:nvSpPr>
          <p:cNvPr id="4" name="Text 3"/>
          <p:cNvSpPr txBox="1"/>
          <p:nvPr/>
        </p:nvSpPr>
        <p:spPr>
          <a:xfrm>
            <a:off x="5138400" y="2362085"/>
            <a:ext cx="4437301"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lang="ar-SA" altLang="en-US">
                <a:solidFill>
                  <a:srgbClr val="F3EFE6"/>
                </a:solidFill>
                <a:latin typeface="Readex Pro"/>
                <a:ea typeface="Readex Pro"/>
                <a:cs typeface="Readex Pro"/>
              </a:rPr>
              <a:t>الأساس التقني</a:t>
            </a:r>
          </a:p>
        </p:txBody>
      </p:sp>
      <p:sp>
        <p:nvSpPr>
          <p:cNvPr id="5" name="Text 4"/>
          <p:cNvSpPr txBox="1"/>
          <p:nvPr/>
        </p:nvSpPr>
        <p:spPr>
          <a:xfrm>
            <a:off x="101600" y="3309807"/>
            <a:ext cx="96012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lang="ar-SA" altLang="en-US">
                <a:solidFill>
                  <a:srgbClr val="D9E2E6"/>
                </a:solidFill>
                <a:latin typeface="IBM Plex Sans Arabic"/>
                <a:ea typeface="IBM Plex Sans Arabic"/>
                <a:cs typeface="IBM Plex Sans Arabic"/>
              </a:rPr>
              <a:t>لا تحتاج أن تكون مهندساً، لكنك تحتاج أن تفهم ما تقيّمه. ستة موضوعات قصيرة، ولكل مفهوم أربعة أسئلة.</a:t>
            </a:r>
          </a:p>
        </p:txBody>
      </p:sp>
      <p:sp>
        <p:nvSpPr>
          <p:cNvPr id="6" name="Text box 5"/>
          <p:cNvSpPr/>
          <p:nvPr/>
        </p:nvSpPr>
        <p:spPr>
          <a:xfrm>
            <a:off x="9194105" y="3953570"/>
            <a:ext cx="1143695"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الأسئلة الأربعة</a:t>
            </a:r>
          </a:p>
        </p:txBody>
      </p:sp>
      <p:sp>
        <p:nvSpPr>
          <p:cNvPr id="7" name="Text box 6"/>
          <p:cNvSpPr/>
          <p:nvPr/>
        </p:nvSpPr>
        <p:spPr>
          <a:xfrm>
            <a:off x="7558286" y="3953570"/>
            <a:ext cx="1534220"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الهويات والصلاحيات</a:t>
            </a:r>
          </a:p>
        </p:txBody>
      </p:sp>
      <p:sp>
        <p:nvSpPr>
          <p:cNvPr id="8" name="Text box 7"/>
          <p:cNvSpPr/>
          <p:nvPr/>
        </p:nvSpPr>
        <p:spPr>
          <a:xfrm>
            <a:off x="6284416" y="3953570"/>
            <a:ext cx="1172270"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الدليل المركزي</a:t>
            </a:r>
          </a:p>
        </p:txBody>
      </p:sp>
      <p:sp>
        <p:nvSpPr>
          <p:cNvPr id="9" name="Text box 8"/>
          <p:cNvSpPr/>
          <p:nvPr/>
        </p:nvSpPr>
        <p:spPr>
          <a:xfrm>
            <a:off x="4678065" y="3953570"/>
            <a:ext cx="1504752"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الشبكات والسجلات</a:t>
            </a:r>
          </a:p>
        </p:txBody>
      </p:sp>
      <p:sp>
        <p:nvSpPr>
          <p:cNvPr id="10" name="Text box 9"/>
          <p:cNvSpPr/>
          <p:nvPr/>
        </p:nvSpPr>
        <p:spPr>
          <a:xfrm>
            <a:off x="3779242" y="3953570"/>
            <a:ext cx="797223"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السحابة</a:t>
            </a:r>
          </a:p>
        </p:txBody>
      </p:sp>
      <p:sp>
        <p:nvSpPr>
          <p:cNvPr id="11" name="Text box 10"/>
          <p:cNvSpPr/>
          <p:nvPr/>
        </p:nvSpPr>
        <p:spPr>
          <a:xfrm>
            <a:off x="2930525" y="3953570"/>
            <a:ext cx="747117"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الحماية</a:t>
            </a:r>
          </a:p>
        </p:txBody>
      </p:sp>
      <p:sp>
        <p:nvSpPr>
          <p:cNvPr id="12" name="Text box 11"/>
          <p:cNvSpPr/>
          <p:nvPr/>
        </p:nvSpPr>
        <p:spPr>
          <a:xfrm>
            <a:off x="1447602" y="3953570"/>
            <a:ext cx="1381323"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التطبيقات والتغيير</a:t>
            </a:r>
          </a:p>
        </p:txBody>
      </p:sp>
      <p:sp>
        <p:nvSpPr>
          <p:cNvPr id="13" name="Text box 12"/>
          <p:cNvSpPr/>
          <p:nvPr/>
        </p:nvSpPr>
        <p:spPr>
          <a:xfrm>
            <a:off x="9256812" y="4413250"/>
            <a:ext cx="1080988"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تمرين وإجابة</a:t>
            </a:r>
          </a:p>
        </p:txBody>
      </p:sp>
      <p:sp>
        <p:nvSpPr>
          <p:cNvPr id="14" name="Text 13"/>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93A3B1"/>
                </a:solidFill>
                <a:latin typeface="IBM Plex Sans Arabic"/>
                <a:ea typeface="IBM Plex Sans Arabic"/>
                <a:cs typeface="IBM Plex Sans Arabic"/>
              </a:rPr>
              <a:t>كيف تبدأ في GRC · الوحدة 02 · الأساس التقني</a:t>
            </a:r>
          </a:p>
        </p:txBody>
      </p:sp>
      <p:sp>
        <p:nvSpPr>
          <p:cNvPr id="15" name="Text 14"/>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02 · الأساس التقني</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أربعة أسئلة لكل مفهوم تقني</a:t>
            </a:r>
          </a:p>
        </p:txBody>
      </p:sp>
      <p:sp>
        <p:nvSpPr>
          <p:cNvPr id="5" name="Rule 4"/>
          <p:cNvSpPr/>
          <p:nvPr/>
        </p:nvSpPr>
        <p:spPr>
          <a:xfrm>
            <a:off x="9008170" y="1696045"/>
            <a:ext cx="2371030" cy="31750"/>
          </a:xfrm>
          <a:prstGeom prst="rect">
            <a:avLst/>
          </a:prstGeom>
          <a:solidFill>
            <a:srgbClr val="0E7C6B"/>
          </a:solidFill>
          <a:ln>
            <a:noFill/>
          </a:ln>
        </p:spPr>
        <p:txBody>
          <a:bodyPr rtlCol="0" anchor="ctr"/>
          <a:lstStyle/>
          <a:p>
            <a:pPr algn="ctr"/>
          </a:p>
        </p:txBody>
      </p:sp>
      <p:sp>
        <p:nvSpPr>
          <p:cNvPr id="6" name="Text 5"/>
          <p:cNvSpPr txBox="1"/>
          <p:nvPr/>
        </p:nvSpPr>
        <p:spPr>
          <a:xfrm>
            <a:off x="9033570" y="1863304"/>
            <a:ext cx="2307530" cy="335260"/>
          </a:xfrm>
          <a:prstGeom prst="rect">
            <a:avLst/>
          </a:prstGeom>
          <a:noFill/>
        </p:spPr>
        <p:txBody>
          <a:bodyPr wrap="square" tIns="0" rIns="0" bIns="0" lIns="0" anchor="t" rtlCol="0" anchorCtr="0">
            <a:noAutofit/>
          </a:bodyPr>
          <a:lstStyle/>
          <a:p>
            <a:pPr algn="r" rtl="1">
              <a:lnSpc>
                <a:spcPts val="2640"/>
              </a:lnSpc>
              <a:spcBef>
                <a:spcPts val="0"/>
              </a:spcBef>
              <a:spcAft>
                <a:spcPts val="0"/>
              </a:spcAft>
            </a:pPr>
            <a:r>
              <a:rPr sz="2200" b="1" i="0" lang="ar-SA" altLang="en-US">
                <a:solidFill>
                  <a:srgbClr val="0E7C6B"/>
                </a:solidFill>
                <a:latin typeface="Readex Pro"/>
                <a:ea typeface="Readex Pro"/>
                <a:cs typeface="Readex Pro"/>
              </a:rPr>
              <a:t>ما هو؟</a:t>
            </a:r>
          </a:p>
        </p:txBody>
      </p:sp>
      <p:sp>
        <p:nvSpPr>
          <p:cNvPr id="7" name="Text 6"/>
          <p:cNvSpPr txBox="1"/>
          <p:nvPr/>
        </p:nvSpPr>
        <p:spPr>
          <a:xfrm>
            <a:off x="9033570" y="2220535"/>
            <a:ext cx="230753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172433"/>
                </a:solidFill>
                <a:latin typeface="IBM Plex Sans Arabic"/>
                <a:ea typeface="IBM Plex Sans Arabic"/>
                <a:cs typeface="IBM Plex Sans Arabic"/>
              </a:rPr>
              <a:t>تعريف بجملة، بلا تفاصيل إعداد.</a:t>
            </a:r>
          </a:p>
        </p:txBody>
      </p:sp>
      <p:sp>
        <p:nvSpPr>
          <p:cNvPr id="8" name="Text 7"/>
          <p:cNvSpPr txBox="1"/>
          <p:nvPr/>
        </p:nvSpPr>
        <p:spPr>
          <a:xfrm>
            <a:off x="9033570" y="3020635"/>
            <a:ext cx="230753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4E5A66"/>
                </a:solidFill>
                <a:latin typeface="IBM Plex Sans Arabic"/>
                <a:ea typeface="IBM Plex Sans Arabic"/>
                <a:cs typeface="IBM Plex Sans Arabic"/>
              </a:rPr>
              <a:t>مثال: MFA: عامل ثانٍ مع كلمة المرور.</a:t>
            </a:r>
          </a:p>
        </p:txBody>
      </p:sp>
      <p:sp>
        <p:nvSpPr>
          <p:cNvPr id="9" name="Text 8"/>
          <p:cNvSpPr txBox="1"/>
          <p:nvPr/>
        </p:nvSpPr>
        <p:spPr>
          <a:xfrm>
            <a:off x="8571210" y="2830731"/>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0" name="Rule 9"/>
          <p:cNvSpPr/>
          <p:nvPr/>
        </p:nvSpPr>
        <p:spPr>
          <a:xfrm>
            <a:off x="6276380" y="1696045"/>
            <a:ext cx="2371030" cy="31750"/>
          </a:xfrm>
          <a:prstGeom prst="rect">
            <a:avLst/>
          </a:prstGeom>
          <a:solidFill>
            <a:srgbClr val="B4412C"/>
          </a:solidFill>
          <a:ln>
            <a:noFill/>
          </a:ln>
        </p:spPr>
        <p:txBody>
          <a:bodyPr rtlCol="0" anchor="ctr"/>
          <a:lstStyle/>
          <a:p>
            <a:pPr algn="ctr"/>
          </a:p>
        </p:txBody>
      </p:sp>
      <p:sp>
        <p:nvSpPr>
          <p:cNvPr id="11" name="Text 10"/>
          <p:cNvSpPr txBox="1"/>
          <p:nvPr/>
        </p:nvSpPr>
        <p:spPr>
          <a:xfrm>
            <a:off x="6301780" y="1863304"/>
            <a:ext cx="2307530" cy="335260"/>
          </a:xfrm>
          <a:prstGeom prst="rect">
            <a:avLst/>
          </a:prstGeom>
          <a:noFill/>
        </p:spPr>
        <p:txBody>
          <a:bodyPr wrap="square" tIns="0" rIns="0" bIns="0" lIns="0" anchor="t" rtlCol="0" anchorCtr="0">
            <a:noAutofit/>
          </a:bodyPr>
          <a:lstStyle/>
          <a:p>
            <a:pPr algn="r" rtl="1">
              <a:lnSpc>
                <a:spcPts val="2640"/>
              </a:lnSpc>
              <a:spcBef>
                <a:spcPts val="0"/>
              </a:spcBef>
              <a:spcAft>
                <a:spcPts val="0"/>
              </a:spcAft>
            </a:pPr>
            <a:r>
              <a:rPr sz="2200" b="1" i="0" lang="ar-SA" altLang="en-US">
                <a:solidFill>
                  <a:srgbClr val="B4412C"/>
                </a:solidFill>
                <a:latin typeface="Readex Pro"/>
                <a:ea typeface="Readex Pro"/>
                <a:cs typeface="Readex Pro"/>
              </a:rPr>
              <a:t>ما الخطر؟</a:t>
            </a:r>
          </a:p>
        </p:txBody>
      </p:sp>
      <p:sp>
        <p:nvSpPr>
          <p:cNvPr id="12" name="Text 11"/>
          <p:cNvSpPr txBox="1"/>
          <p:nvPr/>
        </p:nvSpPr>
        <p:spPr>
          <a:xfrm>
            <a:off x="6301780" y="2220535"/>
            <a:ext cx="230753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172433"/>
                </a:solidFill>
                <a:latin typeface="IBM Plex Sans Arabic"/>
                <a:ea typeface="IBM Plex Sans Arabic"/>
                <a:cs typeface="IBM Plex Sans Arabic"/>
              </a:rPr>
              <a:t>ما الذي قد يحدث لو غاب أو ضعف؟</a:t>
            </a:r>
          </a:p>
        </p:txBody>
      </p:sp>
      <p:sp>
        <p:nvSpPr>
          <p:cNvPr id="13" name="Text 12"/>
          <p:cNvSpPr txBox="1"/>
          <p:nvPr/>
        </p:nvSpPr>
        <p:spPr>
          <a:xfrm>
            <a:off x="6301780" y="3020635"/>
            <a:ext cx="230753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4E5A66"/>
                </a:solidFill>
                <a:latin typeface="IBM Plex Sans Arabic"/>
                <a:ea typeface="IBM Plex Sans Arabic"/>
                <a:cs typeface="IBM Plex Sans Arabic"/>
              </a:rPr>
              <a:t>مثال: كلمة مرور مسروقة تكفي للدخول.</a:t>
            </a:r>
          </a:p>
        </p:txBody>
      </p:sp>
      <p:sp>
        <p:nvSpPr>
          <p:cNvPr id="14" name="Text 13"/>
          <p:cNvSpPr txBox="1"/>
          <p:nvPr/>
        </p:nvSpPr>
        <p:spPr>
          <a:xfrm>
            <a:off x="5839420" y="2830731"/>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5" name="Rule 14"/>
          <p:cNvSpPr/>
          <p:nvPr/>
        </p:nvSpPr>
        <p:spPr>
          <a:xfrm>
            <a:off x="3544590" y="1696045"/>
            <a:ext cx="2371030" cy="31750"/>
          </a:xfrm>
          <a:prstGeom prst="rect">
            <a:avLst/>
          </a:prstGeom>
          <a:solidFill>
            <a:srgbClr val="24506B"/>
          </a:solidFill>
          <a:ln>
            <a:noFill/>
          </a:ln>
        </p:spPr>
        <p:txBody>
          <a:bodyPr rtlCol="0" anchor="ctr"/>
          <a:lstStyle/>
          <a:p>
            <a:pPr algn="ctr"/>
          </a:p>
        </p:txBody>
      </p:sp>
      <p:sp>
        <p:nvSpPr>
          <p:cNvPr id="16" name="Text 15"/>
          <p:cNvSpPr txBox="1"/>
          <p:nvPr/>
        </p:nvSpPr>
        <p:spPr>
          <a:xfrm>
            <a:off x="3569990" y="1863304"/>
            <a:ext cx="2307530" cy="335260"/>
          </a:xfrm>
          <a:prstGeom prst="rect">
            <a:avLst/>
          </a:prstGeom>
          <a:noFill/>
        </p:spPr>
        <p:txBody>
          <a:bodyPr wrap="square" tIns="0" rIns="0" bIns="0" lIns="0" anchor="t" rtlCol="0" anchorCtr="0">
            <a:noAutofit/>
          </a:bodyPr>
          <a:lstStyle/>
          <a:p>
            <a:pPr algn="r" rtl="1">
              <a:lnSpc>
                <a:spcPts val="2640"/>
              </a:lnSpc>
              <a:spcBef>
                <a:spcPts val="0"/>
              </a:spcBef>
              <a:spcAft>
                <a:spcPts val="0"/>
              </a:spcAft>
            </a:pPr>
            <a:r>
              <a:rPr sz="2200" b="1" i="0" lang="ar-SA" altLang="en-US">
                <a:solidFill>
                  <a:srgbClr val="24506B"/>
                </a:solidFill>
                <a:latin typeface="Readex Pro"/>
                <a:ea typeface="Readex Pro"/>
                <a:cs typeface="Readex Pro"/>
              </a:rPr>
              <a:t>ما الضابط؟</a:t>
            </a:r>
          </a:p>
        </p:txBody>
      </p:sp>
      <p:sp>
        <p:nvSpPr>
          <p:cNvPr id="17" name="Text 16"/>
          <p:cNvSpPr txBox="1"/>
          <p:nvPr/>
        </p:nvSpPr>
        <p:spPr>
          <a:xfrm>
            <a:off x="3569990" y="2220535"/>
            <a:ext cx="230753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172433"/>
                </a:solidFill>
                <a:latin typeface="IBM Plex Sans Arabic"/>
                <a:ea typeface="IBM Plex Sans Arabic"/>
                <a:cs typeface="IBM Plex Sans Arabic"/>
              </a:rPr>
              <a:t>ما الذي يعالج الخطر، ومن أي مرجع؟</a:t>
            </a:r>
          </a:p>
        </p:txBody>
      </p:sp>
      <p:sp>
        <p:nvSpPr>
          <p:cNvPr id="18" name="Text 17"/>
          <p:cNvSpPr txBox="1"/>
          <p:nvPr/>
        </p:nvSpPr>
        <p:spPr>
          <a:xfrm>
            <a:off x="3569990" y="3020635"/>
            <a:ext cx="2307530" cy="11049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4E5A66"/>
                </a:solidFill>
                <a:latin typeface="IBM Plex Sans Arabic"/>
                <a:ea typeface="IBM Plex Sans Arabic"/>
                <a:cs typeface="IBM Plex Sans Arabic"/>
              </a:rPr>
              <a:t>مثال: MFA إلزامي للدخول عن بعد: ECC 2-⁠2-⁠3-⁠2.</a:t>
            </a:r>
          </a:p>
        </p:txBody>
      </p:sp>
      <p:sp>
        <p:nvSpPr>
          <p:cNvPr id="19" name="Text 18"/>
          <p:cNvSpPr txBox="1"/>
          <p:nvPr/>
        </p:nvSpPr>
        <p:spPr>
          <a:xfrm>
            <a:off x="3107630" y="2830731"/>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20" name="Rule 19"/>
          <p:cNvSpPr/>
          <p:nvPr/>
        </p:nvSpPr>
        <p:spPr>
          <a:xfrm>
            <a:off x="812800" y="1696045"/>
            <a:ext cx="2371030" cy="31750"/>
          </a:xfrm>
          <a:prstGeom prst="rect">
            <a:avLst/>
          </a:prstGeom>
          <a:solidFill>
            <a:srgbClr val="8A4B12"/>
          </a:solidFill>
          <a:ln>
            <a:noFill/>
          </a:ln>
        </p:spPr>
        <p:txBody>
          <a:bodyPr rtlCol="0" anchor="ctr"/>
          <a:lstStyle/>
          <a:p>
            <a:pPr algn="ctr"/>
          </a:p>
        </p:txBody>
      </p:sp>
      <p:sp>
        <p:nvSpPr>
          <p:cNvPr id="21" name="Text 20"/>
          <p:cNvSpPr txBox="1"/>
          <p:nvPr/>
        </p:nvSpPr>
        <p:spPr>
          <a:xfrm>
            <a:off x="838200" y="1863304"/>
            <a:ext cx="2307530" cy="335260"/>
          </a:xfrm>
          <a:prstGeom prst="rect">
            <a:avLst/>
          </a:prstGeom>
          <a:noFill/>
        </p:spPr>
        <p:txBody>
          <a:bodyPr wrap="square" tIns="0" rIns="0" bIns="0" lIns="0" anchor="t" rtlCol="0" anchorCtr="0">
            <a:noAutofit/>
          </a:bodyPr>
          <a:lstStyle/>
          <a:p>
            <a:pPr algn="r" rtl="1">
              <a:lnSpc>
                <a:spcPts val="2640"/>
              </a:lnSpc>
              <a:spcBef>
                <a:spcPts val="0"/>
              </a:spcBef>
              <a:spcAft>
                <a:spcPts val="0"/>
              </a:spcAft>
            </a:pPr>
            <a:r>
              <a:rPr sz="2200" b="1" i="0" lang="ar-SA" altLang="en-US">
                <a:solidFill>
                  <a:srgbClr val="8A4B12"/>
                </a:solidFill>
                <a:latin typeface="Readex Pro"/>
                <a:ea typeface="Readex Pro"/>
                <a:cs typeface="Readex Pro"/>
              </a:rPr>
              <a:t>ما الدليل؟</a:t>
            </a:r>
          </a:p>
        </p:txBody>
      </p:sp>
      <p:sp>
        <p:nvSpPr>
          <p:cNvPr id="22" name="Text 21"/>
          <p:cNvSpPr txBox="1"/>
          <p:nvPr/>
        </p:nvSpPr>
        <p:spPr>
          <a:xfrm>
            <a:off x="838200" y="2220535"/>
            <a:ext cx="230753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172433"/>
                </a:solidFill>
                <a:latin typeface="IBM Plex Sans Arabic"/>
                <a:ea typeface="IBM Plex Sans Arabic"/>
                <a:cs typeface="IBM Plex Sans Arabic"/>
              </a:rPr>
              <a:t>ما الذي ستطلبه لتتأكد أنه يعمل؟</a:t>
            </a:r>
          </a:p>
        </p:txBody>
      </p:sp>
      <p:sp>
        <p:nvSpPr>
          <p:cNvPr id="23" name="Text 22"/>
          <p:cNvSpPr txBox="1"/>
          <p:nvPr/>
        </p:nvSpPr>
        <p:spPr>
          <a:xfrm>
            <a:off x="838200" y="3020635"/>
            <a:ext cx="2307530" cy="11049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4E5A66"/>
                </a:solidFill>
                <a:latin typeface="IBM Plex Sans Arabic"/>
                <a:ea typeface="IBM Plex Sans Arabic"/>
                <a:cs typeface="IBM Plex Sans Arabic"/>
              </a:rPr>
              <a:t>مثال: إعداد السياسة، وسجل الدخول بطريقة التحقق.</a:t>
            </a:r>
          </a:p>
        </p:txBody>
      </p:sp>
      <p:sp>
        <p:nvSpPr>
          <p:cNvPr id="24" name="Box 23"/>
          <p:cNvSpPr/>
          <p:nvPr/>
        </p:nvSpPr>
        <p:spPr>
          <a:xfrm>
            <a:off x="812800" y="4685605"/>
            <a:ext cx="10566400" cy="965200"/>
          </a:xfrm>
          <a:prstGeom prst="roundRect">
            <a:avLst>
              <a:gd name="adj" fmla="val 10526"/>
            </a:avLst>
          </a:prstGeom>
          <a:solidFill>
            <a:srgbClr val="F6ECDA"/>
          </a:solidFill>
          <a:ln>
            <a:noFill/>
          </a:ln>
        </p:spPr>
        <p:txBody>
          <a:bodyPr rtlCol="0" anchor="ctr"/>
          <a:lstStyle/>
          <a:p>
            <a:pPr algn="ctr"/>
          </a:p>
        </p:txBody>
      </p:sp>
      <p:pic>
        <p:nvPicPr>
          <p:cNvPr id="25" name="Icon Warning 24" descr="icon009.png"/>
          <p:cNvPicPr>
            <a:picLocks noChangeAspect="1"/>
          </p:cNvPicPr>
          <p:nvPr/>
        </p:nvPicPr>
        <p:blipFill>
          <a:blip r:embed="rId2"/>
          <a:stretch>
            <a:fillRect/>
          </a:stretch>
        </p:blipFill>
        <p:spPr>
          <a:xfrm>
            <a:off x="10934700" y="5034855"/>
            <a:ext cx="266700" cy="266700"/>
          </a:xfrm>
          <a:prstGeom prst="rect">
            <a:avLst/>
          </a:prstGeom>
        </p:spPr>
      </p:pic>
      <p:sp>
        <p:nvSpPr>
          <p:cNvPr id="26" name="Text 25"/>
          <p:cNvSpPr txBox="1"/>
          <p:nvPr/>
        </p:nvSpPr>
        <p:spPr>
          <a:xfrm>
            <a:off x="838200" y="4773235"/>
            <a:ext cx="99822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lang="ar-SA" altLang="en-US">
                <a:solidFill>
                  <a:srgbClr val="172433"/>
                </a:solidFill>
                <a:latin typeface="IBM Plex Sans Arabic"/>
                <a:ea typeface="IBM Plex Sans Arabic"/>
                <a:cs typeface="IBM Plex Sans Arabic"/>
              </a:rPr>
              <a:t>الأمثلة في هذه الوحدة من شركة توصيل افتراضية: تطبيق لتتبع الشحنات، ونظام سحابي للرواتب، وبريد سحابي، ومورد خارجي للدعم.</a:t>
            </a:r>
          </a:p>
        </p:txBody>
      </p:sp>
      <p:sp>
        <p:nvSpPr>
          <p:cNvPr id="27" name="Text 26"/>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02 · الأساس التقني</a:t>
            </a:r>
          </a:p>
        </p:txBody>
      </p:sp>
      <p:sp>
        <p:nvSpPr>
          <p:cNvPr id="28" name="Text 27"/>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02 · الأساس التقني</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الهويات: من أنت؟ وماذا يُسمح لك أن تفعل؟</a:t>
            </a:r>
          </a:p>
        </p:txBody>
      </p:sp>
      <p:sp>
        <p:nvSpPr>
          <p:cNvPr id="5" name="Box 4"/>
          <p:cNvSpPr/>
          <p:nvPr/>
        </p:nvSpPr>
        <p:spPr>
          <a:xfrm>
            <a:off x="9480550" y="1727795"/>
            <a:ext cx="1892300" cy="1361281"/>
          </a:xfrm>
          <a:prstGeom prst="roundRect">
            <a:avLst>
              <a:gd name="adj" fmla="val 6470"/>
            </a:avLst>
          </a:prstGeom>
          <a:solidFill>
            <a:srgbClr val="FFFDF8"/>
          </a:solidFill>
          <a:ln w="12700">
            <a:solidFill>
              <a:srgbClr val="172433"/>
            </a:solidFill>
          </a:ln>
        </p:spPr>
        <p:txBody>
          <a:bodyPr rtlCol="0" anchor="ctr"/>
          <a:lstStyle/>
          <a:p>
            <a:pPr algn="ctr"/>
          </a:p>
        </p:txBody>
      </p:sp>
      <p:sp>
        <p:nvSpPr>
          <p:cNvPr id="6" name="Text 5"/>
          <p:cNvSpPr txBox="1"/>
          <p:nvPr/>
        </p:nvSpPr>
        <p:spPr>
          <a:xfrm>
            <a:off x="9532620" y="2106597"/>
            <a:ext cx="1788160" cy="285750"/>
          </a:xfrm>
          <a:prstGeom prst="rect">
            <a:avLst/>
          </a:prstGeom>
          <a:noFill/>
        </p:spPr>
        <p:txBody>
          <a:bodyPr wrap="square" tIns="0" rIns="0" bIns="0" lIns="0" anchor="t" rtlCol="0" anchorCtr="0">
            <a:noAutofit/>
          </a:bodyPr>
          <a:lstStyle/>
          <a:p>
            <a:pPr algn="ctr" rtl="1">
              <a:lnSpc>
                <a:spcPts val="2250"/>
              </a:lnSpc>
              <a:spcBef>
                <a:spcPts val="0"/>
              </a:spcBef>
              <a:spcAft>
                <a:spcPts val="0"/>
              </a:spcAft>
            </a:pPr>
            <a:r>
              <a:rPr sz="1800" b="1" i="0" lang="ar-SA" altLang="en-US">
                <a:solidFill>
                  <a:srgbClr val="172433"/>
                </a:solidFill>
                <a:latin typeface="Readex Pro"/>
                <a:ea typeface="Readex Pro"/>
                <a:cs typeface="Readex Pro"/>
              </a:rPr>
              <a:t>المستخدم</a:t>
            </a:r>
          </a:p>
        </p:txBody>
      </p:sp>
      <p:sp>
        <p:nvSpPr>
          <p:cNvPr id="7" name="Text 6"/>
          <p:cNvSpPr txBox="1"/>
          <p:nvPr/>
        </p:nvSpPr>
        <p:spPr>
          <a:xfrm>
            <a:off x="9535160" y="2400475"/>
            <a:ext cx="1783080" cy="274241"/>
          </a:xfrm>
          <a:prstGeom prst="rect">
            <a:avLst/>
          </a:prstGeom>
          <a:noFill/>
        </p:spPr>
        <p:txBody>
          <a:bodyPr wrap="square" tIns="0" rIns="0" bIns="0" lIns="0" anchor="t" rtlCol="0" anchorCtr="0">
            <a:noAutofit/>
          </a:bodyPr>
          <a:lstStyle/>
          <a:p>
            <a:pPr algn="ctr" rtl="1">
              <a:lnSpc>
                <a:spcPts val="2160"/>
              </a:lnSpc>
              <a:spcBef>
                <a:spcPts val="0"/>
              </a:spcBef>
              <a:spcAft>
                <a:spcPts val="0"/>
              </a:spcAft>
            </a:pPr>
            <a:r>
              <a:rPr sz="1600" b="0" i="0" lang="ar-SA" altLang="en-US">
                <a:solidFill>
                  <a:srgbClr val="4E5A66"/>
                </a:solidFill>
                <a:latin typeface="IBM Plex Sans Arabic"/>
                <a:ea typeface="IBM Plex Sans Arabic"/>
                <a:cs typeface="IBM Plex Sans Arabic"/>
              </a:rPr>
              <a:t>مسؤولة الرواتب</a:t>
            </a:r>
          </a:p>
        </p:txBody>
      </p:sp>
      <p:sp>
        <p:nvSpPr>
          <p:cNvPr id="8" name="Text 7"/>
          <p:cNvSpPr txBox="1"/>
          <p:nvPr/>
        </p:nvSpPr>
        <p:spPr>
          <a:xfrm>
            <a:off x="9037241" y="2292866"/>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9" name="Box 8"/>
          <p:cNvSpPr/>
          <p:nvPr/>
        </p:nvSpPr>
        <p:spPr>
          <a:xfrm>
            <a:off x="6377980" y="1727795"/>
            <a:ext cx="2729111" cy="1361281"/>
          </a:xfrm>
          <a:prstGeom prst="roundRect">
            <a:avLst>
              <a:gd name="adj" fmla="val 6470"/>
            </a:avLst>
          </a:prstGeom>
          <a:solidFill>
            <a:srgbClr val="FFFDF8"/>
          </a:solidFill>
          <a:ln w="12700">
            <a:solidFill>
              <a:srgbClr val="0E7C6B"/>
            </a:solidFill>
          </a:ln>
        </p:spPr>
        <p:txBody>
          <a:bodyPr rtlCol="0" anchor="ctr"/>
          <a:lstStyle/>
          <a:p>
            <a:pPr algn="ctr"/>
          </a:p>
        </p:txBody>
      </p:sp>
      <p:sp>
        <p:nvSpPr>
          <p:cNvPr id="10" name="Text 9"/>
          <p:cNvSpPr txBox="1"/>
          <p:nvPr/>
        </p:nvSpPr>
        <p:spPr>
          <a:xfrm>
            <a:off x="6461313" y="1826601"/>
            <a:ext cx="2562445" cy="571500"/>
          </a:xfrm>
          <a:prstGeom prst="rect">
            <a:avLst/>
          </a:prstGeom>
          <a:noFill/>
        </p:spPr>
        <p:txBody>
          <a:bodyPr wrap="square" tIns="0" rIns="0" bIns="0" lIns="0" anchor="t" rtlCol="0" anchorCtr="0">
            <a:noAutofit/>
          </a:bodyPr>
          <a:lstStyle/>
          <a:p>
            <a:pPr algn="ctr" rtl="1">
              <a:lnSpc>
                <a:spcPts val="2250"/>
              </a:lnSpc>
              <a:spcBef>
                <a:spcPts val="0"/>
              </a:spcBef>
              <a:spcAft>
                <a:spcPts val="0"/>
              </a:spcAft>
            </a:pPr>
            <a:r>
              <a:rPr sz="1800" b="1" i="0" lang="ar-SA" altLang="en-US">
                <a:solidFill>
                  <a:srgbClr val="0E7C6B"/>
                </a:solidFill>
                <a:latin typeface="Readex Pro"/>
                <a:ea typeface="Readex Pro"/>
                <a:cs typeface="Readex Pro"/>
              </a:rPr>
              <a:t>المصادقة Authentication</a:t>
            </a:r>
          </a:p>
        </p:txBody>
      </p:sp>
      <p:sp>
        <p:nvSpPr>
          <p:cNvPr id="11" name="Text 10"/>
          <p:cNvSpPr txBox="1"/>
          <p:nvPr/>
        </p:nvSpPr>
        <p:spPr>
          <a:xfrm>
            <a:off x="6461313" y="2406229"/>
            <a:ext cx="2562445" cy="548481"/>
          </a:xfrm>
          <a:prstGeom prst="rect">
            <a:avLst/>
          </a:prstGeom>
          <a:noFill/>
        </p:spPr>
        <p:txBody>
          <a:bodyPr wrap="square" tIns="0" rIns="0" bIns="0" lIns="0" anchor="t" rtlCol="0" anchorCtr="0">
            <a:noAutofit/>
          </a:bodyPr>
          <a:lstStyle/>
          <a:p>
            <a:pPr algn="ctr" rtl="1">
              <a:lnSpc>
                <a:spcPts val="2160"/>
              </a:lnSpc>
              <a:spcBef>
                <a:spcPts val="0"/>
              </a:spcBef>
              <a:spcAft>
                <a:spcPts val="0"/>
              </a:spcAft>
            </a:pPr>
            <a:r>
              <a:rPr sz="1600" b="0" i="0" lang="ar-SA" altLang="en-US">
                <a:solidFill>
                  <a:srgbClr val="4E5A66"/>
                </a:solidFill>
                <a:latin typeface="IBM Plex Sans Arabic"/>
                <a:ea typeface="IBM Plex Sans Arabic"/>
                <a:cs typeface="IBM Plex Sans Arabic"/>
              </a:rPr>
              <a:t>«هل أنت فعلاً من تدّعي؟» كلمة المرور + رمز MFA</a:t>
            </a:r>
          </a:p>
        </p:txBody>
      </p:sp>
      <p:sp>
        <p:nvSpPr>
          <p:cNvPr id="12" name="Text 11"/>
          <p:cNvSpPr txBox="1"/>
          <p:nvPr/>
        </p:nvSpPr>
        <p:spPr>
          <a:xfrm>
            <a:off x="5934670" y="2292866"/>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3" name="Box 12"/>
          <p:cNvSpPr/>
          <p:nvPr/>
        </p:nvSpPr>
        <p:spPr>
          <a:xfrm>
            <a:off x="3275409" y="1727795"/>
            <a:ext cx="2729111" cy="1361281"/>
          </a:xfrm>
          <a:prstGeom prst="roundRect">
            <a:avLst>
              <a:gd name="adj" fmla="val 6470"/>
            </a:avLst>
          </a:prstGeom>
          <a:solidFill>
            <a:srgbClr val="FFFDF8"/>
          </a:solidFill>
          <a:ln w="12700">
            <a:solidFill>
              <a:srgbClr val="24506B"/>
            </a:solidFill>
          </a:ln>
        </p:spPr>
        <p:txBody>
          <a:bodyPr rtlCol="0" anchor="ctr"/>
          <a:lstStyle/>
          <a:p>
            <a:pPr algn="ctr"/>
          </a:p>
        </p:txBody>
      </p:sp>
      <p:sp>
        <p:nvSpPr>
          <p:cNvPr id="14" name="Text 13"/>
          <p:cNvSpPr txBox="1"/>
          <p:nvPr/>
        </p:nvSpPr>
        <p:spPr>
          <a:xfrm>
            <a:off x="3358742" y="1826601"/>
            <a:ext cx="2562445" cy="571500"/>
          </a:xfrm>
          <a:prstGeom prst="rect">
            <a:avLst/>
          </a:prstGeom>
          <a:noFill/>
        </p:spPr>
        <p:txBody>
          <a:bodyPr wrap="square" tIns="0" rIns="0" bIns="0" lIns="0" anchor="t" rtlCol="0" anchorCtr="0">
            <a:noAutofit/>
          </a:bodyPr>
          <a:lstStyle/>
          <a:p>
            <a:pPr algn="ctr" rtl="1">
              <a:lnSpc>
                <a:spcPts val="2250"/>
              </a:lnSpc>
              <a:spcBef>
                <a:spcPts val="0"/>
              </a:spcBef>
              <a:spcAft>
                <a:spcPts val="0"/>
              </a:spcAft>
            </a:pPr>
            <a:r>
              <a:rPr sz="1800" b="1" i="0" lang="ar-SA" altLang="en-US">
                <a:solidFill>
                  <a:srgbClr val="24506B"/>
                </a:solidFill>
                <a:latin typeface="Readex Pro"/>
                <a:ea typeface="Readex Pro"/>
                <a:cs typeface="Readex Pro"/>
              </a:rPr>
              <a:t>التفويض Authorization</a:t>
            </a:r>
          </a:p>
        </p:txBody>
      </p:sp>
      <p:sp>
        <p:nvSpPr>
          <p:cNvPr id="15" name="Text 14"/>
          <p:cNvSpPr txBox="1"/>
          <p:nvPr/>
        </p:nvSpPr>
        <p:spPr>
          <a:xfrm>
            <a:off x="3358742" y="2406229"/>
            <a:ext cx="2562445" cy="548481"/>
          </a:xfrm>
          <a:prstGeom prst="rect">
            <a:avLst/>
          </a:prstGeom>
          <a:noFill/>
        </p:spPr>
        <p:txBody>
          <a:bodyPr wrap="square" tIns="0" rIns="0" bIns="0" lIns="0" anchor="t" rtlCol="0" anchorCtr="0">
            <a:noAutofit/>
          </a:bodyPr>
          <a:lstStyle/>
          <a:p>
            <a:pPr algn="ctr" rtl="1">
              <a:lnSpc>
                <a:spcPts val="2160"/>
              </a:lnSpc>
              <a:spcBef>
                <a:spcPts val="0"/>
              </a:spcBef>
              <a:spcAft>
                <a:spcPts val="0"/>
              </a:spcAft>
            </a:pPr>
            <a:r>
              <a:rPr sz="1600" b="0" i="0" lang="ar-SA" altLang="en-US">
                <a:solidFill>
                  <a:srgbClr val="4E5A66"/>
                </a:solidFill>
                <a:latin typeface="IBM Plex Sans Arabic"/>
                <a:ea typeface="IBM Plex Sans Arabic"/>
                <a:cs typeface="IBM Plex Sans Arabic"/>
              </a:rPr>
              <a:t>«ماذا يُسمح لك؟» الدور: مسؤول الرواتب</a:t>
            </a:r>
          </a:p>
        </p:txBody>
      </p:sp>
      <p:sp>
        <p:nvSpPr>
          <p:cNvPr id="16" name="Text 15"/>
          <p:cNvSpPr txBox="1"/>
          <p:nvPr/>
        </p:nvSpPr>
        <p:spPr>
          <a:xfrm>
            <a:off x="2832100" y="2292866"/>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7" name="Box 16"/>
          <p:cNvSpPr/>
          <p:nvPr/>
        </p:nvSpPr>
        <p:spPr>
          <a:xfrm>
            <a:off x="819150" y="1727795"/>
            <a:ext cx="2082800" cy="1361281"/>
          </a:xfrm>
          <a:prstGeom prst="roundRect">
            <a:avLst>
              <a:gd name="adj" fmla="val 6470"/>
            </a:avLst>
          </a:prstGeom>
          <a:solidFill>
            <a:srgbClr val="FFFDF8"/>
          </a:solidFill>
          <a:ln w="12700">
            <a:solidFill>
              <a:srgbClr val="8A4B12"/>
            </a:solidFill>
          </a:ln>
        </p:spPr>
        <p:txBody>
          <a:bodyPr rtlCol="0" anchor="ctr"/>
          <a:lstStyle/>
          <a:p>
            <a:pPr algn="ctr"/>
          </a:p>
        </p:txBody>
      </p:sp>
      <p:sp>
        <p:nvSpPr>
          <p:cNvPr id="18" name="Text 17"/>
          <p:cNvSpPr txBox="1"/>
          <p:nvPr/>
        </p:nvSpPr>
        <p:spPr>
          <a:xfrm>
            <a:off x="866140" y="2106597"/>
            <a:ext cx="1988820" cy="285750"/>
          </a:xfrm>
          <a:prstGeom prst="rect">
            <a:avLst/>
          </a:prstGeom>
          <a:noFill/>
        </p:spPr>
        <p:txBody>
          <a:bodyPr wrap="square" tIns="0" rIns="0" bIns="0" lIns="0" anchor="t" rtlCol="0" anchorCtr="0">
            <a:noAutofit/>
          </a:bodyPr>
          <a:lstStyle/>
          <a:p>
            <a:pPr algn="ctr" rtl="1">
              <a:lnSpc>
                <a:spcPts val="2250"/>
              </a:lnSpc>
              <a:spcBef>
                <a:spcPts val="0"/>
              </a:spcBef>
              <a:spcAft>
                <a:spcPts val="0"/>
              </a:spcAft>
            </a:pPr>
            <a:r>
              <a:rPr sz="1800" b="1" i="0" lang="ar-SA" altLang="en-US">
                <a:solidFill>
                  <a:srgbClr val="8A4B12"/>
                </a:solidFill>
                <a:latin typeface="Readex Pro"/>
                <a:ea typeface="Readex Pro"/>
                <a:cs typeface="Readex Pro"/>
              </a:rPr>
              <a:t>الصلاحيات</a:t>
            </a:r>
          </a:p>
        </p:txBody>
      </p:sp>
      <p:sp>
        <p:nvSpPr>
          <p:cNvPr id="19" name="Text 18"/>
          <p:cNvSpPr txBox="1"/>
          <p:nvPr/>
        </p:nvSpPr>
        <p:spPr>
          <a:xfrm>
            <a:off x="866140" y="2400475"/>
            <a:ext cx="1988820" cy="274241"/>
          </a:xfrm>
          <a:prstGeom prst="rect">
            <a:avLst/>
          </a:prstGeom>
          <a:noFill/>
        </p:spPr>
        <p:txBody>
          <a:bodyPr wrap="square" tIns="0" rIns="0" bIns="0" lIns="0" anchor="t" rtlCol="0" anchorCtr="0">
            <a:noAutofit/>
          </a:bodyPr>
          <a:lstStyle/>
          <a:p>
            <a:pPr algn="ctr" rtl="1">
              <a:lnSpc>
                <a:spcPts val="2160"/>
              </a:lnSpc>
              <a:spcBef>
                <a:spcPts val="0"/>
              </a:spcBef>
              <a:spcAft>
                <a:spcPts val="0"/>
              </a:spcAft>
            </a:pPr>
            <a:r>
              <a:rPr sz="1600" b="0" i="0" lang="ar-SA" altLang="en-US">
                <a:solidFill>
                  <a:srgbClr val="4E5A66"/>
                </a:solidFill>
                <a:latin typeface="IBM Plex Sans Arabic"/>
                <a:ea typeface="IBM Plex Sans Arabic"/>
                <a:cs typeface="IBM Plex Sans Arabic"/>
              </a:rPr>
              <a:t>عرض الرواتب وتعديلها</a:t>
            </a:r>
          </a:p>
        </p:txBody>
      </p:sp>
      <p:sp>
        <p:nvSpPr>
          <p:cNvPr id="20" name="Rule 19"/>
          <p:cNvSpPr/>
          <p:nvPr/>
        </p:nvSpPr>
        <p:spPr>
          <a:xfrm>
            <a:off x="7958634" y="3349427"/>
            <a:ext cx="3420566" cy="31750"/>
          </a:xfrm>
          <a:prstGeom prst="rect">
            <a:avLst/>
          </a:prstGeom>
          <a:solidFill>
            <a:srgbClr val="0E7C6B"/>
          </a:solidFill>
          <a:ln>
            <a:noFill/>
          </a:ln>
        </p:spPr>
        <p:txBody>
          <a:bodyPr rtlCol="0" anchor="ctr"/>
          <a:lstStyle/>
          <a:p>
            <a:pPr algn="ctr"/>
          </a:p>
        </p:txBody>
      </p:sp>
      <p:sp>
        <p:nvSpPr>
          <p:cNvPr id="21" name="Text 20"/>
          <p:cNvSpPr txBox="1"/>
          <p:nvPr/>
        </p:nvSpPr>
        <p:spPr>
          <a:xfrm>
            <a:off x="7984034" y="3491667"/>
            <a:ext cx="335706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lang="ar-SA" altLang="en-US">
                <a:solidFill>
                  <a:srgbClr val="0E7C6B"/>
                </a:solidFill>
                <a:latin typeface="Readex Pro"/>
                <a:ea typeface="Readex Pro"/>
                <a:cs typeface="Readex Pro"/>
              </a:rPr>
              <a:t>حساب عادي</a:t>
            </a:r>
          </a:p>
        </p:txBody>
      </p:sp>
      <p:sp>
        <p:nvSpPr>
          <p:cNvPr id="22" name="Text 21"/>
          <p:cNvSpPr txBox="1"/>
          <p:nvPr/>
        </p:nvSpPr>
        <p:spPr>
          <a:xfrm>
            <a:off x="7984034" y="3911529"/>
            <a:ext cx="3357066"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lang="ar-SA" altLang="en-US">
                <a:solidFill>
                  <a:srgbClr val="172433"/>
                </a:solidFill>
                <a:latin typeface="IBM Plex Sans Arabic"/>
                <a:ea typeface="IBM Plex Sans Arabic"/>
                <a:cs typeface="IBM Plex Sans Arabic"/>
              </a:rPr>
              <a:t>يستخدم النظام في عمله اليومي.</a:t>
            </a:r>
          </a:p>
        </p:txBody>
      </p:sp>
      <p:sp>
        <p:nvSpPr>
          <p:cNvPr id="23" name="Text 22"/>
          <p:cNvSpPr txBox="1"/>
          <p:nvPr/>
        </p:nvSpPr>
        <p:spPr>
          <a:xfrm>
            <a:off x="7984034" y="4319119"/>
            <a:ext cx="3357066"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lang="ar-SA" altLang="en-US">
                <a:solidFill>
                  <a:srgbClr val="4E5A66"/>
                </a:solidFill>
                <a:latin typeface="IBM Plex Sans Arabic"/>
                <a:ea typeface="IBM Plex Sans Arabic"/>
                <a:cs typeface="IBM Plex Sans Arabic"/>
              </a:rPr>
              <a:t>مثال: حساب مسؤولة الرواتب.</a:t>
            </a:r>
          </a:p>
        </p:txBody>
      </p:sp>
      <p:sp>
        <p:nvSpPr>
          <p:cNvPr id="24" name="Rule 23"/>
          <p:cNvSpPr/>
          <p:nvPr/>
        </p:nvSpPr>
        <p:spPr>
          <a:xfrm>
            <a:off x="4385667" y="3349427"/>
            <a:ext cx="3420566" cy="31750"/>
          </a:xfrm>
          <a:prstGeom prst="rect">
            <a:avLst/>
          </a:prstGeom>
          <a:solidFill>
            <a:srgbClr val="B4412C"/>
          </a:solidFill>
          <a:ln>
            <a:noFill/>
          </a:ln>
        </p:spPr>
        <p:txBody>
          <a:bodyPr rtlCol="0" anchor="ctr"/>
          <a:lstStyle/>
          <a:p>
            <a:pPr algn="ctr"/>
          </a:p>
        </p:txBody>
      </p:sp>
      <p:sp>
        <p:nvSpPr>
          <p:cNvPr id="25" name="Text 24"/>
          <p:cNvSpPr txBox="1"/>
          <p:nvPr/>
        </p:nvSpPr>
        <p:spPr>
          <a:xfrm>
            <a:off x="4411067" y="3491667"/>
            <a:ext cx="3357066"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lang="ar-SA" altLang="en-US">
                <a:solidFill>
                  <a:srgbClr val="B4412C"/>
                </a:solidFill>
                <a:latin typeface="Readex Pro"/>
                <a:ea typeface="Readex Pro"/>
                <a:cs typeface="Readex Pro"/>
              </a:rPr>
              <a:t>حساب إداري (صلاحيات هامة)</a:t>
            </a:r>
          </a:p>
        </p:txBody>
      </p:sp>
      <p:sp>
        <p:nvSpPr>
          <p:cNvPr id="26" name="Text 25"/>
          <p:cNvSpPr txBox="1"/>
          <p:nvPr/>
        </p:nvSpPr>
        <p:spPr>
          <a:xfrm>
            <a:off x="4411067" y="4267129"/>
            <a:ext cx="3357066"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lang="ar-SA" altLang="en-US">
                <a:solidFill>
                  <a:srgbClr val="172433"/>
                </a:solidFill>
                <a:latin typeface="IBM Plex Sans Arabic"/>
                <a:ea typeface="IBM Plex Sans Arabic"/>
                <a:cs typeface="IBM Plex Sans Arabic"/>
              </a:rPr>
              <a:t>يغيّر الإعدادات وصلاحيات الآخرين. أخطر ما يُسرق.</a:t>
            </a:r>
          </a:p>
        </p:txBody>
      </p:sp>
      <p:sp>
        <p:nvSpPr>
          <p:cNvPr id="27" name="Text 26"/>
          <p:cNvSpPr txBox="1"/>
          <p:nvPr/>
        </p:nvSpPr>
        <p:spPr>
          <a:xfrm>
            <a:off x="4411067" y="5006110"/>
            <a:ext cx="3357066"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lang="ar-SA" altLang="en-US">
                <a:solidFill>
                  <a:srgbClr val="4E5A66"/>
                </a:solidFill>
                <a:latin typeface="IBM Plex Sans Arabic"/>
                <a:ea typeface="IBM Plex Sans Arabic"/>
                <a:cs typeface="IBM Plex Sans Arabic"/>
              </a:rPr>
              <a:t>مثال: حساب «مدير النظام» في نظام الرواتب.</a:t>
            </a:r>
          </a:p>
        </p:txBody>
      </p:sp>
      <p:sp>
        <p:nvSpPr>
          <p:cNvPr id="28" name="Rule 27"/>
          <p:cNvSpPr/>
          <p:nvPr/>
        </p:nvSpPr>
        <p:spPr>
          <a:xfrm>
            <a:off x="812701" y="3349427"/>
            <a:ext cx="3420566" cy="31750"/>
          </a:xfrm>
          <a:prstGeom prst="rect">
            <a:avLst/>
          </a:prstGeom>
          <a:solidFill>
            <a:srgbClr val="24506B"/>
          </a:solidFill>
          <a:ln>
            <a:noFill/>
          </a:ln>
        </p:spPr>
        <p:txBody>
          <a:bodyPr rtlCol="0" anchor="ctr"/>
          <a:lstStyle/>
          <a:p>
            <a:pPr algn="ctr"/>
          </a:p>
        </p:txBody>
      </p:sp>
      <p:sp>
        <p:nvSpPr>
          <p:cNvPr id="29" name="Text 28"/>
          <p:cNvSpPr txBox="1"/>
          <p:nvPr/>
        </p:nvSpPr>
        <p:spPr>
          <a:xfrm>
            <a:off x="838101" y="3491667"/>
            <a:ext cx="335706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lang="ar-SA" altLang="en-US">
                <a:solidFill>
                  <a:srgbClr val="24506B"/>
                </a:solidFill>
                <a:latin typeface="Readex Pro"/>
                <a:ea typeface="Readex Pro"/>
                <a:cs typeface="Readex Pro"/>
              </a:rPr>
              <a:t>RBAC: الصلاحية للدور</a:t>
            </a:r>
          </a:p>
        </p:txBody>
      </p:sp>
      <p:sp>
        <p:nvSpPr>
          <p:cNvPr id="30" name="Text 29"/>
          <p:cNvSpPr txBox="1"/>
          <p:nvPr/>
        </p:nvSpPr>
        <p:spPr>
          <a:xfrm>
            <a:off x="838101" y="3911529"/>
            <a:ext cx="3357066"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lang="ar-SA" altLang="en-US">
                <a:solidFill>
                  <a:srgbClr val="172433"/>
                </a:solidFill>
                <a:latin typeface="IBM Plex Sans Arabic"/>
                <a:ea typeface="IBM Plex Sans Arabic"/>
                <a:cs typeface="IBM Plex Sans Arabic"/>
              </a:rPr>
              <a:t>تُعطى الصلاحيات للدور لا للشخص. يتغير الدور فتتغير الصلاحيات.</a:t>
            </a:r>
          </a:p>
        </p:txBody>
      </p:sp>
      <p:sp>
        <p:nvSpPr>
          <p:cNvPr id="31" name="Text 30"/>
          <p:cNvSpPr txBox="1"/>
          <p:nvPr/>
        </p:nvSpPr>
        <p:spPr>
          <a:xfrm>
            <a:off x="838101" y="4650510"/>
            <a:ext cx="3357066"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lang="ar-SA" altLang="en-US">
                <a:solidFill>
                  <a:srgbClr val="4E5A66"/>
                </a:solidFill>
                <a:latin typeface="IBM Plex Sans Arabic"/>
                <a:ea typeface="IBM Plex Sans Arabic"/>
                <a:cs typeface="IBM Plex Sans Arabic"/>
              </a:rPr>
              <a:t>مثال: موظف انتقل من الموارد البشرية إلى العمليات.</a:t>
            </a:r>
          </a:p>
        </p:txBody>
      </p:sp>
      <p:sp>
        <p:nvSpPr>
          <p:cNvPr id="32" name="Text 31"/>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02 · الأساس التقني</a:t>
            </a:r>
          </a:p>
        </p:txBody>
      </p:sp>
      <p:sp>
        <p:nvSpPr>
          <p:cNvPr id="33" name="Text 32"/>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02 · الأساس التقني</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الهويات بالأسئلة الأربعة</a:t>
            </a:r>
          </a:p>
        </p:txBody>
      </p:sp>
      <p:graphicFrame>
        <p:nvGraphicFramePr>
          <p:cNvPr id="5" name="Table 4"/>
          <p:cNvGraphicFramePr>
            <a:graphicFrameLocks noGrp="1"/>
          </p:cNvGraphicFramePr>
          <p:nvPr/>
        </p:nvGraphicFramePr>
        <p:xfrm>
          <a:off x="815975" y="1661120"/>
          <a:ext cx="10560050" cy="3484561"/>
        </p:xfrm>
        <a:graphic>
          <a:graphicData uri="http://schemas.openxmlformats.org/drawingml/2006/table">
            <a:tbl>
              <a:tblPr firstRow="0" bandRow="0" lastRow="0" firstCol="0" lastCol="0" bandCol="0">
                <a:tableStyleId>{2D5ABB26-0587-4C30-8999-92F81FD0307C}</a:tableStyleId>
              </a:tblPr>
              <a:tblGrid>
                <a:gridCol w="2534285"/>
                <a:gridCol w="2745740"/>
                <a:gridCol w="2322830"/>
                <a:gridCol w="2957195"/>
              </a:tblGrid>
              <a:tr h="422672">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الدليل الذي تطلبه</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الضابط المناسب</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ما الخطر؟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المفهوم: ما هو؟</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قائمة الحسابات الإدارية ومالكيها، وسجل استخدامها.</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حسابات إدارية بأسماء أصحابها وتُدار صلاحياتها · ECC 2-⁠2-⁠3-⁠4</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سرقته سيطرة على النظام كله.</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الحساب الإداري</a:t>
                      </a:r>
                      <a:r>
                        <a:rPr sz="1600" b="0" i="0" lang="ar-SA" altLang="en-US">
                          <a:solidFill>
                            <a:srgbClr val="172433"/>
                          </a:solidFill>
                          <a:latin typeface="IBM Plex Sans Arabic"/>
                          <a:ea typeface="IBM Plex Sans Arabic"/>
                          <a:cs typeface="IBM Plex Sans Arabic"/>
                        </a:rPr>
                        <a:t>: يغيّر الإعدادات وصلاحيات الآخرين.</a:t>
                      </a:r>
                    </a:p>
                  </a:txBody>
                  <a:tcPr marT="85649" marR="121920" marB="56591" marL="4052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971153">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إعداد السياسة وتاريخه، وسجل الدخول بطريقة التحقق.</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MFA للدخول عن بعد وللحسابات الهامة · ECC 2-⁠2-⁠3-⁠2</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كلمة مرور مسروقة تكفي للدخول.</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MFA</a:t>
                      </a:r>
                      <a:r>
                        <a:rPr sz="1600" b="0" i="0" lang="ar-SA" altLang="en-US">
                          <a:solidFill>
                            <a:srgbClr val="172433"/>
                          </a:solidFill>
                          <a:latin typeface="IBM Plex Sans Arabic"/>
                          <a:ea typeface="IBM Plex Sans Arabic"/>
                          <a:cs typeface="IBM Plex Sans Arabic"/>
                        </a:rPr>
                        <a:t>: عامل ثانٍ مع كلمة المرور.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مصفوفة الأدوار، وملف المراجعة المعتمد.</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أدوار معتمدة ومراجعة دورية · ECC 2-⁠2-⁠3-⁠3 و‎2-⁠2-⁠3-⁠5</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صلاحيات زائدة تبقى بعد تغيير الدور.</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RBAC وأقل صلاحية</a:t>
                      </a:r>
                      <a:r>
                        <a:rPr sz="1600" b="0" i="0" lang="ar-SA" altLang="en-US">
                          <a:solidFill>
                            <a:srgbClr val="172433"/>
                          </a:solidFill>
                          <a:latin typeface="IBM Plex Sans Arabic"/>
                          <a:ea typeface="IBM Plex Sans Arabic"/>
                          <a:cs typeface="IBM Plex Sans Arabic"/>
                        </a:rPr>
                        <a:t>: صلاحيات حسب الدور، وبقدر الحاجة.</a:t>
                      </a:r>
                    </a:p>
                  </a:txBody>
                  <a:tcPr marT="85649" marR="121920" marB="56591" marL="4052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تقرير بمن يجمع دورين متعارضين.</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فصل الإدخال عن الاعتماد، وموافقة ثانية.</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من يعدّل الحساب البنكي ويعتمد المسير قد يختلس.</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فصل المهام</a:t>
                      </a:r>
                      <a:r>
                        <a:rPr sz="1600" b="0" i="0" lang="ar-SA" altLang="en-US">
                          <a:solidFill>
                            <a:srgbClr val="172433"/>
                          </a:solidFill>
                          <a:latin typeface="IBM Plex Sans Arabic"/>
                          <a:ea typeface="IBM Plex Sans Arabic"/>
                          <a:cs typeface="IBM Plex Sans Arabic"/>
                        </a:rPr>
                        <a:t>: لا يكمل شخص واحد عملية حساسة وحده.</a:t>
                      </a:r>
                    </a:p>
                  </a:txBody>
                  <a:tcPr marT="85649" marR="121920" marB="56591" marL="4052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Text 5"/>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02 · الأساس التقني</a:t>
            </a:r>
          </a:p>
        </p:txBody>
      </p:sp>
      <p:sp>
        <p:nvSpPr>
          <p:cNvPr id="7" name="Text 6"/>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02 · الأساس التقني</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الدليل المركزي: Active Directory وLDAP</a:t>
            </a:r>
          </a:p>
        </p:txBody>
      </p:sp>
      <p:sp>
        <p:nvSpPr>
          <p:cNvPr id="5" name="Box 4"/>
          <p:cNvSpPr/>
          <p:nvPr/>
        </p:nvSpPr>
        <p:spPr>
          <a:xfrm>
            <a:off x="7750969" y="1651595"/>
            <a:ext cx="3621881" cy="735310"/>
          </a:xfrm>
          <a:prstGeom prst="roundRect">
            <a:avLst>
              <a:gd name="adj" fmla="val 11884"/>
            </a:avLst>
          </a:prstGeom>
          <a:solidFill>
            <a:srgbClr val="FFFDF8"/>
          </a:solidFill>
          <a:ln w="12700">
            <a:solidFill>
              <a:srgbClr val="0E7C6B"/>
            </a:solidFill>
          </a:ln>
        </p:spPr>
        <p:txBody>
          <a:bodyPr rtlCol="0" anchor="ctr"/>
          <a:lstStyle/>
          <a:p>
            <a:pPr algn="ctr"/>
          </a:p>
        </p:txBody>
      </p:sp>
      <p:sp>
        <p:nvSpPr>
          <p:cNvPr id="6" name="Text 5"/>
          <p:cNvSpPr txBox="1"/>
          <p:nvPr/>
        </p:nvSpPr>
        <p:spPr>
          <a:xfrm>
            <a:off x="7770019" y="1751417"/>
            <a:ext cx="3583781" cy="254000"/>
          </a:xfrm>
          <a:prstGeom prst="rect">
            <a:avLst/>
          </a:prstGeom>
          <a:noFill/>
        </p:spPr>
        <p:txBody>
          <a:bodyPr wrap="square" tIns="0" rIns="0" bIns="0" lIns="0" anchor="t" rtlCol="0" anchorCtr="0">
            <a:noAutofit/>
          </a:bodyPr>
          <a:lstStyle/>
          <a:p>
            <a:pPr algn="ctr">
              <a:lnSpc>
                <a:spcPts val="2000"/>
              </a:lnSpc>
              <a:spcBef>
                <a:spcPts val="0"/>
              </a:spcBef>
              <a:spcAft>
                <a:spcPts val="0"/>
              </a:spcAft>
            </a:pPr>
            <a:r>
              <a:rPr sz="1600" b="1" i="0">
                <a:solidFill>
                  <a:srgbClr val="0E7C6B"/>
                </a:solidFill>
                <a:latin typeface="Readex Pro"/>
                <a:ea typeface="Readex Pro"/>
                <a:cs typeface="Readex Pro"/>
              </a:rPr>
              <a:t>VPN</a:t>
            </a:r>
          </a:p>
        </p:txBody>
      </p:sp>
      <p:sp>
        <p:nvSpPr>
          <p:cNvPr id="7" name="Text 6"/>
          <p:cNvSpPr txBox="1"/>
          <p:nvPr/>
        </p:nvSpPr>
        <p:spPr>
          <a:xfrm>
            <a:off x="7770019" y="2015831"/>
            <a:ext cx="3583781" cy="240010"/>
          </a:xfrm>
          <a:prstGeom prst="rect">
            <a:avLst/>
          </a:prstGeom>
          <a:noFill/>
        </p:spPr>
        <p:txBody>
          <a:bodyPr wrap="square" tIns="0" rIns="0" bIns="0" lIns="0" anchor="t" rtlCol="0" anchorCtr="0">
            <a:noAutofit/>
          </a:bodyPr>
          <a:lstStyle/>
          <a:p>
            <a:pPr algn="ctr" rtl="1">
              <a:lnSpc>
                <a:spcPts val="1889"/>
              </a:lnSpc>
              <a:spcBef>
                <a:spcPts val="0"/>
              </a:spcBef>
              <a:spcAft>
                <a:spcPts val="0"/>
              </a:spcAft>
            </a:pPr>
            <a:r>
              <a:rPr sz="1400" b="0" i="0" lang="ar-SA" altLang="en-US">
                <a:solidFill>
                  <a:srgbClr val="4E5A66"/>
                </a:solidFill>
                <a:latin typeface="IBM Plex Sans Arabic"/>
                <a:ea typeface="IBM Plex Sans Arabic"/>
                <a:cs typeface="IBM Plex Sans Arabic"/>
              </a:rPr>
              <a:t>من في مجموعة VPN-⁠Users يدخل</a:t>
            </a:r>
          </a:p>
        </p:txBody>
      </p:sp>
      <p:sp>
        <p:nvSpPr>
          <p:cNvPr id="8" name="Box 7"/>
          <p:cNvSpPr/>
          <p:nvPr/>
        </p:nvSpPr>
        <p:spPr>
          <a:xfrm>
            <a:off x="7750969" y="2475805"/>
            <a:ext cx="3621881" cy="735310"/>
          </a:xfrm>
          <a:prstGeom prst="roundRect">
            <a:avLst>
              <a:gd name="adj" fmla="val 11884"/>
            </a:avLst>
          </a:prstGeom>
          <a:solidFill>
            <a:srgbClr val="FFFDF8"/>
          </a:solidFill>
          <a:ln w="12700">
            <a:solidFill>
              <a:srgbClr val="0E7C6B"/>
            </a:solidFill>
          </a:ln>
        </p:spPr>
        <p:txBody>
          <a:bodyPr rtlCol="0" anchor="ctr"/>
          <a:lstStyle/>
          <a:p>
            <a:pPr algn="ctr"/>
          </a:p>
        </p:txBody>
      </p:sp>
      <p:sp>
        <p:nvSpPr>
          <p:cNvPr id="9" name="Text 8"/>
          <p:cNvSpPr txBox="1"/>
          <p:nvPr/>
        </p:nvSpPr>
        <p:spPr>
          <a:xfrm>
            <a:off x="7770019" y="2575627"/>
            <a:ext cx="3583781" cy="254000"/>
          </a:xfrm>
          <a:prstGeom prst="rect">
            <a:avLst/>
          </a:prstGeom>
          <a:noFill/>
        </p:spPr>
        <p:txBody>
          <a:bodyPr wrap="square" tIns="0" rIns="0" bIns="0" lIns="0" anchor="t" rtlCol="0" anchorCtr="0">
            <a:noAutofit/>
          </a:bodyPr>
          <a:lstStyle/>
          <a:p>
            <a:pPr algn="ctr" rtl="1">
              <a:lnSpc>
                <a:spcPts val="2000"/>
              </a:lnSpc>
              <a:spcBef>
                <a:spcPts val="0"/>
              </a:spcBef>
              <a:spcAft>
                <a:spcPts val="0"/>
              </a:spcAft>
            </a:pPr>
            <a:r>
              <a:rPr sz="1600" b="1" i="0" lang="ar-SA" altLang="en-US">
                <a:solidFill>
                  <a:srgbClr val="0E7C6B"/>
                </a:solidFill>
                <a:latin typeface="Readex Pro"/>
                <a:ea typeface="Readex Pro"/>
                <a:cs typeface="Readex Pro"/>
              </a:rPr>
              <a:t>البريد والملفات</a:t>
            </a:r>
          </a:p>
        </p:txBody>
      </p:sp>
      <p:sp>
        <p:nvSpPr>
          <p:cNvPr id="10" name="Text 9"/>
          <p:cNvSpPr txBox="1"/>
          <p:nvPr/>
        </p:nvSpPr>
        <p:spPr>
          <a:xfrm>
            <a:off x="7770019" y="2840041"/>
            <a:ext cx="3583781" cy="240010"/>
          </a:xfrm>
          <a:prstGeom prst="rect">
            <a:avLst/>
          </a:prstGeom>
          <a:noFill/>
        </p:spPr>
        <p:txBody>
          <a:bodyPr wrap="square" tIns="0" rIns="0" bIns="0" lIns="0" anchor="t" rtlCol="0" anchorCtr="0">
            <a:noAutofit/>
          </a:bodyPr>
          <a:lstStyle/>
          <a:p>
            <a:pPr algn="ctr" rtl="1">
              <a:lnSpc>
                <a:spcPts val="1889"/>
              </a:lnSpc>
              <a:spcBef>
                <a:spcPts val="0"/>
              </a:spcBef>
              <a:spcAft>
                <a:spcPts val="0"/>
              </a:spcAft>
            </a:pPr>
            <a:r>
              <a:rPr sz="1400" b="0" i="0" lang="ar-SA" altLang="en-US">
                <a:solidFill>
                  <a:srgbClr val="4E5A66"/>
                </a:solidFill>
                <a:latin typeface="IBM Plex Sans Arabic"/>
                <a:ea typeface="IBM Plex Sans Arabic"/>
                <a:cs typeface="IBM Plex Sans Arabic"/>
              </a:rPr>
              <a:t>بحساب الدليل نفسه</a:t>
            </a:r>
          </a:p>
        </p:txBody>
      </p:sp>
      <p:sp>
        <p:nvSpPr>
          <p:cNvPr id="11" name="Box 10"/>
          <p:cNvSpPr/>
          <p:nvPr/>
        </p:nvSpPr>
        <p:spPr>
          <a:xfrm>
            <a:off x="7750969" y="3300016"/>
            <a:ext cx="3621881" cy="735310"/>
          </a:xfrm>
          <a:prstGeom prst="roundRect">
            <a:avLst>
              <a:gd name="adj" fmla="val 11884"/>
            </a:avLst>
          </a:prstGeom>
          <a:solidFill>
            <a:srgbClr val="FFFDF8"/>
          </a:solidFill>
          <a:ln w="12700">
            <a:solidFill>
              <a:srgbClr val="0E7C6B"/>
            </a:solidFill>
          </a:ln>
        </p:spPr>
        <p:txBody>
          <a:bodyPr rtlCol="0" anchor="ctr"/>
          <a:lstStyle/>
          <a:p>
            <a:pPr algn="ctr"/>
          </a:p>
        </p:txBody>
      </p:sp>
      <p:sp>
        <p:nvSpPr>
          <p:cNvPr id="12" name="Text 11"/>
          <p:cNvSpPr txBox="1"/>
          <p:nvPr/>
        </p:nvSpPr>
        <p:spPr>
          <a:xfrm>
            <a:off x="7770019" y="3399838"/>
            <a:ext cx="3583781" cy="254000"/>
          </a:xfrm>
          <a:prstGeom prst="rect">
            <a:avLst/>
          </a:prstGeom>
          <a:noFill/>
        </p:spPr>
        <p:txBody>
          <a:bodyPr wrap="square" tIns="0" rIns="0" bIns="0" lIns="0" anchor="t" rtlCol="0" anchorCtr="0">
            <a:noAutofit/>
          </a:bodyPr>
          <a:lstStyle/>
          <a:p>
            <a:pPr algn="ctr" rtl="1">
              <a:lnSpc>
                <a:spcPts val="2000"/>
              </a:lnSpc>
              <a:spcBef>
                <a:spcPts val="0"/>
              </a:spcBef>
              <a:spcAft>
                <a:spcPts val="0"/>
              </a:spcAft>
            </a:pPr>
            <a:r>
              <a:rPr sz="1600" b="1" i="0" lang="ar-SA" altLang="en-US">
                <a:solidFill>
                  <a:srgbClr val="0E7C6B"/>
                </a:solidFill>
                <a:latin typeface="Readex Pro"/>
                <a:ea typeface="Readex Pro"/>
                <a:cs typeface="Readex Pro"/>
              </a:rPr>
              <a:t>أجهزة الموظفين</a:t>
            </a:r>
          </a:p>
        </p:txBody>
      </p:sp>
      <p:sp>
        <p:nvSpPr>
          <p:cNvPr id="13" name="Text 12"/>
          <p:cNvSpPr txBox="1"/>
          <p:nvPr/>
        </p:nvSpPr>
        <p:spPr>
          <a:xfrm>
            <a:off x="7770019" y="3664252"/>
            <a:ext cx="3583781" cy="240010"/>
          </a:xfrm>
          <a:prstGeom prst="rect">
            <a:avLst/>
          </a:prstGeom>
          <a:noFill/>
        </p:spPr>
        <p:txBody>
          <a:bodyPr wrap="square" tIns="0" rIns="0" bIns="0" lIns="0" anchor="t" rtlCol="0" anchorCtr="0">
            <a:noAutofit/>
          </a:bodyPr>
          <a:lstStyle/>
          <a:p>
            <a:pPr algn="ctr" rtl="1">
              <a:lnSpc>
                <a:spcPts val="1889"/>
              </a:lnSpc>
              <a:spcBef>
                <a:spcPts val="0"/>
              </a:spcBef>
              <a:spcAft>
                <a:spcPts val="0"/>
              </a:spcAft>
            </a:pPr>
            <a:r>
              <a:rPr sz="1400" b="0" i="0" lang="ar-SA" altLang="en-US">
                <a:solidFill>
                  <a:srgbClr val="4E5A66"/>
                </a:solidFill>
                <a:latin typeface="IBM Plex Sans Arabic"/>
                <a:ea typeface="IBM Plex Sans Arabic"/>
                <a:cs typeface="IBM Plex Sans Arabic"/>
              </a:rPr>
              <a:t>تسجيل الدخول إلى الحاسوب</a:t>
            </a:r>
          </a:p>
        </p:txBody>
      </p:sp>
      <p:sp>
        <p:nvSpPr>
          <p:cNvPr id="14" name="Text 13"/>
          <p:cNvSpPr txBox="1"/>
          <p:nvPr/>
        </p:nvSpPr>
        <p:spPr>
          <a:xfrm>
            <a:off x="7294959" y="2727841"/>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5" name="Box 14"/>
          <p:cNvSpPr/>
          <p:nvPr/>
        </p:nvSpPr>
        <p:spPr>
          <a:xfrm>
            <a:off x="4189809" y="2289770"/>
            <a:ext cx="3162300" cy="1107281"/>
          </a:xfrm>
          <a:prstGeom prst="roundRect">
            <a:avLst>
              <a:gd name="adj" fmla="val 7937"/>
            </a:avLst>
          </a:prstGeom>
          <a:solidFill>
            <a:srgbClr val="FFFDF8"/>
          </a:solidFill>
          <a:ln w="12700">
            <a:solidFill>
              <a:srgbClr val="24506B"/>
            </a:solidFill>
          </a:ln>
        </p:spPr>
        <p:txBody>
          <a:bodyPr rtlCol="0" anchor="ctr"/>
          <a:lstStyle/>
          <a:p>
            <a:pPr algn="ctr"/>
          </a:p>
        </p:txBody>
      </p:sp>
      <p:sp>
        <p:nvSpPr>
          <p:cNvPr id="16" name="Text 15"/>
          <p:cNvSpPr txBox="1"/>
          <p:nvPr/>
        </p:nvSpPr>
        <p:spPr>
          <a:xfrm>
            <a:off x="4208859" y="2387560"/>
            <a:ext cx="3124200" cy="3175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lang="ar-SA" altLang="en-US">
                <a:solidFill>
                  <a:srgbClr val="24506B"/>
                </a:solidFill>
                <a:latin typeface="Readex Pro"/>
                <a:ea typeface="Readex Pro"/>
                <a:cs typeface="Readex Pro"/>
              </a:rPr>
              <a:t>الدليل المركزي</a:t>
            </a:r>
          </a:p>
        </p:txBody>
      </p:sp>
      <p:sp>
        <p:nvSpPr>
          <p:cNvPr id="17" name="Text 16"/>
          <p:cNvSpPr txBox="1"/>
          <p:nvPr/>
        </p:nvSpPr>
        <p:spPr>
          <a:xfrm>
            <a:off x="4266644" y="2714204"/>
            <a:ext cx="3008630" cy="548481"/>
          </a:xfrm>
          <a:prstGeom prst="rect">
            <a:avLst/>
          </a:prstGeom>
          <a:noFill/>
        </p:spPr>
        <p:txBody>
          <a:bodyPr wrap="square" tIns="0" rIns="0" bIns="0" lIns="0" anchor="t" rtlCol="0" anchorCtr="0">
            <a:noAutofit/>
          </a:bodyPr>
          <a:lstStyle/>
          <a:p>
            <a:pPr algn="ctr" rtl="1">
              <a:lnSpc>
                <a:spcPts val="2160"/>
              </a:lnSpc>
              <a:spcBef>
                <a:spcPts val="0"/>
              </a:spcBef>
              <a:spcAft>
                <a:spcPts val="0"/>
              </a:spcAft>
            </a:pPr>
            <a:r>
              <a:rPr sz="1600" b="0" i="0" lang="ar-SA" altLang="en-US">
                <a:solidFill>
                  <a:srgbClr val="4E5A66"/>
                </a:solidFill>
                <a:latin typeface="IBM Plex Sans Arabic"/>
                <a:ea typeface="IBM Plex Sans Arabic"/>
                <a:cs typeface="IBM Plex Sans Arabic"/>
              </a:rPr>
              <a:t>مثل Active Directory: الحسابات والمجموعات في مكان واحد</a:t>
            </a:r>
          </a:p>
        </p:txBody>
      </p:sp>
      <p:sp>
        <p:nvSpPr>
          <p:cNvPr id="18" name="Text 17"/>
          <p:cNvSpPr txBox="1"/>
          <p:nvPr/>
        </p:nvSpPr>
        <p:spPr>
          <a:xfrm>
            <a:off x="3733800" y="2727841"/>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9" name="Box 18"/>
          <p:cNvSpPr/>
          <p:nvPr/>
        </p:nvSpPr>
        <p:spPr>
          <a:xfrm>
            <a:off x="819150" y="2179935"/>
            <a:ext cx="2971800" cy="735310"/>
          </a:xfrm>
          <a:prstGeom prst="roundRect">
            <a:avLst>
              <a:gd name="adj" fmla="val 11884"/>
            </a:avLst>
          </a:prstGeom>
          <a:solidFill>
            <a:srgbClr val="FFF8F6"/>
          </a:solidFill>
          <a:ln w="12700">
            <a:solidFill>
              <a:srgbClr val="B4412C"/>
            </a:solidFill>
          </a:ln>
        </p:spPr>
        <p:txBody>
          <a:bodyPr rtlCol="0" anchor="ctr"/>
          <a:lstStyle/>
          <a:p>
            <a:pPr algn="ctr"/>
          </a:p>
        </p:txBody>
      </p:sp>
      <p:sp>
        <p:nvSpPr>
          <p:cNvPr id="20" name="Text 19"/>
          <p:cNvSpPr txBox="1"/>
          <p:nvPr/>
        </p:nvSpPr>
        <p:spPr>
          <a:xfrm>
            <a:off x="838200" y="2279757"/>
            <a:ext cx="2933700" cy="254000"/>
          </a:xfrm>
          <a:prstGeom prst="rect">
            <a:avLst/>
          </a:prstGeom>
          <a:noFill/>
        </p:spPr>
        <p:txBody>
          <a:bodyPr wrap="square" tIns="0" rIns="0" bIns="0" lIns="0" anchor="t" rtlCol="0" anchorCtr="0">
            <a:noAutofit/>
          </a:bodyPr>
          <a:lstStyle/>
          <a:p>
            <a:pPr algn="ctr" rtl="1">
              <a:lnSpc>
                <a:spcPts val="2000"/>
              </a:lnSpc>
              <a:spcBef>
                <a:spcPts val="0"/>
              </a:spcBef>
              <a:spcAft>
                <a:spcPts val="0"/>
              </a:spcAft>
            </a:pPr>
            <a:r>
              <a:rPr sz="1600" b="1" i="0" lang="ar-SA" altLang="en-US">
                <a:solidFill>
                  <a:srgbClr val="B4412C"/>
                </a:solidFill>
                <a:latin typeface="Readex Pro"/>
                <a:ea typeface="Readex Pro"/>
                <a:cs typeface="Readex Pro"/>
              </a:rPr>
              <a:t>نظام سحابي غير مربوط</a:t>
            </a:r>
          </a:p>
        </p:txBody>
      </p:sp>
      <p:sp>
        <p:nvSpPr>
          <p:cNvPr id="21" name="Text 20"/>
          <p:cNvSpPr txBox="1"/>
          <p:nvPr/>
        </p:nvSpPr>
        <p:spPr>
          <a:xfrm>
            <a:off x="838200" y="2544171"/>
            <a:ext cx="2933700" cy="240010"/>
          </a:xfrm>
          <a:prstGeom prst="rect">
            <a:avLst/>
          </a:prstGeom>
          <a:noFill/>
        </p:spPr>
        <p:txBody>
          <a:bodyPr wrap="square" tIns="0" rIns="0" bIns="0" lIns="0" anchor="t" rtlCol="0" anchorCtr="0">
            <a:noAutofit/>
          </a:bodyPr>
          <a:lstStyle/>
          <a:p>
            <a:pPr algn="ctr" rtl="1">
              <a:lnSpc>
                <a:spcPts val="1889"/>
              </a:lnSpc>
              <a:spcBef>
                <a:spcPts val="0"/>
              </a:spcBef>
              <a:spcAft>
                <a:spcPts val="0"/>
              </a:spcAft>
            </a:pPr>
            <a:r>
              <a:rPr sz="1400" b="0" i="0" lang="ar-SA" altLang="en-US">
                <a:solidFill>
                  <a:srgbClr val="4E5A66"/>
                </a:solidFill>
                <a:latin typeface="IBM Plex Sans Arabic"/>
                <a:ea typeface="IBM Plex Sans Arabic"/>
                <a:cs typeface="IBM Plex Sans Arabic"/>
              </a:rPr>
              <a:t>مثل نظام رواتب بحسابات مستقلة</a:t>
            </a:r>
          </a:p>
        </p:txBody>
      </p:sp>
      <p:sp>
        <p:nvSpPr>
          <p:cNvPr id="22" name="Text 21"/>
          <p:cNvSpPr txBox="1"/>
          <p:nvPr/>
        </p:nvSpPr>
        <p:spPr>
          <a:xfrm>
            <a:off x="723265" y="2965791"/>
            <a:ext cx="3074035"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4E5A66"/>
                </a:solidFill>
                <a:latin typeface="IBM Plex Sans Arabic"/>
                <a:ea typeface="IBM Plex Sans Arabic"/>
                <a:cs typeface="IBM Plex Sans Arabic"/>
              </a:rPr>
              <a:t>تعطيل الحساب في الدليل لا يغلق حسابه في هذا النظام، فقد يبقى نشطاً بعد المغادرة.</a:t>
            </a:r>
          </a:p>
        </p:txBody>
      </p:sp>
      <p:sp>
        <p:nvSpPr>
          <p:cNvPr id="23" name="Text 22"/>
          <p:cNvSpPr txBox="1"/>
          <p:nvPr/>
        </p:nvSpPr>
        <p:spPr>
          <a:xfrm>
            <a:off x="0" y="4182900"/>
            <a:ext cx="113792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LDAP: الطريقة التي تسأل بها الأنظمة الدليل: من هذا المستخدم؟ وإلى أي مجموعة ينتمي؟ لا تحتاج أكثر من هذا.</a:t>
            </a:r>
          </a:p>
        </p:txBody>
      </p:sp>
      <p:sp>
        <p:nvSpPr>
          <p:cNvPr id="24" name="Rule 23"/>
          <p:cNvSpPr/>
          <p:nvPr/>
        </p:nvSpPr>
        <p:spPr>
          <a:xfrm>
            <a:off x="7958634" y="4691856"/>
            <a:ext cx="3420566" cy="31750"/>
          </a:xfrm>
          <a:prstGeom prst="rect">
            <a:avLst/>
          </a:prstGeom>
          <a:solidFill>
            <a:srgbClr val="B4412C"/>
          </a:solidFill>
          <a:ln>
            <a:noFill/>
          </a:ln>
        </p:spPr>
        <p:txBody>
          <a:bodyPr rtlCol="0" anchor="ctr"/>
          <a:lstStyle/>
          <a:p>
            <a:pPr algn="ctr"/>
          </a:p>
        </p:txBody>
      </p:sp>
      <p:sp>
        <p:nvSpPr>
          <p:cNvPr id="25" name="Text 24"/>
          <p:cNvSpPr txBox="1"/>
          <p:nvPr/>
        </p:nvSpPr>
        <p:spPr>
          <a:xfrm>
            <a:off x="7984034" y="4831810"/>
            <a:ext cx="3357066"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B4412C"/>
                </a:solidFill>
                <a:latin typeface="IBM Plex Sans Arabic"/>
                <a:ea typeface="IBM Plex Sans Arabic"/>
                <a:cs typeface="IBM Plex Sans Arabic"/>
              </a:rPr>
              <a:t>الخطر</a:t>
            </a:r>
          </a:p>
        </p:txBody>
      </p:sp>
      <p:sp>
        <p:nvSpPr>
          <p:cNvPr id="26" name="Text 25"/>
          <p:cNvSpPr txBox="1"/>
          <p:nvPr/>
        </p:nvSpPr>
        <p:spPr>
          <a:xfrm>
            <a:off x="7984034" y="5191962"/>
            <a:ext cx="3357066"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حساب مغادر نشط يفتح كل ما يرتبط بالدليل، ومجموعة إدارية متضخمة.</a:t>
            </a:r>
          </a:p>
        </p:txBody>
      </p:sp>
      <p:sp>
        <p:nvSpPr>
          <p:cNvPr id="27" name="Rule 26"/>
          <p:cNvSpPr/>
          <p:nvPr/>
        </p:nvSpPr>
        <p:spPr>
          <a:xfrm>
            <a:off x="4385667" y="4691856"/>
            <a:ext cx="3420566" cy="31750"/>
          </a:xfrm>
          <a:prstGeom prst="rect">
            <a:avLst/>
          </a:prstGeom>
          <a:solidFill>
            <a:srgbClr val="24506B"/>
          </a:solidFill>
          <a:ln>
            <a:noFill/>
          </a:ln>
        </p:spPr>
        <p:txBody>
          <a:bodyPr rtlCol="0" anchor="ctr"/>
          <a:lstStyle/>
          <a:p>
            <a:pPr algn="ctr"/>
          </a:p>
        </p:txBody>
      </p:sp>
      <p:sp>
        <p:nvSpPr>
          <p:cNvPr id="28" name="Text 27"/>
          <p:cNvSpPr txBox="1"/>
          <p:nvPr/>
        </p:nvSpPr>
        <p:spPr>
          <a:xfrm>
            <a:off x="4411067" y="4831810"/>
            <a:ext cx="3357066"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24506B"/>
                </a:solidFill>
                <a:latin typeface="IBM Plex Sans Arabic"/>
                <a:ea typeface="IBM Plex Sans Arabic"/>
                <a:cs typeface="IBM Plex Sans Arabic"/>
              </a:rPr>
              <a:t>الضابط</a:t>
            </a:r>
          </a:p>
        </p:txBody>
      </p:sp>
      <p:sp>
        <p:nvSpPr>
          <p:cNvPr id="29" name="Text 28"/>
          <p:cNvSpPr txBox="1"/>
          <p:nvPr/>
        </p:nvSpPr>
        <p:spPr>
          <a:xfrm>
            <a:off x="4411067" y="5191962"/>
            <a:ext cx="3357066"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ربط الدليل بإجراء المغادرين، ومراجعة المجموعات الإدارية.</a:t>
            </a:r>
          </a:p>
        </p:txBody>
      </p:sp>
      <p:sp>
        <p:nvSpPr>
          <p:cNvPr id="30" name="Rule 29"/>
          <p:cNvSpPr/>
          <p:nvPr/>
        </p:nvSpPr>
        <p:spPr>
          <a:xfrm>
            <a:off x="812701" y="4691856"/>
            <a:ext cx="3420566" cy="31750"/>
          </a:xfrm>
          <a:prstGeom prst="rect">
            <a:avLst/>
          </a:prstGeom>
          <a:solidFill>
            <a:srgbClr val="8A4B12"/>
          </a:solidFill>
          <a:ln>
            <a:noFill/>
          </a:ln>
        </p:spPr>
        <p:txBody>
          <a:bodyPr rtlCol="0" anchor="ctr"/>
          <a:lstStyle/>
          <a:p>
            <a:pPr algn="ctr"/>
          </a:p>
        </p:txBody>
      </p:sp>
      <p:sp>
        <p:nvSpPr>
          <p:cNvPr id="31" name="Text 30"/>
          <p:cNvSpPr txBox="1"/>
          <p:nvPr/>
        </p:nvSpPr>
        <p:spPr>
          <a:xfrm>
            <a:off x="838101" y="4831810"/>
            <a:ext cx="3357066"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8A4B12"/>
                </a:solidFill>
                <a:latin typeface="IBM Plex Sans Arabic"/>
                <a:ea typeface="IBM Plex Sans Arabic"/>
                <a:cs typeface="IBM Plex Sans Arabic"/>
              </a:rPr>
              <a:t>الدليل</a:t>
            </a:r>
          </a:p>
        </p:txBody>
      </p:sp>
      <p:sp>
        <p:nvSpPr>
          <p:cNvPr id="32" name="Text 31"/>
          <p:cNvSpPr txBox="1"/>
          <p:nvPr/>
        </p:nvSpPr>
        <p:spPr>
          <a:xfrm>
            <a:off x="838101" y="5191962"/>
            <a:ext cx="3357066"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الحسابات المعطلة مقابل قائمة المغادرين، وأعضاء المجموعات الإدارية.</a:t>
            </a:r>
          </a:p>
        </p:txBody>
      </p:sp>
      <p:sp>
        <p:nvSpPr>
          <p:cNvPr id="33" name="Text 32"/>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02 · الأساس التقني</a:t>
            </a:r>
          </a:p>
        </p:txBody>
      </p:sp>
      <p:sp>
        <p:nvSpPr>
          <p:cNvPr id="34" name="Text 33"/>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02 · الأساس التقني</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الشبكات: من أين يدخل الاتصال، وأين يُسجَّل؟</a:t>
            </a:r>
          </a:p>
        </p:txBody>
      </p:sp>
      <p:sp>
        <p:nvSpPr>
          <p:cNvPr id="5" name="Box 4"/>
          <p:cNvSpPr/>
          <p:nvPr/>
        </p:nvSpPr>
        <p:spPr>
          <a:xfrm>
            <a:off x="9925050" y="1848445"/>
            <a:ext cx="1447800" cy="1175941"/>
          </a:xfrm>
          <a:prstGeom prst="roundRect">
            <a:avLst>
              <a:gd name="adj" fmla="val 7479"/>
            </a:avLst>
          </a:prstGeom>
          <a:solidFill>
            <a:srgbClr val="FFFDF8"/>
          </a:solidFill>
          <a:ln w="12700">
            <a:solidFill>
              <a:srgbClr val="172433"/>
            </a:solidFill>
          </a:ln>
        </p:spPr>
        <p:txBody>
          <a:bodyPr rtlCol="0" anchor="ctr"/>
          <a:lstStyle/>
          <a:p>
            <a:pPr algn="ctr"/>
          </a:p>
        </p:txBody>
      </p:sp>
      <p:sp>
        <p:nvSpPr>
          <p:cNvPr id="6" name="Text 5"/>
          <p:cNvSpPr txBox="1"/>
          <p:nvPr/>
        </p:nvSpPr>
        <p:spPr>
          <a:xfrm>
            <a:off x="9969500" y="1946235"/>
            <a:ext cx="1358900" cy="3175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lang="ar-SA" altLang="en-US">
                <a:solidFill>
                  <a:srgbClr val="172433"/>
                </a:solidFill>
                <a:latin typeface="Readex Pro"/>
                <a:ea typeface="Readex Pro"/>
                <a:cs typeface="Readex Pro"/>
              </a:rPr>
              <a:t>الإنترنت</a:t>
            </a:r>
          </a:p>
        </p:txBody>
      </p:sp>
      <p:sp>
        <p:nvSpPr>
          <p:cNvPr id="7" name="Text 6"/>
          <p:cNvSpPr txBox="1"/>
          <p:nvPr/>
        </p:nvSpPr>
        <p:spPr>
          <a:xfrm>
            <a:off x="10017125" y="2269577"/>
            <a:ext cx="1263650" cy="617141"/>
          </a:xfrm>
          <a:prstGeom prst="rect">
            <a:avLst/>
          </a:prstGeom>
          <a:noFill/>
        </p:spPr>
        <p:txBody>
          <a:bodyPr wrap="square" tIns="0" rIns="0" bIns="0" lIns="0" anchor="t" rtlCol="0" anchorCtr="0">
            <a:noAutofit/>
          </a:bodyPr>
          <a:lstStyle/>
          <a:p>
            <a:pPr algn="ctr" rtl="1">
              <a:lnSpc>
                <a:spcPts val="2430"/>
              </a:lnSpc>
              <a:spcBef>
                <a:spcPts val="0"/>
              </a:spcBef>
              <a:spcAft>
                <a:spcPts val="0"/>
              </a:spcAft>
            </a:pPr>
            <a:r>
              <a:rPr sz="1800" b="0" i="0" lang="ar-SA" altLang="en-US">
                <a:solidFill>
                  <a:srgbClr val="4E5A66"/>
                </a:solidFill>
                <a:latin typeface="IBM Plex Sans Arabic"/>
                <a:ea typeface="IBM Plex Sans Arabic"/>
                <a:cs typeface="IBM Plex Sans Arabic"/>
              </a:rPr>
              <a:t>الموظف من المنزل</a:t>
            </a:r>
          </a:p>
        </p:txBody>
      </p:sp>
      <p:sp>
        <p:nvSpPr>
          <p:cNvPr id="8" name="Text 7"/>
          <p:cNvSpPr txBox="1"/>
          <p:nvPr/>
        </p:nvSpPr>
        <p:spPr>
          <a:xfrm>
            <a:off x="9481741" y="2320846"/>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9" name="Box 8"/>
          <p:cNvSpPr/>
          <p:nvPr/>
        </p:nvSpPr>
        <p:spPr>
          <a:xfrm>
            <a:off x="7913291" y="1689695"/>
            <a:ext cx="1638300" cy="1493441"/>
          </a:xfrm>
          <a:prstGeom prst="roundRect">
            <a:avLst>
              <a:gd name="adj" fmla="val 5902"/>
            </a:avLst>
          </a:prstGeom>
          <a:solidFill>
            <a:srgbClr val="FFFDF8"/>
          </a:solidFill>
          <a:ln w="12700">
            <a:solidFill>
              <a:srgbClr val="B4412C"/>
            </a:solidFill>
          </a:ln>
        </p:spPr>
        <p:txBody>
          <a:bodyPr rtlCol="0" anchor="ctr"/>
          <a:lstStyle/>
          <a:p>
            <a:pPr algn="ctr"/>
          </a:p>
        </p:txBody>
      </p:sp>
      <p:sp>
        <p:nvSpPr>
          <p:cNvPr id="10" name="Text 9"/>
          <p:cNvSpPr txBox="1"/>
          <p:nvPr/>
        </p:nvSpPr>
        <p:spPr>
          <a:xfrm>
            <a:off x="8002191" y="1787485"/>
            <a:ext cx="1460500" cy="6350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lang="ar-SA" altLang="en-US">
                <a:solidFill>
                  <a:srgbClr val="B4412C"/>
                </a:solidFill>
                <a:latin typeface="Readex Pro"/>
                <a:ea typeface="Readex Pro"/>
                <a:cs typeface="Readex Pro"/>
              </a:rPr>
              <a:t>الجدار الناري</a:t>
            </a:r>
          </a:p>
        </p:txBody>
      </p:sp>
      <p:sp>
        <p:nvSpPr>
          <p:cNvPr id="11" name="Text 10"/>
          <p:cNvSpPr txBox="1"/>
          <p:nvPr/>
        </p:nvSpPr>
        <p:spPr>
          <a:xfrm>
            <a:off x="8005366" y="2428327"/>
            <a:ext cx="1454150" cy="617141"/>
          </a:xfrm>
          <a:prstGeom prst="rect">
            <a:avLst/>
          </a:prstGeom>
          <a:noFill/>
        </p:spPr>
        <p:txBody>
          <a:bodyPr wrap="square" tIns="0" rIns="0" bIns="0" lIns="0" anchor="t" rtlCol="0" anchorCtr="0">
            <a:noAutofit/>
          </a:bodyPr>
          <a:lstStyle/>
          <a:p>
            <a:pPr algn="ctr" rtl="1">
              <a:lnSpc>
                <a:spcPts val="2430"/>
              </a:lnSpc>
              <a:spcBef>
                <a:spcPts val="0"/>
              </a:spcBef>
              <a:spcAft>
                <a:spcPts val="0"/>
              </a:spcAft>
            </a:pPr>
            <a:r>
              <a:rPr sz="1800" b="0" i="0" lang="ar-SA" altLang="en-US">
                <a:solidFill>
                  <a:srgbClr val="4E5A66"/>
                </a:solidFill>
                <a:latin typeface="IBM Plex Sans Arabic"/>
                <a:ea typeface="IBM Plex Sans Arabic"/>
                <a:cs typeface="IBM Plex Sans Arabic"/>
              </a:rPr>
              <a:t>يسمح بالمعتمد فقط</a:t>
            </a:r>
          </a:p>
        </p:txBody>
      </p:sp>
      <p:sp>
        <p:nvSpPr>
          <p:cNvPr id="12" name="Text 11"/>
          <p:cNvSpPr txBox="1"/>
          <p:nvPr/>
        </p:nvSpPr>
        <p:spPr>
          <a:xfrm>
            <a:off x="7469981" y="2320846"/>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3" name="Box 12"/>
          <p:cNvSpPr/>
          <p:nvPr/>
        </p:nvSpPr>
        <p:spPr>
          <a:xfrm>
            <a:off x="5901531" y="1848445"/>
            <a:ext cx="1638300" cy="1175941"/>
          </a:xfrm>
          <a:prstGeom prst="roundRect">
            <a:avLst>
              <a:gd name="adj" fmla="val 7479"/>
            </a:avLst>
          </a:prstGeom>
          <a:solidFill>
            <a:srgbClr val="FFFDF8"/>
          </a:solidFill>
          <a:ln w="12700">
            <a:solidFill>
              <a:srgbClr val="0E7C6B"/>
            </a:solidFill>
          </a:ln>
        </p:spPr>
        <p:txBody>
          <a:bodyPr rtlCol="0" anchor="ctr"/>
          <a:lstStyle/>
          <a:p>
            <a:pPr algn="ctr"/>
          </a:p>
        </p:txBody>
      </p:sp>
      <p:sp>
        <p:nvSpPr>
          <p:cNvPr id="14" name="Text 13"/>
          <p:cNvSpPr txBox="1"/>
          <p:nvPr/>
        </p:nvSpPr>
        <p:spPr>
          <a:xfrm>
            <a:off x="5945981" y="1946235"/>
            <a:ext cx="1549400" cy="3175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lang="ar-SA" altLang="en-US">
                <a:solidFill>
                  <a:srgbClr val="0E7C6B"/>
                </a:solidFill>
                <a:latin typeface="Readex Pro"/>
                <a:ea typeface="Readex Pro"/>
                <a:cs typeface="Readex Pro"/>
              </a:rPr>
              <a:t>بوابة VPN</a:t>
            </a:r>
          </a:p>
        </p:txBody>
      </p:sp>
      <p:sp>
        <p:nvSpPr>
          <p:cNvPr id="15" name="Text 14"/>
          <p:cNvSpPr txBox="1"/>
          <p:nvPr/>
        </p:nvSpPr>
        <p:spPr>
          <a:xfrm>
            <a:off x="5993606" y="2269577"/>
            <a:ext cx="1454150" cy="617141"/>
          </a:xfrm>
          <a:prstGeom prst="rect">
            <a:avLst/>
          </a:prstGeom>
          <a:noFill/>
        </p:spPr>
        <p:txBody>
          <a:bodyPr wrap="square" tIns="0" rIns="0" bIns="0" lIns="0" anchor="t" rtlCol="0" anchorCtr="0">
            <a:noAutofit/>
          </a:bodyPr>
          <a:lstStyle/>
          <a:p>
            <a:pPr algn="ctr" rtl="1">
              <a:lnSpc>
                <a:spcPts val="2430"/>
              </a:lnSpc>
              <a:spcBef>
                <a:spcPts val="0"/>
              </a:spcBef>
              <a:spcAft>
                <a:spcPts val="0"/>
              </a:spcAft>
            </a:pPr>
            <a:r>
              <a:rPr sz="1800" b="0" i="0" lang="ar-SA" altLang="en-US">
                <a:solidFill>
                  <a:srgbClr val="4E5A66"/>
                </a:solidFill>
                <a:latin typeface="IBM Plex Sans Arabic"/>
                <a:ea typeface="IBM Plex Sans Arabic"/>
                <a:cs typeface="IBM Plex Sans Arabic"/>
              </a:rPr>
              <a:t>نفق مشفر + MFA</a:t>
            </a:r>
          </a:p>
        </p:txBody>
      </p:sp>
      <p:sp>
        <p:nvSpPr>
          <p:cNvPr id="16" name="Text 15"/>
          <p:cNvSpPr txBox="1"/>
          <p:nvPr/>
        </p:nvSpPr>
        <p:spPr>
          <a:xfrm>
            <a:off x="5458222" y="2320846"/>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7" name="Box 16"/>
          <p:cNvSpPr/>
          <p:nvPr/>
        </p:nvSpPr>
        <p:spPr>
          <a:xfrm>
            <a:off x="812800" y="1709341"/>
            <a:ext cx="4721622" cy="1454051"/>
          </a:xfrm>
          <a:prstGeom prst="roundRect">
            <a:avLst>
              <a:gd name="adj" fmla="val 6987"/>
            </a:avLst>
          </a:prstGeom>
          <a:solidFill>
            <a:srgbClr val="F1ECE1"/>
          </a:solidFill>
          <a:ln>
            <a:noFill/>
          </a:ln>
        </p:spPr>
        <p:txBody>
          <a:bodyPr rtlCol="0" anchor="ctr"/>
          <a:lstStyle/>
          <a:p>
            <a:pPr algn="ctr"/>
          </a:p>
        </p:txBody>
      </p:sp>
      <p:sp>
        <p:nvSpPr>
          <p:cNvPr id="18" name="Box 17"/>
          <p:cNvSpPr/>
          <p:nvPr/>
        </p:nvSpPr>
        <p:spPr>
          <a:xfrm>
            <a:off x="3406477" y="1817291"/>
            <a:ext cx="2019995" cy="867370"/>
          </a:xfrm>
          <a:prstGeom prst="roundRect">
            <a:avLst>
              <a:gd name="adj" fmla="val 10101"/>
            </a:avLst>
          </a:prstGeom>
          <a:solidFill>
            <a:srgbClr val="FFFDF8"/>
          </a:solidFill>
          <a:ln w="12700">
            <a:solidFill>
              <a:srgbClr val="24506B"/>
            </a:solidFill>
          </a:ln>
        </p:spPr>
        <p:txBody>
          <a:bodyPr rtlCol="0" anchor="ctr"/>
          <a:lstStyle/>
          <a:p>
            <a:pPr algn="ctr"/>
          </a:p>
        </p:txBody>
      </p:sp>
      <p:sp>
        <p:nvSpPr>
          <p:cNvPr id="19" name="Text 18"/>
          <p:cNvSpPr txBox="1"/>
          <p:nvPr/>
        </p:nvSpPr>
        <p:spPr>
          <a:xfrm>
            <a:off x="3450927" y="1915081"/>
            <a:ext cx="1931095" cy="3175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lang="ar-SA" altLang="en-US">
                <a:solidFill>
                  <a:srgbClr val="24506B"/>
                </a:solidFill>
                <a:latin typeface="Readex Pro"/>
                <a:ea typeface="Readex Pro"/>
                <a:cs typeface="Readex Pro"/>
              </a:rPr>
              <a:t>شبكة المكاتب</a:t>
            </a:r>
          </a:p>
        </p:txBody>
      </p:sp>
      <p:sp>
        <p:nvSpPr>
          <p:cNvPr id="20" name="Text 19"/>
          <p:cNvSpPr txBox="1"/>
          <p:nvPr/>
        </p:nvSpPr>
        <p:spPr>
          <a:xfrm>
            <a:off x="3455980" y="2238423"/>
            <a:ext cx="1920990" cy="308570"/>
          </a:xfrm>
          <a:prstGeom prst="rect">
            <a:avLst/>
          </a:prstGeom>
          <a:noFill/>
        </p:spPr>
        <p:txBody>
          <a:bodyPr wrap="square" tIns="0" rIns="0" bIns="0" lIns="0" anchor="t" rtlCol="0" anchorCtr="0">
            <a:noAutofit/>
          </a:bodyPr>
          <a:lstStyle/>
          <a:p>
            <a:pPr algn="ctr" rtl="1">
              <a:lnSpc>
                <a:spcPts val="2430"/>
              </a:lnSpc>
              <a:spcBef>
                <a:spcPts val="0"/>
              </a:spcBef>
              <a:spcAft>
                <a:spcPts val="0"/>
              </a:spcAft>
            </a:pPr>
            <a:r>
              <a:rPr sz="1800" b="0" i="0" lang="ar-SA" altLang="en-US">
                <a:solidFill>
                  <a:srgbClr val="4E5A66"/>
                </a:solidFill>
                <a:latin typeface="IBM Plex Sans Arabic"/>
                <a:ea typeface="IBM Plex Sans Arabic"/>
                <a:cs typeface="IBM Plex Sans Arabic"/>
              </a:rPr>
              <a:t>أجهزة الموظفين</a:t>
            </a:r>
          </a:p>
        </p:txBody>
      </p:sp>
      <p:sp>
        <p:nvSpPr>
          <p:cNvPr id="21" name="Text 20"/>
          <p:cNvSpPr txBox="1"/>
          <p:nvPr/>
        </p:nvSpPr>
        <p:spPr>
          <a:xfrm>
            <a:off x="2761575" y="2042950"/>
            <a:ext cx="549652"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0" i="0">
                <a:solidFill>
                  <a:srgbClr val="B4412C"/>
                </a:solidFill>
                <a:latin typeface="IBM Plex Sans Arabic"/>
                <a:ea typeface="IBM Plex Sans Arabic"/>
                <a:cs typeface="IBM Plex Sans Arabic"/>
              </a:rPr>
              <a:t>┆</a:t>
            </a:r>
          </a:p>
        </p:txBody>
      </p:sp>
      <p:sp>
        <p:nvSpPr>
          <p:cNvPr id="22" name="Box 21"/>
          <p:cNvSpPr/>
          <p:nvPr/>
        </p:nvSpPr>
        <p:spPr>
          <a:xfrm>
            <a:off x="920651" y="1817291"/>
            <a:ext cx="2019995" cy="867370"/>
          </a:xfrm>
          <a:prstGeom prst="roundRect">
            <a:avLst>
              <a:gd name="adj" fmla="val 10101"/>
            </a:avLst>
          </a:prstGeom>
          <a:solidFill>
            <a:srgbClr val="FFFDF8"/>
          </a:solidFill>
          <a:ln w="12700">
            <a:solidFill>
              <a:srgbClr val="24506B"/>
            </a:solidFill>
          </a:ln>
        </p:spPr>
        <p:txBody>
          <a:bodyPr rtlCol="0" anchor="ctr"/>
          <a:lstStyle/>
          <a:p>
            <a:pPr algn="ctr"/>
          </a:p>
        </p:txBody>
      </p:sp>
      <p:sp>
        <p:nvSpPr>
          <p:cNvPr id="23" name="Text 22"/>
          <p:cNvSpPr txBox="1"/>
          <p:nvPr/>
        </p:nvSpPr>
        <p:spPr>
          <a:xfrm>
            <a:off x="965101" y="1915081"/>
            <a:ext cx="1931095" cy="3175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lang="ar-SA" altLang="en-US">
                <a:solidFill>
                  <a:srgbClr val="24506B"/>
                </a:solidFill>
                <a:latin typeface="Readex Pro"/>
                <a:ea typeface="Readex Pro"/>
                <a:cs typeface="Readex Pro"/>
              </a:rPr>
              <a:t>شبكة الخوادم</a:t>
            </a:r>
          </a:p>
        </p:txBody>
      </p:sp>
      <p:sp>
        <p:nvSpPr>
          <p:cNvPr id="24" name="Text 23"/>
          <p:cNvSpPr txBox="1"/>
          <p:nvPr/>
        </p:nvSpPr>
        <p:spPr>
          <a:xfrm>
            <a:off x="970153" y="2238423"/>
            <a:ext cx="1920990" cy="308570"/>
          </a:xfrm>
          <a:prstGeom prst="rect">
            <a:avLst/>
          </a:prstGeom>
          <a:noFill/>
        </p:spPr>
        <p:txBody>
          <a:bodyPr wrap="square" tIns="0" rIns="0" bIns="0" lIns="0" anchor="t" rtlCol="0" anchorCtr="0">
            <a:noAutofit/>
          </a:bodyPr>
          <a:lstStyle/>
          <a:p>
            <a:pPr algn="ctr" rtl="1">
              <a:lnSpc>
                <a:spcPts val="2430"/>
              </a:lnSpc>
              <a:spcBef>
                <a:spcPts val="0"/>
              </a:spcBef>
              <a:spcAft>
                <a:spcPts val="0"/>
              </a:spcAft>
            </a:pPr>
            <a:r>
              <a:rPr sz="1800" b="0" i="0" lang="ar-SA" altLang="en-US">
                <a:solidFill>
                  <a:srgbClr val="4E5A66"/>
                </a:solidFill>
                <a:latin typeface="IBM Plex Sans Arabic"/>
                <a:ea typeface="IBM Plex Sans Arabic"/>
                <a:cs typeface="IBM Plex Sans Arabic"/>
              </a:rPr>
              <a:t>أنظمة داخلية</a:t>
            </a:r>
          </a:p>
        </p:txBody>
      </p:sp>
      <p:sp>
        <p:nvSpPr>
          <p:cNvPr id="25" name="Text 24"/>
          <p:cNvSpPr txBox="1"/>
          <p:nvPr/>
        </p:nvSpPr>
        <p:spPr>
          <a:xfrm>
            <a:off x="838200" y="2706378"/>
            <a:ext cx="4670822" cy="319980"/>
          </a:xfrm>
          <a:prstGeom prst="rect">
            <a:avLst/>
          </a:prstGeom>
          <a:noFill/>
        </p:spPr>
        <p:txBody>
          <a:bodyPr wrap="square" tIns="0" rIns="0" bIns="0" lIns="0" anchor="t" rtlCol="0" anchorCtr="0">
            <a:noAutofit/>
          </a:bodyPr>
          <a:lstStyle/>
          <a:p>
            <a:pPr algn="ctr" rtl="1">
              <a:lnSpc>
                <a:spcPts val="2520"/>
              </a:lnSpc>
              <a:spcBef>
                <a:spcPts val="0"/>
              </a:spcBef>
              <a:spcAft>
                <a:spcPts val="0"/>
              </a:spcAft>
            </a:pPr>
            <a:r>
              <a:rPr sz="1800" b="0" i="0" lang="ar-SA" altLang="en-US">
                <a:solidFill>
                  <a:srgbClr val="B4412C"/>
                </a:solidFill>
                <a:latin typeface="IBM Plex Sans Arabic"/>
                <a:ea typeface="IBM Plex Sans Arabic"/>
                <a:cs typeface="IBM Plex Sans Arabic"/>
              </a:rPr>
              <a:t>فصل بقواعد بين الجزأين</a:t>
            </a:r>
          </a:p>
        </p:txBody>
      </p:sp>
      <p:sp>
        <p:nvSpPr>
          <p:cNvPr id="26" name="Box 25"/>
          <p:cNvSpPr/>
          <p:nvPr/>
        </p:nvSpPr>
        <p:spPr>
          <a:xfrm>
            <a:off x="8337550" y="3576836"/>
            <a:ext cx="3035300" cy="1184870"/>
          </a:xfrm>
          <a:prstGeom prst="roundRect">
            <a:avLst>
              <a:gd name="adj" fmla="val 7423"/>
            </a:avLst>
          </a:prstGeom>
          <a:solidFill>
            <a:srgbClr val="FFFDF8"/>
          </a:solidFill>
          <a:ln w="12700">
            <a:solidFill>
              <a:srgbClr val="24506B"/>
            </a:solidFill>
          </a:ln>
        </p:spPr>
        <p:txBody>
          <a:bodyPr rtlCol="0" anchor="ctr"/>
          <a:lstStyle/>
          <a:p>
            <a:pPr algn="ctr"/>
          </a:p>
        </p:txBody>
      </p:sp>
      <p:sp>
        <p:nvSpPr>
          <p:cNvPr id="27" name="Text 26"/>
          <p:cNvSpPr txBox="1"/>
          <p:nvPr/>
        </p:nvSpPr>
        <p:spPr>
          <a:xfrm>
            <a:off x="8416290" y="3674626"/>
            <a:ext cx="2877820" cy="6350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lang="ar-SA" altLang="en-US">
                <a:solidFill>
                  <a:srgbClr val="24506B"/>
                </a:solidFill>
                <a:latin typeface="Readex Pro"/>
                <a:ea typeface="Readex Pro"/>
                <a:cs typeface="Readex Pro"/>
              </a:rPr>
              <a:t>خادم تطبيق التتبع السحابي</a:t>
            </a:r>
          </a:p>
        </p:txBody>
      </p:sp>
      <p:sp>
        <p:nvSpPr>
          <p:cNvPr id="28" name="Text 27"/>
          <p:cNvSpPr txBox="1"/>
          <p:nvPr/>
        </p:nvSpPr>
        <p:spPr>
          <a:xfrm>
            <a:off x="8356600" y="4315468"/>
            <a:ext cx="2997200" cy="308570"/>
          </a:xfrm>
          <a:prstGeom prst="rect">
            <a:avLst/>
          </a:prstGeom>
          <a:noFill/>
        </p:spPr>
        <p:txBody>
          <a:bodyPr wrap="square" tIns="0" rIns="0" bIns="0" lIns="0" anchor="t" rtlCol="0" anchorCtr="0">
            <a:noAutofit/>
          </a:bodyPr>
          <a:lstStyle/>
          <a:p>
            <a:pPr algn="ctr" rtl="1">
              <a:lnSpc>
                <a:spcPts val="2430"/>
              </a:lnSpc>
              <a:spcBef>
                <a:spcPts val="0"/>
              </a:spcBef>
              <a:spcAft>
                <a:spcPts val="0"/>
              </a:spcAft>
            </a:pPr>
            <a:r>
              <a:rPr sz="1800" b="0" i="0" lang="ar-SA" altLang="en-US">
                <a:solidFill>
                  <a:srgbClr val="4E5A66"/>
                </a:solidFill>
                <a:latin typeface="IBM Plex Sans Arabic"/>
                <a:ea typeface="IBM Plex Sans Arabic"/>
                <a:cs typeface="IBM Plex Sans Arabic"/>
              </a:rPr>
              <a:t>خارج الشبكة الداخلية</a:t>
            </a:r>
          </a:p>
        </p:txBody>
      </p:sp>
      <p:sp>
        <p:nvSpPr>
          <p:cNvPr id="29" name="Text 28"/>
          <p:cNvSpPr txBox="1"/>
          <p:nvPr/>
        </p:nvSpPr>
        <p:spPr>
          <a:xfrm>
            <a:off x="7894241" y="4053701"/>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30" name="Box 29"/>
          <p:cNvSpPr/>
          <p:nvPr/>
        </p:nvSpPr>
        <p:spPr>
          <a:xfrm>
            <a:off x="5563791" y="3735586"/>
            <a:ext cx="2400300" cy="867370"/>
          </a:xfrm>
          <a:prstGeom prst="roundRect">
            <a:avLst>
              <a:gd name="adj" fmla="val 10101"/>
            </a:avLst>
          </a:prstGeom>
          <a:solidFill>
            <a:srgbClr val="FFF8F6"/>
          </a:solidFill>
          <a:ln w="12700">
            <a:solidFill>
              <a:srgbClr val="B4412C"/>
            </a:solidFill>
          </a:ln>
        </p:spPr>
        <p:txBody>
          <a:bodyPr rtlCol="0" anchor="ctr"/>
          <a:lstStyle/>
          <a:p>
            <a:pPr algn="ctr"/>
          </a:p>
        </p:txBody>
      </p:sp>
      <p:sp>
        <p:nvSpPr>
          <p:cNvPr id="31" name="Text 30"/>
          <p:cNvSpPr txBox="1"/>
          <p:nvPr/>
        </p:nvSpPr>
        <p:spPr>
          <a:xfrm>
            <a:off x="5598081" y="3833376"/>
            <a:ext cx="2331720" cy="3175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lang="ar-SA" altLang="en-US">
                <a:solidFill>
                  <a:srgbClr val="B4412C"/>
                </a:solidFill>
                <a:latin typeface="Readex Pro"/>
                <a:ea typeface="Readex Pro"/>
                <a:cs typeface="Readex Pro"/>
              </a:rPr>
              <a:t>أداة دعم المورد</a:t>
            </a:r>
          </a:p>
        </p:txBody>
      </p:sp>
      <p:sp>
        <p:nvSpPr>
          <p:cNvPr id="32" name="Text 31"/>
          <p:cNvSpPr txBox="1"/>
          <p:nvPr/>
        </p:nvSpPr>
        <p:spPr>
          <a:xfrm>
            <a:off x="5598081" y="4156718"/>
            <a:ext cx="2331720" cy="308570"/>
          </a:xfrm>
          <a:prstGeom prst="rect">
            <a:avLst/>
          </a:prstGeom>
          <a:noFill/>
        </p:spPr>
        <p:txBody>
          <a:bodyPr wrap="square" tIns="0" rIns="0" bIns="0" lIns="0" anchor="t" rtlCol="0" anchorCtr="0">
            <a:noAutofit/>
          </a:bodyPr>
          <a:lstStyle/>
          <a:p>
            <a:pPr algn="ctr" rtl="1">
              <a:lnSpc>
                <a:spcPts val="2430"/>
              </a:lnSpc>
              <a:spcBef>
                <a:spcPts val="0"/>
              </a:spcBef>
              <a:spcAft>
                <a:spcPts val="0"/>
              </a:spcAft>
            </a:pPr>
            <a:r>
              <a:rPr sz="1800" b="0" i="0" lang="ar-SA" altLang="en-US">
                <a:solidFill>
                  <a:srgbClr val="4E5A66"/>
                </a:solidFill>
                <a:latin typeface="IBM Plex Sans Arabic"/>
                <a:ea typeface="IBM Plex Sans Arabic"/>
                <a:cs typeface="IBM Plex Sans Arabic"/>
              </a:rPr>
              <a:t>مكشوفة على الإنترنت</a:t>
            </a:r>
          </a:p>
        </p:txBody>
      </p:sp>
      <p:sp>
        <p:nvSpPr>
          <p:cNvPr id="33" name="Text 32"/>
          <p:cNvSpPr txBox="1"/>
          <p:nvPr/>
        </p:nvSpPr>
        <p:spPr>
          <a:xfrm>
            <a:off x="672747" y="3774301"/>
            <a:ext cx="4808494"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lang="ar-SA" altLang="en-US">
                <a:solidFill>
                  <a:srgbClr val="4E5A66"/>
                </a:solidFill>
                <a:latin typeface="IBM Plex Sans Arabic"/>
                <a:ea typeface="IBM Plex Sans Arabic"/>
                <a:cs typeface="IBM Plex Sans Arabic"/>
              </a:rPr>
              <a:t>مثال على خطر خارج الشبكة الداخلية: يُقيَّم كما يُقيَّم غيره.</a:t>
            </a:r>
          </a:p>
        </p:txBody>
      </p:sp>
      <p:pic>
        <p:nvPicPr>
          <p:cNvPr id="34" name="Icon Activity 33" descr="icon010.png"/>
          <p:cNvPicPr>
            <a:picLocks noChangeAspect="1"/>
          </p:cNvPicPr>
          <p:nvPr/>
        </p:nvPicPr>
        <p:blipFill>
          <a:blip r:embed="rId2"/>
          <a:stretch>
            <a:fillRect/>
          </a:stretch>
        </p:blipFill>
        <p:spPr>
          <a:xfrm>
            <a:off x="11010900" y="5149056"/>
            <a:ext cx="368300" cy="368300"/>
          </a:xfrm>
          <a:prstGeom prst="rect">
            <a:avLst/>
          </a:prstGeom>
        </p:spPr>
      </p:pic>
      <p:sp>
        <p:nvSpPr>
          <p:cNvPr id="35" name="Text 34"/>
          <p:cNvSpPr txBox="1"/>
          <p:nvPr/>
        </p:nvSpPr>
        <p:spPr>
          <a:xfrm>
            <a:off x="5080" y="5103336"/>
            <a:ext cx="1090422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172433"/>
                </a:solidFill>
                <a:latin typeface="IBM Plex Sans Arabic"/>
                <a:ea typeface="IBM Plex Sans Arabic"/>
                <a:cs typeface="IBM Plex Sans Arabic"/>
              </a:rPr>
              <a:t>السجلات: الجدار الناري وبوابة VPN والخوادم تسجل من دخل ومتى. بلا سجلات لا اكتشاف ولا تحقيق.</a:t>
            </a:r>
          </a:p>
        </p:txBody>
      </p:sp>
      <p:sp>
        <p:nvSpPr>
          <p:cNvPr id="36" name="Text 35"/>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02 · الأساس التقني</a:t>
            </a:r>
          </a:p>
        </p:txBody>
      </p:sp>
      <p:sp>
        <p:nvSpPr>
          <p:cNvPr id="37" name="Text 36"/>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02 · الأساس التقني</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الشبكات بالأسئلة الأربعة</a:t>
            </a:r>
          </a:p>
        </p:txBody>
      </p:sp>
      <p:graphicFrame>
        <p:nvGraphicFramePr>
          <p:cNvPr id="5" name="Table 4"/>
          <p:cNvGraphicFramePr>
            <a:graphicFrameLocks noGrp="1"/>
          </p:cNvGraphicFramePr>
          <p:nvPr/>
        </p:nvGraphicFramePr>
        <p:xfrm>
          <a:off x="815975" y="1661120"/>
          <a:ext cx="10560050" cy="3484561"/>
        </p:xfrm>
        <a:graphic>
          <a:graphicData uri="http://schemas.openxmlformats.org/drawingml/2006/table">
            <a:tbl>
              <a:tblPr firstRow="0" bandRow="0" lastRow="0" firstCol="0" lastCol="0" bandCol="0">
                <a:tableStyleId>{2D5ABB26-0587-4C30-8999-92F81FD0307C}</a:tableStyleId>
              </a:tblPr>
              <a:tblGrid>
                <a:gridCol w="2534285"/>
                <a:gridCol w="2745740"/>
                <a:gridCol w="2322830"/>
                <a:gridCol w="2957195"/>
              </a:tblGrid>
              <a:tr h="422672">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الدليل الذي تطلبه</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الضابط المناسب</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ما الخطر؟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المفهوم: ما هو؟</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قائمة القواعد، وتاريخ آخر مراجعة.</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قواعد بمالك وسبب، وتقييد المنافذ · ECC 2-⁠5-⁠3-⁠5</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منفذ مفتوح بلا حاجة باب للمهاجم.</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الجدار الناري</a:t>
                      </a:r>
                      <a:r>
                        <a:rPr sz="1600" b="0" i="0" lang="ar-SA" altLang="en-US">
                          <a:solidFill>
                            <a:srgbClr val="172433"/>
                          </a:solidFill>
                          <a:latin typeface="IBM Plex Sans Arabic"/>
                          <a:ea typeface="IBM Plex Sans Arabic"/>
                          <a:cs typeface="IBM Plex Sans Arabic"/>
                        </a:rPr>
                        <a:t>: يسمح بالاتصالات المعتمدة فقط.</a:t>
                      </a:r>
                    </a:p>
                  </a:txBody>
                  <a:tcPr marT="85649" marR="121920" marB="56591" marL="4052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إعداد البوابة، وسجل الاتصالات.</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MFA ومجموعة محددة من المستخدمين · ECC 2-⁠2-⁠3-⁠2</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كلمة مرور مسروقة تفتح الشبكة.</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VPN</a:t>
                      </a:r>
                      <a:r>
                        <a:rPr sz="1600" b="0" i="0" lang="ar-SA" altLang="en-US">
                          <a:solidFill>
                            <a:srgbClr val="172433"/>
                          </a:solidFill>
                          <a:latin typeface="IBM Plex Sans Arabic"/>
                          <a:ea typeface="IBM Plex Sans Arabic"/>
                          <a:cs typeface="IBM Plex Sans Arabic"/>
                        </a:rPr>
                        <a:t>: نفق مشفر إلى الشبكة من الخارج.</a:t>
                      </a:r>
                    </a:p>
                  </a:txBody>
                  <a:tcPr marT="85649" marR="121920" marB="56591" marL="4052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971153">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مخطط الشبكة، وقواعد العبور.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فصل بالجدار الناري، والإنتاج عن الاختبار · ECC 2-⁠5-⁠3-⁠1 و‎2-⁠5-⁠3-⁠2</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اختراق جهاز واحد يصل إلى الخوادم.</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فصل الشبكات</a:t>
                      </a:r>
                      <a:r>
                        <a:rPr sz="1600" b="0" i="0" lang="ar-SA" altLang="en-US">
                          <a:solidFill>
                            <a:srgbClr val="172433"/>
                          </a:solidFill>
                          <a:latin typeface="IBM Plex Sans Arabic"/>
                          <a:ea typeface="IBM Plex Sans Arabic"/>
                          <a:cs typeface="IBM Plex Sans Arabic"/>
                        </a:rPr>
                        <a:t>: أجزاء بقواعد بينها.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إعداد التسجيل، وعينة من الفترة.</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للأصول المهمة والدخول عن بعد، وحفظ 12 شهراً · ECC 2-⁠12-⁠3</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هجوم لا يُكتشف ولا يُحقق فيه.</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السجلات</a:t>
                      </a:r>
                      <a:r>
                        <a:rPr sz="1600" b="0" i="0" lang="ar-SA" altLang="en-US">
                          <a:solidFill>
                            <a:srgbClr val="172433"/>
                          </a:solidFill>
                          <a:latin typeface="IBM Plex Sans Arabic"/>
                          <a:ea typeface="IBM Plex Sans Arabic"/>
                          <a:cs typeface="IBM Plex Sans Arabic"/>
                        </a:rPr>
                        <a:t>: من دخل، ومتى، وماذا فعل.</a:t>
                      </a:r>
                    </a:p>
                  </a:txBody>
                  <a:tcPr marT="85649" marR="121920" marB="56591" marL="4052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Text 5"/>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02 · الأساس التقني</a:t>
            </a:r>
          </a:p>
        </p:txBody>
      </p:sp>
      <p:sp>
        <p:nvSpPr>
          <p:cNvPr id="7" name="Text 6"/>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02 · الأساس التقني</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السحابة: من المسؤول عن ماذا؟</a:t>
            </a:r>
          </a:p>
        </p:txBody>
      </p:sp>
      <p:graphicFrame>
        <p:nvGraphicFramePr>
          <p:cNvPr id="5" name="Table 4"/>
          <p:cNvGraphicFramePr>
            <a:graphicFrameLocks noGrp="1"/>
          </p:cNvGraphicFramePr>
          <p:nvPr/>
        </p:nvGraphicFramePr>
        <p:xfrm>
          <a:off x="815975" y="1623020"/>
          <a:ext cx="10560050" cy="2484140"/>
        </p:xfrm>
        <a:graphic>
          <a:graphicData uri="http://schemas.openxmlformats.org/drawingml/2006/table">
            <a:tbl>
              <a:tblPr firstRow="0" bandRow="0" lastRow="0" firstCol="0" lastCol="0" bandCol="0">
                <a:tableStyleId>{2D5ABB26-0587-4C30-8999-92F81FD0307C}</a:tableStyleId>
              </a:tblPr>
              <a:tblGrid>
                <a:gridCol w="2428875"/>
                <a:gridCol w="2428875"/>
                <a:gridCol w="2428875"/>
                <a:gridCol w="3273425"/>
              </a:tblGrid>
              <a:tr h="370780">
                <a:tc>
                  <a:txBody>
                    <a:bodyPr wrap="square"/>
                    <a:lstStyle/>
                    <a:p>
                      <a:pPr algn="ct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SaaS · الرواتب والبريد</a:t>
                      </a:r>
                    </a:p>
                  </a:txBody>
                  <a:tcPr marT="74943" marR="18063" marB="49517" marL="18063"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ct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PaaS · منصة لتشغيل تطبيق</a:t>
                      </a:r>
                    </a:p>
                  </a:txBody>
                  <a:tcPr marT="74943" marR="18063" marB="49517" marL="18063"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ct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IaaS · خادم تطبيق التتبع</a:t>
                      </a:r>
                    </a:p>
                  </a:txBody>
                  <a:tcPr marT="74943" marR="18063" marB="49517" marL="18063"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الطبقة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22672">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البيانات وتصنيفها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الحسابات والصلاحيات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rtl="1">
                        <a:lnSpc>
                          <a:spcPts val="2160"/>
                        </a:lnSpc>
                        <a:spcBef>
                          <a:spcPts val="0"/>
                        </a:spcBef>
                        <a:spcAft>
                          <a:spcPts val="0"/>
                        </a:spcAft>
                      </a:pPr>
                      <a:r>
                        <a:rPr sz="1600" b="0" i="0" lang="ar-SA" altLang="en-US">
                          <a:solidFill>
                            <a:srgbClr val="4E5A66"/>
                          </a:solidFill>
                          <a:latin typeface="IBM Plex Sans Arabic"/>
                          <a:ea typeface="IBM Plex Sans Arabic"/>
                          <a:cs typeface="IBM Plex Sans Arabic"/>
                        </a:rPr>
                        <a:t>المزود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التطبيق</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lang="ar-SA" altLang="en-US">
                          <a:solidFill>
                            <a:srgbClr val="4E5A66"/>
                          </a:solidFill>
                          <a:latin typeface="IBM Plex Sans Arabic"/>
                          <a:ea typeface="IBM Plex Sans Arabic"/>
                          <a:cs typeface="IBM Plex Sans Arabic"/>
                        </a:rPr>
                        <a:t>المزود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4E5A66"/>
                          </a:solidFill>
                          <a:latin typeface="IBM Plex Sans Arabic"/>
                          <a:ea typeface="IBM Plex Sans Arabic"/>
                          <a:cs typeface="IBM Plex Sans Arabic"/>
                        </a:rPr>
                        <a:t>المزود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نظام التشغيل والتحديثات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rtl="1">
                        <a:lnSpc>
                          <a:spcPts val="2160"/>
                        </a:lnSpc>
                        <a:spcBef>
                          <a:spcPts val="0"/>
                        </a:spcBef>
                        <a:spcAft>
                          <a:spcPts val="0"/>
                        </a:spcAft>
                      </a:pPr>
                      <a:r>
                        <a:rPr sz="1600" b="0" i="0" lang="ar-SA" altLang="en-US">
                          <a:solidFill>
                            <a:srgbClr val="4E5A66"/>
                          </a:solidFill>
                          <a:latin typeface="IBM Plex Sans Arabic"/>
                          <a:ea typeface="IBM Plex Sans Arabic"/>
                          <a:cs typeface="IBM Plex Sans Arabic"/>
                        </a:rPr>
                        <a:t>المزود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4E5A66"/>
                          </a:solidFill>
                          <a:latin typeface="IBM Plex Sans Arabic"/>
                          <a:ea typeface="IBM Plex Sans Arabic"/>
                          <a:cs typeface="IBM Plex Sans Arabic"/>
                        </a:rPr>
                        <a:t>المزود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4E5A66"/>
                          </a:solidFill>
                          <a:latin typeface="IBM Plex Sans Arabic"/>
                          <a:ea typeface="IBM Plex Sans Arabic"/>
                          <a:cs typeface="IBM Plex Sans Arabic"/>
                        </a:rPr>
                        <a:t>المزود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الخوادم والشبكة والمراكز</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Rule 5"/>
          <p:cNvSpPr/>
          <p:nvPr/>
        </p:nvSpPr>
        <p:spPr>
          <a:xfrm>
            <a:off x="7958634" y="4262735"/>
            <a:ext cx="3420566" cy="31750"/>
          </a:xfrm>
          <a:prstGeom prst="rect">
            <a:avLst/>
          </a:prstGeom>
          <a:solidFill>
            <a:srgbClr val="B4412C"/>
          </a:solidFill>
          <a:ln>
            <a:noFill/>
          </a:ln>
        </p:spPr>
        <p:txBody>
          <a:bodyPr rtlCol="0" anchor="ctr"/>
          <a:lstStyle/>
          <a:p>
            <a:pPr algn="ctr"/>
          </a:p>
        </p:txBody>
      </p:sp>
      <p:sp>
        <p:nvSpPr>
          <p:cNvPr id="7" name="Text 6"/>
          <p:cNvSpPr txBox="1"/>
          <p:nvPr/>
        </p:nvSpPr>
        <p:spPr>
          <a:xfrm>
            <a:off x="7984034" y="4402689"/>
            <a:ext cx="3357066"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B4412C"/>
                </a:solidFill>
                <a:latin typeface="IBM Plex Sans Arabic"/>
                <a:ea typeface="IBM Plex Sans Arabic"/>
                <a:cs typeface="IBM Plex Sans Arabic"/>
              </a:rPr>
              <a:t>الخطر</a:t>
            </a:r>
          </a:p>
        </p:txBody>
      </p:sp>
      <p:sp>
        <p:nvSpPr>
          <p:cNvPr id="8" name="Text 7"/>
          <p:cNvSpPr txBox="1"/>
          <p:nvPr/>
        </p:nvSpPr>
        <p:spPr>
          <a:xfrm>
            <a:off x="7984034" y="4762841"/>
            <a:ext cx="3357066"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أن تفترض الجهة أن المزود يحمي كل شيء.</a:t>
            </a:r>
          </a:p>
        </p:txBody>
      </p:sp>
      <p:sp>
        <p:nvSpPr>
          <p:cNvPr id="9" name="Rule 8"/>
          <p:cNvSpPr/>
          <p:nvPr/>
        </p:nvSpPr>
        <p:spPr>
          <a:xfrm>
            <a:off x="4385667" y="4262735"/>
            <a:ext cx="3420566" cy="31750"/>
          </a:xfrm>
          <a:prstGeom prst="rect">
            <a:avLst/>
          </a:prstGeom>
          <a:solidFill>
            <a:srgbClr val="24506B"/>
          </a:solidFill>
          <a:ln>
            <a:noFill/>
          </a:ln>
        </p:spPr>
        <p:txBody>
          <a:bodyPr rtlCol="0" anchor="ctr"/>
          <a:lstStyle/>
          <a:p>
            <a:pPr algn="ctr"/>
          </a:p>
        </p:txBody>
      </p:sp>
      <p:sp>
        <p:nvSpPr>
          <p:cNvPr id="10" name="Text 9"/>
          <p:cNvSpPr txBox="1"/>
          <p:nvPr/>
        </p:nvSpPr>
        <p:spPr>
          <a:xfrm>
            <a:off x="4411067" y="4402689"/>
            <a:ext cx="3357066"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24506B"/>
                </a:solidFill>
                <a:latin typeface="IBM Plex Sans Arabic"/>
                <a:ea typeface="IBM Plex Sans Arabic"/>
                <a:cs typeface="IBM Plex Sans Arabic"/>
              </a:rPr>
              <a:t>الضابط</a:t>
            </a:r>
          </a:p>
        </p:txBody>
      </p:sp>
      <p:sp>
        <p:nvSpPr>
          <p:cNvPr id="11" name="Text 10"/>
          <p:cNvSpPr txBox="1"/>
          <p:nvPr/>
        </p:nvSpPr>
        <p:spPr>
          <a:xfrm>
            <a:off x="4411067" y="4762841"/>
            <a:ext cx="3357066"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مسؤوليات مكتوبة في العقد، وحماية البيانات وإعادتها عند الإنهاء (ECC 4-⁠2-⁠3).</a:t>
            </a:r>
          </a:p>
        </p:txBody>
      </p:sp>
      <p:sp>
        <p:nvSpPr>
          <p:cNvPr id="12" name="Rule 11"/>
          <p:cNvSpPr/>
          <p:nvPr/>
        </p:nvSpPr>
        <p:spPr>
          <a:xfrm>
            <a:off x="812701" y="4262735"/>
            <a:ext cx="3420566" cy="31750"/>
          </a:xfrm>
          <a:prstGeom prst="rect">
            <a:avLst/>
          </a:prstGeom>
          <a:solidFill>
            <a:srgbClr val="8A4B12"/>
          </a:solidFill>
          <a:ln>
            <a:noFill/>
          </a:ln>
        </p:spPr>
        <p:txBody>
          <a:bodyPr rtlCol="0" anchor="ctr"/>
          <a:lstStyle/>
          <a:p>
            <a:pPr algn="ctr"/>
          </a:p>
        </p:txBody>
      </p:sp>
      <p:sp>
        <p:nvSpPr>
          <p:cNvPr id="13" name="Text 12"/>
          <p:cNvSpPr txBox="1"/>
          <p:nvPr/>
        </p:nvSpPr>
        <p:spPr>
          <a:xfrm>
            <a:off x="838101" y="4402689"/>
            <a:ext cx="3357066"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8A4B12"/>
                </a:solidFill>
                <a:latin typeface="IBM Plex Sans Arabic"/>
                <a:ea typeface="IBM Plex Sans Arabic"/>
                <a:cs typeface="IBM Plex Sans Arabic"/>
              </a:rPr>
              <a:t>الدليل</a:t>
            </a:r>
          </a:p>
        </p:txBody>
      </p:sp>
      <p:sp>
        <p:nvSpPr>
          <p:cNvPr id="14" name="Text 13"/>
          <p:cNvSpPr txBox="1"/>
          <p:nvPr/>
        </p:nvSpPr>
        <p:spPr>
          <a:xfrm>
            <a:off x="838101" y="4762841"/>
            <a:ext cx="3357066"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العقد وملحق المسؤوليات، وتقارير المزود، وإعداد الحسابات من جهة الشركة.</a:t>
            </a:r>
          </a:p>
        </p:txBody>
      </p:sp>
      <p:sp>
        <p:nvSpPr>
          <p:cNvPr id="15" name="Text 14"/>
          <p:cNvSpPr txBox="1"/>
          <p:nvPr/>
        </p:nvSpPr>
        <p:spPr>
          <a:xfrm>
            <a:off x="0" y="5456182"/>
            <a:ext cx="11379200"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4E5A66"/>
                </a:solidFill>
                <a:latin typeface="IBM Plex Sans Arabic"/>
                <a:ea typeface="IBM Plex Sans Arabic"/>
                <a:cs typeface="IBM Plex Sans Arabic"/>
              </a:rPr>
              <a:t>التقسيم الدقيق في عقد كل مزود ووثائقه. لكن البيانات والحسابات تبقى مسؤولية الجهة في كل النماذج.</a:t>
            </a:r>
          </a:p>
        </p:txBody>
      </p:sp>
      <p:sp>
        <p:nvSpPr>
          <p:cNvPr id="16" name="Text 15"/>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02 · الأساس التقني</a:t>
            </a:r>
          </a:p>
        </p:txBody>
      </p:sp>
      <p:sp>
        <p:nvSpPr>
          <p:cNvPr id="17" name="Text 16"/>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02 · الأساس التقني</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الحماية: أربعة ضوابط ستسأل عنها كثيراً</a:t>
            </a:r>
          </a:p>
        </p:txBody>
      </p:sp>
      <p:graphicFrame>
        <p:nvGraphicFramePr>
          <p:cNvPr id="5" name="Table 4"/>
          <p:cNvGraphicFramePr>
            <a:graphicFrameLocks noGrp="1"/>
          </p:cNvGraphicFramePr>
          <p:nvPr/>
        </p:nvGraphicFramePr>
        <p:xfrm>
          <a:off x="815975" y="1661120"/>
          <a:ext cx="10560050" cy="3484561"/>
        </p:xfrm>
        <a:graphic>
          <a:graphicData uri="http://schemas.openxmlformats.org/drawingml/2006/table">
            <a:tbl>
              <a:tblPr firstRow="0" bandRow="0" lastRow="0" firstCol="0" lastCol="0" bandCol="0">
                <a:tableStyleId>{2D5ABB26-0587-4C30-8999-92F81FD0307C}</a:tableStyleId>
              </a:tblPr>
              <a:tblGrid>
                <a:gridCol w="2534285"/>
                <a:gridCol w="2745740"/>
                <a:gridCol w="2322830"/>
                <a:gridCol w="2957195"/>
              </a:tblGrid>
              <a:tr h="422672">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الدليل الذي تطلبه</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الضابط المناسب</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ما الخطر؟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المفهوم: ما هو؟</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971153">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تقرير الفحص، والثغرات المفتوحة بأعمارها.</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معالجة بمهل حسب الخطورة، واختبار قبل الإنتاج · ECC 2-⁠10-⁠3</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ثغرة معروفة يستغلها مهاجم.</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الثغرات والتحديثات</a:t>
                      </a:r>
                      <a:r>
                        <a:rPr sz="1600" b="0" i="0" lang="ar-SA" altLang="en-US">
                          <a:solidFill>
                            <a:srgbClr val="172433"/>
                          </a:solidFill>
                          <a:latin typeface="IBM Plex Sans Arabic"/>
                          <a:ea typeface="IBM Plex Sans Arabic"/>
                          <a:cs typeface="IBM Plex Sans Arabic"/>
                        </a:rPr>
                        <a:t>: فحص دوري، وتحديث حسب الخطورة.</a:t>
                      </a:r>
                    </a:p>
                  </a:txBody>
                  <a:tcPr marT="85649" marR="121920" marB="56591" marL="4052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تقرير حالة التشفير للأجهزة.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تشفير المخزن والمنقول حسب التصنيف · ECC 2-⁠8-⁠3</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جهاز مسروق يكشف البيانات.</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التشفير</a:t>
                      </a:r>
                      <a:r>
                        <a:rPr sz="1600" b="0" i="0" lang="ar-SA" altLang="en-US">
                          <a:solidFill>
                            <a:srgbClr val="172433"/>
                          </a:solidFill>
                          <a:latin typeface="IBM Plex Sans Arabic"/>
                          <a:ea typeface="IBM Plex Sans Arabic"/>
                          <a:cs typeface="IBM Plex Sans Arabic"/>
                        </a:rPr>
                        <a:t>: بيانات لا تُقرأ بلا مفتاح.</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تقرير المهام، ومحضر اختبار استعادة.</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نطاق للأصول المهمة، واختبار دوري للاستعادة · ECC 2-⁠9-⁠3</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نسخ لا تُستعاد عند الحاجة.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النسخ الاحتياطي</a:t>
                      </a:r>
                      <a:r>
                        <a:rPr sz="1600" b="0" i="0" lang="ar-SA" altLang="en-US">
                          <a:solidFill>
                            <a:srgbClr val="172433"/>
                          </a:solidFill>
                          <a:latin typeface="IBM Plex Sans Arabic"/>
                          <a:ea typeface="IBM Plex Sans Arabic"/>
                          <a:cs typeface="IBM Plex Sans Arabic"/>
                        </a:rPr>
                        <a:t>: نسخ دورية تُستعاد عند الفقد.</a:t>
                      </a:r>
                    </a:p>
                  </a:txBody>
                  <a:tcPr marT="85649" marR="121920" marB="56591" marL="4052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القواعد المفعلة، وتقرير التنبيهات.</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تصنيف البيانات، ثم قواعد منع · ضمن ECC 2-⁠7</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ملفات الرواتب تُرسل إلى بريد خارجي.</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DLP</a:t>
                      </a:r>
                      <a:r>
                        <a:rPr sz="1600" b="0" i="0" lang="ar-SA" altLang="en-US">
                          <a:solidFill>
                            <a:srgbClr val="172433"/>
                          </a:solidFill>
                          <a:latin typeface="IBM Plex Sans Arabic"/>
                          <a:ea typeface="IBM Plex Sans Arabic"/>
                          <a:cs typeface="IBM Plex Sans Arabic"/>
                        </a:rPr>
                        <a:t>: يكتشف خروج البيانات الحساسة ويمنعه.</a:t>
                      </a:r>
                    </a:p>
                  </a:txBody>
                  <a:tcPr marT="85649" marR="121920" marB="56591" marL="4052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Text 5"/>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02 · الأساس التقني</a:t>
            </a:r>
          </a:p>
        </p:txBody>
      </p:sp>
      <p:sp>
        <p:nvSpPr>
          <p:cNvPr id="7" name="Text 6"/>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02 · الأساس التقني</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التطبيقات والتغيير: من التطوير إلى الإنتاج</a:t>
            </a:r>
          </a:p>
        </p:txBody>
      </p:sp>
      <p:sp>
        <p:nvSpPr>
          <p:cNvPr id="5" name="Box 4"/>
          <p:cNvSpPr/>
          <p:nvPr/>
        </p:nvSpPr>
        <p:spPr>
          <a:xfrm>
            <a:off x="8103890" y="1676995"/>
            <a:ext cx="3268960" cy="867370"/>
          </a:xfrm>
          <a:prstGeom prst="roundRect">
            <a:avLst>
              <a:gd name="adj" fmla="val 10101"/>
            </a:avLst>
          </a:prstGeom>
          <a:solidFill>
            <a:srgbClr val="FFFDF8"/>
          </a:solidFill>
          <a:ln w="12700">
            <a:solidFill>
              <a:srgbClr val="24506B"/>
            </a:solidFill>
          </a:ln>
        </p:spPr>
        <p:txBody>
          <a:bodyPr rtlCol="0" anchor="ctr"/>
          <a:lstStyle/>
          <a:p>
            <a:pPr algn="ctr"/>
          </a:p>
        </p:txBody>
      </p:sp>
      <p:sp>
        <p:nvSpPr>
          <p:cNvPr id="6" name="Text 5"/>
          <p:cNvSpPr txBox="1"/>
          <p:nvPr/>
        </p:nvSpPr>
        <p:spPr>
          <a:xfrm>
            <a:off x="8122940" y="1774785"/>
            <a:ext cx="3230860" cy="3175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lang="ar-SA" altLang="en-US">
                <a:solidFill>
                  <a:srgbClr val="24506B"/>
                </a:solidFill>
                <a:latin typeface="Readex Pro"/>
                <a:ea typeface="Readex Pro"/>
                <a:cs typeface="Readex Pro"/>
              </a:rPr>
              <a:t>التطوير Dev</a:t>
            </a:r>
          </a:p>
        </p:txBody>
      </p:sp>
      <p:sp>
        <p:nvSpPr>
          <p:cNvPr id="7" name="Text 6"/>
          <p:cNvSpPr txBox="1"/>
          <p:nvPr/>
        </p:nvSpPr>
        <p:spPr>
          <a:xfrm>
            <a:off x="8122940" y="2098127"/>
            <a:ext cx="3230860" cy="308570"/>
          </a:xfrm>
          <a:prstGeom prst="rect">
            <a:avLst/>
          </a:prstGeom>
          <a:noFill/>
        </p:spPr>
        <p:txBody>
          <a:bodyPr wrap="square" tIns="0" rIns="0" bIns="0" lIns="0" anchor="t" rtlCol="0" anchorCtr="0">
            <a:noAutofit/>
          </a:bodyPr>
          <a:lstStyle/>
          <a:p>
            <a:pPr algn="ctr" rtl="1">
              <a:lnSpc>
                <a:spcPts val="2430"/>
              </a:lnSpc>
              <a:spcBef>
                <a:spcPts val="0"/>
              </a:spcBef>
              <a:spcAft>
                <a:spcPts val="0"/>
              </a:spcAft>
            </a:pPr>
            <a:r>
              <a:rPr sz="1800" b="0" i="0" lang="ar-SA" altLang="en-US">
                <a:solidFill>
                  <a:srgbClr val="4E5A66"/>
                </a:solidFill>
                <a:latin typeface="IBM Plex Sans Arabic"/>
                <a:ea typeface="IBM Plex Sans Arabic"/>
                <a:cs typeface="IBM Plex Sans Arabic"/>
              </a:rPr>
              <a:t>يُكتب الكود · بيانات وهمية</a:t>
            </a:r>
          </a:p>
        </p:txBody>
      </p:sp>
      <p:sp>
        <p:nvSpPr>
          <p:cNvPr id="8" name="Text 7"/>
          <p:cNvSpPr txBox="1"/>
          <p:nvPr/>
        </p:nvSpPr>
        <p:spPr>
          <a:xfrm>
            <a:off x="7660580" y="199511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9" name="Box 8"/>
          <p:cNvSpPr/>
          <p:nvPr/>
        </p:nvSpPr>
        <p:spPr>
          <a:xfrm>
            <a:off x="4461470" y="1676995"/>
            <a:ext cx="3268960" cy="867370"/>
          </a:xfrm>
          <a:prstGeom prst="roundRect">
            <a:avLst>
              <a:gd name="adj" fmla="val 10101"/>
            </a:avLst>
          </a:prstGeom>
          <a:solidFill>
            <a:srgbClr val="FFFDF8"/>
          </a:solidFill>
          <a:ln w="12700">
            <a:solidFill>
              <a:srgbClr val="24506B"/>
            </a:solidFill>
          </a:ln>
        </p:spPr>
        <p:txBody>
          <a:bodyPr rtlCol="0" anchor="ctr"/>
          <a:lstStyle/>
          <a:p>
            <a:pPr algn="ctr"/>
          </a:p>
        </p:txBody>
      </p:sp>
      <p:sp>
        <p:nvSpPr>
          <p:cNvPr id="10" name="Text 9"/>
          <p:cNvSpPr txBox="1"/>
          <p:nvPr/>
        </p:nvSpPr>
        <p:spPr>
          <a:xfrm>
            <a:off x="4480520" y="1774785"/>
            <a:ext cx="3230860" cy="3175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lang="ar-SA" altLang="en-US">
                <a:solidFill>
                  <a:srgbClr val="24506B"/>
                </a:solidFill>
                <a:latin typeface="Readex Pro"/>
                <a:ea typeface="Readex Pro"/>
                <a:cs typeface="Readex Pro"/>
              </a:rPr>
              <a:t>الاختبار Test</a:t>
            </a:r>
          </a:p>
        </p:txBody>
      </p:sp>
      <p:sp>
        <p:nvSpPr>
          <p:cNvPr id="11" name="Text 10"/>
          <p:cNvSpPr txBox="1"/>
          <p:nvPr/>
        </p:nvSpPr>
        <p:spPr>
          <a:xfrm>
            <a:off x="4480520" y="2098127"/>
            <a:ext cx="3230860" cy="308570"/>
          </a:xfrm>
          <a:prstGeom prst="rect">
            <a:avLst/>
          </a:prstGeom>
          <a:noFill/>
        </p:spPr>
        <p:txBody>
          <a:bodyPr wrap="square" tIns="0" rIns="0" bIns="0" lIns="0" anchor="t" rtlCol="0" anchorCtr="0">
            <a:noAutofit/>
          </a:bodyPr>
          <a:lstStyle/>
          <a:p>
            <a:pPr algn="ctr" rtl="1">
              <a:lnSpc>
                <a:spcPts val="2430"/>
              </a:lnSpc>
              <a:spcBef>
                <a:spcPts val="0"/>
              </a:spcBef>
              <a:spcAft>
                <a:spcPts val="0"/>
              </a:spcAft>
            </a:pPr>
            <a:r>
              <a:rPr sz="1800" b="0" i="0" lang="ar-SA" altLang="en-US">
                <a:solidFill>
                  <a:srgbClr val="4E5A66"/>
                </a:solidFill>
                <a:latin typeface="IBM Plex Sans Arabic"/>
                <a:ea typeface="IBM Plex Sans Arabic"/>
                <a:cs typeface="IBM Plex Sans Arabic"/>
              </a:rPr>
              <a:t>يُجرَّب التغيير · بيانات غير حقيقية</a:t>
            </a:r>
          </a:p>
        </p:txBody>
      </p:sp>
      <p:sp>
        <p:nvSpPr>
          <p:cNvPr id="12" name="Text 11"/>
          <p:cNvSpPr txBox="1"/>
          <p:nvPr/>
        </p:nvSpPr>
        <p:spPr>
          <a:xfrm>
            <a:off x="4018161" y="199511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3" name="Box 12"/>
          <p:cNvSpPr/>
          <p:nvPr/>
        </p:nvSpPr>
        <p:spPr>
          <a:xfrm>
            <a:off x="819051" y="1676995"/>
            <a:ext cx="3268960" cy="867370"/>
          </a:xfrm>
          <a:prstGeom prst="roundRect">
            <a:avLst>
              <a:gd name="adj" fmla="val 10101"/>
            </a:avLst>
          </a:prstGeom>
          <a:solidFill>
            <a:srgbClr val="FFFDF8"/>
          </a:solidFill>
          <a:ln w="12700">
            <a:solidFill>
              <a:srgbClr val="0E7C6B"/>
            </a:solidFill>
          </a:ln>
        </p:spPr>
        <p:txBody>
          <a:bodyPr rtlCol="0" anchor="ctr"/>
          <a:lstStyle/>
          <a:p>
            <a:pPr algn="ctr"/>
          </a:p>
        </p:txBody>
      </p:sp>
      <p:sp>
        <p:nvSpPr>
          <p:cNvPr id="14" name="Text 13"/>
          <p:cNvSpPr txBox="1"/>
          <p:nvPr/>
        </p:nvSpPr>
        <p:spPr>
          <a:xfrm>
            <a:off x="838101" y="1774785"/>
            <a:ext cx="3230860" cy="3175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lang="ar-SA" altLang="en-US">
                <a:solidFill>
                  <a:srgbClr val="0E7C6B"/>
                </a:solidFill>
                <a:latin typeface="Readex Pro"/>
                <a:ea typeface="Readex Pro"/>
                <a:cs typeface="Readex Pro"/>
              </a:rPr>
              <a:t>الإنتاج Prod</a:t>
            </a:r>
          </a:p>
        </p:txBody>
      </p:sp>
      <p:sp>
        <p:nvSpPr>
          <p:cNvPr id="15" name="Text 14"/>
          <p:cNvSpPr txBox="1"/>
          <p:nvPr/>
        </p:nvSpPr>
        <p:spPr>
          <a:xfrm>
            <a:off x="838101" y="2098127"/>
            <a:ext cx="3230860" cy="308570"/>
          </a:xfrm>
          <a:prstGeom prst="rect">
            <a:avLst/>
          </a:prstGeom>
          <a:noFill/>
        </p:spPr>
        <p:txBody>
          <a:bodyPr wrap="square" tIns="0" rIns="0" bIns="0" lIns="0" anchor="t" rtlCol="0" anchorCtr="0">
            <a:noAutofit/>
          </a:bodyPr>
          <a:lstStyle/>
          <a:p>
            <a:pPr algn="ctr" rtl="1">
              <a:lnSpc>
                <a:spcPts val="2430"/>
              </a:lnSpc>
              <a:spcBef>
                <a:spcPts val="0"/>
              </a:spcBef>
              <a:spcAft>
                <a:spcPts val="0"/>
              </a:spcAft>
            </a:pPr>
            <a:r>
              <a:rPr sz="1800" b="0" i="0" lang="ar-SA" altLang="en-US">
                <a:solidFill>
                  <a:srgbClr val="4E5A66"/>
                </a:solidFill>
                <a:latin typeface="IBM Plex Sans Arabic"/>
                <a:ea typeface="IBM Plex Sans Arabic"/>
                <a:cs typeface="IBM Plex Sans Arabic"/>
              </a:rPr>
              <a:t>يخدم العملاء · بيانات حقيقية</a:t>
            </a:r>
          </a:p>
        </p:txBody>
      </p:sp>
      <p:sp>
        <p:nvSpPr>
          <p:cNvPr id="16" name="Text 15"/>
          <p:cNvSpPr txBox="1"/>
          <p:nvPr/>
        </p:nvSpPr>
        <p:spPr>
          <a:xfrm>
            <a:off x="0" y="3070146"/>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lang="ar-SA" altLang="en-US">
                <a:solidFill>
                  <a:srgbClr val="172433"/>
                </a:solidFill>
                <a:latin typeface="IBM Plex Sans Arabic"/>
                <a:ea typeface="IBM Plex Sans Arabic"/>
                <a:cs typeface="IBM Plex Sans Arabic"/>
              </a:rPr>
              <a:t>إدارة التغيير: كل تغيير على الإنتاج يمر بست خطوات</a:t>
            </a:r>
          </a:p>
        </p:txBody>
      </p:sp>
      <p:sp>
        <p:nvSpPr>
          <p:cNvPr id="17" name="Text box 16"/>
          <p:cNvSpPr/>
          <p:nvPr/>
        </p:nvSpPr>
        <p:spPr>
          <a:xfrm>
            <a:off x="9671050" y="3528616"/>
            <a:ext cx="1708150" cy="520700"/>
          </a:xfrm>
          <a:prstGeom prst="rect">
            <a:avLst/>
          </a:prstGeom>
          <a:noFill/>
          <a:ln>
            <a:noFill/>
          </a:ln>
        </p:spPr>
        <p:txBody>
          <a:bodyPr rtlCol="0" anchor="ctr" wrap="square" tIns="68580" rIns="0" bIns="109220" lIns="0" anchorCtr="0">
            <a:noAutofit/>
          </a:bodyPr>
          <a:lstStyle/>
          <a:p>
            <a:pPr algn="ctr" rtl="1">
              <a:lnSpc>
                <a:spcPts val="2700"/>
              </a:lnSpc>
              <a:spcBef>
                <a:spcPts val="0"/>
              </a:spcBef>
              <a:spcAft>
                <a:spcPts val="0"/>
              </a:spcAft>
            </a:pPr>
            <a:r>
              <a:rPr sz="2000" b="1" i="0" lang="ar-SA" altLang="en-US">
                <a:solidFill>
                  <a:srgbClr val="172433"/>
                </a:solidFill>
                <a:latin typeface="IBM Plex Sans Arabic"/>
                <a:ea typeface="IBM Plex Sans Arabic"/>
                <a:cs typeface="IBM Plex Sans Arabic"/>
              </a:rPr>
              <a:t>طلب</a:t>
            </a:r>
          </a:p>
        </p:txBody>
      </p:sp>
      <p:sp>
        <p:nvSpPr>
          <p:cNvPr id="18" name="Rule 17"/>
          <p:cNvSpPr/>
          <p:nvPr/>
        </p:nvSpPr>
        <p:spPr>
          <a:xfrm>
            <a:off x="9671050" y="3528616"/>
            <a:ext cx="1708150" cy="25400"/>
          </a:xfrm>
          <a:prstGeom prst="rect">
            <a:avLst/>
          </a:prstGeom>
          <a:solidFill>
            <a:srgbClr val="C27A16"/>
          </a:solidFill>
          <a:ln>
            <a:noFill/>
          </a:ln>
        </p:spPr>
        <p:txBody>
          <a:bodyPr rtlCol="0" anchor="ctr"/>
          <a:lstStyle/>
          <a:p>
            <a:pPr algn="ctr"/>
          </a:p>
        </p:txBody>
      </p:sp>
      <p:sp>
        <p:nvSpPr>
          <p:cNvPr id="19" name="Text box 18"/>
          <p:cNvSpPr/>
          <p:nvPr/>
        </p:nvSpPr>
        <p:spPr>
          <a:xfrm>
            <a:off x="7899400" y="3528616"/>
            <a:ext cx="1708150" cy="520700"/>
          </a:xfrm>
          <a:prstGeom prst="rect">
            <a:avLst/>
          </a:prstGeom>
          <a:noFill/>
          <a:ln>
            <a:noFill/>
          </a:ln>
        </p:spPr>
        <p:txBody>
          <a:bodyPr rtlCol="0" anchor="ctr" wrap="square" tIns="68580" rIns="0" bIns="109220" lIns="0" anchorCtr="0">
            <a:noAutofit/>
          </a:bodyPr>
          <a:lstStyle/>
          <a:p>
            <a:pPr algn="ctr" rtl="1">
              <a:lnSpc>
                <a:spcPts val="2700"/>
              </a:lnSpc>
              <a:spcBef>
                <a:spcPts val="0"/>
              </a:spcBef>
              <a:spcAft>
                <a:spcPts val="0"/>
              </a:spcAft>
            </a:pPr>
            <a:r>
              <a:rPr sz="2000" b="1" i="0" lang="ar-SA" altLang="en-US">
                <a:solidFill>
                  <a:srgbClr val="172433"/>
                </a:solidFill>
                <a:latin typeface="IBM Plex Sans Arabic"/>
                <a:ea typeface="IBM Plex Sans Arabic"/>
                <a:cs typeface="IBM Plex Sans Arabic"/>
              </a:rPr>
              <a:t>تقييم الأثر</a:t>
            </a:r>
          </a:p>
        </p:txBody>
      </p:sp>
      <p:sp>
        <p:nvSpPr>
          <p:cNvPr id="20" name="Rule 19"/>
          <p:cNvSpPr/>
          <p:nvPr/>
        </p:nvSpPr>
        <p:spPr>
          <a:xfrm>
            <a:off x="7899400" y="3528616"/>
            <a:ext cx="1708150" cy="25400"/>
          </a:xfrm>
          <a:prstGeom prst="rect">
            <a:avLst/>
          </a:prstGeom>
          <a:solidFill>
            <a:srgbClr val="C27A16"/>
          </a:solidFill>
          <a:ln>
            <a:noFill/>
          </a:ln>
        </p:spPr>
        <p:txBody>
          <a:bodyPr rtlCol="0" anchor="ctr"/>
          <a:lstStyle/>
          <a:p>
            <a:pPr algn="ctr"/>
          </a:p>
        </p:txBody>
      </p:sp>
      <p:sp>
        <p:nvSpPr>
          <p:cNvPr id="21" name="Text box 20"/>
          <p:cNvSpPr/>
          <p:nvPr/>
        </p:nvSpPr>
        <p:spPr>
          <a:xfrm>
            <a:off x="6127750" y="3528616"/>
            <a:ext cx="1708150" cy="520700"/>
          </a:xfrm>
          <a:prstGeom prst="rect">
            <a:avLst/>
          </a:prstGeom>
          <a:noFill/>
          <a:ln>
            <a:noFill/>
          </a:ln>
        </p:spPr>
        <p:txBody>
          <a:bodyPr rtlCol="0" anchor="ctr" wrap="square" tIns="68580" rIns="0" bIns="109220" lIns="0" anchorCtr="0">
            <a:noAutofit/>
          </a:bodyPr>
          <a:lstStyle/>
          <a:p>
            <a:pPr algn="ctr" rtl="1">
              <a:lnSpc>
                <a:spcPts val="2700"/>
              </a:lnSpc>
              <a:spcBef>
                <a:spcPts val="0"/>
              </a:spcBef>
              <a:spcAft>
                <a:spcPts val="0"/>
              </a:spcAft>
            </a:pPr>
            <a:r>
              <a:rPr sz="2000" b="1" i="0" lang="ar-SA" altLang="en-US">
                <a:solidFill>
                  <a:srgbClr val="172433"/>
                </a:solidFill>
                <a:latin typeface="IBM Plex Sans Arabic"/>
                <a:ea typeface="IBM Plex Sans Arabic"/>
                <a:cs typeface="IBM Plex Sans Arabic"/>
              </a:rPr>
              <a:t>اعتماد</a:t>
            </a:r>
          </a:p>
        </p:txBody>
      </p:sp>
      <p:sp>
        <p:nvSpPr>
          <p:cNvPr id="22" name="Rule 21"/>
          <p:cNvSpPr/>
          <p:nvPr/>
        </p:nvSpPr>
        <p:spPr>
          <a:xfrm>
            <a:off x="6127750" y="3528616"/>
            <a:ext cx="1708150" cy="25400"/>
          </a:xfrm>
          <a:prstGeom prst="rect">
            <a:avLst/>
          </a:prstGeom>
          <a:solidFill>
            <a:srgbClr val="C27A16"/>
          </a:solidFill>
          <a:ln>
            <a:noFill/>
          </a:ln>
        </p:spPr>
        <p:txBody>
          <a:bodyPr rtlCol="0" anchor="ctr"/>
          <a:lstStyle/>
          <a:p>
            <a:pPr algn="ctr"/>
          </a:p>
        </p:txBody>
      </p:sp>
      <p:sp>
        <p:nvSpPr>
          <p:cNvPr id="23" name="Text box 22"/>
          <p:cNvSpPr/>
          <p:nvPr/>
        </p:nvSpPr>
        <p:spPr>
          <a:xfrm>
            <a:off x="4356100" y="3528616"/>
            <a:ext cx="1708150" cy="520700"/>
          </a:xfrm>
          <a:prstGeom prst="rect">
            <a:avLst/>
          </a:prstGeom>
          <a:noFill/>
          <a:ln>
            <a:noFill/>
          </a:ln>
        </p:spPr>
        <p:txBody>
          <a:bodyPr rtlCol="0" anchor="ctr" wrap="square" tIns="68580" rIns="0" bIns="109220" lIns="0" anchorCtr="0">
            <a:noAutofit/>
          </a:bodyPr>
          <a:lstStyle/>
          <a:p>
            <a:pPr algn="ctr" rtl="1">
              <a:lnSpc>
                <a:spcPts val="2700"/>
              </a:lnSpc>
              <a:spcBef>
                <a:spcPts val="0"/>
              </a:spcBef>
              <a:spcAft>
                <a:spcPts val="0"/>
              </a:spcAft>
            </a:pPr>
            <a:r>
              <a:rPr sz="2000" b="1" i="0" lang="ar-SA" altLang="en-US">
                <a:solidFill>
                  <a:srgbClr val="172433"/>
                </a:solidFill>
                <a:latin typeface="IBM Plex Sans Arabic"/>
                <a:ea typeface="IBM Plex Sans Arabic"/>
                <a:cs typeface="IBM Plex Sans Arabic"/>
              </a:rPr>
              <a:t>اختبار</a:t>
            </a:r>
          </a:p>
        </p:txBody>
      </p:sp>
      <p:sp>
        <p:nvSpPr>
          <p:cNvPr id="24" name="Rule 23"/>
          <p:cNvSpPr/>
          <p:nvPr/>
        </p:nvSpPr>
        <p:spPr>
          <a:xfrm>
            <a:off x="4356100" y="3528616"/>
            <a:ext cx="1708150" cy="25400"/>
          </a:xfrm>
          <a:prstGeom prst="rect">
            <a:avLst/>
          </a:prstGeom>
          <a:solidFill>
            <a:srgbClr val="C27A16"/>
          </a:solidFill>
          <a:ln>
            <a:noFill/>
          </a:ln>
        </p:spPr>
        <p:txBody>
          <a:bodyPr rtlCol="0" anchor="ctr"/>
          <a:lstStyle/>
          <a:p>
            <a:pPr algn="ctr"/>
          </a:p>
        </p:txBody>
      </p:sp>
      <p:sp>
        <p:nvSpPr>
          <p:cNvPr id="25" name="Text box 24"/>
          <p:cNvSpPr/>
          <p:nvPr/>
        </p:nvSpPr>
        <p:spPr>
          <a:xfrm>
            <a:off x="2584450" y="3528616"/>
            <a:ext cx="1708150" cy="520700"/>
          </a:xfrm>
          <a:prstGeom prst="rect">
            <a:avLst/>
          </a:prstGeom>
          <a:noFill/>
          <a:ln>
            <a:noFill/>
          </a:ln>
        </p:spPr>
        <p:txBody>
          <a:bodyPr rtlCol="0" anchor="ctr" wrap="square" tIns="68580" rIns="0" bIns="109220" lIns="0" anchorCtr="0">
            <a:noAutofit/>
          </a:bodyPr>
          <a:lstStyle/>
          <a:p>
            <a:pPr algn="ctr" rtl="1">
              <a:lnSpc>
                <a:spcPts val="2700"/>
              </a:lnSpc>
              <a:spcBef>
                <a:spcPts val="0"/>
              </a:spcBef>
              <a:spcAft>
                <a:spcPts val="0"/>
              </a:spcAft>
            </a:pPr>
            <a:r>
              <a:rPr sz="2000" b="1" i="0" lang="ar-SA" altLang="en-US">
                <a:solidFill>
                  <a:srgbClr val="172433"/>
                </a:solidFill>
                <a:latin typeface="IBM Plex Sans Arabic"/>
                <a:ea typeface="IBM Plex Sans Arabic"/>
                <a:cs typeface="IBM Plex Sans Arabic"/>
              </a:rPr>
              <a:t>تنفيذ</a:t>
            </a:r>
          </a:p>
        </p:txBody>
      </p:sp>
      <p:sp>
        <p:nvSpPr>
          <p:cNvPr id="26" name="Rule 25"/>
          <p:cNvSpPr/>
          <p:nvPr/>
        </p:nvSpPr>
        <p:spPr>
          <a:xfrm>
            <a:off x="2584450" y="3528616"/>
            <a:ext cx="1708150" cy="25400"/>
          </a:xfrm>
          <a:prstGeom prst="rect">
            <a:avLst/>
          </a:prstGeom>
          <a:solidFill>
            <a:srgbClr val="C27A16"/>
          </a:solidFill>
          <a:ln>
            <a:noFill/>
          </a:ln>
        </p:spPr>
        <p:txBody>
          <a:bodyPr rtlCol="0" anchor="ctr"/>
          <a:lstStyle/>
          <a:p>
            <a:pPr algn="ctr"/>
          </a:p>
        </p:txBody>
      </p:sp>
      <p:sp>
        <p:nvSpPr>
          <p:cNvPr id="27" name="Text box 26"/>
          <p:cNvSpPr/>
          <p:nvPr/>
        </p:nvSpPr>
        <p:spPr>
          <a:xfrm>
            <a:off x="812800" y="3528616"/>
            <a:ext cx="1708150" cy="520700"/>
          </a:xfrm>
          <a:prstGeom prst="rect">
            <a:avLst/>
          </a:prstGeom>
          <a:noFill/>
          <a:ln>
            <a:noFill/>
          </a:ln>
        </p:spPr>
        <p:txBody>
          <a:bodyPr rtlCol="0" anchor="ctr" wrap="square" tIns="68580" rIns="0" bIns="109220" lIns="0" anchorCtr="0">
            <a:noAutofit/>
          </a:bodyPr>
          <a:lstStyle/>
          <a:p>
            <a:pPr algn="ctr" rtl="1">
              <a:lnSpc>
                <a:spcPts val="2700"/>
              </a:lnSpc>
              <a:spcBef>
                <a:spcPts val="0"/>
              </a:spcBef>
              <a:spcAft>
                <a:spcPts val="0"/>
              </a:spcAft>
            </a:pPr>
            <a:r>
              <a:rPr sz="2000" b="1" i="0" lang="ar-SA" altLang="en-US">
                <a:solidFill>
                  <a:srgbClr val="172433"/>
                </a:solidFill>
                <a:latin typeface="IBM Plex Sans Arabic"/>
                <a:ea typeface="IBM Plex Sans Arabic"/>
                <a:cs typeface="IBM Plex Sans Arabic"/>
              </a:rPr>
              <a:t>مراجعة</a:t>
            </a:r>
          </a:p>
        </p:txBody>
      </p:sp>
      <p:sp>
        <p:nvSpPr>
          <p:cNvPr id="28" name="Rule 27"/>
          <p:cNvSpPr/>
          <p:nvPr/>
        </p:nvSpPr>
        <p:spPr>
          <a:xfrm>
            <a:off x="812800" y="3528616"/>
            <a:ext cx="1708150" cy="25400"/>
          </a:xfrm>
          <a:prstGeom prst="rect">
            <a:avLst/>
          </a:prstGeom>
          <a:solidFill>
            <a:srgbClr val="C27A16"/>
          </a:solidFill>
          <a:ln>
            <a:noFill/>
          </a:ln>
        </p:spPr>
        <p:txBody>
          <a:bodyPr rtlCol="0" anchor="ctr"/>
          <a:lstStyle/>
          <a:p>
            <a:pPr algn="ctr"/>
          </a:p>
        </p:txBody>
      </p:sp>
      <p:pic>
        <p:nvPicPr>
          <p:cNvPr id="29" name="Icon Search 28" descr="icon011.png"/>
          <p:cNvPicPr>
            <a:picLocks noChangeAspect="1"/>
          </p:cNvPicPr>
          <p:nvPr/>
        </p:nvPicPr>
        <p:blipFill>
          <a:blip r:embed="rId2"/>
          <a:stretch>
            <a:fillRect/>
          </a:stretch>
        </p:blipFill>
        <p:spPr>
          <a:xfrm>
            <a:off x="11010900" y="4792266"/>
            <a:ext cx="368300" cy="368300"/>
          </a:xfrm>
          <a:prstGeom prst="rect">
            <a:avLst/>
          </a:prstGeom>
        </p:spPr>
      </p:pic>
      <p:sp>
        <p:nvSpPr>
          <p:cNvPr id="30" name="Text 29"/>
          <p:cNvSpPr txBox="1"/>
          <p:nvPr/>
        </p:nvSpPr>
        <p:spPr>
          <a:xfrm>
            <a:off x="509905" y="4562396"/>
            <a:ext cx="10399395"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172433"/>
                </a:solidFill>
                <a:latin typeface="IBM Plex Sans Arabic"/>
                <a:ea typeface="IBM Plex Sans Arabic"/>
                <a:cs typeface="IBM Plex Sans Arabic"/>
              </a:rPr>
              <a:t>مثال يكشفه GRC: سجل التغييرات في بوابة VPN يبين إنشاء استثناء من MFA بعد تفعيله بدقائق، بلا طلب تغيير ولا موافقة.</a:t>
            </a:r>
          </a:p>
        </p:txBody>
      </p:sp>
      <p:sp>
        <p:nvSpPr>
          <p:cNvPr id="31" name="Text 30"/>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02 · الأساس التقني</a:t>
            </a:r>
          </a:p>
        </p:txBody>
      </p:sp>
      <p:sp>
        <p:nvSpPr>
          <p:cNvPr id="32" name="Text 31"/>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02 · الأساس التقني</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التطبيقات بالأسئلة الأربعة</a:t>
            </a:r>
          </a:p>
        </p:txBody>
      </p:sp>
      <p:graphicFrame>
        <p:nvGraphicFramePr>
          <p:cNvPr id="5" name="Table 4"/>
          <p:cNvGraphicFramePr>
            <a:graphicFrameLocks noGrp="1"/>
          </p:cNvGraphicFramePr>
          <p:nvPr/>
        </p:nvGraphicFramePr>
        <p:xfrm>
          <a:off x="815975" y="1661120"/>
          <a:ext cx="10560050" cy="4165600"/>
        </p:xfrm>
        <a:graphic>
          <a:graphicData uri="http://schemas.openxmlformats.org/drawingml/2006/table">
            <a:tbl>
              <a:tblPr firstRow="0" bandRow="0" lastRow="0" firstCol="0" lastCol="0" bandCol="0">
                <a:tableStyleId>{2D5ABB26-0587-4C30-8999-92F81FD0307C}</a:tableStyleId>
              </a:tblPr>
              <a:tblGrid>
                <a:gridCol w="2534285"/>
                <a:gridCol w="2745740"/>
                <a:gridCol w="2322830"/>
                <a:gridCol w="2957195"/>
              </a:tblGrid>
              <a:tr h="527050">
                <a:tc>
                  <a:txBody>
                    <a:bodyPr wrap="square"/>
                    <a:lstStyle/>
                    <a:p>
                      <a:pPr algn="r" rtl="1">
                        <a:lnSpc>
                          <a:spcPts val="2700"/>
                        </a:lnSpc>
                        <a:spcBef>
                          <a:spcPts val="0"/>
                        </a:spcBef>
                        <a:spcAft>
                          <a:spcPts val="0"/>
                        </a:spcAft>
                      </a:pPr>
                      <a:r>
                        <a:rPr sz="2000" b="1" i="0" lang="ar-SA" altLang="en-US">
                          <a:solidFill>
                            <a:srgbClr val="F3EFE6"/>
                          </a:solidFill>
                          <a:latin typeface="IBM Plex Sans Arabic"/>
                          <a:ea typeface="IBM Plex Sans Arabic"/>
                          <a:cs typeface="IBM Plex Sans Arabic"/>
                        </a:rPr>
                        <a:t>الدليل الذي تطلبه</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lang="ar-SA" altLang="en-US">
                          <a:solidFill>
                            <a:srgbClr val="F3EFE6"/>
                          </a:solidFill>
                          <a:latin typeface="IBM Plex Sans Arabic"/>
                          <a:ea typeface="IBM Plex Sans Arabic"/>
                          <a:cs typeface="IBM Plex Sans Arabic"/>
                        </a:rPr>
                        <a:t>الضابط المناسب</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lang="ar-SA" altLang="en-US">
                          <a:solidFill>
                            <a:srgbClr val="F3EFE6"/>
                          </a:solidFill>
                          <a:latin typeface="IBM Plex Sans Arabic"/>
                          <a:ea typeface="IBM Plex Sans Arabic"/>
                          <a:cs typeface="IBM Plex Sans Arabic"/>
                        </a:rPr>
                        <a:t>ما الخطر؟</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lang="ar-SA" altLang="en-US">
                          <a:solidFill>
                            <a:srgbClr val="F3EFE6"/>
                          </a:solidFill>
                          <a:latin typeface="IBM Plex Sans Arabic"/>
                          <a:ea typeface="IBM Plex Sans Arabic"/>
                          <a:cs typeface="IBM Plex Sans Arabic"/>
                        </a:rPr>
                        <a:t>المفهوم: ما هو؟</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1212850">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مخطط البيئات، ومن يصل إلى كل بيئة.</a:t>
                      </a:r>
                    </a:p>
                  </a:txBody>
                  <a:tcPr marT="107061" marR="152400" marB="70739" marL="85514"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فصل الإنتاج، وبيانات غير حقيقية للاختبار · ECC 2-⁠5-⁠3-⁠2</a:t>
                      </a:r>
                    </a:p>
                  </a:txBody>
                  <a:tcPr marT="107061" marR="152400" marB="70739" marL="7917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تغيير غير مختبر يعطل الإنتاج.</a:t>
                      </a:r>
                    </a:p>
                  </a:txBody>
                  <a:tcPr marT="107061" marR="152400" marB="70739" marL="8890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lang="ar-SA" altLang="en-US">
                          <a:solidFill>
                            <a:srgbClr val="172433"/>
                          </a:solidFill>
                          <a:latin typeface="IBM Plex Sans Arabic"/>
                          <a:ea typeface="IBM Plex Sans Arabic"/>
                          <a:cs typeface="IBM Plex Sans Arabic"/>
                        </a:rPr>
                        <a:t>فصل البيئات</a:t>
                      </a:r>
                      <a:r>
                        <a:rPr sz="2000" b="0" i="0" lang="ar-SA" altLang="en-US">
                          <a:solidFill>
                            <a:srgbClr val="172433"/>
                          </a:solidFill>
                          <a:latin typeface="IBM Plex Sans Arabic"/>
                          <a:ea typeface="IBM Plex Sans Arabic"/>
                          <a:cs typeface="IBM Plex Sans Arabic"/>
                        </a:rPr>
                        <a:t>: التطوير والاختبار والإنتاج منفصلة.</a:t>
                      </a:r>
                    </a:p>
                  </a:txBody>
                  <a:tcPr marT="107061" marR="152400" marB="70739" marL="72836"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1212850">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تذاكر بموافقاتها، ومطابقتها بسجل التغييرات.</a:t>
                      </a:r>
                    </a:p>
                  </a:txBody>
                  <a:tcPr marT="107061" marR="152400" marB="70739" marL="85514"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إجراء تغيير، ومراجعة الإعداد الآمن قبل الإطلاق · ECC 1-⁠6-⁠2</a:t>
                      </a:r>
                    </a:p>
                  </a:txBody>
                  <a:tcPr marT="107061" marR="152400" marB="70739" marL="79177"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تغيير غير معتمد يفتح ثغرة.</a:t>
                      </a:r>
                    </a:p>
                  </a:txBody>
                  <a:tcPr marT="107061" marR="152400" marB="70739" marL="8890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lang="ar-SA" altLang="en-US">
                          <a:solidFill>
                            <a:srgbClr val="172433"/>
                          </a:solidFill>
                          <a:latin typeface="IBM Plex Sans Arabic"/>
                          <a:ea typeface="IBM Plex Sans Arabic"/>
                          <a:cs typeface="IBM Plex Sans Arabic"/>
                        </a:rPr>
                        <a:t>إدارة التغيير</a:t>
                      </a:r>
                      <a:r>
                        <a:rPr sz="2000" b="0" i="0" lang="ar-SA" altLang="en-US">
                          <a:solidFill>
                            <a:srgbClr val="172433"/>
                          </a:solidFill>
                          <a:latin typeface="IBM Plex Sans Arabic"/>
                          <a:ea typeface="IBM Plex Sans Arabic"/>
                          <a:cs typeface="IBM Plex Sans Arabic"/>
                        </a:rPr>
                        <a:t>: كل تغيير يُطلب ويُعتمد ويُختبر.</a:t>
                      </a:r>
                    </a:p>
                  </a:txBody>
                  <a:tcPr marT="107061" marR="152400" marB="70739" marL="72836"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1212850">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المعيار، ونتائج اختبار الأمن.</a:t>
                      </a:r>
                    </a:p>
                  </a:txBody>
                  <a:tcPr marT="107061" marR="152400" marB="70739" marL="85514"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كود آمن، ومكتبات موثوقة، واختبار قبل الإطلاق · ECC 1-⁠6-⁠3</a:t>
                      </a:r>
                    </a:p>
                  </a:txBody>
                  <a:tcPr marT="107061" marR="152400" marB="70739" marL="7917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ثغرة في الكود تكشف بيانات العملاء.</a:t>
                      </a:r>
                    </a:p>
                  </a:txBody>
                  <a:tcPr marT="107061" marR="152400" marB="70739" marL="8890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lang="ar-SA" altLang="en-US">
                          <a:solidFill>
                            <a:srgbClr val="172433"/>
                          </a:solidFill>
                          <a:latin typeface="IBM Plex Sans Arabic"/>
                          <a:ea typeface="IBM Plex Sans Arabic"/>
                          <a:cs typeface="IBM Plex Sans Arabic"/>
                        </a:rPr>
                        <a:t>التطوير الآمن</a:t>
                      </a:r>
                      <a:r>
                        <a:rPr sz="2000" b="0" i="0" lang="ar-SA" altLang="en-US">
                          <a:solidFill>
                            <a:srgbClr val="172433"/>
                          </a:solidFill>
                          <a:latin typeface="IBM Plex Sans Arabic"/>
                          <a:ea typeface="IBM Plex Sans Arabic"/>
                          <a:cs typeface="IBM Plex Sans Arabic"/>
                        </a:rPr>
                        <a:t>: الأمن جزء من كتابة الكود.</a:t>
                      </a:r>
                    </a:p>
                  </a:txBody>
                  <a:tcPr marT="107061" marR="152400" marB="70739" marL="72836"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Text 5"/>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02 · الأساس التقني</a:t>
            </a:r>
          </a:p>
        </p:txBody>
      </p:sp>
      <p:sp>
        <p:nvSpPr>
          <p:cNvPr id="7" name="Text 6"/>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02 · الأساس التقني</a:t>
            </a:r>
          </a:p>
        </p:txBody>
      </p:sp>
      <p:sp>
        <p:nvSpPr>
          <p:cNvPr id="4" name="Text box 3"/>
          <p:cNvSpPr/>
          <p:nvPr/>
        </p:nvSpPr>
        <p:spPr>
          <a:xfrm>
            <a:off x="7777262"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تمرين: المفهوم والخطر والضابط والدليل</a:t>
            </a:r>
          </a:p>
        </p:txBody>
      </p:sp>
      <p:sp>
        <p:nvSpPr>
          <p:cNvPr id="6" name="Text 5"/>
          <p:cNvSpPr txBox="1"/>
          <p:nvPr/>
        </p:nvSpPr>
        <p:spPr>
          <a:xfrm>
            <a:off x="0" y="1622512"/>
            <a:ext cx="113792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lang="ar-SA" altLang="en-US">
                <a:solidFill>
                  <a:srgbClr val="8A4B12"/>
                </a:solidFill>
                <a:latin typeface="IBM Plex Sans Arabic"/>
                <a:ea typeface="IBM Plex Sans Arabic"/>
                <a:cs typeface="IBM Plex Sans Arabic"/>
              </a:rPr>
              <a:t>لكل موقف: ما المفهوم التقني؟ ما الخطر؟ ما الضابط المناسب؟ وما الدليل الذي ستطلبه؟ 10 دقائق.</a:t>
            </a:r>
          </a:p>
        </p:txBody>
      </p:sp>
      <p:graphicFrame>
        <p:nvGraphicFramePr>
          <p:cNvPr id="7" name="Table 6"/>
          <p:cNvGraphicFramePr>
            <a:graphicFrameLocks noGrp="1"/>
          </p:cNvGraphicFramePr>
          <p:nvPr/>
        </p:nvGraphicFramePr>
        <p:xfrm>
          <a:off x="815975" y="2171601"/>
          <a:ext cx="10560050" cy="3442296"/>
        </p:xfrm>
        <a:graphic>
          <a:graphicData uri="http://schemas.openxmlformats.org/drawingml/2006/table">
            <a:tbl>
              <a:tblPr firstRow="0" bandRow="0" lastRow="0" firstCol="0" lastCol="0" bandCol="0">
                <a:tableStyleId>{2D5ABB26-0587-4C30-8999-92F81FD0307C}</a:tableStyleId>
              </a:tblPr>
              <a:tblGrid>
                <a:gridCol w="2534285"/>
                <a:gridCol w="2534285"/>
                <a:gridCol w="4857750"/>
                <a:gridCol w="633730"/>
              </a:tblGrid>
              <a:tr h="474861">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الضابط والدليل</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المفهوم والخطر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الموقف</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430"/>
                        </a:lnSpc>
                        <a:spcBef>
                          <a:spcPts val="0"/>
                        </a:spcBef>
                        <a:spcAft>
                          <a:spcPts val="0"/>
                        </a:spcAft>
                      </a:pPr>
                      <a:r>
                        <a:rPr sz="1800" b="1" i="0">
                          <a:solidFill>
                            <a:srgbClr val="F3EFE6"/>
                          </a:solidFill>
                          <a:latin typeface="IBM Plex Sans Arabic"/>
                          <a:ea typeface="IBM Plex Sans Arabic"/>
                          <a:cs typeface="IBM Plex Sans Arabic"/>
                        </a:rPr>
                        <a:t>#</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1092002">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في نظام الرواتب، يستطيع موظفان في الموارد البشرية تعديل الحساب البنكي للموظف واعتماد مسير الرواتب كليهما.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1</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1092002">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طُبّق تحديث على خادم تطبيق التتبع مساء خميس مباشرة، دون طلب تغيير ولا اختبار، فتوقف التتبع ساعتين.</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2</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783431">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سجلات الدخول إلى البريد السحابي تُحفظ 90 يوماً فقط، ولا أحد يراجعها.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3</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8" name="Text 7"/>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02 · الأساس التقني</a:t>
            </a:r>
          </a:p>
        </p:txBody>
      </p:sp>
      <p:sp>
        <p:nvSpPr>
          <p:cNvPr id="9" name="Text 8"/>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02 · الأساس التقني</a:t>
            </a:r>
          </a:p>
        </p:txBody>
      </p:sp>
      <p:sp>
        <p:nvSpPr>
          <p:cNvPr id="4" name="Text box 3"/>
          <p:cNvSpPr/>
          <p:nvPr/>
        </p:nvSpPr>
        <p:spPr>
          <a:xfrm>
            <a:off x="7984331"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الإجابة: المفهوم والخطر والضابط والدليل</a:t>
            </a:r>
          </a:p>
        </p:txBody>
      </p:sp>
      <p:graphicFrame>
        <p:nvGraphicFramePr>
          <p:cNvPr id="6" name="Table 5"/>
          <p:cNvGraphicFramePr>
            <a:graphicFrameLocks noGrp="1"/>
          </p:cNvGraphicFramePr>
          <p:nvPr/>
        </p:nvGraphicFramePr>
        <p:xfrm>
          <a:off x="815975" y="1661120"/>
          <a:ext cx="10560050" cy="3610372"/>
        </p:xfrm>
        <a:graphic>
          <a:graphicData uri="http://schemas.openxmlformats.org/drawingml/2006/table">
            <a:tbl>
              <a:tblPr firstRow="0" bandRow="0" lastRow="0" firstCol="0" lastCol="0" bandCol="0">
                <a:tableStyleId>{2D5ABB26-0587-4C30-8999-92F81FD0307C}</a:tableStyleId>
              </a:tblPr>
              <a:tblGrid>
                <a:gridCol w="2851150"/>
                <a:gridCol w="3062605"/>
                <a:gridCol w="2851150"/>
                <a:gridCol w="1795145"/>
              </a:tblGrid>
              <a:tr h="422672">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الدليل</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الضابط</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الخطر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المفهوم</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1245394">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مصفوفة الأدوار في النظام، وتقرير بمن يجمع الصلاحيتين، وعينة من تغييرات الحسابات البنكية بموافقاتها.</a:t>
                      </a:r>
                    </a:p>
                  </a:txBody>
                  <a:tcPr marT="85649" marR="121920" marB="56591" marL="43701"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فصل التعديل عن الاعتماد، وموافقة ثانية على تغيير الحساب البنكي، وتقرير شهري بالتغييرات.</a:t>
                      </a:r>
                    </a:p>
                  </a:txBody>
                  <a:tcPr marT="85649" marR="121920" marB="56591" marL="37364"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موظف واحد يغيّر الحساب البنكي ثم يعتمد المسير، فيحوّل راتباً إلى حساب آخر دون أن يُكتشف.</a:t>
                      </a:r>
                    </a:p>
                  </a:txBody>
                  <a:tcPr marT="85649" marR="121920" marB="56591" marL="43701"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1. فصل المهام</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971153">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تذكرة التغيير بموافقتها ونتيجة اختباره، ومطابقة سجل تغييرات الخادم بالتذاكر.</a:t>
                      </a:r>
                    </a:p>
                  </a:txBody>
                  <a:tcPr marT="85649" marR="121920" marB="56591" marL="43701"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إجراء تغيير: طلب، وتقييم أثر، واعتماد، واختبار في بيئة غير الإنتاج، ونافذة تنفيذ محددة.</a:t>
                      </a:r>
                    </a:p>
                  </a:txBody>
                  <a:tcPr marT="85649" marR="121920" marB="56591" marL="37364"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تغيير غير مختبر يوقف خدمة يعتمد عليها العملاء، أو يفتح ثغرة.</a:t>
                      </a:r>
                    </a:p>
                  </a:txBody>
                  <a:tcPr marT="85649" marR="121920" marB="56591" marL="43701"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2. إدارة التغيير وفصل البيئات</a:t>
                      </a:r>
                    </a:p>
                  </a:txBody>
                  <a:tcPr marT="85649" marR="121920" marB="56591" marL="7112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971153">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إعداد مدة الحفظ في الخدمة، وأقدم سجل متاح، وتقرير المراقبة أو المراجعة.</a:t>
                      </a:r>
                    </a:p>
                  </a:txBody>
                  <a:tcPr marT="85649" marR="121920" marB="56591" marL="43701"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حفظ السجلات 12 شهراً على الأقل (ECC 2-⁠12-⁠3-⁠5)، ومراقبة مستمرة أو مراجعة منتظمة للتنبيهات.</a:t>
                      </a:r>
                    </a:p>
                  </a:txBody>
                  <a:tcPr marT="85649" marR="121920" marB="56591" marL="37364"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حادثة قديمة لا يمكن التحقيق فيها، ودخول مشبوه لا يكتشفه أحد.</a:t>
                      </a:r>
                    </a:p>
                  </a:txBody>
                  <a:tcPr marT="85649" marR="121920" marB="56591" marL="43701"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3. السجلات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Text 6"/>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02 · الأساس التقني</a:t>
            </a:r>
          </a:p>
        </p:txBody>
      </p:sp>
      <p:sp>
        <p:nvSpPr>
          <p:cNvPr id="8" name="Text 7"/>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15710" y="1615480"/>
            <a:ext cx="2363490"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03</a:t>
            </a:r>
          </a:p>
        </p:txBody>
      </p:sp>
      <p:sp>
        <p:nvSpPr>
          <p:cNvPr id="4" name="Text 3"/>
          <p:cNvSpPr txBox="1"/>
          <p:nvPr/>
        </p:nvSpPr>
        <p:spPr>
          <a:xfrm>
            <a:off x="4011807" y="2036945"/>
            <a:ext cx="5511903"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lang="ar-SA" altLang="en-US">
                <a:solidFill>
                  <a:srgbClr val="F3EFE6"/>
                </a:solidFill>
                <a:latin typeface="Readex Pro"/>
                <a:ea typeface="Readex Pro"/>
                <a:cs typeface="Readex Pro"/>
              </a:rPr>
              <a:t>المفاهيم الأساسية</a:t>
            </a:r>
          </a:p>
        </p:txBody>
      </p:sp>
      <p:sp>
        <p:nvSpPr>
          <p:cNvPr id="5" name="Text 4"/>
          <p:cNvSpPr txBox="1"/>
          <p:nvPr/>
        </p:nvSpPr>
        <p:spPr>
          <a:xfrm>
            <a:off x="546100" y="2933867"/>
            <a:ext cx="9156700" cy="6858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lang="ar-SA" altLang="en-US">
                <a:solidFill>
                  <a:srgbClr val="D9E2E6"/>
                </a:solidFill>
                <a:latin typeface="IBM Plex Sans Arabic"/>
                <a:ea typeface="IBM Plex Sans Arabic"/>
                <a:cs typeface="IBM Plex Sans Arabic"/>
              </a:rPr>
              <a:t>اللغة التي ستستخدمها كل يوم، وستُسأل عنها في كل مقابلة: المخاطر، والضوابط، والوثائق، والأدلة، والمؤشرات.</a:t>
            </a:r>
          </a:p>
        </p:txBody>
      </p:sp>
      <p:sp>
        <p:nvSpPr>
          <p:cNvPr id="6" name="Text box 5"/>
          <p:cNvSpPr/>
          <p:nvPr/>
        </p:nvSpPr>
        <p:spPr>
          <a:xfrm>
            <a:off x="9367441" y="3869730"/>
            <a:ext cx="970359"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ثلاثية الأمن</a:t>
            </a:r>
          </a:p>
        </p:txBody>
      </p:sp>
      <p:sp>
        <p:nvSpPr>
          <p:cNvPr id="7" name="Text box 6"/>
          <p:cNvSpPr/>
          <p:nvPr/>
        </p:nvSpPr>
        <p:spPr>
          <a:xfrm>
            <a:off x="7754640" y="3869730"/>
            <a:ext cx="1511201"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مصطلحات المخاطر</a:t>
            </a:r>
          </a:p>
        </p:txBody>
      </p:sp>
      <p:sp>
        <p:nvSpPr>
          <p:cNvPr id="8" name="Text box 7"/>
          <p:cNvSpPr/>
          <p:nvPr/>
        </p:nvSpPr>
        <p:spPr>
          <a:xfrm>
            <a:off x="6299597" y="3869730"/>
            <a:ext cx="1353443"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مصفوفة المخاطر</a:t>
            </a:r>
          </a:p>
        </p:txBody>
      </p:sp>
      <p:sp>
        <p:nvSpPr>
          <p:cNvPr id="9" name="Text box 8"/>
          <p:cNvSpPr/>
          <p:nvPr/>
        </p:nvSpPr>
        <p:spPr>
          <a:xfrm>
            <a:off x="5115520" y="3869730"/>
            <a:ext cx="1082477"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الإطار الوطني</a:t>
            </a:r>
          </a:p>
        </p:txBody>
      </p:sp>
      <p:sp>
        <p:nvSpPr>
          <p:cNvPr id="10" name="Text box 9"/>
          <p:cNvSpPr/>
          <p:nvPr/>
        </p:nvSpPr>
        <p:spPr>
          <a:xfrm>
            <a:off x="3747195" y="3869730"/>
            <a:ext cx="1266726"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معالجة المخاطر</a:t>
            </a:r>
          </a:p>
        </p:txBody>
      </p:sp>
      <p:sp>
        <p:nvSpPr>
          <p:cNvPr id="11" name="Text box 10"/>
          <p:cNvSpPr/>
          <p:nvPr/>
        </p:nvSpPr>
        <p:spPr>
          <a:xfrm>
            <a:off x="2506662" y="3869730"/>
            <a:ext cx="1138932"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أنواع الضوابط</a:t>
            </a:r>
          </a:p>
        </p:txBody>
      </p:sp>
      <p:sp>
        <p:nvSpPr>
          <p:cNvPr id="12" name="Text box 11"/>
          <p:cNvSpPr/>
          <p:nvPr/>
        </p:nvSpPr>
        <p:spPr>
          <a:xfrm>
            <a:off x="1113433" y="3869730"/>
            <a:ext cx="1291630"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الأثر بلغة الأعمال</a:t>
            </a:r>
          </a:p>
        </p:txBody>
      </p:sp>
      <p:sp>
        <p:nvSpPr>
          <p:cNvPr id="13" name="Text box 12"/>
          <p:cNvSpPr/>
          <p:nvPr/>
        </p:nvSpPr>
        <p:spPr>
          <a:xfrm>
            <a:off x="9345017" y="4329410"/>
            <a:ext cx="992783"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هرم الوثائق</a:t>
            </a:r>
          </a:p>
        </p:txBody>
      </p:sp>
      <p:sp>
        <p:nvSpPr>
          <p:cNvPr id="14" name="Text box 13"/>
          <p:cNvSpPr/>
          <p:nvPr/>
        </p:nvSpPr>
        <p:spPr>
          <a:xfrm>
            <a:off x="7930158" y="4329410"/>
            <a:ext cx="1313259"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مكونات السياسة</a:t>
            </a:r>
          </a:p>
        </p:txBody>
      </p:sp>
      <p:sp>
        <p:nvSpPr>
          <p:cNvPr id="15" name="Text box 14"/>
          <p:cNvSpPr/>
          <p:nvPr/>
        </p:nvSpPr>
        <p:spPr>
          <a:xfrm>
            <a:off x="6291759" y="4329410"/>
            <a:ext cx="1536799"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خطوط الدفاع الثلاثة</a:t>
            </a:r>
          </a:p>
        </p:txBody>
      </p:sp>
      <p:sp>
        <p:nvSpPr>
          <p:cNvPr id="16" name="Text box 15"/>
          <p:cNvSpPr/>
          <p:nvPr/>
        </p:nvSpPr>
        <p:spPr>
          <a:xfrm>
            <a:off x="5115123" y="4329410"/>
            <a:ext cx="1075035"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أمن العاملين</a:t>
            </a:r>
          </a:p>
        </p:txBody>
      </p:sp>
      <p:sp>
        <p:nvSpPr>
          <p:cNvPr id="17" name="Text box 16"/>
          <p:cNvSpPr/>
          <p:nvPr/>
        </p:nvSpPr>
        <p:spPr>
          <a:xfrm>
            <a:off x="3808412" y="4329410"/>
            <a:ext cx="1205111"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الأدلة والتدقيق</a:t>
            </a:r>
          </a:p>
        </p:txBody>
      </p:sp>
      <p:sp>
        <p:nvSpPr>
          <p:cNvPr id="18" name="Text box 17"/>
          <p:cNvSpPr/>
          <p:nvPr/>
        </p:nvSpPr>
        <p:spPr>
          <a:xfrm>
            <a:off x="2422624" y="4329410"/>
            <a:ext cx="1284188"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فجوات الضوابط</a:t>
            </a:r>
          </a:p>
        </p:txBody>
      </p:sp>
      <p:sp>
        <p:nvSpPr>
          <p:cNvPr id="19" name="Text box 18"/>
          <p:cNvSpPr/>
          <p:nvPr/>
        </p:nvSpPr>
        <p:spPr>
          <a:xfrm>
            <a:off x="960239" y="4329410"/>
            <a:ext cx="1360785"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المؤشرات والتقرير</a:t>
            </a:r>
          </a:p>
        </p:txBody>
      </p:sp>
      <p:sp>
        <p:nvSpPr>
          <p:cNvPr id="20" name="Text box 19"/>
          <p:cNvSpPr/>
          <p:nvPr/>
        </p:nvSpPr>
        <p:spPr>
          <a:xfrm>
            <a:off x="9307711" y="4789091"/>
            <a:ext cx="1030089"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أدوات GRC</a:t>
            </a:r>
          </a:p>
        </p:txBody>
      </p:sp>
      <p:sp>
        <p:nvSpPr>
          <p:cNvPr id="21" name="Text box 20"/>
          <p:cNvSpPr/>
          <p:nvPr/>
        </p:nvSpPr>
        <p:spPr>
          <a:xfrm>
            <a:off x="7881739" y="4789091"/>
            <a:ext cx="1324372"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الأطراف الخارجية</a:t>
            </a:r>
          </a:p>
        </p:txBody>
      </p:sp>
      <p:sp>
        <p:nvSpPr>
          <p:cNvPr id="22" name="Text box 21"/>
          <p:cNvSpPr/>
          <p:nvPr/>
        </p:nvSpPr>
        <p:spPr>
          <a:xfrm>
            <a:off x="6190853" y="4789091"/>
            <a:ext cx="1589286" cy="358080"/>
          </a:xfrm>
          <a:prstGeom prst="roundRect">
            <a:avLst>
              <a:gd name="adj" fmla="val 50000"/>
            </a:avLst>
          </a:prstGeom>
          <a:solidFill>
            <a:srgbClr val="22344A"/>
          </a:solidFill>
          <a:ln>
            <a:noFill/>
          </a:ln>
        </p:spPr>
        <p:txBody>
          <a:bodyPr rtlCol="0" anchor="ctr" wrap="square" tIns="0" rIns="99961" bIns="51181" lIns="0"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الاستمرارية والحوادث</a:t>
            </a:r>
          </a:p>
        </p:txBody>
      </p:sp>
      <p:sp>
        <p:nvSpPr>
          <p:cNvPr id="23" name="Text box 22"/>
          <p:cNvSpPr/>
          <p:nvPr/>
        </p:nvSpPr>
        <p:spPr>
          <a:xfrm>
            <a:off x="4516934" y="4789091"/>
            <a:ext cx="1572320" cy="358080"/>
          </a:xfrm>
          <a:prstGeom prst="roundRect">
            <a:avLst>
              <a:gd name="adj" fmla="val 50000"/>
            </a:avLst>
          </a:prstGeom>
          <a:solidFill>
            <a:srgbClr val="22344A"/>
          </a:solidFill>
          <a:ln>
            <a:noFill/>
          </a:ln>
        </p:spPr>
        <p:txBody>
          <a:bodyPr rtlCol="0" anchor="ctr" wrap="square" tIns="0" rIns="99961" bIns="51181" lIns="0"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قاموس المصطلحات</a:t>
            </a:r>
          </a:p>
        </p:txBody>
      </p:sp>
      <p:sp>
        <p:nvSpPr>
          <p:cNvPr id="24" name="Text 23"/>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93A3B1"/>
                </a:solidFill>
                <a:latin typeface="IBM Plex Sans Arabic"/>
                <a:ea typeface="IBM Plex Sans Arabic"/>
                <a:cs typeface="IBM Plex Sans Arabic"/>
              </a:rPr>
              <a:t>كيف تبدأ في GRC · الوحدة 03</a:t>
            </a:r>
          </a:p>
        </p:txBody>
      </p:sp>
      <p:sp>
        <p:nvSpPr>
          <p:cNvPr id="25" name="Text 24"/>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281319" y="812800"/>
            <a:ext cx="2097881"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ثلاثية الأمن: ما الذي نحميه في المعلومات؟</a:t>
            </a:r>
          </a:p>
        </p:txBody>
      </p:sp>
      <p:sp>
        <p:nvSpPr>
          <p:cNvPr id="5" name="Box 4"/>
          <p:cNvSpPr/>
          <p:nvPr/>
        </p:nvSpPr>
        <p:spPr>
          <a:xfrm>
            <a:off x="7978775" y="1911945"/>
            <a:ext cx="3397250" cy="1638300"/>
          </a:xfrm>
          <a:prstGeom prst="roundRect">
            <a:avLst>
              <a:gd name="adj" fmla="val 6949"/>
            </a:avLst>
          </a:prstGeom>
          <a:solidFill>
            <a:srgbClr val="FFFDF8"/>
          </a:solidFill>
          <a:ln w="6350">
            <a:solidFill>
              <a:srgbClr val="E1DBCD"/>
            </a:solidFill>
          </a:ln>
        </p:spPr>
        <p:txBody>
          <a:bodyPr rtlCol="0" anchor="ctr"/>
          <a:lstStyle/>
          <a:p>
            <a:pPr algn="ctr"/>
          </a:p>
        </p:txBody>
      </p:sp>
      <p:pic>
        <p:nvPicPr>
          <p:cNvPr id="6" name="Icon Lock 5" descr="icon012.png"/>
          <p:cNvPicPr>
            <a:picLocks noChangeAspect="1"/>
          </p:cNvPicPr>
          <p:nvPr/>
        </p:nvPicPr>
        <p:blipFill>
          <a:blip r:embed="rId2"/>
          <a:stretch>
            <a:fillRect/>
          </a:stretch>
        </p:blipFill>
        <p:spPr>
          <a:xfrm>
            <a:off x="10890250" y="2131020"/>
            <a:ext cx="279400" cy="279400"/>
          </a:xfrm>
          <a:prstGeom prst="rect">
            <a:avLst/>
          </a:prstGeom>
        </p:spPr>
      </p:pic>
      <p:sp>
        <p:nvSpPr>
          <p:cNvPr id="7" name="Text 6"/>
          <p:cNvSpPr txBox="1"/>
          <p:nvPr/>
        </p:nvSpPr>
        <p:spPr>
          <a:xfrm>
            <a:off x="9859764" y="2114510"/>
            <a:ext cx="928886" cy="304800"/>
          </a:xfrm>
          <a:prstGeom prst="rect">
            <a:avLst/>
          </a:prstGeom>
          <a:noFill/>
        </p:spPr>
        <p:txBody>
          <a:bodyPr wrap="square" tIns="0" rIns="0" bIns="0" lIns="0" anchor="t" rtlCol="0" anchorCtr="0">
            <a:noAutofit/>
          </a:bodyPr>
          <a:lstStyle/>
          <a:p>
            <a:pPr algn="r" rtl="1">
              <a:lnSpc>
                <a:spcPts val="2400"/>
              </a:lnSpc>
              <a:spcBef>
                <a:spcPts val="0"/>
              </a:spcBef>
              <a:spcAft>
                <a:spcPts val="0"/>
              </a:spcAft>
            </a:pPr>
            <a:r>
              <a:rPr sz="2000" b="1" i="0" lang="ar-SA" altLang="en-US">
                <a:solidFill>
                  <a:srgbClr val="172433"/>
                </a:solidFill>
                <a:latin typeface="Readex Pro"/>
                <a:ea typeface="Readex Pro"/>
                <a:cs typeface="Readex Pro"/>
              </a:rPr>
              <a:t>السرية</a:t>
            </a:r>
          </a:p>
        </p:txBody>
      </p:sp>
      <p:sp>
        <p:nvSpPr>
          <p:cNvPr id="8" name="Text 7"/>
          <p:cNvSpPr txBox="1"/>
          <p:nvPr/>
        </p:nvSpPr>
        <p:spPr>
          <a:xfrm>
            <a:off x="8825448" y="2140438"/>
            <a:ext cx="1085116"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6B7680"/>
                </a:solidFill>
                <a:latin typeface="IBM Plex Sans Arabic"/>
                <a:ea typeface="IBM Plex Sans Arabic"/>
                <a:cs typeface="IBM Plex Sans Arabic"/>
              </a:rPr>
              <a:t>Confidentiality</a:t>
            </a:r>
          </a:p>
        </p:txBody>
      </p:sp>
      <p:sp>
        <p:nvSpPr>
          <p:cNvPr id="9" name="Text 8"/>
          <p:cNvSpPr txBox="1"/>
          <p:nvPr/>
        </p:nvSpPr>
        <p:spPr>
          <a:xfrm>
            <a:off x="8001000" y="2475571"/>
            <a:ext cx="3168650" cy="2667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400" b="0" i="0" lang="ar-SA" altLang="en-US">
                <a:solidFill>
                  <a:srgbClr val="172433"/>
                </a:solidFill>
                <a:latin typeface="IBM Plex Sans Arabic"/>
                <a:ea typeface="IBM Plex Sans Arabic"/>
                <a:cs typeface="IBM Plex Sans Arabic"/>
              </a:rPr>
              <a:t>لا يطّلع على المعلومة إلا المخول.</a:t>
            </a:r>
          </a:p>
        </p:txBody>
      </p:sp>
      <p:sp>
        <p:nvSpPr>
          <p:cNvPr id="10" name="Text 9"/>
          <p:cNvSpPr txBox="1"/>
          <p:nvPr/>
        </p:nvSpPr>
        <p:spPr>
          <a:xfrm>
            <a:off x="8095615" y="2835077"/>
            <a:ext cx="3074035" cy="476250"/>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1" i="0" lang="ar-SA" altLang="en-US">
                <a:solidFill>
                  <a:srgbClr val="4E5A66"/>
                </a:solidFill>
                <a:latin typeface="IBM Plex Sans Arabic"/>
                <a:ea typeface="IBM Plex Sans Arabic"/>
                <a:cs typeface="IBM Plex Sans Arabic"/>
              </a:rPr>
              <a:t>ما يهددها:</a:t>
            </a:r>
            <a:r>
              <a:rPr sz="1250" b="0" i="0" lang="ar-SA" altLang="en-US">
                <a:solidFill>
                  <a:srgbClr val="4E5A66"/>
                </a:solidFill>
                <a:latin typeface="IBM Plex Sans Arabic"/>
                <a:ea typeface="IBM Plex Sans Arabic"/>
                <a:cs typeface="IBM Plex Sans Arabic"/>
              </a:rPr>
              <a:t> تسرب ملف رواتب.</a:t>
            </a:r>
            <a:br/>
            <a:r>
              <a:rPr sz="1250" b="1" i="0" lang="ar-SA" altLang="en-US">
                <a:solidFill>
                  <a:srgbClr val="4E5A66"/>
                </a:solidFill>
                <a:latin typeface="IBM Plex Sans Arabic"/>
                <a:ea typeface="IBM Plex Sans Arabic"/>
                <a:cs typeface="IBM Plex Sans Arabic"/>
              </a:rPr>
              <a:t>ما يحميها:</a:t>
            </a:r>
            <a:r>
              <a:rPr sz="1250" b="0" i="0" lang="ar-SA" altLang="en-US">
                <a:solidFill>
                  <a:srgbClr val="4E5A66"/>
                </a:solidFill>
                <a:latin typeface="IBM Plex Sans Arabic"/>
                <a:ea typeface="IBM Plex Sans Arabic"/>
                <a:cs typeface="IBM Plex Sans Arabic"/>
              </a:rPr>
              <a:t> الصلاحيات والتشفير.</a:t>
            </a:r>
          </a:p>
        </p:txBody>
      </p:sp>
      <p:sp>
        <p:nvSpPr>
          <p:cNvPr id="11" name="Box 10"/>
          <p:cNvSpPr/>
          <p:nvPr/>
        </p:nvSpPr>
        <p:spPr>
          <a:xfrm>
            <a:off x="4397375" y="1911945"/>
            <a:ext cx="3397250" cy="1638300"/>
          </a:xfrm>
          <a:prstGeom prst="roundRect">
            <a:avLst>
              <a:gd name="adj" fmla="val 6949"/>
            </a:avLst>
          </a:prstGeom>
          <a:solidFill>
            <a:srgbClr val="FFFDF8"/>
          </a:solidFill>
          <a:ln w="6350">
            <a:solidFill>
              <a:srgbClr val="E1DBCD"/>
            </a:solidFill>
          </a:ln>
        </p:spPr>
        <p:txBody>
          <a:bodyPr rtlCol="0" anchor="ctr"/>
          <a:lstStyle/>
          <a:p>
            <a:pPr algn="ctr"/>
          </a:p>
        </p:txBody>
      </p:sp>
      <p:pic>
        <p:nvPicPr>
          <p:cNvPr id="12" name="Icon Verified 11" descr="icon013.png"/>
          <p:cNvPicPr>
            <a:picLocks noChangeAspect="1"/>
          </p:cNvPicPr>
          <p:nvPr/>
        </p:nvPicPr>
        <p:blipFill>
          <a:blip r:embed="rId3"/>
          <a:stretch>
            <a:fillRect/>
          </a:stretch>
        </p:blipFill>
        <p:spPr>
          <a:xfrm>
            <a:off x="7308850" y="2131020"/>
            <a:ext cx="279400" cy="279400"/>
          </a:xfrm>
          <a:prstGeom prst="rect">
            <a:avLst/>
          </a:prstGeom>
        </p:spPr>
      </p:pic>
      <p:sp>
        <p:nvSpPr>
          <p:cNvPr id="13" name="Text 12"/>
          <p:cNvSpPr txBox="1"/>
          <p:nvPr/>
        </p:nvSpPr>
        <p:spPr>
          <a:xfrm>
            <a:off x="6185595" y="2114510"/>
            <a:ext cx="1021655" cy="304800"/>
          </a:xfrm>
          <a:prstGeom prst="rect">
            <a:avLst/>
          </a:prstGeom>
          <a:noFill/>
        </p:spPr>
        <p:txBody>
          <a:bodyPr wrap="square" tIns="0" rIns="0" bIns="0" lIns="0" anchor="t" rtlCol="0" anchorCtr="0">
            <a:noAutofit/>
          </a:bodyPr>
          <a:lstStyle/>
          <a:p>
            <a:pPr algn="r" rtl="1">
              <a:lnSpc>
                <a:spcPts val="2400"/>
              </a:lnSpc>
              <a:spcBef>
                <a:spcPts val="0"/>
              </a:spcBef>
              <a:spcAft>
                <a:spcPts val="0"/>
              </a:spcAft>
            </a:pPr>
            <a:r>
              <a:rPr sz="2000" b="1" i="0" lang="ar-SA" altLang="en-US">
                <a:solidFill>
                  <a:srgbClr val="172433"/>
                </a:solidFill>
                <a:latin typeface="Readex Pro"/>
                <a:ea typeface="Readex Pro"/>
                <a:cs typeface="Readex Pro"/>
              </a:rPr>
              <a:t>السلامة</a:t>
            </a:r>
          </a:p>
        </p:txBody>
      </p:sp>
      <p:sp>
        <p:nvSpPr>
          <p:cNvPr id="14" name="Text 13"/>
          <p:cNvSpPr txBox="1"/>
          <p:nvPr/>
        </p:nvSpPr>
        <p:spPr>
          <a:xfrm>
            <a:off x="5556786" y="2140438"/>
            <a:ext cx="67960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6B7680"/>
                </a:solidFill>
                <a:latin typeface="IBM Plex Sans Arabic"/>
                <a:ea typeface="IBM Plex Sans Arabic"/>
                <a:cs typeface="IBM Plex Sans Arabic"/>
              </a:rPr>
              <a:t>Integrity</a:t>
            </a:r>
          </a:p>
        </p:txBody>
      </p:sp>
      <p:sp>
        <p:nvSpPr>
          <p:cNvPr id="15" name="Text 14"/>
          <p:cNvSpPr txBox="1"/>
          <p:nvPr/>
        </p:nvSpPr>
        <p:spPr>
          <a:xfrm>
            <a:off x="4419600" y="2475571"/>
            <a:ext cx="3168650" cy="2667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400" b="0" i="0" lang="ar-SA" altLang="en-US">
                <a:solidFill>
                  <a:srgbClr val="172433"/>
                </a:solidFill>
                <a:latin typeface="IBM Plex Sans Arabic"/>
                <a:ea typeface="IBM Plex Sans Arabic"/>
                <a:cs typeface="IBM Plex Sans Arabic"/>
              </a:rPr>
              <a:t>المعلومة صحيحة ولم تُغيَّر دون إذن.</a:t>
            </a:r>
          </a:p>
        </p:txBody>
      </p:sp>
      <p:sp>
        <p:nvSpPr>
          <p:cNvPr id="16" name="Text 15"/>
          <p:cNvSpPr txBox="1"/>
          <p:nvPr/>
        </p:nvSpPr>
        <p:spPr>
          <a:xfrm>
            <a:off x="4514215" y="2835077"/>
            <a:ext cx="3074035" cy="476250"/>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1" i="0" lang="ar-SA" altLang="en-US">
                <a:solidFill>
                  <a:srgbClr val="4E5A66"/>
                </a:solidFill>
                <a:latin typeface="IBM Plex Sans Arabic"/>
                <a:ea typeface="IBM Plex Sans Arabic"/>
                <a:cs typeface="IBM Plex Sans Arabic"/>
              </a:rPr>
              <a:t>ما يهددها:</a:t>
            </a:r>
            <a:r>
              <a:rPr sz="1250" b="0" i="0" lang="ar-SA" altLang="en-US">
                <a:solidFill>
                  <a:srgbClr val="4E5A66"/>
                </a:solidFill>
                <a:latin typeface="IBM Plex Sans Arabic"/>
                <a:ea typeface="IBM Plex Sans Arabic"/>
                <a:cs typeface="IBM Plex Sans Arabic"/>
              </a:rPr>
              <a:t> تعديل مبلغ في أمر صرف.</a:t>
            </a:r>
            <a:br/>
            <a:r>
              <a:rPr sz="1250" b="1" i="0" lang="ar-SA" altLang="en-US">
                <a:solidFill>
                  <a:srgbClr val="4E5A66"/>
                </a:solidFill>
                <a:latin typeface="IBM Plex Sans Arabic"/>
                <a:ea typeface="IBM Plex Sans Arabic"/>
                <a:cs typeface="IBM Plex Sans Arabic"/>
              </a:rPr>
              <a:t>ما يحميها:</a:t>
            </a:r>
            <a:r>
              <a:rPr sz="1250" b="0" i="0" lang="ar-SA" altLang="en-US">
                <a:solidFill>
                  <a:srgbClr val="4E5A66"/>
                </a:solidFill>
                <a:latin typeface="IBM Plex Sans Arabic"/>
                <a:ea typeface="IBM Plex Sans Arabic"/>
                <a:cs typeface="IBM Plex Sans Arabic"/>
              </a:rPr>
              <a:t> فصل المهام والسجلات.</a:t>
            </a:r>
          </a:p>
        </p:txBody>
      </p:sp>
      <p:sp>
        <p:nvSpPr>
          <p:cNvPr id="17" name="Box 16"/>
          <p:cNvSpPr/>
          <p:nvPr/>
        </p:nvSpPr>
        <p:spPr>
          <a:xfrm>
            <a:off x="815975" y="1911945"/>
            <a:ext cx="3397250" cy="1638300"/>
          </a:xfrm>
          <a:prstGeom prst="roundRect">
            <a:avLst>
              <a:gd name="adj" fmla="val 6949"/>
            </a:avLst>
          </a:prstGeom>
          <a:solidFill>
            <a:srgbClr val="FFFDF8"/>
          </a:solidFill>
          <a:ln w="6350">
            <a:solidFill>
              <a:srgbClr val="E1DBCD"/>
            </a:solidFill>
          </a:ln>
        </p:spPr>
        <p:txBody>
          <a:bodyPr rtlCol="0" anchor="ctr"/>
          <a:lstStyle/>
          <a:p>
            <a:pPr algn="ctr"/>
          </a:p>
        </p:txBody>
      </p:sp>
      <p:pic>
        <p:nvPicPr>
          <p:cNvPr id="18" name="Icon Activity 17" descr="icon014.png"/>
          <p:cNvPicPr>
            <a:picLocks noChangeAspect="1"/>
          </p:cNvPicPr>
          <p:nvPr/>
        </p:nvPicPr>
        <p:blipFill>
          <a:blip r:embed="rId4"/>
          <a:stretch>
            <a:fillRect/>
          </a:stretch>
        </p:blipFill>
        <p:spPr>
          <a:xfrm>
            <a:off x="3727450" y="2131020"/>
            <a:ext cx="279400" cy="279400"/>
          </a:xfrm>
          <a:prstGeom prst="rect">
            <a:avLst/>
          </a:prstGeom>
        </p:spPr>
      </p:pic>
      <p:sp>
        <p:nvSpPr>
          <p:cNvPr id="19" name="Text 18"/>
          <p:cNvSpPr txBox="1"/>
          <p:nvPr/>
        </p:nvSpPr>
        <p:spPr>
          <a:xfrm>
            <a:off x="2717006" y="2114510"/>
            <a:ext cx="908844" cy="304800"/>
          </a:xfrm>
          <a:prstGeom prst="rect">
            <a:avLst/>
          </a:prstGeom>
          <a:noFill/>
        </p:spPr>
        <p:txBody>
          <a:bodyPr wrap="square" tIns="0" rIns="0" bIns="0" lIns="0" anchor="t" rtlCol="0" anchorCtr="0">
            <a:noAutofit/>
          </a:bodyPr>
          <a:lstStyle/>
          <a:p>
            <a:pPr algn="r" rtl="1">
              <a:lnSpc>
                <a:spcPts val="2400"/>
              </a:lnSpc>
              <a:spcBef>
                <a:spcPts val="0"/>
              </a:spcBef>
              <a:spcAft>
                <a:spcPts val="0"/>
              </a:spcAft>
            </a:pPr>
            <a:r>
              <a:rPr sz="2000" b="1" i="0" lang="ar-SA" altLang="en-US">
                <a:solidFill>
                  <a:srgbClr val="172433"/>
                </a:solidFill>
                <a:latin typeface="Readex Pro"/>
                <a:ea typeface="Readex Pro"/>
                <a:cs typeface="Readex Pro"/>
              </a:rPr>
              <a:t>التوافر</a:t>
            </a:r>
          </a:p>
        </p:txBody>
      </p:sp>
      <p:sp>
        <p:nvSpPr>
          <p:cNvPr id="20" name="Text 19"/>
          <p:cNvSpPr txBox="1"/>
          <p:nvPr/>
        </p:nvSpPr>
        <p:spPr>
          <a:xfrm>
            <a:off x="1930142" y="2140438"/>
            <a:ext cx="837664"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6B7680"/>
                </a:solidFill>
                <a:latin typeface="IBM Plex Sans Arabic"/>
                <a:ea typeface="IBM Plex Sans Arabic"/>
                <a:cs typeface="IBM Plex Sans Arabic"/>
              </a:rPr>
              <a:t>Availability</a:t>
            </a:r>
          </a:p>
        </p:txBody>
      </p:sp>
      <p:sp>
        <p:nvSpPr>
          <p:cNvPr id="21" name="Text 20"/>
          <p:cNvSpPr txBox="1"/>
          <p:nvPr/>
        </p:nvSpPr>
        <p:spPr>
          <a:xfrm>
            <a:off x="838200" y="2475571"/>
            <a:ext cx="3168650" cy="2667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400" b="0" i="0" lang="ar-SA" altLang="en-US">
                <a:solidFill>
                  <a:srgbClr val="172433"/>
                </a:solidFill>
                <a:latin typeface="IBM Plex Sans Arabic"/>
                <a:ea typeface="IBM Plex Sans Arabic"/>
                <a:cs typeface="IBM Plex Sans Arabic"/>
              </a:rPr>
              <a:t>المعلومة والخدمة متاحتان وقت الحاجة.</a:t>
            </a:r>
          </a:p>
        </p:txBody>
      </p:sp>
      <p:sp>
        <p:nvSpPr>
          <p:cNvPr id="22" name="Text 21"/>
          <p:cNvSpPr txBox="1"/>
          <p:nvPr/>
        </p:nvSpPr>
        <p:spPr>
          <a:xfrm>
            <a:off x="932815" y="2835077"/>
            <a:ext cx="3074035" cy="476250"/>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1" i="0" lang="ar-SA" altLang="en-US">
                <a:solidFill>
                  <a:srgbClr val="4E5A66"/>
                </a:solidFill>
                <a:latin typeface="IBM Plex Sans Arabic"/>
                <a:ea typeface="IBM Plex Sans Arabic"/>
                <a:cs typeface="IBM Plex Sans Arabic"/>
              </a:rPr>
              <a:t>ما يهدده:</a:t>
            </a:r>
            <a:r>
              <a:rPr sz="1250" b="0" i="0" lang="ar-SA" altLang="en-US">
                <a:solidFill>
                  <a:srgbClr val="4E5A66"/>
                </a:solidFill>
                <a:latin typeface="IBM Plex Sans Arabic"/>
                <a:ea typeface="IBM Plex Sans Arabic"/>
                <a:cs typeface="IBM Plex Sans Arabic"/>
              </a:rPr>
              <a:t> برمجية فدية توقف البوابة.</a:t>
            </a:r>
            <a:br/>
            <a:r>
              <a:rPr sz="1250" b="1" i="0" lang="ar-SA" altLang="en-US">
                <a:solidFill>
                  <a:srgbClr val="4E5A66"/>
                </a:solidFill>
                <a:latin typeface="IBM Plex Sans Arabic"/>
                <a:ea typeface="IBM Plex Sans Arabic"/>
                <a:cs typeface="IBM Plex Sans Arabic"/>
              </a:rPr>
              <a:t>ما يحميه:</a:t>
            </a:r>
            <a:r>
              <a:rPr sz="1250" b="0" i="0" lang="ar-SA" altLang="en-US">
                <a:solidFill>
                  <a:srgbClr val="4E5A66"/>
                </a:solidFill>
                <a:latin typeface="IBM Plex Sans Arabic"/>
                <a:ea typeface="IBM Plex Sans Arabic"/>
                <a:cs typeface="IBM Plex Sans Arabic"/>
              </a:rPr>
              <a:t> النسخ الاحتياطي وخطط التعافي.</a:t>
            </a:r>
          </a:p>
        </p:txBody>
      </p:sp>
      <p:sp>
        <p:nvSpPr>
          <p:cNvPr id="23" name="Box 22"/>
          <p:cNvSpPr/>
          <p:nvPr/>
        </p:nvSpPr>
        <p:spPr>
          <a:xfrm>
            <a:off x="812800" y="3807420"/>
            <a:ext cx="10566400" cy="561975"/>
          </a:xfrm>
          <a:prstGeom prst="roundRect">
            <a:avLst>
              <a:gd name="adj" fmla="val 18079"/>
            </a:avLst>
          </a:prstGeom>
          <a:solidFill>
            <a:srgbClr val="172433"/>
          </a:solidFill>
          <a:ln>
            <a:noFill/>
          </a:ln>
        </p:spPr>
        <p:txBody>
          <a:bodyPr rtlCol="0" anchor="ctr"/>
          <a:lstStyle/>
          <a:p>
            <a:pPr algn="ctr"/>
          </a:p>
        </p:txBody>
      </p:sp>
      <p:pic>
        <p:nvPicPr>
          <p:cNvPr id="24" name="Icon Lightbulb 23" descr="icon015.png"/>
          <p:cNvPicPr>
            <a:picLocks noChangeAspect="1"/>
          </p:cNvPicPr>
          <p:nvPr/>
        </p:nvPicPr>
        <p:blipFill>
          <a:blip r:embed="rId5"/>
          <a:stretch>
            <a:fillRect/>
          </a:stretch>
        </p:blipFill>
        <p:spPr>
          <a:xfrm>
            <a:off x="10922000" y="3961408"/>
            <a:ext cx="254000" cy="254000"/>
          </a:xfrm>
          <a:prstGeom prst="rect">
            <a:avLst/>
          </a:prstGeom>
        </p:spPr>
      </p:pic>
      <p:sp>
        <p:nvSpPr>
          <p:cNvPr id="25" name="Text 24"/>
          <p:cNvSpPr txBox="1"/>
          <p:nvPr/>
        </p:nvSpPr>
        <p:spPr>
          <a:xfrm>
            <a:off x="838200" y="3924673"/>
            <a:ext cx="9956800" cy="257175"/>
          </a:xfrm>
          <a:prstGeom prst="rect">
            <a:avLst/>
          </a:prstGeom>
          <a:noFill/>
        </p:spPr>
        <p:txBody>
          <a:bodyPr wrap="square" tIns="0" rIns="0" bIns="0" lIns="0" anchor="t" rtlCol="0" anchorCtr="0">
            <a:noAutofit/>
          </a:bodyPr>
          <a:lstStyle/>
          <a:p>
            <a:pPr algn="r" rtl="1">
              <a:lnSpc>
                <a:spcPts val="2025"/>
              </a:lnSpc>
              <a:spcBef>
                <a:spcPts val="0"/>
              </a:spcBef>
              <a:spcAft>
                <a:spcPts val="0"/>
              </a:spcAft>
            </a:pPr>
            <a:r>
              <a:rPr sz="1350" b="0" i="0" lang="ar-SA" altLang="en-US">
                <a:solidFill>
                  <a:srgbClr val="F3EFE6"/>
                </a:solidFill>
                <a:latin typeface="IBM Plex Sans Arabic"/>
                <a:ea typeface="IBM Plex Sans Arabic"/>
                <a:cs typeface="IBM Plex Sans Arabic"/>
              </a:rPr>
              <a:t>في كل خطر اسأل: أي الثلاثة يمس؟ الإجابة تحدد الضابط المناسب وحجم الأثر.</a:t>
            </a:r>
          </a:p>
        </p:txBody>
      </p:sp>
      <p:sp>
        <p:nvSpPr>
          <p:cNvPr id="26" name="Text 25"/>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27" name="Text 26"/>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24</a:t>
            </a:r>
          </a:p>
        </p:txBody>
      </p:sp>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281319" y="812800"/>
            <a:ext cx="2097881"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ستة مصطلحات للمخاطر، بمثال واحد</a:t>
            </a:r>
          </a:p>
        </p:txBody>
      </p:sp>
      <p:sp>
        <p:nvSpPr>
          <p:cNvPr id="5" name="Text 4"/>
          <p:cNvSpPr txBox="1"/>
          <p:nvPr/>
        </p:nvSpPr>
        <p:spPr>
          <a:xfrm>
            <a:off x="0" y="1821521"/>
            <a:ext cx="11379200" cy="2667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400" b="0" i="0" lang="ar-SA" altLang="en-US">
                <a:solidFill>
                  <a:srgbClr val="4E5A66"/>
                </a:solidFill>
                <a:latin typeface="IBM Plex Sans Arabic"/>
                <a:ea typeface="IBM Plex Sans Arabic"/>
                <a:cs typeface="IBM Plex Sans Arabic"/>
              </a:rPr>
              <a:t>المثال: حاسوب محمول لموظف في المالية، عليه ملفات رواتب الموظفين.</a:t>
            </a:r>
          </a:p>
        </p:txBody>
      </p:sp>
      <p:sp>
        <p:nvSpPr>
          <p:cNvPr id="6" name="Box 5"/>
          <p:cNvSpPr/>
          <p:nvPr/>
        </p:nvSpPr>
        <p:spPr>
          <a:xfrm>
            <a:off x="7944941" y="2331045"/>
            <a:ext cx="3431084" cy="1128018"/>
          </a:xfrm>
          <a:prstGeom prst="roundRect">
            <a:avLst>
              <a:gd name="adj" fmla="val 8956"/>
            </a:avLst>
          </a:prstGeom>
          <a:solidFill>
            <a:srgbClr val="FFFDF8"/>
          </a:solidFill>
          <a:ln w="6350">
            <a:solidFill>
              <a:srgbClr val="E1DBCD"/>
            </a:solidFill>
          </a:ln>
        </p:spPr>
        <p:txBody>
          <a:bodyPr rtlCol="0" anchor="ctr"/>
          <a:lstStyle/>
          <a:p>
            <a:pPr algn="ctr"/>
          </a:p>
        </p:txBody>
      </p:sp>
      <p:sp>
        <p:nvSpPr>
          <p:cNvPr id="7" name="Text 6"/>
          <p:cNvSpPr txBox="1"/>
          <p:nvPr/>
        </p:nvSpPr>
        <p:spPr>
          <a:xfrm>
            <a:off x="7967166" y="2473412"/>
            <a:ext cx="3227884"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0E7C6B"/>
                </a:solidFill>
                <a:latin typeface="Readex Pro"/>
                <a:ea typeface="Readex Pro"/>
                <a:cs typeface="Readex Pro"/>
              </a:rPr>
              <a:t>الأصل </a:t>
            </a:r>
            <a:r>
              <a:rPr sz="1600" b="1" i="0" lang="ar-SA" altLang="en-US">
                <a:solidFill>
                  <a:srgbClr val="6B7680"/>
                </a:solidFill>
                <a:latin typeface="Readex Pro"/>
                <a:ea typeface="Readex Pro"/>
                <a:cs typeface="Readex Pro"/>
              </a:rPr>
              <a:t>· Asset</a:t>
            </a:r>
          </a:p>
        </p:txBody>
      </p:sp>
      <p:sp>
        <p:nvSpPr>
          <p:cNvPr id="8" name="Text 7"/>
          <p:cNvSpPr txBox="1"/>
          <p:nvPr/>
        </p:nvSpPr>
        <p:spPr>
          <a:xfrm>
            <a:off x="7967166" y="2772966"/>
            <a:ext cx="3227884"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172433"/>
                </a:solidFill>
                <a:latin typeface="IBM Plex Sans Arabic"/>
                <a:ea typeface="IBM Plex Sans Arabic"/>
                <a:cs typeface="IBM Plex Sans Arabic"/>
              </a:rPr>
              <a:t>ما له قيمة للجهة.</a:t>
            </a:r>
          </a:p>
        </p:txBody>
      </p:sp>
      <p:sp>
        <p:nvSpPr>
          <p:cNvPr id="9" name="Text 8"/>
          <p:cNvSpPr txBox="1"/>
          <p:nvPr/>
        </p:nvSpPr>
        <p:spPr>
          <a:xfrm>
            <a:off x="7967166" y="3055096"/>
            <a:ext cx="3227884"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الحاسوب وملفات الرواتب.</a:t>
            </a:r>
          </a:p>
        </p:txBody>
      </p:sp>
      <p:sp>
        <p:nvSpPr>
          <p:cNvPr id="10" name="Box 9"/>
          <p:cNvSpPr/>
          <p:nvPr/>
        </p:nvSpPr>
        <p:spPr>
          <a:xfrm>
            <a:off x="4380508" y="2331045"/>
            <a:ext cx="3431084" cy="1128018"/>
          </a:xfrm>
          <a:prstGeom prst="roundRect">
            <a:avLst>
              <a:gd name="adj" fmla="val 8956"/>
            </a:avLst>
          </a:prstGeom>
          <a:solidFill>
            <a:srgbClr val="FFFDF8"/>
          </a:solidFill>
          <a:ln w="6350">
            <a:solidFill>
              <a:srgbClr val="E1DBCD"/>
            </a:solidFill>
          </a:ln>
        </p:spPr>
        <p:txBody>
          <a:bodyPr rtlCol="0" anchor="ctr"/>
          <a:lstStyle/>
          <a:p>
            <a:pPr algn="ctr"/>
          </a:p>
        </p:txBody>
      </p:sp>
      <p:sp>
        <p:nvSpPr>
          <p:cNvPr id="11" name="Text 10"/>
          <p:cNvSpPr txBox="1"/>
          <p:nvPr/>
        </p:nvSpPr>
        <p:spPr>
          <a:xfrm>
            <a:off x="4402733" y="2473412"/>
            <a:ext cx="3227884"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0E7C6B"/>
                </a:solidFill>
                <a:latin typeface="Readex Pro"/>
                <a:ea typeface="Readex Pro"/>
                <a:cs typeface="Readex Pro"/>
              </a:rPr>
              <a:t>التهديد </a:t>
            </a:r>
            <a:r>
              <a:rPr sz="1600" b="1" i="0" lang="ar-SA" altLang="en-US">
                <a:solidFill>
                  <a:srgbClr val="6B7680"/>
                </a:solidFill>
                <a:latin typeface="Readex Pro"/>
                <a:ea typeface="Readex Pro"/>
                <a:cs typeface="Readex Pro"/>
              </a:rPr>
              <a:t>· Threat</a:t>
            </a:r>
          </a:p>
        </p:txBody>
      </p:sp>
      <p:sp>
        <p:nvSpPr>
          <p:cNvPr id="12" name="Text 11"/>
          <p:cNvSpPr txBox="1"/>
          <p:nvPr/>
        </p:nvSpPr>
        <p:spPr>
          <a:xfrm>
            <a:off x="4402733" y="2772966"/>
            <a:ext cx="3227884"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172433"/>
                </a:solidFill>
                <a:latin typeface="IBM Plex Sans Arabic"/>
                <a:ea typeface="IBM Plex Sans Arabic"/>
                <a:cs typeface="IBM Plex Sans Arabic"/>
              </a:rPr>
              <a:t>ما قد يسبب الضرر.</a:t>
            </a:r>
          </a:p>
        </p:txBody>
      </p:sp>
      <p:sp>
        <p:nvSpPr>
          <p:cNvPr id="13" name="Text 12"/>
          <p:cNvSpPr txBox="1"/>
          <p:nvPr/>
        </p:nvSpPr>
        <p:spPr>
          <a:xfrm>
            <a:off x="4402733" y="3055096"/>
            <a:ext cx="3227884"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سرقة الحاسوب من السيارة.</a:t>
            </a:r>
          </a:p>
        </p:txBody>
      </p:sp>
      <p:sp>
        <p:nvSpPr>
          <p:cNvPr id="14" name="Box 13"/>
          <p:cNvSpPr/>
          <p:nvPr/>
        </p:nvSpPr>
        <p:spPr>
          <a:xfrm>
            <a:off x="816074" y="2331045"/>
            <a:ext cx="3431084" cy="1128018"/>
          </a:xfrm>
          <a:prstGeom prst="roundRect">
            <a:avLst>
              <a:gd name="adj" fmla="val 8956"/>
            </a:avLst>
          </a:prstGeom>
          <a:solidFill>
            <a:srgbClr val="FFFDF8"/>
          </a:solidFill>
          <a:ln w="6350">
            <a:solidFill>
              <a:srgbClr val="E1DBCD"/>
            </a:solidFill>
          </a:ln>
        </p:spPr>
        <p:txBody>
          <a:bodyPr rtlCol="0" anchor="ctr"/>
          <a:lstStyle/>
          <a:p>
            <a:pPr algn="ctr"/>
          </a:p>
        </p:txBody>
      </p:sp>
      <p:sp>
        <p:nvSpPr>
          <p:cNvPr id="15" name="Text 14"/>
          <p:cNvSpPr txBox="1"/>
          <p:nvPr/>
        </p:nvSpPr>
        <p:spPr>
          <a:xfrm>
            <a:off x="838299" y="2473412"/>
            <a:ext cx="3227884"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0E7C6B"/>
                </a:solidFill>
                <a:latin typeface="Readex Pro"/>
                <a:ea typeface="Readex Pro"/>
                <a:cs typeface="Readex Pro"/>
              </a:rPr>
              <a:t>الثغرة </a:t>
            </a:r>
            <a:r>
              <a:rPr sz="1600" b="1" i="0" lang="ar-SA" altLang="en-US">
                <a:solidFill>
                  <a:srgbClr val="6B7680"/>
                </a:solidFill>
                <a:latin typeface="Readex Pro"/>
                <a:ea typeface="Readex Pro"/>
                <a:cs typeface="Readex Pro"/>
              </a:rPr>
              <a:t>· Vulnerability</a:t>
            </a:r>
          </a:p>
        </p:txBody>
      </p:sp>
      <p:sp>
        <p:nvSpPr>
          <p:cNvPr id="16" name="Text 15"/>
          <p:cNvSpPr txBox="1"/>
          <p:nvPr/>
        </p:nvSpPr>
        <p:spPr>
          <a:xfrm>
            <a:off x="838299" y="2772966"/>
            <a:ext cx="3227884"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172433"/>
                </a:solidFill>
                <a:latin typeface="IBM Plex Sans Arabic"/>
                <a:ea typeface="IBM Plex Sans Arabic"/>
                <a:cs typeface="IBM Plex Sans Arabic"/>
              </a:rPr>
              <a:t>ضعف يسهّل الضرر.</a:t>
            </a:r>
          </a:p>
        </p:txBody>
      </p:sp>
      <p:sp>
        <p:nvSpPr>
          <p:cNvPr id="17" name="Text 16"/>
          <p:cNvSpPr txBox="1"/>
          <p:nvPr/>
        </p:nvSpPr>
        <p:spPr>
          <a:xfrm>
            <a:off x="838299" y="3055096"/>
            <a:ext cx="3227884"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القرص غير مشفر.</a:t>
            </a:r>
          </a:p>
        </p:txBody>
      </p:sp>
      <p:sp>
        <p:nvSpPr>
          <p:cNvPr id="18" name="Box 17"/>
          <p:cNvSpPr/>
          <p:nvPr/>
        </p:nvSpPr>
        <p:spPr>
          <a:xfrm>
            <a:off x="7940675" y="3592413"/>
            <a:ext cx="3435350" cy="1128018"/>
          </a:xfrm>
          <a:prstGeom prst="roundRect">
            <a:avLst>
              <a:gd name="adj" fmla="val 8956"/>
            </a:avLst>
          </a:prstGeom>
          <a:solidFill>
            <a:srgbClr val="FFFDF8"/>
          </a:solidFill>
          <a:ln w="6350">
            <a:solidFill>
              <a:srgbClr val="E1DBCD"/>
            </a:solidFill>
          </a:ln>
        </p:spPr>
        <p:txBody>
          <a:bodyPr rtlCol="0" anchor="ctr"/>
          <a:lstStyle/>
          <a:p>
            <a:pPr algn="ctr"/>
          </a:p>
        </p:txBody>
      </p:sp>
      <p:sp>
        <p:nvSpPr>
          <p:cNvPr id="19" name="Text 18"/>
          <p:cNvSpPr txBox="1"/>
          <p:nvPr/>
        </p:nvSpPr>
        <p:spPr>
          <a:xfrm>
            <a:off x="7962900" y="3734780"/>
            <a:ext cx="323215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9A5F0F"/>
                </a:solidFill>
                <a:latin typeface="Readex Pro"/>
                <a:ea typeface="Readex Pro"/>
                <a:cs typeface="Readex Pro"/>
              </a:rPr>
              <a:t>الاحتمال </a:t>
            </a:r>
            <a:r>
              <a:rPr sz="1600" b="1" i="0" lang="ar-SA" altLang="en-US">
                <a:solidFill>
                  <a:srgbClr val="6B7680"/>
                </a:solidFill>
                <a:latin typeface="Readex Pro"/>
                <a:ea typeface="Readex Pro"/>
                <a:cs typeface="Readex Pro"/>
              </a:rPr>
              <a:t>· Likelihood</a:t>
            </a:r>
          </a:p>
        </p:txBody>
      </p:sp>
      <p:sp>
        <p:nvSpPr>
          <p:cNvPr id="20" name="Text 19"/>
          <p:cNvSpPr txBox="1"/>
          <p:nvPr/>
        </p:nvSpPr>
        <p:spPr>
          <a:xfrm>
            <a:off x="7962900" y="4034334"/>
            <a:ext cx="3232150"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172433"/>
                </a:solidFill>
                <a:latin typeface="IBM Plex Sans Arabic"/>
                <a:ea typeface="IBM Plex Sans Arabic"/>
                <a:cs typeface="IBM Plex Sans Arabic"/>
              </a:rPr>
              <a:t>فرصة حدوث الضرر.</a:t>
            </a:r>
          </a:p>
        </p:txBody>
      </p:sp>
      <p:sp>
        <p:nvSpPr>
          <p:cNvPr id="21" name="Text 20"/>
          <p:cNvSpPr txBox="1"/>
          <p:nvPr/>
        </p:nvSpPr>
        <p:spPr>
          <a:xfrm>
            <a:off x="7962900" y="4316464"/>
            <a:ext cx="32321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متوسط: الموظف يتنقل كثيراً.</a:t>
            </a:r>
          </a:p>
        </p:txBody>
      </p:sp>
      <p:sp>
        <p:nvSpPr>
          <p:cNvPr id="22" name="Box 21"/>
          <p:cNvSpPr/>
          <p:nvPr/>
        </p:nvSpPr>
        <p:spPr>
          <a:xfrm>
            <a:off x="4371975" y="3592413"/>
            <a:ext cx="3435350" cy="1128018"/>
          </a:xfrm>
          <a:prstGeom prst="roundRect">
            <a:avLst>
              <a:gd name="adj" fmla="val 8956"/>
            </a:avLst>
          </a:prstGeom>
          <a:solidFill>
            <a:srgbClr val="FFFDF8"/>
          </a:solidFill>
          <a:ln w="6350">
            <a:solidFill>
              <a:srgbClr val="E1DBCD"/>
            </a:solidFill>
          </a:ln>
        </p:spPr>
        <p:txBody>
          <a:bodyPr rtlCol="0" anchor="ctr"/>
          <a:lstStyle/>
          <a:p>
            <a:pPr algn="ctr"/>
          </a:p>
        </p:txBody>
      </p:sp>
      <p:sp>
        <p:nvSpPr>
          <p:cNvPr id="23" name="Text 22"/>
          <p:cNvSpPr txBox="1"/>
          <p:nvPr/>
        </p:nvSpPr>
        <p:spPr>
          <a:xfrm>
            <a:off x="4394200" y="3734780"/>
            <a:ext cx="323215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9A5F0F"/>
                </a:solidFill>
                <a:latin typeface="Readex Pro"/>
                <a:ea typeface="Readex Pro"/>
                <a:cs typeface="Readex Pro"/>
              </a:rPr>
              <a:t>الأثر </a:t>
            </a:r>
            <a:r>
              <a:rPr sz="1600" b="1" i="0" lang="ar-SA" altLang="en-US">
                <a:solidFill>
                  <a:srgbClr val="6B7680"/>
                </a:solidFill>
                <a:latin typeface="Readex Pro"/>
                <a:ea typeface="Readex Pro"/>
                <a:cs typeface="Readex Pro"/>
              </a:rPr>
              <a:t>· Impact</a:t>
            </a:r>
          </a:p>
        </p:txBody>
      </p:sp>
      <p:sp>
        <p:nvSpPr>
          <p:cNvPr id="24" name="Text 23"/>
          <p:cNvSpPr txBox="1"/>
          <p:nvPr/>
        </p:nvSpPr>
        <p:spPr>
          <a:xfrm>
            <a:off x="4394200" y="4034334"/>
            <a:ext cx="3232150"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172433"/>
                </a:solidFill>
                <a:latin typeface="IBM Plex Sans Arabic"/>
                <a:ea typeface="IBM Plex Sans Arabic"/>
                <a:cs typeface="IBM Plex Sans Arabic"/>
              </a:rPr>
              <a:t>حجم الضرر إن حدث.</a:t>
            </a:r>
          </a:p>
        </p:txBody>
      </p:sp>
      <p:sp>
        <p:nvSpPr>
          <p:cNvPr id="25" name="Text 24"/>
          <p:cNvSpPr txBox="1"/>
          <p:nvPr/>
        </p:nvSpPr>
        <p:spPr>
          <a:xfrm>
            <a:off x="4394200" y="4316464"/>
            <a:ext cx="32321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عالٍ: تسرب رواتب كل الموظفين.</a:t>
            </a:r>
          </a:p>
        </p:txBody>
      </p:sp>
      <p:sp>
        <p:nvSpPr>
          <p:cNvPr id="26" name="Box 25"/>
          <p:cNvSpPr/>
          <p:nvPr/>
        </p:nvSpPr>
        <p:spPr>
          <a:xfrm>
            <a:off x="812800" y="3589238"/>
            <a:ext cx="3429000" cy="1134368"/>
          </a:xfrm>
          <a:prstGeom prst="roundRect">
            <a:avLst>
              <a:gd name="adj" fmla="val 8956"/>
            </a:avLst>
          </a:prstGeom>
          <a:solidFill>
            <a:srgbClr val="172433"/>
          </a:solidFill>
          <a:ln>
            <a:noFill/>
          </a:ln>
        </p:spPr>
        <p:txBody>
          <a:bodyPr rtlCol="0" anchor="ctr"/>
          <a:lstStyle/>
          <a:p>
            <a:pPr algn="ctr"/>
          </a:p>
        </p:txBody>
      </p:sp>
      <p:sp>
        <p:nvSpPr>
          <p:cNvPr id="27" name="Text 26"/>
          <p:cNvSpPr txBox="1"/>
          <p:nvPr/>
        </p:nvSpPr>
        <p:spPr>
          <a:xfrm>
            <a:off x="838200" y="3728430"/>
            <a:ext cx="32258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7FD3C3"/>
                </a:solidFill>
                <a:latin typeface="Readex Pro"/>
                <a:ea typeface="Readex Pro"/>
                <a:cs typeface="Readex Pro"/>
              </a:rPr>
              <a:t>الخطر </a:t>
            </a:r>
            <a:r>
              <a:rPr sz="1600" b="1" i="0" lang="ar-SA" altLang="en-US">
                <a:solidFill>
                  <a:srgbClr val="B9C4CC"/>
                </a:solidFill>
                <a:latin typeface="Readex Pro"/>
                <a:ea typeface="Readex Pro"/>
                <a:cs typeface="Readex Pro"/>
              </a:rPr>
              <a:t>· Risk</a:t>
            </a:r>
          </a:p>
        </p:txBody>
      </p:sp>
      <p:sp>
        <p:nvSpPr>
          <p:cNvPr id="28" name="Text 27"/>
          <p:cNvSpPr txBox="1"/>
          <p:nvPr/>
        </p:nvSpPr>
        <p:spPr>
          <a:xfrm>
            <a:off x="838200" y="4027984"/>
            <a:ext cx="3225800"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F3EFE6"/>
                </a:solidFill>
                <a:latin typeface="IBM Plex Sans Arabic"/>
                <a:ea typeface="IBM Plex Sans Arabic"/>
                <a:cs typeface="IBM Plex Sans Arabic"/>
              </a:rPr>
              <a:t>تهديد يستغل ثغرة في أصل.</a:t>
            </a:r>
          </a:p>
        </p:txBody>
      </p:sp>
      <p:sp>
        <p:nvSpPr>
          <p:cNvPr id="29" name="Text 28"/>
          <p:cNvSpPr txBox="1"/>
          <p:nvPr/>
        </p:nvSpPr>
        <p:spPr>
          <a:xfrm>
            <a:off x="838200" y="4310114"/>
            <a:ext cx="32258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B9C4CC"/>
                </a:solidFill>
                <a:latin typeface="IBM Plex Sans Arabic"/>
                <a:ea typeface="IBM Plex Sans Arabic"/>
                <a:cs typeface="IBM Plex Sans Arabic"/>
              </a:rPr>
              <a:t>«تسرب الرواتب بسرقة حاسوب غير مشفر».</a:t>
            </a:r>
          </a:p>
        </p:txBody>
      </p:sp>
      <p:sp>
        <p:nvSpPr>
          <p:cNvPr id="30" name="Text 29"/>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31" name="Text 30"/>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281319" y="812800"/>
            <a:ext cx="2097881"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مصفوفة المخاطر: الاحتمال × الأثر</a:t>
            </a:r>
          </a:p>
        </p:txBody>
      </p:sp>
      <p:sp>
        <p:nvSpPr>
          <p:cNvPr id="5" name="Text 4"/>
          <p:cNvSpPr txBox="1"/>
          <p:nvPr/>
        </p:nvSpPr>
        <p:spPr>
          <a:xfrm>
            <a:off x="4480052" y="1821521"/>
            <a:ext cx="6899148" cy="2667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400" b="0" i="0" lang="ar-SA" altLang="en-US">
                <a:solidFill>
                  <a:srgbClr val="172433"/>
                </a:solidFill>
                <a:latin typeface="IBM Plex Sans Arabic"/>
                <a:ea typeface="IBM Plex Sans Arabic"/>
                <a:cs typeface="IBM Plex Sans Arabic"/>
              </a:rPr>
              <a:t>نعطي الاحتمال والأثر درجة من 1 إلى 5، ونضربهما. الناتج يرتب المخاطر لنبدأ بالأعلى.</a:t>
            </a:r>
          </a:p>
        </p:txBody>
      </p:sp>
      <p:sp>
        <p:nvSpPr>
          <p:cNvPr id="6" name="Box 5"/>
          <p:cNvSpPr/>
          <p:nvPr/>
        </p:nvSpPr>
        <p:spPr>
          <a:xfrm>
            <a:off x="4991100" y="2251670"/>
            <a:ext cx="6388100" cy="822920"/>
          </a:xfrm>
          <a:prstGeom prst="roundRect">
            <a:avLst>
              <a:gd name="adj" fmla="val 10802"/>
            </a:avLst>
          </a:prstGeom>
          <a:solidFill>
            <a:srgbClr val="FFFDF8"/>
          </a:solidFill>
          <a:ln>
            <a:noFill/>
          </a:ln>
        </p:spPr>
        <p:txBody>
          <a:bodyPr rtlCol="0" anchor="ctr"/>
          <a:lstStyle/>
          <a:p>
            <a:pPr algn="ctr"/>
          </a:p>
        </p:txBody>
      </p:sp>
      <p:sp>
        <p:nvSpPr>
          <p:cNvPr id="7" name="Rule 6"/>
          <p:cNvSpPr/>
          <p:nvPr/>
        </p:nvSpPr>
        <p:spPr>
          <a:xfrm>
            <a:off x="4991100" y="2251670"/>
            <a:ext cx="6388100" cy="6350"/>
          </a:xfrm>
          <a:prstGeom prst="rect">
            <a:avLst/>
          </a:prstGeom>
          <a:solidFill>
            <a:srgbClr val="E1DBCD"/>
          </a:solidFill>
          <a:ln>
            <a:noFill/>
          </a:ln>
        </p:spPr>
        <p:txBody>
          <a:bodyPr rtlCol="0" anchor="ctr"/>
          <a:lstStyle/>
          <a:p>
            <a:pPr algn="ctr"/>
          </a:p>
        </p:txBody>
      </p:sp>
      <p:sp>
        <p:nvSpPr>
          <p:cNvPr id="8" name="Rule 7"/>
          <p:cNvSpPr/>
          <p:nvPr/>
        </p:nvSpPr>
        <p:spPr>
          <a:xfrm>
            <a:off x="11328400" y="2251670"/>
            <a:ext cx="50800" cy="822920"/>
          </a:xfrm>
          <a:prstGeom prst="rect">
            <a:avLst/>
          </a:prstGeom>
          <a:solidFill>
            <a:srgbClr val="C8553D"/>
          </a:solidFill>
          <a:ln>
            <a:noFill/>
          </a:ln>
        </p:spPr>
        <p:txBody>
          <a:bodyPr rtlCol="0" anchor="ctr"/>
          <a:lstStyle/>
          <a:p>
            <a:pPr algn="ctr"/>
          </a:p>
        </p:txBody>
      </p:sp>
      <p:sp>
        <p:nvSpPr>
          <p:cNvPr id="9" name="Rule 8"/>
          <p:cNvSpPr/>
          <p:nvPr/>
        </p:nvSpPr>
        <p:spPr>
          <a:xfrm>
            <a:off x="4991100" y="3068241"/>
            <a:ext cx="6388100" cy="6350"/>
          </a:xfrm>
          <a:prstGeom prst="rect">
            <a:avLst/>
          </a:prstGeom>
          <a:solidFill>
            <a:srgbClr val="E1DBCD"/>
          </a:solidFill>
          <a:ln>
            <a:noFill/>
          </a:ln>
        </p:spPr>
        <p:txBody>
          <a:bodyPr rtlCol="0" anchor="ctr"/>
          <a:lstStyle/>
          <a:p>
            <a:pPr algn="ctr"/>
          </a:p>
        </p:txBody>
      </p:sp>
      <p:sp>
        <p:nvSpPr>
          <p:cNvPr id="10" name="Rule 9"/>
          <p:cNvSpPr/>
          <p:nvPr/>
        </p:nvSpPr>
        <p:spPr>
          <a:xfrm>
            <a:off x="4991100" y="2251670"/>
            <a:ext cx="6350" cy="822920"/>
          </a:xfrm>
          <a:prstGeom prst="rect">
            <a:avLst/>
          </a:prstGeom>
          <a:solidFill>
            <a:srgbClr val="E1DBCD"/>
          </a:solidFill>
          <a:ln>
            <a:noFill/>
          </a:ln>
        </p:spPr>
        <p:txBody>
          <a:bodyPr rtlCol="0" anchor="ctr"/>
          <a:lstStyle/>
          <a:p>
            <a:pPr algn="ctr"/>
          </a:p>
        </p:txBody>
      </p:sp>
      <p:sp>
        <p:nvSpPr>
          <p:cNvPr id="11" name="Text 10"/>
          <p:cNvSpPr txBox="1"/>
          <p:nvPr/>
        </p:nvSpPr>
        <p:spPr>
          <a:xfrm>
            <a:off x="5016500" y="2374098"/>
            <a:ext cx="61468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6B7680"/>
                </a:solidFill>
                <a:latin typeface="IBM Plex Sans Arabic"/>
                <a:ea typeface="IBM Plex Sans Arabic"/>
                <a:cs typeface="IBM Plex Sans Arabic"/>
              </a:rPr>
              <a:t>مثال الحاسوب</a:t>
            </a:r>
          </a:p>
        </p:txBody>
      </p:sp>
      <p:sp>
        <p:nvSpPr>
          <p:cNvPr id="12" name="Text 11"/>
          <p:cNvSpPr txBox="1"/>
          <p:nvPr/>
        </p:nvSpPr>
        <p:spPr>
          <a:xfrm>
            <a:off x="5016500" y="2625392"/>
            <a:ext cx="6146800" cy="2667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400" b="0" i="0" lang="ar-SA" altLang="en-US">
                <a:solidFill>
                  <a:srgbClr val="172433"/>
                </a:solidFill>
                <a:latin typeface="IBM Plex Sans Arabic"/>
                <a:ea typeface="IBM Plex Sans Arabic"/>
                <a:cs typeface="IBM Plex Sans Arabic"/>
              </a:rPr>
              <a:t>احتمال 3 × أثر 4 = </a:t>
            </a:r>
            <a:r>
              <a:rPr sz="1400" b="1" i="0" lang="ar-SA" altLang="en-US">
                <a:solidFill>
                  <a:srgbClr val="172433"/>
                </a:solidFill>
                <a:latin typeface="IBM Plex Sans Arabic"/>
                <a:ea typeface="IBM Plex Sans Arabic"/>
                <a:cs typeface="IBM Plex Sans Arabic"/>
              </a:rPr>
              <a:t>12</a:t>
            </a:r>
            <a:r>
              <a:rPr sz="1400" b="0" i="0" lang="ar-SA" altLang="en-US">
                <a:solidFill>
                  <a:srgbClr val="172433"/>
                </a:solidFill>
                <a:latin typeface="IBM Plex Sans Arabic"/>
                <a:ea typeface="IBM Plex Sans Arabic"/>
                <a:cs typeface="IBM Plex Sans Arabic"/>
              </a:rPr>
              <a:t>، خطر عالٍ.</a:t>
            </a:r>
          </a:p>
        </p:txBody>
      </p:sp>
      <p:sp>
        <p:nvSpPr>
          <p:cNvPr id="13" name="Box 12"/>
          <p:cNvSpPr/>
          <p:nvPr/>
        </p:nvSpPr>
        <p:spPr>
          <a:xfrm>
            <a:off x="11125200" y="3223816"/>
            <a:ext cx="254000" cy="177800"/>
          </a:xfrm>
          <a:prstGeom prst="roundRect">
            <a:avLst>
              <a:gd name="adj" fmla="val 21428"/>
            </a:avLst>
          </a:prstGeom>
          <a:solidFill>
            <a:srgbClr val="D7ECE2"/>
          </a:solidFill>
          <a:ln>
            <a:noFill/>
          </a:ln>
        </p:spPr>
        <p:txBody>
          <a:bodyPr rtlCol="0" anchor="ctr"/>
          <a:lstStyle/>
          <a:p>
            <a:pPr algn="ctr"/>
          </a:p>
        </p:txBody>
      </p:sp>
      <p:sp>
        <p:nvSpPr>
          <p:cNvPr id="14" name="Text 13"/>
          <p:cNvSpPr txBox="1"/>
          <p:nvPr/>
        </p:nvSpPr>
        <p:spPr>
          <a:xfrm>
            <a:off x="9940131" y="3176984"/>
            <a:ext cx="1096169" cy="222250"/>
          </a:xfrm>
          <a:prstGeom prst="rect">
            <a:avLst/>
          </a:prstGeom>
          <a:noFill/>
        </p:spPr>
        <p:txBody>
          <a:bodyPr wrap="square" tIns="0" rIns="0" bIns="0" lIns="0" anchor="t" rtlCol="0" anchorCtr="0">
            <a:noAutofit/>
          </a:bodyPr>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منخفض: 1 إلى 4</a:t>
            </a:r>
          </a:p>
        </p:txBody>
      </p:sp>
      <p:sp>
        <p:nvSpPr>
          <p:cNvPr id="15" name="Box 14"/>
          <p:cNvSpPr/>
          <p:nvPr/>
        </p:nvSpPr>
        <p:spPr>
          <a:xfrm>
            <a:off x="11125200" y="3509566"/>
            <a:ext cx="254000" cy="177800"/>
          </a:xfrm>
          <a:prstGeom prst="roundRect">
            <a:avLst>
              <a:gd name="adj" fmla="val 21428"/>
            </a:avLst>
          </a:prstGeom>
          <a:solidFill>
            <a:srgbClr val="F4DEAA"/>
          </a:solidFill>
          <a:ln>
            <a:noFill/>
          </a:ln>
        </p:spPr>
        <p:txBody>
          <a:bodyPr rtlCol="0" anchor="ctr"/>
          <a:lstStyle/>
          <a:p>
            <a:pPr algn="ctr"/>
          </a:p>
        </p:txBody>
      </p:sp>
      <p:sp>
        <p:nvSpPr>
          <p:cNvPr id="16" name="Text 15"/>
          <p:cNvSpPr txBox="1"/>
          <p:nvPr/>
        </p:nvSpPr>
        <p:spPr>
          <a:xfrm>
            <a:off x="9999464" y="3462734"/>
            <a:ext cx="1036836" cy="222250"/>
          </a:xfrm>
          <a:prstGeom prst="rect">
            <a:avLst/>
          </a:prstGeom>
          <a:noFill/>
        </p:spPr>
        <p:txBody>
          <a:bodyPr wrap="square" tIns="0" rIns="0" bIns="0" lIns="0" anchor="t" rtlCol="0" anchorCtr="0">
            <a:noAutofit/>
          </a:bodyPr>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متوسط: 5 إلى 9</a:t>
            </a:r>
          </a:p>
        </p:txBody>
      </p:sp>
      <p:sp>
        <p:nvSpPr>
          <p:cNvPr id="17" name="Box 16"/>
          <p:cNvSpPr/>
          <p:nvPr/>
        </p:nvSpPr>
        <p:spPr>
          <a:xfrm>
            <a:off x="11125200" y="3795316"/>
            <a:ext cx="254000" cy="177800"/>
          </a:xfrm>
          <a:prstGeom prst="roundRect">
            <a:avLst>
              <a:gd name="adj" fmla="val 21428"/>
            </a:avLst>
          </a:prstGeom>
          <a:solidFill>
            <a:srgbClr val="E9A56B"/>
          </a:solidFill>
          <a:ln>
            <a:noFill/>
          </a:ln>
        </p:spPr>
        <p:txBody>
          <a:bodyPr rtlCol="0" anchor="ctr"/>
          <a:lstStyle/>
          <a:p>
            <a:pPr algn="ctr"/>
          </a:p>
        </p:txBody>
      </p:sp>
      <p:sp>
        <p:nvSpPr>
          <p:cNvPr id="18" name="Text 17"/>
          <p:cNvSpPr txBox="1"/>
          <p:nvPr/>
        </p:nvSpPr>
        <p:spPr>
          <a:xfrm>
            <a:off x="10027245" y="3748484"/>
            <a:ext cx="1009055" cy="222250"/>
          </a:xfrm>
          <a:prstGeom prst="rect">
            <a:avLst/>
          </a:prstGeom>
          <a:noFill/>
        </p:spPr>
        <p:txBody>
          <a:bodyPr wrap="square" tIns="0" rIns="0" bIns="0" lIns="0" anchor="t" rtlCol="0" anchorCtr="0">
            <a:noAutofit/>
          </a:bodyPr>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عالٍ: 10 إلى 16</a:t>
            </a:r>
          </a:p>
        </p:txBody>
      </p:sp>
      <p:sp>
        <p:nvSpPr>
          <p:cNvPr id="19" name="Box 18"/>
          <p:cNvSpPr/>
          <p:nvPr/>
        </p:nvSpPr>
        <p:spPr>
          <a:xfrm>
            <a:off x="11125200" y="4081066"/>
            <a:ext cx="254000" cy="177800"/>
          </a:xfrm>
          <a:prstGeom prst="roundRect">
            <a:avLst>
              <a:gd name="adj" fmla="val 21428"/>
            </a:avLst>
          </a:prstGeom>
          <a:solidFill>
            <a:srgbClr val="B8432F"/>
          </a:solidFill>
          <a:ln>
            <a:noFill/>
          </a:ln>
        </p:spPr>
        <p:txBody>
          <a:bodyPr rtlCol="0" anchor="ctr"/>
          <a:lstStyle/>
          <a:p>
            <a:pPr algn="ctr"/>
          </a:p>
        </p:txBody>
      </p:sp>
      <p:sp>
        <p:nvSpPr>
          <p:cNvPr id="20" name="Text 19"/>
          <p:cNvSpPr txBox="1"/>
          <p:nvPr/>
        </p:nvSpPr>
        <p:spPr>
          <a:xfrm>
            <a:off x="10000258" y="4034234"/>
            <a:ext cx="1036042" cy="222250"/>
          </a:xfrm>
          <a:prstGeom prst="rect">
            <a:avLst/>
          </a:prstGeom>
          <a:noFill/>
        </p:spPr>
        <p:txBody>
          <a:bodyPr wrap="square" tIns="0" rIns="0" bIns="0" lIns="0" anchor="t" rtlCol="0" anchorCtr="0">
            <a:noAutofit/>
          </a:bodyPr>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حرج: 20 إلى 25</a:t>
            </a:r>
          </a:p>
        </p:txBody>
      </p:sp>
      <p:sp>
        <p:nvSpPr>
          <p:cNvPr id="21" name="Text 20"/>
          <p:cNvSpPr txBox="1"/>
          <p:nvPr/>
        </p:nvSpPr>
        <p:spPr>
          <a:xfrm>
            <a:off x="4480052" y="4380659"/>
            <a:ext cx="6899148"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6B7680"/>
                </a:solidFill>
                <a:latin typeface="IBM Plex Sans Arabic"/>
                <a:ea typeface="IBM Plex Sans Arabic"/>
                <a:cs typeface="IBM Plex Sans Arabic"/>
              </a:rPr>
              <a:t>الحدود هنا مثال؛ كل جهة تحددها في منهجية المخاطر المعتمدة لديها.</a:t>
            </a:r>
          </a:p>
        </p:txBody>
      </p:sp>
      <p:sp>
        <p:nvSpPr>
          <p:cNvPr id="22" name="Text 21"/>
          <p:cNvSpPr txBox="1"/>
          <p:nvPr/>
        </p:nvSpPr>
        <p:spPr>
          <a:xfrm>
            <a:off x="4157980" y="3365968"/>
            <a:ext cx="472440" cy="198041"/>
          </a:xfrm>
          <a:prstGeom prst="rect">
            <a:avLst/>
          </a:prstGeom>
          <a:noFill/>
        </p:spPr>
        <p:txBody>
          <a:bodyPr wrap="square" tIns="0" rIns="0" bIns="0" lIns="0" anchor="t" rtlCol="0" anchorCtr="0">
            <a:noAutofit/>
          </a:bodyPr>
          <a:lstStyle/>
          <a:p>
            <a:pPr algn="ctr" rtl="1">
              <a:lnSpc>
                <a:spcPts val="1560"/>
              </a:lnSpc>
              <a:spcBef>
                <a:spcPts val="0"/>
              </a:spcBef>
              <a:spcAft>
                <a:spcPts val="0"/>
              </a:spcAft>
            </a:pPr>
            <a:r>
              <a:rPr sz="1200" b="1" i="0" lang="ar-SA" altLang="en-US">
                <a:solidFill>
                  <a:srgbClr val="4E5A66"/>
                </a:solidFill>
                <a:latin typeface="IBM Plex Sans Arabic"/>
                <a:ea typeface="IBM Plex Sans Arabic"/>
                <a:cs typeface="IBM Plex Sans Arabic"/>
              </a:rPr>
              <a:t>الأثر</a:t>
            </a:r>
          </a:p>
        </p:txBody>
      </p:sp>
      <p:sp>
        <p:nvSpPr>
          <p:cNvPr id="23" name="Text 22"/>
          <p:cNvSpPr txBox="1"/>
          <p:nvPr/>
        </p:nvSpPr>
        <p:spPr>
          <a:xfrm>
            <a:off x="3878580" y="2055328"/>
            <a:ext cx="269240" cy="152400"/>
          </a:xfrm>
          <a:prstGeom prst="rect">
            <a:avLst/>
          </a:prstGeom>
          <a:noFill/>
        </p:spPr>
        <p:txBody>
          <a:bodyPr wrap="square" tIns="0" rIns="0" bIns="0" lIns="0" anchor="t" rtlCol="0" anchorCtr="0">
            <a:noAutofit/>
          </a:bodyPr>
          <a:lstStyle/>
          <a:p>
            <a:pPr algn="ctr">
              <a:lnSpc>
                <a:spcPts val="1200"/>
              </a:lnSpc>
              <a:spcBef>
                <a:spcPts val="0"/>
              </a:spcBef>
              <a:spcAft>
                <a:spcPts val="0"/>
              </a:spcAft>
            </a:pPr>
            <a:r>
              <a:rPr sz="1200" b="0" i="0">
                <a:solidFill>
                  <a:srgbClr val="4E5A66"/>
                </a:solidFill>
                <a:latin typeface="IBM Plex Sans Arabic"/>
                <a:ea typeface="IBM Plex Sans Arabic"/>
                <a:cs typeface="IBM Plex Sans Arabic"/>
              </a:rPr>
              <a:t>5</a:t>
            </a:r>
          </a:p>
        </p:txBody>
      </p:sp>
      <p:sp>
        <p:nvSpPr>
          <p:cNvPr id="24" name="Box 23"/>
          <p:cNvSpPr/>
          <p:nvPr/>
        </p:nvSpPr>
        <p:spPr>
          <a:xfrm>
            <a:off x="3302000" y="1857970"/>
            <a:ext cx="584200" cy="533400"/>
          </a:xfrm>
          <a:prstGeom prst="roundRect">
            <a:avLst>
              <a:gd name="adj" fmla="val 7142"/>
            </a:avLst>
          </a:prstGeom>
          <a:solidFill>
            <a:srgbClr val="F4DEAA"/>
          </a:solidFill>
          <a:ln>
            <a:noFill/>
          </a:ln>
        </p:spPr>
        <p:txBody>
          <a:bodyPr rtlCol="0" anchor="ctr"/>
          <a:lstStyle/>
          <a:p>
            <a:pPr algn="ctr"/>
          </a:p>
        </p:txBody>
      </p:sp>
      <p:sp>
        <p:nvSpPr>
          <p:cNvPr id="25" name="Text 24"/>
          <p:cNvSpPr txBox="1"/>
          <p:nvPr/>
        </p:nvSpPr>
        <p:spPr>
          <a:xfrm>
            <a:off x="3445431" y="2049550"/>
            <a:ext cx="198180"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1" i="0">
                <a:solidFill>
                  <a:srgbClr val="172433"/>
                </a:solidFill>
                <a:latin typeface="IBM Plex Sans Arabic"/>
                <a:ea typeface="IBM Plex Sans Arabic"/>
                <a:cs typeface="IBM Plex Sans Arabic"/>
              </a:rPr>
              <a:t>5</a:t>
            </a:r>
          </a:p>
        </p:txBody>
      </p:sp>
      <p:sp>
        <p:nvSpPr>
          <p:cNvPr id="26" name="Box 25"/>
          <p:cNvSpPr/>
          <p:nvPr/>
        </p:nvSpPr>
        <p:spPr>
          <a:xfrm>
            <a:off x="2679700" y="1857970"/>
            <a:ext cx="584200" cy="533400"/>
          </a:xfrm>
          <a:prstGeom prst="roundRect">
            <a:avLst>
              <a:gd name="adj" fmla="val 7142"/>
            </a:avLst>
          </a:prstGeom>
          <a:solidFill>
            <a:srgbClr val="E9A56B"/>
          </a:solidFill>
          <a:ln>
            <a:noFill/>
          </a:ln>
        </p:spPr>
        <p:txBody>
          <a:bodyPr rtlCol="0" anchor="ctr"/>
          <a:lstStyle/>
          <a:p>
            <a:pPr algn="ctr"/>
          </a:p>
        </p:txBody>
      </p:sp>
      <p:sp>
        <p:nvSpPr>
          <p:cNvPr id="27" name="Text 26"/>
          <p:cNvSpPr txBox="1"/>
          <p:nvPr/>
        </p:nvSpPr>
        <p:spPr>
          <a:xfrm>
            <a:off x="2773620" y="2049550"/>
            <a:ext cx="297200"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1" i="0">
                <a:solidFill>
                  <a:srgbClr val="172433"/>
                </a:solidFill>
                <a:latin typeface="IBM Plex Sans Arabic"/>
                <a:ea typeface="IBM Plex Sans Arabic"/>
                <a:cs typeface="IBM Plex Sans Arabic"/>
              </a:rPr>
              <a:t>10</a:t>
            </a:r>
          </a:p>
        </p:txBody>
      </p:sp>
      <p:sp>
        <p:nvSpPr>
          <p:cNvPr id="28" name="Box 27"/>
          <p:cNvSpPr/>
          <p:nvPr/>
        </p:nvSpPr>
        <p:spPr>
          <a:xfrm>
            <a:off x="2057400" y="1857970"/>
            <a:ext cx="584200" cy="533400"/>
          </a:xfrm>
          <a:prstGeom prst="roundRect">
            <a:avLst>
              <a:gd name="adj" fmla="val 7142"/>
            </a:avLst>
          </a:prstGeom>
          <a:solidFill>
            <a:srgbClr val="E9A56B"/>
          </a:solidFill>
          <a:ln>
            <a:noFill/>
          </a:ln>
        </p:spPr>
        <p:txBody>
          <a:bodyPr rtlCol="0" anchor="ctr"/>
          <a:lstStyle/>
          <a:p>
            <a:pPr algn="ctr"/>
          </a:p>
        </p:txBody>
      </p:sp>
      <p:sp>
        <p:nvSpPr>
          <p:cNvPr id="29" name="Text 28"/>
          <p:cNvSpPr txBox="1"/>
          <p:nvPr/>
        </p:nvSpPr>
        <p:spPr>
          <a:xfrm>
            <a:off x="2151320" y="2049550"/>
            <a:ext cx="297200"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1" i="0">
                <a:solidFill>
                  <a:srgbClr val="172433"/>
                </a:solidFill>
                <a:latin typeface="IBM Plex Sans Arabic"/>
                <a:ea typeface="IBM Plex Sans Arabic"/>
                <a:cs typeface="IBM Plex Sans Arabic"/>
              </a:rPr>
              <a:t>15</a:t>
            </a:r>
          </a:p>
        </p:txBody>
      </p:sp>
      <p:sp>
        <p:nvSpPr>
          <p:cNvPr id="30" name="Box 29"/>
          <p:cNvSpPr/>
          <p:nvPr/>
        </p:nvSpPr>
        <p:spPr>
          <a:xfrm>
            <a:off x="1435100" y="1857970"/>
            <a:ext cx="584200" cy="533400"/>
          </a:xfrm>
          <a:prstGeom prst="roundRect">
            <a:avLst>
              <a:gd name="adj" fmla="val 7142"/>
            </a:avLst>
          </a:prstGeom>
          <a:solidFill>
            <a:srgbClr val="B8432F"/>
          </a:solidFill>
          <a:ln>
            <a:noFill/>
          </a:ln>
        </p:spPr>
        <p:txBody>
          <a:bodyPr rtlCol="0" anchor="ctr"/>
          <a:lstStyle/>
          <a:p>
            <a:pPr algn="ctr"/>
          </a:p>
        </p:txBody>
      </p:sp>
      <p:sp>
        <p:nvSpPr>
          <p:cNvPr id="31" name="Text 30"/>
          <p:cNvSpPr txBox="1"/>
          <p:nvPr/>
        </p:nvSpPr>
        <p:spPr>
          <a:xfrm>
            <a:off x="1529020" y="2049550"/>
            <a:ext cx="297200"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1" i="0">
                <a:solidFill>
                  <a:srgbClr val="FBF8F1"/>
                </a:solidFill>
                <a:latin typeface="IBM Plex Sans Arabic"/>
                <a:ea typeface="IBM Plex Sans Arabic"/>
                <a:cs typeface="IBM Plex Sans Arabic"/>
              </a:rPr>
              <a:t>20</a:t>
            </a:r>
          </a:p>
        </p:txBody>
      </p:sp>
      <p:sp>
        <p:nvSpPr>
          <p:cNvPr id="32" name="Box 31"/>
          <p:cNvSpPr/>
          <p:nvPr/>
        </p:nvSpPr>
        <p:spPr>
          <a:xfrm>
            <a:off x="812800" y="1857970"/>
            <a:ext cx="584200" cy="533400"/>
          </a:xfrm>
          <a:prstGeom prst="roundRect">
            <a:avLst>
              <a:gd name="adj" fmla="val 7142"/>
            </a:avLst>
          </a:prstGeom>
          <a:solidFill>
            <a:srgbClr val="B8432F"/>
          </a:solidFill>
          <a:ln>
            <a:noFill/>
          </a:ln>
        </p:spPr>
        <p:txBody>
          <a:bodyPr rtlCol="0" anchor="ctr"/>
          <a:lstStyle/>
          <a:p>
            <a:pPr algn="ctr"/>
          </a:p>
        </p:txBody>
      </p:sp>
      <p:sp>
        <p:nvSpPr>
          <p:cNvPr id="33" name="Text 32"/>
          <p:cNvSpPr txBox="1"/>
          <p:nvPr/>
        </p:nvSpPr>
        <p:spPr>
          <a:xfrm>
            <a:off x="906720" y="2049550"/>
            <a:ext cx="297200"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1" i="0">
                <a:solidFill>
                  <a:srgbClr val="FBF8F1"/>
                </a:solidFill>
                <a:latin typeface="IBM Plex Sans Arabic"/>
                <a:ea typeface="IBM Plex Sans Arabic"/>
                <a:cs typeface="IBM Plex Sans Arabic"/>
              </a:rPr>
              <a:t>25</a:t>
            </a:r>
          </a:p>
        </p:txBody>
      </p:sp>
      <p:sp>
        <p:nvSpPr>
          <p:cNvPr id="34" name="Text 33"/>
          <p:cNvSpPr txBox="1"/>
          <p:nvPr/>
        </p:nvSpPr>
        <p:spPr>
          <a:xfrm>
            <a:off x="3878580" y="2626828"/>
            <a:ext cx="269240" cy="152400"/>
          </a:xfrm>
          <a:prstGeom prst="rect">
            <a:avLst/>
          </a:prstGeom>
          <a:noFill/>
        </p:spPr>
        <p:txBody>
          <a:bodyPr wrap="square" tIns="0" rIns="0" bIns="0" lIns="0" anchor="t" rtlCol="0" anchorCtr="0">
            <a:noAutofit/>
          </a:bodyPr>
          <a:lstStyle/>
          <a:p>
            <a:pPr algn="ctr">
              <a:lnSpc>
                <a:spcPts val="1200"/>
              </a:lnSpc>
              <a:spcBef>
                <a:spcPts val="0"/>
              </a:spcBef>
              <a:spcAft>
                <a:spcPts val="0"/>
              </a:spcAft>
            </a:pPr>
            <a:r>
              <a:rPr sz="1200" b="0" i="0">
                <a:solidFill>
                  <a:srgbClr val="4E5A66"/>
                </a:solidFill>
                <a:latin typeface="IBM Plex Sans Arabic"/>
                <a:ea typeface="IBM Plex Sans Arabic"/>
                <a:cs typeface="IBM Plex Sans Arabic"/>
              </a:rPr>
              <a:t>4</a:t>
            </a:r>
          </a:p>
        </p:txBody>
      </p:sp>
      <p:sp>
        <p:nvSpPr>
          <p:cNvPr id="35" name="Box 34"/>
          <p:cNvSpPr/>
          <p:nvPr/>
        </p:nvSpPr>
        <p:spPr>
          <a:xfrm>
            <a:off x="3302000" y="2429470"/>
            <a:ext cx="584200" cy="533400"/>
          </a:xfrm>
          <a:prstGeom prst="roundRect">
            <a:avLst>
              <a:gd name="adj" fmla="val 7142"/>
            </a:avLst>
          </a:prstGeom>
          <a:solidFill>
            <a:srgbClr val="D7ECE2"/>
          </a:solidFill>
          <a:ln>
            <a:noFill/>
          </a:ln>
        </p:spPr>
        <p:txBody>
          <a:bodyPr rtlCol="0" anchor="ctr"/>
          <a:lstStyle/>
          <a:p>
            <a:pPr algn="ctr"/>
          </a:p>
        </p:txBody>
      </p:sp>
      <p:sp>
        <p:nvSpPr>
          <p:cNvPr id="36" name="Text 35"/>
          <p:cNvSpPr txBox="1"/>
          <p:nvPr/>
        </p:nvSpPr>
        <p:spPr>
          <a:xfrm>
            <a:off x="3445431" y="2621050"/>
            <a:ext cx="198180"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1" i="0">
                <a:solidFill>
                  <a:srgbClr val="172433"/>
                </a:solidFill>
                <a:latin typeface="IBM Plex Sans Arabic"/>
                <a:ea typeface="IBM Plex Sans Arabic"/>
                <a:cs typeface="IBM Plex Sans Arabic"/>
              </a:rPr>
              <a:t>4</a:t>
            </a:r>
          </a:p>
        </p:txBody>
      </p:sp>
      <p:sp>
        <p:nvSpPr>
          <p:cNvPr id="37" name="Box 36"/>
          <p:cNvSpPr/>
          <p:nvPr/>
        </p:nvSpPr>
        <p:spPr>
          <a:xfrm>
            <a:off x="2679700" y="2429470"/>
            <a:ext cx="584200" cy="533400"/>
          </a:xfrm>
          <a:prstGeom prst="roundRect">
            <a:avLst>
              <a:gd name="adj" fmla="val 7142"/>
            </a:avLst>
          </a:prstGeom>
          <a:solidFill>
            <a:srgbClr val="F4DEAA"/>
          </a:solidFill>
          <a:ln>
            <a:noFill/>
          </a:ln>
        </p:spPr>
        <p:txBody>
          <a:bodyPr rtlCol="0" anchor="ctr"/>
          <a:lstStyle/>
          <a:p>
            <a:pPr algn="ctr"/>
          </a:p>
        </p:txBody>
      </p:sp>
      <p:sp>
        <p:nvSpPr>
          <p:cNvPr id="38" name="Text 37"/>
          <p:cNvSpPr txBox="1"/>
          <p:nvPr/>
        </p:nvSpPr>
        <p:spPr>
          <a:xfrm>
            <a:off x="2823131" y="2621050"/>
            <a:ext cx="198180"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1" i="0">
                <a:solidFill>
                  <a:srgbClr val="172433"/>
                </a:solidFill>
                <a:latin typeface="IBM Plex Sans Arabic"/>
                <a:ea typeface="IBM Plex Sans Arabic"/>
                <a:cs typeface="IBM Plex Sans Arabic"/>
              </a:rPr>
              <a:t>8</a:t>
            </a:r>
          </a:p>
        </p:txBody>
      </p:sp>
      <p:sp>
        <p:nvSpPr>
          <p:cNvPr id="39" name="Box 38"/>
          <p:cNvSpPr/>
          <p:nvPr/>
        </p:nvSpPr>
        <p:spPr>
          <a:xfrm>
            <a:off x="2070100" y="2442170"/>
            <a:ext cx="558800" cy="508000"/>
          </a:xfrm>
          <a:prstGeom prst="roundRect">
            <a:avLst>
              <a:gd name="adj" fmla="val 7142"/>
            </a:avLst>
          </a:prstGeom>
          <a:solidFill>
            <a:srgbClr val="E9A56B"/>
          </a:solidFill>
          <a:ln w="25400">
            <a:solidFill>
              <a:srgbClr val="172433"/>
            </a:solidFill>
          </a:ln>
        </p:spPr>
        <p:txBody>
          <a:bodyPr rtlCol="0" anchor="ctr"/>
          <a:lstStyle/>
          <a:p>
            <a:pPr algn="ctr"/>
          </a:p>
        </p:txBody>
      </p:sp>
      <p:sp>
        <p:nvSpPr>
          <p:cNvPr id="40" name="Text 39"/>
          <p:cNvSpPr txBox="1"/>
          <p:nvPr/>
        </p:nvSpPr>
        <p:spPr>
          <a:xfrm>
            <a:off x="2151320" y="2621050"/>
            <a:ext cx="297200"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1" i="0">
                <a:solidFill>
                  <a:srgbClr val="172433"/>
                </a:solidFill>
                <a:latin typeface="IBM Plex Sans Arabic"/>
                <a:ea typeface="IBM Plex Sans Arabic"/>
                <a:cs typeface="IBM Plex Sans Arabic"/>
              </a:rPr>
              <a:t>12</a:t>
            </a:r>
          </a:p>
        </p:txBody>
      </p:sp>
      <p:sp>
        <p:nvSpPr>
          <p:cNvPr id="41" name="Box 40"/>
          <p:cNvSpPr/>
          <p:nvPr/>
        </p:nvSpPr>
        <p:spPr>
          <a:xfrm>
            <a:off x="1435100" y="2429470"/>
            <a:ext cx="584200" cy="533400"/>
          </a:xfrm>
          <a:prstGeom prst="roundRect">
            <a:avLst>
              <a:gd name="adj" fmla="val 7142"/>
            </a:avLst>
          </a:prstGeom>
          <a:solidFill>
            <a:srgbClr val="E9A56B"/>
          </a:solidFill>
          <a:ln>
            <a:noFill/>
          </a:ln>
        </p:spPr>
        <p:txBody>
          <a:bodyPr rtlCol="0" anchor="ctr"/>
          <a:lstStyle/>
          <a:p>
            <a:pPr algn="ctr"/>
          </a:p>
        </p:txBody>
      </p:sp>
      <p:sp>
        <p:nvSpPr>
          <p:cNvPr id="42" name="Text 41"/>
          <p:cNvSpPr txBox="1"/>
          <p:nvPr/>
        </p:nvSpPr>
        <p:spPr>
          <a:xfrm>
            <a:off x="1529020" y="2621050"/>
            <a:ext cx="297200"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1" i="0">
                <a:solidFill>
                  <a:srgbClr val="172433"/>
                </a:solidFill>
                <a:latin typeface="IBM Plex Sans Arabic"/>
                <a:ea typeface="IBM Plex Sans Arabic"/>
                <a:cs typeface="IBM Plex Sans Arabic"/>
              </a:rPr>
              <a:t>16</a:t>
            </a:r>
          </a:p>
        </p:txBody>
      </p:sp>
      <p:sp>
        <p:nvSpPr>
          <p:cNvPr id="43" name="Box 42"/>
          <p:cNvSpPr/>
          <p:nvPr/>
        </p:nvSpPr>
        <p:spPr>
          <a:xfrm>
            <a:off x="812800" y="2429470"/>
            <a:ext cx="584200" cy="533400"/>
          </a:xfrm>
          <a:prstGeom prst="roundRect">
            <a:avLst>
              <a:gd name="adj" fmla="val 7142"/>
            </a:avLst>
          </a:prstGeom>
          <a:solidFill>
            <a:srgbClr val="B8432F"/>
          </a:solidFill>
          <a:ln>
            <a:noFill/>
          </a:ln>
        </p:spPr>
        <p:txBody>
          <a:bodyPr rtlCol="0" anchor="ctr"/>
          <a:lstStyle/>
          <a:p>
            <a:pPr algn="ctr"/>
          </a:p>
        </p:txBody>
      </p:sp>
      <p:sp>
        <p:nvSpPr>
          <p:cNvPr id="44" name="Text 43"/>
          <p:cNvSpPr txBox="1"/>
          <p:nvPr/>
        </p:nvSpPr>
        <p:spPr>
          <a:xfrm>
            <a:off x="906720" y="2621050"/>
            <a:ext cx="297200"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1" i="0">
                <a:solidFill>
                  <a:srgbClr val="FBF8F1"/>
                </a:solidFill>
                <a:latin typeface="IBM Plex Sans Arabic"/>
                <a:ea typeface="IBM Plex Sans Arabic"/>
                <a:cs typeface="IBM Plex Sans Arabic"/>
              </a:rPr>
              <a:t>20</a:t>
            </a:r>
          </a:p>
        </p:txBody>
      </p:sp>
      <p:sp>
        <p:nvSpPr>
          <p:cNvPr id="45" name="Text 44"/>
          <p:cNvSpPr txBox="1"/>
          <p:nvPr/>
        </p:nvSpPr>
        <p:spPr>
          <a:xfrm>
            <a:off x="3878580" y="3198328"/>
            <a:ext cx="269240" cy="152400"/>
          </a:xfrm>
          <a:prstGeom prst="rect">
            <a:avLst/>
          </a:prstGeom>
          <a:noFill/>
        </p:spPr>
        <p:txBody>
          <a:bodyPr wrap="square" tIns="0" rIns="0" bIns="0" lIns="0" anchor="t" rtlCol="0" anchorCtr="0">
            <a:noAutofit/>
          </a:bodyPr>
          <a:lstStyle/>
          <a:p>
            <a:pPr algn="ctr">
              <a:lnSpc>
                <a:spcPts val="1200"/>
              </a:lnSpc>
              <a:spcBef>
                <a:spcPts val="0"/>
              </a:spcBef>
              <a:spcAft>
                <a:spcPts val="0"/>
              </a:spcAft>
            </a:pPr>
            <a:r>
              <a:rPr sz="1200" b="0" i="0">
                <a:solidFill>
                  <a:srgbClr val="4E5A66"/>
                </a:solidFill>
                <a:latin typeface="IBM Plex Sans Arabic"/>
                <a:ea typeface="IBM Plex Sans Arabic"/>
                <a:cs typeface="IBM Plex Sans Arabic"/>
              </a:rPr>
              <a:t>3</a:t>
            </a:r>
          </a:p>
        </p:txBody>
      </p:sp>
      <p:sp>
        <p:nvSpPr>
          <p:cNvPr id="46" name="Box 45"/>
          <p:cNvSpPr/>
          <p:nvPr/>
        </p:nvSpPr>
        <p:spPr>
          <a:xfrm>
            <a:off x="3302000" y="3000970"/>
            <a:ext cx="584200" cy="533400"/>
          </a:xfrm>
          <a:prstGeom prst="roundRect">
            <a:avLst>
              <a:gd name="adj" fmla="val 7142"/>
            </a:avLst>
          </a:prstGeom>
          <a:solidFill>
            <a:srgbClr val="D7ECE2"/>
          </a:solidFill>
          <a:ln>
            <a:noFill/>
          </a:ln>
        </p:spPr>
        <p:txBody>
          <a:bodyPr rtlCol="0" anchor="ctr"/>
          <a:lstStyle/>
          <a:p>
            <a:pPr algn="ctr"/>
          </a:p>
        </p:txBody>
      </p:sp>
      <p:sp>
        <p:nvSpPr>
          <p:cNvPr id="47" name="Text 46"/>
          <p:cNvSpPr txBox="1"/>
          <p:nvPr/>
        </p:nvSpPr>
        <p:spPr>
          <a:xfrm>
            <a:off x="3445431" y="3192550"/>
            <a:ext cx="198180"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1" i="0">
                <a:solidFill>
                  <a:srgbClr val="172433"/>
                </a:solidFill>
                <a:latin typeface="IBM Plex Sans Arabic"/>
                <a:ea typeface="IBM Plex Sans Arabic"/>
                <a:cs typeface="IBM Plex Sans Arabic"/>
              </a:rPr>
              <a:t>3</a:t>
            </a:r>
          </a:p>
        </p:txBody>
      </p:sp>
      <p:sp>
        <p:nvSpPr>
          <p:cNvPr id="48" name="Box 47"/>
          <p:cNvSpPr/>
          <p:nvPr/>
        </p:nvSpPr>
        <p:spPr>
          <a:xfrm>
            <a:off x="2679700" y="3000970"/>
            <a:ext cx="584200" cy="533400"/>
          </a:xfrm>
          <a:prstGeom prst="roundRect">
            <a:avLst>
              <a:gd name="adj" fmla="val 7142"/>
            </a:avLst>
          </a:prstGeom>
          <a:solidFill>
            <a:srgbClr val="F4DEAA"/>
          </a:solidFill>
          <a:ln>
            <a:noFill/>
          </a:ln>
        </p:spPr>
        <p:txBody>
          <a:bodyPr rtlCol="0" anchor="ctr"/>
          <a:lstStyle/>
          <a:p>
            <a:pPr algn="ctr"/>
          </a:p>
        </p:txBody>
      </p:sp>
      <p:sp>
        <p:nvSpPr>
          <p:cNvPr id="49" name="Text 48"/>
          <p:cNvSpPr txBox="1"/>
          <p:nvPr/>
        </p:nvSpPr>
        <p:spPr>
          <a:xfrm>
            <a:off x="2823131" y="3192550"/>
            <a:ext cx="198180"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1" i="0">
                <a:solidFill>
                  <a:srgbClr val="172433"/>
                </a:solidFill>
                <a:latin typeface="IBM Plex Sans Arabic"/>
                <a:ea typeface="IBM Plex Sans Arabic"/>
                <a:cs typeface="IBM Plex Sans Arabic"/>
              </a:rPr>
              <a:t>6</a:t>
            </a:r>
          </a:p>
        </p:txBody>
      </p:sp>
      <p:sp>
        <p:nvSpPr>
          <p:cNvPr id="50" name="Box 49"/>
          <p:cNvSpPr/>
          <p:nvPr/>
        </p:nvSpPr>
        <p:spPr>
          <a:xfrm>
            <a:off x="2057400" y="3000970"/>
            <a:ext cx="584200" cy="533400"/>
          </a:xfrm>
          <a:prstGeom prst="roundRect">
            <a:avLst>
              <a:gd name="adj" fmla="val 7142"/>
            </a:avLst>
          </a:prstGeom>
          <a:solidFill>
            <a:srgbClr val="F4DEAA"/>
          </a:solidFill>
          <a:ln>
            <a:noFill/>
          </a:ln>
        </p:spPr>
        <p:txBody>
          <a:bodyPr rtlCol="0" anchor="ctr"/>
          <a:lstStyle/>
          <a:p>
            <a:pPr algn="ctr"/>
          </a:p>
        </p:txBody>
      </p:sp>
      <p:sp>
        <p:nvSpPr>
          <p:cNvPr id="51" name="Text 50"/>
          <p:cNvSpPr txBox="1"/>
          <p:nvPr/>
        </p:nvSpPr>
        <p:spPr>
          <a:xfrm>
            <a:off x="2200831" y="3192550"/>
            <a:ext cx="198180"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1" i="0">
                <a:solidFill>
                  <a:srgbClr val="172433"/>
                </a:solidFill>
                <a:latin typeface="IBM Plex Sans Arabic"/>
                <a:ea typeface="IBM Plex Sans Arabic"/>
                <a:cs typeface="IBM Plex Sans Arabic"/>
              </a:rPr>
              <a:t>9</a:t>
            </a:r>
          </a:p>
        </p:txBody>
      </p:sp>
      <p:sp>
        <p:nvSpPr>
          <p:cNvPr id="52" name="Box 51"/>
          <p:cNvSpPr/>
          <p:nvPr/>
        </p:nvSpPr>
        <p:spPr>
          <a:xfrm>
            <a:off x="1435100" y="3000970"/>
            <a:ext cx="584200" cy="533400"/>
          </a:xfrm>
          <a:prstGeom prst="roundRect">
            <a:avLst>
              <a:gd name="adj" fmla="val 7142"/>
            </a:avLst>
          </a:prstGeom>
          <a:solidFill>
            <a:srgbClr val="E9A56B"/>
          </a:solidFill>
          <a:ln>
            <a:noFill/>
          </a:ln>
        </p:spPr>
        <p:txBody>
          <a:bodyPr rtlCol="0" anchor="ctr"/>
          <a:lstStyle/>
          <a:p>
            <a:pPr algn="ctr"/>
          </a:p>
        </p:txBody>
      </p:sp>
      <p:sp>
        <p:nvSpPr>
          <p:cNvPr id="53" name="Text 52"/>
          <p:cNvSpPr txBox="1"/>
          <p:nvPr/>
        </p:nvSpPr>
        <p:spPr>
          <a:xfrm>
            <a:off x="1529020" y="3192550"/>
            <a:ext cx="297200"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1" i="0">
                <a:solidFill>
                  <a:srgbClr val="172433"/>
                </a:solidFill>
                <a:latin typeface="IBM Plex Sans Arabic"/>
                <a:ea typeface="IBM Plex Sans Arabic"/>
                <a:cs typeface="IBM Plex Sans Arabic"/>
              </a:rPr>
              <a:t>12</a:t>
            </a:r>
          </a:p>
        </p:txBody>
      </p:sp>
      <p:sp>
        <p:nvSpPr>
          <p:cNvPr id="54" name="Box 53"/>
          <p:cNvSpPr/>
          <p:nvPr/>
        </p:nvSpPr>
        <p:spPr>
          <a:xfrm>
            <a:off x="812800" y="3000970"/>
            <a:ext cx="584200" cy="533400"/>
          </a:xfrm>
          <a:prstGeom prst="roundRect">
            <a:avLst>
              <a:gd name="adj" fmla="val 7142"/>
            </a:avLst>
          </a:prstGeom>
          <a:solidFill>
            <a:srgbClr val="E9A56B"/>
          </a:solidFill>
          <a:ln>
            <a:noFill/>
          </a:ln>
        </p:spPr>
        <p:txBody>
          <a:bodyPr rtlCol="0" anchor="ctr"/>
          <a:lstStyle/>
          <a:p>
            <a:pPr algn="ctr"/>
          </a:p>
        </p:txBody>
      </p:sp>
      <p:sp>
        <p:nvSpPr>
          <p:cNvPr id="55" name="Text 54"/>
          <p:cNvSpPr txBox="1"/>
          <p:nvPr/>
        </p:nvSpPr>
        <p:spPr>
          <a:xfrm>
            <a:off x="906720" y="3192550"/>
            <a:ext cx="297200"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1" i="0">
                <a:solidFill>
                  <a:srgbClr val="172433"/>
                </a:solidFill>
                <a:latin typeface="IBM Plex Sans Arabic"/>
                <a:ea typeface="IBM Plex Sans Arabic"/>
                <a:cs typeface="IBM Plex Sans Arabic"/>
              </a:rPr>
              <a:t>15</a:t>
            </a:r>
          </a:p>
        </p:txBody>
      </p:sp>
      <p:sp>
        <p:nvSpPr>
          <p:cNvPr id="56" name="Text 55"/>
          <p:cNvSpPr txBox="1"/>
          <p:nvPr/>
        </p:nvSpPr>
        <p:spPr>
          <a:xfrm>
            <a:off x="3878580" y="3769828"/>
            <a:ext cx="269240" cy="152400"/>
          </a:xfrm>
          <a:prstGeom prst="rect">
            <a:avLst/>
          </a:prstGeom>
          <a:noFill/>
        </p:spPr>
        <p:txBody>
          <a:bodyPr wrap="square" tIns="0" rIns="0" bIns="0" lIns="0" anchor="t" rtlCol="0" anchorCtr="0">
            <a:noAutofit/>
          </a:bodyPr>
          <a:lstStyle/>
          <a:p>
            <a:pPr algn="ctr">
              <a:lnSpc>
                <a:spcPts val="1200"/>
              </a:lnSpc>
              <a:spcBef>
                <a:spcPts val="0"/>
              </a:spcBef>
              <a:spcAft>
                <a:spcPts val="0"/>
              </a:spcAft>
            </a:pPr>
            <a:r>
              <a:rPr sz="1200" b="0" i="0">
                <a:solidFill>
                  <a:srgbClr val="4E5A66"/>
                </a:solidFill>
                <a:latin typeface="IBM Plex Sans Arabic"/>
                <a:ea typeface="IBM Plex Sans Arabic"/>
                <a:cs typeface="IBM Plex Sans Arabic"/>
              </a:rPr>
              <a:t>2</a:t>
            </a:r>
          </a:p>
        </p:txBody>
      </p:sp>
      <p:sp>
        <p:nvSpPr>
          <p:cNvPr id="57" name="Box 56"/>
          <p:cNvSpPr/>
          <p:nvPr/>
        </p:nvSpPr>
        <p:spPr>
          <a:xfrm>
            <a:off x="3302000" y="3572470"/>
            <a:ext cx="584200" cy="533400"/>
          </a:xfrm>
          <a:prstGeom prst="roundRect">
            <a:avLst>
              <a:gd name="adj" fmla="val 7142"/>
            </a:avLst>
          </a:prstGeom>
          <a:solidFill>
            <a:srgbClr val="D7ECE2"/>
          </a:solidFill>
          <a:ln>
            <a:noFill/>
          </a:ln>
        </p:spPr>
        <p:txBody>
          <a:bodyPr rtlCol="0" anchor="ctr"/>
          <a:lstStyle/>
          <a:p>
            <a:pPr algn="ctr"/>
          </a:p>
        </p:txBody>
      </p:sp>
      <p:sp>
        <p:nvSpPr>
          <p:cNvPr id="58" name="Text 57"/>
          <p:cNvSpPr txBox="1"/>
          <p:nvPr/>
        </p:nvSpPr>
        <p:spPr>
          <a:xfrm>
            <a:off x="3445431" y="3764050"/>
            <a:ext cx="198180"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1" i="0">
                <a:solidFill>
                  <a:srgbClr val="172433"/>
                </a:solidFill>
                <a:latin typeface="IBM Plex Sans Arabic"/>
                <a:ea typeface="IBM Plex Sans Arabic"/>
                <a:cs typeface="IBM Plex Sans Arabic"/>
              </a:rPr>
              <a:t>2</a:t>
            </a:r>
          </a:p>
        </p:txBody>
      </p:sp>
      <p:sp>
        <p:nvSpPr>
          <p:cNvPr id="59" name="Box 58"/>
          <p:cNvSpPr/>
          <p:nvPr/>
        </p:nvSpPr>
        <p:spPr>
          <a:xfrm>
            <a:off x="2679700" y="3572470"/>
            <a:ext cx="584200" cy="533400"/>
          </a:xfrm>
          <a:prstGeom prst="roundRect">
            <a:avLst>
              <a:gd name="adj" fmla="val 7142"/>
            </a:avLst>
          </a:prstGeom>
          <a:solidFill>
            <a:srgbClr val="D7ECE2"/>
          </a:solidFill>
          <a:ln>
            <a:noFill/>
          </a:ln>
        </p:spPr>
        <p:txBody>
          <a:bodyPr rtlCol="0" anchor="ctr"/>
          <a:lstStyle/>
          <a:p>
            <a:pPr algn="ctr"/>
          </a:p>
        </p:txBody>
      </p:sp>
      <p:sp>
        <p:nvSpPr>
          <p:cNvPr id="60" name="Text 59"/>
          <p:cNvSpPr txBox="1"/>
          <p:nvPr/>
        </p:nvSpPr>
        <p:spPr>
          <a:xfrm>
            <a:off x="2823131" y="3764050"/>
            <a:ext cx="198180"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1" i="0">
                <a:solidFill>
                  <a:srgbClr val="172433"/>
                </a:solidFill>
                <a:latin typeface="IBM Plex Sans Arabic"/>
                <a:ea typeface="IBM Plex Sans Arabic"/>
                <a:cs typeface="IBM Plex Sans Arabic"/>
              </a:rPr>
              <a:t>4</a:t>
            </a:r>
          </a:p>
        </p:txBody>
      </p:sp>
      <p:sp>
        <p:nvSpPr>
          <p:cNvPr id="61" name="Box 60"/>
          <p:cNvSpPr/>
          <p:nvPr/>
        </p:nvSpPr>
        <p:spPr>
          <a:xfrm>
            <a:off x="2057400" y="3572470"/>
            <a:ext cx="584200" cy="533400"/>
          </a:xfrm>
          <a:prstGeom prst="roundRect">
            <a:avLst>
              <a:gd name="adj" fmla="val 7142"/>
            </a:avLst>
          </a:prstGeom>
          <a:solidFill>
            <a:srgbClr val="F4DEAA"/>
          </a:solidFill>
          <a:ln>
            <a:noFill/>
          </a:ln>
        </p:spPr>
        <p:txBody>
          <a:bodyPr rtlCol="0" anchor="ctr"/>
          <a:lstStyle/>
          <a:p>
            <a:pPr algn="ctr"/>
          </a:p>
        </p:txBody>
      </p:sp>
      <p:sp>
        <p:nvSpPr>
          <p:cNvPr id="62" name="Text 61"/>
          <p:cNvSpPr txBox="1"/>
          <p:nvPr/>
        </p:nvSpPr>
        <p:spPr>
          <a:xfrm>
            <a:off x="2200831" y="3764050"/>
            <a:ext cx="198180"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1" i="0">
                <a:solidFill>
                  <a:srgbClr val="172433"/>
                </a:solidFill>
                <a:latin typeface="IBM Plex Sans Arabic"/>
                <a:ea typeface="IBM Plex Sans Arabic"/>
                <a:cs typeface="IBM Plex Sans Arabic"/>
              </a:rPr>
              <a:t>6</a:t>
            </a:r>
          </a:p>
        </p:txBody>
      </p:sp>
      <p:sp>
        <p:nvSpPr>
          <p:cNvPr id="63" name="Box 62"/>
          <p:cNvSpPr/>
          <p:nvPr/>
        </p:nvSpPr>
        <p:spPr>
          <a:xfrm>
            <a:off x="1435100" y="3572470"/>
            <a:ext cx="584200" cy="533400"/>
          </a:xfrm>
          <a:prstGeom prst="roundRect">
            <a:avLst>
              <a:gd name="adj" fmla="val 7142"/>
            </a:avLst>
          </a:prstGeom>
          <a:solidFill>
            <a:srgbClr val="F4DEAA"/>
          </a:solidFill>
          <a:ln>
            <a:noFill/>
          </a:ln>
        </p:spPr>
        <p:txBody>
          <a:bodyPr rtlCol="0" anchor="ctr"/>
          <a:lstStyle/>
          <a:p>
            <a:pPr algn="ctr"/>
          </a:p>
        </p:txBody>
      </p:sp>
      <p:sp>
        <p:nvSpPr>
          <p:cNvPr id="64" name="Text 63"/>
          <p:cNvSpPr txBox="1"/>
          <p:nvPr/>
        </p:nvSpPr>
        <p:spPr>
          <a:xfrm>
            <a:off x="1578531" y="3764050"/>
            <a:ext cx="198180"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1" i="0">
                <a:solidFill>
                  <a:srgbClr val="172433"/>
                </a:solidFill>
                <a:latin typeface="IBM Plex Sans Arabic"/>
                <a:ea typeface="IBM Plex Sans Arabic"/>
                <a:cs typeface="IBM Plex Sans Arabic"/>
              </a:rPr>
              <a:t>8</a:t>
            </a:r>
          </a:p>
        </p:txBody>
      </p:sp>
      <p:sp>
        <p:nvSpPr>
          <p:cNvPr id="65" name="Box 64"/>
          <p:cNvSpPr/>
          <p:nvPr/>
        </p:nvSpPr>
        <p:spPr>
          <a:xfrm>
            <a:off x="812800" y="3572470"/>
            <a:ext cx="584200" cy="533400"/>
          </a:xfrm>
          <a:prstGeom prst="roundRect">
            <a:avLst>
              <a:gd name="adj" fmla="val 7142"/>
            </a:avLst>
          </a:prstGeom>
          <a:solidFill>
            <a:srgbClr val="E9A56B"/>
          </a:solidFill>
          <a:ln>
            <a:noFill/>
          </a:ln>
        </p:spPr>
        <p:txBody>
          <a:bodyPr rtlCol="0" anchor="ctr"/>
          <a:lstStyle/>
          <a:p>
            <a:pPr algn="ctr"/>
          </a:p>
        </p:txBody>
      </p:sp>
      <p:sp>
        <p:nvSpPr>
          <p:cNvPr id="66" name="Text 65"/>
          <p:cNvSpPr txBox="1"/>
          <p:nvPr/>
        </p:nvSpPr>
        <p:spPr>
          <a:xfrm>
            <a:off x="906720" y="3764050"/>
            <a:ext cx="297200"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1" i="0">
                <a:solidFill>
                  <a:srgbClr val="172433"/>
                </a:solidFill>
                <a:latin typeface="IBM Plex Sans Arabic"/>
                <a:ea typeface="IBM Plex Sans Arabic"/>
                <a:cs typeface="IBM Plex Sans Arabic"/>
              </a:rPr>
              <a:t>10</a:t>
            </a:r>
          </a:p>
        </p:txBody>
      </p:sp>
      <p:sp>
        <p:nvSpPr>
          <p:cNvPr id="67" name="Text 66"/>
          <p:cNvSpPr txBox="1"/>
          <p:nvPr/>
        </p:nvSpPr>
        <p:spPr>
          <a:xfrm>
            <a:off x="3878580" y="4341328"/>
            <a:ext cx="269240" cy="152400"/>
          </a:xfrm>
          <a:prstGeom prst="rect">
            <a:avLst/>
          </a:prstGeom>
          <a:noFill/>
        </p:spPr>
        <p:txBody>
          <a:bodyPr wrap="square" tIns="0" rIns="0" bIns="0" lIns="0" anchor="t" rtlCol="0" anchorCtr="0">
            <a:noAutofit/>
          </a:bodyPr>
          <a:lstStyle/>
          <a:p>
            <a:pPr algn="ctr">
              <a:lnSpc>
                <a:spcPts val="1200"/>
              </a:lnSpc>
              <a:spcBef>
                <a:spcPts val="0"/>
              </a:spcBef>
              <a:spcAft>
                <a:spcPts val="0"/>
              </a:spcAft>
            </a:pPr>
            <a:r>
              <a:rPr sz="1200" b="0" i="0">
                <a:solidFill>
                  <a:srgbClr val="4E5A66"/>
                </a:solidFill>
                <a:latin typeface="IBM Plex Sans Arabic"/>
                <a:ea typeface="IBM Plex Sans Arabic"/>
                <a:cs typeface="IBM Plex Sans Arabic"/>
              </a:rPr>
              <a:t>1</a:t>
            </a:r>
          </a:p>
        </p:txBody>
      </p:sp>
      <p:sp>
        <p:nvSpPr>
          <p:cNvPr id="68" name="Box 67"/>
          <p:cNvSpPr/>
          <p:nvPr/>
        </p:nvSpPr>
        <p:spPr>
          <a:xfrm>
            <a:off x="3302000" y="4143970"/>
            <a:ext cx="584200" cy="533400"/>
          </a:xfrm>
          <a:prstGeom prst="roundRect">
            <a:avLst>
              <a:gd name="adj" fmla="val 7142"/>
            </a:avLst>
          </a:prstGeom>
          <a:solidFill>
            <a:srgbClr val="D7ECE2"/>
          </a:solidFill>
          <a:ln>
            <a:noFill/>
          </a:ln>
        </p:spPr>
        <p:txBody>
          <a:bodyPr rtlCol="0" anchor="ctr"/>
          <a:lstStyle/>
          <a:p>
            <a:pPr algn="ctr"/>
          </a:p>
        </p:txBody>
      </p:sp>
      <p:sp>
        <p:nvSpPr>
          <p:cNvPr id="69" name="Text 68"/>
          <p:cNvSpPr txBox="1"/>
          <p:nvPr/>
        </p:nvSpPr>
        <p:spPr>
          <a:xfrm>
            <a:off x="3445431" y="4335550"/>
            <a:ext cx="198180"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1" i="0">
                <a:solidFill>
                  <a:srgbClr val="172433"/>
                </a:solidFill>
                <a:latin typeface="IBM Plex Sans Arabic"/>
                <a:ea typeface="IBM Plex Sans Arabic"/>
                <a:cs typeface="IBM Plex Sans Arabic"/>
              </a:rPr>
              <a:t>1</a:t>
            </a:r>
          </a:p>
        </p:txBody>
      </p:sp>
      <p:sp>
        <p:nvSpPr>
          <p:cNvPr id="70" name="Box 69"/>
          <p:cNvSpPr/>
          <p:nvPr/>
        </p:nvSpPr>
        <p:spPr>
          <a:xfrm>
            <a:off x="2679700" y="4143970"/>
            <a:ext cx="584200" cy="533400"/>
          </a:xfrm>
          <a:prstGeom prst="roundRect">
            <a:avLst>
              <a:gd name="adj" fmla="val 7142"/>
            </a:avLst>
          </a:prstGeom>
          <a:solidFill>
            <a:srgbClr val="D7ECE2"/>
          </a:solidFill>
          <a:ln>
            <a:noFill/>
          </a:ln>
        </p:spPr>
        <p:txBody>
          <a:bodyPr rtlCol="0" anchor="ctr"/>
          <a:lstStyle/>
          <a:p>
            <a:pPr algn="ctr"/>
          </a:p>
        </p:txBody>
      </p:sp>
      <p:sp>
        <p:nvSpPr>
          <p:cNvPr id="71" name="Text 70"/>
          <p:cNvSpPr txBox="1"/>
          <p:nvPr/>
        </p:nvSpPr>
        <p:spPr>
          <a:xfrm>
            <a:off x="2823131" y="4335550"/>
            <a:ext cx="198180"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1" i="0">
                <a:solidFill>
                  <a:srgbClr val="172433"/>
                </a:solidFill>
                <a:latin typeface="IBM Plex Sans Arabic"/>
                <a:ea typeface="IBM Plex Sans Arabic"/>
                <a:cs typeface="IBM Plex Sans Arabic"/>
              </a:rPr>
              <a:t>2</a:t>
            </a:r>
          </a:p>
        </p:txBody>
      </p:sp>
      <p:sp>
        <p:nvSpPr>
          <p:cNvPr id="72" name="Box 71"/>
          <p:cNvSpPr/>
          <p:nvPr/>
        </p:nvSpPr>
        <p:spPr>
          <a:xfrm>
            <a:off x="2057400" y="4143970"/>
            <a:ext cx="584200" cy="533400"/>
          </a:xfrm>
          <a:prstGeom prst="roundRect">
            <a:avLst>
              <a:gd name="adj" fmla="val 7142"/>
            </a:avLst>
          </a:prstGeom>
          <a:solidFill>
            <a:srgbClr val="D7ECE2"/>
          </a:solidFill>
          <a:ln>
            <a:noFill/>
          </a:ln>
        </p:spPr>
        <p:txBody>
          <a:bodyPr rtlCol="0" anchor="ctr"/>
          <a:lstStyle/>
          <a:p>
            <a:pPr algn="ctr"/>
          </a:p>
        </p:txBody>
      </p:sp>
      <p:sp>
        <p:nvSpPr>
          <p:cNvPr id="73" name="Text 72"/>
          <p:cNvSpPr txBox="1"/>
          <p:nvPr/>
        </p:nvSpPr>
        <p:spPr>
          <a:xfrm>
            <a:off x="2200831" y="4335550"/>
            <a:ext cx="198180"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1" i="0">
                <a:solidFill>
                  <a:srgbClr val="172433"/>
                </a:solidFill>
                <a:latin typeface="IBM Plex Sans Arabic"/>
                <a:ea typeface="IBM Plex Sans Arabic"/>
                <a:cs typeface="IBM Plex Sans Arabic"/>
              </a:rPr>
              <a:t>3</a:t>
            </a:r>
          </a:p>
        </p:txBody>
      </p:sp>
      <p:sp>
        <p:nvSpPr>
          <p:cNvPr id="74" name="Box 73"/>
          <p:cNvSpPr/>
          <p:nvPr/>
        </p:nvSpPr>
        <p:spPr>
          <a:xfrm>
            <a:off x="1435100" y="4143970"/>
            <a:ext cx="584200" cy="533400"/>
          </a:xfrm>
          <a:prstGeom prst="roundRect">
            <a:avLst>
              <a:gd name="adj" fmla="val 7142"/>
            </a:avLst>
          </a:prstGeom>
          <a:solidFill>
            <a:srgbClr val="D7ECE2"/>
          </a:solidFill>
          <a:ln>
            <a:noFill/>
          </a:ln>
        </p:spPr>
        <p:txBody>
          <a:bodyPr rtlCol="0" anchor="ctr"/>
          <a:lstStyle/>
          <a:p>
            <a:pPr algn="ctr"/>
          </a:p>
        </p:txBody>
      </p:sp>
      <p:sp>
        <p:nvSpPr>
          <p:cNvPr id="75" name="Text 74"/>
          <p:cNvSpPr txBox="1"/>
          <p:nvPr/>
        </p:nvSpPr>
        <p:spPr>
          <a:xfrm>
            <a:off x="1578531" y="4335550"/>
            <a:ext cx="198180"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1" i="0">
                <a:solidFill>
                  <a:srgbClr val="172433"/>
                </a:solidFill>
                <a:latin typeface="IBM Plex Sans Arabic"/>
                <a:ea typeface="IBM Plex Sans Arabic"/>
                <a:cs typeface="IBM Plex Sans Arabic"/>
              </a:rPr>
              <a:t>4</a:t>
            </a:r>
          </a:p>
        </p:txBody>
      </p:sp>
      <p:sp>
        <p:nvSpPr>
          <p:cNvPr id="76" name="Box 75"/>
          <p:cNvSpPr/>
          <p:nvPr/>
        </p:nvSpPr>
        <p:spPr>
          <a:xfrm>
            <a:off x="812800" y="4143970"/>
            <a:ext cx="584200" cy="533400"/>
          </a:xfrm>
          <a:prstGeom prst="roundRect">
            <a:avLst>
              <a:gd name="adj" fmla="val 7142"/>
            </a:avLst>
          </a:prstGeom>
          <a:solidFill>
            <a:srgbClr val="F4DEAA"/>
          </a:solidFill>
          <a:ln>
            <a:noFill/>
          </a:ln>
        </p:spPr>
        <p:txBody>
          <a:bodyPr rtlCol="0" anchor="ctr"/>
          <a:lstStyle/>
          <a:p>
            <a:pPr algn="ctr"/>
          </a:p>
        </p:txBody>
      </p:sp>
      <p:sp>
        <p:nvSpPr>
          <p:cNvPr id="77" name="Text 76"/>
          <p:cNvSpPr txBox="1"/>
          <p:nvPr/>
        </p:nvSpPr>
        <p:spPr>
          <a:xfrm>
            <a:off x="956231" y="4335550"/>
            <a:ext cx="198180"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1" i="0">
                <a:solidFill>
                  <a:srgbClr val="172433"/>
                </a:solidFill>
                <a:latin typeface="IBM Plex Sans Arabic"/>
                <a:ea typeface="IBM Plex Sans Arabic"/>
                <a:cs typeface="IBM Plex Sans Arabic"/>
              </a:rPr>
              <a:t>5</a:t>
            </a:r>
          </a:p>
        </p:txBody>
      </p:sp>
      <p:sp>
        <p:nvSpPr>
          <p:cNvPr id="78" name="Text 77"/>
          <p:cNvSpPr txBox="1"/>
          <p:nvPr/>
        </p:nvSpPr>
        <p:spPr>
          <a:xfrm>
            <a:off x="3256280" y="4722328"/>
            <a:ext cx="675640" cy="152400"/>
          </a:xfrm>
          <a:prstGeom prst="rect">
            <a:avLst/>
          </a:prstGeom>
          <a:noFill/>
        </p:spPr>
        <p:txBody>
          <a:bodyPr wrap="square" tIns="0" rIns="0" bIns="0" lIns="0" anchor="t" rtlCol="0" anchorCtr="0">
            <a:noAutofit/>
          </a:bodyPr>
          <a:lstStyle/>
          <a:p>
            <a:pPr algn="ctr">
              <a:lnSpc>
                <a:spcPts val="1200"/>
              </a:lnSpc>
              <a:spcBef>
                <a:spcPts val="0"/>
              </a:spcBef>
              <a:spcAft>
                <a:spcPts val="0"/>
              </a:spcAft>
            </a:pPr>
            <a:r>
              <a:rPr sz="1200" b="0" i="0">
                <a:solidFill>
                  <a:srgbClr val="4E5A66"/>
                </a:solidFill>
                <a:latin typeface="IBM Plex Sans Arabic"/>
                <a:ea typeface="IBM Plex Sans Arabic"/>
                <a:cs typeface="IBM Plex Sans Arabic"/>
              </a:rPr>
              <a:t>1</a:t>
            </a:r>
          </a:p>
        </p:txBody>
      </p:sp>
      <p:sp>
        <p:nvSpPr>
          <p:cNvPr id="79" name="Text 78"/>
          <p:cNvSpPr txBox="1"/>
          <p:nvPr/>
        </p:nvSpPr>
        <p:spPr>
          <a:xfrm>
            <a:off x="2633980" y="4722328"/>
            <a:ext cx="675640" cy="152400"/>
          </a:xfrm>
          <a:prstGeom prst="rect">
            <a:avLst/>
          </a:prstGeom>
          <a:noFill/>
        </p:spPr>
        <p:txBody>
          <a:bodyPr wrap="square" tIns="0" rIns="0" bIns="0" lIns="0" anchor="t" rtlCol="0" anchorCtr="0">
            <a:noAutofit/>
          </a:bodyPr>
          <a:lstStyle/>
          <a:p>
            <a:pPr algn="ctr">
              <a:lnSpc>
                <a:spcPts val="1200"/>
              </a:lnSpc>
              <a:spcBef>
                <a:spcPts val="0"/>
              </a:spcBef>
              <a:spcAft>
                <a:spcPts val="0"/>
              </a:spcAft>
            </a:pPr>
            <a:r>
              <a:rPr sz="1200" b="0" i="0">
                <a:solidFill>
                  <a:srgbClr val="4E5A66"/>
                </a:solidFill>
                <a:latin typeface="IBM Plex Sans Arabic"/>
                <a:ea typeface="IBM Plex Sans Arabic"/>
                <a:cs typeface="IBM Plex Sans Arabic"/>
              </a:rPr>
              <a:t>2</a:t>
            </a:r>
          </a:p>
        </p:txBody>
      </p:sp>
      <p:sp>
        <p:nvSpPr>
          <p:cNvPr id="80" name="Text 79"/>
          <p:cNvSpPr txBox="1"/>
          <p:nvPr/>
        </p:nvSpPr>
        <p:spPr>
          <a:xfrm>
            <a:off x="2011680" y="4722328"/>
            <a:ext cx="675640" cy="152400"/>
          </a:xfrm>
          <a:prstGeom prst="rect">
            <a:avLst/>
          </a:prstGeom>
          <a:noFill/>
        </p:spPr>
        <p:txBody>
          <a:bodyPr wrap="square" tIns="0" rIns="0" bIns="0" lIns="0" anchor="t" rtlCol="0" anchorCtr="0">
            <a:noAutofit/>
          </a:bodyPr>
          <a:lstStyle/>
          <a:p>
            <a:pPr algn="ctr">
              <a:lnSpc>
                <a:spcPts val="1200"/>
              </a:lnSpc>
              <a:spcBef>
                <a:spcPts val="0"/>
              </a:spcBef>
              <a:spcAft>
                <a:spcPts val="0"/>
              </a:spcAft>
            </a:pPr>
            <a:r>
              <a:rPr sz="1200" b="0" i="0">
                <a:solidFill>
                  <a:srgbClr val="4E5A66"/>
                </a:solidFill>
                <a:latin typeface="IBM Plex Sans Arabic"/>
                <a:ea typeface="IBM Plex Sans Arabic"/>
                <a:cs typeface="IBM Plex Sans Arabic"/>
              </a:rPr>
              <a:t>3</a:t>
            </a:r>
          </a:p>
        </p:txBody>
      </p:sp>
      <p:sp>
        <p:nvSpPr>
          <p:cNvPr id="81" name="Text 80"/>
          <p:cNvSpPr txBox="1"/>
          <p:nvPr/>
        </p:nvSpPr>
        <p:spPr>
          <a:xfrm>
            <a:off x="1389380" y="4722328"/>
            <a:ext cx="675640" cy="152400"/>
          </a:xfrm>
          <a:prstGeom prst="rect">
            <a:avLst/>
          </a:prstGeom>
          <a:noFill/>
        </p:spPr>
        <p:txBody>
          <a:bodyPr wrap="square" tIns="0" rIns="0" bIns="0" lIns="0" anchor="t" rtlCol="0" anchorCtr="0">
            <a:noAutofit/>
          </a:bodyPr>
          <a:lstStyle/>
          <a:p>
            <a:pPr algn="ctr">
              <a:lnSpc>
                <a:spcPts val="1200"/>
              </a:lnSpc>
              <a:spcBef>
                <a:spcPts val="0"/>
              </a:spcBef>
              <a:spcAft>
                <a:spcPts val="0"/>
              </a:spcAft>
            </a:pPr>
            <a:r>
              <a:rPr sz="1200" b="0" i="0">
                <a:solidFill>
                  <a:srgbClr val="4E5A66"/>
                </a:solidFill>
                <a:latin typeface="IBM Plex Sans Arabic"/>
                <a:ea typeface="IBM Plex Sans Arabic"/>
                <a:cs typeface="IBM Plex Sans Arabic"/>
              </a:rPr>
              <a:t>4</a:t>
            </a:r>
          </a:p>
        </p:txBody>
      </p:sp>
      <p:sp>
        <p:nvSpPr>
          <p:cNvPr id="82" name="Text 81"/>
          <p:cNvSpPr txBox="1"/>
          <p:nvPr/>
        </p:nvSpPr>
        <p:spPr>
          <a:xfrm>
            <a:off x="767080" y="4722328"/>
            <a:ext cx="675640" cy="152400"/>
          </a:xfrm>
          <a:prstGeom prst="rect">
            <a:avLst/>
          </a:prstGeom>
          <a:noFill/>
        </p:spPr>
        <p:txBody>
          <a:bodyPr wrap="square" tIns="0" rIns="0" bIns="0" lIns="0" anchor="t" rtlCol="0" anchorCtr="0">
            <a:noAutofit/>
          </a:bodyPr>
          <a:lstStyle/>
          <a:p>
            <a:pPr algn="ctr">
              <a:lnSpc>
                <a:spcPts val="1200"/>
              </a:lnSpc>
              <a:spcBef>
                <a:spcPts val="0"/>
              </a:spcBef>
              <a:spcAft>
                <a:spcPts val="0"/>
              </a:spcAft>
            </a:pPr>
            <a:r>
              <a:rPr sz="1200" b="0" i="0">
                <a:solidFill>
                  <a:srgbClr val="4E5A66"/>
                </a:solidFill>
                <a:latin typeface="IBM Plex Sans Arabic"/>
                <a:ea typeface="IBM Plex Sans Arabic"/>
                <a:cs typeface="IBM Plex Sans Arabic"/>
              </a:rPr>
              <a:t>5</a:t>
            </a:r>
          </a:p>
        </p:txBody>
      </p:sp>
      <p:sp>
        <p:nvSpPr>
          <p:cNvPr id="83" name="Text 82"/>
          <p:cNvSpPr txBox="1"/>
          <p:nvPr/>
        </p:nvSpPr>
        <p:spPr>
          <a:xfrm>
            <a:off x="681228" y="4889968"/>
            <a:ext cx="3552444" cy="198041"/>
          </a:xfrm>
          <a:prstGeom prst="rect">
            <a:avLst/>
          </a:prstGeom>
          <a:noFill/>
        </p:spPr>
        <p:txBody>
          <a:bodyPr wrap="square" tIns="0" rIns="0" bIns="0" lIns="0" anchor="t" rtlCol="0" anchorCtr="0">
            <a:noAutofit/>
          </a:bodyPr>
          <a:lstStyle/>
          <a:p>
            <a:pPr algn="ctr" rtl="1">
              <a:lnSpc>
                <a:spcPts val="1560"/>
              </a:lnSpc>
              <a:spcBef>
                <a:spcPts val="0"/>
              </a:spcBef>
              <a:spcAft>
                <a:spcPts val="0"/>
              </a:spcAft>
            </a:pPr>
            <a:r>
              <a:rPr sz="1200" b="1" i="0" lang="ar-SA" altLang="en-US">
                <a:solidFill>
                  <a:srgbClr val="4E5A66"/>
                </a:solidFill>
                <a:latin typeface="IBM Plex Sans Arabic"/>
                <a:ea typeface="IBM Plex Sans Arabic"/>
                <a:cs typeface="IBM Plex Sans Arabic"/>
              </a:rPr>
              <a:t>الاحتمال</a:t>
            </a:r>
          </a:p>
        </p:txBody>
      </p:sp>
      <p:sp>
        <p:nvSpPr>
          <p:cNvPr id="84" name="Text 83"/>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85" name="Text 84"/>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الإطار الوطني لإدارة مخاطر الأمن السيبراني</a:t>
            </a:r>
          </a:p>
        </p:txBody>
      </p:sp>
      <p:sp>
        <p:nvSpPr>
          <p:cNvPr id="5" name="Text 4"/>
          <p:cNvSpPr txBox="1"/>
          <p:nvPr/>
        </p:nvSpPr>
        <p:spPr>
          <a:xfrm>
            <a:off x="9458960" y="1597112"/>
            <a:ext cx="192024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lang="ar-SA" altLang="en-US">
                <a:solidFill>
                  <a:srgbClr val="5E6A75"/>
                </a:solidFill>
                <a:latin typeface="IBM Plex Sans Arabic"/>
                <a:ea typeface="IBM Plex Sans Arabic"/>
                <a:cs typeface="IBM Plex Sans Arabic"/>
              </a:rPr>
              <a:t>الاسم والإصدار</a:t>
            </a:r>
          </a:p>
        </p:txBody>
      </p:sp>
      <p:sp>
        <p:nvSpPr>
          <p:cNvPr id="6" name="Text 5"/>
          <p:cNvSpPr txBox="1"/>
          <p:nvPr/>
        </p:nvSpPr>
        <p:spPr>
          <a:xfrm>
            <a:off x="118872" y="1597112"/>
            <a:ext cx="9368028"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lang="ar-SA" altLang="en-US">
                <a:solidFill>
                  <a:srgbClr val="172433"/>
                </a:solidFill>
                <a:latin typeface="IBM Plex Sans Arabic"/>
                <a:ea typeface="IBM Plex Sans Arabic"/>
                <a:cs typeface="IBM Plex Sans Arabic"/>
              </a:rPr>
              <a:t>الإطار الوطني لإدارة مخاطر الأمن السيبراني NFCRM-⁠‎1:2025‎، صدر 23 يوليو 2025.</a:t>
            </a:r>
          </a:p>
        </p:txBody>
      </p:sp>
      <p:sp>
        <p:nvSpPr>
          <p:cNvPr id="7" name="Text 6"/>
          <p:cNvSpPr txBox="1"/>
          <p:nvPr/>
        </p:nvSpPr>
        <p:spPr>
          <a:xfrm>
            <a:off x="9458960" y="2005993"/>
            <a:ext cx="192024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lang="ar-SA" altLang="en-US">
                <a:solidFill>
                  <a:srgbClr val="5E6A75"/>
                </a:solidFill>
                <a:latin typeface="IBM Plex Sans Arabic"/>
                <a:ea typeface="IBM Plex Sans Arabic"/>
                <a:cs typeface="IBM Plex Sans Arabic"/>
              </a:rPr>
              <a:t>على من ينطبق</a:t>
            </a:r>
          </a:p>
        </p:txBody>
      </p:sp>
      <p:sp>
        <p:nvSpPr>
          <p:cNvPr id="8" name="Text 7"/>
          <p:cNvSpPr txBox="1"/>
          <p:nvPr/>
        </p:nvSpPr>
        <p:spPr>
          <a:xfrm>
            <a:off x="552577" y="2005993"/>
            <a:ext cx="8934323" cy="639961"/>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lang="ar-SA" altLang="en-US">
                <a:solidFill>
                  <a:srgbClr val="172433"/>
                </a:solidFill>
                <a:latin typeface="IBM Plex Sans Arabic"/>
                <a:ea typeface="IBM Plex Sans Arabic"/>
                <a:cs typeface="IBM Plex Sans Arabic"/>
              </a:rPr>
              <a:t>الجهات الحكومية وما يتبعها، وجهات القطاع الخاص التي تملك أو تشغل أو تستضيف بنية تحتية وطنية حساسة.</a:t>
            </a:r>
          </a:p>
        </p:txBody>
      </p:sp>
      <p:sp>
        <p:nvSpPr>
          <p:cNvPr id="9" name="Text 8"/>
          <p:cNvSpPr txBox="1"/>
          <p:nvPr/>
        </p:nvSpPr>
        <p:spPr>
          <a:xfrm>
            <a:off x="9458960" y="2734854"/>
            <a:ext cx="192024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lang="ar-SA" altLang="en-US">
                <a:solidFill>
                  <a:srgbClr val="5E6A75"/>
                </a:solidFill>
                <a:latin typeface="IBM Plex Sans Arabic"/>
                <a:ea typeface="IBM Plex Sans Arabic"/>
                <a:cs typeface="IBM Plex Sans Arabic"/>
              </a:rPr>
              <a:t>لغيرها</a:t>
            </a:r>
          </a:p>
        </p:txBody>
      </p:sp>
      <p:sp>
        <p:nvSpPr>
          <p:cNvPr id="10" name="Text 9"/>
          <p:cNvSpPr txBox="1"/>
          <p:nvPr/>
        </p:nvSpPr>
        <p:spPr>
          <a:xfrm>
            <a:off x="118872" y="2734854"/>
            <a:ext cx="9368028"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lang="ar-SA" altLang="en-US">
                <a:solidFill>
                  <a:srgbClr val="172433"/>
                </a:solidFill>
                <a:latin typeface="IBM Plex Sans Arabic"/>
                <a:ea typeface="IBM Plex Sans Arabic"/>
                <a:cs typeface="IBM Plex Sans Arabic"/>
              </a:rPr>
              <a:t>تشجع الهيئة بقية الجهات على الاستفادة منه، ويمكن تبني مصفوفته طوعاً.</a:t>
            </a:r>
          </a:p>
        </p:txBody>
      </p:sp>
      <p:sp>
        <p:nvSpPr>
          <p:cNvPr id="11" name="Rule 10"/>
          <p:cNvSpPr/>
          <p:nvPr/>
        </p:nvSpPr>
        <p:spPr>
          <a:xfrm>
            <a:off x="9008170" y="3255367"/>
            <a:ext cx="2371030" cy="31750"/>
          </a:xfrm>
          <a:prstGeom prst="rect">
            <a:avLst/>
          </a:prstGeom>
          <a:solidFill>
            <a:srgbClr val="0E7C6B"/>
          </a:solidFill>
          <a:ln>
            <a:noFill/>
          </a:ln>
        </p:spPr>
        <p:txBody>
          <a:bodyPr rtlCol="0" anchor="ctr"/>
          <a:lstStyle/>
          <a:p>
            <a:pPr algn="ctr"/>
          </a:p>
        </p:txBody>
      </p:sp>
      <p:sp>
        <p:nvSpPr>
          <p:cNvPr id="12" name="Text 11"/>
          <p:cNvSpPr txBox="1"/>
          <p:nvPr/>
        </p:nvSpPr>
        <p:spPr>
          <a:xfrm>
            <a:off x="9033570" y="3459202"/>
            <a:ext cx="2307530"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0E7C6B"/>
                </a:solidFill>
                <a:latin typeface="Readex Pro"/>
                <a:ea typeface="Readex Pro"/>
                <a:cs typeface="Readex Pro"/>
              </a:rPr>
              <a:t>1</a:t>
            </a:r>
          </a:p>
        </p:txBody>
      </p:sp>
      <p:sp>
        <p:nvSpPr>
          <p:cNvPr id="13" name="Text 12"/>
          <p:cNvSpPr txBox="1"/>
          <p:nvPr/>
        </p:nvSpPr>
        <p:spPr>
          <a:xfrm>
            <a:off x="9033570" y="3854807"/>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lang="ar-SA" altLang="en-US">
                <a:solidFill>
                  <a:srgbClr val="172433"/>
                </a:solidFill>
                <a:latin typeface="Readex Pro"/>
                <a:ea typeface="Readex Pro"/>
                <a:cs typeface="Readex Pro"/>
              </a:rPr>
              <a:t>التحديد</a:t>
            </a:r>
          </a:p>
        </p:txBody>
      </p:sp>
      <p:sp>
        <p:nvSpPr>
          <p:cNvPr id="14" name="Text 13"/>
          <p:cNvSpPr txBox="1"/>
          <p:nvPr/>
        </p:nvSpPr>
        <p:spPr>
          <a:xfrm>
            <a:off x="9033570" y="4229584"/>
            <a:ext cx="2307530" cy="1279922"/>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lang="ar-SA" altLang="en-US">
                <a:solidFill>
                  <a:srgbClr val="4E5A66"/>
                </a:solidFill>
                <a:latin typeface="IBM Plex Sans Arabic"/>
                <a:ea typeface="IBM Plex Sans Arabic"/>
                <a:cs typeface="IBM Plex Sans Arabic"/>
              </a:rPr>
              <a:t>الأصول، والثغرات، والتهديدات، والسيناريوهات، والضوابط الحالية.</a:t>
            </a:r>
          </a:p>
        </p:txBody>
      </p:sp>
      <p:sp>
        <p:nvSpPr>
          <p:cNvPr id="15" name="Text 14"/>
          <p:cNvSpPr txBox="1"/>
          <p:nvPr/>
        </p:nvSpPr>
        <p:spPr>
          <a:xfrm>
            <a:off x="8571210" y="4297283"/>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6" name="Rule 15"/>
          <p:cNvSpPr/>
          <p:nvPr/>
        </p:nvSpPr>
        <p:spPr>
          <a:xfrm>
            <a:off x="6276380" y="3255367"/>
            <a:ext cx="2371030" cy="31750"/>
          </a:xfrm>
          <a:prstGeom prst="rect">
            <a:avLst/>
          </a:prstGeom>
          <a:solidFill>
            <a:srgbClr val="0E7C6B"/>
          </a:solidFill>
          <a:ln>
            <a:noFill/>
          </a:ln>
        </p:spPr>
        <p:txBody>
          <a:bodyPr rtlCol="0" anchor="ctr"/>
          <a:lstStyle/>
          <a:p>
            <a:pPr algn="ctr"/>
          </a:p>
        </p:txBody>
      </p:sp>
      <p:sp>
        <p:nvSpPr>
          <p:cNvPr id="17" name="Text 16"/>
          <p:cNvSpPr txBox="1"/>
          <p:nvPr/>
        </p:nvSpPr>
        <p:spPr>
          <a:xfrm>
            <a:off x="6301780" y="3459202"/>
            <a:ext cx="2307530"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0E7C6B"/>
                </a:solidFill>
                <a:latin typeface="Readex Pro"/>
                <a:ea typeface="Readex Pro"/>
                <a:cs typeface="Readex Pro"/>
              </a:rPr>
              <a:t>2</a:t>
            </a:r>
          </a:p>
        </p:txBody>
      </p:sp>
      <p:sp>
        <p:nvSpPr>
          <p:cNvPr id="18" name="Text 17"/>
          <p:cNvSpPr txBox="1"/>
          <p:nvPr/>
        </p:nvSpPr>
        <p:spPr>
          <a:xfrm>
            <a:off x="6301780" y="3854807"/>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lang="ar-SA" altLang="en-US">
                <a:solidFill>
                  <a:srgbClr val="172433"/>
                </a:solidFill>
                <a:latin typeface="Readex Pro"/>
                <a:ea typeface="Readex Pro"/>
                <a:cs typeface="Readex Pro"/>
              </a:rPr>
              <a:t>التقييم</a:t>
            </a:r>
          </a:p>
        </p:txBody>
      </p:sp>
      <p:sp>
        <p:nvSpPr>
          <p:cNvPr id="19" name="Text 18"/>
          <p:cNvSpPr txBox="1"/>
          <p:nvPr/>
        </p:nvSpPr>
        <p:spPr>
          <a:xfrm>
            <a:off x="6301780" y="4229584"/>
            <a:ext cx="2307530" cy="639961"/>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lang="ar-SA" altLang="en-US">
                <a:solidFill>
                  <a:srgbClr val="4E5A66"/>
                </a:solidFill>
                <a:latin typeface="IBM Plex Sans Arabic"/>
                <a:ea typeface="IBM Plex Sans Arabic"/>
                <a:cs typeface="IBM Plex Sans Arabic"/>
              </a:rPr>
              <a:t>الاحتمال والأثر بالمصفوفة، والتوثيق في السجل.</a:t>
            </a:r>
          </a:p>
        </p:txBody>
      </p:sp>
      <p:sp>
        <p:nvSpPr>
          <p:cNvPr id="20" name="Text 19"/>
          <p:cNvSpPr txBox="1"/>
          <p:nvPr/>
        </p:nvSpPr>
        <p:spPr>
          <a:xfrm>
            <a:off x="5839420" y="4297283"/>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21" name="Rule 20"/>
          <p:cNvSpPr/>
          <p:nvPr/>
        </p:nvSpPr>
        <p:spPr>
          <a:xfrm>
            <a:off x="3544590" y="3255367"/>
            <a:ext cx="2371030" cy="31750"/>
          </a:xfrm>
          <a:prstGeom prst="rect">
            <a:avLst/>
          </a:prstGeom>
          <a:solidFill>
            <a:srgbClr val="0E7C6B"/>
          </a:solidFill>
          <a:ln>
            <a:noFill/>
          </a:ln>
        </p:spPr>
        <p:txBody>
          <a:bodyPr rtlCol="0" anchor="ctr"/>
          <a:lstStyle/>
          <a:p>
            <a:pPr algn="ctr"/>
          </a:p>
        </p:txBody>
      </p:sp>
      <p:sp>
        <p:nvSpPr>
          <p:cNvPr id="22" name="Text 21"/>
          <p:cNvSpPr txBox="1"/>
          <p:nvPr/>
        </p:nvSpPr>
        <p:spPr>
          <a:xfrm>
            <a:off x="3569990" y="3459202"/>
            <a:ext cx="2307530"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0E7C6B"/>
                </a:solidFill>
                <a:latin typeface="Readex Pro"/>
                <a:ea typeface="Readex Pro"/>
                <a:cs typeface="Readex Pro"/>
              </a:rPr>
              <a:t>3</a:t>
            </a:r>
          </a:p>
        </p:txBody>
      </p:sp>
      <p:sp>
        <p:nvSpPr>
          <p:cNvPr id="23" name="Text 22"/>
          <p:cNvSpPr txBox="1"/>
          <p:nvPr/>
        </p:nvSpPr>
        <p:spPr>
          <a:xfrm>
            <a:off x="3569990" y="3854807"/>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lang="ar-SA" altLang="en-US">
                <a:solidFill>
                  <a:srgbClr val="172433"/>
                </a:solidFill>
                <a:latin typeface="Readex Pro"/>
                <a:ea typeface="Readex Pro"/>
                <a:cs typeface="Readex Pro"/>
              </a:rPr>
              <a:t>المعالجة</a:t>
            </a:r>
          </a:p>
        </p:txBody>
      </p:sp>
      <p:sp>
        <p:nvSpPr>
          <p:cNvPr id="24" name="Text 23"/>
          <p:cNvSpPr txBox="1"/>
          <p:nvPr/>
        </p:nvSpPr>
        <p:spPr>
          <a:xfrm>
            <a:off x="3569990" y="4229584"/>
            <a:ext cx="2307530" cy="959941"/>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lang="ar-SA" altLang="en-US">
                <a:solidFill>
                  <a:srgbClr val="4E5A66"/>
                </a:solidFill>
                <a:latin typeface="IBM Plex Sans Arabic"/>
                <a:ea typeface="IBM Plex Sans Arabic"/>
                <a:cs typeface="IBM Plex Sans Arabic"/>
              </a:rPr>
              <a:t>قبول، أو مشاركة، أو تخفيف، أو تجنب، بخطط وأولويات.</a:t>
            </a:r>
          </a:p>
        </p:txBody>
      </p:sp>
      <p:sp>
        <p:nvSpPr>
          <p:cNvPr id="25" name="Text 24"/>
          <p:cNvSpPr txBox="1"/>
          <p:nvPr/>
        </p:nvSpPr>
        <p:spPr>
          <a:xfrm>
            <a:off x="3107630" y="4297283"/>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26" name="Rule 25"/>
          <p:cNvSpPr/>
          <p:nvPr/>
        </p:nvSpPr>
        <p:spPr>
          <a:xfrm>
            <a:off x="812800" y="3255367"/>
            <a:ext cx="2371030" cy="31750"/>
          </a:xfrm>
          <a:prstGeom prst="rect">
            <a:avLst/>
          </a:prstGeom>
          <a:solidFill>
            <a:srgbClr val="0E7C6B"/>
          </a:solidFill>
          <a:ln>
            <a:noFill/>
          </a:ln>
        </p:spPr>
        <p:txBody>
          <a:bodyPr rtlCol="0" anchor="ctr"/>
          <a:lstStyle/>
          <a:p>
            <a:pPr algn="ctr"/>
          </a:p>
        </p:txBody>
      </p:sp>
      <p:sp>
        <p:nvSpPr>
          <p:cNvPr id="27" name="Text 26"/>
          <p:cNvSpPr txBox="1"/>
          <p:nvPr/>
        </p:nvSpPr>
        <p:spPr>
          <a:xfrm>
            <a:off x="838200" y="3459202"/>
            <a:ext cx="2307530"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0E7C6B"/>
                </a:solidFill>
                <a:latin typeface="Readex Pro"/>
                <a:ea typeface="Readex Pro"/>
                <a:cs typeface="Readex Pro"/>
              </a:rPr>
              <a:t>4</a:t>
            </a:r>
          </a:p>
        </p:txBody>
      </p:sp>
      <p:sp>
        <p:nvSpPr>
          <p:cNvPr id="28" name="Text 27"/>
          <p:cNvSpPr txBox="1"/>
          <p:nvPr/>
        </p:nvSpPr>
        <p:spPr>
          <a:xfrm>
            <a:off x="838200" y="3854807"/>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lang="ar-SA" altLang="en-US">
                <a:solidFill>
                  <a:srgbClr val="172433"/>
                </a:solidFill>
                <a:latin typeface="Readex Pro"/>
                <a:ea typeface="Readex Pro"/>
                <a:cs typeface="Readex Pro"/>
              </a:rPr>
              <a:t>المتابعة</a:t>
            </a:r>
          </a:p>
        </p:txBody>
      </p:sp>
      <p:sp>
        <p:nvSpPr>
          <p:cNvPr id="29" name="Text 28"/>
          <p:cNvSpPr txBox="1"/>
          <p:nvPr/>
        </p:nvSpPr>
        <p:spPr>
          <a:xfrm>
            <a:off x="838200" y="4229584"/>
            <a:ext cx="2307530" cy="639961"/>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lang="ar-SA" altLang="en-US">
                <a:solidFill>
                  <a:srgbClr val="4E5A66"/>
                </a:solidFill>
                <a:latin typeface="IBM Plex Sans Arabic"/>
                <a:ea typeface="IBM Plex Sans Arabic"/>
                <a:cs typeface="IBM Plex Sans Arabic"/>
              </a:rPr>
              <a:t>تقارير، ومراقبة الخطط، وإعادة التقييم عند التغيير.</a:t>
            </a:r>
          </a:p>
        </p:txBody>
      </p:sp>
      <p:sp>
        <p:nvSpPr>
          <p:cNvPr id="30" name="Text 29"/>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31" name="Text 30"/>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281319" y="812800"/>
            <a:ext cx="2097881"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أربعة خيارات لمعالجة الخطر</a:t>
            </a:r>
          </a:p>
        </p:txBody>
      </p:sp>
      <p:sp>
        <p:nvSpPr>
          <p:cNvPr id="5" name="Box 4"/>
          <p:cNvSpPr/>
          <p:nvPr/>
        </p:nvSpPr>
        <p:spPr>
          <a:xfrm>
            <a:off x="8832850" y="1857970"/>
            <a:ext cx="2546350" cy="1459508"/>
          </a:xfrm>
          <a:prstGeom prst="roundRect">
            <a:avLst>
              <a:gd name="adj" fmla="val 6961"/>
            </a:avLst>
          </a:prstGeom>
          <a:solidFill>
            <a:srgbClr val="FFFDF8"/>
          </a:solidFill>
          <a:ln>
            <a:noFill/>
          </a:ln>
        </p:spPr>
        <p:txBody>
          <a:bodyPr rtlCol="0" anchor="ctr"/>
          <a:lstStyle/>
          <a:p>
            <a:pPr algn="ctr"/>
          </a:p>
        </p:txBody>
      </p:sp>
      <p:sp>
        <p:nvSpPr>
          <p:cNvPr id="6" name="Rule 5"/>
          <p:cNvSpPr/>
          <p:nvPr/>
        </p:nvSpPr>
        <p:spPr>
          <a:xfrm>
            <a:off x="8832850" y="1857970"/>
            <a:ext cx="2546350" cy="38100"/>
          </a:xfrm>
          <a:prstGeom prst="rect">
            <a:avLst/>
          </a:prstGeom>
          <a:solidFill>
            <a:srgbClr val="0E7C6B"/>
          </a:solidFill>
          <a:ln>
            <a:noFill/>
          </a:ln>
        </p:spPr>
        <p:txBody>
          <a:bodyPr rtlCol="0" anchor="ctr"/>
          <a:lstStyle/>
          <a:p>
            <a:pPr algn="ctr"/>
          </a:p>
        </p:txBody>
      </p:sp>
      <p:sp>
        <p:nvSpPr>
          <p:cNvPr id="7" name="Rule 6"/>
          <p:cNvSpPr/>
          <p:nvPr/>
        </p:nvSpPr>
        <p:spPr>
          <a:xfrm>
            <a:off x="11372850" y="1857970"/>
            <a:ext cx="6350" cy="1459508"/>
          </a:xfrm>
          <a:prstGeom prst="rect">
            <a:avLst/>
          </a:prstGeom>
          <a:solidFill>
            <a:srgbClr val="E1DBCD"/>
          </a:solidFill>
          <a:ln>
            <a:noFill/>
          </a:ln>
        </p:spPr>
        <p:txBody>
          <a:bodyPr rtlCol="0" anchor="ctr"/>
          <a:lstStyle/>
          <a:p>
            <a:pPr algn="ctr"/>
          </a:p>
        </p:txBody>
      </p:sp>
      <p:sp>
        <p:nvSpPr>
          <p:cNvPr id="8" name="Rule 7"/>
          <p:cNvSpPr/>
          <p:nvPr/>
        </p:nvSpPr>
        <p:spPr>
          <a:xfrm>
            <a:off x="8832850" y="3311128"/>
            <a:ext cx="2546350" cy="6350"/>
          </a:xfrm>
          <a:prstGeom prst="rect">
            <a:avLst/>
          </a:prstGeom>
          <a:solidFill>
            <a:srgbClr val="E1DBCD"/>
          </a:solidFill>
          <a:ln>
            <a:noFill/>
          </a:ln>
        </p:spPr>
        <p:txBody>
          <a:bodyPr rtlCol="0" anchor="ctr"/>
          <a:lstStyle/>
          <a:p>
            <a:pPr algn="ctr"/>
          </a:p>
        </p:txBody>
      </p:sp>
      <p:sp>
        <p:nvSpPr>
          <p:cNvPr id="9" name="Rule 8"/>
          <p:cNvSpPr/>
          <p:nvPr/>
        </p:nvSpPr>
        <p:spPr>
          <a:xfrm>
            <a:off x="8832850" y="1857970"/>
            <a:ext cx="6350" cy="1459508"/>
          </a:xfrm>
          <a:prstGeom prst="rect">
            <a:avLst/>
          </a:prstGeom>
          <a:solidFill>
            <a:srgbClr val="E1DBCD"/>
          </a:solidFill>
          <a:ln>
            <a:noFill/>
          </a:ln>
        </p:spPr>
        <p:txBody>
          <a:bodyPr rtlCol="0" anchor="ctr"/>
          <a:lstStyle/>
          <a:p>
            <a:pPr algn="ctr"/>
          </a:p>
        </p:txBody>
      </p:sp>
      <p:sp>
        <p:nvSpPr>
          <p:cNvPr id="10" name="Text 9"/>
          <p:cNvSpPr txBox="1"/>
          <p:nvPr/>
        </p:nvSpPr>
        <p:spPr>
          <a:xfrm>
            <a:off x="8858250" y="2052026"/>
            <a:ext cx="2349500" cy="285750"/>
          </a:xfrm>
          <a:prstGeom prst="rect">
            <a:avLst/>
          </a:prstGeom>
          <a:noFill/>
        </p:spPr>
        <p:txBody>
          <a:bodyPr wrap="square" tIns="0" rIns="0" bIns="0" lIns="0" anchor="t" rtlCol="0" anchorCtr="0">
            <a:noAutofit/>
          </a:bodyPr>
          <a:lstStyle/>
          <a:p>
            <a:pPr algn="r" rtl="1">
              <a:lnSpc>
                <a:spcPts val="2250"/>
              </a:lnSpc>
              <a:spcBef>
                <a:spcPts val="0"/>
              </a:spcBef>
              <a:spcAft>
                <a:spcPts val="0"/>
              </a:spcAft>
            </a:pPr>
            <a:r>
              <a:rPr sz="1800" b="1" i="0" lang="ar-SA" altLang="en-US">
                <a:solidFill>
                  <a:srgbClr val="172433"/>
                </a:solidFill>
                <a:latin typeface="Readex Pro"/>
                <a:ea typeface="Readex Pro"/>
                <a:cs typeface="Readex Pro"/>
              </a:rPr>
              <a:t>التخفيف </a:t>
            </a:r>
            <a:r>
              <a:rPr sz="1800" b="1" i="0" lang="ar-SA" altLang="en-US">
                <a:solidFill>
                  <a:srgbClr val="6B7680"/>
                </a:solidFill>
                <a:latin typeface="Readex Pro"/>
                <a:ea typeface="Readex Pro"/>
                <a:cs typeface="Readex Pro"/>
              </a:rPr>
              <a:t>· Mitigate</a:t>
            </a:r>
          </a:p>
        </p:txBody>
      </p:sp>
      <p:sp>
        <p:nvSpPr>
          <p:cNvPr id="11" name="Text 10"/>
          <p:cNvSpPr txBox="1"/>
          <p:nvPr/>
        </p:nvSpPr>
        <p:spPr>
          <a:xfrm>
            <a:off x="8858250" y="2381845"/>
            <a:ext cx="2349500"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172433"/>
                </a:solidFill>
                <a:latin typeface="IBM Plex Sans Arabic"/>
                <a:ea typeface="IBM Plex Sans Arabic"/>
                <a:cs typeface="IBM Plex Sans Arabic"/>
              </a:rPr>
              <a:t>ضوابط تقلل الاحتمال أو الأثر.</a:t>
            </a:r>
          </a:p>
        </p:txBody>
      </p:sp>
      <p:sp>
        <p:nvSpPr>
          <p:cNvPr id="12" name="Text 11"/>
          <p:cNvSpPr txBox="1"/>
          <p:nvPr/>
        </p:nvSpPr>
        <p:spPr>
          <a:xfrm>
            <a:off x="8858250" y="2676676"/>
            <a:ext cx="23495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تشفير القرص. الأكثر استخداماً.</a:t>
            </a:r>
          </a:p>
        </p:txBody>
      </p:sp>
      <p:sp>
        <p:nvSpPr>
          <p:cNvPr id="13" name="Box 12"/>
          <p:cNvSpPr/>
          <p:nvPr/>
        </p:nvSpPr>
        <p:spPr>
          <a:xfrm>
            <a:off x="6159500" y="1857970"/>
            <a:ext cx="2546350" cy="1459508"/>
          </a:xfrm>
          <a:prstGeom prst="roundRect">
            <a:avLst>
              <a:gd name="adj" fmla="val 6961"/>
            </a:avLst>
          </a:prstGeom>
          <a:solidFill>
            <a:srgbClr val="FFFDF8"/>
          </a:solidFill>
          <a:ln>
            <a:noFill/>
          </a:ln>
        </p:spPr>
        <p:txBody>
          <a:bodyPr rtlCol="0" anchor="ctr"/>
          <a:lstStyle/>
          <a:p>
            <a:pPr algn="ctr"/>
          </a:p>
        </p:txBody>
      </p:sp>
      <p:sp>
        <p:nvSpPr>
          <p:cNvPr id="14" name="Rule 13"/>
          <p:cNvSpPr/>
          <p:nvPr/>
        </p:nvSpPr>
        <p:spPr>
          <a:xfrm>
            <a:off x="6159500" y="1857970"/>
            <a:ext cx="2546350" cy="38100"/>
          </a:xfrm>
          <a:prstGeom prst="rect">
            <a:avLst/>
          </a:prstGeom>
          <a:solidFill>
            <a:srgbClr val="0E7C6B"/>
          </a:solidFill>
          <a:ln>
            <a:noFill/>
          </a:ln>
        </p:spPr>
        <p:txBody>
          <a:bodyPr rtlCol="0" anchor="ctr"/>
          <a:lstStyle/>
          <a:p>
            <a:pPr algn="ctr"/>
          </a:p>
        </p:txBody>
      </p:sp>
      <p:sp>
        <p:nvSpPr>
          <p:cNvPr id="15" name="Rule 14"/>
          <p:cNvSpPr/>
          <p:nvPr/>
        </p:nvSpPr>
        <p:spPr>
          <a:xfrm>
            <a:off x="8699500" y="1857970"/>
            <a:ext cx="6350" cy="1459508"/>
          </a:xfrm>
          <a:prstGeom prst="rect">
            <a:avLst/>
          </a:prstGeom>
          <a:solidFill>
            <a:srgbClr val="E1DBCD"/>
          </a:solidFill>
          <a:ln>
            <a:noFill/>
          </a:ln>
        </p:spPr>
        <p:txBody>
          <a:bodyPr rtlCol="0" anchor="ctr"/>
          <a:lstStyle/>
          <a:p>
            <a:pPr algn="ctr"/>
          </a:p>
        </p:txBody>
      </p:sp>
      <p:sp>
        <p:nvSpPr>
          <p:cNvPr id="16" name="Rule 15"/>
          <p:cNvSpPr/>
          <p:nvPr/>
        </p:nvSpPr>
        <p:spPr>
          <a:xfrm>
            <a:off x="6159500" y="3311128"/>
            <a:ext cx="2546350" cy="6350"/>
          </a:xfrm>
          <a:prstGeom prst="rect">
            <a:avLst/>
          </a:prstGeom>
          <a:solidFill>
            <a:srgbClr val="E1DBCD"/>
          </a:solidFill>
          <a:ln>
            <a:noFill/>
          </a:ln>
        </p:spPr>
        <p:txBody>
          <a:bodyPr rtlCol="0" anchor="ctr"/>
          <a:lstStyle/>
          <a:p>
            <a:pPr algn="ctr"/>
          </a:p>
        </p:txBody>
      </p:sp>
      <p:sp>
        <p:nvSpPr>
          <p:cNvPr id="17" name="Rule 16"/>
          <p:cNvSpPr/>
          <p:nvPr/>
        </p:nvSpPr>
        <p:spPr>
          <a:xfrm>
            <a:off x="6159500" y="1857970"/>
            <a:ext cx="6350" cy="1459508"/>
          </a:xfrm>
          <a:prstGeom prst="rect">
            <a:avLst/>
          </a:prstGeom>
          <a:solidFill>
            <a:srgbClr val="E1DBCD"/>
          </a:solidFill>
          <a:ln>
            <a:noFill/>
          </a:ln>
        </p:spPr>
        <p:txBody>
          <a:bodyPr rtlCol="0" anchor="ctr"/>
          <a:lstStyle/>
          <a:p>
            <a:pPr algn="ctr"/>
          </a:p>
        </p:txBody>
      </p:sp>
      <p:sp>
        <p:nvSpPr>
          <p:cNvPr id="18" name="Text 17"/>
          <p:cNvSpPr txBox="1"/>
          <p:nvPr/>
        </p:nvSpPr>
        <p:spPr>
          <a:xfrm>
            <a:off x="6184900" y="2052026"/>
            <a:ext cx="2349500" cy="285750"/>
          </a:xfrm>
          <a:prstGeom prst="rect">
            <a:avLst/>
          </a:prstGeom>
          <a:noFill/>
        </p:spPr>
        <p:txBody>
          <a:bodyPr wrap="square" tIns="0" rIns="0" bIns="0" lIns="0" anchor="t" rtlCol="0" anchorCtr="0">
            <a:noAutofit/>
          </a:bodyPr>
          <a:lstStyle/>
          <a:p>
            <a:pPr algn="r" rtl="1">
              <a:lnSpc>
                <a:spcPts val="2250"/>
              </a:lnSpc>
              <a:spcBef>
                <a:spcPts val="0"/>
              </a:spcBef>
              <a:spcAft>
                <a:spcPts val="0"/>
              </a:spcAft>
            </a:pPr>
            <a:r>
              <a:rPr sz="1800" b="1" i="0" lang="ar-SA" altLang="en-US">
                <a:solidFill>
                  <a:srgbClr val="172433"/>
                </a:solidFill>
                <a:latin typeface="Readex Pro"/>
                <a:ea typeface="Readex Pro"/>
                <a:cs typeface="Readex Pro"/>
              </a:rPr>
              <a:t>التجنب </a:t>
            </a:r>
            <a:r>
              <a:rPr sz="1800" b="1" i="0" lang="ar-SA" altLang="en-US">
                <a:solidFill>
                  <a:srgbClr val="6B7680"/>
                </a:solidFill>
                <a:latin typeface="Readex Pro"/>
                <a:ea typeface="Readex Pro"/>
                <a:cs typeface="Readex Pro"/>
              </a:rPr>
              <a:t>· Avoid</a:t>
            </a:r>
          </a:p>
        </p:txBody>
      </p:sp>
      <p:sp>
        <p:nvSpPr>
          <p:cNvPr id="19" name="Text 18"/>
          <p:cNvSpPr txBox="1"/>
          <p:nvPr/>
        </p:nvSpPr>
        <p:spPr>
          <a:xfrm>
            <a:off x="6184900" y="2381845"/>
            <a:ext cx="2349500"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172433"/>
                </a:solidFill>
                <a:latin typeface="IBM Plex Sans Arabic"/>
                <a:ea typeface="IBM Plex Sans Arabic"/>
                <a:cs typeface="IBM Plex Sans Arabic"/>
              </a:rPr>
              <a:t>إيقاف النشاط الذي يسبب الخطر.</a:t>
            </a:r>
          </a:p>
        </p:txBody>
      </p:sp>
      <p:sp>
        <p:nvSpPr>
          <p:cNvPr id="20" name="Text 19"/>
          <p:cNvSpPr txBox="1"/>
          <p:nvPr/>
        </p:nvSpPr>
        <p:spPr>
          <a:xfrm>
            <a:off x="6264846" y="2676676"/>
            <a:ext cx="2269554"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منع حفظ ملفات الرواتب على الأجهزة المحمولة.</a:t>
            </a:r>
          </a:p>
        </p:txBody>
      </p:sp>
      <p:sp>
        <p:nvSpPr>
          <p:cNvPr id="21" name="Box 20"/>
          <p:cNvSpPr/>
          <p:nvPr/>
        </p:nvSpPr>
        <p:spPr>
          <a:xfrm>
            <a:off x="3486150" y="1857970"/>
            <a:ext cx="2546350" cy="1459508"/>
          </a:xfrm>
          <a:prstGeom prst="roundRect">
            <a:avLst>
              <a:gd name="adj" fmla="val 6961"/>
            </a:avLst>
          </a:prstGeom>
          <a:solidFill>
            <a:srgbClr val="FFFDF8"/>
          </a:solidFill>
          <a:ln>
            <a:noFill/>
          </a:ln>
        </p:spPr>
        <p:txBody>
          <a:bodyPr rtlCol="0" anchor="ctr"/>
          <a:lstStyle/>
          <a:p>
            <a:pPr algn="ctr"/>
          </a:p>
        </p:txBody>
      </p:sp>
      <p:sp>
        <p:nvSpPr>
          <p:cNvPr id="22" name="Rule 21"/>
          <p:cNvSpPr/>
          <p:nvPr/>
        </p:nvSpPr>
        <p:spPr>
          <a:xfrm>
            <a:off x="3486150" y="1857970"/>
            <a:ext cx="2546350" cy="38100"/>
          </a:xfrm>
          <a:prstGeom prst="rect">
            <a:avLst/>
          </a:prstGeom>
          <a:solidFill>
            <a:srgbClr val="0E7C6B"/>
          </a:solidFill>
          <a:ln>
            <a:noFill/>
          </a:ln>
        </p:spPr>
        <p:txBody>
          <a:bodyPr rtlCol="0" anchor="ctr"/>
          <a:lstStyle/>
          <a:p>
            <a:pPr algn="ctr"/>
          </a:p>
        </p:txBody>
      </p:sp>
      <p:sp>
        <p:nvSpPr>
          <p:cNvPr id="23" name="Rule 22"/>
          <p:cNvSpPr/>
          <p:nvPr/>
        </p:nvSpPr>
        <p:spPr>
          <a:xfrm>
            <a:off x="6026150" y="1857970"/>
            <a:ext cx="6350" cy="1459508"/>
          </a:xfrm>
          <a:prstGeom prst="rect">
            <a:avLst/>
          </a:prstGeom>
          <a:solidFill>
            <a:srgbClr val="E1DBCD"/>
          </a:solidFill>
          <a:ln>
            <a:noFill/>
          </a:ln>
        </p:spPr>
        <p:txBody>
          <a:bodyPr rtlCol="0" anchor="ctr"/>
          <a:lstStyle/>
          <a:p>
            <a:pPr algn="ctr"/>
          </a:p>
        </p:txBody>
      </p:sp>
      <p:sp>
        <p:nvSpPr>
          <p:cNvPr id="24" name="Rule 23"/>
          <p:cNvSpPr/>
          <p:nvPr/>
        </p:nvSpPr>
        <p:spPr>
          <a:xfrm>
            <a:off x="3486150" y="3311128"/>
            <a:ext cx="2546350" cy="6350"/>
          </a:xfrm>
          <a:prstGeom prst="rect">
            <a:avLst/>
          </a:prstGeom>
          <a:solidFill>
            <a:srgbClr val="E1DBCD"/>
          </a:solidFill>
          <a:ln>
            <a:noFill/>
          </a:ln>
        </p:spPr>
        <p:txBody>
          <a:bodyPr rtlCol="0" anchor="ctr"/>
          <a:lstStyle/>
          <a:p>
            <a:pPr algn="ctr"/>
          </a:p>
        </p:txBody>
      </p:sp>
      <p:sp>
        <p:nvSpPr>
          <p:cNvPr id="25" name="Rule 24"/>
          <p:cNvSpPr/>
          <p:nvPr/>
        </p:nvSpPr>
        <p:spPr>
          <a:xfrm>
            <a:off x="3486150" y="1857970"/>
            <a:ext cx="6350" cy="1459508"/>
          </a:xfrm>
          <a:prstGeom prst="rect">
            <a:avLst/>
          </a:prstGeom>
          <a:solidFill>
            <a:srgbClr val="E1DBCD"/>
          </a:solidFill>
          <a:ln>
            <a:noFill/>
          </a:ln>
        </p:spPr>
        <p:txBody>
          <a:bodyPr rtlCol="0" anchor="ctr"/>
          <a:lstStyle/>
          <a:p>
            <a:pPr algn="ctr"/>
          </a:p>
        </p:txBody>
      </p:sp>
      <p:sp>
        <p:nvSpPr>
          <p:cNvPr id="26" name="Text 25"/>
          <p:cNvSpPr txBox="1"/>
          <p:nvPr/>
        </p:nvSpPr>
        <p:spPr>
          <a:xfrm>
            <a:off x="3511550" y="2052026"/>
            <a:ext cx="2349500" cy="285750"/>
          </a:xfrm>
          <a:prstGeom prst="rect">
            <a:avLst/>
          </a:prstGeom>
          <a:noFill/>
        </p:spPr>
        <p:txBody>
          <a:bodyPr wrap="square" tIns="0" rIns="0" bIns="0" lIns="0" anchor="t" rtlCol="0" anchorCtr="0">
            <a:noAutofit/>
          </a:bodyPr>
          <a:lstStyle/>
          <a:p>
            <a:pPr algn="r" rtl="1">
              <a:lnSpc>
                <a:spcPts val="2250"/>
              </a:lnSpc>
              <a:spcBef>
                <a:spcPts val="0"/>
              </a:spcBef>
              <a:spcAft>
                <a:spcPts val="0"/>
              </a:spcAft>
            </a:pPr>
            <a:r>
              <a:rPr sz="1800" b="1" i="0" lang="ar-SA" altLang="en-US">
                <a:solidFill>
                  <a:srgbClr val="172433"/>
                </a:solidFill>
                <a:latin typeface="Readex Pro"/>
                <a:ea typeface="Readex Pro"/>
                <a:cs typeface="Readex Pro"/>
              </a:rPr>
              <a:t>النقل </a:t>
            </a:r>
            <a:r>
              <a:rPr sz="1800" b="1" i="0" lang="ar-SA" altLang="en-US">
                <a:solidFill>
                  <a:srgbClr val="6B7680"/>
                </a:solidFill>
                <a:latin typeface="Readex Pro"/>
                <a:ea typeface="Readex Pro"/>
                <a:cs typeface="Readex Pro"/>
              </a:rPr>
              <a:t>· Transfer</a:t>
            </a:r>
          </a:p>
        </p:txBody>
      </p:sp>
      <p:sp>
        <p:nvSpPr>
          <p:cNvPr id="27" name="Text 26"/>
          <p:cNvSpPr txBox="1"/>
          <p:nvPr/>
        </p:nvSpPr>
        <p:spPr>
          <a:xfrm>
            <a:off x="3511550" y="2381845"/>
            <a:ext cx="2349500"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172433"/>
                </a:solidFill>
                <a:latin typeface="IBM Plex Sans Arabic"/>
                <a:ea typeface="IBM Plex Sans Arabic"/>
                <a:cs typeface="IBM Plex Sans Arabic"/>
              </a:rPr>
              <a:t>تحميل جزء من الأثر المالي لطرف آخر.</a:t>
            </a:r>
          </a:p>
        </p:txBody>
      </p:sp>
      <p:sp>
        <p:nvSpPr>
          <p:cNvPr id="28" name="Text 27"/>
          <p:cNvSpPr txBox="1"/>
          <p:nvPr/>
        </p:nvSpPr>
        <p:spPr>
          <a:xfrm>
            <a:off x="3591496" y="2676676"/>
            <a:ext cx="2269554"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تأمين أو عقد خدمة. المسؤولية والسمعة لا تنتقلان.</a:t>
            </a:r>
          </a:p>
        </p:txBody>
      </p:sp>
      <p:sp>
        <p:nvSpPr>
          <p:cNvPr id="29" name="Box 28"/>
          <p:cNvSpPr/>
          <p:nvPr/>
        </p:nvSpPr>
        <p:spPr>
          <a:xfrm>
            <a:off x="812800" y="1857970"/>
            <a:ext cx="2546350" cy="1459508"/>
          </a:xfrm>
          <a:prstGeom prst="roundRect">
            <a:avLst>
              <a:gd name="adj" fmla="val 6961"/>
            </a:avLst>
          </a:prstGeom>
          <a:solidFill>
            <a:srgbClr val="FFFDF8"/>
          </a:solidFill>
          <a:ln>
            <a:noFill/>
          </a:ln>
        </p:spPr>
        <p:txBody>
          <a:bodyPr rtlCol="0" anchor="ctr"/>
          <a:lstStyle/>
          <a:p>
            <a:pPr algn="ctr"/>
          </a:p>
        </p:txBody>
      </p:sp>
      <p:sp>
        <p:nvSpPr>
          <p:cNvPr id="30" name="Rule 29"/>
          <p:cNvSpPr/>
          <p:nvPr/>
        </p:nvSpPr>
        <p:spPr>
          <a:xfrm>
            <a:off x="812800" y="1857970"/>
            <a:ext cx="2546350" cy="38100"/>
          </a:xfrm>
          <a:prstGeom prst="rect">
            <a:avLst/>
          </a:prstGeom>
          <a:solidFill>
            <a:srgbClr val="0E7C6B"/>
          </a:solidFill>
          <a:ln>
            <a:noFill/>
          </a:ln>
        </p:spPr>
        <p:txBody>
          <a:bodyPr rtlCol="0" anchor="ctr"/>
          <a:lstStyle/>
          <a:p>
            <a:pPr algn="ctr"/>
          </a:p>
        </p:txBody>
      </p:sp>
      <p:sp>
        <p:nvSpPr>
          <p:cNvPr id="31" name="Rule 30"/>
          <p:cNvSpPr/>
          <p:nvPr/>
        </p:nvSpPr>
        <p:spPr>
          <a:xfrm>
            <a:off x="3352800" y="1857970"/>
            <a:ext cx="6350" cy="1459508"/>
          </a:xfrm>
          <a:prstGeom prst="rect">
            <a:avLst/>
          </a:prstGeom>
          <a:solidFill>
            <a:srgbClr val="E1DBCD"/>
          </a:solidFill>
          <a:ln>
            <a:noFill/>
          </a:ln>
        </p:spPr>
        <p:txBody>
          <a:bodyPr rtlCol="0" anchor="ctr"/>
          <a:lstStyle/>
          <a:p>
            <a:pPr algn="ctr"/>
          </a:p>
        </p:txBody>
      </p:sp>
      <p:sp>
        <p:nvSpPr>
          <p:cNvPr id="32" name="Rule 31"/>
          <p:cNvSpPr/>
          <p:nvPr/>
        </p:nvSpPr>
        <p:spPr>
          <a:xfrm>
            <a:off x="812800" y="3311128"/>
            <a:ext cx="2546350" cy="6350"/>
          </a:xfrm>
          <a:prstGeom prst="rect">
            <a:avLst/>
          </a:prstGeom>
          <a:solidFill>
            <a:srgbClr val="E1DBCD"/>
          </a:solidFill>
          <a:ln>
            <a:noFill/>
          </a:ln>
        </p:spPr>
        <p:txBody>
          <a:bodyPr rtlCol="0" anchor="ctr"/>
          <a:lstStyle/>
          <a:p>
            <a:pPr algn="ctr"/>
          </a:p>
        </p:txBody>
      </p:sp>
      <p:sp>
        <p:nvSpPr>
          <p:cNvPr id="33" name="Rule 32"/>
          <p:cNvSpPr/>
          <p:nvPr/>
        </p:nvSpPr>
        <p:spPr>
          <a:xfrm>
            <a:off x="812800" y="1857970"/>
            <a:ext cx="6350" cy="1459508"/>
          </a:xfrm>
          <a:prstGeom prst="rect">
            <a:avLst/>
          </a:prstGeom>
          <a:solidFill>
            <a:srgbClr val="E1DBCD"/>
          </a:solidFill>
          <a:ln>
            <a:noFill/>
          </a:ln>
        </p:spPr>
        <p:txBody>
          <a:bodyPr rtlCol="0" anchor="ctr"/>
          <a:lstStyle/>
          <a:p>
            <a:pPr algn="ctr"/>
          </a:p>
        </p:txBody>
      </p:sp>
      <p:sp>
        <p:nvSpPr>
          <p:cNvPr id="34" name="Text 33"/>
          <p:cNvSpPr txBox="1"/>
          <p:nvPr/>
        </p:nvSpPr>
        <p:spPr>
          <a:xfrm>
            <a:off x="838200" y="2052026"/>
            <a:ext cx="2349500" cy="285750"/>
          </a:xfrm>
          <a:prstGeom prst="rect">
            <a:avLst/>
          </a:prstGeom>
          <a:noFill/>
        </p:spPr>
        <p:txBody>
          <a:bodyPr wrap="square" tIns="0" rIns="0" bIns="0" lIns="0" anchor="t" rtlCol="0" anchorCtr="0">
            <a:noAutofit/>
          </a:bodyPr>
          <a:lstStyle/>
          <a:p>
            <a:pPr algn="r" rtl="1">
              <a:lnSpc>
                <a:spcPts val="2250"/>
              </a:lnSpc>
              <a:spcBef>
                <a:spcPts val="0"/>
              </a:spcBef>
              <a:spcAft>
                <a:spcPts val="0"/>
              </a:spcAft>
            </a:pPr>
            <a:r>
              <a:rPr sz="1800" b="1" i="0" lang="ar-SA" altLang="en-US">
                <a:solidFill>
                  <a:srgbClr val="172433"/>
                </a:solidFill>
                <a:latin typeface="Readex Pro"/>
                <a:ea typeface="Readex Pro"/>
                <a:cs typeface="Readex Pro"/>
              </a:rPr>
              <a:t>القبول </a:t>
            </a:r>
            <a:r>
              <a:rPr sz="1800" b="1" i="0" lang="ar-SA" altLang="en-US">
                <a:solidFill>
                  <a:srgbClr val="6B7680"/>
                </a:solidFill>
                <a:latin typeface="Readex Pro"/>
                <a:ea typeface="Readex Pro"/>
                <a:cs typeface="Readex Pro"/>
              </a:rPr>
              <a:t>· Accept</a:t>
            </a:r>
          </a:p>
        </p:txBody>
      </p:sp>
      <p:sp>
        <p:nvSpPr>
          <p:cNvPr id="35" name="Text 34"/>
          <p:cNvSpPr txBox="1"/>
          <p:nvPr/>
        </p:nvSpPr>
        <p:spPr>
          <a:xfrm>
            <a:off x="838200" y="2381845"/>
            <a:ext cx="2349500"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172433"/>
                </a:solidFill>
                <a:latin typeface="IBM Plex Sans Arabic"/>
                <a:ea typeface="IBM Plex Sans Arabic"/>
                <a:cs typeface="IBM Plex Sans Arabic"/>
              </a:rPr>
              <a:t>قرار موثق ممن يملك الصلاحية.</a:t>
            </a:r>
          </a:p>
        </p:txBody>
      </p:sp>
      <p:sp>
        <p:nvSpPr>
          <p:cNvPr id="36" name="Text 35"/>
          <p:cNvSpPr txBox="1"/>
          <p:nvPr/>
        </p:nvSpPr>
        <p:spPr>
          <a:xfrm>
            <a:off x="918146" y="2676676"/>
            <a:ext cx="2269554"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قبول مؤقت لخادم قديم مع خطة استبداله.</a:t>
            </a:r>
          </a:p>
        </p:txBody>
      </p:sp>
      <p:sp>
        <p:nvSpPr>
          <p:cNvPr id="37" name="Box 36"/>
          <p:cNvSpPr/>
          <p:nvPr/>
        </p:nvSpPr>
        <p:spPr>
          <a:xfrm>
            <a:off x="812800" y="3520678"/>
            <a:ext cx="10566400" cy="846336"/>
          </a:xfrm>
          <a:prstGeom prst="roundRect">
            <a:avLst>
              <a:gd name="adj" fmla="val 13505"/>
            </a:avLst>
          </a:prstGeom>
          <a:solidFill>
            <a:srgbClr val="172433"/>
          </a:solidFill>
          <a:ln>
            <a:noFill/>
          </a:ln>
        </p:spPr>
        <p:txBody>
          <a:bodyPr rtlCol="0" anchor="ctr"/>
          <a:lstStyle/>
          <a:p>
            <a:pPr algn="ctr"/>
          </a:p>
        </p:txBody>
      </p:sp>
      <p:sp>
        <p:nvSpPr>
          <p:cNvPr id="38" name="Text 37"/>
          <p:cNvSpPr txBox="1"/>
          <p:nvPr/>
        </p:nvSpPr>
        <p:spPr>
          <a:xfrm>
            <a:off x="8291568" y="3674856"/>
            <a:ext cx="288443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F2C46D"/>
                </a:solidFill>
                <a:latin typeface="IBM Plex Sans Arabic"/>
                <a:ea typeface="IBM Plex Sans Arabic"/>
                <a:cs typeface="IBM Plex Sans Arabic"/>
              </a:rPr>
              <a:t>الخطر المتأصل</a:t>
            </a:r>
          </a:p>
        </p:txBody>
      </p:sp>
      <p:sp>
        <p:nvSpPr>
          <p:cNvPr id="39" name="Text 38"/>
          <p:cNvSpPr txBox="1"/>
          <p:nvPr/>
        </p:nvSpPr>
        <p:spPr>
          <a:xfrm>
            <a:off x="8291568" y="3920180"/>
            <a:ext cx="2884432" cy="239316"/>
          </a:xfrm>
          <a:prstGeom prst="rect">
            <a:avLst/>
          </a:prstGeom>
          <a:noFill/>
        </p:spPr>
        <p:txBody>
          <a:bodyPr wrap="square" tIns="0" rIns="0" bIns="0" lIns="0" anchor="t" rtlCol="0" anchorCtr="0">
            <a:noAutofit/>
          </a:bodyPr>
          <a:lstStyle/>
          <a:p>
            <a:pPr algn="r" rtl="1">
              <a:lnSpc>
                <a:spcPts val="1885"/>
              </a:lnSpc>
              <a:spcBef>
                <a:spcPts val="0"/>
              </a:spcBef>
              <a:spcAft>
                <a:spcPts val="0"/>
              </a:spcAft>
            </a:pPr>
            <a:r>
              <a:rPr sz="1300" b="0" i="0" lang="ar-SA" altLang="en-US">
                <a:solidFill>
                  <a:srgbClr val="F3EFE6"/>
                </a:solidFill>
                <a:latin typeface="IBM Plex Sans Arabic"/>
                <a:ea typeface="IBM Plex Sans Arabic"/>
                <a:cs typeface="IBM Plex Sans Arabic"/>
              </a:rPr>
              <a:t>قبل الضوابط: 3 × 4 = 12</a:t>
            </a:r>
          </a:p>
        </p:txBody>
      </p:sp>
      <p:sp>
        <p:nvSpPr>
          <p:cNvPr id="40" name="Shape arrow-left 39"/>
          <p:cNvSpPr/>
          <p:nvPr/>
        </p:nvSpPr>
        <p:spPr>
          <a:xfrm>
            <a:off x="7819430" y="3804146"/>
            <a:ext cx="558800" cy="279400"/>
          </a:xfrm>
          <a:prstGeom prst="leftArrow">
            <a:avLst>
              <a:gd name="adj1" fmla="val 50000"/>
              <a:gd name="adj2" fmla="val 80000"/>
            </a:avLst>
          </a:prstGeom>
          <a:solidFill>
            <a:srgbClr val="7FD3C3"/>
          </a:solidFill>
          <a:ln>
            <a:noFill/>
          </a:ln>
        </p:spPr>
        <p:txBody>
          <a:bodyPr rtlCol="0" anchor="ctr"/>
          <a:lstStyle/>
          <a:p>
            <a:pPr algn="ctr"/>
          </a:p>
        </p:txBody>
      </p:sp>
      <p:sp>
        <p:nvSpPr>
          <p:cNvPr id="41" name="Text 40"/>
          <p:cNvSpPr txBox="1"/>
          <p:nvPr/>
        </p:nvSpPr>
        <p:spPr>
          <a:xfrm>
            <a:off x="4807998" y="3674856"/>
            <a:ext cx="288443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7FD3C3"/>
                </a:solidFill>
                <a:latin typeface="IBM Plex Sans Arabic"/>
                <a:ea typeface="IBM Plex Sans Arabic"/>
                <a:cs typeface="IBM Plex Sans Arabic"/>
              </a:rPr>
              <a:t>الخطر المتبقي</a:t>
            </a:r>
          </a:p>
        </p:txBody>
      </p:sp>
      <p:sp>
        <p:nvSpPr>
          <p:cNvPr id="42" name="Text 41"/>
          <p:cNvSpPr txBox="1"/>
          <p:nvPr/>
        </p:nvSpPr>
        <p:spPr>
          <a:xfrm>
            <a:off x="4807998" y="3920180"/>
            <a:ext cx="2884432" cy="239316"/>
          </a:xfrm>
          <a:prstGeom prst="rect">
            <a:avLst/>
          </a:prstGeom>
          <a:noFill/>
        </p:spPr>
        <p:txBody>
          <a:bodyPr wrap="square" tIns="0" rIns="0" bIns="0" lIns="0" anchor="t" rtlCol="0" anchorCtr="0">
            <a:noAutofit/>
          </a:bodyPr>
          <a:lstStyle/>
          <a:p>
            <a:pPr algn="r" rtl="1">
              <a:lnSpc>
                <a:spcPts val="1885"/>
              </a:lnSpc>
              <a:spcBef>
                <a:spcPts val="0"/>
              </a:spcBef>
              <a:spcAft>
                <a:spcPts val="0"/>
              </a:spcAft>
            </a:pPr>
            <a:r>
              <a:rPr sz="1300" b="0" i="0" lang="ar-SA" altLang="en-US">
                <a:solidFill>
                  <a:srgbClr val="F3EFE6"/>
                </a:solidFill>
                <a:latin typeface="IBM Plex Sans Arabic"/>
                <a:ea typeface="IBM Plex Sans Arabic"/>
                <a:cs typeface="IBM Plex Sans Arabic"/>
              </a:rPr>
              <a:t>بعد التشفير: 3 × 1 = 3</a:t>
            </a:r>
          </a:p>
        </p:txBody>
      </p:sp>
      <p:sp>
        <p:nvSpPr>
          <p:cNvPr id="43" name="Box 42"/>
          <p:cNvSpPr/>
          <p:nvPr/>
        </p:nvSpPr>
        <p:spPr>
          <a:xfrm>
            <a:off x="4881959" y="3698478"/>
            <a:ext cx="12700" cy="490736"/>
          </a:xfrm>
          <a:prstGeom prst="rect">
            <a:avLst/>
          </a:prstGeom>
          <a:solidFill>
            <a:srgbClr val="4B5B6C"/>
          </a:solidFill>
          <a:ln>
            <a:noFill/>
          </a:ln>
        </p:spPr>
        <p:txBody>
          <a:bodyPr rtlCol="0" anchor="ctr"/>
          <a:lstStyle/>
          <a:p>
            <a:pPr algn="ctr"/>
          </a:p>
        </p:txBody>
      </p:sp>
      <p:sp>
        <p:nvSpPr>
          <p:cNvPr id="44" name="Text 43"/>
          <p:cNvSpPr txBox="1"/>
          <p:nvPr/>
        </p:nvSpPr>
        <p:spPr>
          <a:xfrm>
            <a:off x="838200" y="3674856"/>
            <a:ext cx="3916759"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A9C6EA"/>
                </a:solidFill>
                <a:latin typeface="IBM Plex Sans Arabic"/>
                <a:ea typeface="IBM Plex Sans Arabic"/>
                <a:cs typeface="IBM Plex Sans Arabic"/>
              </a:rPr>
              <a:t>شهية المخاطر</a:t>
            </a:r>
          </a:p>
        </p:txBody>
      </p:sp>
      <p:sp>
        <p:nvSpPr>
          <p:cNvPr id="45" name="Text 44"/>
          <p:cNvSpPr txBox="1"/>
          <p:nvPr/>
        </p:nvSpPr>
        <p:spPr>
          <a:xfrm>
            <a:off x="838200" y="3920180"/>
            <a:ext cx="3916759" cy="239316"/>
          </a:xfrm>
          <a:prstGeom prst="rect">
            <a:avLst/>
          </a:prstGeom>
          <a:noFill/>
        </p:spPr>
        <p:txBody>
          <a:bodyPr wrap="square" tIns="0" rIns="0" bIns="0" lIns="0" anchor="t" rtlCol="0" anchorCtr="0">
            <a:noAutofit/>
          </a:bodyPr>
          <a:lstStyle/>
          <a:p>
            <a:pPr algn="r" rtl="1">
              <a:lnSpc>
                <a:spcPts val="1885"/>
              </a:lnSpc>
              <a:spcBef>
                <a:spcPts val="0"/>
              </a:spcBef>
              <a:spcAft>
                <a:spcPts val="0"/>
              </a:spcAft>
            </a:pPr>
            <a:r>
              <a:rPr sz="1300" b="0" i="0" lang="ar-SA" altLang="en-US">
                <a:solidFill>
                  <a:srgbClr val="F3EFE6"/>
                </a:solidFill>
                <a:latin typeface="IBM Plex Sans Arabic"/>
                <a:ea typeface="IBM Plex Sans Arabic"/>
                <a:cs typeface="IBM Plex Sans Arabic"/>
              </a:rPr>
              <a:t>المستوى الذي تقبله الإدارة. ما فوقه يُعالج.</a:t>
            </a:r>
          </a:p>
        </p:txBody>
      </p:sp>
      <p:sp>
        <p:nvSpPr>
          <p:cNvPr id="46" name="Text 45"/>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47" name="Text 46"/>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281319" y="812800"/>
            <a:ext cx="2097881"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الضوابط: طبيعتها ووظيفتها</a:t>
            </a:r>
          </a:p>
        </p:txBody>
      </p:sp>
      <p:graphicFrame>
        <p:nvGraphicFramePr>
          <p:cNvPr id="5" name="Table 4"/>
          <p:cNvGraphicFramePr>
            <a:graphicFrameLocks noGrp="1"/>
          </p:cNvGraphicFramePr>
          <p:nvPr/>
        </p:nvGraphicFramePr>
        <p:xfrm>
          <a:off x="815975" y="1861145"/>
          <a:ext cx="10560050" cy="1683940"/>
        </p:xfrm>
        <a:graphic>
          <a:graphicData uri="http://schemas.openxmlformats.org/drawingml/2006/table">
            <a:tbl>
              <a:tblPr firstRow="0" bandRow="0" lastRow="0" firstCol="0" lastCol="0" bandCol="0">
                <a:tableStyleId>{2D5ABB26-0587-4C30-8999-92F81FD0307C}</a:tableStyleId>
              </a:tblPr>
              <a:tblGrid>
                <a:gridCol w="2956560"/>
                <a:gridCol w="2957195"/>
                <a:gridCol w="2956560"/>
                <a:gridCol w="1689735"/>
              </a:tblGrid>
              <a:tr h="361156">
                <a:tc>
                  <a:txBody>
                    <a:bodyPr wrap="square"/>
                    <a:lstStyle/>
                    <a:p>
                      <a:pPr algn="r" rtl="1">
                        <a:lnSpc>
                          <a:spcPts val="1885"/>
                        </a:lnSpc>
                        <a:spcBef>
                          <a:spcPts val="0"/>
                        </a:spcBef>
                        <a:spcAft>
                          <a:spcPts val="0"/>
                        </a:spcAft>
                      </a:pPr>
                      <a:r>
                        <a:rPr sz="1300" b="1" i="0" lang="ar-SA" altLang="en-US">
                          <a:solidFill>
                            <a:srgbClr val="F3EFE6"/>
                          </a:solidFill>
                          <a:latin typeface="IBM Plex Sans Arabic"/>
                          <a:ea typeface="IBM Plex Sans Arabic"/>
                          <a:cs typeface="IBM Plex Sans Arabic"/>
                        </a:rPr>
                        <a:t>تصحيحي: يعالج الأثر</a:t>
                      </a:r>
                    </a:p>
                  </a:txBody>
                  <a:tcPr marT="69590" marR="99060" marB="4598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5"/>
                        </a:lnSpc>
                        <a:spcBef>
                          <a:spcPts val="0"/>
                        </a:spcBef>
                        <a:spcAft>
                          <a:spcPts val="0"/>
                        </a:spcAft>
                      </a:pPr>
                      <a:r>
                        <a:rPr sz="1300" b="1" i="0" lang="ar-SA" altLang="en-US">
                          <a:solidFill>
                            <a:srgbClr val="F3EFE6"/>
                          </a:solidFill>
                          <a:latin typeface="IBM Plex Sans Arabic"/>
                          <a:ea typeface="IBM Plex Sans Arabic"/>
                          <a:cs typeface="IBM Plex Sans Arabic"/>
                        </a:rPr>
                        <a:t>كشفي: يكتشف ما حدث</a:t>
                      </a:r>
                    </a:p>
                  </a:txBody>
                  <a:tcPr marT="69590" marR="99060" marB="4598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5"/>
                        </a:lnSpc>
                        <a:spcBef>
                          <a:spcPts val="0"/>
                        </a:spcBef>
                        <a:spcAft>
                          <a:spcPts val="0"/>
                        </a:spcAft>
                      </a:pPr>
                      <a:r>
                        <a:rPr sz="1300" b="1" i="0" lang="ar-SA" altLang="en-US">
                          <a:solidFill>
                            <a:srgbClr val="F3EFE6"/>
                          </a:solidFill>
                          <a:latin typeface="IBM Plex Sans Arabic"/>
                          <a:ea typeface="IBM Plex Sans Arabic"/>
                          <a:cs typeface="IBM Plex Sans Arabic"/>
                        </a:rPr>
                        <a:t>وقائي: يمنع الحدوث</a:t>
                      </a:r>
                    </a:p>
                  </a:txBody>
                  <a:tcPr marT="69590" marR="99060" marB="4598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5"/>
                        </a:lnSpc>
                        <a:spcBef>
                          <a:spcPts val="0"/>
                        </a:spcBef>
                        <a:spcAft>
                          <a:spcPts val="0"/>
                        </a:spcAft>
                      </a:pPr>
                      <a:r>
                        <a:rPr sz="1300" b="1" i="0" lang="ar-SA" altLang="en-US">
                          <a:solidFill>
                            <a:srgbClr val="F3EFE6"/>
                          </a:solidFill>
                          <a:latin typeface="IBM Plex Sans Arabic"/>
                          <a:ea typeface="IBM Plex Sans Arabic"/>
                          <a:cs typeface="IBM Plex Sans Arabic"/>
                        </a:rPr>
                        <a:t>الطبيعة</a:t>
                      </a:r>
                    </a:p>
                  </a:txBody>
                  <a:tcPr marT="69590" marR="99060" marB="4598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361156">
                <a:tc>
                  <a:txBody>
                    <a:bodyPr wrap="square"/>
                    <a:lstStyle/>
                    <a:p>
                      <a:pPr algn="r" rtl="1">
                        <a:lnSpc>
                          <a:spcPts val="1885"/>
                        </a:lnSpc>
                        <a:spcBef>
                          <a:spcPts val="0"/>
                        </a:spcBef>
                        <a:spcAft>
                          <a:spcPts val="0"/>
                        </a:spcAft>
                      </a:pPr>
                      <a:r>
                        <a:rPr sz="1300" b="0" i="0" lang="ar-SA" altLang="en-US">
                          <a:solidFill>
                            <a:srgbClr val="172433"/>
                          </a:solidFill>
                          <a:latin typeface="IBM Plex Sans Arabic"/>
                          <a:ea typeface="IBM Plex Sans Arabic"/>
                          <a:cs typeface="IBM Plex Sans Arabic"/>
                        </a:rPr>
                        <a:t>خطة الاستجابة للحوادث</a:t>
                      </a:r>
                    </a:p>
                  </a:txBody>
                  <a:tcPr marT="69590" marR="99060" marB="4598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5"/>
                        </a:lnSpc>
                        <a:spcBef>
                          <a:spcPts val="0"/>
                        </a:spcBef>
                        <a:spcAft>
                          <a:spcPts val="0"/>
                        </a:spcAft>
                      </a:pPr>
                      <a:r>
                        <a:rPr sz="1300" b="0" i="0" lang="ar-SA" altLang="en-US">
                          <a:solidFill>
                            <a:srgbClr val="172433"/>
                          </a:solidFill>
                          <a:latin typeface="IBM Plex Sans Arabic"/>
                          <a:ea typeface="IBM Plex Sans Arabic"/>
                          <a:cs typeface="IBM Plex Sans Arabic"/>
                        </a:rPr>
                        <a:t>مراجعة الصلاحيات الدورية، والتدقيق</a:t>
                      </a:r>
                    </a:p>
                  </a:txBody>
                  <a:tcPr marT="69590" marR="99060" marB="4598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5"/>
                        </a:lnSpc>
                        <a:spcBef>
                          <a:spcPts val="0"/>
                        </a:spcBef>
                        <a:spcAft>
                          <a:spcPts val="0"/>
                        </a:spcAft>
                      </a:pPr>
                      <a:r>
                        <a:rPr sz="1300" b="0" i="0" lang="ar-SA" altLang="en-US">
                          <a:solidFill>
                            <a:srgbClr val="172433"/>
                          </a:solidFill>
                          <a:latin typeface="IBM Plex Sans Arabic"/>
                          <a:ea typeface="IBM Plex Sans Arabic"/>
                          <a:cs typeface="IBM Plex Sans Arabic"/>
                        </a:rPr>
                        <a:t>السياسات، والتوعية</a:t>
                      </a:r>
                    </a:p>
                  </a:txBody>
                  <a:tcPr marT="69590" marR="99060" marB="4598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5"/>
                        </a:lnSpc>
                        <a:spcBef>
                          <a:spcPts val="0"/>
                        </a:spcBef>
                        <a:spcAft>
                          <a:spcPts val="0"/>
                        </a:spcAft>
                      </a:pPr>
                      <a:r>
                        <a:rPr sz="1300" b="1" i="0" lang="ar-SA" altLang="en-US">
                          <a:solidFill>
                            <a:srgbClr val="172433"/>
                          </a:solidFill>
                          <a:latin typeface="IBM Plex Sans Arabic"/>
                          <a:ea typeface="IBM Plex Sans Arabic"/>
                          <a:cs typeface="IBM Plex Sans Arabic"/>
                        </a:rPr>
                        <a:t>إداري</a:t>
                      </a:r>
                    </a:p>
                  </a:txBody>
                  <a:tcPr marT="69590" marR="99060" marB="4598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00472">
                <a:tc>
                  <a:txBody>
                    <a:bodyPr wrap="square"/>
                    <a:lstStyle/>
                    <a:p>
                      <a:pPr algn="r" rtl="1">
                        <a:lnSpc>
                          <a:spcPts val="1885"/>
                        </a:lnSpc>
                        <a:spcBef>
                          <a:spcPts val="0"/>
                        </a:spcBef>
                        <a:spcAft>
                          <a:spcPts val="0"/>
                        </a:spcAft>
                      </a:pPr>
                      <a:r>
                        <a:rPr sz="1300" b="0" i="0" lang="ar-SA" altLang="en-US">
                          <a:solidFill>
                            <a:srgbClr val="172433"/>
                          </a:solidFill>
                          <a:latin typeface="IBM Plex Sans Arabic"/>
                          <a:ea typeface="IBM Plex Sans Arabic"/>
                          <a:cs typeface="IBM Plex Sans Arabic"/>
                        </a:rPr>
                        <a:t>الاستعادة من النسخ، والتحديثات</a:t>
                      </a:r>
                    </a:p>
                  </a:txBody>
                  <a:tcPr marT="69590" marR="99060" marB="4598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5"/>
                        </a:lnSpc>
                        <a:spcBef>
                          <a:spcPts val="0"/>
                        </a:spcBef>
                        <a:spcAft>
                          <a:spcPts val="0"/>
                        </a:spcAft>
                      </a:pPr>
                      <a:r>
                        <a:rPr sz="1300" b="0" i="0" lang="ar-SA" altLang="en-US">
                          <a:solidFill>
                            <a:srgbClr val="172433"/>
                          </a:solidFill>
                          <a:latin typeface="IBM Plex Sans Arabic"/>
                          <a:ea typeface="IBM Plex Sans Arabic"/>
                          <a:cs typeface="IBM Plex Sans Arabic"/>
                        </a:rPr>
                        <a:t>منصة سجلات الأحداث، وكشف التسلل</a:t>
                      </a:r>
                    </a:p>
                  </a:txBody>
                  <a:tcPr marT="69590" marR="99060" marB="4598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5"/>
                        </a:lnSpc>
                        <a:spcBef>
                          <a:spcPts val="0"/>
                        </a:spcBef>
                        <a:spcAft>
                          <a:spcPts val="0"/>
                        </a:spcAft>
                      </a:pPr>
                      <a:r>
                        <a:rPr sz="1300" b="0" i="0" lang="ar-SA" altLang="en-US">
                          <a:solidFill>
                            <a:srgbClr val="172433"/>
                          </a:solidFill>
                          <a:latin typeface="IBM Plex Sans Arabic"/>
                          <a:ea typeface="IBM Plex Sans Arabic"/>
                          <a:cs typeface="IBM Plex Sans Arabic"/>
                        </a:rPr>
                        <a:t>التحقق متعدد العوامل، والتشفير، والجدار الناري</a:t>
                      </a:r>
                    </a:p>
                  </a:txBody>
                  <a:tcPr marT="69590" marR="99060" marB="45980" marL="16302"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5"/>
                        </a:lnSpc>
                        <a:spcBef>
                          <a:spcPts val="0"/>
                        </a:spcBef>
                        <a:spcAft>
                          <a:spcPts val="0"/>
                        </a:spcAft>
                      </a:pPr>
                      <a:r>
                        <a:rPr sz="1300" b="1" i="0" lang="ar-SA" altLang="en-US">
                          <a:solidFill>
                            <a:srgbClr val="172433"/>
                          </a:solidFill>
                          <a:latin typeface="IBM Plex Sans Arabic"/>
                          <a:ea typeface="IBM Plex Sans Arabic"/>
                          <a:cs typeface="IBM Plex Sans Arabic"/>
                        </a:rPr>
                        <a:t>تقني</a:t>
                      </a:r>
                    </a:p>
                  </a:txBody>
                  <a:tcPr marT="69590" marR="99060" marB="4598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61156">
                <a:tc>
                  <a:txBody>
                    <a:bodyPr wrap="square"/>
                    <a:lstStyle/>
                    <a:p>
                      <a:pPr algn="r" rtl="1">
                        <a:lnSpc>
                          <a:spcPts val="1885"/>
                        </a:lnSpc>
                        <a:spcBef>
                          <a:spcPts val="0"/>
                        </a:spcBef>
                        <a:spcAft>
                          <a:spcPts val="0"/>
                        </a:spcAft>
                      </a:pPr>
                      <a:r>
                        <a:rPr sz="1300" b="0" i="0" lang="ar-SA" altLang="en-US">
                          <a:solidFill>
                            <a:srgbClr val="172433"/>
                          </a:solidFill>
                          <a:latin typeface="IBM Plex Sans Arabic"/>
                          <a:ea typeface="IBM Plex Sans Arabic"/>
                          <a:cs typeface="IBM Plex Sans Arabic"/>
                        </a:rPr>
                        <a:t>إطفاء الحريق، وموقع التعافي</a:t>
                      </a:r>
                    </a:p>
                  </a:txBody>
                  <a:tcPr marT="69590" marR="99060" marB="4598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5"/>
                        </a:lnSpc>
                        <a:spcBef>
                          <a:spcPts val="0"/>
                        </a:spcBef>
                        <a:spcAft>
                          <a:spcPts val="0"/>
                        </a:spcAft>
                      </a:pPr>
                      <a:r>
                        <a:rPr sz="1300" b="0" i="0" lang="ar-SA" altLang="en-US">
                          <a:solidFill>
                            <a:srgbClr val="172433"/>
                          </a:solidFill>
                          <a:latin typeface="IBM Plex Sans Arabic"/>
                          <a:ea typeface="IBM Plex Sans Arabic"/>
                          <a:cs typeface="IBM Plex Sans Arabic"/>
                        </a:rPr>
                        <a:t>كاميرات المراقبة، والحراسة</a:t>
                      </a:r>
                    </a:p>
                  </a:txBody>
                  <a:tcPr marT="69590" marR="99060" marB="4598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5"/>
                        </a:lnSpc>
                        <a:spcBef>
                          <a:spcPts val="0"/>
                        </a:spcBef>
                        <a:spcAft>
                          <a:spcPts val="0"/>
                        </a:spcAft>
                      </a:pPr>
                      <a:r>
                        <a:rPr sz="1300" b="0" i="0" lang="ar-SA" altLang="en-US">
                          <a:solidFill>
                            <a:srgbClr val="172433"/>
                          </a:solidFill>
                          <a:latin typeface="IBM Plex Sans Arabic"/>
                          <a:ea typeface="IBM Plex Sans Arabic"/>
                          <a:cs typeface="IBM Plex Sans Arabic"/>
                        </a:rPr>
                        <a:t>البطاقات، والأقفال</a:t>
                      </a:r>
                    </a:p>
                  </a:txBody>
                  <a:tcPr marT="69590" marR="99060" marB="4598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5"/>
                        </a:lnSpc>
                        <a:spcBef>
                          <a:spcPts val="0"/>
                        </a:spcBef>
                        <a:spcAft>
                          <a:spcPts val="0"/>
                        </a:spcAft>
                      </a:pPr>
                      <a:r>
                        <a:rPr sz="1300" b="1" i="0" lang="ar-SA" altLang="en-US">
                          <a:solidFill>
                            <a:srgbClr val="172433"/>
                          </a:solidFill>
                          <a:latin typeface="IBM Plex Sans Arabic"/>
                          <a:ea typeface="IBM Plex Sans Arabic"/>
                          <a:cs typeface="IBM Plex Sans Arabic"/>
                        </a:rPr>
                        <a:t>مادي</a:t>
                      </a:r>
                    </a:p>
                  </a:txBody>
                  <a:tcPr marT="69590" marR="99060" marB="4598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Box 5"/>
          <p:cNvSpPr/>
          <p:nvPr/>
        </p:nvSpPr>
        <p:spPr>
          <a:xfrm>
            <a:off x="6175375" y="3754636"/>
            <a:ext cx="5200650" cy="762000"/>
          </a:xfrm>
          <a:prstGeom prst="roundRect">
            <a:avLst>
              <a:gd name="adj" fmla="val 11570"/>
            </a:avLst>
          </a:prstGeom>
          <a:solidFill>
            <a:srgbClr val="FFFDF8"/>
          </a:solidFill>
          <a:ln w="6350">
            <a:solidFill>
              <a:srgbClr val="E1DBCD"/>
            </a:solidFill>
          </a:ln>
        </p:spPr>
        <p:txBody>
          <a:bodyPr rtlCol="0" anchor="ctr"/>
          <a:lstStyle/>
          <a:p>
            <a:pPr algn="ctr"/>
          </a:p>
        </p:txBody>
      </p:sp>
      <p:pic>
        <p:nvPicPr>
          <p:cNvPr id="7" name="Icon Lightbulb 6" descr="icon016.png"/>
          <p:cNvPicPr>
            <a:picLocks noChangeAspect="1"/>
          </p:cNvPicPr>
          <p:nvPr/>
        </p:nvPicPr>
        <p:blipFill>
          <a:blip r:embed="rId2"/>
          <a:stretch>
            <a:fillRect/>
          </a:stretch>
        </p:blipFill>
        <p:spPr>
          <a:xfrm>
            <a:off x="10979150" y="3897511"/>
            <a:ext cx="228600" cy="228600"/>
          </a:xfrm>
          <a:prstGeom prst="rect">
            <a:avLst/>
          </a:prstGeom>
        </p:spPr>
      </p:pic>
      <p:sp>
        <p:nvSpPr>
          <p:cNvPr id="8" name="Text 7"/>
          <p:cNvSpPr txBox="1"/>
          <p:nvPr/>
        </p:nvSpPr>
        <p:spPr>
          <a:xfrm>
            <a:off x="6207633" y="3864967"/>
            <a:ext cx="4669917" cy="476250"/>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0" i="0" lang="ar-SA" altLang="en-US">
                <a:solidFill>
                  <a:srgbClr val="172433"/>
                </a:solidFill>
                <a:latin typeface="IBM Plex Sans Arabic"/>
                <a:ea typeface="IBM Plex Sans Arabic"/>
                <a:cs typeface="IBM Plex Sans Arabic"/>
              </a:rPr>
              <a:t>الضابط الواحد قد يؤدي أكثر من وظيفة: منصة الحماية تمنع الملف الضار وتسجل المحاولة.</a:t>
            </a:r>
          </a:p>
        </p:txBody>
      </p:sp>
      <p:sp>
        <p:nvSpPr>
          <p:cNvPr id="9" name="Box 8"/>
          <p:cNvSpPr/>
          <p:nvPr/>
        </p:nvSpPr>
        <p:spPr>
          <a:xfrm>
            <a:off x="815975" y="3754636"/>
            <a:ext cx="5200650" cy="762000"/>
          </a:xfrm>
          <a:prstGeom prst="roundRect">
            <a:avLst>
              <a:gd name="adj" fmla="val 11570"/>
            </a:avLst>
          </a:prstGeom>
          <a:solidFill>
            <a:srgbClr val="FFFDF8"/>
          </a:solidFill>
          <a:ln w="6350">
            <a:solidFill>
              <a:srgbClr val="E1DBCD"/>
            </a:solidFill>
          </a:ln>
        </p:spPr>
        <p:txBody>
          <a:bodyPr rtlCol="0" anchor="ctr"/>
          <a:lstStyle/>
          <a:p>
            <a:pPr algn="ctr"/>
          </a:p>
        </p:txBody>
      </p:sp>
      <p:pic>
        <p:nvPicPr>
          <p:cNvPr id="10" name="Icon Search 9" descr="icon017.png"/>
          <p:cNvPicPr>
            <a:picLocks noChangeAspect="1"/>
          </p:cNvPicPr>
          <p:nvPr/>
        </p:nvPicPr>
        <p:blipFill>
          <a:blip r:embed="rId3"/>
          <a:stretch>
            <a:fillRect/>
          </a:stretch>
        </p:blipFill>
        <p:spPr>
          <a:xfrm>
            <a:off x="5619750" y="3897511"/>
            <a:ext cx="228600" cy="228600"/>
          </a:xfrm>
          <a:prstGeom prst="rect">
            <a:avLst/>
          </a:prstGeom>
        </p:spPr>
      </p:pic>
      <p:sp>
        <p:nvSpPr>
          <p:cNvPr id="11" name="Text 10"/>
          <p:cNvSpPr txBox="1"/>
          <p:nvPr/>
        </p:nvSpPr>
        <p:spPr>
          <a:xfrm>
            <a:off x="848233" y="3864967"/>
            <a:ext cx="4669917" cy="476250"/>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0" i="0" lang="ar-SA" altLang="en-US">
                <a:solidFill>
                  <a:srgbClr val="172433"/>
                </a:solidFill>
                <a:latin typeface="IBM Plex Sans Arabic"/>
                <a:ea typeface="IBM Plex Sans Arabic"/>
                <a:cs typeface="IBM Plex Sans Arabic"/>
              </a:rPr>
              <a:t>الضابط الجيد يجمع الأنواع: وقائي يقلل الحدوث، وكشفي يرى ما فات، وتصحيحي يعيد الوضع.</a:t>
            </a:r>
          </a:p>
        </p:txBody>
      </p:sp>
      <p:sp>
        <p:nvSpPr>
          <p:cNvPr id="12" name="Text 11"/>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13" name="Text 12"/>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box 3"/>
          <p:cNvSpPr/>
          <p:nvPr/>
        </p:nvSpPr>
        <p:spPr>
          <a:xfrm>
            <a:off x="8025805"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مثال محلول: من هدف العمل إلى قرار الإدارة</a:t>
            </a:r>
          </a:p>
        </p:txBody>
      </p:sp>
      <p:sp>
        <p:nvSpPr>
          <p:cNvPr id="6" name="Text 5"/>
          <p:cNvSpPr txBox="1"/>
          <p:nvPr/>
        </p:nvSpPr>
        <p:spPr>
          <a:xfrm>
            <a:off x="0" y="1579586"/>
            <a:ext cx="113792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lang="ar-SA" altLang="en-US">
                <a:solidFill>
                  <a:srgbClr val="4E5A66"/>
                </a:solidFill>
                <a:latin typeface="IBM Plex Sans Arabic"/>
                <a:ea typeface="IBM Plex Sans Arabic"/>
                <a:cs typeface="IBM Plex Sans Arabic"/>
              </a:rPr>
              <a:t>أهداف شركة توصيل يخدمها GRC (مثال افتراضي):</a:t>
            </a:r>
          </a:p>
        </p:txBody>
      </p:sp>
      <p:sp>
        <p:nvSpPr>
          <p:cNvPr id="7" name="Text box 6"/>
          <p:cNvSpPr/>
          <p:nvPr/>
        </p:nvSpPr>
        <p:spPr>
          <a:xfrm>
            <a:off x="8804275" y="1906786"/>
            <a:ext cx="2574925" cy="650081"/>
          </a:xfrm>
          <a:prstGeom prst="rect">
            <a:avLst/>
          </a:prstGeom>
          <a:noFill/>
          <a:ln>
            <a:noFill/>
          </a:ln>
        </p:spPr>
        <p:txBody>
          <a:bodyPr rtlCol="0" anchor="ctr" wrap="square" tIns="61341" rIns="88900" bIns="91059" lIns="16986" anchorCtr="0">
            <a:noAutofit/>
          </a:bodyPr>
          <a:lstStyle/>
          <a:p>
            <a:pPr algn="r" rtl="1">
              <a:lnSpc>
                <a:spcPts val="1960"/>
              </a:lnSpc>
              <a:spcBef>
                <a:spcPts val="0"/>
              </a:spcBef>
              <a:spcAft>
                <a:spcPts val="0"/>
              </a:spcAft>
            </a:pPr>
            <a:r>
              <a:rPr sz="1400" b="0" i="0" lang="ar-SA" altLang="en-US">
                <a:solidFill>
                  <a:srgbClr val="172433"/>
                </a:solidFill>
                <a:latin typeface="IBM Plex Sans Arabic"/>
                <a:ea typeface="IBM Plex Sans Arabic"/>
                <a:cs typeface="IBM Plex Sans Arabic"/>
              </a:rPr>
              <a:t>استمرار التوصيل: تتبع الشحنات متاح للمتاجر والعملاء.</a:t>
            </a:r>
          </a:p>
        </p:txBody>
      </p:sp>
      <p:sp>
        <p:nvSpPr>
          <p:cNvPr id="8" name="Rule 7"/>
          <p:cNvSpPr/>
          <p:nvPr/>
        </p:nvSpPr>
        <p:spPr>
          <a:xfrm>
            <a:off x="8804275" y="1906786"/>
            <a:ext cx="2574925" cy="25400"/>
          </a:xfrm>
          <a:prstGeom prst="rect">
            <a:avLst/>
          </a:prstGeom>
          <a:solidFill>
            <a:srgbClr val="0E7C6B"/>
          </a:solidFill>
          <a:ln>
            <a:noFill/>
          </a:ln>
        </p:spPr>
        <p:txBody>
          <a:bodyPr rtlCol="0" anchor="ctr"/>
          <a:lstStyle/>
          <a:p>
            <a:pPr algn="ctr"/>
          </a:p>
        </p:txBody>
      </p:sp>
      <p:sp>
        <p:nvSpPr>
          <p:cNvPr id="9" name="Text box 8"/>
          <p:cNvSpPr/>
          <p:nvPr/>
        </p:nvSpPr>
        <p:spPr>
          <a:xfrm>
            <a:off x="6140450" y="1906786"/>
            <a:ext cx="2574925" cy="650081"/>
          </a:xfrm>
          <a:prstGeom prst="rect">
            <a:avLst/>
          </a:prstGeom>
          <a:noFill/>
          <a:ln>
            <a:noFill/>
          </a:ln>
        </p:spPr>
        <p:txBody>
          <a:bodyPr rtlCol="0" anchor="ctr" wrap="square" tIns="61341" rIns="88900" bIns="91059" lIns="16986" anchorCtr="0">
            <a:noAutofit/>
          </a:bodyPr>
          <a:lstStyle/>
          <a:p>
            <a:pPr algn="r" rtl="1">
              <a:lnSpc>
                <a:spcPts val="1960"/>
              </a:lnSpc>
              <a:spcBef>
                <a:spcPts val="0"/>
              </a:spcBef>
              <a:spcAft>
                <a:spcPts val="0"/>
              </a:spcAft>
            </a:pPr>
            <a:r>
              <a:rPr sz="1400" b="0" i="0" lang="ar-SA" altLang="en-US">
                <a:solidFill>
                  <a:srgbClr val="172433"/>
                </a:solidFill>
                <a:latin typeface="IBM Plex Sans Arabic"/>
                <a:ea typeface="IBM Plex Sans Arabic"/>
                <a:cs typeface="IBM Plex Sans Arabic"/>
              </a:rPr>
              <a:t>حماية بيانات العملاء: بيانات المستلمين لا تتسرب.</a:t>
            </a:r>
          </a:p>
        </p:txBody>
      </p:sp>
      <p:sp>
        <p:nvSpPr>
          <p:cNvPr id="10" name="Rule 9"/>
          <p:cNvSpPr/>
          <p:nvPr/>
        </p:nvSpPr>
        <p:spPr>
          <a:xfrm>
            <a:off x="6140450" y="1906786"/>
            <a:ext cx="2574925" cy="25400"/>
          </a:xfrm>
          <a:prstGeom prst="rect">
            <a:avLst/>
          </a:prstGeom>
          <a:solidFill>
            <a:srgbClr val="0E7C6B"/>
          </a:solidFill>
          <a:ln>
            <a:noFill/>
          </a:ln>
        </p:spPr>
        <p:txBody>
          <a:bodyPr rtlCol="0" anchor="ctr"/>
          <a:lstStyle/>
          <a:p>
            <a:pPr algn="ctr"/>
          </a:p>
        </p:txBody>
      </p:sp>
      <p:sp>
        <p:nvSpPr>
          <p:cNvPr id="11" name="Text box 10"/>
          <p:cNvSpPr/>
          <p:nvPr/>
        </p:nvSpPr>
        <p:spPr>
          <a:xfrm>
            <a:off x="3476625" y="1906786"/>
            <a:ext cx="2574925" cy="650081"/>
          </a:xfrm>
          <a:prstGeom prst="rect">
            <a:avLst/>
          </a:prstGeom>
          <a:noFill/>
          <a:ln>
            <a:noFill/>
          </a:ln>
        </p:spPr>
        <p:txBody>
          <a:bodyPr rtlCol="0" anchor="ctr" wrap="square" tIns="61341" rIns="88900" bIns="91059" lIns="16986" anchorCtr="0">
            <a:noAutofit/>
          </a:bodyPr>
          <a:lstStyle/>
          <a:p>
            <a:pPr algn="r" rtl="1">
              <a:lnSpc>
                <a:spcPts val="1960"/>
              </a:lnSpc>
              <a:spcBef>
                <a:spcPts val="0"/>
              </a:spcBef>
              <a:spcAft>
                <a:spcPts val="0"/>
              </a:spcAft>
            </a:pPr>
            <a:r>
              <a:rPr sz="1400" b="0" i="0" lang="ar-SA" altLang="en-US">
                <a:solidFill>
                  <a:srgbClr val="172433"/>
                </a:solidFill>
                <a:latin typeface="IBM Plex Sans Arabic"/>
                <a:ea typeface="IBM Plex Sans Arabic"/>
                <a:cs typeface="IBM Plex Sans Arabic"/>
              </a:rPr>
              <a:t>صحة الرواتب: رواتب صحيحة إلى الحسابات الصحيحة في موعدها.</a:t>
            </a:r>
          </a:p>
        </p:txBody>
      </p:sp>
      <p:sp>
        <p:nvSpPr>
          <p:cNvPr id="12" name="Rule 11"/>
          <p:cNvSpPr/>
          <p:nvPr/>
        </p:nvSpPr>
        <p:spPr>
          <a:xfrm>
            <a:off x="3476625" y="1906786"/>
            <a:ext cx="2574925" cy="25400"/>
          </a:xfrm>
          <a:prstGeom prst="rect">
            <a:avLst/>
          </a:prstGeom>
          <a:solidFill>
            <a:srgbClr val="0E7C6B"/>
          </a:solidFill>
          <a:ln>
            <a:noFill/>
          </a:ln>
        </p:spPr>
        <p:txBody>
          <a:bodyPr rtlCol="0" anchor="ctr"/>
          <a:lstStyle/>
          <a:p>
            <a:pPr algn="ctr"/>
          </a:p>
        </p:txBody>
      </p:sp>
      <p:sp>
        <p:nvSpPr>
          <p:cNvPr id="13" name="Text box 12"/>
          <p:cNvSpPr/>
          <p:nvPr/>
        </p:nvSpPr>
        <p:spPr>
          <a:xfrm>
            <a:off x="812800" y="1906786"/>
            <a:ext cx="2574925" cy="650081"/>
          </a:xfrm>
          <a:prstGeom prst="rect">
            <a:avLst/>
          </a:prstGeom>
          <a:noFill/>
          <a:ln>
            <a:noFill/>
          </a:ln>
        </p:spPr>
        <p:txBody>
          <a:bodyPr rtlCol="0" anchor="ctr" wrap="square" tIns="61341" rIns="88900" bIns="91059" lIns="16986" anchorCtr="0">
            <a:noAutofit/>
          </a:bodyPr>
          <a:lstStyle/>
          <a:p>
            <a:pPr algn="r" rtl="1">
              <a:lnSpc>
                <a:spcPts val="1960"/>
              </a:lnSpc>
              <a:spcBef>
                <a:spcPts val="0"/>
              </a:spcBef>
              <a:spcAft>
                <a:spcPts val="0"/>
              </a:spcAft>
            </a:pPr>
            <a:r>
              <a:rPr sz="1400" b="0" i="0" lang="ar-SA" altLang="en-US">
                <a:solidFill>
                  <a:srgbClr val="172433"/>
                </a:solidFill>
                <a:latin typeface="IBM Plex Sans Arabic"/>
                <a:ea typeface="IBM Plex Sans Arabic"/>
                <a:cs typeface="IBM Plex Sans Arabic"/>
              </a:rPr>
              <a:t>الالتزام بالعقود: ما وعدت به الشركة عملاءها ومورديها.</a:t>
            </a:r>
          </a:p>
        </p:txBody>
      </p:sp>
      <p:sp>
        <p:nvSpPr>
          <p:cNvPr id="14" name="Rule 13"/>
          <p:cNvSpPr/>
          <p:nvPr/>
        </p:nvSpPr>
        <p:spPr>
          <a:xfrm>
            <a:off x="812800" y="1906786"/>
            <a:ext cx="2574925" cy="25400"/>
          </a:xfrm>
          <a:prstGeom prst="rect">
            <a:avLst/>
          </a:prstGeom>
          <a:solidFill>
            <a:srgbClr val="0E7C6B"/>
          </a:solidFill>
          <a:ln>
            <a:noFill/>
          </a:ln>
        </p:spPr>
        <p:txBody>
          <a:bodyPr rtlCol="0" anchor="ctr"/>
          <a:lstStyle/>
          <a:p>
            <a:pPr algn="ctr"/>
          </a:p>
        </p:txBody>
      </p:sp>
      <p:sp>
        <p:nvSpPr>
          <p:cNvPr id="15" name="Rule 14"/>
          <p:cNvSpPr/>
          <p:nvPr/>
        </p:nvSpPr>
        <p:spPr>
          <a:xfrm>
            <a:off x="812800" y="3092748"/>
            <a:ext cx="10566400" cy="6350"/>
          </a:xfrm>
          <a:prstGeom prst="rect">
            <a:avLst/>
          </a:prstGeom>
          <a:solidFill>
            <a:srgbClr val="E1DBCD"/>
          </a:solidFill>
          <a:ln>
            <a:noFill/>
          </a:ln>
        </p:spPr>
        <p:txBody>
          <a:bodyPr rtlCol="0" anchor="ctr"/>
          <a:lstStyle/>
          <a:p>
            <a:pPr algn="ctr"/>
          </a:p>
        </p:txBody>
      </p:sp>
      <p:sp>
        <p:nvSpPr>
          <p:cNvPr id="16" name="Text 15"/>
          <p:cNvSpPr txBox="1"/>
          <p:nvPr/>
        </p:nvSpPr>
        <p:spPr>
          <a:xfrm>
            <a:off x="9664700" y="2715871"/>
            <a:ext cx="1714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0E7C6B"/>
                </a:solidFill>
                <a:latin typeface="IBM Plex Sans Arabic"/>
                <a:ea typeface="IBM Plex Sans Arabic"/>
                <a:cs typeface="IBM Plex Sans Arabic"/>
              </a:rPr>
              <a:t>1. هدف العمل</a:t>
            </a:r>
          </a:p>
        </p:txBody>
      </p:sp>
      <p:sp>
        <p:nvSpPr>
          <p:cNvPr id="17" name="Text 16"/>
          <p:cNvSpPr txBox="1"/>
          <p:nvPr/>
        </p:nvSpPr>
        <p:spPr>
          <a:xfrm>
            <a:off x="812800" y="2710791"/>
            <a:ext cx="88773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استمرار تتبع الشحنات، والوفاء بالتزام عقود المتاجر: إتاحة 99% شهرياً.</a:t>
            </a:r>
          </a:p>
        </p:txBody>
      </p:sp>
      <p:sp>
        <p:nvSpPr>
          <p:cNvPr id="18" name="Rule 17"/>
          <p:cNvSpPr/>
          <p:nvPr/>
        </p:nvSpPr>
        <p:spPr>
          <a:xfrm>
            <a:off x="812800" y="3495278"/>
            <a:ext cx="10566400" cy="6350"/>
          </a:xfrm>
          <a:prstGeom prst="rect">
            <a:avLst/>
          </a:prstGeom>
          <a:solidFill>
            <a:srgbClr val="E1DBCD"/>
          </a:solidFill>
          <a:ln>
            <a:noFill/>
          </a:ln>
        </p:spPr>
        <p:txBody>
          <a:bodyPr rtlCol="0" anchor="ctr"/>
          <a:lstStyle/>
          <a:p>
            <a:pPr algn="ctr"/>
          </a:p>
        </p:txBody>
      </p:sp>
      <p:sp>
        <p:nvSpPr>
          <p:cNvPr id="19" name="Text 18"/>
          <p:cNvSpPr txBox="1"/>
          <p:nvPr/>
        </p:nvSpPr>
        <p:spPr>
          <a:xfrm>
            <a:off x="9664700" y="3118402"/>
            <a:ext cx="1714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24506B"/>
                </a:solidFill>
                <a:latin typeface="IBM Plex Sans Arabic"/>
                <a:ea typeface="IBM Plex Sans Arabic"/>
                <a:cs typeface="IBM Plex Sans Arabic"/>
              </a:rPr>
              <a:t>2. الأصل الداعم</a:t>
            </a:r>
          </a:p>
        </p:txBody>
      </p:sp>
      <p:sp>
        <p:nvSpPr>
          <p:cNvPr id="20" name="Text 19"/>
          <p:cNvSpPr txBox="1"/>
          <p:nvPr/>
        </p:nvSpPr>
        <p:spPr>
          <a:xfrm>
            <a:off x="812800" y="3113322"/>
            <a:ext cx="88773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خادم تطبيق التتبع السحابي، ويديره مورد دعم خارجي.</a:t>
            </a:r>
          </a:p>
        </p:txBody>
      </p:sp>
      <p:sp>
        <p:nvSpPr>
          <p:cNvPr id="21" name="Rule 20"/>
          <p:cNvSpPr/>
          <p:nvPr/>
        </p:nvSpPr>
        <p:spPr>
          <a:xfrm>
            <a:off x="812800" y="4192389"/>
            <a:ext cx="10566400" cy="6350"/>
          </a:xfrm>
          <a:prstGeom prst="rect">
            <a:avLst/>
          </a:prstGeom>
          <a:solidFill>
            <a:srgbClr val="E1DBCD"/>
          </a:solidFill>
          <a:ln>
            <a:noFill/>
          </a:ln>
        </p:spPr>
        <p:txBody>
          <a:bodyPr rtlCol="0" anchor="ctr"/>
          <a:lstStyle/>
          <a:p>
            <a:pPr algn="ctr"/>
          </a:p>
        </p:txBody>
      </p:sp>
      <p:sp>
        <p:nvSpPr>
          <p:cNvPr id="22" name="Text 21"/>
          <p:cNvSpPr txBox="1"/>
          <p:nvPr/>
        </p:nvSpPr>
        <p:spPr>
          <a:xfrm>
            <a:off x="9664700" y="3520932"/>
            <a:ext cx="1714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B4412C"/>
                </a:solidFill>
                <a:latin typeface="IBM Plex Sans Arabic"/>
                <a:ea typeface="IBM Plex Sans Arabic"/>
                <a:cs typeface="IBM Plex Sans Arabic"/>
              </a:rPr>
              <a:t>3. الخطر</a:t>
            </a:r>
          </a:p>
        </p:txBody>
      </p:sp>
      <p:sp>
        <p:nvSpPr>
          <p:cNvPr id="23" name="Text 22"/>
          <p:cNvSpPr txBox="1"/>
          <p:nvPr/>
        </p:nvSpPr>
        <p:spPr>
          <a:xfrm>
            <a:off x="812800" y="3515852"/>
            <a:ext cx="887730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بسبب تأخر ترقيع الثغرات الحرجة في خادم مكشوف على الإنترنت، قد يُستغل فيتوقف التتبع أو تتسرب بيانات العملاء. التقييم:‏ 4 × 4 = 16 · عالٍ.</a:t>
            </a:r>
          </a:p>
        </p:txBody>
      </p:sp>
      <p:sp>
        <p:nvSpPr>
          <p:cNvPr id="24" name="Rule 23"/>
          <p:cNvSpPr/>
          <p:nvPr/>
        </p:nvSpPr>
        <p:spPr>
          <a:xfrm>
            <a:off x="812800" y="4594920"/>
            <a:ext cx="10566400" cy="6350"/>
          </a:xfrm>
          <a:prstGeom prst="rect">
            <a:avLst/>
          </a:prstGeom>
          <a:solidFill>
            <a:srgbClr val="E1DBCD"/>
          </a:solidFill>
          <a:ln>
            <a:noFill/>
          </a:ln>
        </p:spPr>
        <p:txBody>
          <a:bodyPr rtlCol="0" anchor="ctr"/>
          <a:lstStyle/>
          <a:p>
            <a:pPr algn="ctr"/>
          </a:p>
        </p:txBody>
      </p:sp>
      <p:sp>
        <p:nvSpPr>
          <p:cNvPr id="25" name="Text 24"/>
          <p:cNvSpPr txBox="1"/>
          <p:nvPr/>
        </p:nvSpPr>
        <p:spPr>
          <a:xfrm>
            <a:off x="9664700" y="4218043"/>
            <a:ext cx="1714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24506B"/>
                </a:solidFill>
                <a:latin typeface="IBM Plex Sans Arabic"/>
                <a:ea typeface="IBM Plex Sans Arabic"/>
                <a:cs typeface="IBM Plex Sans Arabic"/>
              </a:rPr>
              <a:t>4. الضابط</a:t>
            </a:r>
          </a:p>
        </p:txBody>
      </p:sp>
      <p:sp>
        <p:nvSpPr>
          <p:cNvPr id="26" name="Text 25"/>
          <p:cNvSpPr txBox="1"/>
          <p:nvPr/>
        </p:nvSpPr>
        <p:spPr>
          <a:xfrm>
            <a:off x="812800" y="4212963"/>
            <a:ext cx="88773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فحص شهري للثغرات، وترقيع الحرجة خلال 14 يوماً، ومهلة الترقيع بند في عقد المورد.</a:t>
            </a:r>
          </a:p>
        </p:txBody>
      </p:sp>
      <p:sp>
        <p:nvSpPr>
          <p:cNvPr id="27" name="Rule 26"/>
          <p:cNvSpPr/>
          <p:nvPr/>
        </p:nvSpPr>
        <p:spPr>
          <a:xfrm>
            <a:off x="812800" y="4997450"/>
            <a:ext cx="10566400" cy="6350"/>
          </a:xfrm>
          <a:prstGeom prst="rect">
            <a:avLst/>
          </a:prstGeom>
          <a:solidFill>
            <a:srgbClr val="E1DBCD"/>
          </a:solidFill>
          <a:ln>
            <a:noFill/>
          </a:ln>
        </p:spPr>
        <p:txBody>
          <a:bodyPr rtlCol="0" anchor="ctr"/>
          <a:lstStyle/>
          <a:p>
            <a:pPr algn="ctr"/>
          </a:p>
        </p:txBody>
      </p:sp>
      <p:sp>
        <p:nvSpPr>
          <p:cNvPr id="28" name="Text 27"/>
          <p:cNvSpPr txBox="1"/>
          <p:nvPr/>
        </p:nvSpPr>
        <p:spPr>
          <a:xfrm>
            <a:off x="9664700" y="4620574"/>
            <a:ext cx="1714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5A3F87"/>
                </a:solidFill>
                <a:latin typeface="IBM Plex Sans Arabic"/>
                <a:ea typeface="IBM Plex Sans Arabic"/>
                <a:cs typeface="IBM Plex Sans Arabic"/>
              </a:rPr>
              <a:t>5. المالك</a:t>
            </a:r>
          </a:p>
        </p:txBody>
      </p:sp>
      <p:sp>
        <p:nvSpPr>
          <p:cNvPr id="29" name="Text 28"/>
          <p:cNvSpPr txBox="1"/>
          <p:nvPr/>
        </p:nvSpPr>
        <p:spPr>
          <a:xfrm>
            <a:off x="812800" y="4615494"/>
            <a:ext cx="88773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مالك الخطر: مدير تقنية المعلومات. المنفذ: المورد تحت إشرافه.</a:t>
            </a:r>
          </a:p>
        </p:txBody>
      </p:sp>
      <p:sp>
        <p:nvSpPr>
          <p:cNvPr id="30" name="Rule 29"/>
          <p:cNvSpPr/>
          <p:nvPr/>
        </p:nvSpPr>
        <p:spPr>
          <a:xfrm>
            <a:off x="812800" y="5399980"/>
            <a:ext cx="10566400" cy="6350"/>
          </a:xfrm>
          <a:prstGeom prst="rect">
            <a:avLst/>
          </a:prstGeom>
          <a:solidFill>
            <a:srgbClr val="E1DBCD"/>
          </a:solidFill>
          <a:ln>
            <a:noFill/>
          </a:ln>
        </p:spPr>
        <p:txBody>
          <a:bodyPr rtlCol="0" anchor="ctr"/>
          <a:lstStyle/>
          <a:p>
            <a:pPr algn="ctr"/>
          </a:p>
        </p:txBody>
      </p:sp>
      <p:sp>
        <p:nvSpPr>
          <p:cNvPr id="31" name="Text 30"/>
          <p:cNvSpPr txBox="1"/>
          <p:nvPr/>
        </p:nvSpPr>
        <p:spPr>
          <a:xfrm>
            <a:off x="9664700" y="5023104"/>
            <a:ext cx="1714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8A4B12"/>
                </a:solidFill>
                <a:latin typeface="IBM Plex Sans Arabic"/>
                <a:ea typeface="IBM Plex Sans Arabic"/>
                <a:cs typeface="IBM Plex Sans Arabic"/>
              </a:rPr>
              <a:t>6. المؤشر</a:t>
            </a:r>
          </a:p>
        </p:txBody>
      </p:sp>
      <p:sp>
        <p:nvSpPr>
          <p:cNvPr id="32" name="Text 31"/>
          <p:cNvSpPr txBox="1"/>
          <p:nvPr/>
        </p:nvSpPr>
        <p:spPr>
          <a:xfrm>
            <a:off x="812800" y="5018024"/>
            <a:ext cx="88773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KRI: الثغرات الحرجة المفتوحة أكثر من 14 يوماً. آخر قياس:‏ 3. الحد: صفر.</a:t>
            </a:r>
          </a:p>
        </p:txBody>
      </p:sp>
      <p:sp>
        <p:nvSpPr>
          <p:cNvPr id="33" name="Rule 32"/>
          <p:cNvSpPr/>
          <p:nvPr/>
        </p:nvSpPr>
        <p:spPr>
          <a:xfrm>
            <a:off x="812800" y="5802511"/>
            <a:ext cx="10566400" cy="6350"/>
          </a:xfrm>
          <a:prstGeom prst="rect">
            <a:avLst/>
          </a:prstGeom>
          <a:solidFill>
            <a:srgbClr val="E1DBCD"/>
          </a:solidFill>
          <a:ln>
            <a:noFill/>
          </a:ln>
        </p:spPr>
        <p:txBody>
          <a:bodyPr rtlCol="0" anchor="ctr"/>
          <a:lstStyle/>
          <a:p>
            <a:pPr algn="ctr"/>
          </a:p>
        </p:txBody>
      </p:sp>
      <p:sp>
        <p:nvSpPr>
          <p:cNvPr id="34" name="Text 33"/>
          <p:cNvSpPr txBox="1"/>
          <p:nvPr/>
        </p:nvSpPr>
        <p:spPr>
          <a:xfrm>
            <a:off x="9664700" y="5425634"/>
            <a:ext cx="1714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172433"/>
                </a:solidFill>
                <a:latin typeface="IBM Plex Sans Arabic"/>
                <a:ea typeface="IBM Plex Sans Arabic"/>
                <a:cs typeface="IBM Plex Sans Arabic"/>
              </a:rPr>
              <a:t>7. القرار المطلوب</a:t>
            </a:r>
          </a:p>
        </p:txBody>
      </p:sp>
      <p:sp>
        <p:nvSpPr>
          <p:cNvPr id="35" name="Text 34"/>
          <p:cNvSpPr txBox="1"/>
          <p:nvPr/>
        </p:nvSpPr>
        <p:spPr>
          <a:xfrm>
            <a:off x="812800" y="5420554"/>
            <a:ext cx="88773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اعتماد كلفة ترقيع عاجل الآن، وإضافة المهلة إلى العقد عند تجديده.</a:t>
            </a:r>
          </a:p>
        </p:txBody>
      </p:sp>
      <p:sp>
        <p:nvSpPr>
          <p:cNvPr id="36" name="Text 35"/>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37" name="Text 36"/>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صياغة الأثر بلغة الأعمال</a:t>
            </a:r>
          </a:p>
        </p:txBody>
      </p:sp>
      <p:sp>
        <p:nvSpPr>
          <p:cNvPr id="5" name="Text 4"/>
          <p:cNvSpPr txBox="1"/>
          <p:nvPr/>
        </p:nvSpPr>
        <p:spPr>
          <a:xfrm>
            <a:off x="0" y="1592286"/>
            <a:ext cx="113792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lang="ar-SA" altLang="en-US">
                <a:solidFill>
                  <a:srgbClr val="172433"/>
                </a:solidFill>
                <a:latin typeface="IBM Plex Sans Arabic"/>
                <a:ea typeface="IBM Plex Sans Arabic"/>
                <a:cs typeface="IBM Plex Sans Arabic"/>
              </a:rPr>
              <a:t>صِف الأثر بواحد أو أكثر من:</a:t>
            </a:r>
          </a:p>
        </p:txBody>
      </p:sp>
      <p:sp>
        <p:nvSpPr>
          <p:cNvPr id="6" name="Text box 5"/>
          <p:cNvSpPr/>
          <p:nvPr/>
        </p:nvSpPr>
        <p:spPr>
          <a:xfrm>
            <a:off x="10254853" y="1932186"/>
            <a:ext cx="1124347" cy="341610"/>
          </a:xfrm>
          <a:prstGeom prst="roundRect">
            <a:avLst>
              <a:gd name="adj" fmla="val 50000"/>
            </a:avLst>
          </a:prstGeom>
          <a:solidFill>
            <a:srgbClr val="F6ECDA"/>
          </a:solidFill>
          <a:ln>
            <a:noFill/>
          </a:ln>
        </p:spPr>
        <p:txBody>
          <a:bodyPr rtlCol="0" anchor="ctr" wrap="square" tIns="0" rIns="89673" bIns="46228" lIns="0" anchorCtr="0">
            <a:noAutofit/>
          </a:bodyPr>
          <a:lstStyle/>
          <a:p>
            <a:pPr algn="r" rtl="1">
              <a:lnSpc>
                <a:spcPts val="1889"/>
              </a:lnSpc>
              <a:spcBef>
                <a:spcPts val="0"/>
              </a:spcBef>
              <a:spcAft>
                <a:spcPts val="0"/>
              </a:spcAft>
            </a:pPr>
            <a:r>
              <a:rPr sz="1400" b="1" i="0" lang="ar-SA" altLang="en-US">
                <a:solidFill>
                  <a:srgbClr val="8A4B12"/>
                </a:solidFill>
                <a:latin typeface="IBM Plex Sans Arabic"/>
                <a:ea typeface="IBM Plex Sans Arabic"/>
                <a:cs typeface="IBM Plex Sans Arabic"/>
              </a:rPr>
              <a:t>توقف خدمة</a:t>
            </a:r>
          </a:p>
        </p:txBody>
      </p:sp>
      <p:sp>
        <p:nvSpPr>
          <p:cNvPr id="7" name="Text box 6"/>
          <p:cNvSpPr/>
          <p:nvPr/>
        </p:nvSpPr>
        <p:spPr>
          <a:xfrm>
            <a:off x="9012734" y="1932186"/>
            <a:ext cx="1165920" cy="341610"/>
          </a:xfrm>
          <a:prstGeom prst="roundRect">
            <a:avLst>
              <a:gd name="adj" fmla="val 50000"/>
            </a:avLst>
          </a:prstGeom>
          <a:solidFill>
            <a:srgbClr val="F6ECDA"/>
          </a:solidFill>
          <a:ln>
            <a:noFill/>
          </a:ln>
        </p:spPr>
        <p:txBody>
          <a:bodyPr rtlCol="0" anchor="ctr" wrap="square" tIns="0" rIns="89673" bIns="46228" lIns="0" anchorCtr="0">
            <a:noAutofit/>
          </a:bodyPr>
          <a:lstStyle/>
          <a:p>
            <a:pPr algn="r" rtl="1">
              <a:lnSpc>
                <a:spcPts val="1889"/>
              </a:lnSpc>
              <a:spcBef>
                <a:spcPts val="0"/>
              </a:spcBef>
              <a:spcAft>
                <a:spcPts val="0"/>
              </a:spcAft>
            </a:pPr>
            <a:r>
              <a:rPr sz="1400" b="1" i="0" lang="ar-SA" altLang="en-US">
                <a:solidFill>
                  <a:srgbClr val="8A4B12"/>
                </a:solidFill>
                <a:latin typeface="IBM Plex Sans Arabic"/>
                <a:ea typeface="IBM Plex Sans Arabic"/>
                <a:cs typeface="IBM Plex Sans Arabic"/>
              </a:rPr>
              <a:t>تأخير عمليات</a:t>
            </a:r>
          </a:p>
        </p:txBody>
      </p:sp>
      <p:sp>
        <p:nvSpPr>
          <p:cNvPr id="8" name="Text box 7"/>
          <p:cNvSpPr/>
          <p:nvPr/>
        </p:nvSpPr>
        <p:spPr>
          <a:xfrm>
            <a:off x="7805440" y="1932186"/>
            <a:ext cx="1131094" cy="341610"/>
          </a:xfrm>
          <a:prstGeom prst="roundRect">
            <a:avLst>
              <a:gd name="adj" fmla="val 50000"/>
            </a:avLst>
          </a:prstGeom>
          <a:solidFill>
            <a:srgbClr val="F6ECDA"/>
          </a:solidFill>
          <a:ln>
            <a:noFill/>
          </a:ln>
        </p:spPr>
        <p:txBody>
          <a:bodyPr rtlCol="0" anchor="ctr" wrap="square" tIns="0" rIns="89673" bIns="46228" lIns="0" anchorCtr="0">
            <a:noAutofit/>
          </a:bodyPr>
          <a:lstStyle/>
          <a:p>
            <a:pPr algn="r" rtl="1">
              <a:lnSpc>
                <a:spcPts val="1889"/>
              </a:lnSpc>
              <a:spcBef>
                <a:spcPts val="0"/>
              </a:spcBef>
              <a:spcAft>
                <a:spcPts val="0"/>
              </a:spcAft>
            </a:pPr>
            <a:r>
              <a:rPr sz="1400" b="1" i="0" lang="ar-SA" altLang="en-US">
                <a:solidFill>
                  <a:srgbClr val="8A4B12"/>
                </a:solidFill>
                <a:latin typeface="IBM Plex Sans Arabic"/>
                <a:ea typeface="IBM Plex Sans Arabic"/>
                <a:cs typeface="IBM Plex Sans Arabic"/>
              </a:rPr>
              <a:t>تسرب بيانات</a:t>
            </a:r>
          </a:p>
        </p:txBody>
      </p:sp>
      <p:sp>
        <p:nvSpPr>
          <p:cNvPr id="9" name="Text box 8"/>
          <p:cNvSpPr/>
          <p:nvPr/>
        </p:nvSpPr>
        <p:spPr>
          <a:xfrm>
            <a:off x="7081242" y="1932186"/>
            <a:ext cx="647998" cy="341610"/>
          </a:xfrm>
          <a:prstGeom prst="roundRect">
            <a:avLst>
              <a:gd name="adj" fmla="val 50000"/>
            </a:avLst>
          </a:prstGeom>
          <a:solidFill>
            <a:srgbClr val="F6ECDA"/>
          </a:solidFill>
          <a:ln>
            <a:noFill/>
          </a:ln>
        </p:spPr>
        <p:txBody>
          <a:bodyPr rtlCol="0" anchor="ctr" wrap="square" tIns="0" rIns="89673" bIns="46228" lIns="0" anchorCtr="0">
            <a:noAutofit/>
          </a:bodyPr>
          <a:lstStyle/>
          <a:p>
            <a:pPr algn="r" rtl="1">
              <a:lnSpc>
                <a:spcPts val="1889"/>
              </a:lnSpc>
              <a:spcBef>
                <a:spcPts val="0"/>
              </a:spcBef>
              <a:spcAft>
                <a:spcPts val="0"/>
              </a:spcAft>
            </a:pPr>
            <a:r>
              <a:rPr sz="1400" b="1" i="0" lang="ar-SA" altLang="en-US">
                <a:solidFill>
                  <a:srgbClr val="8A4B12"/>
                </a:solidFill>
                <a:latin typeface="IBM Plex Sans Arabic"/>
                <a:ea typeface="IBM Plex Sans Arabic"/>
                <a:cs typeface="IBM Plex Sans Arabic"/>
              </a:rPr>
              <a:t>تكلفة</a:t>
            </a:r>
          </a:p>
        </p:txBody>
      </p:sp>
      <p:sp>
        <p:nvSpPr>
          <p:cNvPr id="10" name="Text box 9"/>
          <p:cNvSpPr/>
          <p:nvPr/>
        </p:nvSpPr>
        <p:spPr>
          <a:xfrm>
            <a:off x="5821660" y="1932186"/>
            <a:ext cx="1183382" cy="341610"/>
          </a:xfrm>
          <a:prstGeom prst="roundRect">
            <a:avLst>
              <a:gd name="adj" fmla="val 50000"/>
            </a:avLst>
          </a:prstGeom>
          <a:solidFill>
            <a:srgbClr val="F6ECDA"/>
          </a:solidFill>
          <a:ln>
            <a:noFill/>
          </a:ln>
        </p:spPr>
        <p:txBody>
          <a:bodyPr rtlCol="0" anchor="ctr" wrap="square" tIns="0" rIns="89673" bIns="46228" lIns="0" anchorCtr="0">
            <a:noAutofit/>
          </a:bodyPr>
          <a:lstStyle/>
          <a:p>
            <a:pPr algn="r" rtl="1">
              <a:lnSpc>
                <a:spcPts val="1889"/>
              </a:lnSpc>
              <a:spcBef>
                <a:spcPts val="0"/>
              </a:spcBef>
              <a:spcAft>
                <a:spcPts val="0"/>
              </a:spcAft>
            </a:pPr>
            <a:r>
              <a:rPr sz="1400" b="1" i="0" lang="ar-SA" altLang="en-US">
                <a:solidFill>
                  <a:srgbClr val="8A4B12"/>
                </a:solidFill>
                <a:latin typeface="IBM Plex Sans Arabic"/>
                <a:ea typeface="IBM Plex Sans Arabic"/>
                <a:cs typeface="IBM Plex Sans Arabic"/>
              </a:rPr>
              <a:t>التزام تعاقدي</a:t>
            </a:r>
          </a:p>
        </p:txBody>
      </p:sp>
      <p:graphicFrame>
        <p:nvGraphicFramePr>
          <p:cNvPr id="11" name="Table 10"/>
          <p:cNvGraphicFramePr>
            <a:graphicFrameLocks noGrp="1"/>
          </p:cNvGraphicFramePr>
          <p:nvPr/>
        </p:nvGraphicFramePr>
        <p:xfrm>
          <a:off x="815975" y="2734171"/>
          <a:ext cx="10560050" cy="2093911"/>
        </p:xfrm>
        <a:graphic>
          <a:graphicData uri="http://schemas.openxmlformats.org/drawingml/2006/table">
            <a:tbl>
              <a:tblPr firstRow="0" bandRow="0" lastRow="0" firstCol="0" lastCol="0" bandCol="0">
                <a:tableStyleId>{2D5ABB26-0587-4C30-8999-92F81FD0307C}</a:tableStyleId>
              </a:tblPr>
              <a:tblGrid>
                <a:gridCol w="1900555"/>
                <a:gridCol w="5280025"/>
                <a:gridCol w="3379470"/>
              </a:tblGrid>
              <a:tr h="370780">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نوع الأثر</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بلغة الأعمال</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بلغة تقنية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370780">
                <a:tc>
                  <a:txBody>
                    <a:bodyPr wrap="square"/>
                    <a:lstStyle/>
                    <a:p>
                      <a:pPr algn="r" rtl="1">
                        <a:lnSpc>
                          <a:spcPts val="1889"/>
                        </a:lnSpc>
                        <a:spcBef>
                          <a:spcPts val="0"/>
                        </a:spcBef>
                        <a:spcAft>
                          <a:spcPts val="0"/>
                        </a:spcAft>
                      </a:pPr>
                      <a:r>
                        <a:rPr sz="1400" b="1" i="0" lang="ar-SA" altLang="en-US">
                          <a:solidFill>
                            <a:srgbClr val="8A4B12"/>
                          </a:solidFill>
                          <a:latin typeface="IBM Plex Sans Arabic"/>
                          <a:ea typeface="IBM Plex Sans Arabic"/>
                          <a:cs typeface="IBM Plex Sans Arabic"/>
                        </a:rPr>
                        <a:t>توقف خدمة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قد يتوقف تتبع الشحنات لكل المتاجر، فتتأخر التسليمات وتكثر الشكاوى.</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ثغرة حرجة غير مرقعة في خادم التتبع.</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rtl="1">
                        <a:lnSpc>
                          <a:spcPts val="1889"/>
                        </a:lnSpc>
                        <a:spcBef>
                          <a:spcPts val="0"/>
                        </a:spcBef>
                        <a:spcAft>
                          <a:spcPts val="0"/>
                        </a:spcAft>
                      </a:pPr>
                      <a:r>
                        <a:rPr sz="1400" b="1" i="0" lang="ar-SA" altLang="en-US">
                          <a:solidFill>
                            <a:srgbClr val="8A4B12"/>
                          </a:solidFill>
                          <a:latin typeface="IBM Plex Sans Arabic"/>
                          <a:ea typeface="IBM Plex Sans Arabic"/>
                          <a:cs typeface="IBM Plex Sans Arabic"/>
                        </a:rPr>
                        <a:t>تسرب بيانات</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شخصان خارج الشركة قد يطلعان على رواتب الموظفين وحساباتهم البنكية.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حسابان لمغادرين نشطان في نظام الرواتب.</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10791">
                <a:tc>
                  <a:txBody>
                    <a:bodyPr wrap="square"/>
                    <a:lstStyle/>
                    <a:p>
                      <a:pPr algn="r" rtl="1">
                        <a:lnSpc>
                          <a:spcPts val="1889"/>
                        </a:lnSpc>
                        <a:spcBef>
                          <a:spcPts val="0"/>
                        </a:spcBef>
                        <a:spcAft>
                          <a:spcPts val="0"/>
                        </a:spcAft>
                      </a:pPr>
                      <a:r>
                        <a:rPr sz="1400" b="1" i="0" lang="ar-SA" altLang="en-US">
                          <a:solidFill>
                            <a:srgbClr val="8A4B12"/>
                          </a:solidFill>
                          <a:latin typeface="IBM Plex Sans Arabic"/>
                          <a:ea typeface="IBM Plex Sans Arabic"/>
                          <a:cs typeface="IBM Plex Sans Arabic"/>
                        </a:rPr>
                        <a:t>تأخير عمليات</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قد نفقد يوم عمل من تعديلات الرواتب، فيتأخر الصرف أو يخطئ.</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النسخ يومي، والحد المقبول لفقد البيانات 4 ساعات.</a:t>
                      </a:r>
                    </a:p>
                  </a:txBody>
                  <a:tcPr marT="74943" marR="106680" marB="49517" marL="11702"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rtl="1">
                        <a:lnSpc>
                          <a:spcPts val="1889"/>
                        </a:lnSpc>
                        <a:spcBef>
                          <a:spcPts val="0"/>
                        </a:spcBef>
                        <a:spcAft>
                          <a:spcPts val="0"/>
                        </a:spcAft>
                      </a:pPr>
                      <a:r>
                        <a:rPr sz="1400" b="1" i="0" lang="ar-SA" altLang="en-US">
                          <a:solidFill>
                            <a:srgbClr val="8A4B12"/>
                          </a:solidFill>
                          <a:latin typeface="IBM Plex Sans Arabic"/>
                          <a:ea typeface="IBM Plex Sans Arabic"/>
                          <a:cs typeface="IBM Plex Sans Arabic"/>
                        </a:rPr>
                        <a:t>التزام تعاقدي</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قد لا نعلم بتسرب في الوقت، فنتأخر في إبلاغ العملاء والجهة المختصة.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عقد المورد بلا بند للإبلاغ عن الحوادث.</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12" name="Text 11"/>
          <p:cNvSpPr txBox="1"/>
          <p:nvPr/>
        </p:nvSpPr>
        <p:spPr>
          <a:xfrm>
            <a:off x="0" y="5256455"/>
            <a:ext cx="11379200"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4E5A66"/>
                </a:solidFill>
                <a:latin typeface="IBM Plex Sans Arabic"/>
                <a:ea typeface="IBM Plex Sans Arabic"/>
                <a:cs typeface="IBM Plex Sans Arabic"/>
              </a:rPr>
              <a:t>المدير لا يقرر بناءً على «ثغرة حرجة»، بل على ما تعنيه لخدمته وعملائه وتكلفته والتزاماته.</a:t>
            </a:r>
          </a:p>
        </p:txBody>
      </p:sp>
      <p:sp>
        <p:nvSpPr>
          <p:cNvPr id="13" name="Text 12"/>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14" name="Text 13"/>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281319" y="812800"/>
            <a:ext cx="2097881"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هرم الوثائق: من «لماذا» إلى «كيف»</a:t>
            </a:r>
          </a:p>
        </p:txBody>
      </p:sp>
      <p:sp>
        <p:nvSpPr>
          <p:cNvPr id="5" name="Text 4"/>
          <p:cNvSpPr txBox="1"/>
          <p:nvPr/>
        </p:nvSpPr>
        <p:spPr>
          <a:xfrm>
            <a:off x="0" y="1828252"/>
            <a:ext cx="11379200" cy="239316"/>
          </a:xfrm>
          <a:prstGeom prst="rect">
            <a:avLst/>
          </a:prstGeom>
          <a:noFill/>
        </p:spPr>
        <p:txBody>
          <a:bodyPr wrap="square" tIns="0" rIns="0" bIns="0" lIns="0" anchor="t" rtlCol="0" anchorCtr="0">
            <a:noAutofit/>
          </a:bodyPr>
          <a:lstStyle/>
          <a:p>
            <a:pPr algn="r" rtl="1">
              <a:lnSpc>
                <a:spcPts val="1885"/>
              </a:lnSpc>
              <a:spcBef>
                <a:spcPts val="0"/>
              </a:spcBef>
              <a:spcAft>
                <a:spcPts val="0"/>
              </a:spcAft>
            </a:pPr>
            <a:r>
              <a:rPr sz="1300" b="0" i="0" lang="ar-SA" altLang="en-US">
                <a:solidFill>
                  <a:srgbClr val="4E5A66"/>
                </a:solidFill>
                <a:latin typeface="IBM Plex Sans Arabic"/>
                <a:ea typeface="IBM Plex Sans Arabic"/>
                <a:cs typeface="IBM Plex Sans Arabic"/>
              </a:rPr>
              <a:t>مثال واحد على أربعة مستويات: كلمات المرور. القيم أمثلة توضيحية، وكل جهة تحددها في وثائقها.</a:t>
            </a:r>
          </a:p>
        </p:txBody>
      </p:sp>
      <p:sp>
        <p:nvSpPr>
          <p:cNvPr id="6" name="Box 5"/>
          <p:cNvSpPr/>
          <p:nvPr/>
        </p:nvSpPr>
        <p:spPr>
          <a:xfrm>
            <a:off x="8712200" y="2300486"/>
            <a:ext cx="2667000" cy="670520"/>
          </a:xfrm>
          <a:prstGeom prst="roundRect">
            <a:avLst>
              <a:gd name="adj" fmla="val 11364"/>
            </a:avLst>
          </a:prstGeom>
          <a:solidFill>
            <a:srgbClr val="172433"/>
          </a:solidFill>
          <a:ln>
            <a:noFill/>
          </a:ln>
        </p:spPr>
        <p:txBody>
          <a:bodyPr rtlCol="0" anchor="ctr"/>
          <a:lstStyle/>
          <a:p>
            <a:pPr algn="ctr"/>
          </a:p>
        </p:txBody>
      </p:sp>
      <p:sp>
        <p:nvSpPr>
          <p:cNvPr id="7" name="Text 6"/>
          <p:cNvSpPr txBox="1"/>
          <p:nvPr/>
        </p:nvSpPr>
        <p:spPr>
          <a:xfrm>
            <a:off x="8737600" y="2393958"/>
            <a:ext cx="2489200" cy="254000"/>
          </a:xfrm>
          <a:prstGeom prst="rect">
            <a:avLst/>
          </a:prstGeom>
          <a:noFill/>
        </p:spPr>
        <p:txBody>
          <a:bodyPr wrap="square" tIns="0" rIns="0" bIns="0" lIns="0" anchor="t" rtlCol="0" anchorCtr="0">
            <a:noAutofit/>
          </a:bodyPr>
          <a:lstStyle/>
          <a:p>
            <a:pPr algn="r" rtl="1">
              <a:lnSpc>
                <a:spcPts val="2000"/>
              </a:lnSpc>
              <a:spcBef>
                <a:spcPts val="0"/>
              </a:spcBef>
              <a:spcAft>
                <a:spcPts val="0"/>
              </a:spcAft>
            </a:pPr>
            <a:r>
              <a:rPr sz="1600" b="1" i="0" lang="ar-SA" altLang="en-US">
                <a:solidFill>
                  <a:srgbClr val="F3EFE6"/>
                </a:solidFill>
                <a:latin typeface="Readex Pro"/>
                <a:ea typeface="Readex Pro"/>
                <a:cs typeface="Readex Pro"/>
              </a:rPr>
              <a:t>السياسة</a:t>
            </a:r>
          </a:p>
        </p:txBody>
      </p:sp>
      <p:sp>
        <p:nvSpPr>
          <p:cNvPr id="8" name="Text 7"/>
          <p:cNvSpPr txBox="1"/>
          <p:nvPr/>
        </p:nvSpPr>
        <p:spPr>
          <a:xfrm>
            <a:off x="8737600" y="2632464"/>
            <a:ext cx="24892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B9C4CC"/>
                </a:solidFill>
                <a:latin typeface="IBM Plex Sans Arabic"/>
                <a:ea typeface="IBM Plex Sans Arabic"/>
                <a:cs typeface="IBM Plex Sans Arabic"/>
              </a:rPr>
              <a:t>ماذا ولماذا · يعتمدها صاحب الصلاحية</a:t>
            </a:r>
          </a:p>
        </p:txBody>
      </p:sp>
      <p:sp>
        <p:nvSpPr>
          <p:cNvPr id="9" name="Text 8"/>
          <p:cNvSpPr txBox="1"/>
          <p:nvPr/>
        </p:nvSpPr>
        <p:spPr>
          <a:xfrm>
            <a:off x="193040" y="2478076"/>
            <a:ext cx="8366760" cy="247650"/>
          </a:xfrm>
          <a:prstGeom prst="rect">
            <a:avLst/>
          </a:prstGeom>
          <a:noFill/>
        </p:spPr>
        <p:txBody>
          <a:bodyPr wrap="square" tIns="0" rIns="0" bIns="0" lIns="0" anchor="t" rtlCol="0" anchorCtr="0">
            <a:noAutofit/>
          </a:bodyPr>
          <a:lstStyle/>
          <a:p>
            <a:pPr algn="r" rtl="1">
              <a:lnSpc>
                <a:spcPts val="1950"/>
              </a:lnSpc>
              <a:spcBef>
                <a:spcPts val="0"/>
              </a:spcBef>
              <a:spcAft>
                <a:spcPts val="0"/>
              </a:spcAft>
            </a:pPr>
            <a:r>
              <a:rPr sz="1300" b="0" i="0" lang="ar-SA" altLang="en-US">
                <a:solidFill>
                  <a:srgbClr val="172433"/>
                </a:solidFill>
                <a:latin typeface="IBM Plex Sans Arabic"/>
                <a:ea typeface="IBM Plex Sans Arabic"/>
                <a:cs typeface="IBM Plex Sans Arabic"/>
              </a:rPr>
              <a:t>«يكون الدخول إلى الأنظمة بهوية فردية وكلمة مرور قوية، والتحقق متعدد العوامل إلزامي للدخول عن بعد.»</a:t>
            </a:r>
          </a:p>
        </p:txBody>
      </p:sp>
      <p:sp>
        <p:nvSpPr>
          <p:cNvPr id="10" name="Box 9"/>
          <p:cNvSpPr/>
          <p:nvPr/>
        </p:nvSpPr>
        <p:spPr>
          <a:xfrm>
            <a:off x="8712200" y="3059906"/>
            <a:ext cx="2667000" cy="670520"/>
          </a:xfrm>
          <a:prstGeom prst="roundRect">
            <a:avLst>
              <a:gd name="adj" fmla="val 11364"/>
            </a:avLst>
          </a:prstGeom>
          <a:solidFill>
            <a:srgbClr val="24506B"/>
          </a:solidFill>
          <a:ln>
            <a:noFill/>
          </a:ln>
        </p:spPr>
        <p:txBody>
          <a:bodyPr rtlCol="0" anchor="ctr"/>
          <a:lstStyle/>
          <a:p>
            <a:pPr algn="ctr"/>
          </a:p>
        </p:txBody>
      </p:sp>
      <p:sp>
        <p:nvSpPr>
          <p:cNvPr id="11" name="Text 10"/>
          <p:cNvSpPr txBox="1"/>
          <p:nvPr/>
        </p:nvSpPr>
        <p:spPr>
          <a:xfrm>
            <a:off x="8737600" y="3153378"/>
            <a:ext cx="2489200" cy="254000"/>
          </a:xfrm>
          <a:prstGeom prst="rect">
            <a:avLst/>
          </a:prstGeom>
          <a:noFill/>
        </p:spPr>
        <p:txBody>
          <a:bodyPr wrap="square" tIns="0" rIns="0" bIns="0" lIns="0" anchor="t" rtlCol="0" anchorCtr="0">
            <a:noAutofit/>
          </a:bodyPr>
          <a:lstStyle/>
          <a:p>
            <a:pPr algn="r" rtl="1">
              <a:lnSpc>
                <a:spcPts val="2000"/>
              </a:lnSpc>
              <a:spcBef>
                <a:spcPts val="0"/>
              </a:spcBef>
              <a:spcAft>
                <a:spcPts val="0"/>
              </a:spcAft>
            </a:pPr>
            <a:r>
              <a:rPr sz="1600" b="1" i="0" lang="ar-SA" altLang="en-US">
                <a:solidFill>
                  <a:srgbClr val="F3EFE6"/>
                </a:solidFill>
                <a:latin typeface="Readex Pro"/>
                <a:ea typeface="Readex Pro"/>
                <a:cs typeface="Readex Pro"/>
              </a:rPr>
              <a:t>المعيار</a:t>
            </a:r>
          </a:p>
        </p:txBody>
      </p:sp>
      <p:sp>
        <p:nvSpPr>
          <p:cNvPr id="12" name="Text 11"/>
          <p:cNvSpPr txBox="1"/>
          <p:nvPr/>
        </p:nvSpPr>
        <p:spPr>
          <a:xfrm>
            <a:off x="8737600" y="3391884"/>
            <a:ext cx="24892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CFE0EA"/>
                </a:solidFill>
                <a:latin typeface="IBM Plex Sans Arabic"/>
                <a:ea typeface="IBM Plex Sans Arabic"/>
                <a:cs typeface="IBM Plex Sans Arabic"/>
              </a:rPr>
              <a:t>قيم ملزمة قابلة للقياس</a:t>
            </a:r>
          </a:p>
        </p:txBody>
      </p:sp>
      <p:sp>
        <p:nvSpPr>
          <p:cNvPr id="13" name="Text 12"/>
          <p:cNvSpPr txBox="1"/>
          <p:nvPr/>
        </p:nvSpPr>
        <p:spPr>
          <a:xfrm>
            <a:off x="193040" y="3237496"/>
            <a:ext cx="8366760" cy="247650"/>
          </a:xfrm>
          <a:prstGeom prst="rect">
            <a:avLst/>
          </a:prstGeom>
          <a:noFill/>
        </p:spPr>
        <p:txBody>
          <a:bodyPr wrap="square" tIns="0" rIns="0" bIns="0" lIns="0" anchor="t" rtlCol="0" anchorCtr="0">
            <a:noAutofit/>
          </a:bodyPr>
          <a:lstStyle/>
          <a:p>
            <a:pPr algn="r" rtl="1">
              <a:lnSpc>
                <a:spcPts val="1950"/>
              </a:lnSpc>
              <a:spcBef>
                <a:spcPts val="0"/>
              </a:spcBef>
              <a:spcAft>
                <a:spcPts val="0"/>
              </a:spcAft>
            </a:pPr>
            <a:r>
              <a:rPr sz="1300" b="0" i="0" lang="ar-SA" altLang="en-US">
                <a:solidFill>
                  <a:srgbClr val="172433"/>
                </a:solidFill>
                <a:latin typeface="IBM Plex Sans Arabic"/>
                <a:ea typeface="IBM Plex Sans Arabic"/>
                <a:cs typeface="IBM Plex Sans Arabic"/>
              </a:rPr>
              <a:t>«12 حرفاً على الأقل، ويُقفل الحساب بعد 5 محاولات فاشلة.»</a:t>
            </a:r>
          </a:p>
        </p:txBody>
      </p:sp>
      <p:sp>
        <p:nvSpPr>
          <p:cNvPr id="14" name="Box 13"/>
          <p:cNvSpPr/>
          <p:nvPr/>
        </p:nvSpPr>
        <p:spPr>
          <a:xfrm>
            <a:off x="8712200" y="3819327"/>
            <a:ext cx="2667000" cy="670520"/>
          </a:xfrm>
          <a:prstGeom prst="roundRect">
            <a:avLst>
              <a:gd name="adj" fmla="val 11364"/>
            </a:avLst>
          </a:prstGeom>
          <a:solidFill>
            <a:srgbClr val="0E7C6B"/>
          </a:solidFill>
          <a:ln>
            <a:noFill/>
          </a:ln>
        </p:spPr>
        <p:txBody>
          <a:bodyPr rtlCol="0" anchor="ctr"/>
          <a:lstStyle/>
          <a:p>
            <a:pPr algn="ctr"/>
          </a:p>
        </p:txBody>
      </p:sp>
      <p:sp>
        <p:nvSpPr>
          <p:cNvPr id="15" name="Text 14"/>
          <p:cNvSpPr txBox="1"/>
          <p:nvPr/>
        </p:nvSpPr>
        <p:spPr>
          <a:xfrm>
            <a:off x="8737600" y="3912799"/>
            <a:ext cx="2489200" cy="254000"/>
          </a:xfrm>
          <a:prstGeom prst="rect">
            <a:avLst/>
          </a:prstGeom>
          <a:noFill/>
        </p:spPr>
        <p:txBody>
          <a:bodyPr wrap="square" tIns="0" rIns="0" bIns="0" lIns="0" anchor="t" rtlCol="0" anchorCtr="0">
            <a:noAutofit/>
          </a:bodyPr>
          <a:lstStyle/>
          <a:p>
            <a:pPr algn="r" rtl="1">
              <a:lnSpc>
                <a:spcPts val="2000"/>
              </a:lnSpc>
              <a:spcBef>
                <a:spcPts val="0"/>
              </a:spcBef>
              <a:spcAft>
                <a:spcPts val="0"/>
              </a:spcAft>
            </a:pPr>
            <a:r>
              <a:rPr sz="1600" b="1" i="0" lang="ar-SA" altLang="en-US">
                <a:solidFill>
                  <a:srgbClr val="F3EFE6"/>
                </a:solidFill>
                <a:latin typeface="Readex Pro"/>
                <a:ea typeface="Readex Pro"/>
                <a:cs typeface="Readex Pro"/>
              </a:rPr>
              <a:t>الإجراء</a:t>
            </a:r>
          </a:p>
        </p:txBody>
      </p:sp>
      <p:sp>
        <p:nvSpPr>
          <p:cNvPr id="16" name="Text 15"/>
          <p:cNvSpPr txBox="1"/>
          <p:nvPr/>
        </p:nvSpPr>
        <p:spPr>
          <a:xfrm>
            <a:off x="8737600" y="4151305"/>
            <a:ext cx="24892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D3EFE8"/>
                </a:solidFill>
                <a:latin typeface="IBM Plex Sans Arabic"/>
                <a:ea typeface="IBM Plex Sans Arabic"/>
                <a:cs typeface="IBM Plex Sans Arabic"/>
              </a:rPr>
              <a:t>خطوات: من يفعل ماذا ومتى</a:t>
            </a:r>
          </a:p>
        </p:txBody>
      </p:sp>
      <p:sp>
        <p:nvSpPr>
          <p:cNvPr id="17" name="Text 16"/>
          <p:cNvSpPr txBox="1"/>
          <p:nvPr/>
        </p:nvSpPr>
        <p:spPr>
          <a:xfrm>
            <a:off x="193040" y="3996916"/>
            <a:ext cx="8366760" cy="247650"/>
          </a:xfrm>
          <a:prstGeom prst="rect">
            <a:avLst/>
          </a:prstGeom>
          <a:noFill/>
        </p:spPr>
        <p:txBody>
          <a:bodyPr wrap="square" tIns="0" rIns="0" bIns="0" lIns="0" anchor="t" rtlCol="0" anchorCtr="0">
            <a:noAutofit/>
          </a:bodyPr>
          <a:lstStyle/>
          <a:p>
            <a:pPr algn="r" rtl="1">
              <a:lnSpc>
                <a:spcPts val="1950"/>
              </a:lnSpc>
              <a:spcBef>
                <a:spcPts val="0"/>
              </a:spcBef>
              <a:spcAft>
                <a:spcPts val="0"/>
              </a:spcAft>
            </a:pPr>
            <a:r>
              <a:rPr sz="1300" b="0" i="0" lang="ar-SA" altLang="en-US">
                <a:solidFill>
                  <a:srgbClr val="172433"/>
                </a:solidFill>
                <a:latin typeface="IBM Plex Sans Arabic"/>
                <a:ea typeface="IBM Plex Sans Arabic"/>
                <a:cs typeface="IBM Plex Sans Arabic"/>
              </a:rPr>
              <a:t>«لإعادة تعيين كلمة المرور: يتحقق الدعم الفني من هوية الموظف بطريقة معتمدة، ثم يرسل رابطاً مؤقتاً، ويسجل الطلب.»</a:t>
            </a:r>
          </a:p>
        </p:txBody>
      </p:sp>
      <p:sp>
        <p:nvSpPr>
          <p:cNvPr id="18" name="Box 17"/>
          <p:cNvSpPr/>
          <p:nvPr/>
        </p:nvSpPr>
        <p:spPr>
          <a:xfrm>
            <a:off x="8712200" y="4578747"/>
            <a:ext cx="2667000" cy="670520"/>
          </a:xfrm>
          <a:prstGeom prst="roundRect">
            <a:avLst>
              <a:gd name="adj" fmla="val 11364"/>
            </a:avLst>
          </a:prstGeom>
          <a:solidFill>
            <a:srgbClr val="E5DCC8"/>
          </a:solidFill>
          <a:ln>
            <a:noFill/>
          </a:ln>
        </p:spPr>
        <p:txBody>
          <a:bodyPr rtlCol="0" anchor="ctr"/>
          <a:lstStyle/>
          <a:p>
            <a:pPr algn="ctr"/>
          </a:p>
        </p:txBody>
      </p:sp>
      <p:sp>
        <p:nvSpPr>
          <p:cNvPr id="19" name="Text 18"/>
          <p:cNvSpPr txBox="1"/>
          <p:nvPr/>
        </p:nvSpPr>
        <p:spPr>
          <a:xfrm>
            <a:off x="8737600" y="4672219"/>
            <a:ext cx="2489200" cy="254000"/>
          </a:xfrm>
          <a:prstGeom prst="rect">
            <a:avLst/>
          </a:prstGeom>
          <a:noFill/>
        </p:spPr>
        <p:txBody>
          <a:bodyPr wrap="square" tIns="0" rIns="0" bIns="0" lIns="0" anchor="t" rtlCol="0" anchorCtr="0">
            <a:noAutofit/>
          </a:bodyPr>
          <a:lstStyle/>
          <a:p>
            <a:pPr algn="r" rtl="1">
              <a:lnSpc>
                <a:spcPts val="2000"/>
              </a:lnSpc>
              <a:spcBef>
                <a:spcPts val="0"/>
              </a:spcBef>
              <a:spcAft>
                <a:spcPts val="0"/>
              </a:spcAft>
            </a:pPr>
            <a:r>
              <a:rPr sz="1600" b="1" i="0" lang="ar-SA" altLang="en-US">
                <a:solidFill>
                  <a:srgbClr val="172433"/>
                </a:solidFill>
                <a:latin typeface="Readex Pro"/>
                <a:ea typeface="Readex Pro"/>
                <a:cs typeface="Readex Pro"/>
              </a:rPr>
              <a:t>الإرشاد</a:t>
            </a:r>
          </a:p>
        </p:txBody>
      </p:sp>
      <p:sp>
        <p:nvSpPr>
          <p:cNvPr id="20" name="Text 19"/>
          <p:cNvSpPr txBox="1"/>
          <p:nvPr/>
        </p:nvSpPr>
        <p:spPr>
          <a:xfrm>
            <a:off x="8737600" y="4910725"/>
            <a:ext cx="24892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توصيات غير ملزمة</a:t>
            </a:r>
          </a:p>
        </p:txBody>
      </p:sp>
      <p:sp>
        <p:nvSpPr>
          <p:cNvPr id="21" name="Text 20"/>
          <p:cNvSpPr txBox="1"/>
          <p:nvPr/>
        </p:nvSpPr>
        <p:spPr>
          <a:xfrm>
            <a:off x="193040" y="4756337"/>
            <a:ext cx="8366760" cy="247650"/>
          </a:xfrm>
          <a:prstGeom prst="rect">
            <a:avLst/>
          </a:prstGeom>
          <a:noFill/>
        </p:spPr>
        <p:txBody>
          <a:bodyPr wrap="square" tIns="0" rIns="0" bIns="0" lIns="0" anchor="t" rtlCol="0" anchorCtr="0">
            <a:noAutofit/>
          </a:bodyPr>
          <a:lstStyle/>
          <a:p>
            <a:pPr algn="r" rtl="1">
              <a:lnSpc>
                <a:spcPts val="1950"/>
              </a:lnSpc>
              <a:spcBef>
                <a:spcPts val="0"/>
              </a:spcBef>
              <a:spcAft>
                <a:spcPts val="0"/>
              </a:spcAft>
            </a:pPr>
            <a:r>
              <a:rPr sz="1300" b="0" i="0" lang="ar-SA" altLang="en-US">
                <a:solidFill>
                  <a:srgbClr val="172433"/>
                </a:solidFill>
                <a:latin typeface="IBM Plex Sans Arabic"/>
                <a:ea typeface="IBM Plex Sans Arabic"/>
                <a:cs typeface="IBM Plex Sans Arabic"/>
              </a:rPr>
              <a:t>«يُنصح باستخدام عبارة مرور من عدة كلمات، ومدير كلمات المرور المعتمد في الجهة.»</a:t>
            </a:r>
          </a:p>
        </p:txBody>
      </p:sp>
      <p:sp>
        <p:nvSpPr>
          <p:cNvPr id="22" name="Text 21"/>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23" name="Text 22"/>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مكونات السياسة: سياسة واحدة كاملة</a:t>
            </a:r>
          </a:p>
        </p:txBody>
      </p:sp>
      <p:sp>
        <p:nvSpPr>
          <p:cNvPr id="5" name="Box 4"/>
          <p:cNvSpPr/>
          <p:nvPr/>
        </p:nvSpPr>
        <p:spPr>
          <a:xfrm>
            <a:off x="4029075" y="1661120"/>
            <a:ext cx="7346950" cy="4672310"/>
          </a:xfrm>
          <a:prstGeom prst="roundRect">
            <a:avLst>
              <a:gd name="adj" fmla="val 1357"/>
            </a:avLst>
          </a:prstGeom>
          <a:solidFill>
            <a:srgbClr val="FFFFFF"/>
          </a:solidFill>
          <a:ln w="6350">
            <a:solidFill>
              <a:srgbClr val="D6CFBF"/>
            </a:solidFill>
          </a:ln>
        </p:spPr>
        <p:txBody>
          <a:bodyPr rtlCol="0" anchor="ctr"/>
          <a:lstStyle/>
          <a:p>
            <a:pPr algn="ctr"/>
          </a:p>
        </p:txBody>
      </p:sp>
      <p:sp>
        <p:nvSpPr>
          <p:cNvPr id="6" name="Rule 5"/>
          <p:cNvSpPr/>
          <p:nvPr/>
        </p:nvSpPr>
        <p:spPr>
          <a:xfrm>
            <a:off x="4032250" y="2766516"/>
            <a:ext cx="7340600" cy="12700"/>
          </a:xfrm>
          <a:prstGeom prst="rect">
            <a:avLst/>
          </a:prstGeom>
          <a:solidFill>
            <a:srgbClr val="0E7C6B"/>
          </a:solidFill>
          <a:ln>
            <a:noFill/>
          </a:ln>
        </p:spPr>
        <p:txBody>
          <a:bodyPr rtlCol="0" anchor="ctr"/>
          <a:lstStyle/>
          <a:p>
            <a:pPr algn="ctr"/>
          </a:p>
        </p:txBody>
      </p:sp>
      <p:sp>
        <p:nvSpPr>
          <p:cNvPr id="7" name="Text 6"/>
          <p:cNvSpPr txBox="1"/>
          <p:nvPr/>
        </p:nvSpPr>
        <p:spPr>
          <a:xfrm>
            <a:off x="10648593" y="1813393"/>
            <a:ext cx="495657"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0E7C6B"/>
                </a:solidFill>
                <a:latin typeface="IBM Plex Sans Arabic"/>
                <a:ea typeface="IBM Plex Sans Arabic"/>
                <a:cs typeface="IBM Plex Sans Arabic"/>
              </a:rPr>
              <a:t>سياسة</a:t>
            </a:r>
          </a:p>
        </p:txBody>
      </p:sp>
      <p:sp>
        <p:nvSpPr>
          <p:cNvPr id="8" name="Text 7"/>
          <p:cNvSpPr txBox="1"/>
          <p:nvPr/>
        </p:nvSpPr>
        <p:spPr>
          <a:xfrm>
            <a:off x="4121507" y="1813393"/>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5E6A75"/>
                </a:solidFill>
                <a:latin typeface="IBM Plex Sans Arabic"/>
                <a:ea typeface="IBM Plex Sans Arabic"/>
                <a:cs typeface="IBM Plex Sans Arabic"/>
              </a:rPr>
              <a:t>نموذج تعليمي · بيانات افتراضية</a:t>
            </a:r>
          </a:p>
        </p:txBody>
      </p:sp>
      <p:sp>
        <p:nvSpPr>
          <p:cNvPr id="9" name="Text 8"/>
          <p:cNvSpPr txBox="1"/>
          <p:nvPr/>
        </p:nvSpPr>
        <p:spPr>
          <a:xfrm>
            <a:off x="4057650" y="2068076"/>
            <a:ext cx="70866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lang="ar-SA" altLang="en-US">
                <a:solidFill>
                  <a:srgbClr val="172433"/>
                </a:solidFill>
                <a:latin typeface="Readex Pro"/>
                <a:ea typeface="Readex Pro"/>
                <a:cs typeface="Readex Pro"/>
              </a:rPr>
              <a:t>سياسة التحكم بالوصول</a:t>
            </a:r>
          </a:p>
        </p:txBody>
      </p:sp>
      <p:sp>
        <p:nvSpPr>
          <p:cNvPr id="10" name="Text 9"/>
          <p:cNvSpPr txBox="1"/>
          <p:nvPr/>
        </p:nvSpPr>
        <p:spPr>
          <a:xfrm>
            <a:off x="9967258" y="2426724"/>
            <a:ext cx="1176992"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4E5A66"/>
                </a:solidFill>
                <a:latin typeface="IBM Plex Sans Arabic"/>
                <a:ea typeface="IBM Plex Sans Arabic"/>
                <a:cs typeface="IBM Plex Sans Arabic"/>
              </a:rPr>
              <a:t>الرمز: POL-⁠AC-⁠01</a:t>
            </a:r>
          </a:p>
        </p:txBody>
      </p:sp>
      <p:sp>
        <p:nvSpPr>
          <p:cNvPr id="11" name="Text 10"/>
          <p:cNvSpPr txBox="1"/>
          <p:nvPr/>
        </p:nvSpPr>
        <p:spPr>
          <a:xfrm>
            <a:off x="9085798" y="2426724"/>
            <a:ext cx="795099"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4E5A66"/>
                </a:solidFill>
                <a:latin typeface="IBM Plex Sans Arabic"/>
                <a:ea typeface="IBM Plex Sans Arabic"/>
                <a:cs typeface="IBM Plex Sans Arabic"/>
              </a:rPr>
              <a:t>الإصدار:‏ 2.0</a:t>
            </a:r>
          </a:p>
        </p:txBody>
      </p:sp>
      <p:sp>
        <p:nvSpPr>
          <p:cNvPr id="12" name="Text 11"/>
          <p:cNvSpPr txBox="1"/>
          <p:nvPr/>
        </p:nvSpPr>
        <p:spPr>
          <a:xfrm>
            <a:off x="7474498" y="2426724"/>
            <a:ext cx="1524941"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4E5A66"/>
                </a:solidFill>
                <a:latin typeface="IBM Plex Sans Arabic"/>
                <a:ea typeface="IBM Plex Sans Arabic"/>
                <a:cs typeface="IBM Plex Sans Arabic"/>
              </a:rPr>
              <a:t>الاعتماد: الرئيس التنفيذي</a:t>
            </a:r>
          </a:p>
        </p:txBody>
      </p:sp>
      <p:sp>
        <p:nvSpPr>
          <p:cNvPr id="13" name="Text 12"/>
          <p:cNvSpPr txBox="1"/>
          <p:nvPr/>
        </p:nvSpPr>
        <p:spPr>
          <a:xfrm>
            <a:off x="6083705" y="2426724"/>
            <a:ext cx="1325951"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4E5A66"/>
                </a:solidFill>
                <a:latin typeface="IBM Plex Sans Arabic"/>
                <a:ea typeface="IBM Plex Sans Arabic"/>
                <a:cs typeface="IBM Plex Sans Arabic"/>
              </a:rPr>
              <a:t>المالك: مسؤول GRC</a:t>
            </a:r>
          </a:p>
        </p:txBody>
      </p:sp>
      <p:sp>
        <p:nvSpPr>
          <p:cNvPr id="14" name="Rule 13"/>
          <p:cNvSpPr/>
          <p:nvPr/>
        </p:nvSpPr>
        <p:spPr>
          <a:xfrm>
            <a:off x="4260850" y="3289697"/>
            <a:ext cx="6883400" cy="6350"/>
          </a:xfrm>
          <a:prstGeom prst="rect">
            <a:avLst/>
          </a:prstGeom>
          <a:solidFill>
            <a:srgbClr val="ECE7DC"/>
          </a:solidFill>
          <a:ln>
            <a:noFill/>
          </a:ln>
        </p:spPr>
        <p:txBody>
          <a:bodyPr rtlCol="0" anchor="ctr"/>
          <a:lstStyle/>
          <a:p>
            <a:pPr algn="ctr"/>
          </a:p>
        </p:txBody>
      </p:sp>
      <p:sp>
        <p:nvSpPr>
          <p:cNvPr id="15" name="Text 14"/>
          <p:cNvSpPr txBox="1"/>
          <p:nvPr/>
        </p:nvSpPr>
        <p:spPr>
          <a:xfrm>
            <a:off x="9625330" y="2920440"/>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lang="ar-SA" altLang="en-US">
                <a:solidFill>
                  <a:srgbClr val="0E7C6B"/>
                </a:solidFill>
                <a:latin typeface="IBM Plex Sans Arabic"/>
                <a:ea typeface="IBM Plex Sans Arabic"/>
                <a:cs typeface="IBM Plex Sans Arabic"/>
              </a:rPr>
              <a:t>1. الغرض</a:t>
            </a:r>
          </a:p>
        </p:txBody>
      </p:sp>
      <p:sp>
        <p:nvSpPr>
          <p:cNvPr id="16" name="Text 15"/>
          <p:cNvSpPr txBox="1"/>
          <p:nvPr/>
        </p:nvSpPr>
        <p:spPr>
          <a:xfrm>
            <a:off x="4260850" y="2923488"/>
            <a:ext cx="5384800" cy="288528"/>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lang="ar-SA" altLang="en-US">
                <a:solidFill>
                  <a:srgbClr val="172433"/>
                </a:solidFill>
                <a:latin typeface="IBM Plex Sans Arabic"/>
                <a:ea typeface="IBM Plex Sans Arabic"/>
                <a:cs typeface="IBM Plex Sans Arabic"/>
              </a:rPr>
              <a:t>حماية الأنظمة والبيانات بمنح الوصول بقدر الحاجة، ومراجعته وإلغائه.</a:t>
            </a:r>
          </a:p>
        </p:txBody>
      </p:sp>
      <p:sp>
        <p:nvSpPr>
          <p:cNvPr id="17" name="Rule 16"/>
          <p:cNvSpPr/>
          <p:nvPr/>
        </p:nvSpPr>
        <p:spPr>
          <a:xfrm>
            <a:off x="4260850" y="3743027"/>
            <a:ext cx="6883400" cy="6350"/>
          </a:xfrm>
          <a:prstGeom prst="rect">
            <a:avLst/>
          </a:prstGeom>
          <a:solidFill>
            <a:srgbClr val="ECE7DC"/>
          </a:solidFill>
          <a:ln>
            <a:noFill/>
          </a:ln>
        </p:spPr>
        <p:txBody>
          <a:bodyPr rtlCol="0" anchor="ctr"/>
          <a:lstStyle/>
          <a:p>
            <a:pPr algn="ctr"/>
          </a:p>
        </p:txBody>
      </p:sp>
      <p:sp>
        <p:nvSpPr>
          <p:cNvPr id="18" name="Text 17"/>
          <p:cNvSpPr txBox="1"/>
          <p:nvPr/>
        </p:nvSpPr>
        <p:spPr>
          <a:xfrm>
            <a:off x="9625330" y="3373771"/>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lang="ar-SA" altLang="en-US">
                <a:solidFill>
                  <a:srgbClr val="0E7C6B"/>
                </a:solidFill>
                <a:latin typeface="IBM Plex Sans Arabic"/>
                <a:ea typeface="IBM Plex Sans Arabic"/>
                <a:cs typeface="IBM Plex Sans Arabic"/>
              </a:rPr>
              <a:t>2. النطاق</a:t>
            </a:r>
          </a:p>
        </p:txBody>
      </p:sp>
      <p:sp>
        <p:nvSpPr>
          <p:cNvPr id="19" name="Text 18"/>
          <p:cNvSpPr txBox="1"/>
          <p:nvPr/>
        </p:nvSpPr>
        <p:spPr>
          <a:xfrm>
            <a:off x="4260850" y="3376819"/>
            <a:ext cx="5384800" cy="288528"/>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lang="ar-SA" altLang="en-US">
                <a:solidFill>
                  <a:srgbClr val="172433"/>
                </a:solidFill>
                <a:latin typeface="IBM Plex Sans Arabic"/>
                <a:ea typeface="IBM Plex Sans Arabic"/>
                <a:cs typeface="IBM Plex Sans Arabic"/>
              </a:rPr>
              <a:t>كل أنظمة الشركة وحساباتها، والموظفون والمتعاقدون والموردون.</a:t>
            </a:r>
          </a:p>
        </p:txBody>
      </p:sp>
      <p:sp>
        <p:nvSpPr>
          <p:cNvPr id="20" name="Rule 19"/>
          <p:cNvSpPr/>
          <p:nvPr/>
        </p:nvSpPr>
        <p:spPr>
          <a:xfrm>
            <a:off x="4260850" y="4196358"/>
            <a:ext cx="6883400" cy="6350"/>
          </a:xfrm>
          <a:prstGeom prst="rect">
            <a:avLst/>
          </a:prstGeom>
          <a:solidFill>
            <a:srgbClr val="ECE7DC"/>
          </a:solidFill>
          <a:ln>
            <a:noFill/>
          </a:ln>
        </p:spPr>
        <p:txBody>
          <a:bodyPr rtlCol="0" anchor="ctr"/>
          <a:lstStyle/>
          <a:p>
            <a:pPr algn="ctr"/>
          </a:p>
        </p:txBody>
      </p:sp>
      <p:sp>
        <p:nvSpPr>
          <p:cNvPr id="21" name="Text 20"/>
          <p:cNvSpPr txBox="1"/>
          <p:nvPr/>
        </p:nvSpPr>
        <p:spPr>
          <a:xfrm>
            <a:off x="9625330" y="3827101"/>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lang="ar-SA" altLang="en-US">
                <a:solidFill>
                  <a:srgbClr val="24506B"/>
                </a:solidFill>
                <a:latin typeface="IBM Plex Sans Arabic"/>
                <a:ea typeface="IBM Plex Sans Arabic"/>
                <a:cs typeface="IBM Plex Sans Arabic"/>
              </a:rPr>
              <a:t>3. المسؤوليات</a:t>
            </a:r>
          </a:p>
        </p:txBody>
      </p:sp>
      <p:sp>
        <p:nvSpPr>
          <p:cNvPr id="22" name="Text 21"/>
          <p:cNvSpPr txBox="1"/>
          <p:nvPr/>
        </p:nvSpPr>
        <p:spPr>
          <a:xfrm>
            <a:off x="4260850" y="3830149"/>
            <a:ext cx="5384800" cy="288528"/>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lang="ar-SA" altLang="en-US">
                <a:solidFill>
                  <a:srgbClr val="172433"/>
                </a:solidFill>
                <a:latin typeface="IBM Plex Sans Arabic"/>
                <a:ea typeface="IBM Plex Sans Arabic"/>
                <a:cs typeface="IBM Plex Sans Arabic"/>
              </a:rPr>
              <a:t>مالك كل نظام يعتمد الصلاحيات، وتقنية المعلومات تنفذ، وGRC تتابع.</a:t>
            </a:r>
          </a:p>
        </p:txBody>
      </p:sp>
      <p:sp>
        <p:nvSpPr>
          <p:cNvPr id="23" name="Rule 22"/>
          <p:cNvSpPr/>
          <p:nvPr/>
        </p:nvSpPr>
        <p:spPr>
          <a:xfrm>
            <a:off x="4260850" y="4932164"/>
            <a:ext cx="6883400" cy="6350"/>
          </a:xfrm>
          <a:prstGeom prst="rect">
            <a:avLst/>
          </a:prstGeom>
          <a:solidFill>
            <a:srgbClr val="ECE7DC"/>
          </a:solidFill>
          <a:ln>
            <a:noFill/>
          </a:ln>
        </p:spPr>
        <p:txBody>
          <a:bodyPr rtlCol="0" anchor="ctr"/>
          <a:lstStyle/>
          <a:p>
            <a:pPr algn="ctr"/>
          </a:p>
        </p:txBody>
      </p:sp>
      <p:sp>
        <p:nvSpPr>
          <p:cNvPr id="24" name="Text 23"/>
          <p:cNvSpPr txBox="1"/>
          <p:nvPr/>
        </p:nvSpPr>
        <p:spPr>
          <a:xfrm>
            <a:off x="9625330" y="4280432"/>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lang="ar-SA" altLang="en-US">
                <a:solidFill>
                  <a:srgbClr val="24506B"/>
                </a:solidFill>
                <a:latin typeface="IBM Plex Sans Arabic"/>
                <a:ea typeface="IBM Plex Sans Arabic"/>
                <a:cs typeface="IBM Plex Sans Arabic"/>
              </a:rPr>
              <a:t>4. المتطلبات</a:t>
            </a:r>
          </a:p>
        </p:txBody>
      </p:sp>
      <p:sp>
        <p:nvSpPr>
          <p:cNvPr id="25" name="Text 24"/>
          <p:cNvSpPr txBox="1"/>
          <p:nvPr/>
        </p:nvSpPr>
        <p:spPr>
          <a:xfrm>
            <a:off x="4260850" y="4283480"/>
            <a:ext cx="5384800" cy="577056"/>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lang="ar-SA" altLang="en-US">
                <a:solidFill>
                  <a:srgbClr val="172433"/>
                </a:solidFill>
                <a:latin typeface="IBM Plex Sans Arabic"/>
                <a:ea typeface="IBM Plex Sans Arabic"/>
                <a:cs typeface="IBM Plex Sans Arabic"/>
              </a:rPr>
              <a:t>4.1 حسابات مسماة · 4.2 MFA للدخول عن بعد · 4.3 مراجعة دورية · 4.4 إلغاء صلاحيات المغادرين.</a:t>
            </a:r>
          </a:p>
        </p:txBody>
      </p:sp>
      <p:sp>
        <p:nvSpPr>
          <p:cNvPr id="26" name="Rule 25"/>
          <p:cNvSpPr/>
          <p:nvPr/>
        </p:nvSpPr>
        <p:spPr>
          <a:xfrm>
            <a:off x="4260850" y="5385495"/>
            <a:ext cx="6883400" cy="6350"/>
          </a:xfrm>
          <a:prstGeom prst="rect">
            <a:avLst/>
          </a:prstGeom>
          <a:solidFill>
            <a:srgbClr val="ECE7DC"/>
          </a:solidFill>
          <a:ln>
            <a:noFill/>
          </a:ln>
        </p:spPr>
        <p:txBody>
          <a:bodyPr rtlCol="0" anchor="ctr"/>
          <a:lstStyle/>
          <a:p>
            <a:pPr algn="ctr"/>
          </a:p>
        </p:txBody>
      </p:sp>
      <p:sp>
        <p:nvSpPr>
          <p:cNvPr id="27" name="Text 26"/>
          <p:cNvSpPr txBox="1"/>
          <p:nvPr/>
        </p:nvSpPr>
        <p:spPr>
          <a:xfrm>
            <a:off x="9625330" y="5016238"/>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lang="ar-SA" altLang="en-US">
                <a:solidFill>
                  <a:srgbClr val="C27A16"/>
                </a:solidFill>
                <a:latin typeface="IBM Plex Sans Arabic"/>
                <a:ea typeface="IBM Plex Sans Arabic"/>
                <a:cs typeface="IBM Plex Sans Arabic"/>
              </a:rPr>
              <a:t>5. الاستثناءات</a:t>
            </a:r>
          </a:p>
        </p:txBody>
      </p:sp>
      <p:sp>
        <p:nvSpPr>
          <p:cNvPr id="28" name="Text 27"/>
          <p:cNvSpPr txBox="1"/>
          <p:nvPr/>
        </p:nvSpPr>
        <p:spPr>
          <a:xfrm>
            <a:off x="4260850" y="5019286"/>
            <a:ext cx="5384800" cy="288528"/>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lang="ar-SA" altLang="en-US">
                <a:solidFill>
                  <a:srgbClr val="172433"/>
                </a:solidFill>
                <a:latin typeface="IBM Plex Sans Arabic"/>
                <a:ea typeface="IBM Plex Sans Arabic"/>
                <a:cs typeface="IBM Plex Sans Arabic"/>
              </a:rPr>
              <a:t>بموافقة موثقة من مالك النظام وGRC، ولمدة محددة.</a:t>
            </a:r>
          </a:p>
        </p:txBody>
      </p:sp>
      <p:sp>
        <p:nvSpPr>
          <p:cNvPr id="29" name="Rule 28"/>
          <p:cNvSpPr/>
          <p:nvPr/>
        </p:nvSpPr>
        <p:spPr>
          <a:xfrm>
            <a:off x="4260850" y="6133405"/>
            <a:ext cx="6883400" cy="6350"/>
          </a:xfrm>
          <a:prstGeom prst="rect">
            <a:avLst/>
          </a:prstGeom>
          <a:solidFill>
            <a:srgbClr val="ECE7DC"/>
          </a:solidFill>
          <a:ln>
            <a:noFill/>
          </a:ln>
        </p:spPr>
        <p:txBody>
          <a:bodyPr rtlCol="0" anchor="ctr"/>
          <a:lstStyle/>
          <a:p>
            <a:pPr algn="ctr"/>
          </a:p>
        </p:txBody>
      </p:sp>
      <p:sp>
        <p:nvSpPr>
          <p:cNvPr id="30" name="Text 29"/>
          <p:cNvSpPr txBox="1"/>
          <p:nvPr/>
        </p:nvSpPr>
        <p:spPr>
          <a:xfrm>
            <a:off x="9696450" y="5469569"/>
            <a:ext cx="144780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lang="ar-SA" altLang="en-US">
                <a:solidFill>
                  <a:srgbClr val="5A3F87"/>
                </a:solidFill>
                <a:latin typeface="IBM Plex Sans Arabic"/>
                <a:ea typeface="IBM Plex Sans Arabic"/>
                <a:cs typeface="IBM Plex Sans Arabic"/>
              </a:rPr>
              <a:t>6. الاعتماد والمراجعة</a:t>
            </a:r>
          </a:p>
        </p:txBody>
      </p:sp>
      <p:sp>
        <p:nvSpPr>
          <p:cNvPr id="31" name="Text 30"/>
          <p:cNvSpPr txBox="1"/>
          <p:nvPr/>
        </p:nvSpPr>
        <p:spPr>
          <a:xfrm>
            <a:off x="4260850" y="5472617"/>
            <a:ext cx="5384800" cy="288528"/>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lang="ar-SA" altLang="en-US">
                <a:solidFill>
                  <a:srgbClr val="172433"/>
                </a:solidFill>
                <a:latin typeface="IBM Plex Sans Arabic"/>
                <a:ea typeface="IBM Plex Sans Arabic"/>
                <a:cs typeface="IBM Plex Sans Arabic"/>
              </a:rPr>
              <a:t>يعتمدها الرئيس التنفيذي، وتُراجع سنوياً أو عند تغيير مهم.</a:t>
            </a:r>
          </a:p>
        </p:txBody>
      </p:sp>
      <p:sp>
        <p:nvSpPr>
          <p:cNvPr id="32" name="Text box 31"/>
          <p:cNvSpPr/>
          <p:nvPr/>
        </p:nvSpPr>
        <p:spPr>
          <a:xfrm>
            <a:off x="3517900" y="1657945"/>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1</a:t>
            </a:r>
          </a:p>
        </p:txBody>
      </p:sp>
      <p:sp>
        <p:nvSpPr>
          <p:cNvPr id="33" name="Text 32"/>
          <p:cNvSpPr txBox="1"/>
          <p:nvPr/>
        </p:nvSpPr>
        <p:spPr>
          <a:xfrm>
            <a:off x="604520" y="1639276"/>
            <a:ext cx="281178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0E7C6B"/>
                </a:solidFill>
                <a:latin typeface="IBM Plex Sans Arabic"/>
                <a:ea typeface="IBM Plex Sans Arabic"/>
                <a:cs typeface="IBM Plex Sans Arabic"/>
              </a:rPr>
              <a:t>لماذا ولمن؟</a:t>
            </a:r>
          </a:p>
        </p:txBody>
      </p:sp>
      <p:sp>
        <p:nvSpPr>
          <p:cNvPr id="34" name="Text 33"/>
          <p:cNvSpPr txBox="1"/>
          <p:nvPr/>
        </p:nvSpPr>
        <p:spPr>
          <a:xfrm>
            <a:off x="734695" y="1869722"/>
            <a:ext cx="2681605"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الغرض والنطاق يحددان ما تغطيه السياسة.</a:t>
            </a:r>
          </a:p>
        </p:txBody>
      </p:sp>
      <p:sp>
        <p:nvSpPr>
          <p:cNvPr id="35" name="Text box 34"/>
          <p:cNvSpPr/>
          <p:nvPr/>
        </p:nvSpPr>
        <p:spPr>
          <a:xfrm>
            <a:off x="3517900" y="2556966"/>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2</a:t>
            </a:r>
          </a:p>
        </p:txBody>
      </p:sp>
      <p:sp>
        <p:nvSpPr>
          <p:cNvPr id="36" name="Text 35"/>
          <p:cNvSpPr txBox="1"/>
          <p:nvPr/>
        </p:nvSpPr>
        <p:spPr>
          <a:xfrm>
            <a:off x="604520" y="2538297"/>
            <a:ext cx="281178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24506B"/>
                </a:solidFill>
                <a:latin typeface="IBM Plex Sans Arabic"/>
                <a:ea typeface="IBM Plex Sans Arabic"/>
                <a:cs typeface="IBM Plex Sans Arabic"/>
              </a:rPr>
              <a:t>من يفعل ماذا؟</a:t>
            </a:r>
          </a:p>
        </p:txBody>
      </p:sp>
      <p:sp>
        <p:nvSpPr>
          <p:cNvPr id="37" name="Text 36"/>
          <p:cNvSpPr txBox="1"/>
          <p:nvPr/>
        </p:nvSpPr>
        <p:spPr>
          <a:xfrm>
            <a:off x="734695" y="2768743"/>
            <a:ext cx="2681605"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المسؤوليات بالوظيفة، والمتطلبات ما يُطلب دليله.</a:t>
            </a:r>
          </a:p>
        </p:txBody>
      </p:sp>
      <p:sp>
        <p:nvSpPr>
          <p:cNvPr id="38" name="Text box 37"/>
          <p:cNvSpPr/>
          <p:nvPr/>
        </p:nvSpPr>
        <p:spPr>
          <a:xfrm>
            <a:off x="3517900" y="3455988"/>
            <a:ext cx="279400" cy="279400"/>
          </a:xfrm>
          <a:prstGeom prst="roundRect">
            <a:avLst>
              <a:gd name="adj" fmla="val 50000"/>
            </a:avLst>
          </a:prstGeom>
          <a:solidFill>
            <a:srgbClr val="C27A16"/>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3</a:t>
            </a:r>
          </a:p>
        </p:txBody>
      </p:sp>
      <p:sp>
        <p:nvSpPr>
          <p:cNvPr id="39" name="Text 38"/>
          <p:cNvSpPr txBox="1"/>
          <p:nvPr/>
        </p:nvSpPr>
        <p:spPr>
          <a:xfrm>
            <a:off x="604520" y="3437318"/>
            <a:ext cx="281178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C27A16"/>
                </a:solidFill>
                <a:latin typeface="IBM Plex Sans Arabic"/>
                <a:ea typeface="IBM Plex Sans Arabic"/>
                <a:cs typeface="IBM Plex Sans Arabic"/>
              </a:rPr>
              <a:t>متى نخرج عنها؟</a:t>
            </a:r>
          </a:p>
        </p:txBody>
      </p:sp>
      <p:sp>
        <p:nvSpPr>
          <p:cNvPr id="40" name="Text 39"/>
          <p:cNvSpPr txBox="1"/>
          <p:nvPr/>
        </p:nvSpPr>
        <p:spPr>
          <a:xfrm>
            <a:off x="604520" y="3667764"/>
            <a:ext cx="2811780"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استثناء بموافقة ومدة، لا بقرار فردي.</a:t>
            </a:r>
          </a:p>
        </p:txBody>
      </p:sp>
      <p:sp>
        <p:nvSpPr>
          <p:cNvPr id="41" name="Text box 40"/>
          <p:cNvSpPr/>
          <p:nvPr/>
        </p:nvSpPr>
        <p:spPr>
          <a:xfrm>
            <a:off x="3517900" y="4097238"/>
            <a:ext cx="279400" cy="279400"/>
          </a:xfrm>
          <a:prstGeom prst="roundRect">
            <a:avLst>
              <a:gd name="adj" fmla="val 50000"/>
            </a:avLst>
          </a:prstGeom>
          <a:solidFill>
            <a:srgbClr val="5A3F87"/>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4</a:t>
            </a:r>
          </a:p>
        </p:txBody>
      </p:sp>
      <p:sp>
        <p:nvSpPr>
          <p:cNvPr id="42" name="Text 41"/>
          <p:cNvSpPr txBox="1"/>
          <p:nvPr/>
        </p:nvSpPr>
        <p:spPr>
          <a:xfrm>
            <a:off x="604520" y="4078569"/>
            <a:ext cx="281178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5A3F87"/>
                </a:solidFill>
                <a:latin typeface="IBM Plex Sans Arabic"/>
                <a:ea typeface="IBM Plex Sans Arabic"/>
                <a:cs typeface="IBM Plex Sans Arabic"/>
              </a:rPr>
              <a:t>من يعتمد، ومتى تُراجع؟</a:t>
            </a:r>
          </a:p>
        </p:txBody>
      </p:sp>
      <p:sp>
        <p:nvSpPr>
          <p:cNvPr id="43" name="Text 42"/>
          <p:cNvSpPr txBox="1"/>
          <p:nvPr/>
        </p:nvSpPr>
        <p:spPr>
          <a:xfrm>
            <a:off x="604520" y="4309015"/>
            <a:ext cx="2811780"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إصدار وتاريخ وصاحب صلاحية.</a:t>
            </a:r>
          </a:p>
        </p:txBody>
      </p:sp>
      <p:sp>
        <p:nvSpPr>
          <p:cNvPr id="44" name="Text 43"/>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45" name="Text 44"/>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281319" y="812800"/>
            <a:ext cx="2097881"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نموذج الخطوط الثلاثة: من يفعل ماذا في المخاطر؟</a:t>
            </a:r>
          </a:p>
        </p:txBody>
      </p:sp>
      <p:sp>
        <p:nvSpPr>
          <p:cNvPr id="5" name="Box 4"/>
          <p:cNvSpPr/>
          <p:nvPr/>
        </p:nvSpPr>
        <p:spPr>
          <a:xfrm>
            <a:off x="812800" y="1832570"/>
            <a:ext cx="10566400" cy="467916"/>
          </a:xfrm>
          <a:prstGeom prst="roundRect">
            <a:avLst>
              <a:gd name="adj" fmla="val 18999"/>
            </a:avLst>
          </a:prstGeom>
          <a:solidFill>
            <a:srgbClr val="172433"/>
          </a:solidFill>
          <a:ln>
            <a:noFill/>
          </a:ln>
        </p:spPr>
        <p:txBody>
          <a:bodyPr rtlCol="0" anchor="ctr"/>
          <a:lstStyle/>
          <a:p>
            <a:pPr algn="ctr"/>
          </a:p>
        </p:txBody>
      </p:sp>
      <p:pic>
        <p:nvPicPr>
          <p:cNvPr id="6" name="Icon Users 5" descr="icon018.png"/>
          <p:cNvPicPr>
            <a:picLocks noChangeAspect="1"/>
          </p:cNvPicPr>
          <p:nvPr/>
        </p:nvPicPr>
        <p:blipFill>
          <a:blip r:embed="rId2"/>
          <a:stretch>
            <a:fillRect/>
          </a:stretch>
        </p:blipFill>
        <p:spPr>
          <a:xfrm>
            <a:off x="10972800" y="1952228"/>
            <a:ext cx="228600" cy="228600"/>
          </a:xfrm>
          <a:prstGeom prst="rect">
            <a:avLst/>
          </a:prstGeom>
        </p:spPr>
      </p:pic>
      <p:sp>
        <p:nvSpPr>
          <p:cNvPr id="7" name="Text 6"/>
          <p:cNvSpPr txBox="1"/>
          <p:nvPr/>
        </p:nvSpPr>
        <p:spPr>
          <a:xfrm>
            <a:off x="838200" y="1917152"/>
            <a:ext cx="10007600" cy="239316"/>
          </a:xfrm>
          <a:prstGeom prst="rect">
            <a:avLst/>
          </a:prstGeom>
          <a:noFill/>
        </p:spPr>
        <p:txBody>
          <a:bodyPr wrap="square" tIns="0" rIns="0" bIns="0" lIns="0" anchor="t" rtlCol="0" anchorCtr="0">
            <a:noAutofit/>
          </a:bodyPr>
          <a:lstStyle/>
          <a:p>
            <a:pPr algn="r" rtl="1">
              <a:lnSpc>
                <a:spcPts val="1885"/>
              </a:lnSpc>
              <a:spcBef>
                <a:spcPts val="0"/>
              </a:spcBef>
              <a:spcAft>
                <a:spcPts val="0"/>
              </a:spcAft>
            </a:pPr>
            <a:r>
              <a:rPr sz="1300" b="1" i="0" lang="ar-SA" altLang="en-US">
                <a:solidFill>
                  <a:srgbClr val="F3EFE6"/>
                </a:solidFill>
                <a:latin typeface="IBM Plex Sans Arabic"/>
                <a:ea typeface="IBM Plex Sans Arabic"/>
                <a:cs typeface="IBM Plex Sans Arabic"/>
              </a:rPr>
              <a:t>جهة الحوكمة</a:t>
            </a:r>
            <a:r>
              <a:rPr sz="1300" b="0" i="0" lang="ar-SA" altLang="en-US">
                <a:solidFill>
                  <a:srgbClr val="F3EFE6"/>
                </a:solidFill>
                <a:latin typeface="IBM Plex Sans Arabic"/>
                <a:ea typeface="IBM Plex Sans Arabic"/>
                <a:cs typeface="IBM Plex Sans Arabic"/>
              </a:rPr>
              <a:t> (مجلس الإدارة أو صاحب الصلاحية واللجان): تحدد التوجه وتحاسب الجميع.</a:t>
            </a:r>
          </a:p>
        </p:txBody>
      </p:sp>
      <p:sp>
        <p:nvSpPr>
          <p:cNvPr id="8" name="Box 7"/>
          <p:cNvSpPr/>
          <p:nvPr/>
        </p:nvSpPr>
        <p:spPr>
          <a:xfrm>
            <a:off x="7945934" y="2478286"/>
            <a:ext cx="3433266" cy="1538486"/>
          </a:xfrm>
          <a:prstGeom prst="roundRect">
            <a:avLst>
              <a:gd name="adj" fmla="val 6603"/>
            </a:avLst>
          </a:prstGeom>
          <a:solidFill>
            <a:srgbClr val="FFFDF8"/>
          </a:solidFill>
          <a:ln>
            <a:noFill/>
          </a:ln>
        </p:spPr>
        <p:txBody>
          <a:bodyPr rtlCol="0" anchor="ctr"/>
          <a:lstStyle/>
          <a:p>
            <a:pPr algn="ctr"/>
          </a:p>
        </p:txBody>
      </p:sp>
      <p:sp>
        <p:nvSpPr>
          <p:cNvPr id="9" name="Rule 8"/>
          <p:cNvSpPr/>
          <p:nvPr/>
        </p:nvSpPr>
        <p:spPr>
          <a:xfrm>
            <a:off x="7945934" y="2478286"/>
            <a:ext cx="3433266" cy="50800"/>
          </a:xfrm>
          <a:prstGeom prst="rect">
            <a:avLst/>
          </a:prstGeom>
          <a:solidFill>
            <a:srgbClr val="3E6FA8"/>
          </a:solidFill>
          <a:ln>
            <a:noFill/>
          </a:ln>
        </p:spPr>
        <p:txBody>
          <a:bodyPr rtlCol="0" anchor="ctr"/>
          <a:lstStyle/>
          <a:p>
            <a:pPr algn="ctr"/>
          </a:p>
        </p:txBody>
      </p:sp>
      <p:sp>
        <p:nvSpPr>
          <p:cNvPr id="10" name="Rule 9"/>
          <p:cNvSpPr/>
          <p:nvPr/>
        </p:nvSpPr>
        <p:spPr>
          <a:xfrm>
            <a:off x="11372850" y="2478286"/>
            <a:ext cx="6350" cy="1538486"/>
          </a:xfrm>
          <a:prstGeom prst="rect">
            <a:avLst/>
          </a:prstGeom>
          <a:solidFill>
            <a:srgbClr val="E1DBCD"/>
          </a:solidFill>
          <a:ln>
            <a:noFill/>
          </a:ln>
        </p:spPr>
        <p:txBody>
          <a:bodyPr rtlCol="0" anchor="ctr"/>
          <a:lstStyle/>
          <a:p>
            <a:pPr algn="ctr"/>
          </a:p>
        </p:txBody>
      </p:sp>
      <p:sp>
        <p:nvSpPr>
          <p:cNvPr id="11" name="Rule 10"/>
          <p:cNvSpPr/>
          <p:nvPr/>
        </p:nvSpPr>
        <p:spPr>
          <a:xfrm>
            <a:off x="7945934" y="4010422"/>
            <a:ext cx="3433266" cy="6350"/>
          </a:xfrm>
          <a:prstGeom prst="rect">
            <a:avLst/>
          </a:prstGeom>
          <a:solidFill>
            <a:srgbClr val="E1DBCD"/>
          </a:solidFill>
          <a:ln>
            <a:noFill/>
          </a:ln>
        </p:spPr>
        <p:txBody>
          <a:bodyPr rtlCol="0" anchor="ctr"/>
          <a:lstStyle/>
          <a:p>
            <a:pPr algn="ctr"/>
          </a:p>
        </p:txBody>
      </p:sp>
      <p:sp>
        <p:nvSpPr>
          <p:cNvPr id="12" name="Rule 11"/>
          <p:cNvSpPr/>
          <p:nvPr/>
        </p:nvSpPr>
        <p:spPr>
          <a:xfrm>
            <a:off x="7945934" y="2478286"/>
            <a:ext cx="6350" cy="1538486"/>
          </a:xfrm>
          <a:prstGeom prst="rect">
            <a:avLst/>
          </a:prstGeom>
          <a:solidFill>
            <a:srgbClr val="E1DBCD"/>
          </a:solidFill>
          <a:ln>
            <a:noFill/>
          </a:ln>
        </p:spPr>
        <p:txBody>
          <a:bodyPr rtlCol="0" anchor="ctr"/>
          <a:lstStyle/>
          <a:p>
            <a:pPr algn="ctr"/>
          </a:p>
        </p:txBody>
      </p:sp>
      <p:sp>
        <p:nvSpPr>
          <p:cNvPr id="13" name="Text 12"/>
          <p:cNvSpPr txBox="1"/>
          <p:nvPr/>
        </p:nvSpPr>
        <p:spPr>
          <a:xfrm>
            <a:off x="7971334" y="2683454"/>
            <a:ext cx="3236416"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2F5C92"/>
                </a:solidFill>
                <a:latin typeface="Readex Pro"/>
                <a:ea typeface="Readex Pro"/>
                <a:cs typeface="Readex Pro"/>
              </a:rPr>
              <a:t>الخط الأول</a:t>
            </a:r>
          </a:p>
        </p:txBody>
      </p:sp>
      <p:sp>
        <p:nvSpPr>
          <p:cNvPr id="14" name="Text 13"/>
          <p:cNvSpPr txBox="1"/>
          <p:nvPr/>
        </p:nvSpPr>
        <p:spPr>
          <a:xfrm>
            <a:off x="7971334" y="2958263"/>
            <a:ext cx="3236416" cy="280591"/>
          </a:xfrm>
          <a:prstGeom prst="rect">
            <a:avLst/>
          </a:prstGeom>
          <a:noFill/>
        </p:spPr>
        <p:txBody>
          <a:bodyPr wrap="square" tIns="0" rIns="0" bIns="0" lIns="0" anchor="t" rtlCol="0" anchorCtr="0">
            <a:noAutofit/>
          </a:bodyPr>
          <a:lstStyle/>
          <a:p>
            <a:pPr algn="r" rtl="1">
              <a:lnSpc>
                <a:spcPts val="2210"/>
              </a:lnSpc>
              <a:spcBef>
                <a:spcPts val="0"/>
              </a:spcBef>
              <a:spcAft>
                <a:spcPts val="0"/>
              </a:spcAft>
            </a:pPr>
            <a:r>
              <a:rPr sz="1700" b="1" i="0" lang="ar-SA" altLang="en-US">
                <a:solidFill>
                  <a:srgbClr val="172433"/>
                </a:solidFill>
                <a:latin typeface="Readex Pro"/>
                <a:ea typeface="Readex Pro"/>
                <a:cs typeface="Readex Pro"/>
              </a:rPr>
              <a:t>الإدارة التشغيلية</a:t>
            </a:r>
          </a:p>
        </p:txBody>
      </p:sp>
      <p:sp>
        <p:nvSpPr>
          <p:cNvPr id="15" name="Text 14"/>
          <p:cNvSpPr txBox="1"/>
          <p:nvPr/>
        </p:nvSpPr>
        <p:spPr>
          <a:xfrm>
            <a:off x="7971334" y="3283843"/>
            <a:ext cx="3236416" cy="238125"/>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0" i="0" lang="ar-SA" altLang="en-US">
                <a:solidFill>
                  <a:srgbClr val="172433"/>
                </a:solidFill>
                <a:latin typeface="IBM Plex Sans Arabic"/>
                <a:ea typeface="IBM Plex Sans Arabic"/>
                <a:cs typeface="IBM Plex Sans Arabic"/>
              </a:rPr>
              <a:t>تملك المخاطر وتطبق الضوابط يومياً.</a:t>
            </a:r>
          </a:p>
        </p:txBody>
      </p:sp>
      <p:sp>
        <p:nvSpPr>
          <p:cNvPr id="16" name="Text 15"/>
          <p:cNvSpPr txBox="1"/>
          <p:nvPr/>
        </p:nvSpPr>
        <p:spPr>
          <a:xfrm>
            <a:off x="7971334" y="3590580"/>
            <a:ext cx="3236416"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تقنية المعلومات، وملاك الأنظمة، والموارد البشرية.</a:t>
            </a:r>
          </a:p>
        </p:txBody>
      </p:sp>
      <p:sp>
        <p:nvSpPr>
          <p:cNvPr id="17" name="Box 16"/>
          <p:cNvSpPr/>
          <p:nvPr/>
        </p:nvSpPr>
        <p:spPr>
          <a:xfrm>
            <a:off x="4372967" y="2478286"/>
            <a:ext cx="3445966" cy="1538486"/>
          </a:xfrm>
          <a:prstGeom prst="roundRect">
            <a:avLst>
              <a:gd name="adj" fmla="val 6603"/>
            </a:avLst>
          </a:prstGeom>
          <a:solidFill>
            <a:srgbClr val="E3F1ED"/>
          </a:solidFill>
          <a:ln>
            <a:noFill/>
          </a:ln>
        </p:spPr>
        <p:txBody>
          <a:bodyPr rtlCol="0" anchor="ctr"/>
          <a:lstStyle/>
          <a:p>
            <a:pPr algn="ctr"/>
          </a:p>
        </p:txBody>
      </p:sp>
      <p:sp>
        <p:nvSpPr>
          <p:cNvPr id="18" name="Rule 17"/>
          <p:cNvSpPr/>
          <p:nvPr/>
        </p:nvSpPr>
        <p:spPr>
          <a:xfrm>
            <a:off x="4372967" y="2478286"/>
            <a:ext cx="3445966" cy="50800"/>
          </a:xfrm>
          <a:prstGeom prst="rect">
            <a:avLst/>
          </a:prstGeom>
          <a:solidFill>
            <a:srgbClr val="0E7C6B"/>
          </a:solidFill>
          <a:ln>
            <a:noFill/>
          </a:ln>
        </p:spPr>
        <p:txBody>
          <a:bodyPr rtlCol="0" anchor="ctr"/>
          <a:lstStyle/>
          <a:p>
            <a:pPr algn="ctr"/>
          </a:p>
        </p:txBody>
      </p:sp>
      <p:sp>
        <p:nvSpPr>
          <p:cNvPr id="19" name="Rule 18"/>
          <p:cNvSpPr/>
          <p:nvPr/>
        </p:nvSpPr>
        <p:spPr>
          <a:xfrm>
            <a:off x="7806234" y="2478286"/>
            <a:ext cx="12700" cy="1538486"/>
          </a:xfrm>
          <a:prstGeom prst="rect">
            <a:avLst/>
          </a:prstGeom>
          <a:solidFill>
            <a:srgbClr val="0E7C6B"/>
          </a:solidFill>
          <a:ln>
            <a:noFill/>
          </a:ln>
        </p:spPr>
        <p:txBody>
          <a:bodyPr rtlCol="0" anchor="ctr"/>
          <a:lstStyle/>
          <a:p>
            <a:pPr algn="ctr"/>
          </a:p>
        </p:txBody>
      </p:sp>
      <p:sp>
        <p:nvSpPr>
          <p:cNvPr id="20" name="Rule 19"/>
          <p:cNvSpPr/>
          <p:nvPr/>
        </p:nvSpPr>
        <p:spPr>
          <a:xfrm>
            <a:off x="4372967" y="4004072"/>
            <a:ext cx="3445966" cy="12700"/>
          </a:xfrm>
          <a:prstGeom prst="rect">
            <a:avLst/>
          </a:prstGeom>
          <a:solidFill>
            <a:srgbClr val="0E7C6B"/>
          </a:solidFill>
          <a:ln>
            <a:noFill/>
          </a:ln>
        </p:spPr>
        <p:txBody>
          <a:bodyPr rtlCol="0" anchor="ctr"/>
          <a:lstStyle/>
          <a:p>
            <a:pPr algn="ctr"/>
          </a:p>
        </p:txBody>
      </p:sp>
      <p:sp>
        <p:nvSpPr>
          <p:cNvPr id="21" name="Rule 20"/>
          <p:cNvSpPr/>
          <p:nvPr/>
        </p:nvSpPr>
        <p:spPr>
          <a:xfrm>
            <a:off x="4372967" y="2478286"/>
            <a:ext cx="12700" cy="1538486"/>
          </a:xfrm>
          <a:prstGeom prst="rect">
            <a:avLst/>
          </a:prstGeom>
          <a:solidFill>
            <a:srgbClr val="0E7C6B"/>
          </a:solidFill>
          <a:ln>
            <a:noFill/>
          </a:ln>
        </p:spPr>
        <p:txBody>
          <a:bodyPr rtlCol="0" anchor="ctr"/>
          <a:lstStyle/>
          <a:p>
            <a:pPr algn="ctr"/>
          </a:p>
        </p:txBody>
      </p:sp>
      <p:sp>
        <p:nvSpPr>
          <p:cNvPr id="22" name="Text 21"/>
          <p:cNvSpPr txBox="1"/>
          <p:nvPr/>
        </p:nvSpPr>
        <p:spPr>
          <a:xfrm>
            <a:off x="4398367" y="2683454"/>
            <a:ext cx="3242766"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0E7C6B"/>
                </a:solidFill>
                <a:latin typeface="Readex Pro"/>
                <a:ea typeface="Readex Pro"/>
                <a:cs typeface="Readex Pro"/>
              </a:rPr>
              <a:t>الخط الثاني · هنا يعمل GRC غالباً</a:t>
            </a:r>
          </a:p>
        </p:txBody>
      </p:sp>
      <p:sp>
        <p:nvSpPr>
          <p:cNvPr id="23" name="Text 22"/>
          <p:cNvSpPr txBox="1"/>
          <p:nvPr/>
        </p:nvSpPr>
        <p:spPr>
          <a:xfrm>
            <a:off x="4398367" y="2958263"/>
            <a:ext cx="3242766" cy="280591"/>
          </a:xfrm>
          <a:prstGeom prst="rect">
            <a:avLst/>
          </a:prstGeom>
          <a:noFill/>
        </p:spPr>
        <p:txBody>
          <a:bodyPr wrap="square" tIns="0" rIns="0" bIns="0" lIns="0" anchor="t" rtlCol="0" anchorCtr="0">
            <a:noAutofit/>
          </a:bodyPr>
          <a:lstStyle/>
          <a:p>
            <a:pPr algn="r" rtl="1">
              <a:lnSpc>
                <a:spcPts val="2210"/>
              </a:lnSpc>
              <a:spcBef>
                <a:spcPts val="0"/>
              </a:spcBef>
              <a:spcAft>
                <a:spcPts val="0"/>
              </a:spcAft>
            </a:pPr>
            <a:r>
              <a:rPr sz="1700" b="1" i="0" lang="ar-SA" altLang="en-US">
                <a:solidFill>
                  <a:srgbClr val="172433"/>
                </a:solidFill>
                <a:latin typeface="Readex Pro"/>
                <a:ea typeface="Readex Pro"/>
                <a:cs typeface="Readex Pro"/>
              </a:rPr>
              <a:t>المخاطر والامتثال</a:t>
            </a:r>
          </a:p>
        </p:txBody>
      </p:sp>
      <p:sp>
        <p:nvSpPr>
          <p:cNvPr id="24" name="Text 23"/>
          <p:cNvSpPr txBox="1"/>
          <p:nvPr/>
        </p:nvSpPr>
        <p:spPr>
          <a:xfrm>
            <a:off x="4398367" y="3283843"/>
            <a:ext cx="3242766" cy="238125"/>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0" i="0" lang="ar-SA" altLang="en-US">
                <a:solidFill>
                  <a:srgbClr val="172433"/>
                </a:solidFill>
                <a:latin typeface="IBM Plex Sans Arabic"/>
                <a:ea typeface="IBM Plex Sans Arabic"/>
                <a:cs typeface="IBM Plex Sans Arabic"/>
              </a:rPr>
              <a:t>يضع الإطار، ويدعم، ويراقب، ويتحدى.</a:t>
            </a:r>
          </a:p>
        </p:txBody>
      </p:sp>
      <p:sp>
        <p:nvSpPr>
          <p:cNvPr id="25" name="Text 24"/>
          <p:cNvSpPr txBox="1"/>
          <p:nvPr/>
        </p:nvSpPr>
        <p:spPr>
          <a:xfrm>
            <a:off x="4398367" y="3590580"/>
            <a:ext cx="3242766"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حوكمة الأمن السيبراني، وإدارة المخاطر، والامتثال.</a:t>
            </a:r>
          </a:p>
        </p:txBody>
      </p:sp>
      <p:sp>
        <p:nvSpPr>
          <p:cNvPr id="26" name="Box 25"/>
          <p:cNvSpPr/>
          <p:nvPr/>
        </p:nvSpPr>
        <p:spPr>
          <a:xfrm>
            <a:off x="812701" y="2478286"/>
            <a:ext cx="3433266" cy="1538486"/>
          </a:xfrm>
          <a:prstGeom prst="roundRect">
            <a:avLst>
              <a:gd name="adj" fmla="val 6603"/>
            </a:avLst>
          </a:prstGeom>
          <a:solidFill>
            <a:srgbClr val="FFFDF8"/>
          </a:solidFill>
          <a:ln>
            <a:noFill/>
          </a:ln>
        </p:spPr>
        <p:txBody>
          <a:bodyPr rtlCol="0" anchor="ctr"/>
          <a:lstStyle/>
          <a:p>
            <a:pPr algn="ctr"/>
          </a:p>
        </p:txBody>
      </p:sp>
      <p:sp>
        <p:nvSpPr>
          <p:cNvPr id="27" name="Rule 26"/>
          <p:cNvSpPr/>
          <p:nvPr/>
        </p:nvSpPr>
        <p:spPr>
          <a:xfrm>
            <a:off x="812701" y="2478286"/>
            <a:ext cx="3433266" cy="50800"/>
          </a:xfrm>
          <a:prstGeom prst="rect">
            <a:avLst/>
          </a:prstGeom>
          <a:solidFill>
            <a:srgbClr val="C27A16"/>
          </a:solidFill>
          <a:ln>
            <a:noFill/>
          </a:ln>
        </p:spPr>
        <p:txBody>
          <a:bodyPr rtlCol="0" anchor="ctr"/>
          <a:lstStyle/>
          <a:p>
            <a:pPr algn="ctr"/>
          </a:p>
        </p:txBody>
      </p:sp>
      <p:sp>
        <p:nvSpPr>
          <p:cNvPr id="28" name="Rule 27"/>
          <p:cNvSpPr/>
          <p:nvPr/>
        </p:nvSpPr>
        <p:spPr>
          <a:xfrm>
            <a:off x="4239617" y="2478286"/>
            <a:ext cx="6350" cy="1538486"/>
          </a:xfrm>
          <a:prstGeom prst="rect">
            <a:avLst/>
          </a:prstGeom>
          <a:solidFill>
            <a:srgbClr val="E1DBCD"/>
          </a:solidFill>
          <a:ln>
            <a:noFill/>
          </a:ln>
        </p:spPr>
        <p:txBody>
          <a:bodyPr rtlCol="0" anchor="ctr"/>
          <a:lstStyle/>
          <a:p>
            <a:pPr algn="ctr"/>
          </a:p>
        </p:txBody>
      </p:sp>
      <p:sp>
        <p:nvSpPr>
          <p:cNvPr id="29" name="Rule 28"/>
          <p:cNvSpPr/>
          <p:nvPr/>
        </p:nvSpPr>
        <p:spPr>
          <a:xfrm>
            <a:off x="812701" y="4010422"/>
            <a:ext cx="3433266" cy="6350"/>
          </a:xfrm>
          <a:prstGeom prst="rect">
            <a:avLst/>
          </a:prstGeom>
          <a:solidFill>
            <a:srgbClr val="E1DBCD"/>
          </a:solidFill>
          <a:ln>
            <a:noFill/>
          </a:ln>
        </p:spPr>
        <p:txBody>
          <a:bodyPr rtlCol="0" anchor="ctr"/>
          <a:lstStyle/>
          <a:p>
            <a:pPr algn="ctr"/>
          </a:p>
        </p:txBody>
      </p:sp>
      <p:sp>
        <p:nvSpPr>
          <p:cNvPr id="30" name="Rule 29"/>
          <p:cNvSpPr/>
          <p:nvPr/>
        </p:nvSpPr>
        <p:spPr>
          <a:xfrm>
            <a:off x="812701" y="2478286"/>
            <a:ext cx="6350" cy="1538486"/>
          </a:xfrm>
          <a:prstGeom prst="rect">
            <a:avLst/>
          </a:prstGeom>
          <a:solidFill>
            <a:srgbClr val="E1DBCD"/>
          </a:solidFill>
          <a:ln>
            <a:noFill/>
          </a:ln>
        </p:spPr>
        <p:txBody>
          <a:bodyPr rtlCol="0" anchor="ctr"/>
          <a:lstStyle/>
          <a:p>
            <a:pPr algn="ctr"/>
          </a:p>
        </p:txBody>
      </p:sp>
      <p:sp>
        <p:nvSpPr>
          <p:cNvPr id="31" name="Text 30"/>
          <p:cNvSpPr txBox="1"/>
          <p:nvPr/>
        </p:nvSpPr>
        <p:spPr>
          <a:xfrm>
            <a:off x="838101" y="2683454"/>
            <a:ext cx="3236416"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9A5F0F"/>
                </a:solidFill>
                <a:latin typeface="Readex Pro"/>
                <a:ea typeface="Readex Pro"/>
                <a:cs typeface="Readex Pro"/>
              </a:rPr>
              <a:t>الخط الثالث</a:t>
            </a:r>
          </a:p>
        </p:txBody>
      </p:sp>
      <p:sp>
        <p:nvSpPr>
          <p:cNvPr id="32" name="Text 31"/>
          <p:cNvSpPr txBox="1"/>
          <p:nvPr/>
        </p:nvSpPr>
        <p:spPr>
          <a:xfrm>
            <a:off x="838101" y="2958263"/>
            <a:ext cx="3236416" cy="280591"/>
          </a:xfrm>
          <a:prstGeom prst="rect">
            <a:avLst/>
          </a:prstGeom>
          <a:noFill/>
        </p:spPr>
        <p:txBody>
          <a:bodyPr wrap="square" tIns="0" rIns="0" bIns="0" lIns="0" anchor="t" rtlCol="0" anchorCtr="0">
            <a:noAutofit/>
          </a:bodyPr>
          <a:lstStyle/>
          <a:p>
            <a:pPr algn="r" rtl="1">
              <a:lnSpc>
                <a:spcPts val="2210"/>
              </a:lnSpc>
              <a:spcBef>
                <a:spcPts val="0"/>
              </a:spcBef>
              <a:spcAft>
                <a:spcPts val="0"/>
              </a:spcAft>
            </a:pPr>
            <a:r>
              <a:rPr sz="1700" b="1" i="0" lang="ar-SA" altLang="en-US">
                <a:solidFill>
                  <a:srgbClr val="172433"/>
                </a:solidFill>
                <a:latin typeface="Readex Pro"/>
                <a:ea typeface="Readex Pro"/>
                <a:cs typeface="Readex Pro"/>
              </a:rPr>
              <a:t>المراجعة الداخلية</a:t>
            </a:r>
          </a:p>
        </p:txBody>
      </p:sp>
      <p:sp>
        <p:nvSpPr>
          <p:cNvPr id="33" name="Text 32"/>
          <p:cNvSpPr txBox="1"/>
          <p:nvPr/>
        </p:nvSpPr>
        <p:spPr>
          <a:xfrm>
            <a:off x="838101" y="3283843"/>
            <a:ext cx="3236416" cy="238125"/>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0" i="0" lang="ar-SA" altLang="en-US">
                <a:solidFill>
                  <a:srgbClr val="172433"/>
                </a:solidFill>
                <a:latin typeface="IBM Plex Sans Arabic"/>
                <a:ea typeface="IBM Plex Sans Arabic"/>
                <a:cs typeface="IBM Plex Sans Arabic"/>
              </a:rPr>
              <a:t>تأكيد مستقل لجهة الحوكمة.</a:t>
            </a:r>
          </a:p>
        </p:txBody>
      </p:sp>
      <p:sp>
        <p:nvSpPr>
          <p:cNvPr id="34" name="Text 33"/>
          <p:cNvSpPr txBox="1"/>
          <p:nvPr/>
        </p:nvSpPr>
        <p:spPr>
          <a:xfrm>
            <a:off x="838101" y="3590580"/>
            <a:ext cx="3236416"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لا تنفذ الضوابط ولا تصممها، لتبقى مستقلة.</a:t>
            </a:r>
          </a:p>
        </p:txBody>
      </p:sp>
      <p:sp>
        <p:nvSpPr>
          <p:cNvPr id="35" name="Box 34"/>
          <p:cNvSpPr/>
          <p:nvPr/>
        </p:nvSpPr>
        <p:spPr>
          <a:xfrm>
            <a:off x="819150" y="4200922"/>
            <a:ext cx="10553700" cy="446088"/>
          </a:xfrm>
          <a:prstGeom prst="roundRect">
            <a:avLst>
              <a:gd name="adj" fmla="val 19377"/>
            </a:avLst>
          </a:prstGeom>
          <a:noFill/>
          <a:ln w="12700">
            <a:solidFill>
              <a:srgbClr val="B9B09C"/>
            </a:solidFill>
            <a:prstDash val="dash"/>
          </a:ln>
        </p:spPr>
        <p:txBody>
          <a:bodyPr rtlCol="0" anchor="ctr"/>
          <a:lstStyle/>
          <a:p>
            <a:pPr algn="ctr"/>
          </a:p>
        </p:txBody>
      </p:sp>
      <p:pic>
        <p:nvPicPr>
          <p:cNvPr id="36" name="Icon Globe 35" descr="icon019.png"/>
          <p:cNvPicPr>
            <a:picLocks noChangeAspect="1"/>
          </p:cNvPicPr>
          <p:nvPr/>
        </p:nvPicPr>
        <p:blipFill>
          <a:blip r:embed="rId3"/>
          <a:stretch>
            <a:fillRect/>
          </a:stretch>
        </p:blipFill>
        <p:spPr>
          <a:xfrm>
            <a:off x="10998200" y="4322366"/>
            <a:ext cx="203200" cy="203200"/>
          </a:xfrm>
          <a:prstGeom prst="rect">
            <a:avLst/>
          </a:prstGeom>
        </p:spPr>
      </p:pic>
      <p:sp>
        <p:nvSpPr>
          <p:cNvPr id="37" name="Text 36"/>
          <p:cNvSpPr txBox="1"/>
          <p:nvPr/>
        </p:nvSpPr>
        <p:spPr>
          <a:xfrm>
            <a:off x="838200" y="4280297"/>
            <a:ext cx="10058400"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1" i="0" lang="ar-SA" altLang="en-US">
                <a:solidFill>
                  <a:srgbClr val="4E5A66"/>
                </a:solidFill>
                <a:latin typeface="IBM Plex Sans Arabic"/>
                <a:ea typeface="IBM Plex Sans Arabic"/>
                <a:cs typeface="IBM Plex Sans Arabic"/>
              </a:rPr>
              <a:t>من الخارج:</a:t>
            </a:r>
            <a:r>
              <a:rPr sz="1250" b="0" i="0" lang="ar-SA" altLang="en-US">
                <a:solidFill>
                  <a:srgbClr val="4E5A66"/>
                </a:solidFill>
                <a:latin typeface="IBM Plex Sans Arabic"/>
                <a:ea typeface="IBM Plex Sans Arabic"/>
                <a:cs typeface="IBM Plex Sans Arabic"/>
              </a:rPr>
              <a:t> المدقق الخارجي والجهات الرقابية يقدمون تأكيداً إضافياً.</a:t>
            </a:r>
          </a:p>
        </p:txBody>
      </p:sp>
      <p:sp>
        <p:nvSpPr>
          <p:cNvPr id="38" name="Text 37"/>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39" name="Text 38"/>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أمن العاملين: الانضمام وتغيير الدور والمغادرة</a:t>
            </a:r>
          </a:p>
        </p:txBody>
      </p:sp>
      <p:sp>
        <p:nvSpPr>
          <p:cNvPr id="5" name="Rule 4"/>
          <p:cNvSpPr/>
          <p:nvPr/>
        </p:nvSpPr>
        <p:spPr>
          <a:xfrm>
            <a:off x="8097540" y="1632545"/>
            <a:ext cx="3281660" cy="31750"/>
          </a:xfrm>
          <a:prstGeom prst="rect">
            <a:avLst/>
          </a:prstGeom>
          <a:solidFill>
            <a:srgbClr val="0E7C6B"/>
          </a:solidFill>
          <a:ln>
            <a:noFill/>
          </a:ln>
        </p:spPr>
        <p:txBody>
          <a:bodyPr rtlCol="0" anchor="ctr"/>
          <a:lstStyle/>
          <a:p>
            <a:pPr algn="ctr"/>
          </a:p>
        </p:txBody>
      </p:sp>
      <p:sp>
        <p:nvSpPr>
          <p:cNvPr id="6" name="Text 5"/>
          <p:cNvSpPr txBox="1"/>
          <p:nvPr/>
        </p:nvSpPr>
        <p:spPr>
          <a:xfrm>
            <a:off x="8122940" y="1774785"/>
            <a:ext cx="321816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lang="ar-SA" altLang="en-US">
                <a:solidFill>
                  <a:srgbClr val="0E7C6B"/>
                </a:solidFill>
                <a:latin typeface="Readex Pro"/>
                <a:ea typeface="Readex Pro"/>
                <a:cs typeface="Readex Pro"/>
              </a:rPr>
              <a:t>الانضمام</a:t>
            </a:r>
          </a:p>
        </p:txBody>
      </p:sp>
      <p:sp>
        <p:nvSpPr>
          <p:cNvPr id="7" name="Text 6"/>
          <p:cNvSpPr txBox="1"/>
          <p:nvPr/>
        </p:nvSpPr>
        <p:spPr>
          <a:xfrm>
            <a:off x="8122940" y="2194647"/>
            <a:ext cx="3218160" cy="994172"/>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lang="ar-SA" altLang="en-US">
                <a:solidFill>
                  <a:srgbClr val="172433"/>
                </a:solidFill>
                <a:latin typeface="IBM Plex Sans Arabic"/>
                <a:ea typeface="IBM Plex Sans Arabic"/>
                <a:cs typeface="IBM Plex Sans Arabic"/>
              </a:rPr>
              <a:t>بنود المسؤوليات والسرية في العقد، وتوعية عند البدء، وصلاحيات حسب الدور.</a:t>
            </a:r>
          </a:p>
        </p:txBody>
      </p:sp>
      <p:sp>
        <p:nvSpPr>
          <p:cNvPr id="8" name="Text 7"/>
          <p:cNvSpPr txBox="1"/>
          <p:nvPr/>
        </p:nvSpPr>
        <p:spPr>
          <a:xfrm>
            <a:off x="8122940" y="3265019"/>
            <a:ext cx="3218160" cy="994172"/>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lang="ar-SA" altLang="en-US">
                <a:solidFill>
                  <a:srgbClr val="4E5A66"/>
                </a:solidFill>
                <a:latin typeface="IBM Plex Sans Arabic"/>
                <a:ea typeface="IBM Plex Sans Arabic"/>
                <a:cs typeface="IBM Plex Sans Arabic"/>
              </a:rPr>
              <a:t>مثال: لا يحصل الموظف الجديد على حساب الرواتب قبل طلب معتمد من مديره.</a:t>
            </a:r>
          </a:p>
        </p:txBody>
      </p:sp>
      <p:sp>
        <p:nvSpPr>
          <p:cNvPr id="9" name="Text box 8"/>
          <p:cNvSpPr/>
          <p:nvPr/>
        </p:nvSpPr>
        <p:spPr>
          <a:xfrm>
            <a:off x="8135640" y="4376539"/>
            <a:ext cx="3205460" cy="732631"/>
          </a:xfrm>
          <a:prstGeom prst="rect">
            <a:avLst/>
          </a:prstGeom>
          <a:noFill/>
          <a:ln>
            <a:noFill/>
          </a:ln>
        </p:spPr>
        <p:txBody>
          <a:bodyPr rtlCol="0" anchor="ctr" wrap="square" tIns="28702" rIns="0" bIns="41148" lIns="0" anchorCtr="0">
            <a:noAutofit/>
          </a:bodyPr>
          <a:lstStyle/>
          <a:p>
            <a:pPr algn="r" rtl="1">
              <a:lnSpc>
                <a:spcPts val="2610"/>
              </a:lnSpc>
              <a:spcBef>
                <a:spcPts val="0"/>
              </a:spcBef>
              <a:spcAft>
                <a:spcPts val="0"/>
              </a:spcAft>
            </a:pPr>
            <a:r>
              <a:rPr sz="1800" b="1" i="0" lang="ar-SA" altLang="en-US">
                <a:solidFill>
                  <a:srgbClr val="172433"/>
                </a:solidFill>
                <a:latin typeface="IBM Plex Sans Arabic"/>
                <a:ea typeface="IBM Plex Sans Arabic"/>
                <a:cs typeface="IBM Plex Sans Arabic"/>
              </a:rPr>
              <a:t>الدليل: عقد موقّع، وسجل إكمال التوعية، وطلب الصلاحيات.</a:t>
            </a:r>
          </a:p>
        </p:txBody>
      </p:sp>
      <p:sp>
        <p:nvSpPr>
          <p:cNvPr id="10" name="Rule 9"/>
          <p:cNvSpPr/>
          <p:nvPr/>
        </p:nvSpPr>
        <p:spPr>
          <a:xfrm>
            <a:off x="8135640" y="4376539"/>
            <a:ext cx="3205460" cy="6350"/>
          </a:xfrm>
          <a:prstGeom prst="rect">
            <a:avLst/>
          </a:prstGeom>
          <a:solidFill>
            <a:srgbClr val="E1DBCD"/>
          </a:solidFill>
          <a:ln>
            <a:noFill/>
          </a:ln>
        </p:spPr>
        <p:txBody>
          <a:bodyPr rtlCol="0" anchor="ctr"/>
          <a:lstStyle/>
          <a:p>
            <a:pPr algn="ctr"/>
          </a:p>
        </p:txBody>
      </p:sp>
      <p:sp>
        <p:nvSpPr>
          <p:cNvPr id="11" name="Text 10"/>
          <p:cNvSpPr txBox="1"/>
          <p:nvPr/>
        </p:nvSpPr>
        <p:spPr>
          <a:xfrm>
            <a:off x="7660580" y="3267988"/>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2" name="Rule 11"/>
          <p:cNvSpPr/>
          <p:nvPr/>
        </p:nvSpPr>
        <p:spPr>
          <a:xfrm>
            <a:off x="4455120" y="1632545"/>
            <a:ext cx="3281660" cy="31750"/>
          </a:xfrm>
          <a:prstGeom prst="rect">
            <a:avLst/>
          </a:prstGeom>
          <a:solidFill>
            <a:srgbClr val="24506B"/>
          </a:solidFill>
          <a:ln>
            <a:noFill/>
          </a:ln>
        </p:spPr>
        <p:txBody>
          <a:bodyPr rtlCol="0" anchor="ctr"/>
          <a:lstStyle/>
          <a:p>
            <a:pPr algn="ctr"/>
          </a:p>
        </p:txBody>
      </p:sp>
      <p:sp>
        <p:nvSpPr>
          <p:cNvPr id="13" name="Text 12"/>
          <p:cNvSpPr txBox="1"/>
          <p:nvPr/>
        </p:nvSpPr>
        <p:spPr>
          <a:xfrm>
            <a:off x="4480520" y="1774785"/>
            <a:ext cx="321816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lang="ar-SA" altLang="en-US">
                <a:solidFill>
                  <a:srgbClr val="24506B"/>
                </a:solidFill>
                <a:latin typeface="Readex Pro"/>
                <a:ea typeface="Readex Pro"/>
                <a:cs typeface="Readex Pro"/>
              </a:rPr>
              <a:t>تغيير الدور</a:t>
            </a:r>
          </a:p>
        </p:txBody>
      </p:sp>
      <p:sp>
        <p:nvSpPr>
          <p:cNvPr id="14" name="Text 13"/>
          <p:cNvSpPr txBox="1"/>
          <p:nvPr/>
        </p:nvSpPr>
        <p:spPr>
          <a:xfrm>
            <a:off x="4480520" y="2194647"/>
            <a:ext cx="3218160"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lang="ar-SA" altLang="en-US">
                <a:solidFill>
                  <a:srgbClr val="172433"/>
                </a:solidFill>
                <a:latin typeface="IBM Plex Sans Arabic"/>
                <a:ea typeface="IBM Plex Sans Arabic"/>
                <a:cs typeface="IBM Plex Sans Arabic"/>
              </a:rPr>
              <a:t>تُضاف صلاحيات الدور الجديد، وتُزال صلاحيات القديم في الوقت نفسه.</a:t>
            </a:r>
          </a:p>
        </p:txBody>
      </p:sp>
      <p:sp>
        <p:nvSpPr>
          <p:cNvPr id="15" name="Text 14"/>
          <p:cNvSpPr txBox="1"/>
          <p:nvPr/>
        </p:nvSpPr>
        <p:spPr>
          <a:xfrm>
            <a:off x="4480520" y="2933629"/>
            <a:ext cx="3218160" cy="994172"/>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lang="ar-SA" altLang="en-US">
                <a:solidFill>
                  <a:srgbClr val="4E5A66"/>
                </a:solidFill>
                <a:latin typeface="IBM Plex Sans Arabic"/>
                <a:ea typeface="IBM Plex Sans Arabic"/>
                <a:cs typeface="IBM Plex Sans Arabic"/>
              </a:rPr>
              <a:t>مثال: موظف انتقل إلى العمليات، وبقيت معه صلاحية «تعديل الرواتب» ثلاثة أشهر.</a:t>
            </a:r>
          </a:p>
        </p:txBody>
      </p:sp>
      <p:sp>
        <p:nvSpPr>
          <p:cNvPr id="16" name="Text box 15"/>
          <p:cNvSpPr/>
          <p:nvPr/>
        </p:nvSpPr>
        <p:spPr>
          <a:xfrm>
            <a:off x="4493220" y="4045148"/>
            <a:ext cx="3205460" cy="732631"/>
          </a:xfrm>
          <a:prstGeom prst="rect">
            <a:avLst/>
          </a:prstGeom>
          <a:noFill/>
          <a:ln>
            <a:noFill/>
          </a:ln>
        </p:spPr>
        <p:txBody>
          <a:bodyPr rtlCol="0" anchor="ctr" wrap="square" tIns="28702" rIns="0" bIns="41148" lIns="0" anchorCtr="0">
            <a:noAutofit/>
          </a:bodyPr>
          <a:lstStyle/>
          <a:p>
            <a:pPr algn="r" rtl="1">
              <a:lnSpc>
                <a:spcPts val="2610"/>
              </a:lnSpc>
              <a:spcBef>
                <a:spcPts val="0"/>
              </a:spcBef>
              <a:spcAft>
                <a:spcPts val="0"/>
              </a:spcAft>
            </a:pPr>
            <a:r>
              <a:rPr sz="1800" b="1" i="0" lang="ar-SA" altLang="en-US">
                <a:solidFill>
                  <a:srgbClr val="172433"/>
                </a:solidFill>
                <a:latin typeface="IBM Plex Sans Arabic"/>
                <a:ea typeface="IBM Plex Sans Arabic"/>
                <a:cs typeface="IBM Plex Sans Arabic"/>
              </a:rPr>
              <a:t>الدليل: طلب النقل، وتذكرة تعديل الصلاحيات بتاريخها.</a:t>
            </a:r>
          </a:p>
        </p:txBody>
      </p:sp>
      <p:sp>
        <p:nvSpPr>
          <p:cNvPr id="17" name="Rule 16"/>
          <p:cNvSpPr/>
          <p:nvPr/>
        </p:nvSpPr>
        <p:spPr>
          <a:xfrm>
            <a:off x="4493220" y="4045148"/>
            <a:ext cx="3205460" cy="6350"/>
          </a:xfrm>
          <a:prstGeom prst="rect">
            <a:avLst/>
          </a:prstGeom>
          <a:solidFill>
            <a:srgbClr val="E1DBCD"/>
          </a:solidFill>
          <a:ln>
            <a:noFill/>
          </a:ln>
        </p:spPr>
        <p:txBody>
          <a:bodyPr rtlCol="0" anchor="ctr"/>
          <a:lstStyle/>
          <a:p>
            <a:pPr algn="ctr"/>
          </a:p>
        </p:txBody>
      </p:sp>
      <p:sp>
        <p:nvSpPr>
          <p:cNvPr id="18" name="Text 17"/>
          <p:cNvSpPr txBox="1"/>
          <p:nvPr/>
        </p:nvSpPr>
        <p:spPr>
          <a:xfrm>
            <a:off x="4018161" y="3267988"/>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9" name="Rule 18"/>
          <p:cNvSpPr/>
          <p:nvPr/>
        </p:nvSpPr>
        <p:spPr>
          <a:xfrm>
            <a:off x="812701" y="1632545"/>
            <a:ext cx="3281660" cy="31750"/>
          </a:xfrm>
          <a:prstGeom prst="rect">
            <a:avLst/>
          </a:prstGeom>
          <a:solidFill>
            <a:srgbClr val="8A4B12"/>
          </a:solidFill>
          <a:ln>
            <a:noFill/>
          </a:ln>
        </p:spPr>
        <p:txBody>
          <a:bodyPr rtlCol="0" anchor="ctr"/>
          <a:lstStyle/>
          <a:p>
            <a:pPr algn="ctr"/>
          </a:p>
        </p:txBody>
      </p:sp>
      <p:sp>
        <p:nvSpPr>
          <p:cNvPr id="20" name="Text 19"/>
          <p:cNvSpPr txBox="1"/>
          <p:nvPr/>
        </p:nvSpPr>
        <p:spPr>
          <a:xfrm>
            <a:off x="838101" y="1774785"/>
            <a:ext cx="321816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lang="ar-SA" altLang="en-US">
                <a:solidFill>
                  <a:srgbClr val="8A4B12"/>
                </a:solidFill>
                <a:latin typeface="Readex Pro"/>
                <a:ea typeface="Readex Pro"/>
                <a:cs typeface="Readex Pro"/>
              </a:rPr>
              <a:t>المغادرة</a:t>
            </a:r>
          </a:p>
        </p:txBody>
      </p:sp>
      <p:sp>
        <p:nvSpPr>
          <p:cNvPr id="21" name="Text 20"/>
          <p:cNvSpPr txBox="1"/>
          <p:nvPr/>
        </p:nvSpPr>
        <p:spPr>
          <a:xfrm>
            <a:off x="838101" y="2194647"/>
            <a:ext cx="3218160"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lang="ar-SA" altLang="en-US">
                <a:solidFill>
                  <a:srgbClr val="172433"/>
                </a:solidFill>
                <a:latin typeface="IBM Plex Sans Arabic"/>
                <a:ea typeface="IBM Plex Sans Arabic"/>
                <a:cs typeface="IBM Plex Sans Arabic"/>
              </a:rPr>
              <a:t>مراجعة الصلاحيات وإلغاؤها مباشرة، واستعادة الأصول، وتذكير بالسرية.</a:t>
            </a:r>
          </a:p>
        </p:txBody>
      </p:sp>
      <p:sp>
        <p:nvSpPr>
          <p:cNvPr id="22" name="Text 21"/>
          <p:cNvSpPr txBox="1"/>
          <p:nvPr/>
        </p:nvSpPr>
        <p:spPr>
          <a:xfrm>
            <a:off x="838101" y="2933629"/>
            <a:ext cx="3218160"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lang="ar-SA" altLang="en-US">
                <a:solidFill>
                  <a:srgbClr val="4E5A66"/>
                </a:solidFill>
                <a:latin typeface="IBM Plex Sans Arabic"/>
                <a:ea typeface="IBM Plex Sans Arabic"/>
                <a:cs typeface="IBM Plex Sans Arabic"/>
              </a:rPr>
              <a:t>مثال: الموارد البشرية تبلّغ تقنية المعلومات قبل آخر يوم عمل.</a:t>
            </a:r>
          </a:p>
        </p:txBody>
      </p:sp>
      <p:sp>
        <p:nvSpPr>
          <p:cNvPr id="23" name="Text box 22"/>
          <p:cNvSpPr/>
          <p:nvPr/>
        </p:nvSpPr>
        <p:spPr>
          <a:xfrm>
            <a:off x="850801" y="3713758"/>
            <a:ext cx="3205460" cy="732631"/>
          </a:xfrm>
          <a:prstGeom prst="rect">
            <a:avLst/>
          </a:prstGeom>
          <a:noFill/>
          <a:ln>
            <a:noFill/>
          </a:ln>
        </p:spPr>
        <p:txBody>
          <a:bodyPr rtlCol="0" anchor="ctr" wrap="square" tIns="28702" rIns="0" bIns="41148" lIns="0" anchorCtr="0">
            <a:noAutofit/>
          </a:bodyPr>
          <a:lstStyle/>
          <a:p>
            <a:pPr algn="r" rtl="1">
              <a:lnSpc>
                <a:spcPts val="2610"/>
              </a:lnSpc>
              <a:spcBef>
                <a:spcPts val="0"/>
              </a:spcBef>
              <a:spcAft>
                <a:spcPts val="0"/>
              </a:spcAft>
            </a:pPr>
            <a:r>
              <a:rPr sz="1800" b="1" i="0" lang="ar-SA" altLang="en-US">
                <a:solidFill>
                  <a:srgbClr val="172433"/>
                </a:solidFill>
                <a:latin typeface="IBM Plex Sans Arabic"/>
                <a:ea typeface="IBM Plex Sans Arabic"/>
                <a:cs typeface="IBM Plex Sans Arabic"/>
              </a:rPr>
              <a:t>الدليل: إشعار الموارد البشرية، وتذاكر الإلغاء، ومحضر استلام الأصول.</a:t>
            </a:r>
          </a:p>
        </p:txBody>
      </p:sp>
      <p:sp>
        <p:nvSpPr>
          <p:cNvPr id="24" name="Rule 23"/>
          <p:cNvSpPr/>
          <p:nvPr/>
        </p:nvSpPr>
        <p:spPr>
          <a:xfrm>
            <a:off x="850801" y="3713758"/>
            <a:ext cx="3205460" cy="6350"/>
          </a:xfrm>
          <a:prstGeom prst="rect">
            <a:avLst/>
          </a:prstGeom>
          <a:solidFill>
            <a:srgbClr val="E1DBCD"/>
          </a:solidFill>
          <a:ln>
            <a:noFill/>
          </a:ln>
        </p:spPr>
        <p:txBody>
          <a:bodyPr rtlCol="0" anchor="ctr"/>
          <a:lstStyle/>
          <a:p>
            <a:pPr algn="ctr"/>
          </a:p>
        </p:txBody>
      </p:sp>
      <p:sp>
        <p:nvSpPr>
          <p:cNvPr id="25" name="Box 24"/>
          <p:cNvSpPr/>
          <p:nvPr/>
        </p:nvSpPr>
        <p:spPr>
          <a:xfrm>
            <a:off x="812800" y="5299670"/>
            <a:ext cx="10566400" cy="573980"/>
          </a:xfrm>
          <a:prstGeom prst="roundRect">
            <a:avLst>
              <a:gd name="adj" fmla="val 17700"/>
            </a:avLst>
          </a:prstGeom>
          <a:solidFill>
            <a:srgbClr val="E3F1ED"/>
          </a:solidFill>
          <a:ln>
            <a:noFill/>
          </a:ln>
        </p:spPr>
        <p:txBody>
          <a:bodyPr rtlCol="0" anchor="ctr"/>
          <a:lstStyle/>
          <a:p>
            <a:pPr algn="ctr"/>
          </a:p>
        </p:txBody>
      </p:sp>
      <p:pic>
        <p:nvPicPr>
          <p:cNvPr id="26" name="Icon Lightbulb 25" descr="icon020.png"/>
          <p:cNvPicPr>
            <a:picLocks noChangeAspect="1"/>
          </p:cNvPicPr>
          <p:nvPr/>
        </p:nvPicPr>
        <p:blipFill>
          <a:blip r:embed="rId2"/>
          <a:stretch>
            <a:fillRect/>
          </a:stretch>
        </p:blipFill>
        <p:spPr>
          <a:xfrm>
            <a:off x="10966450" y="5469136"/>
            <a:ext cx="234950" cy="234950"/>
          </a:xfrm>
          <a:prstGeom prst="rect">
            <a:avLst/>
          </a:prstGeom>
        </p:spPr>
      </p:pic>
      <p:sp>
        <p:nvSpPr>
          <p:cNvPr id="27" name="Text 26"/>
          <p:cNvSpPr txBox="1"/>
          <p:nvPr/>
        </p:nvSpPr>
        <p:spPr>
          <a:xfrm>
            <a:off x="838200" y="5391237"/>
            <a:ext cx="100139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lang="ar-SA" altLang="en-US">
                <a:solidFill>
                  <a:srgbClr val="172433"/>
                </a:solidFill>
                <a:latin typeface="IBM Plex Sans Arabic"/>
                <a:ea typeface="IBM Plex Sans Arabic"/>
                <a:cs typeface="IBM Plex Sans Arabic"/>
              </a:rPr>
              <a:t>التوعية ليست محاضرة سنوية فقط: عند الانضمام وخلال العمل، ويُقاس إكمالها.</a:t>
            </a:r>
          </a:p>
        </p:txBody>
      </p:sp>
      <p:sp>
        <p:nvSpPr>
          <p:cNvPr id="28" name="Text 27"/>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29" name="Text 28"/>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281319" y="812800"/>
            <a:ext cx="2097881"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الأدلة والتدقيق: كيف نثبت أن الضابط يعمل؟</a:t>
            </a:r>
          </a:p>
        </p:txBody>
      </p:sp>
      <p:sp>
        <p:nvSpPr>
          <p:cNvPr id="5" name="Text 4"/>
          <p:cNvSpPr txBox="1"/>
          <p:nvPr/>
        </p:nvSpPr>
        <p:spPr>
          <a:xfrm>
            <a:off x="5810504" y="1843937"/>
            <a:ext cx="5568696" cy="280591"/>
          </a:xfrm>
          <a:prstGeom prst="rect">
            <a:avLst/>
          </a:prstGeom>
          <a:noFill/>
        </p:spPr>
        <p:txBody>
          <a:bodyPr wrap="square" tIns="0" rIns="0" bIns="0" lIns="0" anchor="t" rtlCol="0" anchorCtr="0">
            <a:noAutofit/>
          </a:bodyPr>
          <a:lstStyle/>
          <a:p>
            <a:pPr algn="r" rtl="1">
              <a:lnSpc>
                <a:spcPts val="2210"/>
              </a:lnSpc>
              <a:spcBef>
                <a:spcPts val="0"/>
              </a:spcBef>
              <a:spcAft>
                <a:spcPts val="0"/>
              </a:spcAft>
            </a:pPr>
            <a:r>
              <a:rPr sz="1700" b="1" i="0" lang="ar-SA" altLang="en-US">
                <a:solidFill>
                  <a:srgbClr val="0E7C6B"/>
                </a:solidFill>
                <a:latin typeface="Readex Pro"/>
                <a:ea typeface="Readex Pro"/>
                <a:cs typeface="Readex Pro"/>
              </a:rPr>
              <a:t>أنواع الأدلة</a:t>
            </a:r>
          </a:p>
        </p:txBody>
      </p:sp>
      <p:pic>
        <p:nvPicPr>
          <p:cNvPr id="6" name="Icon Book 5" descr="icon021.png"/>
          <p:cNvPicPr>
            <a:picLocks noChangeAspect="1"/>
          </p:cNvPicPr>
          <p:nvPr/>
        </p:nvPicPr>
        <p:blipFill>
          <a:blip r:embed="rId2"/>
          <a:stretch>
            <a:fillRect/>
          </a:stretch>
        </p:blipFill>
        <p:spPr>
          <a:xfrm>
            <a:off x="11176000" y="2258219"/>
            <a:ext cx="203200" cy="203200"/>
          </a:xfrm>
          <a:prstGeom prst="rect">
            <a:avLst/>
          </a:prstGeom>
        </p:spPr>
      </p:pic>
      <p:sp>
        <p:nvSpPr>
          <p:cNvPr id="7" name="Text 6"/>
          <p:cNvSpPr txBox="1"/>
          <p:nvPr/>
        </p:nvSpPr>
        <p:spPr>
          <a:xfrm>
            <a:off x="5832856" y="2210443"/>
            <a:ext cx="5266944" cy="239316"/>
          </a:xfrm>
          <a:prstGeom prst="rect">
            <a:avLst/>
          </a:prstGeom>
          <a:noFill/>
        </p:spPr>
        <p:txBody>
          <a:bodyPr wrap="square" tIns="0" rIns="0" bIns="0" lIns="0" anchor="t" rtlCol="0" anchorCtr="0">
            <a:noAutofit/>
          </a:bodyPr>
          <a:lstStyle/>
          <a:p>
            <a:pPr algn="r" rtl="1">
              <a:lnSpc>
                <a:spcPts val="1885"/>
              </a:lnSpc>
              <a:spcBef>
                <a:spcPts val="0"/>
              </a:spcBef>
              <a:spcAft>
                <a:spcPts val="0"/>
              </a:spcAft>
            </a:pPr>
            <a:r>
              <a:rPr sz="1300" b="0" i="0" lang="ar-SA" altLang="en-US">
                <a:solidFill>
                  <a:srgbClr val="172433"/>
                </a:solidFill>
                <a:latin typeface="IBM Plex Sans Arabic"/>
                <a:ea typeface="IBM Plex Sans Arabic"/>
                <a:cs typeface="IBM Plex Sans Arabic"/>
              </a:rPr>
              <a:t>وثيقة معتمدة: سياسة، أو محضر</a:t>
            </a:r>
          </a:p>
        </p:txBody>
      </p:sp>
      <p:pic>
        <p:nvPicPr>
          <p:cNvPr id="8" name="Icon Settings 7" descr="icon022.png"/>
          <p:cNvPicPr>
            <a:picLocks noChangeAspect="1"/>
          </p:cNvPicPr>
          <p:nvPr/>
        </p:nvPicPr>
        <p:blipFill>
          <a:blip r:embed="rId3"/>
          <a:stretch>
            <a:fillRect/>
          </a:stretch>
        </p:blipFill>
        <p:spPr>
          <a:xfrm>
            <a:off x="11176000" y="2599134"/>
            <a:ext cx="203200" cy="203200"/>
          </a:xfrm>
          <a:prstGeom prst="rect">
            <a:avLst/>
          </a:prstGeom>
        </p:spPr>
      </p:pic>
      <p:sp>
        <p:nvSpPr>
          <p:cNvPr id="9" name="Text 8"/>
          <p:cNvSpPr txBox="1"/>
          <p:nvPr/>
        </p:nvSpPr>
        <p:spPr>
          <a:xfrm>
            <a:off x="5832856" y="2551359"/>
            <a:ext cx="5266944" cy="239316"/>
          </a:xfrm>
          <a:prstGeom prst="rect">
            <a:avLst/>
          </a:prstGeom>
          <a:noFill/>
        </p:spPr>
        <p:txBody>
          <a:bodyPr wrap="square" tIns="0" rIns="0" bIns="0" lIns="0" anchor="t" rtlCol="0" anchorCtr="0">
            <a:noAutofit/>
          </a:bodyPr>
          <a:lstStyle/>
          <a:p>
            <a:pPr algn="r" rtl="1">
              <a:lnSpc>
                <a:spcPts val="1885"/>
              </a:lnSpc>
              <a:spcBef>
                <a:spcPts val="0"/>
              </a:spcBef>
              <a:spcAft>
                <a:spcPts val="0"/>
              </a:spcAft>
            </a:pPr>
            <a:r>
              <a:rPr sz="1300" b="0" i="0" lang="ar-SA" altLang="en-US">
                <a:solidFill>
                  <a:srgbClr val="172433"/>
                </a:solidFill>
                <a:latin typeface="IBM Plex Sans Arabic"/>
                <a:ea typeface="IBM Plex Sans Arabic"/>
                <a:cs typeface="IBM Plex Sans Arabic"/>
              </a:rPr>
              <a:t>إعداد من النظام: تصدير مؤرخ</a:t>
            </a:r>
          </a:p>
        </p:txBody>
      </p:sp>
      <p:pic>
        <p:nvPicPr>
          <p:cNvPr id="10" name="Icon Database 9" descr="icon023.png"/>
          <p:cNvPicPr>
            <a:picLocks noChangeAspect="1"/>
          </p:cNvPicPr>
          <p:nvPr/>
        </p:nvPicPr>
        <p:blipFill>
          <a:blip r:embed="rId4"/>
          <a:stretch>
            <a:fillRect/>
          </a:stretch>
        </p:blipFill>
        <p:spPr>
          <a:xfrm>
            <a:off x="11176000" y="2940050"/>
            <a:ext cx="203200" cy="203200"/>
          </a:xfrm>
          <a:prstGeom prst="rect">
            <a:avLst/>
          </a:prstGeom>
        </p:spPr>
      </p:pic>
      <p:sp>
        <p:nvSpPr>
          <p:cNvPr id="11" name="Text 10"/>
          <p:cNvSpPr txBox="1"/>
          <p:nvPr/>
        </p:nvSpPr>
        <p:spPr>
          <a:xfrm>
            <a:off x="5832856" y="2892274"/>
            <a:ext cx="5266944" cy="239316"/>
          </a:xfrm>
          <a:prstGeom prst="rect">
            <a:avLst/>
          </a:prstGeom>
          <a:noFill/>
        </p:spPr>
        <p:txBody>
          <a:bodyPr wrap="square" tIns="0" rIns="0" bIns="0" lIns="0" anchor="t" rtlCol="0" anchorCtr="0">
            <a:noAutofit/>
          </a:bodyPr>
          <a:lstStyle/>
          <a:p>
            <a:pPr algn="r" rtl="1">
              <a:lnSpc>
                <a:spcPts val="1885"/>
              </a:lnSpc>
              <a:spcBef>
                <a:spcPts val="0"/>
              </a:spcBef>
              <a:spcAft>
                <a:spcPts val="0"/>
              </a:spcAft>
            </a:pPr>
            <a:r>
              <a:rPr sz="1300" b="0" i="0" lang="ar-SA" altLang="en-US">
                <a:solidFill>
                  <a:srgbClr val="172433"/>
                </a:solidFill>
                <a:latin typeface="IBM Plex Sans Arabic"/>
                <a:ea typeface="IBM Plex Sans Arabic"/>
                <a:cs typeface="IBM Plex Sans Arabic"/>
              </a:rPr>
              <a:t>سجلات وتقارير: ما حدث فعلاً</a:t>
            </a:r>
          </a:p>
        </p:txBody>
      </p:sp>
      <p:pic>
        <p:nvPicPr>
          <p:cNvPr id="12" name="Icon Chat 11" descr="icon024.png"/>
          <p:cNvPicPr>
            <a:picLocks noChangeAspect="1"/>
          </p:cNvPicPr>
          <p:nvPr/>
        </p:nvPicPr>
        <p:blipFill>
          <a:blip r:embed="rId5"/>
          <a:stretch>
            <a:fillRect/>
          </a:stretch>
        </p:blipFill>
        <p:spPr>
          <a:xfrm>
            <a:off x="11176000" y="3280966"/>
            <a:ext cx="203200" cy="203200"/>
          </a:xfrm>
          <a:prstGeom prst="rect">
            <a:avLst/>
          </a:prstGeom>
        </p:spPr>
      </p:pic>
      <p:sp>
        <p:nvSpPr>
          <p:cNvPr id="13" name="Text 12"/>
          <p:cNvSpPr txBox="1"/>
          <p:nvPr/>
        </p:nvSpPr>
        <p:spPr>
          <a:xfrm>
            <a:off x="5832856" y="3233190"/>
            <a:ext cx="5266944" cy="239316"/>
          </a:xfrm>
          <a:prstGeom prst="rect">
            <a:avLst/>
          </a:prstGeom>
          <a:noFill/>
        </p:spPr>
        <p:txBody>
          <a:bodyPr wrap="square" tIns="0" rIns="0" bIns="0" lIns="0" anchor="t" rtlCol="0" anchorCtr="0">
            <a:noAutofit/>
          </a:bodyPr>
          <a:lstStyle/>
          <a:p>
            <a:pPr algn="r" rtl="1">
              <a:lnSpc>
                <a:spcPts val="1885"/>
              </a:lnSpc>
              <a:spcBef>
                <a:spcPts val="0"/>
              </a:spcBef>
              <a:spcAft>
                <a:spcPts val="0"/>
              </a:spcAft>
            </a:pPr>
            <a:r>
              <a:rPr sz="1300" b="0" i="0" lang="ar-SA" altLang="en-US">
                <a:solidFill>
                  <a:srgbClr val="172433"/>
                </a:solidFill>
                <a:latin typeface="IBM Plex Sans Arabic"/>
                <a:ea typeface="IBM Plex Sans Arabic"/>
                <a:cs typeface="IBM Plex Sans Arabic"/>
              </a:rPr>
              <a:t>مقابلة أو ملاحظة مباشرة</a:t>
            </a:r>
          </a:p>
        </p:txBody>
      </p:sp>
      <p:sp>
        <p:nvSpPr>
          <p:cNvPr id="14" name="Box 13"/>
          <p:cNvSpPr/>
          <p:nvPr/>
        </p:nvSpPr>
        <p:spPr>
          <a:xfrm>
            <a:off x="6226175" y="3606998"/>
            <a:ext cx="5149850" cy="749895"/>
          </a:xfrm>
          <a:prstGeom prst="roundRect">
            <a:avLst>
              <a:gd name="adj" fmla="val 11755"/>
            </a:avLst>
          </a:prstGeom>
          <a:solidFill>
            <a:srgbClr val="FFFDF8"/>
          </a:solidFill>
          <a:ln w="6350">
            <a:solidFill>
              <a:srgbClr val="E1DBCD"/>
            </a:solidFill>
          </a:ln>
        </p:spPr>
        <p:txBody>
          <a:bodyPr rtlCol="0" anchor="ctr"/>
          <a:lstStyle/>
          <a:p>
            <a:pPr algn="ctr"/>
          </a:p>
        </p:txBody>
      </p:sp>
      <p:sp>
        <p:nvSpPr>
          <p:cNvPr id="15" name="Text 14"/>
          <p:cNvSpPr txBox="1"/>
          <p:nvPr/>
        </p:nvSpPr>
        <p:spPr>
          <a:xfrm>
            <a:off x="6248400" y="3713551"/>
            <a:ext cx="49720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4E5A66"/>
                </a:solidFill>
                <a:latin typeface="IBM Plex Sans Arabic"/>
                <a:ea typeface="IBM Plex Sans Arabic"/>
                <a:cs typeface="IBM Plex Sans Arabic"/>
              </a:rPr>
              <a:t>الدليل الجيد</a:t>
            </a:r>
          </a:p>
        </p:txBody>
      </p:sp>
      <p:sp>
        <p:nvSpPr>
          <p:cNvPr id="16" name="Text 15"/>
          <p:cNvSpPr txBox="1"/>
          <p:nvPr/>
        </p:nvSpPr>
        <p:spPr>
          <a:xfrm>
            <a:off x="6248400" y="3956050"/>
            <a:ext cx="4972050" cy="238125"/>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0" i="0" lang="ar-SA" altLang="en-US">
                <a:solidFill>
                  <a:srgbClr val="172433"/>
                </a:solidFill>
                <a:latin typeface="IBM Plex Sans Arabic"/>
                <a:ea typeface="IBM Plex Sans Arabic"/>
                <a:cs typeface="IBM Plex Sans Arabic"/>
              </a:rPr>
              <a:t>مرتبط بالضابط، ومؤرخ ضمن الفترة، ومن مصدره، ويغطي المجتمع كله أو عينة مبررة.</a:t>
            </a:r>
          </a:p>
        </p:txBody>
      </p:sp>
      <p:sp>
        <p:nvSpPr>
          <p:cNvPr id="17" name="Text 16"/>
          <p:cNvSpPr txBox="1"/>
          <p:nvPr/>
        </p:nvSpPr>
        <p:spPr>
          <a:xfrm>
            <a:off x="400304" y="1843937"/>
            <a:ext cx="5568696" cy="280591"/>
          </a:xfrm>
          <a:prstGeom prst="rect">
            <a:avLst/>
          </a:prstGeom>
          <a:noFill/>
        </p:spPr>
        <p:txBody>
          <a:bodyPr wrap="square" tIns="0" rIns="0" bIns="0" lIns="0" anchor="t" rtlCol="0" anchorCtr="0">
            <a:noAutofit/>
          </a:bodyPr>
          <a:lstStyle/>
          <a:p>
            <a:pPr algn="r" rtl="1">
              <a:lnSpc>
                <a:spcPts val="2210"/>
              </a:lnSpc>
              <a:spcBef>
                <a:spcPts val="0"/>
              </a:spcBef>
              <a:spcAft>
                <a:spcPts val="0"/>
              </a:spcAft>
            </a:pPr>
            <a:r>
              <a:rPr sz="1700" b="1" i="0" lang="ar-SA" altLang="en-US">
                <a:solidFill>
                  <a:srgbClr val="9A5F0F"/>
                </a:solidFill>
                <a:latin typeface="Readex Pro"/>
                <a:ea typeface="Readex Pro"/>
                <a:cs typeface="Readex Pro"/>
              </a:rPr>
              <a:t>عناصر الملاحظة المكتوبة</a:t>
            </a:r>
          </a:p>
        </p:txBody>
      </p:sp>
      <p:graphicFrame>
        <p:nvGraphicFramePr>
          <p:cNvPr id="18" name="Table 17"/>
          <p:cNvGraphicFramePr>
            <a:graphicFrameLocks noGrp="1"/>
          </p:cNvGraphicFramePr>
          <p:nvPr/>
        </p:nvGraphicFramePr>
        <p:xfrm>
          <a:off x="815975" y="2243336"/>
          <a:ext cx="5149850" cy="2038350"/>
        </p:xfrm>
        <a:graphic>
          <a:graphicData uri="http://schemas.openxmlformats.org/drawingml/2006/table">
            <a:tbl>
              <a:tblPr firstRow="0" bandRow="0" lastRow="0" firstCol="0" lastCol="0" bandCol="0">
                <a:tableStyleId>{2D5ABB26-0587-4C30-8999-92F81FD0307C}</a:tableStyleId>
              </a:tblPr>
              <a:tblGrid>
                <a:gridCol w="3192780"/>
                <a:gridCol w="1957070"/>
              </a:tblGrid>
              <a:tr h="339725">
                <a:tc>
                  <a:txBody>
                    <a:bodyPr wrap="square"/>
                    <a:lstStyle/>
                    <a:p>
                      <a:pPr algn="r" rtl="1">
                        <a:lnSpc>
                          <a:spcPts val="1750"/>
                        </a:lnSpc>
                        <a:spcBef>
                          <a:spcPts val="0"/>
                        </a:spcBef>
                        <a:spcAft>
                          <a:spcPts val="0"/>
                        </a:spcAft>
                      </a:pPr>
                      <a:r>
                        <a:rPr sz="1250" b="1" i="0" lang="ar-SA" altLang="en-US">
                          <a:solidFill>
                            <a:srgbClr val="F3EFE6"/>
                          </a:solidFill>
                          <a:latin typeface="IBM Plex Sans Arabic"/>
                          <a:ea typeface="IBM Plex Sans Arabic"/>
                          <a:cs typeface="IBM Plex Sans Arabic"/>
                        </a:rPr>
                        <a:t>مثال</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750"/>
                        </a:lnSpc>
                        <a:spcBef>
                          <a:spcPts val="0"/>
                        </a:spcBef>
                        <a:spcAft>
                          <a:spcPts val="0"/>
                        </a:spcAft>
                      </a:pPr>
                      <a:r>
                        <a:rPr sz="1250" b="1" i="0" lang="ar-SA" altLang="en-US">
                          <a:solidFill>
                            <a:srgbClr val="F3EFE6"/>
                          </a:solidFill>
                          <a:latin typeface="IBM Plex Sans Arabic"/>
                          <a:ea typeface="IBM Plex Sans Arabic"/>
                          <a:cs typeface="IBM Plex Sans Arabic"/>
                        </a:rPr>
                        <a:t>العنصر</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339725">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13 حساباً مميزاً بلا تحقق متعدد العوامل</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750"/>
                        </a:lnSpc>
                        <a:spcBef>
                          <a:spcPts val="0"/>
                        </a:spcBef>
                        <a:spcAft>
                          <a:spcPts val="0"/>
                        </a:spcAft>
                      </a:pPr>
                      <a:r>
                        <a:rPr sz="1250" b="1" i="0" lang="ar-SA" altLang="en-US">
                          <a:solidFill>
                            <a:srgbClr val="172433"/>
                          </a:solidFill>
                          <a:latin typeface="IBM Plex Sans Arabic"/>
                          <a:ea typeface="IBM Plex Sans Arabic"/>
                          <a:cs typeface="IBM Plex Sans Arabic"/>
                        </a:rPr>
                        <a:t>الوضع القائم</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39725">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السياسة تشترطه لكل الحسابات المميزة</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750"/>
                        </a:lnSpc>
                        <a:spcBef>
                          <a:spcPts val="0"/>
                        </a:spcBef>
                        <a:spcAft>
                          <a:spcPts val="0"/>
                        </a:spcAft>
                      </a:pPr>
                      <a:r>
                        <a:rPr sz="1250" b="1" i="0" lang="ar-SA" altLang="en-US">
                          <a:solidFill>
                            <a:srgbClr val="172433"/>
                          </a:solidFill>
                          <a:latin typeface="IBM Plex Sans Arabic"/>
                          <a:ea typeface="IBM Plex Sans Arabic"/>
                          <a:cs typeface="IBM Plex Sans Arabic"/>
                        </a:rPr>
                        <a:t>المعيار</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39725">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لا حصر دوري للحسابات المميزة</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750"/>
                        </a:lnSpc>
                        <a:spcBef>
                          <a:spcPts val="0"/>
                        </a:spcBef>
                        <a:spcAft>
                          <a:spcPts val="0"/>
                        </a:spcAft>
                      </a:pPr>
                      <a:r>
                        <a:rPr sz="1250" b="1" i="0" lang="ar-SA" altLang="en-US">
                          <a:solidFill>
                            <a:srgbClr val="172433"/>
                          </a:solidFill>
                          <a:latin typeface="IBM Plex Sans Arabic"/>
                          <a:ea typeface="IBM Plex Sans Arabic"/>
                          <a:cs typeface="IBM Plex Sans Arabic"/>
                        </a:rPr>
                        <a:t>السبب</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39725">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كلمة مرور مسروقة تكفي للسيطرة</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750"/>
                        </a:lnSpc>
                        <a:spcBef>
                          <a:spcPts val="0"/>
                        </a:spcBef>
                        <a:spcAft>
                          <a:spcPts val="0"/>
                        </a:spcAft>
                      </a:pPr>
                      <a:r>
                        <a:rPr sz="1250" b="1" i="0" lang="ar-SA" altLang="en-US">
                          <a:solidFill>
                            <a:srgbClr val="172433"/>
                          </a:solidFill>
                          <a:latin typeface="IBM Plex Sans Arabic"/>
                          <a:ea typeface="IBM Plex Sans Arabic"/>
                          <a:cs typeface="IBM Plex Sans Arabic"/>
                        </a:rPr>
                        <a:t>الأثر</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39725">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إلزام فوري وحصر شهري، بمالك وموعد</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750"/>
                        </a:lnSpc>
                        <a:spcBef>
                          <a:spcPts val="0"/>
                        </a:spcBef>
                        <a:spcAft>
                          <a:spcPts val="0"/>
                        </a:spcAft>
                      </a:pPr>
                      <a:r>
                        <a:rPr sz="1250" b="1" i="0" lang="ar-SA" altLang="en-US">
                          <a:solidFill>
                            <a:srgbClr val="172433"/>
                          </a:solidFill>
                          <a:latin typeface="IBM Plex Sans Arabic"/>
                          <a:ea typeface="IBM Plex Sans Arabic"/>
                          <a:cs typeface="IBM Plex Sans Arabic"/>
                        </a:rPr>
                        <a:t>التوصية</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19" name="Text 18"/>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20" name="Text 19"/>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التصميم والتنفيذ والتشغيل: ثلاث فجوات مختلفة</a:t>
            </a:r>
          </a:p>
        </p:txBody>
      </p:sp>
      <p:sp>
        <p:nvSpPr>
          <p:cNvPr id="5" name="Rule 4"/>
          <p:cNvSpPr/>
          <p:nvPr/>
        </p:nvSpPr>
        <p:spPr>
          <a:xfrm>
            <a:off x="8097540" y="1645245"/>
            <a:ext cx="3281660" cy="31750"/>
          </a:xfrm>
          <a:prstGeom prst="rect">
            <a:avLst/>
          </a:prstGeom>
          <a:solidFill>
            <a:srgbClr val="0E7C6B"/>
          </a:solidFill>
          <a:ln>
            <a:noFill/>
          </a:ln>
        </p:spPr>
        <p:txBody>
          <a:bodyPr rtlCol="0" anchor="ctr"/>
          <a:lstStyle/>
          <a:p>
            <a:pPr algn="ctr"/>
          </a:p>
        </p:txBody>
      </p:sp>
      <p:sp>
        <p:nvSpPr>
          <p:cNvPr id="6" name="Text 5"/>
          <p:cNvSpPr txBox="1"/>
          <p:nvPr/>
        </p:nvSpPr>
        <p:spPr>
          <a:xfrm>
            <a:off x="8122940" y="1840444"/>
            <a:ext cx="321816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1</a:t>
            </a:r>
          </a:p>
        </p:txBody>
      </p:sp>
      <p:sp>
        <p:nvSpPr>
          <p:cNvPr id="7" name="Text 6"/>
          <p:cNvSpPr txBox="1"/>
          <p:nvPr/>
        </p:nvSpPr>
        <p:spPr>
          <a:xfrm>
            <a:off x="8122940" y="2149435"/>
            <a:ext cx="321816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lang="ar-SA" altLang="en-US">
                <a:solidFill>
                  <a:srgbClr val="0E7C6B"/>
                </a:solidFill>
                <a:latin typeface="Readex Pro"/>
                <a:ea typeface="Readex Pro"/>
                <a:cs typeface="Readex Pro"/>
              </a:rPr>
              <a:t>ملاءمة التصميم</a:t>
            </a:r>
          </a:p>
        </p:txBody>
      </p:sp>
      <p:sp>
        <p:nvSpPr>
          <p:cNvPr id="8" name="Text 7"/>
          <p:cNvSpPr txBox="1"/>
          <p:nvPr/>
        </p:nvSpPr>
        <p:spPr>
          <a:xfrm>
            <a:off x="8122940" y="2494875"/>
            <a:ext cx="321816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1" i="0" lang="ar-SA" altLang="en-US">
                <a:solidFill>
                  <a:srgbClr val="172433"/>
                </a:solidFill>
                <a:latin typeface="IBM Plex Sans Arabic"/>
                <a:ea typeface="IBM Plex Sans Arabic"/>
                <a:cs typeface="IBM Plex Sans Arabic"/>
              </a:rPr>
              <a:t>هل الضابط، كما صُمّم، يغطي الخطر والنطاق المطلوبين؟</a:t>
            </a:r>
          </a:p>
        </p:txBody>
      </p:sp>
      <p:sp>
        <p:nvSpPr>
          <p:cNvPr id="9" name="Text 8"/>
          <p:cNvSpPr txBox="1"/>
          <p:nvPr/>
        </p:nvSpPr>
        <p:spPr>
          <a:xfrm>
            <a:off x="8122940" y="3294975"/>
            <a:ext cx="321816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4E5A66"/>
                </a:solidFill>
                <a:latin typeface="IBM Plex Sans Arabic"/>
                <a:ea typeface="IBM Plex Sans Arabic"/>
                <a:cs typeface="IBM Plex Sans Arabic"/>
              </a:rPr>
              <a:t>الدليل: نص الإجراء أو المعيار، ونطاقه، ومقارنته بالخطر والأنظمة.</a:t>
            </a:r>
          </a:p>
        </p:txBody>
      </p:sp>
      <p:sp>
        <p:nvSpPr>
          <p:cNvPr id="10" name="Text 9"/>
          <p:cNvSpPr txBox="1"/>
          <p:nvPr/>
        </p:nvSpPr>
        <p:spPr>
          <a:xfrm>
            <a:off x="7660580" y="275840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1" name="Rule 10"/>
          <p:cNvSpPr/>
          <p:nvPr/>
        </p:nvSpPr>
        <p:spPr>
          <a:xfrm>
            <a:off x="4455120" y="1645245"/>
            <a:ext cx="3281660" cy="31750"/>
          </a:xfrm>
          <a:prstGeom prst="rect">
            <a:avLst/>
          </a:prstGeom>
          <a:solidFill>
            <a:srgbClr val="24506B"/>
          </a:solidFill>
          <a:ln>
            <a:noFill/>
          </a:ln>
        </p:spPr>
        <p:txBody>
          <a:bodyPr rtlCol="0" anchor="ctr"/>
          <a:lstStyle/>
          <a:p>
            <a:pPr algn="ctr"/>
          </a:p>
        </p:txBody>
      </p:sp>
      <p:sp>
        <p:nvSpPr>
          <p:cNvPr id="12" name="Text 11"/>
          <p:cNvSpPr txBox="1"/>
          <p:nvPr/>
        </p:nvSpPr>
        <p:spPr>
          <a:xfrm>
            <a:off x="4480520" y="1840444"/>
            <a:ext cx="321816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24506B"/>
                </a:solidFill>
                <a:latin typeface="Readex Pro"/>
                <a:ea typeface="Readex Pro"/>
                <a:cs typeface="Readex Pro"/>
              </a:rPr>
              <a:t>2</a:t>
            </a:r>
          </a:p>
        </p:txBody>
      </p:sp>
      <p:sp>
        <p:nvSpPr>
          <p:cNvPr id="13" name="Text 12"/>
          <p:cNvSpPr txBox="1"/>
          <p:nvPr/>
        </p:nvSpPr>
        <p:spPr>
          <a:xfrm>
            <a:off x="4480520" y="2149435"/>
            <a:ext cx="321816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lang="ar-SA" altLang="en-US">
                <a:solidFill>
                  <a:srgbClr val="24506B"/>
                </a:solidFill>
                <a:latin typeface="Readex Pro"/>
                <a:ea typeface="Readex Pro"/>
                <a:cs typeface="Readex Pro"/>
              </a:rPr>
              <a:t>التنفيذ</a:t>
            </a:r>
          </a:p>
        </p:txBody>
      </p:sp>
      <p:sp>
        <p:nvSpPr>
          <p:cNvPr id="14" name="Text 13"/>
          <p:cNvSpPr txBox="1"/>
          <p:nvPr/>
        </p:nvSpPr>
        <p:spPr>
          <a:xfrm>
            <a:off x="4480520" y="2494875"/>
            <a:ext cx="321816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1" i="0" lang="ar-SA" altLang="en-US">
                <a:solidFill>
                  <a:srgbClr val="172433"/>
                </a:solidFill>
                <a:latin typeface="IBM Plex Sans Arabic"/>
                <a:ea typeface="IBM Plex Sans Arabic"/>
                <a:cs typeface="IBM Plex Sans Arabic"/>
              </a:rPr>
              <a:t>هل طبقت الجهة الضابط فعلاً كما صُمّم؟</a:t>
            </a:r>
          </a:p>
        </p:txBody>
      </p:sp>
      <p:sp>
        <p:nvSpPr>
          <p:cNvPr id="15" name="Text 14"/>
          <p:cNvSpPr txBox="1"/>
          <p:nvPr/>
        </p:nvSpPr>
        <p:spPr>
          <a:xfrm>
            <a:off x="4480520" y="3294975"/>
            <a:ext cx="321816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4E5A66"/>
                </a:solidFill>
                <a:latin typeface="IBM Plex Sans Arabic"/>
                <a:ea typeface="IBM Plex Sans Arabic"/>
                <a:cs typeface="IBM Plex Sans Arabic"/>
              </a:rPr>
              <a:t>الدليل: أول تشغيل: إعداد، أو ملف، أو تذكرة بتاريخ.</a:t>
            </a:r>
          </a:p>
        </p:txBody>
      </p:sp>
      <p:sp>
        <p:nvSpPr>
          <p:cNvPr id="16" name="Text 15"/>
          <p:cNvSpPr txBox="1"/>
          <p:nvPr/>
        </p:nvSpPr>
        <p:spPr>
          <a:xfrm>
            <a:off x="4018161" y="275840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7" name="Rule 16"/>
          <p:cNvSpPr/>
          <p:nvPr/>
        </p:nvSpPr>
        <p:spPr>
          <a:xfrm>
            <a:off x="812701" y="1645245"/>
            <a:ext cx="3281660" cy="31750"/>
          </a:xfrm>
          <a:prstGeom prst="rect">
            <a:avLst/>
          </a:prstGeom>
          <a:solidFill>
            <a:srgbClr val="8A4B12"/>
          </a:solidFill>
          <a:ln>
            <a:noFill/>
          </a:ln>
        </p:spPr>
        <p:txBody>
          <a:bodyPr rtlCol="0" anchor="ctr"/>
          <a:lstStyle/>
          <a:p>
            <a:pPr algn="ctr"/>
          </a:p>
        </p:txBody>
      </p:sp>
      <p:sp>
        <p:nvSpPr>
          <p:cNvPr id="18" name="Text 17"/>
          <p:cNvSpPr txBox="1"/>
          <p:nvPr/>
        </p:nvSpPr>
        <p:spPr>
          <a:xfrm>
            <a:off x="838101" y="1840444"/>
            <a:ext cx="321816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8A4B12"/>
                </a:solidFill>
                <a:latin typeface="Readex Pro"/>
                <a:ea typeface="Readex Pro"/>
                <a:cs typeface="Readex Pro"/>
              </a:rPr>
              <a:t>3</a:t>
            </a:r>
          </a:p>
        </p:txBody>
      </p:sp>
      <p:sp>
        <p:nvSpPr>
          <p:cNvPr id="19" name="Text 18"/>
          <p:cNvSpPr txBox="1"/>
          <p:nvPr/>
        </p:nvSpPr>
        <p:spPr>
          <a:xfrm>
            <a:off x="838101" y="2149435"/>
            <a:ext cx="321816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lang="ar-SA" altLang="en-US">
                <a:solidFill>
                  <a:srgbClr val="8A4B12"/>
                </a:solidFill>
                <a:latin typeface="Readex Pro"/>
                <a:ea typeface="Readex Pro"/>
                <a:cs typeface="Readex Pro"/>
              </a:rPr>
              <a:t>فاعلية التشغيل</a:t>
            </a:r>
          </a:p>
        </p:txBody>
      </p:sp>
      <p:sp>
        <p:nvSpPr>
          <p:cNvPr id="20" name="Text 19"/>
          <p:cNvSpPr txBox="1"/>
          <p:nvPr/>
        </p:nvSpPr>
        <p:spPr>
          <a:xfrm>
            <a:off x="838101" y="2494875"/>
            <a:ext cx="321816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1" i="0" lang="ar-SA" altLang="en-US">
                <a:solidFill>
                  <a:srgbClr val="172433"/>
                </a:solidFill>
                <a:latin typeface="IBM Plex Sans Arabic"/>
                <a:ea typeface="IBM Plex Sans Arabic"/>
                <a:cs typeface="IBM Plex Sans Arabic"/>
              </a:rPr>
              <a:t>هل عمل وفق تصميمه، وبالتكرار المطلوب، طوال الفترة؟</a:t>
            </a:r>
          </a:p>
        </p:txBody>
      </p:sp>
      <p:sp>
        <p:nvSpPr>
          <p:cNvPr id="21" name="Text 20"/>
          <p:cNvSpPr txBox="1"/>
          <p:nvPr/>
        </p:nvSpPr>
        <p:spPr>
          <a:xfrm>
            <a:off x="838101" y="3294975"/>
            <a:ext cx="321816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4E5A66"/>
                </a:solidFill>
                <a:latin typeface="IBM Plex Sans Arabic"/>
                <a:ea typeface="IBM Plex Sans Arabic"/>
                <a:cs typeface="IBM Plex Sans Arabic"/>
              </a:rPr>
              <a:t>الدليل: أدلة تغطي الفترة كلها: كل دورة، وكل عينة.</a:t>
            </a:r>
          </a:p>
        </p:txBody>
      </p:sp>
      <p:sp>
        <p:nvSpPr>
          <p:cNvPr id="22" name="Box 21"/>
          <p:cNvSpPr/>
          <p:nvPr/>
        </p:nvSpPr>
        <p:spPr>
          <a:xfrm>
            <a:off x="812800" y="4636095"/>
            <a:ext cx="10566400" cy="609600"/>
          </a:xfrm>
          <a:prstGeom prst="roundRect">
            <a:avLst>
              <a:gd name="adj" fmla="val 16666"/>
            </a:avLst>
          </a:prstGeom>
          <a:solidFill>
            <a:srgbClr val="172433"/>
          </a:solidFill>
          <a:ln>
            <a:noFill/>
          </a:ln>
        </p:spPr>
        <p:txBody>
          <a:bodyPr rtlCol="0" anchor="ctr"/>
          <a:lstStyle/>
          <a:p>
            <a:pPr algn="ctr"/>
          </a:p>
        </p:txBody>
      </p:sp>
      <p:pic>
        <p:nvPicPr>
          <p:cNvPr id="23" name="Icon Lightbulb 22" descr="icon025.png"/>
          <p:cNvPicPr>
            <a:picLocks noChangeAspect="1"/>
          </p:cNvPicPr>
          <p:nvPr/>
        </p:nvPicPr>
        <p:blipFill>
          <a:blip r:embed="rId2"/>
          <a:stretch>
            <a:fillRect/>
          </a:stretch>
        </p:blipFill>
        <p:spPr>
          <a:xfrm>
            <a:off x="10915650" y="4798020"/>
            <a:ext cx="285750" cy="285750"/>
          </a:xfrm>
          <a:prstGeom prst="rect">
            <a:avLst/>
          </a:prstGeom>
        </p:spPr>
      </p:pic>
      <p:sp>
        <p:nvSpPr>
          <p:cNvPr id="24" name="Text 23"/>
          <p:cNvSpPr txBox="1"/>
          <p:nvPr/>
        </p:nvSpPr>
        <p:spPr>
          <a:xfrm>
            <a:off x="838200" y="4723725"/>
            <a:ext cx="9963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lang="ar-SA" altLang="en-US">
                <a:solidFill>
                  <a:srgbClr val="F3EFE6"/>
                </a:solidFill>
                <a:latin typeface="IBM Plex Sans Arabic"/>
                <a:ea typeface="IBM Plex Sans Arabic"/>
                <a:cs typeface="IBM Plex Sans Arabic"/>
              </a:rPr>
              <a:t>اسأل بالترتيب: لا معنى لاختبار تشغيل ضابط سيئ التصميم، أو ضابط لم يُطبق بعد.</a:t>
            </a:r>
          </a:p>
        </p:txBody>
      </p:sp>
      <p:sp>
        <p:nvSpPr>
          <p:cNvPr id="25" name="Text 24"/>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26" name="Text 25"/>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box 3"/>
          <p:cNvSpPr/>
          <p:nvPr/>
        </p:nvSpPr>
        <p:spPr>
          <a:xfrm>
            <a:off x="8025805"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مثال محلول (1 من 2): فجوة تصميم وفجوة تنفيذ</a:t>
            </a:r>
          </a:p>
        </p:txBody>
      </p:sp>
      <p:sp>
        <p:nvSpPr>
          <p:cNvPr id="6" name="Rule 5"/>
          <p:cNvSpPr/>
          <p:nvPr/>
        </p:nvSpPr>
        <p:spPr>
          <a:xfrm>
            <a:off x="812800" y="1683345"/>
            <a:ext cx="10566400" cy="31750"/>
          </a:xfrm>
          <a:prstGeom prst="rect">
            <a:avLst/>
          </a:prstGeom>
          <a:solidFill>
            <a:srgbClr val="0E7C6B"/>
          </a:solidFill>
          <a:ln>
            <a:noFill/>
          </a:ln>
        </p:spPr>
        <p:txBody>
          <a:bodyPr rtlCol="0" anchor="ctr"/>
          <a:lstStyle/>
          <a:p>
            <a:pPr algn="ctr"/>
          </a:p>
        </p:txBody>
      </p:sp>
      <p:sp>
        <p:nvSpPr>
          <p:cNvPr id="7" name="Text 6"/>
          <p:cNvSpPr txBox="1"/>
          <p:nvPr/>
        </p:nvSpPr>
        <p:spPr>
          <a:xfrm>
            <a:off x="812800" y="1789136"/>
            <a:ext cx="1056640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0E7C6B"/>
                </a:solidFill>
                <a:latin typeface="Readex Pro"/>
                <a:ea typeface="Readex Pro"/>
                <a:cs typeface="Readex Pro"/>
              </a:rPr>
              <a:t>1. فجوة تصميم · البريد والملفات السحابية</a:t>
            </a:r>
          </a:p>
        </p:txBody>
      </p:sp>
      <p:sp>
        <p:nvSpPr>
          <p:cNvPr id="8" name="Text 7"/>
          <p:cNvSpPr txBox="1"/>
          <p:nvPr/>
        </p:nvSpPr>
        <p:spPr>
          <a:xfrm>
            <a:off x="7703312" y="2124396"/>
            <a:ext cx="3675888"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lang="ar-SA" altLang="en-US">
                <a:solidFill>
                  <a:srgbClr val="4E5A66"/>
                </a:solidFill>
                <a:latin typeface="IBM Plex Sans Arabic"/>
                <a:ea typeface="IBM Plex Sans Arabic"/>
                <a:cs typeface="IBM Plex Sans Arabic"/>
              </a:rPr>
              <a:t>ما صُمّم ووُثّق</a:t>
            </a:r>
          </a:p>
        </p:txBody>
      </p:sp>
      <p:sp>
        <p:nvSpPr>
          <p:cNvPr id="9" name="Text 8"/>
          <p:cNvSpPr txBox="1"/>
          <p:nvPr/>
        </p:nvSpPr>
        <p:spPr>
          <a:xfrm>
            <a:off x="7873492" y="2389620"/>
            <a:ext cx="3505708"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إجراء مراجعة الصلاحيات: «يراجع مدير كل إدارة حسابات موظفي إدارته كل ستة أشهر».</a:t>
            </a:r>
          </a:p>
        </p:txBody>
      </p:sp>
      <p:sp>
        <p:nvSpPr>
          <p:cNvPr id="10" name="Text 9"/>
          <p:cNvSpPr txBox="1"/>
          <p:nvPr/>
        </p:nvSpPr>
        <p:spPr>
          <a:xfrm>
            <a:off x="4121912" y="2124396"/>
            <a:ext cx="3675888"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lang="ar-SA" altLang="en-US">
                <a:solidFill>
                  <a:srgbClr val="4E5A66"/>
                </a:solidFill>
                <a:latin typeface="IBM Plex Sans Arabic"/>
                <a:ea typeface="IBM Plex Sans Arabic"/>
                <a:cs typeface="IBM Plex Sans Arabic"/>
              </a:rPr>
              <a:t>الدليل</a:t>
            </a:r>
          </a:p>
        </p:txBody>
      </p:sp>
      <p:sp>
        <p:nvSpPr>
          <p:cNvPr id="11" name="Text 10"/>
          <p:cNvSpPr txBox="1"/>
          <p:nvPr/>
        </p:nvSpPr>
        <p:spPr>
          <a:xfrm>
            <a:off x="4292092" y="2389620"/>
            <a:ext cx="3505708" cy="88374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تصدير الحسابات:‏ 203 حسابات، منها 4 حسابات إدارية لا تتبع أي إدارة: admin01، admin02، vendor-⁠admin، svc-⁠backup.</a:t>
            </a:r>
          </a:p>
        </p:txBody>
      </p:sp>
      <p:sp>
        <p:nvSpPr>
          <p:cNvPr id="12" name="Text 11"/>
          <p:cNvSpPr txBox="1"/>
          <p:nvPr/>
        </p:nvSpPr>
        <p:spPr>
          <a:xfrm>
            <a:off x="812800" y="2124396"/>
            <a:ext cx="34036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lang="ar-SA" altLang="en-US">
                <a:solidFill>
                  <a:srgbClr val="4E5A66"/>
                </a:solidFill>
                <a:latin typeface="IBM Plex Sans Arabic"/>
                <a:ea typeface="IBM Plex Sans Arabic"/>
                <a:cs typeface="IBM Plex Sans Arabic"/>
              </a:rPr>
              <a:t>الاستنتاج</a:t>
            </a:r>
          </a:p>
        </p:txBody>
      </p:sp>
      <p:sp>
        <p:nvSpPr>
          <p:cNvPr id="13" name="Text 12"/>
          <p:cNvSpPr txBox="1"/>
          <p:nvPr/>
        </p:nvSpPr>
        <p:spPr>
          <a:xfrm>
            <a:off x="812800" y="2389620"/>
            <a:ext cx="3403600" cy="88374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لا مدير يراجع الحسابات الإدارية، فهي خارج المراجعة بالتصميم. ولو نُفذ الإجراء بإتقان لبقيت أخطر الحسابات بلا مراجعة.</a:t>
            </a:r>
          </a:p>
        </p:txBody>
      </p:sp>
      <p:sp>
        <p:nvSpPr>
          <p:cNvPr id="14" name="Rule 13"/>
          <p:cNvSpPr/>
          <p:nvPr/>
        </p:nvSpPr>
        <p:spPr>
          <a:xfrm>
            <a:off x="812800" y="3525838"/>
            <a:ext cx="10566400" cy="31750"/>
          </a:xfrm>
          <a:prstGeom prst="rect">
            <a:avLst/>
          </a:prstGeom>
          <a:solidFill>
            <a:srgbClr val="24506B"/>
          </a:solidFill>
          <a:ln>
            <a:noFill/>
          </a:ln>
        </p:spPr>
        <p:txBody>
          <a:bodyPr rtlCol="0" anchor="ctr"/>
          <a:lstStyle/>
          <a:p>
            <a:pPr algn="ctr"/>
          </a:p>
        </p:txBody>
      </p:sp>
      <p:sp>
        <p:nvSpPr>
          <p:cNvPr id="15" name="Text 14"/>
          <p:cNvSpPr txBox="1"/>
          <p:nvPr/>
        </p:nvSpPr>
        <p:spPr>
          <a:xfrm>
            <a:off x="812800" y="3631628"/>
            <a:ext cx="1056640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24506B"/>
                </a:solidFill>
                <a:latin typeface="Readex Pro"/>
                <a:ea typeface="Readex Pro"/>
                <a:cs typeface="Readex Pro"/>
              </a:rPr>
              <a:t>2. فجوة تنفيذ · تطبيق تتبع الشحنات</a:t>
            </a:r>
          </a:p>
        </p:txBody>
      </p:sp>
      <p:sp>
        <p:nvSpPr>
          <p:cNvPr id="16" name="Text 15"/>
          <p:cNvSpPr txBox="1"/>
          <p:nvPr/>
        </p:nvSpPr>
        <p:spPr>
          <a:xfrm>
            <a:off x="7703312" y="3966889"/>
            <a:ext cx="3675888"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lang="ar-SA" altLang="en-US">
                <a:solidFill>
                  <a:srgbClr val="4E5A66"/>
                </a:solidFill>
                <a:latin typeface="IBM Plex Sans Arabic"/>
                <a:ea typeface="IBM Plex Sans Arabic"/>
                <a:cs typeface="IBM Plex Sans Arabic"/>
              </a:rPr>
              <a:t>ما صُمّم ووُثّق</a:t>
            </a:r>
          </a:p>
        </p:txBody>
      </p:sp>
      <p:sp>
        <p:nvSpPr>
          <p:cNvPr id="17" name="Text 16"/>
          <p:cNvSpPr txBox="1"/>
          <p:nvPr/>
        </p:nvSpPr>
        <p:spPr>
          <a:xfrm>
            <a:off x="7873492" y="4232112"/>
            <a:ext cx="3505708" cy="88374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معيار التحكم بالوصول، المعتمد في مارس: يضيف تطبيق التتبع، ومراجعة شاملة لكل حساباته كل 3 أشهر، وأولها قبل نهاية أبريل.</a:t>
            </a:r>
          </a:p>
        </p:txBody>
      </p:sp>
      <p:sp>
        <p:nvSpPr>
          <p:cNvPr id="18" name="Text 17"/>
          <p:cNvSpPr txBox="1"/>
          <p:nvPr/>
        </p:nvSpPr>
        <p:spPr>
          <a:xfrm>
            <a:off x="4121912" y="3966889"/>
            <a:ext cx="3675888"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lang="ar-SA" altLang="en-US">
                <a:solidFill>
                  <a:srgbClr val="4E5A66"/>
                </a:solidFill>
                <a:latin typeface="IBM Plex Sans Arabic"/>
                <a:ea typeface="IBM Plex Sans Arabic"/>
                <a:cs typeface="IBM Plex Sans Arabic"/>
              </a:rPr>
              <a:t>الدليل</a:t>
            </a:r>
          </a:p>
        </p:txBody>
      </p:sp>
      <p:sp>
        <p:nvSpPr>
          <p:cNvPr id="19" name="Text 18"/>
          <p:cNvSpPr txBox="1"/>
          <p:nvPr/>
        </p:nvSpPr>
        <p:spPr>
          <a:xfrm>
            <a:off x="4292092" y="4232112"/>
            <a:ext cx="3505708" cy="88374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لا ملف مراجعة ولا تصدير لمستخدمي التطبيق. بريد من تقنية المعلومات في يوليو: «لم نحدد بعد من يصدّر قائمة المستخدمين».</a:t>
            </a:r>
          </a:p>
        </p:txBody>
      </p:sp>
      <p:sp>
        <p:nvSpPr>
          <p:cNvPr id="20" name="Text 19"/>
          <p:cNvSpPr txBox="1"/>
          <p:nvPr/>
        </p:nvSpPr>
        <p:spPr>
          <a:xfrm>
            <a:off x="812800" y="3966889"/>
            <a:ext cx="34036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lang="ar-SA" altLang="en-US">
                <a:solidFill>
                  <a:srgbClr val="4E5A66"/>
                </a:solidFill>
                <a:latin typeface="IBM Plex Sans Arabic"/>
                <a:ea typeface="IBM Plex Sans Arabic"/>
                <a:cs typeface="IBM Plex Sans Arabic"/>
              </a:rPr>
              <a:t>الاستنتاج</a:t>
            </a:r>
          </a:p>
        </p:txBody>
      </p:sp>
      <p:sp>
        <p:nvSpPr>
          <p:cNvPr id="21" name="Text 20"/>
          <p:cNvSpPr txBox="1"/>
          <p:nvPr/>
        </p:nvSpPr>
        <p:spPr>
          <a:xfrm>
            <a:off x="812800" y="4232112"/>
            <a:ext cx="3403600" cy="88374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الضابط مصمم وموثق ومعتمد، لكنه لم يُطبق مرة واحدة. لا معنى لاختبار فاعليته قبل أن يبدأ.</a:t>
            </a:r>
          </a:p>
        </p:txBody>
      </p:sp>
      <p:sp>
        <p:nvSpPr>
          <p:cNvPr id="22" name="Text 21"/>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23" name="Text 22"/>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box 3"/>
          <p:cNvSpPr/>
          <p:nvPr/>
        </p:nvSpPr>
        <p:spPr>
          <a:xfrm>
            <a:off x="8025805"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مثال محلول (2 من 2): فجوة تشغيل، ولماذا يهمك النوع</a:t>
            </a:r>
          </a:p>
        </p:txBody>
      </p:sp>
      <p:sp>
        <p:nvSpPr>
          <p:cNvPr id="6" name="Rule 5"/>
          <p:cNvSpPr/>
          <p:nvPr/>
        </p:nvSpPr>
        <p:spPr>
          <a:xfrm>
            <a:off x="812800" y="1657945"/>
            <a:ext cx="10566400" cy="31750"/>
          </a:xfrm>
          <a:prstGeom prst="rect">
            <a:avLst/>
          </a:prstGeom>
          <a:solidFill>
            <a:srgbClr val="8A4B12"/>
          </a:solidFill>
          <a:ln>
            <a:noFill/>
          </a:ln>
        </p:spPr>
        <p:txBody>
          <a:bodyPr rtlCol="0" anchor="ctr"/>
          <a:lstStyle/>
          <a:p>
            <a:pPr algn="ctr"/>
          </a:p>
        </p:txBody>
      </p:sp>
      <p:sp>
        <p:nvSpPr>
          <p:cNvPr id="7" name="Text 6"/>
          <p:cNvSpPr txBox="1"/>
          <p:nvPr/>
        </p:nvSpPr>
        <p:spPr>
          <a:xfrm>
            <a:off x="812800" y="1762085"/>
            <a:ext cx="105664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lang="ar-SA" altLang="en-US">
                <a:solidFill>
                  <a:srgbClr val="8A4B12"/>
                </a:solidFill>
                <a:latin typeface="Readex Pro"/>
                <a:ea typeface="Readex Pro"/>
                <a:cs typeface="Readex Pro"/>
              </a:rPr>
              <a:t>3. فجوة تشغيل · نظام الموارد البشرية والرواتب</a:t>
            </a:r>
          </a:p>
        </p:txBody>
      </p:sp>
      <p:sp>
        <p:nvSpPr>
          <p:cNvPr id="8" name="Text 7"/>
          <p:cNvSpPr txBox="1"/>
          <p:nvPr/>
        </p:nvSpPr>
        <p:spPr>
          <a:xfrm>
            <a:off x="7703312" y="2128099"/>
            <a:ext cx="3675888"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4E5A66"/>
                </a:solidFill>
                <a:latin typeface="IBM Plex Sans Arabic"/>
                <a:ea typeface="IBM Plex Sans Arabic"/>
                <a:cs typeface="IBM Plex Sans Arabic"/>
              </a:rPr>
              <a:t>ما صُمّم ووُثّق</a:t>
            </a:r>
          </a:p>
        </p:txBody>
      </p:sp>
      <p:sp>
        <p:nvSpPr>
          <p:cNvPr id="9" name="Text 8"/>
          <p:cNvSpPr txBox="1"/>
          <p:nvPr/>
        </p:nvSpPr>
        <p:spPr>
          <a:xfrm>
            <a:off x="7873492" y="2432879"/>
            <a:ext cx="3505708"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المعيار نفسه: مراجعة صلاحيات الرواتب كل 3 أشهر، يعتمدها مالك النظام.</a:t>
            </a:r>
          </a:p>
        </p:txBody>
      </p:sp>
      <p:sp>
        <p:nvSpPr>
          <p:cNvPr id="10" name="Text 9"/>
          <p:cNvSpPr txBox="1"/>
          <p:nvPr/>
        </p:nvSpPr>
        <p:spPr>
          <a:xfrm>
            <a:off x="4121912" y="2128099"/>
            <a:ext cx="3675888"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4E5A66"/>
                </a:solidFill>
                <a:latin typeface="IBM Plex Sans Arabic"/>
                <a:ea typeface="IBM Plex Sans Arabic"/>
                <a:cs typeface="IBM Plex Sans Arabic"/>
              </a:rPr>
              <a:t>الدليل</a:t>
            </a:r>
          </a:p>
        </p:txBody>
      </p:sp>
      <p:sp>
        <p:nvSpPr>
          <p:cNvPr id="11" name="Text 10"/>
          <p:cNvSpPr txBox="1"/>
          <p:nvPr/>
        </p:nvSpPr>
        <p:spPr>
          <a:xfrm>
            <a:off x="4292092" y="2432879"/>
            <a:ext cx="3505708"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مراجعة الربع الأول منفذة ومعتمدة في 8 أبريل. لا ملف لمراجعة الربع الثاني حتى نهاية يونيو.</a:t>
            </a:r>
          </a:p>
        </p:txBody>
      </p:sp>
      <p:sp>
        <p:nvSpPr>
          <p:cNvPr id="12" name="Text 11"/>
          <p:cNvSpPr txBox="1"/>
          <p:nvPr/>
        </p:nvSpPr>
        <p:spPr>
          <a:xfrm>
            <a:off x="812800" y="2128099"/>
            <a:ext cx="34036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4E5A66"/>
                </a:solidFill>
                <a:latin typeface="IBM Plex Sans Arabic"/>
                <a:ea typeface="IBM Plex Sans Arabic"/>
                <a:cs typeface="IBM Plex Sans Arabic"/>
              </a:rPr>
              <a:t>الاستنتاج</a:t>
            </a:r>
          </a:p>
        </p:txBody>
      </p:sp>
      <p:sp>
        <p:nvSpPr>
          <p:cNvPr id="13" name="Text 12"/>
          <p:cNvSpPr txBox="1"/>
          <p:nvPr/>
        </p:nvSpPr>
        <p:spPr>
          <a:xfrm>
            <a:off x="812800" y="2432879"/>
            <a:ext cx="340360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الضابط صُمم جيداً وطُبق فعلاً، لكنه لم يعمل بالتكرار المطلوب طوال الفترة.</a:t>
            </a:r>
          </a:p>
        </p:txBody>
      </p:sp>
      <p:graphicFrame>
        <p:nvGraphicFramePr>
          <p:cNvPr id="14" name="Table 13"/>
          <p:cNvGraphicFramePr>
            <a:graphicFrameLocks noGrp="1"/>
          </p:cNvGraphicFramePr>
          <p:nvPr/>
        </p:nvGraphicFramePr>
        <p:xfrm>
          <a:off x="815975" y="3576141"/>
          <a:ext cx="10560050" cy="1964928"/>
        </p:xfrm>
        <a:graphic>
          <a:graphicData uri="http://schemas.openxmlformats.org/drawingml/2006/table">
            <a:tbl>
              <a:tblPr firstRow="0" bandRow="0" lastRow="0" firstCol="0" lastCol="0" bandCol="0">
                <a:tableStyleId>{2D5ABB26-0587-4C30-8999-92F81FD0307C}</a:tableStyleId>
              </a:tblPr>
              <a:tblGrid>
                <a:gridCol w="4435475"/>
                <a:gridCol w="4434840"/>
                <a:gridCol w="1689735"/>
              </a:tblGrid>
              <a:tr h="422672">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في المثال</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العلاج المناسب</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نوع الفجوة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2267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إضافة الحسابات الإدارية إلى مراجعة البريد بمراجع محدد.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تعديل الإجراء أو المعيار ليغطي الخطر والنطاق.</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تصميم</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تحديد من يصدّر مستخدمي تطبيق التتبع، وتنفيذ أول مراجعة.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بدء التطبيق: مالك، وأداة، وموعد أول تشغيل.</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24506B"/>
                          </a:solidFill>
                          <a:latin typeface="IBM Plex Sans Arabic"/>
                          <a:ea typeface="IBM Plex Sans Arabic"/>
                          <a:cs typeface="IBM Plex Sans Arabic"/>
                        </a:rPr>
                        <a:t>تنفيذ</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مراجعة الربع الثاني، وجدول بتذكير آلي.</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استعادة الدورة المفقودة، ومتابعة تمنع التكرار.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8A4B12"/>
                          </a:solidFill>
                          <a:latin typeface="IBM Plex Sans Arabic"/>
                          <a:ea typeface="IBM Plex Sans Arabic"/>
                          <a:cs typeface="IBM Plex Sans Arabic"/>
                        </a:rPr>
                        <a:t>تشغيل</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15" name="Text 14"/>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16" name="Text 15"/>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box 3"/>
          <p:cNvSpPr/>
          <p:nvPr/>
        </p:nvSpPr>
        <p:spPr>
          <a:xfrm>
            <a:off x="7497266"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تمرين: ما نوع الفجوة؟</a:t>
            </a:r>
          </a:p>
        </p:txBody>
      </p:sp>
      <p:sp>
        <p:nvSpPr>
          <p:cNvPr id="6" name="Text 5"/>
          <p:cNvSpPr txBox="1"/>
          <p:nvPr/>
        </p:nvSpPr>
        <p:spPr>
          <a:xfrm>
            <a:off x="0" y="1622512"/>
            <a:ext cx="113792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lang="ar-SA" altLang="en-US">
                <a:solidFill>
                  <a:srgbClr val="8A4B12"/>
                </a:solidFill>
                <a:latin typeface="IBM Plex Sans Arabic"/>
                <a:ea typeface="IBM Plex Sans Arabic"/>
                <a:cs typeface="IBM Plex Sans Arabic"/>
              </a:rPr>
              <a:t>لكل موقف: ما نوع الفجوة: تصميم، أم تنفيذ، أم تشغيل؟ ولماذا؟ وما الدليل الذي يؤكد استنتاجك؟ 10 دقائق.</a:t>
            </a:r>
          </a:p>
        </p:txBody>
      </p:sp>
      <p:graphicFrame>
        <p:nvGraphicFramePr>
          <p:cNvPr id="7" name="Table 6"/>
          <p:cNvGraphicFramePr>
            <a:graphicFrameLocks noGrp="1"/>
          </p:cNvGraphicFramePr>
          <p:nvPr/>
        </p:nvGraphicFramePr>
        <p:xfrm>
          <a:off x="815975" y="2171601"/>
          <a:ext cx="10560050" cy="3442296"/>
        </p:xfrm>
        <a:graphic>
          <a:graphicData uri="http://schemas.openxmlformats.org/drawingml/2006/table">
            <a:tbl>
              <a:tblPr firstRow="0" bandRow="0" lastRow="0" firstCol="0" lastCol="0" bandCol="0">
                <a:tableStyleId>{2D5ABB26-0587-4C30-8999-92F81FD0307C}</a:tableStyleId>
              </a:tblPr>
              <a:tblGrid>
                <a:gridCol w="2112010"/>
                <a:gridCol w="2534285"/>
                <a:gridCol w="5280025"/>
                <a:gridCol w="633730"/>
              </a:tblGrid>
              <a:tr h="474861">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الدليل</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نوع الفجوة ولماذا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الموقف</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430"/>
                        </a:lnSpc>
                        <a:spcBef>
                          <a:spcPts val="0"/>
                        </a:spcBef>
                        <a:spcAft>
                          <a:spcPts val="0"/>
                        </a:spcAft>
                      </a:pPr>
                      <a:r>
                        <a:rPr sz="1800" b="1" i="0">
                          <a:solidFill>
                            <a:srgbClr val="F3EFE6"/>
                          </a:solidFill>
                          <a:latin typeface="IBM Plex Sans Arabic"/>
                          <a:ea typeface="IBM Plex Sans Arabic"/>
                          <a:cs typeface="IBM Plex Sans Arabic"/>
                        </a:rPr>
                        <a:t>#</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783431">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معيار الوصول عن بعد يفرض MFA على كل مستخدمي VPN، لكنه يسمح بـ«استثناءات مؤقتة» دون موافقة ولا مدة.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1</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1092002">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سياسة الأطراف الخارجية المعتمدة في مايو تطلب بند إبلاغ عن الحوادث في كل عقد، ولم يُعدَّل عقد مورد الدعم ولم يُرسل له ملحق.</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2</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1092002">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معيار النسخ يطلب نسخة يومية لخادم التتبع، والمهمة مضبوطة يومياً، لكن تقرير المهام يُظهر 9 أيام فاشلة متتالية في مايو دون متابعة.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3</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8" name="Text 7"/>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9" name="Text 8"/>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box 3"/>
          <p:cNvSpPr/>
          <p:nvPr/>
        </p:nvSpPr>
        <p:spPr>
          <a:xfrm>
            <a:off x="7704336"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الإجابة: ما نوع الفجوة؟</a:t>
            </a:r>
          </a:p>
        </p:txBody>
      </p:sp>
      <p:graphicFrame>
        <p:nvGraphicFramePr>
          <p:cNvPr id="6" name="Table 5"/>
          <p:cNvGraphicFramePr>
            <a:graphicFrameLocks noGrp="1"/>
          </p:cNvGraphicFramePr>
          <p:nvPr/>
        </p:nvGraphicFramePr>
        <p:xfrm>
          <a:off x="815975" y="1635720"/>
          <a:ext cx="10560050" cy="3136900"/>
        </p:xfrm>
        <a:graphic>
          <a:graphicData uri="http://schemas.openxmlformats.org/drawingml/2006/table">
            <a:tbl>
              <a:tblPr firstRow="0" bandRow="0" lastRow="0" firstCol="0" lastCol="0" bandCol="0">
                <a:tableStyleId>{2D5ABB26-0587-4C30-8999-92F81FD0307C}</a:tableStyleId>
              </a:tblPr>
              <a:tblGrid>
                <a:gridCol w="3590290"/>
                <a:gridCol w="5280025"/>
                <a:gridCol w="1689735"/>
              </a:tblGrid>
              <a:tr h="527050">
                <a:tc>
                  <a:txBody>
                    <a:bodyPr wrap="square"/>
                    <a:lstStyle/>
                    <a:p>
                      <a:pPr algn="r" rtl="1">
                        <a:lnSpc>
                          <a:spcPts val="2700"/>
                        </a:lnSpc>
                        <a:spcBef>
                          <a:spcPts val="0"/>
                        </a:spcBef>
                        <a:spcAft>
                          <a:spcPts val="0"/>
                        </a:spcAft>
                      </a:pPr>
                      <a:r>
                        <a:rPr sz="2000" b="1" i="0" lang="ar-SA" altLang="en-US">
                          <a:solidFill>
                            <a:srgbClr val="F3EFE6"/>
                          </a:solidFill>
                          <a:latin typeface="IBM Plex Sans Arabic"/>
                          <a:ea typeface="IBM Plex Sans Arabic"/>
                          <a:cs typeface="IBM Plex Sans Arabic"/>
                        </a:rPr>
                        <a:t>الدليل الذي يؤكده</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lang="ar-SA" altLang="en-US">
                          <a:solidFill>
                            <a:srgbClr val="F3EFE6"/>
                          </a:solidFill>
                          <a:latin typeface="IBM Plex Sans Arabic"/>
                          <a:ea typeface="IBM Plex Sans Arabic"/>
                          <a:cs typeface="IBM Plex Sans Arabic"/>
                        </a:rPr>
                        <a:t>لماذا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lang="ar-SA" altLang="en-US">
                          <a:solidFill>
                            <a:srgbClr val="F3EFE6"/>
                          </a:solidFill>
                          <a:latin typeface="IBM Plex Sans Arabic"/>
                          <a:ea typeface="IBM Plex Sans Arabic"/>
                          <a:cs typeface="IBM Plex Sans Arabic"/>
                        </a:rPr>
                        <a:t>النوع</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869950">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نص المعيار، وقائمة الاستثناءات القائمة وتواريخها.</a:t>
                      </a:r>
                    </a:p>
                  </a:txBody>
                  <a:tcPr marT="107061" marR="152400" marB="70739" marL="53834"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الضابط كما كُتب يترك باباً مفتوحاً: استثناء بلا موافقة ولا مدة، فقد يبقى حساب بلا MFA إلى الأبد.</a:t>
                      </a:r>
                    </a:p>
                  </a:txBody>
                  <a:tcPr marT="107061" marR="152400" marB="70739" marL="3143"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lang="ar-SA" altLang="en-US">
                          <a:solidFill>
                            <a:srgbClr val="0E7C6B"/>
                          </a:solidFill>
                          <a:latin typeface="IBM Plex Sans Arabic"/>
                          <a:ea typeface="IBM Plex Sans Arabic"/>
                          <a:cs typeface="IBM Plex Sans Arabic"/>
                        </a:rPr>
                        <a:t>1. فجوة تصميم</a:t>
                      </a:r>
                    </a:p>
                  </a:txBody>
                  <a:tcPr marT="107061" marR="152400" marB="70739" marL="8890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869950">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السياسة المعتمدة، والعقد الحالي، وأي مراسلة أو خطة لتعديله.</a:t>
                      </a:r>
                    </a:p>
                  </a:txBody>
                  <a:tcPr marT="107061" marR="152400" marB="70739" marL="53834"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المتطلب مكتوب ومعتمد، لكنه لم يُطبق على العقد القائم.</a:t>
                      </a:r>
                    </a:p>
                  </a:txBody>
                  <a:tcPr marT="107061" marR="152400" marB="70739" marL="3143"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lang="ar-SA" altLang="en-US">
                          <a:solidFill>
                            <a:srgbClr val="0E7C6B"/>
                          </a:solidFill>
                          <a:latin typeface="IBM Plex Sans Arabic"/>
                          <a:ea typeface="IBM Plex Sans Arabic"/>
                          <a:cs typeface="IBM Plex Sans Arabic"/>
                        </a:rPr>
                        <a:t>2. فجوة تنفيذ</a:t>
                      </a:r>
                    </a:p>
                  </a:txBody>
                  <a:tcPr marT="107061" marR="152400" marB="70739" marL="8890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869950">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تقرير مهام النسخ للفترة كلها، وتذاكر المتابعة إن وُجدت.</a:t>
                      </a:r>
                    </a:p>
                  </a:txBody>
                  <a:tcPr marT="107061" marR="152400" marB="70739" marL="53834"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الضابط مصمم ومطبق، لكنه توقف 9 أيام دون أن يلاحظ أحد.</a:t>
                      </a:r>
                    </a:p>
                  </a:txBody>
                  <a:tcPr marT="107061" marR="152400" marB="70739" marL="3143"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lang="ar-SA" altLang="en-US">
                          <a:solidFill>
                            <a:srgbClr val="0E7C6B"/>
                          </a:solidFill>
                          <a:latin typeface="IBM Plex Sans Arabic"/>
                          <a:ea typeface="IBM Plex Sans Arabic"/>
                          <a:cs typeface="IBM Plex Sans Arabic"/>
                        </a:rPr>
                        <a:t>3. فجوة تشغيل</a:t>
                      </a:r>
                    </a:p>
                  </a:txBody>
                  <a:tcPr marT="107061" marR="152400" marB="70739" marL="8890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Box 6"/>
          <p:cNvSpPr/>
          <p:nvPr/>
        </p:nvSpPr>
        <p:spPr>
          <a:xfrm>
            <a:off x="815975" y="4944070"/>
            <a:ext cx="10560050" cy="615950"/>
          </a:xfrm>
          <a:prstGeom prst="roundRect">
            <a:avLst>
              <a:gd name="adj" fmla="val 16326"/>
            </a:avLst>
          </a:prstGeom>
          <a:solidFill>
            <a:srgbClr val="FBEAE5"/>
          </a:solidFill>
          <a:ln w="6350">
            <a:solidFill>
              <a:srgbClr val="E7B8AC"/>
            </a:solidFill>
          </a:ln>
        </p:spPr>
        <p:txBody>
          <a:bodyPr rtlCol="0" anchor="ctr"/>
          <a:lstStyle/>
          <a:p>
            <a:pPr algn="ctr"/>
          </a:p>
        </p:txBody>
      </p:sp>
      <p:pic>
        <p:nvPicPr>
          <p:cNvPr id="8" name="Icon Warning 7" descr="icon026.png"/>
          <p:cNvPicPr>
            <a:picLocks noChangeAspect="1"/>
          </p:cNvPicPr>
          <p:nvPr/>
        </p:nvPicPr>
        <p:blipFill>
          <a:blip r:embed="rId2"/>
          <a:stretch>
            <a:fillRect/>
          </a:stretch>
        </p:blipFill>
        <p:spPr>
          <a:xfrm>
            <a:off x="10934700" y="5121870"/>
            <a:ext cx="260350" cy="260350"/>
          </a:xfrm>
          <a:prstGeom prst="rect">
            <a:avLst/>
          </a:prstGeom>
        </p:spPr>
      </p:pic>
      <p:sp>
        <p:nvSpPr>
          <p:cNvPr id="9" name="Text 8"/>
          <p:cNvSpPr txBox="1"/>
          <p:nvPr/>
        </p:nvSpPr>
        <p:spPr>
          <a:xfrm>
            <a:off x="838200" y="5034875"/>
            <a:ext cx="9982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lang="ar-SA" altLang="en-US">
                <a:solidFill>
                  <a:srgbClr val="172433"/>
                </a:solidFill>
                <a:latin typeface="IBM Plex Sans Arabic"/>
                <a:ea typeface="IBM Plex Sans Arabic"/>
                <a:cs typeface="IBM Plex Sans Arabic"/>
              </a:rPr>
              <a:t>خطأ شائع: تسمية كل فجوة «فجوة تشغيل». السؤال الأول دائماً: هل التصميم يغطي الخطر؟</a:t>
            </a:r>
          </a:p>
        </p:txBody>
      </p:sp>
      <p:sp>
        <p:nvSpPr>
          <p:cNvPr id="10" name="Text 9"/>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11" name="Text 10"/>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المؤشرات: KGI وKPI وKRI وKCI</a:t>
            </a:r>
          </a:p>
        </p:txBody>
      </p:sp>
      <p:sp>
        <p:nvSpPr>
          <p:cNvPr id="5" name="Rule 4"/>
          <p:cNvSpPr/>
          <p:nvPr/>
        </p:nvSpPr>
        <p:spPr>
          <a:xfrm>
            <a:off x="8851900" y="1657945"/>
            <a:ext cx="2527300" cy="31750"/>
          </a:xfrm>
          <a:prstGeom prst="rect">
            <a:avLst/>
          </a:prstGeom>
          <a:solidFill>
            <a:srgbClr val="0E7C6B"/>
          </a:solidFill>
          <a:ln>
            <a:noFill/>
          </a:ln>
        </p:spPr>
        <p:txBody>
          <a:bodyPr rtlCol="0" anchor="ctr"/>
          <a:lstStyle/>
          <a:p>
            <a:pPr algn="ctr"/>
          </a:p>
        </p:txBody>
      </p:sp>
      <p:sp>
        <p:nvSpPr>
          <p:cNvPr id="6" name="Text 5"/>
          <p:cNvSpPr txBox="1"/>
          <p:nvPr/>
        </p:nvSpPr>
        <p:spPr>
          <a:xfrm>
            <a:off x="8877300" y="1868257"/>
            <a:ext cx="2463800"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0E7C6B"/>
                </a:solidFill>
                <a:latin typeface="Readex Pro"/>
                <a:ea typeface="Readex Pro"/>
                <a:cs typeface="Readex Pro"/>
              </a:rPr>
              <a:t>KGI</a:t>
            </a:r>
          </a:p>
        </p:txBody>
      </p:sp>
      <p:sp>
        <p:nvSpPr>
          <p:cNvPr id="7" name="Text 6"/>
          <p:cNvSpPr txBox="1"/>
          <p:nvPr/>
        </p:nvSpPr>
        <p:spPr>
          <a:xfrm>
            <a:off x="8877300" y="2310725"/>
            <a:ext cx="24638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lang="ar-SA" altLang="en-US">
                <a:solidFill>
                  <a:srgbClr val="172433"/>
                </a:solidFill>
                <a:latin typeface="IBM Plex Sans Arabic"/>
                <a:ea typeface="IBM Plex Sans Arabic"/>
                <a:cs typeface="IBM Plex Sans Arabic"/>
              </a:rPr>
              <a:t>مؤشر تحقق الهدف</a:t>
            </a:r>
          </a:p>
        </p:txBody>
      </p:sp>
      <p:sp>
        <p:nvSpPr>
          <p:cNvPr id="8" name="Text 7"/>
          <p:cNvSpPr txBox="1"/>
          <p:nvPr/>
        </p:nvSpPr>
        <p:spPr>
          <a:xfrm>
            <a:off x="8877300" y="2679025"/>
            <a:ext cx="24638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lang="ar-SA" altLang="en-US">
                <a:solidFill>
                  <a:srgbClr val="0E7C6B"/>
                </a:solidFill>
                <a:latin typeface="IBM Plex Sans Arabic"/>
                <a:ea typeface="IBM Plex Sans Arabic"/>
                <a:cs typeface="IBM Plex Sans Arabic"/>
              </a:rPr>
              <a:t>هل تحقق هدف العمل؟</a:t>
            </a:r>
          </a:p>
        </p:txBody>
      </p:sp>
      <p:sp>
        <p:nvSpPr>
          <p:cNvPr id="9" name="Text 8"/>
          <p:cNvSpPr txBox="1"/>
          <p:nvPr/>
        </p:nvSpPr>
        <p:spPr>
          <a:xfrm>
            <a:off x="8877300" y="3079075"/>
            <a:ext cx="2463800" cy="11049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4E5A66"/>
                </a:solidFill>
                <a:latin typeface="IBM Plex Sans Arabic"/>
                <a:ea typeface="IBM Plex Sans Arabic"/>
                <a:cs typeface="IBM Plex Sans Arabic"/>
              </a:rPr>
              <a:t>مثال: نسبة إتاحة تطبيق التتبع الشهرية، والالتزام 99%.</a:t>
            </a:r>
          </a:p>
        </p:txBody>
      </p:sp>
      <p:sp>
        <p:nvSpPr>
          <p:cNvPr id="10" name="Rule 9"/>
          <p:cNvSpPr/>
          <p:nvPr/>
        </p:nvSpPr>
        <p:spPr>
          <a:xfrm>
            <a:off x="6172200" y="1657945"/>
            <a:ext cx="2527300" cy="31750"/>
          </a:xfrm>
          <a:prstGeom prst="rect">
            <a:avLst/>
          </a:prstGeom>
          <a:solidFill>
            <a:srgbClr val="24506B"/>
          </a:solidFill>
          <a:ln>
            <a:noFill/>
          </a:ln>
        </p:spPr>
        <p:txBody>
          <a:bodyPr rtlCol="0" anchor="ctr"/>
          <a:lstStyle/>
          <a:p>
            <a:pPr algn="ctr"/>
          </a:p>
        </p:txBody>
      </p:sp>
      <p:sp>
        <p:nvSpPr>
          <p:cNvPr id="11" name="Text 10"/>
          <p:cNvSpPr txBox="1"/>
          <p:nvPr/>
        </p:nvSpPr>
        <p:spPr>
          <a:xfrm>
            <a:off x="6197600" y="1868257"/>
            <a:ext cx="2463800"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24506B"/>
                </a:solidFill>
                <a:latin typeface="Readex Pro"/>
                <a:ea typeface="Readex Pro"/>
                <a:cs typeface="Readex Pro"/>
              </a:rPr>
              <a:t>KPI</a:t>
            </a:r>
          </a:p>
        </p:txBody>
      </p:sp>
      <p:sp>
        <p:nvSpPr>
          <p:cNvPr id="12" name="Text 11"/>
          <p:cNvSpPr txBox="1"/>
          <p:nvPr/>
        </p:nvSpPr>
        <p:spPr>
          <a:xfrm>
            <a:off x="6197600" y="2310725"/>
            <a:ext cx="24638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lang="ar-SA" altLang="en-US">
                <a:solidFill>
                  <a:srgbClr val="172433"/>
                </a:solidFill>
                <a:latin typeface="IBM Plex Sans Arabic"/>
                <a:ea typeface="IBM Plex Sans Arabic"/>
                <a:cs typeface="IBM Plex Sans Arabic"/>
              </a:rPr>
              <a:t>مؤشر الأداء</a:t>
            </a:r>
          </a:p>
        </p:txBody>
      </p:sp>
      <p:sp>
        <p:nvSpPr>
          <p:cNvPr id="13" name="Text 12"/>
          <p:cNvSpPr txBox="1"/>
          <p:nvPr/>
        </p:nvSpPr>
        <p:spPr>
          <a:xfrm>
            <a:off x="6197600" y="2679025"/>
            <a:ext cx="24638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lang="ar-SA" altLang="en-US">
                <a:solidFill>
                  <a:srgbClr val="24506B"/>
                </a:solidFill>
                <a:latin typeface="IBM Plex Sans Arabic"/>
                <a:ea typeface="IBM Plex Sans Arabic"/>
                <a:cs typeface="IBM Plex Sans Arabic"/>
              </a:rPr>
              <a:t>هل تُنفَّذ العملية جيداً؟</a:t>
            </a:r>
          </a:p>
        </p:txBody>
      </p:sp>
      <p:sp>
        <p:nvSpPr>
          <p:cNvPr id="14" name="Text 13"/>
          <p:cNvSpPr txBox="1"/>
          <p:nvPr/>
        </p:nvSpPr>
        <p:spPr>
          <a:xfrm>
            <a:off x="6197600" y="3079075"/>
            <a:ext cx="2463800" cy="11049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4E5A66"/>
                </a:solidFill>
                <a:latin typeface="IBM Plex Sans Arabic"/>
                <a:ea typeface="IBM Plex Sans Arabic"/>
                <a:cs typeface="IBM Plex Sans Arabic"/>
              </a:rPr>
              <a:t>مثال: متوسط أيام العمل لإغلاق تذاكر إزالة الصلاحيات، والمعيار 5.</a:t>
            </a:r>
          </a:p>
        </p:txBody>
      </p:sp>
      <p:sp>
        <p:nvSpPr>
          <p:cNvPr id="15" name="Rule 14"/>
          <p:cNvSpPr/>
          <p:nvPr/>
        </p:nvSpPr>
        <p:spPr>
          <a:xfrm>
            <a:off x="3492500" y="1657945"/>
            <a:ext cx="2527300" cy="31750"/>
          </a:xfrm>
          <a:prstGeom prst="rect">
            <a:avLst/>
          </a:prstGeom>
          <a:solidFill>
            <a:srgbClr val="B4412C"/>
          </a:solidFill>
          <a:ln>
            <a:noFill/>
          </a:ln>
        </p:spPr>
        <p:txBody>
          <a:bodyPr rtlCol="0" anchor="ctr"/>
          <a:lstStyle/>
          <a:p>
            <a:pPr algn="ctr"/>
          </a:p>
        </p:txBody>
      </p:sp>
      <p:sp>
        <p:nvSpPr>
          <p:cNvPr id="16" name="Text 15"/>
          <p:cNvSpPr txBox="1"/>
          <p:nvPr/>
        </p:nvSpPr>
        <p:spPr>
          <a:xfrm>
            <a:off x="3517900" y="1868257"/>
            <a:ext cx="2463800"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B4412C"/>
                </a:solidFill>
                <a:latin typeface="Readex Pro"/>
                <a:ea typeface="Readex Pro"/>
                <a:cs typeface="Readex Pro"/>
              </a:rPr>
              <a:t>KRI</a:t>
            </a:r>
          </a:p>
        </p:txBody>
      </p:sp>
      <p:sp>
        <p:nvSpPr>
          <p:cNvPr id="17" name="Text 16"/>
          <p:cNvSpPr txBox="1"/>
          <p:nvPr/>
        </p:nvSpPr>
        <p:spPr>
          <a:xfrm>
            <a:off x="3517900" y="2310725"/>
            <a:ext cx="24638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lang="ar-SA" altLang="en-US">
                <a:solidFill>
                  <a:srgbClr val="172433"/>
                </a:solidFill>
                <a:latin typeface="IBM Plex Sans Arabic"/>
                <a:ea typeface="IBM Plex Sans Arabic"/>
                <a:cs typeface="IBM Plex Sans Arabic"/>
              </a:rPr>
              <a:t>مؤشر الخطر</a:t>
            </a:r>
          </a:p>
        </p:txBody>
      </p:sp>
      <p:sp>
        <p:nvSpPr>
          <p:cNvPr id="18" name="Text 17"/>
          <p:cNvSpPr txBox="1"/>
          <p:nvPr/>
        </p:nvSpPr>
        <p:spPr>
          <a:xfrm>
            <a:off x="3517900" y="2679025"/>
            <a:ext cx="24638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lang="ar-SA" altLang="en-US">
                <a:solidFill>
                  <a:srgbClr val="B4412C"/>
                </a:solidFill>
                <a:latin typeface="IBM Plex Sans Arabic"/>
                <a:ea typeface="IBM Plex Sans Arabic"/>
                <a:cs typeface="IBM Plex Sans Arabic"/>
              </a:rPr>
              <a:t>هل يرتفع التعرض للخطر؟</a:t>
            </a:r>
          </a:p>
        </p:txBody>
      </p:sp>
      <p:sp>
        <p:nvSpPr>
          <p:cNvPr id="19" name="Text 18"/>
          <p:cNvSpPr txBox="1"/>
          <p:nvPr/>
        </p:nvSpPr>
        <p:spPr>
          <a:xfrm>
            <a:off x="3517900" y="3434675"/>
            <a:ext cx="2463800" cy="11049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4E5A66"/>
                </a:solidFill>
                <a:latin typeface="IBM Plex Sans Arabic"/>
                <a:ea typeface="IBM Plex Sans Arabic"/>
                <a:cs typeface="IBM Plex Sans Arabic"/>
              </a:rPr>
              <a:t>مثال: عدد الثغرات الحرجة المفتوحة أكثر من 14 يوماً في خادم التتبع.</a:t>
            </a:r>
          </a:p>
        </p:txBody>
      </p:sp>
      <p:sp>
        <p:nvSpPr>
          <p:cNvPr id="20" name="Rule 19"/>
          <p:cNvSpPr/>
          <p:nvPr/>
        </p:nvSpPr>
        <p:spPr>
          <a:xfrm>
            <a:off x="812800" y="1657945"/>
            <a:ext cx="2527300" cy="31750"/>
          </a:xfrm>
          <a:prstGeom prst="rect">
            <a:avLst/>
          </a:prstGeom>
          <a:solidFill>
            <a:srgbClr val="5A3F87"/>
          </a:solidFill>
          <a:ln>
            <a:noFill/>
          </a:ln>
        </p:spPr>
        <p:txBody>
          <a:bodyPr rtlCol="0" anchor="ctr"/>
          <a:lstStyle/>
          <a:p>
            <a:pPr algn="ctr"/>
          </a:p>
        </p:txBody>
      </p:sp>
      <p:sp>
        <p:nvSpPr>
          <p:cNvPr id="21" name="Text 20"/>
          <p:cNvSpPr txBox="1"/>
          <p:nvPr/>
        </p:nvSpPr>
        <p:spPr>
          <a:xfrm>
            <a:off x="838200" y="1868257"/>
            <a:ext cx="2463800"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5A3F87"/>
                </a:solidFill>
                <a:latin typeface="Readex Pro"/>
                <a:ea typeface="Readex Pro"/>
                <a:cs typeface="Readex Pro"/>
              </a:rPr>
              <a:t>KCI</a:t>
            </a:r>
          </a:p>
        </p:txBody>
      </p:sp>
      <p:sp>
        <p:nvSpPr>
          <p:cNvPr id="22" name="Text 21"/>
          <p:cNvSpPr txBox="1"/>
          <p:nvPr/>
        </p:nvSpPr>
        <p:spPr>
          <a:xfrm>
            <a:off x="838200" y="2310725"/>
            <a:ext cx="24638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lang="ar-SA" altLang="en-US">
                <a:solidFill>
                  <a:srgbClr val="172433"/>
                </a:solidFill>
                <a:latin typeface="IBM Plex Sans Arabic"/>
                <a:ea typeface="IBM Plex Sans Arabic"/>
                <a:cs typeface="IBM Plex Sans Arabic"/>
              </a:rPr>
              <a:t>مؤشر الضابط</a:t>
            </a:r>
          </a:p>
        </p:txBody>
      </p:sp>
      <p:sp>
        <p:nvSpPr>
          <p:cNvPr id="23" name="Text 22"/>
          <p:cNvSpPr txBox="1"/>
          <p:nvPr/>
        </p:nvSpPr>
        <p:spPr>
          <a:xfrm>
            <a:off x="838200" y="2679025"/>
            <a:ext cx="24638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lang="ar-SA" altLang="en-US">
                <a:solidFill>
                  <a:srgbClr val="5A3F87"/>
                </a:solidFill>
                <a:latin typeface="IBM Plex Sans Arabic"/>
                <a:ea typeface="IBM Plex Sans Arabic"/>
                <a:cs typeface="IBM Plex Sans Arabic"/>
              </a:rPr>
              <a:t>هل يعمل الضابط كما صُمّم؟</a:t>
            </a:r>
          </a:p>
        </p:txBody>
      </p:sp>
      <p:sp>
        <p:nvSpPr>
          <p:cNvPr id="24" name="Text 23"/>
          <p:cNvSpPr txBox="1"/>
          <p:nvPr/>
        </p:nvSpPr>
        <p:spPr>
          <a:xfrm>
            <a:off x="838200" y="3434675"/>
            <a:ext cx="2463800" cy="11049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4E5A66"/>
                </a:solidFill>
                <a:latin typeface="IBM Plex Sans Arabic"/>
                <a:ea typeface="IBM Plex Sans Arabic"/>
                <a:cs typeface="IBM Plex Sans Arabic"/>
              </a:rPr>
              <a:t>مثال: نسبة مراجعات الصلاحيات المعتمدة في موعدها.</a:t>
            </a:r>
          </a:p>
        </p:txBody>
      </p:sp>
      <p:sp>
        <p:nvSpPr>
          <p:cNvPr id="25" name="Box 24"/>
          <p:cNvSpPr/>
          <p:nvPr/>
        </p:nvSpPr>
        <p:spPr>
          <a:xfrm>
            <a:off x="812800" y="4801195"/>
            <a:ext cx="10566400" cy="965200"/>
          </a:xfrm>
          <a:prstGeom prst="roundRect">
            <a:avLst>
              <a:gd name="adj" fmla="val 10526"/>
            </a:avLst>
          </a:prstGeom>
          <a:solidFill>
            <a:srgbClr val="F6ECDA"/>
          </a:solidFill>
          <a:ln>
            <a:noFill/>
          </a:ln>
        </p:spPr>
        <p:txBody>
          <a:bodyPr rtlCol="0" anchor="ctr"/>
          <a:lstStyle/>
          <a:p>
            <a:pPr algn="ctr"/>
          </a:p>
        </p:txBody>
      </p:sp>
      <p:pic>
        <p:nvPicPr>
          <p:cNvPr id="26" name="Icon Warning 25" descr="icon009.png"/>
          <p:cNvPicPr>
            <a:picLocks noChangeAspect="1"/>
          </p:cNvPicPr>
          <p:nvPr/>
        </p:nvPicPr>
        <p:blipFill>
          <a:blip r:embed="rId2"/>
          <a:stretch>
            <a:fillRect/>
          </a:stretch>
        </p:blipFill>
        <p:spPr>
          <a:xfrm>
            <a:off x="10934700" y="5150445"/>
            <a:ext cx="266700" cy="266700"/>
          </a:xfrm>
          <a:prstGeom prst="rect">
            <a:avLst/>
          </a:prstGeom>
        </p:spPr>
      </p:pic>
      <p:sp>
        <p:nvSpPr>
          <p:cNvPr id="27" name="Text 26"/>
          <p:cNvSpPr txBox="1"/>
          <p:nvPr/>
        </p:nvSpPr>
        <p:spPr>
          <a:xfrm>
            <a:off x="838200" y="4888825"/>
            <a:ext cx="99822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lang="ar-SA" altLang="en-US">
                <a:solidFill>
                  <a:srgbClr val="172433"/>
                </a:solidFill>
                <a:latin typeface="IBM Plex Sans Arabic"/>
                <a:ea typeface="IBM Plex Sans Arabic"/>
                <a:cs typeface="IBM Plex Sans Arabic"/>
              </a:rPr>
              <a:t>التصنيف بالغرض، لا بالرقم: المؤشر نفسه قد يكون KPI في جهة وKCI في أخرى. اكتب في تعريفه ماذا يقيس، ولماذا.</a:t>
            </a:r>
          </a:p>
        </p:txBody>
      </p:sp>
      <p:sp>
        <p:nvSpPr>
          <p:cNvPr id="28" name="Text 27"/>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29" name="Text 28"/>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تعريف المؤشر: ستة أسئلة قبل أي رقم</a:t>
            </a:r>
          </a:p>
        </p:txBody>
      </p:sp>
      <p:graphicFrame>
        <p:nvGraphicFramePr>
          <p:cNvPr id="5" name="Table 4"/>
          <p:cNvGraphicFramePr>
            <a:graphicFrameLocks noGrp="1"/>
          </p:cNvGraphicFramePr>
          <p:nvPr/>
        </p:nvGraphicFramePr>
        <p:xfrm>
          <a:off x="815975" y="1661120"/>
          <a:ext cx="10560050" cy="3795515"/>
        </p:xfrm>
        <a:graphic>
          <a:graphicData uri="http://schemas.openxmlformats.org/drawingml/2006/table">
            <a:tbl>
              <a:tblPr firstRow="0" bandRow="0" lastRow="0" firstCol="0" lastCol="0" bandCol="0">
                <a:tableStyleId>{2D5ABB26-0587-4C30-8999-92F81FD0307C}</a:tableStyleId>
              </a:tblPr>
              <a:tblGrid>
                <a:gridCol w="2270125"/>
                <a:gridCol w="2270760"/>
                <a:gridCol w="2270125"/>
                <a:gridCol w="2270125"/>
                <a:gridCol w="1478915"/>
              </a:tblGrid>
              <a:tr h="370780">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KCI · مراجعات الصلاحيات</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KRI · الثغرات الحرجة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KPI · إغلاق تذاكر الإزالة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KGI · إتاحة التتبع</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1889"/>
                        </a:lnSpc>
                        <a:spcBef>
                          <a:spcPts val="0"/>
                        </a:spcBef>
                        <a:spcAft>
                          <a:spcPts val="0"/>
                        </a:spcAft>
                      </a:pPr>
                      <a:endParaRPr sz="1400"/>
                    </a:p>
                  </a:txBody>
                  <a:tcPr marT="62230" marR="106680" marB="6223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610791">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هل تعمل المراجعة الدورية؟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تعرض خادم التتبع للاستغلال.</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سرعة إزالة الصلاحيات بعد اعتمادها.</a:t>
                      </a:r>
                    </a:p>
                  </a:txBody>
                  <a:tcPr marT="74943" marR="106680" marB="49517" marL="44971"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إتاحة تطبيق التتبع للمتاجر.</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1" i="0" lang="ar-SA" altLang="en-US">
                          <a:solidFill>
                            <a:srgbClr val="4E5A66"/>
                          </a:solidFill>
                          <a:latin typeface="IBM Plex Sans Arabic"/>
                          <a:ea typeface="IBM Plex Sans Arabic"/>
                          <a:cs typeface="IBM Plex Sans Arabic"/>
                        </a:rPr>
                        <a:t>ماذا يقيس</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10791">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المعتمدة في موعدها ÷ المجدولة × 100.</a:t>
                      </a:r>
                    </a:p>
                  </a:txBody>
                  <a:tcPr marT="74943" marR="106680" marB="49517" marL="44971"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عدد الحرجة المفتوحة أكثر من 14 يوماً.</a:t>
                      </a:r>
                    </a:p>
                  </a:txBody>
                  <a:tcPr marT="74943" marR="106680" marB="49517" marL="44971"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متوسط أيام العمل من الاعتماد إلى الإغلاق.</a:t>
                      </a:r>
                    </a:p>
                  </a:txBody>
                  <a:tcPr marT="74943" marR="106680" marB="49517" marL="44971"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ساعات الإتاحة ÷ ساعات الشهر × 100.</a:t>
                      </a:r>
                    </a:p>
                  </a:txBody>
                  <a:tcPr marT="74943" marR="106680" marB="49517" marL="44971"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1" i="0" lang="ar-SA" altLang="en-US">
                          <a:solidFill>
                            <a:srgbClr val="4E5A66"/>
                          </a:solidFill>
                          <a:latin typeface="IBM Plex Sans Arabic"/>
                          <a:ea typeface="IBM Plex Sans Arabic"/>
                          <a:cs typeface="IBM Plex Sans Arabic"/>
                        </a:rPr>
                        <a:t>الحساب</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10791">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ملفات المراجعة وجدولها.</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تقرير فحص الثغرات.</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نظام التذاكر.</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تقرير المراقبة الشهري من المورد.</a:t>
                      </a:r>
                    </a:p>
                  </a:txBody>
                  <a:tcPr marT="74943" marR="106680" marB="49517" marL="44971"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1" i="0" lang="ar-SA" altLang="en-US">
                          <a:solidFill>
                            <a:srgbClr val="4E5A66"/>
                          </a:solidFill>
                          <a:latin typeface="IBM Plex Sans Arabic"/>
                          <a:ea typeface="IBM Plex Sans Arabic"/>
                          <a:cs typeface="IBM Plex Sans Arabic"/>
                        </a:rPr>
                        <a:t>المصدر</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10791">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مالكو الأنظمة، وتجمعه GRC</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مدير تقنية المعلومات، والمورد ينفذ</a:t>
                      </a:r>
                    </a:p>
                  </a:txBody>
                  <a:tcPr marT="74943" marR="106680" marB="49517" marL="44971"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مدير تقنية المعلومات</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مدير تقنية المعلومات</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1" i="0" lang="ar-SA" altLang="en-US">
                          <a:solidFill>
                            <a:srgbClr val="4E5A66"/>
                          </a:solidFill>
                          <a:latin typeface="IBM Plex Sans Arabic"/>
                          <a:ea typeface="IBM Plex Sans Arabic"/>
                          <a:cs typeface="IBM Plex Sans Arabic"/>
                        </a:rPr>
                        <a:t>المالك</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70780">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ربع سنوي</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شهري</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شهري</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شهري</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1" i="0" lang="ar-SA" altLang="en-US">
                          <a:solidFill>
                            <a:srgbClr val="4E5A66"/>
                          </a:solidFill>
                          <a:latin typeface="IBM Plex Sans Arabic"/>
                          <a:ea typeface="IBM Plex Sans Arabic"/>
                          <a:cs typeface="IBM Plex Sans Arabic"/>
                        </a:rPr>
                        <a:t>الدورية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10791">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أقل من 100%.</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أكبر من صفر. ويُصعَّد للجنة إن تجاوز عمرها 30 يوماً.</a:t>
                      </a:r>
                    </a:p>
                  </a:txBody>
                  <a:tcPr marT="74943" marR="106680" marB="49517" marL="44971"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أكثر من 5 أيام عمل.</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أقل من 99%: سبب وخطة خلال أسبوع.</a:t>
                      </a:r>
                    </a:p>
                  </a:txBody>
                  <a:tcPr marT="74943" marR="106680" marB="49517" marL="44971"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1" i="0" lang="ar-SA" altLang="en-US">
                          <a:solidFill>
                            <a:srgbClr val="4E5A66"/>
                          </a:solidFill>
                          <a:latin typeface="IBM Plex Sans Arabic"/>
                          <a:ea typeface="IBM Plex Sans Arabic"/>
                          <a:cs typeface="IBM Plex Sans Arabic"/>
                        </a:rPr>
                        <a:t>يستدعي إجراءً</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Text 5"/>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7" name="Text 6"/>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box 3"/>
          <p:cNvSpPr/>
          <p:nvPr/>
        </p:nvSpPr>
        <p:spPr>
          <a:xfrm>
            <a:off x="8025805"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تقرير الإدارة (1 من 2): المخاطر والمؤشرات</a:t>
            </a:r>
          </a:p>
        </p:txBody>
      </p:sp>
      <p:sp>
        <p:nvSpPr>
          <p:cNvPr id="6" name="Box 5"/>
          <p:cNvSpPr/>
          <p:nvPr/>
        </p:nvSpPr>
        <p:spPr>
          <a:xfrm>
            <a:off x="815975" y="1661120"/>
            <a:ext cx="10560050" cy="4590058"/>
          </a:xfrm>
          <a:prstGeom prst="roundRect">
            <a:avLst>
              <a:gd name="adj" fmla="val 1381"/>
            </a:avLst>
          </a:prstGeom>
          <a:solidFill>
            <a:srgbClr val="FFFFFF"/>
          </a:solidFill>
          <a:ln w="6350">
            <a:solidFill>
              <a:srgbClr val="D6CFBF"/>
            </a:solidFill>
          </a:ln>
        </p:spPr>
        <p:txBody>
          <a:bodyPr rtlCol="0" anchor="ctr"/>
          <a:lstStyle/>
          <a:p>
            <a:pPr algn="ctr"/>
          </a:p>
        </p:txBody>
      </p:sp>
      <p:sp>
        <p:nvSpPr>
          <p:cNvPr id="7" name="Rule 6"/>
          <p:cNvSpPr/>
          <p:nvPr/>
        </p:nvSpPr>
        <p:spPr>
          <a:xfrm>
            <a:off x="819150" y="2271216"/>
            <a:ext cx="10553700" cy="12700"/>
          </a:xfrm>
          <a:prstGeom prst="rect">
            <a:avLst/>
          </a:prstGeom>
          <a:solidFill>
            <a:srgbClr val="0E7C6B"/>
          </a:solidFill>
          <a:ln>
            <a:noFill/>
          </a:ln>
        </p:spPr>
        <p:txBody>
          <a:bodyPr rtlCol="0" anchor="ctr"/>
          <a:lstStyle/>
          <a:p>
            <a:pPr algn="ctr"/>
          </a:p>
        </p:txBody>
      </p:sp>
      <p:sp>
        <p:nvSpPr>
          <p:cNvPr id="8" name="Text 7"/>
          <p:cNvSpPr txBox="1"/>
          <p:nvPr/>
        </p:nvSpPr>
        <p:spPr>
          <a:xfrm>
            <a:off x="8512822" y="1741638"/>
            <a:ext cx="2682228"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172433"/>
                </a:solidFill>
                <a:latin typeface="Readex Pro"/>
                <a:ea typeface="Readex Pro"/>
                <a:cs typeface="Readex Pro"/>
              </a:rPr>
              <a:t>تقرير ربع سنوي للجنة · 1 من 2</a:t>
            </a:r>
          </a:p>
        </p:txBody>
      </p:sp>
      <p:sp>
        <p:nvSpPr>
          <p:cNvPr id="9" name="Text 8"/>
          <p:cNvSpPr txBox="1"/>
          <p:nvPr/>
        </p:nvSpPr>
        <p:spPr>
          <a:xfrm>
            <a:off x="857607" y="1753664"/>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5E6A75"/>
                </a:solidFill>
                <a:latin typeface="IBM Plex Sans Arabic"/>
                <a:ea typeface="IBM Plex Sans Arabic"/>
                <a:cs typeface="IBM Plex Sans Arabic"/>
              </a:rPr>
              <a:t>نموذج تعليمي · بيانات افتراضية</a:t>
            </a:r>
          </a:p>
        </p:txBody>
      </p:sp>
      <p:sp>
        <p:nvSpPr>
          <p:cNvPr id="10" name="Text 9"/>
          <p:cNvSpPr txBox="1"/>
          <p:nvPr/>
        </p:nvSpPr>
        <p:spPr>
          <a:xfrm>
            <a:off x="844550" y="1993674"/>
            <a:ext cx="1035050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4E5A66"/>
                </a:solidFill>
                <a:latin typeface="IBM Plex Sans Arabic"/>
                <a:ea typeface="IBM Plex Sans Arabic"/>
                <a:cs typeface="IBM Plex Sans Arabic"/>
              </a:rPr>
              <a:t>لجنة الأمن السيبراني · الربع الثالث · مسؤول GRC</a:t>
            </a:r>
          </a:p>
        </p:txBody>
      </p:sp>
      <p:sp>
        <p:nvSpPr>
          <p:cNvPr id="11" name="Text 10"/>
          <p:cNvSpPr txBox="1"/>
          <p:nvPr/>
        </p:nvSpPr>
        <p:spPr>
          <a:xfrm>
            <a:off x="838200" y="2321508"/>
            <a:ext cx="1035685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0E7C6B"/>
                </a:solidFill>
                <a:latin typeface="Readex Pro"/>
                <a:ea typeface="Readex Pro"/>
                <a:cs typeface="Readex Pro"/>
              </a:rPr>
              <a:t>1. أهم المخاطر</a:t>
            </a:r>
          </a:p>
        </p:txBody>
      </p:sp>
      <p:graphicFrame>
        <p:nvGraphicFramePr>
          <p:cNvPr id="12" name="Table 11"/>
          <p:cNvGraphicFramePr>
            <a:graphicFrameLocks noGrp="1"/>
          </p:cNvGraphicFramePr>
          <p:nvPr/>
        </p:nvGraphicFramePr>
        <p:xfrm>
          <a:off x="1000125" y="2627412"/>
          <a:ext cx="10191750" cy="1430931"/>
        </p:xfrm>
        <a:graphic>
          <a:graphicData uri="http://schemas.openxmlformats.org/drawingml/2006/table">
            <a:tbl>
              <a:tblPr firstRow="0" bandRow="0" lastRow="0" firstCol="0" lastCol="0" bandCol="0">
                <a:tableStyleId>{2D5ABB26-0587-4C30-8999-92F81FD0307C}</a:tableStyleId>
              </a:tblPr>
              <a:tblGrid>
                <a:gridCol w="2242185"/>
                <a:gridCol w="2751455"/>
                <a:gridCol w="1529080"/>
                <a:gridCol w="3669030"/>
              </a:tblGrid>
              <a:tr h="318591">
                <a:tc>
                  <a:txBody>
                    <a:bodyPr wrap="square"/>
                    <a:lstStyle/>
                    <a:p>
                      <a:pPr algn="r" rtl="1">
                        <a:lnSpc>
                          <a:spcPts val="1620"/>
                        </a:lnSpc>
                        <a:spcBef>
                          <a:spcPts val="0"/>
                        </a:spcBef>
                        <a:spcAft>
                          <a:spcPts val="0"/>
                        </a:spcAft>
                      </a:pPr>
                      <a:r>
                        <a:rPr sz="1200" b="1" i="0" lang="ar-SA" altLang="en-US">
                          <a:solidFill>
                            <a:srgbClr val="F3EFE6"/>
                          </a:solidFill>
                          <a:latin typeface="IBM Plex Sans Arabic"/>
                          <a:ea typeface="IBM Plex Sans Arabic"/>
                          <a:cs typeface="IBM Plex Sans Arabic"/>
                        </a:rPr>
                        <a:t>المالك</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620"/>
                        </a:lnSpc>
                        <a:spcBef>
                          <a:spcPts val="0"/>
                        </a:spcBef>
                        <a:spcAft>
                          <a:spcPts val="0"/>
                        </a:spcAft>
                      </a:pPr>
                      <a:r>
                        <a:rPr sz="1200" b="1" i="0" lang="ar-SA" altLang="en-US">
                          <a:solidFill>
                            <a:srgbClr val="F3EFE6"/>
                          </a:solidFill>
                          <a:latin typeface="IBM Plex Sans Arabic"/>
                          <a:ea typeface="IBM Plex Sans Arabic"/>
                          <a:cs typeface="IBM Plex Sans Arabic"/>
                        </a:rPr>
                        <a:t>الحالة</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620"/>
                        </a:lnSpc>
                        <a:spcBef>
                          <a:spcPts val="0"/>
                        </a:spcBef>
                        <a:spcAft>
                          <a:spcPts val="0"/>
                        </a:spcAft>
                      </a:pPr>
                      <a:r>
                        <a:rPr sz="1200" b="1" i="0" lang="ar-SA" altLang="en-US">
                          <a:solidFill>
                            <a:srgbClr val="F3EFE6"/>
                          </a:solidFill>
                          <a:latin typeface="IBM Plex Sans Arabic"/>
                          <a:ea typeface="IBM Plex Sans Arabic"/>
                          <a:cs typeface="IBM Plex Sans Arabic"/>
                        </a:rPr>
                        <a:t>المستوى</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620"/>
                        </a:lnSpc>
                        <a:spcBef>
                          <a:spcPts val="0"/>
                        </a:spcBef>
                        <a:spcAft>
                          <a:spcPts val="0"/>
                        </a:spcAft>
                      </a:pPr>
                      <a:r>
                        <a:rPr sz="1200" b="1" i="0" lang="ar-SA" altLang="en-US">
                          <a:solidFill>
                            <a:srgbClr val="F3EFE6"/>
                          </a:solidFill>
                          <a:latin typeface="IBM Plex Sans Arabic"/>
                          <a:ea typeface="IBM Plex Sans Arabic"/>
                          <a:cs typeface="IBM Plex Sans Arabic"/>
                        </a:rPr>
                        <a:t>الخطر</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370780">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مدير التقنية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ينتظر قرار الكلفة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1" i="0" lang="ar-SA" altLang="en-US">
                          <a:solidFill>
                            <a:srgbClr val="B4412C"/>
                          </a:solidFill>
                          <a:latin typeface="IBM Plex Sans Arabic"/>
                          <a:ea typeface="IBM Plex Sans Arabic"/>
                          <a:cs typeface="IBM Plex Sans Arabic"/>
                        </a:rPr>
                        <a:t>16 · عالٍ</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تأخر ترقيع ثغرات خادم التتبع</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مدير التقنية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3 من 5 إجراءات منجزة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1" i="0" lang="ar-SA" altLang="en-US">
                          <a:solidFill>
                            <a:srgbClr val="B4412C"/>
                          </a:solidFill>
                          <a:latin typeface="IBM Plex Sans Arabic"/>
                          <a:ea typeface="IBM Plex Sans Arabic"/>
                          <a:cs typeface="IBM Plex Sans Arabic"/>
                        </a:rPr>
                        <a:t>16 · عالٍ</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حساب إداري مشترك يستخدمه المورد</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70780">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مديرة الموارد البشرية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عولج: الجهاز مشفر</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1" i="0" lang="ar-SA" altLang="en-US">
                          <a:solidFill>
                            <a:srgbClr val="0E7C6B"/>
                          </a:solidFill>
                          <a:latin typeface="IBM Plex Sans Arabic"/>
                          <a:ea typeface="IBM Plex Sans Arabic"/>
                          <a:cs typeface="IBM Plex Sans Arabic"/>
                        </a:rPr>
                        <a:t>6 · منخفض</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ملفات الرواتب على حاسوب غير مشفر</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13" name="Text 12"/>
          <p:cNvSpPr txBox="1"/>
          <p:nvPr/>
        </p:nvSpPr>
        <p:spPr>
          <a:xfrm>
            <a:off x="838200" y="4073712"/>
            <a:ext cx="1035685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0E7C6B"/>
                </a:solidFill>
                <a:latin typeface="Readex Pro"/>
                <a:ea typeface="Readex Pro"/>
                <a:cs typeface="Readex Pro"/>
              </a:rPr>
              <a:t>2. المؤشرات</a:t>
            </a:r>
          </a:p>
        </p:txBody>
      </p:sp>
      <p:graphicFrame>
        <p:nvGraphicFramePr>
          <p:cNvPr id="14" name="Table 13"/>
          <p:cNvGraphicFramePr>
            <a:graphicFrameLocks noGrp="1"/>
          </p:cNvGraphicFramePr>
          <p:nvPr/>
        </p:nvGraphicFramePr>
        <p:xfrm>
          <a:off x="1000125" y="4379615"/>
          <a:ext cx="10191750" cy="1801711"/>
        </p:xfrm>
        <a:graphic>
          <a:graphicData uri="http://schemas.openxmlformats.org/drawingml/2006/table">
            <a:tbl>
              <a:tblPr firstRow="0" bandRow="0" lastRow="0" firstCol="0" lastCol="0" bandCol="0">
                <a:tableStyleId>{2D5ABB26-0587-4C30-8999-92F81FD0307C}</a:tableStyleId>
              </a:tblPr>
              <a:tblGrid>
                <a:gridCol w="2038350"/>
                <a:gridCol w="2038350"/>
                <a:gridCol w="1834515"/>
                <a:gridCol w="4280535"/>
              </a:tblGrid>
              <a:tr h="318591">
                <a:tc>
                  <a:txBody>
                    <a:bodyPr wrap="square"/>
                    <a:lstStyle/>
                    <a:p>
                      <a:pPr algn="r" rtl="1">
                        <a:lnSpc>
                          <a:spcPts val="1620"/>
                        </a:lnSpc>
                        <a:spcBef>
                          <a:spcPts val="0"/>
                        </a:spcBef>
                        <a:spcAft>
                          <a:spcPts val="0"/>
                        </a:spcAft>
                      </a:pPr>
                      <a:r>
                        <a:rPr sz="1200" b="1" i="0" lang="ar-SA" altLang="en-US">
                          <a:solidFill>
                            <a:srgbClr val="F3EFE6"/>
                          </a:solidFill>
                          <a:latin typeface="IBM Plex Sans Arabic"/>
                          <a:ea typeface="IBM Plex Sans Arabic"/>
                          <a:cs typeface="IBM Plex Sans Arabic"/>
                        </a:rPr>
                        <a:t>الحالة</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620"/>
                        </a:lnSpc>
                        <a:spcBef>
                          <a:spcPts val="0"/>
                        </a:spcBef>
                        <a:spcAft>
                          <a:spcPts val="0"/>
                        </a:spcAft>
                      </a:pPr>
                      <a:r>
                        <a:rPr sz="1200" b="1" i="0" lang="ar-SA" altLang="en-US">
                          <a:solidFill>
                            <a:srgbClr val="F3EFE6"/>
                          </a:solidFill>
                          <a:latin typeface="IBM Plex Sans Arabic"/>
                          <a:ea typeface="IBM Plex Sans Arabic"/>
                          <a:cs typeface="IBM Plex Sans Arabic"/>
                        </a:rPr>
                        <a:t>المرجع</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620"/>
                        </a:lnSpc>
                        <a:spcBef>
                          <a:spcPts val="0"/>
                        </a:spcBef>
                        <a:spcAft>
                          <a:spcPts val="0"/>
                        </a:spcAft>
                      </a:pPr>
                      <a:r>
                        <a:rPr sz="1200" b="1" i="0" lang="ar-SA" altLang="en-US">
                          <a:solidFill>
                            <a:srgbClr val="F3EFE6"/>
                          </a:solidFill>
                          <a:latin typeface="IBM Plex Sans Arabic"/>
                          <a:ea typeface="IBM Plex Sans Arabic"/>
                          <a:cs typeface="IBM Plex Sans Arabic"/>
                        </a:rPr>
                        <a:t>القيمة</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620"/>
                        </a:lnSpc>
                        <a:spcBef>
                          <a:spcPts val="0"/>
                        </a:spcBef>
                        <a:spcAft>
                          <a:spcPts val="0"/>
                        </a:spcAft>
                      </a:pPr>
                      <a:r>
                        <a:rPr sz="1200" b="1" i="0" lang="ar-SA" altLang="en-US">
                          <a:solidFill>
                            <a:srgbClr val="F3EFE6"/>
                          </a:solidFill>
                          <a:latin typeface="IBM Plex Sans Arabic"/>
                          <a:ea typeface="IBM Plex Sans Arabic"/>
                          <a:cs typeface="IBM Plex Sans Arabic"/>
                        </a:rPr>
                        <a:t>المؤشر</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370780">
                <a:tc>
                  <a:txBody>
                    <a:bodyPr wrap="square"/>
                    <a:lstStyle/>
                    <a:p>
                      <a:pPr algn="r" rtl="1">
                        <a:lnSpc>
                          <a:spcPts val="1889"/>
                        </a:lnSpc>
                        <a:spcBef>
                          <a:spcPts val="0"/>
                        </a:spcBef>
                        <a:spcAft>
                          <a:spcPts val="0"/>
                        </a:spcAft>
                      </a:pPr>
                      <a:r>
                        <a:rPr sz="1400" b="1" i="0" lang="ar-SA" altLang="en-US">
                          <a:solidFill>
                            <a:srgbClr val="0E7C6B"/>
                          </a:solidFill>
                          <a:latin typeface="IBM Plex Sans Arabic"/>
                          <a:ea typeface="IBM Plex Sans Arabic"/>
                          <a:cs typeface="IBM Plex Sans Arabic"/>
                        </a:rPr>
                        <a:t>ضمن الحد</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الهدف 99%</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99.4%</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KGI · إتاحة التتبع</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rtl="1">
                        <a:lnSpc>
                          <a:spcPts val="1889"/>
                        </a:lnSpc>
                        <a:spcBef>
                          <a:spcPts val="0"/>
                        </a:spcBef>
                        <a:spcAft>
                          <a:spcPts val="0"/>
                        </a:spcAft>
                      </a:pPr>
                      <a:r>
                        <a:rPr sz="1400" b="1" i="0" lang="ar-SA" altLang="en-US">
                          <a:solidFill>
                            <a:srgbClr val="0E7C6B"/>
                          </a:solidFill>
                          <a:latin typeface="IBM Plex Sans Arabic"/>
                          <a:ea typeface="IBM Plex Sans Arabic"/>
                          <a:cs typeface="IBM Plex Sans Arabic"/>
                        </a:rPr>
                        <a:t>ضمن الحد</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المعيار 5</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3.2 يوم عمل</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KPI · إغلاق تذاكر الإزالة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70780">
                <a:tc>
                  <a:txBody>
                    <a:bodyPr wrap="square"/>
                    <a:lstStyle/>
                    <a:p>
                      <a:pPr algn="r" rtl="1">
                        <a:lnSpc>
                          <a:spcPts val="1889"/>
                        </a:lnSpc>
                        <a:spcBef>
                          <a:spcPts val="0"/>
                        </a:spcBef>
                        <a:spcAft>
                          <a:spcPts val="0"/>
                        </a:spcAft>
                      </a:pPr>
                      <a:r>
                        <a:rPr sz="1400" b="1" i="0" lang="ar-SA" altLang="en-US">
                          <a:solidFill>
                            <a:srgbClr val="B4412C"/>
                          </a:solidFill>
                          <a:latin typeface="IBM Plex Sans Arabic"/>
                          <a:ea typeface="IBM Plex Sans Arabic"/>
                          <a:cs typeface="IBM Plex Sans Arabic"/>
                        </a:rPr>
                        <a:t>يتجاوز الحد</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الحد صفر</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3</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KRI · ثغرات حرجة أكثر من 14 يوماً</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rtl="1">
                        <a:lnSpc>
                          <a:spcPts val="1889"/>
                        </a:lnSpc>
                        <a:spcBef>
                          <a:spcPts val="0"/>
                        </a:spcBef>
                        <a:spcAft>
                          <a:spcPts val="0"/>
                        </a:spcAft>
                      </a:pPr>
                      <a:r>
                        <a:rPr sz="1400" b="1" i="0" lang="ar-SA" altLang="en-US">
                          <a:solidFill>
                            <a:srgbClr val="0E7C6B"/>
                          </a:solidFill>
                          <a:latin typeface="IBM Plex Sans Arabic"/>
                          <a:ea typeface="IBM Plex Sans Arabic"/>
                          <a:cs typeface="IBM Plex Sans Arabic"/>
                        </a:rPr>
                        <a:t>ضمن الحد</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الربع الثالث</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100%</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KCI · مراجعات الصلاحيات في موعدها</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15" name="Text 14"/>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16" name="Text 15"/>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box 3"/>
          <p:cNvSpPr/>
          <p:nvPr/>
        </p:nvSpPr>
        <p:spPr>
          <a:xfrm>
            <a:off x="8025805"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تقرير الإدارة (2 من 2): الملاحظات والإجراءات والقرارات</a:t>
            </a:r>
          </a:p>
        </p:txBody>
      </p:sp>
      <p:sp>
        <p:nvSpPr>
          <p:cNvPr id="6" name="Box 5"/>
          <p:cNvSpPr/>
          <p:nvPr/>
        </p:nvSpPr>
        <p:spPr>
          <a:xfrm>
            <a:off x="815975" y="1661120"/>
            <a:ext cx="10560050" cy="4096345"/>
          </a:xfrm>
          <a:prstGeom prst="roundRect">
            <a:avLst>
              <a:gd name="adj" fmla="val 1547"/>
            </a:avLst>
          </a:prstGeom>
          <a:solidFill>
            <a:srgbClr val="FFFFFF"/>
          </a:solidFill>
          <a:ln w="6350">
            <a:solidFill>
              <a:srgbClr val="D6CFBF"/>
            </a:solidFill>
          </a:ln>
        </p:spPr>
        <p:txBody>
          <a:bodyPr rtlCol="0" anchor="ctr"/>
          <a:lstStyle/>
          <a:p>
            <a:pPr algn="ctr"/>
          </a:p>
        </p:txBody>
      </p:sp>
      <p:sp>
        <p:nvSpPr>
          <p:cNvPr id="7" name="Rule 6"/>
          <p:cNvSpPr/>
          <p:nvPr/>
        </p:nvSpPr>
        <p:spPr>
          <a:xfrm>
            <a:off x="819150" y="2271216"/>
            <a:ext cx="10553700" cy="12700"/>
          </a:xfrm>
          <a:prstGeom prst="rect">
            <a:avLst/>
          </a:prstGeom>
          <a:solidFill>
            <a:srgbClr val="0E7C6B"/>
          </a:solidFill>
          <a:ln>
            <a:noFill/>
          </a:ln>
        </p:spPr>
        <p:txBody>
          <a:bodyPr rtlCol="0" anchor="ctr"/>
          <a:lstStyle/>
          <a:p>
            <a:pPr algn="ctr"/>
          </a:p>
        </p:txBody>
      </p:sp>
      <p:sp>
        <p:nvSpPr>
          <p:cNvPr id="8" name="Text 7"/>
          <p:cNvSpPr txBox="1"/>
          <p:nvPr/>
        </p:nvSpPr>
        <p:spPr>
          <a:xfrm>
            <a:off x="8515608" y="1741638"/>
            <a:ext cx="2679442"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172433"/>
                </a:solidFill>
                <a:latin typeface="Readex Pro"/>
                <a:ea typeface="Readex Pro"/>
                <a:cs typeface="Readex Pro"/>
              </a:rPr>
              <a:t>تقرير ربع سنوي للجنة · 2 من 2</a:t>
            </a:r>
          </a:p>
        </p:txBody>
      </p:sp>
      <p:sp>
        <p:nvSpPr>
          <p:cNvPr id="9" name="Text 8"/>
          <p:cNvSpPr txBox="1"/>
          <p:nvPr/>
        </p:nvSpPr>
        <p:spPr>
          <a:xfrm>
            <a:off x="857607" y="1753664"/>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5E6A75"/>
                </a:solidFill>
                <a:latin typeface="IBM Plex Sans Arabic"/>
                <a:ea typeface="IBM Plex Sans Arabic"/>
                <a:cs typeface="IBM Plex Sans Arabic"/>
              </a:rPr>
              <a:t>نموذج تعليمي · بيانات افتراضية</a:t>
            </a:r>
          </a:p>
        </p:txBody>
      </p:sp>
      <p:sp>
        <p:nvSpPr>
          <p:cNvPr id="10" name="Text 9"/>
          <p:cNvSpPr txBox="1"/>
          <p:nvPr/>
        </p:nvSpPr>
        <p:spPr>
          <a:xfrm>
            <a:off x="844550" y="1993674"/>
            <a:ext cx="1035050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4E5A66"/>
                </a:solidFill>
                <a:latin typeface="IBM Plex Sans Arabic"/>
                <a:ea typeface="IBM Plex Sans Arabic"/>
                <a:cs typeface="IBM Plex Sans Arabic"/>
              </a:rPr>
              <a:t>لجنة الأمن السيبراني · الربع الثالث · مسؤول GRC</a:t>
            </a:r>
          </a:p>
        </p:txBody>
      </p:sp>
      <p:sp>
        <p:nvSpPr>
          <p:cNvPr id="11" name="Text 10"/>
          <p:cNvSpPr txBox="1"/>
          <p:nvPr/>
        </p:nvSpPr>
        <p:spPr>
          <a:xfrm>
            <a:off x="838200" y="2346908"/>
            <a:ext cx="1035685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0E7C6B"/>
                </a:solidFill>
                <a:latin typeface="Readex Pro"/>
                <a:ea typeface="Readex Pro"/>
                <a:cs typeface="Readex Pro"/>
              </a:rPr>
              <a:t>3. الملاحظات المتأخرة والمفتوحة</a:t>
            </a:r>
          </a:p>
        </p:txBody>
      </p:sp>
      <p:graphicFrame>
        <p:nvGraphicFramePr>
          <p:cNvPr id="12" name="Table 11"/>
          <p:cNvGraphicFramePr>
            <a:graphicFrameLocks noGrp="1"/>
          </p:cNvGraphicFramePr>
          <p:nvPr/>
        </p:nvGraphicFramePr>
        <p:xfrm>
          <a:off x="1000125" y="2678212"/>
          <a:ext cx="10191750" cy="1112340"/>
        </p:xfrm>
        <a:graphic>
          <a:graphicData uri="http://schemas.openxmlformats.org/drawingml/2006/table">
            <a:tbl>
              <a:tblPr firstRow="0" bandRow="0" lastRow="0" firstCol="0" lastCol="0" bandCol="0">
                <a:tableStyleId>{2D5ABB26-0587-4C30-8999-92F81FD0307C}</a:tableStyleId>
              </a:tblPr>
              <a:tblGrid>
                <a:gridCol w="2038350"/>
                <a:gridCol w="4484370"/>
                <a:gridCol w="3669030"/>
              </a:tblGrid>
              <a:tr h="370780">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الموعد</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الوضع</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الملاحظة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370780">
                <a:tc>
                  <a:txBody>
                    <a:bodyPr wrap="square"/>
                    <a:lstStyle/>
                    <a:p>
                      <a:pPr algn="r" rtl="1">
                        <a:lnSpc>
                          <a:spcPts val="1889"/>
                        </a:lnSpc>
                        <a:spcBef>
                          <a:spcPts val="0"/>
                        </a:spcBef>
                        <a:spcAft>
                          <a:spcPts val="0"/>
                        </a:spcAft>
                      </a:pPr>
                      <a:r>
                        <a:rPr sz="1400" b="1" i="0" lang="ar-SA" altLang="en-US">
                          <a:solidFill>
                            <a:srgbClr val="0E7C6B"/>
                          </a:solidFill>
                          <a:latin typeface="IBM Plex Sans Arabic"/>
                          <a:ea typeface="IBM Plex Sans Arabic"/>
                          <a:cs typeface="IBM Plex Sans Arabic"/>
                        </a:rPr>
                        <a:t>في موعدها</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3 من 4 إجراءات منجزة.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MFA غير مفعل لثلاثة حسابات VPN</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rtl="1">
                        <a:lnSpc>
                          <a:spcPts val="1889"/>
                        </a:lnSpc>
                        <a:spcBef>
                          <a:spcPts val="0"/>
                        </a:spcBef>
                        <a:spcAft>
                          <a:spcPts val="0"/>
                        </a:spcAft>
                      </a:pPr>
                      <a:r>
                        <a:rPr sz="1400" b="1" i="0" lang="ar-SA" altLang="en-US">
                          <a:solidFill>
                            <a:srgbClr val="B4412C"/>
                          </a:solidFill>
                          <a:latin typeface="IBM Plex Sans Arabic"/>
                          <a:ea typeface="IBM Plex Sans Arabic"/>
                          <a:cs typeface="IBM Plex Sans Arabic"/>
                        </a:rPr>
                        <a:t>متأخر 20 يوماً</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جدول المراجعات السنوي لم يُعتمد بعد.</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مراجعة صلاحيات الرواتب</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13" name="Text 12"/>
          <p:cNvSpPr txBox="1"/>
          <p:nvPr/>
        </p:nvSpPr>
        <p:spPr>
          <a:xfrm>
            <a:off x="838200" y="3831320"/>
            <a:ext cx="1035685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0E7C6B"/>
                </a:solidFill>
                <a:latin typeface="Readex Pro"/>
                <a:ea typeface="Readex Pro"/>
                <a:cs typeface="Readex Pro"/>
              </a:rPr>
              <a:t>4. حالة إجراءات التصحيح</a:t>
            </a:r>
          </a:p>
        </p:txBody>
      </p:sp>
      <p:sp>
        <p:nvSpPr>
          <p:cNvPr id="14" name="Text 13"/>
          <p:cNvSpPr txBox="1"/>
          <p:nvPr/>
        </p:nvSpPr>
        <p:spPr>
          <a:xfrm>
            <a:off x="7747762" y="4187515"/>
            <a:ext cx="3579876" cy="330200"/>
          </a:xfrm>
          <a:prstGeom prst="rect">
            <a:avLst/>
          </a:prstGeom>
          <a:noFill/>
        </p:spPr>
        <p:txBody>
          <a:bodyPr wrap="square" tIns="0" rIns="0" bIns="0" lIns="0" anchor="t" rtlCol="0" anchorCtr="0">
            <a:noAutofit/>
          </a:bodyPr>
          <a:lstStyle/>
          <a:p>
            <a:pPr algn="ctr">
              <a:lnSpc>
                <a:spcPts val="2600"/>
              </a:lnSpc>
              <a:spcBef>
                <a:spcPts val="0"/>
              </a:spcBef>
              <a:spcAft>
                <a:spcPts val="0"/>
              </a:spcAft>
            </a:pPr>
            <a:r>
              <a:rPr sz="2600" b="1" i="0">
                <a:solidFill>
                  <a:srgbClr val="0E7C6B"/>
                </a:solidFill>
                <a:latin typeface="Readex Pro"/>
                <a:ea typeface="Readex Pro"/>
                <a:cs typeface="Readex Pro"/>
              </a:rPr>
              <a:t>5</a:t>
            </a:r>
          </a:p>
        </p:txBody>
      </p:sp>
      <p:sp>
        <p:nvSpPr>
          <p:cNvPr id="15" name="Text 14"/>
          <p:cNvSpPr txBox="1"/>
          <p:nvPr/>
        </p:nvSpPr>
        <p:spPr>
          <a:xfrm>
            <a:off x="7747762" y="4474789"/>
            <a:ext cx="3579876" cy="248841"/>
          </a:xfrm>
          <a:prstGeom prst="rect">
            <a:avLst/>
          </a:prstGeom>
          <a:noFill/>
        </p:spPr>
        <p:txBody>
          <a:bodyPr wrap="square" tIns="0" rIns="0" bIns="0" lIns="0" anchor="t" rtlCol="0" anchorCtr="0">
            <a:noAutofit/>
          </a:bodyPr>
          <a:lstStyle/>
          <a:p>
            <a:pPr algn="ct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منجزة</a:t>
            </a:r>
          </a:p>
        </p:txBody>
      </p:sp>
      <p:sp>
        <p:nvSpPr>
          <p:cNvPr id="16" name="Text 15"/>
          <p:cNvSpPr txBox="1"/>
          <p:nvPr/>
        </p:nvSpPr>
        <p:spPr>
          <a:xfrm>
            <a:off x="4306062" y="4187515"/>
            <a:ext cx="3579876" cy="330200"/>
          </a:xfrm>
          <a:prstGeom prst="rect">
            <a:avLst/>
          </a:prstGeom>
          <a:noFill/>
        </p:spPr>
        <p:txBody>
          <a:bodyPr wrap="square" tIns="0" rIns="0" bIns="0" lIns="0" anchor="t" rtlCol="0" anchorCtr="0">
            <a:noAutofit/>
          </a:bodyPr>
          <a:lstStyle/>
          <a:p>
            <a:pPr algn="ctr">
              <a:lnSpc>
                <a:spcPts val="2600"/>
              </a:lnSpc>
              <a:spcBef>
                <a:spcPts val="0"/>
              </a:spcBef>
              <a:spcAft>
                <a:spcPts val="0"/>
              </a:spcAft>
            </a:pPr>
            <a:r>
              <a:rPr sz="2600" b="1" i="0">
                <a:solidFill>
                  <a:srgbClr val="24506B"/>
                </a:solidFill>
                <a:latin typeface="Readex Pro"/>
                <a:ea typeface="Readex Pro"/>
                <a:cs typeface="Readex Pro"/>
              </a:rPr>
              <a:t>2</a:t>
            </a:r>
          </a:p>
        </p:txBody>
      </p:sp>
      <p:sp>
        <p:nvSpPr>
          <p:cNvPr id="17" name="Text 16"/>
          <p:cNvSpPr txBox="1"/>
          <p:nvPr/>
        </p:nvSpPr>
        <p:spPr>
          <a:xfrm>
            <a:off x="4306062" y="4474789"/>
            <a:ext cx="3579876" cy="248841"/>
          </a:xfrm>
          <a:prstGeom prst="rect">
            <a:avLst/>
          </a:prstGeom>
          <a:noFill/>
        </p:spPr>
        <p:txBody>
          <a:bodyPr wrap="square" tIns="0" rIns="0" bIns="0" lIns="0" anchor="t" rtlCol="0" anchorCtr="0">
            <a:noAutofit/>
          </a:bodyPr>
          <a:lstStyle/>
          <a:p>
            <a:pPr algn="ct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جارية في موعدها</a:t>
            </a:r>
          </a:p>
        </p:txBody>
      </p:sp>
      <p:sp>
        <p:nvSpPr>
          <p:cNvPr id="18" name="Text 17"/>
          <p:cNvSpPr txBox="1"/>
          <p:nvPr/>
        </p:nvSpPr>
        <p:spPr>
          <a:xfrm>
            <a:off x="864362" y="4187515"/>
            <a:ext cx="3579876" cy="330200"/>
          </a:xfrm>
          <a:prstGeom prst="rect">
            <a:avLst/>
          </a:prstGeom>
          <a:noFill/>
        </p:spPr>
        <p:txBody>
          <a:bodyPr wrap="square" tIns="0" rIns="0" bIns="0" lIns="0" anchor="t" rtlCol="0" anchorCtr="0">
            <a:noAutofit/>
          </a:bodyPr>
          <a:lstStyle/>
          <a:p>
            <a:pPr algn="ctr">
              <a:lnSpc>
                <a:spcPts val="2600"/>
              </a:lnSpc>
              <a:spcBef>
                <a:spcPts val="0"/>
              </a:spcBef>
              <a:spcAft>
                <a:spcPts val="0"/>
              </a:spcAft>
            </a:pPr>
            <a:r>
              <a:rPr sz="2600" b="1" i="0">
                <a:solidFill>
                  <a:srgbClr val="B4412C"/>
                </a:solidFill>
                <a:latin typeface="Readex Pro"/>
                <a:ea typeface="Readex Pro"/>
                <a:cs typeface="Readex Pro"/>
              </a:rPr>
              <a:t>1</a:t>
            </a:r>
          </a:p>
        </p:txBody>
      </p:sp>
      <p:sp>
        <p:nvSpPr>
          <p:cNvPr id="19" name="Text 18"/>
          <p:cNvSpPr txBox="1"/>
          <p:nvPr/>
        </p:nvSpPr>
        <p:spPr>
          <a:xfrm>
            <a:off x="864362" y="4474789"/>
            <a:ext cx="3579876" cy="248841"/>
          </a:xfrm>
          <a:prstGeom prst="rect">
            <a:avLst/>
          </a:prstGeom>
          <a:noFill/>
        </p:spPr>
        <p:txBody>
          <a:bodyPr wrap="square" tIns="0" rIns="0" bIns="0" lIns="0" anchor="t" rtlCol="0" anchorCtr="0">
            <a:noAutofit/>
          </a:bodyPr>
          <a:lstStyle/>
          <a:p>
            <a:pPr algn="ct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متأخرة</a:t>
            </a:r>
          </a:p>
        </p:txBody>
      </p:sp>
      <p:sp>
        <p:nvSpPr>
          <p:cNvPr id="20" name="Text 19"/>
          <p:cNvSpPr txBox="1"/>
          <p:nvPr/>
        </p:nvSpPr>
        <p:spPr>
          <a:xfrm>
            <a:off x="838200" y="4788781"/>
            <a:ext cx="1035685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0E7C6B"/>
                </a:solidFill>
                <a:latin typeface="Readex Pro"/>
                <a:ea typeface="Readex Pro"/>
                <a:cs typeface="Readex Pro"/>
              </a:rPr>
              <a:t>5. القرارات المطلوبة من اللجنة</a:t>
            </a:r>
          </a:p>
        </p:txBody>
      </p:sp>
      <p:sp>
        <p:nvSpPr>
          <p:cNvPr id="21" name="Text 20"/>
          <p:cNvSpPr txBox="1"/>
          <p:nvPr/>
        </p:nvSpPr>
        <p:spPr>
          <a:xfrm>
            <a:off x="10836910" y="5096462"/>
            <a:ext cx="411480" cy="248841"/>
          </a:xfrm>
          <a:prstGeom prst="rect">
            <a:avLst/>
          </a:prstGeom>
          <a:noFill/>
        </p:spPr>
        <p:txBody>
          <a:bodyPr wrap="square" tIns="0" rIns="0" bIns="0" lIns="0" anchor="t" rtlCol="0" anchorCtr="0">
            <a:noAutofit/>
          </a:bodyPr>
          <a:lstStyle/>
          <a:p>
            <a:pPr algn="ctr">
              <a:lnSpc>
                <a:spcPts val="1960"/>
              </a:lnSpc>
              <a:spcBef>
                <a:spcPts val="0"/>
              </a:spcBef>
              <a:spcAft>
                <a:spcPts val="0"/>
              </a:spcAft>
            </a:pPr>
            <a:r>
              <a:rPr sz="1400" b="1" i="0">
                <a:solidFill>
                  <a:srgbClr val="8A4B12"/>
                </a:solidFill>
                <a:latin typeface="Readex Pro"/>
                <a:ea typeface="Readex Pro"/>
                <a:cs typeface="Readex Pro"/>
              </a:rPr>
              <a:t>1</a:t>
            </a:r>
          </a:p>
        </p:txBody>
      </p:sp>
      <p:sp>
        <p:nvSpPr>
          <p:cNvPr id="22" name="Text 21"/>
          <p:cNvSpPr txBox="1"/>
          <p:nvPr/>
        </p:nvSpPr>
        <p:spPr>
          <a:xfrm>
            <a:off x="838200" y="5089350"/>
            <a:ext cx="996315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172433"/>
                </a:solidFill>
                <a:latin typeface="IBM Plex Sans Arabic"/>
                <a:ea typeface="IBM Plex Sans Arabic"/>
                <a:cs typeface="IBM Plex Sans Arabic"/>
              </a:rPr>
              <a:t>اعتماد كلفة ترقيع عاجل لخادم التتبع خارج العقد الحالي.</a:t>
            </a:r>
          </a:p>
        </p:txBody>
      </p:sp>
      <p:sp>
        <p:nvSpPr>
          <p:cNvPr id="23" name="Text 22"/>
          <p:cNvSpPr txBox="1"/>
          <p:nvPr/>
        </p:nvSpPr>
        <p:spPr>
          <a:xfrm>
            <a:off x="10836910" y="5383403"/>
            <a:ext cx="411480" cy="248841"/>
          </a:xfrm>
          <a:prstGeom prst="rect">
            <a:avLst/>
          </a:prstGeom>
          <a:noFill/>
        </p:spPr>
        <p:txBody>
          <a:bodyPr wrap="square" tIns="0" rIns="0" bIns="0" lIns="0" anchor="t" rtlCol="0" anchorCtr="0">
            <a:noAutofit/>
          </a:bodyPr>
          <a:lstStyle/>
          <a:p>
            <a:pPr algn="ctr">
              <a:lnSpc>
                <a:spcPts val="1960"/>
              </a:lnSpc>
              <a:spcBef>
                <a:spcPts val="0"/>
              </a:spcBef>
              <a:spcAft>
                <a:spcPts val="0"/>
              </a:spcAft>
            </a:pPr>
            <a:r>
              <a:rPr sz="1400" b="1" i="0">
                <a:solidFill>
                  <a:srgbClr val="8A4B12"/>
                </a:solidFill>
                <a:latin typeface="Readex Pro"/>
                <a:ea typeface="Readex Pro"/>
                <a:cs typeface="Readex Pro"/>
              </a:rPr>
              <a:t>2</a:t>
            </a:r>
          </a:p>
        </p:txBody>
      </p:sp>
      <p:sp>
        <p:nvSpPr>
          <p:cNvPr id="24" name="Text 23"/>
          <p:cNvSpPr txBox="1"/>
          <p:nvPr/>
        </p:nvSpPr>
        <p:spPr>
          <a:xfrm>
            <a:off x="838200" y="5376291"/>
            <a:ext cx="996315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172433"/>
                </a:solidFill>
                <a:latin typeface="IBM Plex Sans Arabic"/>
                <a:ea typeface="IBM Plex Sans Arabic"/>
                <a:cs typeface="IBM Plex Sans Arabic"/>
              </a:rPr>
              <a:t>إضافة مهلة الترقيع وبند الإبلاغ عن الحوادث إلى عقد المورد عند تجديده.</a:t>
            </a:r>
          </a:p>
        </p:txBody>
      </p:sp>
      <p:sp>
        <p:nvSpPr>
          <p:cNvPr id="25" name="Text 24"/>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26" name="Text 25"/>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box 3"/>
          <p:cNvSpPr/>
          <p:nvPr/>
        </p:nvSpPr>
        <p:spPr>
          <a:xfrm>
            <a:off x="8025805"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أداة GRC: كيف ترتبط المتطلبات والضوابط والأدلة والمخاطر</a:t>
            </a:r>
          </a:p>
        </p:txBody>
      </p:sp>
      <p:sp>
        <p:nvSpPr>
          <p:cNvPr id="6" name="Box 5"/>
          <p:cNvSpPr/>
          <p:nvPr/>
        </p:nvSpPr>
        <p:spPr>
          <a:xfrm>
            <a:off x="815975" y="1673820"/>
            <a:ext cx="10560050" cy="2654995"/>
          </a:xfrm>
          <a:prstGeom prst="roundRect">
            <a:avLst>
              <a:gd name="adj" fmla="val 1908"/>
            </a:avLst>
          </a:prstGeom>
          <a:solidFill>
            <a:srgbClr val="FFFFFF"/>
          </a:solidFill>
          <a:ln w="6350">
            <a:solidFill>
              <a:srgbClr val="C9D0D6"/>
            </a:solidFill>
          </a:ln>
        </p:spPr>
        <p:txBody>
          <a:bodyPr rtlCol="0" anchor="ctr"/>
          <a:lstStyle/>
          <a:p>
            <a:pPr algn="ctr"/>
          </a:p>
        </p:txBody>
      </p:sp>
      <p:sp>
        <p:nvSpPr>
          <p:cNvPr id="7" name="Box 6"/>
          <p:cNvSpPr/>
          <p:nvPr/>
        </p:nvSpPr>
        <p:spPr>
          <a:xfrm>
            <a:off x="819150" y="1676995"/>
            <a:ext cx="10553700" cy="331391"/>
          </a:xfrm>
          <a:prstGeom prst="round2SameRect">
            <a:avLst>
              <a:gd name="adj1" fmla="val 13413"/>
              <a:gd name="adj2" fmla="val 0"/>
            </a:avLst>
          </a:prstGeom>
          <a:solidFill>
            <a:srgbClr val="E4E8EC"/>
          </a:solidFill>
          <a:ln>
            <a:noFill/>
          </a:ln>
        </p:spPr>
        <p:txBody>
          <a:bodyPr rtlCol="0" anchor="ctr"/>
          <a:lstStyle/>
          <a:p>
            <a:pPr algn="ctr"/>
          </a:p>
        </p:txBody>
      </p:sp>
      <p:sp>
        <p:nvSpPr>
          <p:cNvPr id="8" name="Rule 7"/>
          <p:cNvSpPr/>
          <p:nvPr/>
        </p:nvSpPr>
        <p:spPr>
          <a:xfrm>
            <a:off x="819150" y="2002036"/>
            <a:ext cx="10553700" cy="6350"/>
          </a:xfrm>
          <a:prstGeom prst="rect">
            <a:avLst/>
          </a:prstGeom>
          <a:solidFill>
            <a:srgbClr val="D3D9DF"/>
          </a:solidFill>
          <a:ln>
            <a:noFill/>
          </a:ln>
        </p:spPr>
        <p:txBody>
          <a:bodyPr rtlCol="0" anchor="ctr"/>
          <a:lstStyle/>
          <a:p>
            <a:pPr algn="ctr"/>
          </a:p>
        </p:txBody>
      </p:sp>
      <p:sp>
        <p:nvSpPr>
          <p:cNvPr id="9" name="Text 8"/>
          <p:cNvSpPr txBox="1"/>
          <p:nvPr/>
        </p:nvSpPr>
        <p:spPr>
          <a:xfrm>
            <a:off x="9189740" y="1724493"/>
            <a:ext cx="208151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172433"/>
                </a:solidFill>
                <a:latin typeface="IBM Plex Sans Arabic"/>
                <a:ea typeface="IBM Plex Sans Arabic"/>
                <a:cs typeface="IBM Plex Sans Arabic"/>
              </a:rPr>
              <a:t>سجل GRC · ورقة الربط · Excel</a:t>
            </a:r>
          </a:p>
        </p:txBody>
      </p:sp>
      <p:sp>
        <p:nvSpPr>
          <p:cNvPr id="10" name="Text 9"/>
          <p:cNvSpPr txBox="1"/>
          <p:nvPr/>
        </p:nvSpPr>
        <p:spPr>
          <a:xfrm>
            <a:off x="844550" y="1724493"/>
            <a:ext cx="1817985"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5E6A75"/>
                </a:solidFill>
                <a:latin typeface="IBM Plex Sans Arabic"/>
                <a:ea typeface="IBM Plex Sans Arabic"/>
                <a:cs typeface="IBM Plex Sans Arabic"/>
              </a:rPr>
              <a:t>نموذج تعليمي · بيانات افتراضية</a:t>
            </a:r>
          </a:p>
        </p:txBody>
      </p:sp>
      <p:sp>
        <p:nvSpPr>
          <p:cNvPr id="11" name="Rule 10"/>
          <p:cNvSpPr/>
          <p:nvPr/>
        </p:nvSpPr>
        <p:spPr>
          <a:xfrm>
            <a:off x="819150" y="2349996"/>
            <a:ext cx="10553700" cy="6350"/>
          </a:xfrm>
          <a:prstGeom prst="rect">
            <a:avLst/>
          </a:prstGeom>
          <a:solidFill>
            <a:srgbClr val="D3D9DF"/>
          </a:solidFill>
          <a:ln>
            <a:noFill/>
          </a:ln>
        </p:spPr>
        <p:txBody>
          <a:bodyPr rtlCol="0" anchor="ctr"/>
          <a:lstStyle/>
          <a:p>
            <a:pPr algn="ctr"/>
          </a:p>
        </p:txBody>
      </p:sp>
      <p:sp>
        <p:nvSpPr>
          <p:cNvPr id="12" name="Box 11"/>
          <p:cNvSpPr/>
          <p:nvPr/>
        </p:nvSpPr>
        <p:spPr>
          <a:xfrm>
            <a:off x="9975850" y="2008386"/>
            <a:ext cx="1397000" cy="341610"/>
          </a:xfrm>
          <a:prstGeom prst="rect">
            <a:avLst/>
          </a:prstGeom>
          <a:solidFill>
            <a:srgbClr val="F7F8FA"/>
          </a:solidFill>
          <a:ln>
            <a:noFill/>
          </a:ln>
        </p:spPr>
        <p:txBody>
          <a:bodyPr rtlCol="0" anchor="ctr"/>
          <a:lstStyle/>
          <a:p>
            <a:pPr algn="ctr"/>
          </a:p>
        </p:txBody>
      </p:sp>
      <p:sp>
        <p:nvSpPr>
          <p:cNvPr id="13" name="Rule 12"/>
          <p:cNvSpPr/>
          <p:nvPr/>
        </p:nvSpPr>
        <p:spPr>
          <a:xfrm>
            <a:off x="9975850" y="2008386"/>
            <a:ext cx="6350" cy="341610"/>
          </a:xfrm>
          <a:prstGeom prst="rect">
            <a:avLst/>
          </a:prstGeom>
          <a:solidFill>
            <a:srgbClr val="D3D9DF"/>
          </a:solidFill>
          <a:ln>
            <a:noFill/>
          </a:ln>
        </p:spPr>
        <p:txBody>
          <a:bodyPr rtlCol="0" anchor="ctr"/>
          <a:lstStyle/>
          <a:p>
            <a:pPr algn="ctr"/>
          </a:p>
        </p:txBody>
      </p:sp>
      <p:sp>
        <p:nvSpPr>
          <p:cNvPr id="14" name="Text 13"/>
          <p:cNvSpPr txBox="1"/>
          <p:nvPr/>
        </p:nvSpPr>
        <p:spPr>
          <a:xfrm>
            <a:off x="10001250" y="2036072"/>
            <a:ext cx="129540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1" i="0" lang="ar-SA" altLang="en-US">
                <a:solidFill>
                  <a:srgbClr val="172433"/>
                </a:solidFill>
                <a:latin typeface="IBM Plex Sans Arabic"/>
                <a:ea typeface="IBM Plex Sans Arabic"/>
                <a:cs typeface="IBM Plex Sans Arabic"/>
              </a:rPr>
              <a:t>المتطلب</a:t>
            </a:r>
          </a:p>
        </p:txBody>
      </p:sp>
      <p:sp>
        <p:nvSpPr>
          <p:cNvPr id="15" name="Box 14"/>
          <p:cNvSpPr/>
          <p:nvPr/>
        </p:nvSpPr>
        <p:spPr>
          <a:xfrm>
            <a:off x="7880350" y="2008386"/>
            <a:ext cx="2095500" cy="341610"/>
          </a:xfrm>
          <a:prstGeom prst="rect">
            <a:avLst/>
          </a:prstGeom>
          <a:solidFill>
            <a:srgbClr val="F7F8FA"/>
          </a:solidFill>
          <a:ln>
            <a:noFill/>
          </a:ln>
        </p:spPr>
        <p:txBody>
          <a:bodyPr rtlCol="0" anchor="ctr"/>
          <a:lstStyle/>
          <a:p>
            <a:pPr algn="ctr"/>
          </a:p>
        </p:txBody>
      </p:sp>
      <p:sp>
        <p:nvSpPr>
          <p:cNvPr id="16" name="Rule 15"/>
          <p:cNvSpPr/>
          <p:nvPr/>
        </p:nvSpPr>
        <p:spPr>
          <a:xfrm>
            <a:off x="7880350" y="2008386"/>
            <a:ext cx="6350" cy="341610"/>
          </a:xfrm>
          <a:prstGeom prst="rect">
            <a:avLst/>
          </a:prstGeom>
          <a:solidFill>
            <a:srgbClr val="D3D9DF"/>
          </a:solidFill>
          <a:ln>
            <a:noFill/>
          </a:ln>
        </p:spPr>
        <p:txBody>
          <a:bodyPr rtlCol="0" anchor="ctr"/>
          <a:lstStyle/>
          <a:p>
            <a:pPr algn="ctr"/>
          </a:p>
        </p:txBody>
      </p:sp>
      <p:sp>
        <p:nvSpPr>
          <p:cNvPr id="17" name="Text 16"/>
          <p:cNvSpPr txBox="1"/>
          <p:nvPr/>
        </p:nvSpPr>
        <p:spPr>
          <a:xfrm>
            <a:off x="7905750" y="2036072"/>
            <a:ext cx="199390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1" i="0" lang="ar-SA" altLang="en-US">
                <a:solidFill>
                  <a:srgbClr val="172433"/>
                </a:solidFill>
                <a:latin typeface="IBM Plex Sans Arabic"/>
                <a:ea typeface="IBM Plex Sans Arabic"/>
                <a:cs typeface="IBM Plex Sans Arabic"/>
              </a:rPr>
              <a:t>الضابط</a:t>
            </a:r>
          </a:p>
        </p:txBody>
      </p:sp>
      <p:sp>
        <p:nvSpPr>
          <p:cNvPr id="18" name="Box 17"/>
          <p:cNvSpPr/>
          <p:nvPr/>
        </p:nvSpPr>
        <p:spPr>
          <a:xfrm>
            <a:off x="5657850" y="2008386"/>
            <a:ext cx="2222500" cy="341610"/>
          </a:xfrm>
          <a:prstGeom prst="rect">
            <a:avLst/>
          </a:prstGeom>
          <a:solidFill>
            <a:srgbClr val="F7F8FA"/>
          </a:solidFill>
          <a:ln>
            <a:noFill/>
          </a:ln>
        </p:spPr>
        <p:txBody>
          <a:bodyPr rtlCol="0" anchor="ctr"/>
          <a:lstStyle/>
          <a:p>
            <a:pPr algn="ctr"/>
          </a:p>
        </p:txBody>
      </p:sp>
      <p:sp>
        <p:nvSpPr>
          <p:cNvPr id="19" name="Rule 18"/>
          <p:cNvSpPr/>
          <p:nvPr/>
        </p:nvSpPr>
        <p:spPr>
          <a:xfrm>
            <a:off x="5657850" y="2008386"/>
            <a:ext cx="6350" cy="341610"/>
          </a:xfrm>
          <a:prstGeom prst="rect">
            <a:avLst/>
          </a:prstGeom>
          <a:solidFill>
            <a:srgbClr val="D3D9DF"/>
          </a:solidFill>
          <a:ln>
            <a:noFill/>
          </a:ln>
        </p:spPr>
        <p:txBody>
          <a:bodyPr rtlCol="0" anchor="ctr"/>
          <a:lstStyle/>
          <a:p>
            <a:pPr algn="ctr"/>
          </a:p>
        </p:txBody>
      </p:sp>
      <p:sp>
        <p:nvSpPr>
          <p:cNvPr id="20" name="Text 19"/>
          <p:cNvSpPr txBox="1"/>
          <p:nvPr/>
        </p:nvSpPr>
        <p:spPr>
          <a:xfrm>
            <a:off x="5683250" y="2036072"/>
            <a:ext cx="212090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1" i="0" lang="ar-SA" altLang="en-US">
                <a:solidFill>
                  <a:srgbClr val="172433"/>
                </a:solidFill>
                <a:latin typeface="IBM Plex Sans Arabic"/>
                <a:ea typeface="IBM Plex Sans Arabic"/>
                <a:cs typeface="IBM Plex Sans Arabic"/>
              </a:rPr>
              <a:t>الدليل</a:t>
            </a:r>
          </a:p>
        </p:txBody>
      </p:sp>
      <p:sp>
        <p:nvSpPr>
          <p:cNvPr id="21" name="Box 20"/>
          <p:cNvSpPr/>
          <p:nvPr/>
        </p:nvSpPr>
        <p:spPr>
          <a:xfrm>
            <a:off x="3625850" y="2008386"/>
            <a:ext cx="2032000" cy="341610"/>
          </a:xfrm>
          <a:prstGeom prst="rect">
            <a:avLst/>
          </a:prstGeom>
          <a:solidFill>
            <a:srgbClr val="F7F8FA"/>
          </a:solidFill>
          <a:ln>
            <a:noFill/>
          </a:ln>
        </p:spPr>
        <p:txBody>
          <a:bodyPr rtlCol="0" anchor="ctr"/>
          <a:lstStyle/>
          <a:p>
            <a:pPr algn="ctr"/>
          </a:p>
        </p:txBody>
      </p:sp>
      <p:sp>
        <p:nvSpPr>
          <p:cNvPr id="22" name="Rule 21"/>
          <p:cNvSpPr/>
          <p:nvPr/>
        </p:nvSpPr>
        <p:spPr>
          <a:xfrm>
            <a:off x="3625850" y="2008386"/>
            <a:ext cx="6350" cy="341610"/>
          </a:xfrm>
          <a:prstGeom prst="rect">
            <a:avLst/>
          </a:prstGeom>
          <a:solidFill>
            <a:srgbClr val="D3D9DF"/>
          </a:solidFill>
          <a:ln>
            <a:noFill/>
          </a:ln>
        </p:spPr>
        <p:txBody>
          <a:bodyPr rtlCol="0" anchor="ctr"/>
          <a:lstStyle/>
          <a:p>
            <a:pPr algn="ctr"/>
          </a:p>
        </p:txBody>
      </p:sp>
      <p:sp>
        <p:nvSpPr>
          <p:cNvPr id="23" name="Text 22"/>
          <p:cNvSpPr txBox="1"/>
          <p:nvPr/>
        </p:nvSpPr>
        <p:spPr>
          <a:xfrm>
            <a:off x="3651250" y="2036072"/>
            <a:ext cx="193040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1" i="0" lang="ar-SA" altLang="en-US">
                <a:solidFill>
                  <a:srgbClr val="172433"/>
                </a:solidFill>
                <a:latin typeface="IBM Plex Sans Arabic"/>
                <a:ea typeface="IBM Plex Sans Arabic"/>
                <a:cs typeface="IBM Plex Sans Arabic"/>
              </a:rPr>
              <a:t>الخطر</a:t>
            </a:r>
          </a:p>
        </p:txBody>
      </p:sp>
      <p:sp>
        <p:nvSpPr>
          <p:cNvPr id="24" name="Box 23"/>
          <p:cNvSpPr/>
          <p:nvPr/>
        </p:nvSpPr>
        <p:spPr>
          <a:xfrm>
            <a:off x="2609850" y="2008386"/>
            <a:ext cx="1016000" cy="341610"/>
          </a:xfrm>
          <a:prstGeom prst="rect">
            <a:avLst/>
          </a:prstGeom>
          <a:solidFill>
            <a:srgbClr val="F7F8FA"/>
          </a:solidFill>
          <a:ln>
            <a:noFill/>
          </a:ln>
        </p:spPr>
        <p:txBody>
          <a:bodyPr rtlCol="0" anchor="ctr"/>
          <a:lstStyle/>
          <a:p>
            <a:pPr algn="ctr"/>
          </a:p>
        </p:txBody>
      </p:sp>
      <p:sp>
        <p:nvSpPr>
          <p:cNvPr id="25" name="Rule 24"/>
          <p:cNvSpPr/>
          <p:nvPr/>
        </p:nvSpPr>
        <p:spPr>
          <a:xfrm>
            <a:off x="2609850" y="2008386"/>
            <a:ext cx="6350" cy="341610"/>
          </a:xfrm>
          <a:prstGeom prst="rect">
            <a:avLst/>
          </a:prstGeom>
          <a:solidFill>
            <a:srgbClr val="D3D9DF"/>
          </a:solidFill>
          <a:ln>
            <a:noFill/>
          </a:ln>
        </p:spPr>
        <p:txBody>
          <a:bodyPr rtlCol="0" anchor="ctr"/>
          <a:lstStyle/>
          <a:p>
            <a:pPr algn="ctr"/>
          </a:p>
        </p:txBody>
      </p:sp>
      <p:sp>
        <p:nvSpPr>
          <p:cNvPr id="26" name="Text 25"/>
          <p:cNvSpPr txBox="1"/>
          <p:nvPr/>
        </p:nvSpPr>
        <p:spPr>
          <a:xfrm>
            <a:off x="2635250" y="2036072"/>
            <a:ext cx="91440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1" i="0" lang="ar-SA" altLang="en-US">
                <a:solidFill>
                  <a:srgbClr val="172433"/>
                </a:solidFill>
                <a:latin typeface="IBM Plex Sans Arabic"/>
                <a:ea typeface="IBM Plex Sans Arabic"/>
                <a:cs typeface="IBM Plex Sans Arabic"/>
              </a:rPr>
              <a:t>الملاحظة</a:t>
            </a:r>
          </a:p>
        </p:txBody>
      </p:sp>
      <p:sp>
        <p:nvSpPr>
          <p:cNvPr id="27" name="Box 26"/>
          <p:cNvSpPr/>
          <p:nvPr/>
        </p:nvSpPr>
        <p:spPr>
          <a:xfrm>
            <a:off x="819150" y="2008386"/>
            <a:ext cx="1790700" cy="341610"/>
          </a:xfrm>
          <a:prstGeom prst="rect">
            <a:avLst/>
          </a:prstGeom>
          <a:solidFill>
            <a:srgbClr val="F7F8FA"/>
          </a:solidFill>
          <a:ln>
            <a:noFill/>
          </a:ln>
        </p:spPr>
        <p:txBody>
          <a:bodyPr rtlCol="0" anchor="ctr"/>
          <a:lstStyle/>
          <a:p>
            <a:pPr algn="ctr"/>
          </a:p>
        </p:txBody>
      </p:sp>
      <p:sp>
        <p:nvSpPr>
          <p:cNvPr id="28" name="Rule 27"/>
          <p:cNvSpPr/>
          <p:nvPr/>
        </p:nvSpPr>
        <p:spPr>
          <a:xfrm>
            <a:off x="819150" y="2008386"/>
            <a:ext cx="6350" cy="341610"/>
          </a:xfrm>
          <a:prstGeom prst="rect">
            <a:avLst/>
          </a:prstGeom>
          <a:solidFill>
            <a:srgbClr val="D3D9DF"/>
          </a:solidFill>
          <a:ln>
            <a:noFill/>
          </a:ln>
        </p:spPr>
        <p:txBody>
          <a:bodyPr rtlCol="0" anchor="ctr"/>
          <a:lstStyle/>
          <a:p>
            <a:pPr algn="ctr"/>
          </a:p>
        </p:txBody>
      </p:sp>
      <p:sp>
        <p:nvSpPr>
          <p:cNvPr id="29" name="Text 28"/>
          <p:cNvSpPr txBox="1"/>
          <p:nvPr/>
        </p:nvSpPr>
        <p:spPr>
          <a:xfrm>
            <a:off x="844550" y="2036072"/>
            <a:ext cx="168910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1" i="0" lang="ar-SA" altLang="en-US">
                <a:solidFill>
                  <a:srgbClr val="172433"/>
                </a:solidFill>
                <a:latin typeface="IBM Plex Sans Arabic"/>
                <a:ea typeface="IBM Plex Sans Arabic"/>
                <a:cs typeface="IBM Plex Sans Arabic"/>
              </a:rPr>
              <a:t>الإجراء</a:t>
            </a:r>
          </a:p>
        </p:txBody>
      </p:sp>
      <p:sp>
        <p:nvSpPr>
          <p:cNvPr id="30" name="Rule 29"/>
          <p:cNvSpPr/>
          <p:nvPr/>
        </p:nvSpPr>
        <p:spPr>
          <a:xfrm>
            <a:off x="819150" y="3006427"/>
            <a:ext cx="10553700" cy="6350"/>
          </a:xfrm>
          <a:prstGeom prst="rect">
            <a:avLst/>
          </a:prstGeom>
          <a:solidFill>
            <a:srgbClr val="D3D9DF"/>
          </a:solidFill>
          <a:ln>
            <a:noFill/>
          </a:ln>
        </p:spPr>
        <p:txBody>
          <a:bodyPr rtlCol="0" anchor="ctr"/>
          <a:lstStyle/>
          <a:p>
            <a:pPr algn="ctr"/>
          </a:p>
        </p:txBody>
      </p:sp>
      <p:sp>
        <p:nvSpPr>
          <p:cNvPr id="31" name="Box 30"/>
          <p:cNvSpPr/>
          <p:nvPr/>
        </p:nvSpPr>
        <p:spPr>
          <a:xfrm>
            <a:off x="9975850" y="2356346"/>
            <a:ext cx="1397000" cy="650081"/>
          </a:xfrm>
          <a:prstGeom prst="rect">
            <a:avLst/>
          </a:prstGeom>
          <a:solidFill>
            <a:srgbClr val="FFFFFF"/>
          </a:solidFill>
          <a:ln>
            <a:noFill/>
          </a:ln>
        </p:spPr>
        <p:txBody>
          <a:bodyPr rtlCol="0" anchor="ctr"/>
          <a:lstStyle/>
          <a:p>
            <a:pPr algn="ctr"/>
          </a:p>
        </p:txBody>
      </p:sp>
      <p:sp>
        <p:nvSpPr>
          <p:cNvPr id="32" name="Rule 31"/>
          <p:cNvSpPr/>
          <p:nvPr/>
        </p:nvSpPr>
        <p:spPr>
          <a:xfrm>
            <a:off x="9975850" y="2356346"/>
            <a:ext cx="6350" cy="650081"/>
          </a:xfrm>
          <a:prstGeom prst="rect">
            <a:avLst/>
          </a:prstGeom>
          <a:solidFill>
            <a:srgbClr val="D3D9DF"/>
          </a:solidFill>
          <a:ln>
            <a:noFill/>
          </a:ln>
        </p:spPr>
        <p:txBody>
          <a:bodyPr rtlCol="0" anchor="ctr"/>
          <a:lstStyle/>
          <a:p>
            <a:pPr algn="ctr"/>
          </a:p>
        </p:txBody>
      </p:sp>
      <p:sp>
        <p:nvSpPr>
          <p:cNvPr id="33" name="Text 32"/>
          <p:cNvSpPr txBox="1"/>
          <p:nvPr/>
        </p:nvSpPr>
        <p:spPr>
          <a:xfrm>
            <a:off x="10001250" y="2380730"/>
            <a:ext cx="129540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ECC 2-2-3-5</a:t>
            </a:r>
          </a:p>
        </p:txBody>
      </p:sp>
      <p:sp>
        <p:nvSpPr>
          <p:cNvPr id="34" name="Box 33"/>
          <p:cNvSpPr/>
          <p:nvPr/>
        </p:nvSpPr>
        <p:spPr>
          <a:xfrm>
            <a:off x="7880350" y="2356346"/>
            <a:ext cx="2095500" cy="650081"/>
          </a:xfrm>
          <a:prstGeom prst="rect">
            <a:avLst/>
          </a:prstGeom>
          <a:solidFill>
            <a:srgbClr val="FFFFFF"/>
          </a:solidFill>
          <a:ln>
            <a:noFill/>
          </a:ln>
        </p:spPr>
        <p:txBody>
          <a:bodyPr rtlCol="0" anchor="ctr"/>
          <a:lstStyle/>
          <a:p>
            <a:pPr algn="ctr"/>
          </a:p>
        </p:txBody>
      </p:sp>
      <p:sp>
        <p:nvSpPr>
          <p:cNvPr id="35" name="Rule 34"/>
          <p:cNvSpPr/>
          <p:nvPr/>
        </p:nvSpPr>
        <p:spPr>
          <a:xfrm>
            <a:off x="7880350" y="2356346"/>
            <a:ext cx="6350" cy="650081"/>
          </a:xfrm>
          <a:prstGeom prst="rect">
            <a:avLst/>
          </a:prstGeom>
          <a:solidFill>
            <a:srgbClr val="D3D9DF"/>
          </a:solidFill>
          <a:ln>
            <a:noFill/>
          </a:ln>
        </p:spPr>
        <p:txBody>
          <a:bodyPr rtlCol="0" anchor="ctr"/>
          <a:lstStyle/>
          <a:p>
            <a:pPr algn="ctr"/>
          </a:p>
        </p:txBody>
      </p:sp>
      <p:sp>
        <p:nvSpPr>
          <p:cNvPr id="36" name="Text 35"/>
          <p:cNvSpPr txBox="1"/>
          <p:nvPr/>
        </p:nvSpPr>
        <p:spPr>
          <a:xfrm>
            <a:off x="7905750" y="2380730"/>
            <a:ext cx="19939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CTL-⁠AC-⁠03 مراجعة الرواتب الفصلية</a:t>
            </a:r>
          </a:p>
        </p:txBody>
      </p:sp>
      <p:sp>
        <p:nvSpPr>
          <p:cNvPr id="37" name="Box 36"/>
          <p:cNvSpPr/>
          <p:nvPr/>
        </p:nvSpPr>
        <p:spPr>
          <a:xfrm>
            <a:off x="5657850" y="2356346"/>
            <a:ext cx="2222500" cy="650081"/>
          </a:xfrm>
          <a:prstGeom prst="rect">
            <a:avLst/>
          </a:prstGeom>
          <a:solidFill>
            <a:srgbClr val="FFFFFF"/>
          </a:solidFill>
          <a:ln>
            <a:noFill/>
          </a:ln>
        </p:spPr>
        <p:txBody>
          <a:bodyPr rtlCol="0" anchor="ctr"/>
          <a:lstStyle/>
          <a:p>
            <a:pPr algn="ctr"/>
          </a:p>
        </p:txBody>
      </p:sp>
      <p:sp>
        <p:nvSpPr>
          <p:cNvPr id="38" name="Rule 37"/>
          <p:cNvSpPr/>
          <p:nvPr/>
        </p:nvSpPr>
        <p:spPr>
          <a:xfrm>
            <a:off x="5657850" y="2356346"/>
            <a:ext cx="6350" cy="650081"/>
          </a:xfrm>
          <a:prstGeom prst="rect">
            <a:avLst/>
          </a:prstGeom>
          <a:solidFill>
            <a:srgbClr val="D3D9DF"/>
          </a:solidFill>
          <a:ln>
            <a:noFill/>
          </a:ln>
        </p:spPr>
        <p:txBody>
          <a:bodyPr rtlCol="0" anchor="ctr"/>
          <a:lstStyle/>
          <a:p>
            <a:pPr algn="ctr"/>
          </a:p>
        </p:txBody>
      </p:sp>
      <p:sp>
        <p:nvSpPr>
          <p:cNvPr id="39" name="Text 38"/>
          <p:cNvSpPr txBox="1"/>
          <p:nvPr/>
        </p:nvSpPr>
        <p:spPr>
          <a:xfrm>
            <a:off x="5683250" y="2380730"/>
            <a:ext cx="21209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EV-⁠21 ملف المراجعة · EV-⁠22 التذاكر</a:t>
            </a:r>
          </a:p>
        </p:txBody>
      </p:sp>
      <p:sp>
        <p:nvSpPr>
          <p:cNvPr id="40" name="Box 39"/>
          <p:cNvSpPr/>
          <p:nvPr/>
        </p:nvSpPr>
        <p:spPr>
          <a:xfrm>
            <a:off x="3625850" y="2356346"/>
            <a:ext cx="2032000" cy="650081"/>
          </a:xfrm>
          <a:prstGeom prst="rect">
            <a:avLst/>
          </a:prstGeom>
          <a:solidFill>
            <a:srgbClr val="FFFFFF"/>
          </a:solidFill>
          <a:ln>
            <a:noFill/>
          </a:ln>
        </p:spPr>
        <p:txBody>
          <a:bodyPr rtlCol="0" anchor="ctr"/>
          <a:lstStyle/>
          <a:p>
            <a:pPr algn="ctr"/>
          </a:p>
        </p:txBody>
      </p:sp>
      <p:sp>
        <p:nvSpPr>
          <p:cNvPr id="41" name="Rule 40"/>
          <p:cNvSpPr/>
          <p:nvPr/>
        </p:nvSpPr>
        <p:spPr>
          <a:xfrm>
            <a:off x="3625850" y="2356346"/>
            <a:ext cx="6350" cy="650081"/>
          </a:xfrm>
          <a:prstGeom prst="rect">
            <a:avLst/>
          </a:prstGeom>
          <a:solidFill>
            <a:srgbClr val="D3D9DF"/>
          </a:solidFill>
          <a:ln>
            <a:noFill/>
          </a:ln>
        </p:spPr>
        <p:txBody>
          <a:bodyPr rtlCol="0" anchor="ctr"/>
          <a:lstStyle/>
          <a:p>
            <a:pPr algn="ctr"/>
          </a:p>
        </p:txBody>
      </p:sp>
      <p:sp>
        <p:nvSpPr>
          <p:cNvPr id="42" name="Text 41"/>
          <p:cNvSpPr txBox="1"/>
          <p:nvPr/>
        </p:nvSpPr>
        <p:spPr>
          <a:xfrm>
            <a:off x="3652202" y="2380730"/>
            <a:ext cx="1929448"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R-⁠12 صلاحيات غير مبررة</a:t>
            </a:r>
          </a:p>
        </p:txBody>
      </p:sp>
      <p:sp>
        <p:nvSpPr>
          <p:cNvPr id="43" name="Box 42"/>
          <p:cNvSpPr/>
          <p:nvPr/>
        </p:nvSpPr>
        <p:spPr>
          <a:xfrm>
            <a:off x="2609850" y="2356346"/>
            <a:ext cx="1016000" cy="650081"/>
          </a:xfrm>
          <a:prstGeom prst="rect">
            <a:avLst/>
          </a:prstGeom>
          <a:solidFill>
            <a:srgbClr val="FFFFFF"/>
          </a:solidFill>
          <a:ln>
            <a:noFill/>
          </a:ln>
        </p:spPr>
        <p:txBody>
          <a:bodyPr rtlCol="0" anchor="ctr"/>
          <a:lstStyle/>
          <a:p>
            <a:pPr algn="ctr"/>
          </a:p>
        </p:txBody>
      </p:sp>
      <p:sp>
        <p:nvSpPr>
          <p:cNvPr id="44" name="Rule 43"/>
          <p:cNvSpPr/>
          <p:nvPr/>
        </p:nvSpPr>
        <p:spPr>
          <a:xfrm>
            <a:off x="2609850" y="2356346"/>
            <a:ext cx="6350" cy="650081"/>
          </a:xfrm>
          <a:prstGeom prst="rect">
            <a:avLst/>
          </a:prstGeom>
          <a:solidFill>
            <a:srgbClr val="D3D9DF"/>
          </a:solidFill>
          <a:ln>
            <a:noFill/>
          </a:ln>
        </p:spPr>
        <p:txBody>
          <a:bodyPr rtlCol="0" anchor="ctr"/>
          <a:lstStyle/>
          <a:p>
            <a:pPr algn="ctr"/>
          </a:p>
        </p:txBody>
      </p:sp>
      <p:sp>
        <p:nvSpPr>
          <p:cNvPr id="45" name="Text 44"/>
          <p:cNvSpPr txBox="1"/>
          <p:nvPr/>
        </p:nvSpPr>
        <p:spPr>
          <a:xfrm>
            <a:off x="2635250" y="2380730"/>
            <a:ext cx="91440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F-04</a:t>
            </a:r>
          </a:p>
        </p:txBody>
      </p:sp>
      <p:sp>
        <p:nvSpPr>
          <p:cNvPr id="46" name="Box 45"/>
          <p:cNvSpPr/>
          <p:nvPr/>
        </p:nvSpPr>
        <p:spPr>
          <a:xfrm>
            <a:off x="819150" y="2356346"/>
            <a:ext cx="1790700" cy="650081"/>
          </a:xfrm>
          <a:prstGeom prst="rect">
            <a:avLst/>
          </a:prstGeom>
          <a:solidFill>
            <a:srgbClr val="FFFFFF"/>
          </a:solidFill>
          <a:ln>
            <a:noFill/>
          </a:ln>
        </p:spPr>
        <p:txBody>
          <a:bodyPr rtlCol="0" anchor="ctr"/>
          <a:lstStyle/>
          <a:p>
            <a:pPr algn="ctr"/>
          </a:p>
        </p:txBody>
      </p:sp>
      <p:sp>
        <p:nvSpPr>
          <p:cNvPr id="47" name="Rule 46"/>
          <p:cNvSpPr/>
          <p:nvPr/>
        </p:nvSpPr>
        <p:spPr>
          <a:xfrm>
            <a:off x="819150" y="2356346"/>
            <a:ext cx="6350" cy="650081"/>
          </a:xfrm>
          <a:prstGeom prst="rect">
            <a:avLst/>
          </a:prstGeom>
          <a:solidFill>
            <a:srgbClr val="D3D9DF"/>
          </a:solidFill>
          <a:ln>
            <a:noFill/>
          </a:ln>
        </p:spPr>
        <p:txBody>
          <a:bodyPr rtlCol="0" anchor="ctr"/>
          <a:lstStyle/>
          <a:p>
            <a:pPr algn="ctr"/>
          </a:p>
        </p:txBody>
      </p:sp>
      <p:sp>
        <p:nvSpPr>
          <p:cNvPr id="48" name="Text 47"/>
          <p:cNvSpPr txBox="1"/>
          <p:nvPr/>
        </p:nvSpPr>
        <p:spPr>
          <a:xfrm>
            <a:off x="844550" y="2380730"/>
            <a:ext cx="16891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CAP-⁠04-⁠1 إلى 4</a:t>
            </a:r>
          </a:p>
        </p:txBody>
      </p:sp>
      <p:sp>
        <p:nvSpPr>
          <p:cNvPr id="49" name="Rule 48"/>
          <p:cNvSpPr/>
          <p:nvPr/>
        </p:nvSpPr>
        <p:spPr>
          <a:xfrm>
            <a:off x="819150" y="3662859"/>
            <a:ext cx="10553700" cy="6350"/>
          </a:xfrm>
          <a:prstGeom prst="rect">
            <a:avLst/>
          </a:prstGeom>
          <a:solidFill>
            <a:srgbClr val="D3D9DF"/>
          </a:solidFill>
          <a:ln>
            <a:noFill/>
          </a:ln>
        </p:spPr>
        <p:txBody>
          <a:bodyPr rtlCol="0" anchor="ctr"/>
          <a:lstStyle/>
          <a:p>
            <a:pPr algn="ctr"/>
          </a:p>
        </p:txBody>
      </p:sp>
      <p:sp>
        <p:nvSpPr>
          <p:cNvPr id="50" name="Box 49"/>
          <p:cNvSpPr/>
          <p:nvPr/>
        </p:nvSpPr>
        <p:spPr>
          <a:xfrm>
            <a:off x="9975850" y="3012777"/>
            <a:ext cx="1397000" cy="650081"/>
          </a:xfrm>
          <a:prstGeom prst="rect">
            <a:avLst/>
          </a:prstGeom>
          <a:solidFill>
            <a:srgbClr val="FBEFD9"/>
          </a:solidFill>
          <a:ln>
            <a:noFill/>
          </a:ln>
        </p:spPr>
        <p:txBody>
          <a:bodyPr rtlCol="0" anchor="ctr"/>
          <a:lstStyle/>
          <a:p>
            <a:pPr algn="ctr"/>
          </a:p>
        </p:txBody>
      </p:sp>
      <p:sp>
        <p:nvSpPr>
          <p:cNvPr id="51" name="Rule 50"/>
          <p:cNvSpPr/>
          <p:nvPr/>
        </p:nvSpPr>
        <p:spPr>
          <a:xfrm>
            <a:off x="9975850" y="3012777"/>
            <a:ext cx="6350" cy="650081"/>
          </a:xfrm>
          <a:prstGeom prst="rect">
            <a:avLst/>
          </a:prstGeom>
          <a:solidFill>
            <a:srgbClr val="D3D9DF"/>
          </a:solidFill>
          <a:ln>
            <a:noFill/>
          </a:ln>
        </p:spPr>
        <p:txBody>
          <a:bodyPr rtlCol="0" anchor="ctr"/>
          <a:lstStyle/>
          <a:p>
            <a:pPr algn="ctr"/>
          </a:p>
        </p:txBody>
      </p:sp>
      <p:sp>
        <p:nvSpPr>
          <p:cNvPr id="52" name="Text 51"/>
          <p:cNvSpPr txBox="1"/>
          <p:nvPr/>
        </p:nvSpPr>
        <p:spPr>
          <a:xfrm>
            <a:off x="10001250" y="3037161"/>
            <a:ext cx="129540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ECC 2-2-3-2</a:t>
            </a:r>
          </a:p>
        </p:txBody>
      </p:sp>
      <p:sp>
        <p:nvSpPr>
          <p:cNvPr id="53" name="Box 52"/>
          <p:cNvSpPr/>
          <p:nvPr/>
        </p:nvSpPr>
        <p:spPr>
          <a:xfrm>
            <a:off x="7880350" y="3012777"/>
            <a:ext cx="2095500" cy="650081"/>
          </a:xfrm>
          <a:prstGeom prst="rect">
            <a:avLst/>
          </a:prstGeom>
          <a:solidFill>
            <a:srgbClr val="FBEFD9"/>
          </a:solidFill>
          <a:ln>
            <a:noFill/>
          </a:ln>
        </p:spPr>
        <p:txBody>
          <a:bodyPr rtlCol="0" anchor="ctr"/>
          <a:lstStyle/>
          <a:p>
            <a:pPr algn="ctr"/>
          </a:p>
        </p:txBody>
      </p:sp>
      <p:sp>
        <p:nvSpPr>
          <p:cNvPr id="54" name="Rule 53"/>
          <p:cNvSpPr/>
          <p:nvPr/>
        </p:nvSpPr>
        <p:spPr>
          <a:xfrm>
            <a:off x="7880350" y="3012777"/>
            <a:ext cx="6350" cy="650081"/>
          </a:xfrm>
          <a:prstGeom prst="rect">
            <a:avLst/>
          </a:prstGeom>
          <a:solidFill>
            <a:srgbClr val="D3D9DF"/>
          </a:solidFill>
          <a:ln>
            <a:noFill/>
          </a:ln>
        </p:spPr>
        <p:txBody>
          <a:bodyPr rtlCol="0" anchor="ctr"/>
          <a:lstStyle/>
          <a:p>
            <a:pPr algn="ctr"/>
          </a:p>
        </p:txBody>
      </p:sp>
      <p:sp>
        <p:nvSpPr>
          <p:cNvPr id="55" name="Text 54"/>
          <p:cNvSpPr txBox="1"/>
          <p:nvPr/>
        </p:nvSpPr>
        <p:spPr>
          <a:xfrm>
            <a:off x="7905750" y="3037161"/>
            <a:ext cx="19939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CTL-⁠RA-⁠01 MFA على VPN</a:t>
            </a:r>
          </a:p>
        </p:txBody>
      </p:sp>
      <p:sp>
        <p:nvSpPr>
          <p:cNvPr id="56" name="Box 55"/>
          <p:cNvSpPr/>
          <p:nvPr/>
        </p:nvSpPr>
        <p:spPr>
          <a:xfrm>
            <a:off x="5657850" y="3012777"/>
            <a:ext cx="2222500" cy="650081"/>
          </a:xfrm>
          <a:prstGeom prst="rect">
            <a:avLst/>
          </a:prstGeom>
          <a:solidFill>
            <a:srgbClr val="FBEFD9"/>
          </a:solidFill>
          <a:ln>
            <a:noFill/>
          </a:ln>
        </p:spPr>
        <p:txBody>
          <a:bodyPr rtlCol="0" anchor="ctr"/>
          <a:lstStyle/>
          <a:p>
            <a:pPr algn="ctr"/>
          </a:p>
        </p:txBody>
      </p:sp>
      <p:sp>
        <p:nvSpPr>
          <p:cNvPr id="57" name="Rule 56"/>
          <p:cNvSpPr/>
          <p:nvPr/>
        </p:nvSpPr>
        <p:spPr>
          <a:xfrm>
            <a:off x="5657850" y="3012777"/>
            <a:ext cx="6350" cy="650081"/>
          </a:xfrm>
          <a:prstGeom prst="rect">
            <a:avLst/>
          </a:prstGeom>
          <a:solidFill>
            <a:srgbClr val="D3D9DF"/>
          </a:solidFill>
          <a:ln>
            <a:noFill/>
          </a:ln>
        </p:spPr>
        <p:txBody>
          <a:bodyPr rtlCol="0" anchor="ctr"/>
          <a:lstStyle/>
          <a:p>
            <a:pPr algn="ctr"/>
          </a:p>
        </p:txBody>
      </p:sp>
      <p:sp>
        <p:nvSpPr>
          <p:cNvPr id="58" name="Text 57"/>
          <p:cNvSpPr txBox="1"/>
          <p:nvPr/>
        </p:nvSpPr>
        <p:spPr>
          <a:xfrm>
            <a:off x="5683250" y="3037161"/>
            <a:ext cx="21209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EV-⁠11 الإعداد · EV-⁠13 المطابقة</a:t>
            </a:r>
          </a:p>
        </p:txBody>
      </p:sp>
      <p:sp>
        <p:nvSpPr>
          <p:cNvPr id="59" name="Box 58"/>
          <p:cNvSpPr/>
          <p:nvPr/>
        </p:nvSpPr>
        <p:spPr>
          <a:xfrm>
            <a:off x="3625850" y="3012777"/>
            <a:ext cx="2032000" cy="650081"/>
          </a:xfrm>
          <a:prstGeom prst="rect">
            <a:avLst/>
          </a:prstGeom>
          <a:solidFill>
            <a:srgbClr val="FBEFD9"/>
          </a:solidFill>
          <a:ln>
            <a:noFill/>
          </a:ln>
        </p:spPr>
        <p:txBody>
          <a:bodyPr rtlCol="0" anchor="ctr"/>
          <a:lstStyle/>
          <a:p>
            <a:pPr algn="ctr"/>
          </a:p>
        </p:txBody>
      </p:sp>
      <p:sp>
        <p:nvSpPr>
          <p:cNvPr id="60" name="Rule 59"/>
          <p:cNvSpPr/>
          <p:nvPr/>
        </p:nvSpPr>
        <p:spPr>
          <a:xfrm>
            <a:off x="3625850" y="3012777"/>
            <a:ext cx="6350" cy="650081"/>
          </a:xfrm>
          <a:prstGeom prst="rect">
            <a:avLst/>
          </a:prstGeom>
          <a:solidFill>
            <a:srgbClr val="D3D9DF"/>
          </a:solidFill>
          <a:ln>
            <a:noFill/>
          </a:ln>
        </p:spPr>
        <p:txBody>
          <a:bodyPr rtlCol="0" anchor="ctr"/>
          <a:lstStyle/>
          <a:p>
            <a:pPr algn="ctr"/>
          </a:p>
        </p:txBody>
      </p:sp>
      <p:sp>
        <p:nvSpPr>
          <p:cNvPr id="61" name="Text 60"/>
          <p:cNvSpPr txBox="1"/>
          <p:nvPr/>
        </p:nvSpPr>
        <p:spPr>
          <a:xfrm>
            <a:off x="3652202" y="3037161"/>
            <a:ext cx="1929448"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R-⁠09 دخول بكلمة مرور فقط</a:t>
            </a:r>
          </a:p>
        </p:txBody>
      </p:sp>
      <p:sp>
        <p:nvSpPr>
          <p:cNvPr id="62" name="Box 61"/>
          <p:cNvSpPr/>
          <p:nvPr/>
        </p:nvSpPr>
        <p:spPr>
          <a:xfrm>
            <a:off x="2609850" y="3012777"/>
            <a:ext cx="1016000" cy="650081"/>
          </a:xfrm>
          <a:prstGeom prst="rect">
            <a:avLst/>
          </a:prstGeom>
          <a:solidFill>
            <a:srgbClr val="FBEFD9"/>
          </a:solidFill>
          <a:ln>
            <a:noFill/>
          </a:ln>
        </p:spPr>
        <p:txBody>
          <a:bodyPr rtlCol="0" anchor="ctr"/>
          <a:lstStyle/>
          <a:p>
            <a:pPr algn="ctr"/>
          </a:p>
        </p:txBody>
      </p:sp>
      <p:sp>
        <p:nvSpPr>
          <p:cNvPr id="63" name="Rule 62"/>
          <p:cNvSpPr/>
          <p:nvPr/>
        </p:nvSpPr>
        <p:spPr>
          <a:xfrm>
            <a:off x="2609850" y="3012777"/>
            <a:ext cx="6350" cy="650081"/>
          </a:xfrm>
          <a:prstGeom prst="rect">
            <a:avLst/>
          </a:prstGeom>
          <a:solidFill>
            <a:srgbClr val="D3D9DF"/>
          </a:solidFill>
          <a:ln>
            <a:noFill/>
          </a:ln>
        </p:spPr>
        <p:txBody>
          <a:bodyPr rtlCol="0" anchor="ctr"/>
          <a:lstStyle/>
          <a:p>
            <a:pPr algn="ctr"/>
          </a:p>
        </p:txBody>
      </p:sp>
      <p:sp>
        <p:nvSpPr>
          <p:cNvPr id="64" name="Text 63"/>
          <p:cNvSpPr txBox="1"/>
          <p:nvPr/>
        </p:nvSpPr>
        <p:spPr>
          <a:xfrm>
            <a:off x="2635250" y="3037161"/>
            <a:ext cx="91440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F-03</a:t>
            </a:r>
          </a:p>
        </p:txBody>
      </p:sp>
      <p:sp>
        <p:nvSpPr>
          <p:cNvPr id="65" name="Box 64"/>
          <p:cNvSpPr/>
          <p:nvPr/>
        </p:nvSpPr>
        <p:spPr>
          <a:xfrm>
            <a:off x="819150" y="3012777"/>
            <a:ext cx="1790700" cy="650081"/>
          </a:xfrm>
          <a:prstGeom prst="rect">
            <a:avLst/>
          </a:prstGeom>
          <a:solidFill>
            <a:srgbClr val="FBEFD9"/>
          </a:solidFill>
          <a:ln>
            <a:noFill/>
          </a:ln>
        </p:spPr>
        <p:txBody>
          <a:bodyPr rtlCol="0" anchor="ctr"/>
          <a:lstStyle/>
          <a:p>
            <a:pPr algn="ctr"/>
          </a:p>
        </p:txBody>
      </p:sp>
      <p:sp>
        <p:nvSpPr>
          <p:cNvPr id="66" name="Rule 65"/>
          <p:cNvSpPr/>
          <p:nvPr/>
        </p:nvSpPr>
        <p:spPr>
          <a:xfrm>
            <a:off x="819150" y="3012777"/>
            <a:ext cx="6350" cy="650081"/>
          </a:xfrm>
          <a:prstGeom prst="rect">
            <a:avLst/>
          </a:prstGeom>
          <a:solidFill>
            <a:srgbClr val="D3D9DF"/>
          </a:solidFill>
          <a:ln>
            <a:noFill/>
          </a:ln>
        </p:spPr>
        <p:txBody>
          <a:bodyPr rtlCol="0" anchor="ctr"/>
          <a:lstStyle/>
          <a:p>
            <a:pPr algn="ctr"/>
          </a:p>
        </p:txBody>
      </p:sp>
      <p:sp>
        <p:nvSpPr>
          <p:cNvPr id="67" name="Text 66"/>
          <p:cNvSpPr txBox="1"/>
          <p:nvPr/>
        </p:nvSpPr>
        <p:spPr>
          <a:xfrm>
            <a:off x="844550" y="3037161"/>
            <a:ext cx="16891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CAP-⁠03-⁠1 إلى 4</a:t>
            </a:r>
          </a:p>
        </p:txBody>
      </p:sp>
      <p:sp>
        <p:nvSpPr>
          <p:cNvPr id="68" name="Rule 67"/>
          <p:cNvSpPr/>
          <p:nvPr/>
        </p:nvSpPr>
        <p:spPr>
          <a:xfrm>
            <a:off x="819150" y="4319290"/>
            <a:ext cx="10553700" cy="6350"/>
          </a:xfrm>
          <a:prstGeom prst="rect">
            <a:avLst/>
          </a:prstGeom>
          <a:solidFill>
            <a:srgbClr val="D3D9DF"/>
          </a:solidFill>
          <a:ln>
            <a:noFill/>
          </a:ln>
        </p:spPr>
        <p:txBody>
          <a:bodyPr rtlCol="0" anchor="ctr"/>
          <a:lstStyle/>
          <a:p>
            <a:pPr algn="ctr"/>
          </a:p>
        </p:txBody>
      </p:sp>
      <p:sp>
        <p:nvSpPr>
          <p:cNvPr id="69" name="Box 68"/>
          <p:cNvSpPr/>
          <p:nvPr/>
        </p:nvSpPr>
        <p:spPr>
          <a:xfrm>
            <a:off x="9975850" y="3669209"/>
            <a:ext cx="1397000" cy="650081"/>
          </a:xfrm>
          <a:prstGeom prst="roundRect">
            <a:avLst>
              <a:gd name="adj" fmla="val 1709"/>
            </a:avLst>
          </a:prstGeom>
          <a:solidFill>
            <a:srgbClr val="FFFFFF"/>
          </a:solidFill>
          <a:ln>
            <a:noFill/>
          </a:ln>
        </p:spPr>
        <p:txBody>
          <a:bodyPr rtlCol="0" anchor="ctr"/>
          <a:lstStyle/>
          <a:p>
            <a:pPr algn="ctr"/>
          </a:p>
        </p:txBody>
      </p:sp>
      <p:sp>
        <p:nvSpPr>
          <p:cNvPr id="70" name="Rule 69"/>
          <p:cNvSpPr/>
          <p:nvPr/>
        </p:nvSpPr>
        <p:spPr>
          <a:xfrm>
            <a:off x="9975850" y="3669209"/>
            <a:ext cx="6350" cy="650081"/>
          </a:xfrm>
          <a:prstGeom prst="rect">
            <a:avLst/>
          </a:prstGeom>
          <a:solidFill>
            <a:srgbClr val="D3D9DF"/>
          </a:solidFill>
          <a:ln>
            <a:noFill/>
          </a:ln>
        </p:spPr>
        <p:txBody>
          <a:bodyPr rtlCol="0" anchor="ctr"/>
          <a:lstStyle/>
          <a:p>
            <a:pPr algn="ctr"/>
          </a:p>
        </p:txBody>
      </p:sp>
      <p:sp>
        <p:nvSpPr>
          <p:cNvPr id="71" name="Text 70"/>
          <p:cNvSpPr txBox="1"/>
          <p:nvPr/>
        </p:nvSpPr>
        <p:spPr>
          <a:xfrm>
            <a:off x="10001250" y="3693593"/>
            <a:ext cx="129540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ECC 4-1-2</a:t>
            </a:r>
          </a:p>
        </p:txBody>
      </p:sp>
      <p:sp>
        <p:nvSpPr>
          <p:cNvPr id="72" name="Box 71"/>
          <p:cNvSpPr/>
          <p:nvPr/>
        </p:nvSpPr>
        <p:spPr>
          <a:xfrm>
            <a:off x="7880350" y="3669209"/>
            <a:ext cx="2095500" cy="650081"/>
          </a:xfrm>
          <a:prstGeom prst="rect">
            <a:avLst/>
          </a:prstGeom>
          <a:solidFill>
            <a:srgbClr val="FFFFFF"/>
          </a:solidFill>
          <a:ln>
            <a:noFill/>
          </a:ln>
        </p:spPr>
        <p:txBody>
          <a:bodyPr rtlCol="0" anchor="ctr"/>
          <a:lstStyle/>
          <a:p>
            <a:pPr algn="ctr"/>
          </a:p>
        </p:txBody>
      </p:sp>
      <p:sp>
        <p:nvSpPr>
          <p:cNvPr id="73" name="Rule 72"/>
          <p:cNvSpPr/>
          <p:nvPr/>
        </p:nvSpPr>
        <p:spPr>
          <a:xfrm>
            <a:off x="7880350" y="3669209"/>
            <a:ext cx="6350" cy="650081"/>
          </a:xfrm>
          <a:prstGeom prst="rect">
            <a:avLst/>
          </a:prstGeom>
          <a:solidFill>
            <a:srgbClr val="D3D9DF"/>
          </a:solidFill>
          <a:ln>
            <a:noFill/>
          </a:ln>
        </p:spPr>
        <p:txBody>
          <a:bodyPr rtlCol="0" anchor="ctr"/>
          <a:lstStyle/>
          <a:p>
            <a:pPr algn="ctr"/>
          </a:p>
        </p:txBody>
      </p:sp>
      <p:sp>
        <p:nvSpPr>
          <p:cNvPr id="74" name="Text 73"/>
          <p:cNvSpPr txBox="1"/>
          <p:nvPr/>
        </p:nvSpPr>
        <p:spPr>
          <a:xfrm>
            <a:off x="7905750" y="3693593"/>
            <a:ext cx="19939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CTL-⁠TP-⁠02 بنود عقود الموردين</a:t>
            </a:r>
          </a:p>
        </p:txBody>
      </p:sp>
      <p:sp>
        <p:nvSpPr>
          <p:cNvPr id="75" name="Box 74"/>
          <p:cNvSpPr/>
          <p:nvPr/>
        </p:nvSpPr>
        <p:spPr>
          <a:xfrm>
            <a:off x="5657850" y="3669209"/>
            <a:ext cx="2222500" cy="650081"/>
          </a:xfrm>
          <a:prstGeom prst="rect">
            <a:avLst/>
          </a:prstGeom>
          <a:solidFill>
            <a:srgbClr val="FFFFFF"/>
          </a:solidFill>
          <a:ln>
            <a:noFill/>
          </a:ln>
        </p:spPr>
        <p:txBody>
          <a:bodyPr rtlCol="0" anchor="ctr"/>
          <a:lstStyle/>
          <a:p>
            <a:pPr algn="ctr"/>
          </a:p>
        </p:txBody>
      </p:sp>
      <p:sp>
        <p:nvSpPr>
          <p:cNvPr id="76" name="Rule 75"/>
          <p:cNvSpPr/>
          <p:nvPr/>
        </p:nvSpPr>
        <p:spPr>
          <a:xfrm>
            <a:off x="5657850" y="3669209"/>
            <a:ext cx="6350" cy="650081"/>
          </a:xfrm>
          <a:prstGeom prst="rect">
            <a:avLst/>
          </a:prstGeom>
          <a:solidFill>
            <a:srgbClr val="D3D9DF"/>
          </a:solidFill>
          <a:ln>
            <a:noFill/>
          </a:ln>
        </p:spPr>
        <p:txBody>
          <a:bodyPr rtlCol="0" anchor="ctr"/>
          <a:lstStyle/>
          <a:p>
            <a:pPr algn="ctr"/>
          </a:p>
        </p:txBody>
      </p:sp>
      <p:sp>
        <p:nvSpPr>
          <p:cNvPr id="77" name="Text 76"/>
          <p:cNvSpPr txBox="1"/>
          <p:nvPr/>
        </p:nvSpPr>
        <p:spPr>
          <a:xfrm>
            <a:off x="5683250" y="3693593"/>
            <a:ext cx="2120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EV-⁠31 عقد المورد</a:t>
            </a:r>
          </a:p>
        </p:txBody>
      </p:sp>
      <p:sp>
        <p:nvSpPr>
          <p:cNvPr id="78" name="Box 77"/>
          <p:cNvSpPr/>
          <p:nvPr/>
        </p:nvSpPr>
        <p:spPr>
          <a:xfrm>
            <a:off x="3625850" y="3669209"/>
            <a:ext cx="2032000" cy="650081"/>
          </a:xfrm>
          <a:prstGeom prst="rect">
            <a:avLst/>
          </a:prstGeom>
          <a:solidFill>
            <a:srgbClr val="FFFFFF"/>
          </a:solidFill>
          <a:ln>
            <a:noFill/>
          </a:ln>
        </p:spPr>
        <p:txBody>
          <a:bodyPr rtlCol="0" anchor="ctr"/>
          <a:lstStyle/>
          <a:p>
            <a:pPr algn="ctr"/>
          </a:p>
        </p:txBody>
      </p:sp>
      <p:sp>
        <p:nvSpPr>
          <p:cNvPr id="79" name="Rule 78"/>
          <p:cNvSpPr/>
          <p:nvPr/>
        </p:nvSpPr>
        <p:spPr>
          <a:xfrm>
            <a:off x="3625850" y="3669209"/>
            <a:ext cx="6350" cy="650081"/>
          </a:xfrm>
          <a:prstGeom prst="rect">
            <a:avLst/>
          </a:prstGeom>
          <a:solidFill>
            <a:srgbClr val="D3D9DF"/>
          </a:solidFill>
          <a:ln>
            <a:noFill/>
          </a:ln>
        </p:spPr>
        <p:txBody>
          <a:bodyPr rtlCol="0" anchor="ctr"/>
          <a:lstStyle/>
          <a:p>
            <a:pPr algn="ctr"/>
          </a:p>
        </p:txBody>
      </p:sp>
      <p:sp>
        <p:nvSpPr>
          <p:cNvPr id="80" name="Text 79"/>
          <p:cNvSpPr txBox="1"/>
          <p:nvPr/>
        </p:nvSpPr>
        <p:spPr>
          <a:xfrm>
            <a:off x="3652202" y="3693593"/>
            <a:ext cx="1929448"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R-⁠15 حساب المورد المشترك</a:t>
            </a:r>
          </a:p>
        </p:txBody>
      </p:sp>
      <p:sp>
        <p:nvSpPr>
          <p:cNvPr id="81" name="Box 80"/>
          <p:cNvSpPr/>
          <p:nvPr/>
        </p:nvSpPr>
        <p:spPr>
          <a:xfrm>
            <a:off x="2609850" y="3669209"/>
            <a:ext cx="1016000" cy="650081"/>
          </a:xfrm>
          <a:prstGeom prst="rect">
            <a:avLst/>
          </a:prstGeom>
          <a:solidFill>
            <a:srgbClr val="FFFFFF"/>
          </a:solidFill>
          <a:ln>
            <a:noFill/>
          </a:ln>
        </p:spPr>
        <p:txBody>
          <a:bodyPr rtlCol="0" anchor="ctr"/>
          <a:lstStyle/>
          <a:p>
            <a:pPr algn="ctr"/>
          </a:p>
        </p:txBody>
      </p:sp>
      <p:sp>
        <p:nvSpPr>
          <p:cNvPr id="82" name="Rule 81"/>
          <p:cNvSpPr/>
          <p:nvPr/>
        </p:nvSpPr>
        <p:spPr>
          <a:xfrm>
            <a:off x="2609850" y="3669209"/>
            <a:ext cx="6350" cy="650081"/>
          </a:xfrm>
          <a:prstGeom prst="rect">
            <a:avLst/>
          </a:prstGeom>
          <a:solidFill>
            <a:srgbClr val="D3D9DF"/>
          </a:solidFill>
          <a:ln>
            <a:noFill/>
          </a:ln>
        </p:spPr>
        <p:txBody>
          <a:bodyPr rtlCol="0" anchor="ctr"/>
          <a:lstStyle/>
          <a:p>
            <a:pPr algn="ctr"/>
          </a:p>
        </p:txBody>
      </p:sp>
      <p:sp>
        <p:nvSpPr>
          <p:cNvPr id="83" name="Text 82"/>
          <p:cNvSpPr txBox="1"/>
          <p:nvPr/>
        </p:nvSpPr>
        <p:spPr>
          <a:xfrm>
            <a:off x="2635250" y="3693593"/>
            <a:ext cx="91440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a:t>
            </a:r>
          </a:p>
        </p:txBody>
      </p:sp>
      <p:sp>
        <p:nvSpPr>
          <p:cNvPr id="84" name="Box 83"/>
          <p:cNvSpPr/>
          <p:nvPr/>
        </p:nvSpPr>
        <p:spPr>
          <a:xfrm>
            <a:off x="819150" y="3669209"/>
            <a:ext cx="1790700" cy="650081"/>
          </a:xfrm>
          <a:prstGeom prst="roundRect">
            <a:avLst>
              <a:gd name="adj" fmla="val 1709"/>
            </a:avLst>
          </a:prstGeom>
          <a:solidFill>
            <a:srgbClr val="FFFFFF"/>
          </a:solidFill>
          <a:ln>
            <a:noFill/>
          </a:ln>
        </p:spPr>
        <p:txBody>
          <a:bodyPr rtlCol="0" anchor="ctr"/>
          <a:lstStyle/>
          <a:p>
            <a:pPr algn="ctr"/>
          </a:p>
        </p:txBody>
      </p:sp>
      <p:sp>
        <p:nvSpPr>
          <p:cNvPr id="85" name="Rule 84"/>
          <p:cNvSpPr/>
          <p:nvPr/>
        </p:nvSpPr>
        <p:spPr>
          <a:xfrm>
            <a:off x="819150" y="3669209"/>
            <a:ext cx="6350" cy="650081"/>
          </a:xfrm>
          <a:prstGeom prst="rect">
            <a:avLst/>
          </a:prstGeom>
          <a:solidFill>
            <a:srgbClr val="D3D9DF"/>
          </a:solidFill>
          <a:ln>
            <a:noFill/>
          </a:ln>
        </p:spPr>
        <p:txBody>
          <a:bodyPr rtlCol="0" anchor="ctr"/>
          <a:lstStyle/>
          <a:p>
            <a:pPr algn="ctr"/>
          </a:p>
        </p:txBody>
      </p:sp>
      <p:sp>
        <p:nvSpPr>
          <p:cNvPr id="86" name="Text 85"/>
          <p:cNvSpPr txBox="1"/>
          <p:nvPr/>
        </p:nvSpPr>
        <p:spPr>
          <a:xfrm>
            <a:off x="844550" y="3693593"/>
            <a:ext cx="16891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خطة المعالجة</a:t>
            </a:r>
          </a:p>
        </p:txBody>
      </p:sp>
      <p:pic>
        <p:nvPicPr>
          <p:cNvPr id="87" name="Icon Search 86" descr="icon027.png"/>
          <p:cNvPicPr>
            <a:picLocks noChangeAspect="1"/>
          </p:cNvPicPr>
          <p:nvPr/>
        </p:nvPicPr>
        <p:blipFill>
          <a:blip r:embed="rId2"/>
          <a:stretch>
            <a:fillRect/>
          </a:stretch>
        </p:blipFill>
        <p:spPr>
          <a:xfrm>
            <a:off x="11125200" y="5058370"/>
            <a:ext cx="254000" cy="254000"/>
          </a:xfrm>
          <a:prstGeom prst="rect">
            <a:avLst/>
          </a:prstGeom>
        </p:spPr>
      </p:pic>
      <p:sp>
        <p:nvSpPr>
          <p:cNvPr id="88" name="Text 87"/>
          <p:cNvSpPr txBox="1"/>
          <p:nvPr/>
        </p:nvSpPr>
        <p:spPr>
          <a:xfrm>
            <a:off x="506476" y="4854214"/>
            <a:ext cx="10517124"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رقم واحد يربط كل شيء: من الملاحظة F-⁠04 تصل إلى المتطلب والضابط والدليل والخطر والإجراءات. المنصات المتخصصة تفعل الشيء نفسه بجداول مرتبطة.</a:t>
            </a:r>
          </a:p>
        </p:txBody>
      </p:sp>
      <p:sp>
        <p:nvSpPr>
          <p:cNvPr id="89" name="Text 88"/>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90" name="Text 89"/>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مخاطر الأطراف الخارجية: من التقييم إلى الإنهاء</a:t>
            </a:r>
          </a:p>
        </p:txBody>
      </p:sp>
      <p:sp>
        <p:nvSpPr>
          <p:cNvPr id="5" name="Text 4"/>
          <p:cNvSpPr txBox="1"/>
          <p:nvPr/>
        </p:nvSpPr>
        <p:spPr>
          <a:xfrm>
            <a:off x="0" y="1583269"/>
            <a:ext cx="113792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4E5A66"/>
                </a:solidFill>
                <a:latin typeface="IBM Plex Sans Arabic"/>
                <a:ea typeface="IBM Plex Sans Arabic"/>
                <a:cs typeface="IBM Plex Sans Arabic"/>
              </a:rPr>
              <a:t>حين تُسند خدمة إلى مورد، ينتقل جزء من العمل، ولا تنتقل المسؤولية.</a:t>
            </a:r>
          </a:p>
        </p:txBody>
      </p:sp>
      <p:sp>
        <p:nvSpPr>
          <p:cNvPr id="6" name="Rule 5"/>
          <p:cNvSpPr/>
          <p:nvPr/>
        </p:nvSpPr>
        <p:spPr>
          <a:xfrm>
            <a:off x="9357320" y="2066826"/>
            <a:ext cx="2021880" cy="31750"/>
          </a:xfrm>
          <a:prstGeom prst="rect">
            <a:avLst/>
          </a:prstGeom>
          <a:solidFill>
            <a:srgbClr val="0E7C6B"/>
          </a:solidFill>
          <a:ln>
            <a:noFill/>
          </a:ln>
        </p:spPr>
        <p:txBody>
          <a:bodyPr rtlCol="0" anchor="ctr"/>
          <a:lstStyle/>
          <a:p>
            <a:pPr algn="ctr"/>
          </a:p>
        </p:txBody>
      </p:sp>
      <p:sp>
        <p:nvSpPr>
          <p:cNvPr id="7" name="Text 6"/>
          <p:cNvSpPr txBox="1"/>
          <p:nvPr/>
        </p:nvSpPr>
        <p:spPr>
          <a:xfrm>
            <a:off x="9382720" y="2262025"/>
            <a:ext cx="195838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1</a:t>
            </a:r>
          </a:p>
        </p:txBody>
      </p:sp>
      <p:sp>
        <p:nvSpPr>
          <p:cNvPr id="8" name="Text 7"/>
          <p:cNvSpPr txBox="1"/>
          <p:nvPr/>
        </p:nvSpPr>
        <p:spPr>
          <a:xfrm>
            <a:off x="9382720" y="2553617"/>
            <a:ext cx="195838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Readex Pro"/>
                <a:ea typeface="Readex Pro"/>
                <a:cs typeface="Readex Pro"/>
              </a:rPr>
              <a:t>قبل التعاقد</a:t>
            </a:r>
          </a:p>
        </p:txBody>
      </p:sp>
      <p:sp>
        <p:nvSpPr>
          <p:cNvPr id="9" name="Text 8"/>
          <p:cNvSpPr txBox="1"/>
          <p:nvPr/>
        </p:nvSpPr>
        <p:spPr>
          <a:xfrm>
            <a:off x="9382720" y="2879860"/>
            <a:ext cx="1958380" cy="1178322"/>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تقييم المخاطر: ما الخدمة، وما البيانات والوصول؟ (ECC 4-⁠1-⁠3-⁠1)</a:t>
            </a:r>
          </a:p>
        </p:txBody>
      </p:sp>
      <p:sp>
        <p:nvSpPr>
          <p:cNvPr id="10" name="Text box 9"/>
          <p:cNvSpPr/>
          <p:nvPr/>
        </p:nvSpPr>
        <p:spPr>
          <a:xfrm>
            <a:off x="9395420" y="4145558"/>
            <a:ext cx="1945680" cy="554831"/>
          </a:xfrm>
          <a:prstGeom prst="rect">
            <a:avLst/>
          </a:prstGeom>
          <a:noFill/>
          <a:ln>
            <a:noFill/>
          </a:ln>
        </p:spPr>
        <p:txBody>
          <a:bodyPr rtlCol="0" anchor="ctr" wrap="square" tIns="29591" rIns="0" bIns="27559" lIns="0" anchorCtr="0">
            <a:noAutofit/>
          </a:bodyPr>
          <a:lstStyle/>
          <a:p>
            <a:pPr algn="r" rtl="1">
              <a:lnSpc>
                <a:spcPts val="1960"/>
              </a:lnSpc>
              <a:spcBef>
                <a:spcPts val="0"/>
              </a:spcBef>
              <a:spcAft>
                <a:spcPts val="0"/>
              </a:spcAft>
            </a:pPr>
            <a:r>
              <a:rPr sz="1400" b="0" i="0" lang="ar-SA" altLang="en-US">
                <a:solidFill>
                  <a:srgbClr val="B4412C"/>
                </a:solidFill>
                <a:latin typeface="IBM Plex Sans Arabic"/>
                <a:ea typeface="IBM Plex Sans Arabic"/>
                <a:cs typeface="IBM Plex Sans Arabic"/>
              </a:rPr>
              <a:t>خطأ شائع: التقييم بعد التوقيع.</a:t>
            </a:r>
          </a:p>
        </p:txBody>
      </p:sp>
      <p:sp>
        <p:nvSpPr>
          <p:cNvPr id="11" name="Rule 10"/>
          <p:cNvSpPr/>
          <p:nvPr/>
        </p:nvSpPr>
        <p:spPr>
          <a:xfrm>
            <a:off x="9395420" y="4145558"/>
            <a:ext cx="1945680" cy="6350"/>
          </a:xfrm>
          <a:prstGeom prst="rect">
            <a:avLst/>
          </a:prstGeom>
          <a:solidFill>
            <a:srgbClr val="E1DBCD"/>
          </a:solidFill>
          <a:ln>
            <a:noFill/>
          </a:ln>
        </p:spPr>
        <p:txBody>
          <a:bodyPr rtlCol="0" anchor="ctr"/>
          <a:lstStyle/>
          <a:p>
            <a:pPr algn="ctr"/>
          </a:p>
        </p:txBody>
      </p:sp>
      <p:sp>
        <p:nvSpPr>
          <p:cNvPr id="12" name="Text 11"/>
          <p:cNvSpPr txBox="1"/>
          <p:nvPr/>
        </p:nvSpPr>
        <p:spPr>
          <a:xfrm>
            <a:off x="9382720" y="4723630"/>
            <a:ext cx="1958380" cy="49768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الدليل: تقرير التقييم وتصنيف المورد.</a:t>
            </a:r>
          </a:p>
        </p:txBody>
      </p:sp>
      <p:sp>
        <p:nvSpPr>
          <p:cNvPr id="13" name="Rule 12"/>
          <p:cNvSpPr/>
          <p:nvPr/>
        </p:nvSpPr>
        <p:spPr>
          <a:xfrm>
            <a:off x="7221141" y="2066826"/>
            <a:ext cx="2021880" cy="31750"/>
          </a:xfrm>
          <a:prstGeom prst="rect">
            <a:avLst/>
          </a:prstGeom>
          <a:solidFill>
            <a:srgbClr val="0E7C6B"/>
          </a:solidFill>
          <a:ln>
            <a:noFill/>
          </a:ln>
        </p:spPr>
        <p:txBody>
          <a:bodyPr rtlCol="0" anchor="ctr"/>
          <a:lstStyle/>
          <a:p>
            <a:pPr algn="ctr"/>
          </a:p>
        </p:txBody>
      </p:sp>
      <p:sp>
        <p:nvSpPr>
          <p:cNvPr id="14" name="Text 13"/>
          <p:cNvSpPr txBox="1"/>
          <p:nvPr/>
        </p:nvSpPr>
        <p:spPr>
          <a:xfrm>
            <a:off x="7246541" y="2262025"/>
            <a:ext cx="195838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2</a:t>
            </a:r>
          </a:p>
        </p:txBody>
      </p:sp>
      <p:sp>
        <p:nvSpPr>
          <p:cNvPr id="15" name="Text 14"/>
          <p:cNvSpPr txBox="1"/>
          <p:nvPr/>
        </p:nvSpPr>
        <p:spPr>
          <a:xfrm>
            <a:off x="7246541" y="2553617"/>
            <a:ext cx="195838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Readex Pro"/>
                <a:ea typeface="Readex Pro"/>
                <a:cs typeface="Readex Pro"/>
              </a:rPr>
              <a:t>العقد</a:t>
            </a:r>
          </a:p>
        </p:txBody>
      </p:sp>
      <p:sp>
        <p:nvSpPr>
          <p:cNvPr id="16" name="Text 15"/>
          <p:cNvSpPr txBox="1"/>
          <p:nvPr/>
        </p:nvSpPr>
        <p:spPr>
          <a:xfrm>
            <a:off x="7246541" y="2879860"/>
            <a:ext cx="1958380" cy="1178322"/>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السرية وحذف البيانات، والإبلاغ عن الحوادث، والالتزام بالسياسات (ECC 4-⁠1-⁠2).</a:t>
            </a:r>
          </a:p>
        </p:txBody>
      </p:sp>
      <p:sp>
        <p:nvSpPr>
          <p:cNvPr id="17" name="Text box 16"/>
          <p:cNvSpPr/>
          <p:nvPr/>
        </p:nvSpPr>
        <p:spPr>
          <a:xfrm>
            <a:off x="7259241" y="4145558"/>
            <a:ext cx="1945680" cy="305991"/>
          </a:xfrm>
          <a:prstGeom prst="rect">
            <a:avLst/>
          </a:prstGeom>
          <a:noFill/>
          <a:ln>
            <a:noFill/>
          </a:ln>
        </p:spPr>
        <p:txBody>
          <a:bodyPr rtlCol="0" anchor="ctr" wrap="square" tIns="29591" rIns="0" bIns="27559" lIns="0" anchorCtr="0">
            <a:noAutofit/>
          </a:bodyPr>
          <a:lstStyle/>
          <a:p>
            <a:pPr algn="r" rtl="1">
              <a:lnSpc>
                <a:spcPts val="1960"/>
              </a:lnSpc>
              <a:spcBef>
                <a:spcPts val="0"/>
              </a:spcBef>
              <a:spcAft>
                <a:spcPts val="0"/>
              </a:spcAft>
            </a:pPr>
            <a:r>
              <a:rPr sz="1400" b="0" i="0" lang="ar-SA" altLang="en-US">
                <a:solidFill>
                  <a:srgbClr val="B4412C"/>
                </a:solidFill>
                <a:latin typeface="IBM Plex Sans Arabic"/>
                <a:ea typeface="IBM Plex Sans Arabic"/>
                <a:cs typeface="IBM Plex Sans Arabic"/>
              </a:rPr>
              <a:t>خطأ شائع: بند سرية فقط.</a:t>
            </a:r>
          </a:p>
        </p:txBody>
      </p:sp>
      <p:sp>
        <p:nvSpPr>
          <p:cNvPr id="18" name="Rule 17"/>
          <p:cNvSpPr/>
          <p:nvPr/>
        </p:nvSpPr>
        <p:spPr>
          <a:xfrm>
            <a:off x="7259241" y="4145558"/>
            <a:ext cx="1945680" cy="6350"/>
          </a:xfrm>
          <a:prstGeom prst="rect">
            <a:avLst/>
          </a:prstGeom>
          <a:solidFill>
            <a:srgbClr val="E1DBCD"/>
          </a:solidFill>
          <a:ln>
            <a:noFill/>
          </a:ln>
        </p:spPr>
        <p:txBody>
          <a:bodyPr rtlCol="0" anchor="ctr"/>
          <a:lstStyle/>
          <a:p>
            <a:pPr algn="ctr"/>
          </a:p>
        </p:txBody>
      </p:sp>
      <p:sp>
        <p:nvSpPr>
          <p:cNvPr id="19" name="Text 18"/>
          <p:cNvSpPr txBox="1"/>
          <p:nvPr/>
        </p:nvSpPr>
        <p:spPr>
          <a:xfrm>
            <a:off x="7246541" y="4474789"/>
            <a:ext cx="195838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الدليل: العقد وملاحقه.</a:t>
            </a:r>
          </a:p>
        </p:txBody>
      </p:sp>
      <p:sp>
        <p:nvSpPr>
          <p:cNvPr id="20" name="Rule 19"/>
          <p:cNvSpPr/>
          <p:nvPr/>
        </p:nvSpPr>
        <p:spPr>
          <a:xfrm>
            <a:off x="5084961" y="2066826"/>
            <a:ext cx="2021880" cy="31750"/>
          </a:xfrm>
          <a:prstGeom prst="rect">
            <a:avLst/>
          </a:prstGeom>
          <a:solidFill>
            <a:srgbClr val="0E7C6B"/>
          </a:solidFill>
          <a:ln>
            <a:noFill/>
          </a:ln>
        </p:spPr>
        <p:txBody>
          <a:bodyPr rtlCol="0" anchor="ctr"/>
          <a:lstStyle/>
          <a:p>
            <a:pPr algn="ctr"/>
          </a:p>
        </p:txBody>
      </p:sp>
      <p:sp>
        <p:nvSpPr>
          <p:cNvPr id="21" name="Text 20"/>
          <p:cNvSpPr txBox="1"/>
          <p:nvPr/>
        </p:nvSpPr>
        <p:spPr>
          <a:xfrm>
            <a:off x="5110361" y="2262025"/>
            <a:ext cx="195838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3</a:t>
            </a:r>
          </a:p>
        </p:txBody>
      </p:sp>
      <p:sp>
        <p:nvSpPr>
          <p:cNvPr id="22" name="Text 21"/>
          <p:cNvSpPr txBox="1"/>
          <p:nvPr/>
        </p:nvSpPr>
        <p:spPr>
          <a:xfrm>
            <a:off x="5110361" y="2553617"/>
            <a:ext cx="195838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Readex Pro"/>
                <a:ea typeface="Readex Pro"/>
                <a:cs typeface="Readex Pro"/>
              </a:rPr>
              <a:t>الوصول</a:t>
            </a:r>
          </a:p>
        </p:txBody>
      </p:sp>
      <p:sp>
        <p:nvSpPr>
          <p:cNvPr id="23" name="Text 22"/>
          <p:cNvSpPr txBox="1"/>
          <p:nvPr/>
        </p:nvSpPr>
        <p:spPr>
          <a:xfrm>
            <a:off x="5110361" y="2879860"/>
            <a:ext cx="1958380" cy="88374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حسابات فردية بأقل صلاحية وMFA، وسجلات تُراجع.</a:t>
            </a:r>
          </a:p>
        </p:txBody>
      </p:sp>
      <p:sp>
        <p:nvSpPr>
          <p:cNvPr id="24" name="Text box 23"/>
          <p:cNvSpPr/>
          <p:nvPr/>
        </p:nvSpPr>
        <p:spPr>
          <a:xfrm>
            <a:off x="5123061" y="3850977"/>
            <a:ext cx="1945680" cy="554831"/>
          </a:xfrm>
          <a:prstGeom prst="rect">
            <a:avLst/>
          </a:prstGeom>
          <a:noFill/>
          <a:ln>
            <a:noFill/>
          </a:ln>
        </p:spPr>
        <p:txBody>
          <a:bodyPr rtlCol="0" anchor="ctr" wrap="square" tIns="29591" rIns="0" bIns="27559" lIns="0" anchorCtr="0">
            <a:noAutofit/>
          </a:bodyPr>
          <a:lstStyle/>
          <a:p>
            <a:pPr algn="r" rtl="1">
              <a:lnSpc>
                <a:spcPts val="1960"/>
              </a:lnSpc>
              <a:spcBef>
                <a:spcPts val="0"/>
              </a:spcBef>
              <a:spcAft>
                <a:spcPts val="0"/>
              </a:spcAft>
            </a:pPr>
            <a:r>
              <a:rPr sz="1400" b="0" i="0" lang="ar-SA" altLang="en-US">
                <a:solidFill>
                  <a:srgbClr val="B4412C"/>
                </a:solidFill>
                <a:latin typeface="IBM Plex Sans Arabic"/>
                <a:ea typeface="IBM Plex Sans Arabic"/>
                <a:cs typeface="IBM Plex Sans Arabic"/>
              </a:rPr>
              <a:t>خطأ شائع: حساب مشترك لكل فنيي المورد.</a:t>
            </a:r>
          </a:p>
        </p:txBody>
      </p:sp>
      <p:sp>
        <p:nvSpPr>
          <p:cNvPr id="25" name="Rule 24"/>
          <p:cNvSpPr/>
          <p:nvPr/>
        </p:nvSpPr>
        <p:spPr>
          <a:xfrm>
            <a:off x="5123061" y="3850977"/>
            <a:ext cx="1945680" cy="6350"/>
          </a:xfrm>
          <a:prstGeom prst="rect">
            <a:avLst/>
          </a:prstGeom>
          <a:solidFill>
            <a:srgbClr val="E1DBCD"/>
          </a:solidFill>
          <a:ln>
            <a:noFill/>
          </a:ln>
        </p:spPr>
        <p:txBody>
          <a:bodyPr rtlCol="0" anchor="ctr"/>
          <a:lstStyle/>
          <a:p>
            <a:pPr algn="ctr"/>
          </a:p>
        </p:txBody>
      </p:sp>
      <p:sp>
        <p:nvSpPr>
          <p:cNvPr id="26" name="Text 25"/>
          <p:cNvSpPr txBox="1"/>
          <p:nvPr/>
        </p:nvSpPr>
        <p:spPr>
          <a:xfrm>
            <a:off x="5110361" y="4429050"/>
            <a:ext cx="1958380" cy="49768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الدليل: قائمة حسابات المورد وسجلاتها.</a:t>
            </a:r>
          </a:p>
        </p:txBody>
      </p:sp>
      <p:sp>
        <p:nvSpPr>
          <p:cNvPr id="27" name="Rule 26"/>
          <p:cNvSpPr/>
          <p:nvPr/>
        </p:nvSpPr>
        <p:spPr>
          <a:xfrm>
            <a:off x="2948781" y="2066826"/>
            <a:ext cx="2021880" cy="31750"/>
          </a:xfrm>
          <a:prstGeom prst="rect">
            <a:avLst/>
          </a:prstGeom>
          <a:solidFill>
            <a:srgbClr val="0E7C6B"/>
          </a:solidFill>
          <a:ln>
            <a:noFill/>
          </a:ln>
        </p:spPr>
        <p:txBody>
          <a:bodyPr rtlCol="0" anchor="ctr"/>
          <a:lstStyle/>
          <a:p>
            <a:pPr algn="ctr"/>
          </a:p>
        </p:txBody>
      </p:sp>
      <p:sp>
        <p:nvSpPr>
          <p:cNvPr id="28" name="Text 27"/>
          <p:cNvSpPr txBox="1"/>
          <p:nvPr/>
        </p:nvSpPr>
        <p:spPr>
          <a:xfrm>
            <a:off x="2974181" y="2262025"/>
            <a:ext cx="195838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4</a:t>
            </a:r>
          </a:p>
        </p:txBody>
      </p:sp>
      <p:sp>
        <p:nvSpPr>
          <p:cNvPr id="29" name="Text 28"/>
          <p:cNvSpPr txBox="1"/>
          <p:nvPr/>
        </p:nvSpPr>
        <p:spPr>
          <a:xfrm>
            <a:off x="2974181" y="2553617"/>
            <a:ext cx="195838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Readex Pro"/>
                <a:ea typeface="Readex Pro"/>
                <a:cs typeface="Readex Pro"/>
              </a:rPr>
              <a:t>المتابعة</a:t>
            </a:r>
          </a:p>
        </p:txBody>
      </p:sp>
      <p:sp>
        <p:nvSpPr>
          <p:cNvPr id="30" name="Text 29"/>
          <p:cNvSpPr txBox="1"/>
          <p:nvPr/>
        </p:nvSpPr>
        <p:spPr>
          <a:xfrm>
            <a:off x="2974181" y="2879860"/>
            <a:ext cx="1958380" cy="88374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مراجعة دورية للأداء والالتزام وتحديث التقييم (ECC 4-⁠1-⁠4).</a:t>
            </a:r>
          </a:p>
        </p:txBody>
      </p:sp>
      <p:sp>
        <p:nvSpPr>
          <p:cNvPr id="31" name="Text box 30"/>
          <p:cNvSpPr/>
          <p:nvPr/>
        </p:nvSpPr>
        <p:spPr>
          <a:xfrm>
            <a:off x="2986881" y="3850977"/>
            <a:ext cx="1945680" cy="554831"/>
          </a:xfrm>
          <a:prstGeom prst="rect">
            <a:avLst/>
          </a:prstGeom>
          <a:noFill/>
          <a:ln>
            <a:noFill/>
          </a:ln>
        </p:spPr>
        <p:txBody>
          <a:bodyPr rtlCol="0" anchor="ctr" wrap="square" tIns="29591" rIns="0" bIns="27559" lIns="0" anchorCtr="0">
            <a:noAutofit/>
          </a:bodyPr>
          <a:lstStyle/>
          <a:p>
            <a:pPr algn="r" rtl="1">
              <a:lnSpc>
                <a:spcPts val="1960"/>
              </a:lnSpc>
              <a:spcBef>
                <a:spcPts val="0"/>
              </a:spcBef>
              <a:spcAft>
                <a:spcPts val="0"/>
              </a:spcAft>
            </a:pPr>
            <a:r>
              <a:rPr sz="1400" b="0" i="0" lang="ar-SA" altLang="en-US">
                <a:solidFill>
                  <a:srgbClr val="B4412C"/>
                </a:solidFill>
                <a:latin typeface="IBM Plex Sans Arabic"/>
                <a:ea typeface="IBM Plex Sans Arabic"/>
                <a:cs typeface="IBM Plex Sans Arabic"/>
              </a:rPr>
              <a:t>خطأ شائع: لا مراجعة بعد التوقيع.</a:t>
            </a:r>
          </a:p>
        </p:txBody>
      </p:sp>
      <p:sp>
        <p:nvSpPr>
          <p:cNvPr id="32" name="Rule 31"/>
          <p:cNvSpPr/>
          <p:nvPr/>
        </p:nvSpPr>
        <p:spPr>
          <a:xfrm>
            <a:off x="2986881" y="3850977"/>
            <a:ext cx="1945680" cy="6350"/>
          </a:xfrm>
          <a:prstGeom prst="rect">
            <a:avLst/>
          </a:prstGeom>
          <a:solidFill>
            <a:srgbClr val="E1DBCD"/>
          </a:solidFill>
          <a:ln>
            <a:noFill/>
          </a:ln>
        </p:spPr>
        <p:txBody>
          <a:bodyPr rtlCol="0" anchor="ctr"/>
          <a:lstStyle/>
          <a:p>
            <a:pPr algn="ctr"/>
          </a:p>
        </p:txBody>
      </p:sp>
      <p:sp>
        <p:nvSpPr>
          <p:cNvPr id="33" name="Text 32"/>
          <p:cNvSpPr txBox="1"/>
          <p:nvPr/>
        </p:nvSpPr>
        <p:spPr>
          <a:xfrm>
            <a:off x="2974181" y="4429050"/>
            <a:ext cx="1958380" cy="49768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الدليل: محاضر المراجعة وتقارير المورد.</a:t>
            </a:r>
          </a:p>
        </p:txBody>
      </p:sp>
      <p:sp>
        <p:nvSpPr>
          <p:cNvPr id="34" name="Rule 33"/>
          <p:cNvSpPr/>
          <p:nvPr/>
        </p:nvSpPr>
        <p:spPr>
          <a:xfrm>
            <a:off x="812602" y="2066826"/>
            <a:ext cx="2021880" cy="31750"/>
          </a:xfrm>
          <a:prstGeom prst="rect">
            <a:avLst/>
          </a:prstGeom>
          <a:solidFill>
            <a:srgbClr val="0E7C6B"/>
          </a:solidFill>
          <a:ln>
            <a:noFill/>
          </a:ln>
        </p:spPr>
        <p:txBody>
          <a:bodyPr rtlCol="0" anchor="ctr"/>
          <a:lstStyle/>
          <a:p>
            <a:pPr algn="ctr"/>
          </a:p>
        </p:txBody>
      </p:sp>
      <p:sp>
        <p:nvSpPr>
          <p:cNvPr id="35" name="Text 34"/>
          <p:cNvSpPr txBox="1"/>
          <p:nvPr/>
        </p:nvSpPr>
        <p:spPr>
          <a:xfrm>
            <a:off x="838002" y="2262025"/>
            <a:ext cx="195838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5</a:t>
            </a:r>
          </a:p>
        </p:txBody>
      </p:sp>
      <p:sp>
        <p:nvSpPr>
          <p:cNvPr id="36" name="Text 35"/>
          <p:cNvSpPr txBox="1"/>
          <p:nvPr/>
        </p:nvSpPr>
        <p:spPr>
          <a:xfrm>
            <a:off x="838002" y="2553617"/>
            <a:ext cx="195838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Readex Pro"/>
                <a:ea typeface="Readex Pro"/>
                <a:cs typeface="Readex Pro"/>
              </a:rPr>
              <a:t>الإنهاء</a:t>
            </a:r>
          </a:p>
        </p:txBody>
      </p:sp>
      <p:sp>
        <p:nvSpPr>
          <p:cNvPr id="37" name="Text 36"/>
          <p:cNvSpPr txBox="1"/>
          <p:nvPr/>
        </p:nvSpPr>
        <p:spPr>
          <a:xfrm>
            <a:off x="838002" y="2879860"/>
            <a:ext cx="195838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إلغاء الصلاحيات، وإعادة البيانات وحذفها الآمن.</a:t>
            </a:r>
          </a:p>
        </p:txBody>
      </p:sp>
      <p:sp>
        <p:nvSpPr>
          <p:cNvPr id="38" name="Text box 37"/>
          <p:cNvSpPr/>
          <p:nvPr/>
        </p:nvSpPr>
        <p:spPr>
          <a:xfrm>
            <a:off x="850702" y="3556397"/>
            <a:ext cx="1945680" cy="554831"/>
          </a:xfrm>
          <a:prstGeom prst="rect">
            <a:avLst/>
          </a:prstGeom>
          <a:noFill/>
          <a:ln>
            <a:noFill/>
          </a:ln>
        </p:spPr>
        <p:txBody>
          <a:bodyPr rtlCol="0" anchor="ctr" wrap="square" tIns="29591" rIns="0" bIns="27559" lIns="0" anchorCtr="0">
            <a:noAutofit/>
          </a:bodyPr>
          <a:lstStyle/>
          <a:p>
            <a:pPr algn="r" rtl="1">
              <a:lnSpc>
                <a:spcPts val="1960"/>
              </a:lnSpc>
              <a:spcBef>
                <a:spcPts val="0"/>
              </a:spcBef>
              <a:spcAft>
                <a:spcPts val="0"/>
              </a:spcAft>
            </a:pPr>
            <a:r>
              <a:rPr sz="1400" b="0" i="0" lang="ar-SA" altLang="en-US">
                <a:solidFill>
                  <a:srgbClr val="B4412C"/>
                </a:solidFill>
                <a:latin typeface="IBM Plex Sans Arabic"/>
                <a:ea typeface="IBM Plex Sans Arabic"/>
                <a:cs typeface="IBM Plex Sans Arabic"/>
              </a:rPr>
              <a:t>خطأ شائع: حساب المورد نشط بعد انتهاء العقد.</a:t>
            </a:r>
          </a:p>
        </p:txBody>
      </p:sp>
      <p:sp>
        <p:nvSpPr>
          <p:cNvPr id="39" name="Rule 38"/>
          <p:cNvSpPr/>
          <p:nvPr/>
        </p:nvSpPr>
        <p:spPr>
          <a:xfrm>
            <a:off x="850702" y="3556397"/>
            <a:ext cx="1945680" cy="6350"/>
          </a:xfrm>
          <a:prstGeom prst="rect">
            <a:avLst/>
          </a:prstGeom>
          <a:solidFill>
            <a:srgbClr val="E1DBCD"/>
          </a:solidFill>
          <a:ln>
            <a:noFill/>
          </a:ln>
        </p:spPr>
        <p:txBody>
          <a:bodyPr rtlCol="0" anchor="ctr"/>
          <a:lstStyle/>
          <a:p>
            <a:pPr algn="ctr"/>
          </a:p>
        </p:txBody>
      </p:sp>
      <p:sp>
        <p:nvSpPr>
          <p:cNvPr id="40" name="Text 39"/>
          <p:cNvSpPr txBox="1"/>
          <p:nvPr/>
        </p:nvSpPr>
        <p:spPr>
          <a:xfrm>
            <a:off x="838002" y="4134469"/>
            <a:ext cx="1958380" cy="49768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الدليل: محضر الإنهاء وتأكيد الحذف.</a:t>
            </a:r>
          </a:p>
        </p:txBody>
      </p:sp>
      <p:sp>
        <p:nvSpPr>
          <p:cNvPr id="41" name="Box 40"/>
          <p:cNvSpPr/>
          <p:nvPr/>
        </p:nvSpPr>
        <p:spPr>
          <a:xfrm>
            <a:off x="812800" y="5426670"/>
            <a:ext cx="10566400" cy="538460"/>
          </a:xfrm>
          <a:prstGeom prst="roundRect">
            <a:avLst>
              <a:gd name="adj" fmla="val 18868"/>
            </a:avLst>
          </a:prstGeom>
          <a:solidFill>
            <a:srgbClr val="F6ECDA"/>
          </a:solidFill>
          <a:ln>
            <a:noFill/>
          </a:ln>
        </p:spPr>
        <p:txBody>
          <a:bodyPr rtlCol="0" anchor="ctr"/>
          <a:lstStyle/>
          <a:p>
            <a:pPr algn="ctr"/>
          </a:p>
        </p:txBody>
      </p:sp>
      <p:pic>
        <p:nvPicPr>
          <p:cNvPr id="42" name="Icon Warning 41" descr="icon028.png"/>
          <p:cNvPicPr>
            <a:picLocks noChangeAspect="1"/>
          </p:cNvPicPr>
          <p:nvPr/>
        </p:nvPicPr>
        <p:blipFill>
          <a:blip r:embed="rId2"/>
          <a:stretch>
            <a:fillRect/>
          </a:stretch>
        </p:blipFill>
        <p:spPr>
          <a:xfrm>
            <a:off x="10998200" y="5594251"/>
            <a:ext cx="203200" cy="203200"/>
          </a:xfrm>
          <a:prstGeom prst="rect">
            <a:avLst/>
          </a:prstGeom>
        </p:spPr>
      </p:pic>
      <p:sp>
        <p:nvSpPr>
          <p:cNvPr id="43" name="Text 42"/>
          <p:cNvSpPr txBox="1"/>
          <p:nvPr/>
        </p:nvSpPr>
        <p:spPr>
          <a:xfrm>
            <a:off x="838200" y="5522174"/>
            <a:ext cx="100457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lang="ar-SA" altLang="en-US">
                <a:solidFill>
                  <a:srgbClr val="172433"/>
                </a:solidFill>
                <a:latin typeface="IBM Plex Sans Arabic"/>
                <a:ea typeface="IBM Plex Sans Arabic"/>
                <a:cs typeface="IBM Plex Sans Arabic"/>
              </a:rPr>
              <a:t>قدرة الجهة على فرض الشروط تضعف بعد التوقيع: التقييم والعقد أهم مرحلتين.</a:t>
            </a:r>
          </a:p>
        </p:txBody>
      </p:sp>
      <p:sp>
        <p:nvSpPr>
          <p:cNvPr id="44" name="Text 43"/>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45" name="Text 44"/>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281319" y="812800"/>
            <a:ext cx="2097881"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مجالان ستقابلهما مبكراً: الاستمرارية والخصوصية</a:t>
            </a:r>
          </a:p>
        </p:txBody>
      </p:sp>
      <p:sp>
        <p:nvSpPr>
          <p:cNvPr id="5" name="Box 4"/>
          <p:cNvSpPr/>
          <p:nvPr/>
        </p:nvSpPr>
        <p:spPr>
          <a:xfrm>
            <a:off x="6226175" y="1861145"/>
            <a:ext cx="5149850" cy="2732088"/>
          </a:xfrm>
          <a:prstGeom prst="roundRect">
            <a:avLst>
              <a:gd name="adj" fmla="val 3710"/>
            </a:avLst>
          </a:prstGeom>
          <a:solidFill>
            <a:srgbClr val="FFFDF8"/>
          </a:solidFill>
          <a:ln w="6350">
            <a:solidFill>
              <a:srgbClr val="E1DBCD"/>
            </a:solidFill>
          </a:ln>
        </p:spPr>
        <p:txBody>
          <a:bodyPr rtlCol="0" anchor="ctr"/>
          <a:lstStyle/>
          <a:p>
            <a:pPr algn="ctr"/>
          </a:p>
        </p:txBody>
      </p:sp>
      <p:sp>
        <p:nvSpPr>
          <p:cNvPr id="6" name="Text 5"/>
          <p:cNvSpPr txBox="1"/>
          <p:nvPr/>
        </p:nvSpPr>
        <p:spPr>
          <a:xfrm>
            <a:off x="6248400" y="2040787"/>
            <a:ext cx="4933950" cy="280591"/>
          </a:xfrm>
          <a:prstGeom prst="rect">
            <a:avLst/>
          </a:prstGeom>
          <a:noFill/>
        </p:spPr>
        <p:txBody>
          <a:bodyPr wrap="square" tIns="0" rIns="0" bIns="0" lIns="0" anchor="t" rtlCol="0" anchorCtr="0">
            <a:noAutofit/>
          </a:bodyPr>
          <a:lstStyle/>
          <a:p>
            <a:pPr algn="r" rtl="1">
              <a:lnSpc>
                <a:spcPts val="2210"/>
              </a:lnSpc>
              <a:spcBef>
                <a:spcPts val="0"/>
              </a:spcBef>
              <a:spcAft>
                <a:spcPts val="0"/>
              </a:spcAft>
            </a:pPr>
            <a:r>
              <a:rPr sz="1700" b="1" i="0" lang="ar-SA" altLang="en-US">
                <a:solidFill>
                  <a:srgbClr val="0E7C6B"/>
                </a:solidFill>
                <a:latin typeface="Readex Pro"/>
                <a:ea typeface="Readex Pro"/>
                <a:cs typeface="Readex Pro"/>
              </a:rPr>
              <a:t>استمرارية الأعمال</a:t>
            </a:r>
          </a:p>
        </p:txBody>
      </p:sp>
      <p:sp>
        <p:nvSpPr>
          <p:cNvPr id="7" name="Text 6"/>
          <p:cNvSpPr txBox="1"/>
          <p:nvPr/>
        </p:nvSpPr>
        <p:spPr>
          <a:xfrm>
            <a:off x="6248400" y="2429867"/>
            <a:ext cx="4933950" cy="238125"/>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1" i="0" lang="ar-SA" altLang="en-US">
                <a:solidFill>
                  <a:srgbClr val="172433"/>
                </a:solidFill>
                <a:latin typeface="IBM Plex Sans Arabic"/>
                <a:ea typeface="IBM Plex Sans Arabic"/>
                <a:cs typeface="IBM Plex Sans Arabic"/>
              </a:rPr>
              <a:t>تحليل أثر الأعمال (BIA)</a:t>
            </a:r>
            <a:r>
              <a:rPr sz="1250" b="0" i="0" lang="ar-SA" altLang="en-US">
                <a:solidFill>
                  <a:srgbClr val="172433"/>
                </a:solidFill>
                <a:latin typeface="IBM Plex Sans Arabic"/>
                <a:ea typeface="IBM Plex Sans Arabic"/>
                <a:cs typeface="IBM Plex Sans Arabic"/>
              </a:rPr>
              <a:t> يحدد أهم الخدمات، وكم تتحمل الجهة توقفها.</a:t>
            </a:r>
          </a:p>
        </p:txBody>
      </p:sp>
      <p:sp>
        <p:nvSpPr>
          <p:cNvPr id="8" name="Box 7"/>
          <p:cNvSpPr/>
          <p:nvPr/>
        </p:nvSpPr>
        <p:spPr>
          <a:xfrm>
            <a:off x="10617200" y="3012877"/>
            <a:ext cx="177800" cy="177800"/>
          </a:xfrm>
          <a:prstGeom prst="roundRect">
            <a:avLst>
              <a:gd name="adj" fmla="val 50000"/>
            </a:avLst>
          </a:prstGeom>
          <a:solidFill>
            <a:srgbClr val="24506B"/>
          </a:solidFill>
          <a:ln>
            <a:noFill/>
          </a:ln>
        </p:spPr>
        <p:txBody>
          <a:bodyPr rtlCol="0" anchor="ctr"/>
          <a:lstStyle/>
          <a:p>
            <a:pPr algn="ctr"/>
          </a:p>
        </p:txBody>
      </p:sp>
      <p:sp>
        <p:nvSpPr>
          <p:cNvPr id="9" name="Text 8"/>
          <p:cNvSpPr txBox="1"/>
          <p:nvPr/>
        </p:nvSpPr>
        <p:spPr>
          <a:xfrm>
            <a:off x="10383560" y="3212775"/>
            <a:ext cx="644981" cy="198041"/>
          </a:xfrm>
          <a:prstGeom prst="rect">
            <a:avLst/>
          </a:prstGeom>
          <a:noFill/>
        </p:spPr>
        <p:txBody>
          <a:bodyPr wrap="square" tIns="0" rIns="0" bIns="0" lIns="0" anchor="t" rtlCol="0" anchorCtr="0">
            <a:noAutofit/>
          </a:bodyPr>
          <a:lstStyle/>
          <a:p>
            <a:pPr algn="ctr" rtl="1">
              <a:lnSpc>
                <a:spcPts val="1560"/>
              </a:lnSpc>
              <a:spcBef>
                <a:spcPts val="0"/>
              </a:spcBef>
              <a:spcAft>
                <a:spcPts val="0"/>
              </a:spcAft>
            </a:pPr>
            <a:r>
              <a:rPr sz="1200" b="0" i="0" lang="ar-SA" altLang="en-US">
                <a:solidFill>
                  <a:srgbClr val="172433"/>
                </a:solidFill>
                <a:latin typeface="IBM Plex Sans Arabic"/>
                <a:ea typeface="IBM Plex Sans Arabic"/>
                <a:cs typeface="IBM Plex Sans Arabic"/>
              </a:rPr>
              <a:t>آخر نسخة</a:t>
            </a:r>
          </a:p>
        </p:txBody>
      </p:sp>
      <p:sp>
        <p:nvSpPr>
          <p:cNvPr id="10" name="Text 9"/>
          <p:cNvSpPr txBox="1"/>
          <p:nvPr/>
        </p:nvSpPr>
        <p:spPr>
          <a:xfrm>
            <a:off x="9474855" y="2875859"/>
            <a:ext cx="458331"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300" b="1" i="0">
                <a:solidFill>
                  <a:srgbClr val="24506B"/>
                </a:solidFill>
                <a:latin typeface="Readex Pro"/>
                <a:ea typeface="Readex Pro"/>
                <a:cs typeface="Readex Pro"/>
              </a:rPr>
              <a:t>RPO</a:t>
            </a:r>
          </a:p>
        </p:txBody>
      </p:sp>
      <p:sp>
        <p:nvSpPr>
          <p:cNvPr id="11" name="Box 10"/>
          <p:cNvSpPr/>
          <p:nvPr/>
        </p:nvSpPr>
        <p:spPr>
          <a:xfrm>
            <a:off x="9353550" y="3101777"/>
            <a:ext cx="800100" cy="38100"/>
          </a:xfrm>
          <a:prstGeom prst="roundRect">
            <a:avLst>
              <a:gd name="adj" fmla="val 50000"/>
            </a:avLst>
          </a:prstGeom>
          <a:solidFill>
            <a:srgbClr val="24506B"/>
          </a:solidFill>
          <a:ln>
            <a:noFill/>
          </a:ln>
        </p:spPr>
        <p:txBody>
          <a:bodyPr rtlCol="0" anchor="ctr"/>
          <a:lstStyle/>
          <a:p>
            <a:pPr algn="ctr"/>
          </a:p>
        </p:txBody>
      </p:sp>
      <p:sp>
        <p:nvSpPr>
          <p:cNvPr id="12" name="Text 11"/>
          <p:cNvSpPr txBox="1"/>
          <p:nvPr/>
        </p:nvSpPr>
        <p:spPr>
          <a:xfrm>
            <a:off x="9315450" y="3149275"/>
            <a:ext cx="838200" cy="39608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4E5A66"/>
                </a:solidFill>
                <a:latin typeface="IBM Plex Sans Arabic"/>
                <a:ea typeface="IBM Plex Sans Arabic"/>
                <a:cs typeface="IBM Plex Sans Arabic"/>
              </a:rPr>
              <a:t>كم بيانات نخسر</a:t>
            </a:r>
          </a:p>
        </p:txBody>
      </p:sp>
      <p:sp>
        <p:nvSpPr>
          <p:cNvPr id="13" name="Box 12"/>
          <p:cNvSpPr/>
          <p:nvPr/>
        </p:nvSpPr>
        <p:spPr>
          <a:xfrm>
            <a:off x="8686800" y="2987477"/>
            <a:ext cx="228600" cy="228600"/>
          </a:xfrm>
          <a:prstGeom prst="roundRect">
            <a:avLst>
              <a:gd name="adj" fmla="val 50000"/>
            </a:avLst>
          </a:prstGeom>
          <a:solidFill>
            <a:srgbClr val="B4412C"/>
          </a:solidFill>
          <a:ln>
            <a:noFill/>
          </a:ln>
        </p:spPr>
        <p:txBody>
          <a:bodyPr rtlCol="0" anchor="ctr"/>
          <a:lstStyle/>
          <a:p>
            <a:pPr algn="ctr"/>
          </a:p>
        </p:txBody>
      </p:sp>
      <p:sp>
        <p:nvSpPr>
          <p:cNvPr id="14" name="Text 13"/>
          <p:cNvSpPr txBox="1"/>
          <p:nvPr/>
        </p:nvSpPr>
        <p:spPr>
          <a:xfrm>
            <a:off x="8545036" y="3238175"/>
            <a:ext cx="512128" cy="198041"/>
          </a:xfrm>
          <a:prstGeom prst="rect">
            <a:avLst/>
          </a:prstGeom>
          <a:noFill/>
        </p:spPr>
        <p:txBody>
          <a:bodyPr wrap="square" tIns="0" rIns="0" bIns="0" lIns="0" anchor="t" rtlCol="0" anchorCtr="0">
            <a:noAutofit/>
          </a:bodyPr>
          <a:lstStyle/>
          <a:p>
            <a:pPr algn="ctr" rtl="1">
              <a:lnSpc>
                <a:spcPts val="1560"/>
              </a:lnSpc>
              <a:spcBef>
                <a:spcPts val="0"/>
              </a:spcBef>
              <a:spcAft>
                <a:spcPts val="0"/>
              </a:spcAft>
            </a:pPr>
            <a:r>
              <a:rPr sz="1200" b="1" i="0" lang="ar-SA" altLang="en-US">
                <a:solidFill>
                  <a:srgbClr val="B4412C"/>
                </a:solidFill>
                <a:latin typeface="IBM Plex Sans Arabic"/>
                <a:ea typeface="IBM Plex Sans Arabic"/>
                <a:cs typeface="IBM Plex Sans Arabic"/>
              </a:rPr>
              <a:t>الحادثة</a:t>
            </a:r>
          </a:p>
        </p:txBody>
      </p:sp>
      <p:sp>
        <p:nvSpPr>
          <p:cNvPr id="15" name="Text 14"/>
          <p:cNvSpPr txBox="1"/>
          <p:nvPr/>
        </p:nvSpPr>
        <p:spPr>
          <a:xfrm>
            <a:off x="7574518" y="2974880"/>
            <a:ext cx="449005"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300" b="1" i="0">
                <a:solidFill>
                  <a:srgbClr val="0E7C6B"/>
                </a:solidFill>
                <a:latin typeface="Readex Pro"/>
                <a:ea typeface="Readex Pro"/>
                <a:cs typeface="Readex Pro"/>
              </a:rPr>
              <a:t>RTO</a:t>
            </a:r>
          </a:p>
        </p:txBody>
      </p:sp>
      <p:sp>
        <p:nvSpPr>
          <p:cNvPr id="16" name="Box 15"/>
          <p:cNvSpPr/>
          <p:nvPr/>
        </p:nvSpPr>
        <p:spPr>
          <a:xfrm>
            <a:off x="7448550" y="3200797"/>
            <a:ext cx="800100" cy="38100"/>
          </a:xfrm>
          <a:prstGeom prst="roundRect">
            <a:avLst>
              <a:gd name="adj" fmla="val 50000"/>
            </a:avLst>
          </a:prstGeom>
          <a:solidFill>
            <a:srgbClr val="0E7C6B"/>
          </a:solidFill>
          <a:ln>
            <a:noFill/>
          </a:ln>
        </p:spPr>
        <p:txBody>
          <a:bodyPr rtlCol="0" anchor="ctr"/>
          <a:lstStyle/>
          <a:p>
            <a:pPr algn="ctr"/>
          </a:p>
        </p:txBody>
      </p:sp>
      <p:sp>
        <p:nvSpPr>
          <p:cNvPr id="17" name="Text 16"/>
          <p:cNvSpPr txBox="1"/>
          <p:nvPr/>
        </p:nvSpPr>
        <p:spPr>
          <a:xfrm>
            <a:off x="7479546" y="3248295"/>
            <a:ext cx="64666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4E5A66"/>
                </a:solidFill>
                <a:latin typeface="IBM Plex Sans Arabic"/>
                <a:ea typeface="IBM Plex Sans Arabic"/>
                <a:cs typeface="IBM Plex Sans Arabic"/>
              </a:rPr>
              <a:t>كم نتوقف</a:t>
            </a:r>
          </a:p>
        </p:txBody>
      </p:sp>
      <p:sp>
        <p:nvSpPr>
          <p:cNvPr id="18" name="Box 17"/>
          <p:cNvSpPr/>
          <p:nvPr/>
        </p:nvSpPr>
        <p:spPr>
          <a:xfrm>
            <a:off x="6807200" y="3012877"/>
            <a:ext cx="177800" cy="177800"/>
          </a:xfrm>
          <a:prstGeom prst="roundRect">
            <a:avLst>
              <a:gd name="adj" fmla="val 50000"/>
            </a:avLst>
          </a:prstGeom>
          <a:solidFill>
            <a:srgbClr val="0E7C6B"/>
          </a:solidFill>
          <a:ln>
            <a:noFill/>
          </a:ln>
        </p:spPr>
        <p:txBody>
          <a:bodyPr rtlCol="0" anchor="ctr"/>
          <a:lstStyle/>
          <a:p>
            <a:pPr algn="ctr"/>
          </a:p>
        </p:txBody>
      </p:sp>
      <p:sp>
        <p:nvSpPr>
          <p:cNvPr id="19" name="Text 18"/>
          <p:cNvSpPr txBox="1"/>
          <p:nvPr/>
        </p:nvSpPr>
        <p:spPr>
          <a:xfrm>
            <a:off x="6490117" y="3212775"/>
            <a:ext cx="811867" cy="198041"/>
          </a:xfrm>
          <a:prstGeom prst="rect">
            <a:avLst/>
          </a:prstGeom>
          <a:noFill/>
        </p:spPr>
        <p:txBody>
          <a:bodyPr wrap="square" tIns="0" rIns="0" bIns="0" lIns="0" anchor="t" rtlCol="0" anchorCtr="0">
            <a:noAutofit/>
          </a:bodyPr>
          <a:lstStyle/>
          <a:p>
            <a:pPr algn="ctr" rtl="1">
              <a:lnSpc>
                <a:spcPts val="1560"/>
              </a:lnSpc>
              <a:spcBef>
                <a:spcPts val="0"/>
              </a:spcBef>
              <a:spcAft>
                <a:spcPts val="0"/>
              </a:spcAft>
            </a:pPr>
            <a:r>
              <a:rPr sz="1200" b="0" i="0" lang="ar-SA" altLang="en-US">
                <a:solidFill>
                  <a:srgbClr val="172433"/>
                </a:solidFill>
                <a:latin typeface="IBM Plex Sans Arabic"/>
                <a:ea typeface="IBM Plex Sans Arabic"/>
                <a:cs typeface="IBM Plex Sans Arabic"/>
              </a:rPr>
              <a:t>عودة الخدمة</a:t>
            </a:r>
          </a:p>
        </p:txBody>
      </p:sp>
      <p:sp>
        <p:nvSpPr>
          <p:cNvPr id="20" name="Box 19"/>
          <p:cNvSpPr/>
          <p:nvPr/>
        </p:nvSpPr>
        <p:spPr>
          <a:xfrm>
            <a:off x="6419850" y="3739158"/>
            <a:ext cx="4762500" cy="660400"/>
          </a:xfrm>
          <a:prstGeom prst="roundRect">
            <a:avLst>
              <a:gd name="adj" fmla="val 11538"/>
            </a:avLst>
          </a:prstGeom>
          <a:solidFill>
            <a:srgbClr val="F1ECE1"/>
          </a:solidFill>
          <a:ln>
            <a:noFill/>
          </a:ln>
        </p:spPr>
        <p:txBody>
          <a:bodyPr rtlCol="0" anchor="ctr"/>
          <a:lstStyle/>
          <a:p>
            <a:pPr algn="ctr"/>
          </a:p>
        </p:txBody>
      </p:sp>
      <p:sp>
        <p:nvSpPr>
          <p:cNvPr id="21" name="Text 20"/>
          <p:cNvSpPr txBox="1"/>
          <p:nvPr/>
        </p:nvSpPr>
        <p:spPr>
          <a:xfrm>
            <a:off x="6445250" y="3809516"/>
            <a:ext cx="4597400" cy="457200"/>
          </a:xfrm>
          <a:prstGeom prst="rect">
            <a:avLst/>
          </a:prstGeom>
          <a:noFill/>
        </p:spPr>
        <p:txBody>
          <a:bodyPr wrap="square" tIns="0" rIns="0" bIns="0" lIns="0" anchor="t" rtlCol="0" anchorCtr="0">
            <a:noAutofit/>
          </a:bodyPr>
          <a:lstStyle/>
          <a:p>
            <a:pPr algn="r" rtl="1">
              <a:lnSpc>
                <a:spcPts val="1800"/>
              </a:lnSpc>
              <a:spcBef>
                <a:spcPts val="0"/>
              </a:spcBef>
              <a:spcAft>
                <a:spcPts val="0"/>
              </a:spcAft>
            </a:pPr>
            <a:r>
              <a:rPr sz="1200" b="0" i="0" lang="ar-SA" altLang="en-US">
                <a:solidFill>
                  <a:srgbClr val="172433"/>
                </a:solidFill>
                <a:latin typeface="IBM Plex Sans Arabic"/>
                <a:ea typeface="IBM Plex Sans Arabic"/>
                <a:cs typeface="IBM Plex Sans Arabic"/>
              </a:rPr>
              <a:t>مثال: نظام الرواتب، RTO = 24 ساعة، وRPO = 4 ساعات. إذن نحتاج نسخة احتياطية كل 4 ساعات على الأقل، وخطة استعادة مجربة.</a:t>
            </a:r>
          </a:p>
        </p:txBody>
      </p:sp>
      <p:sp>
        <p:nvSpPr>
          <p:cNvPr id="22" name="Box 21"/>
          <p:cNvSpPr/>
          <p:nvPr/>
        </p:nvSpPr>
        <p:spPr>
          <a:xfrm>
            <a:off x="815975" y="1861145"/>
            <a:ext cx="5149850" cy="2732088"/>
          </a:xfrm>
          <a:prstGeom prst="roundRect">
            <a:avLst>
              <a:gd name="adj" fmla="val 3710"/>
            </a:avLst>
          </a:prstGeom>
          <a:solidFill>
            <a:srgbClr val="FFFDF8"/>
          </a:solidFill>
          <a:ln w="6350">
            <a:solidFill>
              <a:srgbClr val="E1DBCD"/>
            </a:solidFill>
          </a:ln>
        </p:spPr>
        <p:txBody>
          <a:bodyPr rtlCol="0" anchor="ctr"/>
          <a:lstStyle/>
          <a:p>
            <a:pPr algn="ctr"/>
          </a:p>
        </p:txBody>
      </p:sp>
      <p:sp>
        <p:nvSpPr>
          <p:cNvPr id="23" name="Text 22"/>
          <p:cNvSpPr txBox="1"/>
          <p:nvPr/>
        </p:nvSpPr>
        <p:spPr>
          <a:xfrm>
            <a:off x="838200" y="2040787"/>
            <a:ext cx="4933950" cy="280591"/>
          </a:xfrm>
          <a:prstGeom prst="rect">
            <a:avLst/>
          </a:prstGeom>
          <a:noFill/>
        </p:spPr>
        <p:txBody>
          <a:bodyPr wrap="square" tIns="0" rIns="0" bIns="0" lIns="0" anchor="t" rtlCol="0" anchorCtr="0">
            <a:noAutofit/>
          </a:bodyPr>
          <a:lstStyle/>
          <a:p>
            <a:pPr algn="r" rtl="1">
              <a:lnSpc>
                <a:spcPts val="2210"/>
              </a:lnSpc>
              <a:spcBef>
                <a:spcPts val="0"/>
              </a:spcBef>
              <a:spcAft>
                <a:spcPts val="0"/>
              </a:spcAft>
            </a:pPr>
            <a:r>
              <a:rPr sz="1700" b="1" i="0" lang="ar-SA" altLang="en-US">
                <a:solidFill>
                  <a:srgbClr val="9A5F0F"/>
                </a:solidFill>
                <a:latin typeface="Readex Pro"/>
                <a:ea typeface="Readex Pro"/>
                <a:cs typeface="Readex Pro"/>
              </a:rPr>
              <a:t>حماية البيانات الشخصية</a:t>
            </a:r>
          </a:p>
        </p:txBody>
      </p:sp>
      <p:sp>
        <p:nvSpPr>
          <p:cNvPr id="24" name="Text 23"/>
          <p:cNvSpPr txBox="1"/>
          <p:nvPr/>
        </p:nvSpPr>
        <p:spPr>
          <a:xfrm>
            <a:off x="838200" y="2404467"/>
            <a:ext cx="4933950" cy="238125"/>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0" i="0" lang="ar-SA" altLang="en-US">
                <a:solidFill>
                  <a:srgbClr val="172433"/>
                </a:solidFill>
                <a:latin typeface="IBM Plex Sans Arabic"/>
                <a:ea typeface="IBM Plex Sans Arabic"/>
                <a:cs typeface="IBM Plex Sans Arabic"/>
              </a:rPr>
              <a:t>في المملكة: </a:t>
            </a:r>
            <a:r>
              <a:rPr sz="1250" b="1" i="0" lang="ar-SA" altLang="en-US">
                <a:solidFill>
                  <a:srgbClr val="172433"/>
                </a:solidFill>
                <a:latin typeface="IBM Plex Sans Arabic"/>
                <a:ea typeface="IBM Plex Sans Arabic"/>
                <a:cs typeface="IBM Plex Sans Arabic"/>
              </a:rPr>
              <a:t>نظام حماية البيانات الشخصية (PDPL)</a:t>
            </a:r>
            <a:r>
              <a:rPr sz="1250" b="0" i="0" lang="ar-SA" altLang="en-US">
                <a:solidFill>
                  <a:srgbClr val="172433"/>
                </a:solidFill>
                <a:latin typeface="IBM Plex Sans Arabic"/>
                <a:ea typeface="IBM Plex Sans Arabic"/>
                <a:cs typeface="IBM Plex Sans Arabic"/>
              </a:rPr>
              <a:t>، والجهة المختصة سدايا.</a:t>
            </a:r>
          </a:p>
        </p:txBody>
      </p:sp>
      <p:pic>
        <p:nvPicPr>
          <p:cNvPr id="25" name="Icon Check 24" descr="icon029.png"/>
          <p:cNvPicPr>
            <a:picLocks noChangeAspect="1"/>
          </p:cNvPicPr>
          <p:nvPr/>
        </p:nvPicPr>
        <p:blipFill>
          <a:blip r:embed="rId2"/>
          <a:stretch>
            <a:fillRect/>
          </a:stretch>
        </p:blipFill>
        <p:spPr>
          <a:xfrm>
            <a:off x="5581650" y="2776736"/>
            <a:ext cx="190500" cy="190500"/>
          </a:xfrm>
          <a:prstGeom prst="rect">
            <a:avLst/>
          </a:prstGeom>
        </p:spPr>
      </p:pic>
      <p:sp>
        <p:nvSpPr>
          <p:cNvPr id="26" name="Text 25"/>
          <p:cNvSpPr txBox="1"/>
          <p:nvPr/>
        </p:nvSpPr>
        <p:spPr>
          <a:xfrm>
            <a:off x="838200" y="2749304"/>
            <a:ext cx="46672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أساس نظامي لكل معالجة، وغرض محدد، وأقل قدر من البيانات</a:t>
            </a:r>
          </a:p>
        </p:txBody>
      </p:sp>
      <p:pic>
        <p:nvPicPr>
          <p:cNvPr id="27" name="Icon Check 26" descr="icon029.png"/>
          <p:cNvPicPr>
            <a:picLocks noChangeAspect="1"/>
          </p:cNvPicPr>
          <p:nvPr/>
        </p:nvPicPr>
        <p:blipFill>
          <a:blip r:embed="rId2"/>
          <a:stretch>
            <a:fillRect/>
          </a:stretch>
        </p:blipFill>
        <p:spPr>
          <a:xfrm>
            <a:off x="5581650" y="3099296"/>
            <a:ext cx="190500" cy="190500"/>
          </a:xfrm>
          <a:prstGeom prst="rect">
            <a:avLst/>
          </a:prstGeom>
        </p:spPr>
      </p:pic>
      <p:sp>
        <p:nvSpPr>
          <p:cNvPr id="28" name="Text 27"/>
          <p:cNvSpPr txBox="1"/>
          <p:nvPr/>
        </p:nvSpPr>
        <p:spPr>
          <a:xfrm>
            <a:off x="838200" y="3071864"/>
            <a:ext cx="46672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حقوق لصاحب البيانات: العلم، والوصول، والتصحيح، والإتلاف</a:t>
            </a:r>
          </a:p>
        </p:txBody>
      </p:sp>
      <p:pic>
        <p:nvPicPr>
          <p:cNvPr id="29" name="Icon Check 28" descr="icon029.png"/>
          <p:cNvPicPr>
            <a:picLocks noChangeAspect="1"/>
          </p:cNvPicPr>
          <p:nvPr/>
        </p:nvPicPr>
        <p:blipFill>
          <a:blip r:embed="rId2"/>
          <a:stretch>
            <a:fillRect/>
          </a:stretch>
        </p:blipFill>
        <p:spPr>
          <a:xfrm>
            <a:off x="5581650" y="3421856"/>
            <a:ext cx="190500" cy="190500"/>
          </a:xfrm>
          <a:prstGeom prst="rect">
            <a:avLst/>
          </a:prstGeom>
        </p:spPr>
      </p:pic>
      <p:sp>
        <p:nvSpPr>
          <p:cNvPr id="30" name="Text 29"/>
          <p:cNvSpPr txBox="1"/>
          <p:nvPr/>
        </p:nvSpPr>
        <p:spPr>
          <a:xfrm>
            <a:off x="838200" y="3394424"/>
            <a:ext cx="46672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سجل لأنشطة المعالجة، وتقييم أثر للمعالجات عالية المخاطر</a:t>
            </a:r>
          </a:p>
        </p:txBody>
      </p:sp>
      <p:pic>
        <p:nvPicPr>
          <p:cNvPr id="31" name="Icon Check 30" descr="icon029.png"/>
          <p:cNvPicPr>
            <a:picLocks noChangeAspect="1"/>
          </p:cNvPicPr>
          <p:nvPr/>
        </p:nvPicPr>
        <p:blipFill>
          <a:blip r:embed="rId2"/>
          <a:stretch>
            <a:fillRect/>
          </a:stretch>
        </p:blipFill>
        <p:spPr>
          <a:xfrm>
            <a:off x="5581650" y="3744416"/>
            <a:ext cx="190500" cy="190500"/>
          </a:xfrm>
          <a:prstGeom prst="rect">
            <a:avLst/>
          </a:prstGeom>
        </p:spPr>
      </p:pic>
      <p:sp>
        <p:nvSpPr>
          <p:cNvPr id="32" name="Text 31"/>
          <p:cNvSpPr txBox="1"/>
          <p:nvPr/>
        </p:nvSpPr>
        <p:spPr>
          <a:xfrm>
            <a:off x="838200" y="3716984"/>
            <a:ext cx="46672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إبلاغ الجهة المختصة عن حوادث التسرب خلال مدة محددة</a:t>
            </a:r>
          </a:p>
        </p:txBody>
      </p:sp>
      <p:sp>
        <p:nvSpPr>
          <p:cNvPr id="33" name="Text 32"/>
          <p:cNvSpPr txBox="1"/>
          <p:nvPr/>
        </p:nvSpPr>
        <p:spPr>
          <a:xfrm>
            <a:off x="838200" y="4039545"/>
            <a:ext cx="49339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5E6A75"/>
                </a:solidFill>
                <a:latin typeface="IBM Plex Sans Arabic"/>
                <a:ea typeface="IBM Plex Sans Arabic"/>
                <a:cs typeface="IBM Plex Sans Arabic"/>
              </a:rPr>
              <a:t>وفي أوروبا: اللائحة العامة لحماية البيانات (GDPR).</a:t>
            </a:r>
          </a:p>
        </p:txBody>
      </p:sp>
      <p:sp>
        <p:nvSpPr>
          <p:cNvPr id="34" name="Text 33"/>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35" name="Text 34"/>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BIA وBCP وDRP والحوادث: أين يقف GRC؟</a:t>
            </a:r>
          </a:p>
        </p:txBody>
      </p:sp>
      <p:sp>
        <p:nvSpPr>
          <p:cNvPr id="5" name="Rule 4"/>
          <p:cNvSpPr/>
          <p:nvPr/>
        </p:nvSpPr>
        <p:spPr>
          <a:xfrm>
            <a:off x="8842375" y="1632545"/>
            <a:ext cx="2536825" cy="31750"/>
          </a:xfrm>
          <a:prstGeom prst="rect">
            <a:avLst/>
          </a:prstGeom>
          <a:solidFill>
            <a:srgbClr val="0E7C6B"/>
          </a:solidFill>
          <a:ln>
            <a:noFill/>
          </a:ln>
        </p:spPr>
        <p:txBody>
          <a:bodyPr rtlCol="0" anchor="ctr"/>
          <a:lstStyle/>
          <a:p>
            <a:pPr algn="ctr"/>
          </a:p>
        </p:txBody>
      </p:sp>
      <p:sp>
        <p:nvSpPr>
          <p:cNvPr id="6" name="Text 5"/>
          <p:cNvSpPr txBox="1"/>
          <p:nvPr/>
        </p:nvSpPr>
        <p:spPr>
          <a:xfrm>
            <a:off x="8867775" y="1813774"/>
            <a:ext cx="2473325" cy="307280"/>
          </a:xfrm>
          <a:prstGeom prst="rect">
            <a:avLst/>
          </a:prstGeom>
          <a:noFill/>
        </p:spPr>
        <p:txBody>
          <a:bodyPr wrap="square" tIns="0" rIns="0" bIns="0" lIns="0" anchor="t" rtlCol="0" anchorCtr="0">
            <a:noAutofit/>
          </a:bodyPr>
          <a:lstStyle/>
          <a:p>
            <a:pPr algn="r">
              <a:lnSpc>
                <a:spcPts val="2420"/>
              </a:lnSpc>
              <a:spcBef>
                <a:spcPts val="0"/>
              </a:spcBef>
              <a:spcAft>
                <a:spcPts val="0"/>
              </a:spcAft>
            </a:pPr>
            <a:r>
              <a:rPr sz="2200" b="1" i="0">
                <a:solidFill>
                  <a:srgbClr val="0E7C6B"/>
                </a:solidFill>
                <a:latin typeface="Readex Pro"/>
                <a:ea typeface="Readex Pro"/>
                <a:cs typeface="Readex Pro"/>
              </a:rPr>
              <a:t>BIA</a:t>
            </a:r>
          </a:p>
        </p:txBody>
      </p:sp>
      <p:sp>
        <p:nvSpPr>
          <p:cNvPr id="7" name="Text 6"/>
          <p:cNvSpPr txBox="1"/>
          <p:nvPr/>
        </p:nvSpPr>
        <p:spPr>
          <a:xfrm>
            <a:off x="8867775" y="2138073"/>
            <a:ext cx="2473325"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IBM Plex Sans Arabic"/>
                <a:ea typeface="IBM Plex Sans Arabic"/>
                <a:cs typeface="IBM Plex Sans Arabic"/>
              </a:rPr>
              <a:t>تحليل أثر الأعمال</a:t>
            </a:r>
          </a:p>
        </p:txBody>
      </p:sp>
      <p:sp>
        <p:nvSpPr>
          <p:cNvPr id="8" name="Text 7"/>
          <p:cNvSpPr txBox="1"/>
          <p:nvPr/>
        </p:nvSpPr>
        <p:spPr>
          <a:xfrm>
            <a:off x="8867775" y="2473460"/>
            <a:ext cx="2473325" cy="88374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ما أهم الخدمات؟ وكم تتحمل الجهة توقفها؟ ومنه RTO وRPO.</a:t>
            </a:r>
          </a:p>
        </p:txBody>
      </p:sp>
      <p:sp>
        <p:nvSpPr>
          <p:cNvPr id="9" name="Text 8"/>
          <p:cNvSpPr txBox="1"/>
          <p:nvPr/>
        </p:nvSpPr>
        <p:spPr>
          <a:xfrm>
            <a:off x="8867775" y="3408001"/>
            <a:ext cx="2473325"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4E5A66"/>
                </a:solidFill>
                <a:latin typeface="IBM Plex Sans Arabic"/>
                <a:ea typeface="IBM Plex Sans Arabic"/>
                <a:cs typeface="IBM Plex Sans Arabic"/>
              </a:rPr>
              <a:t>مثال: الرواتب: RTO 24 ساعة، وRPO 4 ساعات.</a:t>
            </a:r>
          </a:p>
        </p:txBody>
      </p:sp>
      <p:sp>
        <p:nvSpPr>
          <p:cNvPr id="10" name="Rule 9"/>
          <p:cNvSpPr/>
          <p:nvPr/>
        </p:nvSpPr>
        <p:spPr>
          <a:xfrm>
            <a:off x="6165850" y="1632545"/>
            <a:ext cx="2536825" cy="31750"/>
          </a:xfrm>
          <a:prstGeom prst="rect">
            <a:avLst/>
          </a:prstGeom>
          <a:solidFill>
            <a:srgbClr val="24506B"/>
          </a:solidFill>
          <a:ln>
            <a:noFill/>
          </a:ln>
        </p:spPr>
        <p:txBody>
          <a:bodyPr rtlCol="0" anchor="ctr"/>
          <a:lstStyle/>
          <a:p>
            <a:pPr algn="ctr"/>
          </a:p>
        </p:txBody>
      </p:sp>
      <p:sp>
        <p:nvSpPr>
          <p:cNvPr id="11" name="Text 10"/>
          <p:cNvSpPr txBox="1"/>
          <p:nvPr/>
        </p:nvSpPr>
        <p:spPr>
          <a:xfrm>
            <a:off x="6191250" y="1813774"/>
            <a:ext cx="2473325" cy="307280"/>
          </a:xfrm>
          <a:prstGeom prst="rect">
            <a:avLst/>
          </a:prstGeom>
          <a:noFill/>
        </p:spPr>
        <p:txBody>
          <a:bodyPr wrap="square" tIns="0" rIns="0" bIns="0" lIns="0" anchor="t" rtlCol="0" anchorCtr="0">
            <a:noAutofit/>
          </a:bodyPr>
          <a:lstStyle/>
          <a:p>
            <a:pPr algn="r">
              <a:lnSpc>
                <a:spcPts val="2420"/>
              </a:lnSpc>
              <a:spcBef>
                <a:spcPts val="0"/>
              </a:spcBef>
              <a:spcAft>
                <a:spcPts val="0"/>
              </a:spcAft>
            </a:pPr>
            <a:r>
              <a:rPr sz="2200" b="1" i="0">
                <a:solidFill>
                  <a:srgbClr val="24506B"/>
                </a:solidFill>
                <a:latin typeface="Readex Pro"/>
                <a:ea typeface="Readex Pro"/>
                <a:cs typeface="Readex Pro"/>
              </a:rPr>
              <a:t>BCP</a:t>
            </a:r>
          </a:p>
        </p:txBody>
      </p:sp>
      <p:sp>
        <p:nvSpPr>
          <p:cNvPr id="12" name="Text 11"/>
          <p:cNvSpPr txBox="1"/>
          <p:nvPr/>
        </p:nvSpPr>
        <p:spPr>
          <a:xfrm>
            <a:off x="6191250" y="2138073"/>
            <a:ext cx="2473325"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IBM Plex Sans Arabic"/>
                <a:ea typeface="IBM Plex Sans Arabic"/>
                <a:cs typeface="IBM Plex Sans Arabic"/>
              </a:rPr>
              <a:t>خطة استمرارية الأعمال</a:t>
            </a:r>
          </a:p>
        </p:txBody>
      </p:sp>
      <p:sp>
        <p:nvSpPr>
          <p:cNvPr id="13" name="Text 12"/>
          <p:cNvSpPr txBox="1"/>
          <p:nvPr/>
        </p:nvSpPr>
        <p:spPr>
          <a:xfrm>
            <a:off x="6191250" y="2473460"/>
            <a:ext cx="2473325"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كيف تستمر الخدمة المهمة أثناء التوقف، ومن يقرر؟</a:t>
            </a:r>
          </a:p>
        </p:txBody>
      </p:sp>
      <p:sp>
        <p:nvSpPr>
          <p:cNvPr id="14" name="Text 13"/>
          <p:cNvSpPr txBox="1"/>
          <p:nvPr/>
        </p:nvSpPr>
        <p:spPr>
          <a:xfrm>
            <a:off x="6191250" y="3113421"/>
            <a:ext cx="2473325"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4E5A66"/>
                </a:solidFill>
                <a:latin typeface="IBM Plex Sans Arabic"/>
                <a:ea typeface="IBM Plex Sans Arabic"/>
                <a:cs typeface="IBM Plex Sans Arabic"/>
              </a:rPr>
              <a:t>مثال: إجراء بديل معتمد لصرف الرواتب إن تعذر النظام.</a:t>
            </a:r>
          </a:p>
        </p:txBody>
      </p:sp>
      <p:sp>
        <p:nvSpPr>
          <p:cNvPr id="15" name="Rule 14"/>
          <p:cNvSpPr/>
          <p:nvPr/>
        </p:nvSpPr>
        <p:spPr>
          <a:xfrm>
            <a:off x="3489325" y="1632545"/>
            <a:ext cx="2536825" cy="31750"/>
          </a:xfrm>
          <a:prstGeom prst="rect">
            <a:avLst/>
          </a:prstGeom>
          <a:solidFill>
            <a:srgbClr val="5A3F87"/>
          </a:solidFill>
          <a:ln>
            <a:noFill/>
          </a:ln>
        </p:spPr>
        <p:txBody>
          <a:bodyPr rtlCol="0" anchor="ctr"/>
          <a:lstStyle/>
          <a:p>
            <a:pPr algn="ctr"/>
          </a:p>
        </p:txBody>
      </p:sp>
      <p:sp>
        <p:nvSpPr>
          <p:cNvPr id="16" name="Text 15"/>
          <p:cNvSpPr txBox="1"/>
          <p:nvPr/>
        </p:nvSpPr>
        <p:spPr>
          <a:xfrm>
            <a:off x="3514725" y="1813774"/>
            <a:ext cx="2473325" cy="307280"/>
          </a:xfrm>
          <a:prstGeom prst="rect">
            <a:avLst/>
          </a:prstGeom>
          <a:noFill/>
        </p:spPr>
        <p:txBody>
          <a:bodyPr wrap="square" tIns="0" rIns="0" bIns="0" lIns="0" anchor="t" rtlCol="0" anchorCtr="0">
            <a:noAutofit/>
          </a:bodyPr>
          <a:lstStyle/>
          <a:p>
            <a:pPr algn="r">
              <a:lnSpc>
                <a:spcPts val="2420"/>
              </a:lnSpc>
              <a:spcBef>
                <a:spcPts val="0"/>
              </a:spcBef>
              <a:spcAft>
                <a:spcPts val="0"/>
              </a:spcAft>
            </a:pPr>
            <a:r>
              <a:rPr sz="2200" b="1" i="0">
                <a:solidFill>
                  <a:srgbClr val="5A3F87"/>
                </a:solidFill>
                <a:latin typeface="Readex Pro"/>
                <a:ea typeface="Readex Pro"/>
                <a:cs typeface="Readex Pro"/>
              </a:rPr>
              <a:t>DRP</a:t>
            </a:r>
          </a:p>
        </p:txBody>
      </p:sp>
      <p:sp>
        <p:nvSpPr>
          <p:cNvPr id="17" name="Text 16"/>
          <p:cNvSpPr txBox="1"/>
          <p:nvPr/>
        </p:nvSpPr>
        <p:spPr>
          <a:xfrm>
            <a:off x="3514725" y="2138073"/>
            <a:ext cx="2473325"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IBM Plex Sans Arabic"/>
                <a:ea typeface="IBM Plex Sans Arabic"/>
                <a:cs typeface="IBM Plex Sans Arabic"/>
              </a:rPr>
              <a:t>خطة التعافي من الكوارث</a:t>
            </a:r>
          </a:p>
        </p:txBody>
      </p:sp>
      <p:sp>
        <p:nvSpPr>
          <p:cNvPr id="18" name="Text 17"/>
          <p:cNvSpPr txBox="1"/>
          <p:nvPr/>
        </p:nvSpPr>
        <p:spPr>
          <a:xfrm>
            <a:off x="3514725" y="2473460"/>
            <a:ext cx="2473325"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كيف تُستعاد الأنظمة والبيانات تقنياً، وبأي ترتيب؟</a:t>
            </a:r>
          </a:p>
        </p:txBody>
      </p:sp>
      <p:sp>
        <p:nvSpPr>
          <p:cNvPr id="19" name="Text 18"/>
          <p:cNvSpPr txBox="1"/>
          <p:nvPr/>
        </p:nvSpPr>
        <p:spPr>
          <a:xfrm>
            <a:off x="3514725" y="3113421"/>
            <a:ext cx="2473325"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4E5A66"/>
                </a:solidFill>
                <a:latin typeface="IBM Plex Sans Arabic"/>
                <a:ea typeface="IBM Plex Sans Arabic"/>
                <a:cs typeface="IBM Plex Sans Arabic"/>
              </a:rPr>
              <a:t>مثال: استعادة بيانات الرواتب من النسخ خلال 24 ساعة.</a:t>
            </a:r>
          </a:p>
        </p:txBody>
      </p:sp>
      <p:sp>
        <p:nvSpPr>
          <p:cNvPr id="20" name="Rule 19"/>
          <p:cNvSpPr/>
          <p:nvPr/>
        </p:nvSpPr>
        <p:spPr>
          <a:xfrm>
            <a:off x="812800" y="1632545"/>
            <a:ext cx="2536825" cy="31750"/>
          </a:xfrm>
          <a:prstGeom prst="rect">
            <a:avLst/>
          </a:prstGeom>
          <a:solidFill>
            <a:srgbClr val="B4412C"/>
          </a:solidFill>
          <a:ln>
            <a:noFill/>
          </a:ln>
        </p:spPr>
        <p:txBody>
          <a:bodyPr rtlCol="0" anchor="ctr"/>
          <a:lstStyle/>
          <a:p>
            <a:pPr algn="ctr"/>
          </a:p>
        </p:txBody>
      </p:sp>
      <p:sp>
        <p:nvSpPr>
          <p:cNvPr id="21" name="Text 20"/>
          <p:cNvSpPr txBox="1"/>
          <p:nvPr/>
        </p:nvSpPr>
        <p:spPr>
          <a:xfrm>
            <a:off x="838200" y="1813774"/>
            <a:ext cx="2473325" cy="307280"/>
          </a:xfrm>
          <a:prstGeom prst="rect">
            <a:avLst/>
          </a:prstGeom>
          <a:noFill/>
        </p:spPr>
        <p:txBody>
          <a:bodyPr wrap="square" tIns="0" rIns="0" bIns="0" lIns="0" anchor="t" rtlCol="0" anchorCtr="0">
            <a:noAutofit/>
          </a:bodyPr>
          <a:lstStyle/>
          <a:p>
            <a:pPr algn="r">
              <a:lnSpc>
                <a:spcPts val="2420"/>
              </a:lnSpc>
              <a:spcBef>
                <a:spcPts val="0"/>
              </a:spcBef>
              <a:spcAft>
                <a:spcPts val="0"/>
              </a:spcAft>
            </a:pPr>
            <a:r>
              <a:rPr sz="2200" b="1" i="0">
                <a:solidFill>
                  <a:srgbClr val="B4412C"/>
                </a:solidFill>
                <a:latin typeface="Readex Pro"/>
                <a:ea typeface="Readex Pro"/>
                <a:cs typeface="Readex Pro"/>
              </a:rPr>
              <a:t>IR</a:t>
            </a:r>
          </a:p>
        </p:txBody>
      </p:sp>
      <p:sp>
        <p:nvSpPr>
          <p:cNvPr id="22" name="Text 21"/>
          <p:cNvSpPr txBox="1"/>
          <p:nvPr/>
        </p:nvSpPr>
        <p:spPr>
          <a:xfrm>
            <a:off x="838200" y="2138073"/>
            <a:ext cx="2473325"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IBM Plex Sans Arabic"/>
                <a:ea typeface="IBM Plex Sans Arabic"/>
                <a:cs typeface="IBM Plex Sans Arabic"/>
              </a:rPr>
              <a:t>الاستجابة للحوادث</a:t>
            </a:r>
          </a:p>
        </p:txBody>
      </p:sp>
      <p:sp>
        <p:nvSpPr>
          <p:cNvPr id="23" name="Text 22"/>
          <p:cNvSpPr txBox="1"/>
          <p:nvPr/>
        </p:nvSpPr>
        <p:spPr>
          <a:xfrm>
            <a:off x="838200" y="2473460"/>
            <a:ext cx="2473325"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اكتشاف الحادثة واحتواؤها والتعافي منها، والإبلاغ عنها.</a:t>
            </a:r>
          </a:p>
        </p:txBody>
      </p:sp>
      <p:sp>
        <p:nvSpPr>
          <p:cNvPr id="24" name="Text 23"/>
          <p:cNvSpPr txBox="1"/>
          <p:nvPr/>
        </p:nvSpPr>
        <p:spPr>
          <a:xfrm>
            <a:off x="838200" y="3113421"/>
            <a:ext cx="2473325"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4E5A66"/>
                </a:solidFill>
                <a:latin typeface="IBM Plex Sans Arabic"/>
                <a:ea typeface="IBM Plex Sans Arabic"/>
                <a:cs typeface="IBM Plex Sans Arabic"/>
              </a:rPr>
              <a:t>مثال: تسرب من خادم التتبع: من يُبلَّغ، ومتى.</a:t>
            </a:r>
          </a:p>
        </p:txBody>
      </p:sp>
      <p:sp>
        <p:nvSpPr>
          <p:cNvPr id="25" name="Rule 24"/>
          <p:cNvSpPr/>
          <p:nvPr/>
        </p:nvSpPr>
        <p:spPr>
          <a:xfrm>
            <a:off x="6184900" y="4224238"/>
            <a:ext cx="5194300" cy="31750"/>
          </a:xfrm>
          <a:prstGeom prst="rect">
            <a:avLst/>
          </a:prstGeom>
          <a:solidFill>
            <a:srgbClr val="0E7C6B"/>
          </a:solidFill>
          <a:ln>
            <a:noFill/>
          </a:ln>
        </p:spPr>
        <p:txBody>
          <a:bodyPr rtlCol="0" anchor="ctr"/>
          <a:lstStyle/>
          <a:p>
            <a:pPr algn="ctr"/>
          </a:p>
        </p:txBody>
      </p:sp>
      <p:sp>
        <p:nvSpPr>
          <p:cNvPr id="26" name="Text 25"/>
          <p:cNvSpPr txBox="1"/>
          <p:nvPr/>
        </p:nvSpPr>
        <p:spPr>
          <a:xfrm>
            <a:off x="6210300" y="4360255"/>
            <a:ext cx="51308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lang="ar-SA" altLang="en-US">
                <a:solidFill>
                  <a:srgbClr val="0E7C6B"/>
                </a:solidFill>
                <a:latin typeface="IBM Plex Sans Arabic"/>
                <a:ea typeface="IBM Plex Sans Arabic"/>
                <a:cs typeface="IBM Plex Sans Arabic"/>
              </a:rPr>
              <a:t>ما يفعله GRC</a:t>
            </a:r>
          </a:p>
        </p:txBody>
      </p:sp>
      <p:pic>
        <p:nvPicPr>
          <p:cNvPr id="27" name="Icon Check 26" descr="icon029.png"/>
          <p:cNvPicPr>
            <a:picLocks noChangeAspect="1"/>
          </p:cNvPicPr>
          <p:nvPr/>
        </p:nvPicPr>
        <p:blipFill>
          <a:blip r:embed="rId2"/>
          <a:stretch>
            <a:fillRect/>
          </a:stretch>
        </p:blipFill>
        <p:spPr>
          <a:xfrm>
            <a:off x="11150600" y="4779169"/>
            <a:ext cx="190500" cy="190500"/>
          </a:xfrm>
          <a:prstGeom prst="rect">
            <a:avLst/>
          </a:prstGeom>
        </p:spPr>
      </p:pic>
      <p:sp>
        <p:nvSpPr>
          <p:cNvPr id="28" name="Text 27"/>
          <p:cNvSpPr txBox="1"/>
          <p:nvPr/>
        </p:nvSpPr>
        <p:spPr>
          <a:xfrm>
            <a:off x="6210300" y="4747673"/>
            <a:ext cx="4826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lang="ar-SA" altLang="en-US">
                <a:solidFill>
                  <a:srgbClr val="172433"/>
                </a:solidFill>
                <a:latin typeface="IBM Plex Sans Arabic"/>
                <a:ea typeface="IBM Plex Sans Arabic"/>
                <a:cs typeface="IBM Plex Sans Arabic"/>
              </a:rPr>
              <a:t>يتأكد أن الخطط موجودة ومعتمدة ومختبرة.</a:t>
            </a:r>
          </a:p>
        </p:txBody>
      </p:sp>
      <p:pic>
        <p:nvPicPr>
          <p:cNvPr id="29" name="Icon Check 28" descr="icon029.png"/>
          <p:cNvPicPr>
            <a:picLocks noChangeAspect="1"/>
          </p:cNvPicPr>
          <p:nvPr/>
        </p:nvPicPr>
        <p:blipFill>
          <a:blip r:embed="rId2"/>
          <a:stretch>
            <a:fillRect/>
          </a:stretch>
        </p:blipFill>
        <p:spPr>
          <a:xfrm>
            <a:off x="11150600" y="5114429"/>
            <a:ext cx="190500" cy="190500"/>
          </a:xfrm>
          <a:prstGeom prst="rect">
            <a:avLst/>
          </a:prstGeom>
        </p:spPr>
      </p:pic>
      <p:sp>
        <p:nvSpPr>
          <p:cNvPr id="30" name="Text 29"/>
          <p:cNvSpPr txBox="1"/>
          <p:nvPr/>
        </p:nvSpPr>
        <p:spPr>
          <a:xfrm>
            <a:off x="6210300" y="5082933"/>
            <a:ext cx="4826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lang="ar-SA" altLang="en-US">
                <a:solidFill>
                  <a:srgbClr val="172433"/>
                </a:solidFill>
                <a:latin typeface="IBM Plex Sans Arabic"/>
                <a:ea typeface="IBM Plex Sans Arabic"/>
                <a:cs typeface="IBM Plex Sans Arabic"/>
              </a:rPr>
              <a:t>يربط نتائج الاختبار والحوادث بسجل المخاطر والملاحظات.</a:t>
            </a:r>
          </a:p>
        </p:txBody>
      </p:sp>
      <p:sp>
        <p:nvSpPr>
          <p:cNvPr id="31" name="Rule 30"/>
          <p:cNvSpPr/>
          <p:nvPr/>
        </p:nvSpPr>
        <p:spPr>
          <a:xfrm>
            <a:off x="812800" y="4224238"/>
            <a:ext cx="5194300" cy="31750"/>
          </a:xfrm>
          <a:prstGeom prst="rect">
            <a:avLst/>
          </a:prstGeom>
          <a:solidFill>
            <a:srgbClr val="B4412C"/>
          </a:solidFill>
          <a:ln>
            <a:noFill/>
          </a:ln>
        </p:spPr>
        <p:txBody>
          <a:bodyPr rtlCol="0" anchor="ctr"/>
          <a:lstStyle/>
          <a:p>
            <a:pPr algn="ctr"/>
          </a:p>
        </p:txBody>
      </p:sp>
      <p:sp>
        <p:nvSpPr>
          <p:cNvPr id="32" name="Text 31"/>
          <p:cNvSpPr txBox="1"/>
          <p:nvPr/>
        </p:nvSpPr>
        <p:spPr>
          <a:xfrm>
            <a:off x="838200" y="4360255"/>
            <a:ext cx="51308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lang="ar-SA" altLang="en-US">
                <a:solidFill>
                  <a:srgbClr val="B4412C"/>
                </a:solidFill>
                <a:latin typeface="IBM Plex Sans Arabic"/>
                <a:ea typeface="IBM Plex Sans Arabic"/>
                <a:cs typeface="IBM Plex Sans Arabic"/>
              </a:rPr>
              <a:t>ما لا يفعله</a:t>
            </a:r>
          </a:p>
        </p:txBody>
      </p:sp>
      <p:pic>
        <p:nvPicPr>
          <p:cNvPr id="33" name="Icon Warning 32" descr="icon030.png"/>
          <p:cNvPicPr>
            <a:picLocks noChangeAspect="1"/>
          </p:cNvPicPr>
          <p:nvPr/>
        </p:nvPicPr>
        <p:blipFill>
          <a:blip r:embed="rId3"/>
          <a:stretch>
            <a:fillRect/>
          </a:stretch>
        </p:blipFill>
        <p:spPr>
          <a:xfrm>
            <a:off x="5778500" y="4779169"/>
            <a:ext cx="190500" cy="190500"/>
          </a:xfrm>
          <a:prstGeom prst="rect">
            <a:avLst/>
          </a:prstGeom>
        </p:spPr>
      </p:pic>
      <p:sp>
        <p:nvSpPr>
          <p:cNvPr id="34" name="Text 33"/>
          <p:cNvSpPr txBox="1"/>
          <p:nvPr/>
        </p:nvSpPr>
        <p:spPr>
          <a:xfrm>
            <a:off x="838200" y="4747673"/>
            <a:ext cx="4826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lang="ar-SA" altLang="en-US">
                <a:solidFill>
                  <a:srgbClr val="172433"/>
                </a:solidFill>
                <a:latin typeface="IBM Plex Sans Arabic"/>
                <a:ea typeface="IBM Plex Sans Arabic"/>
                <a:cs typeface="IBM Plex Sans Arabic"/>
              </a:rPr>
              <a:t>لا يقود الاستجابة الفنية للحادثة.</a:t>
            </a:r>
          </a:p>
        </p:txBody>
      </p:sp>
      <p:pic>
        <p:nvPicPr>
          <p:cNvPr id="35" name="Icon Warning 34" descr="icon030.png"/>
          <p:cNvPicPr>
            <a:picLocks noChangeAspect="1"/>
          </p:cNvPicPr>
          <p:nvPr/>
        </p:nvPicPr>
        <p:blipFill>
          <a:blip r:embed="rId3"/>
          <a:stretch>
            <a:fillRect/>
          </a:stretch>
        </p:blipFill>
        <p:spPr>
          <a:xfrm>
            <a:off x="5778500" y="5114429"/>
            <a:ext cx="190500" cy="190500"/>
          </a:xfrm>
          <a:prstGeom prst="rect">
            <a:avLst/>
          </a:prstGeom>
        </p:spPr>
      </p:pic>
      <p:sp>
        <p:nvSpPr>
          <p:cNvPr id="36" name="Text 35"/>
          <p:cNvSpPr txBox="1"/>
          <p:nvPr/>
        </p:nvSpPr>
        <p:spPr>
          <a:xfrm>
            <a:off x="838200" y="5082933"/>
            <a:ext cx="4826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lang="ar-SA" altLang="en-US">
                <a:solidFill>
                  <a:srgbClr val="172433"/>
                </a:solidFill>
                <a:latin typeface="IBM Plex Sans Arabic"/>
                <a:ea typeface="IBM Plex Sans Arabic"/>
                <a:cs typeface="IBM Plex Sans Arabic"/>
              </a:rPr>
              <a:t>لا يكتب خطة التعافي التقنية بدل أصحابها.</a:t>
            </a:r>
          </a:p>
        </p:txBody>
      </p:sp>
      <p:sp>
        <p:nvSpPr>
          <p:cNvPr id="37" name="Text 36"/>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38" name="Text 37"/>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281319" y="812800"/>
            <a:ext cx="2097881"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قاموس: 12 مصطلحاً ستراها في كل إعلان</a:t>
            </a:r>
          </a:p>
        </p:txBody>
      </p:sp>
      <p:sp>
        <p:nvSpPr>
          <p:cNvPr id="5" name="Box 4"/>
          <p:cNvSpPr/>
          <p:nvPr/>
        </p:nvSpPr>
        <p:spPr>
          <a:xfrm>
            <a:off x="7919541" y="1835745"/>
            <a:ext cx="3456484" cy="671116"/>
          </a:xfrm>
          <a:prstGeom prst="roundRect">
            <a:avLst>
              <a:gd name="adj" fmla="val 13122"/>
            </a:avLst>
          </a:prstGeom>
          <a:solidFill>
            <a:srgbClr val="FFFDF8"/>
          </a:solidFill>
          <a:ln w="6350">
            <a:solidFill>
              <a:srgbClr val="E1DBCD"/>
            </a:solidFill>
          </a:ln>
        </p:spPr>
        <p:txBody>
          <a:bodyPr rtlCol="0" anchor="ctr"/>
          <a:lstStyle/>
          <a:p>
            <a:pPr algn="ctr"/>
          </a:p>
        </p:txBody>
      </p:sp>
      <p:sp>
        <p:nvSpPr>
          <p:cNvPr id="6" name="Text 5"/>
          <p:cNvSpPr txBox="1"/>
          <p:nvPr/>
        </p:nvSpPr>
        <p:spPr>
          <a:xfrm>
            <a:off x="10182443" y="1922518"/>
            <a:ext cx="1050707"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سجل المخاطر</a:t>
            </a:r>
          </a:p>
        </p:txBody>
      </p:sp>
      <p:sp>
        <p:nvSpPr>
          <p:cNvPr id="7" name="Text 6"/>
          <p:cNvSpPr txBox="1"/>
          <p:nvPr/>
        </p:nvSpPr>
        <p:spPr>
          <a:xfrm>
            <a:off x="7970976" y="1943314"/>
            <a:ext cx="1056144"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0E7C6B"/>
                </a:solidFill>
                <a:latin typeface="Readex Pro"/>
                <a:ea typeface="Readex Pro"/>
                <a:cs typeface="Readex Pro"/>
              </a:rPr>
              <a:t>Risk Register</a:t>
            </a:r>
          </a:p>
        </p:txBody>
      </p:sp>
      <p:sp>
        <p:nvSpPr>
          <p:cNvPr id="8" name="Text 7"/>
          <p:cNvSpPr txBox="1"/>
          <p:nvPr/>
        </p:nvSpPr>
        <p:spPr>
          <a:xfrm>
            <a:off x="7941766" y="2165144"/>
            <a:ext cx="329138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قائمة المخاطر بمالكها ودرجتها ومعالجتها</a:t>
            </a:r>
          </a:p>
        </p:txBody>
      </p:sp>
      <p:sp>
        <p:nvSpPr>
          <p:cNvPr id="9" name="Box 8"/>
          <p:cNvSpPr/>
          <p:nvPr/>
        </p:nvSpPr>
        <p:spPr>
          <a:xfrm>
            <a:off x="4367808" y="1835745"/>
            <a:ext cx="3456484" cy="671116"/>
          </a:xfrm>
          <a:prstGeom prst="roundRect">
            <a:avLst>
              <a:gd name="adj" fmla="val 13122"/>
            </a:avLst>
          </a:prstGeom>
          <a:solidFill>
            <a:srgbClr val="FFFDF8"/>
          </a:solidFill>
          <a:ln w="6350">
            <a:solidFill>
              <a:srgbClr val="E1DBCD"/>
            </a:solidFill>
          </a:ln>
        </p:spPr>
        <p:txBody>
          <a:bodyPr rtlCol="0" anchor="ctr"/>
          <a:lstStyle/>
          <a:p>
            <a:pPr algn="ctr"/>
          </a:p>
        </p:txBody>
      </p:sp>
      <p:sp>
        <p:nvSpPr>
          <p:cNvPr id="10" name="Text 9"/>
          <p:cNvSpPr txBox="1"/>
          <p:nvPr/>
        </p:nvSpPr>
        <p:spPr>
          <a:xfrm>
            <a:off x="6635571" y="1922518"/>
            <a:ext cx="1045845"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شهية المخاطر</a:t>
            </a:r>
          </a:p>
        </p:txBody>
      </p:sp>
      <p:sp>
        <p:nvSpPr>
          <p:cNvPr id="11" name="Text 10"/>
          <p:cNvSpPr txBox="1"/>
          <p:nvPr/>
        </p:nvSpPr>
        <p:spPr>
          <a:xfrm>
            <a:off x="4419243" y="1943314"/>
            <a:ext cx="107827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0E7C6B"/>
                </a:solidFill>
                <a:latin typeface="Readex Pro"/>
                <a:ea typeface="Readex Pro"/>
                <a:cs typeface="Readex Pro"/>
              </a:rPr>
              <a:t>Risk Appetite</a:t>
            </a:r>
          </a:p>
        </p:txBody>
      </p:sp>
      <p:sp>
        <p:nvSpPr>
          <p:cNvPr id="12" name="Text 11"/>
          <p:cNvSpPr txBox="1"/>
          <p:nvPr/>
        </p:nvSpPr>
        <p:spPr>
          <a:xfrm>
            <a:off x="4390033" y="2165144"/>
            <a:ext cx="329138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مقدار الخطر الذي تقبله الإدارة</a:t>
            </a:r>
          </a:p>
        </p:txBody>
      </p:sp>
      <p:sp>
        <p:nvSpPr>
          <p:cNvPr id="13" name="Box 12"/>
          <p:cNvSpPr/>
          <p:nvPr/>
        </p:nvSpPr>
        <p:spPr>
          <a:xfrm>
            <a:off x="816074" y="1835745"/>
            <a:ext cx="3456484" cy="671116"/>
          </a:xfrm>
          <a:prstGeom prst="roundRect">
            <a:avLst>
              <a:gd name="adj" fmla="val 13122"/>
            </a:avLst>
          </a:prstGeom>
          <a:solidFill>
            <a:srgbClr val="FFFDF8"/>
          </a:solidFill>
          <a:ln w="6350">
            <a:solidFill>
              <a:srgbClr val="E1DBCD"/>
            </a:solidFill>
          </a:ln>
        </p:spPr>
        <p:txBody>
          <a:bodyPr rtlCol="0" anchor="ctr"/>
          <a:lstStyle/>
          <a:p>
            <a:pPr algn="ctr"/>
          </a:p>
        </p:txBody>
      </p:sp>
      <p:sp>
        <p:nvSpPr>
          <p:cNvPr id="14" name="Text 13"/>
          <p:cNvSpPr txBox="1"/>
          <p:nvPr/>
        </p:nvSpPr>
        <p:spPr>
          <a:xfrm>
            <a:off x="3079472" y="1922518"/>
            <a:ext cx="1050211"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الخطر المتبقي</a:t>
            </a:r>
          </a:p>
        </p:txBody>
      </p:sp>
      <p:sp>
        <p:nvSpPr>
          <p:cNvPr id="15" name="Text 14"/>
          <p:cNvSpPr txBox="1"/>
          <p:nvPr/>
        </p:nvSpPr>
        <p:spPr>
          <a:xfrm>
            <a:off x="867509" y="1943314"/>
            <a:ext cx="106041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0E7C6B"/>
                </a:solidFill>
                <a:latin typeface="Readex Pro"/>
                <a:ea typeface="Readex Pro"/>
                <a:cs typeface="Readex Pro"/>
              </a:rPr>
              <a:t>Residual Risk</a:t>
            </a:r>
          </a:p>
        </p:txBody>
      </p:sp>
      <p:sp>
        <p:nvSpPr>
          <p:cNvPr id="16" name="Text 15"/>
          <p:cNvSpPr txBox="1"/>
          <p:nvPr/>
        </p:nvSpPr>
        <p:spPr>
          <a:xfrm>
            <a:off x="838299" y="2165144"/>
            <a:ext cx="329138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ما يبقى من الخطر بعد الضوابط</a:t>
            </a:r>
          </a:p>
        </p:txBody>
      </p:sp>
      <p:sp>
        <p:nvSpPr>
          <p:cNvPr id="17" name="Box 16"/>
          <p:cNvSpPr/>
          <p:nvPr/>
        </p:nvSpPr>
        <p:spPr>
          <a:xfrm>
            <a:off x="7919541" y="2602111"/>
            <a:ext cx="3456484" cy="671116"/>
          </a:xfrm>
          <a:prstGeom prst="roundRect">
            <a:avLst>
              <a:gd name="adj" fmla="val 13122"/>
            </a:avLst>
          </a:prstGeom>
          <a:solidFill>
            <a:srgbClr val="FFFDF8"/>
          </a:solidFill>
          <a:ln w="6350">
            <a:solidFill>
              <a:srgbClr val="E1DBCD"/>
            </a:solidFill>
          </a:ln>
        </p:spPr>
        <p:txBody>
          <a:bodyPr rtlCol="0" anchor="ctr"/>
          <a:lstStyle/>
          <a:p>
            <a:pPr algn="ctr"/>
          </a:p>
        </p:txBody>
      </p:sp>
      <p:sp>
        <p:nvSpPr>
          <p:cNvPr id="18" name="Text 17"/>
          <p:cNvSpPr txBox="1"/>
          <p:nvPr/>
        </p:nvSpPr>
        <p:spPr>
          <a:xfrm>
            <a:off x="9636200" y="2688884"/>
            <a:ext cx="1596950"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مؤشر المخاطر الرئيسي</a:t>
            </a:r>
          </a:p>
        </p:txBody>
      </p:sp>
      <p:sp>
        <p:nvSpPr>
          <p:cNvPr id="19" name="Text 18"/>
          <p:cNvSpPr txBox="1"/>
          <p:nvPr/>
        </p:nvSpPr>
        <p:spPr>
          <a:xfrm>
            <a:off x="7970976" y="2709680"/>
            <a:ext cx="381853"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0E7C6B"/>
                </a:solidFill>
                <a:latin typeface="Readex Pro"/>
                <a:ea typeface="Readex Pro"/>
                <a:cs typeface="Readex Pro"/>
              </a:rPr>
              <a:t>KRI</a:t>
            </a:r>
          </a:p>
        </p:txBody>
      </p:sp>
      <p:sp>
        <p:nvSpPr>
          <p:cNvPr id="20" name="Text 19"/>
          <p:cNvSpPr txBox="1"/>
          <p:nvPr/>
        </p:nvSpPr>
        <p:spPr>
          <a:xfrm>
            <a:off x="7941766" y="2931509"/>
            <a:ext cx="329138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رقم ينبه مبكراً إلى ارتفاع خطر</a:t>
            </a:r>
          </a:p>
        </p:txBody>
      </p:sp>
      <p:sp>
        <p:nvSpPr>
          <p:cNvPr id="21" name="Box 20"/>
          <p:cNvSpPr/>
          <p:nvPr/>
        </p:nvSpPr>
        <p:spPr>
          <a:xfrm>
            <a:off x="4367808" y="2602111"/>
            <a:ext cx="3456484" cy="671116"/>
          </a:xfrm>
          <a:prstGeom prst="roundRect">
            <a:avLst>
              <a:gd name="adj" fmla="val 13122"/>
            </a:avLst>
          </a:prstGeom>
          <a:solidFill>
            <a:srgbClr val="FFFDF8"/>
          </a:solidFill>
          <a:ln w="6350">
            <a:solidFill>
              <a:srgbClr val="E1DBCD"/>
            </a:solidFill>
          </a:ln>
        </p:spPr>
        <p:txBody>
          <a:bodyPr rtlCol="0" anchor="ctr"/>
          <a:lstStyle/>
          <a:p>
            <a:pPr algn="ctr"/>
          </a:p>
        </p:txBody>
      </p:sp>
      <p:sp>
        <p:nvSpPr>
          <p:cNvPr id="22" name="Text 21"/>
          <p:cNvSpPr txBox="1"/>
          <p:nvPr/>
        </p:nvSpPr>
        <p:spPr>
          <a:xfrm>
            <a:off x="6604516" y="2688884"/>
            <a:ext cx="1076900"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تقييم الفجوات</a:t>
            </a:r>
          </a:p>
        </p:txBody>
      </p:sp>
      <p:sp>
        <p:nvSpPr>
          <p:cNvPr id="23" name="Text 22"/>
          <p:cNvSpPr txBox="1"/>
          <p:nvPr/>
        </p:nvSpPr>
        <p:spPr>
          <a:xfrm>
            <a:off x="4414377" y="2709680"/>
            <a:ext cx="1300127"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0E7C6B"/>
                </a:solidFill>
                <a:latin typeface="Readex Pro"/>
                <a:ea typeface="Readex Pro"/>
                <a:cs typeface="Readex Pro"/>
              </a:rPr>
              <a:t>Gap Assessment</a:t>
            </a:r>
          </a:p>
        </p:txBody>
      </p:sp>
      <p:sp>
        <p:nvSpPr>
          <p:cNvPr id="24" name="Text 23"/>
          <p:cNvSpPr txBox="1"/>
          <p:nvPr/>
        </p:nvSpPr>
        <p:spPr>
          <a:xfrm>
            <a:off x="4390033" y="2931509"/>
            <a:ext cx="329138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مقارنة الوضع القائم بمتطلبات إطار</a:t>
            </a:r>
          </a:p>
        </p:txBody>
      </p:sp>
      <p:sp>
        <p:nvSpPr>
          <p:cNvPr id="25" name="Box 24"/>
          <p:cNvSpPr/>
          <p:nvPr/>
        </p:nvSpPr>
        <p:spPr>
          <a:xfrm>
            <a:off x="816074" y="2602111"/>
            <a:ext cx="3456484" cy="671116"/>
          </a:xfrm>
          <a:prstGeom prst="roundRect">
            <a:avLst>
              <a:gd name="adj" fmla="val 13122"/>
            </a:avLst>
          </a:prstGeom>
          <a:solidFill>
            <a:srgbClr val="FFFDF8"/>
          </a:solidFill>
          <a:ln w="6350">
            <a:solidFill>
              <a:srgbClr val="E1DBCD"/>
            </a:solidFill>
          </a:ln>
        </p:spPr>
        <p:txBody>
          <a:bodyPr rtlCol="0" anchor="ctr"/>
          <a:lstStyle/>
          <a:p>
            <a:pPr algn="ctr"/>
          </a:p>
        </p:txBody>
      </p:sp>
      <p:sp>
        <p:nvSpPr>
          <p:cNvPr id="26" name="Text 25"/>
          <p:cNvSpPr txBox="1"/>
          <p:nvPr/>
        </p:nvSpPr>
        <p:spPr>
          <a:xfrm>
            <a:off x="2769711" y="2688884"/>
            <a:ext cx="1359972"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بيان قابلية التطبيق</a:t>
            </a:r>
          </a:p>
        </p:txBody>
      </p:sp>
      <p:sp>
        <p:nvSpPr>
          <p:cNvPr id="27" name="Text 26"/>
          <p:cNvSpPr txBox="1"/>
          <p:nvPr/>
        </p:nvSpPr>
        <p:spPr>
          <a:xfrm>
            <a:off x="867509" y="2709680"/>
            <a:ext cx="387013"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0E7C6B"/>
                </a:solidFill>
                <a:latin typeface="Readex Pro"/>
                <a:ea typeface="Readex Pro"/>
                <a:cs typeface="Readex Pro"/>
              </a:rPr>
              <a:t>SoA</a:t>
            </a:r>
          </a:p>
        </p:txBody>
      </p:sp>
      <p:sp>
        <p:nvSpPr>
          <p:cNvPr id="28" name="Text 27"/>
          <p:cNvSpPr txBox="1"/>
          <p:nvPr/>
        </p:nvSpPr>
        <p:spPr>
          <a:xfrm>
            <a:off x="838299" y="2931509"/>
            <a:ext cx="329138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أي ضوابط ISO 27001 تنطبق ولماذا</a:t>
            </a:r>
          </a:p>
        </p:txBody>
      </p:sp>
      <p:sp>
        <p:nvSpPr>
          <p:cNvPr id="29" name="Box 28"/>
          <p:cNvSpPr/>
          <p:nvPr/>
        </p:nvSpPr>
        <p:spPr>
          <a:xfrm>
            <a:off x="7919541" y="3368477"/>
            <a:ext cx="3456484" cy="671116"/>
          </a:xfrm>
          <a:prstGeom prst="roundRect">
            <a:avLst>
              <a:gd name="adj" fmla="val 13122"/>
            </a:avLst>
          </a:prstGeom>
          <a:solidFill>
            <a:srgbClr val="FFFDF8"/>
          </a:solidFill>
          <a:ln w="6350">
            <a:solidFill>
              <a:srgbClr val="E1DBCD"/>
            </a:solidFill>
          </a:ln>
        </p:spPr>
        <p:txBody>
          <a:bodyPr rtlCol="0" anchor="ctr"/>
          <a:lstStyle/>
          <a:p>
            <a:pPr algn="ctr"/>
          </a:p>
        </p:txBody>
      </p:sp>
      <p:sp>
        <p:nvSpPr>
          <p:cNvPr id="30" name="Text 29"/>
          <p:cNvSpPr txBox="1"/>
          <p:nvPr/>
        </p:nvSpPr>
        <p:spPr>
          <a:xfrm>
            <a:off x="10251896" y="3455249"/>
            <a:ext cx="981254"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مالك الضابط</a:t>
            </a:r>
          </a:p>
        </p:txBody>
      </p:sp>
      <p:sp>
        <p:nvSpPr>
          <p:cNvPr id="31" name="Text 30"/>
          <p:cNvSpPr txBox="1"/>
          <p:nvPr/>
        </p:nvSpPr>
        <p:spPr>
          <a:xfrm>
            <a:off x="7970976" y="3476046"/>
            <a:ext cx="1153081"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0E7C6B"/>
                </a:solidFill>
                <a:latin typeface="Readex Pro"/>
                <a:ea typeface="Readex Pro"/>
                <a:cs typeface="Readex Pro"/>
              </a:rPr>
              <a:t>Control Owner</a:t>
            </a:r>
          </a:p>
        </p:txBody>
      </p:sp>
      <p:sp>
        <p:nvSpPr>
          <p:cNvPr id="32" name="Text 31"/>
          <p:cNvSpPr txBox="1"/>
          <p:nvPr/>
        </p:nvSpPr>
        <p:spPr>
          <a:xfrm>
            <a:off x="7941766" y="3697875"/>
            <a:ext cx="329138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المسؤول عن تطبيق الضابط وأدلته</a:t>
            </a:r>
          </a:p>
        </p:txBody>
      </p:sp>
      <p:sp>
        <p:nvSpPr>
          <p:cNvPr id="33" name="Box 32"/>
          <p:cNvSpPr/>
          <p:nvPr/>
        </p:nvSpPr>
        <p:spPr>
          <a:xfrm>
            <a:off x="4367808" y="3368477"/>
            <a:ext cx="3456484" cy="671116"/>
          </a:xfrm>
          <a:prstGeom prst="roundRect">
            <a:avLst>
              <a:gd name="adj" fmla="val 13122"/>
            </a:avLst>
          </a:prstGeom>
          <a:solidFill>
            <a:srgbClr val="FFFDF8"/>
          </a:solidFill>
          <a:ln w="6350">
            <a:solidFill>
              <a:srgbClr val="E1DBCD"/>
            </a:solidFill>
          </a:ln>
        </p:spPr>
        <p:txBody>
          <a:bodyPr rtlCol="0" anchor="ctr"/>
          <a:lstStyle/>
          <a:p>
            <a:pPr algn="ctr"/>
          </a:p>
        </p:txBody>
      </p:sp>
      <p:sp>
        <p:nvSpPr>
          <p:cNvPr id="34" name="Text 33"/>
          <p:cNvSpPr txBox="1"/>
          <p:nvPr/>
        </p:nvSpPr>
        <p:spPr>
          <a:xfrm>
            <a:off x="6608286" y="3455249"/>
            <a:ext cx="1073130"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ضابط تعويضي</a:t>
            </a:r>
          </a:p>
        </p:txBody>
      </p:sp>
      <p:sp>
        <p:nvSpPr>
          <p:cNvPr id="35" name="Text 34"/>
          <p:cNvSpPr txBox="1"/>
          <p:nvPr/>
        </p:nvSpPr>
        <p:spPr>
          <a:xfrm>
            <a:off x="4390033" y="3476046"/>
            <a:ext cx="1758355"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0E7C6B"/>
                </a:solidFill>
                <a:latin typeface="Readex Pro"/>
                <a:ea typeface="Readex Pro"/>
                <a:cs typeface="Readex Pro"/>
              </a:rPr>
              <a:t>Compensating Control</a:t>
            </a:r>
          </a:p>
        </p:txBody>
      </p:sp>
      <p:sp>
        <p:nvSpPr>
          <p:cNvPr id="36" name="Text 35"/>
          <p:cNvSpPr txBox="1"/>
          <p:nvPr/>
        </p:nvSpPr>
        <p:spPr>
          <a:xfrm>
            <a:off x="4390033" y="3697875"/>
            <a:ext cx="329138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بديل حين يتعذر الضابط الأصلي</a:t>
            </a:r>
          </a:p>
        </p:txBody>
      </p:sp>
      <p:sp>
        <p:nvSpPr>
          <p:cNvPr id="37" name="Box 36"/>
          <p:cNvSpPr/>
          <p:nvPr/>
        </p:nvSpPr>
        <p:spPr>
          <a:xfrm>
            <a:off x="816074" y="3368477"/>
            <a:ext cx="3456484" cy="671116"/>
          </a:xfrm>
          <a:prstGeom prst="roundRect">
            <a:avLst>
              <a:gd name="adj" fmla="val 13122"/>
            </a:avLst>
          </a:prstGeom>
          <a:solidFill>
            <a:srgbClr val="FFFDF8"/>
          </a:solidFill>
          <a:ln w="6350">
            <a:solidFill>
              <a:srgbClr val="E1DBCD"/>
            </a:solidFill>
          </a:ln>
        </p:spPr>
        <p:txBody>
          <a:bodyPr rtlCol="0" anchor="ctr"/>
          <a:lstStyle/>
          <a:p>
            <a:pPr algn="ctr"/>
          </a:p>
        </p:txBody>
      </p:sp>
      <p:sp>
        <p:nvSpPr>
          <p:cNvPr id="38" name="Text 37"/>
          <p:cNvSpPr txBox="1"/>
          <p:nvPr/>
        </p:nvSpPr>
        <p:spPr>
          <a:xfrm>
            <a:off x="3558897" y="3455249"/>
            <a:ext cx="570786"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استثناء</a:t>
            </a:r>
          </a:p>
        </p:txBody>
      </p:sp>
      <p:sp>
        <p:nvSpPr>
          <p:cNvPr id="39" name="Text 38"/>
          <p:cNvSpPr txBox="1"/>
          <p:nvPr/>
        </p:nvSpPr>
        <p:spPr>
          <a:xfrm>
            <a:off x="862397" y="3476046"/>
            <a:ext cx="1303449"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0E7C6B"/>
                </a:solidFill>
                <a:latin typeface="Readex Pro"/>
                <a:ea typeface="Readex Pro"/>
                <a:cs typeface="Readex Pro"/>
              </a:rPr>
              <a:t>Policy Exception</a:t>
            </a:r>
          </a:p>
        </p:txBody>
      </p:sp>
      <p:sp>
        <p:nvSpPr>
          <p:cNvPr id="40" name="Text 39"/>
          <p:cNvSpPr txBox="1"/>
          <p:nvPr/>
        </p:nvSpPr>
        <p:spPr>
          <a:xfrm>
            <a:off x="838299" y="3697875"/>
            <a:ext cx="329138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إعفاء موثق ومؤقت من متطلب</a:t>
            </a:r>
          </a:p>
        </p:txBody>
      </p:sp>
      <p:sp>
        <p:nvSpPr>
          <p:cNvPr id="41" name="Box 40"/>
          <p:cNvSpPr/>
          <p:nvPr/>
        </p:nvSpPr>
        <p:spPr>
          <a:xfrm>
            <a:off x="7919541" y="4134842"/>
            <a:ext cx="3456484" cy="671116"/>
          </a:xfrm>
          <a:prstGeom prst="roundRect">
            <a:avLst>
              <a:gd name="adj" fmla="val 13122"/>
            </a:avLst>
          </a:prstGeom>
          <a:solidFill>
            <a:srgbClr val="FFFDF8"/>
          </a:solidFill>
          <a:ln w="6350">
            <a:solidFill>
              <a:srgbClr val="E1DBCD"/>
            </a:solidFill>
          </a:ln>
        </p:spPr>
        <p:txBody>
          <a:bodyPr rtlCol="0" anchor="ctr"/>
          <a:lstStyle/>
          <a:p>
            <a:pPr algn="ctr"/>
          </a:p>
        </p:txBody>
      </p:sp>
      <p:sp>
        <p:nvSpPr>
          <p:cNvPr id="42" name="Text 41"/>
          <p:cNvSpPr txBox="1"/>
          <p:nvPr/>
        </p:nvSpPr>
        <p:spPr>
          <a:xfrm>
            <a:off x="10286325" y="4221615"/>
            <a:ext cx="946825"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فصل المهام</a:t>
            </a:r>
          </a:p>
        </p:txBody>
      </p:sp>
      <p:sp>
        <p:nvSpPr>
          <p:cNvPr id="43" name="Text 42"/>
          <p:cNvSpPr txBox="1"/>
          <p:nvPr/>
        </p:nvSpPr>
        <p:spPr>
          <a:xfrm>
            <a:off x="7970976" y="4242411"/>
            <a:ext cx="394355"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0E7C6B"/>
                </a:solidFill>
                <a:latin typeface="Readex Pro"/>
                <a:ea typeface="Readex Pro"/>
                <a:cs typeface="Readex Pro"/>
              </a:rPr>
              <a:t>SoD</a:t>
            </a:r>
          </a:p>
        </p:txBody>
      </p:sp>
      <p:sp>
        <p:nvSpPr>
          <p:cNvPr id="44" name="Text 43"/>
          <p:cNvSpPr txBox="1"/>
          <p:nvPr/>
        </p:nvSpPr>
        <p:spPr>
          <a:xfrm>
            <a:off x="7941766" y="4464240"/>
            <a:ext cx="329138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لا ينفذ شخص واحد العملية ويعتمدها</a:t>
            </a:r>
          </a:p>
        </p:txBody>
      </p:sp>
      <p:sp>
        <p:nvSpPr>
          <p:cNvPr id="45" name="Box 44"/>
          <p:cNvSpPr/>
          <p:nvPr/>
        </p:nvSpPr>
        <p:spPr>
          <a:xfrm>
            <a:off x="4367808" y="4134842"/>
            <a:ext cx="3456484" cy="671116"/>
          </a:xfrm>
          <a:prstGeom prst="roundRect">
            <a:avLst>
              <a:gd name="adj" fmla="val 13122"/>
            </a:avLst>
          </a:prstGeom>
          <a:solidFill>
            <a:srgbClr val="FFFDF8"/>
          </a:solidFill>
          <a:ln w="6350">
            <a:solidFill>
              <a:srgbClr val="E1DBCD"/>
            </a:solidFill>
          </a:ln>
        </p:spPr>
        <p:txBody>
          <a:bodyPr rtlCol="0" anchor="ctr"/>
          <a:lstStyle/>
          <a:p>
            <a:pPr algn="ctr"/>
          </a:p>
        </p:txBody>
      </p:sp>
      <p:sp>
        <p:nvSpPr>
          <p:cNvPr id="46" name="Text 45"/>
          <p:cNvSpPr txBox="1"/>
          <p:nvPr/>
        </p:nvSpPr>
        <p:spPr>
          <a:xfrm>
            <a:off x="6763068" y="4221615"/>
            <a:ext cx="918349"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أقل صلاحية</a:t>
            </a:r>
          </a:p>
        </p:txBody>
      </p:sp>
      <p:sp>
        <p:nvSpPr>
          <p:cNvPr id="47" name="Text 46"/>
          <p:cNvSpPr txBox="1"/>
          <p:nvPr/>
        </p:nvSpPr>
        <p:spPr>
          <a:xfrm>
            <a:off x="4419243" y="4242411"/>
            <a:ext cx="1168162"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0E7C6B"/>
                </a:solidFill>
                <a:latin typeface="Readex Pro"/>
                <a:ea typeface="Readex Pro"/>
                <a:cs typeface="Readex Pro"/>
              </a:rPr>
              <a:t>Least Privilege</a:t>
            </a:r>
          </a:p>
        </p:txBody>
      </p:sp>
      <p:sp>
        <p:nvSpPr>
          <p:cNvPr id="48" name="Text 47"/>
          <p:cNvSpPr txBox="1"/>
          <p:nvPr/>
        </p:nvSpPr>
        <p:spPr>
          <a:xfrm>
            <a:off x="4390033" y="4464240"/>
            <a:ext cx="329138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صلاحيات بقدر حاجة العمل فقط</a:t>
            </a:r>
          </a:p>
        </p:txBody>
      </p:sp>
      <p:sp>
        <p:nvSpPr>
          <p:cNvPr id="49" name="Box 48"/>
          <p:cNvSpPr/>
          <p:nvPr/>
        </p:nvSpPr>
        <p:spPr>
          <a:xfrm>
            <a:off x="816074" y="4134842"/>
            <a:ext cx="3456484" cy="671116"/>
          </a:xfrm>
          <a:prstGeom prst="roundRect">
            <a:avLst>
              <a:gd name="adj" fmla="val 13122"/>
            </a:avLst>
          </a:prstGeom>
          <a:solidFill>
            <a:srgbClr val="FFFDF8"/>
          </a:solidFill>
          <a:ln w="6350">
            <a:solidFill>
              <a:srgbClr val="E1DBCD"/>
            </a:solidFill>
          </a:ln>
        </p:spPr>
        <p:txBody>
          <a:bodyPr rtlCol="0" anchor="ctr"/>
          <a:lstStyle/>
          <a:p>
            <a:pPr algn="ctr"/>
          </a:p>
        </p:txBody>
      </p:sp>
      <p:sp>
        <p:nvSpPr>
          <p:cNvPr id="50" name="Text 49"/>
          <p:cNvSpPr txBox="1"/>
          <p:nvPr/>
        </p:nvSpPr>
        <p:spPr>
          <a:xfrm>
            <a:off x="3084433" y="4221615"/>
            <a:ext cx="1045250"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العناية الواجبة</a:t>
            </a:r>
          </a:p>
        </p:txBody>
      </p:sp>
      <p:sp>
        <p:nvSpPr>
          <p:cNvPr id="51" name="Text 50"/>
          <p:cNvSpPr txBox="1"/>
          <p:nvPr/>
        </p:nvSpPr>
        <p:spPr>
          <a:xfrm>
            <a:off x="867509" y="4242411"/>
            <a:ext cx="111637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0E7C6B"/>
                </a:solidFill>
                <a:latin typeface="Readex Pro"/>
                <a:ea typeface="Readex Pro"/>
                <a:cs typeface="Readex Pro"/>
              </a:rPr>
              <a:t>Due Diligence</a:t>
            </a:r>
          </a:p>
        </p:txBody>
      </p:sp>
      <p:sp>
        <p:nvSpPr>
          <p:cNvPr id="52" name="Text 51"/>
          <p:cNvSpPr txBox="1"/>
          <p:nvPr/>
        </p:nvSpPr>
        <p:spPr>
          <a:xfrm>
            <a:off x="838299" y="4464240"/>
            <a:ext cx="329138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التحقق من المورد أو الشريك قبل التعامل</a:t>
            </a:r>
          </a:p>
        </p:txBody>
      </p:sp>
      <p:sp>
        <p:nvSpPr>
          <p:cNvPr id="53" name="Text 52"/>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54" name="Text 53"/>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8924230" y="2016820"/>
            <a:ext cx="2454970"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04</a:t>
            </a:r>
          </a:p>
        </p:txBody>
      </p:sp>
      <p:sp>
        <p:nvSpPr>
          <p:cNvPr id="4" name="Text 3"/>
          <p:cNvSpPr txBox="1"/>
          <p:nvPr/>
        </p:nvSpPr>
        <p:spPr>
          <a:xfrm>
            <a:off x="5017452" y="2438285"/>
            <a:ext cx="4414778"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lang="ar-SA" altLang="en-US">
                <a:solidFill>
                  <a:srgbClr val="F3EFE6"/>
                </a:solidFill>
                <a:latin typeface="Readex Pro"/>
                <a:ea typeface="Readex Pro"/>
                <a:cs typeface="Readex Pro"/>
              </a:rPr>
              <a:t>الأطر والمعايير</a:t>
            </a:r>
          </a:p>
        </p:txBody>
      </p:sp>
      <p:sp>
        <p:nvSpPr>
          <p:cNvPr id="5" name="Text 4"/>
          <p:cNvSpPr txBox="1"/>
          <p:nvPr/>
        </p:nvSpPr>
        <p:spPr>
          <a:xfrm>
            <a:off x="101600" y="3335207"/>
            <a:ext cx="96012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lang="ar-SA" altLang="en-US">
                <a:solidFill>
                  <a:srgbClr val="D9E2E6"/>
                </a:solidFill>
                <a:latin typeface="IBM Plex Sans Arabic"/>
                <a:ea typeface="IBM Plex Sans Arabic"/>
                <a:cs typeface="IBM Plex Sans Arabic"/>
              </a:rPr>
              <a:t>لا تحتاج أن تحفظ كل الأطر. تحتاج أن تعرف ماذا يفعل كل إطار، ولمن هو، وبأيها تبدأ.</a:t>
            </a:r>
          </a:p>
        </p:txBody>
      </p:sp>
      <p:sp>
        <p:nvSpPr>
          <p:cNvPr id="6" name="Text box 5"/>
          <p:cNvSpPr/>
          <p:nvPr/>
        </p:nvSpPr>
        <p:spPr>
          <a:xfrm>
            <a:off x="8795345" y="3928170"/>
            <a:ext cx="1542455"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خريطة الأطر العالمية</a:t>
            </a:r>
          </a:p>
        </p:txBody>
      </p:sp>
      <p:sp>
        <p:nvSpPr>
          <p:cNvPr id="7" name="Text box 6"/>
          <p:cNvSpPr/>
          <p:nvPr/>
        </p:nvSpPr>
        <p:spPr>
          <a:xfrm>
            <a:off x="7249418" y="3928170"/>
            <a:ext cx="1444327"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a:lnSpc>
                <a:spcPts val="1820"/>
              </a:lnSpc>
              <a:spcBef>
                <a:spcPts val="0"/>
              </a:spcBef>
              <a:spcAft>
                <a:spcPts val="0"/>
              </a:spcAft>
            </a:pPr>
            <a:r>
              <a:rPr sz="1300" b="0" i="0">
                <a:solidFill>
                  <a:srgbClr val="F3EFE6"/>
                </a:solidFill>
                <a:latin typeface="IBM Plex Sans Arabic"/>
                <a:ea typeface="IBM Plex Sans Arabic"/>
                <a:cs typeface="IBM Plex Sans Arabic"/>
              </a:rPr>
              <a:t>ISO/IEC 27001</a:t>
            </a:r>
          </a:p>
        </p:txBody>
      </p:sp>
      <p:sp>
        <p:nvSpPr>
          <p:cNvPr id="8" name="Text box 7"/>
          <p:cNvSpPr/>
          <p:nvPr/>
        </p:nvSpPr>
        <p:spPr>
          <a:xfrm>
            <a:off x="5860256" y="3928170"/>
            <a:ext cx="1287562"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a:lnSpc>
                <a:spcPts val="1820"/>
              </a:lnSpc>
              <a:spcBef>
                <a:spcPts val="0"/>
              </a:spcBef>
              <a:spcAft>
                <a:spcPts val="0"/>
              </a:spcAft>
            </a:pPr>
            <a:r>
              <a:rPr sz="1300" b="0" i="0">
                <a:solidFill>
                  <a:srgbClr val="F3EFE6"/>
                </a:solidFill>
                <a:latin typeface="IBM Plex Sans Arabic"/>
                <a:ea typeface="IBM Plex Sans Arabic"/>
                <a:cs typeface="IBM Plex Sans Arabic"/>
              </a:rPr>
              <a:t>NIST CSF 2.0</a:t>
            </a:r>
          </a:p>
        </p:txBody>
      </p:sp>
      <p:sp>
        <p:nvSpPr>
          <p:cNvPr id="9" name="Text box 8"/>
          <p:cNvSpPr/>
          <p:nvPr/>
        </p:nvSpPr>
        <p:spPr>
          <a:xfrm>
            <a:off x="4558308" y="3928170"/>
            <a:ext cx="1200348"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الأطر السعودية</a:t>
            </a:r>
          </a:p>
        </p:txBody>
      </p:sp>
      <p:sp>
        <p:nvSpPr>
          <p:cNvPr id="10" name="Text box 9"/>
          <p:cNvSpPr/>
          <p:nvPr/>
        </p:nvSpPr>
        <p:spPr>
          <a:xfrm>
            <a:off x="3333452" y="3928170"/>
            <a:ext cx="1123255"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بأي إطار تبدأ؟</a:t>
            </a:r>
          </a:p>
        </p:txBody>
      </p:sp>
      <p:sp>
        <p:nvSpPr>
          <p:cNvPr id="11" name="Text box 10"/>
          <p:cNvSpPr/>
          <p:nvPr/>
        </p:nvSpPr>
        <p:spPr>
          <a:xfrm>
            <a:off x="2142927" y="3928170"/>
            <a:ext cx="1088926"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أنواع المراجع</a:t>
            </a:r>
          </a:p>
        </p:txBody>
      </p:sp>
      <p:sp>
        <p:nvSpPr>
          <p:cNvPr id="12" name="Text box 11"/>
          <p:cNvSpPr/>
          <p:nvPr/>
        </p:nvSpPr>
        <p:spPr>
          <a:xfrm>
            <a:off x="8977114" y="4387850"/>
            <a:ext cx="1360686"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CSF مقابل RMF</a:t>
            </a:r>
          </a:p>
        </p:txBody>
      </p:sp>
      <p:sp>
        <p:nvSpPr>
          <p:cNvPr id="13" name="Text box 12"/>
          <p:cNvSpPr/>
          <p:nvPr/>
        </p:nvSpPr>
        <p:spPr>
          <a:xfrm>
            <a:off x="7184827" y="4387850"/>
            <a:ext cx="1690688" cy="358080"/>
          </a:xfrm>
          <a:prstGeom prst="roundRect">
            <a:avLst>
              <a:gd name="adj" fmla="val 50000"/>
            </a:avLst>
          </a:prstGeom>
          <a:solidFill>
            <a:srgbClr val="22344A"/>
          </a:solidFill>
          <a:ln>
            <a:noFill/>
          </a:ln>
        </p:spPr>
        <p:txBody>
          <a:bodyPr rtlCol="0" anchor="ctr" wrap="square" tIns="0" rIns="99961" bIns="51181" lIns="0"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مراجع القطاع والبيانات</a:t>
            </a:r>
          </a:p>
        </p:txBody>
      </p:sp>
      <p:sp>
        <p:nvSpPr>
          <p:cNvPr id="14" name="Text box 13"/>
          <p:cNvSpPr/>
          <p:nvPr/>
        </p:nvSpPr>
        <p:spPr>
          <a:xfrm>
            <a:off x="5875933" y="4387850"/>
            <a:ext cx="1207294"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مراجع للتعريف</a:t>
            </a:r>
          </a:p>
        </p:txBody>
      </p:sp>
      <p:sp>
        <p:nvSpPr>
          <p:cNvPr id="15" name="Text box 14"/>
          <p:cNvSpPr/>
          <p:nvPr/>
        </p:nvSpPr>
        <p:spPr>
          <a:xfrm>
            <a:off x="4967883" y="4387850"/>
            <a:ext cx="806450"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المواءمة</a:t>
            </a:r>
          </a:p>
        </p:txBody>
      </p:sp>
      <p:sp>
        <p:nvSpPr>
          <p:cNvPr id="16" name="Text 15"/>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93A3B1"/>
                </a:solidFill>
                <a:latin typeface="IBM Plex Sans Arabic"/>
                <a:ea typeface="IBM Plex Sans Arabic"/>
                <a:cs typeface="IBM Plex Sans Arabic"/>
              </a:rPr>
              <a:t>كيف تبدأ في GRC · الوحدة 04</a:t>
            </a:r>
          </a:p>
        </p:txBody>
      </p:sp>
      <p:sp>
        <p:nvSpPr>
          <p:cNvPr id="17" name="Text 16"/>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36100" y="609600"/>
            <a:ext cx="194310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04 · الأطر والمعايير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نظام، وضوابط، وإطار، ومعيار، وضابط: ما الفرق؟</a:t>
            </a:r>
          </a:p>
        </p:txBody>
      </p:sp>
      <p:graphicFrame>
        <p:nvGraphicFramePr>
          <p:cNvPr id="5" name="Table 4"/>
          <p:cNvGraphicFramePr>
            <a:graphicFrameLocks noGrp="1"/>
          </p:cNvGraphicFramePr>
          <p:nvPr/>
        </p:nvGraphicFramePr>
        <p:xfrm>
          <a:off x="815975" y="1661120"/>
          <a:ext cx="10560050" cy="3232944"/>
        </p:xfrm>
        <a:graphic>
          <a:graphicData uri="http://schemas.openxmlformats.org/drawingml/2006/table">
            <a:tbl>
              <a:tblPr firstRow="0" bandRow="0" lastRow="0" firstCol="0" lastCol="0" bandCol="0">
                <a:tableStyleId>{2D5ABB26-0587-4C30-8999-92F81FD0307C}</a:tableStyleId>
              </a:tblPr>
              <a:tblGrid>
                <a:gridCol w="3168015"/>
                <a:gridCol w="4646295"/>
                <a:gridCol w="2745740"/>
              </a:tblGrid>
              <a:tr h="422672">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مثال</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هل هو ملزم؟ وما هو؟</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النوع</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2267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نظام حماية البيانات الشخصية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ملزم بقوة القانون لمن يقع في نطاقه</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نظام أو تشريع</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ECC-⁠‎2:2024‎ للجهات المشمولة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ملزمة للجهات التي يحددها نطاقها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ضوابط تنظيمية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NIST CSF 2.0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يرشد ويرتب العمل، وغالباً طوعي</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إطار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ISO/IEC 27001</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طوعي، تُمنح عليه شهادة من جهة مانحة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معيار قابل للشهادة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PCI DSS عبر العقود مع شبكات البطاقات</a:t>
                      </a:r>
                    </a:p>
                  </a:txBody>
                  <a:tcPr marT="85649" marR="121920" marB="56591" marL="3419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ملزم بالعقد لا بالقانون</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التزام تعاقدي</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MFA للدخول عن بعد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إجراء أو إعداد محدد يحقق متطلباً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ضابط</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Box 5"/>
          <p:cNvSpPr/>
          <p:nvPr/>
        </p:nvSpPr>
        <p:spPr>
          <a:xfrm>
            <a:off x="812800" y="5087739"/>
            <a:ext cx="10566400" cy="538460"/>
          </a:xfrm>
          <a:prstGeom prst="roundRect">
            <a:avLst>
              <a:gd name="adj" fmla="val 18868"/>
            </a:avLst>
          </a:prstGeom>
          <a:solidFill>
            <a:srgbClr val="172433"/>
          </a:solidFill>
          <a:ln>
            <a:noFill/>
          </a:ln>
        </p:spPr>
        <p:txBody>
          <a:bodyPr rtlCol="0" anchor="ctr"/>
          <a:lstStyle/>
          <a:p>
            <a:pPr algn="ctr"/>
          </a:p>
        </p:txBody>
      </p:sp>
      <p:pic>
        <p:nvPicPr>
          <p:cNvPr id="7" name="Icon Lightbulb 6" descr="icon031.png"/>
          <p:cNvPicPr>
            <a:picLocks noChangeAspect="1"/>
          </p:cNvPicPr>
          <p:nvPr/>
        </p:nvPicPr>
        <p:blipFill>
          <a:blip r:embed="rId2"/>
          <a:stretch>
            <a:fillRect/>
          </a:stretch>
        </p:blipFill>
        <p:spPr>
          <a:xfrm>
            <a:off x="10985500" y="5248970"/>
            <a:ext cx="215900" cy="215900"/>
          </a:xfrm>
          <a:prstGeom prst="rect">
            <a:avLst/>
          </a:prstGeom>
        </p:spPr>
      </p:pic>
      <p:sp>
        <p:nvSpPr>
          <p:cNvPr id="8" name="Text 7"/>
          <p:cNvSpPr txBox="1"/>
          <p:nvPr/>
        </p:nvSpPr>
        <p:spPr>
          <a:xfrm>
            <a:off x="838200" y="5183243"/>
            <a:ext cx="10033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lang="ar-SA" altLang="en-US">
                <a:solidFill>
                  <a:srgbClr val="F3EFE6"/>
                </a:solidFill>
                <a:latin typeface="IBM Plex Sans Arabic"/>
                <a:ea typeface="IBM Plex Sans Arabic"/>
                <a:cs typeface="IBM Plex Sans Arabic"/>
              </a:rPr>
              <a:t>السؤال الأول دائماً: هل هذا المرجع ملزم لهذه الجهة تحديداً، أم اختارته طوعاً؟</a:t>
            </a:r>
          </a:p>
        </p:txBody>
      </p:sp>
      <p:sp>
        <p:nvSpPr>
          <p:cNvPr id="9" name="Text 8"/>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04 · الأطر والمعايير</a:t>
            </a:r>
          </a:p>
        </p:txBody>
      </p:sp>
      <p:sp>
        <p:nvSpPr>
          <p:cNvPr id="10" name="Text 9"/>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52</a:t>
            </a:r>
          </a:p>
        </p:txBody>
      </p:sp>
    </p:spTree>
  </p:cSld>
  <p:clrMapOvr>
    <a:masterClrMapping/>
  </p:clrMapOvr>
  <p:transition spd="med">
    <p:fade/>
  </p:transition>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565977" y="812800"/>
            <a:ext cx="1813223"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04 · الأطر والمعايير</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خريطة الأطر العالمية: كل إطار يجيب عن سؤال</a:t>
            </a:r>
          </a:p>
        </p:txBody>
      </p:sp>
      <p:sp>
        <p:nvSpPr>
          <p:cNvPr id="5" name="Box 4"/>
          <p:cNvSpPr/>
          <p:nvPr/>
        </p:nvSpPr>
        <p:spPr>
          <a:xfrm>
            <a:off x="8832850" y="1857970"/>
            <a:ext cx="2546350" cy="2515592"/>
          </a:xfrm>
          <a:prstGeom prst="roundRect">
            <a:avLst>
              <a:gd name="adj" fmla="val 4038"/>
            </a:avLst>
          </a:prstGeom>
          <a:solidFill>
            <a:srgbClr val="FFFDF8"/>
          </a:solidFill>
          <a:ln>
            <a:noFill/>
          </a:ln>
        </p:spPr>
        <p:txBody>
          <a:bodyPr rtlCol="0" anchor="ctr"/>
          <a:lstStyle/>
          <a:p>
            <a:pPr algn="ctr"/>
          </a:p>
        </p:txBody>
      </p:sp>
      <p:sp>
        <p:nvSpPr>
          <p:cNvPr id="6" name="Rule 5"/>
          <p:cNvSpPr/>
          <p:nvPr/>
        </p:nvSpPr>
        <p:spPr>
          <a:xfrm>
            <a:off x="8832850" y="1857970"/>
            <a:ext cx="2546350" cy="50800"/>
          </a:xfrm>
          <a:prstGeom prst="rect">
            <a:avLst/>
          </a:prstGeom>
          <a:solidFill>
            <a:srgbClr val="0E7C6B"/>
          </a:solidFill>
          <a:ln>
            <a:noFill/>
          </a:ln>
        </p:spPr>
        <p:txBody>
          <a:bodyPr rtlCol="0" anchor="ctr"/>
          <a:lstStyle/>
          <a:p>
            <a:pPr algn="ctr"/>
          </a:p>
        </p:txBody>
      </p:sp>
      <p:sp>
        <p:nvSpPr>
          <p:cNvPr id="7" name="Rule 6"/>
          <p:cNvSpPr/>
          <p:nvPr/>
        </p:nvSpPr>
        <p:spPr>
          <a:xfrm>
            <a:off x="11372850" y="1857970"/>
            <a:ext cx="6350" cy="2515592"/>
          </a:xfrm>
          <a:prstGeom prst="rect">
            <a:avLst/>
          </a:prstGeom>
          <a:solidFill>
            <a:srgbClr val="E1DBCD"/>
          </a:solidFill>
          <a:ln>
            <a:noFill/>
          </a:ln>
        </p:spPr>
        <p:txBody>
          <a:bodyPr rtlCol="0" anchor="ctr"/>
          <a:lstStyle/>
          <a:p>
            <a:pPr algn="ctr"/>
          </a:p>
        </p:txBody>
      </p:sp>
      <p:sp>
        <p:nvSpPr>
          <p:cNvPr id="8" name="Rule 7"/>
          <p:cNvSpPr/>
          <p:nvPr/>
        </p:nvSpPr>
        <p:spPr>
          <a:xfrm>
            <a:off x="8832850" y="4367212"/>
            <a:ext cx="2546350" cy="6350"/>
          </a:xfrm>
          <a:prstGeom prst="rect">
            <a:avLst/>
          </a:prstGeom>
          <a:solidFill>
            <a:srgbClr val="E1DBCD"/>
          </a:solidFill>
          <a:ln>
            <a:noFill/>
          </a:ln>
        </p:spPr>
        <p:txBody>
          <a:bodyPr rtlCol="0" anchor="ctr"/>
          <a:lstStyle/>
          <a:p>
            <a:pPr algn="ctr"/>
          </a:p>
        </p:txBody>
      </p:sp>
      <p:sp>
        <p:nvSpPr>
          <p:cNvPr id="9" name="Rule 8"/>
          <p:cNvSpPr/>
          <p:nvPr/>
        </p:nvSpPr>
        <p:spPr>
          <a:xfrm>
            <a:off x="8832850" y="1857970"/>
            <a:ext cx="6350" cy="2515592"/>
          </a:xfrm>
          <a:prstGeom prst="rect">
            <a:avLst/>
          </a:prstGeom>
          <a:solidFill>
            <a:srgbClr val="E1DBCD"/>
          </a:solidFill>
          <a:ln>
            <a:noFill/>
          </a:ln>
        </p:spPr>
        <p:txBody>
          <a:bodyPr rtlCol="0" anchor="ctr"/>
          <a:lstStyle/>
          <a:p>
            <a:pPr algn="ctr"/>
          </a:p>
        </p:txBody>
      </p:sp>
      <p:sp>
        <p:nvSpPr>
          <p:cNvPr id="10" name="Text 9"/>
          <p:cNvSpPr txBox="1"/>
          <p:nvPr/>
        </p:nvSpPr>
        <p:spPr>
          <a:xfrm>
            <a:off x="8858250" y="2049613"/>
            <a:ext cx="236220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0E7C6B"/>
                </a:solidFill>
                <a:latin typeface="Readex Pro"/>
                <a:ea typeface="Readex Pro"/>
                <a:cs typeface="Readex Pro"/>
              </a:rPr>
              <a:t>نظام إدارة يُمنح شهادة</a:t>
            </a:r>
          </a:p>
        </p:txBody>
      </p:sp>
      <p:sp>
        <p:nvSpPr>
          <p:cNvPr id="11" name="Text 10"/>
          <p:cNvSpPr txBox="1"/>
          <p:nvPr/>
        </p:nvSpPr>
        <p:spPr>
          <a:xfrm>
            <a:off x="8858250" y="2344829"/>
            <a:ext cx="23622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كيف ندير الأمن بشكل مستمر؟</a:t>
            </a:r>
          </a:p>
        </p:txBody>
      </p:sp>
      <p:sp>
        <p:nvSpPr>
          <p:cNvPr id="12" name="Rule 11"/>
          <p:cNvSpPr/>
          <p:nvPr/>
        </p:nvSpPr>
        <p:spPr>
          <a:xfrm>
            <a:off x="8991600" y="2657971"/>
            <a:ext cx="2228850" cy="6350"/>
          </a:xfrm>
          <a:prstGeom prst="rect">
            <a:avLst/>
          </a:prstGeom>
          <a:solidFill>
            <a:srgbClr val="E1DBCD"/>
          </a:solidFill>
          <a:ln>
            <a:noFill/>
          </a:ln>
        </p:spPr>
        <p:txBody>
          <a:bodyPr rtlCol="0" anchor="ctr"/>
          <a:lstStyle/>
          <a:p>
            <a:pPr algn="ctr"/>
          </a:p>
        </p:txBody>
      </p:sp>
      <p:sp>
        <p:nvSpPr>
          <p:cNvPr id="13" name="Text 12"/>
          <p:cNvSpPr txBox="1"/>
          <p:nvPr/>
        </p:nvSpPr>
        <p:spPr>
          <a:xfrm>
            <a:off x="8991600" y="2729790"/>
            <a:ext cx="222885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ISO/IEC 27001</a:t>
            </a:r>
          </a:p>
        </p:txBody>
      </p:sp>
      <p:sp>
        <p:nvSpPr>
          <p:cNvPr id="14" name="Text 13"/>
          <p:cNvSpPr txBox="1"/>
          <p:nvPr/>
        </p:nvSpPr>
        <p:spPr>
          <a:xfrm>
            <a:off x="8991600" y="2944209"/>
            <a:ext cx="22288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أمن المعلومات</a:t>
            </a:r>
          </a:p>
        </p:txBody>
      </p:sp>
      <p:sp>
        <p:nvSpPr>
          <p:cNvPr id="15" name="Text 14"/>
          <p:cNvSpPr txBox="1"/>
          <p:nvPr/>
        </p:nvSpPr>
        <p:spPr>
          <a:xfrm>
            <a:off x="8858250" y="3246620"/>
            <a:ext cx="236220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ISO 22301</a:t>
            </a:r>
          </a:p>
        </p:txBody>
      </p:sp>
      <p:sp>
        <p:nvSpPr>
          <p:cNvPr id="16" name="Text 15"/>
          <p:cNvSpPr txBox="1"/>
          <p:nvPr/>
        </p:nvSpPr>
        <p:spPr>
          <a:xfrm>
            <a:off x="8858250" y="3461040"/>
            <a:ext cx="23622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استمرارية الأعمال</a:t>
            </a:r>
          </a:p>
        </p:txBody>
      </p:sp>
      <p:sp>
        <p:nvSpPr>
          <p:cNvPr id="17" name="Text 16"/>
          <p:cNvSpPr txBox="1"/>
          <p:nvPr/>
        </p:nvSpPr>
        <p:spPr>
          <a:xfrm>
            <a:off x="8858250" y="3763451"/>
            <a:ext cx="236220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ISO/IEC 27701</a:t>
            </a:r>
          </a:p>
        </p:txBody>
      </p:sp>
      <p:sp>
        <p:nvSpPr>
          <p:cNvPr id="18" name="Text 17"/>
          <p:cNvSpPr txBox="1"/>
          <p:nvPr/>
        </p:nvSpPr>
        <p:spPr>
          <a:xfrm>
            <a:off x="8858250" y="3977870"/>
            <a:ext cx="23622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إدارة الخصوصية</a:t>
            </a:r>
          </a:p>
        </p:txBody>
      </p:sp>
      <p:sp>
        <p:nvSpPr>
          <p:cNvPr id="19" name="Box 18"/>
          <p:cNvSpPr/>
          <p:nvPr/>
        </p:nvSpPr>
        <p:spPr>
          <a:xfrm>
            <a:off x="6159500" y="1857970"/>
            <a:ext cx="2546350" cy="2515592"/>
          </a:xfrm>
          <a:prstGeom prst="roundRect">
            <a:avLst>
              <a:gd name="adj" fmla="val 4038"/>
            </a:avLst>
          </a:prstGeom>
          <a:solidFill>
            <a:srgbClr val="FFFDF8"/>
          </a:solidFill>
          <a:ln>
            <a:noFill/>
          </a:ln>
        </p:spPr>
        <p:txBody>
          <a:bodyPr rtlCol="0" anchor="ctr"/>
          <a:lstStyle/>
          <a:p>
            <a:pPr algn="ctr"/>
          </a:p>
        </p:txBody>
      </p:sp>
      <p:sp>
        <p:nvSpPr>
          <p:cNvPr id="20" name="Rule 19"/>
          <p:cNvSpPr/>
          <p:nvPr/>
        </p:nvSpPr>
        <p:spPr>
          <a:xfrm>
            <a:off x="6159500" y="1857970"/>
            <a:ext cx="2546350" cy="50800"/>
          </a:xfrm>
          <a:prstGeom prst="rect">
            <a:avLst/>
          </a:prstGeom>
          <a:solidFill>
            <a:srgbClr val="3E6FA8"/>
          </a:solidFill>
          <a:ln>
            <a:noFill/>
          </a:ln>
        </p:spPr>
        <p:txBody>
          <a:bodyPr rtlCol="0" anchor="ctr"/>
          <a:lstStyle/>
          <a:p>
            <a:pPr algn="ctr"/>
          </a:p>
        </p:txBody>
      </p:sp>
      <p:sp>
        <p:nvSpPr>
          <p:cNvPr id="21" name="Rule 20"/>
          <p:cNvSpPr/>
          <p:nvPr/>
        </p:nvSpPr>
        <p:spPr>
          <a:xfrm>
            <a:off x="8699500" y="1857970"/>
            <a:ext cx="6350" cy="2515592"/>
          </a:xfrm>
          <a:prstGeom prst="rect">
            <a:avLst/>
          </a:prstGeom>
          <a:solidFill>
            <a:srgbClr val="E1DBCD"/>
          </a:solidFill>
          <a:ln>
            <a:noFill/>
          </a:ln>
        </p:spPr>
        <p:txBody>
          <a:bodyPr rtlCol="0" anchor="ctr"/>
          <a:lstStyle/>
          <a:p>
            <a:pPr algn="ctr"/>
          </a:p>
        </p:txBody>
      </p:sp>
      <p:sp>
        <p:nvSpPr>
          <p:cNvPr id="22" name="Rule 21"/>
          <p:cNvSpPr/>
          <p:nvPr/>
        </p:nvSpPr>
        <p:spPr>
          <a:xfrm>
            <a:off x="6159500" y="4367212"/>
            <a:ext cx="2546350" cy="6350"/>
          </a:xfrm>
          <a:prstGeom prst="rect">
            <a:avLst/>
          </a:prstGeom>
          <a:solidFill>
            <a:srgbClr val="E1DBCD"/>
          </a:solidFill>
          <a:ln>
            <a:noFill/>
          </a:ln>
        </p:spPr>
        <p:txBody>
          <a:bodyPr rtlCol="0" anchor="ctr"/>
          <a:lstStyle/>
          <a:p>
            <a:pPr algn="ctr"/>
          </a:p>
        </p:txBody>
      </p:sp>
      <p:sp>
        <p:nvSpPr>
          <p:cNvPr id="23" name="Rule 22"/>
          <p:cNvSpPr/>
          <p:nvPr/>
        </p:nvSpPr>
        <p:spPr>
          <a:xfrm>
            <a:off x="6159500" y="1857970"/>
            <a:ext cx="6350" cy="2515592"/>
          </a:xfrm>
          <a:prstGeom prst="rect">
            <a:avLst/>
          </a:prstGeom>
          <a:solidFill>
            <a:srgbClr val="E1DBCD"/>
          </a:solidFill>
          <a:ln>
            <a:noFill/>
          </a:ln>
        </p:spPr>
        <p:txBody>
          <a:bodyPr rtlCol="0" anchor="ctr"/>
          <a:lstStyle/>
          <a:p>
            <a:pPr algn="ctr"/>
          </a:p>
        </p:txBody>
      </p:sp>
      <p:sp>
        <p:nvSpPr>
          <p:cNvPr id="24" name="Text 23"/>
          <p:cNvSpPr txBox="1"/>
          <p:nvPr/>
        </p:nvSpPr>
        <p:spPr>
          <a:xfrm>
            <a:off x="6184900" y="2049613"/>
            <a:ext cx="236220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2F5C92"/>
                </a:solidFill>
                <a:latin typeface="Readex Pro"/>
                <a:ea typeface="Readex Pro"/>
                <a:cs typeface="Readex Pro"/>
              </a:rPr>
              <a:t>أطر مخاطر وضوابط</a:t>
            </a:r>
          </a:p>
        </p:txBody>
      </p:sp>
      <p:sp>
        <p:nvSpPr>
          <p:cNvPr id="25" name="Text 24"/>
          <p:cNvSpPr txBox="1"/>
          <p:nvPr/>
        </p:nvSpPr>
        <p:spPr>
          <a:xfrm>
            <a:off x="6184900" y="2344829"/>
            <a:ext cx="23622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ماذا نطبق، وبأي ترتيب؟</a:t>
            </a:r>
          </a:p>
        </p:txBody>
      </p:sp>
      <p:sp>
        <p:nvSpPr>
          <p:cNvPr id="26" name="Rule 25"/>
          <p:cNvSpPr/>
          <p:nvPr/>
        </p:nvSpPr>
        <p:spPr>
          <a:xfrm>
            <a:off x="6318250" y="2657971"/>
            <a:ext cx="2228850" cy="6350"/>
          </a:xfrm>
          <a:prstGeom prst="rect">
            <a:avLst/>
          </a:prstGeom>
          <a:solidFill>
            <a:srgbClr val="E1DBCD"/>
          </a:solidFill>
          <a:ln>
            <a:noFill/>
          </a:ln>
        </p:spPr>
        <p:txBody>
          <a:bodyPr rtlCol="0" anchor="ctr"/>
          <a:lstStyle/>
          <a:p>
            <a:pPr algn="ctr"/>
          </a:p>
        </p:txBody>
      </p:sp>
      <p:sp>
        <p:nvSpPr>
          <p:cNvPr id="27" name="Text 26"/>
          <p:cNvSpPr txBox="1"/>
          <p:nvPr/>
        </p:nvSpPr>
        <p:spPr>
          <a:xfrm>
            <a:off x="6318250" y="2729790"/>
            <a:ext cx="222885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NIST CSF 2.0</a:t>
            </a:r>
          </a:p>
        </p:txBody>
      </p:sp>
      <p:sp>
        <p:nvSpPr>
          <p:cNvPr id="28" name="Text 27"/>
          <p:cNvSpPr txBox="1"/>
          <p:nvPr/>
        </p:nvSpPr>
        <p:spPr>
          <a:xfrm>
            <a:off x="6318250" y="2944209"/>
            <a:ext cx="22288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لغة مشتركة لإدارة المخاطر</a:t>
            </a:r>
          </a:p>
        </p:txBody>
      </p:sp>
      <p:sp>
        <p:nvSpPr>
          <p:cNvPr id="29" name="Text 28"/>
          <p:cNvSpPr txBox="1"/>
          <p:nvPr/>
        </p:nvSpPr>
        <p:spPr>
          <a:xfrm>
            <a:off x="6184900" y="3246620"/>
            <a:ext cx="236220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NIST SP 800-53</a:t>
            </a:r>
          </a:p>
        </p:txBody>
      </p:sp>
      <p:sp>
        <p:nvSpPr>
          <p:cNvPr id="30" name="Text 29"/>
          <p:cNvSpPr txBox="1"/>
          <p:nvPr/>
        </p:nvSpPr>
        <p:spPr>
          <a:xfrm>
            <a:off x="6184900" y="3461040"/>
            <a:ext cx="23622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كتالوج ضوابط تفصيلي</a:t>
            </a:r>
          </a:p>
        </p:txBody>
      </p:sp>
      <p:sp>
        <p:nvSpPr>
          <p:cNvPr id="31" name="Text 30"/>
          <p:cNvSpPr txBox="1"/>
          <p:nvPr/>
        </p:nvSpPr>
        <p:spPr>
          <a:xfrm>
            <a:off x="6184900" y="3763451"/>
            <a:ext cx="236220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CIS Controls</a:t>
            </a:r>
          </a:p>
        </p:txBody>
      </p:sp>
      <p:sp>
        <p:nvSpPr>
          <p:cNvPr id="32" name="Text 31"/>
          <p:cNvSpPr txBox="1"/>
          <p:nvPr/>
        </p:nvSpPr>
        <p:spPr>
          <a:xfrm>
            <a:off x="6184900" y="3977870"/>
            <a:ext cx="23622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18 ضابطاً مرتبة بالأولوية</a:t>
            </a:r>
          </a:p>
        </p:txBody>
      </p:sp>
      <p:sp>
        <p:nvSpPr>
          <p:cNvPr id="33" name="Box 32"/>
          <p:cNvSpPr/>
          <p:nvPr/>
        </p:nvSpPr>
        <p:spPr>
          <a:xfrm>
            <a:off x="3486150" y="1857970"/>
            <a:ext cx="2546350" cy="2515592"/>
          </a:xfrm>
          <a:prstGeom prst="roundRect">
            <a:avLst>
              <a:gd name="adj" fmla="val 4038"/>
            </a:avLst>
          </a:prstGeom>
          <a:solidFill>
            <a:srgbClr val="FFFDF8"/>
          </a:solidFill>
          <a:ln>
            <a:noFill/>
          </a:ln>
        </p:spPr>
        <p:txBody>
          <a:bodyPr rtlCol="0" anchor="ctr"/>
          <a:lstStyle/>
          <a:p>
            <a:pPr algn="ctr"/>
          </a:p>
        </p:txBody>
      </p:sp>
      <p:sp>
        <p:nvSpPr>
          <p:cNvPr id="34" name="Rule 33"/>
          <p:cNvSpPr/>
          <p:nvPr/>
        </p:nvSpPr>
        <p:spPr>
          <a:xfrm>
            <a:off x="3486150" y="1857970"/>
            <a:ext cx="2546350" cy="50800"/>
          </a:xfrm>
          <a:prstGeom prst="rect">
            <a:avLst/>
          </a:prstGeom>
          <a:solidFill>
            <a:srgbClr val="6B4E9B"/>
          </a:solidFill>
          <a:ln>
            <a:noFill/>
          </a:ln>
        </p:spPr>
        <p:txBody>
          <a:bodyPr rtlCol="0" anchor="ctr"/>
          <a:lstStyle/>
          <a:p>
            <a:pPr algn="ctr"/>
          </a:p>
        </p:txBody>
      </p:sp>
      <p:sp>
        <p:nvSpPr>
          <p:cNvPr id="35" name="Rule 34"/>
          <p:cNvSpPr/>
          <p:nvPr/>
        </p:nvSpPr>
        <p:spPr>
          <a:xfrm>
            <a:off x="6026150" y="1857970"/>
            <a:ext cx="6350" cy="2515592"/>
          </a:xfrm>
          <a:prstGeom prst="rect">
            <a:avLst/>
          </a:prstGeom>
          <a:solidFill>
            <a:srgbClr val="E1DBCD"/>
          </a:solidFill>
          <a:ln>
            <a:noFill/>
          </a:ln>
        </p:spPr>
        <p:txBody>
          <a:bodyPr rtlCol="0" anchor="ctr"/>
          <a:lstStyle/>
          <a:p>
            <a:pPr algn="ctr"/>
          </a:p>
        </p:txBody>
      </p:sp>
      <p:sp>
        <p:nvSpPr>
          <p:cNvPr id="36" name="Rule 35"/>
          <p:cNvSpPr/>
          <p:nvPr/>
        </p:nvSpPr>
        <p:spPr>
          <a:xfrm>
            <a:off x="3486150" y="4367212"/>
            <a:ext cx="2546350" cy="6350"/>
          </a:xfrm>
          <a:prstGeom prst="rect">
            <a:avLst/>
          </a:prstGeom>
          <a:solidFill>
            <a:srgbClr val="E1DBCD"/>
          </a:solidFill>
          <a:ln>
            <a:noFill/>
          </a:ln>
        </p:spPr>
        <p:txBody>
          <a:bodyPr rtlCol="0" anchor="ctr"/>
          <a:lstStyle/>
          <a:p>
            <a:pPr algn="ctr"/>
          </a:p>
        </p:txBody>
      </p:sp>
      <p:sp>
        <p:nvSpPr>
          <p:cNvPr id="37" name="Rule 36"/>
          <p:cNvSpPr/>
          <p:nvPr/>
        </p:nvSpPr>
        <p:spPr>
          <a:xfrm>
            <a:off x="3486150" y="1857970"/>
            <a:ext cx="6350" cy="2515592"/>
          </a:xfrm>
          <a:prstGeom prst="rect">
            <a:avLst/>
          </a:prstGeom>
          <a:solidFill>
            <a:srgbClr val="E1DBCD"/>
          </a:solidFill>
          <a:ln>
            <a:noFill/>
          </a:ln>
        </p:spPr>
        <p:txBody>
          <a:bodyPr rtlCol="0" anchor="ctr"/>
          <a:lstStyle/>
          <a:p>
            <a:pPr algn="ctr"/>
          </a:p>
        </p:txBody>
      </p:sp>
      <p:sp>
        <p:nvSpPr>
          <p:cNvPr id="38" name="Text 37"/>
          <p:cNvSpPr txBox="1"/>
          <p:nvPr/>
        </p:nvSpPr>
        <p:spPr>
          <a:xfrm>
            <a:off x="3511550" y="2049613"/>
            <a:ext cx="236220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5A3F87"/>
                </a:solidFill>
                <a:latin typeface="Readex Pro"/>
                <a:ea typeface="Readex Pro"/>
                <a:cs typeface="Readex Pro"/>
              </a:rPr>
              <a:t>حوكمة التقنية</a:t>
            </a:r>
          </a:p>
        </p:txBody>
      </p:sp>
      <p:sp>
        <p:nvSpPr>
          <p:cNvPr id="39" name="Text 38"/>
          <p:cNvSpPr txBox="1"/>
          <p:nvPr/>
        </p:nvSpPr>
        <p:spPr>
          <a:xfrm>
            <a:off x="3511550" y="2344829"/>
            <a:ext cx="23622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هل تخدم التقنية أهداف الجهة؟</a:t>
            </a:r>
          </a:p>
        </p:txBody>
      </p:sp>
      <p:sp>
        <p:nvSpPr>
          <p:cNvPr id="40" name="Rule 39"/>
          <p:cNvSpPr/>
          <p:nvPr/>
        </p:nvSpPr>
        <p:spPr>
          <a:xfrm>
            <a:off x="3644900" y="2657971"/>
            <a:ext cx="2228850" cy="6350"/>
          </a:xfrm>
          <a:prstGeom prst="rect">
            <a:avLst/>
          </a:prstGeom>
          <a:solidFill>
            <a:srgbClr val="E1DBCD"/>
          </a:solidFill>
          <a:ln>
            <a:noFill/>
          </a:ln>
        </p:spPr>
        <p:txBody>
          <a:bodyPr rtlCol="0" anchor="ctr"/>
          <a:lstStyle/>
          <a:p>
            <a:pPr algn="ctr"/>
          </a:p>
        </p:txBody>
      </p:sp>
      <p:sp>
        <p:nvSpPr>
          <p:cNvPr id="41" name="Text 40"/>
          <p:cNvSpPr txBox="1"/>
          <p:nvPr/>
        </p:nvSpPr>
        <p:spPr>
          <a:xfrm>
            <a:off x="3644900" y="2729790"/>
            <a:ext cx="222885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COBIT 2019</a:t>
            </a:r>
          </a:p>
        </p:txBody>
      </p:sp>
      <p:sp>
        <p:nvSpPr>
          <p:cNvPr id="42" name="Text 41"/>
          <p:cNvSpPr txBox="1"/>
          <p:nvPr/>
        </p:nvSpPr>
        <p:spPr>
          <a:xfrm>
            <a:off x="3644900" y="2944209"/>
            <a:ext cx="22288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من ISACA: أهداف حوكمة وإدارة</a:t>
            </a:r>
          </a:p>
        </p:txBody>
      </p:sp>
      <p:sp>
        <p:nvSpPr>
          <p:cNvPr id="43" name="Text 42"/>
          <p:cNvSpPr txBox="1"/>
          <p:nvPr/>
        </p:nvSpPr>
        <p:spPr>
          <a:xfrm>
            <a:off x="3511550" y="3246620"/>
            <a:ext cx="236220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COSO</a:t>
            </a:r>
          </a:p>
        </p:txBody>
      </p:sp>
      <p:sp>
        <p:nvSpPr>
          <p:cNvPr id="44" name="Text 43"/>
          <p:cNvSpPr txBox="1"/>
          <p:nvPr/>
        </p:nvSpPr>
        <p:spPr>
          <a:xfrm>
            <a:off x="3578034" y="3461040"/>
            <a:ext cx="2295716"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الرقابة الداخلية وإدارة المخاطر المؤسسية</a:t>
            </a:r>
          </a:p>
        </p:txBody>
      </p:sp>
      <p:sp>
        <p:nvSpPr>
          <p:cNvPr id="45" name="Box 44"/>
          <p:cNvSpPr/>
          <p:nvPr/>
        </p:nvSpPr>
        <p:spPr>
          <a:xfrm>
            <a:off x="812800" y="1857970"/>
            <a:ext cx="2546350" cy="2515592"/>
          </a:xfrm>
          <a:prstGeom prst="roundRect">
            <a:avLst>
              <a:gd name="adj" fmla="val 4038"/>
            </a:avLst>
          </a:prstGeom>
          <a:solidFill>
            <a:srgbClr val="FFFDF8"/>
          </a:solidFill>
          <a:ln>
            <a:noFill/>
          </a:ln>
        </p:spPr>
        <p:txBody>
          <a:bodyPr rtlCol="0" anchor="ctr"/>
          <a:lstStyle/>
          <a:p>
            <a:pPr algn="ctr"/>
          </a:p>
        </p:txBody>
      </p:sp>
      <p:sp>
        <p:nvSpPr>
          <p:cNvPr id="46" name="Rule 45"/>
          <p:cNvSpPr/>
          <p:nvPr/>
        </p:nvSpPr>
        <p:spPr>
          <a:xfrm>
            <a:off x="812800" y="1857970"/>
            <a:ext cx="2546350" cy="50800"/>
          </a:xfrm>
          <a:prstGeom prst="rect">
            <a:avLst/>
          </a:prstGeom>
          <a:solidFill>
            <a:srgbClr val="C27A16"/>
          </a:solidFill>
          <a:ln>
            <a:noFill/>
          </a:ln>
        </p:spPr>
        <p:txBody>
          <a:bodyPr rtlCol="0" anchor="ctr"/>
          <a:lstStyle/>
          <a:p>
            <a:pPr algn="ctr"/>
          </a:p>
        </p:txBody>
      </p:sp>
      <p:sp>
        <p:nvSpPr>
          <p:cNvPr id="47" name="Rule 46"/>
          <p:cNvSpPr/>
          <p:nvPr/>
        </p:nvSpPr>
        <p:spPr>
          <a:xfrm>
            <a:off x="3352800" y="1857970"/>
            <a:ext cx="6350" cy="2515592"/>
          </a:xfrm>
          <a:prstGeom prst="rect">
            <a:avLst/>
          </a:prstGeom>
          <a:solidFill>
            <a:srgbClr val="E1DBCD"/>
          </a:solidFill>
          <a:ln>
            <a:noFill/>
          </a:ln>
        </p:spPr>
        <p:txBody>
          <a:bodyPr rtlCol="0" anchor="ctr"/>
          <a:lstStyle/>
          <a:p>
            <a:pPr algn="ctr"/>
          </a:p>
        </p:txBody>
      </p:sp>
      <p:sp>
        <p:nvSpPr>
          <p:cNvPr id="48" name="Rule 47"/>
          <p:cNvSpPr/>
          <p:nvPr/>
        </p:nvSpPr>
        <p:spPr>
          <a:xfrm>
            <a:off x="812800" y="4367212"/>
            <a:ext cx="2546350" cy="6350"/>
          </a:xfrm>
          <a:prstGeom prst="rect">
            <a:avLst/>
          </a:prstGeom>
          <a:solidFill>
            <a:srgbClr val="E1DBCD"/>
          </a:solidFill>
          <a:ln>
            <a:noFill/>
          </a:ln>
        </p:spPr>
        <p:txBody>
          <a:bodyPr rtlCol="0" anchor="ctr"/>
          <a:lstStyle/>
          <a:p>
            <a:pPr algn="ctr"/>
          </a:p>
        </p:txBody>
      </p:sp>
      <p:sp>
        <p:nvSpPr>
          <p:cNvPr id="49" name="Rule 48"/>
          <p:cNvSpPr/>
          <p:nvPr/>
        </p:nvSpPr>
        <p:spPr>
          <a:xfrm>
            <a:off x="812800" y="1857970"/>
            <a:ext cx="6350" cy="2515592"/>
          </a:xfrm>
          <a:prstGeom prst="rect">
            <a:avLst/>
          </a:prstGeom>
          <a:solidFill>
            <a:srgbClr val="E1DBCD"/>
          </a:solidFill>
          <a:ln>
            <a:noFill/>
          </a:ln>
        </p:spPr>
        <p:txBody>
          <a:bodyPr rtlCol="0" anchor="ctr"/>
          <a:lstStyle/>
          <a:p>
            <a:pPr algn="ctr"/>
          </a:p>
        </p:txBody>
      </p:sp>
      <p:sp>
        <p:nvSpPr>
          <p:cNvPr id="50" name="Text 49"/>
          <p:cNvSpPr txBox="1"/>
          <p:nvPr/>
        </p:nvSpPr>
        <p:spPr>
          <a:xfrm>
            <a:off x="838200" y="2049613"/>
            <a:ext cx="236220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9A5F0F"/>
                </a:solidFill>
                <a:latin typeface="Readex Pro"/>
                <a:ea typeface="Readex Pro"/>
                <a:cs typeface="Readex Pro"/>
              </a:rPr>
              <a:t>قطاعية وتعاقدية</a:t>
            </a:r>
          </a:p>
        </p:txBody>
      </p:sp>
      <p:sp>
        <p:nvSpPr>
          <p:cNvPr id="51" name="Text 50"/>
          <p:cNvSpPr txBox="1"/>
          <p:nvPr/>
        </p:nvSpPr>
        <p:spPr>
          <a:xfrm>
            <a:off x="838200" y="2344829"/>
            <a:ext cx="23622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ماذا يطلب العميل أو القطاع؟</a:t>
            </a:r>
          </a:p>
        </p:txBody>
      </p:sp>
      <p:sp>
        <p:nvSpPr>
          <p:cNvPr id="52" name="Rule 51"/>
          <p:cNvSpPr/>
          <p:nvPr/>
        </p:nvSpPr>
        <p:spPr>
          <a:xfrm>
            <a:off x="971550" y="2657971"/>
            <a:ext cx="2228850" cy="6350"/>
          </a:xfrm>
          <a:prstGeom prst="rect">
            <a:avLst/>
          </a:prstGeom>
          <a:solidFill>
            <a:srgbClr val="E1DBCD"/>
          </a:solidFill>
          <a:ln>
            <a:noFill/>
          </a:ln>
        </p:spPr>
        <p:txBody>
          <a:bodyPr rtlCol="0" anchor="ctr"/>
          <a:lstStyle/>
          <a:p>
            <a:pPr algn="ctr"/>
          </a:p>
        </p:txBody>
      </p:sp>
      <p:sp>
        <p:nvSpPr>
          <p:cNvPr id="53" name="Text 52"/>
          <p:cNvSpPr txBox="1"/>
          <p:nvPr/>
        </p:nvSpPr>
        <p:spPr>
          <a:xfrm>
            <a:off x="971550" y="2729790"/>
            <a:ext cx="222885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PCI DSS</a:t>
            </a:r>
          </a:p>
        </p:txBody>
      </p:sp>
      <p:sp>
        <p:nvSpPr>
          <p:cNvPr id="54" name="Text 53"/>
          <p:cNvSpPr txBox="1"/>
          <p:nvPr/>
        </p:nvSpPr>
        <p:spPr>
          <a:xfrm>
            <a:off x="971550" y="2944209"/>
            <a:ext cx="22288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لمن يعالج بيانات البطاقات</a:t>
            </a:r>
          </a:p>
        </p:txBody>
      </p:sp>
      <p:sp>
        <p:nvSpPr>
          <p:cNvPr id="55" name="Text 54"/>
          <p:cNvSpPr txBox="1"/>
          <p:nvPr/>
        </p:nvSpPr>
        <p:spPr>
          <a:xfrm>
            <a:off x="838200" y="3246620"/>
            <a:ext cx="236220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SOC 2</a:t>
            </a:r>
          </a:p>
        </p:txBody>
      </p:sp>
      <p:sp>
        <p:nvSpPr>
          <p:cNvPr id="56" name="Text 55"/>
          <p:cNvSpPr txBox="1"/>
          <p:nvPr/>
        </p:nvSpPr>
        <p:spPr>
          <a:xfrm>
            <a:off x="838200" y="3461040"/>
            <a:ext cx="23622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تقرير تأكيد لمزودي الخدمات</a:t>
            </a:r>
          </a:p>
        </p:txBody>
      </p:sp>
      <p:sp>
        <p:nvSpPr>
          <p:cNvPr id="57" name="Text 56"/>
          <p:cNvSpPr txBox="1"/>
          <p:nvPr/>
        </p:nvSpPr>
        <p:spPr>
          <a:xfrm>
            <a:off x="838200" y="3763451"/>
            <a:ext cx="236220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GDPR</a:t>
            </a:r>
          </a:p>
        </p:txBody>
      </p:sp>
      <p:sp>
        <p:nvSpPr>
          <p:cNvPr id="58" name="Text 57"/>
          <p:cNvSpPr txBox="1"/>
          <p:nvPr/>
        </p:nvSpPr>
        <p:spPr>
          <a:xfrm>
            <a:off x="838200" y="3977870"/>
            <a:ext cx="23622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حماية البيانات في أوروبا</a:t>
            </a:r>
          </a:p>
        </p:txBody>
      </p:sp>
      <p:sp>
        <p:nvSpPr>
          <p:cNvPr id="59" name="Box 58"/>
          <p:cNvSpPr/>
          <p:nvPr/>
        </p:nvSpPr>
        <p:spPr>
          <a:xfrm>
            <a:off x="812800" y="4576762"/>
            <a:ext cx="10566400" cy="458788"/>
          </a:xfrm>
          <a:prstGeom prst="roundRect">
            <a:avLst>
              <a:gd name="adj" fmla="val 19377"/>
            </a:avLst>
          </a:prstGeom>
          <a:solidFill>
            <a:srgbClr val="172433"/>
          </a:solidFill>
          <a:ln>
            <a:noFill/>
          </a:ln>
        </p:spPr>
        <p:txBody>
          <a:bodyPr rtlCol="0" anchor="ctr"/>
          <a:lstStyle/>
          <a:p>
            <a:pPr algn="ctr"/>
          </a:p>
        </p:txBody>
      </p:sp>
      <p:pic>
        <p:nvPicPr>
          <p:cNvPr id="60" name="Icon Link 59" descr="icon032.png"/>
          <p:cNvPicPr>
            <a:picLocks noChangeAspect="1"/>
          </p:cNvPicPr>
          <p:nvPr/>
        </p:nvPicPr>
        <p:blipFill>
          <a:blip r:embed="rId2"/>
          <a:stretch>
            <a:fillRect/>
          </a:stretch>
        </p:blipFill>
        <p:spPr>
          <a:xfrm>
            <a:off x="10998200" y="4704556"/>
            <a:ext cx="203200" cy="203200"/>
          </a:xfrm>
          <a:prstGeom prst="rect">
            <a:avLst/>
          </a:prstGeom>
        </p:spPr>
      </p:pic>
      <p:sp>
        <p:nvSpPr>
          <p:cNvPr id="61" name="Text 60"/>
          <p:cNvSpPr txBox="1"/>
          <p:nvPr/>
        </p:nvSpPr>
        <p:spPr>
          <a:xfrm>
            <a:off x="838200" y="4662488"/>
            <a:ext cx="10058400"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F3EFE6"/>
                </a:solidFill>
                <a:latin typeface="IBM Plex Sans Arabic"/>
                <a:ea typeface="IBM Plex Sans Arabic"/>
                <a:cs typeface="IBM Plex Sans Arabic"/>
              </a:rPr>
              <a:t>الأطر تتداخل كثيراً. ضابط واحد، مثل التحقق متعدد العوامل، قد يحقق متطلبات في عدة أطر معاً. هذا الربط اسمه «المواءمة».</a:t>
            </a:r>
          </a:p>
        </p:txBody>
      </p:sp>
      <p:sp>
        <p:nvSpPr>
          <p:cNvPr id="62" name="Text 61"/>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04 · الأطر والمعايير</a:t>
            </a:r>
          </a:p>
        </p:txBody>
      </p:sp>
      <p:sp>
        <p:nvSpPr>
          <p:cNvPr id="63" name="Text 62"/>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565977" y="812800"/>
            <a:ext cx="1813223"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04 · الأطر والمعايير</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‎ISO/IEC‎ ‎27001:2022‎ في شريحة واحدة</a:t>
            </a:r>
          </a:p>
        </p:txBody>
      </p:sp>
      <p:sp>
        <p:nvSpPr>
          <p:cNvPr id="5" name="Text 4"/>
          <p:cNvSpPr txBox="1"/>
          <p:nvPr/>
        </p:nvSpPr>
        <p:spPr>
          <a:xfrm>
            <a:off x="6009386" y="1844762"/>
            <a:ext cx="5369814"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0E7C6B"/>
                </a:solidFill>
                <a:latin typeface="Readex Pro"/>
                <a:ea typeface="Readex Pro"/>
                <a:cs typeface="Readex Pro"/>
              </a:rPr>
              <a:t>الجزء الإلزامي: البنود 4 إلى 10</a:t>
            </a:r>
          </a:p>
        </p:txBody>
      </p:sp>
      <p:sp>
        <p:nvSpPr>
          <p:cNvPr id="6" name="Box 5"/>
          <p:cNvSpPr/>
          <p:nvPr/>
        </p:nvSpPr>
        <p:spPr>
          <a:xfrm>
            <a:off x="10186988" y="2214166"/>
            <a:ext cx="1189038" cy="830461"/>
          </a:xfrm>
          <a:prstGeom prst="roundRect">
            <a:avLst>
              <a:gd name="adj" fmla="val 9105"/>
            </a:avLst>
          </a:prstGeom>
          <a:solidFill>
            <a:srgbClr val="FFFDF8"/>
          </a:solidFill>
          <a:ln w="6350">
            <a:solidFill>
              <a:srgbClr val="E1DBCD"/>
            </a:solidFill>
          </a:ln>
        </p:spPr>
        <p:txBody>
          <a:bodyPr rtlCol="0" anchor="ctr"/>
          <a:lstStyle/>
          <a:p>
            <a:pPr algn="ctr"/>
          </a:p>
        </p:txBody>
      </p:sp>
      <p:sp>
        <p:nvSpPr>
          <p:cNvPr id="7" name="Text 6"/>
          <p:cNvSpPr txBox="1"/>
          <p:nvPr/>
        </p:nvSpPr>
        <p:spPr>
          <a:xfrm>
            <a:off x="10209212" y="2312908"/>
            <a:ext cx="1062038" cy="209550"/>
          </a:xfrm>
          <a:prstGeom prst="rect">
            <a:avLst/>
          </a:prstGeom>
          <a:noFill/>
        </p:spPr>
        <p:txBody>
          <a:bodyPr wrap="square" tIns="0" rIns="0" bIns="0" lIns="0" anchor="t" rtlCol="0" anchorCtr="0">
            <a:noAutofit/>
          </a:bodyPr>
          <a:lstStyle/>
          <a:p>
            <a:pPr algn="r">
              <a:lnSpc>
                <a:spcPts val="1650"/>
              </a:lnSpc>
              <a:spcBef>
                <a:spcPts val="0"/>
              </a:spcBef>
              <a:spcAft>
                <a:spcPts val="0"/>
              </a:spcAft>
            </a:pPr>
            <a:r>
              <a:rPr sz="1500" b="1" i="0">
                <a:solidFill>
                  <a:srgbClr val="0E7C6B"/>
                </a:solidFill>
                <a:latin typeface="Readex Pro"/>
                <a:ea typeface="Readex Pro"/>
                <a:cs typeface="Readex Pro"/>
              </a:rPr>
              <a:t>4</a:t>
            </a:r>
          </a:p>
        </p:txBody>
      </p:sp>
      <p:sp>
        <p:nvSpPr>
          <p:cNvPr id="8" name="Text 7"/>
          <p:cNvSpPr txBox="1"/>
          <p:nvPr/>
        </p:nvSpPr>
        <p:spPr>
          <a:xfrm>
            <a:off x="10209212" y="2521379"/>
            <a:ext cx="1062038"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السياق والنطاق</a:t>
            </a:r>
          </a:p>
        </p:txBody>
      </p:sp>
      <p:sp>
        <p:nvSpPr>
          <p:cNvPr id="9" name="Box 8"/>
          <p:cNvSpPr/>
          <p:nvPr/>
        </p:nvSpPr>
        <p:spPr>
          <a:xfrm>
            <a:off x="8928100" y="2214166"/>
            <a:ext cx="1189038" cy="830461"/>
          </a:xfrm>
          <a:prstGeom prst="roundRect">
            <a:avLst>
              <a:gd name="adj" fmla="val 9105"/>
            </a:avLst>
          </a:prstGeom>
          <a:solidFill>
            <a:srgbClr val="FFFDF8"/>
          </a:solidFill>
          <a:ln w="6350">
            <a:solidFill>
              <a:srgbClr val="E1DBCD"/>
            </a:solidFill>
          </a:ln>
        </p:spPr>
        <p:txBody>
          <a:bodyPr rtlCol="0" anchor="ctr"/>
          <a:lstStyle/>
          <a:p>
            <a:pPr algn="ctr"/>
          </a:p>
        </p:txBody>
      </p:sp>
      <p:sp>
        <p:nvSpPr>
          <p:cNvPr id="10" name="Text 9"/>
          <p:cNvSpPr txBox="1"/>
          <p:nvPr/>
        </p:nvSpPr>
        <p:spPr>
          <a:xfrm>
            <a:off x="8950325" y="2312908"/>
            <a:ext cx="1062038" cy="209550"/>
          </a:xfrm>
          <a:prstGeom prst="rect">
            <a:avLst/>
          </a:prstGeom>
          <a:noFill/>
        </p:spPr>
        <p:txBody>
          <a:bodyPr wrap="square" tIns="0" rIns="0" bIns="0" lIns="0" anchor="t" rtlCol="0" anchorCtr="0">
            <a:noAutofit/>
          </a:bodyPr>
          <a:lstStyle/>
          <a:p>
            <a:pPr algn="r">
              <a:lnSpc>
                <a:spcPts val="1650"/>
              </a:lnSpc>
              <a:spcBef>
                <a:spcPts val="0"/>
              </a:spcBef>
              <a:spcAft>
                <a:spcPts val="0"/>
              </a:spcAft>
            </a:pPr>
            <a:r>
              <a:rPr sz="1500" b="1" i="0">
                <a:solidFill>
                  <a:srgbClr val="0E7C6B"/>
                </a:solidFill>
                <a:latin typeface="Readex Pro"/>
                <a:ea typeface="Readex Pro"/>
                <a:cs typeface="Readex Pro"/>
              </a:rPr>
              <a:t>5</a:t>
            </a:r>
          </a:p>
        </p:txBody>
      </p:sp>
      <p:sp>
        <p:nvSpPr>
          <p:cNvPr id="11" name="Text 10"/>
          <p:cNvSpPr txBox="1"/>
          <p:nvPr/>
        </p:nvSpPr>
        <p:spPr>
          <a:xfrm>
            <a:off x="8950325" y="2521379"/>
            <a:ext cx="1062038"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القيادة والسياسة</a:t>
            </a:r>
          </a:p>
        </p:txBody>
      </p:sp>
      <p:sp>
        <p:nvSpPr>
          <p:cNvPr id="12" name="Box 11"/>
          <p:cNvSpPr/>
          <p:nvPr/>
        </p:nvSpPr>
        <p:spPr>
          <a:xfrm>
            <a:off x="7669212" y="2214166"/>
            <a:ext cx="1189038" cy="830461"/>
          </a:xfrm>
          <a:prstGeom prst="roundRect">
            <a:avLst>
              <a:gd name="adj" fmla="val 9105"/>
            </a:avLst>
          </a:prstGeom>
          <a:solidFill>
            <a:srgbClr val="FFFDF8"/>
          </a:solidFill>
          <a:ln w="6350">
            <a:solidFill>
              <a:srgbClr val="E1DBCD"/>
            </a:solidFill>
          </a:ln>
        </p:spPr>
        <p:txBody>
          <a:bodyPr rtlCol="0" anchor="ctr"/>
          <a:lstStyle/>
          <a:p>
            <a:pPr algn="ctr"/>
          </a:p>
        </p:txBody>
      </p:sp>
      <p:sp>
        <p:nvSpPr>
          <p:cNvPr id="13" name="Text 12"/>
          <p:cNvSpPr txBox="1"/>
          <p:nvPr/>
        </p:nvSpPr>
        <p:spPr>
          <a:xfrm>
            <a:off x="7691438" y="2312908"/>
            <a:ext cx="1062038" cy="209550"/>
          </a:xfrm>
          <a:prstGeom prst="rect">
            <a:avLst/>
          </a:prstGeom>
          <a:noFill/>
        </p:spPr>
        <p:txBody>
          <a:bodyPr wrap="square" tIns="0" rIns="0" bIns="0" lIns="0" anchor="t" rtlCol="0" anchorCtr="0">
            <a:noAutofit/>
          </a:bodyPr>
          <a:lstStyle/>
          <a:p>
            <a:pPr algn="r">
              <a:lnSpc>
                <a:spcPts val="1650"/>
              </a:lnSpc>
              <a:spcBef>
                <a:spcPts val="0"/>
              </a:spcBef>
              <a:spcAft>
                <a:spcPts val="0"/>
              </a:spcAft>
            </a:pPr>
            <a:r>
              <a:rPr sz="1500" b="1" i="0">
                <a:solidFill>
                  <a:srgbClr val="0E7C6B"/>
                </a:solidFill>
                <a:latin typeface="Readex Pro"/>
                <a:ea typeface="Readex Pro"/>
                <a:cs typeface="Readex Pro"/>
              </a:rPr>
              <a:t>6</a:t>
            </a:r>
          </a:p>
        </p:txBody>
      </p:sp>
      <p:sp>
        <p:nvSpPr>
          <p:cNvPr id="14" name="Text 13"/>
          <p:cNvSpPr txBox="1"/>
          <p:nvPr/>
        </p:nvSpPr>
        <p:spPr>
          <a:xfrm>
            <a:off x="7735888" y="2521379"/>
            <a:ext cx="1017588"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التخطيط وتقييم المخاطر</a:t>
            </a:r>
          </a:p>
        </p:txBody>
      </p:sp>
      <p:sp>
        <p:nvSpPr>
          <p:cNvPr id="15" name="Box 14"/>
          <p:cNvSpPr/>
          <p:nvPr/>
        </p:nvSpPr>
        <p:spPr>
          <a:xfrm>
            <a:off x="6410325" y="2214166"/>
            <a:ext cx="1189038" cy="830461"/>
          </a:xfrm>
          <a:prstGeom prst="roundRect">
            <a:avLst>
              <a:gd name="adj" fmla="val 9105"/>
            </a:avLst>
          </a:prstGeom>
          <a:solidFill>
            <a:srgbClr val="FFFDF8"/>
          </a:solidFill>
          <a:ln w="6350">
            <a:solidFill>
              <a:srgbClr val="E1DBCD"/>
            </a:solidFill>
          </a:ln>
        </p:spPr>
        <p:txBody>
          <a:bodyPr rtlCol="0" anchor="ctr"/>
          <a:lstStyle/>
          <a:p>
            <a:pPr algn="ctr"/>
          </a:p>
        </p:txBody>
      </p:sp>
      <p:sp>
        <p:nvSpPr>
          <p:cNvPr id="16" name="Text 15"/>
          <p:cNvSpPr txBox="1"/>
          <p:nvPr/>
        </p:nvSpPr>
        <p:spPr>
          <a:xfrm>
            <a:off x="6432550" y="2312908"/>
            <a:ext cx="1062038" cy="209550"/>
          </a:xfrm>
          <a:prstGeom prst="rect">
            <a:avLst/>
          </a:prstGeom>
          <a:noFill/>
        </p:spPr>
        <p:txBody>
          <a:bodyPr wrap="square" tIns="0" rIns="0" bIns="0" lIns="0" anchor="t" rtlCol="0" anchorCtr="0">
            <a:noAutofit/>
          </a:bodyPr>
          <a:lstStyle/>
          <a:p>
            <a:pPr algn="r">
              <a:lnSpc>
                <a:spcPts val="1650"/>
              </a:lnSpc>
              <a:spcBef>
                <a:spcPts val="0"/>
              </a:spcBef>
              <a:spcAft>
                <a:spcPts val="0"/>
              </a:spcAft>
            </a:pPr>
            <a:r>
              <a:rPr sz="1500" b="1" i="0">
                <a:solidFill>
                  <a:srgbClr val="0E7C6B"/>
                </a:solidFill>
                <a:latin typeface="Readex Pro"/>
                <a:ea typeface="Readex Pro"/>
                <a:cs typeface="Readex Pro"/>
              </a:rPr>
              <a:t>7</a:t>
            </a:r>
          </a:p>
        </p:txBody>
      </p:sp>
      <p:sp>
        <p:nvSpPr>
          <p:cNvPr id="17" name="Text 16"/>
          <p:cNvSpPr txBox="1"/>
          <p:nvPr/>
        </p:nvSpPr>
        <p:spPr>
          <a:xfrm>
            <a:off x="6432550" y="2521379"/>
            <a:ext cx="1062038"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الدعم والموارد</a:t>
            </a:r>
          </a:p>
        </p:txBody>
      </p:sp>
      <p:sp>
        <p:nvSpPr>
          <p:cNvPr id="18" name="Box 17"/>
          <p:cNvSpPr/>
          <p:nvPr/>
        </p:nvSpPr>
        <p:spPr>
          <a:xfrm>
            <a:off x="9767391" y="3139877"/>
            <a:ext cx="1608634" cy="830461"/>
          </a:xfrm>
          <a:prstGeom prst="roundRect">
            <a:avLst>
              <a:gd name="adj" fmla="val 9105"/>
            </a:avLst>
          </a:prstGeom>
          <a:solidFill>
            <a:srgbClr val="FFFDF8"/>
          </a:solidFill>
          <a:ln w="6350">
            <a:solidFill>
              <a:srgbClr val="E1DBCD"/>
            </a:solidFill>
          </a:ln>
        </p:spPr>
        <p:txBody>
          <a:bodyPr rtlCol="0" anchor="ctr"/>
          <a:lstStyle/>
          <a:p>
            <a:pPr algn="ctr"/>
          </a:p>
        </p:txBody>
      </p:sp>
      <p:sp>
        <p:nvSpPr>
          <p:cNvPr id="19" name="Text 18"/>
          <p:cNvSpPr txBox="1"/>
          <p:nvPr/>
        </p:nvSpPr>
        <p:spPr>
          <a:xfrm>
            <a:off x="9789616" y="3238619"/>
            <a:ext cx="1481634" cy="209550"/>
          </a:xfrm>
          <a:prstGeom prst="rect">
            <a:avLst/>
          </a:prstGeom>
          <a:noFill/>
        </p:spPr>
        <p:txBody>
          <a:bodyPr wrap="square" tIns="0" rIns="0" bIns="0" lIns="0" anchor="t" rtlCol="0" anchorCtr="0">
            <a:noAutofit/>
          </a:bodyPr>
          <a:lstStyle/>
          <a:p>
            <a:pPr algn="r">
              <a:lnSpc>
                <a:spcPts val="1650"/>
              </a:lnSpc>
              <a:spcBef>
                <a:spcPts val="0"/>
              </a:spcBef>
              <a:spcAft>
                <a:spcPts val="0"/>
              </a:spcAft>
            </a:pPr>
            <a:r>
              <a:rPr sz="1500" b="1" i="0">
                <a:solidFill>
                  <a:srgbClr val="0E7C6B"/>
                </a:solidFill>
                <a:latin typeface="Readex Pro"/>
                <a:ea typeface="Readex Pro"/>
                <a:cs typeface="Readex Pro"/>
              </a:rPr>
              <a:t>8</a:t>
            </a:r>
          </a:p>
        </p:txBody>
      </p:sp>
      <p:sp>
        <p:nvSpPr>
          <p:cNvPr id="20" name="Text 19"/>
          <p:cNvSpPr txBox="1"/>
          <p:nvPr/>
        </p:nvSpPr>
        <p:spPr>
          <a:xfrm>
            <a:off x="9830194" y="3447090"/>
            <a:ext cx="1441056"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التشغيل ومعالجة المخاطر</a:t>
            </a:r>
          </a:p>
        </p:txBody>
      </p:sp>
      <p:sp>
        <p:nvSpPr>
          <p:cNvPr id="21" name="Box 20"/>
          <p:cNvSpPr/>
          <p:nvPr/>
        </p:nvSpPr>
        <p:spPr>
          <a:xfrm>
            <a:off x="8088908" y="3139877"/>
            <a:ext cx="1608634" cy="830461"/>
          </a:xfrm>
          <a:prstGeom prst="roundRect">
            <a:avLst>
              <a:gd name="adj" fmla="val 9105"/>
            </a:avLst>
          </a:prstGeom>
          <a:solidFill>
            <a:srgbClr val="FFFDF8"/>
          </a:solidFill>
          <a:ln w="6350">
            <a:solidFill>
              <a:srgbClr val="E1DBCD"/>
            </a:solidFill>
          </a:ln>
        </p:spPr>
        <p:txBody>
          <a:bodyPr rtlCol="0" anchor="ctr"/>
          <a:lstStyle/>
          <a:p>
            <a:pPr algn="ctr"/>
          </a:p>
        </p:txBody>
      </p:sp>
      <p:sp>
        <p:nvSpPr>
          <p:cNvPr id="22" name="Text 21"/>
          <p:cNvSpPr txBox="1"/>
          <p:nvPr/>
        </p:nvSpPr>
        <p:spPr>
          <a:xfrm>
            <a:off x="8111133" y="3238619"/>
            <a:ext cx="1481634" cy="209550"/>
          </a:xfrm>
          <a:prstGeom prst="rect">
            <a:avLst/>
          </a:prstGeom>
          <a:noFill/>
        </p:spPr>
        <p:txBody>
          <a:bodyPr wrap="square" tIns="0" rIns="0" bIns="0" lIns="0" anchor="t" rtlCol="0" anchorCtr="0">
            <a:noAutofit/>
          </a:bodyPr>
          <a:lstStyle/>
          <a:p>
            <a:pPr algn="r">
              <a:lnSpc>
                <a:spcPts val="1650"/>
              </a:lnSpc>
              <a:spcBef>
                <a:spcPts val="0"/>
              </a:spcBef>
              <a:spcAft>
                <a:spcPts val="0"/>
              </a:spcAft>
            </a:pPr>
            <a:r>
              <a:rPr sz="1500" b="1" i="0">
                <a:solidFill>
                  <a:srgbClr val="0E7C6B"/>
                </a:solidFill>
                <a:latin typeface="Readex Pro"/>
                <a:ea typeface="Readex Pro"/>
                <a:cs typeface="Readex Pro"/>
              </a:rPr>
              <a:t>9</a:t>
            </a:r>
          </a:p>
        </p:txBody>
      </p:sp>
      <p:sp>
        <p:nvSpPr>
          <p:cNvPr id="23" name="Text 22"/>
          <p:cNvSpPr txBox="1"/>
          <p:nvPr/>
        </p:nvSpPr>
        <p:spPr>
          <a:xfrm>
            <a:off x="8151710" y="3447090"/>
            <a:ext cx="1441056"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تقييم الأداء والتدقيق الداخلي</a:t>
            </a:r>
          </a:p>
        </p:txBody>
      </p:sp>
      <p:sp>
        <p:nvSpPr>
          <p:cNvPr id="24" name="Box 23"/>
          <p:cNvSpPr/>
          <p:nvPr/>
        </p:nvSpPr>
        <p:spPr>
          <a:xfrm>
            <a:off x="6410424" y="3139877"/>
            <a:ext cx="1608634" cy="830461"/>
          </a:xfrm>
          <a:prstGeom prst="roundRect">
            <a:avLst>
              <a:gd name="adj" fmla="val 9105"/>
            </a:avLst>
          </a:prstGeom>
          <a:solidFill>
            <a:srgbClr val="FFFDF8"/>
          </a:solidFill>
          <a:ln w="6350">
            <a:solidFill>
              <a:srgbClr val="E1DBCD"/>
            </a:solidFill>
          </a:ln>
        </p:spPr>
        <p:txBody>
          <a:bodyPr rtlCol="0" anchor="ctr"/>
          <a:lstStyle/>
          <a:p>
            <a:pPr algn="ctr"/>
          </a:p>
        </p:txBody>
      </p:sp>
      <p:sp>
        <p:nvSpPr>
          <p:cNvPr id="25" name="Text 24"/>
          <p:cNvSpPr txBox="1"/>
          <p:nvPr/>
        </p:nvSpPr>
        <p:spPr>
          <a:xfrm>
            <a:off x="6432649" y="3238619"/>
            <a:ext cx="1481634" cy="209550"/>
          </a:xfrm>
          <a:prstGeom prst="rect">
            <a:avLst/>
          </a:prstGeom>
          <a:noFill/>
        </p:spPr>
        <p:txBody>
          <a:bodyPr wrap="square" tIns="0" rIns="0" bIns="0" lIns="0" anchor="t" rtlCol="0" anchorCtr="0">
            <a:noAutofit/>
          </a:bodyPr>
          <a:lstStyle/>
          <a:p>
            <a:pPr algn="r">
              <a:lnSpc>
                <a:spcPts val="1650"/>
              </a:lnSpc>
              <a:spcBef>
                <a:spcPts val="0"/>
              </a:spcBef>
              <a:spcAft>
                <a:spcPts val="0"/>
              </a:spcAft>
            </a:pPr>
            <a:r>
              <a:rPr sz="1500" b="1" i="0">
                <a:solidFill>
                  <a:srgbClr val="0E7C6B"/>
                </a:solidFill>
                <a:latin typeface="Readex Pro"/>
                <a:ea typeface="Readex Pro"/>
                <a:cs typeface="Readex Pro"/>
              </a:rPr>
              <a:t>10</a:t>
            </a:r>
          </a:p>
        </p:txBody>
      </p:sp>
      <p:sp>
        <p:nvSpPr>
          <p:cNvPr id="26" name="Text 25"/>
          <p:cNvSpPr txBox="1"/>
          <p:nvPr/>
        </p:nvSpPr>
        <p:spPr>
          <a:xfrm>
            <a:off x="6432649" y="3447090"/>
            <a:ext cx="1481634"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التحسين المستمر</a:t>
            </a:r>
          </a:p>
        </p:txBody>
      </p:sp>
      <p:sp>
        <p:nvSpPr>
          <p:cNvPr id="27" name="Box 26"/>
          <p:cNvSpPr/>
          <p:nvPr/>
        </p:nvSpPr>
        <p:spPr>
          <a:xfrm>
            <a:off x="6407150" y="4062412"/>
            <a:ext cx="4972050" cy="975320"/>
          </a:xfrm>
          <a:prstGeom prst="roundRect">
            <a:avLst>
              <a:gd name="adj" fmla="val 9114"/>
            </a:avLst>
          </a:prstGeom>
          <a:solidFill>
            <a:srgbClr val="172433"/>
          </a:solidFill>
          <a:ln>
            <a:noFill/>
          </a:ln>
        </p:spPr>
        <p:txBody>
          <a:bodyPr rtlCol="0" anchor="ctr"/>
          <a:lstStyle/>
          <a:p>
            <a:pPr algn="ctr"/>
          </a:p>
        </p:txBody>
      </p:sp>
      <p:sp>
        <p:nvSpPr>
          <p:cNvPr id="28" name="Text 27"/>
          <p:cNvSpPr txBox="1"/>
          <p:nvPr/>
        </p:nvSpPr>
        <p:spPr>
          <a:xfrm>
            <a:off x="6432550" y="4165790"/>
            <a:ext cx="47942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F2C46D"/>
                </a:solidFill>
                <a:latin typeface="IBM Plex Sans Arabic"/>
                <a:ea typeface="IBM Plex Sans Arabic"/>
                <a:cs typeface="IBM Plex Sans Arabic"/>
              </a:rPr>
              <a:t>مسار الشهادة</a:t>
            </a:r>
          </a:p>
        </p:txBody>
      </p:sp>
      <p:sp>
        <p:nvSpPr>
          <p:cNvPr id="29" name="Text 28"/>
          <p:cNvSpPr txBox="1"/>
          <p:nvPr/>
        </p:nvSpPr>
        <p:spPr>
          <a:xfrm>
            <a:off x="6432550" y="4422291"/>
            <a:ext cx="4794250" cy="457200"/>
          </a:xfrm>
          <a:prstGeom prst="rect">
            <a:avLst/>
          </a:prstGeom>
          <a:noFill/>
        </p:spPr>
        <p:txBody>
          <a:bodyPr wrap="square" tIns="0" rIns="0" bIns="0" lIns="0" anchor="t" rtlCol="0" anchorCtr="0">
            <a:noAutofit/>
          </a:bodyPr>
          <a:lstStyle/>
          <a:p>
            <a:pPr algn="r" rtl="1">
              <a:lnSpc>
                <a:spcPts val="1800"/>
              </a:lnSpc>
              <a:spcBef>
                <a:spcPts val="0"/>
              </a:spcBef>
              <a:spcAft>
                <a:spcPts val="0"/>
              </a:spcAft>
            </a:pPr>
            <a:r>
              <a:rPr sz="1200" b="0" i="0" lang="ar-SA" altLang="en-US">
                <a:solidFill>
                  <a:srgbClr val="F3EFE6"/>
                </a:solidFill>
                <a:latin typeface="IBM Plex Sans Arabic"/>
                <a:ea typeface="IBM Plex Sans Arabic"/>
                <a:cs typeface="IBM Plex Sans Arabic"/>
              </a:rPr>
              <a:t>تدقيق المرحلة 1 (الوثائق) ← المرحلة 2 (التطبيق) ← شهادة لثلاث سنوات، مع تدقيق متابعة سنوي.</a:t>
            </a:r>
          </a:p>
        </p:txBody>
      </p:sp>
      <p:sp>
        <p:nvSpPr>
          <p:cNvPr id="30" name="Box 29"/>
          <p:cNvSpPr/>
          <p:nvPr/>
        </p:nvSpPr>
        <p:spPr>
          <a:xfrm>
            <a:off x="815975" y="1861145"/>
            <a:ext cx="5334000" cy="3242270"/>
          </a:xfrm>
          <a:prstGeom prst="roundRect">
            <a:avLst>
              <a:gd name="adj" fmla="val 3127"/>
            </a:avLst>
          </a:prstGeom>
          <a:solidFill>
            <a:srgbClr val="FFFDF8"/>
          </a:solidFill>
          <a:ln w="6350">
            <a:solidFill>
              <a:srgbClr val="E1DBCD"/>
            </a:solidFill>
          </a:ln>
        </p:spPr>
        <p:txBody>
          <a:bodyPr rtlCol="0" anchor="ctr"/>
          <a:lstStyle/>
          <a:p>
            <a:pPr algn="ctr"/>
          </a:p>
        </p:txBody>
      </p:sp>
      <p:sp>
        <p:nvSpPr>
          <p:cNvPr id="31" name="Text 30"/>
          <p:cNvSpPr txBox="1"/>
          <p:nvPr/>
        </p:nvSpPr>
        <p:spPr>
          <a:xfrm>
            <a:off x="838200" y="2028912"/>
            <a:ext cx="51308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9A5F0F"/>
                </a:solidFill>
                <a:latin typeface="Readex Pro"/>
                <a:ea typeface="Readex Pro"/>
                <a:cs typeface="Readex Pro"/>
              </a:rPr>
              <a:t>الملحق A: 93 ضابطاً في 4 محاور</a:t>
            </a:r>
          </a:p>
        </p:txBody>
      </p:sp>
      <p:sp>
        <p:nvSpPr>
          <p:cNvPr id="32" name="Text 31"/>
          <p:cNvSpPr txBox="1"/>
          <p:nvPr/>
        </p:nvSpPr>
        <p:spPr>
          <a:xfrm>
            <a:off x="5031284" y="2387203"/>
            <a:ext cx="937716"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0" i="0" lang="ar-SA" altLang="en-US">
                <a:solidFill>
                  <a:srgbClr val="172433"/>
                </a:solidFill>
                <a:latin typeface="IBM Plex Sans Arabic"/>
                <a:ea typeface="IBM Plex Sans Arabic"/>
                <a:cs typeface="IBM Plex Sans Arabic"/>
              </a:rPr>
              <a:t>تنظيمية (A.5)</a:t>
            </a:r>
          </a:p>
        </p:txBody>
      </p:sp>
      <p:sp>
        <p:nvSpPr>
          <p:cNvPr id="33" name="Text 32"/>
          <p:cNvSpPr txBox="1"/>
          <p:nvPr/>
        </p:nvSpPr>
        <p:spPr>
          <a:xfrm>
            <a:off x="901700" y="2393553"/>
            <a:ext cx="276920" cy="214312"/>
          </a:xfrm>
          <a:prstGeom prst="rect">
            <a:avLst/>
          </a:prstGeom>
          <a:noFill/>
        </p:spPr>
        <p:txBody>
          <a:bodyPr wrap="square" tIns="0" rIns="0" bIns="0" lIns="0" anchor="t" rtlCol="0" anchorCtr="0">
            <a:noAutofit/>
          </a:bodyPr>
          <a:lstStyle/>
          <a:p>
            <a:pPr algn="r">
              <a:lnSpc>
                <a:spcPts val="1688"/>
              </a:lnSpc>
              <a:spcBef>
                <a:spcPts val="0"/>
              </a:spcBef>
              <a:spcAft>
                <a:spcPts val="0"/>
              </a:spcAft>
            </a:pPr>
            <a:r>
              <a:rPr sz="1250" b="1" i="0">
                <a:solidFill>
                  <a:srgbClr val="172433"/>
                </a:solidFill>
                <a:latin typeface="Readex Pro"/>
                <a:ea typeface="Readex Pro"/>
                <a:cs typeface="Readex Pro"/>
              </a:rPr>
              <a:t>37</a:t>
            </a:r>
          </a:p>
        </p:txBody>
      </p:sp>
      <p:sp>
        <p:nvSpPr>
          <p:cNvPr id="34" name="Box 33"/>
          <p:cNvSpPr/>
          <p:nvPr/>
        </p:nvSpPr>
        <p:spPr>
          <a:xfrm>
            <a:off x="2159000" y="2660253"/>
            <a:ext cx="3810000" cy="139700"/>
          </a:xfrm>
          <a:prstGeom prst="roundRect">
            <a:avLst>
              <a:gd name="adj" fmla="val 27272"/>
            </a:avLst>
          </a:prstGeom>
          <a:solidFill>
            <a:srgbClr val="0E7C6B"/>
          </a:solidFill>
          <a:ln>
            <a:noFill/>
          </a:ln>
        </p:spPr>
        <p:txBody>
          <a:bodyPr rtlCol="0" anchor="ctr"/>
          <a:lstStyle/>
          <a:p>
            <a:pPr algn="ctr"/>
          </a:p>
        </p:txBody>
      </p:sp>
      <p:sp>
        <p:nvSpPr>
          <p:cNvPr id="35" name="Text 34"/>
          <p:cNvSpPr txBox="1"/>
          <p:nvPr/>
        </p:nvSpPr>
        <p:spPr>
          <a:xfrm>
            <a:off x="5153918" y="2880916"/>
            <a:ext cx="815082"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0" i="0" lang="ar-SA" altLang="en-US">
                <a:solidFill>
                  <a:srgbClr val="172433"/>
                </a:solidFill>
                <a:latin typeface="IBM Plex Sans Arabic"/>
                <a:ea typeface="IBM Plex Sans Arabic"/>
                <a:cs typeface="IBM Plex Sans Arabic"/>
              </a:rPr>
              <a:t>بشرية (A.6)</a:t>
            </a:r>
          </a:p>
        </p:txBody>
      </p:sp>
      <p:sp>
        <p:nvSpPr>
          <p:cNvPr id="36" name="Text 35"/>
          <p:cNvSpPr txBox="1"/>
          <p:nvPr/>
        </p:nvSpPr>
        <p:spPr>
          <a:xfrm>
            <a:off x="901700" y="2887266"/>
            <a:ext cx="190202" cy="214312"/>
          </a:xfrm>
          <a:prstGeom prst="rect">
            <a:avLst/>
          </a:prstGeom>
          <a:noFill/>
        </p:spPr>
        <p:txBody>
          <a:bodyPr wrap="square" tIns="0" rIns="0" bIns="0" lIns="0" anchor="t" rtlCol="0" anchorCtr="0">
            <a:noAutofit/>
          </a:bodyPr>
          <a:lstStyle/>
          <a:p>
            <a:pPr algn="r">
              <a:lnSpc>
                <a:spcPts val="1688"/>
              </a:lnSpc>
              <a:spcBef>
                <a:spcPts val="0"/>
              </a:spcBef>
              <a:spcAft>
                <a:spcPts val="0"/>
              </a:spcAft>
            </a:pPr>
            <a:r>
              <a:rPr sz="1250" b="1" i="0">
                <a:solidFill>
                  <a:srgbClr val="172433"/>
                </a:solidFill>
                <a:latin typeface="Readex Pro"/>
                <a:ea typeface="Readex Pro"/>
                <a:cs typeface="Readex Pro"/>
              </a:rPr>
              <a:t>8</a:t>
            </a:r>
          </a:p>
        </p:txBody>
      </p:sp>
      <p:sp>
        <p:nvSpPr>
          <p:cNvPr id="37" name="Box 36"/>
          <p:cNvSpPr/>
          <p:nvPr/>
        </p:nvSpPr>
        <p:spPr>
          <a:xfrm>
            <a:off x="5143500" y="3153966"/>
            <a:ext cx="825500" cy="139700"/>
          </a:xfrm>
          <a:prstGeom prst="roundRect">
            <a:avLst>
              <a:gd name="adj" fmla="val 27272"/>
            </a:avLst>
          </a:prstGeom>
          <a:solidFill>
            <a:srgbClr val="3E6FA8"/>
          </a:solidFill>
          <a:ln>
            <a:noFill/>
          </a:ln>
        </p:spPr>
        <p:txBody>
          <a:bodyPr rtlCol="0" anchor="ctr"/>
          <a:lstStyle/>
          <a:p>
            <a:pPr algn="ctr"/>
          </a:p>
        </p:txBody>
      </p:sp>
      <p:sp>
        <p:nvSpPr>
          <p:cNvPr id="38" name="Text 37"/>
          <p:cNvSpPr txBox="1"/>
          <p:nvPr/>
        </p:nvSpPr>
        <p:spPr>
          <a:xfrm>
            <a:off x="5177631" y="3374628"/>
            <a:ext cx="791369"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0" i="0" lang="ar-SA" altLang="en-US">
                <a:solidFill>
                  <a:srgbClr val="172433"/>
                </a:solidFill>
                <a:latin typeface="IBM Plex Sans Arabic"/>
                <a:ea typeface="IBM Plex Sans Arabic"/>
                <a:cs typeface="IBM Plex Sans Arabic"/>
              </a:rPr>
              <a:t>مادية (A.7)</a:t>
            </a:r>
          </a:p>
        </p:txBody>
      </p:sp>
      <p:sp>
        <p:nvSpPr>
          <p:cNvPr id="39" name="Text 38"/>
          <p:cNvSpPr txBox="1"/>
          <p:nvPr/>
        </p:nvSpPr>
        <p:spPr>
          <a:xfrm>
            <a:off x="901700" y="3380978"/>
            <a:ext cx="289620" cy="214312"/>
          </a:xfrm>
          <a:prstGeom prst="rect">
            <a:avLst/>
          </a:prstGeom>
          <a:noFill/>
        </p:spPr>
        <p:txBody>
          <a:bodyPr wrap="square" tIns="0" rIns="0" bIns="0" lIns="0" anchor="t" rtlCol="0" anchorCtr="0">
            <a:noAutofit/>
          </a:bodyPr>
          <a:lstStyle/>
          <a:p>
            <a:pPr algn="r">
              <a:lnSpc>
                <a:spcPts val="1688"/>
              </a:lnSpc>
              <a:spcBef>
                <a:spcPts val="0"/>
              </a:spcBef>
              <a:spcAft>
                <a:spcPts val="0"/>
              </a:spcAft>
            </a:pPr>
            <a:r>
              <a:rPr sz="1250" b="1" i="0">
                <a:solidFill>
                  <a:srgbClr val="172433"/>
                </a:solidFill>
                <a:latin typeface="Readex Pro"/>
                <a:ea typeface="Readex Pro"/>
                <a:cs typeface="Readex Pro"/>
              </a:rPr>
              <a:t>14</a:t>
            </a:r>
          </a:p>
        </p:txBody>
      </p:sp>
      <p:sp>
        <p:nvSpPr>
          <p:cNvPr id="40" name="Box 39"/>
          <p:cNvSpPr/>
          <p:nvPr/>
        </p:nvSpPr>
        <p:spPr>
          <a:xfrm>
            <a:off x="4527550" y="3647678"/>
            <a:ext cx="1441450" cy="139700"/>
          </a:xfrm>
          <a:prstGeom prst="roundRect">
            <a:avLst>
              <a:gd name="adj" fmla="val 27272"/>
            </a:avLst>
          </a:prstGeom>
          <a:solidFill>
            <a:srgbClr val="C27A16"/>
          </a:solidFill>
          <a:ln>
            <a:noFill/>
          </a:ln>
        </p:spPr>
        <p:txBody>
          <a:bodyPr rtlCol="0" anchor="ctr"/>
          <a:lstStyle/>
          <a:p>
            <a:pPr algn="ctr"/>
          </a:p>
        </p:txBody>
      </p:sp>
      <p:sp>
        <p:nvSpPr>
          <p:cNvPr id="41" name="Text 40"/>
          <p:cNvSpPr txBox="1"/>
          <p:nvPr/>
        </p:nvSpPr>
        <p:spPr>
          <a:xfrm>
            <a:off x="5202833" y="3868341"/>
            <a:ext cx="766167"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0" i="0" lang="ar-SA" altLang="en-US">
                <a:solidFill>
                  <a:srgbClr val="172433"/>
                </a:solidFill>
                <a:latin typeface="IBM Plex Sans Arabic"/>
                <a:ea typeface="IBM Plex Sans Arabic"/>
                <a:cs typeface="IBM Plex Sans Arabic"/>
              </a:rPr>
              <a:t>تقنية (A.8)</a:t>
            </a:r>
          </a:p>
        </p:txBody>
      </p:sp>
      <p:sp>
        <p:nvSpPr>
          <p:cNvPr id="42" name="Text 41"/>
          <p:cNvSpPr txBox="1"/>
          <p:nvPr/>
        </p:nvSpPr>
        <p:spPr>
          <a:xfrm>
            <a:off x="901700" y="3874691"/>
            <a:ext cx="293787" cy="214312"/>
          </a:xfrm>
          <a:prstGeom prst="rect">
            <a:avLst/>
          </a:prstGeom>
          <a:noFill/>
        </p:spPr>
        <p:txBody>
          <a:bodyPr wrap="square" tIns="0" rIns="0" bIns="0" lIns="0" anchor="t" rtlCol="0" anchorCtr="0">
            <a:noAutofit/>
          </a:bodyPr>
          <a:lstStyle/>
          <a:p>
            <a:pPr algn="r">
              <a:lnSpc>
                <a:spcPts val="1688"/>
              </a:lnSpc>
              <a:spcBef>
                <a:spcPts val="0"/>
              </a:spcBef>
              <a:spcAft>
                <a:spcPts val="0"/>
              </a:spcAft>
            </a:pPr>
            <a:r>
              <a:rPr sz="1250" b="1" i="0">
                <a:solidFill>
                  <a:srgbClr val="172433"/>
                </a:solidFill>
                <a:latin typeface="Readex Pro"/>
                <a:ea typeface="Readex Pro"/>
                <a:cs typeface="Readex Pro"/>
              </a:rPr>
              <a:t>34</a:t>
            </a:r>
          </a:p>
        </p:txBody>
      </p:sp>
      <p:sp>
        <p:nvSpPr>
          <p:cNvPr id="43" name="Box 42"/>
          <p:cNvSpPr/>
          <p:nvPr/>
        </p:nvSpPr>
        <p:spPr>
          <a:xfrm>
            <a:off x="2470150" y="4141391"/>
            <a:ext cx="3498850" cy="139700"/>
          </a:xfrm>
          <a:prstGeom prst="roundRect">
            <a:avLst>
              <a:gd name="adj" fmla="val 27272"/>
            </a:avLst>
          </a:prstGeom>
          <a:solidFill>
            <a:srgbClr val="6B4E9B"/>
          </a:solidFill>
          <a:ln>
            <a:noFill/>
          </a:ln>
        </p:spPr>
        <p:txBody>
          <a:bodyPr rtlCol="0" anchor="ctr"/>
          <a:lstStyle/>
          <a:p>
            <a:pPr algn="ctr"/>
          </a:p>
        </p:txBody>
      </p:sp>
      <p:sp>
        <p:nvSpPr>
          <p:cNvPr id="44" name="Text box 43"/>
          <p:cNvSpPr/>
          <p:nvPr/>
        </p:nvSpPr>
        <p:spPr>
          <a:xfrm>
            <a:off x="996950" y="4382691"/>
            <a:ext cx="4972050" cy="539750"/>
          </a:xfrm>
          <a:prstGeom prst="rect">
            <a:avLst/>
          </a:prstGeom>
          <a:noFill/>
          <a:ln>
            <a:noFill/>
          </a:ln>
        </p:spPr>
        <p:txBody>
          <a:bodyPr rtlCol="0" anchor="ctr" wrap="square" tIns="51308" rIns="0" bIns="31242" lIns="0" anchorCtr="0">
            <a:noAutofit/>
          </a:bodyPr>
          <a:lstStyle/>
          <a:p>
            <a:pPr algn="r" rtl="1">
              <a:lnSpc>
                <a:spcPts val="1800"/>
              </a:lnSpc>
              <a:spcBef>
                <a:spcPts val="0"/>
              </a:spcBef>
              <a:spcAft>
                <a:spcPts val="0"/>
              </a:spcAft>
            </a:pPr>
            <a:r>
              <a:rPr sz="1200" b="0" i="0" lang="ar-SA" altLang="en-US">
                <a:solidFill>
                  <a:srgbClr val="4E5A66"/>
                </a:solidFill>
                <a:latin typeface="IBM Plex Sans Arabic"/>
                <a:ea typeface="IBM Plex Sans Arabic"/>
                <a:cs typeface="IBM Plex Sans Arabic"/>
              </a:rPr>
              <a:t>لا تطبق كل الضوابط تلقائياً: تختار ما يلزم من تقييم المخاطر، وتبرر الاستبعاد في بيان قابلية التطبيق (SoA).</a:t>
            </a:r>
          </a:p>
        </p:txBody>
      </p:sp>
      <p:sp>
        <p:nvSpPr>
          <p:cNvPr id="45" name="Rule 44"/>
          <p:cNvSpPr/>
          <p:nvPr/>
        </p:nvSpPr>
        <p:spPr>
          <a:xfrm>
            <a:off x="996950" y="4382691"/>
            <a:ext cx="4972050" cy="6350"/>
          </a:xfrm>
          <a:prstGeom prst="rect">
            <a:avLst/>
          </a:prstGeom>
          <a:solidFill>
            <a:srgbClr val="E1DBCD"/>
          </a:solidFill>
          <a:ln>
            <a:noFill/>
          </a:ln>
        </p:spPr>
        <p:txBody>
          <a:bodyPr rtlCol="0" anchor="ctr"/>
          <a:lstStyle/>
          <a:p>
            <a:pPr algn="ctr"/>
          </a:p>
        </p:txBody>
      </p:sp>
      <p:sp>
        <p:nvSpPr>
          <p:cNvPr id="46" name="Text 45"/>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04 · الأطر والمعايير</a:t>
            </a:r>
          </a:p>
        </p:txBody>
      </p:sp>
      <p:sp>
        <p:nvSpPr>
          <p:cNvPr id="47" name="Text 46"/>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565977" y="812800"/>
            <a:ext cx="1813223"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04 · الأطر والمعايير</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NIST CSF 2.0: ست وظائف، والحوكمة في المركز</a:t>
            </a:r>
          </a:p>
        </p:txBody>
      </p:sp>
      <p:sp>
        <p:nvSpPr>
          <p:cNvPr id="5" name="Box 4"/>
          <p:cNvSpPr/>
          <p:nvPr/>
        </p:nvSpPr>
        <p:spPr>
          <a:xfrm>
            <a:off x="812800" y="1832570"/>
            <a:ext cx="10566400" cy="1039019"/>
          </a:xfrm>
          <a:prstGeom prst="roundRect">
            <a:avLst>
              <a:gd name="adj" fmla="val 9778"/>
            </a:avLst>
          </a:prstGeom>
          <a:solidFill>
            <a:srgbClr val="172433"/>
          </a:solidFill>
          <a:ln>
            <a:noFill/>
          </a:ln>
        </p:spPr>
        <p:txBody>
          <a:bodyPr rtlCol="0" anchor="ctr"/>
          <a:lstStyle/>
          <a:p>
            <a:pPr algn="ctr"/>
          </a:p>
        </p:txBody>
      </p:sp>
      <p:sp>
        <p:nvSpPr>
          <p:cNvPr id="6" name="Box 5"/>
          <p:cNvSpPr/>
          <p:nvPr/>
        </p:nvSpPr>
        <p:spPr>
          <a:xfrm>
            <a:off x="10490200" y="2002830"/>
            <a:ext cx="698500" cy="698500"/>
          </a:xfrm>
          <a:prstGeom prst="roundRect">
            <a:avLst>
              <a:gd name="adj" fmla="val 50000"/>
            </a:avLst>
          </a:prstGeom>
          <a:solidFill>
            <a:srgbClr val="F2C46D"/>
          </a:solidFill>
          <a:ln>
            <a:noFill/>
          </a:ln>
        </p:spPr>
        <p:txBody>
          <a:bodyPr rtlCol="0" anchor="ctr"/>
          <a:lstStyle/>
          <a:p>
            <a:pPr algn="ctr"/>
          </a:p>
        </p:txBody>
      </p:sp>
      <p:sp>
        <p:nvSpPr>
          <p:cNvPr id="7" name="Text 6"/>
          <p:cNvSpPr txBox="1"/>
          <p:nvPr/>
        </p:nvSpPr>
        <p:spPr>
          <a:xfrm>
            <a:off x="10549870" y="2262481"/>
            <a:ext cx="449520"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172433"/>
                </a:solidFill>
                <a:latin typeface="Readex Pro"/>
                <a:ea typeface="Readex Pro"/>
                <a:cs typeface="Readex Pro"/>
              </a:rPr>
              <a:t>GV</a:t>
            </a:r>
          </a:p>
        </p:txBody>
      </p:sp>
      <p:sp>
        <p:nvSpPr>
          <p:cNvPr id="8" name="Text 7"/>
          <p:cNvSpPr txBox="1"/>
          <p:nvPr/>
        </p:nvSpPr>
        <p:spPr>
          <a:xfrm>
            <a:off x="838200" y="1958237"/>
            <a:ext cx="9499600" cy="280591"/>
          </a:xfrm>
          <a:prstGeom prst="rect">
            <a:avLst/>
          </a:prstGeom>
          <a:noFill/>
        </p:spPr>
        <p:txBody>
          <a:bodyPr wrap="square" tIns="0" rIns="0" bIns="0" lIns="0" anchor="t" rtlCol="0" anchorCtr="0">
            <a:noAutofit/>
          </a:bodyPr>
          <a:lstStyle/>
          <a:p>
            <a:pPr algn="r" rtl="1">
              <a:lnSpc>
                <a:spcPts val="2210"/>
              </a:lnSpc>
              <a:spcBef>
                <a:spcPts val="0"/>
              </a:spcBef>
              <a:spcAft>
                <a:spcPts val="0"/>
              </a:spcAft>
            </a:pPr>
            <a:r>
              <a:rPr sz="1700" b="1" i="0" lang="ar-SA" altLang="en-US">
                <a:solidFill>
                  <a:srgbClr val="F3EFE6"/>
                </a:solidFill>
                <a:latin typeface="Readex Pro"/>
                <a:ea typeface="Readex Pro"/>
                <a:cs typeface="Readex Pro"/>
              </a:rPr>
              <a:t>الحوكمة · Govern</a:t>
            </a:r>
          </a:p>
        </p:txBody>
      </p:sp>
      <p:sp>
        <p:nvSpPr>
          <p:cNvPr id="9" name="Text 8"/>
          <p:cNvSpPr txBox="1"/>
          <p:nvPr/>
        </p:nvSpPr>
        <p:spPr>
          <a:xfrm>
            <a:off x="838200" y="2262259"/>
            <a:ext cx="949960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F2C46D"/>
                </a:solidFill>
                <a:latin typeface="IBM Plex Sans Arabic"/>
                <a:ea typeface="IBM Plex Sans Arabic"/>
                <a:cs typeface="IBM Plex Sans Arabic"/>
              </a:rPr>
              <a:t>وظيفة جديدة في الإصدار 2.0</a:t>
            </a:r>
          </a:p>
        </p:txBody>
      </p:sp>
      <p:sp>
        <p:nvSpPr>
          <p:cNvPr id="10" name="Text 9"/>
          <p:cNvSpPr txBox="1"/>
          <p:nvPr/>
        </p:nvSpPr>
        <p:spPr>
          <a:xfrm>
            <a:off x="838200" y="2473127"/>
            <a:ext cx="9499600"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D9E2E6"/>
                </a:solidFill>
                <a:latin typeface="IBM Plex Sans Arabic"/>
                <a:ea typeface="IBM Plex Sans Arabic"/>
                <a:cs typeface="IBM Plex Sans Arabic"/>
              </a:rPr>
              <a:t>الاستراتيجية، والأدوار، والسياسات، وإدارة مخاطر سلسلة الإمداد. هنا يعمل GRC بشكل مباشر.</a:t>
            </a:r>
          </a:p>
        </p:txBody>
      </p:sp>
      <p:sp>
        <p:nvSpPr>
          <p:cNvPr id="11" name="Box 10"/>
          <p:cNvSpPr/>
          <p:nvPr/>
        </p:nvSpPr>
        <p:spPr>
          <a:xfrm>
            <a:off x="9337080" y="3049389"/>
            <a:ext cx="2042120" cy="1260277"/>
          </a:xfrm>
          <a:prstGeom prst="roundRect">
            <a:avLst>
              <a:gd name="adj" fmla="val 7054"/>
            </a:avLst>
          </a:prstGeom>
          <a:solidFill>
            <a:srgbClr val="FFFDF8"/>
          </a:solidFill>
          <a:ln>
            <a:noFill/>
          </a:ln>
        </p:spPr>
        <p:txBody>
          <a:bodyPr rtlCol="0" anchor="ctr"/>
          <a:lstStyle/>
          <a:p>
            <a:pPr algn="ctr"/>
          </a:p>
        </p:txBody>
      </p:sp>
      <p:sp>
        <p:nvSpPr>
          <p:cNvPr id="12" name="Rule 11"/>
          <p:cNvSpPr/>
          <p:nvPr/>
        </p:nvSpPr>
        <p:spPr>
          <a:xfrm>
            <a:off x="9337080" y="3049389"/>
            <a:ext cx="2042120" cy="50800"/>
          </a:xfrm>
          <a:prstGeom prst="rect">
            <a:avLst/>
          </a:prstGeom>
          <a:solidFill>
            <a:srgbClr val="3E6FA8"/>
          </a:solidFill>
          <a:ln>
            <a:noFill/>
          </a:ln>
        </p:spPr>
        <p:txBody>
          <a:bodyPr rtlCol="0" anchor="ctr"/>
          <a:lstStyle/>
          <a:p>
            <a:pPr algn="ctr"/>
          </a:p>
        </p:txBody>
      </p:sp>
      <p:sp>
        <p:nvSpPr>
          <p:cNvPr id="13" name="Rule 12"/>
          <p:cNvSpPr/>
          <p:nvPr/>
        </p:nvSpPr>
        <p:spPr>
          <a:xfrm>
            <a:off x="11372850" y="3049389"/>
            <a:ext cx="6350" cy="1260277"/>
          </a:xfrm>
          <a:prstGeom prst="rect">
            <a:avLst/>
          </a:prstGeom>
          <a:solidFill>
            <a:srgbClr val="E1DBCD"/>
          </a:solidFill>
          <a:ln>
            <a:noFill/>
          </a:ln>
        </p:spPr>
        <p:txBody>
          <a:bodyPr rtlCol="0" anchor="ctr"/>
          <a:lstStyle/>
          <a:p>
            <a:pPr algn="ctr"/>
          </a:p>
        </p:txBody>
      </p:sp>
      <p:sp>
        <p:nvSpPr>
          <p:cNvPr id="14" name="Rule 13"/>
          <p:cNvSpPr/>
          <p:nvPr/>
        </p:nvSpPr>
        <p:spPr>
          <a:xfrm>
            <a:off x="9337080" y="4303316"/>
            <a:ext cx="2042120" cy="6350"/>
          </a:xfrm>
          <a:prstGeom prst="rect">
            <a:avLst/>
          </a:prstGeom>
          <a:solidFill>
            <a:srgbClr val="E1DBCD"/>
          </a:solidFill>
          <a:ln>
            <a:noFill/>
          </a:ln>
        </p:spPr>
        <p:txBody>
          <a:bodyPr rtlCol="0" anchor="ctr"/>
          <a:lstStyle/>
          <a:p>
            <a:pPr algn="ctr"/>
          </a:p>
        </p:txBody>
      </p:sp>
      <p:sp>
        <p:nvSpPr>
          <p:cNvPr id="15" name="Rule 14"/>
          <p:cNvSpPr/>
          <p:nvPr/>
        </p:nvSpPr>
        <p:spPr>
          <a:xfrm>
            <a:off x="9337080" y="3049389"/>
            <a:ext cx="6350" cy="1260277"/>
          </a:xfrm>
          <a:prstGeom prst="rect">
            <a:avLst/>
          </a:prstGeom>
          <a:solidFill>
            <a:srgbClr val="E1DBCD"/>
          </a:solidFill>
          <a:ln>
            <a:noFill/>
          </a:ln>
        </p:spPr>
        <p:txBody>
          <a:bodyPr rtlCol="0" anchor="ctr"/>
          <a:lstStyle/>
          <a:p>
            <a:pPr algn="ctr"/>
          </a:p>
        </p:txBody>
      </p:sp>
      <p:sp>
        <p:nvSpPr>
          <p:cNvPr id="16" name="Text 15"/>
          <p:cNvSpPr txBox="1"/>
          <p:nvPr/>
        </p:nvSpPr>
        <p:spPr>
          <a:xfrm>
            <a:off x="9362480" y="3224713"/>
            <a:ext cx="188337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300" b="1" i="0">
                <a:solidFill>
                  <a:srgbClr val="2F5C92"/>
                </a:solidFill>
                <a:latin typeface="Readex Pro"/>
                <a:ea typeface="Readex Pro"/>
                <a:cs typeface="Readex Pro"/>
              </a:rPr>
              <a:t>ID</a:t>
            </a:r>
          </a:p>
        </p:txBody>
      </p:sp>
      <p:sp>
        <p:nvSpPr>
          <p:cNvPr id="17" name="Text 16"/>
          <p:cNvSpPr txBox="1"/>
          <p:nvPr/>
        </p:nvSpPr>
        <p:spPr>
          <a:xfrm>
            <a:off x="9362480" y="3458027"/>
            <a:ext cx="1883370"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التحديد</a:t>
            </a:r>
          </a:p>
        </p:txBody>
      </p:sp>
      <p:sp>
        <p:nvSpPr>
          <p:cNvPr id="18" name="Text 17"/>
          <p:cNvSpPr txBox="1"/>
          <p:nvPr/>
        </p:nvSpPr>
        <p:spPr>
          <a:xfrm>
            <a:off x="9417167" y="3726053"/>
            <a:ext cx="1828683"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الأصول، والمخاطر، وفرص التحسين</a:t>
            </a:r>
          </a:p>
        </p:txBody>
      </p:sp>
      <p:sp>
        <p:nvSpPr>
          <p:cNvPr id="19" name="Box 18"/>
          <p:cNvSpPr/>
          <p:nvPr/>
        </p:nvSpPr>
        <p:spPr>
          <a:xfrm>
            <a:off x="7206059" y="3049389"/>
            <a:ext cx="2042120" cy="1260277"/>
          </a:xfrm>
          <a:prstGeom prst="roundRect">
            <a:avLst>
              <a:gd name="adj" fmla="val 7054"/>
            </a:avLst>
          </a:prstGeom>
          <a:solidFill>
            <a:srgbClr val="FFFDF8"/>
          </a:solidFill>
          <a:ln>
            <a:noFill/>
          </a:ln>
        </p:spPr>
        <p:txBody>
          <a:bodyPr rtlCol="0" anchor="ctr"/>
          <a:lstStyle/>
          <a:p>
            <a:pPr algn="ctr"/>
          </a:p>
        </p:txBody>
      </p:sp>
      <p:sp>
        <p:nvSpPr>
          <p:cNvPr id="20" name="Rule 19"/>
          <p:cNvSpPr/>
          <p:nvPr/>
        </p:nvSpPr>
        <p:spPr>
          <a:xfrm>
            <a:off x="7206059" y="3049389"/>
            <a:ext cx="2042120" cy="50800"/>
          </a:xfrm>
          <a:prstGeom prst="rect">
            <a:avLst/>
          </a:prstGeom>
          <a:solidFill>
            <a:srgbClr val="6B4E9B"/>
          </a:solidFill>
          <a:ln>
            <a:noFill/>
          </a:ln>
        </p:spPr>
        <p:txBody>
          <a:bodyPr rtlCol="0" anchor="ctr"/>
          <a:lstStyle/>
          <a:p>
            <a:pPr algn="ctr"/>
          </a:p>
        </p:txBody>
      </p:sp>
      <p:sp>
        <p:nvSpPr>
          <p:cNvPr id="21" name="Rule 20"/>
          <p:cNvSpPr/>
          <p:nvPr/>
        </p:nvSpPr>
        <p:spPr>
          <a:xfrm>
            <a:off x="9241830" y="3049389"/>
            <a:ext cx="6350" cy="1260277"/>
          </a:xfrm>
          <a:prstGeom prst="rect">
            <a:avLst/>
          </a:prstGeom>
          <a:solidFill>
            <a:srgbClr val="E1DBCD"/>
          </a:solidFill>
          <a:ln>
            <a:noFill/>
          </a:ln>
        </p:spPr>
        <p:txBody>
          <a:bodyPr rtlCol="0" anchor="ctr"/>
          <a:lstStyle/>
          <a:p>
            <a:pPr algn="ctr"/>
          </a:p>
        </p:txBody>
      </p:sp>
      <p:sp>
        <p:nvSpPr>
          <p:cNvPr id="22" name="Rule 21"/>
          <p:cNvSpPr/>
          <p:nvPr/>
        </p:nvSpPr>
        <p:spPr>
          <a:xfrm>
            <a:off x="7206059" y="4303316"/>
            <a:ext cx="2042120" cy="6350"/>
          </a:xfrm>
          <a:prstGeom prst="rect">
            <a:avLst/>
          </a:prstGeom>
          <a:solidFill>
            <a:srgbClr val="E1DBCD"/>
          </a:solidFill>
          <a:ln>
            <a:noFill/>
          </a:ln>
        </p:spPr>
        <p:txBody>
          <a:bodyPr rtlCol="0" anchor="ctr"/>
          <a:lstStyle/>
          <a:p>
            <a:pPr algn="ctr"/>
          </a:p>
        </p:txBody>
      </p:sp>
      <p:sp>
        <p:nvSpPr>
          <p:cNvPr id="23" name="Rule 22"/>
          <p:cNvSpPr/>
          <p:nvPr/>
        </p:nvSpPr>
        <p:spPr>
          <a:xfrm>
            <a:off x="7206059" y="3049389"/>
            <a:ext cx="6350" cy="1260277"/>
          </a:xfrm>
          <a:prstGeom prst="rect">
            <a:avLst/>
          </a:prstGeom>
          <a:solidFill>
            <a:srgbClr val="E1DBCD"/>
          </a:solidFill>
          <a:ln>
            <a:noFill/>
          </a:ln>
        </p:spPr>
        <p:txBody>
          <a:bodyPr rtlCol="0" anchor="ctr"/>
          <a:lstStyle/>
          <a:p>
            <a:pPr algn="ctr"/>
          </a:p>
        </p:txBody>
      </p:sp>
      <p:sp>
        <p:nvSpPr>
          <p:cNvPr id="24" name="Text 23"/>
          <p:cNvSpPr txBox="1"/>
          <p:nvPr/>
        </p:nvSpPr>
        <p:spPr>
          <a:xfrm>
            <a:off x="7231459" y="3224713"/>
            <a:ext cx="188337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300" b="1" i="0">
                <a:solidFill>
                  <a:srgbClr val="5A3F87"/>
                </a:solidFill>
                <a:latin typeface="Readex Pro"/>
                <a:ea typeface="Readex Pro"/>
                <a:cs typeface="Readex Pro"/>
              </a:rPr>
              <a:t>PR</a:t>
            </a:r>
          </a:p>
        </p:txBody>
      </p:sp>
      <p:sp>
        <p:nvSpPr>
          <p:cNvPr id="25" name="Text 24"/>
          <p:cNvSpPr txBox="1"/>
          <p:nvPr/>
        </p:nvSpPr>
        <p:spPr>
          <a:xfrm>
            <a:off x="7231459" y="3458027"/>
            <a:ext cx="1883370"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الحماية</a:t>
            </a:r>
          </a:p>
        </p:txBody>
      </p:sp>
      <p:sp>
        <p:nvSpPr>
          <p:cNvPr id="26" name="Text 25"/>
          <p:cNvSpPr txBox="1"/>
          <p:nvPr/>
        </p:nvSpPr>
        <p:spPr>
          <a:xfrm>
            <a:off x="7286147" y="3726053"/>
            <a:ext cx="1828683"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الهويات، والتوعية، وأمن البيانات والمنصات</a:t>
            </a:r>
          </a:p>
        </p:txBody>
      </p:sp>
      <p:sp>
        <p:nvSpPr>
          <p:cNvPr id="27" name="Box 26"/>
          <p:cNvSpPr/>
          <p:nvPr/>
        </p:nvSpPr>
        <p:spPr>
          <a:xfrm>
            <a:off x="5075039" y="3049389"/>
            <a:ext cx="2042120" cy="1260277"/>
          </a:xfrm>
          <a:prstGeom prst="roundRect">
            <a:avLst>
              <a:gd name="adj" fmla="val 7054"/>
            </a:avLst>
          </a:prstGeom>
          <a:solidFill>
            <a:srgbClr val="FFFDF8"/>
          </a:solidFill>
          <a:ln>
            <a:noFill/>
          </a:ln>
        </p:spPr>
        <p:txBody>
          <a:bodyPr rtlCol="0" anchor="ctr"/>
          <a:lstStyle/>
          <a:p>
            <a:pPr algn="ctr"/>
          </a:p>
        </p:txBody>
      </p:sp>
      <p:sp>
        <p:nvSpPr>
          <p:cNvPr id="28" name="Rule 27"/>
          <p:cNvSpPr/>
          <p:nvPr/>
        </p:nvSpPr>
        <p:spPr>
          <a:xfrm>
            <a:off x="5075039" y="3049389"/>
            <a:ext cx="2042120" cy="50800"/>
          </a:xfrm>
          <a:prstGeom prst="rect">
            <a:avLst/>
          </a:prstGeom>
          <a:solidFill>
            <a:srgbClr val="C27A16"/>
          </a:solidFill>
          <a:ln>
            <a:noFill/>
          </a:ln>
        </p:spPr>
        <p:txBody>
          <a:bodyPr rtlCol="0" anchor="ctr"/>
          <a:lstStyle/>
          <a:p>
            <a:pPr algn="ctr"/>
          </a:p>
        </p:txBody>
      </p:sp>
      <p:sp>
        <p:nvSpPr>
          <p:cNvPr id="29" name="Rule 28"/>
          <p:cNvSpPr/>
          <p:nvPr/>
        </p:nvSpPr>
        <p:spPr>
          <a:xfrm>
            <a:off x="7110809" y="3049389"/>
            <a:ext cx="6350" cy="1260277"/>
          </a:xfrm>
          <a:prstGeom prst="rect">
            <a:avLst/>
          </a:prstGeom>
          <a:solidFill>
            <a:srgbClr val="E1DBCD"/>
          </a:solidFill>
          <a:ln>
            <a:noFill/>
          </a:ln>
        </p:spPr>
        <p:txBody>
          <a:bodyPr rtlCol="0" anchor="ctr"/>
          <a:lstStyle/>
          <a:p>
            <a:pPr algn="ctr"/>
          </a:p>
        </p:txBody>
      </p:sp>
      <p:sp>
        <p:nvSpPr>
          <p:cNvPr id="30" name="Rule 29"/>
          <p:cNvSpPr/>
          <p:nvPr/>
        </p:nvSpPr>
        <p:spPr>
          <a:xfrm>
            <a:off x="5075039" y="4303316"/>
            <a:ext cx="2042120" cy="6350"/>
          </a:xfrm>
          <a:prstGeom prst="rect">
            <a:avLst/>
          </a:prstGeom>
          <a:solidFill>
            <a:srgbClr val="E1DBCD"/>
          </a:solidFill>
          <a:ln>
            <a:noFill/>
          </a:ln>
        </p:spPr>
        <p:txBody>
          <a:bodyPr rtlCol="0" anchor="ctr"/>
          <a:lstStyle/>
          <a:p>
            <a:pPr algn="ctr"/>
          </a:p>
        </p:txBody>
      </p:sp>
      <p:sp>
        <p:nvSpPr>
          <p:cNvPr id="31" name="Rule 30"/>
          <p:cNvSpPr/>
          <p:nvPr/>
        </p:nvSpPr>
        <p:spPr>
          <a:xfrm>
            <a:off x="5075039" y="3049389"/>
            <a:ext cx="6350" cy="1260277"/>
          </a:xfrm>
          <a:prstGeom prst="rect">
            <a:avLst/>
          </a:prstGeom>
          <a:solidFill>
            <a:srgbClr val="E1DBCD"/>
          </a:solidFill>
          <a:ln>
            <a:noFill/>
          </a:ln>
        </p:spPr>
        <p:txBody>
          <a:bodyPr rtlCol="0" anchor="ctr"/>
          <a:lstStyle/>
          <a:p>
            <a:pPr algn="ctr"/>
          </a:p>
        </p:txBody>
      </p:sp>
      <p:sp>
        <p:nvSpPr>
          <p:cNvPr id="32" name="Text 31"/>
          <p:cNvSpPr txBox="1"/>
          <p:nvPr/>
        </p:nvSpPr>
        <p:spPr>
          <a:xfrm>
            <a:off x="5100439" y="3224713"/>
            <a:ext cx="188337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300" b="1" i="0">
                <a:solidFill>
                  <a:srgbClr val="9A5F0F"/>
                </a:solidFill>
                <a:latin typeface="Readex Pro"/>
                <a:ea typeface="Readex Pro"/>
                <a:cs typeface="Readex Pro"/>
              </a:rPr>
              <a:t>DE</a:t>
            </a:r>
          </a:p>
        </p:txBody>
      </p:sp>
      <p:sp>
        <p:nvSpPr>
          <p:cNvPr id="33" name="Text 32"/>
          <p:cNvSpPr txBox="1"/>
          <p:nvPr/>
        </p:nvSpPr>
        <p:spPr>
          <a:xfrm>
            <a:off x="5100439" y="3458027"/>
            <a:ext cx="1883370"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الاكتشاف</a:t>
            </a:r>
          </a:p>
        </p:txBody>
      </p:sp>
      <p:sp>
        <p:nvSpPr>
          <p:cNvPr id="34" name="Text 33"/>
          <p:cNvSpPr txBox="1"/>
          <p:nvPr/>
        </p:nvSpPr>
        <p:spPr>
          <a:xfrm>
            <a:off x="5155126" y="3726053"/>
            <a:ext cx="1828683"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المراقبة المستمرة وتحليل الأحداث</a:t>
            </a:r>
          </a:p>
        </p:txBody>
      </p:sp>
      <p:sp>
        <p:nvSpPr>
          <p:cNvPr id="35" name="Box 34"/>
          <p:cNvSpPr/>
          <p:nvPr/>
        </p:nvSpPr>
        <p:spPr>
          <a:xfrm>
            <a:off x="2944019" y="3049389"/>
            <a:ext cx="2042120" cy="1260277"/>
          </a:xfrm>
          <a:prstGeom prst="roundRect">
            <a:avLst>
              <a:gd name="adj" fmla="val 7054"/>
            </a:avLst>
          </a:prstGeom>
          <a:solidFill>
            <a:srgbClr val="FFFDF8"/>
          </a:solidFill>
          <a:ln>
            <a:noFill/>
          </a:ln>
        </p:spPr>
        <p:txBody>
          <a:bodyPr rtlCol="0" anchor="ctr"/>
          <a:lstStyle/>
          <a:p>
            <a:pPr algn="ctr"/>
          </a:p>
        </p:txBody>
      </p:sp>
      <p:sp>
        <p:nvSpPr>
          <p:cNvPr id="36" name="Rule 35"/>
          <p:cNvSpPr/>
          <p:nvPr/>
        </p:nvSpPr>
        <p:spPr>
          <a:xfrm>
            <a:off x="2944019" y="3049389"/>
            <a:ext cx="2042120" cy="50800"/>
          </a:xfrm>
          <a:prstGeom prst="rect">
            <a:avLst/>
          </a:prstGeom>
          <a:solidFill>
            <a:srgbClr val="B4412C"/>
          </a:solidFill>
          <a:ln>
            <a:noFill/>
          </a:ln>
        </p:spPr>
        <p:txBody>
          <a:bodyPr rtlCol="0" anchor="ctr"/>
          <a:lstStyle/>
          <a:p>
            <a:pPr algn="ctr"/>
          </a:p>
        </p:txBody>
      </p:sp>
      <p:sp>
        <p:nvSpPr>
          <p:cNvPr id="37" name="Rule 36"/>
          <p:cNvSpPr/>
          <p:nvPr/>
        </p:nvSpPr>
        <p:spPr>
          <a:xfrm>
            <a:off x="4979789" y="3049389"/>
            <a:ext cx="6350" cy="1260277"/>
          </a:xfrm>
          <a:prstGeom prst="rect">
            <a:avLst/>
          </a:prstGeom>
          <a:solidFill>
            <a:srgbClr val="E1DBCD"/>
          </a:solidFill>
          <a:ln>
            <a:noFill/>
          </a:ln>
        </p:spPr>
        <p:txBody>
          <a:bodyPr rtlCol="0" anchor="ctr"/>
          <a:lstStyle/>
          <a:p>
            <a:pPr algn="ctr"/>
          </a:p>
        </p:txBody>
      </p:sp>
      <p:sp>
        <p:nvSpPr>
          <p:cNvPr id="38" name="Rule 37"/>
          <p:cNvSpPr/>
          <p:nvPr/>
        </p:nvSpPr>
        <p:spPr>
          <a:xfrm>
            <a:off x="2944019" y="4303316"/>
            <a:ext cx="2042120" cy="6350"/>
          </a:xfrm>
          <a:prstGeom prst="rect">
            <a:avLst/>
          </a:prstGeom>
          <a:solidFill>
            <a:srgbClr val="E1DBCD"/>
          </a:solidFill>
          <a:ln>
            <a:noFill/>
          </a:ln>
        </p:spPr>
        <p:txBody>
          <a:bodyPr rtlCol="0" anchor="ctr"/>
          <a:lstStyle/>
          <a:p>
            <a:pPr algn="ctr"/>
          </a:p>
        </p:txBody>
      </p:sp>
      <p:sp>
        <p:nvSpPr>
          <p:cNvPr id="39" name="Rule 38"/>
          <p:cNvSpPr/>
          <p:nvPr/>
        </p:nvSpPr>
        <p:spPr>
          <a:xfrm>
            <a:off x="2944019" y="3049389"/>
            <a:ext cx="6350" cy="1260277"/>
          </a:xfrm>
          <a:prstGeom prst="rect">
            <a:avLst/>
          </a:prstGeom>
          <a:solidFill>
            <a:srgbClr val="E1DBCD"/>
          </a:solidFill>
          <a:ln>
            <a:noFill/>
          </a:ln>
        </p:spPr>
        <p:txBody>
          <a:bodyPr rtlCol="0" anchor="ctr"/>
          <a:lstStyle/>
          <a:p>
            <a:pPr algn="ctr"/>
          </a:p>
        </p:txBody>
      </p:sp>
      <p:sp>
        <p:nvSpPr>
          <p:cNvPr id="40" name="Text 39"/>
          <p:cNvSpPr txBox="1"/>
          <p:nvPr/>
        </p:nvSpPr>
        <p:spPr>
          <a:xfrm>
            <a:off x="2969419" y="3224713"/>
            <a:ext cx="188337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300" b="1" i="0">
                <a:solidFill>
                  <a:srgbClr val="B4412C"/>
                </a:solidFill>
                <a:latin typeface="Readex Pro"/>
                <a:ea typeface="Readex Pro"/>
                <a:cs typeface="Readex Pro"/>
              </a:rPr>
              <a:t>RS</a:t>
            </a:r>
          </a:p>
        </p:txBody>
      </p:sp>
      <p:sp>
        <p:nvSpPr>
          <p:cNvPr id="41" name="Text 40"/>
          <p:cNvSpPr txBox="1"/>
          <p:nvPr/>
        </p:nvSpPr>
        <p:spPr>
          <a:xfrm>
            <a:off x="2969419" y="3458027"/>
            <a:ext cx="1883370"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الاستجابة</a:t>
            </a:r>
          </a:p>
        </p:txBody>
      </p:sp>
      <p:sp>
        <p:nvSpPr>
          <p:cNvPr id="42" name="Text 41"/>
          <p:cNvSpPr txBox="1"/>
          <p:nvPr/>
        </p:nvSpPr>
        <p:spPr>
          <a:xfrm>
            <a:off x="3024106" y="3726053"/>
            <a:ext cx="1828683"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إدارة الحادثة، والتواصل، والاحتواء</a:t>
            </a:r>
          </a:p>
        </p:txBody>
      </p:sp>
      <p:sp>
        <p:nvSpPr>
          <p:cNvPr id="43" name="Box 42"/>
          <p:cNvSpPr/>
          <p:nvPr/>
        </p:nvSpPr>
        <p:spPr>
          <a:xfrm>
            <a:off x="812998" y="3049389"/>
            <a:ext cx="2042120" cy="1260277"/>
          </a:xfrm>
          <a:prstGeom prst="roundRect">
            <a:avLst>
              <a:gd name="adj" fmla="val 7054"/>
            </a:avLst>
          </a:prstGeom>
          <a:solidFill>
            <a:srgbClr val="FFFDF8"/>
          </a:solidFill>
          <a:ln>
            <a:noFill/>
          </a:ln>
        </p:spPr>
        <p:txBody>
          <a:bodyPr rtlCol="0" anchor="ctr"/>
          <a:lstStyle/>
          <a:p>
            <a:pPr algn="ctr"/>
          </a:p>
        </p:txBody>
      </p:sp>
      <p:sp>
        <p:nvSpPr>
          <p:cNvPr id="44" name="Rule 43"/>
          <p:cNvSpPr/>
          <p:nvPr/>
        </p:nvSpPr>
        <p:spPr>
          <a:xfrm>
            <a:off x="812998" y="3049389"/>
            <a:ext cx="2042120" cy="50800"/>
          </a:xfrm>
          <a:prstGeom prst="rect">
            <a:avLst/>
          </a:prstGeom>
          <a:solidFill>
            <a:srgbClr val="0E7C6B"/>
          </a:solidFill>
          <a:ln>
            <a:noFill/>
          </a:ln>
        </p:spPr>
        <p:txBody>
          <a:bodyPr rtlCol="0" anchor="ctr"/>
          <a:lstStyle/>
          <a:p>
            <a:pPr algn="ctr"/>
          </a:p>
        </p:txBody>
      </p:sp>
      <p:sp>
        <p:nvSpPr>
          <p:cNvPr id="45" name="Rule 44"/>
          <p:cNvSpPr/>
          <p:nvPr/>
        </p:nvSpPr>
        <p:spPr>
          <a:xfrm>
            <a:off x="2848769" y="3049389"/>
            <a:ext cx="6350" cy="1260277"/>
          </a:xfrm>
          <a:prstGeom prst="rect">
            <a:avLst/>
          </a:prstGeom>
          <a:solidFill>
            <a:srgbClr val="E1DBCD"/>
          </a:solidFill>
          <a:ln>
            <a:noFill/>
          </a:ln>
        </p:spPr>
        <p:txBody>
          <a:bodyPr rtlCol="0" anchor="ctr"/>
          <a:lstStyle/>
          <a:p>
            <a:pPr algn="ctr"/>
          </a:p>
        </p:txBody>
      </p:sp>
      <p:sp>
        <p:nvSpPr>
          <p:cNvPr id="46" name="Rule 45"/>
          <p:cNvSpPr/>
          <p:nvPr/>
        </p:nvSpPr>
        <p:spPr>
          <a:xfrm>
            <a:off x="812998" y="4303316"/>
            <a:ext cx="2042120" cy="6350"/>
          </a:xfrm>
          <a:prstGeom prst="rect">
            <a:avLst/>
          </a:prstGeom>
          <a:solidFill>
            <a:srgbClr val="E1DBCD"/>
          </a:solidFill>
          <a:ln>
            <a:noFill/>
          </a:ln>
        </p:spPr>
        <p:txBody>
          <a:bodyPr rtlCol="0" anchor="ctr"/>
          <a:lstStyle/>
          <a:p>
            <a:pPr algn="ctr"/>
          </a:p>
        </p:txBody>
      </p:sp>
      <p:sp>
        <p:nvSpPr>
          <p:cNvPr id="47" name="Rule 46"/>
          <p:cNvSpPr/>
          <p:nvPr/>
        </p:nvSpPr>
        <p:spPr>
          <a:xfrm>
            <a:off x="812998" y="3049389"/>
            <a:ext cx="6350" cy="1260277"/>
          </a:xfrm>
          <a:prstGeom prst="rect">
            <a:avLst/>
          </a:prstGeom>
          <a:solidFill>
            <a:srgbClr val="E1DBCD"/>
          </a:solidFill>
          <a:ln>
            <a:noFill/>
          </a:ln>
        </p:spPr>
        <p:txBody>
          <a:bodyPr rtlCol="0" anchor="ctr"/>
          <a:lstStyle/>
          <a:p>
            <a:pPr algn="ctr"/>
          </a:p>
        </p:txBody>
      </p:sp>
      <p:sp>
        <p:nvSpPr>
          <p:cNvPr id="48" name="Text 47"/>
          <p:cNvSpPr txBox="1"/>
          <p:nvPr/>
        </p:nvSpPr>
        <p:spPr>
          <a:xfrm>
            <a:off x="838398" y="3224713"/>
            <a:ext cx="188337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300" b="1" i="0">
                <a:solidFill>
                  <a:srgbClr val="0E7C6B"/>
                </a:solidFill>
                <a:latin typeface="Readex Pro"/>
                <a:ea typeface="Readex Pro"/>
                <a:cs typeface="Readex Pro"/>
              </a:rPr>
              <a:t>RC</a:t>
            </a:r>
          </a:p>
        </p:txBody>
      </p:sp>
      <p:sp>
        <p:nvSpPr>
          <p:cNvPr id="49" name="Text 48"/>
          <p:cNvSpPr txBox="1"/>
          <p:nvPr/>
        </p:nvSpPr>
        <p:spPr>
          <a:xfrm>
            <a:off x="838398" y="3458027"/>
            <a:ext cx="1883370"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التعافي</a:t>
            </a:r>
          </a:p>
        </p:txBody>
      </p:sp>
      <p:sp>
        <p:nvSpPr>
          <p:cNvPr id="50" name="Text 49"/>
          <p:cNvSpPr txBox="1"/>
          <p:nvPr/>
        </p:nvSpPr>
        <p:spPr>
          <a:xfrm>
            <a:off x="838398" y="3726053"/>
            <a:ext cx="188337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استعادة الأصول والعمليات</a:t>
            </a:r>
          </a:p>
        </p:txBody>
      </p:sp>
      <p:sp>
        <p:nvSpPr>
          <p:cNvPr id="51" name="Box 50"/>
          <p:cNvSpPr/>
          <p:nvPr/>
        </p:nvSpPr>
        <p:spPr>
          <a:xfrm>
            <a:off x="6162675" y="4490641"/>
            <a:ext cx="5213350" cy="676870"/>
          </a:xfrm>
          <a:prstGeom prst="roundRect">
            <a:avLst>
              <a:gd name="adj" fmla="val 13011"/>
            </a:avLst>
          </a:prstGeom>
          <a:solidFill>
            <a:srgbClr val="FFFDF8"/>
          </a:solidFill>
          <a:ln w="6350">
            <a:solidFill>
              <a:srgbClr val="E1DBCD"/>
            </a:solidFill>
          </a:ln>
        </p:spPr>
        <p:txBody>
          <a:bodyPr rtlCol="0" anchor="ctr"/>
          <a:lstStyle/>
          <a:p>
            <a:pPr algn="ctr"/>
          </a:p>
        </p:txBody>
      </p:sp>
      <p:pic>
        <p:nvPicPr>
          <p:cNvPr id="52" name="Icon Activity 51" descr="icon033.png"/>
          <p:cNvPicPr>
            <a:picLocks noChangeAspect="1"/>
          </p:cNvPicPr>
          <p:nvPr/>
        </p:nvPicPr>
        <p:blipFill>
          <a:blip r:embed="rId2"/>
          <a:stretch>
            <a:fillRect/>
          </a:stretch>
        </p:blipFill>
        <p:spPr>
          <a:xfrm>
            <a:off x="11017250" y="4608116"/>
            <a:ext cx="203200" cy="203200"/>
          </a:xfrm>
          <a:prstGeom prst="rect">
            <a:avLst/>
          </a:prstGeom>
        </p:spPr>
      </p:pic>
      <p:sp>
        <p:nvSpPr>
          <p:cNvPr id="53" name="Text 52"/>
          <p:cNvSpPr txBox="1"/>
          <p:nvPr/>
        </p:nvSpPr>
        <p:spPr>
          <a:xfrm>
            <a:off x="6184900" y="4580684"/>
            <a:ext cx="4743450"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الملف التعريفي (Profile):</a:t>
            </a:r>
            <a:r>
              <a:rPr sz="1200" b="0" i="0" lang="ar-SA" altLang="en-US">
                <a:solidFill>
                  <a:srgbClr val="172433"/>
                </a:solidFill>
                <a:latin typeface="IBM Plex Sans Arabic"/>
                <a:ea typeface="IBM Plex Sans Arabic"/>
                <a:cs typeface="IBM Plex Sans Arabic"/>
              </a:rPr>
              <a:t> وضعك الحالي مقابل الوضع المستهدف، والفرق خطة عمل.</a:t>
            </a:r>
          </a:p>
        </p:txBody>
      </p:sp>
      <p:sp>
        <p:nvSpPr>
          <p:cNvPr id="54" name="Box 53"/>
          <p:cNvSpPr/>
          <p:nvPr/>
        </p:nvSpPr>
        <p:spPr>
          <a:xfrm>
            <a:off x="815975" y="4490641"/>
            <a:ext cx="5213350" cy="676870"/>
          </a:xfrm>
          <a:prstGeom prst="roundRect">
            <a:avLst>
              <a:gd name="adj" fmla="val 13011"/>
            </a:avLst>
          </a:prstGeom>
          <a:solidFill>
            <a:srgbClr val="FFFDF8"/>
          </a:solidFill>
          <a:ln w="6350">
            <a:solidFill>
              <a:srgbClr val="E1DBCD"/>
            </a:solidFill>
          </a:ln>
        </p:spPr>
        <p:txBody>
          <a:bodyPr rtlCol="0" anchor="ctr"/>
          <a:lstStyle/>
          <a:p>
            <a:pPr algn="ctr"/>
          </a:p>
        </p:txBody>
      </p:sp>
      <p:pic>
        <p:nvPicPr>
          <p:cNvPr id="55" name="Icon Chart 54" descr="icon034.png"/>
          <p:cNvPicPr>
            <a:picLocks noChangeAspect="1"/>
          </p:cNvPicPr>
          <p:nvPr/>
        </p:nvPicPr>
        <p:blipFill>
          <a:blip r:embed="rId3"/>
          <a:stretch>
            <a:fillRect/>
          </a:stretch>
        </p:blipFill>
        <p:spPr>
          <a:xfrm>
            <a:off x="5670550" y="4608116"/>
            <a:ext cx="203200" cy="203200"/>
          </a:xfrm>
          <a:prstGeom prst="rect">
            <a:avLst/>
          </a:prstGeom>
        </p:spPr>
      </p:pic>
      <p:sp>
        <p:nvSpPr>
          <p:cNvPr id="56" name="Text 55"/>
          <p:cNvSpPr txBox="1"/>
          <p:nvPr/>
        </p:nvSpPr>
        <p:spPr>
          <a:xfrm>
            <a:off x="838200" y="4580684"/>
            <a:ext cx="47434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المستويات (Tiers):</a:t>
            </a:r>
            <a:r>
              <a:rPr sz="1200" b="0" i="0" lang="ar-SA" altLang="en-US">
                <a:solidFill>
                  <a:srgbClr val="172433"/>
                </a:solidFill>
                <a:latin typeface="IBM Plex Sans Arabic"/>
                <a:ea typeface="IBM Plex Sans Arabic"/>
                <a:cs typeface="IBM Plex Sans Arabic"/>
              </a:rPr>
              <a:t> من 1 جزئي إلى 4 متكيف، تصف نضج إدارة المخاطر.</a:t>
            </a:r>
          </a:p>
        </p:txBody>
      </p:sp>
      <p:sp>
        <p:nvSpPr>
          <p:cNvPr id="57" name="Text 56"/>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04 · الأطر والمعايير</a:t>
            </a:r>
          </a:p>
        </p:txBody>
      </p:sp>
      <p:sp>
        <p:nvSpPr>
          <p:cNvPr id="58" name="Text 57"/>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36100" y="609600"/>
            <a:ext cx="194310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04 · الأطر والمعايير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مقارنتان تخلطهما المقابلات</a:t>
            </a:r>
          </a:p>
        </p:txBody>
      </p:sp>
      <p:sp>
        <p:nvSpPr>
          <p:cNvPr id="5" name="Text 4"/>
          <p:cNvSpPr txBox="1"/>
          <p:nvPr/>
        </p:nvSpPr>
        <p:spPr>
          <a:xfrm>
            <a:off x="5796788" y="1593556"/>
            <a:ext cx="5582412"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lang="ar-SA" altLang="en-US">
                <a:solidFill>
                  <a:srgbClr val="24506B"/>
                </a:solidFill>
                <a:latin typeface="Readex Pro"/>
                <a:ea typeface="Readex Pro"/>
                <a:cs typeface="Readex Pro"/>
              </a:rPr>
              <a:t>NIST CSF أم NIST RMF؟</a:t>
            </a:r>
          </a:p>
        </p:txBody>
      </p:sp>
      <p:graphicFrame>
        <p:nvGraphicFramePr>
          <p:cNvPr id="6" name="Table 5"/>
          <p:cNvGraphicFramePr>
            <a:graphicFrameLocks noGrp="1"/>
          </p:cNvGraphicFramePr>
          <p:nvPr/>
        </p:nvGraphicFramePr>
        <p:xfrm>
          <a:off x="6213475" y="2006501"/>
          <a:ext cx="5162550" cy="2239168"/>
        </p:xfrm>
        <a:graphic>
          <a:graphicData uri="http://schemas.openxmlformats.org/drawingml/2006/table">
            <a:tbl>
              <a:tblPr firstRow="0" bandRow="0" lastRow="0" firstCol="0" lastCol="0" bandCol="0">
                <a:tableStyleId>{2D5ABB26-0587-4C30-8999-92F81FD0307C}</a:tableStyleId>
              </a:tblPr>
              <a:tblGrid>
                <a:gridCol w="2065020"/>
                <a:gridCol w="2065020"/>
                <a:gridCol w="1032510"/>
              </a:tblGrid>
              <a:tr h="422672">
                <a:tc>
                  <a:txBody>
                    <a:bodyPr wrap="square"/>
                    <a:lstStyle/>
                    <a:p>
                      <a:pPr algn="r">
                        <a:lnSpc>
                          <a:spcPts val="2160"/>
                        </a:lnSpc>
                        <a:spcBef>
                          <a:spcPts val="0"/>
                        </a:spcBef>
                        <a:spcAft>
                          <a:spcPts val="0"/>
                        </a:spcAft>
                      </a:pPr>
                      <a:r>
                        <a:rPr sz="1600" b="1" i="0">
                          <a:solidFill>
                            <a:srgbClr val="F3EFE6"/>
                          </a:solidFill>
                          <a:latin typeface="IBM Plex Sans Arabic"/>
                          <a:ea typeface="IBM Plex Sans Arabic"/>
                          <a:cs typeface="IBM Plex Sans Arabic"/>
                        </a:rPr>
                        <a:t>RMF</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160"/>
                        </a:lnSpc>
                        <a:spcBef>
                          <a:spcPts val="0"/>
                        </a:spcBef>
                        <a:spcAft>
                          <a:spcPts val="0"/>
                        </a:spcAft>
                      </a:pPr>
                      <a:r>
                        <a:rPr sz="1600" b="1" i="0">
                          <a:solidFill>
                            <a:srgbClr val="F3EFE6"/>
                          </a:solidFill>
                          <a:latin typeface="IBM Plex Sans Arabic"/>
                          <a:ea typeface="IBM Plex Sans Arabic"/>
                          <a:cs typeface="IBM Plex Sans Arabic"/>
                        </a:rPr>
                        <a:t>CSF 2.0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عملية من سبع خطوات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إطار نتائج لإدارة مخاطر الأمن السيبراني</a:t>
                      </a:r>
                    </a:p>
                  </a:txBody>
                  <a:tcPr marT="85649" marR="121920" marB="56591" marL="6728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4E5A66"/>
                          </a:solidFill>
                          <a:latin typeface="IBM Plex Sans Arabic"/>
                          <a:ea typeface="IBM Plex Sans Arabic"/>
                          <a:cs typeface="IBM Plex Sans Arabic"/>
                        </a:rPr>
                        <a:t>النوع</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نظام واحد عبر دورة حياته</a:t>
                      </a:r>
                    </a:p>
                  </a:txBody>
                  <a:tcPr marT="85649" marR="121920" marB="56591" marL="67287"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الجهة كلها: ملفات ومستويات</a:t>
                      </a:r>
                    </a:p>
                  </a:txBody>
                  <a:tcPr marT="85649" marR="121920" marB="56591" marL="67287"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4E5A66"/>
                          </a:solidFill>
                          <a:latin typeface="IBM Plex Sans Arabic"/>
                          <a:ea typeface="IBM Plex Sans Arabic"/>
                          <a:cs typeface="IBM Plex Sans Arabic"/>
                        </a:rPr>
                        <a:t>المستوى</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SP 800-37 Rev. 2</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CSWP 29 · 2024</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4E5A66"/>
                          </a:solidFill>
                          <a:latin typeface="IBM Plex Sans Arabic"/>
                          <a:ea typeface="IBM Plex Sans Arabic"/>
                          <a:cs typeface="IBM Plex Sans Arabic"/>
                        </a:rPr>
                        <a:t>المرجع</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Text 6"/>
          <p:cNvSpPr txBox="1"/>
          <p:nvPr/>
        </p:nvSpPr>
        <p:spPr>
          <a:xfrm>
            <a:off x="399288" y="1593556"/>
            <a:ext cx="5582412"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lang="ar-SA" altLang="en-US">
                <a:solidFill>
                  <a:srgbClr val="0E7C6B"/>
                </a:solidFill>
                <a:latin typeface="Readex Pro"/>
                <a:ea typeface="Readex Pro"/>
                <a:cs typeface="Readex Pro"/>
              </a:rPr>
              <a:t>تقييم الفجوات أم النضج؟</a:t>
            </a:r>
          </a:p>
        </p:txBody>
      </p:sp>
      <p:graphicFrame>
        <p:nvGraphicFramePr>
          <p:cNvPr id="8" name="Table 7"/>
          <p:cNvGraphicFramePr>
            <a:graphicFrameLocks noGrp="1"/>
          </p:cNvGraphicFramePr>
          <p:nvPr/>
        </p:nvGraphicFramePr>
        <p:xfrm>
          <a:off x="815975" y="2006501"/>
          <a:ext cx="5162550" cy="2787648"/>
        </p:xfrm>
        <a:graphic>
          <a:graphicData uri="http://schemas.openxmlformats.org/drawingml/2006/table">
            <a:tbl>
              <a:tblPr firstRow="0" bandRow="0" lastRow="0" firstCol="0" lastCol="0" bandCol="0">
                <a:tableStyleId>{2D5ABB26-0587-4C30-8999-92F81FD0307C}</a:tableStyleId>
              </a:tblPr>
              <a:tblGrid>
                <a:gridCol w="2065020"/>
                <a:gridCol w="2065020"/>
                <a:gridCol w="1032510"/>
              </a:tblGrid>
              <a:tr h="696912">
                <a:tc>
                  <a:txBody>
                    <a:bodyPr wrap="square"/>
                    <a:lstStyle/>
                    <a:p>
                      <a:pPr algn="r">
                        <a:lnSpc>
                          <a:spcPts val="2160"/>
                        </a:lnSpc>
                        <a:spcBef>
                          <a:spcPts val="0"/>
                        </a:spcBef>
                        <a:spcAft>
                          <a:spcPts val="0"/>
                        </a:spcAft>
                      </a:pPr>
                      <a:r>
                        <a:rPr sz="1600" b="1" i="0">
                          <a:solidFill>
                            <a:srgbClr val="F3EFE6"/>
                          </a:solidFill>
                          <a:latin typeface="IBM Plex Sans Arabic"/>
                          <a:ea typeface="IBM Plex Sans Arabic"/>
                          <a:cs typeface="IBM Plex Sans Arabic"/>
                        </a:rPr>
                        <a:t>Maturity Assessment</a:t>
                      </a:r>
                    </a:p>
                  </a:txBody>
                  <a:tcPr marT="85649" marR="121920" marB="56591" marL="67287"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160"/>
                        </a:lnSpc>
                        <a:spcBef>
                          <a:spcPts val="0"/>
                        </a:spcBef>
                        <a:spcAft>
                          <a:spcPts val="0"/>
                        </a:spcAft>
                      </a:pPr>
                      <a:r>
                        <a:rPr sz="1600" b="1" i="0">
                          <a:solidFill>
                            <a:srgbClr val="F3EFE6"/>
                          </a:solidFill>
                          <a:latin typeface="IBM Plex Sans Arabic"/>
                          <a:ea typeface="IBM Plex Sans Arabic"/>
                          <a:cs typeface="IBM Plex Sans Arabic"/>
                        </a:rPr>
                        <a:t>Gap Assessment</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إلى أي مستوى وصلت ممارسات الجهة؟</a:t>
                      </a:r>
                    </a:p>
                  </a:txBody>
                  <a:tcPr marT="85649" marR="121920" marB="56591" marL="6728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ما الفرق بين الوضع القائم ومتطلب محدد؟</a:t>
                      </a:r>
                    </a:p>
                  </a:txBody>
                  <a:tcPr marT="85649" marR="121920" marB="56591" marL="6728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4E5A66"/>
                          </a:solidFill>
                          <a:latin typeface="IBM Plex Sans Arabic"/>
                          <a:ea typeface="IBM Plex Sans Arabic"/>
                          <a:cs typeface="IBM Plex Sans Arabic"/>
                        </a:rPr>
                        <a:t>السؤال</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مستوى على مقياس نضج</a:t>
                      </a:r>
                    </a:p>
                  </a:txBody>
                  <a:tcPr marT="85649" marR="121920" marB="56591" marL="67287"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قائمة فجوات: مطبق، جزئي، غير مطبق</a:t>
                      </a:r>
                    </a:p>
                  </a:txBody>
                  <a:tcPr marT="85649" marR="121920" marB="56591" marL="67287"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4E5A66"/>
                          </a:solidFill>
                          <a:latin typeface="IBM Plex Sans Arabic"/>
                          <a:ea typeface="IBM Plex Sans Arabic"/>
                          <a:cs typeface="IBM Plex Sans Arabic"/>
                        </a:rPr>
                        <a:t>النتيجة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قياس مستوى إدارة المخاطر من 1 إلى 5</a:t>
                      </a:r>
                    </a:p>
                  </a:txBody>
                  <a:tcPr marT="85649" marR="121920" marB="56591" marL="6728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مقارنة الجهة بضوابط ECC</a:t>
                      </a:r>
                    </a:p>
                  </a:txBody>
                  <a:tcPr marT="85649" marR="121920" marB="56591" marL="6728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4E5A66"/>
                          </a:solidFill>
                          <a:latin typeface="IBM Plex Sans Arabic"/>
                          <a:ea typeface="IBM Plex Sans Arabic"/>
                          <a:cs typeface="IBM Plex Sans Arabic"/>
                        </a:rPr>
                        <a:t>مثال</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9" name="Text 8"/>
          <p:cNvSpPr txBox="1"/>
          <p:nvPr/>
        </p:nvSpPr>
        <p:spPr>
          <a:xfrm>
            <a:off x="0" y="4918230"/>
            <a:ext cx="113792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lang="ar-SA" altLang="en-US">
                <a:solidFill>
                  <a:srgbClr val="4E5A66"/>
                </a:solidFill>
                <a:latin typeface="IBM Plex Sans Arabic"/>
                <a:ea typeface="IBM Plex Sans Arabic"/>
                <a:cs typeface="IBM Plex Sans Arabic"/>
              </a:rPr>
              <a:t>خطوات RMF السبع: Prepare · Categorize · Select · Implement · Assess · Authorize · Monitor</a:t>
            </a:r>
          </a:p>
        </p:txBody>
      </p:sp>
      <p:sp>
        <p:nvSpPr>
          <p:cNvPr id="10" name="Text 9"/>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04 · الأطر والمعايير</a:t>
            </a:r>
          </a:p>
        </p:txBody>
      </p:sp>
      <p:sp>
        <p:nvSpPr>
          <p:cNvPr id="11" name="Text 10"/>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565977" y="812800"/>
            <a:ext cx="1813223"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04 · الأطر والمعايير</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الأطر السعودية: من يصدرها، وعلى من تنطبق</a:t>
            </a:r>
          </a:p>
        </p:txBody>
      </p:sp>
      <p:sp>
        <p:nvSpPr>
          <p:cNvPr id="5" name="Box 4"/>
          <p:cNvSpPr/>
          <p:nvPr/>
        </p:nvSpPr>
        <p:spPr>
          <a:xfrm>
            <a:off x="4994870" y="1851620"/>
            <a:ext cx="6377980" cy="3313112"/>
          </a:xfrm>
          <a:prstGeom prst="roundRect">
            <a:avLst>
              <a:gd name="adj" fmla="val 3054"/>
            </a:avLst>
          </a:prstGeom>
          <a:solidFill>
            <a:srgbClr val="FFFDF8"/>
          </a:solidFill>
          <a:ln w="12700">
            <a:solidFill>
              <a:srgbClr val="0E7C6B"/>
            </a:solidFill>
          </a:ln>
        </p:spPr>
        <p:txBody>
          <a:bodyPr rtlCol="0" anchor="ctr"/>
          <a:lstStyle/>
          <a:p>
            <a:pPr algn="ctr"/>
          </a:p>
        </p:txBody>
      </p:sp>
      <p:sp>
        <p:nvSpPr>
          <p:cNvPr id="6" name="Text 5"/>
          <p:cNvSpPr txBox="1"/>
          <p:nvPr/>
        </p:nvSpPr>
        <p:spPr>
          <a:xfrm>
            <a:off x="5013920" y="2010688"/>
            <a:ext cx="6187480" cy="247650"/>
          </a:xfrm>
          <a:prstGeom prst="rect">
            <a:avLst/>
          </a:prstGeom>
          <a:noFill/>
        </p:spPr>
        <p:txBody>
          <a:bodyPr wrap="square" tIns="0" rIns="0" bIns="0" lIns="0" anchor="t" rtlCol="0" anchorCtr="0">
            <a:noAutofit/>
          </a:bodyPr>
          <a:lstStyle/>
          <a:p>
            <a:pPr algn="r" rtl="1">
              <a:lnSpc>
                <a:spcPts val="1950"/>
              </a:lnSpc>
              <a:spcBef>
                <a:spcPts val="0"/>
              </a:spcBef>
              <a:spcAft>
                <a:spcPts val="0"/>
              </a:spcAft>
            </a:pPr>
            <a:r>
              <a:rPr sz="1500" b="1" i="0" lang="ar-SA" altLang="en-US">
                <a:solidFill>
                  <a:srgbClr val="0E7C6B"/>
                </a:solidFill>
                <a:latin typeface="Readex Pro"/>
                <a:ea typeface="Readex Pro"/>
                <a:cs typeface="Readex Pro"/>
              </a:rPr>
              <a:t>الهيئة الوطنية للأمن السيبراني (NCA)</a:t>
            </a:r>
          </a:p>
        </p:txBody>
      </p:sp>
      <p:sp>
        <p:nvSpPr>
          <p:cNvPr id="7" name="Box 6"/>
          <p:cNvSpPr/>
          <p:nvPr/>
        </p:nvSpPr>
        <p:spPr>
          <a:xfrm>
            <a:off x="5166320" y="2346920"/>
            <a:ext cx="6035080" cy="604441"/>
          </a:xfrm>
          <a:prstGeom prst="roundRect">
            <a:avLst>
              <a:gd name="adj" fmla="val 12606"/>
            </a:avLst>
          </a:prstGeom>
          <a:solidFill>
            <a:srgbClr val="E3F1ED"/>
          </a:solidFill>
          <a:ln>
            <a:noFill/>
          </a:ln>
        </p:spPr>
        <p:txBody>
          <a:bodyPr rtlCol="0" anchor="ctr"/>
          <a:lstStyle/>
          <a:p>
            <a:pPr algn="ctr"/>
          </a:p>
        </p:txBody>
      </p:sp>
      <p:sp>
        <p:nvSpPr>
          <p:cNvPr id="8" name="Text 7"/>
          <p:cNvSpPr txBox="1"/>
          <p:nvPr/>
        </p:nvSpPr>
        <p:spPr>
          <a:xfrm>
            <a:off x="9578340" y="2535634"/>
            <a:ext cx="1508760" cy="206375"/>
          </a:xfrm>
          <a:prstGeom prst="rect">
            <a:avLst/>
          </a:prstGeom>
          <a:noFill/>
        </p:spPr>
        <p:txBody>
          <a:bodyPr wrap="square" tIns="0" rIns="0" bIns="0" lIns="0" anchor="t" rtlCol="0" anchorCtr="0">
            <a:noAutofit/>
          </a:bodyPr>
          <a:lstStyle/>
          <a:p>
            <a:pPr algn="r">
              <a:lnSpc>
                <a:spcPts val="1625"/>
              </a:lnSpc>
              <a:spcBef>
                <a:spcPts val="0"/>
              </a:spcBef>
              <a:spcAft>
                <a:spcPts val="0"/>
              </a:spcAft>
            </a:pPr>
            <a:r>
              <a:rPr sz="1250" b="1" i="0">
                <a:solidFill>
                  <a:srgbClr val="172433"/>
                </a:solidFill>
                <a:latin typeface="Readex Pro"/>
                <a:ea typeface="Readex Pro"/>
                <a:cs typeface="Readex Pro"/>
              </a:rPr>
              <a:t>ECC-2:2024</a:t>
            </a:r>
          </a:p>
        </p:txBody>
      </p:sp>
      <p:sp>
        <p:nvSpPr>
          <p:cNvPr id="9" name="Text 8"/>
          <p:cNvSpPr txBox="1"/>
          <p:nvPr/>
        </p:nvSpPr>
        <p:spPr>
          <a:xfrm>
            <a:off x="5191720" y="2412198"/>
            <a:ext cx="4409480"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الضوابط الأساسية: 108 ضوابط، للجهات الحكومية وجهات البنية التحتية الوطنية الحساسة</a:t>
            </a:r>
          </a:p>
        </p:txBody>
      </p:sp>
      <p:sp>
        <p:nvSpPr>
          <p:cNvPr id="10" name="Text 9"/>
          <p:cNvSpPr txBox="1"/>
          <p:nvPr/>
        </p:nvSpPr>
        <p:spPr>
          <a:xfrm>
            <a:off x="9578340" y="3046115"/>
            <a:ext cx="1508760" cy="206375"/>
          </a:xfrm>
          <a:prstGeom prst="rect">
            <a:avLst/>
          </a:prstGeom>
          <a:noFill/>
        </p:spPr>
        <p:txBody>
          <a:bodyPr wrap="square" tIns="0" rIns="0" bIns="0" lIns="0" anchor="t" rtlCol="0" anchorCtr="0">
            <a:noAutofit/>
          </a:bodyPr>
          <a:lstStyle/>
          <a:p>
            <a:pPr algn="r">
              <a:lnSpc>
                <a:spcPts val="1625"/>
              </a:lnSpc>
              <a:spcBef>
                <a:spcPts val="0"/>
              </a:spcBef>
              <a:spcAft>
                <a:spcPts val="0"/>
              </a:spcAft>
            </a:pPr>
            <a:r>
              <a:rPr sz="1250" b="1" i="0">
                <a:solidFill>
                  <a:srgbClr val="172433"/>
                </a:solidFill>
                <a:latin typeface="Readex Pro"/>
                <a:ea typeface="Readex Pro"/>
                <a:cs typeface="Readex Pro"/>
              </a:rPr>
              <a:t>CCC-2:2024</a:t>
            </a:r>
          </a:p>
        </p:txBody>
      </p:sp>
      <p:sp>
        <p:nvSpPr>
          <p:cNvPr id="11" name="Text 10"/>
          <p:cNvSpPr txBox="1"/>
          <p:nvPr/>
        </p:nvSpPr>
        <p:spPr>
          <a:xfrm>
            <a:off x="5013920" y="3029339"/>
            <a:ext cx="458728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الحوسبة السحابية: لمقدمي الخدمات السحابية والمستفيدين منها</a:t>
            </a:r>
          </a:p>
        </p:txBody>
      </p:sp>
      <p:sp>
        <p:nvSpPr>
          <p:cNvPr id="12" name="Text 11"/>
          <p:cNvSpPr txBox="1"/>
          <p:nvPr/>
        </p:nvSpPr>
        <p:spPr>
          <a:xfrm>
            <a:off x="9578340" y="3386435"/>
            <a:ext cx="1508760" cy="206375"/>
          </a:xfrm>
          <a:prstGeom prst="rect">
            <a:avLst/>
          </a:prstGeom>
          <a:noFill/>
        </p:spPr>
        <p:txBody>
          <a:bodyPr wrap="square" tIns="0" rIns="0" bIns="0" lIns="0" anchor="t" rtlCol="0" anchorCtr="0">
            <a:noAutofit/>
          </a:bodyPr>
          <a:lstStyle/>
          <a:p>
            <a:pPr algn="r">
              <a:lnSpc>
                <a:spcPts val="1625"/>
              </a:lnSpc>
              <a:spcBef>
                <a:spcPts val="0"/>
              </a:spcBef>
              <a:spcAft>
                <a:spcPts val="0"/>
              </a:spcAft>
            </a:pPr>
            <a:r>
              <a:rPr sz="1250" b="1" i="0">
                <a:solidFill>
                  <a:srgbClr val="172433"/>
                </a:solidFill>
                <a:latin typeface="Readex Pro"/>
                <a:ea typeface="Readex Pro"/>
                <a:cs typeface="Readex Pro"/>
              </a:rPr>
              <a:t>DCC-1:2022</a:t>
            </a:r>
          </a:p>
        </p:txBody>
      </p:sp>
      <p:sp>
        <p:nvSpPr>
          <p:cNvPr id="13" name="Text 12"/>
          <p:cNvSpPr txBox="1"/>
          <p:nvPr/>
        </p:nvSpPr>
        <p:spPr>
          <a:xfrm>
            <a:off x="5013920" y="3369659"/>
            <a:ext cx="458728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البيانات: حماية البيانات في دورة حياتها</a:t>
            </a:r>
          </a:p>
        </p:txBody>
      </p:sp>
      <p:sp>
        <p:nvSpPr>
          <p:cNvPr id="14" name="Text 13"/>
          <p:cNvSpPr txBox="1"/>
          <p:nvPr/>
        </p:nvSpPr>
        <p:spPr>
          <a:xfrm>
            <a:off x="9578340" y="3726755"/>
            <a:ext cx="1508760" cy="206375"/>
          </a:xfrm>
          <a:prstGeom prst="rect">
            <a:avLst/>
          </a:prstGeom>
          <a:noFill/>
        </p:spPr>
        <p:txBody>
          <a:bodyPr wrap="square" tIns="0" rIns="0" bIns="0" lIns="0" anchor="t" rtlCol="0" anchorCtr="0">
            <a:noAutofit/>
          </a:bodyPr>
          <a:lstStyle/>
          <a:p>
            <a:pPr algn="r">
              <a:lnSpc>
                <a:spcPts val="1625"/>
              </a:lnSpc>
              <a:spcBef>
                <a:spcPts val="0"/>
              </a:spcBef>
              <a:spcAft>
                <a:spcPts val="0"/>
              </a:spcAft>
            </a:pPr>
            <a:r>
              <a:rPr sz="1250" b="1" i="0">
                <a:solidFill>
                  <a:srgbClr val="172433"/>
                </a:solidFill>
                <a:latin typeface="Readex Pro"/>
                <a:ea typeface="Readex Pro"/>
                <a:cs typeface="Readex Pro"/>
              </a:rPr>
              <a:t>CSCC-1:2019</a:t>
            </a:r>
          </a:p>
        </p:txBody>
      </p:sp>
      <p:sp>
        <p:nvSpPr>
          <p:cNvPr id="15" name="Text 14"/>
          <p:cNvSpPr txBox="1"/>
          <p:nvPr/>
        </p:nvSpPr>
        <p:spPr>
          <a:xfrm>
            <a:off x="5013920" y="3709980"/>
            <a:ext cx="458728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الأنظمة الحساسة الوطنية</a:t>
            </a:r>
          </a:p>
        </p:txBody>
      </p:sp>
      <p:sp>
        <p:nvSpPr>
          <p:cNvPr id="16" name="Text 15"/>
          <p:cNvSpPr txBox="1"/>
          <p:nvPr/>
        </p:nvSpPr>
        <p:spPr>
          <a:xfrm>
            <a:off x="9578340" y="4067076"/>
            <a:ext cx="1508760" cy="206375"/>
          </a:xfrm>
          <a:prstGeom prst="rect">
            <a:avLst/>
          </a:prstGeom>
          <a:noFill/>
        </p:spPr>
        <p:txBody>
          <a:bodyPr wrap="square" tIns="0" rIns="0" bIns="0" lIns="0" anchor="t" rtlCol="0" anchorCtr="0">
            <a:noAutofit/>
          </a:bodyPr>
          <a:lstStyle/>
          <a:p>
            <a:pPr algn="r">
              <a:lnSpc>
                <a:spcPts val="1625"/>
              </a:lnSpc>
              <a:spcBef>
                <a:spcPts val="0"/>
              </a:spcBef>
              <a:spcAft>
                <a:spcPts val="0"/>
              </a:spcAft>
            </a:pPr>
            <a:r>
              <a:rPr sz="1250" b="1" i="0">
                <a:solidFill>
                  <a:srgbClr val="172433"/>
                </a:solidFill>
                <a:latin typeface="Readex Pro"/>
                <a:ea typeface="Readex Pro"/>
                <a:cs typeface="Readex Pro"/>
              </a:rPr>
              <a:t>OTCC-1:2022</a:t>
            </a:r>
          </a:p>
        </p:txBody>
      </p:sp>
      <p:sp>
        <p:nvSpPr>
          <p:cNvPr id="17" name="Text 16"/>
          <p:cNvSpPr txBox="1"/>
          <p:nvPr/>
        </p:nvSpPr>
        <p:spPr>
          <a:xfrm>
            <a:off x="5013920" y="4050300"/>
            <a:ext cx="458728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أنظمة التقنية التشغيلية والتحكم الصناعي</a:t>
            </a:r>
          </a:p>
        </p:txBody>
      </p:sp>
      <p:sp>
        <p:nvSpPr>
          <p:cNvPr id="18" name="Text 17"/>
          <p:cNvSpPr txBox="1"/>
          <p:nvPr/>
        </p:nvSpPr>
        <p:spPr>
          <a:xfrm>
            <a:off x="9578340" y="4407396"/>
            <a:ext cx="1508760" cy="206375"/>
          </a:xfrm>
          <a:prstGeom prst="rect">
            <a:avLst/>
          </a:prstGeom>
          <a:noFill/>
        </p:spPr>
        <p:txBody>
          <a:bodyPr wrap="square" tIns="0" rIns="0" bIns="0" lIns="0" anchor="t" rtlCol="0" anchorCtr="0">
            <a:noAutofit/>
          </a:bodyPr>
          <a:lstStyle/>
          <a:p>
            <a:pPr algn="r">
              <a:lnSpc>
                <a:spcPts val="1625"/>
              </a:lnSpc>
              <a:spcBef>
                <a:spcPts val="0"/>
              </a:spcBef>
              <a:spcAft>
                <a:spcPts val="0"/>
              </a:spcAft>
            </a:pPr>
            <a:r>
              <a:rPr sz="1250" b="1" i="0">
                <a:solidFill>
                  <a:srgbClr val="172433"/>
                </a:solidFill>
                <a:latin typeface="Readex Pro"/>
                <a:ea typeface="Readex Pro"/>
                <a:cs typeface="Readex Pro"/>
              </a:rPr>
              <a:t>TCC-1:2021</a:t>
            </a:r>
          </a:p>
        </p:txBody>
      </p:sp>
      <p:sp>
        <p:nvSpPr>
          <p:cNvPr id="19" name="Text 18"/>
          <p:cNvSpPr txBox="1"/>
          <p:nvPr/>
        </p:nvSpPr>
        <p:spPr>
          <a:xfrm>
            <a:off x="5013920" y="4390620"/>
            <a:ext cx="458728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العمل عن بعد</a:t>
            </a:r>
          </a:p>
        </p:txBody>
      </p:sp>
      <p:sp>
        <p:nvSpPr>
          <p:cNvPr id="20" name="Text 19"/>
          <p:cNvSpPr txBox="1"/>
          <p:nvPr/>
        </p:nvSpPr>
        <p:spPr>
          <a:xfrm>
            <a:off x="9578340" y="4747716"/>
            <a:ext cx="1508760" cy="206375"/>
          </a:xfrm>
          <a:prstGeom prst="rect">
            <a:avLst/>
          </a:prstGeom>
          <a:noFill/>
        </p:spPr>
        <p:txBody>
          <a:bodyPr wrap="square" tIns="0" rIns="0" bIns="0" lIns="0" anchor="t" rtlCol="0" anchorCtr="0">
            <a:noAutofit/>
          </a:bodyPr>
          <a:lstStyle/>
          <a:p>
            <a:pPr algn="r">
              <a:lnSpc>
                <a:spcPts val="1625"/>
              </a:lnSpc>
              <a:spcBef>
                <a:spcPts val="0"/>
              </a:spcBef>
              <a:spcAft>
                <a:spcPts val="0"/>
              </a:spcAft>
            </a:pPr>
            <a:r>
              <a:rPr sz="1250" b="1" i="0">
                <a:solidFill>
                  <a:srgbClr val="172433"/>
                </a:solidFill>
                <a:latin typeface="Readex Pro"/>
                <a:ea typeface="Readex Pro"/>
                <a:cs typeface="Readex Pro"/>
              </a:rPr>
              <a:t>OSMACC-1:2021</a:t>
            </a:r>
          </a:p>
        </p:txBody>
      </p:sp>
      <p:sp>
        <p:nvSpPr>
          <p:cNvPr id="21" name="Text 20"/>
          <p:cNvSpPr txBox="1"/>
          <p:nvPr/>
        </p:nvSpPr>
        <p:spPr>
          <a:xfrm>
            <a:off x="5013920" y="4730940"/>
            <a:ext cx="458728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حسابات التواصل الاجتماعي للجهات</a:t>
            </a:r>
          </a:p>
        </p:txBody>
      </p:sp>
      <p:sp>
        <p:nvSpPr>
          <p:cNvPr id="22" name="Box 21"/>
          <p:cNvSpPr/>
          <p:nvPr/>
        </p:nvSpPr>
        <p:spPr>
          <a:xfrm>
            <a:off x="812800" y="1845270"/>
            <a:ext cx="4023320" cy="1090216"/>
          </a:xfrm>
          <a:prstGeom prst="roundRect">
            <a:avLst>
              <a:gd name="adj" fmla="val 9319"/>
            </a:avLst>
          </a:prstGeom>
          <a:solidFill>
            <a:srgbClr val="FFFDF8"/>
          </a:solidFill>
          <a:ln>
            <a:noFill/>
          </a:ln>
        </p:spPr>
        <p:txBody>
          <a:bodyPr rtlCol="0" anchor="ctr"/>
          <a:lstStyle/>
          <a:p>
            <a:pPr algn="ctr"/>
          </a:p>
        </p:txBody>
      </p:sp>
      <p:sp>
        <p:nvSpPr>
          <p:cNvPr id="23" name="Rule 22"/>
          <p:cNvSpPr/>
          <p:nvPr/>
        </p:nvSpPr>
        <p:spPr>
          <a:xfrm>
            <a:off x="812800" y="1845270"/>
            <a:ext cx="4023320" cy="50800"/>
          </a:xfrm>
          <a:prstGeom prst="rect">
            <a:avLst/>
          </a:prstGeom>
          <a:solidFill>
            <a:srgbClr val="3E6FA8"/>
          </a:solidFill>
          <a:ln>
            <a:noFill/>
          </a:ln>
        </p:spPr>
        <p:txBody>
          <a:bodyPr rtlCol="0" anchor="ctr"/>
          <a:lstStyle/>
          <a:p>
            <a:pPr algn="ctr"/>
          </a:p>
        </p:txBody>
      </p:sp>
      <p:sp>
        <p:nvSpPr>
          <p:cNvPr id="24" name="Rule 23"/>
          <p:cNvSpPr/>
          <p:nvPr/>
        </p:nvSpPr>
        <p:spPr>
          <a:xfrm>
            <a:off x="4829770" y="1845270"/>
            <a:ext cx="6350" cy="1090216"/>
          </a:xfrm>
          <a:prstGeom prst="rect">
            <a:avLst/>
          </a:prstGeom>
          <a:solidFill>
            <a:srgbClr val="E1DBCD"/>
          </a:solidFill>
          <a:ln>
            <a:noFill/>
          </a:ln>
        </p:spPr>
        <p:txBody>
          <a:bodyPr rtlCol="0" anchor="ctr"/>
          <a:lstStyle/>
          <a:p>
            <a:pPr algn="ctr"/>
          </a:p>
        </p:txBody>
      </p:sp>
      <p:sp>
        <p:nvSpPr>
          <p:cNvPr id="25" name="Rule 24"/>
          <p:cNvSpPr/>
          <p:nvPr/>
        </p:nvSpPr>
        <p:spPr>
          <a:xfrm>
            <a:off x="812800" y="2929136"/>
            <a:ext cx="4023320" cy="6350"/>
          </a:xfrm>
          <a:prstGeom prst="rect">
            <a:avLst/>
          </a:prstGeom>
          <a:solidFill>
            <a:srgbClr val="E1DBCD"/>
          </a:solidFill>
          <a:ln>
            <a:noFill/>
          </a:ln>
        </p:spPr>
        <p:txBody>
          <a:bodyPr rtlCol="0" anchor="ctr"/>
          <a:lstStyle/>
          <a:p>
            <a:pPr algn="ctr"/>
          </a:p>
        </p:txBody>
      </p:sp>
      <p:sp>
        <p:nvSpPr>
          <p:cNvPr id="26" name="Rule 25"/>
          <p:cNvSpPr/>
          <p:nvPr/>
        </p:nvSpPr>
        <p:spPr>
          <a:xfrm>
            <a:off x="812800" y="1845270"/>
            <a:ext cx="6350" cy="1090216"/>
          </a:xfrm>
          <a:prstGeom prst="rect">
            <a:avLst/>
          </a:prstGeom>
          <a:solidFill>
            <a:srgbClr val="E1DBCD"/>
          </a:solidFill>
          <a:ln>
            <a:noFill/>
          </a:ln>
        </p:spPr>
        <p:txBody>
          <a:bodyPr rtlCol="0" anchor="ctr"/>
          <a:lstStyle/>
          <a:p>
            <a:pPr algn="ctr"/>
          </a:p>
        </p:txBody>
      </p:sp>
      <p:sp>
        <p:nvSpPr>
          <p:cNvPr id="27" name="Text 26"/>
          <p:cNvSpPr txBox="1"/>
          <p:nvPr/>
        </p:nvSpPr>
        <p:spPr>
          <a:xfrm>
            <a:off x="838200" y="2036913"/>
            <a:ext cx="383917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2F5C92"/>
                </a:solidFill>
                <a:latin typeface="Readex Pro"/>
                <a:ea typeface="Readex Pro"/>
                <a:cs typeface="Readex Pro"/>
              </a:rPr>
              <a:t>البنك المركزي السعودي (ساما)</a:t>
            </a:r>
          </a:p>
        </p:txBody>
      </p:sp>
      <p:sp>
        <p:nvSpPr>
          <p:cNvPr id="28" name="Text 27"/>
          <p:cNvSpPr txBox="1"/>
          <p:nvPr/>
        </p:nvSpPr>
        <p:spPr>
          <a:xfrm>
            <a:off x="860375" y="2302919"/>
            <a:ext cx="3816995"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إطار الأمن السيبراني (SAMA CSF)</a:t>
            </a:r>
            <a:r>
              <a:rPr sz="1200" b="0" i="0" lang="ar-SA" altLang="en-US">
                <a:solidFill>
                  <a:srgbClr val="172433"/>
                </a:solidFill>
                <a:latin typeface="IBM Plex Sans Arabic"/>
                <a:ea typeface="IBM Plex Sans Arabic"/>
                <a:cs typeface="IBM Plex Sans Arabic"/>
              </a:rPr>
              <a:t>، الإصدار 1.0 لعام 2017، للبنوك وشركات التأمين والتمويل الخاضعة لإشرافه.</a:t>
            </a:r>
          </a:p>
        </p:txBody>
      </p:sp>
      <p:sp>
        <p:nvSpPr>
          <p:cNvPr id="29" name="Box 28"/>
          <p:cNvSpPr/>
          <p:nvPr/>
        </p:nvSpPr>
        <p:spPr>
          <a:xfrm>
            <a:off x="812800" y="3062486"/>
            <a:ext cx="4023320" cy="1090216"/>
          </a:xfrm>
          <a:prstGeom prst="roundRect">
            <a:avLst>
              <a:gd name="adj" fmla="val 9319"/>
            </a:avLst>
          </a:prstGeom>
          <a:solidFill>
            <a:srgbClr val="FFFDF8"/>
          </a:solidFill>
          <a:ln>
            <a:noFill/>
          </a:ln>
        </p:spPr>
        <p:txBody>
          <a:bodyPr rtlCol="0" anchor="ctr"/>
          <a:lstStyle/>
          <a:p>
            <a:pPr algn="ctr"/>
          </a:p>
        </p:txBody>
      </p:sp>
      <p:sp>
        <p:nvSpPr>
          <p:cNvPr id="30" name="Rule 29"/>
          <p:cNvSpPr/>
          <p:nvPr/>
        </p:nvSpPr>
        <p:spPr>
          <a:xfrm>
            <a:off x="812800" y="3062486"/>
            <a:ext cx="4023320" cy="50800"/>
          </a:xfrm>
          <a:prstGeom prst="rect">
            <a:avLst/>
          </a:prstGeom>
          <a:solidFill>
            <a:srgbClr val="C27A16"/>
          </a:solidFill>
          <a:ln>
            <a:noFill/>
          </a:ln>
        </p:spPr>
        <p:txBody>
          <a:bodyPr rtlCol="0" anchor="ctr"/>
          <a:lstStyle/>
          <a:p>
            <a:pPr algn="ctr"/>
          </a:p>
        </p:txBody>
      </p:sp>
      <p:sp>
        <p:nvSpPr>
          <p:cNvPr id="31" name="Rule 30"/>
          <p:cNvSpPr/>
          <p:nvPr/>
        </p:nvSpPr>
        <p:spPr>
          <a:xfrm>
            <a:off x="4829770" y="3062486"/>
            <a:ext cx="6350" cy="1090216"/>
          </a:xfrm>
          <a:prstGeom prst="rect">
            <a:avLst/>
          </a:prstGeom>
          <a:solidFill>
            <a:srgbClr val="E1DBCD"/>
          </a:solidFill>
          <a:ln>
            <a:noFill/>
          </a:ln>
        </p:spPr>
        <p:txBody>
          <a:bodyPr rtlCol="0" anchor="ctr"/>
          <a:lstStyle/>
          <a:p>
            <a:pPr algn="ctr"/>
          </a:p>
        </p:txBody>
      </p:sp>
      <p:sp>
        <p:nvSpPr>
          <p:cNvPr id="32" name="Rule 31"/>
          <p:cNvSpPr/>
          <p:nvPr/>
        </p:nvSpPr>
        <p:spPr>
          <a:xfrm>
            <a:off x="812800" y="4146352"/>
            <a:ext cx="4023320" cy="6350"/>
          </a:xfrm>
          <a:prstGeom prst="rect">
            <a:avLst/>
          </a:prstGeom>
          <a:solidFill>
            <a:srgbClr val="E1DBCD"/>
          </a:solidFill>
          <a:ln>
            <a:noFill/>
          </a:ln>
        </p:spPr>
        <p:txBody>
          <a:bodyPr rtlCol="0" anchor="ctr"/>
          <a:lstStyle/>
          <a:p>
            <a:pPr algn="ctr"/>
          </a:p>
        </p:txBody>
      </p:sp>
      <p:sp>
        <p:nvSpPr>
          <p:cNvPr id="33" name="Rule 32"/>
          <p:cNvSpPr/>
          <p:nvPr/>
        </p:nvSpPr>
        <p:spPr>
          <a:xfrm>
            <a:off x="812800" y="3062486"/>
            <a:ext cx="6350" cy="1090216"/>
          </a:xfrm>
          <a:prstGeom prst="rect">
            <a:avLst/>
          </a:prstGeom>
          <a:solidFill>
            <a:srgbClr val="E1DBCD"/>
          </a:solidFill>
          <a:ln>
            <a:noFill/>
          </a:ln>
        </p:spPr>
        <p:txBody>
          <a:bodyPr rtlCol="0" anchor="ctr"/>
          <a:lstStyle/>
          <a:p>
            <a:pPr algn="ctr"/>
          </a:p>
        </p:txBody>
      </p:sp>
      <p:sp>
        <p:nvSpPr>
          <p:cNvPr id="34" name="Text 33"/>
          <p:cNvSpPr txBox="1"/>
          <p:nvPr/>
        </p:nvSpPr>
        <p:spPr>
          <a:xfrm>
            <a:off x="838200" y="3254129"/>
            <a:ext cx="383917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9A5F0F"/>
                </a:solidFill>
                <a:latin typeface="Readex Pro"/>
                <a:ea typeface="Readex Pro"/>
                <a:cs typeface="Readex Pro"/>
              </a:rPr>
              <a:t>سدايا ومكتب إدارة البيانات الوطنية</a:t>
            </a:r>
          </a:p>
        </p:txBody>
      </p:sp>
      <p:sp>
        <p:nvSpPr>
          <p:cNvPr id="35" name="Text 34"/>
          <p:cNvSpPr txBox="1"/>
          <p:nvPr/>
        </p:nvSpPr>
        <p:spPr>
          <a:xfrm>
            <a:off x="860375" y="3520134"/>
            <a:ext cx="3816995"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نظام حماية البيانات الشخصية</a:t>
            </a:r>
            <a:r>
              <a:rPr sz="1200" b="0" i="0" lang="ar-SA" altLang="en-US">
                <a:solidFill>
                  <a:srgbClr val="172433"/>
                </a:solidFill>
                <a:latin typeface="IBM Plex Sans Arabic"/>
                <a:ea typeface="IBM Plex Sans Arabic"/>
                <a:cs typeface="IBM Plex Sans Arabic"/>
              </a:rPr>
              <a:t> ولوائحه، و</a:t>
            </a:r>
            <a:r>
              <a:rPr sz="1200" b="1" i="0" lang="ar-SA" altLang="en-US">
                <a:solidFill>
                  <a:srgbClr val="172433"/>
                </a:solidFill>
                <a:latin typeface="IBM Plex Sans Arabic"/>
                <a:ea typeface="IBM Plex Sans Arabic"/>
                <a:cs typeface="IBM Plex Sans Arabic"/>
              </a:rPr>
              <a:t>معايير إدارة البيانات</a:t>
            </a:r>
            <a:r>
              <a:rPr sz="1200" b="0" i="0" lang="ar-SA" altLang="en-US">
                <a:solidFill>
                  <a:srgbClr val="172433"/>
                </a:solidFill>
                <a:latin typeface="IBM Plex Sans Arabic"/>
                <a:ea typeface="IBM Plex Sans Arabic"/>
                <a:cs typeface="IBM Plex Sans Arabic"/>
              </a:rPr>
              <a:t> الوطنية.</a:t>
            </a:r>
          </a:p>
        </p:txBody>
      </p:sp>
      <p:sp>
        <p:nvSpPr>
          <p:cNvPr id="36" name="Box 35"/>
          <p:cNvSpPr/>
          <p:nvPr/>
        </p:nvSpPr>
        <p:spPr>
          <a:xfrm>
            <a:off x="812800" y="4279702"/>
            <a:ext cx="4023320" cy="891480"/>
          </a:xfrm>
          <a:prstGeom prst="roundRect">
            <a:avLst>
              <a:gd name="adj" fmla="val 9972"/>
            </a:avLst>
          </a:prstGeom>
          <a:solidFill>
            <a:srgbClr val="172433"/>
          </a:solidFill>
          <a:ln>
            <a:noFill/>
          </a:ln>
        </p:spPr>
        <p:txBody>
          <a:bodyPr rtlCol="0" anchor="ctr"/>
          <a:lstStyle/>
          <a:p>
            <a:pPr algn="ctr"/>
          </a:p>
        </p:txBody>
      </p:sp>
      <p:pic>
        <p:nvPicPr>
          <p:cNvPr id="37" name="Icon Users 36" descr="icon035.png"/>
          <p:cNvPicPr>
            <a:picLocks noChangeAspect="1"/>
          </p:cNvPicPr>
          <p:nvPr/>
        </p:nvPicPr>
        <p:blipFill>
          <a:blip r:embed="rId2"/>
          <a:stretch>
            <a:fillRect/>
          </a:stretch>
        </p:blipFill>
        <p:spPr>
          <a:xfrm>
            <a:off x="4493220" y="4394002"/>
            <a:ext cx="203200" cy="203200"/>
          </a:xfrm>
          <a:prstGeom prst="rect">
            <a:avLst/>
          </a:prstGeom>
        </p:spPr>
      </p:pic>
      <p:sp>
        <p:nvSpPr>
          <p:cNvPr id="38" name="Text 37"/>
          <p:cNvSpPr txBox="1"/>
          <p:nvPr/>
        </p:nvSpPr>
        <p:spPr>
          <a:xfrm>
            <a:off x="848945" y="4366570"/>
            <a:ext cx="3555375" cy="66288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F3EFE6"/>
                </a:solidFill>
                <a:latin typeface="IBM Plex Sans Arabic"/>
                <a:ea typeface="IBM Plex Sans Arabic"/>
                <a:cs typeface="IBM Plex Sans Arabic"/>
              </a:rPr>
              <a:t>للمسار المهني:</a:t>
            </a:r>
            <a:r>
              <a:rPr sz="1200" b="0" i="0" lang="ar-SA" altLang="en-US">
                <a:solidFill>
                  <a:srgbClr val="F3EFE6"/>
                </a:solidFill>
                <a:latin typeface="IBM Plex Sans Arabic"/>
                <a:ea typeface="IBM Plex Sans Arabic"/>
                <a:cs typeface="IBM Plex Sans Arabic"/>
              </a:rPr>
              <a:t> الإطار السعودي لكوادر الأمن السيبراني (‎SCyWF-1.5:2026‎) فيه فئة للحوكمة والمخاطر والامتثال بأدوارها.</a:t>
            </a:r>
          </a:p>
        </p:txBody>
      </p:sp>
      <p:sp>
        <p:nvSpPr>
          <p:cNvPr id="39" name="Text 38"/>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04 · الأطر والمعايير</a:t>
            </a:r>
          </a:p>
        </p:txBody>
      </p:sp>
      <p:sp>
        <p:nvSpPr>
          <p:cNvPr id="40" name="Text 39"/>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36100" y="609600"/>
            <a:ext cx="194310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04 · الأطر والمعايير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مراجع القطاع والبيانات: لمن تنطبق؟</a:t>
            </a:r>
          </a:p>
        </p:txBody>
      </p:sp>
      <p:graphicFrame>
        <p:nvGraphicFramePr>
          <p:cNvPr id="5" name="Table 4"/>
          <p:cNvGraphicFramePr>
            <a:graphicFrameLocks noGrp="1"/>
          </p:cNvGraphicFramePr>
          <p:nvPr/>
        </p:nvGraphicFramePr>
        <p:xfrm>
          <a:off x="815975" y="1661120"/>
          <a:ext cx="10560050" cy="3484561"/>
        </p:xfrm>
        <a:graphic>
          <a:graphicData uri="http://schemas.openxmlformats.org/drawingml/2006/table">
            <a:tbl>
              <a:tblPr firstRow="0" bandRow="0" lastRow="0" firstCol="0" lastCol="0" bandCol="0">
                <a:tableStyleId>{2D5ABB26-0587-4C30-8999-92F81FD0307C}</a:tableStyleId>
              </a:tblPr>
              <a:tblGrid>
                <a:gridCol w="2534285"/>
                <a:gridCol w="3484880"/>
                <a:gridCol w="2006600"/>
                <a:gridCol w="2534285"/>
              </a:tblGrid>
              <a:tr h="422672">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لماذا قد تستخدمه 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نطاق الانطباق</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الغرض</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المرجع ونوعه</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971153">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ملزم لهم، ويُطلب من مزوديهم أحياناً</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الخاضعون لإشراف البنك المركزي: البنوك، والتأمين، والتمويل، ومكاتب الائتمان، وغيرها</a:t>
                      </a:r>
                    </a:p>
                  </a:txBody>
                  <a:tcPr marT="85649" marR="121920" marB="56591" marL="24692"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الأمن السيبراني في القطاع المالي</a:t>
                      </a:r>
                    </a:p>
                  </a:txBody>
                  <a:tcPr marT="85649" marR="121920" marB="56591" marL="69043"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إطار ساما (2017)</a:t>
                      </a:r>
                      <a:r>
                        <a:rPr sz="1600" b="0" i="0" lang="ar-SA" altLang="en-US">
                          <a:solidFill>
                            <a:srgbClr val="172433"/>
                          </a:solidFill>
                          <a:latin typeface="IBM Plex Sans Arabic"/>
                          <a:ea typeface="IBM Plex Sans Arabic"/>
                          <a:cs typeface="IBM Plex Sans Arabic"/>
                        </a:rPr>
                        <a:t>: إطار تنظيمي قطاعي</a:t>
                      </a:r>
                    </a:p>
                  </a:txBody>
                  <a:tcPr marT="85649" marR="121920" marB="56591" marL="5319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ملزم لمن يقع في نطاقه، ومنه أغلب الشركات</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معالجة البيانات الشخصية المتعلقة بأفراد في المملكة، ومنها المعالجة من خارجها</a:t>
                      </a:r>
                    </a:p>
                  </a:txBody>
                  <a:tcPr marT="85649" marR="121920" marB="56591" marL="24692"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حقوق صاحب البيانات وضوابط معالجتها</a:t>
                      </a:r>
                    </a:p>
                  </a:txBody>
                  <a:tcPr marT="85649" marR="121920" marB="56591" marL="69043"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نظام حماية البيانات الشخصية</a:t>
                      </a:r>
                      <a:r>
                        <a:rPr sz="1600" b="0" i="0" lang="ar-SA" altLang="en-US">
                          <a:solidFill>
                            <a:srgbClr val="172433"/>
                          </a:solidFill>
                          <a:latin typeface="IBM Plex Sans Arabic"/>
                          <a:ea typeface="IBM Plex Sans Arabic"/>
                          <a:cs typeface="IBM Plex Sans Arabic"/>
                        </a:rPr>
                        <a:t>: نظام (قانون)</a:t>
                      </a:r>
                    </a:p>
                  </a:txBody>
                  <a:tcPr marT="85649" marR="121920" marB="56591" marL="53199"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تفرضه شبكات البطاقات والبنوك المستحوذة بالعقود</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من يخزن بيانات البطاقات أو يعالجها أو ينقلها</a:t>
                      </a:r>
                    </a:p>
                  </a:txBody>
                  <a:tcPr marT="85649" marR="121920" marB="56591" marL="24692"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حماية بيانات البطاقات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PCI DSS v4.0.1</a:t>
                      </a:r>
                      <a:r>
                        <a:rPr sz="1600" b="0" i="0" lang="ar-SA" altLang="en-US">
                          <a:solidFill>
                            <a:srgbClr val="172433"/>
                          </a:solidFill>
                          <a:latin typeface="IBM Plex Sans Arabic"/>
                          <a:ea typeface="IBM Plex Sans Arabic"/>
                          <a:cs typeface="IBM Plex Sans Arabic"/>
                        </a:rPr>
                        <a:t>: معيار تعاقدي من مجلس PCI SSC</a:t>
                      </a:r>
                    </a:p>
                  </a:txBody>
                  <a:tcPr marT="85649" marR="121920" marB="56591" marL="5319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شركة سعودية تخدم عملاء في أوروبا</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منشأة في الاتحاد الأوروبي، أو من يعرض سلعاً وخدمات لأفراد فيه أو يراقب سلوكهم</a:t>
                      </a:r>
                    </a:p>
                  </a:txBody>
                  <a:tcPr marT="85649" marR="121920" marB="56591" marL="24692"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حماية البيانات الشخصية</a:t>
                      </a:r>
                    </a:p>
                  </a:txBody>
                  <a:tcPr marT="85649" marR="121920" marB="56591" marL="69043"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GDPR</a:t>
                      </a:r>
                      <a:r>
                        <a:rPr sz="1600" b="0" i="0" lang="ar-SA" altLang="en-US">
                          <a:solidFill>
                            <a:srgbClr val="172433"/>
                          </a:solidFill>
                          <a:latin typeface="IBM Plex Sans Arabic"/>
                          <a:ea typeface="IBM Plex Sans Arabic"/>
                          <a:cs typeface="IBM Plex Sans Arabic"/>
                        </a:rPr>
                        <a:t>: لائحة أوروبية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Text 5"/>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04 · الأطر والمعايير</a:t>
            </a:r>
          </a:p>
        </p:txBody>
      </p:sp>
      <p:sp>
        <p:nvSpPr>
          <p:cNvPr id="7" name="Text 6"/>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36100" y="609600"/>
            <a:ext cx="194310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04 · الأطر والمعايير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مراجع للتعريف والمقارنة</a:t>
            </a:r>
          </a:p>
        </p:txBody>
      </p:sp>
      <p:graphicFrame>
        <p:nvGraphicFramePr>
          <p:cNvPr id="5" name="Table 4"/>
          <p:cNvGraphicFramePr>
            <a:graphicFrameLocks noGrp="1"/>
          </p:cNvGraphicFramePr>
          <p:nvPr/>
        </p:nvGraphicFramePr>
        <p:xfrm>
          <a:off x="815975" y="1661120"/>
          <a:ext cx="10560050" cy="4181473"/>
        </p:xfrm>
        <a:graphic>
          <a:graphicData uri="http://schemas.openxmlformats.org/drawingml/2006/table">
            <a:tbl>
              <a:tblPr firstRow="0" bandRow="0" lastRow="0" firstCol="0" lastCol="0" bandCol="0">
                <a:tableStyleId>{2D5ABB26-0587-4C30-8999-92F81FD0307C}</a:tableStyleId>
              </a:tblPr>
              <a:tblGrid>
                <a:gridCol w="2428875"/>
                <a:gridCol w="2745740"/>
                <a:gridCol w="2639695"/>
                <a:gridCol w="2745740"/>
              </a:tblGrid>
              <a:tr h="422672">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لماذا قد تستخدمه 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نطاق الانطباق</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الغرض</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المرجع ونوعه</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لحوكمة التقنية وتدقيقها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أي جهة، طوعاً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ربط التقنية بأهداف 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COBIT 2019</a:t>
                      </a:r>
                      <a:r>
                        <a:rPr sz="1600" b="0" i="0" lang="ar-SA" altLang="en-US">
                          <a:solidFill>
                            <a:srgbClr val="172433"/>
                          </a:solidFill>
                          <a:latin typeface="IBM Plex Sans Arabic"/>
                          <a:ea typeface="IBM Plex Sans Arabic"/>
                          <a:cs typeface="IBM Plex Sans Arabic"/>
                        </a:rPr>
                        <a:t>: إطار حوكمة وإدارة للتقنية من ISACA</a:t>
                      </a:r>
                    </a:p>
                  </a:txBody>
                  <a:tcPr marT="85649" marR="121920" marB="56591" marL="4686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بداية عملية: IG1 «النظافة السيبرانية الأساسية»</a:t>
                      </a:r>
                    </a:p>
                  </a:txBody>
                  <a:tcPr marT="85649" marR="121920" marB="56591" marL="56372"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أي جهة، طوعاً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18 ضابطاً و153 إجراءً، ومجموعات تنفيذ IG1 إلى IG3</a:t>
                      </a:r>
                    </a:p>
                  </a:txBody>
                  <a:tcPr marT="85649" marR="121920" marB="56591" marL="5003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CIS Controls v8.1</a:t>
                      </a:r>
                      <a:r>
                        <a:rPr sz="1600" b="0" i="0" lang="ar-SA" altLang="en-US">
                          <a:solidFill>
                            <a:srgbClr val="172433"/>
                          </a:solidFill>
                          <a:latin typeface="IBM Plex Sans Arabic"/>
                          <a:ea typeface="IBM Plex Sans Arabic"/>
                          <a:cs typeface="IBM Plex Sans Arabic"/>
                        </a:rPr>
                        <a:t>: ضوابط مرتبة بالأولوية من CIS</a:t>
                      </a:r>
                    </a:p>
                  </a:txBody>
                  <a:tcPr marT="85649" marR="121920" marB="56591" marL="4686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منهجية لإدارة مخاطر نظام عبر دورة حياته</a:t>
                      </a:r>
                    </a:p>
                  </a:txBody>
                  <a:tcPr marT="85649" marR="121920" marB="56591" marL="56372"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مصممة للأنظمة الفيدرالية الأمريكية</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سبع خطوات من التهيئة إلى المراقبة</a:t>
                      </a:r>
                    </a:p>
                  </a:txBody>
                  <a:tcPr marT="85649" marR="121920" marB="56591" marL="5003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NIST RMF</a:t>
                      </a:r>
                      <a:r>
                        <a:rPr sz="1600" b="0" i="0" lang="ar-SA" altLang="en-US">
                          <a:solidFill>
                            <a:srgbClr val="172433"/>
                          </a:solidFill>
                          <a:latin typeface="IBM Plex Sans Arabic"/>
                          <a:ea typeface="IBM Plex Sans Arabic"/>
                          <a:cs typeface="IBM Plex Sans Arabic"/>
                        </a:rPr>
                        <a:t>: عملية لإدارة مخاطر الأنظمة من NIST</a:t>
                      </a:r>
                    </a:p>
                  </a:txBody>
                  <a:tcPr marT="85649" marR="121920" marB="56591" marL="4686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جهة تعالج بيانات صحية لصالح جهة أمريكية</a:t>
                      </a:r>
                    </a:p>
                  </a:txBody>
                  <a:tcPr marT="85649" marR="121920" marB="56591" marL="56372"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خطط التأمين الصحي ومقدمو الرعاية المشمولون وشركاؤهم</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حماية المعلومات الصحية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HIPAA</a:t>
                      </a:r>
                      <a:r>
                        <a:rPr sz="1600" b="0" i="0" lang="ar-SA" altLang="en-US">
                          <a:solidFill>
                            <a:srgbClr val="172433"/>
                          </a:solidFill>
                          <a:latin typeface="IBM Plex Sans Arabic"/>
                          <a:ea typeface="IBM Plex Sans Arabic"/>
                          <a:cs typeface="IBM Plex Sans Arabic"/>
                        </a:rPr>
                        <a:t>: قانون أمريكي</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971153">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ضوابط التقنية التي تمس التقارير المالية</a:t>
                      </a:r>
                    </a:p>
                  </a:txBody>
                  <a:tcPr marT="85649" marR="121920" marB="56591" marL="56372"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الشركات المدرجة في الولايات المتحدة؛ القسم 404 للرقابة الداخلية</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موثوقية التقارير المالية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SOX</a:t>
                      </a:r>
                      <a:r>
                        <a:rPr sz="1600" b="0" i="0" lang="ar-SA" altLang="en-US">
                          <a:solidFill>
                            <a:srgbClr val="172433"/>
                          </a:solidFill>
                          <a:latin typeface="IBM Plex Sans Arabic"/>
                          <a:ea typeface="IBM Plex Sans Arabic"/>
                          <a:cs typeface="IBM Plex Sans Arabic"/>
                        </a:rPr>
                        <a:t>: قانون أمريكي (2002)</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Text 5"/>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04 · الأطر والمعايير</a:t>
            </a:r>
          </a:p>
        </p:txBody>
      </p:sp>
      <p:sp>
        <p:nvSpPr>
          <p:cNvPr id="7" name="Text 6"/>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436100" y="609600"/>
            <a:ext cx="194310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04 · الأطر والمعايير</a:t>
            </a:r>
          </a:p>
        </p:txBody>
      </p:sp>
      <p:sp>
        <p:nvSpPr>
          <p:cNvPr id="4" name="Text box 3"/>
          <p:cNvSpPr/>
          <p:nvPr/>
        </p:nvSpPr>
        <p:spPr>
          <a:xfrm>
            <a:off x="8334177"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مثال محلول: مواءمة ضابط واحد مع مرجعين</a:t>
            </a:r>
          </a:p>
        </p:txBody>
      </p:sp>
      <p:pic>
        <p:nvPicPr>
          <p:cNvPr id="6" name="Icon Lock 5" descr="icon012.png"/>
          <p:cNvPicPr>
            <a:picLocks noChangeAspect="1"/>
          </p:cNvPicPr>
          <p:nvPr/>
        </p:nvPicPr>
        <p:blipFill>
          <a:blip r:embed="rId2"/>
          <a:stretch>
            <a:fillRect/>
          </a:stretch>
        </p:blipFill>
        <p:spPr>
          <a:xfrm>
            <a:off x="11099800" y="1633141"/>
            <a:ext cx="279400" cy="279400"/>
          </a:xfrm>
          <a:prstGeom prst="rect">
            <a:avLst/>
          </a:prstGeom>
        </p:spPr>
      </p:pic>
      <p:sp>
        <p:nvSpPr>
          <p:cNvPr id="7" name="Text 6"/>
          <p:cNvSpPr txBox="1"/>
          <p:nvPr/>
        </p:nvSpPr>
        <p:spPr>
          <a:xfrm>
            <a:off x="0" y="1565997"/>
            <a:ext cx="11010900"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1" i="0" lang="ar-SA" altLang="en-US">
                <a:solidFill>
                  <a:srgbClr val="172433"/>
                </a:solidFill>
                <a:latin typeface="IBM Plex Sans Arabic"/>
                <a:ea typeface="IBM Plex Sans Arabic"/>
                <a:cs typeface="IBM Plex Sans Arabic"/>
              </a:rPr>
              <a:t>الضابط الداخلي: CTL-⁠RA-⁠01: التحقق متعدد العوامل إلزامي لكل مستخدمي VPN (معيار الوصول عن بعد).</a:t>
            </a:r>
          </a:p>
        </p:txBody>
      </p:sp>
      <p:graphicFrame>
        <p:nvGraphicFramePr>
          <p:cNvPr id="8" name="Table 7"/>
          <p:cNvGraphicFramePr>
            <a:graphicFrameLocks noGrp="1"/>
          </p:cNvGraphicFramePr>
          <p:nvPr/>
        </p:nvGraphicFramePr>
        <p:xfrm>
          <a:off x="815975" y="2081411"/>
          <a:ext cx="10560050" cy="2658864"/>
        </p:xfrm>
        <a:graphic>
          <a:graphicData uri="http://schemas.openxmlformats.org/drawingml/2006/table">
            <a:tbl>
              <a:tblPr firstRow="0" bandRow="0" lastRow="0" firstCol="0" lastCol="0" bandCol="0">
                <a:tableStyleId>{2D5ABB26-0587-4C30-8999-92F81FD0307C}</a:tableStyleId>
              </a:tblPr>
              <a:tblGrid>
                <a:gridCol w="2534285"/>
                <a:gridCol w="2534285"/>
                <a:gridCol w="3590290"/>
                <a:gridCol w="1901190"/>
              </a:tblGrid>
              <a:tr h="783431">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التغطية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ماذا يغطي الضابط الداخلي</a:t>
                      </a:r>
                    </a:p>
                  </a:txBody>
                  <a:tcPr marT="96355" marR="137160" marB="63665" marL="69359"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ماذا يطلب، بإيجاز</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المرجع</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1092002">
                <a:tc>
                  <a:txBody>
                    <a:bodyPr wrap="square"/>
                    <a:lstStyle/>
                    <a:p>
                      <a:pPr algn="r" rtl="1">
                        <a:lnSpc>
                          <a:spcPts val="2430"/>
                        </a:lnSpc>
                        <a:spcBef>
                          <a:spcPts val="0"/>
                        </a:spcBef>
                        <a:spcAft>
                          <a:spcPts val="0"/>
                        </a:spcAft>
                      </a:pPr>
                      <a:r>
                        <a:rPr sz="1800" b="1" i="0" lang="ar-SA" altLang="en-US">
                          <a:solidFill>
                            <a:srgbClr val="8A4B12"/>
                          </a:solidFill>
                          <a:latin typeface="IBM Plex Sans Arabic"/>
                          <a:ea typeface="IBM Plex Sans Arabic"/>
                          <a:cs typeface="IBM Plex Sans Arabic"/>
                        </a:rPr>
                        <a:t>جزئي: الحسابات الهامة لها ضابط آخر يجب ربطه.</a:t>
                      </a:r>
                    </a:p>
                  </a:txBody>
                  <a:tcPr marT="96355" marR="137160" marB="63665" marL="6935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يغطي الدخول عن بعد عبر VPN فقط.</a:t>
                      </a:r>
                    </a:p>
                  </a:txBody>
                  <a:tcPr marT="96355" marR="137160" marB="63665" marL="6935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تحقق متعدد العوامل للدخول عن بعد وللحسابات ذات الصلاحيات الهامة، بعوامل يحددها تقييم الأثر.</a:t>
                      </a:r>
                    </a:p>
                  </a:txBody>
                  <a:tcPr marT="96355" marR="137160" marB="63665" marL="3767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24506B"/>
                          </a:solidFill>
                          <a:latin typeface="IBM Plex Sans Arabic"/>
                          <a:ea typeface="IBM Plex Sans Arabic"/>
                          <a:cs typeface="IBM Plex Sans Arabic"/>
                        </a:rPr>
                        <a:t>ECC 2-2-3-2</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83431">
                <a:tc>
                  <a:txBody>
                    <a:bodyPr wrap="square"/>
                    <a:lstStyle/>
                    <a:p>
                      <a:pPr algn="r" rtl="1">
                        <a:lnSpc>
                          <a:spcPts val="2430"/>
                        </a:lnSpc>
                        <a:spcBef>
                          <a:spcPts val="0"/>
                        </a:spcBef>
                        <a:spcAft>
                          <a:spcPts val="0"/>
                        </a:spcAft>
                      </a:pPr>
                      <a:r>
                        <a:rPr sz="1800" b="1" i="0" lang="ar-SA" altLang="en-US">
                          <a:solidFill>
                            <a:srgbClr val="8A4B12"/>
                          </a:solidFill>
                          <a:latin typeface="IBM Plex Sans Arabic"/>
                          <a:ea typeface="IBM Plex Sans Arabic"/>
                          <a:cs typeface="IBM Plex Sans Arabic"/>
                        </a:rPr>
                        <a:t>جزئي: يخدم جزءاً من الضابط.</a:t>
                      </a:r>
                    </a:p>
                  </a:txBody>
                  <a:tcPr marT="96355" marR="137160" marB="63665" marL="69359"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جزء منها: MFA على VPN.</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المصادقة الآمنة: تقنيات وإجراءات مصادقة آمنة وفق قيود الوصول.</a:t>
                      </a:r>
                    </a:p>
                  </a:txBody>
                  <a:tcPr marT="96355" marR="137160" marB="63665" marL="37677"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24506B"/>
                          </a:solidFill>
                          <a:latin typeface="IBM Plex Sans Arabic"/>
                          <a:ea typeface="IBM Plex Sans Arabic"/>
                          <a:cs typeface="IBM Plex Sans Arabic"/>
                        </a:rPr>
                        <a:t>ISO/IEC 27001 A.8.5</a:t>
                      </a:r>
                    </a:p>
                  </a:txBody>
                  <a:tcPr marT="96355" marR="137160" marB="63665" marL="8001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pic>
        <p:nvPicPr>
          <p:cNvPr id="9" name="Icon Search 8" descr="icon036.png"/>
          <p:cNvPicPr>
            <a:picLocks noChangeAspect="1"/>
          </p:cNvPicPr>
          <p:nvPr/>
        </p:nvPicPr>
        <p:blipFill>
          <a:blip r:embed="rId3"/>
          <a:stretch>
            <a:fillRect/>
          </a:stretch>
        </p:blipFill>
        <p:spPr>
          <a:xfrm>
            <a:off x="11099800" y="4890691"/>
            <a:ext cx="279400" cy="279400"/>
          </a:xfrm>
          <a:prstGeom prst="rect">
            <a:avLst/>
          </a:prstGeom>
        </p:spPr>
      </p:pic>
      <p:sp>
        <p:nvSpPr>
          <p:cNvPr id="10" name="Text 9"/>
          <p:cNvSpPr txBox="1"/>
          <p:nvPr/>
        </p:nvSpPr>
        <p:spPr>
          <a:xfrm>
            <a:off x="0" y="4846574"/>
            <a:ext cx="110109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الأدلة: إعداد سياسة البوابة، وسجل التغييرات، وسجل الاتصالات بطريقة التحقق: الأدلة نفسها تخدم المرجعين.</a:t>
            </a:r>
          </a:p>
        </p:txBody>
      </p:sp>
      <p:sp>
        <p:nvSpPr>
          <p:cNvPr id="11" name="Box 10"/>
          <p:cNvSpPr/>
          <p:nvPr/>
        </p:nvSpPr>
        <p:spPr>
          <a:xfrm>
            <a:off x="812800" y="5317430"/>
            <a:ext cx="10566400" cy="573980"/>
          </a:xfrm>
          <a:prstGeom prst="roundRect">
            <a:avLst>
              <a:gd name="adj" fmla="val 17700"/>
            </a:avLst>
          </a:prstGeom>
          <a:solidFill>
            <a:srgbClr val="172433"/>
          </a:solidFill>
          <a:ln>
            <a:noFill/>
          </a:ln>
        </p:spPr>
        <p:txBody>
          <a:bodyPr rtlCol="0" anchor="ctr"/>
          <a:lstStyle/>
          <a:p>
            <a:pPr algn="ctr"/>
          </a:p>
        </p:txBody>
      </p:sp>
      <p:pic>
        <p:nvPicPr>
          <p:cNvPr id="12" name="Icon Lightbulb 11" descr="icon037.png"/>
          <p:cNvPicPr>
            <a:picLocks noChangeAspect="1"/>
          </p:cNvPicPr>
          <p:nvPr/>
        </p:nvPicPr>
        <p:blipFill>
          <a:blip r:embed="rId4"/>
          <a:stretch>
            <a:fillRect/>
          </a:stretch>
        </p:blipFill>
        <p:spPr>
          <a:xfrm>
            <a:off x="10979150" y="5493246"/>
            <a:ext cx="222250" cy="222250"/>
          </a:xfrm>
          <a:prstGeom prst="rect">
            <a:avLst/>
          </a:prstGeom>
        </p:spPr>
      </p:pic>
      <p:sp>
        <p:nvSpPr>
          <p:cNvPr id="13" name="Text 12"/>
          <p:cNvSpPr txBox="1"/>
          <p:nvPr/>
        </p:nvSpPr>
        <p:spPr>
          <a:xfrm>
            <a:off x="838200" y="5408997"/>
            <a:ext cx="100266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lang="ar-SA" altLang="en-US">
                <a:solidFill>
                  <a:srgbClr val="F3EFE6"/>
                </a:solidFill>
                <a:latin typeface="IBM Plex Sans Arabic"/>
                <a:ea typeface="IBM Plex Sans Arabic"/>
                <a:cs typeface="IBM Plex Sans Arabic"/>
              </a:rPr>
              <a:t>المواءمة توفر الجهد، لكنها لا تثبت الالتزام: إن كان الضابط مطبقاً جزئياً، فالنتيجة جزئية في المرجعين معاً.</a:t>
            </a:r>
          </a:p>
        </p:txBody>
      </p:sp>
      <p:sp>
        <p:nvSpPr>
          <p:cNvPr id="14" name="Text 13"/>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04 · الأطر والمعايير</a:t>
            </a:r>
          </a:p>
        </p:txBody>
      </p:sp>
      <p:sp>
        <p:nvSpPr>
          <p:cNvPr id="15" name="Text 14"/>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436100" y="609600"/>
            <a:ext cx="194310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04 · الأطر والمعايير</a:t>
            </a:r>
          </a:p>
        </p:txBody>
      </p:sp>
      <p:sp>
        <p:nvSpPr>
          <p:cNvPr id="4" name="Text box 3"/>
          <p:cNvSpPr/>
          <p:nvPr/>
        </p:nvSpPr>
        <p:spPr>
          <a:xfrm>
            <a:off x="7805638"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تمرين: مواءمة مراجعة الصلاحيات</a:t>
            </a:r>
          </a:p>
        </p:txBody>
      </p:sp>
      <p:pic>
        <p:nvPicPr>
          <p:cNvPr id="6" name="Icon Lock 5" descr="icon038.png"/>
          <p:cNvPicPr>
            <a:picLocks noChangeAspect="1"/>
          </p:cNvPicPr>
          <p:nvPr/>
        </p:nvPicPr>
        <p:blipFill>
          <a:blip r:embed="rId2"/>
          <a:stretch>
            <a:fillRect/>
          </a:stretch>
        </p:blipFill>
        <p:spPr>
          <a:xfrm>
            <a:off x="11074400" y="1633141"/>
            <a:ext cx="304800" cy="304800"/>
          </a:xfrm>
          <a:prstGeom prst="rect">
            <a:avLst/>
          </a:prstGeom>
        </p:spPr>
      </p:pic>
      <p:sp>
        <p:nvSpPr>
          <p:cNvPr id="7" name="Text 6"/>
          <p:cNvSpPr txBox="1"/>
          <p:nvPr/>
        </p:nvSpPr>
        <p:spPr>
          <a:xfrm>
            <a:off x="0" y="1578697"/>
            <a:ext cx="10985500"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1" i="0" lang="ar-SA" altLang="en-US">
                <a:solidFill>
                  <a:srgbClr val="172433"/>
                </a:solidFill>
                <a:latin typeface="IBM Plex Sans Arabic"/>
                <a:ea typeface="IBM Plex Sans Arabic"/>
                <a:cs typeface="IBM Plex Sans Arabic"/>
              </a:rPr>
              <a:t>الضابط الداخلي: CTL-⁠AC-⁠03: مراجعة صلاحيات نظام الرواتب كل 3 أشهر، وإزالة غير المبرر خلال 5 أيام عمل.</a:t>
            </a:r>
          </a:p>
        </p:txBody>
      </p:sp>
      <p:graphicFrame>
        <p:nvGraphicFramePr>
          <p:cNvPr id="8" name="Table 7"/>
          <p:cNvGraphicFramePr>
            <a:graphicFrameLocks noGrp="1"/>
          </p:cNvGraphicFramePr>
          <p:nvPr/>
        </p:nvGraphicFramePr>
        <p:xfrm>
          <a:off x="815975" y="2106811"/>
          <a:ext cx="10560050" cy="2350293"/>
        </p:xfrm>
        <a:graphic>
          <a:graphicData uri="http://schemas.openxmlformats.org/drawingml/2006/table">
            <a:tbl>
              <a:tblPr firstRow="0" bandRow="0" lastRow="0" firstCol="0" lastCol="0" bandCol="0">
                <a:tableStyleId>{2D5ABB26-0587-4C30-8999-92F81FD0307C}</a:tableStyleId>
              </a:tblPr>
              <a:tblGrid>
                <a:gridCol w="2534285"/>
                <a:gridCol w="2534285"/>
                <a:gridCol w="3590290"/>
                <a:gridCol w="1901190"/>
              </a:tblGrid>
              <a:tr h="783431">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التغطية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ماذا يغطي الضابط الداخلي</a:t>
                      </a:r>
                    </a:p>
                  </a:txBody>
                  <a:tcPr marT="96355" marR="137160" marB="63665" marL="69359"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ماذا يطلب، بإيجاز</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المرجع</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783431">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المراجعة الدورية لهويات الدخول والصلاحيات.</a:t>
                      </a:r>
                    </a:p>
                  </a:txBody>
                  <a:tcPr marT="96355" marR="137160" marB="63665" marL="3767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24506B"/>
                          </a:solidFill>
                          <a:latin typeface="IBM Plex Sans Arabic"/>
                          <a:ea typeface="IBM Plex Sans Arabic"/>
                          <a:cs typeface="IBM Plex Sans Arabic"/>
                        </a:rPr>
                        <a:t>ECC 2-2-3-5</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83431">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صلاحيات الوصول: منحها ومراجعتها وتعديلها وإزالتها.</a:t>
                      </a:r>
                    </a:p>
                  </a:txBody>
                  <a:tcPr marT="96355" marR="137160" marB="63665" marL="37677"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24506B"/>
                          </a:solidFill>
                          <a:latin typeface="IBM Plex Sans Arabic"/>
                          <a:ea typeface="IBM Plex Sans Arabic"/>
                          <a:cs typeface="IBM Plex Sans Arabic"/>
                        </a:rPr>
                        <a:t>ISO/IEC 27001 A.5.18</a:t>
                      </a:r>
                    </a:p>
                  </a:txBody>
                  <a:tcPr marT="96355" marR="137160" marB="63665" marL="8001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9" name="Text 8"/>
          <p:cNvSpPr txBox="1"/>
          <p:nvPr/>
        </p:nvSpPr>
        <p:spPr>
          <a:xfrm>
            <a:off x="0" y="4577247"/>
            <a:ext cx="113792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lang="ar-SA" altLang="en-US">
                <a:solidFill>
                  <a:srgbClr val="8A4B12"/>
                </a:solidFill>
                <a:latin typeface="IBM Plex Sans Arabic"/>
                <a:ea typeface="IBM Plex Sans Arabic"/>
                <a:cs typeface="IBM Plex Sans Arabic"/>
              </a:rPr>
              <a:t>أكمل: ماذا يغطي الضابط من كل مرجع؟ كلي أم جزئي، ولماذا؟ وما الأدلة التي تخدم الاثنين؟ 10 دقائق.</a:t>
            </a:r>
          </a:p>
        </p:txBody>
      </p:sp>
      <p:sp>
        <p:nvSpPr>
          <p:cNvPr id="10" name="Text 9"/>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04 · الأطر والمعايير</a:t>
            </a:r>
          </a:p>
        </p:txBody>
      </p:sp>
      <p:sp>
        <p:nvSpPr>
          <p:cNvPr id="11" name="Text 10"/>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36100" y="609600"/>
            <a:ext cx="194310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04 · الأطر والمعايير</a:t>
            </a:r>
          </a:p>
        </p:txBody>
      </p:sp>
      <p:sp>
        <p:nvSpPr>
          <p:cNvPr id="4" name="Text box 3"/>
          <p:cNvSpPr/>
          <p:nvPr/>
        </p:nvSpPr>
        <p:spPr>
          <a:xfrm>
            <a:off x="8012708"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الإجابة: مواءمتان جزئيتان</a:t>
            </a:r>
          </a:p>
        </p:txBody>
      </p:sp>
      <p:graphicFrame>
        <p:nvGraphicFramePr>
          <p:cNvPr id="6" name="Table 5"/>
          <p:cNvGraphicFramePr>
            <a:graphicFrameLocks noGrp="1"/>
          </p:cNvGraphicFramePr>
          <p:nvPr/>
        </p:nvGraphicFramePr>
        <p:xfrm>
          <a:off x="815975" y="1635720"/>
          <a:ext cx="10560050" cy="3136900"/>
        </p:xfrm>
        <a:graphic>
          <a:graphicData uri="http://schemas.openxmlformats.org/drawingml/2006/table">
            <a:tbl>
              <a:tblPr firstRow="0" bandRow="0" lastRow="0" firstCol="0" lastCol="0" bandCol="0">
                <a:tableStyleId>{2D5ABB26-0587-4C30-8999-92F81FD0307C}</a:tableStyleId>
              </a:tblPr>
              <a:tblGrid>
                <a:gridCol w="7180580"/>
                <a:gridCol w="1478915"/>
                <a:gridCol w="1900555"/>
              </a:tblGrid>
              <a:tr h="527050">
                <a:tc>
                  <a:txBody>
                    <a:bodyPr wrap="square"/>
                    <a:lstStyle/>
                    <a:p>
                      <a:pPr algn="r" rtl="1">
                        <a:lnSpc>
                          <a:spcPts val="2700"/>
                        </a:lnSpc>
                        <a:spcBef>
                          <a:spcPts val="0"/>
                        </a:spcBef>
                        <a:spcAft>
                          <a:spcPts val="0"/>
                        </a:spcAft>
                      </a:pPr>
                      <a:r>
                        <a:rPr sz="2000" b="1" i="0" lang="ar-SA" altLang="en-US">
                          <a:solidFill>
                            <a:srgbClr val="F3EFE6"/>
                          </a:solidFill>
                          <a:latin typeface="IBM Plex Sans Arabic"/>
                          <a:ea typeface="IBM Plex Sans Arabic"/>
                          <a:cs typeface="IBM Plex Sans Arabic"/>
                        </a:rPr>
                        <a:t>لماذا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lang="ar-SA" altLang="en-US">
                          <a:solidFill>
                            <a:srgbClr val="F3EFE6"/>
                          </a:solidFill>
                          <a:latin typeface="IBM Plex Sans Arabic"/>
                          <a:ea typeface="IBM Plex Sans Arabic"/>
                          <a:cs typeface="IBM Plex Sans Arabic"/>
                        </a:rPr>
                        <a:t>التغطية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lang="ar-SA" altLang="en-US">
                          <a:solidFill>
                            <a:srgbClr val="F3EFE6"/>
                          </a:solidFill>
                          <a:latin typeface="IBM Plex Sans Arabic"/>
                          <a:ea typeface="IBM Plex Sans Arabic"/>
                          <a:cs typeface="IBM Plex Sans Arabic"/>
                        </a:rPr>
                        <a:t>المرجع</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1212850">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الضابط يغطي نظام الرواتب فقط. المتطلب يشمل هويات الدخول والصلاحيات في كل الأنظمة، فالبريد وVPN وتطبيق التتبع تحتاج ضوابط مراجعة أخرى.</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lang="ar-SA" altLang="en-US">
                          <a:solidFill>
                            <a:srgbClr val="8A4B12"/>
                          </a:solidFill>
                          <a:latin typeface="IBM Plex Sans Arabic"/>
                          <a:ea typeface="IBM Plex Sans Arabic"/>
                          <a:cs typeface="IBM Plex Sans Arabic"/>
                        </a:rPr>
                        <a:t>جزئي</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1" i="0">
                          <a:solidFill>
                            <a:srgbClr val="24506B"/>
                          </a:solidFill>
                          <a:latin typeface="IBM Plex Sans Arabic"/>
                          <a:ea typeface="IBM Plex Sans Arabic"/>
                          <a:cs typeface="IBM Plex Sans Arabic"/>
                        </a:rPr>
                        <a:t>ECC 2-2-3-5</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الضابط يخدم المراجعة والإزالة، ولا يغطي منح الصلاحيات وتعديلها.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lang="ar-SA" altLang="en-US">
                          <a:solidFill>
                            <a:srgbClr val="8A4B12"/>
                          </a:solidFill>
                          <a:latin typeface="IBM Plex Sans Arabic"/>
                          <a:ea typeface="IBM Plex Sans Arabic"/>
                          <a:cs typeface="IBM Plex Sans Arabic"/>
                        </a:rPr>
                        <a:t>جزئي</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700"/>
                        </a:lnSpc>
                        <a:spcBef>
                          <a:spcPts val="0"/>
                        </a:spcBef>
                        <a:spcAft>
                          <a:spcPts val="0"/>
                        </a:spcAft>
                      </a:pPr>
                      <a:r>
                        <a:rPr sz="2000" b="1" i="0">
                          <a:solidFill>
                            <a:srgbClr val="24506B"/>
                          </a:solidFill>
                          <a:latin typeface="IBM Plex Sans Arabic"/>
                          <a:ea typeface="IBM Plex Sans Arabic"/>
                          <a:cs typeface="IBM Plex Sans Arabic"/>
                        </a:rPr>
                        <a:t>ISO A.5.18</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869950">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ملف المراجعة واعتماده يخدمان المراجعة في المرجعين، وتذاكر الإزالة تخدم الإزالة في ISO.</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lang="ar-SA" altLang="en-US">
                          <a:solidFill>
                            <a:srgbClr val="8A4B12"/>
                          </a:solidFill>
                          <a:latin typeface="IBM Plex Sans Arabic"/>
                          <a:ea typeface="IBM Plex Sans Arabic"/>
                          <a:cs typeface="IBM Plex Sans Arabic"/>
                        </a:rPr>
                        <a:t>مشتركة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lang="ar-SA" altLang="en-US">
                          <a:solidFill>
                            <a:srgbClr val="24506B"/>
                          </a:solidFill>
                          <a:latin typeface="IBM Plex Sans Arabic"/>
                          <a:ea typeface="IBM Plex Sans Arabic"/>
                          <a:cs typeface="IBM Plex Sans Arabic"/>
                        </a:rPr>
                        <a:t>الأدلة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Box 6"/>
          <p:cNvSpPr/>
          <p:nvPr/>
        </p:nvSpPr>
        <p:spPr>
          <a:xfrm>
            <a:off x="815975" y="4944070"/>
            <a:ext cx="10560050" cy="615950"/>
          </a:xfrm>
          <a:prstGeom prst="roundRect">
            <a:avLst>
              <a:gd name="adj" fmla="val 16326"/>
            </a:avLst>
          </a:prstGeom>
          <a:solidFill>
            <a:srgbClr val="FBEAE5"/>
          </a:solidFill>
          <a:ln w="6350">
            <a:solidFill>
              <a:srgbClr val="E7B8AC"/>
            </a:solidFill>
          </a:ln>
        </p:spPr>
        <p:txBody>
          <a:bodyPr rtlCol="0" anchor="ctr"/>
          <a:lstStyle/>
          <a:p>
            <a:pPr algn="ctr"/>
          </a:p>
        </p:txBody>
      </p:sp>
      <p:pic>
        <p:nvPicPr>
          <p:cNvPr id="8" name="Icon Warning 7" descr="icon039.png"/>
          <p:cNvPicPr>
            <a:picLocks noChangeAspect="1"/>
          </p:cNvPicPr>
          <p:nvPr/>
        </p:nvPicPr>
        <p:blipFill>
          <a:blip r:embed="rId2"/>
          <a:stretch>
            <a:fillRect/>
          </a:stretch>
        </p:blipFill>
        <p:spPr>
          <a:xfrm>
            <a:off x="10928350" y="5118695"/>
            <a:ext cx="266700" cy="266700"/>
          </a:xfrm>
          <a:prstGeom prst="rect">
            <a:avLst/>
          </a:prstGeom>
        </p:spPr>
      </p:pic>
      <p:sp>
        <p:nvSpPr>
          <p:cNvPr id="9" name="Text 8"/>
          <p:cNvSpPr txBox="1"/>
          <p:nvPr/>
        </p:nvSpPr>
        <p:spPr>
          <a:xfrm>
            <a:off x="838200" y="5034875"/>
            <a:ext cx="99758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lang="ar-SA" altLang="en-US">
                <a:solidFill>
                  <a:srgbClr val="172433"/>
                </a:solidFill>
                <a:latin typeface="IBM Plex Sans Arabic"/>
                <a:ea typeface="IBM Plex Sans Arabic"/>
                <a:cs typeface="IBM Plex Sans Arabic"/>
              </a:rPr>
              <a:t>لا تكتب «متوافق» لأن العنوانين متشابهان. اكتب ما يغطيه الضابط، وما ينقص، وأي دليل يثبت ماذا.</a:t>
            </a:r>
          </a:p>
        </p:txBody>
      </p:sp>
      <p:sp>
        <p:nvSpPr>
          <p:cNvPr id="10" name="Text 9"/>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04 · الأطر والمعايير</a:t>
            </a:r>
          </a:p>
        </p:txBody>
      </p:sp>
      <p:sp>
        <p:nvSpPr>
          <p:cNvPr id="11" name="Text 10"/>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565977" y="812800"/>
            <a:ext cx="1813223"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04 · الأطر والمعايير</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بأي إطار تبدأ؟ ترتيب مقترح، وطريقة مذاكرة</a:t>
            </a:r>
          </a:p>
        </p:txBody>
      </p:sp>
      <p:sp>
        <p:nvSpPr>
          <p:cNvPr id="5" name="Box 4"/>
          <p:cNvSpPr/>
          <p:nvPr/>
        </p:nvSpPr>
        <p:spPr>
          <a:xfrm>
            <a:off x="10845800" y="1857970"/>
            <a:ext cx="533400" cy="726976"/>
          </a:xfrm>
          <a:prstGeom prst="roundRect">
            <a:avLst>
              <a:gd name="adj" fmla="val 16666"/>
            </a:avLst>
          </a:prstGeom>
          <a:solidFill>
            <a:srgbClr val="0E7C6B"/>
          </a:solidFill>
          <a:ln>
            <a:noFill/>
          </a:ln>
        </p:spPr>
        <p:txBody>
          <a:bodyPr rtlCol="0" anchor="ctr"/>
          <a:lstStyle/>
          <a:p>
            <a:pPr algn="ctr"/>
          </a:p>
        </p:txBody>
      </p:sp>
      <p:sp>
        <p:nvSpPr>
          <p:cNvPr id="6" name="Text 5"/>
          <p:cNvSpPr txBox="1"/>
          <p:nvPr/>
        </p:nvSpPr>
        <p:spPr>
          <a:xfrm>
            <a:off x="10871200" y="2105458"/>
            <a:ext cx="31998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FFFFFF"/>
                </a:solidFill>
                <a:latin typeface="Readex Pro"/>
                <a:ea typeface="Readex Pro"/>
                <a:cs typeface="Readex Pro"/>
              </a:rPr>
              <a:t>1</a:t>
            </a:r>
          </a:p>
        </p:txBody>
      </p:sp>
      <p:sp>
        <p:nvSpPr>
          <p:cNvPr id="7" name="Box 6"/>
          <p:cNvSpPr/>
          <p:nvPr/>
        </p:nvSpPr>
        <p:spPr>
          <a:xfrm>
            <a:off x="5965230" y="1861145"/>
            <a:ext cx="4763095" cy="720626"/>
          </a:xfrm>
          <a:prstGeom prst="roundRect">
            <a:avLst>
              <a:gd name="adj" fmla="val 12228"/>
            </a:avLst>
          </a:prstGeom>
          <a:solidFill>
            <a:srgbClr val="FFFDF8"/>
          </a:solidFill>
          <a:ln w="6350">
            <a:solidFill>
              <a:srgbClr val="E1DBCD"/>
            </a:solidFill>
          </a:ln>
        </p:spPr>
        <p:txBody>
          <a:bodyPr rtlCol="0" anchor="ctr"/>
          <a:lstStyle/>
          <a:p>
            <a:pPr algn="ctr"/>
          </a:p>
        </p:txBody>
      </p:sp>
      <p:sp>
        <p:nvSpPr>
          <p:cNvPr id="8" name="Text 7"/>
          <p:cNvSpPr txBox="1"/>
          <p:nvPr/>
        </p:nvSpPr>
        <p:spPr>
          <a:xfrm>
            <a:off x="5987455" y="1966651"/>
            <a:ext cx="4585295" cy="239316"/>
          </a:xfrm>
          <a:prstGeom prst="rect">
            <a:avLst/>
          </a:prstGeom>
          <a:noFill/>
        </p:spPr>
        <p:txBody>
          <a:bodyPr wrap="square" tIns="0" rIns="0" bIns="0" lIns="0" anchor="t" rtlCol="0" anchorCtr="0">
            <a:noAutofit/>
          </a:bodyPr>
          <a:lstStyle/>
          <a:p>
            <a:pPr algn="r" rtl="1">
              <a:lnSpc>
                <a:spcPts val="1885"/>
              </a:lnSpc>
              <a:spcBef>
                <a:spcPts val="0"/>
              </a:spcBef>
              <a:spcAft>
                <a:spcPts val="0"/>
              </a:spcAft>
            </a:pPr>
            <a:r>
              <a:rPr sz="1450" b="1" i="0" lang="ar-SA" altLang="en-US">
                <a:solidFill>
                  <a:srgbClr val="172433"/>
                </a:solidFill>
                <a:latin typeface="Readex Pro"/>
                <a:ea typeface="Readex Pro"/>
                <a:cs typeface="Readex Pro"/>
              </a:rPr>
              <a:t>NIST CSF 2.0 · الصورة الكاملة</a:t>
            </a:r>
          </a:p>
        </p:txBody>
      </p:sp>
      <p:sp>
        <p:nvSpPr>
          <p:cNvPr id="9" name="Text 8"/>
          <p:cNvSpPr txBox="1"/>
          <p:nvPr/>
        </p:nvSpPr>
        <p:spPr>
          <a:xfrm>
            <a:off x="5987455" y="2215904"/>
            <a:ext cx="4585295"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مجاني، وقصير نسبياً، ويعطيك هيكلاً تعلق عليه كل ما بعده.</a:t>
            </a:r>
          </a:p>
        </p:txBody>
      </p:sp>
      <p:sp>
        <p:nvSpPr>
          <p:cNvPr id="10" name="Box 9"/>
          <p:cNvSpPr/>
          <p:nvPr/>
        </p:nvSpPr>
        <p:spPr>
          <a:xfrm>
            <a:off x="10845800" y="2686546"/>
            <a:ext cx="533400" cy="726976"/>
          </a:xfrm>
          <a:prstGeom prst="roundRect">
            <a:avLst>
              <a:gd name="adj" fmla="val 16666"/>
            </a:avLst>
          </a:prstGeom>
          <a:solidFill>
            <a:srgbClr val="24506B"/>
          </a:solidFill>
          <a:ln>
            <a:noFill/>
          </a:ln>
        </p:spPr>
        <p:txBody>
          <a:bodyPr rtlCol="0" anchor="ctr"/>
          <a:lstStyle/>
          <a:p>
            <a:pPr algn="ctr"/>
          </a:p>
        </p:txBody>
      </p:sp>
      <p:sp>
        <p:nvSpPr>
          <p:cNvPr id="11" name="Text 10"/>
          <p:cNvSpPr txBox="1"/>
          <p:nvPr/>
        </p:nvSpPr>
        <p:spPr>
          <a:xfrm>
            <a:off x="10871200" y="2934033"/>
            <a:ext cx="317897"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FFFFFF"/>
                </a:solidFill>
                <a:latin typeface="Readex Pro"/>
                <a:ea typeface="Readex Pro"/>
                <a:cs typeface="Readex Pro"/>
              </a:rPr>
              <a:t>2</a:t>
            </a:r>
          </a:p>
        </p:txBody>
      </p:sp>
      <p:sp>
        <p:nvSpPr>
          <p:cNvPr id="12" name="Box 11"/>
          <p:cNvSpPr/>
          <p:nvPr/>
        </p:nvSpPr>
        <p:spPr>
          <a:xfrm>
            <a:off x="5965230" y="2689721"/>
            <a:ext cx="4763095" cy="720626"/>
          </a:xfrm>
          <a:prstGeom prst="roundRect">
            <a:avLst>
              <a:gd name="adj" fmla="val 12228"/>
            </a:avLst>
          </a:prstGeom>
          <a:solidFill>
            <a:srgbClr val="FFFDF8"/>
          </a:solidFill>
          <a:ln w="6350">
            <a:solidFill>
              <a:srgbClr val="E1DBCD"/>
            </a:solidFill>
          </a:ln>
        </p:spPr>
        <p:txBody>
          <a:bodyPr rtlCol="0" anchor="ctr"/>
          <a:lstStyle/>
          <a:p>
            <a:pPr algn="ctr"/>
          </a:p>
        </p:txBody>
      </p:sp>
      <p:sp>
        <p:nvSpPr>
          <p:cNvPr id="13" name="Text 12"/>
          <p:cNvSpPr txBox="1"/>
          <p:nvPr/>
        </p:nvSpPr>
        <p:spPr>
          <a:xfrm>
            <a:off x="5987455" y="2795226"/>
            <a:ext cx="4585295" cy="239316"/>
          </a:xfrm>
          <a:prstGeom prst="rect">
            <a:avLst/>
          </a:prstGeom>
          <a:noFill/>
        </p:spPr>
        <p:txBody>
          <a:bodyPr wrap="square" tIns="0" rIns="0" bIns="0" lIns="0" anchor="t" rtlCol="0" anchorCtr="0">
            <a:noAutofit/>
          </a:bodyPr>
          <a:lstStyle/>
          <a:p>
            <a:pPr algn="r" rtl="1">
              <a:lnSpc>
                <a:spcPts val="1885"/>
              </a:lnSpc>
              <a:spcBef>
                <a:spcPts val="0"/>
              </a:spcBef>
              <a:spcAft>
                <a:spcPts val="0"/>
              </a:spcAft>
            </a:pPr>
            <a:r>
              <a:rPr sz="1450" b="1" i="0" lang="ar-SA" altLang="en-US">
                <a:solidFill>
                  <a:srgbClr val="172433"/>
                </a:solidFill>
                <a:latin typeface="Readex Pro"/>
                <a:ea typeface="Readex Pro"/>
                <a:cs typeface="Readex Pro"/>
              </a:rPr>
              <a:t>‎ISO/IEC‎ 27001 · نظام الإدارة</a:t>
            </a:r>
          </a:p>
        </p:txBody>
      </p:sp>
      <p:sp>
        <p:nvSpPr>
          <p:cNvPr id="14" name="Text 13"/>
          <p:cNvSpPr txBox="1"/>
          <p:nvPr/>
        </p:nvSpPr>
        <p:spPr>
          <a:xfrm>
            <a:off x="5987455" y="3044480"/>
            <a:ext cx="4585295"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البنود 4 إلى 10 تعلمك كيف «يدار» الأمن، وهو الأكثر طلباً في الإعلانات.</a:t>
            </a:r>
          </a:p>
        </p:txBody>
      </p:sp>
      <p:sp>
        <p:nvSpPr>
          <p:cNvPr id="15" name="Box 14"/>
          <p:cNvSpPr/>
          <p:nvPr/>
        </p:nvSpPr>
        <p:spPr>
          <a:xfrm>
            <a:off x="10845800" y="3515122"/>
            <a:ext cx="533400" cy="726976"/>
          </a:xfrm>
          <a:prstGeom prst="roundRect">
            <a:avLst>
              <a:gd name="adj" fmla="val 16666"/>
            </a:avLst>
          </a:prstGeom>
          <a:solidFill>
            <a:srgbClr val="C27A16"/>
          </a:solidFill>
          <a:ln>
            <a:noFill/>
          </a:ln>
        </p:spPr>
        <p:txBody>
          <a:bodyPr rtlCol="0" anchor="ctr"/>
          <a:lstStyle/>
          <a:p>
            <a:pPr algn="ctr"/>
          </a:p>
        </p:txBody>
      </p:sp>
      <p:sp>
        <p:nvSpPr>
          <p:cNvPr id="16" name="Text 15"/>
          <p:cNvSpPr txBox="1"/>
          <p:nvPr/>
        </p:nvSpPr>
        <p:spPr>
          <a:xfrm>
            <a:off x="10871200" y="3762609"/>
            <a:ext cx="323552"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FFFFFF"/>
                </a:solidFill>
                <a:latin typeface="Readex Pro"/>
                <a:ea typeface="Readex Pro"/>
                <a:cs typeface="Readex Pro"/>
              </a:rPr>
              <a:t>3</a:t>
            </a:r>
          </a:p>
        </p:txBody>
      </p:sp>
      <p:sp>
        <p:nvSpPr>
          <p:cNvPr id="17" name="Box 16"/>
          <p:cNvSpPr/>
          <p:nvPr/>
        </p:nvSpPr>
        <p:spPr>
          <a:xfrm>
            <a:off x="5965230" y="3518297"/>
            <a:ext cx="4763095" cy="720626"/>
          </a:xfrm>
          <a:prstGeom prst="roundRect">
            <a:avLst>
              <a:gd name="adj" fmla="val 12228"/>
            </a:avLst>
          </a:prstGeom>
          <a:solidFill>
            <a:srgbClr val="FFFDF8"/>
          </a:solidFill>
          <a:ln w="6350">
            <a:solidFill>
              <a:srgbClr val="E1DBCD"/>
            </a:solidFill>
          </a:ln>
        </p:spPr>
        <p:txBody>
          <a:bodyPr rtlCol="0" anchor="ctr"/>
          <a:lstStyle/>
          <a:p>
            <a:pPr algn="ctr"/>
          </a:p>
        </p:txBody>
      </p:sp>
      <p:sp>
        <p:nvSpPr>
          <p:cNvPr id="18" name="Text 17"/>
          <p:cNvSpPr txBox="1"/>
          <p:nvPr/>
        </p:nvSpPr>
        <p:spPr>
          <a:xfrm>
            <a:off x="5987455" y="3623802"/>
            <a:ext cx="4585295" cy="239316"/>
          </a:xfrm>
          <a:prstGeom prst="rect">
            <a:avLst/>
          </a:prstGeom>
          <a:noFill/>
        </p:spPr>
        <p:txBody>
          <a:bodyPr wrap="square" tIns="0" rIns="0" bIns="0" lIns="0" anchor="t" rtlCol="0" anchorCtr="0">
            <a:noAutofit/>
          </a:bodyPr>
          <a:lstStyle/>
          <a:p>
            <a:pPr algn="r" rtl="1">
              <a:lnSpc>
                <a:spcPts val="1885"/>
              </a:lnSpc>
              <a:spcBef>
                <a:spcPts val="0"/>
              </a:spcBef>
              <a:spcAft>
                <a:spcPts val="0"/>
              </a:spcAft>
            </a:pPr>
            <a:r>
              <a:rPr sz="1450" b="1" i="0" lang="ar-SA" altLang="en-US">
                <a:solidFill>
                  <a:srgbClr val="172433"/>
                </a:solidFill>
                <a:latin typeface="Readex Pro"/>
                <a:ea typeface="Readex Pro"/>
                <a:cs typeface="Readex Pro"/>
              </a:rPr>
              <a:t>إطار القطاع الذي تستهدفه</a:t>
            </a:r>
          </a:p>
        </p:txBody>
      </p:sp>
      <p:sp>
        <p:nvSpPr>
          <p:cNvPr id="19" name="Text 18"/>
          <p:cNvSpPr txBox="1"/>
          <p:nvPr/>
        </p:nvSpPr>
        <p:spPr>
          <a:xfrm>
            <a:off x="5987455" y="3873055"/>
            <a:ext cx="4585295"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حكومي: ECC. بنوك: SAMA CSF. مدفوعات: PCI DSS. سحابة: CCC.</a:t>
            </a:r>
          </a:p>
        </p:txBody>
      </p:sp>
      <p:sp>
        <p:nvSpPr>
          <p:cNvPr id="20" name="Box 19"/>
          <p:cNvSpPr/>
          <p:nvPr/>
        </p:nvSpPr>
        <p:spPr>
          <a:xfrm>
            <a:off x="812800" y="1857970"/>
            <a:ext cx="4895255" cy="2384127"/>
          </a:xfrm>
          <a:prstGeom prst="roundRect">
            <a:avLst>
              <a:gd name="adj" fmla="val 4261"/>
            </a:avLst>
          </a:prstGeom>
          <a:solidFill>
            <a:srgbClr val="172433"/>
          </a:solidFill>
          <a:ln>
            <a:noFill/>
          </a:ln>
        </p:spPr>
        <p:txBody>
          <a:bodyPr rtlCol="0" anchor="ctr"/>
          <a:lstStyle/>
          <a:p>
            <a:pPr algn="ctr"/>
          </a:p>
        </p:txBody>
      </p:sp>
      <p:sp>
        <p:nvSpPr>
          <p:cNvPr id="21" name="Text 20"/>
          <p:cNvSpPr txBox="1"/>
          <p:nvPr/>
        </p:nvSpPr>
        <p:spPr>
          <a:xfrm>
            <a:off x="838200" y="2036088"/>
            <a:ext cx="4679355" cy="247650"/>
          </a:xfrm>
          <a:prstGeom prst="rect">
            <a:avLst/>
          </a:prstGeom>
          <a:noFill/>
        </p:spPr>
        <p:txBody>
          <a:bodyPr wrap="square" tIns="0" rIns="0" bIns="0" lIns="0" anchor="t" rtlCol="0" anchorCtr="0">
            <a:noAutofit/>
          </a:bodyPr>
          <a:lstStyle/>
          <a:p>
            <a:pPr algn="r" rtl="1">
              <a:lnSpc>
                <a:spcPts val="1950"/>
              </a:lnSpc>
              <a:spcBef>
                <a:spcPts val="0"/>
              </a:spcBef>
              <a:spcAft>
                <a:spcPts val="0"/>
              </a:spcAft>
            </a:pPr>
            <a:r>
              <a:rPr sz="1500" b="1" i="0" lang="ar-SA" altLang="en-US">
                <a:solidFill>
                  <a:srgbClr val="F2C46D"/>
                </a:solidFill>
                <a:latin typeface="Readex Pro"/>
                <a:ea typeface="Readex Pro"/>
                <a:cs typeface="Readex Pro"/>
              </a:rPr>
              <a:t>مع كل ضابط تقرؤه، اسأل:</a:t>
            </a:r>
          </a:p>
        </p:txBody>
      </p:sp>
      <p:sp>
        <p:nvSpPr>
          <p:cNvPr id="22" name="Text 21"/>
          <p:cNvSpPr txBox="1"/>
          <p:nvPr/>
        </p:nvSpPr>
        <p:spPr>
          <a:xfrm>
            <a:off x="5202595" y="2366034"/>
            <a:ext cx="314960"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300" b="1" i="0">
                <a:solidFill>
                  <a:srgbClr val="5FC2AE"/>
                </a:solidFill>
                <a:latin typeface="Readex Pro"/>
                <a:ea typeface="Readex Pro"/>
                <a:cs typeface="Readex Pro"/>
              </a:rPr>
              <a:t>1</a:t>
            </a:r>
          </a:p>
        </p:txBody>
      </p:sp>
      <p:sp>
        <p:nvSpPr>
          <p:cNvPr id="23" name="Text 22"/>
          <p:cNvSpPr txBox="1"/>
          <p:nvPr/>
        </p:nvSpPr>
        <p:spPr>
          <a:xfrm>
            <a:off x="838200" y="2356445"/>
            <a:ext cx="4387255"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F3EFE6"/>
                </a:solidFill>
                <a:latin typeface="IBM Plex Sans Arabic"/>
                <a:ea typeface="IBM Plex Sans Arabic"/>
                <a:cs typeface="IBM Plex Sans Arabic"/>
              </a:rPr>
              <a:t>ما الخطر الذي يعالجه؟</a:t>
            </a:r>
          </a:p>
        </p:txBody>
      </p:sp>
      <p:sp>
        <p:nvSpPr>
          <p:cNvPr id="24" name="Text 23"/>
          <p:cNvSpPr txBox="1"/>
          <p:nvPr/>
        </p:nvSpPr>
        <p:spPr>
          <a:xfrm>
            <a:off x="5202595" y="2686014"/>
            <a:ext cx="314960"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300" b="1" i="0">
                <a:solidFill>
                  <a:srgbClr val="5FC2AE"/>
                </a:solidFill>
                <a:latin typeface="Readex Pro"/>
                <a:ea typeface="Readex Pro"/>
                <a:cs typeface="Readex Pro"/>
              </a:rPr>
              <a:t>2</a:t>
            </a:r>
          </a:p>
        </p:txBody>
      </p:sp>
      <p:sp>
        <p:nvSpPr>
          <p:cNvPr id="25" name="Text 24"/>
          <p:cNvSpPr txBox="1"/>
          <p:nvPr/>
        </p:nvSpPr>
        <p:spPr>
          <a:xfrm>
            <a:off x="838200" y="2676426"/>
            <a:ext cx="4387255"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F3EFE6"/>
                </a:solidFill>
                <a:latin typeface="IBM Plex Sans Arabic"/>
                <a:ea typeface="IBM Plex Sans Arabic"/>
                <a:cs typeface="IBM Plex Sans Arabic"/>
              </a:rPr>
              <a:t>كيف يبدو تطبيقه في جهة حقيقية؟</a:t>
            </a:r>
          </a:p>
        </p:txBody>
      </p:sp>
      <p:sp>
        <p:nvSpPr>
          <p:cNvPr id="26" name="Text 25"/>
          <p:cNvSpPr txBox="1"/>
          <p:nvPr/>
        </p:nvSpPr>
        <p:spPr>
          <a:xfrm>
            <a:off x="5202595" y="3005995"/>
            <a:ext cx="314960"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300" b="1" i="0">
                <a:solidFill>
                  <a:srgbClr val="5FC2AE"/>
                </a:solidFill>
                <a:latin typeface="Readex Pro"/>
                <a:ea typeface="Readex Pro"/>
                <a:cs typeface="Readex Pro"/>
              </a:rPr>
              <a:t>3</a:t>
            </a:r>
          </a:p>
        </p:txBody>
      </p:sp>
      <p:sp>
        <p:nvSpPr>
          <p:cNvPr id="27" name="Text 26"/>
          <p:cNvSpPr txBox="1"/>
          <p:nvPr/>
        </p:nvSpPr>
        <p:spPr>
          <a:xfrm>
            <a:off x="838200" y="2996406"/>
            <a:ext cx="4387255"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F3EFE6"/>
                </a:solidFill>
                <a:latin typeface="IBM Plex Sans Arabic"/>
                <a:ea typeface="IBM Plex Sans Arabic"/>
                <a:cs typeface="IBM Plex Sans Arabic"/>
              </a:rPr>
              <a:t>ما الدليل الذي يثبت تطبيقه؟</a:t>
            </a:r>
          </a:p>
        </p:txBody>
      </p:sp>
      <p:sp>
        <p:nvSpPr>
          <p:cNvPr id="28" name="Text 27"/>
          <p:cNvSpPr txBox="1"/>
          <p:nvPr/>
        </p:nvSpPr>
        <p:spPr>
          <a:xfrm>
            <a:off x="5202595" y="3325975"/>
            <a:ext cx="314960"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300" b="1" i="0">
                <a:solidFill>
                  <a:srgbClr val="5FC2AE"/>
                </a:solidFill>
                <a:latin typeface="Readex Pro"/>
                <a:ea typeface="Readex Pro"/>
                <a:cs typeface="Readex Pro"/>
              </a:rPr>
              <a:t>4</a:t>
            </a:r>
          </a:p>
        </p:txBody>
      </p:sp>
      <p:sp>
        <p:nvSpPr>
          <p:cNvPr id="29" name="Text 28"/>
          <p:cNvSpPr txBox="1"/>
          <p:nvPr/>
        </p:nvSpPr>
        <p:spPr>
          <a:xfrm>
            <a:off x="838200" y="3316387"/>
            <a:ext cx="4387255"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F3EFE6"/>
                </a:solidFill>
                <a:latin typeface="IBM Plex Sans Arabic"/>
                <a:ea typeface="IBM Plex Sans Arabic"/>
                <a:cs typeface="IBM Plex Sans Arabic"/>
              </a:rPr>
              <a:t>ما الذي يقابله في إطار آخر؟</a:t>
            </a:r>
          </a:p>
        </p:txBody>
      </p:sp>
      <p:sp>
        <p:nvSpPr>
          <p:cNvPr id="30" name="Text box 29"/>
          <p:cNvSpPr/>
          <p:nvPr/>
        </p:nvSpPr>
        <p:spPr>
          <a:xfrm>
            <a:off x="1003300" y="3664942"/>
            <a:ext cx="4514255" cy="303510"/>
          </a:xfrm>
          <a:prstGeom prst="rect">
            <a:avLst/>
          </a:prstGeom>
          <a:noFill/>
          <a:ln>
            <a:noFill/>
          </a:ln>
        </p:spPr>
        <p:txBody>
          <a:bodyPr rtlCol="0" anchor="ctr" wrap="square" tIns="55118" rIns="0" bIns="27432" lIns="0" anchorCtr="0">
            <a:noAutofit/>
          </a:bodyPr>
          <a:lstStyle/>
          <a:p>
            <a:pPr algn="r" rtl="1">
              <a:lnSpc>
                <a:spcPts val="1739"/>
              </a:lnSpc>
              <a:spcBef>
                <a:spcPts val="0"/>
              </a:spcBef>
              <a:spcAft>
                <a:spcPts val="0"/>
              </a:spcAft>
            </a:pPr>
            <a:r>
              <a:rPr sz="1200" b="0" i="0" lang="ar-SA" altLang="en-US">
                <a:solidFill>
                  <a:srgbClr val="B9C4CC"/>
                </a:solidFill>
                <a:latin typeface="IBM Plex Sans Arabic"/>
                <a:ea typeface="IBM Plex Sans Arabic"/>
                <a:cs typeface="IBM Plex Sans Arabic"/>
              </a:rPr>
              <a:t>من يجيب عن هذه الأسئلة الأربعة يفهم الضابط، ولا يكتفي بحفظه.</a:t>
            </a:r>
          </a:p>
        </p:txBody>
      </p:sp>
      <p:sp>
        <p:nvSpPr>
          <p:cNvPr id="31" name="Rule 30"/>
          <p:cNvSpPr/>
          <p:nvPr/>
        </p:nvSpPr>
        <p:spPr>
          <a:xfrm>
            <a:off x="1003300" y="3664942"/>
            <a:ext cx="4514255" cy="6350"/>
          </a:xfrm>
          <a:prstGeom prst="rect">
            <a:avLst/>
          </a:prstGeom>
          <a:solidFill>
            <a:srgbClr val="34485F"/>
          </a:solidFill>
          <a:ln>
            <a:noFill/>
          </a:ln>
        </p:spPr>
        <p:txBody>
          <a:bodyPr rtlCol="0" anchor="ctr"/>
          <a:lstStyle/>
          <a:p>
            <a:pPr algn="ctr"/>
          </a:p>
        </p:txBody>
      </p:sp>
      <p:sp>
        <p:nvSpPr>
          <p:cNvPr id="32" name="Text 31"/>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04 · الأطر والمعايير</a:t>
            </a:r>
          </a:p>
        </p:txBody>
      </p:sp>
      <p:sp>
        <p:nvSpPr>
          <p:cNvPr id="33" name="Text 32"/>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08070" y="2016820"/>
            <a:ext cx="2371130"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05</a:t>
            </a:r>
          </a:p>
        </p:txBody>
      </p:sp>
      <p:sp>
        <p:nvSpPr>
          <p:cNvPr id="4" name="Text 3"/>
          <p:cNvSpPr txBox="1"/>
          <p:nvPr/>
        </p:nvSpPr>
        <p:spPr>
          <a:xfrm>
            <a:off x="6566158" y="2438285"/>
            <a:ext cx="2949912"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lang="ar-SA" altLang="en-US">
                <a:solidFill>
                  <a:srgbClr val="F3EFE6"/>
                </a:solidFill>
                <a:latin typeface="Readex Pro"/>
                <a:ea typeface="Readex Pro"/>
                <a:cs typeface="Readex Pro"/>
              </a:rPr>
              <a:t>الشهادات</a:t>
            </a:r>
          </a:p>
        </p:txBody>
      </p:sp>
      <p:sp>
        <p:nvSpPr>
          <p:cNvPr id="5" name="Text 4"/>
          <p:cNvSpPr txBox="1"/>
          <p:nvPr/>
        </p:nvSpPr>
        <p:spPr>
          <a:xfrm>
            <a:off x="101600" y="3335207"/>
            <a:ext cx="96012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lang="ar-SA" altLang="en-US">
                <a:solidFill>
                  <a:srgbClr val="D9E2E6"/>
                </a:solidFill>
                <a:latin typeface="IBM Plex Sans Arabic"/>
                <a:ea typeface="IBM Plex Sans Arabic"/>
                <a:cs typeface="IBM Plex Sans Arabic"/>
              </a:rPr>
              <a:t>أي شهادة تناسب مرحلتك؟ ماذا تشترط، وكم تكلف، وكيف تذاكر لها، ومتى لا تحتاجها أصلاً.</a:t>
            </a:r>
          </a:p>
        </p:txBody>
      </p:sp>
      <p:sp>
        <p:nvSpPr>
          <p:cNvPr id="6" name="Text box 5"/>
          <p:cNvSpPr/>
          <p:nvPr/>
        </p:nvSpPr>
        <p:spPr>
          <a:xfrm>
            <a:off x="9194899" y="3928170"/>
            <a:ext cx="1142901"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خريطة المسار</a:t>
            </a:r>
          </a:p>
        </p:txBody>
      </p:sp>
      <p:sp>
        <p:nvSpPr>
          <p:cNvPr id="7" name="Text box 6"/>
          <p:cNvSpPr/>
          <p:nvPr/>
        </p:nvSpPr>
        <p:spPr>
          <a:xfrm>
            <a:off x="7873603" y="3928170"/>
            <a:ext cx="1219696"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شهادات البداية</a:t>
            </a:r>
          </a:p>
        </p:txBody>
      </p:sp>
      <p:sp>
        <p:nvSpPr>
          <p:cNvPr id="8" name="Text box 7"/>
          <p:cNvSpPr/>
          <p:nvPr/>
        </p:nvSpPr>
        <p:spPr>
          <a:xfrm>
            <a:off x="6215559" y="3928170"/>
            <a:ext cx="1556445" cy="358080"/>
          </a:xfrm>
          <a:prstGeom prst="roundRect">
            <a:avLst>
              <a:gd name="adj" fmla="val 50000"/>
            </a:avLst>
          </a:prstGeom>
          <a:solidFill>
            <a:srgbClr val="22344A"/>
          </a:solidFill>
          <a:ln>
            <a:noFill/>
          </a:ln>
        </p:spPr>
        <p:txBody>
          <a:bodyPr rtlCol="0" anchor="ctr" wrap="square" tIns="0" rIns="99961" bIns="51181" lIns="0"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شهادات GRC وISO</a:t>
            </a:r>
          </a:p>
        </p:txBody>
      </p:sp>
      <p:sp>
        <p:nvSpPr>
          <p:cNvPr id="9" name="Text box 8"/>
          <p:cNvSpPr/>
          <p:nvPr/>
        </p:nvSpPr>
        <p:spPr>
          <a:xfrm>
            <a:off x="5335389" y="3928170"/>
            <a:ext cx="778570"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a:lnSpc>
                <a:spcPts val="1820"/>
              </a:lnSpc>
              <a:spcBef>
                <a:spcPts val="0"/>
              </a:spcBef>
              <a:spcAft>
                <a:spcPts val="0"/>
              </a:spcAft>
            </a:pPr>
            <a:r>
              <a:rPr sz="1300" b="0" i="0">
                <a:solidFill>
                  <a:srgbClr val="F3EFE6"/>
                </a:solidFill>
                <a:latin typeface="IBM Plex Sans Arabic"/>
                <a:ea typeface="IBM Plex Sans Arabic"/>
                <a:cs typeface="IBM Plex Sans Arabic"/>
              </a:rPr>
              <a:t>ISACA</a:t>
            </a:r>
          </a:p>
        </p:txBody>
      </p:sp>
      <p:sp>
        <p:nvSpPr>
          <p:cNvPr id="10" name="Text box 9"/>
          <p:cNvSpPr/>
          <p:nvPr/>
        </p:nvSpPr>
        <p:spPr>
          <a:xfrm>
            <a:off x="4565352" y="3928170"/>
            <a:ext cx="668437"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a:lnSpc>
                <a:spcPts val="1820"/>
              </a:lnSpc>
              <a:spcBef>
                <a:spcPts val="0"/>
              </a:spcBef>
              <a:spcAft>
                <a:spcPts val="0"/>
              </a:spcAft>
            </a:pPr>
            <a:r>
              <a:rPr sz="1300" b="0" i="0">
                <a:solidFill>
                  <a:srgbClr val="F3EFE6"/>
                </a:solidFill>
                <a:latin typeface="IBM Plex Sans Arabic"/>
                <a:ea typeface="IBM Plex Sans Arabic"/>
                <a:cs typeface="IBM Plex Sans Arabic"/>
              </a:rPr>
              <a:t>ISC2</a:t>
            </a:r>
          </a:p>
        </p:txBody>
      </p:sp>
      <p:sp>
        <p:nvSpPr>
          <p:cNvPr id="11" name="Text box 10"/>
          <p:cNvSpPr/>
          <p:nvPr/>
        </p:nvSpPr>
        <p:spPr>
          <a:xfrm>
            <a:off x="3480495" y="3928170"/>
            <a:ext cx="983258"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الخصوصية</a:t>
            </a:r>
          </a:p>
        </p:txBody>
      </p:sp>
      <p:sp>
        <p:nvSpPr>
          <p:cNvPr id="12" name="Text box 11"/>
          <p:cNvSpPr/>
          <p:nvPr/>
        </p:nvSpPr>
        <p:spPr>
          <a:xfrm>
            <a:off x="2295227" y="3928170"/>
            <a:ext cx="1083667"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مقارنة شاملة</a:t>
            </a:r>
          </a:p>
        </p:txBody>
      </p:sp>
      <p:sp>
        <p:nvSpPr>
          <p:cNvPr id="13" name="Text box 12"/>
          <p:cNvSpPr/>
          <p:nvPr/>
        </p:nvSpPr>
        <p:spPr>
          <a:xfrm>
            <a:off x="1293713" y="3928170"/>
            <a:ext cx="899914"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كيف تختار</a:t>
            </a:r>
          </a:p>
        </p:txBody>
      </p:sp>
      <p:sp>
        <p:nvSpPr>
          <p:cNvPr id="14" name="Text box 13"/>
          <p:cNvSpPr/>
          <p:nvPr/>
        </p:nvSpPr>
        <p:spPr>
          <a:xfrm>
            <a:off x="9441557" y="4387850"/>
            <a:ext cx="896243"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كيف تذاكر</a:t>
            </a:r>
          </a:p>
        </p:txBody>
      </p:sp>
      <p:sp>
        <p:nvSpPr>
          <p:cNvPr id="15" name="Text 14"/>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93A3B1"/>
                </a:solidFill>
                <a:latin typeface="IBM Plex Sans Arabic"/>
                <a:ea typeface="IBM Plex Sans Arabic"/>
                <a:cs typeface="IBM Plex Sans Arabic"/>
              </a:rPr>
              <a:t>كيف تبدأ في GRC · الوحدة 05</a:t>
            </a:r>
          </a:p>
        </p:txBody>
      </p:sp>
      <p:sp>
        <p:nvSpPr>
          <p:cNvPr id="16" name="Text 15"/>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798844" y="812800"/>
            <a:ext cx="1580356"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خريطة الشهادات: ثلاث مراحل، لا تقفز للأخيرة</a:t>
            </a:r>
          </a:p>
        </p:txBody>
      </p:sp>
      <p:sp>
        <p:nvSpPr>
          <p:cNvPr id="5" name="Box 4"/>
          <p:cNvSpPr/>
          <p:nvPr/>
        </p:nvSpPr>
        <p:spPr>
          <a:xfrm>
            <a:off x="11023600" y="1857970"/>
            <a:ext cx="355600" cy="355600"/>
          </a:xfrm>
          <a:prstGeom prst="roundRect">
            <a:avLst>
              <a:gd name="adj" fmla="val 50000"/>
            </a:avLst>
          </a:prstGeom>
          <a:solidFill>
            <a:srgbClr val="0E7C6B"/>
          </a:solidFill>
          <a:ln>
            <a:noFill/>
          </a:ln>
        </p:spPr>
        <p:txBody>
          <a:bodyPr rtlCol="0" anchor="ctr"/>
          <a:lstStyle/>
          <a:p>
            <a:pPr algn="ctr"/>
          </a:p>
        </p:txBody>
      </p:sp>
      <p:sp>
        <p:nvSpPr>
          <p:cNvPr id="6" name="Text 5"/>
          <p:cNvSpPr txBox="1"/>
          <p:nvPr/>
        </p:nvSpPr>
        <p:spPr>
          <a:xfrm>
            <a:off x="11049000" y="1961983"/>
            <a:ext cx="202406" cy="177800"/>
          </a:xfrm>
          <a:prstGeom prst="rect">
            <a:avLst/>
          </a:prstGeom>
          <a:noFill/>
        </p:spPr>
        <p:txBody>
          <a:bodyPr wrap="square" tIns="0" rIns="0" bIns="0" lIns="0" anchor="t" rtlCol="0" anchorCtr="0">
            <a:noAutofit/>
          </a:bodyPr>
          <a:lstStyle/>
          <a:p>
            <a:pPr algn="r">
              <a:lnSpc>
                <a:spcPts val="1400"/>
              </a:lnSpc>
              <a:spcBef>
                <a:spcPts val="0"/>
              </a:spcBef>
              <a:spcAft>
                <a:spcPts val="0"/>
              </a:spcAft>
            </a:pPr>
            <a:r>
              <a:rPr sz="1400" b="1" i="0">
                <a:solidFill>
                  <a:srgbClr val="FFFFFF"/>
                </a:solidFill>
                <a:latin typeface="Readex Pro"/>
                <a:ea typeface="Readex Pro"/>
                <a:cs typeface="Readex Pro"/>
              </a:rPr>
              <a:t>1</a:t>
            </a:r>
          </a:p>
        </p:txBody>
      </p:sp>
      <p:sp>
        <p:nvSpPr>
          <p:cNvPr id="7" name="Box 6"/>
          <p:cNvSpPr/>
          <p:nvPr/>
        </p:nvSpPr>
        <p:spPr>
          <a:xfrm>
            <a:off x="6273800" y="2010370"/>
            <a:ext cx="4749800" cy="50800"/>
          </a:xfrm>
          <a:prstGeom prst="rect">
            <a:avLst/>
          </a:prstGeom>
          <a:solidFill>
            <a:srgbClr val="0E7C6B"/>
          </a:solidFill>
          <a:ln>
            <a:noFill/>
          </a:ln>
        </p:spPr>
        <p:txBody>
          <a:bodyPr rtlCol="0" anchor="ctr"/>
          <a:lstStyle/>
          <a:p>
            <a:pPr algn="ctr"/>
          </a:p>
        </p:txBody>
      </p:sp>
      <p:sp>
        <p:nvSpPr>
          <p:cNvPr id="8" name="Box 7"/>
          <p:cNvSpPr/>
          <p:nvPr/>
        </p:nvSpPr>
        <p:spPr>
          <a:xfrm>
            <a:off x="5918200" y="1857970"/>
            <a:ext cx="355600" cy="355600"/>
          </a:xfrm>
          <a:prstGeom prst="roundRect">
            <a:avLst>
              <a:gd name="adj" fmla="val 50000"/>
            </a:avLst>
          </a:prstGeom>
          <a:solidFill>
            <a:srgbClr val="24506B"/>
          </a:solidFill>
          <a:ln>
            <a:noFill/>
          </a:ln>
        </p:spPr>
        <p:txBody>
          <a:bodyPr rtlCol="0" anchor="ctr"/>
          <a:lstStyle/>
          <a:p>
            <a:pPr algn="ctr"/>
          </a:p>
        </p:txBody>
      </p:sp>
      <p:sp>
        <p:nvSpPr>
          <p:cNvPr id="9" name="Text 8"/>
          <p:cNvSpPr txBox="1"/>
          <p:nvPr/>
        </p:nvSpPr>
        <p:spPr>
          <a:xfrm>
            <a:off x="5943600" y="1961983"/>
            <a:ext cx="201116" cy="177800"/>
          </a:xfrm>
          <a:prstGeom prst="rect">
            <a:avLst/>
          </a:prstGeom>
          <a:noFill/>
        </p:spPr>
        <p:txBody>
          <a:bodyPr wrap="square" tIns="0" rIns="0" bIns="0" lIns="0" anchor="t" rtlCol="0" anchorCtr="0">
            <a:noAutofit/>
          </a:bodyPr>
          <a:lstStyle/>
          <a:p>
            <a:pPr algn="r">
              <a:lnSpc>
                <a:spcPts val="1400"/>
              </a:lnSpc>
              <a:spcBef>
                <a:spcPts val="0"/>
              </a:spcBef>
              <a:spcAft>
                <a:spcPts val="0"/>
              </a:spcAft>
            </a:pPr>
            <a:r>
              <a:rPr sz="1400" b="1" i="0">
                <a:solidFill>
                  <a:srgbClr val="FFFFFF"/>
                </a:solidFill>
                <a:latin typeface="Readex Pro"/>
                <a:ea typeface="Readex Pro"/>
                <a:cs typeface="Readex Pro"/>
              </a:rPr>
              <a:t>2</a:t>
            </a:r>
          </a:p>
        </p:txBody>
      </p:sp>
      <p:sp>
        <p:nvSpPr>
          <p:cNvPr id="10" name="Box 9"/>
          <p:cNvSpPr/>
          <p:nvPr/>
        </p:nvSpPr>
        <p:spPr>
          <a:xfrm>
            <a:off x="1168400" y="2010370"/>
            <a:ext cx="4749800" cy="50800"/>
          </a:xfrm>
          <a:prstGeom prst="rect">
            <a:avLst/>
          </a:prstGeom>
          <a:solidFill>
            <a:srgbClr val="24506B"/>
          </a:solidFill>
          <a:ln>
            <a:noFill/>
          </a:ln>
        </p:spPr>
        <p:txBody>
          <a:bodyPr rtlCol="0" anchor="ctr"/>
          <a:lstStyle/>
          <a:p>
            <a:pPr algn="ctr"/>
          </a:p>
        </p:txBody>
      </p:sp>
      <p:sp>
        <p:nvSpPr>
          <p:cNvPr id="11" name="Box 10"/>
          <p:cNvSpPr/>
          <p:nvPr/>
        </p:nvSpPr>
        <p:spPr>
          <a:xfrm>
            <a:off x="812800" y="1857970"/>
            <a:ext cx="355600" cy="355600"/>
          </a:xfrm>
          <a:prstGeom prst="roundRect">
            <a:avLst>
              <a:gd name="adj" fmla="val 50000"/>
            </a:avLst>
          </a:prstGeom>
          <a:solidFill>
            <a:srgbClr val="C27A16"/>
          </a:solidFill>
          <a:ln>
            <a:noFill/>
          </a:ln>
        </p:spPr>
        <p:txBody>
          <a:bodyPr rtlCol="0" anchor="ctr"/>
          <a:lstStyle/>
          <a:p>
            <a:pPr algn="ctr"/>
          </a:p>
        </p:txBody>
      </p:sp>
      <p:sp>
        <p:nvSpPr>
          <p:cNvPr id="12" name="Text 11"/>
          <p:cNvSpPr txBox="1"/>
          <p:nvPr/>
        </p:nvSpPr>
        <p:spPr>
          <a:xfrm>
            <a:off x="838200" y="1961983"/>
            <a:ext cx="204788" cy="177800"/>
          </a:xfrm>
          <a:prstGeom prst="rect">
            <a:avLst/>
          </a:prstGeom>
          <a:noFill/>
        </p:spPr>
        <p:txBody>
          <a:bodyPr wrap="square" tIns="0" rIns="0" bIns="0" lIns="0" anchor="t" rtlCol="0" anchorCtr="0">
            <a:noAutofit/>
          </a:bodyPr>
          <a:lstStyle/>
          <a:p>
            <a:pPr algn="r">
              <a:lnSpc>
                <a:spcPts val="1400"/>
              </a:lnSpc>
              <a:spcBef>
                <a:spcPts val="0"/>
              </a:spcBef>
              <a:spcAft>
                <a:spcPts val="0"/>
              </a:spcAft>
            </a:pPr>
            <a:r>
              <a:rPr sz="1400" b="1" i="0">
                <a:solidFill>
                  <a:srgbClr val="FFFFFF"/>
                </a:solidFill>
                <a:latin typeface="Readex Pro"/>
                <a:ea typeface="Readex Pro"/>
                <a:cs typeface="Readex Pro"/>
              </a:rPr>
              <a:t>3</a:t>
            </a:r>
          </a:p>
        </p:txBody>
      </p:sp>
      <p:sp>
        <p:nvSpPr>
          <p:cNvPr id="13" name="Box 12"/>
          <p:cNvSpPr/>
          <p:nvPr/>
        </p:nvSpPr>
        <p:spPr>
          <a:xfrm>
            <a:off x="7958634" y="2416770"/>
            <a:ext cx="3420566" cy="2219127"/>
          </a:xfrm>
          <a:prstGeom prst="roundRect">
            <a:avLst>
              <a:gd name="adj" fmla="val 4578"/>
            </a:avLst>
          </a:prstGeom>
          <a:solidFill>
            <a:srgbClr val="FFFDF8"/>
          </a:solidFill>
          <a:ln>
            <a:noFill/>
          </a:ln>
        </p:spPr>
        <p:txBody>
          <a:bodyPr rtlCol="0" anchor="ctr"/>
          <a:lstStyle/>
          <a:p>
            <a:pPr algn="ctr"/>
          </a:p>
        </p:txBody>
      </p:sp>
      <p:sp>
        <p:nvSpPr>
          <p:cNvPr id="14" name="Rule 13"/>
          <p:cNvSpPr/>
          <p:nvPr/>
        </p:nvSpPr>
        <p:spPr>
          <a:xfrm>
            <a:off x="7958634" y="2416770"/>
            <a:ext cx="3420566" cy="50800"/>
          </a:xfrm>
          <a:prstGeom prst="rect">
            <a:avLst/>
          </a:prstGeom>
          <a:solidFill>
            <a:srgbClr val="0E7C6B"/>
          </a:solidFill>
          <a:ln>
            <a:noFill/>
          </a:ln>
        </p:spPr>
        <p:txBody>
          <a:bodyPr rtlCol="0" anchor="ctr"/>
          <a:lstStyle/>
          <a:p>
            <a:pPr algn="ctr"/>
          </a:p>
        </p:txBody>
      </p:sp>
      <p:sp>
        <p:nvSpPr>
          <p:cNvPr id="15" name="Rule 14"/>
          <p:cNvSpPr/>
          <p:nvPr/>
        </p:nvSpPr>
        <p:spPr>
          <a:xfrm>
            <a:off x="11372850" y="2416770"/>
            <a:ext cx="6350" cy="2219127"/>
          </a:xfrm>
          <a:prstGeom prst="rect">
            <a:avLst/>
          </a:prstGeom>
          <a:solidFill>
            <a:srgbClr val="E1DBCD"/>
          </a:solidFill>
          <a:ln>
            <a:noFill/>
          </a:ln>
        </p:spPr>
        <p:txBody>
          <a:bodyPr rtlCol="0" anchor="ctr"/>
          <a:lstStyle/>
          <a:p>
            <a:pPr algn="ctr"/>
          </a:p>
        </p:txBody>
      </p:sp>
      <p:sp>
        <p:nvSpPr>
          <p:cNvPr id="16" name="Rule 15"/>
          <p:cNvSpPr/>
          <p:nvPr/>
        </p:nvSpPr>
        <p:spPr>
          <a:xfrm>
            <a:off x="7958634" y="4629547"/>
            <a:ext cx="3420566" cy="6350"/>
          </a:xfrm>
          <a:prstGeom prst="rect">
            <a:avLst/>
          </a:prstGeom>
          <a:solidFill>
            <a:srgbClr val="E1DBCD"/>
          </a:solidFill>
          <a:ln>
            <a:noFill/>
          </a:ln>
        </p:spPr>
        <p:txBody>
          <a:bodyPr rtlCol="0" anchor="ctr"/>
          <a:lstStyle/>
          <a:p>
            <a:pPr algn="ctr"/>
          </a:p>
        </p:txBody>
      </p:sp>
      <p:sp>
        <p:nvSpPr>
          <p:cNvPr id="17" name="Rule 16"/>
          <p:cNvSpPr/>
          <p:nvPr/>
        </p:nvSpPr>
        <p:spPr>
          <a:xfrm>
            <a:off x="7958634" y="2416770"/>
            <a:ext cx="6350" cy="2219127"/>
          </a:xfrm>
          <a:prstGeom prst="rect">
            <a:avLst/>
          </a:prstGeom>
          <a:solidFill>
            <a:srgbClr val="E1DBCD"/>
          </a:solidFill>
          <a:ln>
            <a:noFill/>
          </a:ln>
        </p:spPr>
        <p:txBody>
          <a:bodyPr rtlCol="0" anchor="ctr"/>
          <a:lstStyle/>
          <a:p>
            <a:pPr algn="ctr"/>
          </a:p>
        </p:txBody>
      </p:sp>
      <p:sp>
        <p:nvSpPr>
          <p:cNvPr id="18" name="Text 17"/>
          <p:cNvSpPr txBox="1"/>
          <p:nvPr/>
        </p:nvSpPr>
        <p:spPr>
          <a:xfrm>
            <a:off x="7984034" y="2619462"/>
            <a:ext cx="3223716"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0E7C6B"/>
                </a:solidFill>
                <a:latin typeface="Readex Pro"/>
                <a:ea typeface="Readex Pro"/>
                <a:cs typeface="Readex Pro"/>
              </a:rPr>
              <a:t>البداية</a:t>
            </a:r>
          </a:p>
        </p:txBody>
      </p:sp>
      <p:sp>
        <p:nvSpPr>
          <p:cNvPr id="19" name="Text 18"/>
          <p:cNvSpPr txBox="1"/>
          <p:nvPr/>
        </p:nvSpPr>
        <p:spPr>
          <a:xfrm>
            <a:off x="7984034" y="2962069"/>
            <a:ext cx="32237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بلا خبرة. تثبت أنك تعرف الأساسيات.</a:t>
            </a:r>
          </a:p>
        </p:txBody>
      </p:sp>
      <p:sp>
        <p:nvSpPr>
          <p:cNvPr id="20" name="Box 19"/>
          <p:cNvSpPr/>
          <p:nvPr/>
        </p:nvSpPr>
        <p:spPr>
          <a:xfrm>
            <a:off x="8130084" y="3287911"/>
            <a:ext cx="3077666" cy="349845"/>
          </a:xfrm>
          <a:prstGeom prst="roundRect">
            <a:avLst>
              <a:gd name="adj" fmla="val 18150"/>
            </a:avLst>
          </a:prstGeom>
          <a:solidFill>
            <a:srgbClr val="E3F1ED"/>
          </a:solidFill>
          <a:ln>
            <a:noFill/>
          </a:ln>
        </p:spPr>
        <p:txBody>
          <a:bodyPr rtlCol="0" anchor="ctr"/>
          <a:lstStyle/>
          <a:p>
            <a:pPr algn="ctr"/>
          </a:p>
        </p:txBody>
      </p:sp>
      <p:sp>
        <p:nvSpPr>
          <p:cNvPr id="21" name="Text 20"/>
          <p:cNvSpPr txBox="1"/>
          <p:nvPr/>
        </p:nvSpPr>
        <p:spPr>
          <a:xfrm>
            <a:off x="10765552" y="3340267"/>
            <a:ext cx="340598" cy="222845"/>
          </a:xfrm>
          <a:prstGeom prst="rect">
            <a:avLst/>
          </a:prstGeom>
          <a:noFill/>
        </p:spPr>
        <p:txBody>
          <a:bodyPr wrap="square" tIns="0" rIns="0" bIns="0" lIns="0" anchor="t" rtlCol="0" anchorCtr="0">
            <a:noAutofit/>
          </a:bodyPr>
          <a:lstStyle/>
          <a:p>
            <a:pPr algn="r">
              <a:lnSpc>
                <a:spcPts val="1755"/>
              </a:lnSpc>
              <a:spcBef>
                <a:spcPts val="0"/>
              </a:spcBef>
              <a:spcAft>
                <a:spcPts val="0"/>
              </a:spcAft>
            </a:pPr>
            <a:r>
              <a:rPr sz="1350" b="1" i="0">
                <a:solidFill>
                  <a:srgbClr val="172433"/>
                </a:solidFill>
                <a:latin typeface="Readex Pro"/>
                <a:ea typeface="Readex Pro"/>
                <a:cs typeface="Readex Pro"/>
              </a:rPr>
              <a:t>CC</a:t>
            </a:r>
          </a:p>
        </p:txBody>
      </p:sp>
      <p:sp>
        <p:nvSpPr>
          <p:cNvPr id="22" name="Text 21"/>
          <p:cNvSpPr txBox="1"/>
          <p:nvPr/>
        </p:nvSpPr>
        <p:spPr>
          <a:xfrm>
            <a:off x="8155484" y="3347811"/>
            <a:ext cx="411857"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ISC2</a:t>
            </a:r>
          </a:p>
        </p:txBody>
      </p:sp>
      <p:sp>
        <p:nvSpPr>
          <p:cNvPr id="23" name="Box 22"/>
          <p:cNvSpPr/>
          <p:nvPr/>
        </p:nvSpPr>
        <p:spPr>
          <a:xfrm>
            <a:off x="8130084" y="3701256"/>
            <a:ext cx="3077666" cy="349845"/>
          </a:xfrm>
          <a:prstGeom prst="roundRect">
            <a:avLst>
              <a:gd name="adj" fmla="val 18150"/>
            </a:avLst>
          </a:prstGeom>
          <a:solidFill>
            <a:srgbClr val="E3F1ED"/>
          </a:solidFill>
          <a:ln>
            <a:noFill/>
          </a:ln>
        </p:spPr>
        <p:txBody>
          <a:bodyPr rtlCol="0" anchor="ctr"/>
          <a:lstStyle/>
          <a:p>
            <a:pPr algn="ctr"/>
          </a:p>
        </p:txBody>
      </p:sp>
      <p:sp>
        <p:nvSpPr>
          <p:cNvPr id="24" name="Text 23"/>
          <p:cNvSpPr txBox="1"/>
          <p:nvPr/>
        </p:nvSpPr>
        <p:spPr>
          <a:xfrm>
            <a:off x="10179566" y="3753612"/>
            <a:ext cx="926584" cy="222845"/>
          </a:xfrm>
          <a:prstGeom prst="rect">
            <a:avLst/>
          </a:prstGeom>
          <a:noFill/>
        </p:spPr>
        <p:txBody>
          <a:bodyPr wrap="square" tIns="0" rIns="0" bIns="0" lIns="0" anchor="t" rtlCol="0" anchorCtr="0">
            <a:noAutofit/>
          </a:bodyPr>
          <a:lstStyle/>
          <a:p>
            <a:pPr algn="r">
              <a:lnSpc>
                <a:spcPts val="1755"/>
              </a:lnSpc>
              <a:spcBef>
                <a:spcPts val="0"/>
              </a:spcBef>
              <a:spcAft>
                <a:spcPts val="0"/>
              </a:spcAft>
            </a:pPr>
            <a:r>
              <a:rPr sz="1350" b="1" i="0">
                <a:solidFill>
                  <a:srgbClr val="172433"/>
                </a:solidFill>
                <a:latin typeface="Readex Pro"/>
                <a:ea typeface="Readex Pro"/>
                <a:cs typeface="Readex Pro"/>
              </a:rPr>
              <a:t>Security+</a:t>
            </a:r>
          </a:p>
        </p:txBody>
      </p:sp>
      <p:sp>
        <p:nvSpPr>
          <p:cNvPr id="25" name="Text 24"/>
          <p:cNvSpPr txBox="1"/>
          <p:nvPr/>
        </p:nvSpPr>
        <p:spPr>
          <a:xfrm>
            <a:off x="8155484" y="3761157"/>
            <a:ext cx="711795"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CompTIA</a:t>
            </a:r>
          </a:p>
        </p:txBody>
      </p:sp>
      <p:sp>
        <p:nvSpPr>
          <p:cNvPr id="26" name="Box 25"/>
          <p:cNvSpPr/>
          <p:nvPr/>
        </p:nvSpPr>
        <p:spPr>
          <a:xfrm>
            <a:off x="8130084" y="4114602"/>
            <a:ext cx="3077666" cy="349845"/>
          </a:xfrm>
          <a:prstGeom prst="roundRect">
            <a:avLst>
              <a:gd name="adj" fmla="val 18150"/>
            </a:avLst>
          </a:prstGeom>
          <a:solidFill>
            <a:srgbClr val="E3F1ED"/>
          </a:solidFill>
          <a:ln>
            <a:noFill/>
          </a:ln>
        </p:spPr>
        <p:txBody>
          <a:bodyPr rtlCol="0" anchor="ctr"/>
          <a:lstStyle/>
          <a:p>
            <a:pPr algn="ctr"/>
          </a:p>
        </p:txBody>
      </p:sp>
      <p:sp>
        <p:nvSpPr>
          <p:cNvPr id="27" name="Text 26"/>
          <p:cNvSpPr txBox="1"/>
          <p:nvPr/>
        </p:nvSpPr>
        <p:spPr>
          <a:xfrm>
            <a:off x="9061716" y="4166957"/>
            <a:ext cx="2044434" cy="222845"/>
          </a:xfrm>
          <a:prstGeom prst="rect">
            <a:avLst/>
          </a:prstGeom>
          <a:noFill/>
        </p:spPr>
        <p:txBody>
          <a:bodyPr wrap="square" tIns="0" rIns="0" bIns="0" lIns="0" anchor="t" rtlCol="0" anchorCtr="0">
            <a:noAutofit/>
          </a:bodyPr>
          <a:lstStyle/>
          <a:p>
            <a:pPr algn="r">
              <a:lnSpc>
                <a:spcPts val="1755"/>
              </a:lnSpc>
              <a:spcBef>
                <a:spcPts val="0"/>
              </a:spcBef>
              <a:spcAft>
                <a:spcPts val="0"/>
              </a:spcAft>
            </a:pPr>
            <a:r>
              <a:rPr sz="1350" b="1" i="0">
                <a:solidFill>
                  <a:srgbClr val="172433"/>
                </a:solidFill>
                <a:latin typeface="Readex Pro"/>
                <a:ea typeface="Readex Pro"/>
                <a:cs typeface="Readex Pro"/>
              </a:rPr>
              <a:t>IT Risk Fundamentals</a:t>
            </a:r>
          </a:p>
        </p:txBody>
      </p:sp>
      <p:sp>
        <p:nvSpPr>
          <p:cNvPr id="28" name="Text 27"/>
          <p:cNvSpPr txBox="1"/>
          <p:nvPr/>
        </p:nvSpPr>
        <p:spPr>
          <a:xfrm>
            <a:off x="8155484" y="4174502"/>
            <a:ext cx="513457"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ISACA</a:t>
            </a:r>
          </a:p>
        </p:txBody>
      </p:sp>
      <p:sp>
        <p:nvSpPr>
          <p:cNvPr id="29" name="Box 28"/>
          <p:cNvSpPr/>
          <p:nvPr/>
        </p:nvSpPr>
        <p:spPr>
          <a:xfrm>
            <a:off x="4385667" y="2416770"/>
            <a:ext cx="3420566" cy="2219127"/>
          </a:xfrm>
          <a:prstGeom prst="roundRect">
            <a:avLst>
              <a:gd name="adj" fmla="val 4578"/>
            </a:avLst>
          </a:prstGeom>
          <a:solidFill>
            <a:srgbClr val="FFFDF8"/>
          </a:solidFill>
          <a:ln>
            <a:noFill/>
          </a:ln>
        </p:spPr>
        <p:txBody>
          <a:bodyPr rtlCol="0" anchor="ctr"/>
          <a:lstStyle/>
          <a:p>
            <a:pPr algn="ctr"/>
          </a:p>
        </p:txBody>
      </p:sp>
      <p:sp>
        <p:nvSpPr>
          <p:cNvPr id="30" name="Rule 29"/>
          <p:cNvSpPr/>
          <p:nvPr/>
        </p:nvSpPr>
        <p:spPr>
          <a:xfrm>
            <a:off x="4385667" y="2416770"/>
            <a:ext cx="3420566" cy="50800"/>
          </a:xfrm>
          <a:prstGeom prst="rect">
            <a:avLst/>
          </a:prstGeom>
          <a:solidFill>
            <a:srgbClr val="24506B"/>
          </a:solidFill>
          <a:ln>
            <a:noFill/>
          </a:ln>
        </p:spPr>
        <p:txBody>
          <a:bodyPr rtlCol="0" anchor="ctr"/>
          <a:lstStyle/>
          <a:p>
            <a:pPr algn="ctr"/>
          </a:p>
        </p:txBody>
      </p:sp>
      <p:sp>
        <p:nvSpPr>
          <p:cNvPr id="31" name="Rule 30"/>
          <p:cNvSpPr/>
          <p:nvPr/>
        </p:nvSpPr>
        <p:spPr>
          <a:xfrm>
            <a:off x="7799884" y="2416770"/>
            <a:ext cx="6350" cy="2219127"/>
          </a:xfrm>
          <a:prstGeom prst="rect">
            <a:avLst/>
          </a:prstGeom>
          <a:solidFill>
            <a:srgbClr val="E1DBCD"/>
          </a:solidFill>
          <a:ln>
            <a:noFill/>
          </a:ln>
        </p:spPr>
        <p:txBody>
          <a:bodyPr rtlCol="0" anchor="ctr"/>
          <a:lstStyle/>
          <a:p>
            <a:pPr algn="ctr"/>
          </a:p>
        </p:txBody>
      </p:sp>
      <p:sp>
        <p:nvSpPr>
          <p:cNvPr id="32" name="Rule 31"/>
          <p:cNvSpPr/>
          <p:nvPr/>
        </p:nvSpPr>
        <p:spPr>
          <a:xfrm>
            <a:off x="4385667" y="4629547"/>
            <a:ext cx="3420566" cy="6350"/>
          </a:xfrm>
          <a:prstGeom prst="rect">
            <a:avLst/>
          </a:prstGeom>
          <a:solidFill>
            <a:srgbClr val="E1DBCD"/>
          </a:solidFill>
          <a:ln>
            <a:noFill/>
          </a:ln>
        </p:spPr>
        <p:txBody>
          <a:bodyPr rtlCol="0" anchor="ctr"/>
          <a:lstStyle/>
          <a:p>
            <a:pPr algn="ctr"/>
          </a:p>
        </p:txBody>
      </p:sp>
      <p:sp>
        <p:nvSpPr>
          <p:cNvPr id="33" name="Rule 32"/>
          <p:cNvSpPr/>
          <p:nvPr/>
        </p:nvSpPr>
        <p:spPr>
          <a:xfrm>
            <a:off x="4385667" y="2416770"/>
            <a:ext cx="6350" cy="2219127"/>
          </a:xfrm>
          <a:prstGeom prst="rect">
            <a:avLst/>
          </a:prstGeom>
          <a:solidFill>
            <a:srgbClr val="E1DBCD"/>
          </a:solidFill>
          <a:ln>
            <a:noFill/>
          </a:ln>
        </p:spPr>
        <p:txBody>
          <a:bodyPr rtlCol="0" anchor="ctr"/>
          <a:lstStyle/>
          <a:p>
            <a:pPr algn="ctr"/>
          </a:p>
        </p:txBody>
      </p:sp>
      <p:sp>
        <p:nvSpPr>
          <p:cNvPr id="34" name="Text 33"/>
          <p:cNvSpPr txBox="1"/>
          <p:nvPr/>
        </p:nvSpPr>
        <p:spPr>
          <a:xfrm>
            <a:off x="4411067" y="2619462"/>
            <a:ext cx="3223716"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24506B"/>
                </a:solidFill>
                <a:latin typeface="Readex Pro"/>
                <a:ea typeface="Readex Pro"/>
                <a:cs typeface="Readex Pro"/>
              </a:rPr>
              <a:t>التخصص</a:t>
            </a:r>
          </a:p>
        </p:txBody>
      </p:sp>
      <p:sp>
        <p:nvSpPr>
          <p:cNvPr id="35" name="Text 34"/>
          <p:cNvSpPr txBox="1"/>
          <p:nvPr/>
        </p:nvSpPr>
        <p:spPr>
          <a:xfrm>
            <a:off x="4411067" y="2962069"/>
            <a:ext cx="32237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مهارة محددة في GRC أو معيار بعينه.</a:t>
            </a:r>
          </a:p>
        </p:txBody>
      </p:sp>
      <p:sp>
        <p:nvSpPr>
          <p:cNvPr id="36" name="Box 35"/>
          <p:cNvSpPr/>
          <p:nvPr/>
        </p:nvSpPr>
        <p:spPr>
          <a:xfrm>
            <a:off x="4557117" y="3287911"/>
            <a:ext cx="3077666" cy="349845"/>
          </a:xfrm>
          <a:prstGeom prst="roundRect">
            <a:avLst>
              <a:gd name="adj" fmla="val 18150"/>
            </a:avLst>
          </a:prstGeom>
          <a:solidFill>
            <a:srgbClr val="E6EDF4"/>
          </a:solidFill>
          <a:ln>
            <a:noFill/>
          </a:ln>
        </p:spPr>
        <p:txBody>
          <a:bodyPr rtlCol="0" anchor="ctr"/>
          <a:lstStyle/>
          <a:p>
            <a:pPr algn="ctr"/>
          </a:p>
        </p:txBody>
      </p:sp>
      <p:sp>
        <p:nvSpPr>
          <p:cNvPr id="37" name="Text 36"/>
          <p:cNvSpPr txBox="1"/>
          <p:nvPr/>
        </p:nvSpPr>
        <p:spPr>
          <a:xfrm>
            <a:off x="5801646" y="3340267"/>
            <a:ext cx="1731538" cy="222845"/>
          </a:xfrm>
          <a:prstGeom prst="rect">
            <a:avLst/>
          </a:prstGeom>
          <a:noFill/>
        </p:spPr>
        <p:txBody>
          <a:bodyPr wrap="square" tIns="0" rIns="0" bIns="0" lIns="0" anchor="t" rtlCol="0" anchorCtr="0">
            <a:noAutofit/>
          </a:bodyPr>
          <a:lstStyle/>
          <a:p>
            <a:pPr algn="r">
              <a:lnSpc>
                <a:spcPts val="1755"/>
              </a:lnSpc>
              <a:spcBef>
                <a:spcPts val="0"/>
              </a:spcBef>
              <a:spcAft>
                <a:spcPts val="0"/>
              </a:spcAft>
            </a:pPr>
            <a:r>
              <a:rPr sz="1350" b="1" i="0">
                <a:solidFill>
                  <a:srgbClr val="172433"/>
                </a:solidFill>
                <a:latin typeface="Readex Pro"/>
                <a:ea typeface="Readex Pro"/>
                <a:cs typeface="Readex Pro"/>
              </a:rPr>
              <a:t>ISO 27001 LI / LA</a:t>
            </a:r>
          </a:p>
        </p:txBody>
      </p:sp>
      <p:sp>
        <p:nvSpPr>
          <p:cNvPr id="38" name="Text 37"/>
          <p:cNvSpPr txBox="1"/>
          <p:nvPr/>
        </p:nvSpPr>
        <p:spPr>
          <a:xfrm>
            <a:off x="4582517" y="3347811"/>
            <a:ext cx="80139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4E5A66"/>
                </a:solidFill>
                <a:latin typeface="IBM Plex Sans Arabic"/>
                <a:ea typeface="IBM Plex Sans Arabic"/>
                <a:cs typeface="IBM Plex Sans Arabic"/>
              </a:rPr>
              <a:t>جهات تدريب</a:t>
            </a:r>
          </a:p>
        </p:txBody>
      </p:sp>
      <p:sp>
        <p:nvSpPr>
          <p:cNvPr id="39" name="Box 38"/>
          <p:cNvSpPr/>
          <p:nvPr/>
        </p:nvSpPr>
        <p:spPr>
          <a:xfrm>
            <a:off x="4557117" y="3701256"/>
            <a:ext cx="3077666" cy="349845"/>
          </a:xfrm>
          <a:prstGeom prst="roundRect">
            <a:avLst>
              <a:gd name="adj" fmla="val 18150"/>
            </a:avLst>
          </a:prstGeom>
          <a:solidFill>
            <a:srgbClr val="E6EDF4"/>
          </a:solidFill>
          <a:ln>
            <a:noFill/>
          </a:ln>
        </p:spPr>
        <p:txBody>
          <a:bodyPr rtlCol="0" anchor="ctr"/>
          <a:lstStyle/>
          <a:p>
            <a:pPr algn="ctr"/>
          </a:p>
        </p:txBody>
      </p:sp>
      <p:sp>
        <p:nvSpPr>
          <p:cNvPr id="40" name="Text 39"/>
          <p:cNvSpPr txBox="1"/>
          <p:nvPr/>
        </p:nvSpPr>
        <p:spPr>
          <a:xfrm>
            <a:off x="6945035" y="3753612"/>
            <a:ext cx="588149" cy="222845"/>
          </a:xfrm>
          <a:prstGeom prst="rect">
            <a:avLst/>
          </a:prstGeom>
          <a:noFill/>
        </p:spPr>
        <p:txBody>
          <a:bodyPr wrap="square" tIns="0" rIns="0" bIns="0" lIns="0" anchor="t" rtlCol="0" anchorCtr="0">
            <a:noAutofit/>
          </a:bodyPr>
          <a:lstStyle/>
          <a:p>
            <a:pPr algn="r">
              <a:lnSpc>
                <a:spcPts val="1755"/>
              </a:lnSpc>
              <a:spcBef>
                <a:spcPts val="0"/>
              </a:spcBef>
              <a:spcAft>
                <a:spcPts val="0"/>
              </a:spcAft>
            </a:pPr>
            <a:r>
              <a:rPr sz="1350" b="1" i="0">
                <a:solidFill>
                  <a:srgbClr val="172433"/>
                </a:solidFill>
                <a:latin typeface="Readex Pro"/>
                <a:ea typeface="Readex Pro"/>
                <a:cs typeface="Readex Pro"/>
              </a:rPr>
              <a:t>GRCP</a:t>
            </a:r>
          </a:p>
        </p:txBody>
      </p:sp>
      <p:sp>
        <p:nvSpPr>
          <p:cNvPr id="41" name="Text 40"/>
          <p:cNvSpPr txBox="1"/>
          <p:nvPr/>
        </p:nvSpPr>
        <p:spPr>
          <a:xfrm>
            <a:off x="4582517" y="3761157"/>
            <a:ext cx="473571"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OCEG</a:t>
            </a:r>
          </a:p>
        </p:txBody>
      </p:sp>
      <p:sp>
        <p:nvSpPr>
          <p:cNvPr id="42" name="Box 41"/>
          <p:cNvSpPr/>
          <p:nvPr/>
        </p:nvSpPr>
        <p:spPr>
          <a:xfrm>
            <a:off x="4557117" y="4114602"/>
            <a:ext cx="3077666" cy="349845"/>
          </a:xfrm>
          <a:prstGeom prst="roundRect">
            <a:avLst>
              <a:gd name="adj" fmla="val 18150"/>
            </a:avLst>
          </a:prstGeom>
          <a:solidFill>
            <a:srgbClr val="E6EDF4"/>
          </a:solidFill>
          <a:ln>
            <a:noFill/>
          </a:ln>
        </p:spPr>
        <p:txBody>
          <a:bodyPr rtlCol="0" anchor="ctr"/>
          <a:lstStyle/>
          <a:p>
            <a:pPr algn="ctr"/>
          </a:p>
        </p:txBody>
      </p:sp>
      <p:sp>
        <p:nvSpPr>
          <p:cNvPr id="43" name="Text 42"/>
          <p:cNvSpPr txBox="1"/>
          <p:nvPr/>
        </p:nvSpPr>
        <p:spPr>
          <a:xfrm>
            <a:off x="6159520" y="4166957"/>
            <a:ext cx="1373664" cy="222845"/>
          </a:xfrm>
          <a:prstGeom prst="rect">
            <a:avLst/>
          </a:prstGeom>
          <a:noFill/>
        </p:spPr>
        <p:txBody>
          <a:bodyPr wrap="square" tIns="0" rIns="0" bIns="0" lIns="0" anchor="t" rtlCol="0" anchorCtr="0">
            <a:noAutofit/>
          </a:bodyPr>
          <a:lstStyle/>
          <a:p>
            <a:pPr algn="r">
              <a:lnSpc>
                <a:spcPts val="1755"/>
              </a:lnSpc>
              <a:spcBef>
                <a:spcPts val="0"/>
              </a:spcBef>
              <a:spcAft>
                <a:spcPts val="0"/>
              </a:spcAft>
            </a:pPr>
            <a:r>
              <a:rPr sz="1350" b="1" i="0">
                <a:solidFill>
                  <a:srgbClr val="172433"/>
                </a:solidFill>
                <a:latin typeface="Readex Pro"/>
                <a:ea typeface="Readex Pro"/>
                <a:cs typeface="Readex Pro"/>
              </a:rPr>
              <a:t>CIPP/E · CIPM</a:t>
            </a:r>
          </a:p>
        </p:txBody>
      </p:sp>
      <p:sp>
        <p:nvSpPr>
          <p:cNvPr id="44" name="Text 43"/>
          <p:cNvSpPr txBox="1"/>
          <p:nvPr/>
        </p:nvSpPr>
        <p:spPr>
          <a:xfrm>
            <a:off x="4582517" y="4174502"/>
            <a:ext cx="419596"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IAPP</a:t>
            </a:r>
          </a:p>
        </p:txBody>
      </p:sp>
      <p:sp>
        <p:nvSpPr>
          <p:cNvPr id="45" name="Box 44"/>
          <p:cNvSpPr/>
          <p:nvPr/>
        </p:nvSpPr>
        <p:spPr>
          <a:xfrm>
            <a:off x="812701" y="2416770"/>
            <a:ext cx="3420566" cy="2219127"/>
          </a:xfrm>
          <a:prstGeom prst="roundRect">
            <a:avLst>
              <a:gd name="adj" fmla="val 4578"/>
            </a:avLst>
          </a:prstGeom>
          <a:solidFill>
            <a:srgbClr val="FFFDF8"/>
          </a:solidFill>
          <a:ln>
            <a:noFill/>
          </a:ln>
        </p:spPr>
        <p:txBody>
          <a:bodyPr rtlCol="0" anchor="ctr"/>
          <a:lstStyle/>
          <a:p>
            <a:pPr algn="ctr"/>
          </a:p>
        </p:txBody>
      </p:sp>
      <p:sp>
        <p:nvSpPr>
          <p:cNvPr id="46" name="Rule 45"/>
          <p:cNvSpPr/>
          <p:nvPr/>
        </p:nvSpPr>
        <p:spPr>
          <a:xfrm>
            <a:off x="812701" y="2416770"/>
            <a:ext cx="3420566" cy="50800"/>
          </a:xfrm>
          <a:prstGeom prst="rect">
            <a:avLst/>
          </a:prstGeom>
          <a:solidFill>
            <a:srgbClr val="C27A16"/>
          </a:solidFill>
          <a:ln>
            <a:noFill/>
          </a:ln>
        </p:spPr>
        <p:txBody>
          <a:bodyPr rtlCol="0" anchor="ctr"/>
          <a:lstStyle/>
          <a:p>
            <a:pPr algn="ctr"/>
          </a:p>
        </p:txBody>
      </p:sp>
      <p:sp>
        <p:nvSpPr>
          <p:cNvPr id="47" name="Rule 46"/>
          <p:cNvSpPr/>
          <p:nvPr/>
        </p:nvSpPr>
        <p:spPr>
          <a:xfrm>
            <a:off x="4226917" y="2416770"/>
            <a:ext cx="6350" cy="2219127"/>
          </a:xfrm>
          <a:prstGeom prst="rect">
            <a:avLst/>
          </a:prstGeom>
          <a:solidFill>
            <a:srgbClr val="E1DBCD"/>
          </a:solidFill>
          <a:ln>
            <a:noFill/>
          </a:ln>
        </p:spPr>
        <p:txBody>
          <a:bodyPr rtlCol="0" anchor="ctr"/>
          <a:lstStyle/>
          <a:p>
            <a:pPr algn="ctr"/>
          </a:p>
        </p:txBody>
      </p:sp>
      <p:sp>
        <p:nvSpPr>
          <p:cNvPr id="48" name="Rule 47"/>
          <p:cNvSpPr/>
          <p:nvPr/>
        </p:nvSpPr>
        <p:spPr>
          <a:xfrm>
            <a:off x="812701" y="4629547"/>
            <a:ext cx="3420566" cy="6350"/>
          </a:xfrm>
          <a:prstGeom prst="rect">
            <a:avLst/>
          </a:prstGeom>
          <a:solidFill>
            <a:srgbClr val="E1DBCD"/>
          </a:solidFill>
          <a:ln>
            <a:noFill/>
          </a:ln>
        </p:spPr>
        <p:txBody>
          <a:bodyPr rtlCol="0" anchor="ctr"/>
          <a:lstStyle/>
          <a:p>
            <a:pPr algn="ctr"/>
          </a:p>
        </p:txBody>
      </p:sp>
      <p:sp>
        <p:nvSpPr>
          <p:cNvPr id="49" name="Rule 48"/>
          <p:cNvSpPr/>
          <p:nvPr/>
        </p:nvSpPr>
        <p:spPr>
          <a:xfrm>
            <a:off x="812701" y="2416770"/>
            <a:ext cx="6350" cy="2219127"/>
          </a:xfrm>
          <a:prstGeom prst="rect">
            <a:avLst/>
          </a:prstGeom>
          <a:solidFill>
            <a:srgbClr val="E1DBCD"/>
          </a:solidFill>
          <a:ln>
            <a:noFill/>
          </a:ln>
        </p:spPr>
        <p:txBody>
          <a:bodyPr rtlCol="0" anchor="ctr"/>
          <a:lstStyle/>
          <a:p>
            <a:pPr algn="ctr"/>
          </a:p>
        </p:txBody>
      </p:sp>
      <p:sp>
        <p:nvSpPr>
          <p:cNvPr id="50" name="Text 49"/>
          <p:cNvSpPr txBox="1"/>
          <p:nvPr/>
        </p:nvSpPr>
        <p:spPr>
          <a:xfrm>
            <a:off x="838101" y="2619462"/>
            <a:ext cx="3223716"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9A5F0F"/>
                </a:solidFill>
                <a:latin typeface="Readex Pro"/>
                <a:ea typeface="Readex Pro"/>
                <a:cs typeface="Readex Pro"/>
              </a:rPr>
              <a:t>المتقدم</a:t>
            </a:r>
          </a:p>
        </p:txBody>
      </p:sp>
      <p:sp>
        <p:nvSpPr>
          <p:cNvPr id="51" name="Text 50"/>
          <p:cNvSpPr txBox="1"/>
          <p:nvPr/>
        </p:nvSpPr>
        <p:spPr>
          <a:xfrm>
            <a:off x="838101" y="2962069"/>
            <a:ext cx="32237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تشترط سنوات خبرة قبل منحها.</a:t>
            </a:r>
          </a:p>
        </p:txBody>
      </p:sp>
      <p:sp>
        <p:nvSpPr>
          <p:cNvPr id="52" name="Box 51"/>
          <p:cNvSpPr/>
          <p:nvPr/>
        </p:nvSpPr>
        <p:spPr>
          <a:xfrm>
            <a:off x="984151" y="3287911"/>
            <a:ext cx="3077666" cy="349845"/>
          </a:xfrm>
          <a:prstGeom prst="roundRect">
            <a:avLst>
              <a:gd name="adj" fmla="val 18150"/>
            </a:avLst>
          </a:prstGeom>
          <a:solidFill>
            <a:srgbClr val="F6ECDA"/>
          </a:solidFill>
          <a:ln>
            <a:noFill/>
          </a:ln>
        </p:spPr>
        <p:txBody>
          <a:bodyPr rtlCol="0" anchor="ctr"/>
          <a:lstStyle/>
          <a:p>
            <a:pPr algn="ctr"/>
          </a:p>
        </p:txBody>
      </p:sp>
      <p:sp>
        <p:nvSpPr>
          <p:cNvPr id="53" name="Text 52"/>
          <p:cNvSpPr txBox="1"/>
          <p:nvPr/>
        </p:nvSpPr>
        <p:spPr>
          <a:xfrm>
            <a:off x="2032798" y="3340267"/>
            <a:ext cx="1927419" cy="222845"/>
          </a:xfrm>
          <a:prstGeom prst="rect">
            <a:avLst/>
          </a:prstGeom>
          <a:noFill/>
        </p:spPr>
        <p:txBody>
          <a:bodyPr wrap="square" tIns="0" rIns="0" bIns="0" lIns="0" anchor="t" rtlCol="0" anchorCtr="0">
            <a:noAutofit/>
          </a:bodyPr>
          <a:lstStyle/>
          <a:p>
            <a:pPr algn="r">
              <a:lnSpc>
                <a:spcPts val="1755"/>
              </a:lnSpc>
              <a:spcBef>
                <a:spcPts val="0"/>
              </a:spcBef>
              <a:spcAft>
                <a:spcPts val="0"/>
              </a:spcAft>
            </a:pPr>
            <a:r>
              <a:rPr sz="1350" b="1" i="0">
                <a:solidFill>
                  <a:srgbClr val="172433"/>
                </a:solidFill>
                <a:latin typeface="Readex Pro"/>
                <a:ea typeface="Readex Pro"/>
                <a:cs typeface="Readex Pro"/>
              </a:rPr>
              <a:t>CISA · CRISC · CISM</a:t>
            </a:r>
          </a:p>
        </p:txBody>
      </p:sp>
      <p:sp>
        <p:nvSpPr>
          <p:cNvPr id="54" name="Text 53"/>
          <p:cNvSpPr txBox="1"/>
          <p:nvPr/>
        </p:nvSpPr>
        <p:spPr>
          <a:xfrm>
            <a:off x="1009551" y="3347811"/>
            <a:ext cx="513457"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ISACA</a:t>
            </a:r>
          </a:p>
        </p:txBody>
      </p:sp>
      <p:sp>
        <p:nvSpPr>
          <p:cNvPr id="55" name="Box 54"/>
          <p:cNvSpPr/>
          <p:nvPr/>
        </p:nvSpPr>
        <p:spPr>
          <a:xfrm>
            <a:off x="984151" y="3701256"/>
            <a:ext cx="3077666" cy="349845"/>
          </a:xfrm>
          <a:prstGeom prst="roundRect">
            <a:avLst>
              <a:gd name="adj" fmla="val 18150"/>
            </a:avLst>
          </a:prstGeom>
          <a:solidFill>
            <a:srgbClr val="F6ECDA"/>
          </a:solidFill>
          <a:ln>
            <a:noFill/>
          </a:ln>
        </p:spPr>
        <p:txBody>
          <a:bodyPr rtlCol="0" anchor="ctr"/>
          <a:lstStyle/>
          <a:p>
            <a:pPr algn="ctr"/>
          </a:p>
        </p:txBody>
      </p:sp>
      <p:sp>
        <p:nvSpPr>
          <p:cNvPr id="56" name="Text 55"/>
          <p:cNvSpPr txBox="1"/>
          <p:nvPr/>
        </p:nvSpPr>
        <p:spPr>
          <a:xfrm>
            <a:off x="2668310" y="3753612"/>
            <a:ext cx="1291908" cy="222845"/>
          </a:xfrm>
          <a:prstGeom prst="rect">
            <a:avLst/>
          </a:prstGeom>
          <a:noFill/>
        </p:spPr>
        <p:txBody>
          <a:bodyPr wrap="square" tIns="0" rIns="0" bIns="0" lIns="0" anchor="t" rtlCol="0" anchorCtr="0">
            <a:noAutofit/>
          </a:bodyPr>
          <a:lstStyle/>
          <a:p>
            <a:pPr algn="r">
              <a:lnSpc>
                <a:spcPts val="1755"/>
              </a:lnSpc>
              <a:spcBef>
                <a:spcPts val="0"/>
              </a:spcBef>
              <a:spcAft>
                <a:spcPts val="0"/>
              </a:spcAft>
            </a:pPr>
            <a:r>
              <a:rPr sz="1350" b="1" i="0">
                <a:solidFill>
                  <a:srgbClr val="172433"/>
                </a:solidFill>
                <a:latin typeface="Readex Pro"/>
                <a:ea typeface="Readex Pro"/>
                <a:cs typeface="Readex Pro"/>
              </a:rPr>
              <a:t>CGRC · CISSP</a:t>
            </a:r>
          </a:p>
        </p:txBody>
      </p:sp>
      <p:sp>
        <p:nvSpPr>
          <p:cNvPr id="57" name="Text 56"/>
          <p:cNvSpPr txBox="1"/>
          <p:nvPr/>
        </p:nvSpPr>
        <p:spPr>
          <a:xfrm>
            <a:off x="1009551" y="3761157"/>
            <a:ext cx="411857"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ISC2</a:t>
            </a:r>
          </a:p>
        </p:txBody>
      </p:sp>
      <p:sp>
        <p:nvSpPr>
          <p:cNvPr id="58" name="Box 57"/>
          <p:cNvSpPr/>
          <p:nvPr/>
        </p:nvSpPr>
        <p:spPr>
          <a:xfrm>
            <a:off x="984151" y="4114602"/>
            <a:ext cx="3077666" cy="349845"/>
          </a:xfrm>
          <a:prstGeom prst="roundRect">
            <a:avLst>
              <a:gd name="adj" fmla="val 18150"/>
            </a:avLst>
          </a:prstGeom>
          <a:solidFill>
            <a:srgbClr val="F6ECDA"/>
          </a:solidFill>
          <a:ln>
            <a:noFill/>
          </a:ln>
        </p:spPr>
        <p:txBody>
          <a:bodyPr rtlCol="0" anchor="ctr"/>
          <a:lstStyle/>
          <a:p>
            <a:pPr algn="ctr"/>
          </a:p>
        </p:txBody>
      </p:sp>
      <p:sp>
        <p:nvSpPr>
          <p:cNvPr id="59" name="Text 58"/>
          <p:cNvSpPr txBox="1"/>
          <p:nvPr/>
        </p:nvSpPr>
        <p:spPr>
          <a:xfrm>
            <a:off x="2547362" y="4166957"/>
            <a:ext cx="1412855" cy="222845"/>
          </a:xfrm>
          <a:prstGeom prst="rect">
            <a:avLst/>
          </a:prstGeom>
          <a:noFill/>
        </p:spPr>
        <p:txBody>
          <a:bodyPr wrap="square" tIns="0" rIns="0" bIns="0" lIns="0" anchor="t" rtlCol="0" anchorCtr="0">
            <a:noAutofit/>
          </a:bodyPr>
          <a:lstStyle/>
          <a:p>
            <a:pPr algn="r">
              <a:lnSpc>
                <a:spcPts val="1755"/>
              </a:lnSpc>
              <a:spcBef>
                <a:spcPts val="0"/>
              </a:spcBef>
              <a:spcAft>
                <a:spcPts val="0"/>
              </a:spcAft>
            </a:pPr>
            <a:r>
              <a:rPr sz="1350" b="1" i="0">
                <a:solidFill>
                  <a:srgbClr val="172433"/>
                </a:solidFill>
                <a:latin typeface="Readex Pro"/>
                <a:ea typeface="Readex Pro"/>
                <a:cs typeface="Readex Pro"/>
              </a:rPr>
              <a:t>CGEIT · CDPSE</a:t>
            </a:r>
          </a:p>
        </p:txBody>
      </p:sp>
      <p:sp>
        <p:nvSpPr>
          <p:cNvPr id="60" name="Text 59"/>
          <p:cNvSpPr txBox="1"/>
          <p:nvPr/>
        </p:nvSpPr>
        <p:spPr>
          <a:xfrm>
            <a:off x="1009551" y="4174502"/>
            <a:ext cx="513457"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ISACA</a:t>
            </a:r>
          </a:p>
        </p:txBody>
      </p:sp>
      <p:sp>
        <p:nvSpPr>
          <p:cNvPr id="61" name="Text 60"/>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05 · الشهادات</a:t>
            </a:r>
          </a:p>
        </p:txBody>
      </p:sp>
      <p:sp>
        <p:nvSpPr>
          <p:cNvPr id="62" name="Text 61"/>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65</a:t>
            </a:r>
          </a:p>
        </p:txBody>
      </p:sp>
    </p:spTree>
  </p:cSld>
  <p:clrMapOvr>
    <a:masterClrMapping/>
  </p:clrMapOvr>
  <p:transition spd="med">
    <p:fade/>
  </p:transition>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798844" y="812800"/>
            <a:ext cx="1580356"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شهادات البداية: بلا خبرة سابقة</a:t>
            </a:r>
          </a:p>
        </p:txBody>
      </p:sp>
      <p:sp>
        <p:nvSpPr>
          <p:cNvPr id="5" name="Box 4"/>
          <p:cNvSpPr/>
          <p:nvPr/>
        </p:nvSpPr>
        <p:spPr>
          <a:xfrm>
            <a:off x="6188075" y="1810345"/>
            <a:ext cx="5187950" cy="3074392"/>
          </a:xfrm>
          <a:prstGeom prst="roundRect">
            <a:avLst>
              <a:gd name="adj" fmla="val 3710"/>
            </a:avLst>
          </a:prstGeom>
          <a:solidFill>
            <a:srgbClr val="FFFDF8"/>
          </a:solidFill>
          <a:ln w="6350">
            <a:solidFill>
              <a:srgbClr val="E1DBCD"/>
            </a:solidFill>
          </a:ln>
        </p:spPr>
        <p:txBody>
          <a:bodyPr rtlCol="0" anchor="ctr"/>
          <a:lstStyle/>
          <a:p>
            <a:pPr algn="ctr"/>
          </a:p>
        </p:txBody>
      </p:sp>
      <p:sp>
        <p:nvSpPr>
          <p:cNvPr id="6" name="Box 5"/>
          <p:cNvSpPr/>
          <p:nvPr/>
        </p:nvSpPr>
        <p:spPr>
          <a:xfrm>
            <a:off x="6191250" y="1813520"/>
            <a:ext cx="5181600" cy="863600"/>
          </a:xfrm>
          <a:prstGeom prst="round2SameRect">
            <a:avLst>
              <a:gd name="adj1" fmla="val 12500"/>
              <a:gd name="adj2" fmla="val 0"/>
            </a:avLst>
          </a:prstGeom>
          <a:solidFill>
            <a:srgbClr val="24506B"/>
          </a:solidFill>
          <a:ln>
            <a:noFill/>
          </a:ln>
        </p:spPr>
        <p:txBody>
          <a:bodyPr rtlCol="0" anchor="ctr"/>
          <a:lstStyle/>
          <a:p>
            <a:pPr algn="ctr"/>
          </a:p>
        </p:txBody>
      </p:sp>
      <p:sp>
        <p:nvSpPr>
          <p:cNvPr id="7" name="Box 6"/>
          <p:cNvSpPr/>
          <p:nvPr/>
        </p:nvSpPr>
        <p:spPr>
          <a:xfrm>
            <a:off x="10433050" y="1940520"/>
            <a:ext cx="762000" cy="609600"/>
          </a:xfrm>
          <a:prstGeom prst="roundRect">
            <a:avLst>
              <a:gd name="adj" fmla="val 20833"/>
            </a:avLst>
          </a:prstGeom>
          <a:solidFill>
            <a:srgbClr val="FFFDF8"/>
          </a:solidFill>
          <a:ln>
            <a:noFill/>
          </a:ln>
        </p:spPr>
        <p:txBody>
          <a:bodyPr rtlCol="0" anchor="ctr"/>
          <a:lstStyle/>
          <a:p>
            <a:pPr algn="ctr"/>
          </a:p>
        </p:txBody>
      </p:sp>
      <p:sp>
        <p:nvSpPr>
          <p:cNvPr id="8" name="Text 7"/>
          <p:cNvSpPr txBox="1"/>
          <p:nvPr/>
        </p:nvSpPr>
        <p:spPr>
          <a:xfrm>
            <a:off x="10534888" y="2155722"/>
            <a:ext cx="428784"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24506B"/>
                </a:solidFill>
                <a:latin typeface="Readex Pro"/>
                <a:ea typeface="Readex Pro"/>
                <a:cs typeface="Readex Pro"/>
              </a:rPr>
              <a:t>CC</a:t>
            </a:r>
          </a:p>
        </p:txBody>
      </p:sp>
      <p:sp>
        <p:nvSpPr>
          <p:cNvPr id="9" name="Text 8"/>
          <p:cNvSpPr txBox="1"/>
          <p:nvPr/>
        </p:nvSpPr>
        <p:spPr>
          <a:xfrm>
            <a:off x="6216650" y="2002683"/>
            <a:ext cx="4076700"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400" b="1" i="0">
                <a:solidFill>
                  <a:srgbClr val="F3EFE6"/>
                </a:solidFill>
                <a:latin typeface="Readex Pro"/>
                <a:ea typeface="Readex Pro"/>
                <a:cs typeface="Readex Pro"/>
              </a:rPr>
              <a:t>Certified in Cybersecurity</a:t>
            </a:r>
          </a:p>
        </p:txBody>
      </p:sp>
      <p:sp>
        <p:nvSpPr>
          <p:cNvPr id="10" name="Text 9"/>
          <p:cNvSpPr txBox="1"/>
          <p:nvPr/>
        </p:nvSpPr>
        <p:spPr>
          <a:xfrm>
            <a:off x="6216650" y="2250908"/>
            <a:ext cx="40767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CFE0EA"/>
                </a:solidFill>
                <a:latin typeface="IBM Plex Sans Arabic"/>
                <a:ea typeface="IBM Plex Sans Arabic"/>
                <a:cs typeface="IBM Plex Sans Arabic"/>
              </a:rPr>
              <a:t>ISC2 · أول شهادة لحديث التخرج</a:t>
            </a:r>
          </a:p>
        </p:txBody>
      </p:sp>
      <p:sp>
        <p:nvSpPr>
          <p:cNvPr id="11" name="Text 10"/>
          <p:cNvSpPr txBox="1"/>
          <p:nvPr/>
        </p:nvSpPr>
        <p:spPr>
          <a:xfrm>
            <a:off x="10278110" y="2793198"/>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الخبرة</a:t>
            </a:r>
          </a:p>
        </p:txBody>
      </p:sp>
      <p:sp>
        <p:nvSpPr>
          <p:cNvPr id="12" name="Text 11"/>
          <p:cNvSpPr txBox="1"/>
          <p:nvPr/>
        </p:nvSpPr>
        <p:spPr>
          <a:xfrm>
            <a:off x="6210300" y="2793198"/>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لا يشترط خبرة</a:t>
            </a:r>
          </a:p>
        </p:txBody>
      </p:sp>
      <p:sp>
        <p:nvSpPr>
          <p:cNvPr id="13" name="Text 12"/>
          <p:cNvSpPr txBox="1"/>
          <p:nvPr/>
        </p:nvSpPr>
        <p:spPr>
          <a:xfrm>
            <a:off x="10278110" y="308271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الاختبار</a:t>
            </a:r>
          </a:p>
        </p:txBody>
      </p:sp>
      <p:sp>
        <p:nvSpPr>
          <p:cNvPr id="14" name="Text 13"/>
          <p:cNvSpPr txBox="1"/>
          <p:nvPr/>
        </p:nvSpPr>
        <p:spPr>
          <a:xfrm>
            <a:off x="6252083" y="3082719"/>
            <a:ext cx="4015867"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100 إلى 125 سؤالاً في ساعتين، تكيفي (CAT)، والنجاح 700 من 1000</a:t>
            </a:r>
          </a:p>
        </p:txBody>
      </p:sp>
      <p:sp>
        <p:nvSpPr>
          <p:cNvPr id="15" name="Text 14"/>
          <p:cNvSpPr txBox="1"/>
          <p:nvPr/>
        </p:nvSpPr>
        <p:spPr>
          <a:xfrm>
            <a:off x="10278110" y="358555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الرسوم</a:t>
            </a:r>
          </a:p>
        </p:txBody>
      </p:sp>
      <p:sp>
        <p:nvSpPr>
          <p:cNvPr id="16" name="Text 15"/>
          <p:cNvSpPr txBox="1"/>
          <p:nvPr/>
        </p:nvSpPr>
        <p:spPr>
          <a:xfrm>
            <a:off x="6210300" y="358555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199 دولاراً للاختبار، ثم 50 دولاراً سنوياً بعد النجاح</a:t>
            </a:r>
          </a:p>
        </p:txBody>
      </p:sp>
      <p:sp>
        <p:nvSpPr>
          <p:cNvPr id="17" name="Text 16"/>
          <p:cNvSpPr txBox="1"/>
          <p:nvPr/>
        </p:nvSpPr>
        <p:spPr>
          <a:xfrm>
            <a:off x="10278110" y="3875080"/>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التجديد</a:t>
            </a:r>
          </a:p>
        </p:txBody>
      </p:sp>
      <p:sp>
        <p:nvSpPr>
          <p:cNvPr id="18" name="Text 17"/>
          <p:cNvSpPr txBox="1"/>
          <p:nvPr/>
        </p:nvSpPr>
        <p:spPr>
          <a:xfrm>
            <a:off x="6210300" y="3875080"/>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45 ساعة تعليم مستمر (CPE) كل 3 سنوات</a:t>
            </a:r>
          </a:p>
        </p:txBody>
      </p:sp>
      <p:sp>
        <p:nvSpPr>
          <p:cNvPr id="19" name="Box 18"/>
          <p:cNvSpPr/>
          <p:nvPr/>
        </p:nvSpPr>
        <p:spPr>
          <a:xfrm>
            <a:off x="6369050" y="4188222"/>
            <a:ext cx="4826000" cy="340320"/>
          </a:xfrm>
          <a:prstGeom prst="roundRect">
            <a:avLst>
              <a:gd name="adj" fmla="val 18658"/>
            </a:avLst>
          </a:prstGeom>
          <a:solidFill>
            <a:srgbClr val="F6ECDA"/>
          </a:solidFill>
          <a:ln>
            <a:noFill/>
          </a:ln>
        </p:spPr>
        <p:txBody>
          <a:bodyPr rtlCol="0" anchor="ctr"/>
          <a:lstStyle/>
          <a:p>
            <a:pPr algn="ctr"/>
          </a:p>
        </p:txBody>
      </p:sp>
      <p:pic>
        <p:nvPicPr>
          <p:cNvPr id="20" name="Icon Warning 19" descr="icon040.png"/>
          <p:cNvPicPr>
            <a:picLocks noChangeAspect="1"/>
          </p:cNvPicPr>
          <p:nvPr/>
        </p:nvPicPr>
        <p:blipFill>
          <a:blip r:embed="rId2"/>
          <a:stretch>
            <a:fillRect/>
          </a:stretch>
        </p:blipFill>
        <p:spPr>
          <a:xfrm>
            <a:off x="10941050" y="4251722"/>
            <a:ext cx="165100" cy="165100"/>
          </a:xfrm>
          <a:prstGeom prst="rect">
            <a:avLst/>
          </a:prstGeom>
        </p:spPr>
      </p:pic>
      <p:sp>
        <p:nvSpPr>
          <p:cNvPr id="21" name="Text 20"/>
          <p:cNvSpPr txBox="1"/>
          <p:nvPr/>
        </p:nvSpPr>
        <p:spPr>
          <a:xfrm>
            <a:off x="6394450" y="4228100"/>
            <a:ext cx="44704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انتهى عرض الاختبار المجاني، وأُغلق التسجيل فيه في 20 مايو 2026.</a:t>
            </a:r>
          </a:p>
        </p:txBody>
      </p:sp>
      <p:sp>
        <p:nvSpPr>
          <p:cNvPr id="22" name="Box 21"/>
          <p:cNvSpPr/>
          <p:nvPr/>
        </p:nvSpPr>
        <p:spPr>
          <a:xfrm>
            <a:off x="815975" y="1810345"/>
            <a:ext cx="5187950" cy="3074392"/>
          </a:xfrm>
          <a:prstGeom prst="roundRect">
            <a:avLst>
              <a:gd name="adj" fmla="val 3710"/>
            </a:avLst>
          </a:prstGeom>
          <a:solidFill>
            <a:srgbClr val="FFFDF8"/>
          </a:solidFill>
          <a:ln w="6350">
            <a:solidFill>
              <a:srgbClr val="E1DBCD"/>
            </a:solidFill>
          </a:ln>
        </p:spPr>
        <p:txBody>
          <a:bodyPr rtlCol="0" anchor="ctr"/>
          <a:lstStyle/>
          <a:p>
            <a:pPr algn="ctr"/>
          </a:p>
        </p:txBody>
      </p:sp>
      <p:sp>
        <p:nvSpPr>
          <p:cNvPr id="23" name="Box 22"/>
          <p:cNvSpPr/>
          <p:nvPr/>
        </p:nvSpPr>
        <p:spPr>
          <a:xfrm>
            <a:off x="819150" y="1813520"/>
            <a:ext cx="5181600" cy="863600"/>
          </a:xfrm>
          <a:prstGeom prst="round2SameRect">
            <a:avLst>
              <a:gd name="adj1" fmla="val 12500"/>
              <a:gd name="adj2" fmla="val 0"/>
            </a:avLst>
          </a:prstGeom>
          <a:solidFill>
            <a:srgbClr val="8A4B12"/>
          </a:solidFill>
          <a:ln>
            <a:noFill/>
          </a:ln>
        </p:spPr>
        <p:txBody>
          <a:bodyPr rtlCol="0" anchor="ctr"/>
          <a:lstStyle/>
          <a:p>
            <a:pPr algn="ctr"/>
          </a:p>
        </p:txBody>
      </p:sp>
      <p:sp>
        <p:nvSpPr>
          <p:cNvPr id="24" name="Box 23"/>
          <p:cNvSpPr/>
          <p:nvPr/>
        </p:nvSpPr>
        <p:spPr>
          <a:xfrm>
            <a:off x="5060950" y="1940520"/>
            <a:ext cx="762000" cy="609600"/>
          </a:xfrm>
          <a:prstGeom prst="roundRect">
            <a:avLst>
              <a:gd name="adj" fmla="val 20833"/>
            </a:avLst>
          </a:prstGeom>
          <a:solidFill>
            <a:srgbClr val="FFFDF8"/>
          </a:solidFill>
          <a:ln>
            <a:noFill/>
          </a:ln>
        </p:spPr>
        <p:txBody>
          <a:bodyPr rtlCol="0" anchor="ctr"/>
          <a:lstStyle/>
          <a:p>
            <a:pPr algn="ctr"/>
          </a:p>
        </p:txBody>
      </p:sp>
      <p:sp>
        <p:nvSpPr>
          <p:cNvPr id="25" name="Text 24"/>
          <p:cNvSpPr txBox="1"/>
          <p:nvPr/>
        </p:nvSpPr>
        <p:spPr>
          <a:xfrm>
            <a:off x="5086350" y="2155722"/>
            <a:ext cx="633016"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8A4B12"/>
                </a:solidFill>
                <a:latin typeface="Readex Pro"/>
                <a:ea typeface="Readex Pro"/>
                <a:cs typeface="Readex Pro"/>
              </a:rPr>
              <a:t>SEC+</a:t>
            </a:r>
          </a:p>
        </p:txBody>
      </p:sp>
      <p:sp>
        <p:nvSpPr>
          <p:cNvPr id="26" name="Text 25"/>
          <p:cNvSpPr txBox="1"/>
          <p:nvPr/>
        </p:nvSpPr>
        <p:spPr>
          <a:xfrm>
            <a:off x="844550" y="2002683"/>
            <a:ext cx="4076700"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400" b="1" i="0">
                <a:solidFill>
                  <a:srgbClr val="F3EFE6"/>
                </a:solidFill>
                <a:latin typeface="Readex Pro"/>
                <a:ea typeface="Readex Pro"/>
                <a:cs typeface="Readex Pro"/>
              </a:rPr>
              <a:t>CompTIA Security+</a:t>
            </a:r>
          </a:p>
        </p:txBody>
      </p:sp>
      <p:sp>
        <p:nvSpPr>
          <p:cNvPr id="27" name="Text 26"/>
          <p:cNvSpPr txBox="1"/>
          <p:nvPr/>
        </p:nvSpPr>
        <p:spPr>
          <a:xfrm>
            <a:off x="844550" y="2250908"/>
            <a:ext cx="40767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F1DCC3"/>
                </a:solidFill>
                <a:latin typeface="IBM Plex Sans Arabic"/>
                <a:ea typeface="IBM Plex Sans Arabic"/>
                <a:cs typeface="IBM Plex Sans Arabic"/>
              </a:rPr>
              <a:t>CompTIA · أساس تقني أوسع</a:t>
            </a:r>
          </a:p>
        </p:txBody>
      </p:sp>
      <p:sp>
        <p:nvSpPr>
          <p:cNvPr id="28" name="Text 27"/>
          <p:cNvSpPr txBox="1"/>
          <p:nvPr/>
        </p:nvSpPr>
        <p:spPr>
          <a:xfrm>
            <a:off x="4906010" y="2793198"/>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الخبرة</a:t>
            </a:r>
          </a:p>
        </p:txBody>
      </p:sp>
      <p:sp>
        <p:nvSpPr>
          <p:cNvPr id="29" name="Text 28"/>
          <p:cNvSpPr txBox="1"/>
          <p:nvPr/>
        </p:nvSpPr>
        <p:spPr>
          <a:xfrm>
            <a:off x="838200" y="2793198"/>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لا شرط رسمي؛ يُنصح بـ Network+ وسنتين في الأنظمة أو الأمن</a:t>
            </a:r>
          </a:p>
        </p:txBody>
      </p:sp>
      <p:sp>
        <p:nvSpPr>
          <p:cNvPr id="30" name="Text 29"/>
          <p:cNvSpPr txBox="1"/>
          <p:nvPr/>
        </p:nvSpPr>
        <p:spPr>
          <a:xfrm>
            <a:off x="4906010" y="308271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الاختبار</a:t>
            </a:r>
          </a:p>
        </p:txBody>
      </p:sp>
      <p:sp>
        <p:nvSpPr>
          <p:cNvPr id="31" name="Text 30"/>
          <p:cNvSpPr txBox="1"/>
          <p:nvPr/>
        </p:nvSpPr>
        <p:spPr>
          <a:xfrm>
            <a:off x="879983" y="3082719"/>
            <a:ext cx="4015867"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حتى 90 سؤالاً في 90 دقيقة، منها أسئلة أداء عملية، والنجاح 750 من 900</a:t>
            </a:r>
          </a:p>
        </p:txBody>
      </p:sp>
      <p:sp>
        <p:nvSpPr>
          <p:cNvPr id="32" name="Text 31"/>
          <p:cNvSpPr txBox="1"/>
          <p:nvPr/>
        </p:nvSpPr>
        <p:spPr>
          <a:xfrm>
            <a:off x="4906010" y="358555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الرسوم</a:t>
            </a:r>
          </a:p>
        </p:txBody>
      </p:sp>
      <p:sp>
        <p:nvSpPr>
          <p:cNvPr id="33" name="Text 32"/>
          <p:cNvSpPr txBox="1"/>
          <p:nvPr/>
        </p:nvSpPr>
        <p:spPr>
          <a:xfrm>
            <a:off x="838200" y="358555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تختلف حسب الدولة. </a:t>
            </a:r>
            <a:r>
              <a:rPr sz="1200" b="1" i="0" lang="ar-SA" altLang="en-US">
                <a:solidFill>
                  <a:srgbClr val="172433"/>
                </a:solidFill>
                <a:latin typeface="IBM Plex Sans Arabic"/>
                <a:ea typeface="IBM Plex Sans Arabic"/>
                <a:cs typeface="IBM Plex Sans Arabic"/>
              </a:rPr>
              <a:t>لم نتحقق</a:t>
            </a:r>
            <a:r>
              <a:rPr sz="1200" b="0" i="0" lang="ar-SA" altLang="en-US">
                <a:solidFill>
                  <a:srgbClr val="172433"/>
                </a:solidFill>
                <a:latin typeface="IBM Plex Sans Arabic"/>
                <a:ea typeface="IBM Plex Sans Arabic"/>
                <a:cs typeface="IBM Plex Sans Arabic"/>
              </a:rPr>
              <a:t> من السعر الرسمي</a:t>
            </a:r>
          </a:p>
        </p:txBody>
      </p:sp>
      <p:sp>
        <p:nvSpPr>
          <p:cNvPr id="34" name="Text 33"/>
          <p:cNvSpPr txBox="1"/>
          <p:nvPr/>
        </p:nvSpPr>
        <p:spPr>
          <a:xfrm>
            <a:off x="4906010" y="3875080"/>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التجديد</a:t>
            </a:r>
          </a:p>
        </p:txBody>
      </p:sp>
      <p:sp>
        <p:nvSpPr>
          <p:cNvPr id="35" name="Text 34"/>
          <p:cNvSpPr txBox="1"/>
          <p:nvPr/>
        </p:nvSpPr>
        <p:spPr>
          <a:xfrm>
            <a:off x="838200" y="3875080"/>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كل 3 سنوات: 50 وحدة تعليم مستمر و150 دولاراً</a:t>
            </a:r>
          </a:p>
        </p:txBody>
      </p:sp>
      <p:sp>
        <p:nvSpPr>
          <p:cNvPr id="36" name="Box 35"/>
          <p:cNvSpPr/>
          <p:nvPr/>
        </p:nvSpPr>
        <p:spPr>
          <a:xfrm>
            <a:off x="996950" y="4188222"/>
            <a:ext cx="4826000" cy="553641"/>
          </a:xfrm>
          <a:prstGeom prst="roundRect">
            <a:avLst>
              <a:gd name="adj" fmla="val 11469"/>
            </a:avLst>
          </a:prstGeom>
          <a:solidFill>
            <a:srgbClr val="F6ECDA"/>
          </a:solidFill>
          <a:ln>
            <a:noFill/>
          </a:ln>
        </p:spPr>
        <p:txBody>
          <a:bodyPr rtlCol="0" anchor="ctr"/>
          <a:lstStyle/>
          <a:p>
            <a:pPr algn="ctr"/>
          </a:p>
        </p:txBody>
      </p:sp>
      <p:pic>
        <p:nvPicPr>
          <p:cNvPr id="37" name="Icon Warning 36" descr="icon040.png"/>
          <p:cNvPicPr>
            <a:picLocks noChangeAspect="1"/>
          </p:cNvPicPr>
          <p:nvPr/>
        </p:nvPicPr>
        <p:blipFill>
          <a:blip r:embed="rId2"/>
          <a:stretch>
            <a:fillRect/>
          </a:stretch>
        </p:blipFill>
        <p:spPr>
          <a:xfrm>
            <a:off x="5568950" y="4251722"/>
            <a:ext cx="165100" cy="165100"/>
          </a:xfrm>
          <a:prstGeom prst="rect">
            <a:avLst/>
          </a:prstGeom>
        </p:spPr>
      </p:pic>
      <p:sp>
        <p:nvSpPr>
          <p:cNvPr id="38" name="Text 37"/>
          <p:cNvSpPr txBox="1"/>
          <p:nvPr/>
        </p:nvSpPr>
        <p:spPr>
          <a:xfrm>
            <a:off x="1022350" y="4228100"/>
            <a:ext cx="4470400"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إصدار جديد ‎SY0-801‎ نحو 17 نوفمبر 2026، والحالي ‎SY0-701‎ يتوقف بالإنجليزية في 11 يونيو 2027.</a:t>
            </a:r>
          </a:p>
        </p:txBody>
      </p:sp>
      <p:sp>
        <p:nvSpPr>
          <p:cNvPr id="39" name="Box 38"/>
          <p:cNvSpPr/>
          <p:nvPr/>
        </p:nvSpPr>
        <p:spPr>
          <a:xfrm>
            <a:off x="812800" y="5040312"/>
            <a:ext cx="10566400" cy="391120"/>
          </a:xfrm>
          <a:prstGeom prst="roundRect">
            <a:avLst>
              <a:gd name="adj" fmla="val 22729"/>
            </a:avLst>
          </a:prstGeom>
          <a:solidFill>
            <a:srgbClr val="E3F1ED"/>
          </a:solidFill>
          <a:ln>
            <a:noFill/>
          </a:ln>
        </p:spPr>
        <p:txBody>
          <a:bodyPr rtlCol="0" anchor="ctr"/>
          <a:lstStyle/>
          <a:p>
            <a:pPr algn="ctr"/>
          </a:p>
        </p:txBody>
      </p:sp>
      <p:pic>
        <p:nvPicPr>
          <p:cNvPr id="40" name="Icon Lightbulb 39" descr="icon041.png"/>
          <p:cNvPicPr>
            <a:picLocks noChangeAspect="1"/>
          </p:cNvPicPr>
          <p:nvPr/>
        </p:nvPicPr>
        <p:blipFill>
          <a:blip r:embed="rId3"/>
          <a:stretch>
            <a:fillRect/>
          </a:stretch>
        </p:blipFill>
        <p:spPr>
          <a:xfrm>
            <a:off x="11049000" y="5146973"/>
            <a:ext cx="177800" cy="177800"/>
          </a:xfrm>
          <a:prstGeom prst="rect">
            <a:avLst/>
          </a:prstGeom>
        </p:spPr>
      </p:pic>
      <p:sp>
        <p:nvSpPr>
          <p:cNvPr id="41" name="Text 40"/>
          <p:cNvSpPr txBox="1"/>
          <p:nvPr/>
        </p:nvSpPr>
        <p:spPr>
          <a:xfrm>
            <a:off x="838200" y="5105590"/>
            <a:ext cx="101219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172433"/>
                </a:solidFill>
                <a:latin typeface="IBM Plex Sans Arabic"/>
                <a:ea typeface="IBM Plex Sans Arabic"/>
                <a:cs typeface="IBM Plex Sans Arabic"/>
              </a:rPr>
              <a:t>وأيضاً:</a:t>
            </a:r>
            <a:r>
              <a:rPr sz="1200" b="0" i="0" lang="ar-SA" altLang="en-US">
                <a:solidFill>
                  <a:srgbClr val="172433"/>
                </a:solidFill>
                <a:latin typeface="IBM Plex Sans Arabic"/>
                <a:ea typeface="IBM Plex Sans Arabic"/>
                <a:cs typeface="IBM Plex Sans Arabic"/>
              </a:rPr>
              <a:t> IT Risk Fundamentals من ISACA، شهادة إتمام بلا شروط، واختبار عن بعد مدته ساعتان، بـ 175 دولاراً للأعضاء و225 لغيرهم.</a:t>
            </a:r>
          </a:p>
        </p:txBody>
      </p:sp>
      <p:sp>
        <p:nvSpPr>
          <p:cNvPr id="42" name="Text 41"/>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05 · الشهادات · الأسعار بالدولار الأمريكي كما في 27 أكتوبر 2026</a:t>
            </a:r>
          </a:p>
        </p:txBody>
      </p:sp>
      <p:sp>
        <p:nvSpPr>
          <p:cNvPr id="43" name="Text 42"/>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798844" y="812800"/>
            <a:ext cx="1580356"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شهادات متخصصة في GRC ومعيار ISO 27001</a:t>
            </a:r>
          </a:p>
        </p:txBody>
      </p:sp>
      <p:sp>
        <p:nvSpPr>
          <p:cNvPr id="5" name="Box 4"/>
          <p:cNvSpPr/>
          <p:nvPr/>
        </p:nvSpPr>
        <p:spPr>
          <a:xfrm>
            <a:off x="6188075" y="1810345"/>
            <a:ext cx="5187950" cy="3074392"/>
          </a:xfrm>
          <a:prstGeom prst="roundRect">
            <a:avLst>
              <a:gd name="adj" fmla="val 3710"/>
            </a:avLst>
          </a:prstGeom>
          <a:solidFill>
            <a:srgbClr val="FFFDF8"/>
          </a:solidFill>
          <a:ln w="6350">
            <a:solidFill>
              <a:srgbClr val="E1DBCD"/>
            </a:solidFill>
          </a:ln>
        </p:spPr>
        <p:txBody>
          <a:bodyPr rtlCol="0" anchor="ctr"/>
          <a:lstStyle/>
          <a:p>
            <a:pPr algn="ctr"/>
          </a:p>
        </p:txBody>
      </p:sp>
      <p:sp>
        <p:nvSpPr>
          <p:cNvPr id="6" name="Box 5"/>
          <p:cNvSpPr/>
          <p:nvPr/>
        </p:nvSpPr>
        <p:spPr>
          <a:xfrm>
            <a:off x="6191250" y="1813520"/>
            <a:ext cx="5181600" cy="863600"/>
          </a:xfrm>
          <a:prstGeom prst="round2SameRect">
            <a:avLst>
              <a:gd name="adj1" fmla="val 12500"/>
              <a:gd name="adj2" fmla="val 0"/>
            </a:avLst>
          </a:prstGeom>
          <a:solidFill>
            <a:srgbClr val="2F5C92"/>
          </a:solidFill>
          <a:ln>
            <a:noFill/>
          </a:ln>
        </p:spPr>
        <p:txBody>
          <a:bodyPr rtlCol="0" anchor="ctr"/>
          <a:lstStyle/>
          <a:p>
            <a:pPr algn="ctr"/>
          </a:p>
        </p:txBody>
      </p:sp>
      <p:sp>
        <p:nvSpPr>
          <p:cNvPr id="7" name="Box 6"/>
          <p:cNvSpPr/>
          <p:nvPr/>
        </p:nvSpPr>
        <p:spPr>
          <a:xfrm>
            <a:off x="10433050" y="1940520"/>
            <a:ext cx="762000" cy="609600"/>
          </a:xfrm>
          <a:prstGeom prst="roundRect">
            <a:avLst>
              <a:gd name="adj" fmla="val 20833"/>
            </a:avLst>
          </a:prstGeom>
          <a:solidFill>
            <a:srgbClr val="FFFDF8"/>
          </a:solidFill>
          <a:ln>
            <a:noFill/>
          </a:ln>
        </p:spPr>
        <p:txBody>
          <a:bodyPr rtlCol="0" anchor="ctr"/>
          <a:lstStyle/>
          <a:p>
            <a:pPr algn="ctr"/>
          </a:p>
        </p:txBody>
      </p:sp>
      <p:sp>
        <p:nvSpPr>
          <p:cNvPr id="8" name="Text 7"/>
          <p:cNvSpPr txBox="1"/>
          <p:nvPr/>
        </p:nvSpPr>
        <p:spPr>
          <a:xfrm>
            <a:off x="10458450" y="2155722"/>
            <a:ext cx="661095"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2F5C92"/>
                </a:solidFill>
                <a:latin typeface="Readex Pro"/>
                <a:ea typeface="Readex Pro"/>
                <a:cs typeface="Readex Pro"/>
              </a:rPr>
              <a:t>GRCP</a:t>
            </a:r>
          </a:p>
        </p:txBody>
      </p:sp>
      <p:sp>
        <p:nvSpPr>
          <p:cNvPr id="9" name="Text 8"/>
          <p:cNvSpPr txBox="1"/>
          <p:nvPr/>
        </p:nvSpPr>
        <p:spPr>
          <a:xfrm>
            <a:off x="6216650" y="2002683"/>
            <a:ext cx="4076700"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400" b="1" i="0">
                <a:solidFill>
                  <a:srgbClr val="F3EFE6"/>
                </a:solidFill>
                <a:latin typeface="Readex Pro"/>
                <a:ea typeface="Readex Pro"/>
                <a:cs typeface="Readex Pro"/>
              </a:rPr>
              <a:t>GRC Professional</a:t>
            </a:r>
          </a:p>
        </p:txBody>
      </p:sp>
      <p:sp>
        <p:nvSpPr>
          <p:cNvPr id="10" name="Text 9"/>
          <p:cNvSpPr txBox="1"/>
          <p:nvPr/>
        </p:nvSpPr>
        <p:spPr>
          <a:xfrm>
            <a:off x="6216650" y="2250908"/>
            <a:ext cx="40767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D6E2F0"/>
                </a:solidFill>
                <a:latin typeface="IBM Plex Sans Arabic"/>
                <a:ea typeface="IBM Plex Sans Arabic"/>
                <a:cs typeface="IBM Plex Sans Arabic"/>
              </a:rPr>
              <a:t>OCEG · مدخل متخصص في GRC</a:t>
            </a:r>
          </a:p>
        </p:txBody>
      </p:sp>
      <p:sp>
        <p:nvSpPr>
          <p:cNvPr id="11" name="Text 10"/>
          <p:cNvSpPr txBox="1"/>
          <p:nvPr/>
        </p:nvSpPr>
        <p:spPr>
          <a:xfrm>
            <a:off x="10278110" y="2793198"/>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الخبرة</a:t>
            </a:r>
          </a:p>
        </p:txBody>
      </p:sp>
      <p:sp>
        <p:nvSpPr>
          <p:cNvPr id="12" name="Text 11"/>
          <p:cNvSpPr txBox="1"/>
          <p:nvPr/>
        </p:nvSpPr>
        <p:spPr>
          <a:xfrm>
            <a:off x="6210300" y="2793198"/>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لا يشترط خبرة ولا شهادة جامعية</a:t>
            </a:r>
          </a:p>
        </p:txBody>
      </p:sp>
      <p:sp>
        <p:nvSpPr>
          <p:cNvPr id="13" name="Text 12"/>
          <p:cNvSpPr txBox="1"/>
          <p:nvPr/>
        </p:nvSpPr>
        <p:spPr>
          <a:xfrm>
            <a:off x="10278110" y="308271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الاختبار</a:t>
            </a:r>
          </a:p>
        </p:txBody>
      </p:sp>
      <p:sp>
        <p:nvSpPr>
          <p:cNvPr id="14" name="Text 13"/>
          <p:cNvSpPr txBox="1"/>
          <p:nvPr/>
        </p:nvSpPr>
        <p:spPr>
          <a:xfrm>
            <a:off x="6252083" y="3082719"/>
            <a:ext cx="4015867"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100 سؤال محتسب في 120 دقيقة، عن بعد وبكتاب مفتوح، والنجاح 70 سؤالاً</a:t>
            </a:r>
          </a:p>
        </p:txBody>
      </p:sp>
      <p:sp>
        <p:nvSpPr>
          <p:cNvPr id="15" name="Text 14"/>
          <p:cNvSpPr txBox="1"/>
          <p:nvPr/>
        </p:nvSpPr>
        <p:spPr>
          <a:xfrm>
            <a:off x="10278110" y="358555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الرسوم</a:t>
            </a:r>
          </a:p>
        </p:txBody>
      </p:sp>
      <p:sp>
        <p:nvSpPr>
          <p:cNvPr id="16" name="Text 15"/>
          <p:cNvSpPr txBox="1"/>
          <p:nvPr/>
        </p:nvSpPr>
        <p:spPr>
          <a:xfrm>
            <a:off x="6210300" y="358555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ضمن اشتراك OCEG: ‏499 دولاراً أول سنة، ثم 399 سنوياً</a:t>
            </a:r>
          </a:p>
        </p:txBody>
      </p:sp>
      <p:sp>
        <p:nvSpPr>
          <p:cNvPr id="17" name="Text 16"/>
          <p:cNvSpPr txBox="1"/>
          <p:nvPr/>
        </p:nvSpPr>
        <p:spPr>
          <a:xfrm>
            <a:off x="10278110" y="3875080"/>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التجديد</a:t>
            </a:r>
          </a:p>
        </p:txBody>
      </p:sp>
      <p:sp>
        <p:nvSpPr>
          <p:cNvPr id="18" name="Text 17"/>
          <p:cNvSpPr txBox="1"/>
          <p:nvPr/>
        </p:nvSpPr>
        <p:spPr>
          <a:xfrm>
            <a:off x="6210300" y="3875080"/>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مع الاشتراك، و8 ساعات CPE سنوياً من السنة الثانية</a:t>
            </a:r>
          </a:p>
        </p:txBody>
      </p:sp>
      <p:sp>
        <p:nvSpPr>
          <p:cNvPr id="19" name="Box 18"/>
          <p:cNvSpPr/>
          <p:nvPr/>
        </p:nvSpPr>
        <p:spPr>
          <a:xfrm>
            <a:off x="6369050" y="4188222"/>
            <a:ext cx="4826000" cy="340320"/>
          </a:xfrm>
          <a:prstGeom prst="roundRect">
            <a:avLst>
              <a:gd name="adj" fmla="val 18658"/>
            </a:avLst>
          </a:prstGeom>
          <a:solidFill>
            <a:srgbClr val="F6ECDA"/>
          </a:solidFill>
          <a:ln>
            <a:noFill/>
          </a:ln>
        </p:spPr>
        <p:txBody>
          <a:bodyPr rtlCol="0" anchor="ctr"/>
          <a:lstStyle/>
          <a:p>
            <a:pPr algn="ctr"/>
          </a:p>
        </p:txBody>
      </p:sp>
      <p:pic>
        <p:nvPicPr>
          <p:cNvPr id="20" name="Icon Warning 19" descr="icon040.png"/>
          <p:cNvPicPr>
            <a:picLocks noChangeAspect="1"/>
          </p:cNvPicPr>
          <p:nvPr/>
        </p:nvPicPr>
        <p:blipFill>
          <a:blip r:embed="rId2"/>
          <a:stretch>
            <a:fillRect/>
          </a:stretch>
        </p:blipFill>
        <p:spPr>
          <a:xfrm>
            <a:off x="10941050" y="4251722"/>
            <a:ext cx="165100" cy="165100"/>
          </a:xfrm>
          <a:prstGeom prst="rect">
            <a:avLst/>
          </a:prstGeom>
        </p:spPr>
      </p:pic>
      <p:sp>
        <p:nvSpPr>
          <p:cNvPr id="21" name="Text 20"/>
          <p:cNvSpPr txBox="1"/>
          <p:nvPr/>
        </p:nvSpPr>
        <p:spPr>
          <a:xfrm>
            <a:off x="6394450" y="4228100"/>
            <a:ext cx="44704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صفحة OCEG تذكر قاعدتين مختلفتين للتجديد؛ اسألهم قبل الشراء.</a:t>
            </a:r>
          </a:p>
        </p:txBody>
      </p:sp>
      <p:sp>
        <p:nvSpPr>
          <p:cNvPr id="22" name="Box 21"/>
          <p:cNvSpPr/>
          <p:nvPr/>
        </p:nvSpPr>
        <p:spPr>
          <a:xfrm>
            <a:off x="815975" y="1810345"/>
            <a:ext cx="5187950" cy="3074392"/>
          </a:xfrm>
          <a:prstGeom prst="roundRect">
            <a:avLst>
              <a:gd name="adj" fmla="val 3710"/>
            </a:avLst>
          </a:prstGeom>
          <a:solidFill>
            <a:srgbClr val="FFFDF8"/>
          </a:solidFill>
          <a:ln w="6350">
            <a:solidFill>
              <a:srgbClr val="E1DBCD"/>
            </a:solidFill>
          </a:ln>
        </p:spPr>
        <p:txBody>
          <a:bodyPr rtlCol="0" anchor="ctr"/>
          <a:lstStyle/>
          <a:p>
            <a:pPr algn="ctr"/>
          </a:p>
        </p:txBody>
      </p:sp>
      <p:sp>
        <p:nvSpPr>
          <p:cNvPr id="23" name="Box 22"/>
          <p:cNvSpPr/>
          <p:nvPr/>
        </p:nvSpPr>
        <p:spPr>
          <a:xfrm>
            <a:off x="819150" y="1813520"/>
            <a:ext cx="5181600" cy="863600"/>
          </a:xfrm>
          <a:prstGeom prst="round2SameRect">
            <a:avLst>
              <a:gd name="adj1" fmla="val 12500"/>
              <a:gd name="adj2" fmla="val 0"/>
            </a:avLst>
          </a:prstGeom>
          <a:solidFill>
            <a:srgbClr val="7A4A0E"/>
          </a:solidFill>
          <a:ln>
            <a:noFill/>
          </a:ln>
        </p:spPr>
        <p:txBody>
          <a:bodyPr rtlCol="0" anchor="ctr"/>
          <a:lstStyle/>
          <a:p>
            <a:pPr algn="ctr"/>
          </a:p>
        </p:txBody>
      </p:sp>
      <p:sp>
        <p:nvSpPr>
          <p:cNvPr id="24" name="Box 23"/>
          <p:cNvSpPr/>
          <p:nvPr/>
        </p:nvSpPr>
        <p:spPr>
          <a:xfrm>
            <a:off x="5060950" y="1940520"/>
            <a:ext cx="762000" cy="609600"/>
          </a:xfrm>
          <a:prstGeom prst="roundRect">
            <a:avLst>
              <a:gd name="adj" fmla="val 20833"/>
            </a:avLst>
          </a:prstGeom>
          <a:solidFill>
            <a:srgbClr val="FFFDF8"/>
          </a:solidFill>
          <a:ln>
            <a:noFill/>
          </a:ln>
        </p:spPr>
        <p:txBody>
          <a:bodyPr rtlCol="0" anchor="ctr"/>
          <a:lstStyle/>
          <a:p>
            <a:pPr algn="ctr"/>
          </a:p>
        </p:txBody>
      </p:sp>
      <p:sp>
        <p:nvSpPr>
          <p:cNvPr id="25" name="Text 24"/>
          <p:cNvSpPr txBox="1"/>
          <p:nvPr/>
        </p:nvSpPr>
        <p:spPr>
          <a:xfrm>
            <a:off x="5086350" y="2155722"/>
            <a:ext cx="680541"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7A4A0E"/>
                </a:solidFill>
                <a:latin typeface="Readex Pro"/>
                <a:ea typeface="Readex Pro"/>
                <a:cs typeface="Readex Pro"/>
              </a:rPr>
              <a:t>27001</a:t>
            </a:r>
          </a:p>
        </p:txBody>
      </p:sp>
      <p:sp>
        <p:nvSpPr>
          <p:cNvPr id="26" name="Text 25"/>
          <p:cNvSpPr txBox="1"/>
          <p:nvPr/>
        </p:nvSpPr>
        <p:spPr>
          <a:xfrm>
            <a:off x="844550" y="2002683"/>
            <a:ext cx="4076700"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400" b="1" i="0">
                <a:solidFill>
                  <a:srgbClr val="F3EFE6"/>
                </a:solidFill>
                <a:latin typeface="Readex Pro"/>
                <a:ea typeface="Readex Pro"/>
                <a:cs typeface="Readex Pro"/>
              </a:rPr>
              <a:t>ISO 27001 Lead Implementer / Auditor</a:t>
            </a:r>
          </a:p>
        </p:txBody>
      </p:sp>
      <p:sp>
        <p:nvSpPr>
          <p:cNvPr id="27" name="Text 26"/>
          <p:cNvSpPr txBox="1"/>
          <p:nvPr/>
        </p:nvSpPr>
        <p:spPr>
          <a:xfrm>
            <a:off x="844550" y="2250908"/>
            <a:ext cx="40767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F1DCC3"/>
                </a:solidFill>
                <a:latin typeface="IBM Plex Sans Arabic"/>
                <a:ea typeface="IBM Plex Sans Arabic"/>
                <a:cs typeface="IBM Plex Sans Arabic"/>
              </a:rPr>
              <a:t>PECB مثالاً · LI للتطبيق، LA للتدقيق</a:t>
            </a:r>
          </a:p>
        </p:txBody>
      </p:sp>
      <p:sp>
        <p:nvSpPr>
          <p:cNvPr id="28" name="Text 27"/>
          <p:cNvSpPr txBox="1"/>
          <p:nvPr/>
        </p:nvSpPr>
        <p:spPr>
          <a:xfrm>
            <a:off x="4906010" y="2793198"/>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الخبرة</a:t>
            </a:r>
          </a:p>
        </p:txBody>
      </p:sp>
      <p:sp>
        <p:nvSpPr>
          <p:cNvPr id="29" name="Text 28"/>
          <p:cNvSpPr txBox="1"/>
          <p:nvPr/>
        </p:nvSpPr>
        <p:spPr>
          <a:xfrm>
            <a:off x="879983" y="2793198"/>
            <a:ext cx="4015867"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درجة «Provisional» بالاختبار فقط. لقب «Lead» يحتاج 5 سنوات، منها سنتان في إدارة أمن المعلومات</a:t>
            </a:r>
          </a:p>
        </p:txBody>
      </p:sp>
      <p:sp>
        <p:nvSpPr>
          <p:cNvPr id="30" name="Text 29"/>
          <p:cNvSpPr txBox="1"/>
          <p:nvPr/>
        </p:nvSpPr>
        <p:spPr>
          <a:xfrm>
            <a:off x="4906010" y="329603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الاختبار</a:t>
            </a:r>
          </a:p>
        </p:txBody>
      </p:sp>
      <p:sp>
        <p:nvSpPr>
          <p:cNvPr id="31" name="Text 30"/>
          <p:cNvSpPr txBox="1"/>
          <p:nvPr/>
        </p:nvSpPr>
        <p:spPr>
          <a:xfrm>
            <a:off x="838200" y="329603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80 سؤالاً، بكتاب مفتوح، والنجاح 70%</a:t>
            </a:r>
          </a:p>
        </p:txBody>
      </p:sp>
      <p:sp>
        <p:nvSpPr>
          <p:cNvPr id="32" name="Text 31"/>
          <p:cNvSpPr txBox="1"/>
          <p:nvPr/>
        </p:nvSpPr>
        <p:spPr>
          <a:xfrm>
            <a:off x="4906010" y="358555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الرسوم</a:t>
            </a:r>
          </a:p>
        </p:txBody>
      </p:sp>
      <p:sp>
        <p:nvSpPr>
          <p:cNvPr id="33" name="Text 32"/>
          <p:cNvSpPr txBox="1"/>
          <p:nvPr/>
        </p:nvSpPr>
        <p:spPr>
          <a:xfrm>
            <a:off x="879983" y="3585559"/>
            <a:ext cx="4015867"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حسب جهة التدريب. بلا تدريب عند PECB: ‏1,000 دولار للاختبار و500 للطلب</a:t>
            </a:r>
          </a:p>
        </p:txBody>
      </p:sp>
      <p:sp>
        <p:nvSpPr>
          <p:cNvPr id="34" name="Text 33"/>
          <p:cNvSpPr txBox="1"/>
          <p:nvPr/>
        </p:nvSpPr>
        <p:spPr>
          <a:xfrm>
            <a:off x="4906010" y="4088400"/>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التجديد</a:t>
            </a:r>
          </a:p>
        </p:txBody>
      </p:sp>
      <p:sp>
        <p:nvSpPr>
          <p:cNvPr id="35" name="Text 34"/>
          <p:cNvSpPr txBox="1"/>
          <p:nvPr/>
        </p:nvSpPr>
        <p:spPr>
          <a:xfrm>
            <a:off x="838200" y="4088400"/>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كل 3 سنوات، بساعات تطوير مهني ورسم سنوي</a:t>
            </a:r>
          </a:p>
        </p:txBody>
      </p:sp>
      <p:sp>
        <p:nvSpPr>
          <p:cNvPr id="36" name="Box 35"/>
          <p:cNvSpPr/>
          <p:nvPr/>
        </p:nvSpPr>
        <p:spPr>
          <a:xfrm>
            <a:off x="996950" y="4401542"/>
            <a:ext cx="4826000" cy="340320"/>
          </a:xfrm>
          <a:prstGeom prst="roundRect">
            <a:avLst>
              <a:gd name="adj" fmla="val 18658"/>
            </a:avLst>
          </a:prstGeom>
          <a:solidFill>
            <a:srgbClr val="E3F1ED"/>
          </a:solidFill>
          <a:ln>
            <a:noFill/>
          </a:ln>
        </p:spPr>
        <p:txBody>
          <a:bodyPr rtlCol="0" anchor="ctr"/>
          <a:lstStyle/>
          <a:p>
            <a:pPr algn="ctr"/>
          </a:p>
        </p:txBody>
      </p:sp>
      <p:pic>
        <p:nvPicPr>
          <p:cNvPr id="37" name="Icon Lightbulb 36" descr="icon042.png"/>
          <p:cNvPicPr>
            <a:picLocks noChangeAspect="1"/>
          </p:cNvPicPr>
          <p:nvPr/>
        </p:nvPicPr>
        <p:blipFill>
          <a:blip r:embed="rId3"/>
          <a:stretch>
            <a:fillRect/>
          </a:stretch>
        </p:blipFill>
        <p:spPr>
          <a:xfrm>
            <a:off x="5568950" y="4465042"/>
            <a:ext cx="165100" cy="165100"/>
          </a:xfrm>
          <a:prstGeom prst="rect">
            <a:avLst/>
          </a:prstGeom>
        </p:spPr>
      </p:pic>
      <p:sp>
        <p:nvSpPr>
          <p:cNvPr id="38" name="Text 37"/>
          <p:cNvSpPr txBox="1"/>
          <p:nvPr/>
        </p:nvSpPr>
        <p:spPr>
          <a:xfrm>
            <a:off x="1022350" y="4441420"/>
            <a:ext cx="44704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الدورة 5 أيام عادة. وجهات أخرى، مثل BSI، تقدمها بشروط مختلفة.</a:t>
            </a:r>
          </a:p>
        </p:txBody>
      </p:sp>
      <p:sp>
        <p:nvSpPr>
          <p:cNvPr id="39" name="Text 38"/>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05 · الشهادات · الأسعار بالدولار الأمريكي كما في 27 أكتوبر 2026</a:t>
            </a:r>
          </a:p>
        </p:txBody>
      </p:sp>
      <p:sp>
        <p:nvSpPr>
          <p:cNvPr id="40" name="Text 39"/>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798844" y="812800"/>
            <a:ext cx="1580356"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ISACA (1 من 2): التدقيق والمخاطر</a:t>
            </a:r>
          </a:p>
        </p:txBody>
      </p:sp>
      <p:sp>
        <p:nvSpPr>
          <p:cNvPr id="5" name="Box 4"/>
          <p:cNvSpPr/>
          <p:nvPr/>
        </p:nvSpPr>
        <p:spPr>
          <a:xfrm>
            <a:off x="6188075" y="1810345"/>
            <a:ext cx="5187950" cy="3074392"/>
          </a:xfrm>
          <a:prstGeom prst="roundRect">
            <a:avLst>
              <a:gd name="adj" fmla="val 3710"/>
            </a:avLst>
          </a:prstGeom>
          <a:solidFill>
            <a:srgbClr val="FFFDF8"/>
          </a:solidFill>
          <a:ln w="6350">
            <a:solidFill>
              <a:srgbClr val="E1DBCD"/>
            </a:solidFill>
          </a:ln>
        </p:spPr>
        <p:txBody>
          <a:bodyPr rtlCol="0" anchor="ctr"/>
          <a:lstStyle/>
          <a:p>
            <a:pPr algn="ctr"/>
          </a:p>
        </p:txBody>
      </p:sp>
      <p:sp>
        <p:nvSpPr>
          <p:cNvPr id="6" name="Box 5"/>
          <p:cNvSpPr/>
          <p:nvPr/>
        </p:nvSpPr>
        <p:spPr>
          <a:xfrm>
            <a:off x="6191250" y="1813520"/>
            <a:ext cx="5181600" cy="863600"/>
          </a:xfrm>
          <a:prstGeom prst="round2SameRect">
            <a:avLst>
              <a:gd name="adj1" fmla="val 12500"/>
              <a:gd name="adj2" fmla="val 0"/>
            </a:avLst>
          </a:prstGeom>
          <a:solidFill>
            <a:srgbClr val="0E6B5C"/>
          </a:solidFill>
          <a:ln>
            <a:noFill/>
          </a:ln>
        </p:spPr>
        <p:txBody>
          <a:bodyPr rtlCol="0" anchor="ctr"/>
          <a:lstStyle/>
          <a:p>
            <a:pPr algn="ctr"/>
          </a:p>
        </p:txBody>
      </p:sp>
      <p:sp>
        <p:nvSpPr>
          <p:cNvPr id="7" name="Box 6"/>
          <p:cNvSpPr/>
          <p:nvPr/>
        </p:nvSpPr>
        <p:spPr>
          <a:xfrm>
            <a:off x="10433050" y="1940520"/>
            <a:ext cx="762000" cy="609600"/>
          </a:xfrm>
          <a:prstGeom prst="roundRect">
            <a:avLst>
              <a:gd name="adj" fmla="val 20833"/>
            </a:avLst>
          </a:prstGeom>
          <a:solidFill>
            <a:srgbClr val="FFFDF8"/>
          </a:solidFill>
          <a:ln>
            <a:noFill/>
          </a:ln>
        </p:spPr>
        <p:txBody>
          <a:bodyPr rtlCol="0" anchor="ctr"/>
          <a:lstStyle/>
          <a:p>
            <a:pPr algn="ctr"/>
          </a:p>
        </p:txBody>
      </p:sp>
      <p:sp>
        <p:nvSpPr>
          <p:cNvPr id="8" name="Text 7"/>
          <p:cNvSpPr txBox="1"/>
          <p:nvPr/>
        </p:nvSpPr>
        <p:spPr>
          <a:xfrm>
            <a:off x="10458450" y="2155722"/>
            <a:ext cx="634107"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0E6B5C"/>
                </a:solidFill>
                <a:latin typeface="Readex Pro"/>
                <a:ea typeface="Readex Pro"/>
                <a:cs typeface="Readex Pro"/>
              </a:rPr>
              <a:t>CISA</a:t>
            </a:r>
          </a:p>
        </p:txBody>
      </p:sp>
      <p:sp>
        <p:nvSpPr>
          <p:cNvPr id="9" name="Text 8"/>
          <p:cNvSpPr txBox="1"/>
          <p:nvPr/>
        </p:nvSpPr>
        <p:spPr>
          <a:xfrm>
            <a:off x="6216650" y="2002683"/>
            <a:ext cx="4076700"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400" b="1" i="0">
                <a:solidFill>
                  <a:srgbClr val="F3EFE6"/>
                </a:solidFill>
                <a:latin typeface="Readex Pro"/>
                <a:ea typeface="Readex Pro"/>
                <a:cs typeface="Readex Pro"/>
              </a:rPr>
              <a:t>Certified Information Systems Auditor</a:t>
            </a:r>
          </a:p>
        </p:txBody>
      </p:sp>
      <p:sp>
        <p:nvSpPr>
          <p:cNvPr id="10" name="Text 9"/>
          <p:cNvSpPr txBox="1"/>
          <p:nvPr/>
        </p:nvSpPr>
        <p:spPr>
          <a:xfrm>
            <a:off x="6216650" y="2250908"/>
            <a:ext cx="40767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CFEAE3"/>
                </a:solidFill>
                <a:latin typeface="IBM Plex Sans Arabic"/>
                <a:ea typeface="IBM Plex Sans Arabic"/>
                <a:cs typeface="IBM Plex Sans Arabic"/>
              </a:rPr>
              <a:t>ISACA · تدقيق تقنية المعلومات</a:t>
            </a:r>
          </a:p>
        </p:txBody>
      </p:sp>
      <p:sp>
        <p:nvSpPr>
          <p:cNvPr id="11" name="Text 10"/>
          <p:cNvSpPr txBox="1"/>
          <p:nvPr/>
        </p:nvSpPr>
        <p:spPr>
          <a:xfrm>
            <a:off x="10278110" y="2793198"/>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الخبرة</a:t>
            </a:r>
          </a:p>
        </p:txBody>
      </p:sp>
      <p:sp>
        <p:nvSpPr>
          <p:cNvPr id="12" name="Text 11"/>
          <p:cNvSpPr txBox="1"/>
          <p:nvPr/>
        </p:nvSpPr>
        <p:spPr>
          <a:xfrm>
            <a:off x="6252083" y="2793198"/>
            <a:ext cx="4015867"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5 سنوات في تدقيق النظم أو الرقابة أو الأمن، خلال آخر 10 سنوات؛ إعفاء حتى 3 سنوات</a:t>
            </a:r>
          </a:p>
        </p:txBody>
      </p:sp>
      <p:sp>
        <p:nvSpPr>
          <p:cNvPr id="13" name="Text 12"/>
          <p:cNvSpPr txBox="1"/>
          <p:nvPr/>
        </p:nvSpPr>
        <p:spPr>
          <a:xfrm>
            <a:off x="10278110" y="329603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الاختبار</a:t>
            </a:r>
          </a:p>
        </p:txBody>
      </p:sp>
      <p:sp>
        <p:nvSpPr>
          <p:cNvPr id="14" name="Text 13"/>
          <p:cNvSpPr txBox="1"/>
          <p:nvPr/>
        </p:nvSpPr>
        <p:spPr>
          <a:xfrm>
            <a:off x="6210300" y="329603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150 سؤالاً في 4 ساعات، والنجاح 450 من 800</a:t>
            </a:r>
          </a:p>
        </p:txBody>
      </p:sp>
      <p:sp>
        <p:nvSpPr>
          <p:cNvPr id="15" name="Text 14"/>
          <p:cNvSpPr txBox="1"/>
          <p:nvPr/>
        </p:nvSpPr>
        <p:spPr>
          <a:xfrm>
            <a:off x="10278110" y="358555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الرسوم</a:t>
            </a:r>
          </a:p>
        </p:txBody>
      </p:sp>
      <p:sp>
        <p:nvSpPr>
          <p:cNvPr id="16" name="Text 15"/>
          <p:cNvSpPr txBox="1"/>
          <p:nvPr/>
        </p:nvSpPr>
        <p:spPr>
          <a:xfrm>
            <a:off x="6210300" y="358555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575 دولاراً للأعضاء و760 لغيرهم، و50 لطلب الشهادة</a:t>
            </a:r>
          </a:p>
        </p:txBody>
      </p:sp>
      <p:sp>
        <p:nvSpPr>
          <p:cNvPr id="17" name="Text 16"/>
          <p:cNvSpPr txBox="1"/>
          <p:nvPr/>
        </p:nvSpPr>
        <p:spPr>
          <a:xfrm>
            <a:off x="10278110" y="3875080"/>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التجديد</a:t>
            </a:r>
          </a:p>
        </p:txBody>
      </p:sp>
      <p:sp>
        <p:nvSpPr>
          <p:cNvPr id="18" name="Text 17"/>
          <p:cNvSpPr txBox="1"/>
          <p:nvPr/>
        </p:nvSpPr>
        <p:spPr>
          <a:xfrm>
            <a:off x="6252083" y="3875080"/>
            <a:ext cx="4015867"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20 ساعة CPE سنوياً و120 كل 3 سنوات، ورسم سنوي 45 دولاراً للأعضاء أو 85</a:t>
            </a:r>
          </a:p>
        </p:txBody>
      </p:sp>
      <p:sp>
        <p:nvSpPr>
          <p:cNvPr id="19" name="Box 18"/>
          <p:cNvSpPr/>
          <p:nvPr/>
        </p:nvSpPr>
        <p:spPr>
          <a:xfrm>
            <a:off x="6369050" y="4401542"/>
            <a:ext cx="4826000" cy="340320"/>
          </a:xfrm>
          <a:prstGeom prst="roundRect">
            <a:avLst>
              <a:gd name="adj" fmla="val 18658"/>
            </a:avLst>
          </a:prstGeom>
          <a:solidFill>
            <a:srgbClr val="E3F1ED"/>
          </a:solidFill>
          <a:ln>
            <a:noFill/>
          </a:ln>
        </p:spPr>
        <p:txBody>
          <a:bodyPr rtlCol="0" anchor="ctr"/>
          <a:lstStyle/>
          <a:p>
            <a:pPr algn="ctr"/>
          </a:p>
        </p:txBody>
      </p:sp>
      <p:pic>
        <p:nvPicPr>
          <p:cNvPr id="20" name="Icon Lightbulb 19" descr="icon042.png"/>
          <p:cNvPicPr>
            <a:picLocks noChangeAspect="1"/>
          </p:cNvPicPr>
          <p:nvPr/>
        </p:nvPicPr>
        <p:blipFill>
          <a:blip r:embed="rId2"/>
          <a:stretch>
            <a:fillRect/>
          </a:stretch>
        </p:blipFill>
        <p:spPr>
          <a:xfrm>
            <a:off x="10941050" y="4465042"/>
            <a:ext cx="165100" cy="165100"/>
          </a:xfrm>
          <a:prstGeom prst="rect">
            <a:avLst/>
          </a:prstGeom>
        </p:spPr>
      </p:pic>
      <p:sp>
        <p:nvSpPr>
          <p:cNvPr id="21" name="Text 20"/>
          <p:cNvSpPr txBox="1"/>
          <p:nvPr/>
        </p:nvSpPr>
        <p:spPr>
          <a:xfrm>
            <a:off x="6394450" y="4441420"/>
            <a:ext cx="44704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تستطيع أن تختبر الآن، ثم تقدم طلب الشهادة خلال 5 سنوات من النجاح.</a:t>
            </a:r>
          </a:p>
        </p:txBody>
      </p:sp>
      <p:sp>
        <p:nvSpPr>
          <p:cNvPr id="22" name="Box 21"/>
          <p:cNvSpPr/>
          <p:nvPr/>
        </p:nvSpPr>
        <p:spPr>
          <a:xfrm>
            <a:off x="815975" y="1810345"/>
            <a:ext cx="5187950" cy="3074392"/>
          </a:xfrm>
          <a:prstGeom prst="roundRect">
            <a:avLst>
              <a:gd name="adj" fmla="val 3710"/>
            </a:avLst>
          </a:prstGeom>
          <a:solidFill>
            <a:srgbClr val="FFFDF8"/>
          </a:solidFill>
          <a:ln w="6350">
            <a:solidFill>
              <a:srgbClr val="E1DBCD"/>
            </a:solidFill>
          </a:ln>
        </p:spPr>
        <p:txBody>
          <a:bodyPr rtlCol="0" anchor="ctr"/>
          <a:lstStyle/>
          <a:p>
            <a:pPr algn="ctr"/>
          </a:p>
        </p:txBody>
      </p:sp>
      <p:sp>
        <p:nvSpPr>
          <p:cNvPr id="23" name="Box 22"/>
          <p:cNvSpPr/>
          <p:nvPr/>
        </p:nvSpPr>
        <p:spPr>
          <a:xfrm>
            <a:off x="819150" y="1813520"/>
            <a:ext cx="5181600" cy="863600"/>
          </a:xfrm>
          <a:prstGeom prst="round2SameRect">
            <a:avLst>
              <a:gd name="adj1" fmla="val 12500"/>
              <a:gd name="adj2" fmla="val 0"/>
            </a:avLst>
          </a:prstGeom>
          <a:solidFill>
            <a:srgbClr val="0E6B5C"/>
          </a:solidFill>
          <a:ln>
            <a:noFill/>
          </a:ln>
        </p:spPr>
        <p:txBody>
          <a:bodyPr rtlCol="0" anchor="ctr"/>
          <a:lstStyle/>
          <a:p>
            <a:pPr algn="ctr"/>
          </a:p>
        </p:txBody>
      </p:sp>
      <p:sp>
        <p:nvSpPr>
          <p:cNvPr id="24" name="Box 23"/>
          <p:cNvSpPr/>
          <p:nvPr/>
        </p:nvSpPr>
        <p:spPr>
          <a:xfrm>
            <a:off x="5060950" y="1940520"/>
            <a:ext cx="762000" cy="609600"/>
          </a:xfrm>
          <a:prstGeom prst="roundRect">
            <a:avLst>
              <a:gd name="adj" fmla="val 20833"/>
            </a:avLst>
          </a:prstGeom>
          <a:solidFill>
            <a:srgbClr val="FFFDF8"/>
          </a:solidFill>
          <a:ln>
            <a:noFill/>
          </a:ln>
        </p:spPr>
        <p:txBody>
          <a:bodyPr rtlCol="0" anchor="ctr"/>
          <a:lstStyle/>
          <a:p>
            <a:pPr algn="ctr"/>
          </a:p>
        </p:txBody>
      </p:sp>
      <p:sp>
        <p:nvSpPr>
          <p:cNvPr id="25" name="Text 24"/>
          <p:cNvSpPr txBox="1"/>
          <p:nvPr/>
        </p:nvSpPr>
        <p:spPr>
          <a:xfrm>
            <a:off x="5086350" y="2155722"/>
            <a:ext cx="709712"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0E6B5C"/>
                </a:solidFill>
                <a:latin typeface="Readex Pro"/>
                <a:ea typeface="Readex Pro"/>
                <a:cs typeface="Readex Pro"/>
              </a:rPr>
              <a:t>CRISC</a:t>
            </a:r>
          </a:p>
        </p:txBody>
      </p:sp>
      <p:sp>
        <p:nvSpPr>
          <p:cNvPr id="26" name="Text 25"/>
          <p:cNvSpPr txBox="1"/>
          <p:nvPr/>
        </p:nvSpPr>
        <p:spPr>
          <a:xfrm>
            <a:off x="844550" y="2002683"/>
            <a:ext cx="4076700"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400" b="1" i="0">
                <a:solidFill>
                  <a:srgbClr val="F3EFE6"/>
                </a:solidFill>
                <a:latin typeface="Readex Pro"/>
                <a:ea typeface="Readex Pro"/>
                <a:cs typeface="Readex Pro"/>
              </a:rPr>
              <a:t>Risk and Information Systems Control</a:t>
            </a:r>
          </a:p>
        </p:txBody>
      </p:sp>
      <p:sp>
        <p:nvSpPr>
          <p:cNvPr id="27" name="Text 26"/>
          <p:cNvSpPr txBox="1"/>
          <p:nvPr/>
        </p:nvSpPr>
        <p:spPr>
          <a:xfrm>
            <a:off x="844550" y="2250908"/>
            <a:ext cx="40767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CFEAE3"/>
                </a:solidFill>
                <a:latin typeface="IBM Plex Sans Arabic"/>
                <a:ea typeface="IBM Plex Sans Arabic"/>
                <a:cs typeface="IBM Plex Sans Arabic"/>
              </a:rPr>
              <a:t>ISACA · مخاطر تقنية المعلومات</a:t>
            </a:r>
          </a:p>
        </p:txBody>
      </p:sp>
      <p:sp>
        <p:nvSpPr>
          <p:cNvPr id="28" name="Text 27"/>
          <p:cNvSpPr txBox="1"/>
          <p:nvPr/>
        </p:nvSpPr>
        <p:spPr>
          <a:xfrm>
            <a:off x="4906010" y="2793198"/>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الخبرة</a:t>
            </a:r>
          </a:p>
        </p:txBody>
      </p:sp>
      <p:sp>
        <p:nvSpPr>
          <p:cNvPr id="29" name="Text 28"/>
          <p:cNvSpPr txBox="1"/>
          <p:nvPr/>
        </p:nvSpPr>
        <p:spPr>
          <a:xfrm>
            <a:off x="879983" y="2793198"/>
            <a:ext cx="4015867"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3 سنوات في مخاطر تقنية المعلومات والرقابة، في مجالين من 4؛ بلا إعفاء</a:t>
            </a:r>
          </a:p>
        </p:txBody>
      </p:sp>
      <p:sp>
        <p:nvSpPr>
          <p:cNvPr id="30" name="Text 29"/>
          <p:cNvSpPr txBox="1"/>
          <p:nvPr/>
        </p:nvSpPr>
        <p:spPr>
          <a:xfrm>
            <a:off x="4906010" y="329603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الاختبار</a:t>
            </a:r>
          </a:p>
        </p:txBody>
      </p:sp>
      <p:sp>
        <p:nvSpPr>
          <p:cNvPr id="31" name="Text 30"/>
          <p:cNvSpPr txBox="1"/>
          <p:nvPr/>
        </p:nvSpPr>
        <p:spPr>
          <a:xfrm>
            <a:off x="838200" y="329603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150 سؤالاً في 4 ساعات، والنجاح 450 من 800</a:t>
            </a:r>
          </a:p>
        </p:txBody>
      </p:sp>
      <p:sp>
        <p:nvSpPr>
          <p:cNvPr id="32" name="Text 31"/>
          <p:cNvSpPr txBox="1"/>
          <p:nvPr/>
        </p:nvSpPr>
        <p:spPr>
          <a:xfrm>
            <a:off x="4906010" y="358555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الرسوم</a:t>
            </a:r>
          </a:p>
        </p:txBody>
      </p:sp>
      <p:sp>
        <p:nvSpPr>
          <p:cNvPr id="33" name="Text 32"/>
          <p:cNvSpPr txBox="1"/>
          <p:nvPr/>
        </p:nvSpPr>
        <p:spPr>
          <a:xfrm>
            <a:off x="838200" y="358555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575 دولاراً للأعضاء و760 لغيرهم، و50 لطلب الشهادة</a:t>
            </a:r>
          </a:p>
        </p:txBody>
      </p:sp>
      <p:sp>
        <p:nvSpPr>
          <p:cNvPr id="34" name="Text 33"/>
          <p:cNvSpPr txBox="1"/>
          <p:nvPr/>
        </p:nvSpPr>
        <p:spPr>
          <a:xfrm>
            <a:off x="4906010" y="3875080"/>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التجديد</a:t>
            </a:r>
          </a:p>
        </p:txBody>
      </p:sp>
      <p:sp>
        <p:nvSpPr>
          <p:cNvPr id="35" name="Text 34"/>
          <p:cNvSpPr txBox="1"/>
          <p:nvPr/>
        </p:nvSpPr>
        <p:spPr>
          <a:xfrm>
            <a:off x="838200" y="3875080"/>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مثل CISA: ‏20 ساعة سنوياً و120 كل 3 سنوات، ورسم سنوي</a:t>
            </a:r>
          </a:p>
        </p:txBody>
      </p:sp>
      <p:sp>
        <p:nvSpPr>
          <p:cNvPr id="36" name="Box 35"/>
          <p:cNvSpPr/>
          <p:nvPr/>
        </p:nvSpPr>
        <p:spPr>
          <a:xfrm>
            <a:off x="996950" y="4188222"/>
            <a:ext cx="4826000" cy="553641"/>
          </a:xfrm>
          <a:prstGeom prst="roundRect">
            <a:avLst>
              <a:gd name="adj" fmla="val 11469"/>
            </a:avLst>
          </a:prstGeom>
          <a:solidFill>
            <a:srgbClr val="E3F1ED"/>
          </a:solidFill>
          <a:ln>
            <a:noFill/>
          </a:ln>
        </p:spPr>
        <p:txBody>
          <a:bodyPr rtlCol="0" anchor="ctr"/>
          <a:lstStyle/>
          <a:p>
            <a:pPr algn="ctr"/>
          </a:p>
        </p:txBody>
      </p:sp>
      <p:pic>
        <p:nvPicPr>
          <p:cNvPr id="37" name="Icon Lightbulb 36" descr="icon042.png"/>
          <p:cNvPicPr>
            <a:picLocks noChangeAspect="1"/>
          </p:cNvPicPr>
          <p:nvPr/>
        </p:nvPicPr>
        <p:blipFill>
          <a:blip r:embed="rId2"/>
          <a:stretch>
            <a:fillRect/>
          </a:stretch>
        </p:blipFill>
        <p:spPr>
          <a:xfrm>
            <a:off x="5568950" y="4251722"/>
            <a:ext cx="165100" cy="165100"/>
          </a:xfrm>
          <a:prstGeom prst="rect">
            <a:avLst/>
          </a:prstGeom>
        </p:spPr>
      </p:pic>
      <p:sp>
        <p:nvSpPr>
          <p:cNvPr id="38" name="Text 37"/>
          <p:cNvSpPr txBox="1"/>
          <p:nvPr/>
        </p:nvSpPr>
        <p:spPr>
          <a:xfrm>
            <a:off x="1022350" y="4228100"/>
            <a:ext cx="4470400"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الأقرب لوظائف المخاطر في GRC. أكبر مجال فيه: الاستجابة للمخاطر والتقارير، 32%.</a:t>
            </a:r>
          </a:p>
        </p:txBody>
      </p:sp>
      <p:sp>
        <p:nvSpPr>
          <p:cNvPr id="39" name="Text 38"/>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05 · الشهادات · الأسعار بالدولار الأمريكي كما في 27 أكتوبر 2026</a:t>
            </a:r>
          </a:p>
        </p:txBody>
      </p:sp>
      <p:sp>
        <p:nvSpPr>
          <p:cNvPr id="40" name="Text 39"/>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798844" y="812800"/>
            <a:ext cx="1580356"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ISACA (2 من 2): الإدارة والحوكمة</a:t>
            </a:r>
          </a:p>
        </p:txBody>
      </p:sp>
      <p:sp>
        <p:nvSpPr>
          <p:cNvPr id="5" name="Box 4"/>
          <p:cNvSpPr/>
          <p:nvPr/>
        </p:nvSpPr>
        <p:spPr>
          <a:xfrm>
            <a:off x="6188075" y="1810345"/>
            <a:ext cx="5187950" cy="2861072"/>
          </a:xfrm>
          <a:prstGeom prst="roundRect">
            <a:avLst>
              <a:gd name="adj" fmla="val 3986"/>
            </a:avLst>
          </a:prstGeom>
          <a:solidFill>
            <a:srgbClr val="FFFDF8"/>
          </a:solidFill>
          <a:ln w="6350">
            <a:solidFill>
              <a:srgbClr val="E1DBCD"/>
            </a:solidFill>
          </a:ln>
        </p:spPr>
        <p:txBody>
          <a:bodyPr rtlCol="0" anchor="ctr"/>
          <a:lstStyle/>
          <a:p>
            <a:pPr algn="ctr"/>
          </a:p>
        </p:txBody>
      </p:sp>
      <p:sp>
        <p:nvSpPr>
          <p:cNvPr id="6" name="Box 5"/>
          <p:cNvSpPr/>
          <p:nvPr/>
        </p:nvSpPr>
        <p:spPr>
          <a:xfrm>
            <a:off x="6191250" y="1813520"/>
            <a:ext cx="5181600" cy="863600"/>
          </a:xfrm>
          <a:prstGeom prst="round2SameRect">
            <a:avLst>
              <a:gd name="adj1" fmla="val 12500"/>
              <a:gd name="adj2" fmla="val 0"/>
            </a:avLst>
          </a:prstGeom>
          <a:solidFill>
            <a:srgbClr val="0E6B5C"/>
          </a:solidFill>
          <a:ln>
            <a:noFill/>
          </a:ln>
        </p:spPr>
        <p:txBody>
          <a:bodyPr rtlCol="0" anchor="ctr"/>
          <a:lstStyle/>
          <a:p>
            <a:pPr algn="ctr"/>
          </a:p>
        </p:txBody>
      </p:sp>
      <p:sp>
        <p:nvSpPr>
          <p:cNvPr id="7" name="Box 6"/>
          <p:cNvSpPr/>
          <p:nvPr/>
        </p:nvSpPr>
        <p:spPr>
          <a:xfrm>
            <a:off x="10433050" y="1940520"/>
            <a:ext cx="762000" cy="609600"/>
          </a:xfrm>
          <a:prstGeom prst="roundRect">
            <a:avLst>
              <a:gd name="adj" fmla="val 20833"/>
            </a:avLst>
          </a:prstGeom>
          <a:solidFill>
            <a:srgbClr val="FFFDF8"/>
          </a:solidFill>
          <a:ln>
            <a:noFill/>
          </a:ln>
        </p:spPr>
        <p:txBody>
          <a:bodyPr rtlCol="0" anchor="ctr"/>
          <a:lstStyle/>
          <a:p>
            <a:pPr algn="ctr"/>
          </a:p>
        </p:txBody>
      </p:sp>
      <p:sp>
        <p:nvSpPr>
          <p:cNvPr id="8" name="Text 7"/>
          <p:cNvSpPr txBox="1"/>
          <p:nvPr/>
        </p:nvSpPr>
        <p:spPr>
          <a:xfrm>
            <a:off x="10458450" y="2155722"/>
            <a:ext cx="653653"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0E6B5C"/>
                </a:solidFill>
                <a:latin typeface="Readex Pro"/>
                <a:ea typeface="Readex Pro"/>
                <a:cs typeface="Readex Pro"/>
              </a:rPr>
              <a:t>CISM</a:t>
            </a:r>
          </a:p>
        </p:txBody>
      </p:sp>
      <p:sp>
        <p:nvSpPr>
          <p:cNvPr id="9" name="Text 8"/>
          <p:cNvSpPr txBox="1"/>
          <p:nvPr/>
        </p:nvSpPr>
        <p:spPr>
          <a:xfrm>
            <a:off x="6216650" y="2002683"/>
            <a:ext cx="4076700"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400" b="1" i="0">
                <a:solidFill>
                  <a:srgbClr val="F3EFE6"/>
                </a:solidFill>
                <a:latin typeface="Readex Pro"/>
                <a:ea typeface="Readex Pro"/>
                <a:cs typeface="Readex Pro"/>
              </a:rPr>
              <a:t>Certified Information Security Manager</a:t>
            </a:r>
          </a:p>
        </p:txBody>
      </p:sp>
      <p:sp>
        <p:nvSpPr>
          <p:cNvPr id="10" name="Text 9"/>
          <p:cNvSpPr txBox="1"/>
          <p:nvPr/>
        </p:nvSpPr>
        <p:spPr>
          <a:xfrm>
            <a:off x="6216650" y="2250908"/>
            <a:ext cx="40767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CFEAE3"/>
                </a:solidFill>
                <a:latin typeface="IBM Plex Sans Arabic"/>
                <a:ea typeface="IBM Plex Sans Arabic"/>
                <a:cs typeface="IBM Plex Sans Arabic"/>
              </a:rPr>
              <a:t>ISACA · إدارة أمن المعلومات</a:t>
            </a:r>
          </a:p>
        </p:txBody>
      </p:sp>
      <p:sp>
        <p:nvSpPr>
          <p:cNvPr id="11" name="Text 10"/>
          <p:cNvSpPr txBox="1"/>
          <p:nvPr/>
        </p:nvSpPr>
        <p:spPr>
          <a:xfrm>
            <a:off x="10278110" y="2793198"/>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الخبرة</a:t>
            </a:r>
          </a:p>
        </p:txBody>
      </p:sp>
      <p:sp>
        <p:nvSpPr>
          <p:cNvPr id="12" name="Text 11"/>
          <p:cNvSpPr txBox="1"/>
          <p:nvPr/>
        </p:nvSpPr>
        <p:spPr>
          <a:xfrm>
            <a:off x="6252083" y="2793198"/>
            <a:ext cx="4015867"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5 سنوات في إدارة أمن المعلومات، في 3 مجالات من 4؛ إعفاء حتى سنتين</a:t>
            </a:r>
          </a:p>
        </p:txBody>
      </p:sp>
      <p:sp>
        <p:nvSpPr>
          <p:cNvPr id="13" name="Text 12"/>
          <p:cNvSpPr txBox="1"/>
          <p:nvPr/>
        </p:nvSpPr>
        <p:spPr>
          <a:xfrm>
            <a:off x="10278110" y="329603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الاختبار</a:t>
            </a:r>
          </a:p>
        </p:txBody>
      </p:sp>
      <p:sp>
        <p:nvSpPr>
          <p:cNvPr id="14" name="Text 13"/>
          <p:cNvSpPr txBox="1"/>
          <p:nvPr/>
        </p:nvSpPr>
        <p:spPr>
          <a:xfrm>
            <a:off x="6210300" y="329603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150 سؤالاً في 4 ساعات، والنجاح 450 من 800</a:t>
            </a:r>
          </a:p>
        </p:txBody>
      </p:sp>
      <p:sp>
        <p:nvSpPr>
          <p:cNvPr id="15" name="Text 14"/>
          <p:cNvSpPr txBox="1"/>
          <p:nvPr/>
        </p:nvSpPr>
        <p:spPr>
          <a:xfrm>
            <a:off x="10278110" y="358555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الرسوم</a:t>
            </a:r>
          </a:p>
        </p:txBody>
      </p:sp>
      <p:sp>
        <p:nvSpPr>
          <p:cNvPr id="16" name="Text 15"/>
          <p:cNvSpPr txBox="1"/>
          <p:nvPr/>
        </p:nvSpPr>
        <p:spPr>
          <a:xfrm>
            <a:off x="6210300" y="358555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575 دولاراً للأعضاء و760 لغيرهم، و50 لطلب الشهادة</a:t>
            </a:r>
          </a:p>
        </p:txBody>
      </p:sp>
      <p:sp>
        <p:nvSpPr>
          <p:cNvPr id="17" name="Text 16"/>
          <p:cNvSpPr txBox="1"/>
          <p:nvPr/>
        </p:nvSpPr>
        <p:spPr>
          <a:xfrm>
            <a:off x="10278110" y="3875080"/>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التجديد</a:t>
            </a:r>
          </a:p>
        </p:txBody>
      </p:sp>
      <p:sp>
        <p:nvSpPr>
          <p:cNvPr id="18" name="Text 17"/>
          <p:cNvSpPr txBox="1"/>
          <p:nvPr/>
        </p:nvSpPr>
        <p:spPr>
          <a:xfrm>
            <a:off x="6210300" y="3875080"/>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20 ساعة CPE سنوياً و120 كل 3 سنوات، ورسم سنوي</a:t>
            </a:r>
          </a:p>
        </p:txBody>
      </p:sp>
      <p:sp>
        <p:nvSpPr>
          <p:cNvPr id="19" name="Box 18"/>
          <p:cNvSpPr/>
          <p:nvPr/>
        </p:nvSpPr>
        <p:spPr>
          <a:xfrm>
            <a:off x="6369050" y="4188222"/>
            <a:ext cx="4826000" cy="340320"/>
          </a:xfrm>
          <a:prstGeom prst="roundRect">
            <a:avLst>
              <a:gd name="adj" fmla="val 18658"/>
            </a:avLst>
          </a:prstGeom>
          <a:solidFill>
            <a:srgbClr val="F6ECDA"/>
          </a:solidFill>
          <a:ln>
            <a:noFill/>
          </a:ln>
        </p:spPr>
        <p:txBody>
          <a:bodyPr rtlCol="0" anchor="ctr"/>
          <a:lstStyle/>
          <a:p>
            <a:pPr algn="ctr"/>
          </a:p>
        </p:txBody>
      </p:sp>
      <p:pic>
        <p:nvPicPr>
          <p:cNvPr id="20" name="Icon Warning 19" descr="icon040.png"/>
          <p:cNvPicPr>
            <a:picLocks noChangeAspect="1"/>
          </p:cNvPicPr>
          <p:nvPr/>
        </p:nvPicPr>
        <p:blipFill>
          <a:blip r:embed="rId2"/>
          <a:stretch>
            <a:fillRect/>
          </a:stretch>
        </p:blipFill>
        <p:spPr>
          <a:xfrm>
            <a:off x="10941050" y="4251722"/>
            <a:ext cx="165100" cy="165100"/>
          </a:xfrm>
          <a:prstGeom prst="rect">
            <a:avLst/>
          </a:prstGeom>
        </p:spPr>
      </p:pic>
      <p:sp>
        <p:nvSpPr>
          <p:cNvPr id="21" name="Text 20"/>
          <p:cNvSpPr txBox="1"/>
          <p:nvPr/>
        </p:nvSpPr>
        <p:spPr>
          <a:xfrm>
            <a:off x="6394450" y="4228100"/>
            <a:ext cx="44704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مخطط اختبار جديد من 3 نوفمبر 2026؛ راجع المجالات الجديدة قبل المذاكرة.</a:t>
            </a:r>
          </a:p>
        </p:txBody>
      </p:sp>
      <p:sp>
        <p:nvSpPr>
          <p:cNvPr id="22" name="Box 21"/>
          <p:cNvSpPr/>
          <p:nvPr/>
        </p:nvSpPr>
        <p:spPr>
          <a:xfrm>
            <a:off x="815975" y="1810345"/>
            <a:ext cx="5187950" cy="2861072"/>
          </a:xfrm>
          <a:prstGeom prst="roundRect">
            <a:avLst>
              <a:gd name="adj" fmla="val 3986"/>
            </a:avLst>
          </a:prstGeom>
          <a:solidFill>
            <a:srgbClr val="FFFDF8"/>
          </a:solidFill>
          <a:ln w="6350">
            <a:solidFill>
              <a:srgbClr val="E1DBCD"/>
            </a:solidFill>
          </a:ln>
        </p:spPr>
        <p:txBody>
          <a:bodyPr rtlCol="0" anchor="ctr"/>
          <a:lstStyle/>
          <a:p>
            <a:pPr algn="ctr"/>
          </a:p>
        </p:txBody>
      </p:sp>
      <p:sp>
        <p:nvSpPr>
          <p:cNvPr id="23" name="Box 22"/>
          <p:cNvSpPr/>
          <p:nvPr/>
        </p:nvSpPr>
        <p:spPr>
          <a:xfrm>
            <a:off x="819150" y="1813520"/>
            <a:ext cx="5181600" cy="863600"/>
          </a:xfrm>
          <a:prstGeom prst="round2SameRect">
            <a:avLst>
              <a:gd name="adj1" fmla="val 12500"/>
              <a:gd name="adj2" fmla="val 0"/>
            </a:avLst>
          </a:prstGeom>
          <a:solidFill>
            <a:srgbClr val="0E6B5C"/>
          </a:solidFill>
          <a:ln>
            <a:noFill/>
          </a:ln>
        </p:spPr>
        <p:txBody>
          <a:bodyPr rtlCol="0" anchor="ctr"/>
          <a:lstStyle/>
          <a:p>
            <a:pPr algn="ctr"/>
          </a:p>
        </p:txBody>
      </p:sp>
      <p:sp>
        <p:nvSpPr>
          <p:cNvPr id="24" name="Box 23"/>
          <p:cNvSpPr/>
          <p:nvPr/>
        </p:nvSpPr>
        <p:spPr>
          <a:xfrm>
            <a:off x="5060950" y="1940520"/>
            <a:ext cx="762000" cy="609600"/>
          </a:xfrm>
          <a:prstGeom prst="roundRect">
            <a:avLst>
              <a:gd name="adj" fmla="val 20833"/>
            </a:avLst>
          </a:prstGeom>
          <a:solidFill>
            <a:srgbClr val="FFFDF8"/>
          </a:solidFill>
          <a:ln>
            <a:noFill/>
          </a:ln>
        </p:spPr>
        <p:txBody>
          <a:bodyPr rtlCol="0" anchor="ctr"/>
          <a:lstStyle/>
          <a:p>
            <a:pPr algn="ctr"/>
          </a:p>
        </p:txBody>
      </p:sp>
      <p:sp>
        <p:nvSpPr>
          <p:cNvPr id="25" name="Text 24"/>
          <p:cNvSpPr txBox="1"/>
          <p:nvPr/>
        </p:nvSpPr>
        <p:spPr>
          <a:xfrm>
            <a:off x="5082580" y="2155722"/>
            <a:ext cx="718741"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0E6B5C"/>
                </a:solidFill>
                <a:latin typeface="Readex Pro"/>
                <a:ea typeface="Readex Pro"/>
                <a:cs typeface="Readex Pro"/>
              </a:rPr>
              <a:t>CGEIT</a:t>
            </a:r>
          </a:p>
        </p:txBody>
      </p:sp>
      <p:sp>
        <p:nvSpPr>
          <p:cNvPr id="26" name="Text 25"/>
          <p:cNvSpPr txBox="1"/>
          <p:nvPr/>
        </p:nvSpPr>
        <p:spPr>
          <a:xfrm>
            <a:off x="844550" y="2002683"/>
            <a:ext cx="4076700"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400" b="1" i="0">
                <a:solidFill>
                  <a:srgbClr val="F3EFE6"/>
                </a:solidFill>
                <a:latin typeface="Readex Pro"/>
                <a:ea typeface="Readex Pro"/>
                <a:cs typeface="Readex Pro"/>
              </a:rPr>
              <a:t>Governance of Enterprise IT</a:t>
            </a:r>
          </a:p>
        </p:txBody>
      </p:sp>
      <p:sp>
        <p:nvSpPr>
          <p:cNvPr id="27" name="Text 26"/>
          <p:cNvSpPr txBox="1"/>
          <p:nvPr/>
        </p:nvSpPr>
        <p:spPr>
          <a:xfrm>
            <a:off x="844550" y="2250908"/>
            <a:ext cx="40767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CFEAE3"/>
                </a:solidFill>
                <a:latin typeface="IBM Plex Sans Arabic"/>
                <a:ea typeface="IBM Plex Sans Arabic"/>
                <a:cs typeface="IBM Plex Sans Arabic"/>
              </a:rPr>
              <a:t>ISACA · حوكمة تقنية المعلومات للقيادات</a:t>
            </a:r>
          </a:p>
        </p:txBody>
      </p:sp>
      <p:sp>
        <p:nvSpPr>
          <p:cNvPr id="28" name="Text 27"/>
          <p:cNvSpPr txBox="1"/>
          <p:nvPr/>
        </p:nvSpPr>
        <p:spPr>
          <a:xfrm>
            <a:off x="4906010" y="2793198"/>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الخبرة</a:t>
            </a:r>
          </a:p>
        </p:txBody>
      </p:sp>
      <p:sp>
        <p:nvSpPr>
          <p:cNvPr id="29" name="Text 28"/>
          <p:cNvSpPr txBox="1"/>
          <p:nvPr/>
        </p:nvSpPr>
        <p:spPr>
          <a:xfrm>
            <a:off x="879983" y="2793198"/>
            <a:ext cx="4015867"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5 سنوات في إدارة حوكمة تقنية المعلومات أو الاستشارة أو الإشراف عليها؛ بلا إعفاء</a:t>
            </a:r>
          </a:p>
        </p:txBody>
      </p:sp>
      <p:sp>
        <p:nvSpPr>
          <p:cNvPr id="30" name="Text 29"/>
          <p:cNvSpPr txBox="1"/>
          <p:nvPr/>
        </p:nvSpPr>
        <p:spPr>
          <a:xfrm>
            <a:off x="4906010" y="329603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الاختبار</a:t>
            </a:r>
          </a:p>
        </p:txBody>
      </p:sp>
      <p:sp>
        <p:nvSpPr>
          <p:cNvPr id="31" name="Text 30"/>
          <p:cNvSpPr txBox="1"/>
          <p:nvPr/>
        </p:nvSpPr>
        <p:spPr>
          <a:xfrm>
            <a:off x="838200" y="329603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150 سؤالاً في 4 ساعات، والنجاح 450 من 800</a:t>
            </a:r>
          </a:p>
        </p:txBody>
      </p:sp>
      <p:sp>
        <p:nvSpPr>
          <p:cNvPr id="32" name="Text 31"/>
          <p:cNvSpPr txBox="1"/>
          <p:nvPr/>
        </p:nvSpPr>
        <p:spPr>
          <a:xfrm>
            <a:off x="4906010" y="358555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الرسوم</a:t>
            </a:r>
          </a:p>
        </p:txBody>
      </p:sp>
      <p:sp>
        <p:nvSpPr>
          <p:cNvPr id="33" name="Text 32"/>
          <p:cNvSpPr txBox="1"/>
          <p:nvPr/>
        </p:nvSpPr>
        <p:spPr>
          <a:xfrm>
            <a:off x="838200" y="358555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575 دولاراً للأعضاء و760 لغيرهم، و50 لطلب الشهادة</a:t>
            </a:r>
          </a:p>
        </p:txBody>
      </p:sp>
      <p:sp>
        <p:nvSpPr>
          <p:cNvPr id="34" name="Text 33"/>
          <p:cNvSpPr txBox="1"/>
          <p:nvPr/>
        </p:nvSpPr>
        <p:spPr>
          <a:xfrm>
            <a:off x="4906010" y="3875080"/>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التجديد</a:t>
            </a:r>
          </a:p>
        </p:txBody>
      </p:sp>
      <p:sp>
        <p:nvSpPr>
          <p:cNvPr id="35" name="Text 34"/>
          <p:cNvSpPr txBox="1"/>
          <p:nvPr/>
        </p:nvSpPr>
        <p:spPr>
          <a:xfrm>
            <a:off x="838200" y="3875080"/>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20 ساعة CPE سنوياً و120 كل 3 سنوات، ورسم سنوي</a:t>
            </a:r>
          </a:p>
        </p:txBody>
      </p:sp>
      <p:sp>
        <p:nvSpPr>
          <p:cNvPr id="36" name="Box 35"/>
          <p:cNvSpPr/>
          <p:nvPr/>
        </p:nvSpPr>
        <p:spPr>
          <a:xfrm>
            <a:off x="996950" y="4188222"/>
            <a:ext cx="4826000" cy="340320"/>
          </a:xfrm>
          <a:prstGeom prst="roundRect">
            <a:avLst>
              <a:gd name="adj" fmla="val 18658"/>
            </a:avLst>
          </a:prstGeom>
          <a:solidFill>
            <a:srgbClr val="E3F1ED"/>
          </a:solidFill>
          <a:ln>
            <a:noFill/>
          </a:ln>
        </p:spPr>
        <p:txBody>
          <a:bodyPr rtlCol="0" anchor="ctr"/>
          <a:lstStyle/>
          <a:p>
            <a:pPr algn="ctr"/>
          </a:p>
        </p:txBody>
      </p:sp>
      <p:pic>
        <p:nvPicPr>
          <p:cNvPr id="37" name="Icon Lightbulb 36" descr="icon042.png"/>
          <p:cNvPicPr>
            <a:picLocks noChangeAspect="1"/>
          </p:cNvPicPr>
          <p:nvPr/>
        </p:nvPicPr>
        <p:blipFill>
          <a:blip r:embed="rId3"/>
          <a:stretch>
            <a:fillRect/>
          </a:stretch>
        </p:blipFill>
        <p:spPr>
          <a:xfrm>
            <a:off x="5568950" y="4251722"/>
            <a:ext cx="165100" cy="165100"/>
          </a:xfrm>
          <a:prstGeom prst="rect">
            <a:avLst/>
          </a:prstGeom>
        </p:spPr>
      </p:pic>
      <p:sp>
        <p:nvSpPr>
          <p:cNvPr id="38" name="Text 37"/>
          <p:cNvSpPr txBox="1"/>
          <p:nvPr/>
        </p:nvSpPr>
        <p:spPr>
          <a:xfrm>
            <a:off x="1022350" y="4228100"/>
            <a:ext cx="44704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للمستوى القيادي بعد سنوات، ومرتبطة بإطار COBIT.</a:t>
            </a:r>
          </a:p>
        </p:txBody>
      </p:sp>
      <p:sp>
        <p:nvSpPr>
          <p:cNvPr id="39" name="Text 38"/>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05 · الشهادات · الأسعار بالدولار الأمريكي كما في 27 أكتوبر 2026</a:t>
            </a:r>
          </a:p>
        </p:txBody>
      </p:sp>
      <p:sp>
        <p:nvSpPr>
          <p:cNvPr id="40" name="Text 39"/>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798844" y="812800"/>
            <a:ext cx="1580356"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ISC2: الحوكمة والمخاطر، ثم القيادة</a:t>
            </a:r>
          </a:p>
        </p:txBody>
      </p:sp>
      <p:sp>
        <p:nvSpPr>
          <p:cNvPr id="5" name="Box 4"/>
          <p:cNvSpPr/>
          <p:nvPr/>
        </p:nvSpPr>
        <p:spPr>
          <a:xfrm>
            <a:off x="6188075" y="1810345"/>
            <a:ext cx="5187950" cy="2861072"/>
          </a:xfrm>
          <a:prstGeom prst="roundRect">
            <a:avLst>
              <a:gd name="adj" fmla="val 3986"/>
            </a:avLst>
          </a:prstGeom>
          <a:solidFill>
            <a:srgbClr val="FFFDF8"/>
          </a:solidFill>
          <a:ln w="6350">
            <a:solidFill>
              <a:srgbClr val="E1DBCD"/>
            </a:solidFill>
          </a:ln>
        </p:spPr>
        <p:txBody>
          <a:bodyPr rtlCol="0" anchor="ctr"/>
          <a:lstStyle/>
          <a:p>
            <a:pPr algn="ctr"/>
          </a:p>
        </p:txBody>
      </p:sp>
      <p:sp>
        <p:nvSpPr>
          <p:cNvPr id="6" name="Box 5"/>
          <p:cNvSpPr/>
          <p:nvPr/>
        </p:nvSpPr>
        <p:spPr>
          <a:xfrm>
            <a:off x="6191250" y="1813520"/>
            <a:ext cx="5181600" cy="863600"/>
          </a:xfrm>
          <a:prstGeom prst="round2SameRect">
            <a:avLst>
              <a:gd name="adj1" fmla="val 12500"/>
              <a:gd name="adj2" fmla="val 0"/>
            </a:avLst>
          </a:prstGeom>
          <a:solidFill>
            <a:srgbClr val="24506B"/>
          </a:solidFill>
          <a:ln>
            <a:noFill/>
          </a:ln>
        </p:spPr>
        <p:txBody>
          <a:bodyPr rtlCol="0" anchor="ctr"/>
          <a:lstStyle/>
          <a:p>
            <a:pPr algn="ctr"/>
          </a:p>
        </p:txBody>
      </p:sp>
      <p:sp>
        <p:nvSpPr>
          <p:cNvPr id="7" name="Box 6"/>
          <p:cNvSpPr/>
          <p:nvPr/>
        </p:nvSpPr>
        <p:spPr>
          <a:xfrm>
            <a:off x="10433050" y="1940520"/>
            <a:ext cx="762000" cy="609600"/>
          </a:xfrm>
          <a:prstGeom prst="roundRect">
            <a:avLst>
              <a:gd name="adj" fmla="val 20833"/>
            </a:avLst>
          </a:prstGeom>
          <a:solidFill>
            <a:srgbClr val="FFFDF8"/>
          </a:solidFill>
          <a:ln>
            <a:noFill/>
          </a:ln>
        </p:spPr>
        <p:txBody>
          <a:bodyPr rtlCol="0" anchor="ctr"/>
          <a:lstStyle/>
          <a:p>
            <a:pPr algn="ctr"/>
          </a:p>
        </p:txBody>
      </p:sp>
      <p:sp>
        <p:nvSpPr>
          <p:cNvPr id="8" name="Text 7"/>
          <p:cNvSpPr txBox="1"/>
          <p:nvPr/>
        </p:nvSpPr>
        <p:spPr>
          <a:xfrm>
            <a:off x="10458450" y="2155722"/>
            <a:ext cx="664468"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24506B"/>
                </a:solidFill>
                <a:latin typeface="Readex Pro"/>
                <a:ea typeface="Readex Pro"/>
                <a:cs typeface="Readex Pro"/>
              </a:rPr>
              <a:t>CGRC</a:t>
            </a:r>
          </a:p>
        </p:txBody>
      </p:sp>
      <p:sp>
        <p:nvSpPr>
          <p:cNvPr id="9" name="Text 8"/>
          <p:cNvSpPr txBox="1"/>
          <p:nvPr/>
        </p:nvSpPr>
        <p:spPr>
          <a:xfrm>
            <a:off x="6216650" y="2002683"/>
            <a:ext cx="4076700"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400" b="1" i="0">
                <a:solidFill>
                  <a:srgbClr val="F3EFE6"/>
                </a:solidFill>
                <a:latin typeface="Readex Pro"/>
                <a:ea typeface="Readex Pro"/>
                <a:cs typeface="Readex Pro"/>
              </a:rPr>
              <a:t>Governance, Risk and Compliance</a:t>
            </a:r>
          </a:p>
        </p:txBody>
      </p:sp>
      <p:sp>
        <p:nvSpPr>
          <p:cNvPr id="10" name="Text 9"/>
          <p:cNvSpPr txBox="1"/>
          <p:nvPr/>
        </p:nvSpPr>
        <p:spPr>
          <a:xfrm>
            <a:off x="6216650" y="2250908"/>
            <a:ext cx="40767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CFE0EA"/>
                </a:solidFill>
                <a:latin typeface="IBM Plex Sans Arabic"/>
                <a:ea typeface="IBM Plex Sans Arabic"/>
                <a:cs typeface="IBM Plex Sans Arabic"/>
              </a:rPr>
              <a:t>ISC2 · كانت تسمى CAP حتى 2023</a:t>
            </a:r>
          </a:p>
        </p:txBody>
      </p:sp>
      <p:sp>
        <p:nvSpPr>
          <p:cNvPr id="11" name="Text 10"/>
          <p:cNvSpPr txBox="1"/>
          <p:nvPr/>
        </p:nvSpPr>
        <p:spPr>
          <a:xfrm>
            <a:off x="10278110" y="2793198"/>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الخبرة</a:t>
            </a:r>
          </a:p>
        </p:txBody>
      </p:sp>
      <p:sp>
        <p:nvSpPr>
          <p:cNvPr id="12" name="Text 11"/>
          <p:cNvSpPr txBox="1"/>
          <p:nvPr/>
        </p:nvSpPr>
        <p:spPr>
          <a:xfrm>
            <a:off x="6252083" y="2793198"/>
            <a:ext cx="4015867"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سنتان في مجال واحد على الأقل من 7؛ يُحتسب الدوام الجزئي والتدريب</a:t>
            </a:r>
          </a:p>
        </p:txBody>
      </p:sp>
      <p:sp>
        <p:nvSpPr>
          <p:cNvPr id="13" name="Text 12"/>
          <p:cNvSpPr txBox="1"/>
          <p:nvPr/>
        </p:nvSpPr>
        <p:spPr>
          <a:xfrm>
            <a:off x="10278110" y="329603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الاختبار</a:t>
            </a:r>
          </a:p>
        </p:txBody>
      </p:sp>
      <p:sp>
        <p:nvSpPr>
          <p:cNvPr id="14" name="Text 13"/>
          <p:cNvSpPr txBox="1"/>
          <p:nvPr/>
        </p:nvSpPr>
        <p:spPr>
          <a:xfrm>
            <a:off x="6210300" y="329603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125 سؤالاً في 3 ساعات، والنجاح 700 من 1000</a:t>
            </a:r>
          </a:p>
        </p:txBody>
      </p:sp>
      <p:sp>
        <p:nvSpPr>
          <p:cNvPr id="15" name="Text 14"/>
          <p:cNvSpPr txBox="1"/>
          <p:nvPr/>
        </p:nvSpPr>
        <p:spPr>
          <a:xfrm>
            <a:off x="10278110" y="358555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الرسوم</a:t>
            </a:r>
          </a:p>
        </p:txBody>
      </p:sp>
      <p:sp>
        <p:nvSpPr>
          <p:cNvPr id="16" name="Text 15"/>
          <p:cNvSpPr txBox="1"/>
          <p:nvPr/>
        </p:nvSpPr>
        <p:spPr>
          <a:xfrm>
            <a:off x="6210300" y="358555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599 دولاراً للاختبار، ثم 135 سنوياً</a:t>
            </a:r>
          </a:p>
        </p:txBody>
      </p:sp>
      <p:sp>
        <p:nvSpPr>
          <p:cNvPr id="17" name="Text 16"/>
          <p:cNvSpPr txBox="1"/>
          <p:nvPr/>
        </p:nvSpPr>
        <p:spPr>
          <a:xfrm>
            <a:off x="10278110" y="3875080"/>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التجديد</a:t>
            </a:r>
          </a:p>
        </p:txBody>
      </p:sp>
      <p:sp>
        <p:nvSpPr>
          <p:cNvPr id="18" name="Text 17"/>
          <p:cNvSpPr txBox="1"/>
          <p:nvPr/>
        </p:nvSpPr>
        <p:spPr>
          <a:xfrm>
            <a:off x="6210300" y="3875080"/>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60 ساعة CPE كل 3 سنوات</a:t>
            </a:r>
          </a:p>
        </p:txBody>
      </p:sp>
      <p:sp>
        <p:nvSpPr>
          <p:cNvPr id="19" name="Box 18"/>
          <p:cNvSpPr/>
          <p:nvPr/>
        </p:nvSpPr>
        <p:spPr>
          <a:xfrm>
            <a:off x="6369050" y="4188222"/>
            <a:ext cx="4826000" cy="340320"/>
          </a:xfrm>
          <a:prstGeom prst="roundRect">
            <a:avLst>
              <a:gd name="adj" fmla="val 18658"/>
            </a:avLst>
          </a:prstGeom>
          <a:solidFill>
            <a:srgbClr val="E3F1ED"/>
          </a:solidFill>
          <a:ln>
            <a:noFill/>
          </a:ln>
        </p:spPr>
        <p:txBody>
          <a:bodyPr rtlCol="0" anchor="ctr"/>
          <a:lstStyle/>
          <a:p>
            <a:pPr algn="ctr"/>
          </a:p>
        </p:txBody>
      </p:sp>
      <p:pic>
        <p:nvPicPr>
          <p:cNvPr id="20" name="Icon Lightbulb 19" descr="icon042.png"/>
          <p:cNvPicPr>
            <a:picLocks noChangeAspect="1"/>
          </p:cNvPicPr>
          <p:nvPr/>
        </p:nvPicPr>
        <p:blipFill>
          <a:blip r:embed="rId2"/>
          <a:stretch>
            <a:fillRect/>
          </a:stretch>
        </p:blipFill>
        <p:spPr>
          <a:xfrm>
            <a:off x="10941050" y="4251722"/>
            <a:ext cx="165100" cy="165100"/>
          </a:xfrm>
          <a:prstGeom prst="rect">
            <a:avLst/>
          </a:prstGeom>
        </p:spPr>
      </p:pic>
      <p:sp>
        <p:nvSpPr>
          <p:cNvPr id="21" name="Text 20"/>
          <p:cNvSpPr txBox="1"/>
          <p:nvPr/>
        </p:nvSpPr>
        <p:spPr>
          <a:xfrm>
            <a:off x="6394450" y="4228100"/>
            <a:ext cx="44704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تنجح بلا خبرة فتصبح Associate of ISC2، ولديك 3 سنوات لتكملها.</a:t>
            </a:r>
          </a:p>
        </p:txBody>
      </p:sp>
      <p:sp>
        <p:nvSpPr>
          <p:cNvPr id="22" name="Box 21"/>
          <p:cNvSpPr/>
          <p:nvPr/>
        </p:nvSpPr>
        <p:spPr>
          <a:xfrm>
            <a:off x="815975" y="1810345"/>
            <a:ext cx="5187950" cy="2861072"/>
          </a:xfrm>
          <a:prstGeom prst="roundRect">
            <a:avLst>
              <a:gd name="adj" fmla="val 3986"/>
            </a:avLst>
          </a:prstGeom>
          <a:solidFill>
            <a:srgbClr val="FFFDF8"/>
          </a:solidFill>
          <a:ln w="6350">
            <a:solidFill>
              <a:srgbClr val="E1DBCD"/>
            </a:solidFill>
          </a:ln>
        </p:spPr>
        <p:txBody>
          <a:bodyPr rtlCol="0" anchor="ctr"/>
          <a:lstStyle/>
          <a:p>
            <a:pPr algn="ctr"/>
          </a:p>
        </p:txBody>
      </p:sp>
      <p:sp>
        <p:nvSpPr>
          <p:cNvPr id="23" name="Box 22"/>
          <p:cNvSpPr/>
          <p:nvPr/>
        </p:nvSpPr>
        <p:spPr>
          <a:xfrm>
            <a:off x="819150" y="1813520"/>
            <a:ext cx="5181600" cy="863600"/>
          </a:xfrm>
          <a:prstGeom prst="round2SameRect">
            <a:avLst>
              <a:gd name="adj1" fmla="val 12500"/>
              <a:gd name="adj2" fmla="val 0"/>
            </a:avLst>
          </a:prstGeom>
          <a:solidFill>
            <a:srgbClr val="24506B"/>
          </a:solidFill>
          <a:ln>
            <a:noFill/>
          </a:ln>
        </p:spPr>
        <p:txBody>
          <a:bodyPr rtlCol="0" anchor="ctr"/>
          <a:lstStyle/>
          <a:p>
            <a:pPr algn="ctr"/>
          </a:p>
        </p:txBody>
      </p:sp>
      <p:sp>
        <p:nvSpPr>
          <p:cNvPr id="24" name="Box 23"/>
          <p:cNvSpPr/>
          <p:nvPr/>
        </p:nvSpPr>
        <p:spPr>
          <a:xfrm>
            <a:off x="5060950" y="1940520"/>
            <a:ext cx="762000" cy="609600"/>
          </a:xfrm>
          <a:prstGeom prst="roundRect">
            <a:avLst>
              <a:gd name="adj" fmla="val 20833"/>
            </a:avLst>
          </a:prstGeom>
          <a:solidFill>
            <a:srgbClr val="FFFDF8"/>
          </a:solidFill>
          <a:ln>
            <a:noFill/>
          </a:ln>
        </p:spPr>
        <p:txBody>
          <a:bodyPr rtlCol="0" anchor="ctr"/>
          <a:lstStyle/>
          <a:p>
            <a:pPr algn="ctr"/>
          </a:p>
        </p:txBody>
      </p:sp>
      <p:sp>
        <p:nvSpPr>
          <p:cNvPr id="25" name="Text 24"/>
          <p:cNvSpPr txBox="1"/>
          <p:nvPr/>
        </p:nvSpPr>
        <p:spPr>
          <a:xfrm>
            <a:off x="5086350" y="2155722"/>
            <a:ext cx="698897"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24506B"/>
                </a:solidFill>
                <a:latin typeface="Readex Pro"/>
                <a:ea typeface="Readex Pro"/>
                <a:cs typeface="Readex Pro"/>
              </a:rPr>
              <a:t>CISSP</a:t>
            </a:r>
          </a:p>
        </p:txBody>
      </p:sp>
      <p:sp>
        <p:nvSpPr>
          <p:cNvPr id="26" name="Text 25"/>
          <p:cNvSpPr txBox="1"/>
          <p:nvPr/>
        </p:nvSpPr>
        <p:spPr>
          <a:xfrm>
            <a:off x="844550" y="2002683"/>
            <a:ext cx="4076700"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400" b="1" i="0">
                <a:solidFill>
                  <a:srgbClr val="F3EFE6"/>
                </a:solidFill>
                <a:latin typeface="Readex Pro"/>
                <a:ea typeface="Readex Pro"/>
                <a:cs typeface="Readex Pro"/>
              </a:rPr>
              <a:t>Information Systems Security Professional</a:t>
            </a:r>
          </a:p>
        </p:txBody>
      </p:sp>
      <p:sp>
        <p:nvSpPr>
          <p:cNvPr id="27" name="Text 26"/>
          <p:cNvSpPr txBox="1"/>
          <p:nvPr/>
        </p:nvSpPr>
        <p:spPr>
          <a:xfrm>
            <a:off x="844550" y="2250908"/>
            <a:ext cx="40767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CFE0EA"/>
                </a:solidFill>
                <a:latin typeface="IBM Plex Sans Arabic"/>
                <a:ea typeface="IBM Plex Sans Arabic"/>
                <a:cs typeface="IBM Plex Sans Arabic"/>
              </a:rPr>
              <a:t>ISC2 · للمستوى القيادي في الأمن</a:t>
            </a:r>
          </a:p>
        </p:txBody>
      </p:sp>
      <p:sp>
        <p:nvSpPr>
          <p:cNvPr id="28" name="Text 27"/>
          <p:cNvSpPr txBox="1"/>
          <p:nvPr/>
        </p:nvSpPr>
        <p:spPr>
          <a:xfrm>
            <a:off x="4906010" y="2793198"/>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الخبرة</a:t>
            </a:r>
          </a:p>
        </p:txBody>
      </p:sp>
      <p:sp>
        <p:nvSpPr>
          <p:cNvPr id="29" name="Text 28"/>
          <p:cNvSpPr txBox="1"/>
          <p:nvPr/>
        </p:nvSpPr>
        <p:spPr>
          <a:xfrm>
            <a:off x="838200" y="2793198"/>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5 سنوات في مجالين من 8؛ درجة أو شهادة معتمدة تعوض سنة</a:t>
            </a:r>
          </a:p>
        </p:txBody>
      </p:sp>
      <p:sp>
        <p:nvSpPr>
          <p:cNvPr id="30" name="Text 29"/>
          <p:cNvSpPr txBox="1"/>
          <p:nvPr/>
        </p:nvSpPr>
        <p:spPr>
          <a:xfrm>
            <a:off x="4906010" y="308271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الاختبار</a:t>
            </a:r>
          </a:p>
        </p:txBody>
      </p:sp>
      <p:sp>
        <p:nvSpPr>
          <p:cNvPr id="31" name="Text 30"/>
          <p:cNvSpPr txBox="1"/>
          <p:nvPr/>
        </p:nvSpPr>
        <p:spPr>
          <a:xfrm>
            <a:off x="838200" y="308271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100 إلى 150 سؤالاً في 3 ساعات، تكيفي (CAT)</a:t>
            </a:r>
          </a:p>
        </p:txBody>
      </p:sp>
      <p:sp>
        <p:nvSpPr>
          <p:cNvPr id="32" name="Text 31"/>
          <p:cNvSpPr txBox="1"/>
          <p:nvPr/>
        </p:nvSpPr>
        <p:spPr>
          <a:xfrm>
            <a:off x="4906010" y="337223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الرسوم</a:t>
            </a:r>
          </a:p>
        </p:txBody>
      </p:sp>
      <p:sp>
        <p:nvSpPr>
          <p:cNvPr id="33" name="Text 32"/>
          <p:cNvSpPr txBox="1"/>
          <p:nvPr/>
        </p:nvSpPr>
        <p:spPr>
          <a:xfrm>
            <a:off x="838200" y="337223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749 دولاراً للاختبار، ثم 135 سنوياً</a:t>
            </a:r>
          </a:p>
        </p:txBody>
      </p:sp>
      <p:sp>
        <p:nvSpPr>
          <p:cNvPr id="34" name="Text 33"/>
          <p:cNvSpPr txBox="1"/>
          <p:nvPr/>
        </p:nvSpPr>
        <p:spPr>
          <a:xfrm>
            <a:off x="4906010" y="366175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التجديد</a:t>
            </a:r>
          </a:p>
        </p:txBody>
      </p:sp>
      <p:sp>
        <p:nvSpPr>
          <p:cNvPr id="35" name="Text 34"/>
          <p:cNvSpPr txBox="1"/>
          <p:nvPr/>
        </p:nvSpPr>
        <p:spPr>
          <a:xfrm>
            <a:off x="838200" y="366175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120 ساعة CPE كل 3 سنوات</a:t>
            </a:r>
          </a:p>
        </p:txBody>
      </p:sp>
      <p:sp>
        <p:nvSpPr>
          <p:cNvPr id="36" name="Box 35"/>
          <p:cNvSpPr/>
          <p:nvPr/>
        </p:nvSpPr>
        <p:spPr>
          <a:xfrm>
            <a:off x="996950" y="3974902"/>
            <a:ext cx="4826000" cy="553641"/>
          </a:xfrm>
          <a:prstGeom prst="roundRect">
            <a:avLst>
              <a:gd name="adj" fmla="val 11469"/>
            </a:avLst>
          </a:prstGeom>
          <a:solidFill>
            <a:srgbClr val="F6ECDA"/>
          </a:solidFill>
          <a:ln>
            <a:noFill/>
          </a:ln>
        </p:spPr>
        <p:txBody>
          <a:bodyPr rtlCol="0" anchor="ctr"/>
          <a:lstStyle/>
          <a:p>
            <a:pPr algn="ctr"/>
          </a:p>
        </p:txBody>
      </p:sp>
      <p:pic>
        <p:nvPicPr>
          <p:cNvPr id="37" name="Icon Warning 36" descr="icon040.png"/>
          <p:cNvPicPr>
            <a:picLocks noChangeAspect="1"/>
          </p:cNvPicPr>
          <p:nvPr/>
        </p:nvPicPr>
        <p:blipFill>
          <a:blip r:embed="rId3"/>
          <a:stretch>
            <a:fillRect/>
          </a:stretch>
        </p:blipFill>
        <p:spPr>
          <a:xfrm>
            <a:off x="5568950" y="4038402"/>
            <a:ext cx="165100" cy="165100"/>
          </a:xfrm>
          <a:prstGeom prst="rect">
            <a:avLst/>
          </a:prstGeom>
        </p:spPr>
      </p:pic>
      <p:sp>
        <p:nvSpPr>
          <p:cNvPr id="38" name="Text 37"/>
          <p:cNvSpPr txBox="1"/>
          <p:nvPr/>
        </p:nvSpPr>
        <p:spPr>
          <a:xfrm>
            <a:off x="1022350" y="4014780"/>
            <a:ext cx="4470400"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بلا خبرة تصبح Associate ولديك 6 سنوات. مخطط اختبار جديد من 15 أبريل 2027.</a:t>
            </a:r>
          </a:p>
        </p:txBody>
      </p:sp>
      <p:sp>
        <p:nvSpPr>
          <p:cNvPr id="39" name="Text 38"/>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05 · الشهادات · الأسعار بالدولار الأمريكي كما في 27 أكتوبر 2026</a:t>
            </a:r>
          </a:p>
        </p:txBody>
      </p:sp>
      <p:sp>
        <p:nvSpPr>
          <p:cNvPr id="40" name="Text 39"/>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798844" y="812800"/>
            <a:ext cx="1580356"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شهادات الخصوصية وحماية البيانات</a:t>
            </a:r>
          </a:p>
        </p:txBody>
      </p:sp>
      <p:sp>
        <p:nvSpPr>
          <p:cNvPr id="5" name="Box 4"/>
          <p:cNvSpPr/>
          <p:nvPr/>
        </p:nvSpPr>
        <p:spPr>
          <a:xfrm>
            <a:off x="7961809" y="1810345"/>
            <a:ext cx="3414216" cy="3132733"/>
          </a:xfrm>
          <a:prstGeom prst="roundRect">
            <a:avLst>
              <a:gd name="adj" fmla="val 3641"/>
            </a:avLst>
          </a:prstGeom>
          <a:solidFill>
            <a:srgbClr val="FFFDF8"/>
          </a:solidFill>
          <a:ln w="6350">
            <a:solidFill>
              <a:srgbClr val="E1DBCD"/>
            </a:solidFill>
          </a:ln>
        </p:spPr>
        <p:txBody>
          <a:bodyPr rtlCol="0" anchor="ctr"/>
          <a:lstStyle/>
          <a:p>
            <a:pPr algn="ctr"/>
          </a:p>
        </p:txBody>
      </p:sp>
      <p:sp>
        <p:nvSpPr>
          <p:cNvPr id="6" name="Box 5"/>
          <p:cNvSpPr/>
          <p:nvPr/>
        </p:nvSpPr>
        <p:spPr>
          <a:xfrm>
            <a:off x="7964984" y="1813520"/>
            <a:ext cx="3407866" cy="711200"/>
          </a:xfrm>
          <a:prstGeom prst="round2SameRect">
            <a:avLst>
              <a:gd name="adj1" fmla="val 15178"/>
              <a:gd name="adj2" fmla="val 0"/>
            </a:avLst>
          </a:prstGeom>
          <a:solidFill>
            <a:srgbClr val="5A3F87"/>
          </a:solidFill>
          <a:ln>
            <a:noFill/>
          </a:ln>
        </p:spPr>
        <p:txBody>
          <a:bodyPr rtlCol="0" anchor="ctr"/>
          <a:lstStyle/>
          <a:p>
            <a:pPr algn="ctr"/>
          </a:p>
        </p:txBody>
      </p:sp>
      <p:sp>
        <p:nvSpPr>
          <p:cNvPr id="7" name="Box 6"/>
          <p:cNvSpPr/>
          <p:nvPr/>
        </p:nvSpPr>
        <p:spPr>
          <a:xfrm>
            <a:off x="10458450" y="1927820"/>
            <a:ext cx="762000" cy="482600"/>
          </a:xfrm>
          <a:prstGeom prst="roundRect">
            <a:avLst>
              <a:gd name="adj" fmla="val 21052"/>
            </a:avLst>
          </a:prstGeom>
          <a:solidFill>
            <a:srgbClr val="FFFDF8"/>
          </a:solidFill>
          <a:ln>
            <a:noFill/>
          </a:ln>
        </p:spPr>
        <p:txBody>
          <a:bodyPr rtlCol="0" anchor="ctr"/>
          <a:lstStyle/>
          <a:p>
            <a:pPr algn="ctr"/>
          </a:p>
        </p:txBody>
      </p:sp>
      <p:sp>
        <p:nvSpPr>
          <p:cNvPr id="8" name="Text 7"/>
          <p:cNvSpPr txBox="1"/>
          <p:nvPr/>
        </p:nvSpPr>
        <p:spPr>
          <a:xfrm>
            <a:off x="10483850" y="2095333"/>
            <a:ext cx="687189" cy="177800"/>
          </a:xfrm>
          <a:prstGeom prst="rect">
            <a:avLst/>
          </a:prstGeom>
          <a:noFill/>
        </p:spPr>
        <p:txBody>
          <a:bodyPr wrap="square" tIns="0" rIns="0" bIns="0" lIns="0" anchor="t" rtlCol="0" anchorCtr="0">
            <a:noAutofit/>
          </a:bodyPr>
          <a:lstStyle/>
          <a:p>
            <a:pPr algn="r">
              <a:lnSpc>
                <a:spcPts val="1400"/>
              </a:lnSpc>
              <a:spcBef>
                <a:spcPts val="0"/>
              </a:spcBef>
              <a:spcAft>
                <a:spcPts val="0"/>
              </a:spcAft>
            </a:pPr>
            <a:r>
              <a:rPr sz="1400" b="1" i="0">
                <a:solidFill>
                  <a:srgbClr val="5A3F87"/>
                </a:solidFill>
                <a:latin typeface="Readex Pro"/>
                <a:ea typeface="Readex Pro"/>
                <a:cs typeface="Readex Pro"/>
              </a:rPr>
              <a:t>CIPP/E</a:t>
            </a:r>
          </a:p>
        </p:txBody>
      </p:sp>
      <p:sp>
        <p:nvSpPr>
          <p:cNvPr id="9" name="Text 8"/>
          <p:cNvSpPr txBox="1"/>
          <p:nvPr/>
        </p:nvSpPr>
        <p:spPr>
          <a:xfrm>
            <a:off x="7990384" y="1932833"/>
            <a:ext cx="2353766"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400" b="1" i="0">
                <a:solidFill>
                  <a:srgbClr val="F3EFE6"/>
                </a:solidFill>
                <a:latin typeface="Readex Pro"/>
                <a:ea typeface="Readex Pro"/>
                <a:cs typeface="Readex Pro"/>
              </a:rPr>
              <a:t>IAPP</a:t>
            </a:r>
          </a:p>
        </p:txBody>
      </p:sp>
      <p:sp>
        <p:nvSpPr>
          <p:cNvPr id="10" name="Text 9"/>
          <p:cNvSpPr txBox="1"/>
          <p:nvPr/>
        </p:nvSpPr>
        <p:spPr>
          <a:xfrm>
            <a:off x="7990384" y="2168358"/>
            <a:ext cx="2353766"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E2D9F0"/>
                </a:solidFill>
                <a:latin typeface="IBM Plex Sans Arabic"/>
                <a:ea typeface="IBM Plex Sans Arabic"/>
                <a:cs typeface="IBM Plex Sans Arabic"/>
              </a:rPr>
              <a:t>قانون الخصوصية الأوروبي GDPR</a:t>
            </a:r>
          </a:p>
        </p:txBody>
      </p:sp>
      <p:sp>
        <p:nvSpPr>
          <p:cNvPr id="11" name="Text 10"/>
          <p:cNvSpPr txBox="1"/>
          <p:nvPr/>
        </p:nvSpPr>
        <p:spPr>
          <a:xfrm>
            <a:off x="7984034" y="2628098"/>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الخبرة</a:t>
            </a:r>
          </a:p>
        </p:txBody>
      </p:sp>
      <p:sp>
        <p:nvSpPr>
          <p:cNvPr id="12" name="Text 11"/>
          <p:cNvSpPr txBox="1"/>
          <p:nvPr/>
        </p:nvSpPr>
        <p:spPr>
          <a:xfrm>
            <a:off x="7984034" y="2854119"/>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لا شرط مذكور</a:t>
            </a:r>
          </a:p>
        </p:txBody>
      </p:sp>
      <p:sp>
        <p:nvSpPr>
          <p:cNvPr id="13" name="Text 12"/>
          <p:cNvSpPr txBox="1"/>
          <p:nvPr/>
        </p:nvSpPr>
        <p:spPr>
          <a:xfrm>
            <a:off x="7984034" y="3130939"/>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الاختبار</a:t>
            </a:r>
          </a:p>
        </p:txBody>
      </p:sp>
      <p:sp>
        <p:nvSpPr>
          <p:cNvPr id="14" name="Text 13"/>
          <p:cNvSpPr txBox="1"/>
          <p:nvPr/>
        </p:nvSpPr>
        <p:spPr>
          <a:xfrm>
            <a:off x="7984034" y="3356959"/>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90 سؤالاً في ساعتين ونصف</a:t>
            </a:r>
          </a:p>
        </p:txBody>
      </p:sp>
      <p:sp>
        <p:nvSpPr>
          <p:cNvPr id="15" name="Text 14"/>
          <p:cNvSpPr txBox="1"/>
          <p:nvPr/>
        </p:nvSpPr>
        <p:spPr>
          <a:xfrm>
            <a:off x="7984034" y="3633780"/>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الرسوم</a:t>
            </a:r>
          </a:p>
        </p:txBody>
      </p:sp>
      <p:sp>
        <p:nvSpPr>
          <p:cNvPr id="16" name="Text 15"/>
          <p:cNvSpPr txBox="1"/>
          <p:nvPr/>
        </p:nvSpPr>
        <p:spPr>
          <a:xfrm>
            <a:off x="7984034" y="3859800"/>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550 دولاراً للأعضاء وغيرهم</a:t>
            </a:r>
          </a:p>
        </p:txBody>
      </p:sp>
      <p:sp>
        <p:nvSpPr>
          <p:cNvPr id="17" name="Text 16"/>
          <p:cNvSpPr txBox="1"/>
          <p:nvPr/>
        </p:nvSpPr>
        <p:spPr>
          <a:xfrm>
            <a:off x="7984034" y="4136620"/>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التجديد</a:t>
            </a:r>
          </a:p>
        </p:txBody>
      </p:sp>
      <p:sp>
        <p:nvSpPr>
          <p:cNvPr id="18" name="Text 17"/>
          <p:cNvSpPr txBox="1"/>
          <p:nvPr/>
        </p:nvSpPr>
        <p:spPr>
          <a:xfrm>
            <a:off x="8024292" y="4362640"/>
            <a:ext cx="3196158"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20 ساعة CPE و250 دولاراً كل سنتين، أو عضوية 295 سنوياً</a:t>
            </a:r>
          </a:p>
        </p:txBody>
      </p:sp>
      <p:sp>
        <p:nvSpPr>
          <p:cNvPr id="19" name="Box 18"/>
          <p:cNvSpPr/>
          <p:nvPr/>
        </p:nvSpPr>
        <p:spPr>
          <a:xfrm>
            <a:off x="4388842" y="1810345"/>
            <a:ext cx="3414216" cy="3132733"/>
          </a:xfrm>
          <a:prstGeom prst="roundRect">
            <a:avLst>
              <a:gd name="adj" fmla="val 3641"/>
            </a:avLst>
          </a:prstGeom>
          <a:solidFill>
            <a:srgbClr val="FFFDF8"/>
          </a:solidFill>
          <a:ln w="6350">
            <a:solidFill>
              <a:srgbClr val="E1DBCD"/>
            </a:solidFill>
          </a:ln>
        </p:spPr>
        <p:txBody>
          <a:bodyPr rtlCol="0" anchor="ctr"/>
          <a:lstStyle/>
          <a:p>
            <a:pPr algn="ctr"/>
          </a:p>
        </p:txBody>
      </p:sp>
      <p:sp>
        <p:nvSpPr>
          <p:cNvPr id="20" name="Box 19"/>
          <p:cNvSpPr/>
          <p:nvPr/>
        </p:nvSpPr>
        <p:spPr>
          <a:xfrm>
            <a:off x="4392017" y="1813520"/>
            <a:ext cx="3407866" cy="711200"/>
          </a:xfrm>
          <a:prstGeom prst="round2SameRect">
            <a:avLst>
              <a:gd name="adj1" fmla="val 15178"/>
              <a:gd name="adj2" fmla="val 0"/>
            </a:avLst>
          </a:prstGeom>
          <a:solidFill>
            <a:srgbClr val="5A3F87"/>
          </a:solidFill>
          <a:ln>
            <a:noFill/>
          </a:ln>
        </p:spPr>
        <p:txBody>
          <a:bodyPr rtlCol="0" anchor="ctr"/>
          <a:lstStyle/>
          <a:p>
            <a:pPr algn="ctr"/>
          </a:p>
        </p:txBody>
      </p:sp>
      <p:sp>
        <p:nvSpPr>
          <p:cNvPr id="21" name="Box 20"/>
          <p:cNvSpPr/>
          <p:nvPr/>
        </p:nvSpPr>
        <p:spPr>
          <a:xfrm>
            <a:off x="6885484" y="1927820"/>
            <a:ext cx="762000" cy="482600"/>
          </a:xfrm>
          <a:prstGeom prst="roundRect">
            <a:avLst>
              <a:gd name="adj" fmla="val 21052"/>
            </a:avLst>
          </a:prstGeom>
          <a:solidFill>
            <a:srgbClr val="FFFDF8"/>
          </a:solidFill>
          <a:ln>
            <a:noFill/>
          </a:ln>
        </p:spPr>
        <p:txBody>
          <a:bodyPr rtlCol="0" anchor="ctr"/>
          <a:lstStyle/>
          <a:p>
            <a:pPr algn="ctr"/>
          </a:p>
        </p:txBody>
      </p:sp>
      <p:sp>
        <p:nvSpPr>
          <p:cNvPr id="22" name="Text 21"/>
          <p:cNvSpPr txBox="1"/>
          <p:nvPr/>
        </p:nvSpPr>
        <p:spPr>
          <a:xfrm>
            <a:off x="6911856" y="2095333"/>
            <a:ext cx="602476" cy="177800"/>
          </a:xfrm>
          <a:prstGeom prst="rect">
            <a:avLst/>
          </a:prstGeom>
          <a:noFill/>
        </p:spPr>
        <p:txBody>
          <a:bodyPr wrap="square" tIns="0" rIns="0" bIns="0" lIns="0" anchor="t" rtlCol="0" anchorCtr="0">
            <a:noAutofit/>
          </a:bodyPr>
          <a:lstStyle/>
          <a:p>
            <a:pPr algn="r">
              <a:lnSpc>
                <a:spcPts val="1400"/>
              </a:lnSpc>
              <a:spcBef>
                <a:spcPts val="0"/>
              </a:spcBef>
              <a:spcAft>
                <a:spcPts val="0"/>
              </a:spcAft>
            </a:pPr>
            <a:r>
              <a:rPr sz="1400" b="1" i="0">
                <a:solidFill>
                  <a:srgbClr val="5A3F87"/>
                </a:solidFill>
                <a:latin typeface="Readex Pro"/>
                <a:ea typeface="Readex Pro"/>
                <a:cs typeface="Readex Pro"/>
              </a:rPr>
              <a:t>CIPM</a:t>
            </a:r>
          </a:p>
        </p:txBody>
      </p:sp>
      <p:sp>
        <p:nvSpPr>
          <p:cNvPr id="23" name="Text 22"/>
          <p:cNvSpPr txBox="1"/>
          <p:nvPr/>
        </p:nvSpPr>
        <p:spPr>
          <a:xfrm>
            <a:off x="4417417" y="1932833"/>
            <a:ext cx="2353766"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400" b="1" i="0">
                <a:solidFill>
                  <a:srgbClr val="F3EFE6"/>
                </a:solidFill>
                <a:latin typeface="Readex Pro"/>
                <a:ea typeface="Readex Pro"/>
                <a:cs typeface="Readex Pro"/>
              </a:rPr>
              <a:t>IAPP</a:t>
            </a:r>
          </a:p>
        </p:txBody>
      </p:sp>
      <p:sp>
        <p:nvSpPr>
          <p:cNvPr id="24" name="Text 23"/>
          <p:cNvSpPr txBox="1"/>
          <p:nvPr/>
        </p:nvSpPr>
        <p:spPr>
          <a:xfrm>
            <a:off x="4417417" y="2168358"/>
            <a:ext cx="2353766"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E2D9F0"/>
                </a:solidFill>
                <a:latin typeface="IBM Plex Sans Arabic"/>
                <a:ea typeface="IBM Plex Sans Arabic"/>
                <a:cs typeface="IBM Plex Sans Arabic"/>
              </a:rPr>
              <a:t>إدارة برنامج الخصوصية في الجهة</a:t>
            </a:r>
          </a:p>
        </p:txBody>
      </p:sp>
      <p:sp>
        <p:nvSpPr>
          <p:cNvPr id="25" name="Text 24"/>
          <p:cNvSpPr txBox="1"/>
          <p:nvPr/>
        </p:nvSpPr>
        <p:spPr>
          <a:xfrm>
            <a:off x="4411067" y="2628098"/>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الخبرة</a:t>
            </a:r>
          </a:p>
        </p:txBody>
      </p:sp>
      <p:sp>
        <p:nvSpPr>
          <p:cNvPr id="26" name="Text 25"/>
          <p:cNvSpPr txBox="1"/>
          <p:nvPr/>
        </p:nvSpPr>
        <p:spPr>
          <a:xfrm>
            <a:off x="4411067" y="2854119"/>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لا شرط مذكور</a:t>
            </a:r>
          </a:p>
        </p:txBody>
      </p:sp>
      <p:sp>
        <p:nvSpPr>
          <p:cNvPr id="27" name="Text 26"/>
          <p:cNvSpPr txBox="1"/>
          <p:nvPr/>
        </p:nvSpPr>
        <p:spPr>
          <a:xfrm>
            <a:off x="4411067" y="3130939"/>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الاختبار</a:t>
            </a:r>
          </a:p>
        </p:txBody>
      </p:sp>
      <p:sp>
        <p:nvSpPr>
          <p:cNvPr id="28" name="Text 27"/>
          <p:cNvSpPr txBox="1"/>
          <p:nvPr/>
        </p:nvSpPr>
        <p:spPr>
          <a:xfrm>
            <a:off x="4411067" y="3356959"/>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90 سؤالاً في ساعتين ونصف</a:t>
            </a:r>
          </a:p>
        </p:txBody>
      </p:sp>
      <p:sp>
        <p:nvSpPr>
          <p:cNvPr id="29" name="Text 28"/>
          <p:cNvSpPr txBox="1"/>
          <p:nvPr/>
        </p:nvSpPr>
        <p:spPr>
          <a:xfrm>
            <a:off x="4411067" y="3633780"/>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الرسوم</a:t>
            </a:r>
          </a:p>
        </p:txBody>
      </p:sp>
      <p:sp>
        <p:nvSpPr>
          <p:cNvPr id="30" name="Text 29"/>
          <p:cNvSpPr txBox="1"/>
          <p:nvPr/>
        </p:nvSpPr>
        <p:spPr>
          <a:xfrm>
            <a:off x="4411067" y="3859800"/>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550 دولاراً للأعضاء وغيرهم</a:t>
            </a:r>
          </a:p>
        </p:txBody>
      </p:sp>
      <p:sp>
        <p:nvSpPr>
          <p:cNvPr id="31" name="Text 30"/>
          <p:cNvSpPr txBox="1"/>
          <p:nvPr/>
        </p:nvSpPr>
        <p:spPr>
          <a:xfrm>
            <a:off x="4411067" y="4136620"/>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التجديد</a:t>
            </a:r>
          </a:p>
        </p:txBody>
      </p:sp>
      <p:sp>
        <p:nvSpPr>
          <p:cNvPr id="32" name="Text 31"/>
          <p:cNvSpPr txBox="1"/>
          <p:nvPr/>
        </p:nvSpPr>
        <p:spPr>
          <a:xfrm>
            <a:off x="4411067" y="4362640"/>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مثل ‎CIPP/E‎: كل سنتين</a:t>
            </a:r>
          </a:p>
        </p:txBody>
      </p:sp>
      <p:sp>
        <p:nvSpPr>
          <p:cNvPr id="33" name="Box 32"/>
          <p:cNvSpPr/>
          <p:nvPr/>
        </p:nvSpPr>
        <p:spPr>
          <a:xfrm>
            <a:off x="815876" y="1810345"/>
            <a:ext cx="3414216" cy="3132733"/>
          </a:xfrm>
          <a:prstGeom prst="roundRect">
            <a:avLst>
              <a:gd name="adj" fmla="val 3641"/>
            </a:avLst>
          </a:prstGeom>
          <a:solidFill>
            <a:srgbClr val="FFFDF8"/>
          </a:solidFill>
          <a:ln w="6350">
            <a:solidFill>
              <a:srgbClr val="E1DBCD"/>
            </a:solidFill>
          </a:ln>
        </p:spPr>
        <p:txBody>
          <a:bodyPr rtlCol="0" anchor="ctr"/>
          <a:lstStyle/>
          <a:p>
            <a:pPr algn="ctr"/>
          </a:p>
        </p:txBody>
      </p:sp>
      <p:sp>
        <p:nvSpPr>
          <p:cNvPr id="34" name="Box 33"/>
          <p:cNvSpPr/>
          <p:nvPr/>
        </p:nvSpPr>
        <p:spPr>
          <a:xfrm>
            <a:off x="819051" y="1813520"/>
            <a:ext cx="3407866" cy="711200"/>
          </a:xfrm>
          <a:prstGeom prst="round2SameRect">
            <a:avLst>
              <a:gd name="adj1" fmla="val 15178"/>
              <a:gd name="adj2" fmla="val 0"/>
            </a:avLst>
          </a:prstGeom>
          <a:solidFill>
            <a:srgbClr val="0E6B5C"/>
          </a:solidFill>
          <a:ln>
            <a:noFill/>
          </a:ln>
        </p:spPr>
        <p:txBody>
          <a:bodyPr rtlCol="0" anchor="ctr"/>
          <a:lstStyle/>
          <a:p>
            <a:pPr algn="ctr"/>
          </a:p>
        </p:txBody>
      </p:sp>
      <p:sp>
        <p:nvSpPr>
          <p:cNvPr id="35" name="Box 34"/>
          <p:cNvSpPr/>
          <p:nvPr/>
        </p:nvSpPr>
        <p:spPr>
          <a:xfrm>
            <a:off x="3312517" y="1927820"/>
            <a:ext cx="762000" cy="482600"/>
          </a:xfrm>
          <a:prstGeom prst="roundRect">
            <a:avLst>
              <a:gd name="adj" fmla="val 21052"/>
            </a:avLst>
          </a:prstGeom>
          <a:solidFill>
            <a:srgbClr val="FFFDF8"/>
          </a:solidFill>
          <a:ln>
            <a:noFill/>
          </a:ln>
        </p:spPr>
        <p:txBody>
          <a:bodyPr rtlCol="0" anchor="ctr"/>
          <a:lstStyle/>
          <a:p>
            <a:pPr algn="ctr"/>
          </a:p>
        </p:txBody>
      </p:sp>
      <p:sp>
        <p:nvSpPr>
          <p:cNvPr id="36" name="Text 35"/>
          <p:cNvSpPr txBox="1"/>
          <p:nvPr/>
        </p:nvSpPr>
        <p:spPr>
          <a:xfrm>
            <a:off x="3337917" y="2095333"/>
            <a:ext cx="658515" cy="177800"/>
          </a:xfrm>
          <a:prstGeom prst="rect">
            <a:avLst/>
          </a:prstGeom>
          <a:noFill/>
        </p:spPr>
        <p:txBody>
          <a:bodyPr wrap="square" tIns="0" rIns="0" bIns="0" lIns="0" anchor="t" rtlCol="0" anchorCtr="0">
            <a:noAutofit/>
          </a:bodyPr>
          <a:lstStyle/>
          <a:p>
            <a:pPr algn="r">
              <a:lnSpc>
                <a:spcPts val="1400"/>
              </a:lnSpc>
              <a:spcBef>
                <a:spcPts val="0"/>
              </a:spcBef>
              <a:spcAft>
                <a:spcPts val="0"/>
              </a:spcAft>
            </a:pPr>
            <a:r>
              <a:rPr sz="1400" b="1" i="0">
                <a:solidFill>
                  <a:srgbClr val="0E6B5C"/>
                </a:solidFill>
                <a:latin typeface="Readex Pro"/>
                <a:ea typeface="Readex Pro"/>
                <a:cs typeface="Readex Pro"/>
              </a:rPr>
              <a:t>CDPSE</a:t>
            </a:r>
          </a:p>
        </p:txBody>
      </p:sp>
      <p:sp>
        <p:nvSpPr>
          <p:cNvPr id="37" name="Text 36"/>
          <p:cNvSpPr txBox="1"/>
          <p:nvPr/>
        </p:nvSpPr>
        <p:spPr>
          <a:xfrm>
            <a:off x="844451" y="1932833"/>
            <a:ext cx="2353766"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400" b="1" i="0">
                <a:solidFill>
                  <a:srgbClr val="F3EFE6"/>
                </a:solidFill>
                <a:latin typeface="Readex Pro"/>
                <a:ea typeface="Readex Pro"/>
                <a:cs typeface="Readex Pro"/>
              </a:rPr>
              <a:t>ISACA</a:t>
            </a:r>
          </a:p>
        </p:txBody>
      </p:sp>
      <p:sp>
        <p:nvSpPr>
          <p:cNvPr id="38" name="Text 37"/>
          <p:cNvSpPr txBox="1"/>
          <p:nvPr/>
        </p:nvSpPr>
        <p:spPr>
          <a:xfrm>
            <a:off x="844451" y="2168358"/>
            <a:ext cx="2353766"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CFEAE3"/>
                </a:solidFill>
                <a:latin typeface="IBM Plex Sans Arabic"/>
                <a:ea typeface="IBM Plex Sans Arabic"/>
                <a:cs typeface="IBM Plex Sans Arabic"/>
              </a:rPr>
              <a:t>الهندسة التقنية للخصوصية</a:t>
            </a:r>
          </a:p>
        </p:txBody>
      </p:sp>
      <p:sp>
        <p:nvSpPr>
          <p:cNvPr id="39" name="Text 38"/>
          <p:cNvSpPr txBox="1"/>
          <p:nvPr/>
        </p:nvSpPr>
        <p:spPr>
          <a:xfrm>
            <a:off x="838101" y="2628098"/>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الخبرة</a:t>
            </a:r>
          </a:p>
        </p:txBody>
      </p:sp>
      <p:sp>
        <p:nvSpPr>
          <p:cNvPr id="40" name="Text 39"/>
          <p:cNvSpPr txBox="1"/>
          <p:nvPr/>
        </p:nvSpPr>
        <p:spPr>
          <a:xfrm>
            <a:off x="838101" y="2854119"/>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3 سنوات في الخصوصية، بلا إعفاء</a:t>
            </a:r>
          </a:p>
        </p:txBody>
      </p:sp>
      <p:sp>
        <p:nvSpPr>
          <p:cNvPr id="41" name="Text 40"/>
          <p:cNvSpPr txBox="1"/>
          <p:nvPr/>
        </p:nvSpPr>
        <p:spPr>
          <a:xfrm>
            <a:off x="838101" y="3130939"/>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الاختبار</a:t>
            </a:r>
          </a:p>
        </p:txBody>
      </p:sp>
      <p:sp>
        <p:nvSpPr>
          <p:cNvPr id="42" name="Text 41"/>
          <p:cNvSpPr txBox="1"/>
          <p:nvPr/>
        </p:nvSpPr>
        <p:spPr>
          <a:xfrm>
            <a:off x="838101" y="3356959"/>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120 سؤالاً في 3 ساعات ونصف</a:t>
            </a:r>
          </a:p>
        </p:txBody>
      </p:sp>
      <p:sp>
        <p:nvSpPr>
          <p:cNvPr id="43" name="Text 42"/>
          <p:cNvSpPr txBox="1"/>
          <p:nvPr/>
        </p:nvSpPr>
        <p:spPr>
          <a:xfrm>
            <a:off x="838101" y="3633780"/>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الرسوم</a:t>
            </a:r>
          </a:p>
        </p:txBody>
      </p:sp>
      <p:sp>
        <p:nvSpPr>
          <p:cNvPr id="44" name="Text 43"/>
          <p:cNvSpPr txBox="1"/>
          <p:nvPr/>
        </p:nvSpPr>
        <p:spPr>
          <a:xfrm>
            <a:off x="838101" y="3859800"/>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575 دولاراً للأعضاء و760 لغيرهم</a:t>
            </a:r>
          </a:p>
        </p:txBody>
      </p:sp>
      <p:sp>
        <p:nvSpPr>
          <p:cNvPr id="45" name="Text 44"/>
          <p:cNvSpPr txBox="1"/>
          <p:nvPr/>
        </p:nvSpPr>
        <p:spPr>
          <a:xfrm>
            <a:off x="838101" y="4136620"/>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التجديد</a:t>
            </a:r>
          </a:p>
        </p:txBody>
      </p:sp>
      <p:sp>
        <p:nvSpPr>
          <p:cNvPr id="46" name="Text 45"/>
          <p:cNvSpPr txBox="1"/>
          <p:nvPr/>
        </p:nvSpPr>
        <p:spPr>
          <a:xfrm>
            <a:off x="838101" y="4362640"/>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20 ساعة CPE سنوياً، ورسم 45 أو 85 دولاراً</a:t>
            </a:r>
          </a:p>
        </p:txBody>
      </p:sp>
      <p:sp>
        <p:nvSpPr>
          <p:cNvPr id="47" name="Box 46"/>
          <p:cNvSpPr/>
          <p:nvPr/>
        </p:nvSpPr>
        <p:spPr>
          <a:xfrm>
            <a:off x="812800" y="5098653"/>
            <a:ext cx="10566400" cy="391120"/>
          </a:xfrm>
          <a:prstGeom prst="roundRect">
            <a:avLst>
              <a:gd name="adj" fmla="val 22729"/>
            </a:avLst>
          </a:prstGeom>
          <a:solidFill>
            <a:srgbClr val="172433"/>
          </a:solidFill>
          <a:ln>
            <a:noFill/>
          </a:ln>
        </p:spPr>
        <p:txBody>
          <a:bodyPr rtlCol="0" anchor="ctr"/>
          <a:lstStyle/>
          <a:p>
            <a:pPr algn="ctr"/>
          </a:p>
        </p:txBody>
      </p:sp>
      <p:pic>
        <p:nvPicPr>
          <p:cNvPr id="48" name="Icon Lock 47" descr="icon043.png"/>
          <p:cNvPicPr>
            <a:picLocks noChangeAspect="1"/>
          </p:cNvPicPr>
          <p:nvPr/>
        </p:nvPicPr>
        <p:blipFill>
          <a:blip r:embed="rId2"/>
          <a:stretch>
            <a:fillRect/>
          </a:stretch>
        </p:blipFill>
        <p:spPr>
          <a:xfrm>
            <a:off x="11049000" y="5205313"/>
            <a:ext cx="177800" cy="177800"/>
          </a:xfrm>
          <a:prstGeom prst="rect">
            <a:avLst/>
          </a:prstGeom>
        </p:spPr>
      </p:pic>
      <p:sp>
        <p:nvSpPr>
          <p:cNvPr id="49" name="Text 48"/>
          <p:cNvSpPr txBox="1"/>
          <p:nvPr/>
        </p:nvSpPr>
        <p:spPr>
          <a:xfrm>
            <a:off x="838200" y="5163931"/>
            <a:ext cx="101219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F3EFE6"/>
                </a:solidFill>
                <a:latin typeface="IBM Plex Sans Arabic"/>
                <a:ea typeface="IBM Plex Sans Arabic"/>
                <a:cs typeface="IBM Plex Sans Arabic"/>
              </a:rPr>
              <a:t>شهادات IAPP مبنية على GDPR. كثير من مبادئه قريبة من النظام السعودي، لكنها لا تغني عن قراءة نظام حماية البيانات الشخصية ولوائحه.</a:t>
            </a:r>
          </a:p>
        </p:txBody>
      </p:sp>
      <p:sp>
        <p:nvSpPr>
          <p:cNvPr id="50" name="Text 49"/>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05 · الشهادات · الأسعار بالدولار الأمريكي كما في 27 أكتوبر 2026</a:t>
            </a:r>
          </a:p>
        </p:txBody>
      </p:sp>
      <p:sp>
        <p:nvSpPr>
          <p:cNvPr id="51" name="Text 50"/>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798844" y="812800"/>
            <a:ext cx="1580356"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المقارنة: كم سنة خبرة تحتاج، وكم تدفع؟</a:t>
            </a:r>
          </a:p>
        </p:txBody>
      </p:sp>
      <p:sp>
        <p:nvSpPr>
          <p:cNvPr id="5" name="Box 4"/>
          <p:cNvSpPr/>
          <p:nvPr/>
        </p:nvSpPr>
        <p:spPr>
          <a:xfrm>
            <a:off x="7465020" y="1807170"/>
            <a:ext cx="3914180" cy="2254151"/>
          </a:xfrm>
          <a:prstGeom prst="roundRect">
            <a:avLst>
              <a:gd name="adj" fmla="val 4507"/>
            </a:avLst>
          </a:prstGeom>
          <a:solidFill>
            <a:srgbClr val="FFFDF8"/>
          </a:solidFill>
          <a:ln>
            <a:noFill/>
          </a:ln>
        </p:spPr>
        <p:txBody>
          <a:bodyPr rtlCol="0" anchor="ctr"/>
          <a:lstStyle/>
          <a:p>
            <a:pPr algn="ctr"/>
          </a:p>
        </p:txBody>
      </p:sp>
      <p:sp>
        <p:nvSpPr>
          <p:cNvPr id="6" name="Rule 5"/>
          <p:cNvSpPr/>
          <p:nvPr/>
        </p:nvSpPr>
        <p:spPr>
          <a:xfrm>
            <a:off x="7465020" y="1807170"/>
            <a:ext cx="3914180" cy="50800"/>
          </a:xfrm>
          <a:prstGeom prst="rect">
            <a:avLst/>
          </a:prstGeom>
          <a:solidFill>
            <a:srgbClr val="0E7C6B"/>
          </a:solidFill>
          <a:ln>
            <a:noFill/>
          </a:ln>
        </p:spPr>
        <p:txBody>
          <a:bodyPr rtlCol="0" anchor="ctr"/>
          <a:lstStyle/>
          <a:p>
            <a:pPr algn="ctr"/>
          </a:p>
        </p:txBody>
      </p:sp>
      <p:sp>
        <p:nvSpPr>
          <p:cNvPr id="7" name="Rule 6"/>
          <p:cNvSpPr/>
          <p:nvPr/>
        </p:nvSpPr>
        <p:spPr>
          <a:xfrm>
            <a:off x="11372850" y="1807170"/>
            <a:ext cx="6350" cy="2254151"/>
          </a:xfrm>
          <a:prstGeom prst="rect">
            <a:avLst/>
          </a:prstGeom>
          <a:solidFill>
            <a:srgbClr val="E1DBCD"/>
          </a:solidFill>
          <a:ln>
            <a:noFill/>
          </a:ln>
        </p:spPr>
        <p:txBody>
          <a:bodyPr rtlCol="0" anchor="ctr"/>
          <a:lstStyle/>
          <a:p>
            <a:pPr algn="ctr"/>
          </a:p>
        </p:txBody>
      </p:sp>
      <p:sp>
        <p:nvSpPr>
          <p:cNvPr id="8" name="Rule 7"/>
          <p:cNvSpPr/>
          <p:nvPr/>
        </p:nvSpPr>
        <p:spPr>
          <a:xfrm>
            <a:off x="7465020" y="4054971"/>
            <a:ext cx="3914180" cy="6350"/>
          </a:xfrm>
          <a:prstGeom prst="rect">
            <a:avLst/>
          </a:prstGeom>
          <a:solidFill>
            <a:srgbClr val="E1DBCD"/>
          </a:solidFill>
          <a:ln>
            <a:noFill/>
          </a:ln>
        </p:spPr>
        <p:txBody>
          <a:bodyPr rtlCol="0" anchor="ctr"/>
          <a:lstStyle/>
          <a:p>
            <a:pPr algn="ctr"/>
          </a:p>
        </p:txBody>
      </p:sp>
      <p:sp>
        <p:nvSpPr>
          <p:cNvPr id="9" name="Rule 8"/>
          <p:cNvSpPr/>
          <p:nvPr/>
        </p:nvSpPr>
        <p:spPr>
          <a:xfrm>
            <a:off x="7465020" y="1807170"/>
            <a:ext cx="6350" cy="2254151"/>
          </a:xfrm>
          <a:prstGeom prst="rect">
            <a:avLst/>
          </a:prstGeom>
          <a:solidFill>
            <a:srgbClr val="E1DBCD"/>
          </a:solidFill>
          <a:ln>
            <a:noFill/>
          </a:ln>
        </p:spPr>
        <p:txBody>
          <a:bodyPr rtlCol="0" anchor="ctr"/>
          <a:lstStyle/>
          <a:p>
            <a:pPr algn="ctr"/>
          </a:p>
        </p:txBody>
      </p:sp>
      <p:sp>
        <p:nvSpPr>
          <p:cNvPr id="10" name="Text 9"/>
          <p:cNvSpPr txBox="1"/>
          <p:nvPr/>
        </p:nvSpPr>
        <p:spPr>
          <a:xfrm>
            <a:off x="10858083" y="2010878"/>
            <a:ext cx="387767" cy="304800"/>
          </a:xfrm>
          <a:prstGeom prst="rect">
            <a:avLst/>
          </a:prstGeom>
          <a:noFill/>
        </p:spPr>
        <p:txBody>
          <a:bodyPr wrap="square" tIns="0" rIns="0" bIns="0" lIns="0" anchor="t" rtlCol="0" anchorCtr="0">
            <a:noAutofit/>
          </a:bodyPr>
          <a:lstStyle/>
          <a:p>
            <a:pPr algn="r">
              <a:lnSpc>
                <a:spcPts val="2400"/>
              </a:lnSpc>
              <a:spcBef>
                <a:spcPts val="0"/>
              </a:spcBef>
              <a:spcAft>
                <a:spcPts val="0"/>
              </a:spcAft>
            </a:pPr>
            <a:r>
              <a:rPr sz="2400" b="1" i="0">
                <a:solidFill>
                  <a:srgbClr val="0E7C6B"/>
                </a:solidFill>
                <a:latin typeface="Readex Pro"/>
                <a:ea typeface="Readex Pro"/>
                <a:cs typeface="Readex Pro"/>
              </a:rPr>
              <a:t>0</a:t>
            </a:r>
          </a:p>
        </p:txBody>
      </p:sp>
      <p:sp>
        <p:nvSpPr>
          <p:cNvPr id="11" name="Text 10"/>
          <p:cNvSpPr txBox="1"/>
          <p:nvPr/>
        </p:nvSpPr>
        <p:spPr>
          <a:xfrm>
            <a:off x="10394117" y="2075585"/>
            <a:ext cx="570647"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172433"/>
                </a:solidFill>
                <a:latin typeface="IBM Plex Sans Arabic"/>
                <a:ea typeface="IBM Plex Sans Arabic"/>
                <a:cs typeface="IBM Plex Sans Arabic"/>
              </a:rPr>
              <a:t>بلا خبرة</a:t>
            </a:r>
          </a:p>
        </p:txBody>
      </p:sp>
      <p:sp>
        <p:nvSpPr>
          <p:cNvPr id="12" name="Box 11"/>
          <p:cNvSpPr/>
          <p:nvPr/>
        </p:nvSpPr>
        <p:spPr>
          <a:xfrm>
            <a:off x="9460210" y="2396430"/>
            <a:ext cx="1785640" cy="316210"/>
          </a:xfrm>
          <a:prstGeom prst="roundRect">
            <a:avLst>
              <a:gd name="adj" fmla="val 20081"/>
            </a:avLst>
          </a:prstGeom>
          <a:solidFill>
            <a:srgbClr val="E3F1ED"/>
          </a:solidFill>
          <a:ln>
            <a:noFill/>
          </a:ln>
        </p:spPr>
        <p:txBody>
          <a:bodyPr rtlCol="0" anchor="ctr"/>
          <a:lstStyle/>
          <a:p>
            <a:pPr algn="ctr"/>
          </a:p>
        </p:txBody>
      </p:sp>
      <p:sp>
        <p:nvSpPr>
          <p:cNvPr id="13" name="Text 12"/>
          <p:cNvSpPr txBox="1"/>
          <p:nvPr/>
        </p:nvSpPr>
        <p:spPr>
          <a:xfrm>
            <a:off x="10816292" y="2436499"/>
            <a:ext cx="327958"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CC</a:t>
            </a:r>
          </a:p>
        </p:txBody>
      </p:sp>
      <p:sp>
        <p:nvSpPr>
          <p:cNvPr id="14" name="Text 13"/>
          <p:cNvSpPr txBox="1"/>
          <p:nvPr/>
        </p:nvSpPr>
        <p:spPr>
          <a:xfrm>
            <a:off x="9485610" y="2439464"/>
            <a:ext cx="35054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199</a:t>
            </a:r>
          </a:p>
        </p:txBody>
      </p:sp>
      <p:sp>
        <p:nvSpPr>
          <p:cNvPr id="15" name="Box 14"/>
          <p:cNvSpPr/>
          <p:nvPr/>
        </p:nvSpPr>
        <p:spPr>
          <a:xfrm>
            <a:off x="9460210" y="2776141"/>
            <a:ext cx="1785640" cy="316210"/>
          </a:xfrm>
          <a:prstGeom prst="roundRect">
            <a:avLst>
              <a:gd name="adj" fmla="val 20081"/>
            </a:avLst>
          </a:prstGeom>
          <a:solidFill>
            <a:srgbClr val="E3F1ED"/>
          </a:solidFill>
          <a:ln>
            <a:noFill/>
          </a:ln>
        </p:spPr>
        <p:txBody>
          <a:bodyPr rtlCol="0" anchor="ctr"/>
          <a:lstStyle/>
          <a:p>
            <a:pPr algn="ctr"/>
          </a:p>
        </p:txBody>
      </p:sp>
      <p:sp>
        <p:nvSpPr>
          <p:cNvPr id="16" name="Text 15"/>
          <p:cNvSpPr txBox="1"/>
          <p:nvPr/>
        </p:nvSpPr>
        <p:spPr>
          <a:xfrm>
            <a:off x="10252035" y="2816209"/>
            <a:ext cx="892215"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Security+</a:t>
            </a:r>
          </a:p>
        </p:txBody>
      </p:sp>
      <p:sp>
        <p:nvSpPr>
          <p:cNvPr id="17" name="Text 16"/>
          <p:cNvSpPr txBox="1"/>
          <p:nvPr/>
        </p:nvSpPr>
        <p:spPr>
          <a:xfrm>
            <a:off x="9485610" y="2819174"/>
            <a:ext cx="546596"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4E5A66"/>
                </a:solidFill>
                <a:latin typeface="IBM Plex Sans Arabic"/>
                <a:ea typeface="IBM Plex Sans Arabic"/>
                <a:cs typeface="IBM Plex Sans Arabic"/>
              </a:rPr>
              <a:t>غير مؤكد</a:t>
            </a:r>
          </a:p>
        </p:txBody>
      </p:sp>
      <p:sp>
        <p:nvSpPr>
          <p:cNvPr id="18" name="Box 17"/>
          <p:cNvSpPr/>
          <p:nvPr/>
        </p:nvSpPr>
        <p:spPr>
          <a:xfrm>
            <a:off x="9460210" y="3155851"/>
            <a:ext cx="1785640" cy="316210"/>
          </a:xfrm>
          <a:prstGeom prst="roundRect">
            <a:avLst>
              <a:gd name="adj" fmla="val 20081"/>
            </a:avLst>
          </a:prstGeom>
          <a:solidFill>
            <a:srgbClr val="E3F1ED"/>
          </a:solidFill>
          <a:ln>
            <a:noFill/>
          </a:ln>
        </p:spPr>
        <p:txBody>
          <a:bodyPr rtlCol="0" anchor="ctr"/>
          <a:lstStyle/>
          <a:p>
            <a:pPr algn="ctr"/>
          </a:p>
        </p:txBody>
      </p:sp>
      <p:sp>
        <p:nvSpPr>
          <p:cNvPr id="19" name="Text 18"/>
          <p:cNvSpPr txBox="1"/>
          <p:nvPr/>
        </p:nvSpPr>
        <p:spPr>
          <a:xfrm>
            <a:off x="9924613" y="3195919"/>
            <a:ext cx="1219637"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IT Risk Fund.</a:t>
            </a:r>
          </a:p>
        </p:txBody>
      </p:sp>
      <p:sp>
        <p:nvSpPr>
          <p:cNvPr id="20" name="Text 19"/>
          <p:cNvSpPr txBox="1"/>
          <p:nvPr/>
        </p:nvSpPr>
        <p:spPr>
          <a:xfrm>
            <a:off x="9485610" y="3198884"/>
            <a:ext cx="35054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225</a:t>
            </a:r>
          </a:p>
        </p:txBody>
      </p:sp>
      <p:sp>
        <p:nvSpPr>
          <p:cNvPr id="21" name="Box 20"/>
          <p:cNvSpPr/>
          <p:nvPr/>
        </p:nvSpPr>
        <p:spPr>
          <a:xfrm>
            <a:off x="9460210" y="3535561"/>
            <a:ext cx="1785640" cy="316210"/>
          </a:xfrm>
          <a:prstGeom prst="roundRect">
            <a:avLst>
              <a:gd name="adj" fmla="val 20081"/>
            </a:avLst>
          </a:prstGeom>
          <a:solidFill>
            <a:srgbClr val="E3F1ED"/>
          </a:solidFill>
          <a:ln>
            <a:noFill/>
          </a:ln>
        </p:spPr>
        <p:txBody>
          <a:bodyPr rtlCol="0" anchor="ctr"/>
          <a:lstStyle/>
          <a:p>
            <a:pPr algn="ctr"/>
          </a:p>
        </p:txBody>
      </p:sp>
      <p:sp>
        <p:nvSpPr>
          <p:cNvPr id="22" name="Text 21"/>
          <p:cNvSpPr txBox="1"/>
          <p:nvPr/>
        </p:nvSpPr>
        <p:spPr>
          <a:xfrm>
            <a:off x="10577870" y="3575629"/>
            <a:ext cx="56638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GRCP</a:t>
            </a:r>
          </a:p>
        </p:txBody>
      </p:sp>
      <p:sp>
        <p:nvSpPr>
          <p:cNvPr id="23" name="Text 22"/>
          <p:cNvSpPr txBox="1"/>
          <p:nvPr/>
        </p:nvSpPr>
        <p:spPr>
          <a:xfrm>
            <a:off x="9485610" y="3578594"/>
            <a:ext cx="771029"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4E5A66"/>
                </a:solidFill>
                <a:latin typeface="IBM Plex Sans Arabic"/>
                <a:ea typeface="IBM Plex Sans Arabic"/>
                <a:cs typeface="IBM Plex Sans Arabic"/>
              </a:rPr>
              <a:t>499 اشتراك</a:t>
            </a:r>
          </a:p>
        </p:txBody>
      </p:sp>
      <p:sp>
        <p:nvSpPr>
          <p:cNvPr id="24" name="Box 23"/>
          <p:cNvSpPr/>
          <p:nvPr/>
        </p:nvSpPr>
        <p:spPr>
          <a:xfrm>
            <a:off x="7598370" y="2396430"/>
            <a:ext cx="1785640" cy="316210"/>
          </a:xfrm>
          <a:prstGeom prst="roundRect">
            <a:avLst>
              <a:gd name="adj" fmla="val 20081"/>
            </a:avLst>
          </a:prstGeom>
          <a:solidFill>
            <a:srgbClr val="E3F1ED"/>
          </a:solidFill>
          <a:ln>
            <a:noFill/>
          </a:ln>
        </p:spPr>
        <p:txBody>
          <a:bodyPr rtlCol="0" anchor="ctr"/>
          <a:lstStyle/>
          <a:p>
            <a:pPr algn="ctr"/>
          </a:p>
        </p:txBody>
      </p:sp>
      <p:sp>
        <p:nvSpPr>
          <p:cNvPr id="25" name="Text 24"/>
          <p:cNvSpPr txBox="1"/>
          <p:nvPr/>
        </p:nvSpPr>
        <p:spPr>
          <a:xfrm>
            <a:off x="8567499" y="2436499"/>
            <a:ext cx="714911"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CIPP/E</a:t>
            </a:r>
          </a:p>
        </p:txBody>
      </p:sp>
      <p:sp>
        <p:nvSpPr>
          <p:cNvPr id="26" name="Text 25"/>
          <p:cNvSpPr txBox="1"/>
          <p:nvPr/>
        </p:nvSpPr>
        <p:spPr>
          <a:xfrm>
            <a:off x="7623770" y="2439464"/>
            <a:ext cx="35054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550</a:t>
            </a:r>
          </a:p>
        </p:txBody>
      </p:sp>
      <p:sp>
        <p:nvSpPr>
          <p:cNvPr id="27" name="Box 26"/>
          <p:cNvSpPr/>
          <p:nvPr/>
        </p:nvSpPr>
        <p:spPr>
          <a:xfrm>
            <a:off x="7598370" y="2776141"/>
            <a:ext cx="1785640" cy="316210"/>
          </a:xfrm>
          <a:prstGeom prst="roundRect">
            <a:avLst>
              <a:gd name="adj" fmla="val 20081"/>
            </a:avLst>
          </a:prstGeom>
          <a:solidFill>
            <a:srgbClr val="E3F1ED"/>
          </a:solidFill>
          <a:ln>
            <a:noFill/>
          </a:ln>
        </p:spPr>
        <p:txBody>
          <a:bodyPr rtlCol="0" anchor="ctr"/>
          <a:lstStyle/>
          <a:p>
            <a:pPr algn="ctr"/>
          </a:p>
        </p:txBody>
      </p:sp>
      <p:sp>
        <p:nvSpPr>
          <p:cNvPr id="28" name="Text 27"/>
          <p:cNvSpPr txBox="1"/>
          <p:nvPr/>
        </p:nvSpPr>
        <p:spPr>
          <a:xfrm>
            <a:off x="8722975" y="2816209"/>
            <a:ext cx="559435"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CIPM</a:t>
            </a:r>
          </a:p>
        </p:txBody>
      </p:sp>
      <p:sp>
        <p:nvSpPr>
          <p:cNvPr id="29" name="Text 28"/>
          <p:cNvSpPr txBox="1"/>
          <p:nvPr/>
        </p:nvSpPr>
        <p:spPr>
          <a:xfrm>
            <a:off x="7623770" y="2819174"/>
            <a:ext cx="35054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550</a:t>
            </a:r>
          </a:p>
        </p:txBody>
      </p:sp>
      <p:sp>
        <p:nvSpPr>
          <p:cNvPr id="30" name="Box 29"/>
          <p:cNvSpPr/>
          <p:nvPr/>
        </p:nvSpPr>
        <p:spPr>
          <a:xfrm>
            <a:off x="7598370" y="3155851"/>
            <a:ext cx="1785640" cy="530820"/>
          </a:xfrm>
          <a:prstGeom prst="roundRect">
            <a:avLst>
              <a:gd name="adj" fmla="val 11962"/>
            </a:avLst>
          </a:prstGeom>
          <a:solidFill>
            <a:srgbClr val="E3F1ED"/>
          </a:solidFill>
          <a:ln>
            <a:noFill/>
          </a:ln>
        </p:spPr>
        <p:txBody>
          <a:bodyPr rtlCol="0" anchor="ctr"/>
          <a:lstStyle/>
          <a:p>
            <a:pPr algn="ctr"/>
          </a:p>
        </p:txBody>
      </p:sp>
      <p:sp>
        <p:nvSpPr>
          <p:cNvPr id="31" name="Text 30"/>
          <p:cNvSpPr txBox="1"/>
          <p:nvPr/>
        </p:nvSpPr>
        <p:spPr>
          <a:xfrm>
            <a:off x="8370193" y="3195919"/>
            <a:ext cx="912217" cy="42922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ISO 27001</a:t>
            </a:r>
          </a:p>
        </p:txBody>
      </p:sp>
      <p:sp>
        <p:nvSpPr>
          <p:cNvPr id="32" name="Text 31"/>
          <p:cNvSpPr txBox="1"/>
          <p:nvPr/>
        </p:nvSpPr>
        <p:spPr>
          <a:xfrm>
            <a:off x="7661870" y="3207218"/>
            <a:ext cx="749598" cy="39608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4E5A66"/>
                </a:solidFill>
                <a:latin typeface="IBM Plex Sans Arabic"/>
                <a:ea typeface="IBM Plex Sans Arabic"/>
                <a:cs typeface="IBM Plex Sans Arabic"/>
              </a:rPr>
              <a:t>حسب الجهة</a:t>
            </a:r>
          </a:p>
        </p:txBody>
      </p:sp>
      <p:sp>
        <p:nvSpPr>
          <p:cNvPr id="33" name="Box 32"/>
          <p:cNvSpPr/>
          <p:nvPr/>
        </p:nvSpPr>
        <p:spPr>
          <a:xfrm>
            <a:off x="5247580" y="1807170"/>
            <a:ext cx="2090440" cy="2254151"/>
          </a:xfrm>
          <a:prstGeom prst="roundRect">
            <a:avLst>
              <a:gd name="adj" fmla="val 4860"/>
            </a:avLst>
          </a:prstGeom>
          <a:solidFill>
            <a:srgbClr val="FFFDF8"/>
          </a:solidFill>
          <a:ln>
            <a:noFill/>
          </a:ln>
        </p:spPr>
        <p:txBody>
          <a:bodyPr rtlCol="0" anchor="ctr"/>
          <a:lstStyle/>
          <a:p>
            <a:pPr algn="ctr"/>
          </a:p>
        </p:txBody>
      </p:sp>
      <p:sp>
        <p:nvSpPr>
          <p:cNvPr id="34" name="Rule 33"/>
          <p:cNvSpPr/>
          <p:nvPr/>
        </p:nvSpPr>
        <p:spPr>
          <a:xfrm>
            <a:off x="5247580" y="1807170"/>
            <a:ext cx="2090440" cy="50800"/>
          </a:xfrm>
          <a:prstGeom prst="rect">
            <a:avLst/>
          </a:prstGeom>
          <a:solidFill>
            <a:srgbClr val="3E6FA8"/>
          </a:solidFill>
          <a:ln>
            <a:noFill/>
          </a:ln>
        </p:spPr>
        <p:txBody>
          <a:bodyPr rtlCol="0" anchor="ctr"/>
          <a:lstStyle/>
          <a:p>
            <a:pPr algn="ctr"/>
          </a:p>
        </p:txBody>
      </p:sp>
      <p:sp>
        <p:nvSpPr>
          <p:cNvPr id="35" name="Rule 34"/>
          <p:cNvSpPr/>
          <p:nvPr/>
        </p:nvSpPr>
        <p:spPr>
          <a:xfrm>
            <a:off x="7331670" y="1807170"/>
            <a:ext cx="6350" cy="2254151"/>
          </a:xfrm>
          <a:prstGeom prst="rect">
            <a:avLst/>
          </a:prstGeom>
          <a:solidFill>
            <a:srgbClr val="E1DBCD"/>
          </a:solidFill>
          <a:ln>
            <a:noFill/>
          </a:ln>
        </p:spPr>
        <p:txBody>
          <a:bodyPr rtlCol="0" anchor="ctr"/>
          <a:lstStyle/>
          <a:p>
            <a:pPr algn="ctr"/>
          </a:p>
        </p:txBody>
      </p:sp>
      <p:sp>
        <p:nvSpPr>
          <p:cNvPr id="36" name="Rule 35"/>
          <p:cNvSpPr/>
          <p:nvPr/>
        </p:nvSpPr>
        <p:spPr>
          <a:xfrm>
            <a:off x="5247580" y="4054971"/>
            <a:ext cx="2090440" cy="6350"/>
          </a:xfrm>
          <a:prstGeom prst="rect">
            <a:avLst/>
          </a:prstGeom>
          <a:solidFill>
            <a:srgbClr val="E1DBCD"/>
          </a:solidFill>
          <a:ln>
            <a:noFill/>
          </a:ln>
        </p:spPr>
        <p:txBody>
          <a:bodyPr rtlCol="0" anchor="ctr"/>
          <a:lstStyle/>
          <a:p>
            <a:pPr algn="ctr"/>
          </a:p>
        </p:txBody>
      </p:sp>
      <p:sp>
        <p:nvSpPr>
          <p:cNvPr id="37" name="Rule 36"/>
          <p:cNvSpPr/>
          <p:nvPr/>
        </p:nvSpPr>
        <p:spPr>
          <a:xfrm>
            <a:off x="5247580" y="1807170"/>
            <a:ext cx="6350" cy="2254151"/>
          </a:xfrm>
          <a:prstGeom prst="rect">
            <a:avLst/>
          </a:prstGeom>
          <a:solidFill>
            <a:srgbClr val="E1DBCD"/>
          </a:solidFill>
          <a:ln>
            <a:noFill/>
          </a:ln>
        </p:spPr>
        <p:txBody>
          <a:bodyPr rtlCol="0" anchor="ctr"/>
          <a:lstStyle/>
          <a:p>
            <a:pPr algn="ctr"/>
          </a:p>
        </p:txBody>
      </p:sp>
      <p:sp>
        <p:nvSpPr>
          <p:cNvPr id="38" name="Text 37"/>
          <p:cNvSpPr txBox="1"/>
          <p:nvPr/>
        </p:nvSpPr>
        <p:spPr>
          <a:xfrm>
            <a:off x="6854706" y="2010878"/>
            <a:ext cx="349964" cy="304800"/>
          </a:xfrm>
          <a:prstGeom prst="rect">
            <a:avLst/>
          </a:prstGeom>
          <a:noFill/>
        </p:spPr>
        <p:txBody>
          <a:bodyPr wrap="square" tIns="0" rIns="0" bIns="0" lIns="0" anchor="t" rtlCol="0" anchorCtr="0">
            <a:noAutofit/>
          </a:bodyPr>
          <a:lstStyle/>
          <a:p>
            <a:pPr algn="r">
              <a:lnSpc>
                <a:spcPts val="2400"/>
              </a:lnSpc>
              <a:spcBef>
                <a:spcPts val="0"/>
              </a:spcBef>
              <a:spcAft>
                <a:spcPts val="0"/>
              </a:spcAft>
            </a:pPr>
            <a:r>
              <a:rPr sz="2400" b="1" i="0">
                <a:solidFill>
                  <a:srgbClr val="2F5C92"/>
                </a:solidFill>
                <a:latin typeface="Readex Pro"/>
                <a:ea typeface="Readex Pro"/>
                <a:cs typeface="Readex Pro"/>
              </a:rPr>
              <a:t>2</a:t>
            </a:r>
          </a:p>
        </p:txBody>
      </p:sp>
      <p:sp>
        <p:nvSpPr>
          <p:cNvPr id="39" name="Text 38"/>
          <p:cNvSpPr txBox="1"/>
          <p:nvPr/>
        </p:nvSpPr>
        <p:spPr>
          <a:xfrm>
            <a:off x="6471999" y="2075585"/>
            <a:ext cx="489387"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172433"/>
                </a:solidFill>
                <a:latin typeface="IBM Plex Sans Arabic"/>
                <a:ea typeface="IBM Plex Sans Arabic"/>
                <a:cs typeface="IBM Plex Sans Arabic"/>
              </a:rPr>
              <a:t>سنتان</a:t>
            </a:r>
          </a:p>
        </p:txBody>
      </p:sp>
      <p:sp>
        <p:nvSpPr>
          <p:cNvPr id="40" name="Box 39"/>
          <p:cNvSpPr/>
          <p:nvPr/>
        </p:nvSpPr>
        <p:spPr>
          <a:xfrm>
            <a:off x="5380930" y="2396430"/>
            <a:ext cx="1823740" cy="316210"/>
          </a:xfrm>
          <a:prstGeom prst="roundRect">
            <a:avLst>
              <a:gd name="adj" fmla="val 20081"/>
            </a:avLst>
          </a:prstGeom>
          <a:solidFill>
            <a:srgbClr val="E6EDF4"/>
          </a:solidFill>
          <a:ln>
            <a:noFill/>
          </a:ln>
        </p:spPr>
        <p:txBody>
          <a:bodyPr rtlCol="0" anchor="ctr"/>
          <a:lstStyle/>
          <a:p>
            <a:pPr algn="ctr"/>
          </a:p>
        </p:txBody>
      </p:sp>
      <p:sp>
        <p:nvSpPr>
          <p:cNvPr id="41" name="Text 40"/>
          <p:cNvSpPr txBox="1"/>
          <p:nvPr/>
        </p:nvSpPr>
        <p:spPr>
          <a:xfrm>
            <a:off x="6531630" y="2436499"/>
            <a:ext cx="57144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CGRC</a:t>
            </a:r>
          </a:p>
        </p:txBody>
      </p:sp>
      <p:sp>
        <p:nvSpPr>
          <p:cNvPr id="42" name="Text 41"/>
          <p:cNvSpPr txBox="1"/>
          <p:nvPr/>
        </p:nvSpPr>
        <p:spPr>
          <a:xfrm>
            <a:off x="5406330" y="2439464"/>
            <a:ext cx="35054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599</a:t>
            </a:r>
          </a:p>
        </p:txBody>
      </p:sp>
      <p:sp>
        <p:nvSpPr>
          <p:cNvPr id="43" name="Box 42"/>
          <p:cNvSpPr/>
          <p:nvPr/>
        </p:nvSpPr>
        <p:spPr>
          <a:xfrm>
            <a:off x="3030141" y="1807170"/>
            <a:ext cx="2090440" cy="2254151"/>
          </a:xfrm>
          <a:prstGeom prst="roundRect">
            <a:avLst>
              <a:gd name="adj" fmla="val 4860"/>
            </a:avLst>
          </a:prstGeom>
          <a:solidFill>
            <a:srgbClr val="FFFDF8"/>
          </a:solidFill>
          <a:ln>
            <a:noFill/>
          </a:ln>
        </p:spPr>
        <p:txBody>
          <a:bodyPr rtlCol="0" anchor="ctr"/>
          <a:lstStyle/>
          <a:p>
            <a:pPr algn="ctr"/>
          </a:p>
        </p:txBody>
      </p:sp>
      <p:sp>
        <p:nvSpPr>
          <p:cNvPr id="44" name="Rule 43"/>
          <p:cNvSpPr/>
          <p:nvPr/>
        </p:nvSpPr>
        <p:spPr>
          <a:xfrm>
            <a:off x="3030141" y="1807170"/>
            <a:ext cx="2090440" cy="50800"/>
          </a:xfrm>
          <a:prstGeom prst="rect">
            <a:avLst/>
          </a:prstGeom>
          <a:solidFill>
            <a:srgbClr val="6B4E9B"/>
          </a:solidFill>
          <a:ln>
            <a:noFill/>
          </a:ln>
        </p:spPr>
        <p:txBody>
          <a:bodyPr rtlCol="0" anchor="ctr"/>
          <a:lstStyle/>
          <a:p>
            <a:pPr algn="ctr"/>
          </a:p>
        </p:txBody>
      </p:sp>
      <p:sp>
        <p:nvSpPr>
          <p:cNvPr id="45" name="Rule 44"/>
          <p:cNvSpPr/>
          <p:nvPr/>
        </p:nvSpPr>
        <p:spPr>
          <a:xfrm>
            <a:off x="5114230" y="1807170"/>
            <a:ext cx="6350" cy="2254151"/>
          </a:xfrm>
          <a:prstGeom prst="rect">
            <a:avLst/>
          </a:prstGeom>
          <a:solidFill>
            <a:srgbClr val="E1DBCD"/>
          </a:solidFill>
          <a:ln>
            <a:noFill/>
          </a:ln>
        </p:spPr>
        <p:txBody>
          <a:bodyPr rtlCol="0" anchor="ctr"/>
          <a:lstStyle/>
          <a:p>
            <a:pPr algn="ctr"/>
          </a:p>
        </p:txBody>
      </p:sp>
      <p:sp>
        <p:nvSpPr>
          <p:cNvPr id="46" name="Rule 45"/>
          <p:cNvSpPr/>
          <p:nvPr/>
        </p:nvSpPr>
        <p:spPr>
          <a:xfrm>
            <a:off x="3030141" y="4054971"/>
            <a:ext cx="2090440" cy="6350"/>
          </a:xfrm>
          <a:prstGeom prst="rect">
            <a:avLst/>
          </a:prstGeom>
          <a:solidFill>
            <a:srgbClr val="E1DBCD"/>
          </a:solidFill>
          <a:ln>
            <a:noFill/>
          </a:ln>
        </p:spPr>
        <p:txBody>
          <a:bodyPr rtlCol="0" anchor="ctr"/>
          <a:lstStyle/>
          <a:p>
            <a:pPr algn="ctr"/>
          </a:p>
        </p:txBody>
      </p:sp>
      <p:sp>
        <p:nvSpPr>
          <p:cNvPr id="47" name="Rule 46"/>
          <p:cNvSpPr/>
          <p:nvPr/>
        </p:nvSpPr>
        <p:spPr>
          <a:xfrm>
            <a:off x="3030141" y="1807170"/>
            <a:ext cx="6350" cy="2254151"/>
          </a:xfrm>
          <a:prstGeom prst="rect">
            <a:avLst/>
          </a:prstGeom>
          <a:solidFill>
            <a:srgbClr val="E1DBCD"/>
          </a:solidFill>
          <a:ln>
            <a:noFill/>
          </a:ln>
        </p:spPr>
        <p:txBody>
          <a:bodyPr rtlCol="0" anchor="ctr"/>
          <a:lstStyle/>
          <a:p>
            <a:pPr algn="ctr"/>
          </a:p>
        </p:txBody>
      </p:sp>
      <p:sp>
        <p:nvSpPr>
          <p:cNvPr id="48" name="Text 47"/>
          <p:cNvSpPr txBox="1"/>
          <p:nvPr/>
        </p:nvSpPr>
        <p:spPr>
          <a:xfrm>
            <a:off x="4624765" y="2010878"/>
            <a:ext cx="362466" cy="304800"/>
          </a:xfrm>
          <a:prstGeom prst="rect">
            <a:avLst/>
          </a:prstGeom>
          <a:noFill/>
        </p:spPr>
        <p:txBody>
          <a:bodyPr wrap="square" tIns="0" rIns="0" bIns="0" lIns="0" anchor="t" rtlCol="0" anchorCtr="0">
            <a:noAutofit/>
          </a:bodyPr>
          <a:lstStyle/>
          <a:p>
            <a:pPr algn="r">
              <a:lnSpc>
                <a:spcPts val="2400"/>
              </a:lnSpc>
              <a:spcBef>
                <a:spcPts val="0"/>
              </a:spcBef>
              <a:spcAft>
                <a:spcPts val="0"/>
              </a:spcAft>
            </a:pPr>
            <a:r>
              <a:rPr sz="2400" b="1" i="0">
                <a:solidFill>
                  <a:srgbClr val="5A3F87"/>
                </a:solidFill>
                <a:latin typeface="Readex Pro"/>
                <a:ea typeface="Readex Pro"/>
                <a:cs typeface="Readex Pro"/>
              </a:rPr>
              <a:t>3</a:t>
            </a:r>
          </a:p>
        </p:txBody>
      </p:sp>
      <p:sp>
        <p:nvSpPr>
          <p:cNvPr id="49" name="Text 48"/>
          <p:cNvSpPr txBox="1"/>
          <p:nvPr/>
        </p:nvSpPr>
        <p:spPr>
          <a:xfrm>
            <a:off x="4192647" y="2075585"/>
            <a:ext cx="538798"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172433"/>
                </a:solidFill>
                <a:latin typeface="IBM Plex Sans Arabic"/>
                <a:ea typeface="IBM Plex Sans Arabic"/>
                <a:cs typeface="IBM Plex Sans Arabic"/>
              </a:rPr>
              <a:t>سنوات</a:t>
            </a:r>
          </a:p>
        </p:txBody>
      </p:sp>
      <p:sp>
        <p:nvSpPr>
          <p:cNvPr id="50" name="Box 49"/>
          <p:cNvSpPr/>
          <p:nvPr/>
        </p:nvSpPr>
        <p:spPr>
          <a:xfrm>
            <a:off x="3163491" y="2396430"/>
            <a:ext cx="1823740" cy="316210"/>
          </a:xfrm>
          <a:prstGeom prst="roundRect">
            <a:avLst>
              <a:gd name="adj" fmla="val 20081"/>
            </a:avLst>
          </a:prstGeom>
          <a:solidFill>
            <a:srgbClr val="ECE6F4"/>
          </a:solidFill>
          <a:ln>
            <a:noFill/>
          </a:ln>
        </p:spPr>
        <p:txBody>
          <a:bodyPr rtlCol="0" anchor="ctr"/>
          <a:lstStyle/>
          <a:p>
            <a:pPr algn="ctr"/>
          </a:p>
        </p:txBody>
      </p:sp>
      <p:sp>
        <p:nvSpPr>
          <p:cNvPr id="51" name="Text 50"/>
          <p:cNvSpPr txBox="1"/>
          <p:nvPr/>
        </p:nvSpPr>
        <p:spPr>
          <a:xfrm>
            <a:off x="4245035" y="2436499"/>
            <a:ext cx="640596"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CRISC</a:t>
            </a:r>
          </a:p>
        </p:txBody>
      </p:sp>
      <p:sp>
        <p:nvSpPr>
          <p:cNvPr id="52" name="Text 51"/>
          <p:cNvSpPr txBox="1"/>
          <p:nvPr/>
        </p:nvSpPr>
        <p:spPr>
          <a:xfrm>
            <a:off x="3188891" y="2439464"/>
            <a:ext cx="35054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760</a:t>
            </a:r>
          </a:p>
        </p:txBody>
      </p:sp>
      <p:sp>
        <p:nvSpPr>
          <p:cNvPr id="53" name="Box 52"/>
          <p:cNvSpPr/>
          <p:nvPr/>
        </p:nvSpPr>
        <p:spPr>
          <a:xfrm>
            <a:off x="3163491" y="2801541"/>
            <a:ext cx="1823740" cy="316210"/>
          </a:xfrm>
          <a:prstGeom prst="roundRect">
            <a:avLst>
              <a:gd name="adj" fmla="val 20081"/>
            </a:avLst>
          </a:prstGeom>
          <a:solidFill>
            <a:srgbClr val="ECE6F4"/>
          </a:solidFill>
          <a:ln>
            <a:noFill/>
          </a:ln>
        </p:spPr>
        <p:txBody>
          <a:bodyPr rtlCol="0" anchor="ctr"/>
          <a:lstStyle/>
          <a:p>
            <a:pPr algn="ctr"/>
          </a:p>
        </p:txBody>
      </p:sp>
      <p:sp>
        <p:nvSpPr>
          <p:cNvPr id="54" name="Text 53"/>
          <p:cNvSpPr txBox="1"/>
          <p:nvPr/>
        </p:nvSpPr>
        <p:spPr>
          <a:xfrm>
            <a:off x="4224000" y="2841609"/>
            <a:ext cx="66163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CDPSE</a:t>
            </a:r>
          </a:p>
        </p:txBody>
      </p:sp>
      <p:sp>
        <p:nvSpPr>
          <p:cNvPr id="55" name="Text 54"/>
          <p:cNvSpPr txBox="1"/>
          <p:nvPr/>
        </p:nvSpPr>
        <p:spPr>
          <a:xfrm>
            <a:off x="3188891" y="2844574"/>
            <a:ext cx="35054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760</a:t>
            </a:r>
          </a:p>
        </p:txBody>
      </p:sp>
      <p:sp>
        <p:nvSpPr>
          <p:cNvPr id="56" name="Box 55"/>
          <p:cNvSpPr/>
          <p:nvPr/>
        </p:nvSpPr>
        <p:spPr>
          <a:xfrm>
            <a:off x="812701" y="1807170"/>
            <a:ext cx="2090440" cy="2254151"/>
          </a:xfrm>
          <a:prstGeom prst="roundRect">
            <a:avLst>
              <a:gd name="adj" fmla="val 4860"/>
            </a:avLst>
          </a:prstGeom>
          <a:solidFill>
            <a:srgbClr val="FFFDF8"/>
          </a:solidFill>
          <a:ln>
            <a:noFill/>
          </a:ln>
        </p:spPr>
        <p:txBody>
          <a:bodyPr rtlCol="0" anchor="ctr"/>
          <a:lstStyle/>
          <a:p>
            <a:pPr algn="ctr"/>
          </a:p>
        </p:txBody>
      </p:sp>
      <p:sp>
        <p:nvSpPr>
          <p:cNvPr id="57" name="Rule 56"/>
          <p:cNvSpPr/>
          <p:nvPr/>
        </p:nvSpPr>
        <p:spPr>
          <a:xfrm>
            <a:off x="812701" y="1807170"/>
            <a:ext cx="2090440" cy="50800"/>
          </a:xfrm>
          <a:prstGeom prst="rect">
            <a:avLst/>
          </a:prstGeom>
          <a:solidFill>
            <a:srgbClr val="C27A16"/>
          </a:solidFill>
          <a:ln>
            <a:noFill/>
          </a:ln>
        </p:spPr>
        <p:txBody>
          <a:bodyPr rtlCol="0" anchor="ctr"/>
          <a:lstStyle/>
          <a:p>
            <a:pPr algn="ctr"/>
          </a:p>
        </p:txBody>
      </p:sp>
      <p:sp>
        <p:nvSpPr>
          <p:cNvPr id="58" name="Rule 57"/>
          <p:cNvSpPr/>
          <p:nvPr/>
        </p:nvSpPr>
        <p:spPr>
          <a:xfrm>
            <a:off x="2896791" y="1807170"/>
            <a:ext cx="6350" cy="2254151"/>
          </a:xfrm>
          <a:prstGeom prst="rect">
            <a:avLst/>
          </a:prstGeom>
          <a:solidFill>
            <a:srgbClr val="E1DBCD"/>
          </a:solidFill>
          <a:ln>
            <a:noFill/>
          </a:ln>
        </p:spPr>
        <p:txBody>
          <a:bodyPr rtlCol="0" anchor="ctr"/>
          <a:lstStyle/>
          <a:p>
            <a:pPr algn="ctr"/>
          </a:p>
        </p:txBody>
      </p:sp>
      <p:sp>
        <p:nvSpPr>
          <p:cNvPr id="59" name="Rule 58"/>
          <p:cNvSpPr/>
          <p:nvPr/>
        </p:nvSpPr>
        <p:spPr>
          <a:xfrm>
            <a:off x="812701" y="4054971"/>
            <a:ext cx="2090440" cy="6350"/>
          </a:xfrm>
          <a:prstGeom prst="rect">
            <a:avLst/>
          </a:prstGeom>
          <a:solidFill>
            <a:srgbClr val="E1DBCD"/>
          </a:solidFill>
          <a:ln>
            <a:noFill/>
          </a:ln>
        </p:spPr>
        <p:txBody>
          <a:bodyPr rtlCol="0" anchor="ctr"/>
          <a:lstStyle/>
          <a:p>
            <a:pPr algn="ctr"/>
          </a:p>
        </p:txBody>
      </p:sp>
      <p:sp>
        <p:nvSpPr>
          <p:cNvPr id="60" name="Rule 59"/>
          <p:cNvSpPr/>
          <p:nvPr/>
        </p:nvSpPr>
        <p:spPr>
          <a:xfrm>
            <a:off x="812701" y="1807170"/>
            <a:ext cx="6350" cy="2254151"/>
          </a:xfrm>
          <a:prstGeom prst="rect">
            <a:avLst/>
          </a:prstGeom>
          <a:solidFill>
            <a:srgbClr val="E1DBCD"/>
          </a:solidFill>
          <a:ln>
            <a:noFill/>
          </a:ln>
        </p:spPr>
        <p:txBody>
          <a:bodyPr rtlCol="0" anchor="ctr"/>
          <a:lstStyle/>
          <a:p>
            <a:pPr algn="ctr"/>
          </a:p>
        </p:txBody>
      </p:sp>
      <p:sp>
        <p:nvSpPr>
          <p:cNvPr id="61" name="Text 60"/>
          <p:cNvSpPr txBox="1"/>
          <p:nvPr/>
        </p:nvSpPr>
        <p:spPr>
          <a:xfrm>
            <a:off x="2405539" y="2010878"/>
            <a:ext cx="364252" cy="304800"/>
          </a:xfrm>
          <a:prstGeom prst="rect">
            <a:avLst/>
          </a:prstGeom>
          <a:noFill/>
        </p:spPr>
        <p:txBody>
          <a:bodyPr wrap="square" tIns="0" rIns="0" bIns="0" lIns="0" anchor="t" rtlCol="0" anchorCtr="0">
            <a:noAutofit/>
          </a:bodyPr>
          <a:lstStyle/>
          <a:p>
            <a:pPr algn="r">
              <a:lnSpc>
                <a:spcPts val="2400"/>
              </a:lnSpc>
              <a:spcBef>
                <a:spcPts val="0"/>
              </a:spcBef>
              <a:spcAft>
                <a:spcPts val="0"/>
              </a:spcAft>
            </a:pPr>
            <a:r>
              <a:rPr sz="2400" b="1" i="0">
                <a:solidFill>
                  <a:srgbClr val="9A5F0F"/>
                </a:solidFill>
                <a:latin typeface="Readex Pro"/>
                <a:ea typeface="Readex Pro"/>
                <a:cs typeface="Readex Pro"/>
              </a:rPr>
              <a:t>5</a:t>
            </a:r>
          </a:p>
        </p:txBody>
      </p:sp>
      <p:sp>
        <p:nvSpPr>
          <p:cNvPr id="62" name="Text 61"/>
          <p:cNvSpPr txBox="1"/>
          <p:nvPr/>
        </p:nvSpPr>
        <p:spPr>
          <a:xfrm>
            <a:off x="1973421" y="2075585"/>
            <a:ext cx="538798"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172433"/>
                </a:solidFill>
                <a:latin typeface="IBM Plex Sans Arabic"/>
                <a:ea typeface="IBM Plex Sans Arabic"/>
                <a:cs typeface="IBM Plex Sans Arabic"/>
              </a:rPr>
              <a:t>سنوات</a:t>
            </a:r>
          </a:p>
        </p:txBody>
      </p:sp>
      <p:sp>
        <p:nvSpPr>
          <p:cNvPr id="63" name="Box 62"/>
          <p:cNvSpPr/>
          <p:nvPr/>
        </p:nvSpPr>
        <p:spPr>
          <a:xfrm>
            <a:off x="946051" y="2396430"/>
            <a:ext cx="1823740" cy="316210"/>
          </a:xfrm>
          <a:prstGeom prst="roundRect">
            <a:avLst>
              <a:gd name="adj" fmla="val 20081"/>
            </a:avLst>
          </a:prstGeom>
          <a:solidFill>
            <a:srgbClr val="F6ECDA"/>
          </a:solidFill>
          <a:ln>
            <a:noFill/>
          </a:ln>
        </p:spPr>
        <p:txBody>
          <a:bodyPr rtlCol="0" anchor="ctr"/>
          <a:lstStyle/>
          <a:p>
            <a:pPr algn="ctr"/>
          </a:p>
        </p:txBody>
      </p:sp>
      <p:sp>
        <p:nvSpPr>
          <p:cNvPr id="64" name="Text 63"/>
          <p:cNvSpPr txBox="1"/>
          <p:nvPr/>
        </p:nvSpPr>
        <p:spPr>
          <a:xfrm>
            <a:off x="2143085" y="2436499"/>
            <a:ext cx="525105"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CISA</a:t>
            </a:r>
          </a:p>
        </p:txBody>
      </p:sp>
      <p:sp>
        <p:nvSpPr>
          <p:cNvPr id="65" name="Text 64"/>
          <p:cNvSpPr txBox="1"/>
          <p:nvPr/>
        </p:nvSpPr>
        <p:spPr>
          <a:xfrm>
            <a:off x="971451" y="2439464"/>
            <a:ext cx="35054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760</a:t>
            </a:r>
          </a:p>
        </p:txBody>
      </p:sp>
      <p:sp>
        <p:nvSpPr>
          <p:cNvPr id="66" name="Box 65"/>
          <p:cNvSpPr/>
          <p:nvPr/>
        </p:nvSpPr>
        <p:spPr>
          <a:xfrm>
            <a:off x="946051" y="2801541"/>
            <a:ext cx="1823740" cy="316210"/>
          </a:xfrm>
          <a:prstGeom prst="roundRect">
            <a:avLst>
              <a:gd name="adj" fmla="val 20081"/>
            </a:avLst>
          </a:prstGeom>
          <a:solidFill>
            <a:srgbClr val="F6ECDA"/>
          </a:solidFill>
          <a:ln>
            <a:noFill/>
          </a:ln>
        </p:spPr>
        <p:txBody>
          <a:bodyPr rtlCol="0" anchor="ctr"/>
          <a:lstStyle/>
          <a:p>
            <a:pPr algn="ctr"/>
          </a:p>
        </p:txBody>
      </p:sp>
      <p:sp>
        <p:nvSpPr>
          <p:cNvPr id="67" name="Text 66"/>
          <p:cNvSpPr txBox="1"/>
          <p:nvPr/>
        </p:nvSpPr>
        <p:spPr>
          <a:xfrm>
            <a:off x="2113220" y="2841609"/>
            <a:ext cx="55497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CISM</a:t>
            </a:r>
          </a:p>
        </p:txBody>
      </p:sp>
      <p:sp>
        <p:nvSpPr>
          <p:cNvPr id="68" name="Text 67"/>
          <p:cNvSpPr txBox="1"/>
          <p:nvPr/>
        </p:nvSpPr>
        <p:spPr>
          <a:xfrm>
            <a:off x="971451" y="2844574"/>
            <a:ext cx="35054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760</a:t>
            </a:r>
          </a:p>
        </p:txBody>
      </p:sp>
      <p:sp>
        <p:nvSpPr>
          <p:cNvPr id="69" name="Box 68"/>
          <p:cNvSpPr/>
          <p:nvPr/>
        </p:nvSpPr>
        <p:spPr>
          <a:xfrm>
            <a:off x="946051" y="3206651"/>
            <a:ext cx="1823740" cy="316210"/>
          </a:xfrm>
          <a:prstGeom prst="roundRect">
            <a:avLst>
              <a:gd name="adj" fmla="val 20081"/>
            </a:avLst>
          </a:prstGeom>
          <a:solidFill>
            <a:srgbClr val="F6ECDA"/>
          </a:solidFill>
          <a:ln>
            <a:noFill/>
          </a:ln>
        </p:spPr>
        <p:txBody>
          <a:bodyPr rtlCol="0" anchor="ctr"/>
          <a:lstStyle/>
          <a:p>
            <a:pPr algn="ctr"/>
          </a:p>
        </p:txBody>
      </p:sp>
      <p:sp>
        <p:nvSpPr>
          <p:cNvPr id="70" name="Text 69"/>
          <p:cNvSpPr txBox="1"/>
          <p:nvPr/>
        </p:nvSpPr>
        <p:spPr>
          <a:xfrm>
            <a:off x="2019459" y="3246719"/>
            <a:ext cx="648732"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CGEIT</a:t>
            </a:r>
          </a:p>
        </p:txBody>
      </p:sp>
      <p:sp>
        <p:nvSpPr>
          <p:cNvPr id="71" name="Text 70"/>
          <p:cNvSpPr txBox="1"/>
          <p:nvPr/>
        </p:nvSpPr>
        <p:spPr>
          <a:xfrm>
            <a:off x="971451" y="3249684"/>
            <a:ext cx="35054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760</a:t>
            </a:r>
          </a:p>
        </p:txBody>
      </p:sp>
      <p:sp>
        <p:nvSpPr>
          <p:cNvPr id="72" name="Box 71"/>
          <p:cNvSpPr/>
          <p:nvPr/>
        </p:nvSpPr>
        <p:spPr>
          <a:xfrm>
            <a:off x="946051" y="3611761"/>
            <a:ext cx="1823740" cy="316210"/>
          </a:xfrm>
          <a:prstGeom prst="roundRect">
            <a:avLst>
              <a:gd name="adj" fmla="val 20081"/>
            </a:avLst>
          </a:prstGeom>
          <a:solidFill>
            <a:srgbClr val="F6ECDA"/>
          </a:solidFill>
          <a:ln>
            <a:noFill/>
          </a:ln>
        </p:spPr>
        <p:txBody>
          <a:bodyPr rtlCol="0" anchor="ctr"/>
          <a:lstStyle/>
          <a:p>
            <a:pPr algn="ctr"/>
          </a:p>
        </p:txBody>
      </p:sp>
      <p:sp>
        <p:nvSpPr>
          <p:cNvPr id="73" name="Text 72"/>
          <p:cNvSpPr txBox="1"/>
          <p:nvPr/>
        </p:nvSpPr>
        <p:spPr>
          <a:xfrm>
            <a:off x="2044065" y="3651829"/>
            <a:ext cx="624126"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CISSP</a:t>
            </a:r>
          </a:p>
        </p:txBody>
      </p:sp>
      <p:sp>
        <p:nvSpPr>
          <p:cNvPr id="74" name="Text 73"/>
          <p:cNvSpPr txBox="1"/>
          <p:nvPr/>
        </p:nvSpPr>
        <p:spPr>
          <a:xfrm>
            <a:off x="971451" y="3654794"/>
            <a:ext cx="35054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749</a:t>
            </a:r>
          </a:p>
        </p:txBody>
      </p:sp>
      <p:sp>
        <p:nvSpPr>
          <p:cNvPr id="75" name="Box 74"/>
          <p:cNvSpPr/>
          <p:nvPr/>
        </p:nvSpPr>
        <p:spPr>
          <a:xfrm>
            <a:off x="812800" y="4213721"/>
            <a:ext cx="10566400" cy="391120"/>
          </a:xfrm>
          <a:prstGeom prst="roundRect">
            <a:avLst>
              <a:gd name="adj" fmla="val 22729"/>
            </a:avLst>
          </a:prstGeom>
          <a:solidFill>
            <a:srgbClr val="172433"/>
          </a:solidFill>
          <a:ln>
            <a:noFill/>
          </a:ln>
        </p:spPr>
        <p:txBody>
          <a:bodyPr rtlCol="0" anchor="ctr"/>
          <a:lstStyle/>
          <a:p>
            <a:pPr algn="ctr"/>
          </a:p>
        </p:txBody>
      </p:sp>
      <p:pic>
        <p:nvPicPr>
          <p:cNvPr id="76" name="Icon Lightbulb 75" descr="icon044.png"/>
          <p:cNvPicPr>
            <a:picLocks noChangeAspect="1"/>
          </p:cNvPicPr>
          <p:nvPr/>
        </p:nvPicPr>
        <p:blipFill>
          <a:blip r:embed="rId2"/>
          <a:stretch>
            <a:fillRect/>
          </a:stretch>
        </p:blipFill>
        <p:spPr>
          <a:xfrm>
            <a:off x="11049000" y="4320381"/>
            <a:ext cx="177800" cy="177800"/>
          </a:xfrm>
          <a:prstGeom prst="rect">
            <a:avLst/>
          </a:prstGeom>
        </p:spPr>
      </p:pic>
      <p:sp>
        <p:nvSpPr>
          <p:cNvPr id="77" name="Text 76"/>
          <p:cNvSpPr txBox="1"/>
          <p:nvPr/>
        </p:nvSpPr>
        <p:spPr>
          <a:xfrm>
            <a:off x="838200" y="4278999"/>
            <a:ext cx="101219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F3EFE6"/>
                </a:solidFill>
                <a:latin typeface="IBM Plex Sans Arabic"/>
                <a:ea typeface="IBM Plex Sans Arabic"/>
                <a:cs typeface="IBM Plex Sans Arabic"/>
              </a:rPr>
              <a:t>الأرقام رسم الاختبار لغير الأعضاء بالدولار. وفي أعمدة الخبرة تستطيع أن تختبر أولاً: ISC2 تمنحك صفة Associate، وISACA تمهلك 5 سنوات لتقديم الطلب.</a:t>
            </a:r>
          </a:p>
        </p:txBody>
      </p:sp>
      <p:sp>
        <p:nvSpPr>
          <p:cNvPr id="78" name="Text 77"/>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05 · الشهادات · الأسعار بالدولار الأمريكي كما في 27 أكتوبر 2026</a:t>
            </a:r>
          </a:p>
        </p:txBody>
      </p:sp>
      <p:sp>
        <p:nvSpPr>
          <p:cNvPr id="79" name="Text 78"/>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798844" y="812800"/>
            <a:ext cx="1580356"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كيف تختار: ابدأ من الوظيفة، لا من الشهادة</a:t>
            </a:r>
          </a:p>
        </p:txBody>
      </p:sp>
      <p:sp>
        <p:nvSpPr>
          <p:cNvPr id="5" name="Text 4"/>
          <p:cNvSpPr txBox="1"/>
          <p:nvPr/>
        </p:nvSpPr>
        <p:spPr>
          <a:xfrm>
            <a:off x="8610600" y="1791168"/>
            <a:ext cx="274320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5E6A75"/>
                </a:solidFill>
                <a:latin typeface="IBM Plex Sans Arabic"/>
                <a:ea typeface="IBM Plex Sans Arabic"/>
                <a:cs typeface="IBM Plex Sans Arabic"/>
              </a:rPr>
              <a:t>الوظيفة المستهدفة</a:t>
            </a:r>
          </a:p>
        </p:txBody>
      </p:sp>
      <p:sp>
        <p:nvSpPr>
          <p:cNvPr id="6" name="Text 5"/>
          <p:cNvSpPr txBox="1"/>
          <p:nvPr/>
        </p:nvSpPr>
        <p:spPr>
          <a:xfrm>
            <a:off x="6178332" y="1791168"/>
            <a:ext cx="254656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0E7C6B"/>
                </a:solidFill>
                <a:latin typeface="IBM Plex Sans Arabic"/>
                <a:ea typeface="IBM Plex Sans Arabic"/>
                <a:cs typeface="IBM Plex Sans Arabic"/>
              </a:rPr>
              <a:t>مدخل</a:t>
            </a:r>
          </a:p>
        </p:txBody>
      </p:sp>
      <p:sp>
        <p:nvSpPr>
          <p:cNvPr id="7" name="Text 6"/>
          <p:cNvSpPr txBox="1"/>
          <p:nvPr/>
        </p:nvSpPr>
        <p:spPr>
          <a:xfrm>
            <a:off x="3413998" y="1791168"/>
            <a:ext cx="254656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2F5C92"/>
                </a:solidFill>
                <a:latin typeface="IBM Plex Sans Arabic"/>
                <a:ea typeface="IBM Plex Sans Arabic"/>
                <a:cs typeface="IBM Plex Sans Arabic"/>
              </a:rPr>
              <a:t>تخصص</a:t>
            </a:r>
          </a:p>
        </p:txBody>
      </p:sp>
      <p:sp>
        <p:nvSpPr>
          <p:cNvPr id="8" name="Text 7"/>
          <p:cNvSpPr txBox="1"/>
          <p:nvPr/>
        </p:nvSpPr>
        <p:spPr>
          <a:xfrm>
            <a:off x="649665" y="1791168"/>
            <a:ext cx="254656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9A5F0F"/>
                </a:solidFill>
                <a:latin typeface="IBM Plex Sans Arabic"/>
                <a:ea typeface="IBM Plex Sans Arabic"/>
                <a:cs typeface="IBM Plex Sans Arabic"/>
              </a:rPr>
              <a:t>بعد اكتمال الخبرة</a:t>
            </a:r>
          </a:p>
        </p:txBody>
      </p:sp>
      <p:sp>
        <p:nvSpPr>
          <p:cNvPr id="9" name="Box 8"/>
          <p:cNvSpPr/>
          <p:nvPr/>
        </p:nvSpPr>
        <p:spPr>
          <a:xfrm>
            <a:off x="815975" y="2160786"/>
            <a:ext cx="10560050" cy="643136"/>
          </a:xfrm>
          <a:prstGeom prst="roundRect">
            <a:avLst>
              <a:gd name="adj" fmla="val 13687"/>
            </a:avLst>
          </a:prstGeom>
          <a:solidFill>
            <a:srgbClr val="FFFDF8"/>
          </a:solidFill>
          <a:ln w="6350">
            <a:solidFill>
              <a:srgbClr val="E1DBCD"/>
            </a:solidFill>
          </a:ln>
        </p:spPr>
        <p:txBody>
          <a:bodyPr rtlCol="0" anchor="ctr"/>
          <a:lstStyle/>
          <a:p>
            <a:pPr algn="ctr"/>
          </a:p>
        </p:txBody>
      </p:sp>
      <p:sp>
        <p:nvSpPr>
          <p:cNvPr id="10" name="Text 9"/>
          <p:cNvSpPr txBox="1"/>
          <p:nvPr/>
        </p:nvSpPr>
        <p:spPr>
          <a:xfrm>
            <a:off x="8639810" y="2247559"/>
            <a:ext cx="2606040"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محلل GRC وامتثال</a:t>
            </a:r>
          </a:p>
        </p:txBody>
      </p:sp>
      <p:sp>
        <p:nvSpPr>
          <p:cNvPr id="11" name="Text 10"/>
          <p:cNvSpPr txBox="1"/>
          <p:nvPr/>
        </p:nvSpPr>
        <p:spPr>
          <a:xfrm>
            <a:off x="8639810" y="2485104"/>
            <a:ext cx="260604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5E6A75"/>
                </a:solidFill>
                <a:latin typeface="IBM Plex Sans Arabic"/>
                <a:ea typeface="IBM Plex Sans Arabic"/>
                <a:cs typeface="IBM Plex Sans Arabic"/>
              </a:rPr>
              <a:t>الخط الثاني</a:t>
            </a:r>
          </a:p>
        </p:txBody>
      </p:sp>
      <p:sp>
        <p:nvSpPr>
          <p:cNvPr id="12" name="Text box 11"/>
          <p:cNvSpPr/>
          <p:nvPr/>
        </p:nvSpPr>
        <p:spPr>
          <a:xfrm>
            <a:off x="6415584" y="2315964"/>
            <a:ext cx="2328366" cy="332680"/>
          </a:xfrm>
          <a:prstGeom prst="roundRect">
            <a:avLst>
              <a:gd name="adj" fmla="val 19087"/>
            </a:avLst>
          </a:prstGeom>
          <a:solidFill>
            <a:srgbClr val="E3F1ED"/>
          </a:solidFill>
          <a:ln>
            <a:noFill/>
          </a:ln>
        </p:spPr>
        <p:txBody>
          <a:bodyPr rtlCol="0" anchor="ctr" wrap="square" tIns="25089" rIns="70301" bIns="64713" lIns="0" anchorCtr="0">
            <a:noAutofit/>
          </a:bodyPr>
          <a:lstStyle/>
          <a:p>
            <a:pPr algn="r" rtl="1">
              <a:lnSpc>
                <a:spcPts val="1620"/>
              </a:lnSpc>
              <a:spcBef>
                <a:spcPts val="0"/>
              </a:spcBef>
              <a:spcAft>
                <a:spcPts val="0"/>
              </a:spcAft>
            </a:pPr>
            <a:r>
              <a:rPr sz="1200" b="1" i="0" lang="ar-SA" altLang="en-US">
                <a:solidFill>
                  <a:srgbClr val="172433"/>
                </a:solidFill>
                <a:latin typeface="IBM Plex Sans Arabic"/>
                <a:ea typeface="IBM Plex Sans Arabic"/>
                <a:cs typeface="IBM Plex Sans Arabic"/>
              </a:rPr>
              <a:t>CC أو Security+</a:t>
            </a:r>
          </a:p>
        </p:txBody>
      </p:sp>
      <p:sp>
        <p:nvSpPr>
          <p:cNvPr id="13" name="Text 12"/>
          <p:cNvSpPr txBox="1"/>
          <p:nvPr/>
        </p:nvSpPr>
        <p:spPr>
          <a:xfrm>
            <a:off x="6044744" y="2401455"/>
            <a:ext cx="335280" cy="177800"/>
          </a:xfrm>
          <a:prstGeom prst="rect">
            <a:avLst/>
          </a:prstGeom>
          <a:noFill/>
        </p:spPr>
        <p:txBody>
          <a:bodyPr wrap="square" tIns="0" rIns="0" bIns="0" lIns="0" anchor="t" rtlCol="0" anchorCtr="0">
            <a:noAutofit/>
          </a:bodyPr>
          <a:lstStyle/>
          <a:p>
            <a:pPr algn="ctr">
              <a:lnSpc>
                <a:spcPts val="1400"/>
              </a:lnSpc>
              <a:spcBef>
                <a:spcPts val="0"/>
              </a:spcBef>
              <a:spcAft>
                <a:spcPts val="0"/>
              </a:spcAft>
            </a:pPr>
            <a:r>
              <a:rPr sz="1400" b="0" i="0">
                <a:solidFill>
                  <a:srgbClr val="93A3B1"/>
                </a:solidFill>
                <a:latin typeface="IBM Plex Sans Arabic"/>
                <a:ea typeface="IBM Plex Sans Arabic"/>
                <a:cs typeface="IBM Plex Sans Arabic"/>
              </a:rPr>
              <a:t>←</a:t>
            </a:r>
          </a:p>
        </p:txBody>
      </p:sp>
      <p:sp>
        <p:nvSpPr>
          <p:cNvPr id="14" name="Text box 13"/>
          <p:cNvSpPr/>
          <p:nvPr/>
        </p:nvSpPr>
        <p:spPr>
          <a:xfrm>
            <a:off x="3680817" y="2315964"/>
            <a:ext cx="2328366" cy="332680"/>
          </a:xfrm>
          <a:prstGeom prst="roundRect">
            <a:avLst>
              <a:gd name="adj" fmla="val 19087"/>
            </a:avLst>
          </a:prstGeom>
          <a:solidFill>
            <a:srgbClr val="E6EDF4"/>
          </a:solidFill>
          <a:ln>
            <a:noFill/>
          </a:ln>
        </p:spPr>
        <p:txBody>
          <a:bodyPr rtlCol="0" anchor="ctr" wrap="square" tIns="25089" rIns="70301" bIns="64713" lIns="0" anchorCtr="0">
            <a:noAutofit/>
          </a:bodyPr>
          <a:lstStyle/>
          <a:p>
            <a:pPr algn="r" rtl="1">
              <a:lnSpc>
                <a:spcPts val="1620"/>
              </a:lnSpc>
              <a:spcBef>
                <a:spcPts val="0"/>
              </a:spcBef>
              <a:spcAft>
                <a:spcPts val="0"/>
              </a:spcAft>
            </a:pPr>
            <a:r>
              <a:rPr sz="1200" b="1" i="0" lang="ar-SA" altLang="en-US">
                <a:solidFill>
                  <a:srgbClr val="172433"/>
                </a:solidFill>
                <a:latin typeface="IBM Plex Sans Arabic"/>
                <a:ea typeface="IBM Plex Sans Arabic"/>
                <a:cs typeface="IBM Plex Sans Arabic"/>
              </a:rPr>
              <a:t>ISO 27001 LI أو GRCP</a:t>
            </a:r>
          </a:p>
        </p:txBody>
      </p:sp>
      <p:sp>
        <p:nvSpPr>
          <p:cNvPr id="15" name="Text 14"/>
          <p:cNvSpPr txBox="1"/>
          <p:nvPr/>
        </p:nvSpPr>
        <p:spPr>
          <a:xfrm>
            <a:off x="3309977" y="2401455"/>
            <a:ext cx="335280" cy="177800"/>
          </a:xfrm>
          <a:prstGeom prst="rect">
            <a:avLst/>
          </a:prstGeom>
          <a:noFill/>
        </p:spPr>
        <p:txBody>
          <a:bodyPr wrap="square" tIns="0" rIns="0" bIns="0" lIns="0" anchor="t" rtlCol="0" anchorCtr="0">
            <a:noAutofit/>
          </a:bodyPr>
          <a:lstStyle/>
          <a:p>
            <a:pPr algn="ctr">
              <a:lnSpc>
                <a:spcPts val="1400"/>
              </a:lnSpc>
              <a:spcBef>
                <a:spcPts val="0"/>
              </a:spcBef>
              <a:spcAft>
                <a:spcPts val="0"/>
              </a:spcAft>
            </a:pPr>
            <a:r>
              <a:rPr sz="1400" b="0" i="0">
                <a:solidFill>
                  <a:srgbClr val="93A3B1"/>
                </a:solidFill>
                <a:latin typeface="IBM Plex Sans Arabic"/>
                <a:ea typeface="IBM Plex Sans Arabic"/>
                <a:cs typeface="IBM Plex Sans Arabic"/>
              </a:rPr>
              <a:t>←</a:t>
            </a:r>
          </a:p>
        </p:txBody>
      </p:sp>
      <p:sp>
        <p:nvSpPr>
          <p:cNvPr id="16" name="Text box 15"/>
          <p:cNvSpPr/>
          <p:nvPr/>
        </p:nvSpPr>
        <p:spPr>
          <a:xfrm>
            <a:off x="946051" y="2315964"/>
            <a:ext cx="2328366" cy="332680"/>
          </a:xfrm>
          <a:prstGeom prst="roundRect">
            <a:avLst>
              <a:gd name="adj" fmla="val 19087"/>
            </a:avLst>
          </a:prstGeom>
          <a:solidFill>
            <a:srgbClr val="F6ECDA"/>
          </a:solidFill>
          <a:ln>
            <a:noFill/>
          </a:ln>
        </p:spPr>
        <p:txBody>
          <a:bodyPr rtlCol="0" anchor="ctr" wrap="square" tIns="25089" rIns="70301" bIns="64713" lIns="0" anchorCtr="0">
            <a:noAutofit/>
          </a:bodyPr>
          <a:lstStyle/>
          <a:p>
            <a:pPr algn="r" rtl="1">
              <a:lnSpc>
                <a:spcPts val="1620"/>
              </a:lnSpc>
              <a:spcBef>
                <a:spcPts val="0"/>
              </a:spcBef>
              <a:spcAft>
                <a:spcPts val="0"/>
              </a:spcAft>
            </a:pPr>
            <a:r>
              <a:rPr sz="1200" b="1" i="0" lang="ar-SA" altLang="en-US">
                <a:solidFill>
                  <a:srgbClr val="172433"/>
                </a:solidFill>
                <a:latin typeface="IBM Plex Sans Arabic"/>
                <a:ea typeface="IBM Plex Sans Arabic"/>
                <a:cs typeface="IBM Plex Sans Arabic"/>
              </a:rPr>
              <a:t>CRISC أو CGRC</a:t>
            </a:r>
          </a:p>
        </p:txBody>
      </p:sp>
      <p:sp>
        <p:nvSpPr>
          <p:cNvPr id="17" name="Box 16"/>
          <p:cNvSpPr/>
          <p:nvPr/>
        </p:nvSpPr>
        <p:spPr>
          <a:xfrm>
            <a:off x="815975" y="2899172"/>
            <a:ext cx="10560050" cy="643136"/>
          </a:xfrm>
          <a:prstGeom prst="roundRect">
            <a:avLst>
              <a:gd name="adj" fmla="val 13687"/>
            </a:avLst>
          </a:prstGeom>
          <a:solidFill>
            <a:srgbClr val="FFFDF8"/>
          </a:solidFill>
          <a:ln w="6350">
            <a:solidFill>
              <a:srgbClr val="E1DBCD"/>
            </a:solidFill>
          </a:ln>
        </p:spPr>
        <p:txBody>
          <a:bodyPr rtlCol="0" anchor="ctr"/>
          <a:lstStyle/>
          <a:p>
            <a:pPr algn="ctr"/>
          </a:p>
        </p:txBody>
      </p:sp>
      <p:sp>
        <p:nvSpPr>
          <p:cNvPr id="18" name="Text 17"/>
          <p:cNvSpPr txBox="1"/>
          <p:nvPr/>
        </p:nvSpPr>
        <p:spPr>
          <a:xfrm>
            <a:off x="8639810" y="2985945"/>
            <a:ext cx="2606040"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مدقق تقنية معلومات</a:t>
            </a:r>
          </a:p>
        </p:txBody>
      </p:sp>
      <p:sp>
        <p:nvSpPr>
          <p:cNvPr id="19" name="Text 18"/>
          <p:cNvSpPr txBox="1"/>
          <p:nvPr/>
        </p:nvSpPr>
        <p:spPr>
          <a:xfrm>
            <a:off x="8639810" y="3223490"/>
            <a:ext cx="260604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5E6A75"/>
                </a:solidFill>
                <a:latin typeface="IBM Plex Sans Arabic"/>
                <a:ea typeface="IBM Plex Sans Arabic"/>
                <a:cs typeface="IBM Plex Sans Arabic"/>
              </a:rPr>
              <a:t>الخط الثالث</a:t>
            </a:r>
          </a:p>
        </p:txBody>
      </p:sp>
      <p:sp>
        <p:nvSpPr>
          <p:cNvPr id="20" name="Text box 19"/>
          <p:cNvSpPr/>
          <p:nvPr/>
        </p:nvSpPr>
        <p:spPr>
          <a:xfrm>
            <a:off x="6415584" y="3054350"/>
            <a:ext cx="2328366" cy="332680"/>
          </a:xfrm>
          <a:prstGeom prst="roundRect">
            <a:avLst>
              <a:gd name="adj" fmla="val 19087"/>
            </a:avLst>
          </a:prstGeom>
          <a:solidFill>
            <a:srgbClr val="E3F1ED"/>
          </a:solidFill>
          <a:ln>
            <a:noFill/>
          </a:ln>
        </p:spPr>
        <p:txBody>
          <a:bodyPr rtlCol="0" anchor="ctr" wrap="square" tIns="25089" rIns="70301" bIns="64713" lIns="0" anchorCtr="0">
            <a:noAutofit/>
          </a:bodyPr>
          <a:lstStyle/>
          <a:p>
            <a:pPr algn="r" rtl="1">
              <a:lnSpc>
                <a:spcPts val="1620"/>
              </a:lnSpc>
              <a:spcBef>
                <a:spcPts val="0"/>
              </a:spcBef>
              <a:spcAft>
                <a:spcPts val="0"/>
              </a:spcAft>
            </a:pPr>
            <a:r>
              <a:rPr sz="1200" b="1" i="0" lang="ar-SA" altLang="en-US">
                <a:solidFill>
                  <a:srgbClr val="172433"/>
                </a:solidFill>
                <a:latin typeface="IBM Plex Sans Arabic"/>
                <a:ea typeface="IBM Plex Sans Arabic"/>
                <a:cs typeface="IBM Plex Sans Arabic"/>
              </a:rPr>
              <a:t>CC أو IT Audit Fund.</a:t>
            </a:r>
          </a:p>
        </p:txBody>
      </p:sp>
      <p:sp>
        <p:nvSpPr>
          <p:cNvPr id="21" name="Text 20"/>
          <p:cNvSpPr txBox="1"/>
          <p:nvPr/>
        </p:nvSpPr>
        <p:spPr>
          <a:xfrm>
            <a:off x="6044744" y="3139841"/>
            <a:ext cx="335280" cy="177800"/>
          </a:xfrm>
          <a:prstGeom prst="rect">
            <a:avLst/>
          </a:prstGeom>
          <a:noFill/>
        </p:spPr>
        <p:txBody>
          <a:bodyPr wrap="square" tIns="0" rIns="0" bIns="0" lIns="0" anchor="t" rtlCol="0" anchorCtr="0">
            <a:noAutofit/>
          </a:bodyPr>
          <a:lstStyle/>
          <a:p>
            <a:pPr algn="ctr">
              <a:lnSpc>
                <a:spcPts val="1400"/>
              </a:lnSpc>
              <a:spcBef>
                <a:spcPts val="0"/>
              </a:spcBef>
              <a:spcAft>
                <a:spcPts val="0"/>
              </a:spcAft>
            </a:pPr>
            <a:r>
              <a:rPr sz="1400" b="0" i="0">
                <a:solidFill>
                  <a:srgbClr val="93A3B1"/>
                </a:solidFill>
                <a:latin typeface="IBM Plex Sans Arabic"/>
                <a:ea typeface="IBM Plex Sans Arabic"/>
                <a:cs typeface="IBM Plex Sans Arabic"/>
              </a:rPr>
              <a:t>←</a:t>
            </a:r>
          </a:p>
        </p:txBody>
      </p:sp>
      <p:sp>
        <p:nvSpPr>
          <p:cNvPr id="22" name="Text box 21"/>
          <p:cNvSpPr/>
          <p:nvPr/>
        </p:nvSpPr>
        <p:spPr>
          <a:xfrm>
            <a:off x="3680817" y="3054350"/>
            <a:ext cx="2328366" cy="332680"/>
          </a:xfrm>
          <a:prstGeom prst="roundRect">
            <a:avLst>
              <a:gd name="adj" fmla="val 19087"/>
            </a:avLst>
          </a:prstGeom>
          <a:solidFill>
            <a:srgbClr val="E6EDF4"/>
          </a:solidFill>
          <a:ln>
            <a:noFill/>
          </a:ln>
        </p:spPr>
        <p:txBody>
          <a:bodyPr rtlCol="0" anchor="ctr" wrap="square" tIns="25089" rIns="70301" bIns="64713" lIns="0" anchorCtr="0">
            <a:noAutofit/>
          </a:bodyPr>
          <a:lstStyle/>
          <a:p>
            <a:pPr algn="r" rtl="1">
              <a:lnSpc>
                <a:spcPts val="1620"/>
              </a:lnSpc>
              <a:spcBef>
                <a:spcPts val="0"/>
              </a:spcBef>
              <a:spcAft>
                <a:spcPts val="0"/>
              </a:spcAft>
            </a:pPr>
            <a:r>
              <a:rPr sz="1200" b="1" i="0">
                <a:solidFill>
                  <a:srgbClr val="172433"/>
                </a:solidFill>
                <a:latin typeface="IBM Plex Sans Arabic"/>
                <a:ea typeface="IBM Plex Sans Arabic"/>
                <a:cs typeface="IBM Plex Sans Arabic"/>
              </a:rPr>
              <a:t>ISO 27001 LA</a:t>
            </a:r>
          </a:p>
        </p:txBody>
      </p:sp>
      <p:sp>
        <p:nvSpPr>
          <p:cNvPr id="23" name="Text 22"/>
          <p:cNvSpPr txBox="1"/>
          <p:nvPr/>
        </p:nvSpPr>
        <p:spPr>
          <a:xfrm>
            <a:off x="3309977" y="3139841"/>
            <a:ext cx="335280" cy="177800"/>
          </a:xfrm>
          <a:prstGeom prst="rect">
            <a:avLst/>
          </a:prstGeom>
          <a:noFill/>
        </p:spPr>
        <p:txBody>
          <a:bodyPr wrap="square" tIns="0" rIns="0" bIns="0" lIns="0" anchor="t" rtlCol="0" anchorCtr="0">
            <a:noAutofit/>
          </a:bodyPr>
          <a:lstStyle/>
          <a:p>
            <a:pPr algn="ctr">
              <a:lnSpc>
                <a:spcPts val="1400"/>
              </a:lnSpc>
              <a:spcBef>
                <a:spcPts val="0"/>
              </a:spcBef>
              <a:spcAft>
                <a:spcPts val="0"/>
              </a:spcAft>
            </a:pPr>
            <a:r>
              <a:rPr sz="1400" b="0" i="0">
                <a:solidFill>
                  <a:srgbClr val="93A3B1"/>
                </a:solidFill>
                <a:latin typeface="IBM Plex Sans Arabic"/>
                <a:ea typeface="IBM Plex Sans Arabic"/>
                <a:cs typeface="IBM Plex Sans Arabic"/>
              </a:rPr>
              <a:t>←</a:t>
            </a:r>
          </a:p>
        </p:txBody>
      </p:sp>
      <p:sp>
        <p:nvSpPr>
          <p:cNvPr id="24" name="Text box 23"/>
          <p:cNvSpPr/>
          <p:nvPr/>
        </p:nvSpPr>
        <p:spPr>
          <a:xfrm>
            <a:off x="946051" y="3054350"/>
            <a:ext cx="2328366" cy="332680"/>
          </a:xfrm>
          <a:prstGeom prst="roundRect">
            <a:avLst>
              <a:gd name="adj" fmla="val 19087"/>
            </a:avLst>
          </a:prstGeom>
          <a:solidFill>
            <a:srgbClr val="F6ECDA"/>
          </a:solidFill>
          <a:ln>
            <a:noFill/>
          </a:ln>
        </p:spPr>
        <p:txBody>
          <a:bodyPr rtlCol="0" anchor="ctr" wrap="square" tIns="25089" rIns="70301" bIns="64713" lIns="0" anchorCtr="0">
            <a:noAutofit/>
          </a:bodyPr>
          <a:lstStyle/>
          <a:p>
            <a:pPr algn="r">
              <a:lnSpc>
                <a:spcPts val="1620"/>
              </a:lnSpc>
              <a:spcBef>
                <a:spcPts val="0"/>
              </a:spcBef>
              <a:spcAft>
                <a:spcPts val="0"/>
              </a:spcAft>
            </a:pPr>
            <a:r>
              <a:rPr sz="1200" b="1" i="0">
                <a:solidFill>
                  <a:srgbClr val="172433"/>
                </a:solidFill>
                <a:latin typeface="IBM Plex Sans Arabic"/>
                <a:ea typeface="IBM Plex Sans Arabic"/>
                <a:cs typeface="IBM Plex Sans Arabic"/>
              </a:rPr>
              <a:t>CISA</a:t>
            </a:r>
          </a:p>
        </p:txBody>
      </p:sp>
      <p:sp>
        <p:nvSpPr>
          <p:cNvPr id="25" name="Box 24"/>
          <p:cNvSpPr/>
          <p:nvPr/>
        </p:nvSpPr>
        <p:spPr>
          <a:xfrm>
            <a:off x="815975" y="3637558"/>
            <a:ext cx="10560050" cy="643136"/>
          </a:xfrm>
          <a:prstGeom prst="roundRect">
            <a:avLst>
              <a:gd name="adj" fmla="val 13687"/>
            </a:avLst>
          </a:prstGeom>
          <a:solidFill>
            <a:srgbClr val="FFFDF8"/>
          </a:solidFill>
          <a:ln w="6350">
            <a:solidFill>
              <a:srgbClr val="E1DBCD"/>
            </a:solidFill>
          </a:ln>
        </p:spPr>
        <p:txBody>
          <a:bodyPr rtlCol="0" anchor="ctr"/>
          <a:lstStyle/>
          <a:p>
            <a:pPr algn="ctr"/>
          </a:p>
        </p:txBody>
      </p:sp>
      <p:sp>
        <p:nvSpPr>
          <p:cNvPr id="26" name="Text 25"/>
          <p:cNvSpPr txBox="1"/>
          <p:nvPr/>
        </p:nvSpPr>
        <p:spPr>
          <a:xfrm>
            <a:off x="8639810" y="3724331"/>
            <a:ext cx="2606040"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الخصوصية وحماية البيانات</a:t>
            </a:r>
          </a:p>
        </p:txBody>
      </p:sp>
      <p:sp>
        <p:nvSpPr>
          <p:cNvPr id="27" name="Text 26"/>
          <p:cNvSpPr txBox="1"/>
          <p:nvPr/>
        </p:nvSpPr>
        <p:spPr>
          <a:xfrm>
            <a:off x="8639810" y="3961876"/>
            <a:ext cx="260604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5E6A75"/>
                </a:solidFill>
                <a:latin typeface="IBM Plex Sans Arabic"/>
                <a:ea typeface="IBM Plex Sans Arabic"/>
                <a:cs typeface="IBM Plex Sans Arabic"/>
              </a:rPr>
              <a:t>مثل مسؤول حماية البيانات</a:t>
            </a:r>
          </a:p>
        </p:txBody>
      </p:sp>
      <p:sp>
        <p:nvSpPr>
          <p:cNvPr id="28" name="Text box 27"/>
          <p:cNvSpPr/>
          <p:nvPr/>
        </p:nvSpPr>
        <p:spPr>
          <a:xfrm>
            <a:off x="6415584" y="3792736"/>
            <a:ext cx="2328366" cy="332680"/>
          </a:xfrm>
          <a:prstGeom prst="roundRect">
            <a:avLst>
              <a:gd name="adj" fmla="val 19087"/>
            </a:avLst>
          </a:prstGeom>
          <a:solidFill>
            <a:srgbClr val="E3F1ED"/>
          </a:solidFill>
          <a:ln>
            <a:noFill/>
          </a:ln>
        </p:spPr>
        <p:txBody>
          <a:bodyPr rtlCol="0" anchor="ctr" wrap="square" tIns="25089" rIns="70301" bIns="64713" lIns="0" anchorCtr="0">
            <a:noAutofit/>
          </a:bodyPr>
          <a:lstStyle/>
          <a:p>
            <a:pPr algn="r">
              <a:lnSpc>
                <a:spcPts val="1620"/>
              </a:lnSpc>
              <a:spcBef>
                <a:spcPts val="0"/>
              </a:spcBef>
              <a:spcAft>
                <a:spcPts val="0"/>
              </a:spcAft>
            </a:pPr>
            <a:r>
              <a:rPr sz="1200" b="1" i="0">
                <a:solidFill>
                  <a:srgbClr val="172433"/>
                </a:solidFill>
                <a:latin typeface="IBM Plex Sans Arabic"/>
                <a:ea typeface="IBM Plex Sans Arabic"/>
                <a:cs typeface="IBM Plex Sans Arabic"/>
              </a:rPr>
              <a:t>CC</a:t>
            </a:r>
          </a:p>
        </p:txBody>
      </p:sp>
      <p:sp>
        <p:nvSpPr>
          <p:cNvPr id="29" name="Text 28"/>
          <p:cNvSpPr txBox="1"/>
          <p:nvPr/>
        </p:nvSpPr>
        <p:spPr>
          <a:xfrm>
            <a:off x="6044744" y="3878227"/>
            <a:ext cx="335280" cy="177800"/>
          </a:xfrm>
          <a:prstGeom prst="rect">
            <a:avLst/>
          </a:prstGeom>
          <a:noFill/>
        </p:spPr>
        <p:txBody>
          <a:bodyPr wrap="square" tIns="0" rIns="0" bIns="0" lIns="0" anchor="t" rtlCol="0" anchorCtr="0">
            <a:noAutofit/>
          </a:bodyPr>
          <a:lstStyle/>
          <a:p>
            <a:pPr algn="ctr">
              <a:lnSpc>
                <a:spcPts val="1400"/>
              </a:lnSpc>
              <a:spcBef>
                <a:spcPts val="0"/>
              </a:spcBef>
              <a:spcAft>
                <a:spcPts val="0"/>
              </a:spcAft>
            </a:pPr>
            <a:r>
              <a:rPr sz="1400" b="0" i="0">
                <a:solidFill>
                  <a:srgbClr val="93A3B1"/>
                </a:solidFill>
                <a:latin typeface="IBM Plex Sans Arabic"/>
                <a:ea typeface="IBM Plex Sans Arabic"/>
                <a:cs typeface="IBM Plex Sans Arabic"/>
              </a:rPr>
              <a:t>←</a:t>
            </a:r>
          </a:p>
        </p:txBody>
      </p:sp>
      <p:sp>
        <p:nvSpPr>
          <p:cNvPr id="30" name="Text box 29"/>
          <p:cNvSpPr/>
          <p:nvPr/>
        </p:nvSpPr>
        <p:spPr>
          <a:xfrm>
            <a:off x="3680817" y="3792736"/>
            <a:ext cx="2328366" cy="332680"/>
          </a:xfrm>
          <a:prstGeom prst="roundRect">
            <a:avLst>
              <a:gd name="adj" fmla="val 19087"/>
            </a:avLst>
          </a:prstGeom>
          <a:solidFill>
            <a:srgbClr val="E6EDF4"/>
          </a:solidFill>
          <a:ln>
            <a:noFill/>
          </a:ln>
        </p:spPr>
        <p:txBody>
          <a:bodyPr rtlCol="0" anchor="ctr" wrap="square" tIns="25089" rIns="70301" bIns="64713" lIns="0" anchorCtr="0">
            <a:noAutofit/>
          </a:bodyPr>
          <a:lstStyle/>
          <a:p>
            <a:pPr algn="r" rtl="1">
              <a:lnSpc>
                <a:spcPts val="1620"/>
              </a:lnSpc>
              <a:spcBef>
                <a:spcPts val="0"/>
              </a:spcBef>
              <a:spcAft>
                <a:spcPts val="0"/>
              </a:spcAft>
            </a:pPr>
            <a:r>
              <a:rPr sz="1200" b="1" i="0" lang="ar-SA" altLang="en-US">
                <a:solidFill>
                  <a:srgbClr val="172433"/>
                </a:solidFill>
                <a:latin typeface="IBM Plex Sans Arabic"/>
                <a:ea typeface="IBM Plex Sans Arabic"/>
                <a:cs typeface="IBM Plex Sans Arabic"/>
              </a:rPr>
              <a:t>CIPM أو ‎CIPP/E‎</a:t>
            </a:r>
          </a:p>
        </p:txBody>
      </p:sp>
      <p:sp>
        <p:nvSpPr>
          <p:cNvPr id="31" name="Text 30"/>
          <p:cNvSpPr txBox="1"/>
          <p:nvPr/>
        </p:nvSpPr>
        <p:spPr>
          <a:xfrm>
            <a:off x="3309977" y="3878227"/>
            <a:ext cx="335280" cy="177800"/>
          </a:xfrm>
          <a:prstGeom prst="rect">
            <a:avLst/>
          </a:prstGeom>
          <a:noFill/>
        </p:spPr>
        <p:txBody>
          <a:bodyPr wrap="square" tIns="0" rIns="0" bIns="0" lIns="0" anchor="t" rtlCol="0" anchorCtr="0">
            <a:noAutofit/>
          </a:bodyPr>
          <a:lstStyle/>
          <a:p>
            <a:pPr algn="ctr">
              <a:lnSpc>
                <a:spcPts val="1400"/>
              </a:lnSpc>
              <a:spcBef>
                <a:spcPts val="0"/>
              </a:spcBef>
              <a:spcAft>
                <a:spcPts val="0"/>
              </a:spcAft>
            </a:pPr>
            <a:r>
              <a:rPr sz="1400" b="0" i="0">
                <a:solidFill>
                  <a:srgbClr val="93A3B1"/>
                </a:solidFill>
                <a:latin typeface="IBM Plex Sans Arabic"/>
                <a:ea typeface="IBM Plex Sans Arabic"/>
                <a:cs typeface="IBM Plex Sans Arabic"/>
              </a:rPr>
              <a:t>←</a:t>
            </a:r>
          </a:p>
        </p:txBody>
      </p:sp>
      <p:sp>
        <p:nvSpPr>
          <p:cNvPr id="32" name="Text box 31"/>
          <p:cNvSpPr/>
          <p:nvPr/>
        </p:nvSpPr>
        <p:spPr>
          <a:xfrm>
            <a:off x="946051" y="3792736"/>
            <a:ext cx="2328366" cy="332680"/>
          </a:xfrm>
          <a:prstGeom prst="roundRect">
            <a:avLst>
              <a:gd name="adj" fmla="val 19087"/>
            </a:avLst>
          </a:prstGeom>
          <a:solidFill>
            <a:srgbClr val="F6ECDA"/>
          </a:solidFill>
          <a:ln>
            <a:noFill/>
          </a:ln>
        </p:spPr>
        <p:txBody>
          <a:bodyPr rtlCol="0" anchor="ctr" wrap="square" tIns="25089" rIns="70301" bIns="64713" lIns="0" anchorCtr="0">
            <a:noAutofit/>
          </a:bodyPr>
          <a:lstStyle/>
          <a:p>
            <a:pPr algn="r">
              <a:lnSpc>
                <a:spcPts val="1620"/>
              </a:lnSpc>
              <a:spcBef>
                <a:spcPts val="0"/>
              </a:spcBef>
              <a:spcAft>
                <a:spcPts val="0"/>
              </a:spcAft>
            </a:pPr>
            <a:r>
              <a:rPr sz="1200" b="1" i="0">
                <a:solidFill>
                  <a:srgbClr val="172433"/>
                </a:solidFill>
                <a:latin typeface="IBM Plex Sans Arabic"/>
                <a:ea typeface="IBM Plex Sans Arabic"/>
                <a:cs typeface="IBM Plex Sans Arabic"/>
              </a:rPr>
              <a:t>CDPSE</a:t>
            </a:r>
          </a:p>
        </p:txBody>
      </p:sp>
      <p:sp>
        <p:nvSpPr>
          <p:cNvPr id="33" name="Box 32"/>
          <p:cNvSpPr/>
          <p:nvPr/>
        </p:nvSpPr>
        <p:spPr>
          <a:xfrm>
            <a:off x="815975" y="4375944"/>
            <a:ext cx="10560050" cy="643136"/>
          </a:xfrm>
          <a:prstGeom prst="roundRect">
            <a:avLst>
              <a:gd name="adj" fmla="val 13687"/>
            </a:avLst>
          </a:prstGeom>
          <a:solidFill>
            <a:srgbClr val="FFFDF8"/>
          </a:solidFill>
          <a:ln w="6350">
            <a:solidFill>
              <a:srgbClr val="E1DBCD"/>
            </a:solidFill>
          </a:ln>
        </p:spPr>
        <p:txBody>
          <a:bodyPr rtlCol="0" anchor="ctr"/>
          <a:lstStyle/>
          <a:p>
            <a:pPr algn="ctr"/>
          </a:p>
        </p:txBody>
      </p:sp>
      <p:sp>
        <p:nvSpPr>
          <p:cNvPr id="34" name="Text 33"/>
          <p:cNvSpPr txBox="1"/>
          <p:nvPr/>
        </p:nvSpPr>
        <p:spPr>
          <a:xfrm>
            <a:off x="8639810" y="4462716"/>
            <a:ext cx="2606040"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قيادة الأمن والحوكمة</a:t>
            </a:r>
          </a:p>
        </p:txBody>
      </p:sp>
      <p:sp>
        <p:nvSpPr>
          <p:cNvPr id="35" name="Text 34"/>
          <p:cNvSpPr txBox="1"/>
          <p:nvPr/>
        </p:nvSpPr>
        <p:spPr>
          <a:xfrm>
            <a:off x="8639810" y="4700262"/>
            <a:ext cx="260604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5E6A75"/>
                </a:solidFill>
                <a:latin typeface="IBM Plex Sans Arabic"/>
                <a:ea typeface="IBM Plex Sans Arabic"/>
                <a:cs typeface="IBM Plex Sans Arabic"/>
              </a:rPr>
              <a:t>هدف بعيد، بعد سنوات</a:t>
            </a:r>
          </a:p>
        </p:txBody>
      </p:sp>
      <p:sp>
        <p:nvSpPr>
          <p:cNvPr id="36" name="Text box 35"/>
          <p:cNvSpPr/>
          <p:nvPr/>
        </p:nvSpPr>
        <p:spPr>
          <a:xfrm>
            <a:off x="6415584" y="4531122"/>
            <a:ext cx="2328366" cy="332680"/>
          </a:xfrm>
          <a:prstGeom prst="roundRect">
            <a:avLst>
              <a:gd name="adj" fmla="val 19087"/>
            </a:avLst>
          </a:prstGeom>
          <a:solidFill>
            <a:srgbClr val="E3F1ED"/>
          </a:solidFill>
          <a:ln>
            <a:noFill/>
          </a:ln>
        </p:spPr>
        <p:txBody>
          <a:bodyPr rtlCol="0" anchor="ctr" wrap="square" tIns="25089" rIns="70301" bIns="64713" lIns="0" anchorCtr="0">
            <a:noAutofit/>
          </a:bodyPr>
          <a:lstStyle/>
          <a:p>
            <a:pPr algn="r" rtl="1">
              <a:lnSpc>
                <a:spcPts val="1620"/>
              </a:lnSpc>
              <a:spcBef>
                <a:spcPts val="0"/>
              </a:spcBef>
              <a:spcAft>
                <a:spcPts val="0"/>
              </a:spcAft>
            </a:pPr>
            <a:r>
              <a:rPr sz="1200" b="1" i="0" lang="ar-SA" altLang="en-US">
                <a:solidFill>
                  <a:srgbClr val="172433"/>
                </a:solidFill>
                <a:latin typeface="IBM Plex Sans Arabic"/>
                <a:ea typeface="IBM Plex Sans Arabic"/>
                <a:cs typeface="IBM Plex Sans Arabic"/>
              </a:rPr>
              <a:t>أي مسار مما سبق</a:t>
            </a:r>
          </a:p>
        </p:txBody>
      </p:sp>
      <p:sp>
        <p:nvSpPr>
          <p:cNvPr id="37" name="Text 36"/>
          <p:cNvSpPr txBox="1"/>
          <p:nvPr/>
        </p:nvSpPr>
        <p:spPr>
          <a:xfrm>
            <a:off x="6044744" y="4616613"/>
            <a:ext cx="335280" cy="177800"/>
          </a:xfrm>
          <a:prstGeom prst="rect">
            <a:avLst/>
          </a:prstGeom>
          <a:noFill/>
        </p:spPr>
        <p:txBody>
          <a:bodyPr wrap="square" tIns="0" rIns="0" bIns="0" lIns="0" anchor="t" rtlCol="0" anchorCtr="0">
            <a:noAutofit/>
          </a:bodyPr>
          <a:lstStyle/>
          <a:p>
            <a:pPr algn="ctr">
              <a:lnSpc>
                <a:spcPts val="1400"/>
              </a:lnSpc>
              <a:spcBef>
                <a:spcPts val="0"/>
              </a:spcBef>
              <a:spcAft>
                <a:spcPts val="0"/>
              </a:spcAft>
            </a:pPr>
            <a:r>
              <a:rPr sz="1400" b="0" i="0">
                <a:solidFill>
                  <a:srgbClr val="93A3B1"/>
                </a:solidFill>
                <a:latin typeface="IBM Plex Sans Arabic"/>
                <a:ea typeface="IBM Plex Sans Arabic"/>
                <a:cs typeface="IBM Plex Sans Arabic"/>
              </a:rPr>
              <a:t>←</a:t>
            </a:r>
          </a:p>
        </p:txBody>
      </p:sp>
      <p:sp>
        <p:nvSpPr>
          <p:cNvPr id="38" name="Text box 37"/>
          <p:cNvSpPr/>
          <p:nvPr/>
        </p:nvSpPr>
        <p:spPr>
          <a:xfrm>
            <a:off x="3680817" y="4531122"/>
            <a:ext cx="2328366" cy="332680"/>
          </a:xfrm>
          <a:prstGeom prst="roundRect">
            <a:avLst>
              <a:gd name="adj" fmla="val 19087"/>
            </a:avLst>
          </a:prstGeom>
          <a:solidFill>
            <a:srgbClr val="E6EDF4"/>
          </a:solidFill>
          <a:ln>
            <a:noFill/>
          </a:ln>
        </p:spPr>
        <p:txBody>
          <a:bodyPr rtlCol="0" anchor="ctr" wrap="square" tIns="25089" rIns="70301" bIns="64713" lIns="0" anchorCtr="0">
            <a:noAutofit/>
          </a:bodyPr>
          <a:lstStyle/>
          <a:p>
            <a:pPr algn="r" rtl="1">
              <a:lnSpc>
                <a:spcPts val="1620"/>
              </a:lnSpc>
              <a:spcBef>
                <a:spcPts val="0"/>
              </a:spcBef>
              <a:spcAft>
                <a:spcPts val="0"/>
              </a:spcAft>
            </a:pPr>
            <a:r>
              <a:rPr sz="1200" b="1" i="0" lang="ar-SA" altLang="en-US">
                <a:solidFill>
                  <a:srgbClr val="172433"/>
                </a:solidFill>
                <a:latin typeface="IBM Plex Sans Arabic"/>
                <a:ea typeface="IBM Plex Sans Arabic"/>
                <a:cs typeface="IBM Plex Sans Arabic"/>
              </a:rPr>
              <a:t>CISM أو CISSP</a:t>
            </a:r>
          </a:p>
        </p:txBody>
      </p:sp>
      <p:sp>
        <p:nvSpPr>
          <p:cNvPr id="39" name="Text 38"/>
          <p:cNvSpPr txBox="1"/>
          <p:nvPr/>
        </p:nvSpPr>
        <p:spPr>
          <a:xfrm>
            <a:off x="3309977" y="4616613"/>
            <a:ext cx="335280" cy="177800"/>
          </a:xfrm>
          <a:prstGeom prst="rect">
            <a:avLst/>
          </a:prstGeom>
          <a:noFill/>
        </p:spPr>
        <p:txBody>
          <a:bodyPr wrap="square" tIns="0" rIns="0" bIns="0" lIns="0" anchor="t" rtlCol="0" anchorCtr="0">
            <a:noAutofit/>
          </a:bodyPr>
          <a:lstStyle/>
          <a:p>
            <a:pPr algn="ctr">
              <a:lnSpc>
                <a:spcPts val="1400"/>
              </a:lnSpc>
              <a:spcBef>
                <a:spcPts val="0"/>
              </a:spcBef>
              <a:spcAft>
                <a:spcPts val="0"/>
              </a:spcAft>
            </a:pPr>
            <a:r>
              <a:rPr sz="1400" b="0" i="0">
                <a:solidFill>
                  <a:srgbClr val="93A3B1"/>
                </a:solidFill>
                <a:latin typeface="IBM Plex Sans Arabic"/>
                <a:ea typeface="IBM Plex Sans Arabic"/>
                <a:cs typeface="IBM Plex Sans Arabic"/>
              </a:rPr>
              <a:t>←</a:t>
            </a:r>
          </a:p>
        </p:txBody>
      </p:sp>
      <p:sp>
        <p:nvSpPr>
          <p:cNvPr id="40" name="Text box 39"/>
          <p:cNvSpPr/>
          <p:nvPr/>
        </p:nvSpPr>
        <p:spPr>
          <a:xfrm>
            <a:off x="946051" y="4531122"/>
            <a:ext cx="2328366" cy="332680"/>
          </a:xfrm>
          <a:prstGeom prst="roundRect">
            <a:avLst>
              <a:gd name="adj" fmla="val 19087"/>
            </a:avLst>
          </a:prstGeom>
          <a:solidFill>
            <a:srgbClr val="F6ECDA"/>
          </a:solidFill>
          <a:ln>
            <a:noFill/>
          </a:ln>
        </p:spPr>
        <p:txBody>
          <a:bodyPr rtlCol="0" anchor="ctr" wrap="square" tIns="25089" rIns="70301" bIns="64713" lIns="0" anchorCtr="0">
            <a:noAutofit/>
          </a:bodyPr>
          <a:lstStyle/>
          <a:p>
            <a:pPr algn="r">
              <a:lnSpc>
                <a:spcPts val="1620"/>
              </a:lnSpc>
              <a:spcBef>
                <a:spcPts val="0"/>
              </a:spcBef>
              <a:spcAft>
                <a:spcPts val="0"/>
              </a:spcAft>
            </a:pPr>
            <a:r>
              <a:rPr sz="1200" b="1" i="0">
                <a:solidFill>
                  <a:srgbClr val="172433"/>
                </a:solidFill>
                <a:latin typeface="IBM Plex Sans Arabic"/>
                <a:ea typeface="IBM Plex Sans Arabic"/>
                <a:cs typeface="IBM Plex Sans Arabic"/>
              </a:rPr>
              <a:t>CGEIT</a:t>
            </a:r>
          </a:p>
        </p:txBody>
      </p:sp>
      <p:sp>
        <p:nvSpPr>
          <p:cNvPr id="41" name="Box 40"/>
          <p:cNvSpPr/>
          <p:nvPr/>
        </p:nvSpPr>
        <p:spPr>
          <a:xfrm>
            <a:off x="812800" y="5174655"/>
            <a:ext cx="10566400" cy="425450"/>
          </a:xfrm>
          <a:prstGeom prst="roundRect">
            <a:avLst>
              <a:gd name="adj" fmla="val 20895"/>
            </a:avLst>
          </a:prstGeom>
          <a:solidFill>
            <a:srgbClr val="172433"/>
          </a:solidFill>
          <a:ln>
            <a:noFill/>
          </a:ln>
        </p:spPr>
        <p:txBody>
          <a:bodyPr rtlCol="0" anchor="ctr"/>
          <a:lstStyle/>
          <a:p>
            <a:pPr algn="ctr"/>
          </a:p>
        </p:txBody>
      </p:sp>
      <p:pic>
        <p:nvPicPr>
          <p:cNvPr id="42" name="Icon Star 41" descr="icon045.png"/>
          <p:cNvPicPr>
            <a:picLocks noChangeAspect="1"/>
          </p:cNvPicPr>
          <p:nvPr/>
        </p:nvPicPr>
        <p:blipFill>
          <a:blip r:embed="rId2"/>
          <a:stretch>
            <a:fillRect/>
          </a:stretch>
        </p:blipFill>
        <p:spPr>
          <a:xfrm>
            <a:off x="11049000" y="5298480"/>
            <a:ext cx="177800" cy="177800"/>
          </a:xfrm>
          <a:prstGeom prst="rect">
            <a:avLst/>
          </a:prstGeom>
        </p:spPr>
      </p:pic>
      <p:sp>
        <p:nvSpPr>
          <p:cNvPr id="43" name="Text 42"/>
          <p:cNvSpPr txBox="1"/>
          <p:nvPr/>
        </p:nvSpPr>
        <p:spPr>
          <a:xfrm>
            <a:off x="838200" y="5251648"/>
            <a:ext cx="10121900" cy="222250"/>
          </a:xfrm>
          <a:prstGeom prst="rect">
            <a:avLst/>
          </a:prstGeom>
          <a:noFill/>
        </p:spPr>
        <p:txBody>
          <a:bodyPr wrap="square" tIns="0" rIns="0" bIns="0" lIns="0" anchor="t" rtlCol="0" anchorCtr="0">
            <a:noAutofit/>
          </a:bodyPr>
          <a:lstStyle/>
          <a:p>
            <a:pPr algn="r" rtl="1">
              <a:lnSpc>
                <a:spcPts val="1750"/>
              </a:lnSpc>
              <a:spcBef>
                <a:spcPts val="0"/>
              </a:spcBef>
              <a:spcAft>
                <a:spcPts val="0"/>
              </a:spcAft>
            </a:pPr>
            <a:r>
              <a:rPr sz="1250" b="0" i="0" lang="ar-SA" altLang="en-US">
                <a:solidFill>
                  <a:srgbClr val="F3EFE6"/>
                </a:solidFill>
                <a:latin typeface="IBM Plex Sans Arabic"/>
                <a:ea typeface="IBM Plex Sans Arabic"/>
                <a:cs typeface="IBM Plex Sans Arabic"/>
              </a:rPr>
              <a:t>شهادة واحدة لكل مرحلة. ما بين المراحل خبرة ومشاريع، لا شهادة إضافية.</a:t>
            </a:r>
          </a:p>
        </p:txBody>
      </p:sp>
      <p:sp>
        <p:nvSpPr>
          <p:cNvPr id="44" name="Text 43"/>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05 · الشهادات</a:t>
            </a:r>
          </a:p>
        </p:txBody>
      </p:sp>
      <p:sp>
        <p:nvSpPr>
          <p:cNvPr id="45" name="Text 44"/>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798844" y="812800"/>
            <a:ext cx="1580356"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كيف تذاكر لأي شهادة: أربع خطوات</a:t>
            </a:r>
          </a:p>
        </p:txBody>
      </p:sp>
      <p:sp>
        <p:nvSpPr>
          <p:cNvPr id="5" name="Box 4"/>
          <p:cNvSpPr/>
          <p:nvPr/>
        </p:nvSpPr>
        <p:spPr>
          <a:xfrm>
            <a:off x="8820150" y="1835745"/>
            <a:ext cx="2555875" cy="1395016"/>
          </a:xfrm>
          <a:prstGeom prst="roundRect">
            <a:avLst>
              <a:gd name="adj" fmla="val 7250"/>
            </a:avLst>
          </a:prstGeom>
          <a:solidFill>
            <a:srgbClr val="FFFDF8"/>
          </a:solidFill>
          <a:ln w="6350">
            <a:solidFill>
              <a:srgbClr val="E1DBCD"/>
            </a:solidFill>
          </a:ln>
        </p:spPr>
        <p:txBody>
          <a:bodyPr rtlCol="0" anchor="ctr"/>
          <a:lstStyle/>
          <a:p>
            <a:pPr algn="ctr"/>
          </a:p>
        </p:txBody>
      </p:sp>
      <p:sp>
        <p:nvSpPr>
          <p:cNvPr id="6" name="Text 5"/>
          <p:cNvSpPr txBox="1"/>
          <p:nvPr/>
        </p:nvSpPr>
        <p:spPr>
          <a:xfrm>
            <a:off x="8842375" y="2015069"/>
            <a:ext cx="2378075"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1</a:t>
            </a:r>
          </a:p>
        </p:txBody>
      </p:sp>
      <p:sp>
        <p:nvSpPr>
          <p:cNvPr id="7" name="Text 6"/>
          <p:cNvSpPr txBox="1"/>
          <p:nvPr/>
        </p:nvSpPr>
        <p:spPr>
          <a:xfrm>
            <a:off x="8842375" y="2316218"/>
            <a:ext cx="2378075"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مخطط الاختبار الرسمي</a:t>
            </a:r>
          </a:p>
        </p:txBody>
      </p:sp>
      <p:sp>
        <p:nvSpPr>
          <p:cNvPr id="8" name="Text 7"/>
          <p:cNvSpPr txBox="1"/>
          <p:nvPr/>
        </p:nvSpPr>
        <p:spPr>
          <a:xfrm>
            <a:off x="8908383" y="2593134"/>
            <a:ext cx="2312067"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Exam Outline مجاني. المجالات وأوزانها هي خطة مذاكرتك.</a:t>
            </a:r>
          </a:p>
        </p:txBody>
      </p:sp>
      <p:sp>
        <p:nvSpPr>
          <p:cNvPr id="9" name="Box 8"/>
          <p:cNvSpPr/>
          <p:nvPr/>
        </p:nvSpPr>
        <p:spPr>
          <a:xfrm>
            <a:off x="6156325" y="1835745"/>
            <a:ext cx="2555875" cy="1395016"/>
          </a:xfrm>
          <a:prstGeom prst="roundRect">
            <a:avLst>
              <a:gd name="adj" fmla="val 7250"/>
            </a:avLst>
          </a:prstGeom>
          <a:solidFill>
            <a:srgbClr val="FFFDF8"/>
          </a:solidFill>
          <a:ln w="6350">
            <a:solidFill>
              <a:srgbClr val="E1DBCD"/>
            </a:solidFill>
          </a:ln>
        </p:spPr>
        <p:txBody>
          <a:bodyPr rtlCol="0" anchor="ctr"/>
          <a:lstStyle/>
          <a:p>
            <a:pPr algn="ctr"/>
          </a:p>
        </p:txBody>
      </p:sp>
      <p:sp>
        <p:nvSpPr>
          <p:cNvPr id="10" name="Text 9"/>
          <p:cNvSpPr txBox="1"/>
          <p:nvPr/>
        </p:nvSpPr>
        <p:spPr>
          <a:xfrm>
            <a:off x="6178550" y="2015069"/>
            <a:ext cx="2378075"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2</a:t>
            </a:r>
          </a:p>
        </p:txBody>
      </p:sp>
      <p:sp>
        <p:nvSpPr>
          <p:cNvPr id="11" name="Text 10"/>
          <p:cNvSpPr txBox="1"/>
          <p:nvPr/>
        </p:nvSpPr>
        <p:spPr>
          <a:xfrm>
            <a:off x="6178550" y="2316218"/>
            <a:ext cx="2378075"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مصدر أساسي واحد</a:t>
            </a:r>
          </a:p>
        </p:txBody>
      </p:sp>
      <p:sp>
        <p:nvSpPr>
          <p:cNvPr id="12" name="Text 11"/>
          <p:cNvSpPr txBox="1"/>
          <p:nvPr/>
        </p:nvSpPr>
        <p:spPr>
          <a:xfrm>
            <a:off x="6244558" y="2593134"/>
            <a:ext cx="2312067"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الدليل الرسمي أو دورة معتمدة. خمسة مصادر تشتت ولا تضيف.</a:t>
            </a:r>
          </a:p>
        </p:txBody>
      </p:sp>
      <p:sp>
        <p:nvSpPr>
          <p:cNvPr id="13" name="Box 12"/>
          <p:cNvSpPr/>
          <p:nvPr/>
        </p:nvSpPr>
        <p:spPr>
          <a:xfrm>
            <a:off x="3492500" y="1835745"/>
            <a:ext cx="2555875" cy="1395016"/>
          </a:xfrm>
          <a:prstGeom prst="roundRect">
            <a:avLst>
              <a:gd name="adj" fmla="val 7250"/>
            </a:avLst>
          </a:prstGeom>
          <a:solidFill>
            <a:srgbClr val="FFFDF8"/>
          </a:solidFill>
          <a:ln w="6350">
            <a:solidFill>
              <a:srgbClr val="E1DBCD"/>
            </a:solidFill>
          </a:ln>
        </p:spPr>
        <p:txBody>
          <a:bodyPr rtlCol="0" anchor="ctr"/>
          <a:lstStyle/>
          <a:p>
            <a:pPr algn="ctr"/>
          </a:p>
        </p:txBody>
      </p:sp>
      <p:sp>
        <p:nvSpPr>
          <p:cNvPr id="14" name="Text 13"/>
          <p:cNvSpPr txBox="1"/>
          <p:nvPr/>
        </p:nvSpPr>
        <p:spPr>
          <a:xfrm>
            <a:off x="3514725" y="2015069"/>
            <a:ext cx="2378075"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3</a:t>
            </a:r>
          </a:p>
        </p:txBody>
      </p:sp>
      <p:sp>
        <p:nvSpPr>
          <p:cNvPr id="15" name="Text 14"/>
          <p:cNvSpPr txBox="1"/>
          <p:nvPr/>
        </p:nvSpPr>
        <p:spPr>
          <a:xfrm>
            <a:off x="3514725" y="2316218"/>
            <a:ext cx="2378075"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بنك أسئلة بفهم</a:t>
            </a:r>
          </a:p>
        </p:txBody>
      </p:sp>
      <p:sp>
        <p:nvSpPr>
          <p:cNvPr id="16" name="Text 15"/>
          <p:cNvSpPr txBox="1"/>
          <p:nvPr/>
        </p:nvSpPr>
        <p:spPr>
          <a:xfrm>
            <a:off x="3580733" y="2593134"/>
            <a:ext cx="2312067"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لكل سؤال: لماذا الصحيح صحيح، ولماذا كل خيار آخر خطأ.</a:t>
            </a:r>
          </a:p>
        </p:txBody>
      </p:sp>
      <p:sp>
        <p:nvSpPr>
          <p:cNvPr id="17" name="Box 16"/>
          <p:cNvSpPr/>
          <p:nvPr/>
        </p:nvSpPr>
        <p:spPr>
          <a:xfrm>
            <a:off x="819150" y="1838920"/>
            <a:ext cx="2562225" cy="1388666"/>
          </a:xfrm>
          <a:prstGeom prst="roundRect">
            <a:avLst>
              <a:gd name="adj" fmla="val 7250"/>
            </a:avLst>
          </a:prstGeom>
          <a:solidFill>
            <a:srgbClr val="E3F1ED"/>
          </a:solidFill>
          <a:ln w="12700">
            <a:solidFill>
              <a:srgbClr val="0E7C6B"/>
            </a:solidFill>
          </a:ln>
        </p:spPr>
        <p:txBody>
          <a:bodyPr rtlCol="0" anchor="ctr"/>
          <a:lstStyle/>
          <a:p>
            <a:pPr algn="ctr"/>
          </a:p>
        </p:txBody>
      </p:sp>
      <p:sp>
        <p:nvSpPr>
          <p:cNvPr id="18" name="Text 17"/>
          <p:cNvSpPr txBox="1"/>
          <p:nvPr/>
        </p:nvSpPr>
        <p:spPr>
          <a:xfrm>
            <a:off x="838200" y="2021419"/>
            <a:ext cx="2384425"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4</a:t>
            </a:r>
          </a:p>
        </p:txBody>
      </p:sp>
      <p:sp>
        <p:nvSpPr>
          <p:cNvPr id="19" name="Text 18"/>
          <p:cNvSpPr txBox="1"/>
          <p:nvPr/>
        </p:nvSpPr>
        <p:spPr>
          <a:xfrm>
            <a:off x="838200" y="2322568"/>
            <a:ext cx="2384425"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احجز حين تثبت درجاتك</a:t>
            </a:r>
          </a:p>
        </p:txBody>
      </p:sp>
      <p:sp>
        <p:nvSpPr>
          <p:cNvPr id="20" name="Text 19"/>
          <p:cNvSpPr txBox="1"/>
          <p:nvPr/>
        </p:nvSpPr>
        <p:spPr>
          <a:xfrm>
            <a:off x="910558" y="2599484"/>
            <a:ext cx="2312067"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حين تتجاوز حد النجاح في الاختبارات التجريبية مرة بعد مرة.</a:t>
            </a:r>
          </a:p>
        </p:txBody>
      </p:sp>
      <p:sp>
        <p:nvSpPr>
          <p:cNvPr id="21" name="Box 20"/>
          <p:cNvSpPr/>
          <p:nvPr/>
        </p:nvSpPr>
        <p:spPr>
          <a:xfrm>
            <a:off x="7924800" y="3411736"/>
            <a:ext cx="3454400" cy="1194991"/>
          </a:xfrm>
          <a:prstGeom prst="roundRect">
            <a:avLst>
              <a:gd name="adj" fmla="val 7439"/>
            </a:avLst>
          </a:prstGeom>
          <a:solidFill>
            <a:srgbClr val="172433"/>
          </a:solidFill>
          <a:ln>
            <a:noFill/>
          </a:ln>
        </p:spPr>
        <p:txBody>
          <a:bodyPr rtlCol="0" anchor="ctr"/>
          <a:lstStyle/>
          <a:p>
            <a:pPr algn="ctr"/>
          </a:p>
        </p:txBody>
      </p:sp>
      <p:pic>
        <p:nvPicPr>
          <p:cNvPr id="22" name="Icon Users 21" descr="icon035.png"/>
          <p:cNvPicPr>
            <a:picLocks noChangeAspect="1"/>
          </p:cNvPicPr>
          <p:nvPr/>
        </p:nvPicPr>
        <p:blipFill>
          <a:blip r:embed="rId2"/>
          <a:stretch>
            <a:fillRect/>
          </a:stretch>
        </p:blipFill>
        <p:spPr>
          <a:xfrm>
            <a:off x="11023600" y="3551436"/>
            <a:ext cx="203200" cy="203200"/>
          </a:xfrm>
          <a:prstGeom prst="rect">
            <a:avLst/>
          </a:prstGeom>
        </p:spPr>
      </p:pic>
      <p:sp>
        <p:nvSpPr>
          <p:cNvPr id="23" name="Text 22"/>
          <p:cNvSpPr txBox="1"/>
          <p:nvPr/>
        </p:nvSpPr>
        <p:spPr>
          <a:xfrm>
            <a:off x="7950200" y="3534100"/>
            <a:ext cx="2984500"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F2C46D"/>
                </a:solidFill>
                <a:latin typeface="IBM Plex Sans Arabic"/>
                <a:ea typeface="IBM Plex Sans Arabic"/>
                <a:cs typeface="IBM Plex Sans Arabic"/>
              </a:rPr>
              <a:t>فكّر كمدير</a:t>
            </a:r>
          </a:p>
        </p:txBody>
      </p:sp>
      <p:sp>
        <p:nvSpPr>
          <p:cNvPr id="24" name="Text 23"/>
          <p:cNvSpPr txBox="1"/>
          <p:nvPr/>
        </p:nvSpPr>
        <p:spPr>
          <a:xfrm>
            <a:off x="7991475" y="3776714"/>
            <a:ext cx="2943225" cy="66288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F3EFE6"/>
                </a:solidFill>
                <a:latin typeface="IBM Plex Sans Arabic"/>
                <a:ea typeface="IBM Plex Sans Arabic"/>
                <a:cs typeface="IBM Plex Sans Arabic"/>
              </a:rPr>
              <a:t>أسئلة ISACA وISC2 تسأل عن «الأفضل» أو «الأول» من منظور المخاطر والإدارة، لا الحل التقني الأسرع.</a:t>
            </a:r>
          </a:p>
        </p:txBody>
      </p:sp>
      <p:sp>
        <p:nvSpPr>
          <p:cNvPr id="25" name="Box 24"/>
          <p:cNvSpPr/>
          <p:nvPr/>
        </p:nvSpPr>
        <p:spPr>
          <a:xfrm>
            <a:off x="4368800" y="3411736"/>
            <a:ext cx="3454400" cy="1194991"/>
          </a:xfrm>
          <a:prstGeom prst="roundRect">
            <a:avLst>
              <a:gd name="adj" fmla="val 7439"/>
            </a:avLst>
          </a:prstGeom>
          <a:solidFill>
            <a:srgbClr val="172433"/>
          </a:solidFill>
          <a:ln>
            <a:noFill/>
          </a:ln>
        </p:spPr>
        <p:txBody>
          <a:bodyPr rtlCol="0" anchor="ctr"/>
          <a:lstStyle/>
          <a:p>
            <a:pPr algn="ctr"/>
          </a:p>
        </p:txBody>
      </p:sp>
      <p:pic>
        <p:nvPicPr>
          <p:cNvPr id="26" name="Icon Globe 25" descr="icon046.png"/>
          <p:cNvPicPr>
            <a:picLocks noChangeAspect="1"/>
          </p:cNvPicPr>
          <p:nvPr/>
        </p:nvPicPr>
        <p:blipFill>
          <a:blip r:embed="rId3"/>
          <a:stretch>
            <a:fillRect/>
          </a:stretch>
        </p:blipFill>
        <p:spPr>
          <a:xfrm>
            <a:off x="7467600" y="3551436"/>
            <a:ext cx="203200" cy="203200"/>
          </a:xfrm>
          <a:prstGeom prst="rect">
            <a:avLst/>
          </a:prstGeom>
        </p:spPr>
      </p:pic>
      <p:sp>
        <p:nvSpPr>
          <p:cNvPr id="27" name="Text 26"/>
          <p:cNvSpPr txBox="1"/>
          <p:nvPr/>
        </p:nvSpPr>
        <p:spPr>
          <a:xfrm>
            <a:off x="4394200" y="3534100"/>
            <a:ext cx="2984500"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F2C46D"/>
                </a:solidFill>
                <a:latin typeface="IBM Plex Sans Arabic"/>
                <a:ea typeface="IBM Plex Sans Arabic"/>
                <a:cs typeface="IBM Plex Sans Arabic"/>
              </a:rPr>
              <a:t>الاختبار بالإنجليزية</a:t>
            </a:r>
          </a:p>
        </p:txBody>
      </p:sp>
      <p:sp>
        <p:nvSpPr>
          <p:cNvPr id="28" name="Text 27"/>
          <p:cNvSpPr txBox="1"/>
          <p:nvPr/>
        </p:nvSpPr>
        <p:spPr>
          <a:xfrm>
            <a:off x="4435475" y="3776714"/>
            <a:ext cx="2943225"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F3EFE6"/>
                </a:solidFill>
                <a:latin typeface="IBM Plex Sans Arabic"/>
                <a:ea typeface="IBM Plex Sans Arabic"/>
                <a:cs typeface="IBM Plex Sans Arabic"/>
              </a:rPr>
              <a:t>لا يقدم أي اختبار في هذه الوحدة بالعربية. ذاكر المصطلحات بالإنجليزية من اليوم الأول.</a:t>
            </a:r>
          </a:p>
        </p:txBody>
      </p:sp>
      <p:sp>
        <p:nvSpPr>
          <p:cNvPr id="29" name="Box 28"/>
          <p:cNvSpPr/>
          <p:nvPr/>
        </p:nvSpPr>
        <p:spPr>
          <a:xfrm>
            <a:off x="812800" y="3411736"/>
            <a:ext cx="3454400" cy="1194991"/>
          </a:xfrm>
          <a:prstGeom prst="roundRect">
            <a:avLst>
              <a:gd name="adj" fmla="val 7439"/>
            </a:avLst>
          </a:prstGeom>
          <a:solidFill>
            <a:srgbClr val="172433"/>
          </a:solidFill>
          <a:ln>
            <a:noFill/>
          </a:ln>
        </p:spPr>
        <p:txBody>
          <a:bodyPr rtlCol="0" anchor="ctr"/>
          <a:lstStyle/>
          <a:p>
            <a:pPr algn="ctr"/>
          </a:p>
        </p:txBody>
      </p:sp>
      <p:pic>
        <p:nvPicPr>
          <p:cNvPr id="30" name="Icon Clock 29" descr="icon047.png"/>
          <p:cNvPicPr>
            <a:picLocks noChangeAspect="1"/>
          </p:cNvPicPr>
          <p:nvPr/>
        </p:nvPicPr>
        <p:blipFill>
          <a:blip r:embed="rId4"/>
          <a:stretch>
            <a:fillRect/>
          </a:stretch>
        </p:blipFill>
        <p:spPr>
          <a:xfrm>
            <a:off x="3911600" y="3551436"/>
            <a:ext cx="203200" cy="203200"/>
          </a:xfrm>
          <a:prstGeom prst="rect">
            <a:avLst/>
          </a:prstGeom>
        </p:spPr>
      </p:pic>
      <p:sp>
        <p:nvSpPr>
          <p:cNvPr id="31" name="Text 30"/>
          <p:cNvSpPr txBox="1"/>
          <p:nvPr/>
        </p:nvSpPr>
        <p:spPr>
          <a:xfrm>
            <a:off x="838200" y="3534100"/>
            <a:ext cx="2984500"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F2C46D"/>
                </a:solidFill>
                <a:latin typeface="IBM Plex Sans Arabic"/>
                <a:ea typeface="IBM Plex Sans Arabic"/>
                <a:cs typeface="IBM Plex Sans Arabic"/>
              </a:rPr>
              <a:t>طابق المخطط وموعدك</a:t>
            </a:r>
          </a:p>
        </p:txBody>
      </p:sp>
      <p:sp>
        <p:nvSpPr>
          <p:cNvPr id="32" name="Text 31"/>
          <p:cNvSpPr txBox="1"/>
          <p:nvPr/>
        </p:nvSpPr>
        <p:spPr>
          <a:xfrm>
            <a:off x="879475" y="3776714"/>
            <a:ext cx="2943225" cy="66288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F3EFE6"/>
                </a:solidFill>
                <a:latin typeface="IBM Plex Sans Arabic"/>
                <a:ea typeface="IBM Plex Sans Arabic"/>
                <a:cs typeface="IBM Plex Sans Arabic"/>
              </a:rPr>
              <a:t>مخططات CC وCISM وSecurity+ وCISSP تتغير بين 2026 و2027. مادتك يجب أن تطابق مخطط يوم اختبارك.</a:t>
            </a:r>
          </a:p>
        </p:txBody>
      </p:sp>
      <p:sp>
        <p:nvSpPr>
          <p:cNvPr id="33" name="Text 32"/>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05 · الشهادات</a:t>
            </a:r>
          </a:p>
        </p:txBody>
      </p:sp>
      <p:sp>
        <p:nvSpPr>
          <p:cNvPr id="34" name="Text 33"/>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30891" y="2246610"/>
            <a:ext cx="2348309"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06</a:t>
            </a:r>
          </a:p>
        </p:txBody>
      </p:sp>
      <p:sp>
        <p:nvSpPr>
          <p:cNvPr id="4" name="Text 3"/>
          <p:cNvSpPr txBox="1"/>
          <p:nvPr/>
        </p:nvSpPr>
        <p:spPr>
          <a:xfrm>
            <a:off x="5236329" y="2668076"/>
            <a:ext cx="4302562"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lang="ar-SA" altLang="en-US">
                <a:solidFill>
                  <a:srgbClr val="F3EFE6"/>
                </a:solidFill>
                <a:latin typeface="Readex Pro"/>
                <a:ea typeface="Readex Pro"/>
                <a:cs typeface="Readex Pro"/>
              </a:rPr>
              <a:t>الخطة العملية</a:t>
            </a:r>
          </a:p>
        </p:txBody>
      </p:sp>
      <p:sp>
        <p:nvSpPr>
          <p:cNvPr id="5" name="Text 4"/>
          <p:cNvSpPr txBox="1"/>
          <p:nvPr/>
        </p:nvSpPr>
        <p:spPr>
          <a:xfrm>
            <a:off x="101600" y="3564997"/>
            <a:ext cx="96012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lang="ar-SA" altLang="en-US">
                <a:solidFill>
                  <a:srgbClr val="D9E2E6"/>
                </a:solidFill>
                <a:latin typeface="IBM Plex Sans Arabic"/>
                <a:ea typeface="IBM Plex Sans Arabic"/>
                <a:cs typeface="IBM Plex Sans Arabic"/>
              </a:rPr>
              <a:t>الخبرة هي العائق الأكبر للمبتدئ. هنا تصنع دليلاً على قدرتك قبل أول وظيفة.</a:t>
            </a:r>
          </a:p>
        </p:txBody>
      </p:sp>
      <p:sp>
        <p:nvSpPr>
          <p:cNvPr id="6" name="Text box 5"/>
          <p:cNvSpPr/>
          <p:nvPr/>
        </p:nvSpPr>
        <p:spPr>
          <a:xfrm>
            <a:off x="9219406" y="4157960"/>
            <a:ext cx="1118394"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خطة 90 يوماً</a:t>
            </a:r>
          </a:p>
        </p:txBody>
      </p:sp>
      <p:sp>
        <p:nvSpPr>
          <p:cNvPr id="7" name="Text box 6"/>
          <p:cNvSpPr/>
          <p:nvPr/>
        </p:nvSpPr>
        <p:spPr>
          <a:xfrm>
            <a:off x="7493992" y="4157960"/>
            <a:ext cx="1623814" cy="358080"/>
          </a:xfrm>
          <a:prstGeom prst="roundRect">
            <a:avLst>
              <a:gd name="adj" fmla="val 50000"/>
            </a:avLst>
          </a:prstGeom>
          <a:solidFill>
            <a:srgbClr val="22344A"/>
          </a:solidFill>
          <a:ln>
            <a:noFill/>
          </a:ln>
        </p:spPr>
        <p:txBody>
          <a:bodyPr rtlCol="0" anchor="ctr" wrap="square" tIns="0" rIns="99961" bIns="51181" lIns="0"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مشاريع لملف أعمالك</a:t>
            </a:r>
          </a:p>
        </p:txBody>
      </p:sp>
      <p:sp>
        <p:nvSpPr>
          <p:cNvPr id="8" name="Text box 7"/>
          <p:cNvSpPr/>
          <p:nvPr/>
        </p:nvSpPr>
        <p:spPr>
          <a:xfrm>
            <a:off x="6011466" y="4157960"/>
            <a:ext cx="1380927"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المهارات المطلوبة</a:t>
            </a:r>
          </a:p>
        </p:txBody>
      </p:sp>
      <p:sp>
        <p:nvSpPr>
          <p:cNvPr id="9" name="Text 8"/>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93A3B1"/>
                </a:solidFill>
                <a:latin typeface="IBM Plex Sans Arabic"/>
                <a:ea typeface="IBM Plex Sans Arabic"/>
                <a:cs typeface="IBM Plex Sans Arabic"/>
              </a:rPr>
              <a:t>كيف تبدأ في GRC · الوحدة 06</a:t>
            </a:r>
          </a:p>
        </p:txBody>
      </p:sp>
      <p:sp>
        <p:nvSpPr>
          <p:cNvPr id="10" name="Text 9"/>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543852" y="812800"/>
            <a:ext cx="1835348"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06 · الخطة العملية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خطة 90 يوماً: من الصفر إلى أول طلب توظيف</a:t>
            </a:r>
          </a:p>
        </p:txBody>
      </p:sp>
      <p:sp>
        <p:nvSpPr>
          <p:cNvPr id="5" name="Text 4"/>
          <p:cNvSpPr txBox="1"/>
          <p:nvPr/>
        </p:nvSpPr>
        <p:spPr>
          <a:xfrm>
            <a:off x="0" y="1802852"/>
            <a:ext cx="11379200" cy="239316"/>
          </a:xfrm>
          <a:prstGeom prst="rect">
            <a:avLst/>
          </a:prstGeom>
          <a:noFill/>
        </p:spPr>
        <p:txBody>
          <a:bodyPr wrap="square" tIns="0" rIns="0" bIns="0" lIns="0" anchor="t" rtlCol="0" anchorCtr="0">
            <a:noAutofit/>
          </a:bodyPr>
          <a:lstStyle/>
          <a:p>
            <a:pPr algn="r" rtl="1">
              <a:lnSpc>
                <a:spcPts val="1885"/>
              </a:lnSpc>
              <a:spcBef>
                <a:spcPts val="0"/>
              </a:spcBef>
              <a:spcAft>
                <a:spcPts val="0"/>
              </a:spcAft>
            </a:pPr>
            <a:r>
              <a:rPr sz="1300" b="0" i="0" lang="ar-SA" altLang="en-US">
                <a:solidFill>
                  <a:srgbClr val="4E5A66"/>
                </a:solidFill>
                <a:latin typeface="IBM Plex Sans Arabic"/>
                <a:ea typeface="IBM Plex Sans Arabic"/>
                <a:cs typeface="IBM Plex Sans Arabic"/>
              </a:rPr>
              <a:t>مبنية على 8 إلى 10 ساعات أسبوعياً تقريباً. عدّلها حسب وقتك.</a:t>
            </a:r>
          </a:p>
        </p:txBody>
      </p:sp>
      <p:sp>
        <p:nvSpPr>
          <p:cNvPr id="6" name="Box 5"/>
          <p:cNvSpPr/>
          <p:nvPr/>
        </p:nvSpPr>
        <p:spPr>
          <a:xfrm>
            <a:off x="7953375" y="2252861"/>
            <a:ext cx="3422650" cy="2561431"/>
          </a:xfrm>
          <a:prstGeom prst="roundRect">
            <a:avLst>
              <a:gd name="adj" fmla="val 3956"/>
            </a:avLst>
          </a:prstGeom>
          <a:solidFill>
            <a:srgbClr val="FFFDF8"/>
          </a:solidFill>
          <a:ln w="6350">
            <a:solidFill>
              <a:srgbClr val="E1DBCD"/>
            </a:solidFill>
          </a:ln>
        </p:spPr>
        <p:txBody>
          <a:bodyPr rtlCol="0" anchor="ctr"/>
          <a:lstStyle/>
          <a:p>
            <a:pPr algn="ctr"/>
          </a:p>
        </p:txBody>
      </p:sp>
      <p:sp>
        <p:nvSpPr>
          <p:cNvPr id="7" name="Text 6"/>
          <p:cNvSpPr txBox="1"/>
          <p:nvPr/>
        </p:nvSpPr>
        <p:spPr>
          <a:xfrm>
            <a:off x="10384353" y="2407928"/>
            <a:ext cx="823397"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0E7C6B"/>
                </a:solidFill>
                <a:latin typeface="Readex Pro"/>
                <a:ea typeface="Readex Pro"/>
                <a:cs typeface="Readex Pro"/>
              </a:rPr>
              <a:t>الأساس</a:t>
            </a:r>
          </a:p>
        </p:txBody>
      </p:sp>
      <p:sp>
        <p:nvSpPr>
          <p:cNvPr id="8" name="Text box 7"/>
          <p:cNvSpPr/>
          <p:nvPr/>
        </p:nvSpPr>
        <p:spPr>
          <a:xfrm>
            <a:off x="8121650" y="2428776"/>
            <a:ext cx="1004292" cy="248841"/>
          </a:xfrm>
          <a:prstGeom prst="roundRect">
            <a:avLst>
              <a:gd name="adj" fmla="val 50000"/>
            </a:avLst>
          </a:prstGeom>
          <a:solidFill>
            <a:srgbClr val="DCEFEA"/>
          </a:solidFill>
          <a:ln>
            <a:noFill/>
          </a:ln>
        </p:spPr>
        <p:txBody>
          <a:bodyPr rtlCol="0" anchor="ctr" wrap="square" tIns="0" rIns="52459" bIns="32004" lIns="0" anchorCtr="0">
            <a:noAutofit/>
          </a:bodyPr>
          <a:lstStyle/>
          <a:p>
            <a:pPr algn="r" rtl="1">
              <a:lnSpc>
                <a:spcPts val="1560"/>
              </a:lnSpc>
              <a:spcBef>
                <a:spcPts val="0"/>
              </a:spcBef>
              <a:spcAft>
                <a:spcPts val="0"/>
              </a:spcAft>
            </a:pPr>
            <a:r>
              <a:rPr sz="1200" b="1" i="0" lang="ar-SA" altLang="en-US">
                <a:solidFill>
                  <a:srgbClr val="0E7C6B"/>
                </a:solidFill>
                <a:latin typeface="IBM Plex Sans Arabic"/>
                <a:ea typeface="IBM Plex Sans Arabic"/>
                <a:cs typeface="IBM Plex Sans Arabic"/>
              </a:rPr>
              <a:t>الأيام 1 إلى 30</a:t>
            </a:r>
          </a:p>
        </p:txBody>
      </p:sp>
      <p:pic>
        <p:nvPicPr>
          <p:cNvPr id="9" name="Icon Check 8" descr="icon048.png"/>
          <p:cNvPicPr>
            <a:picLocks noChangeAspect="1"/>
          </p:cNvPicPr>
          <p:nvPr/>
        </p:nvPicPr>
        <p:blipFill>
          <a:blip r:embed="rId2"/>
          <a:stretch>
            <a:fillRect/>
          </a:stretch>
        </p:blipFill>
        <p:spPr>
          <a:xfrm>
            <a:off x="11029950" y="2761456"/>
            <a:ext cx="177800" cy="177800"/>
          </a:xfrm>
          <a:prstGeom prst="rect">
            <a:avLst/>
          </a:prstGeom>
        </p:spPr>
      </p:pic>
      <p:sp>
        <p:nvSpPr>
          <p:cNvPr id="10" name="Text 9"/>
          <p:cNvSpPr txBox="1"/>
          <p:nvPr/>
        </p:nvSpPr>
        <p:spPr>
          <a:xfrm>
            <a:off x="7975600" y="2734024"/>
            <a:ext cx="29908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أنهِ الوحدتين 2 و3 من هذا الكورس</a:t>
            </a:r>
          </a:p>
        </p:txBody>
      </p:sp>
      <p:pic>
        <p:nvPicPr>
          <p:cNvPr id="11" name="Icon Check 10" descr="icon048.png"/>
          <p:cNvPicPr>
            <a:picLocks noChangeAspect="1"/>
          </p:cNvPicPr>
          <p:nvPr/>
        </p:nvPicPr>
        <p:blipFill>
          <a:blip r:embed="rId2"/>
          <a:stretch>
            <a:fillRect/>
          </a:stretch>
        </p:blipFill>
        <p:spPr>
          <a:xfrm>
            <a:off x="11029950" y="3058616"/>
            <a:ext cx="177800" cy="177800"/>
          </a:xfrm>
          <a:prstGeom prst="rect">
            <a:avLst/>
          </a:prstGeom>
        </p:spPr>
      </p:pic>
      <p:sp>
        <p:nvSpPr>
          <p:cNvPr id="12" name="Text 11"/>
          <p:cNvSpPr txBox="1"/>
          <p:nvPr/>
        </p:nvSpPr>
        <p:spPr>
          <a:xfrm>
            <a:off x="7975600" y="3031184"/>
            <a:ext cx="29908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اقرأ NIST CSF 2.0 كاملاً</a:t>
            </a:r>
          </a:p>
        </p:txBody>
      </p:sp>
      <p:pic>
        <p:nvPicPr>
          <p:cNvPr id="13" name="Icon Check 12" descr="icon048.png"/>
          <p:cNvPicPr>
            <a:picLocks noChangeAspect="1"/>
          </p:cNvPicPr>
          <p:nvPr/>
        </p:nvPicPr>
        <p:blipFill>
          <a:blip r:embed="rId2"/>
          <a:stretch>
            <a:fillRect/>
          </a:stretch>
        </p:blipFill>
        <p:spPr>
          <a:xfrm>
            <a:off x="11029950" y="3355777"/>
            <a:ext cx="177800" cy="177800"/>
          </a:xfrm>
          <a:prstGeom prst="rect">
            <a:avLst/>
          </a:prstGeom>
        </p:spPr>
      </p:pic>
      <p:sp>
        <p:nvSpPr>
          <p:cNvPr id="14" name="Text 13"/>
          <p:cNvSpPr txBox="1"/>
          <p:nvPr/>
        </p:nvSpPr>
        <p:spPr>
          <a:xfrm>
            <a:off x="7975600" y="3328345"/>
            <a:ext cx="29908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ابدأ مذاكرة CC أو Security+</a:t>
            </a:r>
          </a:p>
        </p:txBody>
      </p:sp>
      <p:pic>
        <p:nvPicPr>
          <p:cNvPr id="15" name="Icon Check 14" descr="icon048.png"/>
          <p:cNvPicPr>
            <a:picLocks noChangeAspect="1"/>
          </p:cNvPicPr>
          <p:nvPr/>
        </p:nvPicPr>
        <p:blipFill>
          <a:blip r:embed="rId2"/>
          <a:stretch>
            <a:fillRect/>
          </a:stretch>
        </p:blipFill>
        <p:spPr>
          <a:xfrm>
            <a:off x="11029950" y="3652937"/>
            <a:ext cx="177800" cy="177800"/>
          </a:xfrm>
          <a:prstGeom prst="rect">
            <a:avLst/>
          </a:prstGeom>
        </p:spPr>
      </p:pic>
      <p:sp>
        <p:nvSpPr>
          <p:cNvPr id="16" name="Text 15"/>
          <p:cNvSpPr txBox="1"/>
          <p:nvPr/>
        </p:nvSpPr>
        <p:spPr>
          <a:xfrm>
            <a:off x="7975600" y="3625505"/>
            <a:ext cx="29908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أنشئ حساب LinkedIn بصورة وعنوان مبدئي</a:t>
            </a:r>
          </a:p>
        </p:txBody>
      </p:sp>
      <p:sp>
        <p:nvSpPr>
          <p:cNvPr id="17" name="Box 16"/>
          <p:cNvSpPr/>
          <p:nvPr/>
        </p:nvSpPr>
        <p:spPr>
          <a:xfrm>
            <a:off x="8121650" y="4026297"/>
            <a:ext cx="3086100" cy="619720"/>
          </a:xfrm>
          <a:prstGeom prst="roundRect">
            <a:avLst>
              <a:gd name="adj" fmla="val 12295"/>
            </a:avLst>
          </a:prstGeom>
          <a:solidFill>
            <a:srgbClr val="E3F1ED"/>
          </a:solidFill>
          <a:ln>
            <a:noFill/>
          </a:ln>
        </p:spPr>
        <p:txBody>
          <a:bodyPr rtlCol="0" anchor="ctr"/>
          <a:lstStyle/>
          <a:p>
            <a:pPr algn="ctr"/>
          </a:p>
        </p:txBody>
      </p:sp>
      <p:sp>
        <p:nvSpPr>
          <p:cNvPr id="18" name="Text 17"/>
          <p:cNvSpPr txBox="1"/>
          <p:nvPr/>
        </p:nvSpPr>
        <p:spPr>
          <a:xfrm>
            <a:off x="8150225" y="4087765"/>
            <a:ext cx="2943225"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المخرَج:</a:t>
            </a:r>
            <a:r>
              <a:rPr sz="1200" b="0" i="0" lang="ar-SA" altLang="en-US">
                <a:solidFill>
                  <a:srgbClr val="172433"/>
                </a:solidFill>
                <a:latin typeface="IBM Plex Sans Arabic"/>
                <a:ea typeface="IBM Plex Sans Arabic"/>
                <a:cs typeface="IBM Plex Sans Arabic"/>
              </a:rPr>
              <a:t> ملخص بكلماتك لكل مفهوم في الوحدتين 2 و3.</a:t>
            </a:r>
          </a:p>
        </p:txBody>
      </p:sp>
      <p:sp>
        <p:nvSpPr>
          <p:cNvPr id="19" name="Box 18"/>
          <p:cNvSpPr/>
          <p:nvPr/>
        </p:nvSpPr>
        <p:spPr>
          <a:xfrm>
            <a:off x="4384675" y="2252861"/>
            <a:ext cx="3422650" cy="2561431"/>
          </a:xfrm>
          <a:prstGeom prst="roundRect">
            <a:avLst>
              <a:gd name="adj" fmla="val 3956"/>
            </a:avLst>
          </a:prstGeom>
          <a:solidFill>
            <a:srgbClr val="FFFDF8"/>
          </a:solidFill>
          <a:ln w="6350">
            <a:solidFill>
              <a:srgbClr val="E1DBCD"/>
            </a:solidFill>
          </a:ln>
        </p:spPr>
        <p:txBody>
          <a:bodyPr rtlCol="0" anchor="ctr"/>
          <a:lstStyle/>
          <a:p>
            <a:pPr algn="ctr"/>
          </a:p>
        </p:txBody>
      </p:sp>
      <p:sp>
        <p:nvSpPr>
          <p:cNvPr id="20" name="Text 19"/>
          <p:cNvSpPr txBox="1"/>
          <p:nvPr/>
        </p:nvSpPr>
        <p:spPr>
          <a:xfrm>
            <a:off x="6787376" y="2407928"/>
            <a:ext cx="851674"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24506B"/>
                </a:solidFill>
                <a:latin typeface="Readex Pro"/>
                <a:ea typeface="Readex Pro"/>
                <a:cs typeface="Readex Pro"/>
              </a:rPr>
              <a:t>التطبيق</a:t>
            </a:r>
          </a:p>
        </p:txBody>
      </p:sp>
      <p:sp>
        <p:nvSpPr>
          <p:cNvPr id="21" name="Text box 20"/>
          <p:cNvSpPr/>
          <p:nvPr/>
        </p:nvSpPr>
        <p:spPr>
          <a:xfrm>
            <a:off x="4552950" y="2428776"/>
            <a:ext cx="1095772" cy="248841"/>
          </a:xfrm>
          <a:prstGeom prst="roundRect">
            <a:avLst>
              <a:gd name="adj" fmla="val 50000"/>
            </a:avLst>
          </a:prstGeom>
          <a:solidFill>
            <a:srgbClr val="E6EDF4"/>
          </a:solidFill>
          <a:ln>
            <a:noFill/>
          </a:ln>
        </p:spPr>
        <p:txBody>
          <a:bodyPr rtlCol="0" anchor="ctr" wrap="square" tIns="0" rIns="52459" bIns="32004" lIns="0" anchorCtr="0">
            <a:noAutofit/>
          </a:bodyPr>
          <a:lstStyle/>
          <a:p>
            <a:pPr algn="r" rtl="1">
              <a:lnSpc>
                <a:spcPts val="1560"/>
              </a:lnSpc>
              <a:spcBef>
                <a:spcPts val="0"/>
              </a:spcBef>
              <a:spcAft>
                <a:spcPts val="0"/>
              </a:spcAft>
            </a:pPr>
            <a:r>
              <a:rPr sz="1200" b="1" i="0" lang="ar-SA" altLang="en-US">
                <a:solidFill>
                  <a:srgbClr val="24506B"/>
                </a:solidFill>
                <a:latin typeface="IBM Plex Sans Arabic"/>
                <a:ea typeface="IBM Plex Sans Arabic"/>
                <a:cs typeface="IBM Plex Sans Arabic"/>
              </a:rPr>
              <a:t>الأيام 31 إلى 60</a:t>
            </a:r>
          </a:p>
        </p:txBody>
      </p:sp>
      <p:pic>
        <p:nvPicPr>
          <p:cNvPr id="22" name="Icon Check 21" descr="icon049.png"/>
          <p:cNvPicPr>
            <a:picLocks noChangeAspect="1"/>
          </p:cNvPicPr>
          <p:nvPr/>
        </p:nvPicPr>
        <p:blipFill>
          <a:blip r:embed="rId3"/>
          <a:stretch>
            <a:fillRect/>
          </a:stretch>
        </p:blipFill>
        <p:spPr>
          <a:xfrm>
            <a:off x="7461250" y="2761456"/>
            <a:ext cx="177800" cy="177800"/>
          </a:xfrm>
          <a:prstGeom prst="rect">
            <a:avLst/>
          </a:prstGeom>
        </p:spPr>
      </p:pic>
      <p:sp>
        <p:nvSpPr>
          <p:cNvPr id="23" name="Text 22"/>
          <p:cNvSpPr txBox="1"/>
          <p:nvPr/>
        </p:nvSpPr>
        <p:spPr>
          <a:xfrm>
            <a:off x="4406900" y="2734024"/>
            <a:ext cx="29908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نفّذ مشروعين من مشاريع الشريحة التالية</a:t>
            </a:r>
          </a:p>
        </p:txBody>
      </p:sp>
      <p:pic>
        <p:nvPicPr>
          <p:cNvPr id="24" name="Icon Check 23" descr="icon049.png"/>
          <p:cNvPicPr>
            <a:picLocks noChangeAspect="1"/>
          </p:cNvPicPr>
          <p:nvPr/>
        </p:nvPicPr>
        <p:blipFill>
          <a:blip r:embed="rId3"/>
          <a:stretch>
            <a:fillRect/>
          </a:stretch>
        </p:blipFill>
        <p:spPr>
          <a:xfrm>
            <a:off x="7461250" y="3058616"/>
            <a:ext cx="177800" cy="177800"/>
          </a:xfrm>
          <a:prstGeom prst="rect">
            <a:avLst/>
          </a:prstGeom>
        </p:spPr>
      </p:pic>
      <p:sp>
        <p:nvSpPr>
          <p:cNvPr id="25" name="Text 24"/>
          <p:cNvSpPr txBox="1"/>
          <p:nvPr/>
        </p:nvSpPr>
        <p:spPr>
          <a:xfrm>
            <a:off x="4406900" y="3031184"/>
            <a:ext cx="29908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اقرأ إطار قطاعك المستهدف</a:t>
            </a:r>
          </a:p>
        </p:txBody>
      </p:sp>
      <p:pic>
        <p:nvPicPr>
          <p:cNvPr id="26" name="Icon Check 25" descr="icon049.png"/>
          <p:cNvPicPr>
            <a:picLocks noChangeAspect="1"/>
          </p:cNvPicPr>
          <p:nvPr/>
        </p:nvPicPr>
        <p:blipFill>
          <a:blip r:embed="rId3"/>
          <a:stretch>
            <a:fillRect/>
          </a:stretch>
        </p:blipFill>
        <p:spPr>
          <a:xfrm>
            <a:off x="7461250" y="3355777"/>
            <a:ext cx="177800" cy="177800"/>
          </a:xfrm>
          <a:prstGeom prst="rect">
            <a:avLst/>
          </a:prstGeom>
        </p:spPr>
      </p:pic>
      <p:sp>
        <p:nvSpPr>
          <p:cNvPr id="27" name="Text 26"/>
          <p:cNvSpPr txBox="1"/>
          <p:nvPr/>
        </p:nvSpPr>
        <p:spPr>
          <a:xfrm>
            <a:off x="4406900" y="3328345"/>
            <a:ext cx="29908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احجز اختبار شهادة البداية وقدّمه</a:t>
            </a:r>
          </a:p>
        </p:txBody>
      </p:sp>
      <p:pic>
        <p:nvPicPr>
          <p:cNvPr id="28" name="Icon Check 27" descr="icon049.png"/>
          <p:cNvPicPr>
            <a:picLocks noChangeAspect="1"/>
          </p:cNvPicPr>
          <p:nvPr/>
        </p:nvPicPr>
        <p:blipFill>
          <a:blip r:embed="rId3"/>
          <a:stretch>
            <a:fillRect/>
          </a:stretch>
        </p:blipFill>
        <p:spPr>
          <a:xfrm>
            <a:off x="7461250" y="3652937"/>
            <a:ext cx="177800" cy="177800"/>
          </a:xfrm>
          <a:prstGeom prst="rect">
            <a:avLst/>
          </a:prstGeom>
        </p:spPr>
      </p:pic>
      <p:sp>
        <p:nvSpPr>
          <p:cNvPr id="29" name="Text 28"/>
          <p:cNvSpPr txBox="1"/>
          <p:nvPr/>
        </p:nvSpPr>
        <p:spPr>
          <a:xfrm>
            <a:off x="4406900" y="3625505"/>
            <a:ext cx="29908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انشر أول منشور عن ما تعلمته</a:t>
            </a:r>
          </a:p>
        </p:txBody>
      </p:sp>
      <p:sp>
        <p:nvSpPr>
          <p:cNvPr id="30" name="Box 29"/>
          <p:cNvSpPr/>
          <p:nvPr/>
        </p:nvSpPr>
        <p:spPr>
          <a:xfrm>
            <a:off x="4552950" y="4026297"/>
            <a:ext cx="3086100" cy="619720"/>
          </a:xfrm>
          <a:prstGeom prst="roundRect">
            <a:avLst>
              <a:gd name="adj" fmla="val 12295"/>
            </a:avLst>
          </a:prstGeom>
          <a:solidFill>
            <a:srgbClr val="E6EDF4"/>
          </a:solidFill>
          <a:ln>
            <a:noFill/>
          </a:ln>
        </p:spPr>
        <p:txBody>
          <a:bodyPr rtlCol="0" anchor="ctr"/>
          <a:lstStyle/>
          <a:p>
            <a:pPr algn="ctr"/>
          </a:p>
        </p:txBody>
      </p:sp>
      <p:sp>
        <p:nvSpPr>
          <p:cNvPr id="31" name="Text 30"/>
          <p:cNvSpPr txBox="1"/>
          <p:nvPr/>
        </p:nvSpPr>
        <p:spPr>
          <a:xfrm>
            <a:off x="4581525" y="4087765"/>
            <a:ext cx="2943225"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المخرَج:</a:t>
            </a:r>
            <a:r>
              <a:rPr sz="1200" b="0" i="0" lang="ar-SA" altLang="en-US">
                <a:solidFill>
                  <a:srgbClr val="172433"/>
                </a:solidFill>
                <a:latin typeface="IBM Plex Sans Arabic"/>
                <a:ea typeface="IBM Plex Sans Arabic"/>
                <a:cs typeface="IBM Plex Sans Arabic"/>
              </a:rPr>
              <a:t> مشروعان منشوران، وشهادة أولى أو موعد اختبار.</a:t>
            </a:r>
          </a:p>
        </p:txBody>
      </p:sp>
      <p:sp>
        <p:nvSpPr>
          <p:cNvPr id="32" name="Box 31"/>
          <p:cNvSpPr/>
          <p:nvPr/>
        </p:nvSpPr>
        <p:spPr>
          <a:xfrm>
            <a:off x="815975" y="2252861"/>
            <a:ext cx="3422650" cy="2561431"/>
          </a:xfrm>
          <a:prstGeom prst="roundRect">
            <a:avLst>
              <a:gd name="adj" fmla="val 3956"/>
            </a:avLst>
          </a:prstGeom>
          <a:solidFill>
            <a:srgbClr val="FFFDF8"/>
          </a:solidFill>
          <a:ln w="6350">
            <a:solidFill>
              <a:srgbClr val="E1DBCD"/>
            </a:solidFill>
          </a:ln>
        </p:spPr>
        <p:txBody>
          <a:bodyPr rtlCol="0" anchor="ctr"/>
          <a:lstStyle/>
          <a:p>
            <a:pPr algn="ctr"/>
          </a:p>
        </p:txBody>
      </p:sp>
      <p:sp>
        <p:nvSpPr>
          <p:cNvPr id="33" name="Text 32"/>
          <p:cNvSpPr txBox="1"/>
          <p:nvPr/>
        </p:nvSpPr>
        <p:spPr>
          <a:xfrm>
            <a:off x="3347958" y="2407928"/>
            <a:ext cx="72239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9A5F0F"/>
                </a:solidFill>
                <a:latin typeface="Readex Pro"/>
                <a:ea typeface="Readex Pro"/>
                <a:cs typeface="Readex Pro"/>
              </a:rPr>
              <a:t>السوق</a:t>
            </a:r>
          </a:p>
        </p:txBody>
      </p:sp>
      <p:sp>
        <p:nvSpPr>
          <p:cNvPr id="34" name="Text box 33"/>
          <p:cNvSpPr/>
          <p:nvPr/>
        </p:nvSpPr>
        <p:spPr>
          <a:xfrm>
            <a:off x="984250" y="2428776"/>
            <a:ext cx="1095772" cy="248841"/>
          </a:xfrm>
          <a:prstGeom prst="roundRect">
            <a:avLst>
              <a:gd name="adj" fmla="val 50000"/>
            </a:avLst>
          </a:prstGeom>
          <a:solidFill>
            <a:srgbClr val="F6ECDA"/>
          </a:solidFill>
          <a:ln>
            <a:noFill/>
          </a:ln>
        </p:spPr>
        <p:txBody>
          <a:bodyPr rtlCol="0" anchor="ctr" wrap="square" tIns="0" rIns="52459" bIns="32004" lIns="0" anchorCtr="0">
            <a:noAutofit/>
          </a:bodyPr>
          <a:lstStyle/>
          <a:p>
            <a:pPr algn="r" rtl="1">
              <a:lnSpc>
                <a:spcPts val="1560"/>
              </a:lnSpc>
              <a:spcBef>
                <a:spcPts val="0"/>
              </a:spcBef>
              <a:spcAft>
                <a:spcPts val="0"/>
              </a:spcAft>
            </a:pPr>
            <a:r>
              <a:rPr sz="1200" b="1" i="0" lang="ar-SA" altLang="en-US">
                <a:solidFill>
                  <a:srgbClr val="9A5F0F"/>
                </a:solidFill>
                <a:latin typeface="IBM Plex Sans Arabic"/>
                <a:ea typeface="IBM Plex Sans Arabic"/>
                <a:cs typeface="IBM Plex Sans Arabic"/>
              </a:rPr>
              <a:t>الأيام 61 إلى 90</a:t>
            </a:r>
          </a:p>
        </p:txBody>
      </p:sp>
      <p:pic>
        <p:nvPicPr>
          <p:cNvPr id="35" name="Icon Check 34" descr="icon050.png"/>
          <p:cNvPicPr>
            <a:picLocks noChangeAspect="1"/>
          </p:cNvPicPr>
          <p:nvPr/>
        </p:nvPicPr>
        <p:blipFill>
          <a:blip r:embed="rId4"/>
          <a:stretch>
            <a:fillRect/>
          </a:stretch>
        </p:blipFill>
        <p:spPr>
          <a:xfrm>
            <a:off x="3892550" y="2761456"/>
            <a:ext cx="177800" cy="177800"/>
          </a:xfrm>
          <a:prstGeom prst="rect">
            <a:avLst/>
          </a:prstGeom>
        </p:spPr>
      </p:pic>
      <p:sp>
        <p:nvSpPr>
          <p:cNvPr id="36" name="Text 35"/>
          <p:cNvSpPr txBox="1"/>
          <p:nvPr/>
        </p:nvSpPr>
        <p:spPr>
          <a:xfrm>
            <a:off x="838200" y="2734024"/>
            <a:ext cx="29908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اضبط السيرة وLinkedIn (الوحدتان 6 و7)</a:t>
            </a:r>
          </a:p>
        </p:txBody>
      </p:sp>
      <p:pic>
        <p:nvPicPr>
          <p:cNvPr id="37" name="Icon Check 36" descr="icon050.png"/>
          <p:cNvPicPr>
            <a:picLocks noChangeAspect="1"/>
          </p:cNvPicPr>
          <p:nvPr/>
        </p:nvPicPr>
        <p:blipFill>
          <a:blip r:embed="rId4"/>
          <a:stretch>
            <a:fillRect/>
          </a:stretch>
        </p:blipFill>
        <p:spPr>
          <a:xfrm>
            <a:off x="3892550" y="3058616"/>
            <a:ext cx="177800" cy="177800"/>
          </a:xfrm>
          <a:prstGeom prst="rect">
            <a:avLst/>
          </a:prstGeom>
        </p:spPr>
      </p:pic>
      <p:sp>
        <p:nvSpPr>
          <p:cNvPr id="38" name="Text 37"/>
          <p:cNvSpPr txBox="1"/>
          <p:nvPr/>
        </p:nvSpPr>
        <p:spPr>
          <a:xfrm>
            <a:off x="838200" y="3031184"/>
            <a:ext cx="29908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قدّم على وظائف مناسبة كل أسبوع</a:t>
            </a:r>
          </a:p>
        </p:txBody>
      </p:sp>
      <p:pic>
        <p:nvPicPr>
          <p:cNvPr id="39" name="Icon Check 38" descr="icon050.png"/>
          <p:cNvPicPr>
            <a:picLocks noChangeAspect="1"/>
          </p:cNvPicPr>
          <p:nvPr/>
        </p:nvPicPr>
        <p:blipFill>
          <a:blip r:embed="rId4"/>
          <a:stretch>
            <a:fillRect/>
          </a:stretch>
        </p:blipFill>
        <p:spPr>
          <a:xfrm>
            <a:off x="3892550" y="3355777"/>
            <a:ext cx="177800" cy="177800"/>
          </a:xfrm>
          <a:prstGeom prst="rect">
            <a:avLst/>
          </a:prstGeom>
        </p:spPr>
      </p:pic>
      <p:sp>
        <p:nvSpPr>
          <p:cNvPr id="40" name="Text 39"/>
          <p:cNvSpPr txBox="1"/>
          <p:nvPr/>
        </p:nvSpPr>
        <p:spPr>
          <a:xfrm>
            <a:off x="838200" y="3328345"/>
            <a:ext cx="29908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محادثتان تعريفيتان أسبوعياً مع مختصين</a:t>
            </a:r>
          </a:p>
        </p:txBody>
      </p:sp>
      <p:pic>
        <p:nvPicPr>
          <p:cNvPr id="41" name="Icon Check 40" descr="icon050.png"/>
          <p:cNvPicPr>
            <a:picLocks noChangeAspect="1"/>
          </p:cNvPicPr>
          <p:nvPr/>
        </p:nvPicPr>
        <p:blipFill>
          <a:blip r:embed="rId4"/>
          <a:stretch>
            <a:fillRect/>
          </a:stretch>
        </p:blipFill>
        <p:spPr>
          <a:xfrm>
            <a:off x="3892550" y="3652937"/>
            <a:ext cx="177800" cy="177800"/>
          </a:xfrm>
          <a:prstGeom prst="rect">
            <a:avLst/>
          </a:prstGeom>
        </p:spPr>
      </p:pic>
      <p:sp>
        <p:nvSpPr>
          <p:cNvPr id="42" name="Text 41"/>
          <p:cNvSpPr txBox="1"/>
          <p:nvPr/>
        </p:nvSpPr>
        <p:spPr>
          <a:xfrm>
            <a:off x="838200" y="3625505"/>
            <a:ext cx="29908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جهّز 5 قصص بطريقة STAR</a:t>
            </a:r>
          </a:p>
        </p:txBody>
      </p:sp>
      <p:sp>
        <p:nvSpPr>
          <p:cNvPr id="43" name="Box 42"/>
          <p:cNvSpPr/>
          <p:nvPr/>
        </p:nvSpPr>
        <p:spPr>
          <a:xfrm>
            <a:off x="984250" y="4026297"/>
            <a:ext cx="3086100" cy="619720"/>
          </a:xfrm>
          <a:prstGeom prst="roundRect">
            <a:avLst>
              <a:gd name="adj" fmla="val 12295"/>
            </a:avLst>
          </a:prstGeom>
          <a:solidFill>
            <a:srgbClr val="F6ECDA"/>
          </a:solidFill>
          <a:ln>
            <a:noFill/>
          </a:ln>
        </p:spPr>
        <p:txBody>
          <a:bodyPr rtlCol="0" anchor="ctr"/>
          <a:lstStyle/>
          <a:p>
            <a:pPr algn="ctr"/>
          </a:p>
        </p:txBody>
      </p:sp>
      <p:sp>
        <p:nvSpPr>
          <p:cNvPr id="44" name="Text 43"/>
          <p:cNvSpPr txBox="1"/>
          <p:nvPr/>
        </p:nvSpPr>
        <p:spPr>
          <a:xfrm>
            <a:off x="1012825" y="4087765"/>
            <a:ext cx="2943225"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المخرَج:</a:t>
            </a:r>
            <a:r>
              <a:rPr sz="1200" b="0" i="0" lang="ar-SA" altLang="en-US">
                <a:solidFill>
                  <a:srgbClr val="172433"/>
                </a:solidFill>
                <a:latin typeface="IBM Plex Sans Arabic"/>
                <a:ea typeface="IBM Plex Sans Arabic"/>
                <a:cs typeface="IBM Plex Sans Arabic"/>
              </a:rPr>
              <a:t> طلبات مقدمة، وشبكة تعرفك، وجاهزية للمقابلة.</a:t>
            </a:r>
          </a:p>
        </p:txBody>
      </p:sp>
      <p:sp>
        <p:nvSpPr>
          <p:cNvPr id="45" name="Text 44"/>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06 · الخطة العملية</a:t>
            </a:r>
          </a:p>
        </p:txBody>
      </p:sp>
      <p:sp>
        <p:nvSpPr>
          <p:cNvPr id="46" name="Text 45"/>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76</a:t>
            </a:r>
          </a:p>
        </p:txBody>
      </p:sp>
    </p:spTree>
  </p:cSld>
  <p:clrMapOvr>
    <a:masterClrMapping/>
  </p:clrMapOvr>
  <p:transition spd="med">
    <p:fade/>
  </p:transition>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543852" y="812800"/>
            <a:ext cx="1835348"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06 · الخطة العملية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ستة مشاريع تصنع لك خبرة قبل الوظيفة</a:t>
            </a:r>
          </a:p>
        </p:txBody>
      </p:sp>
      <p:sp>
        <p:nvSpPr>
          <p:cNvPr id="5" name="Box 4"/>
          <p:cNvSpPr/>
          <p:nvPr/>
        </p:nvSpPr>
        <p:spPr>
          <a:xfrm>
            <a:off x="7927975" y="1835745"/>
            <a:ext cx="3448050" cy="1232991"/>
          </a:xfrm>
          <a:prstGeom prst="roundRect">
            <a:avLst>
              <a:gd name="adj" fmla="val 7173"/>
            </a:avLst>
          </a:prstGeom>
          <a:solidFill>
            <a:srgbClr val="FFFDF8"/>
          </a:solidFill>
          <a:ln w="6350">
            <a:solidFill>
              <a:srgbClr val="E1DBCD"/>
            </a:solidFill>
          </a:ln>
        </p:spPr>
        <p:txBody>
          <a:bodyPr rtlCol="0" anchor="ctr"/>
          <a:lstStyle/>
          <a:p>
            <a:pPr algn="ctr"/>
          </a:p>
        </p:txBody>
      </p:sp>
      <p:sp>
        <p:nvSpPr>
          <p:cNvPr id="6" name="Text 5"/>
          <p:cNvSpPr txBox="1"/>
          <p:nvPr/>
        </p:nvSpPr>
        <p:spPr>
          <a:xfrm>
            <a:off x="10824210" y="1991812"/>
            <a:ext cx="396240"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0E7C6B"/>
                </a:solidFill>
                <a:latin typeface="Readex Pro"/>
                <a:ea typeface="Readex Pro"/>
                <a:cs typeface="Readex Pro"/>
              </a:rPr>
              <a:t>01</a:t>
            </a:r>
          </a:p>
        </p:txBody>
      </p:sp>
      <p:sp>
        <p:nvSpPr>
          <p:cNvPr id="7" name="Text 6"/>
          <p:cNvSpPr txBox="1"/>
          <p:nvPr/>
        </p:nvSpPr>
        <p:spPr>
          <a:xfrm>
            <a:off x="7950200" y="1947251"/>
            <a:ext cx="292735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172433"/>
                </a:solidFill>
                <a:latin typeface="IBM Plex Sans Arabic"/>
                <a:ea typeface="IBM Plex Sans Arabic"/>
                <a:cs typeface="IBM Plex Sans Arabic"/>
              </a:rPr>
              <a:t>سجل مخاطر</a:t>
            </a:r>
          </a:p>
        </p:txBody>
      </p:sp>
      <p:sp>
        <p:nvSpPr>
          <p:cNvPr id="8" name="Text 7"/>
          <p:cNvSpPr txBox="1"/>
          <p:nvPr/>
        </p:nvSpPr>
        <p:spPr>
          <a:xfrm>
            <a:off x="7950200" y="2220369"/>
            <a:ext cx="32702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20 خطراً لشركة افتراضية، بالدرجة والمالك والمعالجة.</a:t>
            </a:r>
          </a:p>
        </p:txBody>
      </p:sp>
      <p:sp>
        <p:nvSpPr>
          <p:cNvPr id="9" name="Text 8"/>
          <p:cNvSpPr txBox="1"/>
          <p:nvPr/>
        </p:nvSpPr>
        <p:spPr>
          <a:xfrm>
            <a:off x="7950200" y="2503559"/>
            <a:ext cx="327025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0E7C6B"/>
                </a:solidFill>
                <a:latin typeface="IBM Plex Sans Arabic"/>
                <a:ea typeface="IBM Plex Sans Arabic"/>
                <a:cs typeface="IBM Plex Sans Arabic"/>
              </a:rPr>
              <a:t>يثبت: تقييم المخاطر</a:t>
            </a:r>
          </a:p>
        </p:txBody>
      </p:sp>
      <p:sp>
        <p:nvSpPr>
          <p:cNvPr id="10" name="Box 9"/>
          <p:cNvSpPr/>
          <p:nvPr/>
        </p:nvSpPr>
        <p:spPr>
          <a:xfrm>
            <a:off x="4371975" y="1835745"/>
            <a:ext cx="3448050" cy="1232991"/>
          </a:xfrm>
          <a:prstGeom prst="roundRect">
            <a:avLst>
              <a:gd name="adj" fmla="val 7173"/>
            </a:avLst>
          </a:prstGeom>
          <a:solidFill>
            <a:srgbClr val="FFFDF8"/>
          </a:solidFill>
          <a:ln w="6350">
            <a:solidFill>
              <a:srgbClr val="E1DBCD"/>
            </a:solidFill>
          </a:ln>
        </p:spPr>
        <p:txBody>
          <a:bodyPr rtlCol="0" anchor="ctr"/>
          <a:lstStyle/>
          <a:p>
            <a:pPr algn="ctr"/>
          </a:p>
        </p:txBody>
      </p:sp>
      <p:sp>
        <p:nvSpPr>
          <p:cNvPr id="11" name="Text 10"/>
          <p:cNvSpPr txBox="1"/>
          <p:nvPr/>
        </p:nvSpPr>
        <p:spPr>
          <a:xfrm>
            <a:off x="7271484" y="1991812"/>
            <a:ext cx="392966"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0E7C6B"/>
                </a:solidFill>
                <a:latin typeface="Readex Pro"/>
                <a:ea typeface="Readex Pro"/>
                <a:cs typeface="Readex Pro"/>
              </a:rPr>
              <a:t>02</a:t>
            </a:r>
          </a:p>
        </p:txBody>
      </p:sp>
      <p:sp>
        <p:nvSpPr>
          <p:cNvPr id="12" name="Text 11"/>
          <p:cNvSpPr txBox="1"/>
          <p:nvPr/>
        </p:nvSpPr>
        <p:spPr>
          <a:xfrm>
            <a:off x="4394200" y="1947251"/>
            <a:ext cx="2930624"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172433"/>
                </a:solidFill>
                <a:latin typeface="IBM Plex Sans Arabic"/>
                <a:ea typeface="IBM Plex Sans Arabic"/>
                <a:cs typeface="IBM Plex Sans Arabic"/>
              </a:rPr>
              <a:t>تقييم فجوات</a:t>
            </a:r>
          </a:p>
        </p:txBody>
      </p:sp>
      <p:sp>
        <p:nvSpPr>
          <p:cNvPr id="13" name="Text 12"/>
          <p:cNvSpPr txBox="1"/>
          <p:nvPr/>
        </p:nvSpPr>
        <p:spPr>
          <a:xfrm>
            <a:off x="4433443" y="2220369"/>
            <a:ext cx="3231007"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مكوّن واحد من ECC أو بنود ISO 27001، مع خطة معالجة.</a:t>
            </a:r>
          </a:p>
        </p:txBody>
      </p:sp>
      <p:sp>
        <p:nvSpPr>
          <p:cNvPr id="14" name="Text 13"/>
          <p:cNvSpPr txBox="1"/>
          <p:nvPr/>
        </p:nvSpPr>
        <p:spPr>
          <a:xfrm>
            <a:off x="4394200" y="2724519"/>
            <a:ext cx="327025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0E7C6B"/>
                </a:solidFill>
                <a:latin typeface="IBM Plex Sans Arabic"/>
                <a:ea typeface="IBM Plex Sans Arabic"/>
                <a:cs typeface="IBM Plex Sans Arabic"/>
              </a:rPr>
              <a:t>يثبت: فهم الأطر</a:t>
            </a:r>
          </a:p>
        </p:txBody>
      </p:sp>
      <p:sp>
        <p:nvSpPr>
          <p:cNvPr id="15" name="Box 14"/>
          <p:cNvSpPr/>
          <p:nvPr/>
        </p:nvSpPr>
        <p:spPr>
          <a:xfrm>
            <a:off x="815975" y="1835745"/>
            <a:ext cx="3448050" cy="1232991"/>
          </a:xfrm>
          <a:prstGeom prst="roundRect">
            <a:avLst>
              <a:gd name="adj" fmla="val 7173"/>
            </a:avLst>
          </a:prstGeom>
          <a:solidFill>
            <a:srgbClr val="FFFDF8"/>
          </a:solidFill>
          <a:ln w="6350">
            <a:solidFill>
              <a:srgbClr val="E1DBCD"/>
            </a:solidFill>
          </a:ln>
        </p:spPr>
        <p:txBody>
          <a:bodyPr rtlCol="0" anchor="ctr"/>
          <a:lstStyle/>
          <a:p>
            <a:pPr algn="ctr"/>
          </a:p>
        </p:txBody>
      </p:sp>
      <p:sp>
        <p:nvSpPr>
          <p:cNvPr id="16" name="Text 15"/>
          <p:cNvSpPr txBox="1"/>
          <p:nvPr/>
        </p:nvSpPr>
        <p:spPr>
          <a:xfrm>
            <a:off x="3706654" y="1991812"/>
            <a:ext cx="401796"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0E7C6B"/>
                </a:solidFill>
                <a:latin typeface="Readex Pro"/>
                <a:ea typeface="Readex Pro"/>
                <a:cs typeface="Readex Pro"/>
              </a:rPr>
              <a:t>03</a:t>
            </a:r>
          </a:p>
        </p:txBody>
      </p:sp>
      <p:sp>
        <p:nvSpPr>
          <p:cNvPr id="17" name="Text 16"/>
          <p:cNvSpPr txBox="1"/>
          <p:nvPr/>
        </p:nvSpPr>
        <p:spPr>
          <a:xfrm>
            <a:off x="838200" y="1947251"/>
            <a:ext cx="2921794"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172433"/>
                </a:solidFill>
                <a:latin typeface="IBM Plex Sans Arabic"/>
                <a:ea typeface="IBM Plex Sans Arabic"/>
                <a:cs typeface="IBM Plex Sans Arabic"/>
              </a:rPr>
              <a:t>حزمة وثائق</a:t>
            </a:r>
          </a:p>
        </p:txBody>
      </p:sp>
      <p:sp>
        <p:nvSpPr>
          <p:cNvPr id="18" name="Text 17"/>
          <p:cNvSpPr txBox="1"/>
          <p:nvPr/>
        </p:nvSpPr>
        <p:spPr>
          <a:xfrm>
            <a:off x="877443" y="2220369"/>
            <a:ext cx="3231007"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سياسة ومعيار وإجراء لموضوع واحد، مثل إدارة الصلاحيات.</a:t>
            </a:r>
          </a:p>
        </p:txBody>
      </p:sp>
      <p:sp>
        <p:nvSpPr>
          <p:cNvPr id="19" name="Text 18"/>
          <p:cNvSpPr txBox="1"/>
          <p:nvPr/>
        </p:nvSpPr>
        <p:spPr>
          <a:xfrm>
            <a:off x="838200" y="2724519"/>
            <a:ext cx="327025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0E7C6B"/>
                </a:solidFill>
                <a:latin typeface="IBM Plex Sans Arabic"/>
                <a:ea typeface="IBM Plex Sans Arabic"/>
                <a:cs typeface="IBM Plex Sans Arabic"/>
              </a:rPr>
              <a:t>يثبت: الكتابة المهنية</a:t>
            </a:r>
          </a:p>
        </p:txBody>
      </p:sp>
      <p:sp>
        <p:nvSpPr>
          <p:cNvPr id="20" name="Box 19"/>
          <p:cNvSpPr/>
          <p:nvPr/>
        </p:nvSpPr>
        <p:spPr>
          <a:xfrm>
            <a:off x="7927975" y="3176687"/>
            <a:ext cx="3448050" cy="1232991"/>
          </a:xfrm>
          <a:prstGeom prst="roundRect">
            <a:avLst>
              <a:gd name="adj" fmla="val 7173"/>
            </a:avLst>
          </a:prstGeom>
          <a:solidFill>
            <a:srgbClr val="FFFDF8"/>
          </a:solidFill>
          <a:ln w="6350">
            <a:solidFill>
              <a:srgbClr val="E1DBCD"/>
            </a:solidFill>
          </a:ln>
        </p:spPr>
        <p:txBody>
          <a:bodyPr rtlCol="0" anchor="ctr"/>
          <a:lstStyle/>
          <a:p>
            <a:pPr algn="ctr"/>
          </a:p>
        </p:txBody>
      </p:sp>
      <p:sp>
        <p:nvSpPr>
          <p:cNvPr id="21" name="Text 20"/>
          <p:cNvSpPr txBox="1"/>
          <p:nvPr/>
        </p:nvSpPr>
        <p:spPr>
          <a:xfrm>
            <a:off x="10803076" y="3332754"/>
            <a:ext cx="417374"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24506B"/>
                </a:solidFill>
                <a:latin typeface="Readex Pro"/>
                <a:ea typeface="Readex Pro"/>
                <a:cs typeface="Readex Pro"/>
              </a:rPr>
              <a:t>04</a:t>
            </a:r>
          </a:p>
        </p:txBody>
      </p:sp>
      <p:sp>
        <p:nvSpPr>
          <p:cNvPr id="22" name="Text 21"/>
          <p:cNvSpPr txBox="1"/>
          <p:nvPr/>
        </p:nvSpPr>
        <p:spPr>
          <a:xfrm>
            <a:off x="7950200" y="3288193"/>
            <a:ext cx="2906216"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172433"/>
                </a:solidFill>
                <a:latin typeface="IBM Plex Sans Arabic"/>
                <a:ea typeface="IBM Plex Sans Arabic"/>
                <a:cs typeface="IBM Plex Sans Arabic"/>
              </a:rPr>
              <a:t>تقييم مورد</a:t>
            </a:r>
          </a:p>
        </p:txBody>
      </p:sp>
      <p:sp>
        <p:nvSpPr>
          <p:cNvPr id="23" name="Text 22"/>
          <p:cNvSpPr txBox="1"/>
          <p:nvPr/>
        </p:nvSpPr>
        <p:spPr>
          <a:xfrm>
            <a:off x="7950200" y="3561310"/>
            <a:ext cx="32702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استبيان من 25 سؤالاً، وتحليل ردود مورد افتراضي.</a:t>
            </a:r>
          </a:p>
        </p:txBody>
      </p:sp>
      <p:sp>
        <p:nvSpPr>
          <p:cNvPr id="24" name="Text 23"/>
          <p:cNvSpPr txBox="1"/>
          <p:nvPr/>
        </p:nvSpPr>
        <p:spPr>
          <a:xfrm>
            <a:off x="7950200" y="3844500"/>
            <a:ext cx="327025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24506B"/>
                </a:solidFill>
                <a:latin typeface="IBM Plex Sans Arabic"/>
                <a:ea typeface="IBM Plex Sans Arabic"/>
                <a:cs typeface="IBM Plex Sans Arabic"/>
              </a:rPr>
              <a:t>يثبت: مخاطر الأطراف الخارجية</a:t>
            </a:r>
          </a:p>
        </p:txBody>
      </p:sp>
      <p:sp>
        <p:nvSpPr>
          <p:cNvPr id="25" name="Box 24"/>
          <p:cNvSpPr/>
          <p:nvPr/>
        </p:nvSpPr>
        <p:spPr>
          <a:xfrm>
            <a:off x="4371975" y="3176687"/>
            <a:ext cx="3448050" cy="1232991"/>
          </a:xfrm>
          <a:prstGeom prst="roundRect">
            <a:avLst>
              <a:gd name="adj" fmla="val 7173"/>
            </a:avLst>
          </a:prstGeom>
          <a:solidFill>
            <a:srgbClr val="FFFDF8"/>
          </a:solidFill>
          <a:ln w="6350">
            <a:solidFill>
              <a:srgbClr val="E1DBCD"/>
            </a:solidFill>
          </a:ln>
        </p:spPr>
        <p:txBody>
          <a:bodyPr rtlCol="0" anchor="ctr"/>
          <a:lstStyle/>
          <a:p>
            <a:pPr algn="ctr"/>
          </a:p>
        </p:txBody>
      </p:sp>
      <p:sp>
        <p:nvSpPr>
          <p:cNvPr id="26" name="Text 25"/>
          <p:cNvSpPr txBox="1"/>
          <p:nvPr/>
        </p:nvSpPr>
        <p:spPr>
          <a:xfrm>
            <a:off x="7261364" y="3332754"/>
            <a:ext cx="403086"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24506B"/>
                </a:solidFill>
                <a:latin typeface="Readex Pro"/>
                <a:ea typeface="Readex Pro"/>
                <a:cs typeface="Readex Pro"/>
              </a:rPr>
              <a:t>05</a:t>
            </a:r>
          </a:p>
        </p:txBody>
      </p:sp>
      <p:sp>
        <p:nvSpPr>
          <p:cNvPr id="27" name="Text 26"/>
          <p:cNvSpPr txBox="1"/>
          <p:nvPr/>
        </p:nvSpPr>
        <p:spPr>
          <a:xfrm>
            <a:off x="4394200" y="3288193"/>
            <a:ext cx="2920504"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172433"/>
                </a:solidFill>
                <a:latin typeface="IBM Plex Sans Arabic"/>
                <a:ea typeface="IBM Plex Sans Arabic"/>
                <a:cs typeface="IBM Plex Sans Arabic"/>
              </a:rPr>
              <a:t>مصفوفة مواءمة</a:t>
            </a:r>
          </a:p>
        </p:txBody>
      </p:sp>
      <p:sp>
        <p:nvSpPr>
          <p:cNvPr id="28" name="Text 27"/>
          <p:cNvSpPr txBox="1"/>
          <p:nvPr/>
        </p:nvSpPr>
        <p:spPr>
          <a:xfrm>
            <a:off x="4433443" y="3561310"/>
            <a:ext cx="3231007"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20 ضابطاً من ECC وما يقابلها في ISO 27001 وNIST CSF.</a:t>
            </a:r>
          </a:p>
        </p:txBody>
      </p:sp>
      <p:sp>
        <p:nvSpPr>
          <p:cNvPr id="29" name="Text 28"/>
          <p:cNvSpPr txBox="1"/>
          <p:nvPr/>
        </p:nvSpPr>
        <p:spPr>
          <a:xfrm>
            <a:off x="4394200" y="4065460"/>
            <a:ext cx="327025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24506B"/>
                </a:solidFill>
                <a:latin typeface="IBM Plex Sans Arabic"/>
                <a:ea typeface="IBM Plex Sans Arabic"/>
                <a:cs typeface="IBM Plex Sans Arabic"/>
              </a:rPr>
              <a:t>يثبت: العمل بعدة أطر</a:t>
            </a:r>
          </a:p>
        </p:txBody>
      </p:sp>
      <p:sp>
        <p:nvSpPr>
          <p:cNvPr id="30" name="Box 29"/>
          <p:cNvSpPr/>
          <p:nvPr/>
        </p:nvSpPr>
        <p:spPr>
          <a:xfrm>
            <a:off x="815975" y="3176687"/>
            <a:ext cx="3448050" cy="1232991"/>
          </a:xfrm>
          <a:prstGeom prst="roundRect">
            <a:avLst>
              <a:gd name="adj" fmla="val 7173"/>
            </a:avLst>
          </a:prstGeom>
          <a:solidFill>
            <a:srgbClr val="FFFDF8"/>
          </a:solidFill>
          <a:ln w="6350">
            <a:solidFill>
              <a:srgbClr val="E1DBCD"/>
            </a:solidFill>
          </a:ln>
        </p:spPr>
        <p:txBody>
          <a:bodyPr rtlCol="0" anchor="ctr"/>
          <a:lstStyle/>
          <a:p>
            <a:pPr algn="ctr"/>
          </a:p>
        </p:txBody>
      </p:sp>
      <p:sp>
        <p:nvSpPr>
          <p:cNvPr id="31" name="Text 30"/>
          <p:cNvSpPr txBox="1"/>
          <p:nvPr/>
        </p:nvSpPr>
        <p:spPr>
          <a:xfrm>
            <a:off x="3709233" y="3332754"/>
            <a:ext cx="399217"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24506B"/>
                </a:solidFill>
                <a:latin typeface="Readex Pro"/>
                <a:ea typeface="Readex Pro"/>
                <a:cs typeface="Readex Pro"/>
              </a:rPr>
              <a:t>06</a:t>
            </a:r>
          </a:p>
        </p:txBody>
      </p:sp>
      <p:sp>
        <p:nvSpPr>
          <p:cNvPr id="32" name="Text 31"/>
          <p:cNvSpPr txBox="1"/>
          <p:nvPr/>
        </p:nvSpPr>
        <p:spPr>
          <a:xfrm>
            <a:off x="838200" y="3288193"/>
            <a:ext cx="2924373"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172433"/>
                </a:solidFill>
                <a:latin typeface="IBM Plex Sans Arabic"/>
                <a:ea typeface="IBM Plex Sans Arabic"/>
                <a:cs typeface="IBM Plex Sans Arabic"/>
              </a:rPr>
              <a:t>تقرير تدقيق مصغر</a:t>
            </a:r>
          </a:p>
        </p:txBody>
      </p:sp>
      <p:sp>
        <p:nvSpPr>
          <p:cNvPr id="33" name="Text 32"/>
          <p:cNvSpPr txBox="1"/>
          <p:nvPr/>
        </p:nvSpPr>
        <p:spPr>
          <a:xfrm>
            <a:off x="877443" y="3561310"/>
            <a:ext cx="3231007"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5 ملاحظات بالعناصر الخمسة: الوضع، والمعيار، والسبب، والأثر، والتوصية.</a:t>
            </a:r>
          </a:p>
        </p:txBody>
      </p:sp>
      <p:sp>
        <p:nvSpPr>
          <p:cNvPr id="34" name="Text 33"/>
          <p:cNvSpPr txBox="1"/>
          <p:nvPr/>
        </p:nvSpPr>
        <p:spPr>
          <a:xfrm>
            <a:off x="838200" y="4065460"/>
            <a:ext cx="327025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24506B"/>
                </a:solidFill>
                <a:latin typeface="IBM Plex Sans Arabic"/>
                <a:ea typeface="IBM Plex Sans Arabic"/>
                <a:cs typeface="IBM Plex Sans Arabic"/>
              </a:rPr>
              <a:t>يثبت: الأدلة والتقارير</a:t>
            </a:r>
          </a:p>
        </p:txBody>
      </p:sp>
      <p:sp>
        <p:nvSpPr>
          <p:cNvPr id="35" name="Box 34"/>
          <p:cNvSpPr/>
          <p:nvPr/>
        </p:nvSpPr>
        <p:spPr>
          <a:xfrm>
            <a:off x="6153150" y="4590653"/>
            <a:ext cx="5226050" cy="429220"/>
          </a:xfrm>
          <a:prstGeom prst="roundRect">
            <a:avLst>
              <a:gd name="adj" fmla="val 20711"/>
            </a:avLst>
          </a:prstGeom>
          <a:solidFill>
            <a:srgbClr val="172433"/>
          </a:solidFill>
          <a:ln>
            <a:noFill/>
          </a:ln>
        </p:spPr>
        <p:txBody>
          <a:bodyPr rtlCol="0" anchor="ctr"/>
          <a:lstStyle/>
          <a:p>
            <a:pPr algn="ctr"/>
          </a:p>
        </p:txBody>
      </p:sp>
      <p:pic>
        <p:nvPicPr>
          <p:cNvPr id="36" name="Icon PaperPlane 35" descr="icon051.png"/>
          <p:cNvPicPr>
            <a:picLocks noChangeAspect="1"/>
          </p:cNvPicPr>
          <p:nvPr/>
        </p:nvPicPr>
        <p:blipFill>
          <a:blip r:embed="rId2"/>
          <a:stretch>
            <a:fillRect/>
          </a:stretch>
        </p:blipFill>
        <p:spPr>
          <a:xfrm>
            <a:off x="11036300" y="4710013"/>
            <a:ext cx="190500" cy="190500"/>
          </a:xfrm>
          <a:prstGeom prst="rect">
            <a:avLst/>
          </a:prstGeom>
        </p:spPr>
      </p:pic>
      <p:sp>
        <p:nvSpPr>
          <p:cNvPr id="37" name="Text 36"/>
          <p:cNvSpPr txBox="1"/>
          <p:nvPr/>
        </p:nvSpPr>
        <p:spPr>
          <a:xfrm>
            <a:off x="6178550" y="4674981"/>
            <a:ext cx="47688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F3EFE6"/>
                </a:solidFill>
                <a:latin typeface="IBM Plex Sans Arabic"/>
                <a:ea typeface="IBM Plex Sans Arabic"/>
                <a:cs typeface="IBM Plex Sans Arabic"/>
              </a:rPr>
              <a:t>انشر: قسم «مميز» في LinkedIn، أو GitHub، أو رابط عام في Drive.</a:t>
            </a:r>
          </a:p>
        </p:txBody>
      </p:sp>
      <p:sp>
        <p:nvSpPr>
          <p:cNvPr id="38" name="Box 37"/>
          <p:cNvSpPr/>
          <p:nvPr/>
        </p:nvSpPr>
        <p:spPr>
          <a:xfrm>
            <a:off x="815975" y="4593828"/>
            <a:ext cx="5232400" cy="422870"/>
          </a:xfrm>
          <a:prstGeom prst="roundRect">
            <a:avLst>
              <a:gd name="adj" fmla="val 20711"/>
            </a:avLst>
          </a:prstGeom>
          <a:solidFill>
            <a:srgbClr val="FBEAE5"/>
          </a:solidFill>
          <a:ln w="6350">
            <a:solidFill>
              <a:srgbClr val="E7B8AC"/>
            </a:solidFill>
          </a:ln>
        </p:spPr>
        <p:txBody>
          <a:bodyPr rtlCol="0" anchor="ctr"/>
          <a:lstStyle/>
          <a:p>
            <a:pPr algn="ctr"/>
          </a:p>
        </p:txBody>
      </p:sp>
      <p:pic>
        <p:nvPicPr>
          <p:cNvPr id="39" name="Icon Warning 38" descr="icon030.png"/>
          <p:cNvPicPr>
            <a:picLocks noChangeAspect="1"/>
          </p:cNvPicPr>
          <p:nvPr/>
        </p:nvPicPr>
        <p:blipFill>
          <a:blip r:embed="rId3"/>
          <a:stretch>
            <a:fillRect/>
          </a:stretch>
        </p:blipFill>
        <p:spPr>
          <a:xfrm>
            <a:off x="5702300" y="4710013"/>
            <a:ext cx="190500" cy="190500"/>
          </a:xfrm>
          <a:prstGeom prst="rect">
            <a:avLst/>
          </a:prstGeom>
        </p:spPr>
      </p:pic>
      <p:sp>
        <p:nvSpPr>
          <p:cNvPr id="40" name="Text 39"/>
          <p:cNvSpPr txBox="1"/>
          <p:nvPr/>
        </p:nvSpPr>
        <p:spPr>
          <a:xfrm>
            <a:off x="838200" y="4674981"/>
            <a:ext cx="47752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جهة افتراضية دائماً. لا تنشر بيانات أو وثائق جهة حقيقية.</a:t>
            </a:r>
          </a:p>
        </p:txBody>
      </p:sp>
      <p:sp>
        <p:nvSpPr>
          <p:cNvPr id="41" name="Text 40"/>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06 · الخطة العملية</a:t>
            </a:r>
          </a:p>
        </p:txBody>
      </p:sp>
      <p:sp>
        <p:nvSpPr>
          <p:cNvPr id="42" name="Text 41"/>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543852" y="812800"/>
            <a:ext cx="1835348"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06 · الخطة العملية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المهارات المطلوبة، وكيف تتدرب على كل واحدة</a:t>
            </a:r>
          </a:p>
        </p:txBody>
      </p:sp>
      <p:sp>
        <p:nvSpPr>
          <p:cNvPr id="5" name="Text 4"/>
          <p:cNvSpPr txBox="1"/>
          <p:nvPr/>
        </p:nvSpPr>
        <p:spPr>
          <a:xfrm>
            <a:off x="5796788" y="1806662"/>
            <a:ext cx="558241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0E7C6B"/>
                </a:solidFill>
                <a:latin typeface="Readex Pro"/>
                <a:ea typeface="Readex Pro"/>
                <a:cs typeface="Readex Pro"/>
              </a:rPr>
              <a:t>مهارات المجال</a:t>
            </a:r>
          </a:p>
        </p:txBody>
      </p:sp>
      <p:sp>
        <p:nvSpPr>
          <p:cNvPr id="6" name="Box 5"/>
          <p:cNvSpPr/>
          <p:nvPr/>
        </p:nvSpPr>
        <p:spPr>
          <a:xfrm>
            <a:off x="6213475" y="2163366"/>
            <a:ext cx="5162550" cy="347662"/>
          </a:xfrm>
          <a:prstGeom prst="roundRect">
            <a:avLst>
              <a:gd name="adj" fmla="val 21524"/>
            </a:avLst>
          </a:prstGeom>
          <a:solidFill>
            <a:srgbClr val="FFFDF8"/>
          </a:solidFill>
          <a:ln w="6350">
            <a:solidFill>
              <a:srgbClr val="E1DBCD"/>
            </a:solidFill>
          </a:ln>
        </p:spPr>
        <p:txBody>
          <a:bodyPr rtlCol="0" anchor="ctr"/>
          <a:lstStyle/>
          <a:p>
            <a:pPr algn="ctr"/>
          </a:p>
        </p:txBody>
      </p:sp>
      <p:sp>
        <p:nvSpPr>
          <p:cNvPr id="7" name="Text 6"/>
          <p:cNvSpPr txBox="1"/>
          <p:nvPr/>
        </p:nvSpPr>
        <p:spPr>
          <a:xfrm>
            <a:off x="9531350" y="2209403"/>
            <a:ext cx="171450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lang="ar-SA" altLang="en-US">
                <a:solidFill>
                  <a:srgbClr val="172433"/>
                </a:solidFill>
                <a:latin typeface="IBM Plex Sans Arabic"/>
                <a:ea typeface="IBM Plex Sans Arabic"/>
                <a:cs typeface="IBM Plex Sans Arabic"/>
              </a:rPr>
              <a:t>قراءة الأطر</a:t>
            </a:r>
          </a:p>
        </p:txBody>
      </p:sp>
      <p:sp>
        <p:nvSpPr>
          <p:cNvPr id="8" name="Text 7"/>
          <p:cNvSpPr txBox="1"/>
          <p:nvPr/>
        </p:nvSpPr>
        <p:spPr>
          <a:xfrm>
            <a:off x="6235700" y="2206915"/>
            <a:ext cx="33210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الأسئلة الأربعة مع كل ضابط</a:t>
            </a:r>
          </a:p>
        </p:txBody>
      </p:sp>
      <p:sp>
        <p:nvSpPr>
          <p:cNvPr id="9" name="Box 8"/>
          <p:cNvSpPr/>
          <p:nvPr/>
        </p:nvSpPr>
        <p:spPr>
          <a:xfrm>
            <a:off x="6213475" y="2593578"/>
            <a:ext cx="5162550" cy="347662"/>
          </a:xfrm>
          <a:prstGeom prst="roundRect">
            <a:avLst>
              <a:gd name="adj" fmla="val 21524"/>
            </a:avLst>
          </a:prstGeom>
          <a:solidFill>
            <a:srgbClr val="FFFDF8"/>
          </a:solidFill>
          <a:ln w="6350">
            <a:solidFill>
              <a:srgbClr val="E1DBCD"/>
            </a:solidFill>
          </a:ln>
        </p:spPr>
        <p:txBody>
          <a:bodyPr rtlCol="0" anchor="ctr"/>
          <a:lstStyle/>
          <a:p>
            <a:pPr algn="ctr"/>
          </a:p>
        </p:txBody>
      </p:sp>
      <p:sp>
        <p:nvSpPr>
          <p:cNvPr id="10" name="Text 9"/>
          <p:cNvSpPr txBox="1"/>
          <p:nvPr/>
        </p:nvSpPr>
        <p:spPr>
          <a:xfrm>
            <a:off x="9531350" y="2639616"/>
            <a:ext cx="171450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lang="ar-SA" altLang="en-US">
                <a:solidFill>
                  <a:srgbClr val="172433"/>
                </a:solidFill>
                <a:latin typeface="IBM Plex Sans Arabic"/>
                <a:ea typeface="IBM Plex Sans Arabic"/>
                <a:cs typeface="IBM Plex Sans Arabic"/>
              </a:rPr>
              <a:t>تقييم المخاطر</a:t>
            </a:r>
          </a:p>
        </p:txBody>
      </p:sp>
      <p:sp>
        <p:nvSpPr>
          <p:cNvPr id="11" name="Text 10"/>
          <p:cNvSpPr txBox="1"/>
          <p:nvPr/>
        </p:nvSpPr>
        <p:spPr>
          <a:xfrm>
            <a:off x="6235700" y="2637127"/>
            <a:ext cx="33210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مشروع سجل المخاطر</a:t>
            </a:r>
          </a:p>
        </p:txBody>
      </p:sp>
      <p:sp>
        <p:nvSpPr>
          <p:cNvPr id="12" name="Box 11"/>
          <p:cNvSpPr/>
          <p:nvPr/>
        </p:nvSpPr>
        <p:spPr>
          <a:xfrm>
            <a:off x="6213475" y="3023791"/>
            <a:ext cx="5162550" cy="347662"/>
          </a:xfrm>
          <a:prstGeom prst="roundRect">
            <a:avLst>
              <a:gd name="adj" fmla="val 21524"/>
            </a:avLst>
          </a:prstGeom>
          <a:solidFill>
            <a:srgbClr val="FFFDF8"/>
          </a:solidFill>
          <a:ln w="6350">
            <a:solidFill>
              <a:srgbClr val="E1DBCD"/>
            </a:solidFill>
          </a:ln>
        </p:spPr>
        <p:txBody>
          <a:bodyPr rtlCol="0" anchor="ctr"/>
          <a:lstStyle/>
          <a:p>
            <a:pPr algn="ctr"/>
          </a:p>
        </p:txBody>
      </p:sp>
      <p:sp>
        <p:nvSpPr>
          <p:cNvPr id="13" name="Text 12"/>
          <p:cNvSpPr txBox="1"/>
          <p:nvPr/>
        </p:nvSpPr>
        <p:spPr>
          <a:xfrm>
            <a:off x="9531350" y="3069828"/>
            <a:ext cx="171450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lang="ar-SA" altLang="en-US">
                <a:solidFill>
                  <a:srgbClr val="172433"/>
                </a:solidFill>
                <a:latin typeface="IBM Plex Sans Arabic"/>
                <a:ea typeface="IBM Plex Sans Arabic"/>
                <a:cs typeface="IBM Plex Sans Arabic"/>
              </a:rPr>
              <a:t>أساسيات تقنية</a:t>
            </a:r>
          </a:p>
        </p:txBody>
      </p:sp>
      <p:sp>
        <p:nvSpPr>
          <p:cNvPr id="14" name="Text 13"/>
          <p:cNvSpPr txBox="1"/>
          <p:nvPr/>
        </p:nvSpPr>
        <p:spPr>
          <a:xfrm>
            <a:off x="6235700" y="3067340"/>
            <a:ext cx="33210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الشبكات، والهويات، والسحابة: من مذاكرة Security+</a:t>
            </a:r>
          </a:p>
        </p:txBody>
      </p:sp>
      <p:sp>
        <p:nvSpPr>
          <p:cNvPr id="15" name="Box 14"/>
          <p:cNvSpPr/>
          <p:nvPr/>
        </p:nvSpPr>
        <p:spPr>
          <a:xfrm>
            <a:off x="6213475" y="3454003"/>
            <a:ext cx="5162550" cy="347662"/>
          </a:xfrm>
          <a:prstGeom prst="roundRect">
            <a:avLst>
              <a:gd name="adj" fmla="val 21524"/>
            </a:avLst>
          </a:prstGeom>
          <a:solidFill>
            <a:srgbClr val="FFFDF8"/>
          </a:solidFill>
          <a:ln w="6350">
            <a:solidFill>
              <a:srgbClr val="E1DBCD"/>
            </a:solidFill>
          </a:ln>
        </p:spPr>
        <p:txBody>
          <a:bodyPr rtlCol="0" anchor="ctr"/>
          <a:lstStyle/>
          <a:p>
            <a:pPr algn="ctr"/>
          </a:p>
        </p:txBody>
      </p:sp>
      <p:sp>
        <p:nvSpPr>
          <p:cNvPr id="16" name="Text 15"/>
          <p:cNvSpPr txBox="1"/>
          <p:nvPr/>
        </p:nvSpPr>
        <p:spPr>
          <a:xfrm>
            <a:off x="9531350" y="3500041"/>
            <a:ext cx="171450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a:solidFill>
                  <a:srgbClr val="172433"/>
                </a:solidFill>
                <a:latin typeface="IBM Plex Sans Arabic"/>
                <a:ea typeface="IBM Plex Sans Arabic"/>
                <a:cs typeface="IBM Plex Sans Arabic"/>
              </a:rPr>
              <a:t>Excel</a:t>
            </a:r>
          </a:p>
        </p:txBody>
      </p:sp>
      <p:sp>
        <p:nvSpPr>
          <p:cNvPr id="17" name="Text 16"/>
          <p:cNvSpPr txBox="1"/>
          <p:nvPr/>
        </p:nvSpPr>
        <p:spPr>
          <a:xfrm>
            <a:off x="6235700" y="3497552"/>
            <a:ext cx="33210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الجداول المحورية، والتنسيق الشرطي، وXLOOKUP</a:t>
            </a:r>
          </a:p>
        </p:txBody>
      </p:sp>
      <p:sp>
        <p:nvSpPr>
          <p:cNvPr id="18" name="Box 17"/>
          <p:cNvSpPr/>
          <p:nvPr/>
        </p:nvSpPr>
        <p:spPr>
          <a:xfrm>
            <a:off x="6213475" y="3884216"/>
            <a:ext cx="5162550" cy="347662"/>
          </a:xfrm>
          <a:prstGeom prst="roundRect">
            <a:avLst>
              <a:gd name="adj" fmla="val 21524"/>
            </a:avLst>
          </a:prstGeom>
          <a:solidFill>
            <a:srgbClr val="FFFDF8"/>
          </a:solidFill>
          <a:ln w="6350">
            <a:solidFill>
              <a:srgbClr val="E1DBCD"/>
            </a:solidFill>
          </a:ln>
        </p:spPr>
        <p:txBody>
          <a:bodyPr rtlCol="0" anchor="ctr"/>
          <a:lstStyle/>
          <a:p>
            <a:pPr algn="ctr"/>
          </a:p>
        </p:txBody>
      </p:sp>
      <p:sp>
        <p:nvSpPr>
          <p:cNvPr id="19" name="Text 18"/>
          <p:cNvSpPr txBox="1"/>
          <p:nvPr/>
        </p:nvSpPr>
        <p:spPr>
          <a:xfrm>
            <a:off x="9531350" y="3930253"/>
            <a:ext cx="171450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lang="ar-SA" altLang="en-US">
                <a:solidFill>
                  <a:srgbClr val="172433"/>
                </a:solidFill>
                <a:latin typeface="IBM Plex Sans Arabic"/>
                <a:ea typeface="IBM Plex Sans Arabic"/>
                <a:cs typeface="IBM Plex Sans Arabic"/>
              </a:rPr>
              <a:t>منصات GRC</a:t>
            </a:r>
          </a:p>
        </p:txBody>
      </p:sp>
      <p:sp>
        <p:nvSpPr>
          <p:cNvPr id="20" name="Text 19"/>
          <p:cNvSpPr txBox="1"/>
          <p:nvPr/>
        </p:nvSpPr>
        <p:spPr>
          <a:xfrm>
            <a:off x="6235700" y="3927765"/>
            <a:ext cx="33210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اعرف فكرتها: سجلات، وتقييمات، وسير عمل، ولوحات</a:t>
            </a:r>
          </a:p>
        </p:txBody>
      </p:sp>
      <p:sp>
        <p:nvSpPr>
          <p:cNvPr id="21" name="Text 20"/>
          <p:cNvSpPr txBox="1"/>
          <p:nvPr/>
        </p:nvSpPr>
        <p:spPr>
          <a:xfrm>
            <a:off x="399288" y="1806662"/>
            <a:ext cx="558241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9A5F0F"/>
                </a:solidFill>
                <a:latin typeface="Readex Pro"/>
                <a:ea typeface="Readex Pro"/>
                <a:cs typeface="Readex Pro"/>
              </a:rPr>
              <a:t>مهارات شخصية، وغالباً هي الفارق</a:t>
            </a:r>
          </a:p>
        </p:txBody>
      </p:sp>
      <p:sp>
        <p:nvSpPr>
          <p:cNvPr id="22" name="Box 21"/>
          <p:cNvSpPr/>
          <p:nvPr/>
        </p:nvSpPr>
        <p:spPr>
          <a:xfrm>
            <a:off x="815975" y="2163366"/>
            <a:ext cx="5162550" cy="347662"/>
          </a:xfrm>
          <a:prstGeom prst="roundRect">
            <a:avLst>
              <a:gd name="adj" fmla="val 21524"/>
            </a:avLst>
          </a:prstGeom>
          <a:solidFill>
            <a:srgbClr val="FFFDF8"/>
          </a:solidFill>
          <a:ln w="6350">
            <a:solidFill>
              <a:srgbClr val="E1DBCD"/>
            </a:solidFill>
          </a:ln>
        </p:spPr>
        <p:txBody>
          <a:bodyPr rtlCol="0" anchor="ctr"/>
          <a:lstStyle/>
          <a:p>
            <a:pPr algn="ctr"/>
          </a:p>
        </p:txBody>
      </p:sp>
      <p:sp>
        <p:nvSpPr>
          <p:cNvPr id="23" name="Text 22"/>
          <p:cNvSpPr txBox="1"/>
          <p:nvPr/>
        </p:nvSpPr>
        <p:spPr>
          <a:xfrm>
            <a:off x="4133850" y="2209403"/>
            <a:ext cx="171450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lang="ar-SA" altLang="en-US">
                <a:solidFill>
                  <a:srgbClr val="172433"/>
                </a:solidFill>
                <a:latin typeface="IBM Plex Sans Arabic"/>
                <a:ea typeface="IBM Plex Sans Arabic"/>
                <a:cs typeface="IBM Plex Sans Arabic"/>
              </a:rPr>
              <a:t>الكتابة الواضحة</a:t>
            </a:r>
          </a:p>
        </p:txBody>
      </p:sp>
      <p:sp>
        <p:nvSpPr>
          <p:cNvPr id="24" name="Text 23"/>
          <p:cNvSpPr txBox="1"/>
          <p:nvPr/>
        </p:nvSpPr>
        <p:spPr>
          <a:xfrm>
            <a:off x="838200" y="2206915"/>
            <a:ext cx="33210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أعد كتابة ملاحظة في 3 أسطر بدل 10</a:t>
            </a:r>
          </a:p>
        </p:txBody>
      </p:sp>
      <p:sp>
        <p:nvSpPr>
          <p:cNvPr id="25" name="Box 24"/>
          <p:cNvSpPr/>
          <p:nvPr/>
        </p:nvSpPr>
        <p:spPr>
          <a:xfrm>
            <a:off x="815975" y="2593578"/>
            <a:ext cx="5162550" cy="347662"/>
          </a:xfrm>
          <a:prstGeom prst="roundRect">
            <a:avLst>
              <a:gd name="adj" fmla="val 21524"/>
            </a:avLst>
          </a:prstGeom>
          <a:solidFill>
            <a:srgbClr val="FFFDF8"/>
          </a:solidFill>
          <a:ln w="6350">
            <a:solidFill>
              <a:srgbClr val="E1DBCD"/>
            </a:solidFill>
          </a:ln>
        </p:spPr>
        <p:txBody>
          <a:bodyPr rtlCol="0" anchor="ctr"/>
          <a:lstStyle/>
          <a:p>
            <a:pPr algn="ctr"/>
          </a:p>
        </p:txBody>
      </p:sp>
      <p:sp>
        <p:nvSpPr>
          <p:cNvPr id="26" name="Text 25"/>
          <p:cNvSpPr txBox="1"/>
          <p:nvPr/>
        </p:nvSpPr>
        <p:spPr>
          <a:xfrm>
            <a:off x="4133850" y="2639616"/>
            <a:ext cx="171450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lang="ar-SA" altLang="en-US">
                <a:solidFill>
                  <a:srgbClr val="172433"/>
                </a:solidFill>
                <a:latin typeface="IBM Plex Sans Arabic"/>
                <a:ea typeface="IBM Plex Sans Arabic"/>
                <a:cs typeface="IBM Plex Sans Arabic"/>
              </a:rPr>
              <a:t>شرح التقني لغير التقني</a:t>
            </a:r>
          </a:p>
        </p:txBody>
      </p:sp>
      <p:sp>
        <p:nvSpPr>
          <p:cNvPr id="27" name="Text 26"/>
          <p:cNvSpPr txBox="1"/>
          <p:nvPr/>
        </p:nvSpPr>
        <p:spPr>
          <a:xfrm>
            <a:off x="838200" y="2637127"/>
            <a:ext cx="33210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اشرح خطراً لصديق خارج المجال في دقيقة</a:t>
            </a:r>
          </a:p>
        </p:txBody>
      </p:sp>
      <p:sp>
        <p:nvSpPr>
          <p:cNvPr id="28" name="Box 27"/>
          <p:cNvSpPr/>
          <p:nvPr/>
        </p:nvSpPr>
        <p:spPr>
          <a:xfrm>
            <a:off x="815975" y="3023791"/>
            <a:ext cx="5162550" cy="347662"/>
          </a:xfrm>
          <a:prstGeom prst="roundRect">
            <a:avLst>
              <a:gd name="adj" fmla="val 21524"/>
            </a:avLst>
          </a:prstGeom>
          <a:solidFill>
            <a:srgbClr val="FFFDF8"/>
          </a:solidFill>
          <a:ln w="6350">
            <a:solidFill>
              <a:srgbClr val="E1DBCD"/>
            </a:solidFill>
          </a:ln>
        </p:spPr>
        <p:txBody>
          <a:bodyPr rtlCol="0" anchor="ctr"/>
          <a:lstStyle/>
          <a:p>
            <a:pPr algn="ctr"/>
          </a:p>
        </p:txBody>
      </p:sp>
      <p:sp>
        <p:nvSpPr>
          <p:cNvPr id="29" name="Text 28"/>
          <p:cNvSpPr txBox="1"/>
          <p:nvPr/>
        </p:nvSpPr>
        <p:spPr>
          <a:xfrm>
            <a:off x="4133850" y="3069828"/>
            <a:ext cx="171450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lang="ar-SA" altLang="en-US">
                <a:solidFill>
                  <a:srgbClr val="172433"/>
                </a:solidFill>
                <a:latin typeface="IBM Plex Sans Arabic"/>
                <a:ea typeface="IBM Plex Sans Arabic"/>
                <a:cs typeface="IBM Plex Sans Arabic"/>
              </a:rPr>
              <a:t>الإقناع</a:t>
            </a:r>
          </a:p>
        </p:txBody>
      </p:sp>
      <p:sp>
        <p:nvSpPr>
          <p:cNvPr id="30" name="Text 29"/>
          <p:cNvSpPr txBox="1"/>
          <p:nvPr/>
        </p:nvSpPr>
        <p:spPr>
          <a:xfrm>
            <a:off x="838200" y="3067340"/>
            <a:ext cx="33210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اربط كل توصية بأثر على العمل، لا بالمتطلب وحده</a:t>
            </a:r>
          </a:p>
        </p:txBody>
      </p:sp>
      <p:sp>
        <p:nvSpPr>
          <p:cNvPr id="31" name="Box 30"/>
          <p:cNvSpPr/>
          <p:nvPr/>
        </p:nvSpPr>
        <p:spPr>
          <a:xfrm>
            <a:off x="815975" y="3454003"/>
            <a:ext cx="5162550" cy="347662"/>
          </a:xfrm>
          <a:prstGeom prst="roundRect">
            <a:avLst>
              <a:gd name="adj" fmla="val 21524"/>
            </a:avLst>
          </a:prstGeom>
          <a:solidFill>
            <a:srgbClr val="FFFDF8"/>
          </a:solidFill>
          <a:ln w="6350">
            <a:solidFill>
              <a:srgbClr val="E1DBCD"/>
            </a:solidFill>
          </a:ln>
        </p:spPr>
        <p:txBody>
          <a:bodyPr rtlCol="0" anchor="ctr"/>
          <a:lstStyle/>
          <a:p>
            <a:pPr algn="ctr"/>
          </a:p>
        </p:txBody>
      </p:sp>
      <p:sp>
        <p:nvSpPr>
          <p:cNvPr id="32" name="Text 31"/>
          <p:cNvSpPr txBox="1"/>
          <p:nvPr/>
        </p:nvSpPr>
        <p:spPr>
          <a:xfrm>
            <a:off x="4133850" y="3500041"/>
            <a:ext cx="171450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lang="ar-SA" altLang="en-US">
                <a:solidFill>
                  <a:srgbClr val="172433"/>
                </a:solidFill>
                <a:latin typeface="IBM Plex Sans Arabic"/>
                <a:ea typeface="IBM Plex Sans Arabic"/>
                <a:cs typeface="IBM Plex Sans Arabic"/>
              </a:rPr>
              <a:t>المتابعة والتنظيم</a:t>
            </a:r>
          </a:p>
        </p:txBody>
      </p:sp>
      <p:sp>
        <p:nvSpPr>
          <p:cNvPr id="33" name="Text 32"/>
          <p:cNvSpPr txBox="1"/>
          <p:nvPr/>
        </p:nvSpPr>
        <p:spPr>
          <a:xfrm>
            <a:off x="838200" y="3497552"/>
            <a:ext cx="33210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تتبع مشاريعك بمالك وموعد، كما تتبع الملاحظات</a:t>
            </a:r>
          </a:p>
        </p:txBody>
      </p:sp>
      <p:sp>
        <p:nvSpPr>
          <p:cNvPr id="34" name="Box 33"/>
          <p:cNvSpPr/>
          <p:nvPr/>
        </p:nvSpPr>
        <p:spPr>
          <a:xfrm>
            <a:off x="815975" y="3884216"/>
            <a:ext cx="5162550" cy="347662"/>
          </a:xfrm>
          <a:prstGeom prst="roundRect">
            <a:avLst>
              <a:gd name="adj" fmla="val 21524"/>
            </a:avLst>
          </a:prstGeom>
          <a:solidFill>
            <a:srgbClr val="FFFDF8"/>
          </a:solidFill>
          <a:ln w="6350">
            <a:solidFill>
              <a:srgbClr val="E1DBCD"/>
            </a:solidFill>
          </a:ln>
        </p:spPr>
        <p:txBody>
          <a:bodyPr rtlCol="0" anchor="ctr"/>
          <a:lstStyle/>
          <a:p>
            <a:pPr algn="ctr"/>
          </a:p>
        </p:txBody>
      </p:sp>
      <p:sp>
        <p:nvSpPr>
          <p:cNvPr id="35" name="Text 34"/>
          <p:cNvSpPr txBox="1"/>
          <p:nvPr/>
        </p:nvSpPr>
        <p:spPr>
          <a:xfrm>
            <a:off x="4133850" y="3930253"/>
            <a:ext cx="171450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lang="ar-SA" altLang="en-US">
                <a:solidFill>
                  <a:srgbClr val="172433"/>
                </a:solidFill>
                <a:latin typeface="IBM Plex Sans Arabic"/>
                <a:ea typeface="IBM Plex Sans Arabic"/>
                <a:cs typeface="IBM Plex Sans Arabic"/>
              </a:rPr>
              <a:t>النزاهة والسرية</a:t>
            </a:r>
          </a:p>
        </p:txBody>
      </p:sp>
      <p:sp>
        <p:nvSpPr>
          <p:cNvPr id="36" name="Text 35"/>
          <p:cNvSpPr txBox="1"/>
          <p:nvPr/>
        </p:nvSpPr>
        <p:spPr>
          <a:xfrm>
            <a:off x="838200" y="3927765"/>
            <a:ext cx="33210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لا مجاملة في التقييم، ولا إفشاء لما تطلع عليه</a:t>
            </a:r>
          </a:p>
        </p:txBody>
      </p:sp>
      <p:sp>
        <p:nvSpPr>
          <p:cNvPr id="37" name="Box 36"/>
          <p:cNvSpPr/>
          <p:nvPr/>
        </p:nvSpPr>
        <p:spPr>
          <a:xfrm>
            <a:off x="812800" y="4400153"/>
            <a:ext cx="10566400" cy="458788"/>
          </a:xfrm>
          <a:prstGeom prst="roundRect">
            <a:avLst>
              <a:gd name="adj" fmla="val 19377"/>
            </a:avLst>
          </a:prstGeom>
          <a:solidFill>
            <a:srgbClr val="172433"/>
          </a:solidFill>
          <a:ln>
            <a:noFill/>
          </a:ln>
        </p:spPr>
        <p:txBody>
          <a:bodyPr rtlCol="0" anchor="ctr"/>
          <a:lstStyle/>
          <a:p>
            <a:pPr algn="ctr"/>
          </a:p>
        </p:txBody>
      </p:sp>
      <p:pic>
        <p:nvPicPr>
          <p:cNvPr id="38" name="Icon Globe 37" descr="icon046.png"/>
          <p:cNvPicPr>
            <a:picLocks noChangeAspect="1"/>
          </p:cNvPicPr>
          <p:nvPr/>
        </p:nvPicPr>
        <p:blipFill>
          <a:blip r:embed="rId2"/>
          <a:stretch>
            <a:fillRect/>
          </a:stretch>
        </p:blipFill>
        <p:spPr>
          <a:xfrm>
            <a:off x="11010900" y="4527947"/>
            <a:ext cx="203200" cy="203200"/>
          </a:xfrm>
          <a:prstGeom prst="rect">
            <a:avLst/>
          </a:prstGeom>
        </p:spPr>
      </p:pic>
      <p:sp>
        <p:nvSpPr>
          <p:cNvPr id="39" name="Text 38"/>
          <p:cNvSpPr txBox="1"/>
          <p:nvPr/>
        </p:nvSpPr>
        <p:spPr>
          <a:xfrm>
            <a:off x="838200" y="4485878"/>
            <a:ext cx="10071100"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1" i="0" lang="ar-SA" altLang="en-US">
                <a:solidFill>
                  <a:srgbClr val="F3EFE6"/>
                </a:solidFill>
                <a:latin typeface="IBM Plex Sans Arabic"/>
                <a:ea typeface="IBM Plex Sans Arabic"/>
                <a:cs typeface="IBM Plex Sans Arabic"/>
              </a:rPr>
              <a:t>والإنجليزية:</a:t>
            </a:r>
            <a:r>
              <a:rPr sz="1250" b="0" i="0" lang="ar-SA" altLang="en-US">
                <a:solidFill>
                  <a:srgbClr val="F3EFE6"/>
                </a:solidFill>
                <a:latin typeface="IBM Plex Sans Arabic"/>
                <a:ea typeface="IBM Plex Sans Arabic"/>
                <a:cs typeface="IBM Plex Sans Arabic"/>
              </a:rPr>
              <a:t> أغلب المعايير والمصادر والاختبارات بها. اقرأ يومياً ولو صفحة واحدة.</a:t>
            </a:r>
          </a:p>
        </p:txBody>
      </p:sp>
      <p:sp>
        <p:nvSpPr>
          <p:cNvPr id="40" name="Text 39"/>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06 · الخطة العملية</a:t>
            </a:r>
          </a:p>
        </p:txBody>
      </p:sp>
      <p:sp>
        <p:nvSpPr>
          <p:cNvPr id="41" name="Text 40"/>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58870" y="2246610"/>
            <a:ext cx="2320330"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07</a:t>
            </a:r>
          </a:p>
        </p:txBody>
      </p:sp>
      <p:sp>
        <p:nvSpPr>
          <p:cNvPr id="4" name="Text 3"/>
          <p:cNvSpPr txBox="1"/>
          <p:nvPr/>
        </p:nvSpPr>
        <p:spPr>
          <a:xfrm>
            <a:off x="5401429" y="2668076"/>
            <a:ext cx="4165441"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lang="ar-SA" altLang="en-US">
                <a:solidFill>
                  <a:srgbClr val="F3EFE6"/>
                </a:solidFill>
                <a:latin typeface="Readex Pro"/>
                <a:ea typeface="Readex Pro"/>
                <a:cs typeface="Readex Pro"/>
              </a:rPr>
              <a:t>السيرة الذاتية</a:t>
            </a:r>
          </a:p>
        </p:txBody>
      </p:sp>
      <p:sp>
        <p:nvSpPr>
          <p:cNvPr id="5" name="Text 4"/>
          <p:cNvSpPr txBox="1"/>
          <p:nvPr/>
        </p:nvSpPr>
        <p:spPr>
          <a:xfrm>
            <a:off x="101600" y="3564997"/>
            <a:ext cx="96012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lang="ar-SA" altLang="en-US">
                <a:solidFill>
                  <a:srgbClr val="D9E2E6"/>
                </a:solidFill>
                <a:latin typeface="IBM Plex Sans Arabic"/>
                <a:ea typeface="IBM Plex Sans Arabic"/>
                <a:cs typeface="IBM Plex Sans Arabic"/>
              </a:rPr>
              <a:t>سيرة تقرؤها الأنظمة والبشر معاً، وتقول «أستطيع أن أفعل» لا «أنا مهتم».</a:t>
            </a:r>
          </a:p>
        </p:txBody>
      </p:sp>
      <p:sp>
        <p:nvSpPr>
          <p:cNvPr id="6" name="Text box 5"/>
          <p:cNvSpPr/>
          <p:nvPr/>
        </p:nvSpPr>
        <p:spPr>
          <a:xfrm>
            <a:off x="9262070" y="4157960"/>
            <a:ext cx="1075730"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هيكل السيرة</a:t>
            </a:r>
          </a:p>
        </p:txBody>
      </p:sp>
      <p:sp>
        <p:nvSpPr>
          <p:cNvPr id="7" name="Text box 6"/>
          <p:cNvSpPr/>
          <p:nvPr/>
        </p:nvSpPr>
        <p:spPr>
          <a:xfrm>
            <a:off x="7882334" y="4157960"/>
            <a:ext cx="1278136"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أنظمة الفرز ATS</a:t>
            </a:r>
          </a:p>
        </p:txBody>
      </p:sp>
      <p:sp>
        <p:nvSpPr>
          <p:cNvPr id="8" name="Text box 7"/>
          <p:cNvSpPr/>
          <p:nvPr/>
        </p:nvSpPr>
        <p:spPr>
          <a:xfrm>
            <a:off x="6504781" y="4157960"/>
            <a:ext cx="1275953"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صياغة الإنجازات</a:t>
            </a:r>
          </a:p>
        </p:txBody>
      </p:sp>
      <p:sp>
        <p:nvSpPr>
          <p:cNvPr id="9" name="Text box 8"/>
          <p:cNvSpPr/>
          <p:nvPr/>
        </p:nvSpPr>
        <p:spPr>
          <a:xfrm>
            <a:off x="5572125" y="4157960"/>
            <a:ext cx="831056"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بلا خبرة؟</a:t>
            </a:r>
          </a:p>
        </p:txBody>
      </p:sp>
      <p:sp>
        <p:nvSpPr>
          <p:cNvPr id="10" name="Text box 9"/>
          <p:cNvSpPr/>
          <p:nvPr/>
        </p:nvSpPr>
        <p:spPr>
          <a:xfrm>
            <a:off x="4395192" y="4157960"/>
            <a:ext cx="1075333"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أخطاء شائعة</a:t>
            </a:r>
          </a:p>
        </p:txBody>
      </p:sp>
      <p:sp>
        <p:nvSpPr>
          <p:cNvPr id="11" name="Text 10"/>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93A3B1"/>
                </a:solidFill>
                <a:latin typeface="IBM Plex Sans Arabic"/>
                <a:ea typeface="IBM Plex Sans Arabic"/>
                <a:cs typeface="IBM Plex Sans Arabic"/>
              </a:rPr>
              <a:t>كيف تبدأ في GRC · الوحدة 07</a:t>
            </a:r>
          </a:p>
        </p:txBody>
      </p:sp>
      <p:sp>
        <p:nvSpPr>
          <p:cNvPr id="12" name="Text 11"/>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589294" y="812800"/>
            <a:ext cx="1789906"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07 · السيرة الذاتية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تشريح سيرة مبتدئ في GRC</a:t>
            </a:r>
          </a:p>
        </p:txBody>
      </p:sp>
      <p:sp>
        <p:nvSpPr>
          <p:cNvPr id="5" name="Text box 4"/>
          <p:cNvSpPr/>
          <p:nvPr/>
        </p:nvSpPr>
        <p:spPr>
          <a:xfrm>
            <a:off x="11163300" y="1781770"/>
            <a:ext cx="215900" cy="215900"/>
          </a:xfrm>
          <a:prstGeom prst="roundRect">
            <a:avLst>
              <a:gd name="adj" fmla="val 50000"/>
            </a:avLst>
          </a:prstGeom>
          <a:solidFill>
            <a:srgbClr val="0E7C6B"/>
          </a:solidFill>
          <a:ln>
            <a:noFill/>
          </a:ln>
        </p:spPr>
        <p:txBody>
          <a:bodyPr rtlCol="0" anchor="ctr" wrap="square" tIns="0" rIns="0" bIns="37592" lIns="0" anchorCtr="0">
            <a:noAutofit/>
          </a:bodyPr>
          <a:lstStyle/>
          <a:p>
            <a:pPr algn="ctr">
              <a:lnSpc>
                <a:spcPts val="1700"/>
              </a:lnSpc>
              <a:spcBef>
                <a:spcPts val="0"/>
              </a:spcBef>
              <a:spcAft>
                <a:spcPts val="0"/>
              </a:spcAft>
            </a:pPr>
            <a:r>
              <a:rPr sz="1200" b="1" i="0">
                <a:solidFill>
                  <a:srgbClr val="FFFFFF"/>
                </a:solidFill>
                <a:latin typeface="Readex Pro"/>
                <a:ea typeface="Readex Pro"/>
                <a:cs typeface="Readex Pro"/>
              </a:rPr>
              <a:t>1</a:t>
            </a:r>
          </a:p>
        </p:txBody>
      </p:sp>
      <p:sp>
        <p:nvSpPr>
          <p:cNvPr id="6" name="Text 5"/>
          <p:cNvSpPr txBox="1"/>
          <p:nvPr/>
        </p:nvSpPr>
        <p:spPr>
          <a:xfrm>
            <a:off x="7562088" y="1754338"/>
            <a:ext cx="3525012"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العنوان</a:t>
            </a:r>
            <a:r>
              <a:rPr sz="1200" b="0" i="0" lang="ar-SA" altLang="en-US">
                <a:solidFill>
                  <a:srgbClr val="172433"/>
                </a:solidFill>
                <a:latin typeface="IBM Plex Sans Arabic"/>
                <a:ea typeface="IBM Plex Sans Arabic"/>
                <a:cs typeface="IBM Plex Sans Arabic"/>
              </a:rPr>
              <a:t> نفس مسمى الوظيفة التي تستهدفها.</a:t>
            </a:r>
          </a:p>
        </p:txBody>
      </p:sp>
      <p:sp>
        <p:nvSpPr>
          <p:cNvPr id="7" name="Text box 6"/>
          <p:cNvSpPr/>
          <p:nvPr/>
        </p:nvSpPr>
        <p:spPr>
          <a:xfrm>
            <a:off x="11163300" y="2078930"/>
            <a:ext cx="215900" cy="215900"/>
          </a:xfrm>
          <a:prstGeom prst="roundRect">
            <a:avLst>
              <a:gd name="adj" fmla="val 50000"/>
            </a:avLst>
          </a:prstGeom>
          <a:solidFill>
            <a:srgbClr val="0E7C6B"/>
          </a:solidFill>
          <a:ln>
            <a:noFill/>
          </a:ln>
        </p:spPr>
        <p:txBody>
          <a:bodyPr rtlCol="0" anchor="ctr" wrap="square" tIns="0" rIns="0" bIns="37592" lIns="0" anchorCtr="0">
            <a:noAutofit/>
          </a:bodyPr>
          <a:lstStyle/>
          <a:p>
            <a:pPr algn="ctr">
              <a:lnSpc>
                <a:spcPts val="1700"/>
              </a:lnSpc>
              <a:spcBef>
                <a:spcPts val="0"/>
              </a:spcBef>
              <a:spcAft>
                <a:spcPts val="0"/>
              </a:spcAft>
            </a:pPr>
            <a:r>
              <a:rPr sz="1200" b="1" i="0">
                <a:solidFill>
                  <a:srgbClr val="FFFFFF"/>
                </a:solidFill>
                <a:latin typeface="Readex Pro"/>
                <a:ea typeface="Readex Pro"/>
                <a:cs typeface="Readex Pro"/>
              </a:rPr>
              <a:t>2</a:t>
            </a:r>
          </a:p>
        </p:txBody>
      </p:sp>
      <p:sp>
        <p:nvSpPr>
          <p:cNvPr id="8" name="Text 7"/>
          <p:cNvSpPr txBox="1"/>
          <p:nvPr/>
        </p:nvSpPr>
        <p:spPr>
          <a:xfrm>
            <a:off x="7562088" y="2051498"/>
            <a:ext cx="3525012"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ملخص</a:t>
            </a:r>
            <a:r>
              <a:rPr sz="1200" b="0" i="0" lang="ar-SA" altLang="en-US">
                <a:solidFill>
                  <a:srgbClr val="172433"/>
                </a:solidFill>
                <a:latin typeface="IBM Plex Sans Arabic"/>
                <a:ea typeface="IBM Plex Sans Arabic"/>
                <a:cs typeface="IBM Plex Sans Arabic"/>
              </a:rPr>
              <a:t> في سطرين: من أنت، وماذا تجيد، وأقوى دليل.</a:t>
            </a:r>
          </a:p>
        </p:txBody>
      </p:sp>
      <p:sp>
        <p:nvSpPr>
          <p:cNvPr id="9" name="Text box 8"/>
          <p:cNvSpPr/>
          <p:nvPr/>
        </p:nvSpPr>
        <p:spPr>
          <a:xfrm>
            <a:off x="11163300" y="2376091"/>
            <a:ext cx="215900" cy="215900"/>
          </a:xfrm>
          <a:prstGeom prst="roundRect">
            <a:avLst>
              <a:gd name="adj" fmla="val 50000"/>
            </a:avLst>
          </a:prstGeom>
          <a:solidFill>
            <a:srgbClr val="0E7C6B"/>
          </a:solidFill>
          <a:ln>
            <a:noFill/>
          </a:ln>
        </p:spPr>
        <p:txBody>
          <a:bodyPr rtlCol="0" anchor="ctr" wrap="square" tIns="0" rIns="0" bIns="37592" lIns="0" anchorCtr="0">
            <a:noAutofit/>
          </a:bodyPr>
          <a:lstStyle/>
          <a:p>
            <a:pPr algn="ctr">
              <a:lnSpc>
                <a:spcPts val="1700"/>
              </a:lnSpc>
              <a:spcBef>
                <a:spcPts val="0"/>
              </a:spcBef>
              <a:spcAft>
                <a:spcPts val="0"/>
              </a:spcAft>
            </a:pPr>
            <a:r>
              <a:rPr sz="1200" b="1" i="0">
                <a:solidFill>
                  <a:srgbClr val="FFFFFF"/>
                </a:solidFill>
                <a:latin typeface="Readex Pro"/>
                <a:ea typeface="Readex Pro"/>
                <a:cs typeface="Readex Pro"/>
              </a:rPr>
              <a:t>3</a:t>
            </a:r>
          </a:p>
        </p:txBody>
      </p:sp>
      <p:sp>
        <p:nvSpPr>
          <p:cNvPr id="10" name="Text 9"/>
          <p:cNvSpPr txBox="1"/>
          <p:nvPr/>
        </p:nvSpPr>
        <p:spPr>
          <a:xfrm>
            <a:off x="7562088" y="2348659"/>
            <a:ext cx="3525012"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المهارات</a:t>
            </a:r>
            <a:r>
              <a:rPr sz="1200" b="0" i="0" lang="ar-SA" altLang="en-US">
                <a:solidFill>
                  <a:srgbClr val="172433"/>
                </a:solidFill>
                <a:latin typeface="IBM Plex Sans Arabic"/>
                <a:ea typeface="IBM Plex Sans Arabic"/>
                <a:cs typeface="IBM Plex Sans Arabic"/>
              </a:rPr>
              <a:t> بكلمات الإعلان نفسها.</a:t>
            </a:r>
          </a:p>
        </p:txBody>
      </p:sp>
      <p:sp>
        <p:nvSpPr>
          <p:cNvPr id="11" name="Text box 10"/>
          <p:cNvSpPr/>
          <p:nvPr/>
        </p:nvSpPr>
        <p:spPr>
          <a:xfrm>
            <a:off x="11163300" y="2673251"/>
            <a:ext cx="215900" cy="215900"/>
          </a:xfrm>
          <a:prstGeom prst="roundRect">
            <a:avLst>
              <a:gd name="adj" fmla="val 50000"/>
            </a:avLst>
          </a:prstGeom>
          <a:solidFill>
            <a:srgbClr val="0E7C6B"/>
          </a:solidFill>
          <a:ln>
            <a:noFill/>
          </a:ln>
        </p:spPr>
        <p:txBody>
          <a:bodyPr rtlCol="0" anchor="ctr" wrap="square" tIns="0" rIns="0" bIns="37592" lIns="0" anchorCtr="0">
            <a:noAutofit/>
          </a:bodyPr>
          <a:lstStyle/>
          <a:p>
            <a:pPr algn="ctr">
              <a:lnSpc>
                <a:spcPts val="1700"/>
              </a:lnSpc>
              <a:spcBef>
                <a:spcPts val="0"/>
              </a:spcBef>
              <a:spcAft>
                <a:spcPts val="0"/>
              </a:spcAft>
            </a:pPr>
            <a:r>
              <a:rPr sz="1200" b="1" i="0">
                <a:solidFill>
                  <a:srgbClr val="FFFFFF"/>
                </a:solidFill>
                <a:latin typeface="Readex Pro"/>
                <a:ea typeface="Readex Pro"/>
                <a:cs typeface="Readex Pro"/>
              </a:rPr>
              <a:t>4</a:t>
            </a:r>
          </a:p>
        </p:txBody>
      </p:sp>
      <p:sp>
        <p:nvSpPr>
          <p:cNvPr id="12" name="Text 11"/>
          <p:cNvSpPr txBox="1"/>
          <p:nvPr/>
        </p:nvSpPr>
        <p:spPr>
          <a:xfrm>
            <a:off x="7725283" y="2645819"/>
            <a:ext cx="3361817"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المشاريع</a:t>
            </a:r>
            <a:r>
              <a:rPr sz="1200" b="0" i="0" lang="ar-SA" altLang="en-US">
                <a:solidFill>
                  <a:srgbClr val="172433"/>
                </a:solidFill>
                <a:latin typeface="IBM Plex Sans Arabic"/>
                <a:ea typeface="IBM Plex Sans Arabic"/>
                <a:cs typeface="IBM Plex Sans Arabic"/>
              </a:rPr>
              <a:t> قبل التعليم إن لم تكن لديك خبرة. كل سطر: فعل ثم نتيجة.</a:t>
            </a:r>
          </a:p>
        </p:txBody>
      </p:sp>
      <p:sp>
        <p:nvSpPr>
          <p:cNvPr id="13" name="Text box 12"/>
          <p:cNvSpPr/>
          <p:nvPr/>
        </p:nvSpPr>
        <p:spPr>
          <a:xfrm>
            <a:off x="11163300" y="3191371"/>
            <a:ext cx="215900" cy="215900"/>
          </a:xfrm>
          <a:prstGeom prst="roundRect">
            <a:avLst>
              <a:gd name="adj" fmla="val 50000"/>
            </a:avLst>
          </a:prstGeom>
          <a:solidFill>
            <a:srgbClr val="0E7C6B"/>
          </a:solidFill>
          <a:ln>
            <a:noFill/>
          </a:ln>
        </p:spPr>
        <p:txBody>
          <a:bodyPr rtlCol="0" anchor="ctr" wrap="square" tIns="0" rIns="0" bIns="37592" lIns="0" anchorCtr="0">
            <a:noAutofit/>
          </a:bodyPr>
          <a:lstStyle/>
          <a:p>
            <a:pPr algn="ctr">
              <a:lnSpc>
                <a:spcPts val="1700"/>
              </a:lnSpc>
              <a:spcBef>
                <a:spcPts val="0"/>
              </a:spcBef>
              <a:spcAft>
                <a:spcPts val="0"/>
              </a:spcAft>
            </a:pPr>
            <a:r>
              <a:rPr sz="1200" b="1" i="0">
                <a:solidFill>
                  <a:srgbClr val="FFFFFF"/>
                </a:solidFill>
                <a:latin typeface="Readex Pro"/>
                <a:ea typeface="Readex Pro"/>
                <a:cs typeface="Readex Pro"/>
              </a:rPr>
              <a:t>5</a:t>
            </a:r>
          </a:p>
        </p:txBody>
      </p:sp>
      <p:sp>
        <p:nvSpPr>
          <p:cNvPr id="14" name="Text 13"/>
          <p:cNvSpPr txBox="1"/>
          <p:nvPr/>
        </p:nvSpPr>
        <p:spPr>
          <a:xfrm>
            <a:off x="7725283" y="3163939"/>
            <a:ext cx="3361817"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الشهادات</a:t>
            </a:r>
            <a:r>
              <a:rPr sz="1200" b="0" i="0" lang="ar-SA" altLang="en-US">
                <a:solidFill>
                  <a:srgbClr val="172433"/>
                </a:solidFill>
                <a:latin typeface="IBM Plex Sans Arabic"/>
                <a:ea typeface="IBM Plex Sans Arabic"/>
                <a:cs typeface="IBM Plex Sans Arabic"/>
              </a:rPr>
              <a:t> باسمها والسنة. «قيد الدراسة» مع موعد متوقع مقبولة.</a:t>
            </a:r>
          </a:p>
        </p:txBody>
      </p:sp>
      <p:sp>
        <p:nvSpPr>
          <p:cNvPr id="15" name="Box 14"/>
          <p:cNvSpPr/>
          <p:nvPr/>
        </p:nvSpPr>
        <p:spPr>
          <a:xfrm>
            <a:off x="7823200" y="3709491"/>
            <a:ext cx="3556000" cy="594320"/>
          </a:xfrm>
          <a:prstGeom prst="roundRect">
            <a:avLst>
              <a:gd name="adj" fmla="val 12821"/>
            </a:avLst>
          </a:prstGeom>
          <a:solidFill>
            <a:srgbClr val="172433"/>
          </a:solidFill>
          <a:ln>
            <a:noFill/>
          </a:ln>
        </p:spPr>
        <p:txBody>
          <a:bodyPr rtlCol="0" anchor="ctr"/>
          <a:lstStyle/>
          <a:p>
            <a:pPr algn="ctr"/>
          </a:p>
        </p:txBody>
      </p:sp>
      <p:pic>
        <p:nvPicPr>
          <p:cNvPr id="16" name="Icon Book 15" descr="icon052.png"/>
          <p:cNvPicPr>
            <a:picLocks noChangeAspect="1"/>
          </p:cNvPicPr>
          <p:nvPr/>
        </p:nvPicPr>
        <p:blipFill>
          <a:blip r:embed="rId2"/>
          <a:stretch>
            <a:fillRect/>
          </a:stretch>
        </p:blipFill>
        <p:spPr>
          <a:xfrm>
            <a:off x="11099800" y="3785691"/>
            <a:ext cx="177800" cy="177800"/>
          </a:xfrm>
          <a:prstGeom prst="rect">
            <a:avLst/>
          </a:prstGeom>
        </p:spPr>
      </p:pic>
      <p:sp>
        <p:nvSpPr>
          <p:cNvPr id="17" name="Text 16"/>
          <p:cNvSpPr txBox="1"/>
          <p:nvPr/>
        </p:nvSpPr>
        <p:spPr>
          <a:xfrm>
            <a:off x="7848600" y="3758259"/>
            <a:ext cx="3175000"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F3EFE6"/>
                </a:solidFill>
                <a:latin typeface="IBM Plex Sans Arabic"/>
                <a:ea typeface="IBM Plex Sans Arabic"/>
                <a:cs typeface="IBM Plex Sans Arabic"/>
              </a:rPr>
              <a:t>صفحة واحدة للمبتدئ. بلا صورة ولا عمر ولا حالة اجتماعية، إلا إن طلبها الإعلان.</a:t>
            </a:r>
          </a:p>
        </p:txBody>
      </p:sp>
      <p:sp>
        <p:nvSpPr>
          <p:cNvPr id="18" name="Box 17"/>
          <p:cNvSpPr/>
          <p:nvPr/>
        </p:nvSpPr>
        <p:spPr>
          <a:xfrm>
            <a:off x="815975" y="1784945"/>
            <a:ext cx="6775450" cy="3823494"/>
          </a:xfrm>
          <a:prstGeom prst="roundRect">
            <a:avLst>
              <a:gd name="adj" fmla="val 994"/>
            </a:avLst>
          </a:prstGeom>
          <a:solidFill>
            <a:srgbClr val="FFFFFF"/>
          </a:solidFill>
          <a:ln w="6350">
            <a:solidFill>
              <a:srgbClr val="D9D2C2"/>
            </a:solidFill>
          </a:ln>
        </p:spPr>
        <p:txBody>
          <a:bodyPr rtlCol="0" anchor="ctr"/>
          <a:lstStyle/>
          <a:p>
            <a:pPr algn="ctr"/>
          </a:p>
        </p:txBody>
      </p:sp>
      <p:sp>
        <p:nvSpPr>
          <p:cNvPr id="19" name="Rule 18"/>
          <p:cNvSpPr/>
          <p:nvPr/>
        </p:nvSpPr>
        <p:spPr>
          <a:xfrm>
            <a:off x="1035050" y="2708077"/>
            <a:ext cx="6337300" cy="12700"/>
          </a:xfrm>
          <a:prstGeom prst="rect">
            <a:avLst/>
          </a:prstGeom>
          <a:solidFill>
            <a:srgbClr val="172433"/>
          </a:solidFill>
          <a:ln>
            <a:noFill/>
          </a:ln>
        </p:spPr>
        <p:txBody>
          <a:bodyPr rtlCol="0" anchor="ctr"/>
          <a:lstStyle/>
          <a:p>
            <a:pPr algn="ctr"/>
          </a:p>
        </p:txBody>
      </p:sp>
      <p:sp>
        <p:nvSpPr>
          <p:cNvPr id="20" name="Text 19"/>
          <p:cNvSpPr txBox="1"/>
          <p:nvPr/>
        </p:nvSpPr>
        <p:spPr>
          <a:xfrm>
            <a:off x="1035050" y="1944584"/>
            <a:ext cx="6337300" cy="269875"/>
          </a:xfrm>
          <a:prstGeom prst="rect">
            <a:avLst/>
          </a:prstGeom>
          <a:noFill/>
        </p:spPr>
        <p:txBody>
          <a:bodyPr wrap="square" tIns="0" rIns="0" bIns="0" lIns="0" anchor="t" rtlCol="0" anchorCtr="0">
            <a:noAutofit/>
          </a:bodyPr>
          <a:lstStyle/>
          <a:p>
            <a:pPr algn="l">
              <a:lnSpc>
                <a:spcPts val="2125"/>
              </a:lnSpc>
              <a:spcBef>
                <a:spcPts val="0"/>
              </a:spcBef>
              <a:spcAft>
                <a:spcPts val="0"/>
              </a:spcAft>
            </a:pPr>
            <a:r>
              <a:rPr sz="1700" b="1" i="0">
                <a:solidFill>
                  <a:srgbClr val="1E2A36"/>
                </a:solidFill>
                <a:latin typeface="Readex Pro"/>
                <a:ea typeface="Readex Pro"/>
                <a:cs typeface="Readex Pro"/>
              </a:rPr>
              <a:t>Sara Ahmed</a:t>
            </a:r>
          </a:p>
        </p:txBody>
      </p:sp>
      <p:sp>
        <p:nvSpPr>
          <p:cNvPr id="21" name="Text 20"/>
          <p:cNvSpPr txBox="1"/>
          <p:nvPr/>
        </p:nvSpPr>
        <p:spPr>
          <a:xfrm>
            <a:off x="1035050" y="2219793"/>
            <a:ext cx="3083314"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1" i="0">
                <a:solidFill>
                  <a:srgbClr val="0E7C6B"/>
                </a:solidFill>
                <a:latin typeface="IBM Plex Sans Arabic"/>
                <a:ea typeface="IBM Plex Sans Arabic"/>
                <a:cs typeface="IBM Plex Sans Arabic"/>
              </a:rPr>
              <a:t>GRC Analyst | Cybersecurity Compliance</a:t>
            </a:r>
          </a:p>
        </p:txBody>
      </p:sp>
      <p:sp>
        <p:nvSpPr>
          <p:cNvPr id="22" name="Text box 21"/>
          <p:cNvSpPr/>
          <p:nvPr/>
        </p:nvSpPr>
        <p:spPr>
          <a:xfrm>
            <a:off x="3953470" y="2239566"/>
            <a:ext cx="190500" cy="190500"/>
          </a:xfrm>
          <a:prstGeom prst="roundRect">
            <a:avLst>
              <a:gd name="adj" fmla="val 50000"/>
            </a:avLst>
          </a:prstGeom>
          <a:solidFill>
            <a:srgbClr val="0E7C6B"/>
          </a:solidFill>
          <a:ln>
            <a:noFill/>
          </a:ln>
        </p:spPr>
        <p:txBody>
          <a:bodyPr rtlCol="0" anchor="ctr" wrap="square" tIns="0" rIns="0" bIns="24384" lIns="0" anchorCtr="0">
            <a:noAutofit/>
          </a:bodyPr>
          <a:lstStyle/>
          <a:p>
            <a:pPr algn="ctr">
              <a:lnSpc>
                <a:spcPts val="1500"/>
              </a:lnSpc>
              <a:spcBef>
                <a:spcPts val="0"/>
              </a:spcBef>
              <a:spcAft>
                <a:spcPts val="0"/>
              </a:spcAft>
            </a:pPr>
            <a:r>
              <a:rPr sz="1200" b="1" i="0">
                <a:solidFill>
                  <a:srgbClr val="FFFFFF"/>
                </a:solidFill>
                <a:latin typeface="IBM Plex Sans Arabic"/>
                <a:ea typeface="IBM Plex Sans Arabic"/>
                <a:cs typeface="IBM Plex Sans Arabic"/>
              </a:rPr>
              <a:t>1</a:t>
            </a:r>
          </a:p>
        </p:txBody>
      </p:sp>
      <p:sp>
        <p:nvSpPr>
          <p:cNvPr id="23" name="Text 22"/>
          <p:cNvSpPr txBox="1"/>
          <p:nvPr/>
        </p:nvSpPr>
        <p:spPr>
          <a:xfrm>
            <a:off x="1035050" y="2430534"/>
            <a:ext cx="6337300"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0" i="0">
                <a:solidFill>
                  <a:srgbClr val="5E6A75"/>
                </a:solidFill>
                <a:latin typeface="IBM Plex Sans Arabic"/>
                <a:ea typeface="IBM Plex Sans Arabic"/>
                <a:cs typeface="IBM Plex Sans Arabic"/>
              </a:rPr>
              <a:t>Riyadh · sara.ahmed@email.com · linkedin.com/in/sara-ahmed-grc</a:t>
            </a:r>
          </a:p>
        </p:txBody>
      </p:sp>
      <p:sp>
        <p:nvSpPr>
          <p:cNvPr id="24" name="Text 23"/>
          <p:cNvSpPr txBox="1"/>
          <p:nvPr/>
        </p:nvSpPr>
        <p:spPr>
          <a:xfrm>
            <a:off x="1035050" y="2768275"/>
            <a:ext cx="886381"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1" i="0" spc="50">
                <a:solidFill>
                  <a:srgbClr val="1E2A36"/>
                </a:solidFill>
                <a:latin typeface="IBM Plex Sans Arabic"/>
                <a:ea typeface="IBM Plex Sans Arabic"/>
                <a:cs typeface="IBM Plex Sans Arabic"/>
              </a:rPr>
              <a:t>SUMMARY</a:t>
            </a:r>
          </a:p>
        </p:txBody>
      </p:sp>
      <p:sp>
        <p:nvSpPr>
          <p:cNvPr id="25" name="Text box 24"/>
          <p:cNvSpPr/>
          <p:nvPr/>
        </p:nvSpPr>
        <p:spPr>
          <a:xfrm>
            <a:off x="1893491" y="2788047"/>
            <a:ext cx="190500" cy="190500"/>
          </a:xfrm>
          <a:prstGeom prst="roundRect">
            <a:avLst>
              <a:gd name="adj" fmla="val 50000"/>
            </a:avLst>
          </a:prstGeom>
          <a:solidFill>
            <a:srgbClr val="0E7C6B"/>
          </a:solidFill>
          <a:ln>
            <a:noFill/>
          </a:ln>
        </p:spPr>
        <p:txBody>
          <a:bodyPr rtlCol="0" anchor="ctr" wrap="square" tIns="0" rIns="0" bIns="24384" lIns="0" anchorCtr="0">
            <a:noAutofit/>
          </a:bodyPr>
          <a:lstStyle/>
          <a:p>
            <a:pPr algn="ctr">
              <a:lnSpc>
                <a:spcPts val="1500"/>
              </a:lnSpc>
              <a:spcBef>
                <a:spcPts val="0"/>
              </a:spcBef>
              <a:spcAft>
                <a:spcPts val="0"/>
              </a:spcAft>
            </a:pPr>
            <a:r>
              <a:rPr sz="1200" b="1" i="0">
                <a:solidFill>
                  <a:srgbClr val="FFFFFF"/>
                </a:solidFill>
                <a:latin typeface="IBM Plex Sans Arabic"/>
                <a:ea typeface="IBM Plex Sans Arabic"/>
                <a:cs typeface="IBM Plex Sans Arabic"/>
              </a:rPr>
              <a:t>2</a:t>
            </a:r>
          </a:p>
        </p:txBody>
      </p:sp>
      <p:sp>
        <p:nvSpPr>
          <p:cNvPr id="26" name="Text 25"/>
          <p:cNvSpPr txBox="1"/>
          <p:nvPr/>
        </p:nvSpPr>
        <p:spPr>
          <a:xfrm>
            <a:off x="1035050" y="2979015"/>
            <a:ext cx="6527419" cy="39608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0" i="0">
                <a:solidFill>
                  <a:srgbClr val="1E2A36"/>
                </a:solidFill>
                <a:latin typeface="IBM Plex Sans Arabic"/>
                <a:ea typeface="IBM Plex Sans Arabic"/>
                <a:cs typeface="IBM Plex Sans Arabic"/>
              </a:rPr>
              <a:t>Entry-level GRC analyst with hands-on risk assessment and NCA ECC-2:2024 gap analysis projects. ISC2 CC.</a:t>
            </a:r>
          </a:p>
        </p:txBody>
      </p:sp>
      <p:sp>
        <p:nvSpPr>
          <p:cNvPr id="27" name="Text 26"/>
          <p:cNvSpPr txBox="1"/>
          <p:nvPr/>
        </p:nvSpPr>
        <p:spPr>
          <a:xfrm>
            <a:off x="1035050" y="3438596"/>
            <a:ext cx="653217"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1" i="0" spc="50">
                <a:solidFill>
                  <a:srgbClr val="1E2A36"/>
                </a:solidFill>
                <a:latin typeface="IBM Plex Sans Arabic"/>
                <a:ea typeface="IBM Plex Sans Arabic"/>
                <a:cs typeface="IBM Plex Sans Arabic"/>
              </a:rPr>
              <a:t>SKILLS</a:t>
            </a:r>
          </a:p>
        </p:txBody>
      </p:sp>
      <p:sp>
        <p:nvSpPr>
          <p:cNvPr id="28" name="Text box 27"/>
          <p:cNvSpPr/>
          <p:nvPr/>
        </p:nvSpPr>
        <p:spPr>
          <a:xfrm>
            <a:off x="1660327" y="3458369"/>
            <a:ext cx="190500" cy="190500"/>
          </a:xfrm>
          <a:prstGeom prst="roundRect">
            <a:avLst>
              <a:gd name="adj" fmla="val 50000"/>
            </a:avLst>
          </a:prstGeom>
          <a:solidFill>
            <a:srgbClr val="0E7C6B"/>
          </a:solidFill>
          <a:ln>
            <a:noFill/>
          </a:ln>
        </p:spPr>
        <p:txBody>
          <a:bodyPr rtlCol="0" anchor="ctr" wrap="square" tIns="0" rIns="0" bIns="24384" lIns="0" anchorCtr="0">
            <a:noAutofit/>
          </a:bodyPr>
          <a:lstStyle/>
          <a:p>
            <a:pPr algn="ctr">
              <a:lnSpc>
                <a:spcPts val="1500"/>
              </a:lnSpc>
              <a:spcBef>
                <a:spcPts val="0"/>
              </a:spcBef>
              <a:spcAft>
                <a:spcPts val="0"/>
              </a:spcAft>
            </a:pPr>
            <a:r>
              <a:rPr sz="1200" b="1" i="0">
                <a:solidFill>
                  <a:srgbClr val="FFFFFF"/>
                </a:solidFill>
                <a:latin typeface="IBM Plex Sans Arabic"/>
                <a:ea typeface="IBM Plex Sans Arabic"/>
                <a:cs typeface="IBM Plex Sans Arabic"/>
              </a:rPr>
              <a:t>3</a:t>
            </a:r>
          </a:p>
        </p:txBody>
      </p:sp>
      <p:sp>
        <p:nvSpPr>
          <p:cNvPr id="29" name="Text 28"/>
          <p:cNvSpPr txBox="1"/>
          <p:nvPr/>
        </p:nvSpPr>
        <p:spPr>
          <a:xfrm>
            <a:off x="1035050" y="3649337"/>
            <a:ext cx="6534150"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0" i="0">
                <a:solidFill>
                  <a:srgbClr val="1E2A36"/>
                </a:solidFill>
                <a:latin typeface="IBM Plex Sans Arabic"/>
                <a:ea typeface="IBM Plex Sans Arabic"/>
                <a:cs typeface="IBM Plex Sans Arabic"/>
              </a:rPr>
              <a:t>Risk Assessment · Gap Analysis · ISO 27001 · NIST CSF · NCA ECC · Excel</a:t>
            </a:r>
          </a:p>
        </p:txBody>
      </p:sp>
      <p:sp>
        <p:nvSpPr>
          <p:cNvPr id="30" name="Text 29"/>
          <p:cNvSpPr txBox="1"/>
          <p:nvPr/>
        </p:nvSpPr>
        <p:spPr>
          <a:xfrm>
            <a:off x="1035050" y="3910878"/>
            <a:ext cx="906919"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1" i="0" spc="50">
                <a:solidFill>
                  <a:srgbClr val="1E2A36"/>
                </a:solidFill>
                <a:latin typeface="IBM Plex Sans Arabic"/>
                <a:ea typeface="IBM Plex Sans Arabic"/>
                <a:cs typeface="IBM Plex Sans Arabic"/>
              </a:rPr>
              <a:t>PROJECTS</a:t>
            </a:r>
          </a:p>
        </p:txBody>
      </p:sp>
      <p:sp>
        <p:nvSpPr>
          <p:cNvPr id="31" name="Text box 30"/>
          <p:cNvSpPr/>
          <p:nvPr/>
        </p:nvSpPr>
        <p:spPr>
          <a:xfrm>
            <a:off x="1914029" y="3930650"/>
            <a:ext cx="190500" cy="190500"/>
          </a:xfrm>
          <a:prstGeom prst="roundRect">
            <a:avLst>
              <a:gd name="adj" fmla="val 50000"/>
            </a:avLst>
          </a:prstGeom>
          <a:solidFill>
            <a:srgbClr val="0E7C6B"/>
          </a:solidFill>
          <a:ln>
            <a:noFill/>
          </a:ln>
        </p:spPr>
        <p:txBody>
          <a:bodyPr rtlCol="0" anchor="ctr" wrap="square" tIns="0" rIns="0" bIns="24384" lIns="0" anchorCtr="0">
            <a:noAutofit/>
          </a:bodyPr>
          <a:lstStyle/>
          <a:p>
            <a:pPr algn="ctr">
              <a:lnSpc>
                <a:spcPts val="1500"/>
              </a:lnSpc>
              <a:spcBef>
                <a:spcPts val="0"/>
              </a:spcBef>
              <a:spcAft>
                <a:spcPts val="0"/>
              </a:spcAft>
            </a:pPr>
            <a:r>
              <a:rPr sz="1200" b="1" i="0">
                <a:solidFill>
                  <a:srgbClr val="FFFFFF"/>
                </a:solidFill>
                <a:latin typeface="IBM Plex Sans Arabic"/>
                <a:ea typeface="IBM Plex Sans Arabic"/>
                <a:cs typeface="IBM Plex Sans Arabic"/>
              </a:rPr>
              <a:t>4</a:t>
            </a:r>
          </a:p>
        </p:txBody>
      </p:sp>
      <p:sp>
        <p:nvSpPr>
          <p:cNvPr id="32" name="Text 31"/>
          <p:cNvSpPr txBox="1"/>
          <p:nvPr/>
        </p:nvSpPr>
        <p:spPr>
          <a:xfrm>
            <a:off x="1035050" y="4121618"/>
            <a:ext cx="6534150"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1" i="0">
                <a:solidFill>
                  <a:srgbClr val="1E2A36"/>
                </a:solidFill>
                <a:latin typeface="IBM Plex Sans Arabic"/>
                <a:ea typeface="IBM Plex Sans Arabic"/>
                <a:cs typeface="IBM Plex Sans Arabic"/>
              </a:rPr>
              <a:t>Risk Register · Fictional logistics company, 200 staff</a:t>
            </a:r>
          </a:p>
        </p:txBody>
      </p:sp>
      <p:sp>
        <p:nvSpPr>
          <p:cNvPr id="33" name="Text 32"/>
          <p:cNvSpPr txBox="1"/>
          <p:nvPr/>
        </p:nvSpPr>
        <p:spPr>
          <a:xfrm>
            <a:off x="1035050" y="4332359"/>
            <a:ext cx="6534150"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0" i="0">
                <a:solidFill>
                  <a:srgbClr val="1E2A36"/>
                </a:solidFill>
                <a:latin typeface="IBM Plex Sans Arabic"/>
                <a:ea typeface="IBM Plex Sans Arabic"/>
                <a:cs typeface="IBM Plex Sans Arabic"/>
              </a:rPr>
              <a:t>• Scored 20 risks on a 5×5 matrix; wrote treatment plans for the top 6.</a:t>
            </a:r>
          </a:p>
        </p:txBody>
      </p:sp>
      <p:sp>
        <p:nvSpPr>
          <p:cNvPr id="34" name="Text 33"/>
          <p:cNvSpPr txBox="1"/>
          <p:nvPr/>
        </p:nvSpPr>
        <p:spPr>
          <a:xfrm>
            <a:off x="1035050" y="4543100"/>
            <a:ext cx="6534150"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1" i="0">
                <a:solidFill>
                  <a:srgbClr val="1E2A36"/>
                </a:solidFill>
                <a:latin typeface="IBM Plex Sans Arabic"/>
                <a:ea typeface="IBM Plex Sans Arabic"/>
                <a:cs typeface="IBM Plex Sans Arabic"/>
              </a:rPr>
              <a:t>ECC Gap Assessment · Same company</a:t>
            </a:r>
          </a:p>
        </p:txBody>
      </p:sp>
      <p:sp>
        <p:nvSpPr>
          <p:cNvPr id="35" name="Text 34"/>
          <p:cNvSpPr txBox="1"/>
          <p:nvPr/>
        </p:nvSpPr>
        <p:spPr>
          <a:xfrm>
            <a:off x="1035050" y="4753840"/>
            <a:ext cx="6534150"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0" i="0">
                <a:solidFill>
                  <a:srgbClr val="1E2A36"/>
                </a:solidFill>
                <a:latin typeface="IBM Plex Sans Arabic"/>
                <a:ea typeface="IBM Plex Sans Arabic"/>
                <a:cs typeface="IBM Plex Sans Arabic"/>
              </a:rPr>
              <a:t>• Assessed one ECC subdomain; documented 5 findings with owners.</a:t>
            </a:r>
          </a:p>
        </p:txBody>
      </p:sp>
      <p:sp>
        <p:nvSpPr>
          <p:cNvPr id="36" name="Text 35"/>
          <p:cNvSpPr txBox="1"/>
          <p:nvPr/>
        </p:nvSpPr>
        <p:spPr>
          <a:xfrm>
            <a:off x="1035050" y="5015381"/>
            <a:ext cx="3339846"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1" i="0" spc="50">
                <a:solidFill>
                  <a:srgbClr val="1E2A36"/>
                </a:solidFill>
                <a:latin typeface="IBM Plex Sans Arabic"/>
                <a:ea typeface="IBM Plex Sans Arabic"/>
                <a:cs typeface="IBM Plex Sans Arabic"/>
              </a:rPr>
              <a:t>EDUCATION</a:t>
            </a:r>
          </a:p>
        </p:txBody>
      </p:sp>
      <p:sp>
        <p:nvSpPr>
          <p:cNvPr id="37" name="Text 36"/>
          <p:cNvSpPr txBox="1"/>
          <p:nvPr/>
        </p:nvSpPr>
        <p:spPr>
          <a:xfrm>
            <a:off x="1035050" y="5226121"/>
            <a:ext cx="3339846"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0" i="0">
                <a:solidFill>
                  <a:srgbClr val="1E2A36"/>
                </a:solidFill>
                <a:latin typeface="IBM Plex Sans Arabic"/>
                <a:ea typeface="IBM Plex Sans Arabic"/>
                <a:cs typeface="IBM Plex Sans Arabic"/>
              </a:rPr>
              <a:t>B.Sc. Information Systems, 2025</a:t>
            </a:r>
          </a:p>
        </p:txBody>
      </p:sp>
      <p:sp>
        <p:nvSpPr>
          <p:cNvPr id="38" name="Text 37"/>
          <p:cNvSpPr txBox="1"/>
          <p:nvPr/>
        </p:nvSpPr>
        <p:spPr>
          <a:xfrm>
            <a:off x="4279900" y="5015381"/>
            <a:ext cx="1457861"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1" i="0" spc="50">
                <a:solidFill>
                  <a:srgbClr val="1E2A36"/>
                </a:solidFill>
                <a:latin typeface="IBM Plex Sans Arabic"/>
                <a:ea typeface="IBM Plex Sans Arabic"/>
                <a:cs typeface="IBM Plex Sans Arabic"/>
              </a:rPr>
              <a:t>CERTIFICATIONS</a:t>
            </a:r>
          </a:p>
        </p:txBody>
      </p:sp>
      <p:sp>
        <p:nvSpPr>
          <p:cNvPr id="39" name="Text box 38"/>
          <p:cNvSpPr/>
          <p:nvPr/>
        </p:nvSpPr>
        <p:spPr>
          <a:xfrm>
            <a:off x="5693271" y="5035153"/>
            <a:ext cx="190500" cy="190500"/>
          </a:xfrm>
          <a:prstGeom prst="roundRect">
            <a:avLst>
              <a:gd name="adj" fmla="val 50000"/>
            </a:avLst>
          </a:prstGeom>
          <a:solidFill>
            <a:srgbClr val="0E7C6B"/>
          </a:solidFill>
          <a:ln>
            <a:noFill/>
          </a:ln>
        </p:spPr>
        <p:txBody>
          <a:bodyPr rtlCol="0" anchor="ctr" wrap="square" tIns="0" rIns="0" bIns="24384" lIns="0" anchorCtr="0">
            <a:noAutofit/>
          </a:bodyPr>
          <a:lstStyle/>
          <a:p>
            <a:pPr algn="ctr">
              <a:lnSpc>
                <a:spcPts val="1500"/>
              </a:lnSpc>
              <a:spcBef>
                <a:spcPts val="0"/>
              </a:spcBef>
              <a:spcAft>
                <a:spcPts val="0"/>
              </a:spcAft>
            </a:pPr>
            <a:r>
              <a:rPr sz="1200" b="1" i="0">
                <a:solidFill>
                  <a:srgbClr val="FFFFFF"/>
                </a:solidFill>
                <a:latin typeface="IBM Plex Sans Arabic"/>
                <a:ea typeface="IBM Plex Sans Arabic"/>
                <a:cs typeface="IBM Plex Sans Arabic"/>
              </a:rPr>
              <a:t>5</a:t>
            </a:r>
          </a:p>
        </p:txBody>
      </p:sp>
      <p:sp>
        <p:nvSpPr>
          <p:cNvPr id="40" name="Text 39"/>
          <p:cNvSpPr txBox="1"/>
          <p:nvPr/>
        </p:nvSpPr>
        <p:spPr>
          <a:xfrm>
            <a:off x="4279900" y="5226121"/>
            <a:ext cx="3289300"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0" i="0">
                <a:solidFill>
                  <a:srgbClr val="1E2A36"/>
                </a:solidFill>
                <a:latin typeface="IBM Plex Sans Arabic"/>
                <a:ea typeface="IBM Plex Sans Arabic"/>
                <a:cs typeface="IBM Plex Sans Arabic"/>
              </a:rPr>
              <a:t>ISC2 CC, 2026</a:t>
            </a:r>
          </a:p>
        </p:txBody>
      </p:sp>
      <p:sp>
        <p:nvSpPr>
          <p:cNvPr id="41" name="Text 40"/>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07 · السيرة الذاتية</a:t>
            </a:r>
          </a:p>
        </p:txBody>
      </p:sp>
      <p:sp>
        <p:nvSpPr>
          <p:cNvPr id="42" name="Text 41"/>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80</a:t>
            </a:r>
          </a:p>
        </p:txBody>
      </p:sp>
    </p:spTree>
  </p:cSld>
  <p:clrMapOvr>
    <a:masterClrMapping/>
  </p:clrMapOvr>
  <p:transition spd="med">
    <p:fade/>
  </p:transition>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589294" y="812800"/>
            <a:ext cx="1789906"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07 · السيرة الذاتية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أنظمة الفرز (ATS): أول قارئ لسيرتك آلة</a:t>
            </a:r>
          </a:p>
        </p:txBody>
      </p:sp>
      <p:sp>
        <p:nvSpPr>
          <p:cNvPr id="5" name="Box 4"/>
          <p:cNvSpPr/>
          <p:nvPr/>
        </p:nvSpPr>
        <p:spPr>
          <a:xfrm>
            <a:off x="9487396" y="1835745"/>
            <a:ext cx="1888629" cy="618430"/>
          </a:xfrm>
          <a:prstGeom prst="roundRect">
            <a:avLst>
              <a:gd name="adj" fmla="val 12196"/>
            </a:avLst>
          </a:prstGeom>
          <a:solidFill>
            <a:srgbClr val="FFFDF8"/>
          </a:solidFill>
          <a:ln w="6350">
            <a:solidFill>
              <a:srgbClr val="E1DBCD"/>
            </a:solidFill>
          </a:ln>
        </p:spPr>
        <p:txBody>
          <a:bodyPr rtlCol="0" anchor="ctr"/>
          <a:lstStyle/>
          <a:p>
            <a:pPr algn="ctr"/>
          </a:p>
        </p:txBody>
      </p:sp>
      <p:pic>
        <p:nvPicPr>
          <p:cNvPr id="6" name="Icon PaperPlane 5" descr="icon053.png"/>
          <p:cNvPicPr>
            <a:picLocks noChangeAspect="1"/>
          </p:cNvPicPr>
          <p:nvPr/>
        </p:nvPicPr>
        <p:blipFill>
          <a:blip r:embed="rId2"/>
          <a:stretch>
            <a:fillRect/>
          </a:stretch>
        </p:blipFill>
        <p:spPr>
          <a:xfrm>
            <a:off x="10336411" y="1927820"/>
            <a:ext cx="190500" cy="190500"/>
          </a:xfrm>
          <a:prstGeom prst="rect">
            <a:avLst/>
          </a:prstGeom>
        </p:spPr>
      </p:pic>
      <p:sp>
        <p:nvSpPr>
          <p:cNvPr id="7" name="Text 6"/>
          <p:cNvSpPr txBox="1"/>
          <p:nvPr/>
        </p:nvSpPr>
        <p:spPr>
          <a:xfrm>
            <a:off x="10035302" y="2136608"/>
            <a:ext cx="792817" cy="205680"/>
          </a:xfrm>
          <a:prstGeom prst="rect">
            <a:avLst/>
          </a:prstGeom>
          <a:noFill/>
        </p:spPr>
        <p:txBody>
          <a:bodyPr wrap="square" tIns="0" rIns="0" bIns="0" lIns="0" anchor="t" rtlCol="0" anchorCtr="0">
            <a:noAutofit/>
          </a:bodyPr>
          <a:lstStyle/>
          <a:p>
            <a:pPr algn="ct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ترسل السيرة</a:t>
            </a:r>
          </a:p>
        </p:txBody>
      </p:sp>
      <p:sp>
        <p:nvSpPr>
          <p:cNvPr id="8" name="Text 7"/>
          <p:cNvSpPr txBox="1"/>
          <p:nvPr/>
        </p:nvSpPr>
        <p:spPr>
          <a:xfrm>
            <a:off x="9168190" y="2064012"/>
            <a:ext cx="252532" cy="177800"/>
          </a:xfrm>
          <a:prstGeom prst="rect">
            <a:avLst/>
          </a:prstGeom>
          <a:noFill/>
        </p:spPr>
        <p:txBody>
          <a:bodyPr wrap="square" tIns="0" rIns="0" bIns="0" lIns="0" anchor="t" rtlCol="0" anchorCtr="0">
            <a:noAutofit/>
          </a:bodyPr>
          <a:lstStyle/>
          <a:p>
            <a:pPr algn="r">
              <a:lnSpc>
                <a:spcPts val="1400"/>
              </a:lnSpc>
              <a:spcBef>
                <a:spcPts val="0"/>
              </a:spcBef>
              <a:spcAft>
                <a:spcPts val="0"/>
              </a:spcAft>
            </a:pPr>
            <a:r>
              <a:rPr sz="1400" b="0" i="0">
                <a:solidFill>
                  <a:srgbClr val="93A3B1"/>
                </a:solidFill>
                <a:latin typeface="IBM Plex Sans Arabic"/>
                <a:ea typeface="IBM Plex Sans Arabic"/>
                <a:cs typeface="IBM Plex Sans Arabic"/>
              </a:rPr>
              <a:t>←</a:t>
            </a:r>
          </a:p>
        </p:txBody>
      </p:sp>
      <p:sp>
        <p:nvSpPr>
          <p:cNvPr id="9" name="Box 8"/>
          <p:cNvSpPr/>
          <p:nvPr/>
        </p:nvSpPr>
        <p:spPr>
          <a:xfrm>
            <a:off x="7319566" y="1835745"/>
            <a:ext cx="1888629" cy="618430"/>
          </a:xfrm>
          <a:prstGeom prst="roundRect">
            <a:avLst>
              <a:gd name="adj" fmla="val 12196"/>
            </a:avLst>
          </a:prstGeom>
          <a:solidFill>
            <a:srgbClr val="FFFDF8"/>
          </a:solidFill>
          <a:ln w="6350">
            <a:solidFill>
              <a:srgbClr val="E1DBCD"/>
            </a:solidFill>
          </a:ln>
        </p:spPr>
        <p:txBody>
          <a:bodyPr rtlCol="0" anchor="ctr"/>
          <a:lstStyle/>
          <a:p>
            <a:pPr algn="ctr"/>
          </a:p>
        </p:txBody>
      </p:sp>
      <p:pic>
        <p:nvPicPr>
          <p:cNvPr id="10" name="Icon Code 9" descr="icon054.png"/>
          <p:cNvPicPr>
            <a:picLocks noChangeAspect="1"/>
          </p:cNvPicPr>
          <p:nvPr/>
        </p:nvPicPr>
        <p:blipFill>
          <a:blip r:embed="rId3"/>
          <a:stretch>
            <a:fillRect/>
          </a:stretch>
        </p:blipFill>
        <p:spPr>
          <a:xfrm>
            <a:off x="8168580" y="1927820"/>
            <a:ext cx="190500" cy="190500"/>
          </a:xfrm>
          <a:prstGeom prst="rect">
            <a:avLst/>
          </a:prstGeom>
        </p:spPr>
      </p:pic>
      <p:sp>
        <p:nvSpPr>
          <p:cNvPr id="11" name="Text 10"/>
          <p:cNvSpPr txBox="1"/>
          <p:nvPr/>
        </p:nvSpPr>
        <p:spPr>
          <a:xfrm>
            <a:off x="7815282" y="2136608"/>
            <a:ext cx="897195" cy="205680"/>
          </a:xfrm>
          <a:prstGeom prst="rect">
            <a:avLst/>
          </a:prstGeom>
          <a:noFill/>
        </p:spPr>
        <p:txBody>
          <a:bodyPr wrap="square" tIns="0" rIns="0" bIns="0" lIns="0" anchor="t" rtlCol="0" anchorCtr="0">
            <a:noAutofit/>
          </a:bodyPr>
          <a:lstStyle/>
          <a:p>
            <a:pPr algn="ct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يستخرج النص</a:t>
            </a:r>
          </a:p>
        </p:txBody>
      </p:sp>
      <p:sp>
        <p:nvSpPr>
          <p:cNvPr id="12" name="Text 11"/>
          <p:cNvSpPr txBox="1"/>
          <p:nvPr/>
        </p:nvSpPr>
        <p:spPr>
          <a:xfrm>
            <a:off x="7000359" y="2064012"/>
            <a:ext cx="252532" cy="177800"/>
          </a:xfrm>
          <a:prstGeom prst="rect">
            <a:avLst/>
          </a:prstGeom>
          <a:noFill/>
        </p:spPr>
        <p:txBody>
          <a:bodyPr wrap="square" tIns="0" rIns="0" bIns="0" lIns="0" anchor="t" rtlCol="0" anchorCtr="0">
            <a:noAutofit/>
          </a:bodyPr>
          <a:lstStyle/>
          <a:p>
            <a:pPr algn="r">
              <a:lnSpc>
                <a:spcPts val="1400"/>
              </a:lnSpc>
              <a:spcBef>
                <a:spcPts val="0"/>
              </a:spcBef>
              <a:spcAft>
                <a:spcPts val="0"/>
              </a:spcAft>
            </a:pPr>
            <a:r>
              <a:rPr sz="1400" b="0" i="0">
                <a:solidFill>
                  <a:srgbClr val="93A3B1"/>
                </a:solidFill>
                <a:latin typeface="IBM Plex Sans Arabic"/>
                <a:ea typeface="IBM Plex Sans Arabic"/>
                <a:cs typeface="IBM Plex Sans Arabic"/>
              </a:rPr>
              <a:t>←</a:t>
            </a:r>
          </a:p>
        </p:txBody>
      </p:sp>
      <p:sp>
        <p:nvSpPr>
          <p:cNvPr id="13" name="Box 12"/>
          <p:cNvSpPr/>
          <p:nvPr/>
        </p:nvSpPr>
        <p:spPr>
          <a:xfrm>
            <a:off x="5151735" y="1835745"/>
            <a:ext cx="1888629" cy="618430"/>
          </a:xfrm>
          <a:prstGeom prst="roundRect">
            <a:avLst>
              <a:gd name="adj" fmla="val 12196"/>
            </a:avLst>
          </a:prstGeom>
          <a:solidFill>
            <a:srgbClr val="FFFDF8"/>
          </a:solidFill>
          <a:ln w="6350">
            <a:solidFill>
              <a:srgbClr val="E1DBCD"/>
            </a:solidFill>
          </a:ln>
        </p:spPr>
        <p:txBody>
          <a:bodyPr rtlCol="0" anchor="ctr"/>
          <a:lstStyle/>
          <a:p>
            <a:pPr algn="ctr"/>
          </a:p>
        </p:txBody>
      </p:sp>
      <p:pic>
        <p:nvPicPr>
          <p:cNvPr id="14" name="Icon Search 13" descr="icon055.png"/>
          <p:cNvPicPr>
            <a:picLocks noChangeAspect="1"/>
          </p:cNvPicPr>
          <p:nvPr/>
        </p:nvPicPr>
        <p:blipFill>
          <a:blip r:embed="rId4"/>
          <a:stretch>
            <a:fillRect/>
          </a:stretch>
        </p:blipFill>
        <p:spPr>
          <a:xfrm>
            <a:off x="6000750" y="1927820"/>
            <a:ext cx="190500" cy="190500"/>
          </a:xfrm>
          <a:prstGeom prst="rect">
            <a:avLst/>
          </a:prstGeom>
        </p:spPr>
      </p:pic>
      <p:sp>
        <p:nvSpPr>
          <p:cNvPr id="15" name="Text 14"/>
          <p:cNvSpPr txBox="1"/>
          <p:nvPr/>
        </p:nvSpPr>
        <p:spPr>
          <a:xfrm>
            <a:off x="5488702" y="2136608"/>
            <a:ext cx="1214695" cy="205680"/>
          </a:xfrm>
          <a:prstGeom prst="rect">
            <a:avLst/>
          </a:prstGeom>
          <a:noFill/>
        </p:spPr>
        <p:txBody>
          <a:bodyPr wrap="square" tIns="0" rIns="0" bIns="0" lIns="0" anchor="t" rtlCol="0" anchorCtr="0">
            <a:noAutofit/>
          </a:bodyPr>
          <a:lstStyle/>
          <a:p>
            <a:pPr algn="ct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يطابق كلمات الإعلان</a:t>
            </a:r>
          </a:p>
        </p:txBody>
      </p:sp>
      <p:sp>
        <p:nvSpPr>
          <p:cNvPr id="16" name="Text 15"/>
          <p:cNvSpPr txBox="1"/>
          <p:nvPr/>
        </p:nvSpPr>
        <p:spPr>
          <a:xfrm>
            <a:off x="4832529" y="2064012"/>
            <a:ext cx="252532" cy="177800"/>
          </a:xfrm>
          <a:prstGeom prst="rect">
            <a:avLst/>
          </a:prstGeom>
          <a:noFill/>
        </p:spPr>
        <p:txBody>
          <a:bodyPr wrap="square" tIns="0" rIns="0" bIns="0" lIns="0" anchor="t" rtlCol="0" anchorCtr="0">
            <a:noAutofit/>
          </a:bodyPr>
          <a:lstStyle/>
          <a:p>
            <a:pPr algn="r">
              <a:lnSpc>
                <a:spcPts val="1400"/>
              </a:lnSpc>
              <a:spcBef>
                <a:spcPts val="0"/>
              </a:spcBef>
              <a:spcAft>
                <a:spcPts val="0"/>
              </a:spcAft>
            </a:pPr>
            <a:r>
              <a:rPr sz="1400" b="0" i="0">
                <a:solidFill>
                  <a:srgbClr val="93A3B1"/>
                </a:solidFill>
                <a:latin typeface="IBM Plex Sans Arabic"/>
                <a:ea typeface="IBM Plex Sans Arabic"/>
                <a:cs typeface="IBM Plex Sans Arabic"/>
              </a:rPr>
              <a:t>←</a:t>
            </a:r>
          </a:p>
        </p:txBody>
      </p:sp>
      <p:sp>
        <p:nvSpPr>
          <p:cNvPr id="17" name="Box 16"/>
          <p:cNvSpPr/>
          <p:nvPr/>
        </p:nvSpPr>
        <p:spPr>
          <a:xfrm>
            <a:off x="2983905" y="1835745"/>
            <a:ext cx="1888629" cy="618430"/>
          </a:xfrm>
          <a:prstGeom prst="roundRect">
            <a:avLst>
              <a:gd name="adj" fmla="val 12196"/>
            </a:avLst>
          </a:prstGeom>
          <a:solidFill>
            <a:srgbClr val="FFFDF8"/>
          </a:solidFill>
          <a:ln w="6350">
            <a:solidFill>
              <a:srgbClr val="E1DBCD"/>
            </a:solidFill>
          </a:ln>
        </p:spPr>
        <p:txBody>
          <a:bodyPr rtlCol="0" anchor="ctr"/>
          <a:lstStyle/>
          <a:p>
            <a:pPr algn="ctr"/>
          </a:p>
        </p:txBody>
      </p:sp>
      <p:pic>
        <p:nvPicPr>
          <p:cNvPr id="18" name="Icon Chart 17" descr="icon056.png"/>
          <p:cNvPicPr>
            <a:picLocks noChangeAspect="1"/>
          </p:cNvPicPr>
          <p:nvPr/>
        </p:nvPicPr>
        <p:blipFill>
          <a:blip r:embed="rId5"/>
          <a:stretch>
            <a:fillRect/>
          </a:stretch>
        </p:blipFill>
        <p:spPr>
          <a:xfrm>
            <a:off x="3832920" y="1927820"/>
            <a:ext cx="190500" cy="190500"/>
          </a:xfrm>
          <a:prstGeom prst="rect">
            <a:avLst/>
          </a:prstGeom>
        </p:spPr>
      </p:pic>
      <p:sp>
        <p:nvSpPr>
          <p:cNvPr id="19" name="Text 18"/>
          <p:cNvSpPr txBox="1"/>
          <p:nvPr/>
        </p:nvSpPr>
        <p:spPr>
          <a:xfrm>
            <a:off x="3445589" y="2136608"/>
            <a:ext cx="965160" cy="205680"/>
          </a:xfrm>
          <a:prstGeom prst="rect">
            <a:avLst/>
          </a:prstGeom>
          <a:noFill/>
        </p:spPr>
        <p:txBody>
          <a:bodyPr wrap="square" tIns="0" rIns="0" bIns="0" lIns="0" anchor="t" rtlCol="0" anchorCtr="0">
            <a:noAutofit/>
          </a:bodyPr>
          <a:lstStyle/>
          <a:p>
            <a:pPr algn="ct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يرتب المتقدمين</a:t>
            </a:r>
          </a:p>
        </p:txBody>
      </p:sp>
      <p:sp>
        <p:nvSpPr>
          <p:cNvPr id="20" name="Text 19"/>
          <p:cNvSpPr txBox="1"/>
          <p:nvPr/>
        </p:nvSpPr>
        <p:spPr>
          <a:xfrm>
            <a:off x="2664698" y="2064012"/>
            <a:ext cx="252532" cy="177800"/>
          </a:xfrm>
          <a:prstGeom prst="rect">
            <a:avLst/>
          </a:prstGeom>
          <a:noFill/>
        </p:spPr>
        <p:txBody>
          <a:bodyPr wrap="square" tIns="0" rIns="0" bIns="0" lIns="0" anchor="t" rtlCol="0" anchorCtr="0">
            <a:noAutofit/>
          </a:bodyPr>
          <a:lstStyle/>
          <a:p>
            <a:pPr algn="r">
              <a:lnSpc>
                <a:spcPts val="1400"/>
              </a:lnSpc>
              <a:spcBef>
                <a:spcPts val="0"/>
              </a:spcBef>
              <a:spcAft>
                <a:spcPts val="0"/>
              </a:spcAft>
            </a:pPr>
            <a:r>
              <a:rPr sz="1400" b="0" i="0">
                <a:solidFill>
                  <a:srgbClr val="93A3B1"/>
                </a:solidFill>
                <a:latin typeface="IBM Plex Sans Arabic"/>
                <a:ea typeface="IBM Plex Sans Arabic"/>
                <a:cs typeface="IBM Plex Sans Arabic"/>
              </a:rPr>
              <a:t>←</a:t>
            </a:r>
          </a:p>
        </p:txBody>
      </p:sp>
      <p:sp>
        <p:nvSpPr>
          <p:cNvPr id="21" name="Box 20"/>
          <p:cNvSpPr/>
          <p:nvPr/>
        </p:nvSpPr>
        <p:spPr>
          <a:xfrm>
            <a:off x="816074" y="1835745"/>
            <a:ext cx="1888629" cy="618430"/>
          </a:xfrm>
          <a:prstGeom prst="roundRect">
            <a:avLst>
              <a:gd name="adj" fmla="val 12196"/>
            </a:avLst>
          </a:prstGeom>
          <a:solidFill>
            <a:srgbClr val="E3F1ED"/>
          </a:solidFill>
          <a:ln w="6350">
            <a:solidFill>
              <a:srgbClr val="0E7C6B"/>
            </a:solidFill>
          </a:ln>
        </p:spPr>
        <p:txBody>
          <a:bodyPr rtlCol="0" anchor="ctr"/>
          <a:lstStyle/>
          <a:p>
            <a:pPr algn="ctr"/>
          </a:p>
        </p:txBody>
      </p:sp>
      <p:pic>
        <p:nvPicPr>
          <p:cNvPr id="22" name="Icon Users 21" descr="icon057.png"/>
          <p:cNvPicPr>
            <a:picLocks noChangeAspect="1"/>
          </p:cNvPicPr>
          <p:nvPr/>
        </p:nvPicPr>
        <p:blipFill>
          <a:blip r:embed="rId6"/>
          <a:stretch>
            <a:fillRect/>
          </a:stretch>
        </p:blipFill>
        <p:spPr>
          <a:xfrm>
            <a:off x="1665089" y="1927820"/>
            <a:ext cx="190500" cy="190500"/>
          </a:xfrm>
          <a:prstGeom prst="rect">
            <a:avLst/>
          </a:prstGeom>
        </p:spPr>
      </p:pic>
      <p:sp>
        <p:nvSpPr>
          <p:cNvPr id="23" name="Text 22"/>
          <p:cNvSpPr txBox="1"/>
          <p:nvPr/>
        </p:nvSpPr>
        <p:spPr>
          <a:xfrm>
            <a:off x="1143119" y="2136608"/>
            <a:ext cx="1234440" cy="205680"/>
          </a:xfrm>
          <a:prstGeom prst="rect">
            <a:avLst/>
          </a:prstGeom>
          <a:noFill/>
        </p:spPr>
        <p:txBody>
          <a:bodyPr wrap="square" tIns="0" rIns="0" bIns="0" lIns="0" anchor="t" rtlCol="0" anchorCtr="0">
            <a:noAutofit/>
          </a:bodyPr>
          <a:lstStyle/>
          <a:p>
            <a:pPr algn="ct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يقرأ موظف التوظيف</a:t>
            </a:r>
          </a:p>
        </p:txBody>
      </p:sp>
      <p:sp>
        <p:nvSpPr>
          <p:cNvPr id="24" name="Box 23"/>
          <p:cNvSpPr/>
          <p:nvPr/>
        </p:nvSpPr>
        <p:spPr>
          <a:xfrm>
            <a:off x="7939584" y="2635151"/>
            <a:ext cx="3439616" cy="1881981"/>
          </a:xfrm>
          <a:prstGeom prst="roundRect">
            <a:avLst>
              <a:gd name="adj" fmla="val 4723"/>
            </a:avLst>
          </a:prstGeom>
          <a:solidFill>
            <a:srgbClr val="FFFDF8"/>
          </a:solidFill>
          <a:ln>
            <a:noFill/>
          </a:ln>
        </p:spPr>
        <p:txBody>
          <a:bodyPr rtlCol="0" anchor="ctr"/>
          <a:lstStyle/>
          <a:p>
            <a:pPr algn="ctr"/>
          </a:p>
        </p:txBody>
      </p:sp>
      <p:sp>
        <p:nvSpPr>
          <p:cNvPr id="25" name="Rule 24"/>
          <p:cNvSpPr/>
          <p:nvPr/>
        </p:nvSpPr>
        <p:spPr>
          <a:xfrm>
            <a:off x="7939584" y="2635151"/>
            <a:ext cx="3439616" cy="6350"/>
          </a:xfrm>
          <a:prstGeom prst="rect">
            <a:avLst/>
          </a:prstGeom>
          <a:solidFill>
            <a:srgbClr val="E1DBCD"/>
          </a:solidFill>
          <a:ln>
            <a:noFill/>
          </a:ln>
        </p:spPr>
        <p:txBody>
          <a:bodyPr rtlCol="0" anchor="ctr"/>
          <a:lstStyle/>
          <a:p>
            <a:pPr algn="ctr"/>
          </a:p>
        </p:txBody>
      </p:sp>
      <p:sp>
        <p:nvSpPr>
          <p:cNvPr id="26" name="Rule 25"/>
          <p:cNvSpPr/>
          <p:nvPr/>
        </p:nvSpPr>
        <p:spPr>
          <a:xfrm>
            <a:off x="11328400" y="2635151"/>
            <a:ext cx="50800" cy="1881981"/>
          </a:xfrm>
          <a:prstGeom prst="rect">
            <a:avLst/>
          </a:prstGeom>
          <a:solidFill>
            <a:srgbClr val="0E7C6B"/>
          </a:solidFill>
          <a:ln>
            <a:noFill/>
          </a:ln>
        </p:spPr>
        <p:txBody>
          <a:bodyPr rtlCol="0" anchor="ctr"/>
          <a:lstStyle/>
          <a:p>
            <a:pPr algn="ctr"/>
          </a:p>
        </p:txBody>
      </p:sp>
      <p:sp>
        <p:nvSpPr>
          <p:cNvPr id="27" name="Rule 26"/>
          <p:cNvSpPr/>
          <p:nvPr/>
        </p:nvSpPr>
        <p:spPr>
          <a:xfrm>
            <a:off x="7939584" y="4510782"/>
            <a:ext cx="3439616" cy="6350"/>
          </a:xfrm>
          <a:prstGeom prst="rect">
            <a:avLst/>
          </a:prstGeom>
          <a:solidFill>
            <a:srgbClr val="E1DBCD"/>
          </a:solidFill>
          <a:ln>
            <a:noFill/>
          </a:ln>
        </p:spPr>
        <p:txBody>
          <a:bodyPr rtlCol="0" anchor="ctr"/>
          <a:lstStyle/>
          <a:p>
            <a:pPr algn="ctr"/>
          </a:p>
        </p:txBody>
      </p:sp>
      <p:sp>
        <p:nvSpPr>
          <p:cNvPr id="28" name="Rule 27"/>
          <p:cNvSpPr/>
          <p:nvPr/>
        </p:nvSpPr>
        <p:spPr>
          <a:xfrm>
            <a:off x="7939584" y="2635151"/>
            <a:ext cx="6350" cy="1881981"/>
          </a:xfrm>
          <a:prstGeom prst="rect">
            <a:avLst/>
          </a:prstGeom>
          <a:solidFill>
            <a:srgbClr val="E1DBCD"/>
          </a:solidFill>
          <a:ln>
            <a:noFill/>
          </a:ln>
        </p:spPr>
        <p:txBody>
          <a:bodyPr rtlCol="0" anchor="ctr"/>
          <a:lstStyle/>
          <a:p>
            <a:pPr algn="ctr"/>
          </a:p>
        </p:txBody>
      </p:sp>
      <p:sp>
        <p:nvSpPr>
          <p:cNvPr id="29" name="Text 28"/>
          <p:cNvSpPr txBox="1"/>
          <p:nvPr/>
        </p:nvSpPr>
        <p:spPr>
          <a:xfrm>
            <a:off x="7964984" y="2769644"/>
            <a:ext cx="3198316"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0E7C6B"/>
                </a:solidFill>
                <a:latin typeface="Readex Pro"/>
                <a:ea typeface="Readex Pro"/>
                <a:cs typeface="Readex Pro"/>
              </a:rPr>
              <a:t>افعل</a:t>
            </a:r>
          </a:p>
        </p:txBody>
      </p:sp>
      <p:sp>
        <p:nvSpPr>
          <p:cNvPr id="30" name="Text 29"/>
          <p:cNvSpPr txBox="1"/>
          <p:nvPr/>
        </p:nvSpPr>
        <p:spPr>
          <a:xfrm>
            <a:off x="7964984" y="3048349"/>
            <a:ext cx="3198316"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ملف Word أو PDF نصي، لا صورة ممسوحة</a:t>
            </a:r>
          </a:p>
        </p:txBody>
      </p:sp>
      <p:sp>
        <p:nvSpPr>
          <p:cNvPr id="31" name="Text 30"/>
          <p:cNvSpPr txBox="1"/>
          <p:nvPr/>
        </p:nvSpPr>
        <p:spPr>
          <a:xfrm>
            <a:off x="7964984" y="3332809"/>
            <a:ext cx="3198316"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عناوين قياسية: Experience، Education، Skills</a:t>
            </a:r>
          </a:p>
        </p:txBody>
      </p:sp>
      <p:sp>
        <p:nvSpPr>
          <p:cNvPr id="32" name="Text 31"/>
          <p:cNvSpPr txBox="1"/>
          <p:nvPr/>
        </p:nvSpPr>
        <p:spPr>
          <a:xfrm>
            <a:off x="7964984" y="3617270"/>
            <a:ext cx="3198316"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نفس مصطلحات الإعلان إن كانت صادقة عنك</a:t>
            </a:r>
          </a:p>
        </p:txBody>
      </p:sp>
      <p:sp>
        <p:nvSpPr>
          <p:cNvPr id="33" name="Text 32"/>
          <p:cNvSpPr txBox="1"/>
          <p:nvPr/>
        </p:nvSpPr>
        <p:spPr>
          <a:xfrm>
            <a:off x="8019466" y="3901730"/>
            <a:ext cx="3143834"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عمود واحد، وخط عادي، ومعلومات الاتصال في متن الصفحة</a:t>
            </a:r>
          </a:p>
        </p:txBody>
      </p:sp>
      <p:sp>
        <p:nvSpPr>
          <p:cNvPr id="34" name="Box 33"/>
          <p:cNvSpPr/>
          <p:nvPr/>
        </p:nvSpPr>
        <p:spPr>
          <a:xfrm>
            <a:off x="4347567" y="2635151"/>
            <a:ext cx="3439616" cy="1881981"/>
          </a:xfrm>
          <a:prstGeom prst="roundRect">
            <a:avLst>
              <a:gd name="adj" fmla="val 4723"/>
            </a:avLst>
          </a:prstGeom>
          <a:solidFill>
            <a:srgbClr val="FFFDF8"/>
          </a:solidFill>
          <a:ln>
            <a:noFill/>
          </a:ln>
        </p:spPr>
        <p:txBody>
          <a:bodyPr rtlCol="0" anchor="ctr"/>
          <a:lstStyle/>
          <a:p>
            <a:pPr algn="ctr"/>
          </a:p>
        </p:txBody>
      </p:sp>
      <p:sp>
        <p:nvSpPr>
          <p:cNvPr id="35" name="Rule 34"/>
          <p:cNvSpPr/>
          <p:nvPr/>
        </p:nvSpPr>
        <p:spPr>
          <a:xfrm>
            <a:off x="4347567" y="2635151"/>
            <a:ext cx="3439616" cy="6350"/>
          </a:xfrm>
          <a:prstGeom prst="rect">
            <a:avLst/>
          </a:prstGeom>
          <a:solidFill>
            <a:srgbClr val="E1DBCD"/>
          </a:solidFill>
          <a:ln>
            <a:noFill/>
          </a:ln>
        </p:spPr>
        <p:txBody>
          <a:bodyPr rtlCol="0" anchor="ctr"/>
          <a:lstStyle/>
          <a:p>
            <a:pPr algn="ctr"/>
          </a:p>
        </p:txBody>
      </p:sp>
      <p:sp>
        <p:nvSpPr>
          <p:cNvPr id="36" name="Rule 35"/>
          <p:cNvSpPr/>
          <p:nvPr/>
        </p:nvSpPr>
        <p:spPr>
          <a:xfrm>
            <a:off x="7736384" y="2635151"/>
            <a:ext cx="50800" cy="1881981"/>
          </a:xfrm>
          <a:prstGeom prst="rect">
            <a:avLst/>
          </a:prstGeom>
          <a:solidFill>
            <a:srgbClr val="B4412C"/>
          </a:solidFill>
          <a:ln>
            <a:noFill/>
          </a:ln>
        </p:spPr>
        <p:txBody>
          <a:bodyPr rtlCol="0" anchor="ctr"/>
          <a:lstStyle/>
          <a:p>
            <a:pPr algn="ctr"/>
          </a:p>
        </p:txBody>
      </p:sp>
      <p:sp>
        <p:nvSpPr>
          <p:cNvPr id="37" name="Rule 36"/>
          <p:cNvSpPr/>
          <p:nvPr/>
        </p:nvSpPr>
        <p:spPr>
          <a:xfrm>
            <a:off x="4347567" y="4510782"/>
            <a:ext cx="3439616" cy="6350"/>
          </a:xfrm>
          <a:prstGeom prst="rect">
            <a:avLst/>
          </a:prstGeom>
          <a:solidFill>
            <a:srgbClr val="E1DBCD"/>
          </a:solidFill>
          <a:ln>
            <a:noFill/>
          </a:ln>
        </p:spPr>
        <p:txBody>
          <a:bodyPr rtlCol="0" anchor="ctr"/>
          <a:lstStyle/>
          <a:p>
            <a:pPr algn="ctr"/>
          </a:p>
        </p:txBody>
      </p:sp>
      <p:sp>
        <p:nvSpPr>
          <p:cNvPr id="38" name="Rule 37"/>
          <p:cNvSpPr/>
          <p:nvPr/>
        </p:nvSpPr>
        <p:spPr>
          <a:xfrm>
            <a:off x="4347567" y="2635151"/>
            <a:ext cx="6350" cy="1881981"/>
          </a:xfrm>
          <a:prstGeom prst="rect">
            <a:avLst/>
          </a:prstGeom>
          <a:solidFill>
            <a:srgbClr val="E1DBCD"/>
          </a:solidFill>
          <a:ln>
            <a:noFill/>
          </a:ln>
        </p:spPr>
        <p:txBody>
          <a:bodyPr rtlCol="0" anchor="ctr"/>
          <a:lstStyle/>
          <a:p>
            <a:pPr algn="ctr"/>
          </a:p>
        </p:txBody>
      </p:sp>
      <p:sp>
        <p:nvSpPr>
          <p:cNvPr id="39" name="Text 38"/>
          <p:cNvSpPr txBox="1"/>
          <p:nvPr/>
        </p:nvSpPr>
        <p:spPr>
          <a:xfrm>
            <a:off x="4372967" y="2769644"/>
            <a:ext cx="3198316"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B4412C"/>
                </a:solidFill>
                <a:latin typeface="Readex Pro"/>
                <a:ea typeface="Readex Pro"/>
                <a:cs typeface="Readex Pro"/>
              </a:rPr>
              <a:t>تجنب</a:t>
            </a:r>
          </a:p>
        </p:txBody>
      </p:sp>
      <p:sp>
        <p:nvSpPr>
          <p:cNvPr id="40" name="Text 39"/>
          <p:cNvSpPr txBox="1"/>
          <p:nvPr/>
        </p:nvSpPr>
        <p:spPr>
          <a:xfrm>
            <a:off x="4372967" y="3048349"/>
            <a:ext cx="3198316"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نصوصاً داخل صور أو مربعات نص</a:t>
            </a:r>
          </a:p>
        </p:txBody>
      </p:sp>
      <p:sp>
        <p:nvSpPr>
          <p:cNvPr id="41" name="Text 40"/>
          <p:cNvSpPr txBox="1"/>
          <p:nvPr/>
        </p:nvSpPr>
        <p:spPr>
          <a:xfrm>
            <a:off x="4372967" y="3332809"/>
            <a:ext cx="3198316"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أعمدة وجداول معقدة للتنسيق</a:t>
            </a:r>
          </a:p>
        </p:txBody>
      </p:sp>
      <p:sp>
        <p:nvSpPr>
          <p:cNvPr id="42" name="Text 41"/>
          <p:cNvSpPr txBox="1"/>
          <p:nvPr/>
        </p:nvSpPr>
        <p:spPr>
          <a:xfrm>
            <a:off x="4372967" y="3617270"/>
            <a:ext cx="3198316"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أشرطة تقييم المهارات: «Excel ★★★★☆»</a:t>
            </a:r>
          </a:p>
        </p:txBody>
      </p:sp>
      <p:sp>
        <p:nvSpPr>
          <p:cNvPr id="43" name="Text 42"/>
          <p:cNvSpPr txBox="1"/>
          <p:nvPr/>
        </p:nvSpPr>
        <p:spPr>
          <a:xfrm>
            <a:off x="4372967" y="3901730"/>
            <a:ext cx="3198316"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حشو كلمات مفتاحية لا تعرفها؛ المقابلة ستكشفها</a:t>
            </a:r>
          </a:p>
        </p:txBody>
      </p:sp>
      <p:sp>
        <p:nvSpPr>
          <p:cNvPr id="44" name="Box 43"/>
          <p:cNvSpPr/>
          <p:nvPr/>
        </p:nvSpPr>
        <p:spPr>
          <a:xfrm>
            <a:off x="812701" y="2635151"/>
            <a:ext cx="3382466" cy="1881981"/>
          </a:xfrm>
          <a:prstGeom prst="roundRect">
            <a:avLst>
              <a:gd name="adj" fmla="val 4723"/>
            </a:avLst>
          </a:prstGeom>
          <a:solidFill>
            <a:srgbClr val="172433"/>
          </a:solidFill>
          <a:ln>
            <a:noFill/>
          </a:ln>
        </p:spPr>
        <p:txBody>
          <a:bodyPr rtlCol="0" anchor="ctr"/>
          <a:lstStyle/>
          <a:p>
            <a:pPr algn="ctr"/>
          </a:p>
        </p:txBody>
      </p:sp>
      <p:sp>
        <p:nvSpPr>
          <p:cNvPr id="45" name="Text 44"/>
          <p:cNvSpPr txBox="1"/>
          <p:nvPr/>
        </p:nvSpPr>
        <p:spPr>
          <a:xfrm>
            <a:off x="838101" y="2763294"/>
            <a:ext cx="3191966"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F2C46D"/>
                </a:solidFill>
                <a:latin typeface="Readex Pro"/>
                <a:ea typeface="Readex Pro"/>
                <a:cs typeface="Readex Pro"/>
              </a:rPr>
              <a:t>تمرين المطابقة</a:t>
            </a:r>
          </a:p>
        </p:txBody>
      </p:sp>
      <p:sp>
        <p:nvSpPr>
          <p:cNvPr id="46" name="Text 45"/>
          <p:cNvSpPr txBox="1"/>
          <p:nvPr/>
        </p:nvSpPr>
        <p:spPr>
          <a:xfrm>
            <a:off x="977801" y="3038189"/>
            <a:ext cx="3143834" cy="685800"/>
          </a:xfrm>
          <a:prstGeom prst="rect">
            <a:avLst/>
          </a:prstGeom>
          <a:noFill/>
        </p:spPr>
        <p:txBody>
          <a:bodyPr wrap="square" tIns="0" rIns="0" bIns="0" lIns="0" anchor="t" rtlCol="0" anchorCtr="0">
            <a:noAutofit/>
          </a:bodyPr>
          <a:lstStyle/>
          <a:p>
            <a:pPr algn="l">
              <a:lnSpc>
                <a:spcPts val="1800"/>
              </a:lnSpc>
              <a:spcBef>
                <a:spcPts val="0"/>
              </a:spcBef>
              <a:spcAft>
                <a:spcPts val="0"/>
              </a:spcAft>
            </a:pPr>
            <a:r>
              <a:rPr sz="1200" b="0" i="0">
                <a:solidFill>
                  <a:srgbClr val="D9E2E6"/>
                </a:solidFill>
                <a:latin typeface="IBM Plex Sans Arabic"/>
                <a:ea typeface="IBM Plex Sans Arabic"/>
                <a:cs typeface="IBM Plex Sans Arabic"/>
              </a:rPr>
              <a:t>Conduct </a:t>
            </a:r>
            <a:r>
              <a:rPr sz="1200" b="1" i="0" u="sng">
                <a:solidFill>
                  <a:srgbClr val="F2C46D"/>
                </a:solidFill>
                <a:latin typeface="IBM Plex Sans Arabic"/>
                <a:ea typeface="IBM Plex Sans Arabic"/>
                <a:cs typeface="IBM Plex Sans Arabic"/>
              </a:rPr>
              <a:t>risk assessments</a:t>
            </a:r>
            <a:r>
              <a:rPr sz="1200" b="0" i="0">
                <a:solidFill>
                  <a:srgbClr val="D9E2E6"/>
                </a:solidFill>
                <a:latin typeface="IBM Plex Sans Arabic"/>
                <a:ea typeface="IBM Plex Sans Arabic"/>
                <a:cs typeface="IBM Plex Sans Arabic"/>
              </a:rPr>
              <a:t> and support </a:t>
            </a:r>
            <a:r>
              <a:rPr sz="1200" b="1" i="0" u="sng">
                <a:solidFill>
                  <a:srgbClr val="F2C46D"/>
                </a:solidFill>
                <a:latin typeface="IBM Plex Sans Arabic"/>
                <a:ea typeface="IBM Plex Sans Arabic"/>
                <a:cs typeface="IBM Plex Sans Arabic"/>
              </a:rPr>
              <a:t>ISO 27001</a:t>
            </a:r>
            <a:r>
              <a:rPr sz="1200" b="0" i="0">
                <a:solidFill>
                  <a:srgbClr val="D9E2E6"/>
                </a:solidFill>
                <a:latin typeface="IBM Plex Sans Arabic"/>
                <a:ea typeface="IBM Plex Sans Arabic"/>
                <a:cs typeface="IBM Plex Sans Arabic"/>
              </a:rPr>
              <a:t> and </a:t>
            </a:r>
            <a:r>
              <a:rPr sz="1200" b="1" i="0" u="sng">
                <a:solidFill>
                  <a:srgbClr val="F2C46D"/>
                </a:solidFill>
                <a:latin typeface="IBM Plex Sans Arabic"/>
                <a:ea typeface="IBM Plex Sans Arabic"/>
                <a:cs typeface="IBM Plex Sans Arabic"/>
              </a:rPr>
              <a:t>NCA ECC</a:t>
            </a:r>
            <a:r>
              <a:rPr sz="1200" b="0" i="0">
                <a:solidFill>
                  <a:srgbClr val="D9E2E6"/>
                </a:solidFill>
                <a:latin typeface="IBM Plex Sans Arabic"/>
                <a:ea typeface="IBM Plex Sans Arabic"/>
                <a:cs typeface="IBM Plex Sans Arabic"/>
              </a:rPr>
              <a:t> compliance. Maintain </a:t>
            </a:r>
            <a:r>
              <a:rPr sz="1200" b="1" i="0" u="sng">
                <a:solidFill>
                  <a:srgbClr val="F2C46D"/>
                </a:solidFill>
                <a:latin typeface="IBM Plex Sans Arabic"/>
                <a:ea typeface="IBM Plex Sans Arabic"/>
                <a:cs typeface="IBM Plex Sans Arabic"/>
              </a:rPr>
              <a:t>policies</a:t>
            </a:r>
            <a:r>
              <a:rPr sz="1200" b="0" i="0">
                <a:solidFill>
                  <a:srgbClr val="D9E2E6"/>
                </a:solidFill>
                <a:latin typeface="IBM Plex Sans Arabic"/>
                <a:ea typeface="IBM Plex Sans Arabic"/>
                <a:cs typeface="IBM Plex Sans Arabic"/>
              </a:rPr>
              <a:t>.</a:t>
            </a:r>
          </a:p>
        </p:txBody>
      </p:sp>
      <p:sp>
        <p:nvSpPr>
          <p:cNvPr id="47" name="Text 46"/>
          <p:cNvSpPr txBox="1"/>
          <p:nvPr/>
        </p:nvSpPr>
        <p:spPr>
          <a:xfrm>
            <a:off x="886233" y="3791299"/>
            <a:ext cx="3143834"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F3EFE6"/>
                </a:solidFill>
                <a:latin typeface="IBM Plex Sans Arabic"/>
                <a:ea typeface="IBM Plex Sans Arabic"/>
                <a:cs typeface="IBM Plex Sans Arabic"/>
              </a:rPr>
              <a:t>ظلّل مصطلحات الإعلان، ثم تأكد أن كل مصطلح صادق عنك موجود في سيرتك.</a:t>
            </a:r>
          </a:p>
        </p:txBody>
      </p:sp>
      <p:sp>
        <p:nvSpPr>
          <p:cNvPr id="48" name="Text 47"/>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07 · السيرة الذاتية</a:t>
            </a:r>
          </a:p>
        </p:txBody>
      </p:sp>
      <p:sp>
        <p:nvSpPr>
          <p:cNvPr id="49" name="Text 48"/>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589294" y="812800"/>
            <a:ext cx="1789906"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07 · السيرة الذاتية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صياغة الإنجاز: قبل وبعد</a:t>
            </a:r>
          </a:p>
        </p:txBody>
      </p:sp>
      <p:sp>
        <p:nvSpPr>
          <p:cNvPr id="5" name="Box 4"/>
          <p:cNvSpPr/>
          <p:nvPr/>
        </p:nvSpPr>
        <p:spPr>
          <a:xfrm>
            <a:off x="812800" y="1819870"/>
            <a:ext cx="10566400" cy="476250"/>
          </a:xfrm>
          <a:prstGeom prst="roundRect">
            <a:avLst>
              <a:gd name="adj" fmla="val 18666"/>
            </a:avLst>
          </a:prstGeom>
          <a:solidFill>
            <a:srgbClr val="172433"/>
          </a:solidFill>
          <a:ln>
            <a:noFill/>
          </a:ln>
        </p:spPr>
        <p:txBody>
          <a:bodyPr rtlCol="0" anchor="ctr"/>
          <a:lstStyle/>
          <a:p>
            <a:pPr algn="ctr"/>
          </a:p>
        </p:txBody>
      </p:sp>
      <p:sp>
        <p:nvSpPr>
          <p:cNvPr id="6" name="Text 5"/>
          <p:cNvSpPr txBox="1"/>
          <p:nvPr/>
        </p:nvSpPr>
        <p:spPr>
          <a:xfrm>
            <a:off x="10563920" y="1922264"/>
            <a:ext cx="650180" cy="222250"/>
          </a:xfrm>
          <a:prstGeom prst="rect">
            <a:avLst/>
          </a:prstGeom>
          <a:noFill/>
        </p:spPr>
        <p:txBody>
          <a:bodyPr wrap="square" tIns="0" rIns="0" bIns="0" lIns="0" anchor="t" rtlCol="0" anchorCtr="0">
            <a:noAutofit/>
          </a:bodyPr>
          <a:lstStyle/>
          <a:p>
            <a:pPr algn="r" rtl="1">
              <a:lnSpc>
                <a:spcPts val="1750"/>
              </a:lnSpc>
              <a:spcBef>
                <a:spcPts val="0"/>
              </a:spcBef>
              <a:spcAft>
                <a:spcPts val="0"/>
              </a:spcAft>
            </a:pPr>
            <a:r>
              <a:rPr sz="1250" b="1" i="0" lang="ar-SA" altLang="en-US">
                <a:solidFill>
                  <a:srgbClr val="F2C46D"/>
                </a:solidFill>
                <a:latin typeface="IBM Plex Sans Arabic"/>
                <a:ea typeface="IBM Plex Sans Arabic"/>
                <a:cs typeface="IBM Plex Sans Arabic"/>
              </a:rPr>
              <a:t>المعادلة:</a:t>
            </a:r>
          </a:p>
        </p:txBody>
      </p:sp>
      <p:sp>
        <p:nvSpPr>
          <p:cNvPr id="7" name="Text box 6"/>
          <p:cNvSpPr/>
          <p:nvPr/>
        </p:nvSpPr>
        <p:spPr>
          <a:xfrm>
            <a:off x="9850438" y="1921470"/>
            <a:ext cx="732532" cy="273050"/>
          </a:xfrm>
          <a:prstGeom prst="roundRect">
            <a:avLst>
              <a:gd name="adj" fmla="val 18604"/>
            </a:avLst>
          </a:prstGeom>
          <a:solidFill>
            <a:srgbClr val="22344A"/>
          </a:solidFill>
          <a:ln>
            <a:noFill/>
          </a:ln>
        </p:spPr>
        <p:txBody>
          <a:bodyPr rtlCol="0" anchor="ctr" wrap="square" tIns="0" rIns="74021" bIns="49212" lIns="0" anchorCtr="0">
            <a:noAutofit/>
          </a:bodyPr>
          <a:lstStyle/>
          <a:p>
            <a:pPr algn="r" rtl="1">
              <a:lnSpc>
                <a:spcPts val="1750"/>
              </a:lnSpc>
              <a:spcBef>
                <a:spcPts val="0"/>
              </a:spcBef>
              <a:spcAft>
                <a:spcPts val="0"/>
              </a:spcAft>
            </a:pPr>
            <a:r>
              <a:rPr sz="1250" b="0" i="0" lang="ar-SA" altLang="en-US">
                <a:solidFill>
                  <a:srgbClr val="F3EFE6"/>
                </a:solidFill>
                <a:latin typeface="IBM Plex Sans Arabic"/>
                <a:ea typeface="IBM Plex Sans Arabic"/>
                <a:cs typeface="IBM Plex Sans Arabic"/>
              </a:rPr>
              <a:t>فعل قوي</a:t>
            </a:r>
          </a:p>
        </p:txBody>
      </p:sp>
      <p:sp>
        <p:nvSpPr>
          <p:cNvPr id="8" name="Text 7"/>
          <p:cNvSpPr txBox="1"/>
          <p:nvPr/>
        </p:nvSpPr>
        <p:spPr>
          <a:xfrm>
            <a:off x="9583638" y="1906389"/>
            <a:ext cx="190599" cy="238125"/>
          </a:xfrm>
          <a:prstGeom prst="rect">
            <a:avLst/>
          </a:prstGeom>
          <a:noFill/>
        </p:spPr>
        <p:txBody>
          <a:bodyPr wrap="square" tIns="0" rIns="0" bIns="0" lIns="0" anchor="t" rtlCol="0" anchorCtr="0">
            <a:noAutofit/>
          </a:bodyPr>
          <a:lstStyle/>
          <a:p>
            <a:pPr algn="r">
              <a:lnSpc>
                <a:spcPts val="1875"/>
              </a:lnSpc>
              <a:spcBef>
                <a:spcPts val="0"/>
              </a:spcBef>
              <a:spcAft>
                <a:spcPts val="0"/>
              </a:spcAft>
            </a:pPr>
            <a:r>
              <a:rPr sz="1250" b="0" i="0">
                <a:solidFill>
                  <a:srgbClr val="93A3B1"/>
                </a:solidFill>
                <a:latin typeface="IBM Plex Sans Arabic"/>
                <a:ea typeface="IBM Plex Sans Arabic"/>
                <a:cs typeface="IBM Plex Sans Arabic"/>
              </a:rPr>
              <a:t>+</a:t>
            </a:r>
          </a:p>
        </p:txBody>
      </p:sp>
      <p:sp>
        <p:nvSpPr>
          <p:cNvPr id="9" name="Text box 8"/>
          <p:cNvSpPr/>
          <p:nvPr/>
        </p:nvSpPr>
        <p:spPr>
          <a:xfrm>
            <a:off x="8814792" y="1921470"/>
            <a:ext cx="787896" cy="273050"/>
          </a:xfrm>
          <a:prstGeom prst="roundRect">
            <a:avLst>
              <a:gd name="adj" fmla="val 18604"/>
            </a:avLst>
          </a:prstGeom>
          <a:solidFill>
            <a:srgbClr val="22344A"/>
          </a:solidFill>
          <a:ln>
            <a:noFill/>
          </a:ln>
        </p:spPr>
        <p:txBody>
          <a:bodyPr rtlCol="0" anchor="ctr" wrap="square" tIns="0" rIns="74021" bIns="49212" lIns="0" anchorCtr="0">
            <a:noAutofit/>
          </a:bodyPr>
          <a:lstStyle/>
          <a:p>
            <a:pPr algn="r" rtl="1">
              <a:lnSpc>
                <a:spcPts val="1750"/>
              </a:lnSpc>
              <a:spcBef>
                <a:spcPts val="0"/>
              </a:spcBef>
              <a:spcAft>
                <a:spcPts val="0"/>
              </a:spcAft>
            </a:pPr>
            <a:r>
              <a:rPr sz="1250" b="0" i="0" lang="ar-SA" altLang="en-US">
                <a:solidFill>
                  <a:srgbClr val="F3EFE6"/>
                </a:solidFill>
                <a:latin typeface="IBM Plex Sans Arabic"/>
                <a:ea typeface="IBM Plex Sans Arabic"/>
                <a:cs typeface="IBM Plex Sans Arabic"/>
              </a:rPr>
              <a:t>ماذا فعلت</a:t>
            </a:r>
          </a:p>
        </p:txBody>
      </p:sp>
      <p:sp>
        <p:nvSpPr>
          <p:cNvPr id="10" name="Text 9"/>
          <p:cNvSpPr txBox="1"/>
          <p:nvPr/>
        </p:nvSpPr>
        <p:spPr>
          <a:xfrm>
            <a:off x="8547993" y="1906389"/>
            <a:ext cx="190599" cy="238125"/>
          </a:xfrm>
          <a:prstGeom prst="rect">
            <a:avLst/>
          </a:prstGeom>
          <a:noFill/>
        </p:spPr>
        <p:txBody>
          <a:bodyPr wrap="square" tIns="0" rIns="0" bIns="0" lIns="0" anchor="t" rtlCol="0" anchorCtr="0">
            <a:noAutofit/>
          </a:bodyPr>
          <a:lstStyle/>
          <a:p>
            <a:pPr algn="r">
              <a:lnSpc>
                <a:spcPts val="1875"/>
              </a:lnSpc>
              <a:spcBef>
                <a:spcPts val="0"/>
              </a:spcBef>
              <a:spcAft>
                <a:spcPts val="0"/>
              </a:spcAft>
            </a:pPr>
            <a:r>
              <a:rPr sz="1250" b="0" i="0">
                <a:solidFill>
                  <a:srgbClr val="93A3B1"/>
                </a:solidFill>
                <a:latin typeface="IBM Plex Sans Arabic"/>
                <a:ea typeface="IBM Plex Sans Arabic"/>
                <a:cs typeface="IBM Plex Sans Arabic"/>
              </a:rPr>
              <a:t>+</a:t>
            </a:r>
          </a:p>
        </p:txBody>
      </p:sp>
      <p:sp>
        <p:nvSpPr>
          <p:cNvPr id="11" name="Text box 10"/>
          <p:cNvSpPr/>
          <p:nvPr/>
        </p:nvSpPr>
        <p:spPr>
          <a:xfrm>
            <a:off x="7395071" y="1921470"/>
            <a:ext cx="1171972" cy="273050"/>
          </a:xfrm>
          <a:prstGeom prst="roundRect">
            <a:avLst>
              <a:gd name="adj" fmla="val 18604"/>
            </a:avLst>
          </a:prstGeom>
          <a:solidFill>
            <a:srgbClr val="22344A"/>
          </a:solidFill>
          <a:ln>
            <a:noFill/>
          </a:ln>
        </p:spPr>
        <p:txBody>
          <a:bodyPr rtlCol="0" anchor="ctr" wrap="square" tIns="0" rIns="74021" bIns="49212" lIns="0" anchorCtr="0">
            <a:noAutofit/>
          </a:bodyPr>
          <a:lstStyle/>
          <a:p>
            <a:pPr algn="r" rtl="1">
              <a:lnSpc>
                <a:spcPts val="1750"/>
              </a:lnSpc>
              <a:spcBef>
                <a:spcPts val="0"/>
              </a:spcBef>
              <a:spcAft>
                <a:spcPts val="0"/>
              </a:spcAft>
            </a:pPr>
            <a:r>
              <a:rPr sz="1250" b="0" i="0" lang="ar-SA" altLang="en-US">
                <a:solidFill>
                  <a:srgbClr val="F3EFE6"/>
                </a:solidFill>
                <a:latin typeface="IBM Plex Sans Arabic"/>
                <a:ea typeface="IBM Plex Sans Arabic"/>
                <a:cs typeface="IBM Plex Sans Arabic"/>
              </a:rPr>
              <a:t>بأي طريقة أو أداة</a:t>
            </a:r>
          </a:p>
        </p:txBody>
      </p:sp>
      <p:sp>
        <p:nvSpPr>
          <p:cNvPr id="12" name="Text 11"/>
          <p:cNvSpPr txBox="1"/>
          <p:nvPr/>
        </p:nvSpPr>
        <p:spPr>
          <a:xfrm>
            <a:off x="7128272" y="1906389"/>
            <a:ext cx="190599" cy="238125"/>
          </a:xfrm>
          <a:prstGeom prst="rect">
            <a:avLst/>
          </a:prstGeom>
          <a:noFill/>
        </p:spPr>
        <p:txBody>
          <a:bodyPr wrap="square" tIns="0" rIns="0" bIns="0" lIns="0" anchor="t" rtlCol="0" anchorCtr="0">
            <a:noAutofit/>
          </a:bodyPr>
          <a:lstStyle/>
          <a:p>
            <a:pPr algn="r">
              <a:lnSpc>
                <a:spcPts val="1875"/>
              </a:lnSpc>
              <a:spcBef>
                <a:spcPts val="0"/>
              </a:spcBef>
              <a:spcAft>
                <a:spcPts val="0"/>
              </a:spcAft>
            </a:pPr>
            <a:r>
              <a:rPr sz="1250" b="0" i="0">
                <a:solidFill>
                  <a:srgbClr val="93A3B1"/>
                </a:solidFill>
                <a:latin typeface="IBM Plex Sans Arabic"/>
                <a:ea typeface="IBM Plex Sans Arabic"/>
                <a:cs typeface="IBM Plex Sans Arabic"/>
              </a:rPr>
              <a:t>+</a:t>
            </a:r>
          </a:p>
        </p:txBody>
      </p:sp>
      <p:sp>
        <p:nvSpPr>
          <p:cNvPr id="13" name="Text box 12"/>
          <p:cNvSpPr/>
          <p:nvPr/>
        </p:nvSpPr>
        <p:spPr>
          <a:xfrm>
            <a:off x="6076950" y="1921470"/>
            <a:ext cx="1070372" cy="273050"/>
          </a:xfrm>
          <a:prstGeom prst="roundRect">
            <a:avLst>
              <a:gd name="adj" fmla="val 18604"/>
            </a:avLst>
          </a:prstGeom>
          <a:solidFill>
            <a:srgbClr val="F2C46D"/>
          </a:solidFill>
          <a:ln>
            <a:noFill/>
          </a:ln>
        </p:spPr>
        <p:txBody>
          <a:bodyPr rtlCol="0" anchor="ctr" wrap="square" tIns="0" rIns="74021" bIns="49212" lIns="0" anchorCtr="0">
            <a:noAutofit/>
          </a:bodyPr>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النتيجة أو الرقم</a:t>
            </a:r>
          </a:p>
        </p:txBody>
      </p:sp>
      <p:sp>
        <p:nvSpPr>
          <p:cNvPr id="14" name="Box 13"/>
          <p:cNvSpPr/>
          <p:nvPr/>
        </p:nvSpPr>
        <p:spPr>
          <a:xfrm>
            <a:off x="8080375" y="2464395"/>
            <a:ext cx="3295650" cy="610791"/>
          </a:xfrm>
          <a:prstGeom prst="roundRect">
            <a:avLst>
              <a:gd name="adj" fmla="val 12347"/>
            </a:avLst>
          </a:prstGeom>
          <a:solidFill>
            <a:srgbClr val="FBEAE5"/>
          </a:solidFill>
          <a:ln w="6350">
            <a:solidFill>
              <a:srgbClr val="E7B8AC"/>
            </a:solidFill>
          </a:ln>
        </p:spPr>
        <p:txBody>
          <a:bodyPr rtlCol="0" anchor="ctr"/>
          <a:lstStyle/>
          <a:p>
            <a:pPr algn="ctr"/>
          </a:p>
        </p:txBody>
      </p:sp>
      <p:sp>
        <p:nvSpPr>
          <p:cNvPr id="15" name="Text 14"/>
          <p:cNvSpPr txBox="1"/>
          <p:nvPr/>
        </p:nvSpPr>
        <p:spPr>
          <a:xfrm>
            <a:off x="8119110" y="2654768"/>
            <a:ext cx="674251"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1" i="0">
                <a:solidFill>
                  <a:srgbClr val="B4412C"/>
                </a:solidFill>
                <a:latin typeface="IBM Plex Sans Arabic"/>
                <a:ea typeface="IBM Plex Sans Arabic"/>
                <a:cs typeface="IBM Plex Sans Arabic"/>
              </a:rPr>
              <a:t>BEFORE</a:t>
            </a:r>
          </a:p>
        </p:txBody>
      </p:sp>
      <p:sp>
        <p:nvSpPr>
          <p:cNvPr id="16" name="Text 15"/>
          <p:cNvSpPr txBox="1"/>
          <p:nvPr/>
        </p:nvSpPr>
        <p:spPr>
          <a:xfrm>
            <a:off x="8869561" y="2639508"/>
            <a:ext cx="2484239" cy="213320"/>
          </a:xfrm>
          <a:prstGeom prst="rect">
            <a:avLst/>
          </a:prstGeom>
          <a:noFill/>
        </p:spPr>
        <p:txBody>
          <a:bodyPr wrap="square" tIns="0" rIns="0" bIns="0" lIns="0" anchor="t" rtlCol="0" anchorCtr="0">
            <a:noAutofit/>
          </a:bodyPr>
          <a:lstStyle/>
          <a:p>
            <a:pPr algn="l">
              <a:lnSpc>
                <a:spcPts val="1680"/>
              </a:lnSpc>
              <a:spcBef>
                <a:spcPts val="0"/>
              </a:spcBef>
              <a:spcAft>
                <a:spcPts val="0"/>
              </a:spcAft>
            </a:pPr>
            <a:r>
              <a:rPr sz="1200" b="0" i="0">
                <a:solidFill>
                  <a:srgbClr val="172433"/>
                </a:solidFill>
                <a:latin typeface="IBM Plex Sans Arabic"/>
                <a:ea typeface="IBM Plex Sans Arabic"/>
                <a:cs typeface="IBM Plex Sans Arabic"/>
              </a:rPr>
              <a:t>Responsible for the risk register.</a:t>
            </a:r>
          </a:p>
        </p:txBody>
      </p:sp>
      <p:sp>
        <p:nvSpPr>
          <p:cNvPr id="17" name="Box 16"/>
          <p:cNvSpPr/>
          <p:nvPr/>
        </p:nvSpPr>
        <p:spPr>
          <a:xfrm>
            <a:off x="815975" y="2464395"/>
            <a:ext cx="7169150" cy="610791"/>
          </a:xfrm>
          <a:prstGeom prst="roundRect">
            <a:avLst>
              <a:gd name="adj" fmla="val 12347"/>
            </a:avLst>
          </a:prstGeom>
          <a:solidFill>
            <a:srgbClr val="E3F1ED"/>
          </a:solidFill>
          <a:ln w="6350">
            <a:solidFill>
              <a:srgbClr val="9FD1C5"/>
            </a:solidFill>
          </a:ln>
        </p:spPr>
        <p:txBody>
          <a:bodyPr rtlCol="0" anchor="ctr"/>
          <a:lstStyle/>
          <a:p>
            <a:pPr algn="ctr"/>
          </a:p>
        </p:txBody>
      </p:sp>
      <p:sp>
        <p:nvSpPr>
          <p:cNvPr id="18" name="Text 17"/>
          <p:cNvSpPr txBox="1"/>
          <p:nvPr/>
        </p:nvSpPr>
        <p:spPr>
          <a:xfrm>
            <a:off x="854710" y="2654768"/>
            <a:ext cx="569278"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1" i="0">
                <a:solidFill>
                  <a:srgbClr val="0E7C6B"/>
                </a:solidFill>
                <a:latin typeface="IBM Plex Sans Arabic"/>
                <a:ea typeface="IBM Plex Sans Arabic"/>
                <a:cs typeface="IBM Plex Sans Arabic"/>
              </a:rPr>
              <a:t>AFTER</a:t>
            </a:r>
          </a:p>
        </p:txBody>
      </p:sp>
      <p:sp>
        <p:nvSpPr>
          <p:cNvPr id="19" name="Text 18"/>
          <p:cNvSpPr txBox="1"/>
          <p:nvPr/>
        </p:nvSpPr>
        <p:spPr>
          <a:xfrm>
            <a:off x="1500188" y="2532848"/>
            <a:ext cx="6462712" cy="426641"/>
          </a:xfrm>
          <a:prstGeom prst="rect">
            <a:avLst/>
          </a:prstGeom>
          <a:noFill/>
        </p:spPr>
        <p:txBody>
          <a:bodyPr wrap="square" tIns="0" rIns="0" bIns="0" lIns="0" anchor="t" rtlCol="0" anchorCtr="0">
            <a:noAutofit/>
          </a:bodyPr>
          <a:lstStyle/>
          <a:p>
            <a:pPr algn="l">
              <a:lnSpc>
                <a:spcPts val="1680"/>
              </a:lnSpc>
              <a:spcBef>
                <a:spcPts val="0"/>
              </a:spcBef>
              <a:spcAft>
                <a:spcPts val="0"/>
              </a:spcAft>
            </a:pPr>
            <a:r>
              <a:rPr sz="1200" b="0" i="0">
                <a:solidFill>
                  <a:srgbClr val="172433"/>
                </a:solidFill>
                <a:latin typeface="IBM Plex Sans Arabic"/>
                <a:ea typeface="IBM Plex Sans Arabic"/>
                <a:cs typeface="IBM Plex Sans Arabic"/>
              </a:rPr>
              <a:t>Built a 20-risk register on a 5×5 matrix for a fictional 200-staff company; prioritized 6 high risks with treatment plans.</a:t>
            </a:r>
          </a:p>
        </p:txBody>
      </p:sp>
      <p:sp>
        <p:nvSpPr>
          <p:cNvPr id="20" name="Box 19"/>
          <p:cNvSpPr/>
          <p:nvPr/>
        </p:nvSpPr>
        <p:spPr>
          <a:xfrm>
            <a:off x="8080375" y="3170436"/>
            <a:ext cx="3295650" cy="610791"/>
          </a:xfrm>
          <a:prstGeom prst="roundRect">
            <a:avLst>
              <a:gd name="adj" fmla="val 12347"/>
            </a:avLst>
          </a:prstGeom>
          <a:solidFill>
            <a:srgbClr val="FBEAE5"/>
          </a:solidFill>
          <a:ln w="6350">
            <a:solidFill>
              <a:srgbClr val="E7B8AC"/>
            </a:solidFill>
          </a:ln>
        </p:spPr>
        <p:txBody>
          <a:bodyPr rtlCol="0" anchor="ctr"/>
          <a:lstStyle/>
          <a:p>
            <a:pPr algn="ctr"/>
          </a:p>
        </p:txBody>
      </p:sp>
      <p:sp>
        <p:nvSpPr>
          <p:cNvPr id="21" name="Text 20"/>
          <p:cNvSpPr txBox="1"/>
          <p:nvPr/>
        </p:nvSpPr>
        <p:spPr>
          <a:xfrm>
            <a:off x="8119110" y="3360809"/>
            <a:ext cx="674251"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1" i="0">
                <a:solidFill>
                  <a:srgbClr val="B4412C"/>
                </a:solidFill>
                <a:latin typeface="IBM Plex Sans Arabic"/>
                <a:ea typeface="IBM Plex Sans Arabic"/>
                <a:cs typeface="IBM Plex Sans Arabic"/>
              </a:rPr>
              <a:t>BEFORE</a:t>
            </a:r>
          </a:p>
        </p:txBody>
      </p:sp>
      <p:sp>
        <p:nvSpPr>
          <p:cNvPr id="22" name="Text 21"/>
          <p:cNvSpPr txBox="1"/>
          <p:nvPr/>
        </p:nvSpPr>
        <p:spPr>
          <a:xfrm>
            <a:off x="8869561" y="3345549"/>
            <a:ext cx="2484239" cy="213320"/>
          </a:xfrm>
          <a:prstGeom prst="rect">
            <a:avLst/>
          </a:prstGeom>
          <a:noFill/>
        </p:spPr>
        <p:txBody>
          <a:bodyPr wrap="square" tIns="0" rIns="0" bIns="0" lIns="0" anchor="t" rtlCol="0" anchorCtr="0">
            <a:noAutofit/>
          </a:bodyPr>
          <a:lstStyle/>
          <a:p>
            <a:pPr algn="l">
              <a:lnSpc>
                <a:spcPts val="1680"/>
              </a:lnSpc>
              <a:spcBef>
                <a:spcPts val="0"/>
              </a:spcBef>
              <a:spcAft>
                <a:spcPts val="0"/>
              </a:spcAft>
            </a:pPr>
            <a:r>
              <a:rPr sz="1200" b="0" i="0">
                <a:solidFill>
                  <a:srgbClr val="172433"/>
                </a:solidFill>
                <a:latin typeface="IBM Plex Sans Arabic"/>
                <a:ea typeface="IBM Plex Sans Arabic"/>
                <a:cs typeface="IBM Plex Sans Arabic"/>
              </a:rPr>
              <a:t>Familiar with ISO 27001.</a:t>
            </a:r>
          </a:p>
        </p:txBody>
      </p:sp>
      <p:sp>
        <p:nvSpPr>
          <p:cNvPr id="23" name="Box 22"/>
          <p:cNvSpPr/>
          <p:nvPr/>
        </p:nvSpPr>
        <p:spPr>
          <a:xfrm>
            <a:off x="815975" y="3170436"/>
            <a:ext cx="7169150" cy="610791"/>
          </a:xfrm>
          <a:prstGeom prst="roundRect">
            <a:avLst>
              <a:gd name="adj" fmla="val 12347"/>
            </a:avLst>
          </a:prstGeom>
          <a:solidFill>
            <a:srgbClr val="E3F1ED"/>
          </a:solidFill>
          <a:ln w="6350">
            <a:solidFill>
              <a:srgbClr val="9FD1C5"/>
            </a:solidFill>
          </a:ln>
        </p:spPr>
        <p:txBody>
          <a:bodyPr rtlCol="0" anchor="ctr"/>
          <a:lstStyle/>
          <a:p>
            <a:pPr algn="ctr"/>
          </a:p>
        </p:txBody>
      </p:sp>
      <p:sp>
        <p:nvSpPr>
          <p:cNvPr id="24" name="Text 23"/>
          <p:cNvSpPr txBox="1"/>
          <p:nvPr/>
        </p:nvSpPr>
        <p:spPr>
          <a:xfrm>
            <a:off x="854710" y="3360809"/>
            <a:ext cx="569278"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1" i="0">
                <a:solidFill>
                  <a:srgbClr val="0E7C6B"/>
                </a:solidFill>
                <a:latin typeface="IBM Plex Sans Arabic"/>
                <a:ea typeface="IBM Plex Sans Arabic"/>
                <a:cs typeface="IBM Plex Sans Arabic"/>
              </a:rPr>
              <a:t>AFTER</a:t>
            </a:r>
          </a:p>
        </p:txBody>
      </p:sp>
      <p:sp>
        <p:nvSpPr>
          <p:cNvPr id="25" name="Text 24"/>
          <p:cNvSpPr txBox="1"/>
          <p:nvPr/>
        </p:nvSpPr>
        <p:spPr>
          <a:xfrm>
            <a:off x="1500188" y="3238889"/>
            <a:ext cx="6462712" cy="426641"/>
          </a:xfrm>
          <a:prstGeom prst="rect">
            <a:avLst/>
          </a:prstGeom>
          <a:noFill/>
        </p:spPr>
        <p:txBody>
          <a:bodyPr wrap="square" tIns="0" rIns="0" bIns="0" lIns="0" anchor="t" rtlCol="0" anchorCtr="0">
            <a:noAutofit/>
          </a:bodyPr>
          <a:lstStyle/>
          <a:p>
            <a:pPr algn="l">
              <a:lnSpc>
                <a:spcPts val="1680"/>
              </a:lnSpc>
              <a:spcBef>
                <a:spcPts val="0"/>
              </a:spcBef>
              <a:spcAft>
                <a:spcPts val="0"/>
              </a:spcAft>
            </a:pPr>
            <a:r>
              <a:rPr sz="1200" b="0" i="0">
                <a:solidFill>
                  <a:srgbClr val="172433"/>
                </a:solidFill>
                <a:latin typeface="IBM Plex Sans Arabic"/>
                <a:ea typeface="IBM Plex Sans Arabic"/>
                <a:cs typeface="IBM Plex Sans Arabic"/>
              </a:rPr>
              <a:t>Mapped 30 ISO/IEC 27001:2022 Annex A controls to NCA ECC-2:2024 requirements, identifying 8 coverage gaps.</a:t>
            </a:r>
          </a:p>
        </p:txBody>
      </p:sp>
      <p:sp>
        <p:nvSpPr>
          <p:cNvPr id="26" name="Box 25"/>
          <p:cNvSpPr/>
          <p:nvPr/>
        </p:nvSpPr>
        <p:spPr>
          <a:xfrm>
            <a:off x="8080375" y="3876477"/>
            <a:ext cx="3295650" cy="610791"/>
          </a:xfrm>
          <a:prstGeom prst="roundRect">
            <a:avLst>
              <a:gd name="adj" fmla="val 12347"/>
            </a:avLst>
          </a:prstGeom>
          <a:solidFill>
            <a:srgbClr val="FBEAE5"/>
          </a:solidFill>
          <a:ln w="6350">
            <a:solidFill>
              <a:srgbClr val="E7B8AC"/>
            </a:solidFill>
          </a:ln>
        </p:spPr>
        <p:txBody>
          <a:bodyPr rtlCol="0" anchor="ctr"/>
          <a:lstStyle/>
          <a:p>
            <a:pPr algn="ctr"/>
          </a:p>
        </p:txBody>
      </p:sp>
      <p:sp>
        <p:nvSpPr>
          <p:cNvPr id="27" name="Text 26"/>
          <p:cNvSpPr txBox="1"/>
          <p:nvPr/>
        </p:nvSpPr>
        <p:spPr>
          <a:xfrm>
            <a:off x="8119110" y="4066850"/>
            <a:ext cx="674251"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1" i="0">
                <a:solidFill>
                  <a:srgbClr val="B4412C"/>
                </a:solidFill>
                <a:latin typeface="IBM Plex Sans Arabic"/>
                <a:ea typeface="IBM Plex Sans Arabic"/>
                <a:cs typeface="IBM Plex Sans Arabic"/>
              </a:rPr>
              <a:t>BEFORE</a:t>
            </a:r>
          </a:p>
        </p:txBody>
      </p:sp>
      <p:sp>
        <p:nvSpPr>
          <p:cNvPr id="28" name="Text 27"/>
          <p:cNvSpPr txBox="1"/>
          <p:nvPr/>
        </p:nvSpPr>
        <p:spPr>
          <a:xfrm>
            <a:off x="8869561" y="4051590"/>
            <a:ext cx="2484239" cy="213320"/>
          </a:xfrm>
          <a:prstGeom prst="rect">
            <a:avLst/>
          </a:prstGeom>
          <a:noFill/>
        </p:spPr>
        <p:txBody>
          <a:bodyPr wrap="square" tIns="0" rIns="0" bIns="0" lIns="0" anchor="t" rtlCol="0" anchorCtr="0">
            <a:noAutofit/>
          </a:bodyPr>
          <a:lstStyle/>
          <a:p>
            <a:pPr algn="l">
              <a:lnSpc>
                <a:spcPts val="1680"/>
              </a:lnSpc>
              <a:spcBef>
                <a:spcPts val="0"/>
              </a:spcBef>
              <a:spcAft>
                <a:spcPts val="0"/>
              </a:spcAft>
            </a:pPr>
            <a:r>
              <a:rPr sz="1200" b="0" i="0">
                <a:solidFill>
                  <a:srgbClr val="172433"/>
                </a:solidFill>
                <a:latin typeface="IBM Plex Sans Arabic"/>
                <a:ea typeface="IBM Plex Sans Arabic"/>
                <a:cs typeface="IBM Plex Sans Arabic"/>
              </a:rPr>
              <a:t>Worked on the IT help desk.</a:t>
            </a:r>
          </a:p>
        </p:txBody>
      </p:sp>
      <p:sp>
        <p:nvSpPr>
          <p:cNvPr id="29" name="Box 28"/>
          <p:cNvSpPr/>
          <p:nvPr/>
        </p:nvSpPr>
        <p:spPr>
          <a:xfrm>
            <a:off x="815975" y="3876477"/>
            <a:ext cx="7169150" cy="610791"/>
          </a:xfrm>
          <a:prstGeom prst="roundRect">
            <a:avLst>
              <a:gd name="adj" fmla="val 12347"/>
            </a:avLst>
          </a:prstGeom>
          <a:solidFill>
            <a:srgbClr val="E3F1ED"/>
          </a:solidFill>
          <a:ln w="6350">
            <a:solidFill>
              <a:srgbClr val="9FD1C5"/>
            </a:solidFill>
          </a:ln>
        </p:spPr>
        <p:txBody>
          <a:bodyPr rtlCol="0" anchor="ctr"/>
          <a:lstStyle/>
          <a:p>
            <a:pPr algn="ctr"/>
          </a:p>
        </p:txBody>
      </p:sp>
      <p:sp>
        <p:nvSpPr>
          <p:cNvPr id="30" name="Text 29"/>
          <p:cNvSpPr txBox="1"/>
          <p:nvPr/>
        </p:nvSpPr>
        <p:spPr>
          <a:xfrm>
            <a:off x="854710" y="4066850"/>
            <a:ext cx="569278"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1" i="0">
                <a:solidFill>
                  <a:srgbClr val="0E7C6B"/>
                </a:solidFill>
                <a:latin typeface="IBM Plex Sans Arabic"/>
                <a:ea typeface="IBM Plex Sans Arabic"/>
                <a:cs typeface="IBM Plex Sans Arabic"/>
              </a:rPr>
              <a:t>AFTER</a:t>
            </a:r>
          </a:p>
        </p:txBody>
      </p:sp>
      <p:sp>
        <p:nvSpPr>
          <p:cNvPr id="31" name="Text 30"/>
          <p:cNvSpPr txBox="1"/>
          <p:nvPr/>
        </p:nvSpPr>
        <p:spPr>
          <a:xfrm>
            <a:off x="1500188" y="3944930"/>
            <a:ext cx="6462712" cy="426641"/>
          </a:xfrm>
          <a:prstGeom prst="rect">
            <a:avLst/>
          </a:prstGeom>
          <a:noFill/>
        </p:spPr>
        <p:txBody>
          <a:bodyPr wrap="square" tIns="0" rIns="0" bIns="0" lIns="0" anchor="t" rtlCol="0" anchorCtr="0">
            <a:noAutofit/>
          </a:bodyPr>
          <a:lstStyle/>
          <a:p>
            <a:pPr algn="l">
              <a:lnSpc>
                <a:spcPts val="1680"/>
              </a:lnSpc>
              <a:spcBef>
                <a:spcPts val="0"/>
              </a:spcBef>
              <a:spcAft>
                <a:spcPts val="0"/>
              </a:spcAft>
            </a:pPr>
            <a:r>
              <a:rPr sz="1200" b="0" i="0">
                <a:solidFill>
                  <a:srgbClr val="172433"/>
                </a:solidFill>
                <a:latin typeface="IBM Plex Sans Arabic"/>
                <a:ea typeface="IBM Plex Sans Arabic"/>
                <a:cs typeface="IBM Plex Sans Arabic"/>
              </a:rPr>
              <a:t>Processed 25+ weekly access requests per the approval workflow; flagged 3 over-privileged accounts for review.</a:t>
            </a:r>
          </a:p>
        </p:txBody>
      </p:sp>
      <p:sp>
        <p:nvSpPr>
          <p:cNvPr id="32" name="Text 31"/>
          <p:cNvSpPr txBox="1"/>
          <p:nvPr/>
        </p:nvSpPr>
        <p:spPr>
          <a:xfrm>
            <a:off x="10012851" y="4668730"/>
            <a:ext cx="1366349"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4E5A66"/>
                </a:solidFill>
                <a:latin typeface="IBM Plex Sans Arabic"/>
                <a:ea typeface="IBM Plex Sans Arabic"/>
                <a:cs typeface="IBM Plex Sans Arabic"/>
              </a:rPr>
              <a:t>أفعال مناسبة لـ GRC:</a:t>
            </a:r>
          </a:p>
        </p:txBody>
      </p:sp>
      <p:sp>
        <p:nvSpPr>
          <p:cNvPr id="33" name="Text box 32"/>
          <p:cNvSpPr/>
          <p:nvPr/>
        </p:nvSpPr>
        <p:spPr>
          <a:xfrm>
            <a:off x="9151243" y="4658717"/>
            <a:ext cx="832644" cy="280591"/>
          </a:xfrm>
          <a:prstGeom prst="roundRect">
            <a:avLst>
              <a:gd name="adj" fmla="val 50000"/>
            </a:avLst>
          </a:prstGeom>
          <a:solidFill>
            <a:srgbClr val="FFFDF8"/>
          </a:solidFill>
          <a:ln w="6350">
            <a:solidFill>
              <a:srgbClr val="E1DBCD"/>
            </a:solidFill>
          </a:ln>
        </p:spPr>
        <p:txBody>
          <a:bodyPr rtlCol="0" anchor="ctr" wrap="square" tIns="0" rIns="50984" bIns="32004" lIns="0" anchorCtr="0">
            <a:noAutofit/>
          </a:bodyPr>
          <a:lstStyle/>
          <a:p>
            <a:pPr algn="r">
              <a:lnSpc>
                <a:spcPts val="1560"/>
              </a:lnSpc>
              <a:spcBef>
                <a:spcPts val="0"/>
              </a:spcBef>
              <a:spcAft>
                <a:spcPts val="0"/>
              </a:spcAft>
            </a:pPr>
            <a:r>
              <a:rPr sz="1200" b="0" i="0">
                <a:solidFill>
                  <a:srgbClr val="172433"/>
                </a:solidFill>
                <a:latin typeface="IBM Plex Sans Arabic"/>
                <a:ea typeface="IBM Plex Sans Arabic"/>
                <a:cs typeface="IBM Plex Sans Arabic"/>
              </a:rPr>
              <a:t>Assessed</a:t>
            </a:r>
          </a:p>
        </p:txBody>
      </p:sp>
      <p:sp>
        <p:nvSpPr>
          <p:cNvPr id="34" name="Text box 33"/>
          <p:cNvSpPr/>
          <p:nvPr/>
        </p:nvSpPr>
        <p:spPr>
          <a:xfrm>
            <a:off x="8279705" y="4658717"/>
            <a:ext cx="738188" cy="280591"/>
          </a:xfrm>
          <a:prstGeom prst="roundRect">
            <a:avLst>
              <a:gd name="adj" fmla="val 50000"/>
            </a:avLst>
          </a:prstGeom>
          <a:solidFill>
            <a:srgbClr val="FFFDF8"/>
          </a:solidFill>
          <a:ln w="6350">
            <a:solidFill>
              <a:srgbClr val="E1DBCD"/>
            </a:solidFill>
          </a:ln>
        </p:spPr>
        <p:txBody>
          <a:bodyPr rtlCol="0" anchor="ctr" wrap="square" tIns="0" rIns="50984" bIns="32004" lIns="0" anchorCtr="0">
            <a:noAutofit/>
          </a:bodyPr>
          <a:lstStyle/>
          <a:p>
            <a:pPr algn="r">
              <a:lnSpc>
                <a:spcPts val="1560"/>
              </a:lnSpc>
              <a:spcBef>
                <a:spcPts val="0"/>
              </a:spcBef>
              <a:spcAft>
                <a:spcPts val="0"/>
              </a:spcAft>
            </a:pPr>
            <a:r>
              <a:rPr sz="1200" b="0" i="0">
                <a:solidFill>
                  <a:srgbClr val="172433"/>
                </a:solidFill>
                <a:latin typeface="IBM Plex Sans Arabic"/>
                <a:ea typeface="IBM Plex Sans Arabic"/>
                <a:cs typeface="IBM Plex Sans Arabic"/>
              </a:rPr>
              <a:t>Mapped</a:t>
            </a:r>
          </a:p>
        </p:txBody>
      </p:sp>
      <p:sp>
        <p:nvSpPr>
          <p:cNvPr id="35" name="Text box 34"/>
          <p:cNvSpPr/>
          <p:nvPr/>
        </p:nvSpPr>
        <p:spPr>
          <a:xfrm>
            <a:off x="7448848" y="4658717"/>
            <a:ext cx="697508" cy="280591"/>
          </a:xfrm>
          <a:prstGeom prst="roundRect">
            <a:avLst>
              <a:gd name="adj" fmla="val 50000"/>
            </a:avLst>
          </a:prstGeom>
          <a:solidFill>
            <a:srgbClr val="FFFDF8"/>
          </a:solidFill>
          <a:ln w="6350">
            <a:solidFill>
              <a:srgbClr val="E1DBCD"/>
            </a:solidFill>
          </a:ln>
        </p:spPr>
        <p:txBody>
          <a:bodyPr rtlCol="0" anchor="ctr" wrap="square" tIns="0" rIns="50984" bIns="32004" lIns="0" anchorCtr="0">
            <a:noAutofit/>
          </a:bodyPr>
          <a:lstStyle/>
          <a:p>
            <a:pPr algn="r">
              <a:lnSpc>
                <a:spcPts val="1560"/>
              </a:lnSpc>
              <a:spcBef>
                <a:spcPts val="0"/>
              </a:spcBef>
              <a:spcAft>
                <a:spcPts val="0"/>
              </a:spcAft>
            </a:pPr>
            <a:r>
              <a:rPr sz="1200" b="0" i="0">
                <a:solidFill>
                  <a:srgbClr val="172433"/>
                </a:solidFill>
                <a:latin typeface="IBM Plex Sans Arabic"/>
                <a:ea typeface="IBM Plex Sans Arabic"/>
                <a:cs typeface="IBM Plex Sans Arabic"/>
              </a:rPr>
              <a:t>Drafted</a:t>
            </a:r>
          </a:p>
        </p:txBody>
      </p:sp>
      <p:sp>
        <p:nvSpPr>
          <p:cNvPr id="36" name="Text box 35"/>
          <p:cNvSpPr/>
          <p:nvPr/>
        </p:nvSpPr>
        <p:spPr>
          <a:xfrm>
            <a:off x="6469261" y="4658717"/>
            <a:ext cx="846237" cy="280591"/>
          </a:xfrm>
          <a:prstGeom prst="roundRect">
            <a:avLst>
              <a:gd name="adj" fmla="val 50000"/>
            </a:avLst>
          </a:prstGeom>
          <a:solidFill>
            <a:srgbClr val="FFFDF8"/>
          </a:solidFill>
          <a:ln w="6350">
            <a:solidFill>
              <a:srgbClr val="E1DBCD"/>
            </a:solidFill>
          </a:ln>
        </p:spPr>
        <p:txBody>
          <a:bodyPr rtlCol="0" anchor="ctr" wrap="square" tIns="0" rIns="50984" bIns="32004" lIns="0" anchorCtr="0">
            <a:noAutofit/>
          </a:bodyPr>
          <a:lstStyle/>
          <a:p>
            <a:pPr algn="r">
              <a:lnSpc>
                <a:spcPts val="1560"/>
              </a:lnSpc>
              <a:spcBef>
                <a:spcPts val="0"/>
              </a:spcBef>
              <a:spcAft>
                <a:spcPts val="0"/>
              </a:spcAft>
            </a:pPr>
            <a:r>
              <a:rPr sz="1200" b="0" i="0">
                <a:solidFill>
                  <a:srgbClr val="172433"/>
                </a:solidFill>
                <a:latin typeface="IBM Plex Sans Arabic"/>
                <a:ea typeface="IBM Plex Sans Arabic"/>
                <a:cs typeface="IBM Plex Sans Arabic"/>
              </a:rPr>
              <a:t>Reviewed</a:t>
            </a:r>
          </a:p>
        </p:txBody>
      </p:sp>
      <p:sp>
        <p:nvSpPr>
          <p:cNvPr id="37" name="Text box 36"/>
          <p:cNvSpPr/>
          <p:nvPr/>
        </p:nvSpPr>
        <p:spPr>
          <a:xfrm>
            <a:off x="5608241" y="4658717"/>
            <a:ext cx="727670" cy="280591"/>
          </a:xfrm>
          <a:prstGeom prst="roundRect">
            <a:avLst>
              <a:gd name="adj" fmla="val 50000"/>
            </a:avLst>
          </a:prstGeom>
          <a:solidFill>
            <a:srgbClr val="FFFDF8"/>
          </a:solidFill>
          <a:ln w="6350">
            <a:solidFill>
              <a:srgbClr val="E1DBCD"/>
            </a:solidFill>
          </a:ln>
        </p:spPr>
        <p:txBody>
          <a:bodyPr rtlCol="0" anchor="ctr" wrap="square" tIns="0" rIns="50984" bIns="32004" lIns="0" anchorCtr="0">
            <a:noAutofit/>
          </a:bodyPr>
          <a:lstStyle/>
          <a:p>
            <a:pPr algn="r">
              <a:lnSpc>
                <a:spcPts val="1560"/>
              </a:lnSpc>
              <a:spcBef>
                <a:spcPts val="0"/>
              </a:spcBef>
              <a:spcAft>
                <a:spcPts val="0"/>
              </a:spcAft>
            </a:pPr>
            <a:r>
              <a:rPr sz="1200" b="0" i="0">
                <a:solidFill>
                  <a:srgbClr val="172433"/>
                </a:solidFill>
                <a:latin typeface="IBM Plex Sans Arabic"/>
                <a:ea typeface="IBM Plex Sans Arabic"/>
                <a:cs typeface="IBM Plex Sans Arabic"/>
              </a:rPr>
              <a:t>Tracked</a:t>
            </a:r>
          </a:p>
        </p:txBody>
      </p:sp>
      <p:sp>
        <p:nvSpPr>
          <p:cNvPr id="38" name="Text box 37"/>
          <p:cNvSpPr/>
          <p:nvPr/>
        </p:nvSpPr>
        <p:spPr>
          <a:xfrm>
            <a:off x="4462264" y="4658717"/>
            <a:ext cx="1012627" cy="280591"/>
          </a:xfrm>
          <a:prstGeom prst="roundRect">
            <a:avLst>
              <a:gd name="adj" fmla="val 50000"/>
            </a:avLst>
          </a:prstGeom>
          <a:solidFill>
            <a:srgbClr val="FFFDF8"/>
          </a:solidFill>
          <a:ln w="6350">
            <a:solidFill>
              <a:srgbClr val="E1DBCD"/>
            </a:solidFill>
          </a:ln>
        </p:spPr>
        <p:txBody>
          <a:bodyPr rtlCol="0" anchor="ctr" wrap="square" tIns="0" rIns="50984" bIns="32004" lIns="0" anchorCtr="0">
            <a:noAutofit/>
          </a:bodyPr>
          <a:lstStyle/>
          <a:p>
            <a:pPr algn="r">
              <a:lnSpc>
                <a:spcPts val="1560"/>
              </a:lnSpc>
              <a:spcBef>
                <a:spcPts val="0"/>
              </a:spcBef>
              <a:spcAft>
                <a:spcPts val="0"/>
              </a:spcAft>
            </a:pPr>
            <a:r>
              <a:rPr sz="1200" b="0" i="0">
                <a:solidFill>
                  <a:srgbClr val="172433"/>
                </a:solidFill>
                <a:latin typeface="IBM Plex Sans Arabic"/>
                <a:ea typeface="IBM Plex Sans Arabic"/>
                <a:cs typeface="IBM Plex Sans Arabic"/>
              </a:rPr>
              <a:t>Remediated</a:t>
            </a:r>
          </a:p>
        </p:txBody>
      </p:sp>
      <p:sp>
        <p:nvSpPr>
          <p:cNvPr id="39" name="Text 38"/>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07 · السيرة الذاتية</a:t>
            </a:r>
          </a:p>
        </p:txBody>
      </p:sp>
      <p:sp>
        <p:nvSpPr>
          <p:cNvPr id="40" name="Text 39"/>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589294" y="812800"/>
            <a:ext cx="1789906"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07 · السيرة الذاتية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بلا خبرة في GRC؟ خبرتك أقرب مما تظن</a:t>
            </a:r>
          </a:p>
        </p:txBody>
      </p:sp>
      <p:sp>
        <p:nvSpPr>
          <p:cNvPr id="5" name="Text 4"/>
          <p:cNvSpPr txBox="1"/>
          <p:nvPr/>
        </p:nvSpPr>
        <p:spPr>
          <a:xfrm>
            <a:off x="5090414" y="1819362"/>
            <a:ext cx="6288786"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0E7C6B"/>
                </a:solidFill>
                <a:latin typeface="Readex Pro"/>
                <a:ea typeface="Readex Pro"/>
                <a:cs typeface="Readex Pro"/>
              </a:rPr>
              <a:t>ترجم خلفيتك إلى لغة GRC</a:t>
            </a:r>
          </a:p>
        </p:txBody>
      </p:sp>
      <p:sp>
        <p:nvSpPr>
          <p:cNvPr id="6" name="Box 5"/>
          <p:cNvSpPr/>
          <p:nvPr/>
        </p:nvSpPr>
        <p:spPr>
          <a:xfrm>
            <a:off x="5559425" y="2176066"/>
            <a:ext cx="5816600" cy="373062"/>
          </a:xfrm>
          <a:prstGeom prst="roundRect">
            <a:avLst>
              <a:gd name="adj" fmla="val 20083"/>
            </a:avLst>
          </a:prstGeom>
          <a:solidFill>
            <a:srgbClr val="FFFDF8"/>
          </a:solidFill>
          <a:ln w="6350">
            <a:solidFill>
              <a:srgbClr val="E1DBCD"/>
            </a:solidFill>
          </a:ln>
        </p:spPr>
        <p:txBody>
          <a:bodyPr rtlCol="0" anchor="ctr"/>
          <a:lstStyle/>
          <a:p>
            <a:pPr algn="ctr"/>
          </a:p>
        </p:txBody>
      </p:sp>
      <p:sp>
        <p:nvSpPr>
          <p:cNvPr id="7" name="Text 6"/>
          <p:cNvSpPr txBox="1"/>
          <p:nvPr/>
        </p:nvSpPr>
        <p:spPr>
          <a:xfrm>
            <a:off x="9668510" y="2234803"/>
            <a:ext cx="157734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lang="ar-SA" altLang="en-US">
                <a:solidFill>
                  <a:srgbClr val="172433"/>
                </a:solidFill>
                <a:latin typeface="IBM Plex Sans Arabic"/>
                <a:ea typeface="IBM Plex Sans Arabic"/>
                <a:cs typeface="IBM Plex Sans Arabic"/>
              </a:rPr>
              <a:t>الدعم الفني</a:t>
            </a:r>
          </a:p>
        </p:txBody>
      </p:sp>
      <p:sp>
        <p:nvSpPr>
          <p:cNvPr id="8" name="Text 7"/>
          <p:cNvSpPr txBox="1"/>
          <p:nvPr/>
        </p:nvSpPr>
        <p:spPr>
          <a:xfrm>
            <a:off x="9461956" y="2287476"/>
            <a:ext cx="234494"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0" i="0">
                <a:solidFill>
                  <a:srgbClr val="93A3B1"/>
                </a:solidFill>
                <a:latin typeface="IBM Plex Sans Arabic"/>
                <a:ea typeface="IBM Plex Sans Arabic"/>
                <a:cs typeface="IBM Plex Sans Arabic"/>
              </a:rPr>
              <a:t>←</a:t>
            </a:r>
          </a:p>
        </p:txBody>
      </p:sp>
      <p:sp>
        <p:nvSpPr>
          <p:cNvPr id="9" name="Text 8"/>
          <p:cNvSpPr txBox="1"/>
          <p:nvPr/>
        </p:nvSpPr>
        <p:spPr>
          <a:xfrm>
            <a:off x="5581650" y="2232315"/>
            <a:ext cx="389046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طلبات الصلاحيات، وسير الموافقات، والبلاغات</a:t>
            </a:r>
          </a:p>
        </p:txBody>
      </p:sp>
      <p:sp>
        <p:nvSpPr>
          <p:cNvPr id="10" name="Box 9"/>
          <p:cNvSpPr/>
          <p:nvPr/>
        </p:nvSpPr>
        <p:spPr>
          <a:xfrm>
            <a:off x="5559425" y="2631678"/>
            <a:ext cx="5816600" cy="373062"/>
          </a:xfrm>
          <a:prstGeom prst="roundRect">
            <a:avLst>
              <a:gd name="adj" fmla="val 20083"/>
            </a:avLst>
          </a:prstGeom>
          <a:solidFill>
            <a:srgbClr val="FFFDF8"/>
          </a:solidFill>
          <a:ln w="6350">
            <a:solidFill>
              <a:srgbClr val="E1DBCD"/>
            </a:solidFill>
          </a:ln>
        </p:spPr>
        <p:txBody>
          <a:bodyPr rtlCol="0" anchor="ctr"/>
          <a:lstStyle/>
          <a:p>
            <a:pPr algn="ctr"/>
          </a:p>
        </p:txBody>
      </p:sp>
      <p:sp>
        <p:nvSpPr>
          <p:cNvPr id="11" name="Text 10"/>
          <p:cNvSpPr txBox="1"/>
          <p:nvPr/>
        </p:nvSpPr>
        <p:spPr>
          <a:xfrm>
            <a:off x="9668510" y="2690416"/>
            <a:ext cx="157734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lang="ar-SA" altLang="en-US">
                <a:solidFill>
                  <a:srgbClr val="172433"/>
                </a:solidFill>
                <a:latin typeface="IBM Plex Sans Arabic"/>
                <a:ea typeface="IBM Plex Sans Arabic"/>
                <a:cs typeface="IBM Plex Sans Arabic"/>
              </a:rPr>
              <a:t>المحاسبة والتدقيق</a:t>
            </a:r>
          </a:p>
        </p:txBody>
      </p:sp>
      <p:sp>
        <p:nvSpPr>
          <p:cNvPr id="12" name="Text 11"/>
          <p:cNvSpPr txBox="1"/>
          <p:nvPr/>
        </p:nvSpPr>
        <p:spPr>
          <a:xfrm>
            <a:off x="9461956" y="2743089"/>
            <a:ext cx="234494"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0" i="0">
                <a:solidFill>
                  <a:srgbClr val="93A3B1"/>
                </a:solidFill>
                <a:latin typeface="IBM Plex Sans Arabic"/>
                <a:ea typeface="IBM Plex Sans Arabic"/>
                <a:cs typeface="IBM Plex Sans Arabic"/>
              </a:rPr>
              <a:t>←</a:t>
            </a:r>
          </a:p>
        </p:txBody>
      </p:sp>
      <p:sp>
        <p:nvSpPr>
          <p:cNvPr id="13" name="Text 12"/>
          <p:cNvSpPr txBox="1"/>
          <p:nvPr/>
        </p:nvSpPr>
        <p:spPr>
          <a:xfrm>
            <a:off x="5581650" y="2687927"/>
            <a:ext cx="389046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الرقابة الداخلية، والأدلة، والعينات</a:t>
            </a:r>
          </a:p>
        </p:txBody>
      </p:sp>
      <p:sp>
        <p:nvSpPr>
          <p:cNvPr id="14" name="Box 13"/>
          <p:cNvSpPr/>
          <p:nvPr/>
        </p:nvSpPr>
        <p:spPr>
          <a:xfrm>
            <a:off x="5559425" y="3087291"/>
            <a:ext cx="5816600" cy="373062"/>
          </a:xfrm>
          <a:prstGeom prst="roundRect">
            <a:avLst>
              <a:gd name="adj" fmla="val 20083"/>
            </a:avLst>
          </a:prstGeom>
          <a:solidFill>
            <a:srgbClr val="FFFDF8"/>
          </a:solidFill>
          <a:ln w="6350">
            <a:solidFill>
              <a:srgbClr val="E1DBCD"/>
            </a:solidFill>
          </a:ln>
        </p:spPr>
        <p:txBody>
          <a:bodyPr rtlCol="0" anchor="ctr"/>
          <a:lstStyle/>
          <a:p>
            <a:pPr algn="ctr"/>
          </a:p>
        </p:txBody>
      </p:sp>
      <p:sp>
        <p:nvSpPr>
          <p:cNvPr id="15" name="Text 14"/>
          <p:cNvSpPr txBox="1"/>
          <p:nvPr/>
        </p:nvSpPr>
        <p:spPr>
          <a:xfrm>
            <a:off x="9668510" y="3146028"/>
            <a:ext cx="157734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lang="ar-SA" altLang="en-US">
                <a:solidFill>
                  <a:srgbClr val="172433"/>
                </a:solidFill>
                <a:latin typeface="IBM Plex Sans Arabic"/>
                <a:ea typeface="IBM Plex Sans Arabic"/>
                <a:cs typeface="IBM Plex Sans Arabic"/>
              </a:rPr>
              <a:t>القانون</a:t>
            </a:r>
          </a:p>
        </p:txBody>
      </p:sp>
      <p:sp>
        <p:nvSpPr>
          <p:cNvPr id="16" name="Text 15"/>
          <p:cNvSpPr txBox="1"/>
          <p:nvPr/>
        </p:nvSpPr>
        <p:spPr>
          <a:xfrm>
            <a:off x="9461956" y="3198701"/>
            <a:ext cx="234494"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0" i="0">
                <a:solidFill>
                  <a:srgbClr val="93A3B1"/>
                </a:solidFill>
                <a:latin typeface="IBM Plex Sans Arabic"/>
                <a:ea typeface="IBM Plex Sans Arabic"/>
                <a:cs typeface="IBM Plex Sans Arabic"/>
              </a:rPr>
              <a:t>←</a:t>
            </a:r>
          </a:p>
        </p:txBody>
      </p:sp>
      <p:sp>
        <p:nvSpPr>
          <p:cNvPr id="17" name="Text 16"/>
          <p:cNvSpPr txBox="1"/>
          <p:nvPr/>
        </p:nvSpPr>
        <p:spPr>
          <a:xfrm>
            <a:off x="5581650" y="3143540"/>
            <a:ext cx="389046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الأنظمة واللوائح، والعقود، والخصوصية</a:t>
            </a:r>
          </a:p>
        </p:txBody>
      </p:sp>
      <p:sp>
        <p:nvSpPr>
          <p:cNvPr id="18" name="Box 17"/>
          <p:cNvSpPr/>
          <p:nvPr/>
        </p:nvSpPr>
        <p:spPr>
          <a:xfrm>
            <a:off x="5559425" y="3542903"/>
            <a:ext cx="5816600" cy="373062"/>
          </a:xfrm>
          <a:prstGeom prst="roundRect">
            <a:avLst>
              <a:gd name="adj" fmla="val 20083"/>
            </a:avLst>
          </a:prstGeom>
          <a:solidFill>
            <a:srgbClr val="FFFDF8"/>
          </a:solidFill>
          <a:ln w="6350">
            <a:solidFill>
              <a:srgbClr val="E1DBCD"/>
            </a:solidFill>
          </a:ln>
        </p:spPr>
        <p:txBody>
          <a:bodyPr rtlCol="0" anchor="ctr"/>
          <a:lstStyle/>
          <a:p>
            <a:pPr algn="ctr"/>
          </a:p>
        </p:txBody>
      </p:sp>
      <p:sp>
        <p:nvSpPr>
          <p:cNvPr id="19" name="Text 18"/>
          <p:cNvSpPr txBox="1"/>
          <p:nvPr/>
        </p:nvSpPr>
        <p:spPr>
          <a:xfrm>
            <a:off x="9668510" y="3601641"/>
            <a:ext cx="157734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lang="ar-SA" altLang="en-US">
                <a:solidFill>
                  <a:srgbClr val="172433"/>
                </a:solidFill>
                <a:latin typeface="IBM Plex Sans Arabic"/>
                <a:ea typeface="IBM Plex Sans Arabic"/>
                <a:cs typeface="IBM Plex Sans Arabic"/>
              </a:rPr>
              <a:t>إدارة الجودة</a:t>
            </a:r>
          </a:p>
        </p:txBody>
      </p:sp>
      <p:sp>
        <p:nvSpPr>
          <p:cNvPr id="20" name="Text 19"/>
          <p:cNvSpPr txBox="1"/>
          <p:nvPr/>
        </p:nvSpPr>
        <p:spPr>
          <a:xfrm>
            <a:off x="9461956" y="3654314"/>
            <a:ext cx="234494"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0" i="0">
                <a:solidFill>
                  <a:srgbClr val="93A3B1"/>
                </a:solidFill>
                <a:latin typeface="IBM Plex Sans Arabic"/>
                <a:ea typeface="IBM Plex Sans Arabic"/>
                <a:cs typeface="IBM Plex Sans Arabic"/>
              </a:rPr>
              <a:t>←</a:t>
            </a:r>
          </a:p>
        </p:txBody>
      </p:sp>
      <p:sp>
        <p:nvSpPr>
          <p:cNvPr id="21" name="Text 20"/>
          <p:cNvSpPr txBox="1"/>
          <p:nvPr/>
        </p:nvSpPr>
        <p:spPr>
          <a:xfrm>
            <a:off x="5581650" y="3599152"/>
            <a:ext cx="389046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أنظمة الإدارة، والتدقيق الداخلي، والإجراءات</a:t>
            </a:r>
          </a:p>
        </p:txBody>
      </p:sp>
      <p:sp>
        <p:nvSpPr>
          <p:cNvPr id="22" name="Box 21"/>
          <p:cNvSpPr/>
          <p:nvPr/>
        </p:nvSpPr>
        <p:spPr>
          <a:xfrm>
            <a:off x="5559425" y="3998516"/>
            <a:ext cx="5816600" cy="373062"/>
          </a:xfrm>
          <a:prstGeom prst="roundRect">
            <a:avLst>
              <a:gd name="adj" fmla="val 20083"/>
            </a:avLst>
          </a:prstGeom>
          <a:solidFill>
            <a:srgbClr val="FFFDF8"/>
          </a:solidFill>
          <a:ln w="6350">
            <a:solidFill>
              <a:srgbClr val="E1DBCD"/>
            </a:solidFill>
          </a:ln>
        </p:spPr>
        <p:txBody>
          <a:bodyPr rtlCol="0" anchor="ctr"/>
          <a:lstStyle/>
          <a:p>
            <a:pPr algn="ctr"/>
          </a:p>
        </p:txBody>
      </p:sp>
      <p:sp>
        <p:nvSpPr>
          <p:cNvPr id="23" name="Text 22"/>
          <p:cNvSpPr txBox="1"/>
          <p:nvPr/>
        </p:nvSpPr>
        <p:spPr>
          <a:xfrm>
            <a:off x="9668510" y="4057253"/>
            <a:ext cx="157734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lang="ar-SA" altLang="en-US">
                <a:solidFill>
                  <a:srgbClr val="172433"/>
                </a:solidFill>
                <a:latin typeface="IBM Plex Sans Arabic"/>
                <a:ea typeface="IBM Plex Sans Arabic"/>
                <a:cs typeface="IBM Plex Sans Arabic"/>
              </a:rPr>
              <a:t>إدارة المشاريع</a:t>
            </a:r>
          </a:p>
        </p:txBody>
      </p:sp>
      <p:sp>
        <p:nvSpPr>
          <p:cNvPr id="24" name="Text 23"/>
          <p:cNvSpPr txBox="1"/>
          <p:nvPr/>
        </p:nvSpPr>
        <p:spPr>
          <a:xfrm>
            <a:off x="9461956" y="4109926"/>
            <a:ext cx="234494"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0" i="0">
                <a:solidFill>
                  <a:srgbClr val="93A3B1"/>
                </a:solidFill>
                <a:latin typeface="IBM Plex Sans Arabic"/>
                <a:ea typeface="IBM Plex Sans Arabic"/>
                <a:cs typeface="IBM Plex Sans Arabic"/>
              </a:rPr>
              <a:t>←</a:t>
            </a:r>
          </a:p>
        </p:txBody>
      </p:sp>
      <p:sp>
        <p:nvSpPr>
          <p:cNvPr id="25" name="Text 24"/>
          <p:cNvSpPr txBox="1"/>
          <p:nvPr/>
        </p:nvSpPr>
        <p:spPr>
          <a:xfrm>
            <a:off x="5581650" y="4054765"/>
            <a:ext cx="389046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متابعة المعالجة بمالك وموعد، وتقارير الحالة</a:t>
            </a:r>
          </a:p>
        </p:txBody>
      </p:sp>
      <p:sp>
        <p:nvSpPr>
          <p:cNvPr id="26" name="Box 25"/>
          <p:cNvSpPr/>
          <p:nvPr/>
        </p:nvSpPr>
        <p:spPr>
          <a:xfrm>
            <a:off x="812800" y="1832570"/>
            <a:ext cx="4514850" cy="2542183"/>
          </a:xfrm>
          <a:prstGeom prst="roundRect">
            <a:avLst>
              <a:gd name="adj" fmla="val 3996"/>
            </a:avLst>
          </a:prstGeom>
          <a:solidFill>
            <a:srgbClr val="172433"/>
          </a:solidFill>
          <a:ln>
            <a:noFill/>
          </a:ln>
        </p:spPr>
        <p:txBody>
          <a:bodyPr rtlCol="0" anchor="ctr"/>
          <a:lstStyle/>
          <a:p>
            <a:pPr algn="ctr"/>
          </a:p>
        </p:txBody>
      </p:sp>
      <p:sp>
        <p:nvSpPr>
          <p:cNvPr id="27" name="Text 26"/>
          <p:cNvSpPr txBox="1"/>
          <p:nvPr/>
        </p:nvSpPr>
        <p:spPr>
          <a:xfrm>
            <a:off x="838200" y="1997988"/>
            <a:ext cx="4311650" cy="247650"/>
          </a:xfrm>
          <a:prstGeom prst="rect">
            <a:avLst/>
          </a:prstGeom>
          <a:noFill/>
        </p:spPr>
        <p:txBody>
          <a:bodyPr wrap="square" tIns="0" rIns="0" bIns="0" lIns="0" anchor="t" rtlCol="0" anchorCtr="0">
            <a:noAutofit/>
          </a:bodyPr>
          <a:lstStyle/>
          <a:p>
            <a:pPr algn="r" rtl="1">
              <a:lnSpc>
                <a:spcPts val="1950"/>
              </a:lnSpc>
              <a:spcBef>
                <a:spcPts val="0"/>
              </a:spcBef>
              <a:spcAft>
                <a:spcPts val="0"/>
              </a:spcAft>
            </a:pPr>
            <a:r>
              <a:rPr sz="1500" b="1" i="0" lang="ar-SA" altLang="en-US">
                <a:solidFill>
                  <a:srgbClr val="F2C46D"/>
                </a:solidFill>
                <a:latin typeface="Readex Pro"/>
                <a:ea typeface="Readex Pro"/>
                <a:cs typeface="Readex Pro"/>
              </a:rPr>
              <a:t>أقسام تملأ مكان «الخبرة»</a:t>
            </a:r>
          </a:p>
        </p:txBody>
      </p:sp>
      <p:pic>
        <p:nvPicPr>
          <p:cNvPr id="28" name="Icon Check 27" descr="icon058.png"/>
          <p:cNvPicPr>
            <a:picLocks noChangeAspect="1"/>
          </p:cNvPicPr>
          <p:nvPr/>
        </p:nvPicPr>
        <p:blipFill>
          <a:blip r:embed="rId2"/>
          <a:stretch>
            <a:fillRect/>
          </a:stretch>
        </p:blipFill>
        <p:spPr>
          <a:xfrm>
            <a:off x="4972050" y="2346920"/>
            <a:ext cx="177800" cy="177800"/>
          </a:xfrm>
          <a:prstGeom prst="rect">
            <a:avLst/>
          </a:prstGeom>
        </p:spPr>
      </p:pic>
      <p:sp>
        <p:nvSpPr>
          <p:cNvPr id="29" name="Text 28"/>
          <p:cNvSpPr txBox="1"/>
          <p:nvPr/>
        </p:nvSpPr>
        <p:spPr>
          <a:xfrm>
            <a:off x="838200" y="2319488"/>
            <a:ext cx="40576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F3EFE6"/>
                </a:solidFill>
                <a:latin typeface="IBM Plex Sans Arabic"/>
                <a:ea typeface="IBM Plex Sans Arabic"/>
                <a:cs typeface="IBM Plex Sans Arabic"/>
              </a:rPr>
              <a:t>Projects:</a:t>
            </a:r>
            <a:r>
              <a:rPr sz="1200" b="0" i="0" lang="ar-SA" altLang="en-US">
                <a:solidFill>
                  <a:srgbClr val="F3EFE6"/>
                </a:solidFill>
                <a:latin typeface="IBM Plex Sans Arabic"/>
                <a:ea typeface="IBM Plex Sans Arabic"/>
                <a:cs typeface="IBM Plex Sans Arabic"/>
              </a:rPr>
              <a:t> مشاريع الوحدة 6</a:t>
            </a:r>
          </a:p>
        </p:txBody>
      </p:sp>
      <p:pic>
        <p:nvPicPr>
          <p:cNvPr id="30" name="Icon Check 29" descr="icon058.png"/>
          <p:cNvPicPr>
            <a:picLocks noChangeAspect="1"/>
          </p:cNvPicPr>
          <p:nvPr/>
        </p:nvPicPr>
        <p:blipFill>
          <a:blip r:embed="rId2"/>
          <a:stretch>
            <a:fillRect/>
          </a:stretch>
        </p:blipFill>
        <p:spPr>
          <a:xfrm>
            <a:off x="4972050" y="2656780"/>
            <a:ext cx="177800" cy="177800"/>
          </a:xfrm>
          <a:prstGeom prst="rect">
            <a:avLst/>
          </a:prstGeom>
        </p:spPr>
      </p:pic>
      <p:sp>
        <p:nvSpPr>
          <p:cNvPr id="31" name="Text 30"/>
          <p:cNvSpPr txBox="1"/>
          <p:nvPr/>
        </p:nvSpPr>
        <p:spPr>
          <a:xfrm>
            <a:off x="838200" y="2629348"/>
            <a:ext cx="40576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F3EFE6"/>
                </a:solidFill>
                <a:latin typeface="IBM Plex Sans Arabic"/>
                <a:ea typeface="IBM Plex Sans Arabic"/>
                <a:cs typeface="IBM Plex Sans Arabic"/>
              </a:rPr>
              <a:t>Internship:</a:t>
            </a:r>
            <a:r>
              <a:rPr sz="1200" b="0" i="0" lang="ar-SA" altLang="en-US">
                <a:solidFill>
                  <a:srgbClr val="F3EFE6"/>
                </a:solidFill>
                <a:latin typeface="IBM Plex Sans Arabic"/>
                <a:ea typeface="IBM Plex Sans Arabic"/>
                <a:cs typeface="IBM Plex Sans Arabic"/>
              </a:rPr>
              <a:t> التدريب التعاوني، ولو قصيراً</a:t>
            </a:r>
          </a:p>
        </p:txBody>
      </p:sp>
      <p:pic>
        <p:nvPicPr>
          <p:cNvPr id="32" name="Icon Check 31" descr="icon058.png"/>
          <p:cNvPicPr>
            <a:picLocks noChangeAspect="1"/>
          </p:cNvPicPr>
          <p:nvPr/>
        </p:nvPicPr>
        <p:blipFill>
          <a:blip r:embed="rId2"/>
          <a:stretch>
            <a:fillRect/>
          </a:stretch>
        </p:blipFill>
        <p:spPr>
          <a:xfrm>
            <a:off x="4972050" y="2966641"/>
            <a:ext cx="177800" cy="177800"/>
          </a:xfrm>
          <a:prstGeom prst="rect">
            <a:avLst/>
          </a:prstGeom>
        </p:spPr>
      </p:pic>
      <p:sp>
        <p:nvSpPr>
          <p:cNvPr id="33" name="Text 32"/>
          <p:cNvSpPr txBox="1"/>
          <p:nvPr/>
        </p:nvSpPr>
        <p:spPr>
          <a:xfrm>
            <a:off x="838200" y="2939209"/>
            <a:ext cx="40576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F3EFE6"/>
                </a:solidFill>
                <a:latin typeface="IBM Plex Sans Arabic"/>
                <a:ea typeface="IBM Plex Sans Arabic"/>
                <a:cs typeface="IBM Plex Sans Arabic"/>
              </a:rPr>
              <a:t>Volunteering:</a:t>
            </a:r>
            <a:r>
              <a:rPr sz="1200" b="0" i="0" lang="ar-SA" altLang="en-US">
                <a:solidFill>
                  <a:srgbClr val="F3EFE6"/>
                </a:solidFill>
                <a:latin typeface="IBM Plex Sans Arabic"/>
                <a:ea typeface="IBM Plex Sans Arabic"/>
                <a:cs typeface="IBM Plex Sans Arabic"/>
              </a:rPr>
              <a:t> كتابة سياسة لجمعية أو نادٍ</a:t>
            </a:r>
          </a:p>
        </p:txBody>
      </p:sp>
      <p:pic>
        <p:nvPicPr>
          <p:cNvPr id="34" name="Icon Check 33" descr="icon058.png"/>
          <p:cNvPicPr>
            <a:picLocks noChangeAspect="1"/>
          </p:cNvPicPr>
          <p:nvPr/>
        </p:nvPicPr>
        <p:blipFill>
          <a:blip r:embed="rId2"/>
          <a:stretch>
            <a:fillRect/>
          </a:stretch>
        </p:blipFill>
        <p:spPr>
          <a:xfrm>
            <a:off x="4972050" y="3276501"/>
            <a:ext cx="177800" cy="177800"/>
          </a:xfrm>
          <a:prstGeom prst="rect">
            <a:avLst/>
          </a:prstGeom>
        </p:spPr>
      </p:pic>
      <p:sp>
        <p:nvSpPr>
          <p:cNvPr id="35" name="Text 34"/>
          <p:cNvSpPr txBox="1"/>
          <p:nvPr/>
        </p:nvSpPr>
        <p:spPr>
          <a:xfrm>
            <a:off x="838200" y="3249069"/>
            <a:ext cx="40576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F3EFE6"/>
                </a:solidFill>
                <a:latin typeface="IBM Plex Sans Arabic"/>
                <a:ea typeface="IBM Plex Sans Arabic"/>
                <a:cs typeface="IBM Plex Sans Arabic"/>
              </a:rPr>
              <a:t>Capstone:</a:t>
            </a:r>
            <a:r>
              <a:rPr sz="1200" b="0" i="0" lang="ar-SA" altLang="en-US">
                <a:solidFill>
                  <a:srgbClr val="F3EFE6"/>
                </a:solidFill>
                <a:latin typeface="IBM Plex Sans Arabic"/>
                <a:ea typeface="IBM Plex Sans Arabic"/>
                <a:cs typeface="IBM Plex Sans Arabic"/>
              </a:rPr>
              <a:t> مشروع التخرج إن كان قريباً</a:t>
            </a:r>
          </a:p>
        </p:txBody>
      </p:sp>
      <p:sp>
        <p:nvSpPr>
          <p:cNvPr id="36" name="Text box 35"/>
          <p:cNvSpPr/>
          <p:nvPr/>
        </p:nvSpPr>
        <p:spPr>
          <a:xfrm>
            <a:off x="990600" y="3893443"/>
            <a:ext cx="4159250" cy="303510"/>
          </a:xfrm>
          <a:prstGeom prst="rect">
            <a:avLst/>
          </a:prstGeom>
          <a:noFill/>
          <a:ln>
            <a:noFill/>
          </a:ln>
        </p:spPr>
        <p:txBody>
          <a:bodyPr rtlCol="0" anchor="ctr" wrap="square" tIns="55118" rIns="0" bIns="27432" lIns="0" anchorCtr="0">
            <a:noAutofit/>
          </a:bodyPr>
          <a:lstStyle/>
          <a:p>
            <a:pPr algn="r" rtl="1">
              <a:lnSpc>
                <a:spcPts val="1739"/>
              </a:lnSpc>
              <a:spcBef>
                <a:spcPts val="0"/>
              </a:spcBef>
              <a:spcAft>
                <a:spcPts val="0"/>
              </a:spcAft>
            </a:pPr>
            <a:r>
              <a:rPr sz="1200" b="0" i="0" lang="ar-SA" altLang="en-US">
                <a:solidFill>
                  <a:srgbClr val="B9C4CC"/>
                </a:solidFill>
                <a:latin typeface="IBM Plex Sans Arabic"/>
                <a:ea typeface="IBM Plex Sans Arabic"/>
                <a:cs typeface="IBM Plex Sans Arabic"/>
              </a:rPr>
              <a:t>كل ما تكتبه حقيقي وتستطيع شرحه في المقابلة.</a:t>
            </a:r>
          </a:p>
        </p:txBody>
      </p:sp>
      <p:sp>
        <p:nvSpPr>
          <p:cNvPr id="37" name="Rule 36"/>
          <p:cNvSpPr/>
          <p:nvPr/>
        </p:nvSpPr>
        <p:spPr>
          <a:xfrm>
            <a:off x="990600" y="3893443"/>
            <a:ext cx="4159250" cy="6350"/>
          </a:xfrm>
          <a:prstGeom prst="rect">
            <a:avLst/>
          </a:prstGeom>
          <a:solidFill>
            <a:srgbClr val="34485F"/>
          </a:solidFill>
          <a:ln>
            <a:noFill/>
          </a:ln>
        </p:spPr>
        <p:txBody>
          <a:bodyPr rtlCol="0" anchor="ctr"/>
          <a:lstStyle/>
          <a:p>
            <a:pPr algn="ctr"/>
          </a:p>
        </p:txBody>
      </p:sp>
      <p:sp>
        <p:nvSpPr>
          <p:cNvPr id="38" name="Text 37"/>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07 · السيرة الذاتية</a:t>
            </a:r>
          </a:p>
        </p:txBody>
      </p:sp>
      <p:sp>
        <p:nvSpPr>
          <p:cNvPr id="39" name="Text 38"/>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589294" y="812800"/>
            <a:ext cx="1789906"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07 · السيرة الذاتية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ثمانية أخطاء شائعة، وتصحيح كل منها</a:t>
            </a:r>
          </a:p>
        </p:txBody>
      </p:sp>
      <p:graphicFrame>
        <p:nvGraphicFramePr>
          <p:cNvPr id="5" name="Table 4"/>
          <p:cNvGraphicFramePr>
            <a:graphicFrameLocks noGrp="1"/>
          </p:cNvGraphicFramePr>
          <p:nvPr/>
        </p:nvGraphicFramePr>
        <p:xfrm>
          <a:off x="815975" y="1835745"/>
          <a:ext cx="10560050" cy="2936079"/>
        </p:xfrm>
        <a:graphic>
          <a:graphicData uri="http://schemas.openxmlformats.org/drawingml/2006/table">
            <a:tbl>
              <a:tblPr firstRow="0" bandRow="0" lastRow="0" firstCol="0" lastCol="0" bandCol="0">
                <a:tableStyleId>{2D5ABB26-0587-4C30-8999-92F81FD0307C}</a:tableStyleId>
              </a:tblPr>
              <a:tblGrid>
                <a:gridCol w="5490845"/>
                <a:gridCol w="5069205"/>
              </a:tblGrid>
              <a:tr h="326231">
                <a:tc>
                  <a:txBody>
                    <a:bodyPr wrap="square"/>
                    <a:lstStyle/>
                    <a:p>
                      <a:pPr algn="r" rtl="1">
                        <a:lnSpc>
                          <a:spcPts val="1680"/>
                        </a:lnSpc>
                        <a:spcBef>
                          <a:spcPts val="0"/>
                        </a:spcBef>
                        <a:spcAft>
                          <a:spcPts val="0"/>
                        </a:spcAft>
                      </a:pPr>
                      <a:r>
                        <a:rPr sz="1200" b="1" i="0" lang="ar-SA" altLang="en-US">
                          <a:solidFill>
                            <a:srgbClr val="F3EFE6"/>
                          </a:solidFill>
                          <a:latin typeface="IBM Plex Sans Arabic"/>
                          <a:ea typeface="IBM Plex Sans Arabic"/>
                          <a:cs typeface="IBM Plex Sans Arabic"/>
                        </a:rPr>
                        <a:t>التصحيح</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680"/>
                        </a:lnSpc>
                        <a:spcBef>
                          <a:spcPts val="0"/>
                        </a:spcBef>
                        <a:spcAft>
                          <a:spcPts val="0"/>
                        </a:spcAft>
                      </a:pPr>
                      <a:r>
                        <a:rPr sz="1200" b="1" i="0" lang="ar-SA" altLang="en-US">
                          <a:solidFill>
                            <a:srgbClr val="F3EFE6"/>
                          </a:solidFill>
                          <a:latin typeface="IBM Plex Sans Arabic"/>
                          <a:ea typeface="IBM Plex Sans Arabic"/>
                          <a:cs typeface="IBM Plex Sans Arabic"/>
                        </a:rPr>
                        <a:t>الخطأ</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326231">
                <a:tc>
                  <a:txBody>
                    <a:bodyPr wrap="square"/>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صفحة واحدة للمبتدئ، وصفحتان كحد أقصى مع الخبرة</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680"/>
                        </a:lnSpc>
                        <a:spcBef>
                          <a:spcPts val="0"/>
                        </a:spcBef>
                        <a:spcAft>
                          <a:spcPts val="0"/>
                        </a:spcAft>
                      </a:pPr>
                      <a:r>
                        <a:rPr sz="1200" b="1" i="0" lang="ar-SA" altLang="en-US">
                          <a:solidFill>
                            <a:srgbClr val="172433"/>
                          </a:solidFill>
                          <a:latin typeface="IBM Plex Sans Arabic"/>
                          <a:ea typeface="IBM Plex Sans Arabic"/>
                          <a:cs typeface="IBM Plex Sans Arabic"/>
                        </a:rPr>
                        <a:t>سيرة من ثلاث صفحات أو أكثر</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26231">
                <a:tc>
                  <a:txBody>
                    <a:bodyPr wrap="square"/>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فعل + ما فعلت + طريقة + نتيجة</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680"/>
                        </a:lnSpc>
                        <a:spcBef>
                          <a:spcPts val="0"/>
                        </a:spcBef>
                        <a:spcAft>
                          <a:spcPts val="0"/>
                        </a:spcAft>
                      </a:pPr>
                      <a:r>
                        <a:rPr sz="1200" b="1" i="0" lang="ar-SA" altLang="en-US">
                          <a:solidFill>
                            <a:srgbClr val="172433"/>
                          </a:solidFill>
                          <a:latin typeface="IBM Plex Sans Arabic"/>
                          <a:ea typeface="IBM Plex Sans Arabic"/>
                          <a:cs typeface="IBM Plex Sans Arabic"/>
                        </a:rPr>
                        <a:t>«Responsible for…» في كل سطر</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26231">
                <a:tc>
                  <a:txBody>
                    <a:bodyPr wrap="square"/>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مدقق إملائي، ثم قراءة شخص آخر</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680"/>
                        </a:lnSpc>
                        <a:spcBef>
                          <a:spcPts val="0"/>
                        </a:spcBef>
                        <a:spcAft>
                          <a:spcPts val="0"/>
                        </a:spcAft>
                      </a:pPr>
                      <a:r>
                        <a:rPr sz="1200" b="1" i="0" lang="ar-SA" altLang="en-US">
                          <a:solidFill>
                            <a:srgbClr val="172433"/>
                          </a:solidFill>
                          <a:latin typeface="IBM Plex Sans Arabic"/>
                          <a:ea typeface="IBM Plex Sans Arabic"/>
                          <a:cs typeface="IBM Plex Sans Arabic"/>
                        </a:rPr>
                        <a:t>أخطاء إملائية في وظيفة تقوم على الدقة</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26231">
                <a:tc>
                  <a:txBody>
                    <a:bodyPr wrap="square"/>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عدّل الملخص والمهارات لكل إعلان مهم</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680"/>
                        </a:lnSpc>
                        <a:spcBef>
                          <a:spcPts val="0"/>
                        </a:spcBef>
                        <a:spcAft>
                          <a:spcPts val="0"/>
                        </a:spcAft>
                      </a:pPr>
                      <a:r>
                        <a:rPr sz="1200" b="1" i="0" lang="ar-SA" altLang="en-US">
                          <a:solidFill>
                            <a:srgbClr val="172433"/>
                          </a:solidFill>
                          <a:latin typeface="IBM Plex Sans Arabic"/>
                          <a:ea typeface="IBM Plex Sans Arabic"/>
                          <a:cs typeface="IBM Plex Sans Arabic"/>
                        </a:rPr>
                        <a:t>نسخة واحدة لكل الإعلانات</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26231">
                <a:tc>
                  <a:txBody>
                    <a:bodyPr wrap="square"/>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ما حصلت عليه فقط، أو «قيد الدراسة» مع موعد</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680"/>
                        </a:lnSpc>
                        <a:spcBef>
                          <a:spcPts val="0"/>
                        </a:spcBef>
                        <a:spcAft>
                          <a:spcPts val="0"/>
                        </a:spcAft>
                      </a:pPr>
                      <a:r>
                        <a:rPr sz="1200" b="1" i="0" lang="ar-SA" altLang="en-US">
                          <a:solidFill>
                            <a:srgbClr val="172433"/>
                          </a:solidFill>
                          <a:latin typeface="IBM Plex Sans Arabic"/>
                          <a:ea typeface="IBM Plex Sans Arabic"/>
                          <a:cs typeface="IBM Plex Sans Arabic"/>
                        </a:rPr>
                        <a:t>شهادة لم تحصل عليها</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26231">
                <a:tc>
                  <a:txBody>
                    <a:bodyPr wrap="square"/>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مهارة مع دليل: مشروع، أو رقم، أو نتيجة</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680"/>
                        </a:lnSpc>
                        <a:spcBef>
                          <a:spcPts val="0"/>
                        </a:spcBef>
                        <a:spcAft>
                          <a:spcPts val="0"/>
                        </a:spcAft>
                      </a:pPr>
                      <a:r>
                        <a:rPr sz="1200" b="1" i="0" lang="ar-SA" altLang="en-US">
                          <a:solidFill>
                            <a:srgbClr val="172433"/>
                          </a:solidFill>
                          <a:latin typeface="IBM Plex Sans Arabic"/>
                          <a:ea typeface="IBM Plex Sans Arabic"/>
                          <a:cs typeface="IBM Plex Sans Arabic"/>
                        </a:rPr>
                        <a:t>«Team player, hard worker» بلا دليل</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26231">
                <a:tc>
                  <a:txBody>
                    <a:bodyPr wrap="square"/>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بريد باسمك، ورابط LinkedIn مخصص</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680"/>
                        </a:lnSpc>
                        <a:spcBef>
                          <a:spcPts val="0"/>
                        </a:spcBef>
                        <a:spcAft>
                          <a:spcPts val="0"/>
                        </a:spcAft>
                      </a:pPr>
                      <a:r>
                        <a:rPr sz="1200" b="1" i="0" lang="ar-SA" altLang="en-US">
                          <a:solidFill>
                            <a:srgbClr val="172433"/>
                          </a:solidFill>
                          <a:latin typeface="IBM Plex Sans Arabic"/>
                          <a:ea typeface="IBM Plex Sans Arabic"/>
                          <a:cs typeface="IBM Plex Sans Arabic"/>
                        </a:rPr>
                        <a:t>بريد غير مهني أو قديم</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26231">
                <a:tc>
                  <a:txBody>
                    <a:bodyPr wrap="square"/>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الاسم والمدينة ووسائل التواصل تكفي</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680"/>
                        </a:lnSpc>
                        <a:spcBef>
                          <a:spcPts val="0"/>
                        </a:spcBef>
                        <a:spcAft>
                          <a:spcPts val="0"/>
                        </a:spcAft>
                      </a:pPr>
                      <a:r>
                        <a:rPr sz="1200" b="1" i="0" lang="ar-SA" altLang="en-US">
                          <a:solidFill>
                            <a:srgbClr val="172433"/>
                          </a:solidFill>
                          <a:latin typeface="IBM Plex Sans Arabic"/>
                          <a:ea typeface="IBM Plex Sans Arabic"/>
                          <a:cs typeface="IBM Plex Sans Arabic"/>
                        </a:rPr>
                        <a:t>رقم الهوية أو الجواز في السيرة</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Text 5"/>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07 · السيرة الذاتية</a:t>
            </a:r>
          </a:p>
        </p:txBody>
      </p:sp>
      <p:sp>
        <p:nvSpPr>
          <p:cNvPr id="7" name="Text 6"/>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04201" y="2246610"/>
            <a:ext cx="2374999"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08</a:t>
            </a:r>
          </a:p>
        </p:txBody>
      </p:sp>
      <p:sp>
        <p:nvSpPr>
          <p:cNvPr id="4" name="Text 3"/>
          <p:cNvSpPr txBox="1"/>
          <p:nvPr/>
        </p:nvSpPr>
        <p:spPr>
          <a:xfrm>
            <a:off x="6339840" y="2668076"/>
            <a:ext cx="3172361" cy="731441"/>
          </a:xfrm>
          <a:prstGeom prst="rect">
            <a:avLst/>
          </a:prstGeom>
          <a:noFill/>
        </p:spPr>
        <p:txBody>
          <a:bodyPr wrap="square" tIns="0" rIns="0" bIns="0" lIns="0" anchor="t" rtlCol="0" anchorCtr="0">
            <a:noAutofit/>
          </a:bodyPr>
          <a:lstStyle/>
          <a:p>
            <a:pPr algn="r">
              <a:lnSpc>
                <a:spcPts val="5760"/>
              </a:lnSpc>
              <a:spcBef>
                <a:spcPts val="0"/>
              </a:spcBef>
              <a:spcAft>
                <a:spcPts val="0"/>
              </a:spcAft>
            </a:pPr>
            <a:r>
              <a:rPr sz="4800" b="1" i="0">
                <a:solidFill>
                  <a:srgbClr val="F3EFE6"/>
                </a:solidFill>
                <a:latin typeface="Readex Pro"/>
                <a:ea typeface="Readex Pro"/>
                <a:cs typeface="Readex Pro"/>
              </a:rPr>
              <a:t>LinkedIn</a:t>
            </a:r>
          </a:p>
        </p:txBody>
      </p:sp>
      <p:sp>
        <p:nvSpPr>
          <p:cNvPr id="5" name="Text 4"/>
          <p:cNvSpPr txBox="1"/>
          <p:nvPr/>
        </p:nvSpPr>
        <p:spPr>
          <a:xfrm>
            <a:off x="101600" y="3564997"/>
            <a:ext cx="96012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lang="ar-SA" altLang="en-US">
                <a:solidFill>
                  <a:srgbClr val="D9E2E6"/>
                </a:solidFill>
                <a:latin typeface="IBM Plex Sans Arabic"/>
                <a:ea typeface="IBM Plex Sans Arabic"/>
                <a:cs typeface="IBM Plex Sans Arabic"/>
              </a:rPr>
              <a:t>ملفك على LinkedIn يعمل وأنت نائم: يجده مسؤول التوظيف حين يبحث، ويقرؤه قبل أن يتصل بك.</a:t>
            </a:r>
          </a:p>
        </p:txBody>
      </p:sp>
      <p:sp>
        <p:nvSpPr>
          <p:cNvPr id="6" name="Text box 5"/>
          <p:cNvSpPr/>
          <p:nvPr/>
        </p:nvSpPr>
        <p:spPr>
          <a:xfrm>
            <a:off x="9240937" y="4157960"/>
            <a:ext cx="1096863"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تشريح الملف</a:t>
            </a:r>
          </a:p>
        </p:txBody>
      </p:sp>
      <p:sp>
        <p:nvSpPr>
          <p:cNvPr id="7" name="Text box 6"/>
          <p:cNvSpPr/>
          <p:nvPr/>
        </p:nvSpPr>
        <p:spPr>
          <a:xfrm>
            <a:off x="7972127" y="4157960"/>
            <a:ext cx="1167209"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العنوان المهني</a:t>
            </a:r>
          </a:p>
        </p:txBody>
      </p:sp>
      <p:sp>
        <p:nvSpPr>
          <p:cNvPr id="8" name="Text box 7"/>
          <p:cNvSpPr/>
          <p:nvPr/>
        </p:nvSpPr>
        <p:spPr>
          <a:xfrm>
            <a:off x="6826349" y="4157960"/>
            <a:ext cx="1044178"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نبذة About</a:t>
            </a:r>
          </a:p>
        </p:txBody>
      </p:sp>
      <p:sp>
        <p:nvSpPr>
          <p:cNvPr id="9" name="Text box 8"/>
          <p:cNvSpPr/>
          <p:nvPr/>
        </p:nvSpPr>
        <p:spPr>
          <a:xfrm>
            <a:off x="5340846" y="4157960"/>
            <a:ext cx="1383903"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بناء الشبكة والنشر</a:t>
            </a:r>
          </a:p>
        </p:txBody>
      </p:sp>
      <p:sp>
        <p:nvSpPr>
          <p:cNvPr id="10" name="Text box 9"/>
          <p:cNvSpPr/>
          <p:nvPr/>
        </p:nvSpPr>
        <p:spPr>
          <a:xfrm>
            <a:off x="3751759" y="4157960"/>
            <a:ext cx="1487488"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البحث عن الوظائف</a:t>
            </a:r>
          </a:p>
        </p:txBody>
      </p:sp>
      <p:sp>
        <p:nvSpPr>
          <p:cNvPr id="11" name="Text 10"/>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93A3B1"/>
                </a:solidFill>
                <a:latin typeface="IBM Plex Sans Arabic"/>
                <a:ea typeface="IBM Plex Sans Arabic"/>
                <a:cs typeface="IBM Plex Sans Arabic"/>
              </a:rPr>
              <a:t>كيف تبدأ في GRC · الوحدة 08</a:t>
            </a:r>
          </a:p>
        </p:txBody>
      </p:sp>
      <p:sp>
        <p:nvSpPr>
          <p:cNvPr id="12" name="Text 11"/>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745762" y="812800"/>
            <a:ext cx="1633438"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08 · LinkedIn</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تشريح ملف مكتمل</a:t>
            </a:r>
          </a:p>
        </p:txBody>
      </p:sp>
      <p:sp>
        <p:nvSpPr>
          <p:cNvPr id="5" name="Text box 4"/>
          <p:cNvSpPr/>
          <p:nvPr/>
        </p:nvSpPr>
        <p:spPr>
          <a:xfrm>
            <a:off x="11163300" y="1781770"/>
            <a:ext cx="215900" cy="215900"/>
          </a:xfrm>
          <a:prstGeom prst="roundRect">
            <a:avLst>
              <a:gd name="adj" fmla="val 50000"/>
            </a:avLst>
          </a:prstGeom>
          <a:solidFill>
            <a:srgbClr val="0E7C6B"/>
          </a:solidFill>
          <a:ln>
            <a:noFill/>
          </a:ln>
        </p:spPr>
        <p:txBody>
          <a:bodyPr rtlCol="0" anchor="ctr" wrap="square" tIns="0" rIns="0" bIns="37592" lIns="0" anchorCtr="0">
            <a:noAutofit/>
          </a:bodyPr>
          <a:lstStyle/>
          <a:p>
            <a:pPr algn="ctr">
              <a:lnSpc>
                <a:spcPts val="1700"/>
              </a:lnSpc>
              <a:spcBef>
                <a:spcPts val="0"/>
              </a:spcBef>
              <a:spcAft>
                <a:spcPts val="0"/>
              </a:spcAft>
            </a:pPr>
            <a:r>
              <a:rPr sz="1200" b="1" i="0">
                <a:solidFill>
                  <a:srgbClr val="FFFFFF"/>
                </a:solidFill>
                <a:latin typeface="Readex Pro"/>
                <a:ea typeface="Readex Pro"/>
                <a:cs typeface="Readex Pro"/>
              </a:rPr>
              <a:t>1</a:t>
            </a:r>
          </a:p>
        </p:txBody>
      </p:sp>
      <p:sp>
        <p:nvSpPr>
          <p:cNvPr id="6" name="Text 5"/>
          <p:cNvSpPr txBox="1"/>
          <p:nvPr/>
        </p:nvSpPr>
        <p:spPr>
          <a:xfrm>
            <a:off x="7725283" y="1754338"/>
            <a:ext cx="3361817"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الصورة:</a:t>
            </a:r>
            <a:r>
              <a:rPr sz="1200" b="0" i="0" lang="ar-SA" altLang="en-US">
                <a:solidFill>
                  <a:srgbClr val="172433"/>
                </a:solidFill>
                <a:latin typeface="IBM Plex Sans Arabic"/>
                <a:ea typeface="IBM Plex Sans Arabic"/>
                <a:cs typeface="IBM Plex Sans Arabic"/>
              </a:rPr>
              <a:t> وجه واضح وخلفية بسيطة. من 400×400 بكسل، حتى 8 ميغابايت.</a:t>
            </a:r>
          </a:p>
        </p:txBody>
      </p:sp>
      <p:sp>
        <p:nvSpPr>
          <p:cNvPr id="7" name="Text box 6"/>
          <p:cNvSpPr/>
          <p:nvPr/>
        </p:nvSpPr>
        <p:spPr>
          <a:xfrm>
            <a:off x="11163300" y="2299891"/>
            <a:ext cx="215900" cy="215900"/>
          </a:xfrm>
          <a:prstGeom prst="roundRect">
            <a:avLst>
              <a:gd name="adj" fmla="val 50000"/>
            </a:avLst>
          </a:prstGeom>
          <a:solidFill>
            <a:srgbClr val="0E7C6B"/>
          </a:solidFill>
          <a:ln>
            <a:noFill/>
          </a:ln>
        </p:spPr>
        <p:txBody>
          <a:bodyPr rtlCol="0" anchor="ctr" wrap="square" tIns="0" rIns="0" bIns="37592" lIns="0" anchorCtr="0">
            <a:noAutofit/>
          </a:bodyPr>
          <a:lstStyle/>
          <a:p>
            <a:pPr algn="ctr">
              <a:lnSpc>
                <a:spcPts val="1700"/>
              </a:lnSpc>
              <a:spcBef>
                <a:spcPts val="0"/>
              </a:spcBef>
              <a:spcAft>
                <a:spcPts val="0"/>
              </a:spcAft>
            </a:pPr>
            <a:r>
              <a:rPr sz="1200" b="1" i="0">
                <a:solidFill>
                  <a:srgbClr val="FFFFFF"/>
                </a:solidFill>
                <a:latin typeface="Readex Pro"/>
                <a:ea typeface="Readex Pro"/>
                <a:cs typeface="Readex Pro"/>
              </a:rPr>
              <a:t>2</a:t>
            </a:r>
          </a:p>
        </p:txBody>
      </p:sp>
      <p:sp>
        <p:nvSpPr>
          <p:cNvPr id="8" name="Text 7"/>
          <p:cNvSpPr txBox="1"/>
          <p:nvPr/>
        </p:nvSpPr>
        <p:spPr>
          <a:xfrm>
            <a:off x="7562088" y="2272459"/>
            <a:ext cx="3525012"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الخلفية:</a:t>
            </a:r>
            <a:r>
              <a:rPr sz="1200" b="0" i="0" lang="ar-SA" altLang="en-US">
                <a:solidFill>
                  <a:srgbClr val="172433"/>
                </a:solidFill>
                <a:latin typeface="IBM Plex Sans Arabic"/>
                <a:ea typeface="IBM Plex Sans Arabic"/>
                <a:cs typeface="IBM Plex Sans Arabic"/>
              </a:rPr>
              <a:t> المقاس الموصى به 1584×396 بكسل.</a:t>
            </a:r>
          </a:p>
        </p:txBody>
      </p:sp>
      <p:sp>
        <p:nvSpPr>
          <p:cNvPr id="9" name="Text box 8"/>
          <p:cNvSpPr/>
          <p:nvPr/>
        </p:nvSpPr>
        <p:spPr>
          <a:xfrm>
            <a:off x="11163300" y="2597051"/>
            <a:ext cx="215900" cy="215900"/>
          </a:xfrm>
          <a:prstGeom prst="roundRect">
            <a:avLst>
              <a:gd name="adj" fmla="val 50000"/>
            </a:avLst>
          </a:prstGeom>
          <a:solidFill>
            <a:srgbClr val="0E7C6B"/>
          </a:solidFill>
          <a:ln>
            <a:noFill/>
          </a:ln>
        </p:spPr>
        <p:txBody>
          <a:bodyPr rtlCol="0" anchor="ctr" wrap="square" tIns="0" rIns="0" bIns="37592" lIns="0" anchorCtr="0">
            <a:noAutofit/>
          </a:bodyPr>
          <a:lstStyle/>
          <a:p>
            <a:pPr algn="ctr">
              <a:lnSpc>
                <a:spcPts val="1700"/>
              </a:lnSpc>
              <a:spcBef>
                <a:spcPts val="0"/>
              </a:spcBef>
              <a:spcAft>
                <a:spcPts val="0"/>
              </a:spcAft>
            </a:pPr>
            <a:r>
              <a:rPr sz="1200" b="1" i="0">
                <a:solidFill>
                  <a:srgbClr val="FFFFFF"/>
                </a:solidFill>
                <a:latin typeface="Readex Pro"/>
                <a:ea typeface="Readex Pro"/>
                <a:cs typeface="Readex Pro"/>
              </a:rPr>
              <a:t>3</a:t>
            </a:r>
          </a:p>
        </p:txBody>
      </p:sp>
      <p:sp>
        <p:nvSpPr>
          <p:cNvPr id="10" name="Text 9"/>
          <p:cNvSpPr txBox="1"/>
          <p:nvPr/>
        </p:nvSpPr>
        <p:spPr>
          <a:xfrm>
            <a:off x="7725283" y="2569619"/>
            <a:ext cx="3361817"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العنوان المهني:</a:t>
            </a:r>
            <a:r>
              <a:rPr sz="1200" b="0" i="0" lang="ar-SA" altLang="en-US">
                <a:solidFill>
                  <a:srgbClr val="172433"/>
                </a:solidFill>
                <a:latin typeface="IBM Plex Sans Arabic"/>
                <a:ea typeface="IBM Plex Sans Arabic"/>
                <a:cs typeface="IBM Plex Sans Arabic"/>
              </a:rPr>
              <a:t> الوظيفة المستهدفة وكلماتها، لا «طالب» فقط.</a:t>
            </a:r>
          </a:p>
        </p:txBody>
      </p:sp>
      <p:sp>
        <p:nvSpPr>
          <p:cNvPr id="11" name="Text box 10"/>
          <p:cNvSpPr/>
          <p:nvPr/>
        </p:nvSpPr>
        <p:spPr>
          <a:xfrm>
            <a:off x="11163300" y="3115171"/>
            <a:ext cx="215900" cy="215900"/>
          </a:xfrm>
          <a:prstGeom prst="roundRect">
            <a:avLst>
              <a:gd name="adj" fmla="val 50000"/>
            </a:avLst>
          </a:prstGeom>
          <a:solidFill>
            <a:srgbClr val="0E7C6B"/>
          </a:solidFill>
          <a:ln>
            <a:noFill/>
          </a:ln>
        </p:spPr>
        <p:txBody>
          <a:bodyPr rtlCol="0" anchor="ctr" wrap="square" tIns="0" rIns="0" bIns="37592" lIns="0" anchorCtr="0">
            <a:noAutofit/>
          </a:bodyPr>
          <a:lstStyle/>
          <a:p>
            <a:pPr algn="ctr">
              <a:lnSpc>
                <a:spcPts val="1700"/>
              </a:lnSpc>
              <a:spcBef>
                <a:spcPts val="0"/>
              </a:spcBef>
              <a:spcAft>
                <a:spcPts val="0"/>
              </a:spcAft>
            </a:pPr>
            <a:r>
              <a:rPr sz="1200" b="1" i="0">
                <a:solidFill>
                  <a:srgbClr val="FFFFFF"/>
                </a:solidFill>
                <a:latin typeface="Readex Pro"/>
                <a:ea typeface="Readex Pro"/>
                <a:cs typeface="Readex Pro"/>
              </a:rPr>
              <a:t>4</a:t>
            </a:r>
          </a:p>
        </p:txBody>
      </p:sp>
      <p:sp>
        <p:nvSpPr>
          <p:cNvPr id="12" name="Text 11"/>
          <p:cNvSpPr txBox="1"/>
          <p:nvPr/>
        </p:nvSpPr>
        <p:spPr>
          <a:xfrm>
            <a:off x="7562088" y="3087739"/>
            <a:ext cx="3525012"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رابط مخصص:</a:t>
            </a:r>
            <a:r>
              <a:rPr sz="1200" b="0" i="0" lang="ar-SA" altLang="en-US">
                <a:solidFill>
                  <a:srgbClr val="172433"/>
                </a:solidFill>
                <a:latin typeface="IBM Plex Sans Arabic"/>
                <a:ea typeface="IBM Plex Sans Arabic"/>
                <a:cs typeface="IBM Plex Sans Arabic"/>
              </a:rPr>
              <a:t> من 3 إلى 100 حرف، بلا مسافات ولا رموز.</a:t>
            </a:r>
          </a:p>
        </p:txBody>
      </p:sp>
      <p:sp>
        <p:nvSpPr>
          <p:cNvPr id="13" name="Text box 12"/>
          <p:cNvSpPr/>
          <p:nvPr/>
        </p:nvSpPr>
        <p:spPr>
          <a:xfrm>
            <a:off x="11163300" y="3412331"/>
            <a:ext cx="215900" cy="215900"/>
          </a:xfrm>
          <a:prstGeom prst="roundRect">
            <a:avLst>
              <a:gd name="adj" fmla="val 50000"/>
            </a:avLst>
          </a:prstGeom>
          <a:solidFill>
            <a:srgbClr val="0E7C6B"/>
          </a:solidFill>
          <a:ln>
            <a:noFill/>
          </a:ln>
        </p:spPr>
        <p:txBody>
          <a:bodyPr rtlCol="0" anchor="ctr" wrap="square" tIns="0" rIns="0" bIns="37592" lIns="0" anchorCtr="0">
            <a:noAutofit/>
          </a:bodyPr>
          <a:lstStyle/>
          <a:p>
            <a:pPr algn="ctr">
              <a:lnSpc>
                <a:spcPts val="1700"/>
              </a:lnSpc>
              <a:spcBef>
                <a:spcPts val="0"/>
              </a:spcBef>
              <a:spcAft>
                <a:spcPts val="0"/>
              </a:spcAft>
            </a:pPr>
            <a:r>
              <a:rPr sz="1200" b="1" i="0">
                <a:solidFill>
                  <a:srgbClr val="FFFFFF"/>
                </a:solidFill>
                <a:latin typeface="Readex Pro"/>
                <a:ea typeface="Readex Pro"/>
                <a:cs typeface="Readex Pro"/>
              </a:rPr>
              <a:t>5</a:t>
            </a:r>
          </a:p>
        </p:txBody>
      </p:sp>
      <p:sp>
        <p:nvSpPr>
          <p:cNvPr id="14" name="Text 13"/>
          <p:cNvSpPr txBox="1"/>
          <p:nvPr/>
        </p:nvSpPr>
        <p:spPr>
          <a:xfrm>
            <a:off x="7562088" y="3384899"/>
            <a:ext cx="3525012"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Featured:</a:t>
            </a:r>
            <a:r>
              <a:rPr sz="1200" b="0" i="0" lang="ar-SA" altLang="en-US">
                <a:solidFill>
                  <a:srgbClr val="172433"/>
                </a:solidFill>
                <a:latin typeface="IBM Plex Sans Arabic"/>
                <a:ea typeface="IBM Plex Sans Arabic"/>
                <a:cs typeface="IBM Plex Sans Arabic"/>
              </a:rPr>
              <a:t> مشاريعك من الوحدة 6 أعلى الملف.</a:t>
            </a:r>
          </a:p>
        </p:txBody>
      </p:sp>
      <p:sp>
        <p:nvSpPr>
          <p:cNvPr id="15" name="Text box 14"/>
          <p:cNvSpPr/>
          <p:nvPr/>
        </p:nvSpPr>
        <p:spPr>
          <a:xfrm>
            <a:off x="11163300" y="3709491"/>
            <a:ext cx="215900" cy="215900"/>
          </a:xfrm>
          <a:prstGeom prst="roundRect">
            <a:avLst>
              <a:gd name="adj" fmla="val 50000"/>
            </a:avLst>
          </a:prstGeom>
          <a:solidFill>
            <a:srgbClr val="0E7C6B"/>
          </a:solidFill>
          <a:ln>
            <a:noFill/>
          </a:ln>
        </p:spPr>
        <p:txBody>
          <a:bodyPr rtlCol="0" anchor="ctr" wrap="square" tIns="0" rIns="0" bIns="37592" lIns="0" anchorCtr="0">
            <a:noAutofit/>
          </a:bodyPr>
          <a:lstStyle/>
          <a:p>
            <a:pPr algn="ctr">
              <a:lnSpc>
                <a:spcPts val="1700"/>
              </a:lnSpc>
              <a:spcBef>
                <a:spcPts val="0"/>
              </a:spcBef>
              <a:spcAft>
                <a:spcPts val="0"/>
              </a:spcAft>
            </a:pPr>
            <a:r>
              <a:rPr sz="1200" b="1" i="0">
                <a:solidFill>
                  <a:srgbClr val="FFFFFF"/>
                </a:solidFill>
                <a:latin typeface="Readex Pro"/>
                <a:ea typeface="Readex Pro"/>
                <a:cs typeface="Readex Pro"/>
              </a:rPr>
              <a:t>6</a:t>
            </a:r>
          </a:p>
        </p:txBody>
      </p:sp>
      <p:sp>
        <p:nvSpPr>
          <p:cNvPr id="16" name="Text 15"/>
          <p:cNvSpPr txBox="1"/>
          <p:nvPr/>
        </p:nvSpPr>
        <p:spPr>
          <a:xfrm>
            <a:off x="7562088" y="3682059"/>
            <a:ext cx="3525012"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المهارات:</a:t>
            </a:r>
            <a:r>
              <a:rPr sz="1200" b="0" i="0" lang="ar-SA" altLang="en-US">
                <a:solidFill>
                  <a:srgbClr val="172433"/>
                </a:solidFill>
                <a:latin typeface="IBM Plex Sans Arabic"/>
                <a:ea typeface="IBM Plex Sans Arabic"/>
                <a:cs typeface="IBM Plex Sans Arabic"/>
              </a:rPr>
              <a:t> حتى 100 مهارة. ضع أهمها في الأعلى.</a:t>
            </a:r>
          </a:p>
        </p:txBody>
      </p:sp>
      <p:sp>
        <p:nvSpPr>
          <p:cNvPr id="17" name="Box 16"/>
          <p:cNvSpPr/>
          <p:nvPr/>
        </p:nvSpPr>
        <p:spPr>
          <a:xfrm>
            <a:off x="815975" y="1784945"/>
            <a:ext cx="6775450" cy="3725069"/>
          </a:xfrm>
          <a:prstGeom prst="roundRect">
            <a:avLst>
              <a:gd name="adj" fmla="val 2382"/>
            </a:avLst>
          </a:prstGeom>
          <a:solidFill>
            <a:srgbClr val="FFFFFF"/>
          </a:solidFill>
          <a:ln w="6350">
            <a:solidFill>
              <a:srgbClr val="D9D2C2"/>
            </a:solidFill>
          </a:ln>
        </p:spPr>
        <p:txBody>
          <a:bodyPr rtlCol="0" anchor="ctr"/>
          <a:lstStyle/>
          <a:p>
            <a:pPr algn="ctr"/>
          </a:p>
        </p:txBody>
      </p:sp>
      <p:sp>
        <p:nvSpPr>
          <p:cNvPr id="18" name="Text 17"/>
          <p:cNvSpPr txBox="1"/>
          <p:nvPr/>
        </p:nvSpPr>
        <p:spPr>
          <a:xfrm>
            <a:off x="4342789" y="2146284"/>
            <a:ext cx="2775561"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F3EFE6"/>
                </a:solidFill>
                <a:latin typeface="Readex Pro"/>
                <a:ea typeface="Readex Pro"/>
                <a:cs typeface="Readex Pro"/>
              </a:rPr>
              <a:t>Governance · Risk · Compliance</a:t>
            </a:r>
          </a:p>
        </p:txBody>
      </p:sp>
      <p:sp>
        <p:nvSpPr>
          <p:cNvPr id="19" name="Text box 18"/>
          <p:cNvSpPr/>
          <p:nvPr/>
        </p:nvSpPr>
        <p:spPr>
          <a:xfrm>
            <a:off x="7194550" y="2169120"/>
            <a:ext cx="190500" cy="190500"/>
          </a:xfrm>
          <a:prstGeom prst="roundRect">
            <a:avLst>
              <a:gd name="adj" fmla="val 50000"/>
            </a:avLst>
          </a:prstGeom>
          <a:solidFill>
            <a:srgbClr val="F2C46D"/>
          </a:solidFill>
          <a:ln>
            <a:noFill/>
          </a:ln>
        </p:spPr>
        <p:txBody>
          <a:bodyPr rtlCol="0" anchor="ctr" wrap="square" tIns="0" rIns="0" bIns="24384" lIns="0" anchorCtr="0">
            <a:noAutofit/>
          </a:bodyPr>
          <a:lstStyle/>
          <a:p>
            <a:pPr algn="ctr">
              <a:lnSpc>
                <a:spcPts val="1500"/>
              </a:lnSpc>
              <a:spcBef>
                <a:spcPts val="0"/>
              </a:spcBef>
              <a:spcAft>
                <a:spcPts val="0"/>
              </a:spcAft>
            </a:pPr>
            <a:r>
              <a:rPr sz="1200" b="1" i="0">
                <a:solidFill>
                  <a:srgbClr val="172433"/>
                </a:solidFill>
                <a:latin typeface="IBM Plex Sans Arabic"/>
                <a:ea typeface="IBM Plex Sans Arabic"/>
                <a:cs typeface="IBM Plex Sans Arabic"/>
              </a:rPr>
              <a:t>2</a:t>
            </a:r>
          </a:p>
        </p:txBody>
      </p:sp>
      <p:sp>
        <p:nvSpPr>
          <p:cNvPr id="20" name="Box 19"/>
          <p:cNvSpPr/>
          <p:nvPr/>
        </p:nvSpPr>
        <p:spPr>
          <a:xfrm>
            <a:off x="1066800" y="2315170"/>
            <a:ext cx="825500" cy="825500"/>
          </a:xfrm>
          <a:prstGeom prst="roundRect">
            <a:avLst>
              <a:gd name="adj" fmla="val 50000"/>
            </a:avLst>
          </a:prstGeom>
          <a:solidFill>
            <a:srgbClr val="DCEFEA"/>
          </a:solidFill>
          <a:ln w="38100">
            <a:solidFill>
              <a:srgbClr val="FFFFFF"/>
            </a:solidFill>
          </a:ln>
        </p:spPr>
        <p:txBody>
          <a:bodyPr rtlCol="0" anchor="ctr"/>
          <a:lstStyle/>
          <a:p>
            <a:pPr algn="ctr"/>
          </a:p>
        </p:txBody>
      </p:sp>
      <p:sp>
        <p:nvSpPr>
          <p:cNvPr id="21" name="Text 20"/>
          <p:cNvSpPr txBox="1"/>
          <p:nvPr/>
        </p:nvSpPr>
        <p:spPr>
          <a:xfrm>
            <a:off x="1293416" y="2611969"/>
            <a:ext cx="539810" cy="279400"/>
          </a:xfrm>
          <a:prstGeom prst="rect">
            <a:avLst/>
          </a:prstGeom>
          <a:noFill/>
        </p:spPr>
        <p:txBody>
          <a:bodyPr wrap="square" tIns="0" rIns="0" bIns="0" lIns="0" anchor="t" rtlCol="0" anchorCtr="0">
            <a:noAutofit/>
          </a:bodyPr>
          <a:lstStyle/>
          <a:p>
            <a:pPr algn="l">
              <a:lnSpc>
                <a:spcPts val="2200"/>
              </a:lnSpc>
              <a:spcBef>
                <a:spcPts val="0"/>
              </a:spcBef>
              <a:spcAft>
                <a:spcPts val="0"/>
              </a:spcAft>
            </a:pPr>
            <a:r>
              <a:rPr sz="2200" b="1" i="0">
                <a:solidFill>
                  <a:srgbClr val="0E7C6B"/>
                </a:solidFill>
                <a:latin typeface="Readex Pro"/>
                <a:ea typeface="Readex Pro"/>
                <a:cs typeface="Readex Pro"/>
              </a:rPr>
              <a:t>SA</a:t>
            </a:r>
          </a:p>
        </p:txBody>
      </p:sp>
      <p:sp>
        <p:nvSpPr>
          <p:cNvPr id="22" name="Text box 21"/>
          <p:cNvSpPr/>
          <p:nvPr/>
        </p:nvSpPr>
        <p:spPr>
          <a:xfrm>
            <a:off x="1771650" y="2905720"/>
            <a:ext cx="190500" cy="190500"/>
          </a:xfrm>
          <a:prstGeom prst="roundRect">
            <a:avLst>
              <a:gd name="adj" fmla="val 50000"/>
            </a:avLst>
          </a:prstGeom>
          <a:solidFill>
            <a:srgbClr val="F2C46D"/>
          </a:solidFill>
          <a:ln>
            <a:noFill/>
          </a:ln>
        </p:spPr>
        <p:txBody>
          <a:bodyPr rtlCol="0" anchor="ctr" wrap="square" tIns="0" rIns="0" bIns="24384" lIns="0" anchorCtr="0">
            <a:noAutofit/>
          </a:bodyPr>
          <a:lstStyle/>
          <a:p>
            <a:pPr algn="ctr">
              <a:lnSpc>
                <a:spcPts val="1500"/>
              </a:lnSpc>
              <a:spcBef>
                <a:spcPts val="0"/>
              </a:spcBef>
              <a:spcAft>
                <a:spcPts val="0"/>
              </a:spcAft>
            </a:pPr>
            <a:r>
              <a:rPr sz="1200" b="1" i="0">
                <a:solidFill>
                  <a:srgbClr val="172433"/>
                </a:solidFill>
                <a:latin typeface="IBM Plex Sans Arabic"/>
                <a:ea typeface="IBM Plex Sans Arabic"/>
                <a:cs typeface="IBM Plex Sans Arabic"/>
              </a:rPr>
              <a:t>1</a:t>
            </a:r>
          </a:p>
        </p:txBody>
      </p:sp>
      <p:sp>
        <p:nvSpPr>
          <p:cNvPr id="23" name="Text 22"/>
          <p:cNvSpPr txBox="1"/>
          <p:nvPr/>
        </p:nvSpPr>
        <p:spPr>
          <a:xfrm>
            <a:off x="1047750" y="3303484"/>
            <a:ext cx="6521450" cy="269875"/>
          </a:xfrm>
          <a:prstGeom prst="rect">
            <a:avLst/>
          </a:prstGeom>
          <a:noFill/>
        </p:spPr>
        <p:txBody>
          <a:bodyPr wrap="square" tIns="0" rIns="0" bIns="0" lIns="0" anchor="t" rtlCol="0" anchorCtr="0">
            <a:noAutofit/>
          </a:bodyPr>
          <a:lstStyle/>
          <a:p>
            <a:pPr algn="l">
              <a:lnSpc>
                <a:spcPts val="2125"/>
              </a:lnSpc>
              <a:spcBef>
                <a:spcPts val="0"/>
              </a:spcBef>
              <a:spcAft>
                <a:spcPts val="0"/>
              </a:spcAft>
            </a:pPr>
            <a:r>
              <a:rPr sz="1700" b="1" i="0">
                <a:solidFill>
                  <a:srgbClr val="1E2A36"/>
                </a:solidFill>
                <a:latin typeface="Readex Pro"/>
                <a:ea typeface="Readex Pro"/>
                <a:cs typeface="Readex Pro"/>
              </a:rPr>
              <a:t>Sara Ahmed</a:t>
            </a:r>
          </a:p>
        </p:txBody>
      </p:sp>
      <p:sp>
        <p:nvSpPr>
          <p:cNvPr id="24" name="Text 23"/>
          <p:cNvSpPr txBox="1"/>
          <p:nvPr/>
        </p:nvSpPr>
        <p:spPr>
          <a:xfrm>
            <a:off x="1047750" y="3616793"/>
            <a:ext cx="4902291"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0" i="0">
                <a:solidFill>
                  <a:srgbClr val="1E2A36"/>
                </a:solidFill>
                <a:latin typeface="IBM Plex Sans Arabic"/>
                <a:ea typeface="IBM Plex Sans Arabic"/>
                <a:cs typeface="IBM Plex Sans Arabic"/>
              </a:rPr>
              <a:t>Entry-Level GRC Analyst | Risk Assessment · ISO 27001 · NCA ECC</a:t>
            </a:r>
          </a:p>
        </p:txBody>
      </p:sp>
      <p:sp>
        <p:nvSpPr>
          <p:cNvPr id="25" name="Text box 24"/>
          <p:cNvSpPr/>
          <p:nvPr/>
        </p:nvSpPr>
        <p:spPr>
          <a:xfrm>
            <a:off x="5650409" y="3636566"/>
            <a:ext cx="190500" cy="190500"/>
          </a:xfrm>
          <a:prstGeom prst="roundRect">
            <a:avLst>
              <a:gd name="adj" fmla="val 50000"/>
            </a:avLst>
          </a:prstGeom>
          <a:solidFill>
            <a:srgbClr val="0E7C6B"/>
          </a:solidFill>
          <a:ln>
            <a:noFill/>
          </a:ln>
        </p:spPr>
        <p:txBody>
          <a:bodyPr rtlCol="0" anchor="ctr" wrap="square" tIns="0" rIns="0" bIns="24384" lIns="0" anchorCtr="0">
            <a:noAutofit/>
          </a:bodyPr>
          <a:lstStyle/>
          <a:p>
            <a:pPr algn="ctr">
              <a:lnSpc>
                <a:spcPts val="1500"/>
              </a:lnSpc>
              <a:spcBef>
                <a:spcPts val="0"/>
              </a:spcBef>
              <a:spcAft>
                <a:spcPts val="0"/>
              </a:spcAft>
            </a:pPr>
            <a:r>
              <a:rPr sz="1200" b="1" i="0">
                <a:solidFill>
                  <a:srgbClr val="FFFFFF"/>
                </a:solidFill>
                <a:latin typeface="IBM Plex Sans Arabic"/>
                <a:ea typeface="IBM Plex Sans Arabic"/>
                <a:cs typeface="IBM Plex Sans Arabic"/>
              </a:rPr>
              <a:t>3</a:t>
            </a:r>
          </a:p>
        </p:txBody>
      </p:sp>
      <p:sp>
        <p:nvSpPr>
          <p:cNvPr id="26" name="Text 25"/>
          <p:cNvSpPr txBox="1"/>
          <p:nvPr/>
        </p:nvSpPr>
        <p:spPr>
          <a:xfrm>
            <a:off x="1047750" y="3865634"/>
            <a:ext cx="3026200"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0" i="0">
                <a:solidFill>
                  <a:srgbClr val="5E6A75"/>
                </a:solidFill>
                <a:latin typeface="IBM Plex Sans Arabic"/>
                <a:ea typeface="IBM Plex Sans Arabic"/>
                <a:cs typeface="IBM Plex Sans Arabic"/>
              </a:rPr>
              <a:t>Riyadh · linkedin.com/in/sara-ahmed-grc</a:t>
            </a:r>
          </a:p>
        </p:txBody>
      </p:sp>
      <p:sp>
        <p:nvSpPr>
          <p:cNvPr id="27" name="Text box 26"/>
          <p:cNvSpPr/>
          <p:nvPr/>
        </p:nvSpPr>
        <p:spPr>
          <a:xfrm>
            <a:off x="3913287" y="3885406"/>
            <a:ext cx="190500" cy="190500"/>
          </a:xfrm>
          <a:prstGeom prst="roundRect">
            <a:avLst>
              <a:gd name="adj" fmla="val 50000"/>
            </a:avLst>
          </a:prstGeom>
          <a:solidFill>
            <a:srgbClr val="0E7C6B"/>
          </a:solidFill>
          <a:ln>
            <a:noFill/>
          </a:ln>
        </p:spPr>
        <p:txBody>
          <a:bodyPr rtlCol="0" anchor="ctr" wrap="square" tIns="0" rIns="0" bIns="24384" lIns="0" anchorCtr="0">
            <a:noAutofit/>
          </a:bodyPr>
          <a:lstStyle/>
          <a:p>
            <a:pPr algn="ctr">
              <a:lnSpc>
                <a:spcPts val="1500"/>
              </a:lnSpc>
              <a:spcBef>
                <a:spcPts val="0"/>
              </a:spcBef>
              <a:spcAft>
                <a:spcPts val="0"/>
              </a:spcAft>
            </a:pPr>
            <a:r>
              <a:rPr sz="1200" b="1" i="0">
                <a:solidFill>
                  <a:srgbClr val="FFFFFF"/>
                </a:solidFill>
                <a:latin typeface="IBM Plex Sans Arabic"/>
                <a:ea typeface="IBM Plex Sans Arabic"/>
                <a:cs typeface="IBM Plex Sans Arabic"/>
              </a:rPr>
              <a:t>4</a:t>
            </a:r>
          </a:p>
        </p:txBody>
      </p:sp>
      <p:sp>
        <p:nvSpPr>
          <p:cNvPr id="28" name="Text 27"/>
          <p:cNvSpPr txBox="1"/>
          <p:nvPr/>
        </p:nvSpPr>
        <p:spPr>
          <a:xfrm>
            <a:off x="1047750" y="4165275"/>
            <a:ext cx="735568"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1" i="0">
                <a:solidFill>
                  <a:srgbClr val="1E2A36"/>
                </a:solidFill>
                <a:latin typeface="IBM Plex Sans Arabic"/>
                <a:ea typeface="IBM Plex Sans Arabic"/>
                <a:cs typeface="IBM Plex Sans Arabic"/>
              </a:rPr>
              <a:t>Featured</a:t>
            </a:r>
          </a:p>
        </p:txBody>
      </p:sp>
      <p:sp>
        <p:nvSpPr>
          <p:cNvPr id="29" name="Text box 28"/>
          <p:cNvSpPr/>
          <p:nvPr/>
        </p:nvSpPr>
        <p:spPr>
          <a:xfrm>
            <a:off x="1755378" y="4185047"/>
            <a:ext cx="190500" cy="190500"/>
          </a:xfrm>
          <a:prstGeom prst="roundRect">
            <a:avLst>
              <a:gd name="adj" fmla="val 50000"/>
            </a:avLst>
          </a:prstGeom>
          <a:solidFill>
            <a:srgbClr val="0E7C6B"/>
          </a:solidFill>
          <a:ln>
            <a:noFill/>
          </a:ln>
        </p:spPr>
        <p:txBody>
          <a:bodyPr rtlCol="0" anchor="ctr" wrap="square" tIns="0" rIns="0" bIns="24384" lIns="0" anchorCtr="0">
            <a:noAutofit/>
          </a:bodyPr>
          <a:lstStyle/>
          <a:p>
            <a:pPr algn="ctr">
              <a:lnSpc>
                <a:spcPts val="1500"/>
              </a:lnSpc>
              <a:spcBef>
                <a:spcPts val="0"/>
              </a:spcBef>
              <a:spcAft>
                <a:spcPts val="0"/>
              </a:spcAft>
            </a:pPr>
            <a:r>
              <a:rPr sz="1200" b="1" i="0">
                <a:solidFill>
                  <a:srgbClr val="FFFFFF"/>
                </a:solidFill>
                <a:latin typeface="IBM Plex Sans Arabic"/>
                <a:ea typeface="IBM Plex Sans Arabic"/>
                <a:cs typeface="IBM Plex Sans Arabic"/>
              </a:rPr>
              <a:t>5</a:t>
            </a:r>
          </a:p>
        </p:txBody>
      </p:sp>
      <p:sp>
        <p:nvSpPr>
          <p:cNvPr id="30" name="Box 29"/>
          <p:cNvSpPr/>
          <p:nvPr/>
        </p:nvSpPr>
        <p:spPr>
          <a:xfrm>
            <a:off x="1047750" y="4430117"/>
            <a:ext cx="3111500" cy="561181"/>
          </a:xfrm>
          <a:prstGeom prst="roundRect">
            <a:avLst>
              <a:gd name="adj" fmla="val 11315"/>
            </a:avLst>
          </a:prstGeom>
          <a:solidFill>
            <a:srgbClr val="F1ECE1"/>
          </a:solidFill>
          <a:ln>
            <a:noFill/>
          </a:ln>
        </p:spPr>
        <p:txBody>
          <a:bodyPr rtlCol="0" anchor="ctr"/>
          <a:lstStyle/>
          <a:p>
            <a:pPr algn="ctr"/>
          </a:p>
        </p:txBody>
      </p:sp>
      <p:sp>
        <p:nvSpPr>
          <p:cNvPr id="31" name="Text 30"/>
          <p:cNvSpPr txBox="1"/>
          <p:nvPr/>
        </p:nvSpPr>
        <p:spPr>
          <a:xfrm>
            <a:off x="1149350" y="4490315"/>
            <a:ext cx="2984500"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1" i="0">
                <a:solidFill>
                  <a:srgbClr val="1E2A36"/>
                </a:solidFill>
                <a:latin typeface="IBM Plex Sans Arabic"/>
                <a:ea typeface="IBM Plex Sans Arabic"/>
                <a:cs typeface="IBM Plex Sans Arabic"/>
              </a:rPr>
              <a:t>Risk Register · PDF</a:t>
            </a:r>
          </a:p>
        </p:txBody>
      </p:sp>
      <p:sp>
        <p:nvSpPr>
          <p:cNvPr id="32" name="Text 31"/>
          <p:cNvSpPr txBox="1"/>
          <p:nvPr/>
        </p:nvSpPr>
        <p:spPr>
          <a:xfrm>
            <a:off x="1149350" y="4701056"/>
            <a:ext cx="2984500"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0" i="0">
                <a:solidFill>
                  <a:srgbClr val="5E6A75"/>
                </a:solidFill>
                <a:latin typeface="IBM Plex Sans Arabic"/>
                <a:ea typeface="IBM Plex Sans Arabic"/>
                <a:cs typeface="IBM Plex Sans Arabic"/>
              </a:rPr>
              <a:t>20 risks, fictional company</a:t>
            </a:r>
          </a:p>
        </p:txBody>
      </p:sp>
      <p:sp>
        <p:nvSpPr>
          <p:cNvPr id="33" name="Box 32"/>
          <p:cNvSpPr/>
          <p:nvPr/>
        </p:nvSpPr>
        <p:spPr>
          <a:xfrm>
            <a:off x="4248150" y="4430117"/>
            <a:ext cx="3111500" cy="561181"/>
          </a:xfrm>
          <a:prstGeom prst="roundRect">
            <a:avLst>
              <a:gd name="adj" fmla="val 11315"/>
            </a:avLst>
          </a:prstGeom>
          <a:solidFill>
            <a:srgbClr val="F1ECE1"/>
          </a:solidFill>
          <a:ln>
            <a:noFill/>
          </a:ln>
        </p:spPr>
        <p:txBody>
          <a:bodyPr rtlCol="0" anchor="ctr"/>
          <a:lstStyle/>
          <a:p>
            <a:pPr algn="ctr"/>
          </a:p>
        </p:txBody>
      </p:sp>
      <p:sp>
        <p:nvSpPr>
          <p:cNvPr id="34" name="Text 33"/>
          <p:cNvSpPr txBox="1"/>
          <p:nvPr/>
        </p:nvSpPr>
        <p:spPr>
          <a:xfrm>
            <a:off x="4349750" y="4490315"/>
            <a:ext cx="2984500"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1" i="0">
                <a:solidFill>
                  <a:srgbClr val="1E2A36"/>
                </a:solidFill>
                <a:latin typeface="IBM Plex Sans Arabic"/>
                <a:ea typeface="IBM Plex Sans Arabic"/>
                <a:cs typeface="IBM Plex Sans Arabic"/>
              </a:rPr>
              <a:t>ECC Gap Assessment</a:t>
            </a:r>
          </a:p>
        </p:txBody>
      </p:sp>
      <p:sp>
        <p:nvSpPr>
          <p:cNvPr id="35" name="Text 34"/>
          <p:cNvSpPr txBox="1"/>
          <p:nvPr/>
        </p:nvSpPr>
        <p:spPr>
          <a:xfrm>
            <a:off x="4349750" y="4701056"/>
            <a:ext cx="2984500"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0" i="0">
                <a:solidFill>
                  <a:srgbClr val="5E6A75"/>
                </a:solidFill>
                <a:latin typeface="IBM Plex Sans Arabic"/>
                <a:ea typeface="IBM Plex Sans Arabic"/>
                <a:cs typeface="IBM Plex Sans Arabic"/>
              </a:rPr>
              <a:t>Post · 5 findings explained</a:t>
            </a:r>
          </a:p>
        </p:txBody>
      </p:sp>
      <p:sp>
        <p:nvSpPr>
          <p:cNvPr id="36" name="Text box 35"/>
          <p:cNvSpPr/>
          <p:nvPr/>
        </p:nvSpPr>
        <p:spPr>
          <a:xfrm>
            <a:off x="1047750" y="5128419"/>
            <a:ext cx="190500" cy="190500"/>
          </a:xfrm>
          <a:prstGeom prst="roundRect">
            <a:avLst>
              <a:gd name="adj" fmla="val 50000"/>
            </a:avLst>
          </a:prstGeom>
          <a:solidFill>
            <a:srgbClr val="0E7C6B"/>
          </a:solidFill>
          <a:ln>
            <a:noFill/>
          </a:ln>
        </p:spPr>
        <p:txBody>
          <a:bodyPr rtlCol="0" anchor="ctr" wrap="square" tIns="0" rIns="0" bIns="24384" lIns="0" anchorCtr="0">
            <a:noAutofit/>
          </a:bodyPr>
          <a:lstStyle/>
          <a:p>
            <a:pPr algn="ctr">
              <a:lnSpc>
                <a:spcPts val="1500"/>
              </a:lnSpc>
              <a:spcBef>
                <a:spcPts val="0"/>
              </a:spcBef>
              <a:spcAft>
                <a:spcPts val="0"/>
              </a:spcAft>
            </a:pPr>
            <a:r>
              <a:rPr sz="1200" b="1" i="0">
                <a:solidFill>
                  <a:srgbClr val="FFFFFF"/>
                </a:solidFill>
                <a:latin typeface="IBM Plex Sans Arabic"/>
                <a:ea typeface="IBM Plex Sans Arabic"/>
                <a:cs typeface="IBM Plex Sans Arabic"/>
              </a:rPr>
              <a:t>6</a:t>
            </a:r>
          </a:p>
        </p:txBody>
      </p:sp>
      <p:sp>
        <p:nvSpPr>
          <p:cNvPr id="37" name="Text box 36"/>
          <p:cNvSpPr/>
          <p:nvPr/>
        </p:nvSpPr>
        <p:spPr>
          <a:xfrm>
            <a:off x="1304925" y="5096073"/>
            <a:ext cx="1343521" cy="255191"/>
          </a:xfrm>
          <a:prstGeom prst="roundRect">
            <a:avLst>
              <a:gd name="adj" fmla="val 50000"/>
            </a:avLst>
          </a:prstGeom>
          <a:noFill/>
          <a:ln w="6350">
            <a:solidFill>
              <a:srgbClr val="9FD1C5"/>
            </a:solidFill>
          </a:ln>
        </p:spPr>
        <p:txBody>
          <a:bodyPr rtlCol="0" anchor="ctr" wrap="square" tIns="0" rIns="0" bIns="32004" lIns="54704" anchorCtr="0">
            <a:noAutofit/>
          </a:bodyPr>
          <a:lstStyle/>
          <a:p>
            <a:pPr algn="l">
              <a:lnSpc>
                <a:spcPts val="1560"/>
              </a:lnSpc>
              <a:spcBef>
                <a:spcPts val="0"/>
              </a:spcBef>
              <a:spcAft>
                <a:spcPts val="0"/>
              </a:spcAft>
            </a:pPr>
            <a:r>
              <a:rPr sz="1200" b="0" i="0">
                <a:solidFill>
                  <a:srgbClr val="1E2A36"/>
                </a:solidFill>
                <a:latin typeface="IBM Plex Sans Arabic"/>
                <a:ea typeface="IBM Plex Sans Arabic"/>
                <a:cs typeface="IBM Plex Sans Arabic"/>
              </a:rPr>
              <a:t>Risk Assessment</a:t>
            </a:r>
          </a:p>
        </p:txBody>
      </p:sp>
      <p:sp>
        <p:nvSpPr>
          <p:cNvPr id="38" name="Text box 37"/>
          <p:cNvSpPr/>
          <p:nvPr/>
        </p:nvSpPr>
        <p:spPr>
          <a:xfrm>
            <a:off x="2718296" y="5096073"/>
            <a:ext cx="934740" cy="255191"/>
          </a:xfrm>
          <a:prstGeom prst="roundRect">
            <a:avLst>
              <a:gd name="adj" fmla="val 50000"/>
            </a:avLst>
          </a:prstGeom>
          <a:noFill/>
          <a:ln w="6350">
            <a:solidFill>
              <a:srgbClr val="9FD1C5"/>
            </a:solidFill>
          </a:ln>
        </p:spPr>
        <p:txBody>
          <a:bodyPr rtlCol="0" anchor="ctr" wrap="square" tIns="0" rIns="0" bIns="32004" lIns="54704" anchorCtr="0">
            <a:noAutofit/>
          </a:bodyPr>
          <a:lstStyle/>
          <a:p>
            <a:pPr algn="l">
              <a:lnSpc>
                <a:spcPts val="1560"/>
              </a:lnSpc>
              <a:spcBef>
                <a:spcPts val="0"/>
              </a:spcBef>
              <a:spcAft>
                <a:spcPts val="0"/>
              </a:spcAft>
            </a:pPr>
            <a:r>
              <a:rPr sz="1200" b="0" i="0">
                <a:solidFill>
                  <a:srgbClr val="1E2A36"/>
                </a:solidFill>
                <a:latin typeface="IBM Plex Sans Arabic"/>
                <a:ea typeface="IBM Plex Sans Arabic"/>
                <a:cs typeface="IBM Plex Sans Arabic"/>
              </a:rPr>
              <a:t>ISO 27001</a:t>
            </a:r>
          </a:p>
        </p:txBody>
      </p:sp>
      <p:sp>
        <p:nvSpPr>
          <p:cNvPr id="39" name="Text box 38"/>
          <p:cNvSpPr/>
          <p:nvPr/>
        </p:nvSpPr>
        <p:spPr>
          <a:xfrm>
            <a:off x="3722886" y="5096073"/>
            <a:ext cx="830957" cy="255191"/>
          </a:xfrm>
          <a:prstGeom prst="roundRect">
            <a:avLst>
              <a:gd name="adj" fmla="val 50000"/>
            </a:avLst>
          </a:prstGeom>
          <a:noFill/>
          <a:ln w="6350">
            <a:solidFill>
              <a:srgbClr val="9FD1C5"/>
            </a:solidFill>
          </a:ln>
        </p:spPr>
        <p:txBody>
          <a:bodyPr rtlCol="0" anchor="ctr" wrap="square" tIns="0" rIns="0" bIns="32004" lIns="54704" anchorCtr="0">
            <a:noAutofit/>
          </a:bodyPr>
          <a:lstStyle/>
          <a:p>
            <a:pPr algn="l">
              <a:lnSpc>
                <a:spcPts val="1560"/>
              </a:lnSpc>
              <a:spcBef>
                <a:spcPts val="0"/>
              </a:spcBef>
              <a:spcAft>
                <a:spcPts val="0"/>
              </a:spcAft>
            </a:pPr>
            <a:r>
              <a:rPr sz="1200" b="0" i="0">
                <a:solidFill>
                  <a:srgbClr val="1E2A36"/>
                </a:solidFill>
                <a:latin typeface="IBM Plex Sans Arabic"/>
                <a:ea typeface="IBM Plex Sans Arabic"/>
                <a:cs typeface="IBM Plex Sans Arabic"/>
              </a:rPr>
              <a:t>NIST CSF</a:t>
            </a:r>
          </a:p>
        </p:txBody>
      </p:sp>
      <p:sp>
        <p:nvSpPr>
          <p:cNvPr id="40" name="Text box 39"/>
          <p:cNvSpPr/>
          <p:nvPr/>
        </p:nvSpPr>
        <p:spPr>
          <a:xfrm>
            <a:off x="4623693" y="5096073"/>
            <a:ext cx="796429" cy="255191"/>
          </a:xfrm>
          <a:prstGeom prst="roundRect">
            <a:avLst>
              <a:gd name="adj" fmla="val 50000"/>
            </a:avLst>
          </a:prstGeom>
          <a:noFill/>
          <a:ln w="6350">
            <a:solidFill>
              <a:srgbClr val="9FD1C5"/>
            </a:solidFill>
          </a:ln>
        </p:spPr>
        <p:txBody>
          <a:bodyPr rtlCol="0" anchor="ctr" wrap="square" tIns="0" rIns="0" bIns="32004" lIns="54704" anchorCtr="0">
            <a:noAutofit/>
          </a:bodyPr>
          <a:lstStyle/>
          <a:p>
            <a:pPr algn="l">
              <a:lnSpc>
                <a:spcPts val="1560"/>
              </a:lnSpc>
              <a:spcBef>
                <a:spcPts val="0"/>
              </a:spcBef>
              <a:spcAft>
                <a:spcPts val="0"/>
              </a:spcAft>
            </a:pPr>
            <a:r>
              <a:rPr sz="1200" b="0" i="0">
                <a:solidFill>
                  <a:srgbClr val="1E2A36"/>
                </a:solidFill>
                <a:latin typeface="IBM Plex Sans Arabic"/>
                <a:ea typeface="IBM Plex Sans Arabic"/>
                <a:cs typeface="IBM Plex Sans Arabic"/>
              </a:rPr>
              <a:t>NCA ECC</a:t>
            </a:r>
          </a:p>
        </p:txBody>
      </p:sp>
      <p:sp>
        <p:nvSpPr>
          <p:cNvPr id="41" name="Text 40"/>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08 · LinkedIn</a:t>
            </a:r>
          </a:p>
        </p:txBody>
      </p:sp>
      <p:sp>
        <p:nvSpPr>
          <p:cNvPr id="42" name="Text 41"/>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86</a:t>
            </a:r>
          </a:p>
        </p:txBody>
      </p:sp>
    </p:spTree>
  </p:cSld>
  <p:clrMapOvr>
    <a:masterClrMapping/>
  </p:clrMapOvr>
  <p:transition spd="med">
    <p:fade/>
  </p:transition>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745762" y="812800"/>
            <a:ext cx="1633438"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08 · LinkedIn</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العنوان المهني: أهم سطر في ملفك</a:t>
            </a:r>
          </a:p>
        </p:txBody>
      </p:sp>
      <p:sp>
        <p:nvSpPr>
          <p:cNvPr id="5" name="Box 4"/>
          <p:cNvSpPr/>
          <p:nvPr/>
        </p:nvSpPr>
        <p:spPr>
          <a:xfrm>
            <a:off x="812800" y="1832570"/>
            <a:ext cx="10566400" cy="501650"/>
          </a:xfrm>
          <a:prstGeom prst="roundRect">
            <a:avLst>
              <a:gd name="adj" fmla="val 17721"/>
            </a:avLst>
          </a:prstGeom>
          <a:solidFill>
            <a:srgbClr val="172433"/>
          </a:solidFill>
          <a:ln>
            <a:noFill/>
          </a:ln>
        </p:spPr>
        <p:txBody>
          <a:bodyPr rtlCol="0" anchor="ctr"/>
          <a:lstStyle/>
          <a:p>
            <a:pPr algn="ctr"/>
          </a:p>
        </p:txBody>
      </p:sp>
      <p:sp>
        <p:nvSpPr>
          <p:cNvPr id="6" name="Text 5"/>
          <p:cNvSpPr txBox="1"/>
          <p:nvPr/>
        </p:nvSpPr>
        <p:spPr>
          <a:xfrm>
            <a:off x="10563920" y="1947664"/>
            <a:ext cx="650180" cy="222250"/>
          </a:xfrm>
          <a:prstGeom prst="rect">
            <a:avLst/>
          </a:prstGeom>
          <a:noFill/>
        </p:spPr>
        <p:txBody>
          <a:bodyPr wrap="square" tIns="0" rIns="0" bIns="0" lIns="0" anchor="t" rtlCol="0" anchorCtr="0">
            <a:noAutofit/>
          </a:bodyPr>
          <a:lstStyle/>
          <a:p>
            <a:pPr algn="r" rtl="1">
              <a:lnSpc>
                <a:spcPts val="1750"/>
              </a:lnSpc>
              <a:spcBef>
                <a:spcPts val="0"/>
              </a:spcBef>
              <a:spcAft>
                <a:spcPts val="0"/>
              </a:spcAft>
            </a:pPr>
            <a:r>
              <a:rPr sz="1250" b="1" i="0" lang="ar-SA" altLang="en-US">
                <a:solidFill>
                  <a:srgbClr val="F2C46D"/>
                </a:solidFill>
                <a:latin typeface="IBM Plex Sans Arabic"/>
                <a:ea typeface="IBM Plex Sans Arabic"/>
                <a:cs typeface="IBM Plex Sans Arabic"/>
              </a:rPr>
              <a:t>المعادلة:</a:t>
            </a:r>
          </a:p>
        </p:txBody>
      </p:sp>
      <p:sp>
        <p:nvSpPr>
          <p:cNvPr id="7" name="Text box 6"/>
          <p:cNvSpPr/>
          <p:nvPr/>
        </p:nvSpPr>
        <p:spPr>
          <a:xfrm>
            <a:off x="9267031" y="1946870"/>
            <a:ext cx="1315938" cy="273050"/>
          </a:xfrm>
          <a:prstGeom prst="roundRect">
            <a:avLst>
              <a:gd name="adj" fmla="val 18604"/>
            </a:avLst>
          </a:prstGeom>
          <a:solidFill>
            <a:srgbClr val="22344A"/>
          </a:solidFill>
          <a:ln>
            <a:noFill/>
          </a:ln>
        </p:spPr>
        <p:txBody>
          <a:bodyPr rtlCol="0" anchor="ctr" wrap="square" tIns="0" rIns="74021" bIns="49212" lIns="0" anchorCtr="0">
            <a:noAutofit/>
          </a:bodyPr>
          <a:lstStyle/>
          <a:p>
            <a:pPr algn="r" rtl="1">
              <a:lnSpc>
                <a:spcPts val="1750"/>
              </a:lnSpc>
              <a:spcBef>
                <a:spcPts val="0"/>
              </a:spcBef>
              <a:spcAft>
                <a:spcPts val="0"/>
              </a:spcAft>
            </a:pPr>
            <a:r>
              <a:rPr sz="1250" b="0" i="0" lang="ar-SA" altLang="en-US">
                <a:solidFill>
                  <a:srgbClr val="F3EFE6"/>
                </a:solidFill>
                <a:latin typeface="IBM Plex Sans Arabic"/>
                <a:ea typeface="IBM Plex Sans Arabic"/>
                <a:cs typeface="IBM Plex Sans Arabic"/>
              </a:rPr>
              <a:t>الوظيفة المستهدفة</a:t>
            </a:r>
          </a:p>
        </p:txBody>
      </p:sp>
      <p:sp>
        <p:nvSpPr>
          <p:cNvPr id="8" name="Text 7"/>
          <p:cNvSpPr txBox="1"/>
          <p:nvPr/>
        </p:nvSpPr>
        <p:spPr>
          <a:xfrm>
            <a:off x="9045674" y="1931789"/>
            <a:ext cx="145157" cy="238125"/>
          </a:xfrm>
          <a:prstGeom prst="rect">
            <a:avLst/>
          </a:prstGeom>
          <a:noFill/>
        </p:spPr>
        <p:txBody>
          <a:bodyPr wrap="square" tIns="0" rIns="0" bIns="0" lIns="0" anchor="t" rtlCol="0" anchorCtr="0">
            <a:noAutofit/>
          </a:bodyPr>
          <a:lstStyle/>
          <a:p>
            <a:pPr algn="r">
              <a:lnSpc>
                <a:spcPts val="1875"/>
              </a:lnSpc>
              <a:spcBef>
                <a:spcPts val="0"/>
              </a:spcBef>
              <a:spcAft>
                <a:spcPts val="0"/>
              </a:spcAft>
            </a:pPr>
            <a:r>
              <a:rPr sz="1250" b="0" i="0">
                <a:solidFill>
                  <a:srgbClr val="93A3B1"/>
                </a:solidFill>
                <a:latin typeface="IBM Plex Sans Arabic"/>
                <a:ea typeface="IBM Plex Sans Arabic"/>
                <a:cs typeface="IBM Plex Sans Arabic"/>
              </a:rPr>
              <a:t>|</a:t>
            </a:r>
          </a:p>
        </p:txBody>
      </p:sp>
      <p:sp>
        <p:nvSpPr>
          <p:cNvPr id="9" name="Text box 8"/>
          <p:cNvSpPr/>
          <p:nvPr/>
        </p:nvSpPr>
        <p:spPr>
          <a:xfrm>
            <a:off x="8047434" y="1946870"/>
            <a:ext cx="1017290" cy="273050"/>
          </a:xfrm>
          <a:prstGeom prst="roundRect">
            <a:avLst>
              <a:gd name="adj" fmla="val 18604"/>
            </a:avLst>
          </a:prstGeom>
          <a:solidFill>
            <a:srgbClr val="22344A"/>
          </a:solidFill>
          <a:ln>
            <a:noFill/>
          </a:ln>
        </p:spPr>
        <p:txBody>
          <a:bodyPr rtlCol="0" anchor="ctr" wrap="square" tIns="0" rIns="74021" bIns="49212" lIns="0" anchorCtr="0">
            <a:noAutofit/>
          </a:bodyPr>
          <a:lstStyle/>
          <a:p>
            <a:pPr algn="r" rtl="1">
              <a:lnSpc>
                <a:spcPts val="1750"/>
              </a:lnSpc>
              <a:spcBef>
                <a:spcPts val="0"/>
              </a:spcBef>
              <a:spcAft>
                <a:spcPts val="0"/>
              </a:spcAft>
            </a:pPr>
            <a:r>
              <a:rPr sz="1250" b="0" i="0" lang="ar-SA" altLang="en-US">
                <a:solidFill>
                  <a:srgbClr val="F3EFE6"/>
                </a:solidFill>
                <a:latin typeface="IBM Plex Sans Arabic"/>
                <a:ea typeface="IBM Plex Sans Arabic"/>
                <a:cs typeface="IBM Plex Sans Arabic"/>
              </a:rPr>
              <a:t>مجالان أو ثلاثة</a:t>
            </a:r>
          </a:p>
        </p:txBody>
      </p:sp>
      <p:sp>
        <p:nvSpPr>
          <p:cNvPr id="10" name="Text 9"/>
          <p:cNvSpPr txBox="1"/>
          <p:nvPr/>
        </p:nvSpPr>
        <p:spPr>
          <a:xfrm>
            <a:off x="7826077" y="1931789"/>
            <a:ext cx="145157" cy="238125"/>
          </a:xfrm>
          <a:prstGeom prst="rect">
            <a:avLst/>
          </a:prstGeom>
          <a:noFill/>
        </p:spPr>
        <p:txBody>
          <a:bodyPr wrap="square" tIns="0" rIns="0" bIns="0" lIns="0" anchor="t" rtlCol="0" anchorCtr="0">
            <a:noAutofit/>
          </a:bodyPr>
          <a:lstStyle/>
          <a:p>
            <a:pPr algn="r">
              <a:lnSpc>
                <a:spcPts val="1875"/>
              </a:lnSpc>
              <a:spcBef>
                <a:spcPts val="0"/>
              </a:spcBef>
              <a:spcAft>
                <a:spcPts val="0"/>
              </a:spcAft>
            </a:pPr>
            <a:r>
              <a:rPr sz="1250" b="0" i="0">
                <a:solidFill>
                  <a:srgbClr val="93A3B1"/>
                </a:solidFill>
                <a:latin typeface="IBM Plex Sans Arabic"/>
                <a:ea typeface="IBM Plex Sans Arabic"/>
                <a:cs typeface="IBM Plex Sans Arabic"/>
              </a:rPr>
              <a:t>|</a:t>
            </a:r>
          </a:p>
        </p:txBody>
      </p:sp>
      <p:sp>
        <p:nvSpPr>
          <p:cNvPr id="11" name="Text box 10"/>
          <p:cNvSpPr/>
          <p:nvPr/>
        </p:nvSpPr>
        <p:spPr>
          <a:xfrm>
            <a:off x="6335018" y="1946870"/>
            <a:ext cx="1510109" cy="273050"/>
          </a:xfrm>
          <a:prstGeom prst="roundRect">
            <a:avLst>
              <a:gd name="adj" fmla="val 18604"/>
            </a:avLst>
          </a:prstGeom>
          <a:solidFill>
            <a:srgbClr val="F2C46D"/>
          </a:solidFill>
          <a:ln>
            <a:noFill/>
          </a:ln>
        </p:spPr>
        <p:txBody>
          <a:bodyPr rtlCol="0" anchor="ctr" wrap="square" tIns="0" rIns="74021" bIns="49212" lIns="0" anchorCtr="0">
            <a:noAutofit/>
          </a:bodyPr>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دليل: شهادة أو مشروع</a:t>
            </a:r>
          </a:p>
        </p:txBody>
      </p:sp>
      <p:sp>
        <p:nvSpPr>
          <p:cNvPr id="12" name="Text 11"/>
          <p:cNvSpPr txBox="1"/>
          <p:nvPr/>
        </p:nvSpPr>
        <p:spPr>
          <a:xfrm>
            <a:off x="7063911" y="2500463"/>
            <a:ext cx="4315289"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B4412C"/>
                </a:solidFill>
                <a:latin typeface="Readex Pro"/>
                <a:ea typeface="Readex Pro"/>
                <a:cs typeface="Readex Pro"/>
              </a:rPr>
              <a:t>ضعيف</a:t>
            </a:r>
          </a:p>
        </p:txBody>
      </p:sp>
      <p:sp>
        <p:nvSpPr>
          <p:cNvPr id="13" name="Text box 12"/>
          <p:cNvSpPr/>
          <p:nvPr/>
        </p:nvSpPr>
        <p:spPr>
          <a:xfrm>
            <a:off x="7386737" y="2822476"/>
            <a:ext cx="3989288" cy="397470"/>
          </a:xfrm>
          <a:prstGeom prst="roundRect">
            <a:avLst>
              <a:gd name="adj" fmla="val 18869"/>
            </a:avLst>
          </a:prstGeom>
          <a:solidFill>
            <a:srgbClr val="FBEAE5"/>
          </a:solidFill>
          <a:ln w="6350">
            <a:solidFill>
              <a:srgbClr val="E7B8AC"/>
            </a:solidFill>
          </a:ln>
        </p:spPr>
        <p:txBody>
          <a:bodyPr rtlCol="0" anchor="ctr" wrap="square" tIns="46486" rIns="0" bIns="93730" lIns="108208" anchorCtr="0">
            <a:noAutofit/>
          </a:bodyPr>
          <a:lstStyle/>
          <a:p>
            <a:pPr algn="l">
              <a:lnSpc>
                <a:spcPts val="1680"/>
              </a:lnSpc>
              <a:spcBef>
                <a:spcPts val="0"/>
              </a:spcBef>
              <a:spcAft>
                <a:spcPts val="0"/>
              </a:spcAft>
            </a:pPr>
            <a:r>
              <a:rPr sz="1200" b="0" i="0">
                <a:solidFill>
                  <a:srgbClr val="172433"/>
                </a:solidFill>
                <a:latin typeface="IBM Plex Sans Arabic"/>
                <a:ea typeface="IBM Plex Sans Arabic"/>
                <a:cs typeface="IBM Plex Sans Arabic"/>
              </a:rPr>
              <a:t>Computer Science Student</a:t>
            </a:r>
          </a:p>
        </p:txBody>
      </p:sp>
      <p:sp>
        <p:nvSpPr>
          <p:cNvPr id="14" name="Text box 13"/>
          <p:cNvSpPr/>
          <p:nvPr/>
        </p:nvSpPr>
        <p:spPr>
          <a:xfrm>
            <a:off x="7386737" y="3302496"/>
            <a:ext cx="3989288" cy="397470"/>
          </a:xfrm>
          <a:prstGeom prst="roundRect">
            <a:avLst>
              <a:gd name="adj" fmla="val 18869"/>
            </a:avLst>
          </a:prstGeom>
          <a:solidFill>
            <a:srgbClr val="FBEAE5"/>
          </a:solidFill>
          <a:ln w="6350">
            <a:solidFill>
              <a:srgbClr val="E7B8AC"/>
            </a:solidFill>
          </a:ln>
        </p:spPr>
        <p:txBody>
          <a:bodyPr rtlCol="0" anchor="ctr" wrap="square" tIns="46486" rIns="0" bIns="93730" lIns="108208" anchorCtr="0">
            <a:noAutofit/>
          </a:bodyPr>
          <a:lstStyle/>
          <a:p>
            <a:pPr algn="l">
              <a:lnSpc>
                <a:spcPts val="1680"/>
              </a:lnSpc>
              <a:spcBef>
                <a:spcPts val="0"/>
              </a:spcBef>
              <a:spcAft>
                <a:spcPts val="0"/>
              </a:spcAft>
            </a:pPr>
            <a:r>
              <a:rPr sz="1200" b="0" i="0">
                <a:solidFill>
                  <a:srgbClr val="172433"/>
                </a:solidFill>
                <a:latin typeface="IBM Plex Sans Arabic"/>
                <a:ea typeface="IBM Plex Sans Arabic"/>
                <a:cs typeface="IBM Plex Sans Arabic"/>
              </a:rPr>
              <a:t>Looking for opportunities</a:t>
            </a:r>
          </a:p>
        </p:txBody>
      </p:sp>
      <p:sp>
        <p:nvSpPr>
          <p:cNvPr id="15" name="Text box 14"/>
          <p:cNvSpPr/>
          <p:nvPr/>
        </p:nvSpPr>
        <p:spPr>
          <a:xfrm>
            <a:off x="7386737" y="3782516"/>
            <a:ext cx="3989288" cy="397470"/>
          </a:xfrm>
          <a:prstGeom prst="roundRect">
            <a:avLst>
              <a:gd name="adj" fmla="val 18869"/>
            </a:avLst>
          </a:prstGeom>
          <a:solidFill>
            <a:srgbClr val="FBEAE5"/>
          </a:solidFill>
          <a:ln w="6350">
            <a:solidFill>
              <a:srgbClr val="E7B8AC"/>
            </a:solidFill>
          </a:ln>
        </p:spPr>
        <p:txBody>
          <a:bodyPr rtlCol="0" anchor="ctr" wrap="square" tIns="46486" rIns="0" bIns="93730" lIns="108208" anchorCtr="0">
            <a:noAutofit/>
          </a:bodyPr>
          <a:lstStyle/>
          <a:p>
            <a:pPr algn="l">
              <a:lnSpc>
                <a:spcPts val="1680"/>
              </a:lnSpc>
              <a:spcBef>
                <a:spcPts val="0"/>
              </a:spcBef>
              <a:spcAft>
                <a:spcPts val="0"/>
              </a:spcAft>
            </a:pPr>
            <a:r>
              <a:rPr sz="1200" b="0" i="0">
                <a:solidFill>
                  <a:srgbClr val="172433"/>
                </a:solidFill>
                <a:latin typeface="IBM Plex Sans Arabic"/>
                <a:ea typeface="IBM Plex Sans Arabic"/>
                <a:cs typeface="IBM Plex Sans Arabic"/>
              </a:rPr>
              <a:t>Cybersecurity enthusiast | Hard worker</a:t>
            </a:r>
          </a:p>
        </p:txBody>
      </p:sp>
      <p:sp>
        <p:nvSpPr>
          <p:cNvPr id="16" name="Text 15"/>
          <p:cNvSpPr txBox="1"/>
          <p:nvPr/>
        </p:nvSpPr>
        <p:spPr>
          <a:xfrm>
            <a:off x="7063911" y="4235740"/>
            <a:ext cx="4315289"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لا يحتوي كلمة يبحث بها مسؤول التوظيف.</a:t>
            </a:r>
          </a:p>
        </p:txBody>
      </p:sp>
      <p:sp>
        <p:nvSpPr>
          <p:cNvPr id="17" name="Text 16"/>
          <p:cNvSpPr txBox="1"/>
          <p:nvPr/>
        </p:nvSpPr>
        <p:spPr>
          <a:xfrm>
            <a:off x="301363" y="2500463"/>
            <a:ext cx="6904399"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0E7C6B"/>
                </a:solidFill>
                <a:latin typeface="Readex Pro"/>
                <a:ea typeface="Readex Pro"/>
                <a:cs typeface="Readex Pro"/>
              </a:rPr>
              <a:t>قوي</a:t>
            </a:r>
          </a:p>
        </p:txBody>
      </p:sp>
      <p:sp>
        <p:nvSpPr>
          <p:cNvPr id="18" name="Text box 17"/>
          <p:cNvSpPr/>
          <p:nvPr/>
        </p:nvSpPr>
        <p:spPr>
          <a:xfrm>
            <a:off x="815975" y="2822476"/>
            <a:ext cx="6386612" cy="397470"/>
          </a:xfrm>
          <a:prstGeom prst="roundRect">
            <a:avLst>
              <a:gd name="adj" fmla="val 18869"/>
            </a:avLst>
          </a:prstGeom>
          <a:solidFill>
            <a:srgbClr val="E3F1ED"/>
          </a:solidFill>
          <a:ln w="6350">
            <a:solidFill>
              <a:srgbClr val="9FD1C5"/>
            </a:solidFill>
          </a:ln>
        </p:spPr>
        <p:txBody>
          <a:bodyPr rtlCol="0" anchor="ctr" wrap="square" tIns="46486" rIns="0" bIns="93730" lIns="108208" anchorCtr="0">
            <a:noAutofit/>
          </a:bodyPr>
          <a:lstStyle/>
          <a:p>
            <a:pPr algn="l">
              <a:lnSpc>
                <a:spcPts val="1680"/>
              </a:lnSpc>
              <a:spcBef>
                <a:spcPts val="0"/>
              </a:spcBef>
              <a:spcAft>
                <a:spcPts val="0"/>
              </a:spcAft>
            </a:pPr>
            <a:r>
              <a:rPr sz="1200" b="0" i="0">
                <a:solidFill>
                  <a:srgbClr val="172433"/>
                </a:solidFill>
                <a:latin typeface="IBM Plex Sans Arabic"/>
                <a:ea typeface="IBM Plex Sans Arabic"/>
                <a:cs typeface="IBM Plex Sans Arabic"/>
              </a:rPr>
              <a:t>Entry-Level GRC Analyst | Risk Assessment · ISO 27001 · NCA ECC | ISC2 CC</a:t>
            </a:r>
          </a:p>
        </p:txBody>
      </p:sp>
      <p:sp>
        <p:nvSpPr>
          <p:cNvPr id="19" name="Text box 18"/>
          <p:cNvSpPr/>
          <p:nvPr/>
        </p:nvSpPr>
        <p:spPr>
          <a:xfrm>
            <a:off x="815975" y="3302496"/>
            <a:ext cx="6386612" cy="397470"/>
          </a:xfrm>
          <a:prstGeom prst="roundRect">
            <a:avLst>
              <a:gd name="adj" fmla="val 18869"/>
            </a:avLst>
          </a:prstGeom>
          <a:solidFill>
            <a:srgbClr val="E3F1ED"/>
          </a:solidFill>
          <a:ln w="6350">
            <a:solidFill>
              <a:srgbClr val="9FD1C5"/>
            </a:solidFill>
          </a:ln>
        </p:spPr>
        <p:txBody>
          <a:bodyPr rtlCol="0" anchor="ctr" wrap="square" tIns="46486" rIns="0" bIns="93730" lIns="108208" anchorCtr="0">
            <a:noAutofit/>
          </a:bodyPr>
          <a:lstStyle/>
          <a:p>
            <a:pPr algn="l">
              <a:lnSpc>
                <a:spcPts val="1680"/>
              </a:lnSpc>
              <a:spcBef>
                <a:spcPts val="0"/>
              </a:spcBef>
              <a:spcAft>
                <a:spcPts val="0"/>
              </a:spcAft>
            </a:pPr>
            <a:r>
              <a:rPr sz="1200" b="0" i="0">
                <a:solidFill>
                  <a:srgbClr val="172433"/>
                </a:solidFill>
                <a:latin typeface="IBM Plex Sans Arabic"/>
                <a:ea typeface="IBM Plex Sans Arabic"/>
                <a:cs typeface="IBM Plex Sans Arabic"/>
              </a:rPr>
              <a:t>IT Support → GRC | Access Management · NIST CSF 2.0 | Security+</a:t>
            </a:r>
          </a:p>
        </p:txBody>
      </p:sp>
      <p:sp>
        <p:nvSpPr>
          <p:cNvPr id="20" name="Text box 19"/>
          <p:cNvSpPr/>
          <p:nvPr/>
        </p:nvSpPr>
        <p:spPr>
          <a:xfrm>
            <a:off x="815975" y="3782516"/>
            <a:ext cx="6386612" cy="397470"/>
          </a:xfrm>
          <a:prstGeom prst="roundRect">
            <a:avLst>
              <a:gd name="adj" fmla="val 18869"/>
            </a:avLst>
          </a:prstGeom>
          <a:solidFill>
            <a:srgbClr val="E3F1ED"/>
          </a:solidFill>
          <a:ln w="6350">
            <a:solidFill>
              <a:srgbClr val="9FD1C5"/>
            </a:solidFill>
          </a:ln>
        </p:spPr>
        <p:txBody>
          <a:bodyPr rtlCol="0" anchor="ctr" wrap="square" tIns="46486" rIns="108208" bIns="93730" lIns="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محلل حوكمة ومخاطر وامتثال | ECC · ISO 27001 | مشروعا تقييم فجوات</a:t>
            </a:r>
          </a:p>
        </p:txBody>
      </p:sp>
      <p:sp>
        <p:nvSpPr>
          <p:cNvPr id="21" name="Text 20"/>
          <p:cNvSpPr txBox="1"/>
          <p:nvPr/>
        </p:nvSpPr>
        <p:spPr>
          <a:xfrm>
            <a:off x="301363" y="4235740"/>
            <a:ext cx="6904399"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الكلمات المهمة في البداية، وكل كلمة صادقة عنك.</a:t>
            </a:r>
          </a:p>
        </p:txBody>
      </p:sp>
      <p:sp>
        <p:nvSpPr>
          <p:cNvPr id="22" name="Text 21"/>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08 · LinkedIn</a:t>
            </a:r>
          </a:p>
        </p:txBody>
      </p:sp>
      <p:sp>
        <p:nvSpPr>
          <p:cNvPr id="23" name="Text 22"/>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745762" y="812800"/>
            <a:ext cx="1633438"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08 · LinkedIn</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نبذة About: أربعة أجزاء في فقرات قصيرة</a:t>
            </a:r>
          </a:p>
        </p:txBody>
      </p:sp>
      <p:sp>
        <p:nvSpPr>
          <p:cNvPr id="5" name="Box 4"/>
          <p:cNvSpPr/>
          <p:nvPr/>
        </p:nvSpPr>
        <p:spPr>
          <a:xfrm>
            <a:off x="11315700" y="1832570"/>
            <a:ext cx="63500" cy="440630"/>
          </a:xfrm>
          <a:prstGeom prst="roundRect">
            <a:avLst>
              <a:gd name="adj" fmla="val 50000"/>
            </a:avLst>
          </a:prstGeom>
          <a:solidFill>
            <a:srgbClr val="0E7C6B"/>
          </a:solidFill>
          <a:ln>
            <a:noFill/>
          </a:ln>
        </p:spPr>
        <p:txBody>
          <a:bodyPr rtlCol="0" anchor="ctr"/>
          <a:lstStyle/>
          <a:p>
            <a:pPr algn="ctr"/>
          </a:p>
        </p:txBody>
      </p:sp>
      <p:sp>
        <p:nvSpPr>
          <p:cNvPr id="6" name="Text 5"/>
          <p:cNvSpPr txBox="1"/>
          <p:nvPr/>
        </p:nvSpPr>
        <p:spPr>
          <a:xfrm>
            <a:off x="7550912" y="1815235"/>
            <a:ext cx="3675888"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172433"/>
                </a:solidFill>
                <a:latin typeface="IBM Plex Sans Arabic"/>
                <a:ea typeface="IBM Plex Sans Arabic"/>
                <a:cs typeface="IBM Plex Sans Arabic"/>
              </a:rPr>
              <a:t>1. الافتتاح</a:t>
            </a:r>
          </a:p>
        </p:txBody>
      </p:sp>
      <p:sp>
        <p:nvSpPr>
          <p:cNvPr id="7" name="Text 6"/>
          <p:cNvSpPr txBox="1"/>
          <p:nvPr/>
        </p:nvSpPr>
        <p:spPr>
          <a:xfrm>
            <a:off x="7550912" y="2036258"/>
            <a:ext cx="3675888"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من أنت، وما الذي تركز عليه.</a:t>
            </a:r>
          </a:p>
        </p:txBody>
      </p:sp>
      <p:sp>
        <p:nvSpPr>
          <p:cNvPr id="8" name="Box 7"/>
          <p:cNvSpPr/>
          <p:nvPr/>
        </p:nvSpPr>
        <p:spPr>
          <a:xfrm>
            <a:off x="11315700" y="2362101"/>
            <a:ext cx="63500" cy="440630"/>
          </a:xfrm>
          <a:prstGeom prst="roundRect">
            <a:avLst>
              <a:gd name="adj" fmla="val 50000"/>
            </a:avLst>
          </a:prstGeom>
          <a:solidFill>
            <a:srgbClr val="24506B"/>
          </a:solidFill>
          <a:ln>
            <a:noFill/>
          </a:ln>
        </p:spPr>
        <p:txBody>
          <a:bodyPr rtlCol="0" anchor="ctr"/>
          <a:lstStyle/>
          <a:p>
            <a:pPr algn="ctr"/>
          </a:p>
        </p:txBody>
      </p:sp>
      <p:sp>
        <p:nvSpPr>
          <p:cNvPr id="9" name="Text 8"/>
          <p:cNvSpPr txBox="1"/>
          <p:nvPr/>
        </p:nvSpPr>
        <p:spPr>
          <a:xfrm>
            <a:off x="7550912" y="2344765"/>
            <a:ext cx="3675888"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172433"/>
                </a:solidFill>
                <a:latin typeface="IBM Plex Sans Arabic"/>
                <a:ea typeface="IBM Plex Sans Arabic"/>
                <a:cs typeface="IBM Plex Sans Arabic"/>
              </a:rPr>
              <a:t>2. الدليل</a:t>
            </a:r>
          </a:p>
        </p:txBody>
      </p:sp>
      <p:sp>
        <p:nvSpPr>
          <p:cNvPr id="10" name="Text 9"/>
          <p:cNvSpPr txBox="1"/>
          <p:nvPr/>
        </p:nvSpPr>
        <p:spPr>
          <a:xfrm>
            <a:off x="7550912" y="2565789"/>
            <a:ext cx="3675888"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مشروعان بنتائج محددة.</a:t>
            </a:r>
          </a:p>
        </p:txBody>
      </p:sp>
      <p:sp>
        <p:nvSpPr>
          <p:cNvPr id="11" name="Box 10"/>
          <p:cNvSpPr/>
          <p:nvPr/>
        </p:nvSpPr>
        <p:spPr>
          <a:xfrm>
            <a:off x="11315700" y="2891631"/>
            <a:ext cx="63500" cy="440630"/>
          </a:xfrm>
          <a:prstGeom prst="roundRect">
            <a:avLst>
              <a:gd name="adj" fmla="val 50000"/>
            </a:avLst>
          </a:prstGeom>
          <a:solidFill>
            <a:srgbClr val="6B4E9B"/>
          </a:solidFill>
          <a:ln>
            <a:noFill/>
          </a:ln>
        </p:spPr>
        <p:txBody>
          <a:bodyPr rtlCol="0" anchor="ctr"/>
          <a:lstStyle/>
          <a:p>
            <a:pPr algn="ctr"/>
          </a:p>
        </p:txBody>
      </p:sp>
      <p:sp>
        <p:nvSpPr>
          <p:cNvPr id="12" name="Text 11"/>
          <p:cNvSpPr txBox="1"/>
          <p:nvPr/>
        </p:nvSpPr>
        <p:spPr>
          <a:xfrm>
            <a:off x="7550912" y="2874296"/>
            <a:ext cx="3675888"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172433"/>
                </a:solidFill>
                <a:latin typeface="IBM Plex Sans Arabic"/>
                <a:ea typeface="IBM Plex Sans Arabic"/>
                <a:cs typeface="IBM Plex Sans Arabic"/>
              </a:rPr>
              <a:t>3. المجالات والأطر</a:t>
            </a:r>
          </a:p>
        </p:txBody>
      </p:sp>
      <p:sp>
        <p:nvSpPr>
          <p:cNvPr id="13" name="Text 12"/>
          <p:cNvSpPr txBox="1"/>
          <p:nvPr/>
        </p:nvSpPr>
        <p:spPr>
          <a:xfrm>
            <a:off x="7550912" y="3095319"/>
            <a:ext cx="3675888"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كلمات البحث التي تريد أن تظهر بها.</a:t>
            </a:r>
          </a:p>
        </p:txBody>
      </p:sp>
      <p:sp>
        <p:nvSpPr>
          <p:cNvPr id="14" name="Box 13"/>
          <p:cNvSpPr/>
          <p:nvPr/>
        </p:nvSpPr>
        <p:spPr>
          <a:xfrm>
            <a:off x="11315700" y="3421162"/>
            <a:ext cx="63500" cy="440630"/>
          </a:xfrm>
          <a:prstGeom prst="roundRect">
            <a:avLst>
              <a:gd name="adj" fmla="val 50000"/>
            </a:avLst>
          </a:prstGeom>
          <a:solidFill>
            <a:srgbClr val="C27A16"/>
          </a:solidFill>
          <a:ln>
            <a:noFill/>
          </a:ln>
        </p:spPr>
        <p:txBody>
          <a:bodyPr rtlCol="0" anchor="ctr"/>
          <a:lstStyle/>
          <a:p>
            <a:pPr algn="ctr"/>
          </a:p>
        </p:txBody>
      </p:sp>
      <p:sp>
        <p:nvSpPr>
          <p:cNvPr id="15" name="Text 14"/>
          <p:cNvSpPr txBox="1"/>
          <p:nvPr/>
        </p:nvSpPr>
        <p:spPr>
          <a:xfrm>
            <a:off x="7550912" y="3403826"/>
            <a:ext cx="3675888"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172433"/>
                </a:solidFill>
                <a:latin typeface="IBM Plex Sans Arabic"/>
                <a:ea typeface="IBM Plex Sans Arabic"/>
                <a:cs typeface="IBM Plex Sans Arabic"/>
              </a:rPr>
              <a:t>4. الدعوة</a:t>
            </a:r>
          </a:p>
        </p:txBody>
      </p:sp>
      <p:sp>
        <p:nvSpPr>
          <p:cNvPr id="16" name="Text 15"/>
          <p:cNvSpPr txBox="1"/>
          <p:nvPr/>
        </p:nvSpPr>
        <p:spPr>
          <a:xfrm>
            <a:off x="7550912" y="3624850"/>
            <a:ext cx="3675888"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ماذا تبحث عنه، وكيف يتواصلون معك.</a:t>
            </a:r>
          </a:p>
        </p:txBody>
      </p:sp>
      <p:sp>
        <p:nvSpPr>
          <p:cNvPr id="17" name="Box 16"/>
          <p:cNvSpPr/>
          <p:nvPr/>
        </p:nvSpPr>
        <p:spPr>
          <a:xfrm>
            <a:off x="7823200" y="3950692"/>
            <a:ext cx="3556000" cy="398760"/>
          </a:xfrm>
          <a:prstGeom prst="roundRect">
            <a:avLst>
              <a:gd name="adj" fmla="val 19109"/>
            </a:avLst>
          </a:prstGeom>
          <a:solidFill>
            <a:srgbClr val="172433"/>
          </a:solidFill>
          <a:ln>
            <a:noFill/>
          </a:ln>
        </p:spPr>
        <p:txBody>
          <a:bodyPr rtlCol="0" anchor="ctr"/>
          <a:lstStyle/>
          <a:p>
            <a:pPr algn="ctr"/>
          </a:p>
        </p:txBody>
      </p:sp>
      <p:pic>
        <p:nvPicPr>
          <p:cNvPr id="18" name="Icon Book 17" descr="icon052.png"/>
          <p:cNvPicPr>
            <a:picLocks noChangeAspect="1"/>
          </p:cNvPicPr>
          <p:nvPr/>
        </p:nvPicPr>
        <p:blipFill>
          <a:blip r:embed="rId2"/>
          <a:stretch>
            <a:fillRect/>
          </a:stretch>
        </p:blipFill>
        <p:spPr>
          <a:xfrm>
            <a:off x="11087100" y="4039592"/>
            <a:ext cx="177800" cy="177800"/>
          </a:xfrm>
          <a:prstGeom prst="rect">
            <a:avLst/>
          </a:prstGeom>
        </p:spPr>
      </p:pic>
      <p:sp>
        <p:nvSpPr>
          <p:cNvPr id="19" name="Text 18"/>
          <p:cNvSpPr txBox="1"/>
          <p:nvPr/>
        </p:nvSpPr>
        <p:spPr>
          <a:xfrm>
            <a:off x="7848600" y="4012160"/>
            <a:ext cx="31623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F3EFE6"/>
                </a:solidFill>
                <a:latin typeface="IBM Plex Sans Arabic"/>
                <a:ea typeface="IBM Plex Sans Arabic"/>
                <a:cs typeface="IBM Plex Sans Arabic"/>
              </a:rPr>
              <a:t>الحد 2,600 حرف، لكن 150 إلى 250 كلمة تكفي غالباً.</a:t>
            </a:r>
          </a:p>
        </p:txBody>
      </p:sp>
      <p:sp>
        <p:nvSpPr>
          <p:cNvPr id="20" name="Box 19"/>
          <p:cNvSpPr/>
          <p:nvPr/>
        </p:nvSpPr>
        <p:spPr>
          <a:xfrm>
            <a:off x="815975" y="1835745"/>
            <a:ext cx="6775450" cy="2716312"/>
          </a:xfrm>
          <a:prstGeom prst="roundRect">
            <a:avLst>
              <a:gd name="adj" fmla="val 3265"/>
            </a:avLst>
          </a:prstGeom>
          <a:solidFill>
            <a:srgbClr val="FFFFFF"/>
          </a:solidFill>
          <a:ln w="6350">
            <a:solidFill>
              <a:srgbClr val="D9D2C2"/>
            </a:solidFill>
          </a:ln>
        </p:spPr>
        <p:txBody>
          <a:bodyPr rtlCol="0" anchor="ctr"/>
          <a:lstStyle/>
          <a:p>
            <a:pPr algn="ctr"/>
          </a:p>
        </p:txBody>
      </p:sp>
      <p:sp>
        <p:nvSpPr>
          <p:cNvPr id="21" name="Text 20"/>
          <p:cNvSpPr txBox="1"/>
          <p:nvPr/>
        </p:nvSpPr>
        <p:spPr>
          <a:xfrm>
            <a:off x="1035050" y="2005163"/>
            <a:ext cx="6534150" cy="231080"/>
          </a:xfrm>
          <a:prstGeom prst="rect">
            <a:avLst/>
          </a:prstGeom>
          <a:noFill/>
        </p:spPr>
        <p:txBody>
          <a:bodyPr wrap="square" tIns="0" rIns="0" bIns="0" lIns="0" anchor="t" rtlCol="0" anchorCtr="0">
            <a:noAutofit/>
          </a:bodyPr>
          <a:lstStyle/>
          <a:p>
            <a:pPr algn="l">
              <a:lnSpc>
                <a:spcPts val="1820"/>
              </a:lnSpc>
              <a:spcBef>
                <a:spcPts val="0"/>
              </a:spcBef>
              <a:spcAft>
                <a:spcPts val="0"/>
              </a:spcAft>
            </a:pPr>
            <a:r>
              <a:rPr sz="1400" b="1" i="0">
                <a:solidFill>
                  <a:srgbClr val="1E2A36"/>
                </a:solidFill>
                <a:latin typeface="Readex Pro"/>
                <a:ea typeface="Readex Pro"/>
                <a:cs typeface="Readex Pro"/>
              </a:rPr>
              <a:t>About</a:t>
            </a:r>
          </a:p>
        </p:txBody>
      </p:sp>
      <p:sp>
        <p:nvSpPr>
          <p:cNvPr id="22" name="Text box 21"/>
          <p:cNvSpPr/>
          <p:nvPr/>
        </p:nvSpPr>
        <p:spPr>
          <a:xfrm>
            <a:off x="1035050" y="2336701"/>
            <a:ext cx="6337300" cy="441920"/>
          </a:xfrm>
          <a:prstGeom prst="rect">
            <a:avLst/>
          </a:prstGeom>
          <a:noFill/>
          <a:ln>
            <a:noFill/>
          </a:ln>
        </p:spPr>
        <p:txBody>
          <a:bodyPr rtlCol="0" anchor="ctr" wrap="square" tIns="0" rIns="0" bIns="54864" lIns="127000" anchorCtr="0">
            <a:noAutofit/>
          </a:bodyPr>
          <a:lstStyle/>
          <a:p>
            <a:pPr algn="l">
              <a:lnSpc>
                <a:spcPts val="1739"/>
              </a:lnSpc>
              <a:spcBef>
                <a:spcPts val="0"/>
              </a:spcBef>
              <a:spcAft>
                <a:spcPts val="0"/>
              </a:spcAft>
            </a:pPr>
            <a:r>
              <a:rPr sz="1200" b="0" i="0">
                <a:solidFill>
                  <a:srgbClr val="1E2A36"/>
                </a:solidFill>
                <a:latin typeface="IBM Plex Sans Arabic"/>
                <a:ea typeface="IBM Plex Sans Arabic"/>
                <a:cs typeface="IBM Plex Sans Arabic"/>
              </a:rPr>
              <a:t>Entry-level GRC analyst focused on turning security requirements into clear, testable controls.</a:t>
            </a:r>
          </a:p>
        </p:txBody>
      </p:sp>
      <p:sp>
        <p:nvSpPr>
          <p:cNvPr id="23" name="Rule 22"/>
          <p:cNvSpPr/>
          <p:nvPr/>
        </p:nvSpPr>
        <p:spPr>
          <a:xfrm>
            <a:off x="1035050" y="2336701"/>
            <a:ext cx="38100" cy="441920"/>
          </a:xfrm>
          <a:prstGeom prst="rect">
            <a:avLst/>
          </a:prstGeom>
          <a:solidFill>
            <a:srgbClr val="0E7C6B"/>
          </a:solidFill>
          <a:ln>
            <a:noFill/>
          </a:ln>
        </p:spPr>
        <p:txBody>
          <a:bodyPr rtlCol="0" anchor="ctr"/>
          <a:lstStyle/>
          <a:p>
            <a:pPr algn="ctr"/>
          </a:p>
        </p:txBody>
      </p:sp>
      <p:sp>
        <p:nvSpPr>
          <p:cNvPr id="24" name="Text box 23"/>
          <p:cNvSpPr/>
          <p:nvPr/>
        </p:nvSpPr>
        <p:spPr>
          <a:xfrm>
            <a:off x="1035050" y="2867521"/>
            <a:ext cx="6337300" cy="441920"/>
          </a:xfrm>
          <a:prstGeom prst="rect">
            <a:avLst/>
          </a:prstGeom>
          <a:noFill/>
          <a:ln>
            <a:noFill/>
          </a:ln>
        </p:spPr>
        <p:txBody>
          <a:bodyPr rtlCol="0" anchor="ctr" wrap="square" tIns="0" rIns="0" bIns="54864" lIns="127000" anchorCtr="0">
            <a:noAutofit/>
          </a:bodyPr>
          <a:lstStyle/>
          <a:p>
            <a:pPr algn="l">
              <a:lnSpc>
                <a:spcPts val="1739"/>
              </a:lnSpc>
              <a:spcBef>
                <a:spcPts val="0"/>
              </a:spcBef>
              <a:spcAft>
                <a:spcPts val="0"/>
              </a:spcAft>
            </a:pPr>
            <a:r>
              <a:rPr sz="1200" b="0" i="0">
                <a:solidFill>
                  <a:srgbClr val="1E2A36"/>
                </a:solidFill>
                <a:latin typeface="IBM Plex Sans Arabic"/>
                <a:ea typeface="IBM Plex Sans Arabic"/>
                <a:cs typeface="IBM Plex Sans Arabic"/>
              </a:rPr>
              <a:t>Recent work: a 20-risk register for a fictional logistics company, and an NCA ECC-2:2024 gap assessment with 5 documented findings and owners.</a:t>
            </a:r>
          </a:p>
        </p:txBody>
      </p:sp>
      <p:sp>
        <p:nvSpPr>
          <p:cNvPr id="25" name="Rule 24"/>
          <p:cNvSpPr/>
          <p:nvPr/>
        </p:nvSpPr>
        <p:spPr>
          <a:xfrm>
            <a:off x="1035050" y="2867521"/>
            <a:ext cx="38100" cy="441920"/>
          </a:xfrm>
          <a:prstGeom prst="rect">
            <a:avLst/>
          </a:prstGeom>
          <a:solidFill>
            <a:srgbClr val="24506B"/>
          </a:solidFill>
          <a:ln>
            <a:noFill/>
          </a:ln>
        </p:spPr>
        <p:txBody>
          <a:bodyPr rtlCol="0" anchor="ctr"/>
          <a:lstStyle/>
          <a:p>
            <a:pPr algn="ctr"/>
          </a:p>
        </p:txBody>
      </p:sp>
      <p:sp>
        <p:nvSpPr>
          <p:cNvPr id="26" name="Text box 25"/>
          <p:cNvSpPr/>
          <p:nvPr/>
        </p:nvSpPr>
        <p:spPr>
          <a:xfrm>
            <a:off x="1035050" y="3398341"/>
            <a:ext cx="6337300" cy="441920"/>
          </a:xfrm>
          <a:prstGeom prst="rect">
            <a:avLst/>
          </a:prstGeom>
          <a:noFill/>
          <a:ln>
            <a:noFill/>
          </a:ln>
        </p:spPr>
        <p:txBody>
          <a:bodyPr rtlCol="0" anchor="ctr" wrap="square" tIns="0" rIns="0" bIns="54864" lIns="127000" anchorCtr="0">
            <a:noAutofit/>
          </a:bodyPr>
          <a:lstStyle/>
          <a:p>
            <a:pPr algn="l">
              <a:lnSpc>
                <a:spcPts val="1739"/>
              </a:lnSpc>
              <a:spcBef>
                <a:spcPts val="0"/>
              </a:spcBef>
              <a:spcAft>
                <a:spcPts val="0"/>
              </a:spcAft>
            </a:pPr>
            <a:r>
              <a:rPr sz="1200" b="0" i="0">
                <a:solidFill>
                  <a:srgbClr val="1E2A36"/>
                </a:solidFill>
                <a:latin typeface="IBM Plex Sans Arabic"/>
                <a:ea typeface="IBM Plex Sans Arabic"/>
                <a:cs typeface="IBM Plex Sans Arabic"/>
              </a:rPr>
              <a:t>Focus: risk assessment · ISO/IEC 27001 · NIST CSF 2.0 · policy writing · ISC2 CC · Arabic and English.</a:t>
            </a:r>
          </a:p>
        </p:txBody>
      </p:sp>
      <p:sp>
        <p:nvSpPr>
          <p:cNvPr id="27" name="Rule 26"/>
          <p:cNvSpPr/>
          <p:nvPr/>
        </p:nvSpPr>
        <p:spPr>
          <a:xfrm>
            <a:off x="1035050" y="3398341"/>
            <a:ext cx="38100" cy="441920"/>
          </a:xfrm>
          <a:prstGeom prst="rect">
            <a:avLst/>
          </a:prstGeom>
          <a:solidFill>
            <a:srgbClr val="6B4E9B"/>
          </a:solidFill>
          <a:ln>
            <a:noFill/>
          </a:ln>
        </p:spPr>
        <p:txBody>
          <a:bodyPr rtlCol="0" anchor="ctr"/>
          <a:lstStyle/>
          <a:p>
            <a:pPr algn="ctr"/>
          </a:p>
        </p:txBody>
      </p:sp>
      <p:sp>
        <p:nvSpPr>
          <p:cNvPr id="28" name="Text box 27"/>
          <p:cNvSpPr/>
          <p:nvPr/>
        </p:nvSpPr>
        <p:spPr>
          <a:xfrm>
            <a:off x="1035050" y="3929162"/>
            <a:ext cx="6337300" cy="441920"/>
          </a:xfrm>
          <a:prstGeom prst="rect">
            <a:avLst/>
          </a:prstGeom>
          <a:noFill/>
          <a:ln>
            <a:noFill/>
          </a:ln>
        </p:spPr>
        <p:txBody>
          <a:bodyPr rtlCol="0" anchor="ctr" wrap="square" tIns="0" rIns="0" bIns="54864" lIns="127000" anchorCtr="0">
            <a:noAutofit/>
          </a:bodyPr>
          <a:lstStyle/>
          <a:p>
            <a:pPr algn="l">
              <a:lnSpc>
                <a:spcPts val="1739"/>
              </a:lnSpc>
              <a:spcBef>
                <a:spcPts val="0"/>
              </a:spcBef>
              <a:spcAft>
                <a:spcPts val="0"/>
              </a:spcAft>
            </a:pPr>
            <a:r>
              <a:rPr sz="1200" b="0" i="0">
                <a:solidFill>
                  <a:srgbClr val="1E2A36"/>
                </a:solidFill>
                <a:latin typeface="IBM Plex Sans Arabic"/>
                <a:ea typeface="IBM Plex Sans Arabic"/>
                <a:cs typeface="IBM Plex Sans Arabic"/>
              </a:rPr>
              <a:t>Open to entry-level GRC and compliance roles in Riyadh. Message me or see my projects in Featured.</a:t>
            </a:r>
          </a:p>
        </p:txBody>
      </p:sp>
      <p:sp>
        <p:nvSpPr>
          <p:cNvPr id="29" name="Rule 28"/>
          <p:cNvSpPr/>
          <p:nvPr/>
        </p:nvSpPr>
        <p:spPr>
          <a:xfrm>
            <a:off x="1035050" y="3929162"/>
            <a:ext cx="38100" cy="441920"/>
          </a:xfrm>
          <a:prstGeom prst="rect">
            <a:avLst/>
          </a:prstGeom>
          <a:solidFill>
            <a:srgbClr val="C27A16"/>
          </a:solidFill>
          <a:ln>
            <a:noFill/>
          </a:ln>
        </p:spPr>
        <p:txBody>
          <a:bodyPr rtlCol="0" anchor="ctr"/>
          <a:lstStyle/>
          <a:p>
            <a:pPr algn="ctr"/>
          </a:p>
        </p:txBody>
      </p:sp>
      <p:sp>
        <p:nvSpPr>
          <p:cNvPr id="30" name="Text 29"/>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08 · LinkedIn</a:t>
            </a:r>
          </a:p>
        </p:txBody>
      </p:sp>
      <p:sp>
        <p:nvSpPr>
          <p:cNvPr id="31" name="Text 30"/>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745762" y="812800"/>
            <a:ext cx="1633438"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08 · LinkedIn</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الشبكة والنشر: كن مرئياً في مجالك</a:t>
            </a:r>
          </a:p>
        </p:txBody>
      </p:sp>
      <p:sp>
        <p:nvSpPr>
          <p:cNvPr id="5" name="Text 4"/>
          <p:cNvSpPr txBox="1"/>
          <p:nvPr/>
        </p:nvSpPr>
        <p:spPr>
          <a:xfrm>
            <a:off x="5783072" y="1819362"/>
            <a:ext cx="5596128"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0E7C6B"/>
                </a:solidFill>
                <a:latin typeface="Readex Pro"/>
                <a:ea typeface="Readex Pro"/>
                <a:cs typeface="Readex Pro"/>
              </a:rPr>
              <a:t>من تضيف، وكيف</a:t>
            </a:r>
          </a:p>
        </p:txBody>
      </p:sp>
      <p:pic>
        <p:nvPicPr>
          <p:cNvPr id="6" name="Icon Users 5" descr="icon059.png"/>
          <p:cNvPicPr>
            <a:picLocks noChangeAspect="1"/>
          </p:cNvPicPr>
          <p:nvPr/>
        </p:nvPicPr>
        <p:blipFill>
          <a:blip r:embed="rId2"/>
          <a:stretch>
            <a:fillRect/>
          </a:stretch>
        </p:blipFill>
        <p:spPr>
          <a:xfrm>
            <a:off x="11201400" y="2185591"/>
            <a:ext cx="177800" cy="177800"/>
          </a:xfrm>
          <a:prstGeom prst="rect">
            <a:avLst/>
          </a:prstGeom>
        </p:spPr>
      </p:pic>
      <p:sp>
        <p:nvSpPr>
          <p:cNvPr id="7" name="Text 6"/>
          <p:cNvSpPr txBox="1"/>
          <p:nvPr/>
        </p:nvSpPr>
        <p:spPr>
          <a:xfrm>
            <a:off x="5803392" y="2158159"/>
            <a:ext cx="5321808"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مختصو GRC في الجهات التي تستهدفها</a:t>
            </a:r>
          </a:p>
        </p:txBody>
      </p:sp>
      <p:pic>
        <p:nvPicPr>
          <p:cNvPr id="8" name="Icon Search 7" descr="icon060.png"/>
          <p:cNvPicPr>
            <a:picLocks noChangeAspect="1"/>
          </p:cNvPicPr>
          <p:nvPr/>
        </p:nvPicPr>
        <p:blipFill>
          <a:blip r:embed="rId3"/>
          <a:stretch>
            <a:fillRect/>
          </a:stretch>
        </p:blipFill>
        <p:spPr>
          <a:xfrm>
            <a:off x="11201400" y="2495451"/>
            <a:ext cx="177800" cy="177800"/>
          </a:xfrm>
          <a:prstGeom prst="rect">
            <a:avLst/>
          </a:prstGeom>
        </p:spPr>
      </p:pic>
      <p:sp>
        <p:nvSpPr>
          <p:cNvPr id="9" name="Text 8"/>
          <p:cNvSpPr txBox="1"/>
          <p:nvPr/>
        </p:nvSpPr>
        <p:spPr>
          <a:xfrm>
            <a:off x="5803392" y="2468019"/>
            <a:ext cx="5321808"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مسؤولو التوظيف في الأمن السيبراني</a:t>
            </a:r>
          </a:p>
        </p:txBody>
      </p:sp>
      <p:pic>
        <p:nvPicPr>
          <p:cNvPr id="10" name="Icon GraduationCap 9" descr="icon061.png"/>
          <p:cNvPicPr>
            <a:picLocks noChangeAspect="1"/>
          </p:cNvPicPr>
          <p:nvPr/>
        </p:nvPicPr>
        <p:blipFill>
          <a:blip r:embed="rId4"/>
          <a:stretch>
            <a:fillRect/>
          </a:stretch>
        </p:blipFill>
        <p:spPr>
          <a:xfrm>
            <a:off x="11201400" y="2805311"/>
            <a:ext cx="177800" cy="177800"/>
          </a:xfrm>
          <a:prstGeom prst="rect">
            <a:avLst/>
          </a:prstGeom>
        </p:spPr>
      </p:pic>
      <p:sp>
        <p:nvSpPr>
          <p:cNvPr id="11" name="Text 10"/>
          <p:cNvSpPr txBox="1"/>
          <p:nvPr/>
        </p:nvSpPr>
        <p:spPr>
          <a:xfrm>
            <a:off x="5803392" y="2777879"/>
            <a:ext cx="5321808"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زملاء الدراسة والدورات والفعاليات</a:t>
            </a:r>
          </a:p>
        </p:txBody>
      </p:sp>
      <p:sp>
        <p:nvSpPr>
          <p:cNvPr id="12" name="Box 11"/>
          <p:cNvSpPr/>
          <p:nvPr/>
        </p:nvSpPr>
        <p:spPr>
          <a:xfrm>
            <a:off x="6197600" y="3115171"/>
            <a:ext cx="5181600" cy="962620"/>
          </a:xfrm>
          <a:prstGeom prst="roundRect">
            <a:avLst>
              <a:gd name="adj" fmla="val 9235"/>
            </a:avLst>
          </a:prstGeom>
          <a:solidFill>
            <a:srgbClr val="FFFDF8"/>
          </a:solidFill>
          <a:ln>
            <a:noFill/>
          </a:ln>
        </p:spPr>
        <p:txBody>
          <a:bodyPr rtlCol="0" anchor="ctr"/>
          <a:lstStyle/>
          <a:p>
            <a:pPr algn="ctr"/>
          </a:p>
        </p:txBody>
      </p:sp>
      <p:sp>
        <p:nvSpPr>
          <p:cNvPr id="13" name="Rule 12"/>
          <p:cNvSpPr/>
          <p:nvPr/>
        </p:nvSpPr>
        <p:spPr>
          <a:xfrm>
            <a:off x="6197600" y="3115171"/>
            <a:ext cx="5181600" cy="6350"/>
          </a:xfrm>
          <a:prstGeom prst="rect">
            <a:avLst/>
          </a:prstGeom>
          <a:solidFill>
            <a:srgbClr val="E1DBCD"/>
          </a:solidFill>
          <a:ln>
            <a:noFill/>
          </a:ln>
        </p:spPr>
        <p:txBody>
          <a:bodyPr rtlCol="0" anchor="ctr"/>
          <a:lstStyle/>
          <a:p>
            <a:pPr algn="ctr"/>
          </a:p>
        </p:txBody>
      </p:sp>
      <p:sp>
        <p:nvSpPr>
          <p:cNvPr id="14" name="Rule 13"/>
          <p:cNvSpPr/>
          <p:nvPr/>
        </p:nvSpPr>
        <p:spPr>
          <a:xfrm>
            <a:off x="11328400" y="3115171"/>
            <a:ext cx="50800" cy="962620"/>
          </a:xfrm>
          <a:prstGeom prst="rect">
            <a:avLst/>
          </a:prstGeom>
          <a:solidFill>
            <a:srgbClr val="0E7C6B"/>
          </a:solidFill>
          <a:ln>
            <a:noFill/>
          </a:ln>
        </p:spPr>
        <p:txBody>
          <a:bodyPr rtlCol="0" anchor="ctr"/>
          <a:lstStyle/>
          <a:p>
            <a:pPr algn="ctr"/>
          </a:p>
        </p:txBody>
      </p:sp>
      <p:sp>
        <p:nvSpPr>
          <p:cNvPr id="15" name="Rule 14"/>
          <p:cNvSpPr/>
          <p:nvPr/>
        </p:nvSpPr>
        <p:spPr>
          <a:xfrm>
            <a:off x="6197600" y="4071441"/>
            <a:ext cx="5181600" cy="6350"/>
          </a:xfrm>
          <a:prstGeom prst="rect">
            <a:avLst/>
          </a:prstGeom>
          <a:solidFill>
            <a:srgbClr val="E1DBCD"/>
          </a:solidFill>
          <a:ln>
            <a:noFill/>
          </a:ln>
        </p:spPr>
        <p:txBody>
          <a:bodyPr rtlCol="0" anchor="ctr"/>
          <a:lstStyle/>
          <a:p>
            <a:pPr algn="ctr"/>
          </a:p>
        </p:txBody>
      </p:sp>
      <p:sp>
        <p:nvSpPr>
          <p:cNvPr id="16" name="Rule 15"/>
          <p:cNvSpPr/>
          <p:nvPr/>
        </p:nvSpPr>
        <p:spPr>
          <a:xfrm>
            <a:off x="6197600" y="3115171"/>
            <a:ext cx="6350" cy="962620"/>
          </a:xfrm>
          <a:prstGeom prst="rect">
            <a:avLst/>
          </a:prstGeom>
          <a:solidFill>
            <a:srgbClr val="E1DBCD"/>
          </a:solidFill>
          <a:ln>
            <a:noFill/>
          </a:ln>
        </p:spPr>
        <p:txBody>
          <a:bodyPr rtlCol="0" anchor="ctr"/>
          <a:lstStyle/>
          <a:p>
            <a:pPr algn="ctr"/>
          </a:p>
        </p:txBody>
      </p:sp>
      <p:sp>
        <p:nvSpPr>
          <p:cNvPr id="17" name="Text 16"/>
          <p:cNvSpPr txBox="1"/>
          <p:nvPr/>
        </p:nvSpPr>
        <p:spPr>
          <a:xfrm>
            <a:off x="6223000" y="3212199"/>
            <a:ext cx="49657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رسالة طلب تواصل قصيرة</a:t>
            </a:r>
          </a:p>
        </p:txBody>
      </p:sp>
      <p:sp>
        <p:nvSpPr>
          <p:cNvPr id="18" name="Text 17"/>
          <p:cNvSpPr txBox="1"/>
          <p:nvPr/>
        </p:nvSpPr>
        <p:spPr>
          <a:xfrm>
            <a:off x="6223000" y="3468699"/>
            <a:ext cx="4965700" cy="457200"/>
          </a:xfrm>
          <a:prstGeom prst="rect">
            <a:avLst/>
          </a:prstGeom>
          <a:noFill/>
        </p:spPr>
        <p:txBody>
          <a:bodyPr wrap="square" tIns="0" rIns="0" bIns="0" lIns="0" anchor="t" rtlCol="0" anchorCtr="0">
            <a:noAutofit/>
          </a:bodyPr>
          <a:lstStyle/>
          <a:p>
            <a:pPr algn="r" rtl="1">
              <a:lnSpc>
                <a:spcPts val="1800"/>
              </a:lnSpc>
              <a:spcBef>
                <a:spcPts val="0"/>
              </a:spcBef>
              <a:spcAft>
                <a:spcPts val="0"/>
              </a:spcAft>
            </a:pPr>
            <a:r>
              <a:rPr sz="1200" b="0" i="0" lang="ar-SA" altLang="en-US">
                <a:solidFill>
                  <a:srgbClr val="172433"/>
                </a:solidFill>
                <a:latin typeface="IBM Plex Sans Arabic"/>
                <a:ea typeface="IBM Plex Sans Arabic"/>
                <a:cs typeface="IBM Plex Sans Arabic"/>
              </a:rPr>
              <a:t>«أ. نورة، قرأت منشورك عن تقييم الموردين واستفدت منه. أنا في بداية مساري في GRC وأعمل على مشروع سجل مخاطر، ويسعدني التواصل.»</a:t>
            </a:r>
          </a:p>
        </p:txBody>
      </p:sp>
      <p:sp>
        <p:nvSpPr>
          <p:cNvPr id="19" name="Text 18"/>
          <p:cNvSpPr txBox="1"/>
          <p:nvPr/>
        </p:nvSpPr>
        <p:spPr>
          <a:xfrm>
            <a:off x="398272" y="1819362"/>
            <a:ext cx="5596128"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9A5F0F"/>
                </a:solidFill>
                <a:latin typeface="Readex Pro"/>
                <a:ea typeface="Readex Pro"/>
                <a:cs typeface="Readex Pro"/>
              </a:rPr>
              <a:t>ماذا تنشر</a:t>
            </a:r>
          </a:p>
        </p:txBody>
      </p:sp>
      <p:sp>
        <p:nvSpPr>
          <p:cNvPr id="20" name="Box 19"/>
          <p:cNvSpPr/>
          <p:nvPr/>
        </p:nvSpPr>
        <p:spPr>
          <a:xfrm>
            <a:off x="815975" y="2188766"/>
            <a:ext cx="5175250" cy="379710"/>
          </a:xfrm>
          <a:prstGeom prst="roundRect">
            <a:avLst>
              <a:gd name="adj" fmla="val 19737"/>
            </a:avLst>
          </a:prstGeom>
          <a:solidFill>
            <a:srgbClr val="FFFDF8"/>
          </a:solidFill>
          <a:ln w="6350">
            <a:solidFill>
              <a:srgbClr val="E1DBCD"/>
            </a:solidFill>
          </a:ln>
        </p:spPr>
        <p:txBody>
          <a:bodyPr rtlCol="0" anchor="ctr"/>
          <a:lstStyle/>
          <a:p>
            <a:pPr algn="ctr"/>
          </a:p>
        </p:txBody>
      </p:sp>
      <p:sp>
        <p:nvSpPr>
          <p:cNvPr id="21" name="Text 20"/>
          <p:cNvSpPr txBox="1"/>
          <p:nvPr/>
        </p:nvSpPr>
        <p:spPr>
          <a:xfrm>
            <a:off x="5538470" y="2304784"/>
            <a:ext cx="335280" cy="177800"/>
          </a:xfrm>
          <a:prstGeom prst="rect">
            <a:avLst/>
          </a:prstGeom>
          <a:noFill/>
        </p:spPr>
        <p:txBody>
          <a:bodyPr wrap="square" tIns="0" rIns="0" bIns="0" lIns="0" anchor="t" rtlCol="0" anchorCtr="0">
            <a:noAutofit/>
          </a:bodyPr>
          <a:lstStyle/>
          <a:p>
            <a:pPr algn="r">
              <a:lnSpc>
                <a:spcPts val="1400"/>
              </a:lnSpc>
              <a:spcBef>
                <a:spcPts val="0"/>
              </a:spcBef>
              <a:spcAft>
                <a:spcPts val="0"/>
              </a:spcAft>
            </a:pPr>
            <a:r>
              <a:rPr sz="1400" b="1" i="0">
                <a:solidFill>
                  <a:srgbClr val="9A5F0F"/>
                </a:solidFill>
                <a:latin typeface="Readex Pro"/>
                <a:ea typeface="Readex Pro"/>
                <a:cs typeface="Readex Pro"/>
              </a:rPr>
              <a:t>1</a:t>
            </a:r>
          </a:p>
        </p:txBody>
      </p:sp>
      <p:sp>
        <p:nvSpPr>
          <p:cNvPr id="22" name="Text 21"/>
          <p:cNvSpPr txBox="1"/>
          <p:nvPr/>
        </p:nvSpPr>
        <p:spPr>
          <a:xfrm>
            <a:off x="838200" y="2240709"/>
            <a:ext cx="47180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ضابط واحد شرحته بمثال من الواقع</a:t>
            </a:r>
          </a:p>
        </p:txBody>
      </p:sp>
      <p:sp>
        <p:nvSpPr>
          <p:cNvPr id="23" name="Box 22"/>
          <p:cNvSpPr/>
          <p:nvPr/>
        </p:nvSpPr>
        <p:spPr>
          <a:xfrm>
            <a:off x="815975" y="2663726"/>
            <a:ext cx="5175250" cy="379710"/>
          </a:xfrm>
          <a:prstGeom prst="roundRect">
            <a:avLst>
              <a:gd name="adj" fmla="val 19737"/>
            </a:avLst>
          </a:prstGeom>
          <a:solidFill>
            <a:srgbClr val="FFFDF8"/>
          </a:solidFill>
          <a:ln w="6350">
            <a:solidFill>
              <a:srgbClr val="E1DBCD"/>
            </a:solidFill>
          </a:ln>
        </p:spPr>
        <p:txBody>
          <a:bodyPr rtlCol="0" anchor="ctr"/>
          <a:lstStyle/>
          <a:p>
            <a:pPr algn="ctr"/>
          </a:p>
        </p:txBody>
      </p:sp>
      <p:sp>
        <p:nvSpPr>
          <p:cNvPr id="24" name="Text 23"/>
          <p:cNvSpPr txBox="1"/>
          <p:nvPr/>
        </p:nvSpPr>
        <p:spPr>
          <a:xfrm>
            <a:off x="5538470" y="2779744"/>
            <a:ext cx="335280" cy="177800"/>
          </a:xfrm>
          <a:prstGeom prst="rect">
            <a:avLst/>
          </a:prstGeom>
          <a:noFill/>
        </p:spPr>
        <p:txBody>
          <a:bodyPr wrap="square" tIns="0" rIns="0" bIns="0" lIns="0" anchor="t" rtlCol="0" anchorCtr="0">
            <a:noAutofit/>
          </a:bodyPr>
          <a:lstStyle/>
          <a:p>
            <a:pPr algn="r">
              <a:lnSpc>
                <a:spcPts val="1400"/>
              </a:lnSpc>
              <a:spcBef>
                <a:spcPts val="0"/>
              </a:spcBef>
              <a:spcAft>
                <a:spcPts val="0"/>
              </a:spcAft>
            </a:pPr>
            <a:r>
              <a:rPr sz="1400" b="1" i="0">
                <a:solidFill>
                  <a:srgbClr val="9A5F0F"/>
                </a:solidFill>
                <a:latin typeface="Readex Pro"/>
                <a:ea typeface="Readex Pro"/>
                <a:cs typeface="Readex Pro"/>
              </a:rPr>
              <a:t>2</a:t>
            </a:r>
          </a:p>
        </p:txBody>
      </p:sp>
      <p:sp>
        <p:nvSpPr>
          <p:cNvPr id="25" name="Text 24"/>
          <p:cNvSpPr txBox="1"/>
          <p:nvPr/>
        </p:nvSpPr>
        <p:spPr>
          <a:xfrm>
            <a:off x="838200" y="2715669"/>
            <a:ext cx="47180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مشروع من ملف أعمالك مع ما تعلمته منه</a:t>
            </a:r>
          </a:p>
        </p:txBody>
      </p:sp>
      <p:sp>
        <p:nvSpPr>
          <p:cNvPr id="26" name="Box 25"/>
          <p:cNvSpPr/>
          <p:nvPr/>
        </p:nvSpPr>
        <p:spPr>
          <a:xfrm>
            <a:off x="815975" y="3138686"/>
            <a:ext cx="5175250" cy="379710"/>
          </a:xfrm>
          <a:prstGeom prst="roundRect">
            <a:avLst>
              <a:gd name="adj" fmla="val 19737"/>
            </a:avLst>
          </a:prstGeom>
          <a:solidFill>
            <a:srgbClr val="FFFDF8"/>
          </a:solidFill>
          <a:ln w="6350">
            <a:solidFill>
              <a:srgbClr val="E1DBCD"/>
            </a:solidFill>
          </a:ln>
        </p:spPr>
        <p:txBody>
          <a:bodyPr rtlCol="0" anchor="ctr"/>
          <a:lstStyle/>
          <a:p>
            <a:pPr algn="ctr"/>
          </a:p>
        </p:txBody>
      </p:sp>
      <p:sp>
        <p:nvSpPr>
          <p:cNvPr id="27" name="Text 26"/>
          <p:cNvSpPr txBox="1"/>
          <p:nvPr/>
        </p:nvSpPr>
        <p:spPr>
          <a:xfrm>
            <a:off x="5538470" y="3254704"/>
            <a:ext cx="335280" cy="177800"/>
          </a:xfrm>
          <a:prstGeom prst="rect">
            <a:avLst/>
          </a:prstGeom>
          <a:noFill/>
        </p:spPr>
        <p:txBody>
          <a:bodyPr wrap="square" tIns="0" rIns="0" bIns="0" lIns="0" anchor="t" rtlCol="0" anchorCtr="0">
            <a:noAutofit/>
          </a:bodyPr>
          <a:lstStyle/>
          <a:p>
            <a:pPr algn="r">
              <a:lnSpc>
                <a:spcPts val="1400"/>
              </a:lnSpc>
              <a:spcBef>
                <a:spcPts val="0"/>
              </a:spcBef>
              <a:spcAft>
                <a:spcPts val="0"/>
              </a:spcAft>
            </a:pPr>
            <a:r>
              <a:rPr sz="1400" b="1" i="0">
                <a:solidFill>
                  <a:srgbClr val="9A5F0F"/>
                </a:solidFill>
                <a:latin typeface="Readex Pro"/>
                <a:ea typeface="Readex Pro"/>
                <a:cs typeface="Readex Pro"/>
              </a:rPr>
              <a:t>3</a:t>
            </a:r>
          </a:p>
        </p:txBody>
      </p:sp>
      <p:sp>
        <p:nvSpPr>
          <p:cNvPr id="28" name="Text 27"/>
          <p:cNvSpPr txBox="1"/>
          <p:nvPr/>
        </p:nvSpPr>
        <p:spPr>
          <a:xfrm>
            <a:off x="838200" y="3190629"/>
            <a:ext cx="47180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خلاصة فعالية أو ورشة حضرتها</a:t>
            </a:r>
          </a:p>
        </p:txBody>
      </p:sp>
      <p:sp>
        <p:nvSpPr>
          <p:cNvPr id="29" name="Box 28"/>
          <p:cNvSpPr/>
          <p:nvPr/>
        </p:nvSpPr>
        <p:spPr>
          <a:xfrm>
            <a:off x="815975" y="3613646"/>
            <a:ext cx="5175250" cy="379710"/>
          </a:xfrm>
          <a:prstGeom prst="roundRect">
            <a:avLst>
              <a:gd name="adj" fmla="val 19737"/>
            </a:avLst>
          </a:prstGeom>
          <a:solidFill>
            <a:srgbClr val="FFFDF8"/>
          </a:solidFill>
          <a:ln w="6350">
            <a:solidFill>
              <a:srgbClr val="E1DBCD"/>
            </a:solidFill>
          </a:ln>
        </p:spPr>
        <p:txBody>
          <a:bodyPr rtlCol="0" anchor="ctr"/>
          <a:lstStyle/>
          <a:p>
            <a:pPr algn="ctr"/>
          </a:p>
        </p:txBody>
      </p:sp>
      <p:sp>
        <p:nvSpPr>
          <p:cNvPr id="30" name="Text 29"/>
          <p:cNvSpPr txBox="1"/>
          <p:nvPr/>
        </p:nvSpPr>
        <p:spPr>
          <a:xfrm>
            <a:off x="5538470" y="3729665"/>
            <a:ext cx="335280" cy="177800"/>
          </a:xfrm>
          <a:prstGeom prst="rect">
            <a:avLst/>
          </a:prstGeom>
          <a:noFill/>
        </p:spPr>
        <p:txBody>
          <a:bodyPr wrap="square" tIns="0" rIns="0" bIns="0" lIns="0" anchor="t" rtlCol="0" anchorCtr="0">
            <a:noAutofit/>
          </a:bodyPr>
          <a:lstStyle/>
          <a:p>
            <a:pPr algn="r">
              <a:lnSpc>
                <a:spcPts val="1400"/>
              </a:lnSpc>
              <a:spcBef>
                <a:spcPts val="0"/>
              </a:spcBef>
              <a:spcAft>
                <a:spcPts val="0"/>
              </a:spcAft>
            </a:pPr>
            <a:r>
              <a:rPr sz="1400" b="1" i="0">
                <a:solidFill>
                  <a:srgbClr val="9A5F0F"/>
                </a:solidFill>
                <a:latin typeface="Readex Pro"/>
                <a:ea typeface="Readex Pro"/>
                <a:cs typeface="Readex Pro"/>
              </a:rPr>
              <a:t>4</a:t>
            </a:r>
          </a:p>
        </p:txBody>
      </p:sp>
      <p:sp>
        <p:nvSpPr>
          <p:cNvPr id="31" name="Text 30"/>
          <p:cNvSpPr txBox="1"/>
          <p:nvPr/>
        </p:nvSpPr>
        <p:spPr>
          <a:xfrm>
            <a:off x="838200" y="3665589"/>
            <a:ext cx="47180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تعليق مفيد على منشور مختص، لا «شكراً» فقط</a:t>
            </a:r>
          </a:p>
        </p:txBody>
      </p:sp>
      <p:sp>
        <p:nvSpPr>
          <p:cNvPr id="32" name="Box 31"/>
          <p:cNvSpPr/>
          <p:nvPr/>
        </p:nvSpPr>
        <p:spPr>
          <a:xfrm>
            <a:off x="815975" y="4088606"/>
            <a:ext cx="5175250" cy="379710"/>
          </a:xfrm>
          <a:prstGeom prst="roundRect">
            <a:avLst>
              <a:gd name="adj" fmla="val 19737"/>
            </a:avLst>
          </a:prstGeom>
          <a:solidFill>
            <a:srgbClr val="FBEAE5"/>
          </a:solidFill>
          <a:ln w="6350">
            <a:solidFill>
              <a:srgbClr val="E7B8AC"/>
            </a:solidFill>
          </a:ln>
        </p:spPr>
        <p:txBody>
          <a:bodyPr rtlCol="0" anchor="ctr"/>
          <a:lstStyle/>
          <a:p>
            <a:pPr algn="ctr"/>
          </a:p>
        </p:txBody>
      </p:sp>
      <p:pic>
        <p:nvPicPr>
          <p:cNvPr id="33" name="Icon Warning 32" descr="icon062.png"/>
          <p:cNvPicPr>
            <a:picLocks noChangeAspect="1"/>
          </p:cNvPicPr>
          <p:nvPr/>
        </p:nvPicPr>
        <p:blipFill>
          <a:blip r:embed="rId5"/>
          <a:stretch>
            <a:fillRect/>
          </a:stretch>
        </p:blipFill>
        <p:spPr>
          <a:xfrm>
            <a:off x="5695950" y="4167981"/>
            <a:ext cx="177800" cy="177800"/>
          </a:xfrm>
          <a:prstGeom prst="rect">
            <a:avLst/>
          </a:prstGeom>
        </p:spPr>
      </p:pic>
      <p:sp>
        <p:nvSpPr>
          <p:cNvPr id="34" name="Text 33"/>
          <p:cNvSpPr txBox="1"/>
          <p:nvPr/>
        </p:nvSpPr>
        <p:spPr>
          <a:xfrm>
            <a:off x="838200" y="4140549"/>
            <a:ext cx="47815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لا تنشر أي تفصيل عن ضوابط أو ثغرات جهة عملت أو تدربت فيها.</a:t>
            </a:r>
          </a:p>
        </p:txBody>
      </p:sp>
      <p:sp>
        <p:nvSpPr>
          <p:cNvPr id="35" name="Text 34"/>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08 · LinkedIn</a:t>
            </a:r>
          </a:p>
        </p:txBody>
      </p:sp>
      <p:sp>
        <p:nvSpPr>
          <p:cNvPr id="36" name="Text 35"/>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745762" y="812800"/>
            <a:ext cx="1633438"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08 · LinkedIn</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البحث عن الوظائف: «Open to Work» والكلمات الصحيحة</a:t>
            </a:r>
          </a:p>
        </p:txBody>
      </p:sp>
      <p:sp>
        <p:nvSpPr>
          <p:cNvPr id="5" name="Text 4"/>
          <p:cNvSpPr txBox="1"/>
          <p:nvPr/>
        </p:nvSpPr>
        <p:spPr>
          <a:xfrm>
            <a:off x="5783072" y="1819362"/>
            <a:ext cx="5596128"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0E7C6B"/>
                </a:solidFill>
                <a:latin typeface="Readex Pro"/>
                <a:ea typeface="Readex Pro"/>
                <a:cs typeface="Readex Pro"/>
              </a:rPr>
              <a:t>فعّل «Open to Work»</a:t>
            </a:r>
          </a:p>
        </p:txBody>
      </p:sp>
      <p:sp>
        <p:nvSpPr>
          <p:cNvPr id="6" name="Text 5"/>
          <p:cNvSpPr txBox="1"/>
          <p:nvPr/>
        </p:nvSpPr>
        <p:spPr>
          <a:xfrm>
            <a:off x="6197600" y="2158159"/>
            <a:ext cx="5596128" cy="220960"/>
          </a:xfrm>
          <a:prstGeom prst="rect">
            <a:avLst/>
          </a:prstGeom>
          <a:noFill/>
        </p:spPr>
        <p:txBody>
          <a:bodyPr wrap="square" tIns="0" rIns="0" bIns="0" lIns="0" anchor="t" rtlCol="0" anchorCtr="0">
            <a:noAutofit/>
          </a:bodyPr>
          <a:lstStyle/>
          <a:p>
            <a:pPr algn="l">
              <a:lnSpc>
                <a:spcPts val="1739"/>
              </a:lnSpc>
              <a:spcBef>
                <a:spcPts val="0"/>
              </a:spcBef>
              <a:spcAft>
                <a:spcPts val="0"/>
              </a:spcAft>
            </a:pPr>
            <a:r>
              <a:rPr sz="1200" b="0" i="0">
                <a:solidFill>
                  <a:srgbClr val="4E5A66"/>
                </a:solidFill>
                <a:latin typeface="IBM Plex Sans Arabic"/>
                <a:ea typeface="IBM Plex Sans Arabic"/>
                <a:cs typeface="IBM Plex Sans Arabic"/>
              </a:rPr>
              <a:t>Me → View profile → Open to → Finding a new job</a:t>
            </a:r>
          </a:p>
        </p:txBody>
      </p:sp>
      <p:sp>
        <p:nvSpPr>
          <p:cNvPr id="7" name="Box 6"/>
          <p:cNvSpPr/>
          <p:nvPr/>
        </p:nvSpPr>
        <p:spPr>
          <a:xfrm>
            <a:off x="8832850" y="2495451"/>
            <a:ext cx="2546350" cy="926703"/>
          </a:xfrm>
          <a:prstGeom prst="roundRect">
            <a:avLst>
              <a:gd name="adj" fmla="val 8222"/>
            </a:avLst>
          </a:prstGeom>
          <a:solidFill>
            <a:srgbClr val="FFFDF8"/>
          </a:solidFill>
          <a:ln>
            <a:noFill/>
          </a:ln>
        </p:spPr>
        <p:txBody>
          <a:bodyPr rtlCol="0" anchor="ctr"/>
          <a:lstStyle/>
          <a:p>
            <a:pPr algn="ctr"/>
          </a:p>
        </p:txBody>
      </p:sp>
      <p:sp>
        <p:nvSpPr>
          <p:cNvPr id="8" name="Rule 7"/>
          <p:cNvSpPr/>
          <p:nvPr/>
        </p:nvSpPr>
        <p:spPr>
          <a:xfrm>
            <a:off x="8832850" y="2495451"/>
            <a:ext cx="2546350" cy="38100"/>
          </a:xfrm>
          <a:prstGeom prst="rect">
            <a:avLst/>
          </a:prstGeom>
          <a:solidFill>
            <a:srgbClr val="0E7C6B"/>
          </a:solidFill>
          <a:ln>
            <a:noFill/>
          </a:ln>
        </p:spPr>
        <p:txBody>
          <a:bodyPr rtlCol="0" anchor="ctr"/>
          <a:lstStyle/>
          <a:p>
            <a:pPr algn="ctr"/>
          </a:p>
        </p:txBody>
      </p:sp>
      <p:sp>
        <p:nvSpPr>
          <p:cNvPr id="9" name="Rule 8"/>
          <p:cNvSpPr/>
          <p:nvPr/>
        </p:nvSpPr>
        <p:spPr>
          <a:xfrm>
            <a:off x="11372850" y="2495451"/>
            <a:ext cx="6350" cy="926703"/>
          </a:xfrm>
          <a:prstGeom prst="rect">
            <a:avLst/>
          </a:prstGeom>
          <a:solidFill>
            <a:srgbClr val="E1DBCD"/>
          </a:solidFill>
          <a:ln>
            <a:noFill/>
          </a:ln>
        </p:spPr>
        <p:txBody>
          <a:bodyPr rtlCol="0" anchor="ctr"/>
          <a:lstStyle/>
          <a:p>
            <a:pPr algn="ctr"/>
          </a:p>
        </p:txBody>
      </p:sp>
      <p:sp>
        <p:nvSpPr>
          <p:cNvPr id="10" name="Rule 9"/>
          <p:cNvSpPr/>
          <p:nvPr/>
        </p:nvSpPr>
        <p:spPr>
          <a:xfrm>
            <a:off x="8832850" y="3415804"/>
            <a:ext cx="2546350" cy="6350"/>
          </a:xfrm>
          <a:prstGeom prst="rect">
            <a:avLst/>
          </a:prstGeom>
          <a:solidFill>
            <a:srgbClr val="E1DBCD"/>
          </a:solidFill>
          <a:ln>
            <a:noFill/>
          </a:ln>
        </p:spPr>
        <p:txBody>
          <a:bodyPr rtlCol="0" anchor="ctr"/>
          <a:lstStyle/>
          <a:p>
            <a:pPr algn="ctr"/>
          </a:p>
        </p:txBody>
      </p:sp>
      <p:sp>
        <p:nvSpPr>
          <p:cNvPr id="11" name="Rule 10"/>
          <p:cNvSpPr/>
          <p:nvPr/>
        </p:nvSpPr>
        <p:spPr>
          <a:xfrm>
            <a:off x="8832850" y="2495451"/>
            <a:ext cx="6350" cy="926703"/>
          </a:xfrm>
          <a:prstGeom prst="rect">
            <a:avLst/>
          </a:prstGeom>
          <a:solidFill>
            <a:srgbClr val="E1DBCD"/>
          </a:solidFill>
          <a:ln>
            <a:noFill/>
          </a:ln>
        </p:spPr>
        <p:txBody>
          <a:bodyPr rtlCol="0" anchor="ctr"/>
          <a:lstStyle/>
          <a:p>
            <a:pPr algn="ctr"/>
          </a:p>
        </p:txBody>
      </p:sp>
      <p:sp>
        <p:nvSpPr>
          <p:cNvPr id="12" name="Text 11"/>
          <p:cNvSpPr txBox="1"/>
          <p:nvPr/>
        </p:nvSpPr>
        <p:spPr>
          <a:xfrm>
            <a:off x="8858250" y="2614513"/>
            <a:ext cx="240030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lang="ar-SA" altLang="en-US">
                <a:solidFill>
                  <a:srgbClr val="172433"/>
                </a:solidFill>
                <a:latin typeface="IBM Plex Sans Arabic"/>
                <a:ea typeface="IBM Plex Sans Arabic"/>
                <a:cs typeface="IBM Plex Sans Arabic"/>
              </a:rPr>
              <a:t>كل الأعضاء</a:t>
            </a:r>
          </a:p>
        </p:txBody>
      </p:sp>
      <p:sp>
        <p:nvSpPr>
          <p:cNvPr id="13" name="Text 12"/>
          <p:cNvSpPr txBox="1"/>
          <p:nvPr/>
        </p:nvSpPr>
        <p:spPr>
          <a:xfrm>
            <a:off x="8884348" y="2863941"/>
            <a:ext cx="2374202"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يراه الجميع، ويضيف إطار #OpenToWork على صورتك.</a:t>
            </a:r>
          </a:p>
        </p:txBody>
      </p:sp>
      <p:sp>
        <p:nvSpPr>
          <p:cNvPr id="14" name="Box 13"/>
          <p:cNvSpPr/>
          <p:nvPr/>
        </p:nvSpPr>
        <p:spPr>
          <a:xfrm>
            <a:off x="6197600" y="2495451"/>
            <a:ext cx="2546350" cy="926703"/>
          </a:xfrm>
          <a:prstGeom prst="roundRect">
            <a:avLst>
              <a:gd name="adj" fmla="val 8222"/>
            </a:avLst>
          </a:prstGeom>
          <a:solidFill>
            <a:srgbClr val="FFFDF8"/>
          </a:solidFill>
          <a:ln>
            <a:noFill/>
          </a:ln>
        </p:spPr>
        <p:txBody>
          <a:bodyPr rtlCol="0" anchor="ctr"/>
          <a:lstStyle/>
          <a:p>
            <a:pPr algn="ctr"/>
          </a:p>
        </p:txBody>
      </p:sp>
      <p:sp>
        <p:nvSpPr>
          <p:cNvPr id="15" name="Rule 14"/>
          <p:cNvSpPr/>
          <p:nvPr/>
        </p:nvSpPr>
        <p:spPr>
          <a:xfrm>
            <a:off x="6197600" y="2495451"/>
            <a:ext cx="2546350" cy="38100"/>
          </a:xfrm>
          <a:prstGeom prst="rect">
            <a:avLst/>
          </a:prstGeom>
          <a:solidFill>
            <a:srgbClr val="24506B"/>
          </a:solidFill>
          <a:ln>
            <a:noFill/>
          </a:ln>
        </p:spPr>
        <p:txBody>
          <a:bodyPr rtlCol="0" anchor="ctr"/>
          <a:lstStyle/>
          <a:p>
            <a:pPr algn="ctr"/>
          </a:p>
        </p:txBody>
      </p:sp>
      <p:sp>
        <p:nvSpPr>
          <p:cNvPr id="16" name="Rule 15"/>
          <p:cNvSpPr/>
          <p:nvPr/>
        </p:nvSpPr>
        <p:spPr>
          <a:xfrm>
            <a:off x="8737600" y="2495451"/>
            <a:ext cx="6350" cy="926703"/>
          </a:xfrm>
          <a:prstGeom prst="rect">
            <a:avLst/>
          </a:prstGeom>
          <a:solidFill>
            <a:srgbClr val="E1DBCD"/>
          </a:solidFill>
          <a:ln>
            <a:noFill/>
          </a:ln>
        </p:spPr>
        <p:txBody>
          <a:bodyPr rtlCol="0" anchor="ctr"/>
          <a:lstStyle/>
          <a:p>
            <a:pPr algn="ctr"/>
          </a:p>
        </p:txBody>
      </p:sp>
      <p:sp>
        <p:nvSpPr>
          <p:cNvPr id="17" name="Rule 16"/>
          <p:cNvSpPr/>
          <p:nvPr/>
        </p:nvSpPr>
        <p:spPr>
          <a:xfrm>
            <a:off x="6197600" y="3415804"/>
            <a:ext cx="2546350" cy="6350"/>
          </a:xfrm>
          <a:prstGeom prst="rect">
            <a:avLst/>
          </a:prstGeom>
          <a:solidFill>
            <a:srgbClr val="E1DBCD"/>
          </a:solidFill>
          <a:ln>
            <a:noFill/>
          </a:ln>
        </p:spPr>
        <p:txBody>
          <a:bodyPr rtlCol="0" anchor="ctr"/>
          <a:lstStyle/>
          <a:p>
            <a:pPr algn="ctr"/>
          </a:p>
        </p:txBody>
      </p:sp>
      <p:sp>
        <p:nvSpPr>
          <p:cNvPr id="18" name="Rule 17"/>
          <p:cNvSpPr/>
          <p:nvPr/>
        </p:nvSpPr>
        <p:spPr>
          <a:xfrm>
            <a:off x="6197600" y="2495451"/>
            <a:ext cx="6350" cy="926703"/>
          </a:xfrm>
          <a:prstGeom prst="rect">
            <a:avLst/>
          </a:prstGeom>
          <a:solidFill>
            <a:srgbClr val="E1DBCD"/>
          </a:solidFill>
          <a:ln>
            <a:noFill/>
          </a:ln>
        </p:spPr>
        <p:txBody>
          <a:bodyPr rtlCol="0" anchor="ctr"/>
          <a:lstStyle/>
          <a:p>
            <a:pPr algn="ctr"/>
          </a:p>
        </p:txBody>
      </p:sp>
      <p:sp>
        <p:nvSpPr>
          <p:cNvPr id="19" name="Text 18"/>
          <p:cNvSpPr txBox="1"/>
          <p:nvPr/>
        </p:nvSpPr>
        <p:spPr>
          <a:xfrm>
            <a:off x="6223000" y="2614513"/>
            <a:ext cx="240030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lang="ar-SA" altLang="en-US">
                <a:solidFill>
                  <a:srgbClr val="172433"/>
                </a:solidFill>
                <a:latin typeface="IBM Plex Sans Arabic"/>
                <a:ea typeface="IBM Plex Sans Arabic"/>
                <a:cs typeface="IBM Plex Sans Arabic"/>
              </a:rPr>
              <a:t>مسؤولو التوظيف فقط</a:t>
            </a:r>
          </a:p>
        </p:txBody>
      </p:sp>
      <p:sp>
        <p:nvSpPr>
          <p:cNvPr id="20" name="Text 19"/>
          <p:cNvSpPr txBox="1"/>
          <p:nvPr/>
        </p:nvSpPr>
        <p:spPr>
          <a:xfrm>
            <a:off x="6249098" y="2863941"/>
            <a:ext cx="2374202"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لا تضمن LinkedIn إخفاءه تماماً عن جهتك الحالية.</a:t>
            </a:r>
          </a:p>
        </p:txBody>
      </p:sp>
      <p:sp>
        <p:nvSpPr>
          <p:cNvPr id="21" name="Text 20"/>
          <p:cNvSpPr txBox="1"/>
          <p:nvPr/>
        </p:nvSpPr>
        <p:spPr>
          <a:xfrm>
            <a:off x="5783072" y="3483622"/>
            <a:ext cx="5596128"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حدد المسميات، والمدن، ونوع العمل: حضوري أو عن بعد.</a:t>
            </a:r>
          </a:p>
        </p:txBody>
      </p:sp>
      <p:sp>
        <p:nvSpPr>
          <p:cNvPr id="22" name="Text 21"/>
          <p:cNvSpPr txBox="1"/>
          <p:nvPr/>
        </p:nvSpPr>
        <p:spPr>
          <a:xfrm>
            <a:off x="398272" y="1819362"/>
            <a:ext cx="5596128"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9A5F0F"/>
                </a:solidFill>
                <a:latin typeface="Readex Pro"/>
                <a:ea typeface="Readex Pro"/>
                <a:cs typeface="Readex Pro"/>
              </a:rPr>
              <a:t>ابحث بأكثر من مسمى</a:t>
            </a:r>
          </a:p>
        </p:txBody>
      </p:sp>
      <p:sp>
        <p:nvSpPr>
          <p:cNvPr id="23" name="Text box 22"/>
          <p:cNvSpPr/>
          <p:nvPr/>
        </p:nvSpPr>
        <p:spPr>
          <a:xfrm>
            <a:off x="4941491" y="2188766"/>
            <a:ext cx="1049734" cy="280591"/>
          </a:xfrm>
          <a:prstGeom prst="roundRect">
            <a:avLst>
              <a:gd name="adj" fmla="val 50000"/>
            </a:avLst>
          </a:prstGeom>
          <a:solidFill>
            <a:srgbClr val="FFFDF8"/>
          </a:solidFill>
          <a:ln w="6350">
            <a:solidFill>
              <a:srgbClr val="E1DBCD"/>
            </a:solidFill>
          </a:ln>
        </p:spPr>
        <p:txBody>
          <a:bodyPr rtlCol="0" anchor="ctr" wrap="square" tIns="0" rIns="63684" bIns="32004" lIns="0" anchorCtr="0">
            <a:noAutofit/>
          </a:bodyPr>
          <a:lstStyle/>
          <a:p>
            <a:pPr algn="r">
              <a:lnSpc>
                <a:spcPts val="1560"/>
              </a:lnSpc>
              <a:spcBef>
                <a:spcPts val="0"/>
              </a:spcBef>
              <a:spcAft>
                <a:spcPts val="0"/>
              </a:spcAft>
            </a:pPr>
            <a:r>
              <a:rPr sz="1200" b="0" i="0">
                <a:solidFill>
                  <a:srgbClr val="172433"/>
                </a:solidFill>
                <a:latin typeface="IBM Plex Sans Arabic"/>
                <a:ea typeface="IBM Plex Sans Arabic"/>
                <a:cs typeface="IBM Plex Sans Arabic"/>
              </a:rPr>
              <a:t>GRC Analyst</a:t>
            </a:r>
          </a:p>
        </p:txBody>
      </p:sp>
      <p:sp>
        <p:nvSpPr>
          <p:cNvPr id="24" name="Text box 23"/>
          <p:cNvSpPr/>
          <p:nvPr/>
        </p:nvSpPr>
        <p:spPr>
          <a:xfrm>
            <a:off x="2874367" y="2188766"/>
            <a:ext cx="1997273" cy="280591"/>
          </a:xfrm>
          <a:prstGeom prst="roundRect">
            <a:avLst>
              <a:gd name="adj" fmla="val 50000"/>
            </a:avLst>
          </a:prstGeom>
          <a:solidFill>
            <a:srgbClr val="FFFDF8"/>
          </a:solidFill>
          <a:ln w="6350">
            <a:solidFill>
              <a:srgbClr val="E1DBCD"/>
            </a:solidFill>
          </a:ln>
        </p:spPr>
        <p:txBody>
          <a:bodyPr rtlCol="0" anchor="ctr" wrap="square" tIns="0" rIns="63684" bIns="32004" lIns="0" anchorCtr="0">
            <a:noAutofit/>
          </a:bodyPr>
          <a:lstStyle/>
          <a:p>
            <a:pPr algn="r">
              <a:lnSpc>
                <a:spcPts val="1560"/>
              </a:lnSpc>
              <a:spcBef>
                <a:spcPts val="0"/>
              </a:spcBef>
              <a:spcAft>
                <a:spcPts val="0"/>
              </a:spcAft>
            </a:pPr>
            <a:r>
              <a:rPr sz="1200" b="0" i="0">
                <a:solidFill>
                  <a:srgbClr val="172433"/>
                </a:solidFill>
                <a:latin typeface="IBM Plex Sans Arabic"/>
                <a:ea typeface="IBM Plex Sans Arabic"/>
                <a:cs typeface="IBM Plex Sans Arabic"/>
              </a:rPr>
              <a:t>Cybersecurity Compliance</a:t>
            </a:r>
          </a:p>
        </p:txBody>
      </p:sp>
      <p:sp>
        <p:nvSpPr>
          <p:cNvPr id="25" name="Text box 24"/>
          <p:cNvSpPr/>
          <p:nvPr/>
        </p:nvSpPr>
        <p:spPr>
          <a:xfrm>
            <a:off x="1578074" y="2188766"/>
            <a:ext cx="1226443" cy="280591"/>
          </a:xfrm>
          <a:prstGeom prst="roundRect">
            <a:avLst>
              <a:gd name="adj" fmla="val 50000"/>
            </a:avLst>
          </a:prstGeom>
          <a:solidFill>
            <a:srgbClr val="FFFDF8"/>
          </a:solidFill>
          <a:ln w="6350">
            <a:solidFill>
              <a:srgbClr val="E1DBCD"/>
            </a:solidFill>
          </a:ln>
        </p:spPr>
        <p:txBody>
          <a:bodyPr rtlCol="0" anchor="ctr" wrap="square" tIns="0" rIns="63684" bIns="32004" lIns="0" anchorCtr="0">
            <a:noAutofit/>
          </a:bodyPr>
          <a:lstStyle/>
          <a:p>
            <a:pPr algn="r">
              <a:lnSpc>
                <a:spcPts val="1560"/>
              </a:lnSpc>
              <a:spcBef>
                <a:spcPts val="0"/>
              </a:spcBef>
              <a:spcAft>
                <a:spcPts val="0"/>
              </a:spcAft>
            </a:pPr>
            <a:r>
              <a:rPr sz="1200" b="0" i="0">
                <a:solidFill>
                  <a:srgbClr val="172433"/>
                </a:solidFill>
                <a:latin typeface="IBM Plex Sans Arabic"/>
                <a:ea typeface="IBM Plex Sans Arabic"/>
                <a:cs typeface="IBM Plex Sans Arabic"/>
              </a:rPr>
              <a:t>IT Risk Analyst</a:t>
            </a:r>
          </a:p>
        </p:txBody>
      </p:sp>
      <p:sp>
        <p:nvSpPr>
          <p:cNvPr id="26" name="Text box 25"/>
          <p:cNvSpPr/>
          <p:nvPr/>
        </p:nvSpPr>
        <p:spPr>
          <a:xfrm>
            <a:off x="5093692" y="2539206"/>
            <a:ext cx="897533" cy="280591"/>
          </a:xfrm>
          <a:prstGeom prst="roundRect">
            <a:avLst>
              <a:gd name="adj" fmla="val 50000"/>
            </a:avLst>
          </a:prstGeom>
          <a:solidFill>
            <a:srgbClr val="FFFDF8"/>
          </a:solidFill>
          <a:ln w="6350">
            <a:solidFill>
              <a:srgbClr val="E1DBCD"/>
            </a:solidFill>
          </a:ln>
        </p:spPr>
        <p:txBody>
          <a:bodyPr rtlCol="0" anchor="ctr" wrap="square" tIns="0" rIns="63684" bIns="32004" lIns="0" anchorCtr="0">
            <a:noAutofit/>
          </a:bodyPr>
          <a:lstStyle/>
          <a:p>
            <a:pPr algn="r">
              <a:lnSpc>
                <a:spcPts val="1560"/>
              </a:lnSpc>
              <a:spcBef>
                <a:spcPts val="0"/>
              </a:spcBef>
              <a:spcAft>
                <a:spcPts val="0"/>
              </a:spcAft>
            </a:pPr>
            <a:r>
              <a:rPr sz="1200" b="0" i="0">
                <a:solidFill>
                  <a:srgbClr val="172433"/>
                </a:solidFill>
                <a:latin typeface="IBM Plex Sans Arabic"/>
                <a:ea typeface="IBM Plex Sans Arabic"/>
                <a:cs typeface="IBM Plex Sans Arabic"/>
              </a:rPr>
              <a:t>IT Auditor</a:t>
            </a:r>
          </a:p>
        </p:txBody>
      </p:sp>
      <p:sp>
        <p:nvSpPr>
          <p:cNvPr id="27" name="Text box 26"/>
          <p:cNvSpPr/>
          <p:nvPr/>
        </p:nvSpPr>
        <p:spPr>
          <a:xfrm>
            <a:off x="2989362" y="2539206"/>
            <a:ext cx="2034480" cy="280591"/>
          </a:xfrm>
          <a:prstGeom prst="roundRect">
            <a:avLst>
              <a:gd name="adj" fmla="val 50000"/>
            </a:avLst>
          </a:prstGeom>
          <a:solidFill>
            <a:srgbClr val="FFFDF8"/>
          </a:solidFill>
          <a:ln w="6350">
            <a:solidFill>
              <a:srgbClr val="E1DBCD"/>
            </a:solidFill>
          </a:ln>
        </p:spPr>
        <p:txBody>
          <a:bodyPr rtlCol="0" anchor="ctr" wrap="square" tIns="0" rIns="63684" bIns="32004" lIns="0" anchorCtr="0">
            <a:noAutofit/>
          </a:bodyPr>
          <a:lstStyle/>
          <a:p>
            <a:pPr algn="r">
              <a:lnSpc>
                <a:spcPts val="1560"/>
              </a:lnSpc>
              <a:spcBef>
                <a:spcPts val="0"/>
              </a:spcBef>
              <a:spcAft>
                <a:spcPts val="0"/>
              </a:spcAft>
            </a:pPr>
            <a:r>
              <a:rPr sz="1200" b="0" i="0">
                <a:solidFill>
                  <a:srgbClr val="172433"/>
                </a:solidFill>
                <a:latin typeface="IBM Plex Sans Arabic"/>
                <a:ea typeface="IBM Plex Sans Arabic"/>
                <a:cs typeface="IBM Plex Sans Arabic"/>
              </a:rPr>
              <a:t>Security Controls Assessor</a:t>
            </a:r>
          </a:p>
        </p:txBody>
      </p:sp>
      <p:sp>
        <p:nvSpPr>
          <p:cNvPr id="28" name="Text box 27"/>
          <p:cNvSpPr/>
          <p:nvPr/>
        </p:nvSpPr>
        <p:spPr>
          <a:xfrm>
            <a:off x="828675" y="2539206"/>
            <a:ext cx="2090837" cy="280591"/>
          </a:xfrm>
          <a:prstGeom prst="roundRect">
            <a:avLst>
              <a:gd name="adj" fmla="val 50000"/>
            </a:avLst>
          </a:prstGeom>
          <a:solidFill>
            <a:srgbClr val="FFFDF8"/>
          </a:solidFill>
          <a:ln w="6350">
            <a:solidFill>
              <a:srgbClr val="E1DBCD"/>
            </a:solidFill>
          </a:ln>
        </p:spPr>
        <p:txBody>
          <a:bodyPr rtlCol="0" anchor="ctr" wrap="square" tIns="0" rIns="63684" bIns="32004" lIns="0" anchorCtr="0">
            <a:noAutofit/>
          </a:bodyPr>
          <a:lstStyle/>
          <a:p>
            <a:pPr algn="r">
              <a:lnSpc>
                <a:spcPts val="1560"/>
              </a:lnSpc>
              <a:spcBef>
                <a:spcPts val="0"/>
              </a:spcBef>
              <a:spcAft>
                <a:spcPts val="0"/>
              </a:spcAft>
            </a:pPr>
            <a:r>
              <a:rPr sz="1200" b="0" i="0">
                <a:solidFill>
                  <a:srgbClr val="172433"/>
                </a:solidFill>
                <a:latin typeface="IBM Plex Sans Arabic"/>
                <a:ea typeface="IBM Plex Sans Arabic"/>
                <a:cs typeface="IBM Plex Sans Arabic"/>
              </a:rPr>
              <a:t>Cybersecurity Policy Officer</a:t>
            </a:r>
          </a:p>
        </p:txBody>
      </p:sp>
      <p:sp>
        <p:nvSpPr>
          <p:cNvPr id="29" name="Text box 28"/>
          <p:cNvSpPr/>
          <p:nvPr/>
        </p:nvSpPr>
        <p:spPr>
          <a:xfrm>
            <a:off x="4574282" y="2889647"/>
            <a:ext cx="1416943" cy="280591"/>
          </a:xfrm>
          <a:prstGeom prst="roundRect">
            <a:avLst>
              <a:gd name="adj" fmla="val 50000"/>
            </a:avLst>
          </a:prstGeom>
          <a:solidFill>
            <a:srgbClr val="FFFDF8"/>
          </a:solidFill>
          <a:ln w="6350">
            <a:solidFill>
              <a:srgbClr val="E1DBCD"/>
            </a:solidFill>
          </a:ln>
        </p:spPr>
        <p:txBody>
          <a:bodyPr rtlCol="0" anchor="ctr" wrap="square" tIns="0" rIns="63684" bIns="32004" lIns="0" anchorCtr="0">
            <a:noAutofit/>
          </a:bodyPr>
          <a:lstStyle/>
          <a:p>
            <a:pPr algn="r" rtl="1">
              <a:lnSpc>
                <a:spcPts val="1560"/>
              </a:lnSpc>
              <a:spcBef>
                <a:spcPts val="0"/>
              </a:spcBef>
              <a:spcAft>
                <a:spcPts val="0"/>
              </a:spcAft>
            </a:pPr>
            <a:r>
              <a:rPr sz="1200" b="0" i="0" lang="ar-SA" altLang="en-US">
                <a:solidFill>
                  <a:srgbClr val="172433"/>
                </a:solidFill>
                <a:latin typeface="IBM Plex Sans Arabic"/>
                <a:ea typeface="IBM Plex Sans Arabic"/>
                <a:cs typeface="IBM Plex Sans Arabic"/>
              </a:rPr>
              <a:t>محلل حوكمة ومخاطر</a:t>
            </a:r>
          </a:p>
        </p:txBody>
      </p:sp>
      <p:pic>
        <p:nvPicPr>
          <p:cNvPr id="30" name="Icon Clock 29" descr="icon063.png"/>
          <p:cNvPicPr>
            <a:picLocks noChangeAspect="1"/>
          </p:cNvPicPr>
          <p:nvPr/>
        </p:nvPicPr>
        <p:blipFill>
          <a:blip r:embed="rId2"/>
          <a:stretch>
            <a:fillRect/>
          </a:stretch>
        </p:blipFill>
        <p:spPr>
          <a:xfrm>
            <a:off x="5816600" y="3262312"/>
            <a:ext cx="177800" cy="177800"/>
          </a:xfrm>
          <a:prstGeom prst="rect">
            <a:avLst/>
          </a:prstGeom>
        </p:spPr>
      </p:pic>
      <p:sp>
        <p:nvSpPr>
          <p:cNvPr id="31" name="Text 30"/>
          <p:cNvSpPr txBox="1"/>
          <p:nvPr/>
        </p:nvSpPr>
        <p:spPr>
          <a:xfrm>
            <a:off x="418592" y="3234880"/>
            <a:ext cx="5321808"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فعّل تنبيه وظائف لكل مسمى، وقدّم مبكراً.</a:t>
            </a:r>
          </a:p>
        </p:txBody>
      </p:sp>
      <p:pic>
        <p:nvPicPr>
          <p:cNvPr id="32" name="Icon Star 31" descr="icon064.png"/>
          <p:cNvPicPr>
            <a:picLocks noChangeAspect="1"/>
          </p:cNvPicPr>
          <p:nvPr/>
        </p:nvPicPr>
        <p:blipFill>
          <a:blip r:embed="rId3"/>
          <a:stretch>
            <a:fillRect/>
          </a:stretch>
        </p:blipFill>
        <p:spPr>
          <a:xfrm>
            <a:off x="5816600" y="3572173"/>
            <a:ext cx="177800" cy="177800"/>
          </a:xfrm>
          <a:prstGeom prst="rect">
            <a:avLst/>
          </a:prstGeom>
        </p:spPr>
      </p:pic>
      <p:sp>
        <p:nvSpPr>
          <p:cNvPr id="33" name="Text 32"/>
          <p:cNvSpPr txBox="1"/>
          <p:nvPr/>
        </p:nvSpPr>
        <p:spPr>
          <a:xfrm>
            <a:off x="418592" y="3544741"/>
            <a:ext cx="5321808"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تابع صفحات الجهات المستهدفة، وقدّم أيضاً من مواقعها مباشرة.</a:t>
            </a:r>
          </a:p>
        </p:txBody>
      </p:sp>
      <p:pic>
        <p:nvPicPr>
          <p:cNvPr id="34" name="Icon Chat 33" descr="icon065.png"/>
          <p:cNvPicPr>
            <a:picLocks noChangeAspect="1"/>
          </p:cNvPicPr>
          <p:nvPr/>
        </p:nvPicPr>
        <p:blipFill>
          <a:blip r:embed="rId4"/>
          <a:stretch>
            <a:fillRect/>
          </a:stretch>
        </p:blipFill>
        <p:spPr>
          <a:xfrm>
            <a:off x="5816600" y="3882033"/>
            <a:ext cx="177800" cy="177800"/>
          </a:xfrm>
          <a:prstGeom prst="rect">
            <a:avLst/>
          </a:prstGeom>
        </p:spPr>
      </p:pic>
      <p:sp>
        <p:nvSpPr>
          <p:cNvPr id="35" name="Text 34"/>
          <p:cNvSpPr txBox="1"/>
          <p:nvPr/>
        </p:nvSpPr>
        <p:spPr>
          <a:xfrm>
            <a:off x="418592" y="3854601"/>
            <a:ext cx="5321808"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بعد التقديم، رسالة قصيرة لمختص في الفريق نفسه.</a:t>
            </a:r>
          </a:p>
        </p:txBody>
      </p:sp>
      <p:sp>
        <p:nvSpPr>
          <p:cNvPr id="36" name="Text 35"/>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08 · LinkedIn</a:t>
            </a:r>
          </a:p>
        </p:txBody>
      </p:sp>
      <p:sp>
        <p:nvSpPr>
          <p:cNvPr id="37" name="Text 36"/>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32180" y="2246610"/>
            <a:ext cx="2347020"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09</a:t>
            </a:r>
          </a:p>
        </p:txBody>
      </p:sp>
      <p:sp>
        <p:nvSpPr>
          <p:cNvPr id="4" name="Text 3"/>
          <p:cNvSpPr txBox="1"/>
          <p:nvPr/>
        </p:nvSpPr>
        <p:spPr>
          <a:xfrm>
            <a:off x="4298847" y="2668076"/>
            <a:ext cx="5241334"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lang="ar-SA" altLang="en-US">
                <a:solidFill>
                  <a:srgbClr val="F3EFE6"/>
                </a:solidFill>
                <a:latin typeface="Readex Pro"/>
                <a:ea typeface="Readex Pro"/>
                <a:cs typeface="Readex Pro"/>
              </a:rPr>
              <a:t>المقابلة والانطلاق</a:t>
            </a:r>
          </a:p>
        </p:txBody>
      </p:sp>
      <p:sp>
        <p:nvSpPr>
          <p:cNvPr id="5" name="Text 4"/>
          <p:cNvSpPr txBox="1"/>
          <p:nvPr/>
        </p:nvSpPr>
        <p:spPr>
          <a:xfrm>
            <a:off x="101600" y="3564997"/>
            <a:ext cx="96012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lang="ar-SA" altLang="en-US">
                <a:solidFill>
                  <a:srgbClr val="D9E2E6"/>
                </a:solidFill>
                <a:latin typeface="IBM Plex Sans Arabic"/>
                <a:ea typeface="IBM Plex Sans Arabic"/>
                <a:cs typeface="IBM Plex Sans Arabic"/>
              </a:rPr>
              <a:t>كل ما تعلمته يُختبر في ساعة واحدة. استعد لها كما تستعد لاختبار الشهادة.</a:t>
            </a:r>
          </a:p>
        </p:txBody>
      </p:sp>
      <p:sp>
        <p:nvSpPr>
          <p:cNvPr id="6" name="Text box 5"/>
          <p:cNvSpPr/>
          <p:nvPr/>
        </p:nvSpPr>
        <p:spPr>
          <a:xfrm>
            <a:off x="9194105" y="4157960"/>
            <a:ext cx="1143695"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أسئلة المقابلة</a:t>
            </a:r>
          </a:p>
        </p:txBody>
      </p:sp>
      <p:sp>
        <p:nvSpPr>
          <p:cNvPr id="7" name="Text box 6"/>
          <p:cNvSpPr/>
          <p:nvPr/>
        </p:nvSpPr>
        <p:spPr>
          <a:xfrm>
            <a:off x="7986216" y="4157960"/>
            <a:ext cx="1106289"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طريقة STAR</a:t>
            </a:r>
          </a:p>
        </p:txBody>
      </p:sp>
      <p:sp>
        <p:nvSpPr>
          <p:cNvPr id="8" name="Text box 7"/>
          <p:cNvSpPr/>
          <p:nvPr/>
        </p:nvSpPr>
        <p:spPr>
          <a:xfrm>
            <a:off x="6695182" y="4157960"/>
            <a:ext cx="1189434"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قائمة المراجعة</a:t>
            </a:r>
          </a:p>
        </p:txBody>
      </p:sp>
      <p:sp>
        <p:nvSpPr>
          <p:cNvPr id="9" name="Text box 8"/>
          <p:cNvSpPr/>
          <p:nvPr/>
        </p:nvSpPr>
        <p:spPr>
          <a:xfrm>
            <a:off x="5445522" y="4157960"/>
            <a:ext cx="1148060"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الخطوة التالية</a:t>
            </a:r>
          </a:p>
        </p:txBody>
      </p:sp>
      <p:sp>
        <p:nvSpPr>
          <p:cNvPr id="10" name="Text 9"/>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93A3B1"/>
                </a:solidFill>
                <a:latin typeface="IBM Plex Sans Arabic"/>
                <a:ea typeface="IBM Plex Sans Arabic"/>
                <a:cs typeface="IBM Plex Sans Arabic"/>
              </a:rPr>
              <a:t>كيف تبدأ في GRC · الوحدة 09</a:t>
            </a:r>
          </a:p>
        </p:txBody>
      </p:sp>
      <p:sp>
        <p:nvSpPr>
          <p:cNvPr id="11" name="Text 10"/>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333905" y="812800"/>
            <a:ext cx="2045295"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09 · المقابلة والانطلاق</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ثمانية أسئلة متوقعة، وأين جوابها في الكورس</a:t>
            </a:r>
          </a:p>
        </p:txBody>
      </p:sp>
      <p:sp>
        <p:nvSpPr>
          <p:cNvPr id="5" name="Box 4"/>
          <p:cNvSpPr/>
          <p:nvPr/>
        </p:nvSpPr>
        <p:spPr>
          <a:xfrm>
            <a:off x="6159500" y="1832570"/>
            <a:ext cx="5219700" cy="689570"/>
          </a:xfrm>
          <a:prstGeom prst="roundRect">
            <a:avLst>
              <a:gd name="adj" fmla="val 12892"/>
            </a:avLst>
          </a:prstGeom>
          <a:solidFill>
            <a:srgbClr val="FFFDF8"/>
          </a:solidFill>
          <a:ln>
            <a:noFill/>
          </a:ln>
        </p:spPr>
        <p:txBody>
          <a:bodyPr rtlCol="0" anchor="ctr"/>
          <a:lstStyle/>
          <a:p>
            <a:pPr algn="ctr"/>
          </a:p>
        </p:txBody>
      </p:sp>
      <p:sp>
        <p:nvSpPr>
          <p:cNvPr id="6" name="Rule 5"/>
          <p:cNvSpPr/>
          <p:nvPr/>
        </p:nvSpPr>
        <p:spPr>
          <a:xfrm>
            <a:off x="6159500" y="1832570"/>
            <a:ext cx="5219700" cy="6350"/>
          </a:xfrm>
          <a:prstGeom prst="rect">
            <a:avLst/>
          </a:prstGeom>
          <a:solidFill>
            <a:srgbClr val="E1DBCD"/>
          </a:solidFill>
          <a:ln>
            <a:noFill/>
          </a:ln>
        </p:spPr>
        <p:txBody>
          <a:bodyPr rtlCol="0" anchor="ctr"/>
          <a:lstStyle/>
          <a:p>
            <a:pPr algn="ctr"/>
          </a:p>
        </p:txBody>
      </p:sp>
      <p:sp>
        <p:nvSpPr>
          <p:cNvPr id="7" name="Rule 6"/>
          <p:cNvSpPr/>
          <p:nvPr/>
        </p:nvSpPr>
        <p:spPr>
          <a:xfrm>
            <a:off x="11328400" y="1832570"/>
            <a:ext cx="50800" cy="689570"/>
          </a:xfrm>
          <a:prstGeom prst="rect">
            <a:avLst/>
          </a:prstGeom>
          <a:solidFill>
            <a:srgbClr val="0E7C6B"/>
          </a:solidFill>
          <a:ln>
            <a:noFill/>
          </a:ln>
        </p:spPr>
        <p:txBody>
          <a:bodyPr rtlCol="0" anchor="ctr"/>
          <a:lstStyle/>
          <a:p>
            <a:pPr algn="ctr"/>
          </a:p>
        </p:txBody>
      </p:sp>
      <p:sp>
        <p:nvSpPr>
          <p:cNvPr id="8" name="Rule 7"/>
          <p:cNvSpPr/>
          <p:nvPr/>
        </p:nvSpPr>
        <p:spPr>
          <a:xfrm>
            <a:off x="6159500" y="2515791"/>
            <a:ext cx="5219700" cy="6350"/>
          </a:xfrm>
          <a:prstGeom prst="rect">
            <a:avLst/>
          </a:prstGeom>
          <a:solidFill>
            <a:srgbClr val="E1DBCD"/>
          </a:solidFill>
          <a:ln>
            <a:noFill/>
          </a:ln>
        </p:spPr>
        <p:txBody>
          <a:bodyPr rtlCol="0" anchor="ctr"/>
          <a:lstStyle/>
          <a:p>
            <a:pPr algn="ctr"/>
          </a:p>
        </p:txBody>
      </p:sp>
      <p:sp>
        <p:nvSpPr>
          <p:cNvPr id="9" name="Rule 8"/>
          <p:cNvSpPr/>
          <p:nvPr/>
        </p:nvSpPr>
        <p:spPr>
          <a:xfrm>
            <a:off x="6159500" y="1832570"/>
            <a:ext cx="6350" cy="689570"/>
          </a:xfrm>
          <a:prstGeom prst="rect">
            <a:avLst/>
          </a:prstGeom>
          <a:solidFill>
            <a:srgbClr val="E1DBCD"/>
          </a:solidFill>
          <a:ln>
            <a:noFill/>
          </a:ln>
        </p:spPr>
        <p:txBody>
          <a:bodyPr rtlCol="0" anchor="ctr"/>
          <a:lstStyle/>
          <a:p>
            <a:pPr algn="ctr"/>
          </a:p>
        </p:txBody>
      </p:sp>
      <p:sp>
        <p:nvSpPr>
          <p:cNvPr id="10" name="Text 9"/>
          <p:cNvSpPr txBox="1"/>
          <p:nvPr/>
        </p:nvSpPr>
        <p:spPr>
          <a:xfrm>
            <a:off x="6184900" y="1915914"/>
            <a:ext cx="5003800" cy="222250"/>
          </a:xfrm>
          <a:prstGeom prst="rect">
            <a:avLst/>
          </a:prstGeom>
          <a:noFill/>
        </p:spPr>
        <p:txBody>
          <a:bodyPr wrap="square" tIns="0" rIns="0" bIns="0" lIns="0" anchor="t" rtlCol="0" anchorCtr="0">
            <a:noAutofit/>
          </a:bodyPr>
          <a:lstStyle/>
          <a:p>
            <a:pPr algn="r" rtl="1">
              <a:lnSpc>
                <a:spcPts val="1750"/>
              </a:lnSpc>
              <a:spcBef>
                <a:spcPts val="0"/>
              </a:spcBef>
              <a:spcAft>
                <a:spcPts val="0"/>
              </a:spcAft>
            </a:pPr>
            <a:r>
              <a:rPr sz="1250" b="1" i="0" lang="ar-SA" altLang="en-US">
                <a:solidFill>
                  <a:srgbClr val="172433"/>
                </a:solidFill>
                <a:latin typeface="IBM Plex Sans Arabic"/>
                <a:ea typeface="IBM Plex Sans Arabic"/>
                <a:cs typeface="IBM Plex Sans Arabic"/>
              </a:rPr>
              <a:t>«ما الفرق بين التهديد والثغرة والخطر؟»</a:t>
            </a:r>
          </a:p>
        </p:txBody>
      </p:sp>
      <p:sp>
        <p:nvSpPr>
          <p:cNvPr id="11" name="Text 10"/>
          <p:cNvSpPr txBox="1"/>
          <p:nvPr/>
        </p:nvSpPr>
        <p:spPr>
          <a:xfrm>
            <a:off x="9678976" y="2177248"/>
            <a:ext cx="15097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يختبر: المفاهيم الأساسية</a:t>
            </a:r>
          </a:p>
        </p:txBody>
      </p:sp>
      <p:sp>
        <p:nvSpPr>
          <p:cNvPr id="12" name="Text 11"/>
          <p:cNvSpPr txBox="1"/>
          <p:nvPr/>
        </p:nvSpPr>
        <p:spPr>
          <a:xfrm>
            <a:off x="6214110" y="2192508"/>
            <a:ext cx="794603"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0E7C6B"/>
                </a:solidFill>
                <a:latin typeface="IBM Plex Sans Arabic"/>
                <a:ea typeface="IBM Plex Sans Arabic"/>
                <a:cs typeface="IBM Plex Sans Arabic"/>
              </a:rPr>
              <a:t>الشريحة 25</a:t>
            </a:r>
          </a:p>
        </p:txBody>
      </p:sp>
      <p:sp>
        <p:nvSpPr>
          <p:cNvPr id="13" name="Box 12"/>
          <p:cNvSpPr/>
          <p:nvPr/>
        </p:nvSpPr>
        <p:spPr>
          <a:xfrm>
            <a:off x="812800" y="1832570"/>
            <a:ext cx="5219700" cy="689570"/>
          </a:xfrm>
          <a:prstGeom prst="roundRect">
            <a:avLst>
              <a:gd name="adj" fmla="val 12892"/>
            </a:avLst>
          </a:prstGeom>
          <a:solidFill>
            <a:srgbClr val="FFFDF8"/>
          </a:solidFill>
          <a:ln>
            <a:noFill/>
          </a:ln>
        </p:spPr>
        <p:txBody>
          <a:bodyPr rtlCol="0" anchor="ctr"/>
          <a:lstStyle/>
          <a:p>
            <a:pPr algn="ctr"/>
          </a:p>
        </p:txBody>
      </p:sp>
      <p:sp>
        <p:nvSpPr>
          <p:cNvPr id="14" name="Rule 13"/>
          <p:cNvSpPr/>
          <p:nvPr/>
        </p:nvSpPr>
        <p:spPr>
          <a:xfrm>
            <a:off x="812800" y="1832570"/>
            <a:ext cx="5219700" cy="6350"/>
          </a:xfrm>
          <a:prstGeom prst="rect">
            <a:avLst/>
          </a:prstGeom>
          <a:solidFill>
            <a:srgbClr val="E1DBCD"/>
          </a:solidFill>
          <a:ln>
            <a:noFill/>
          </a:ln>
        </p:spPr>
        <p:txBody>
          <a:bodyPr rtlCol="0" anchor="ctr"/>
          <a:lstStyle/>
          <a:p>
            <a:pPr algn="ctr"/>
          </a:p>
        </p:txBody>
      </p:sp>
      <p:sp>
        <p:nvSpPr>
          <p:cNvPr id="15" name="Rule 14"/>
          <p:cNvSpPr/>
          <p:nvPr/>
        </p:nvSpPr>
        <p:spPr>
          <a:xfrm>
            <a:off x="5981700" y="1832570"/>
            <a:ext cx="50800" cy="689570"/>
          </a:xfrm>
          <a:prstGeom prst="rect">
            <a:avLst/>
          </a:prstGeom>
          <a:solidFill>
            <a:srgbClr val="0E7C6B"/>
          </a:solidFill>
          <a:ln>
            <a:noFill/>
          </a:ln>
        </p:spPr>
        <p:txBody>
          <a:bodyPr rtlCol="0" anchor="ctr"/>
          <a:lstStyle/>
          <a:p>
            <a:pPr algn="ctr"/>
          </a:p>
        </p:txBody>
      </p:sp>
      <p:sp>
        <p:nvSpPr>
          <p:cNvPr id="16" name="Rule 15"/>
          <p:cNvSpPr/>
          <p:nvPr/>
        </p:nvSpPr>
        <p:spPr>
          <a:xfrm>
            <a:off x="812800" y="2515791"/>
            <a:ext cx="5219700" cy="6350"/>
          </a:xfrm>
          <a:prstGeom prst="rect">
            <a:avLst/>
          </a:prstGeom>
          <a:solidFill>
            <a:srgbClr val="E1DBCD"/>
          </a:solidFill>
          <a:ln>
            <a:noFill/>
          </a:ln>
        </p:spPr>
        <p:txBody>
          <a:bodyPr rtlCol="0" anchor="ctr"/>
          <a:lstStyle/>
          <a:p>
            <a:pPr algn="ctr"/>
          </a:p>
        </p:txBody>
      </p:sp>
      <p:sp>
        <p:nvSpPr>
          <p:cNvPr id="17" name="Rule 16"/>
          <p:cNvSpPr/>
          <p:nvPr/>
        </p:nvSpPr>
        <p:spPr>
          <a:xfrm>
            <a:off x="812800" y="1832570"/>
            <a:ext cx="6350" cy="689570"/>
          </a:xfrm>
          <a:prstGeom prst="rect">
            <a:avLst/>
          </a:prstGeom>
          <a:solidFill>
            <a:srgbClr val="E1DBCD"/>
          </a:solidFill>
          <a:ln>
            <a:noFill/>
          </a:ln>
        </p:spPr>
        <p:txBody>
          <a:bodyPr rtlCol="0" anchor="ctr"/>
          <a:lstStyle/>
          <a:p>
            <a:pPr algn="ctr"/>
          </a:p>
        </p:txBody>
      </p:sp>
      <p:sp>
        <p:nvSpPr>
          <p:cNvPr id="18" name="Text 17"/>
          <p:cNvSpPr txBox="1"/>
          <p:nvPr/>
        </p:nvSpPr>
        <p:spPr>
          <a:xfrm>
            <a:off x="838200" y="1915914"/>
            <a:ext cx="5003800" cy="222250"/>
          </a:xfrm>
          <a:prstGeom prst="rect">
            <a:avLst/>
          </a:prstGeom>
          <a:noFill/>
        </p:spPr>
        <p:txBody>
          <a:bodyPr wrap="square" tIns="0" rIns="0" bIns="0" lIns="0" anchor="t" rtlCol="0" anchorCtr="0">
            <a:noAutofit/>
          </a:bodyPr>
          <a:lstStyle/>
          <a:p>
            <a:pPr algn="r" rtl="1">
              <a:lnSpc>
                <a:spcPts val="1750"/>
              </a:lnSpc>
              <a:spcBef>
                <a:spcPts val="0"/>
              </a:spcBef>
              <a:spcAft>
                <a:spcPts val="0"/>
              </a:spcAft>
            </a:pPr>
            <a:r>
              <a:rPr sz="1250" b="1" i="0" lang="ar-SA" altLang="en-US">
                <a:solidFill>
                  <a:srgbClr val="172433"/>
                </a:solidFill>
                <a:latin typeface="IBM Plex Sans Arabic"/>
                <a:ea typeface="IBM Plex Sans Arabic"/>
                <a:cs typeface="IBM Plex Sans Arabic"/>
              </a:rPr>
              <a:t>«كيف تقيّم خطراً وترتبه مع غيره؟»</a:t>
            </a:r>
          </a:p>
        </p:txBody>
      </p:sp>
      <p:sp>
        <p:nvSpPr>
          <p:cNvPr id="19" name="Text 18"/>
          <p:cNvSpPr txBox="1"/>
          <p:nvPr/>
        </p:nvSpPr>
        <p:spPr>
          <a:xfrm>
            <a:off x="3964944" y="2177248"/>
            <a:ext cx="187705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يختبر: الاحتمال والأثر والمنهجية</a:t>
            </a:r>
          </a:p>
        </p:txBody>
      </p:sp>
      <p:sp>
        <p:nvSpPr>
          <p:cNvPr id="20" name="Text 19"/>
          <p:cNvSpPr txBox="1"/>
          <p:nvPr/>
        </p:nvSpPr>
        <p:spPr>
          <a:xfrm>
            <a:off x="867410" y="2192508"/>
            <a:ext cx="794603"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0E7C6B"/>
                </a:solidFill>
                <a:latin typeface="IBM Plex Sans Arabic"/>
                <a:ea typeface="IBM Plex Sans Arabic"/>
                <a:cs typeface="IBM Plex Sans Arabic"/>
              </a:rPr>
              <a:t>الشريحة 26</a:t>
            </a:r>
          </a:p>
        </p:txBody>
      </p:sp>
      <p:sp>
        <p:nvSpPr>
          <p:cNvPr id="21" name="Box 20"/>
          <p:cNvSpPr/>
          <p:nvPr/>
        </p:nvSpPr>
        <p:spPr>
          <a:xfrm>
            <a:off x="6159500" y="2611041"/>
            <a:ext cx="5219700" cy="689570"/>
          </a:xfrm>
          <a:prstGeom prst="roundRect">
            <a:avLst>
              <a:gd name="adj" fmla="val 12892"/>
            </a:avLst>
          </a:prstGeom>
          <a:solidFill>
            <a:srgbClr val="FFFDF8"/>
          </a:solidFill>
          <a:ln>
            <a:noFill/>
          </a:ln>
        </p:spPr>
        <p:txBody>
          <a:bodyPr rtlCol="0" anchor="ctr"/>
          <a:lstStyle/>
          <a:p>
            <a:pPr algn="ctr"/>
          </a:p>
        </p:txBody>
      </p:sp>
      <p:sp>
        <p:nvSpPr>
          <p:cNvPr id="22" name="Rule 21"/>
          <p:cNvSpPr/>
          <p:nvPr/>
        </p:nvSpPr>
        <p:spPr>
          <a:xfrm>
            <a:off x="6159500" y="2611041"/>
            <a:ext cx="5219700" cy="6350"/>
          </a:xfrm>
          <a:prstGeom prst="rect">
            <a:avLst/>
          </a:prstGeom>
          <a:solidFill>
            <a:srgbClr val="E1DBCD"/>
          </a:solidFill>
          <a:ln>
            <a:noFill/>
          </a:ln>
        </p:spPr>
        <p:txBody>
          <a:bodyPr rtlCol="0" anchor="ctr"/>
          <a:lstStyle/>
          <a:p>
            <a:pPr algn="ctr"/>
          </a:p>
        </p:txBody>
      </p:sp>
      <p:sp>
        <p:nvSpPr>
          <p:cNvPr id="23" name="Rule 22"/>
          <p:cNvSpPr/>
          <p:nvPr/>
        </p:nvSpPr>
        <p:spPr>
          <a:xfrm>
            <a:off x="11328400" y="2611041"/>
            <a:ext cx="50800" cy="689570"/>
          </a:xfrm>
          <a:prstGeom prst="rect">
            <a:avLst/>
          </a:prstGeom>
          <a:solidFill>
            <a:srgbClr val="0E7C6B"/>
          </a:solidFill>
          <a:ln>
            <a:noFill/>
          </a:ln>
        </p:spPr>
        <p:txBody>
          <a:bodyPr rtlCol="0" anchor="ctr"/>
          <a:lstStyle/>
          <a:p>
            <a:pPr algn="ctr"/>
          </a:p>
        </p:txBody>
      </p:sp>
      <p:sp>
        <p:nvSpPr>
          <p:cNvPr id="24" name="Rule 23"/>
          <p:cNvSpPr/>
          <p:nvPr/>
        </p:nvSpPr>
        <p:spPr>
          <a:xfrm>
            <a:off x="6159500" y="3294261"/>
            <a:ext cx="5219700" cy="6350"/>
          </a:xfrm>
          <a:prstGeom prst="rect">
            <a:avLst/>
          </a:prstGeom>
          <a:solidFill>
            <a:srgbClr val="E1DBCD"/>
          </a:solidFill>
          <a:ln>
            <a:noFill/>
          </a:ln>
        </p:spPr>
        <p:txBody>
          <a:bodyPr rtlCol="0" anchor="ctr"/>
          <a:lstStyle/>
          <a:p>
            <a:pPr algn="ctr"/>
          </a:p>
        </p:txBody>
      </p:sp>
      <p:sp>
        <p:nvSpPr>
          <p:cNvPr id="25" name="Rule 24"/>
          <p:cNvSpPr/>
          <p:nvPr/>
        </p:nvSpPr>
        <p:spPr>
          <a:xfrm>
            <a:off x="6159500" y="2611041"/>
            <a:ext cx="6350" cy="689570"/>
          </a:xfrm>
          <a:prstGeom prst="rect">
            <a:avLst/>
          </a:prstGeom>
          <a:solidFill>
            <a:srgbClr val="E1DBCD"/>
          </a:solidFill>
          <a:ln>
            <a:noFill/>
          </a:ln>
        </p:spPr>
        <p:txBody>
          <a:bodyPr rtlCol="0" anchor="ctr"/>
          <a:lstStyle/>
          <a:p>
            <a:pPr algn="ctr"/>
          </a:p>
        </p:txBody>
      </p:sp>
      <p:sp>
        <p:nvSpPr>
          <p:cNvPr id="26" name="Text 25"/>
          <p:cNvSpPr txBox="1"/>
          <p:nvPr/>
        </p:nvSpPr>
        <p:spPr>
          <a:xfrm>
            <a:off x="6184900" y="2694384"/>
            <a:ext cx="5003800" cy="222250"/>
          </a:xfrm>
          <a:prstGeom prst="rect">
            <a:avLst/>
          </a:prstGeom>
          <a:noFill/>
        </p:spPr>
        <p:txBody>
          <a:bodyPr wrap="square" tIns="0" rIns="0" bIns="0" lIns="0" anchor="t" rtlCol="0" anchorCtr="0">
            <a:noAutofit/>
          </a:bodyPr>
          <a:lstStyle/>
          <a:p>
            <a:pPr algn="r" rtl="1">
              <a:lnSpc>
                <a:spcPts val="1750"/>
              </a:lnSpc>
              <a:spcBef>
                <a:spcPts val="0"/>
              </a:spcBef>
              <a:spcAft>
                <a:spcPts val="0"/>
              </a:spcAft>
            </a:pPr>
            <a:r>
              <a:rPr sz="1250" b="1" i="0" lang="ar-SA" altLang="en-US">
                <a:solidFill>
                  <a:srgbClr val="172433"/>
                </a:solidFill>
                <a:latin typeface="IBM Plex Sans Arabic"/>
                <a:ea typeface="IBM Plex Sans Arabic"/>
                <a:cs typeface="IBM Plex Sans Arabic"/>
              </a:rPr>
              <a:t>«ما الفرق بين السياسة والمعيار والإجراء؟»</a:t>
            </a:r>
          </a:p>
        </p:txBody>
      </p:sp>
      <p:sp>
        <p:nvSpPr>
          <p:cNvPr id="27" name="Text 26"/>
          <p:cNvSpPr txBox="1"/>
          <p:nvPr/>
        </p:nvSpPr>
        <p:spPr>
          <a:xfrm>
            <a:off x="10107255" y="2955719"/>
            <a:ext cx="1081445"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يختبر: هرم الوثائق</a:t>
            </a:r>
          </a:p>
        </p:txBody>
      </p:sp>
      <p:sp>
        <p:nvSpPr>
          <p:cNvPr id="28" name="Text 27"/>
          <p:cNvSpPr txBox="1"/>
          <p:nvPr/>
        </p:nvSpPr>
        <p:spPr>
          <a:xfrm>
            <a:off x="6214110" y="2970978"/>
            <a:ext cx="794603"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0E7C6B"/>
                </a:solidFill>
                <a:latin typeface="IBM Plex Sans Arabic"/>
                <a:ea typeface="IBM Plex Sans Arabic"/>
                <a:cs typeface="IBM Plex Sans Arabic"/>
              </a:rPr>
              <a:t>الشريحة 32</a:t>
            </a:r>
          </a:p>
        </p:txBody>
      </p:sp>
      <p:sp>
        <p:nvSpPr>
          <p:cNvPr id="29" name="Box 28"/>
          <p:cNvSpPr/>
          <p:nvPr/>
        </p:nvSpPr>
        <p:spPr>
          <a:xfrm>
            <a:off x="812800" y="2611041"/>
            <a:ext cx="5219700" cy="689570"/>
          </a:xfrm>
          <a:prstGeom prst="roundRect">
            <a:avLst>
              <a:gd name="adj" fmla="val 12892"/>
            </a:avLst>
          </a:prstGeom>
          <a:solidFill>
            <a:srgbClr val="FFFDF8"/>
          </a:solidFill>
          <a:ln>
            <a:noFill/>
          </a:ln>
        </p:spPr>
        <p:txBody>
          <a:bodyPr rtlCol="0" anchor="ctr"/>
          <a:lstStyle/>
          <a:p>
            <a:pPr algn="ctr"/>
          </a:p>
        </p:txBody>
      </p:sp>
      <p:sp>
        <p:nvSpPr>
          <p:cNvPr id="30" name="Rule 29"/>
          <p:cNvSpPr/>
          <p:nvPr/>
        </p:nvSpPr>
        <p:spPr>
          <a:xfrm>
            <a:off x="812800" y="2611041"/>
            <a:ext cx="5219700" cy="6350"/>
          </a:xfrm>
          <a:prstGeom prst="rect">
            <a:avLst/>
          </a:prstGeom>
          <a:solidFill>
            <a:srgbClr val="E1DBCD"/>
          </a:solidFill>
          <a:ln>
            <a:noFill/>
          </a:ln>
        </p:spPr>
        <p:txBody>
          <a:bodyPr rtlCol="0" anchor="ctr"/>
          <a:lstStyle/>
          <a:p>
            <a:pPr algn="ctr"/>
          </a:p>
        </p:txBody>
      </p:sp>
      <p:sp>
        <p:nvSpPr>
          <p:cNvPr id="31" name="Rule 30"/>
          <p:cNvSpPr/>
          <p:nvPr/>
        </p:nvSpPr>
        <p:spPr>
          <a:xfrm>
            <a:off x="5981700" y="2611041"/>
            <a:ext cx="50800" cy="689570"/>
          </a:xfrm>
          <a:prstGeom prst="rect">
            <a:avLst/>
          </a:prstGeom>
          <a:solidFill>
            <a:srgbClr val="0E7C6B"/>
          </a:solidFill>
          <a:ln>
            <a:noFill/>
          </a:ln>
        </p:spPr>
        <p:txBody>
          <a:bodyPr rtlCol="0" anchor="ctr"/>
          <a:lstStyle/>
          <a:p>
            <a:pPr algn="ctr"/>
          </a:p>
        </p:txBody>
      </p:sp>
      <p:sp>
        <p:nvSpPr>
          <p:cNvPr id="32" name="Rule 31"/>
          <p:cNvSpPr/>
          <p:nvPr/>
        </p:nvSpPr>
        <p:spPr>
          <a:xfrm>
            <a:off x="812800" y="3294261"/>
            <a:ext cx="5219700" cy="6350"/>
          </a:xfrm>
          <a:prstGeom prst="rect">
            <a:avLst/>
          </a:prstGeom>
          <a:solidFill>
            <a:srgbClr val="E1DBCD"/>
          </a:solidFill>
          <a:ln>
            <a:noFill/>
          </a:ln>
        </p:spPr>
        <p:txBody>
          <a:bodyPr rtlCol="0" anchor="ctr"/>
          <a:lstStyle/>
          <a:p>
            <a:pPr algn="ctr"/>
          </a:p>
        </p:txBody>
      </p:sp>
      <p:sp>
        <p:nvSpPr>
          <p:cNvPr id="33" name="Rule 32"/>
          <p:cNvSpPr/>
          <p:nvPr/>
        </p:nvSpPr>
        <p:spPr>
          <a:xfrm>
            <a:off x="812800" y="2611041"/>
            <a:ext cx="6350" cy="689570"/>
          </a:xfrm>
          <a:prstGeom prst="rect">
            <a:avLst/>
          </a:prstGeom>
          <a:solidFill>
            <a:srgbClr val="E1DBCD"/>
          </a:solidFill>
          <a:ln>
            <a:noFill/>
          </a:ln>
        </p:spPr>
        <p:txBody>
          <a:bodyPr rtlCol="0" anchor="ctr"/>
          <a:lstStyle/>
          <a:p>
            <a:pPr algn="ctr"/>
          </a:p>
        </p:txBody>
      </p:sp>
      <p:sp>
        <p:nvSpPr>
          <p:cNvPr id="34" name="Text 33"/>
          <p:cNvSpPr txBox="1"/>
          <p:nvPr/>
        </p:nvSpPr>
        <p:spPr>
          <a:xfrm>
            <a:off x="838200" y="2694384"/>
            <a:ext cx="5003800" cy="222250"/>
          </a:xfrm>
          <a:prstGeom prst="rect">
            <a:avLst/>
          </a:prstGeom>
          <a:noFill/>
        </p:spPr>
        <p:txBody>
          <a:bodyPr wrap="square" tIns="0" rIns="0" bIns="0" lIns="0" anchor="t" rtlCol="0" anchorCtr="0">
            <a:noAutofit/>
          </a:bodyPr>
          <a:lstStyle/>
          <a:p>
            <a:pPr algn="r" rtl="1">
              <a:lnSpc>
                <a:spcPts val="1750"/>
              </a:lnSpc>
              <a:spcBef>
                <a:spcPts val="0"/>
              </a:spcBef>
              <a:spcAft>
                <a:spcPts val="0"/>
              </a:spcAft>
            </a:pPr>
            <a:r>
              <a:rPr sz="1250" b="1" i="0" lang="ar-SA" altLang="en-US">
                <a:solidFill>
                  <a:srgbClr val="172433"/>
                </a:solidFill>
                <a:latin typeface="IBM Plex Sans Arabic"/>
                <a:ea typeface="IBM Plex Sans Arabic"/>
                <a:cs typeface="IBM Plex Sans Arabic"/>
              </a:rPr>
              <a:t>«كيف تتأكد أن ضابطاً مطبق فعلاً؟»</a:t>
            </a:r>
          </a:p>
        </p:txBody>
      </p:sp>
      <p:sp>
        <p:nvSpPr>
          <p:cNvPr id="35" name="Text 34"/>
          <p:cNvSpPr txBox="1"/>
          <p:nvPr/>
        </p:nvSpPr>
        <p:spPr>
          <a:xfrm>
            <a:off x="4578735" y="2955719"/>
            <a:ext cx="1263265"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يختبر: الأدلة والعينات</a:t>
            </a:r>
          </a:p>
        </p:txBody>
      </p:sp>
      <p:sp>
        <p:nvSpPr>
          <p:cNvPr id="36" name="Text 35"/>
          <p:cNvSpPr txBox="1"/>
          <p:nvPr/>
        </p:nvSpPr>
        <p:spPr>
          <a:xfrm>
            <a:off x="867410" y="2970978"/>
            <a:ext cx="794603"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0E7C6B"/>
                </a:solidFill>
                <a:latin typeface="IBM Plex Sans Arabic"/>
                <a:ea typeface="IBM Plex Sans Arabic"/>
                <a:cs typeface="IBM Plex Sans Arabic"/>
              </a:rPr>
              <a:t>الشريحة 36</a:t>
            </a:r>
          </a:p>
        </p:txBody>
      </p:sp>
      <p:sp>
        <p:nvSpPr>
          <p:cNvPr id="37" name="Box 36"/>
          <p:cNvSpPr/>
          <p:nvPr/>
        </p:nvSpPr>
        <p:spPr>
          <a:xfrm>
            <a:off x="6159500" y="3389511"/>
            <a:ext cx="5219700" cy="689570"/>
          </a:xfrm>
          <a:prstGeom prst="roundRect">
            <a:avLst>
              <a:gd name="adj" fmla="val 12892"/>
            </a:avLst>
          </a:prstGeom>
          <a:solidFill>
            <a:srgbClr val="FFFDF8"/>
          </a:solidFill>
          <a:ln>
            <a:noFill/>
          </a:ln>
        </p:spPr>
        <p:txBody>
          <a:bodyPr rtlCol="0" anchor="ctr"/>
          <a:lstStyle/>
          <a:p>
            <a:pPr algn="ctr"/>
          </a:p>
        </p:txBody>
      </p:sp>
      <p:sp>
        <p:nvSpPr>
          <p:cNvPr id="38" name="Rule 37"/>
          <p:cNvSpPr/>
          <p:nvPr/>
        </p:nvSpPr>
        <p:spPr>
          <a:xfrm>
            <a:off x="6159500" y="3389511"/>
            <a:ext cx="5219700" cy="6350"/>
          </a:xfrm>
          <a:prstGeom prst="rect">
            <a:avLst/>
          </a:prstGeom>
          <a:solidFill>
            <a:srgbClr val="E1DBCD"/>
          </a:solidFill>
          <a:ln>
            <a:noFill/>
          </a:ln>
        </p:spPr>
        <p:txBody>
          <a:bodyPr rtlCol="0" anchor="ctr"/>
          <a:lstStyle/>
          <a:p>
            <a:pPr algn="ctr"/>
          </a:p>
        </p:txBody>
      </p:sp>
      <p:sp>
        <p:nvSpPr>
          <p:cNvPr id="39" name="Rule 38"/>
          <p:cNvSpPr/>
          <p:nvPr/>
        </p:nvSpPr>
        <p:spPr>
          <a:xfrm>
            <a:off x="11328400" y="3389511"/>
            <a:ext cx="50800" cy="689570"/>
          </a:xfrm>
          <a:prstGeom prst="rect">
            <a:avLst/>
          </a:prstGeom>
          <a:solidFill>
            <a:srgbClr val="C27A16"/>
          </a:solidFill>
          <a:ln>
            <a:noFill/>
          </a:ln>
        </p:spPr>
        <p:txBody>
          <a:bodyPr rtlCol="0" anchor="ctr"/>
          <a:lstStyle/>
          <a:p>
            <a:pPr algn="ctr"/>
          </a:p>
        </p:txBody>
      </p:sp>
      <p:sp>
        <p:nvSpPr>
          <p:cNvPr id="40" name="Rule 39"/>
          <p:cNvSpPr/>
          <p:nvPr/>
        </p:nvSpPr>
        <p:spPr>
          <a:xfrm>
            <a:off x="6159500" y="4072731"/>
            <a:ext cx="5219700" cy="6350"/>
          </a:xfrm>
          <a:prstGeom prst="rect">
            <a:avLst/>
          </a:prstGeom>
          <a:solidFill>
            <a:srgbClr val="E1DBCD"/>
          </a:solidFill>
          <a:ln>
            <a:noFill/>
          </a:ln>
        </p:spPr>
        <p:txBody>
          <a:bodyPr rtlCol="0" anchor="ctr"/>
          <a:lstStyle/>
          <a:p>
            <a:pPr algn="ctr"/>
          </a:p>
        </p:txBody>
      </p:sp>
      <p:sp>
        <p:nvSpPr>
          <p:cNvPr id="41" name="Rule 40"/>
          <p:cNvSpPr/>
          <p:nvPr/>
        </p:nvSpPr>
        <p:spPr>
          <a:xfrm>
            <a:off x="6159500" y="3389511"/>
            <a:ext cx="6350" cy="689570"/>
          </a:xfrm>
          <a:prstGeom prst="rect">
            <a:avLst/>
          </a:prstGeom>
          <a:solidFill>
            <a:srgbClr val="E1DBCD"/>
          </a:solidFill>
          <a:ln>
            <a:noFill/>
          </a:ln>
        </p:spPr>
        <p:txBody>
          <a:bodyPr rtlCol="0" anchor="ctr"/>
          <a:lstStyle/>
          <a:p>
            <a:pPr algn="ctr"/>
          </a:p>
        </p:txBody>
      </p:sp>
      <p:sp>
        <p:nvSpPr>
          <p:cNvPr id="42" name="Text 41"/>
          <p:cNvSpPr txBox="1"/>
          <p:nvPr/>
        </p:nvSpPr>
        <p:spPr>
          <a:xfrm>
            <a:off x="6184900" y="3472855"/>
            <a:ext cx="5003800" cy="222250"/>
          </a:xfrm>
          <a:prstGeom prst="rect">
            <a:avLst/>
          </a:prstGeom>
          <a:noFill/>
        </p:spPr>
        <p:txBody>
          <a:bodyPr wrap="square" tIns="0" rIns="0" bIns="0" lIns="0" anchor="t" rtlCol="0" anchorCtr="0">
            <a:noAutofit/>
          </a:bodyPr>
          <a:lstStyle/>
          <a:p>
            <a:pPr algn="r" rtl="1">
              <a:lnSpc>
                <a:spcPts val="1750"/>
              </a:lnSpc>
              <a:spcBef>
                <a:spcPts val="0"/>
              </a:spcBef>
              <a:spcAft>
                <a:spcPts val="0"/>
              </a:spcAft>
            </a:pPr>
            <a:r>
              <a:rPr sz="1250" b="1" i="0" lang="ar-SA" altLang="en-US">
                <a:solidFill>
                  <a:srgbClr val="172433"/>
                </a:solidFill>
                <a:latin typeface="IBM Plex Sans Arabic"/>
                <a:ea typeface="IBM Plex Sans Arabic"/>
                <a:cs typeface="IBM Plex Sans Arabic"/>
              </a:rPr>
              <a:t>«مالك نظام يرفض تطبيق ضابط. ماذا تفعل؟»</a:t>
            </a:r>
          </a:p>
        </p:txBody>
      </p:sp>
      <p:sp>
        <p:nvSpPr>
          <p:cNvPr id="43" name="Text 42"/>
          <p:cNvSpPr txBox="1"/>
          <p:nvPr/>
        </p:nvSpPr>
        <p:spPr>
          <a:xfrm>
            <a:off x="9178020" y="3734189"/>
            <a:ext cx="201068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يختبر: الإقناع، والبدائل، والاستثناء</a:t>
            </a:r>
          </a:p>
        </p:txBody>
      </p:sp>
      <p:sp>
        <p:nvSpPr>
          <p:cNvPr id="44" name="Text 43"/>
          <p:cNvSpPr txBox="1"/>
          <p:nvPr/>
        </p:nvSpPr>
        <p:spPr>
          <a:xfrm>
            <a:off x="6214110" y="3749449"/>
            <a:ext cx="120427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9A5F0F"/>
                </a:solidFill>
                <a:latin typeface="IBM Plex Sans Arabic"/>
                <a:ea typeface="IBM Plex Sans Arabic"/>
                <a:cs typeface="IBM Plex Sans Arabic"/>
              </a:rPr>
              <a:t>الشريحتان 29 و50</a:t>
            </a:r>
          </a:p>
        </p:txBody>
      </p:sp>
      <p:sp>
        <p:nvSpPr>
          <p:cNvPr id="45" name="Box 44"/>
          <p:cNvSpPr/>
          <p:nvPr/>
        </p:nvSpPr>
        <p:spPr>
          <a:xfrm>
            <a:off x="812800" y="3389511"/>
            <a:ext cx="5219700" cy="689570"/>
          </a:xfrm>
          <a:prstGeom prst="roundRect">
            <a:avLst>
              <a:gd name="adj" fmla="val 12892"/>
            </a:avLst>
          </a:prstGeom>
          <a:solidFill>
            <a:srgbClr val="FFFDF8"/>
          </a:solidFill>
          <a:ln>
            <a:noFill/>
          </a:ln>
        </p:spPr>
        <p:txBody>
          <a:bodyPr rtlCol="0" anchor="ctr"/>
          <a:lstStyle/>
          <a:p>
            <a:pPr algn="ctr"/>
          </a:p>
        </p:txBody>
      </p:sp>
      <p:sp>
        <p:nvSpPr>
          <p:cNvPr id="46" name="Rule 45"/>
          <p:cNvSpPr/>
          <p:nvPr/>
        </p:nvSpPr>
        <p:spPr>
          <a:xfrm>
            <a:off x="812800" y="3389511"/>
            <a:ext cx="5219700" cy="6350"/>
          </a:xfrm>
          <a:prstGeom prst="rect">
            <a:avLst/>
          </a:prstGeom>
          <a:solidFill>
            <a:srgbClr val="E1DBCD"/>
          </a:solidFill>
          <a:ln>
            <a:noFill/>
          </a:ln>
        </p:spPr>
        <p:txBody>
          <a:bodyPr rtlCol="0" anchor="ctr"/>
          <a:lstStyle/>
          <a:p>
            <a:pPr algn="ctr"/>
          </a:p>
        </p:txBody>
      </p:sp>
      <p:sp>
        <p:nvSpPr>
          <p:cNvPr id="47" name="Rule 46"/>
          <p:cNvSpPr/>
          <p:nvPr/>
        </p:nvSpPr>
        <p:spPr>
          <a:xfrm>
            <a:off x="5981700" y="3389511"/>
            <a:ext cx="50800" cy="689570"/>
          </a:xfrm>
          <a:prstGeom prst="rect">
            <a:avLst/>
          </a:prstGeom>
          <a:solidFill>
            <a:srgbClr val="C27A16"/>
          </a:solidFill>
          <a:ln>
            <a:noFill/>
          </a:ln>
        </p:spPr>
        <p:txBody>
          <a:bodyPr rtlCol="0" anchor="ctr"/>
          <a:lstStyle/>
          <a:p>
            <a:pPr algn="ctr"/>
          </a:p>
        </p:txBody>
      </p:sp>
      <p:sp>
        <p:nvSpPr>
          <p:cNvPr id="48" name="Rule 47"/>
          <p:cNvSpPr/>
          <p:nvPr/>
        </p:nvSpPr>
        <p:spPr>
          <a:xfrm>
            <a:off x="812800" y="4072731"/>
            <a:ext cx="5219700" cy="6350"/>
          </a:xfrm>
          <a:prstGeom prst="rect">
            <a:avLst/>
          </a:prstGeom>
          <a:solidFill>
            <a:srgbClr val="E1DBCD"/>
          </a:solidFill>
          <a:ln>
            <a:noFill/>
          </a:ln>
        </p:spPr>
        <p:txBody>
          <a:bodyPr rtlCol="0" anchor="ctr"/>
          <a:lstStyle/>
          <a:p>
            <a:pPr algn="ctr"/>
          </a:p>
        </p:txBody>
      </p:sp>
      <p:sp>
        <p:nvSpPr>
          <p:cNvPr id="49" name="Rule 48"/>
          <p:cNvSpPr/>
          <p:nvPr/>
        </p:nvSpPr>
        <p:spPr>
          <a:xfrm>
            <a:off x="812800" y="3389511"/>
            <a:ext cx="6350" cy="689570"/>
          </a:xfrm>
          <a:prstGeom prst="rect">
            <a:avLst/>
          </a:prstGeom>
          <a:solidFill>
            <a:srgbClr val="E1DBCD"/>
          </a:solidFill>
          <a:ln>
            <a:noFill/>
          </a:ln>
        </p:spPr>
        <p:txBody>
          <a:bodyPr rtlCol="0" anchor="ctr"/>
          <a:lstStyle/>
          <a:p>
            <a:pPr algn="ctr"/>
          </a:p>
        </p:txBody>
      </p:sp>
      <p:sp>
        <p:nvSpPr>
          <p:cNvPr id="50" name="Text 49"/>
          <p:cNvSpPr txBox="1"/>
          <p:nvPr/>
        </p:nvSpPr>
        <p:spPr>
          <a:xfrm>
            <a:off x="838200" y="3472855"/>
            <a:ext cx="5003800" cy="222250"/>
          </a:xfrm>
          <a:prstGeom prst="rect">
            <a:avLst/>
          </a:prstGeom>
          <a:noFill/>
        </p:spPr>
        <p:txBody>
          <a:bodyPr wrap="square" tIns="0" rIns="0" bIns="0" lIns="0" anchor="t" rtlCol="0" anchorCtr="0">
            <a:noAutofit/>
          </a:bodyPr>
          <a:lstStyle/>
          <a:p>
            <a:pPr algn="r" rtl="1">
              <a:lnSpc>
                <a:spcPts val="1750"/>
              </a:lnSpc>
              <a:spcBef>
                <a:spcPts val="0"/>
              </a:spcBef>
              <a:spcAft>
                <a:spcPts val="0"/>
              </a:spcAft>
            </a:pPr>
            <a:r>
              <a:rPr sz="1250" b="1" i="0" lang="ar-SA" altLang="en-US">
                <a:solidFill>
                  <a:srgbClr val="172433"/>
                </a:solidFill>
                <a:latin typeface="IBM Plex Sans Arabic"/>
                <a:ea typeface="IBM Plex Sans Arabic"/>
                <a:cs typeface="IBM Plex Sans Arabic"/>
              </a:rPr>
              <a:t>«اشرح ECC أو ISO 27001 لمدير غير تقني»</a:t>
            </a:r>
          </a:p>
        </p:txBody>
      </p:sp>
      <p:sp>
        <p:nvSpPr>
          <p:cNvPr id="51" name="Text 50"/>
          <p:cNvSpPr txBox="1"/>
          <p:nvPr/>
        </p:nvSpPr>
        <p:spPr>
          <a:xfrm>
            <a:off x="4507798" y="3734189"/>
            <a:ext cx="133420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يختبر: التبسيط والفهم</a:t>
            </a:r>
          </a:p>
        </p:txBody>
      </p:sp>
      <p:sp>
        <p:nvSpPr>
          <p:cNvPr id="52" name="Text 51"/>
          <p:cNvSpPr txBox="1"/>
          <p:nvPr/>
        </p:nvSpPr>
        <p:spPr>
          <a:xfrm>
            <a:off x="867410" y="3749449"/>
            <a:ext cx="120427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9A5F0F"/>
                </a:solidFill>
                <a:latin typeface="IBM Plex Sans Arabic"/>
                <a:ea typeface="IBM Plex Sans Arabic"/>
                <a:cs typeface="IBM Plex Sans Arabic"/>
              </a:rPr>
              <a:t>الشريحتان 54 و57</a:t>
            </a:r>
          </a:p>
        </p:txBody>
      </p:sp>
      <p:sp>
        <p:nvSpPr>
          <p:cNvPr id="53" name="Box 52"/>
          <p:cNvSpPr/>
          <p:nvPr/>
        </p:nvSpPr>
        <p:spPr>
          <a:xfrm>
            <a:off x="6159500" y="4167981"/>
            <a:ext cx="5219700" cy="689570"/>
          </a:xfrm>
          <a:prstGeom prst="roundRect">
            <a:avLst>
              <a:gd name="adj" fmla="val 12892"/>
            </a:avLst>
          </a:prstGeom>
          <a:solidFill>
            <a:srgbClr val="FFFDF8"/>
          </a:solidFill>
          <a:ln>
            <a:noFill/>
          </a:ln>
        </p:spPr>
        <p:txBody>
          <a:bodyPr rtlCol="0" anchor="ctr"/>
          <a:lstStyle/>
          <a:p>
            <a:pPr algn="ctr"/>
          </a:p>
        </p:txBody>
      </p:sp>
      <p:sp>
        <p:nvSpPr>
          <p:cNvPr id="54" name="Rule 53"/>
          <p:cNvSpPr/>
          <p:nvPr/>
        </p:nvSpPr>
        <p:spPr>
          <a:xfrm>
            <a:off x="6159500" y="4167981"/>
            <a:ext cx="5219700" cy="6350"/>
          </a:xfrm>
          <a:prstGeom prst="rect">
            <a:avLst/>
          </a:prstGeom>
          <a:solidFill>
            <a:srgbClr val="E1DBCD"/>
          </a:solidFill>
          <a:ln>
            <a:noFill/>
          </a:ln>
        </p:spPr>
        <p:txBody>
          <a:bodyPr rtlCol="0" anchor="ctr"/>
          <a:lstStyle/>
          <a:p>
            <a:pPr algn="ctr"/>
          </a:p>
        </p:txBody>
      </p:sp>
      <p:sp>
        <p:nvSpPr>
          <p:cNvPr id="55" name="Rule 54"/>
          <p:cNvSpPr/>
          <p:nvPr/>
        </p:nvSpPr>
        <p:spPr>
          <a:xfrm>
            <a:off x="11328400" y="4167981"/>
            <a:ext cx="50800" cy="689570"/>
          </a:xfrm>
          <a:prstGeom prst="rect">
            <a:avLst/>
          </a:prstGeom>
          <a:solidFill>
            <a:srgbClr val="24506B"/>
          </a:solidFill>
          <a:ln>
            <a:noFill/>
          </a:ln>
        </p:spPr>
        <p:txBody>
          <a:bodyPr rtlCol="0" anchor="ctr"/>
          <a:lstStyle/>
          <a:p>
            <a:pPr algn="ctr"/>
          </a:p>
        </p:txBody>
      </p:sp>
      <p:sp>
        <p:nvSpPr>
          <p:cNvPr id="56" name="Rule 55"/>
          <p:cNvSpPr/>
          <p:nvPr/>
        </p:nvSpPr>
        <p:spPr>
          <a:xfrm>
            <a:off x="6159500" y="4851202"/>
            <a:ext cx="5219700" cy="6350"/>
          </a:xfrm>
          <a:prstGeom prst="rect">
            <a:avLst/>
          </a:prstGeom>
          <a:solidFill>
            <a:srgbClr val="E1DBCD"/>
          </a:solidFill>
          <a:ln>
            <a:noFill/>
          </a:ln>
        </p:spPr>
        <p:txBody>
          <a:bodyPr rtlCol="0" anchor="ctr"/>
          <a:lstStyle/>
          <a:p>
            <a:pPr algn="ctr"/>
          </a:p>
        </p:txBody>
      </p:sp>
      <p:sp>
        <p:nvSpPr>
          <p:cNvPr id="57" name="Rule 56"/>
          <p:cNvSpPr/>
          <p:nvPr/>
        </p:nvSpPr>
        <p:spPr>
          <a:xfrm>
            <a:off x="6159500" y="4167981"/>
            <a:ext cx="6350" cy="689570"/>
          </a:xfrm>
          <a:prstGeom prst="rect">
            <a:avLst/>
          </a:prstGeom>
          <a:solidFill>
            <a:srgbClr val="E1DBCD"/>
          </a:solidFill>
          <a:ln>
            <a:noFill/>
          </a:ln>
        </p:spPr>
        <p:txBody>
          <a:bodyPr rtlCol="0" anchor="ctr"/>
          <a:lstStyle/>
          <a:p>
            <a:pPr algn="ctr"/>
          </a:p>
        </p:txBody>
      </p:sp>
      <p:sp>
        <p:nvSpPr>
          <p:cNvPr id="58" name="Text 57"/>
          <p:cNvSpPr txBox="1"/>
          <p:nvPr/>
        </p:nvSpPr>
        <p:spPr>
          <a:xfrm>
            <a:off x="6184900" y="4251325"/>
            <a:ext cx="5003800" cy="222250"/>
          </a:xfrm>
          <a:prstGeom prst="rect">
            <a:avLst/>
          </a:prstGeom>
          <a:noFill/>
        </p:spPr>
        <p:txBody>
          <a:bodyPr wrap="square" tIns="0" rIns="0" bIns="0" lIns="0" anchor="t" rtlCol="0" anchorCtr="0">
            <a:noAutofit/>
          </a:bodyPr>
          <a:lstStyle/>
          <a:p>
            <a:pPr algn="r" rtl="1">
              <a:lnSpc>
                <a:spcPts val="1750"/>
              </a:lnSpc>
              <a:spcBef>
                <a:spcPts val="0"/>
              </a:spcBef>
              <a:spcAft>
                <a:spcPts val="0"/>
              </a:spcAft>
            </a:pPr>
            <a:r>
              <a:rPr sz="1250" b="1" i="0" lang="ar-SA" altLang="en-US">
                <a:solidFill>
                  <a:srgbClr val="172433"/>
                </a:solidFill>
                <a:latin typeface="IBM Plex Sans Arabic"/>
                <a:ea typeface="IBM Plex Sans Arabic"/>
                <a:cs typeface="IBM Plex Sans Arabic"/>
              </a:rPr>
              <a:t>«ما الفرق بين الامتثال والمراجعة الداخلية؟»</a:t>
            </a:r>
          </a:p>
        </p:txBody>
      </p:sp>
      <p:sp>
        <p:nvSpPr>
          <p:cNvPr id="59" name="Text 58"/>
          <p:cNvSpPr txBox="1"/>
          <p:nvPr/>
        </p:nvSpPr>
        <p:spPr>
          <a:xfrm>
            <a:off x="9500239" y="4512659"/>
            <a:ext cx="1688461"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يختبر: نموذج الخطوط الثلاثة</a:t>
            </a:r>
          </a:p>
        </p:txBody>
      </p:sp>
      <p:sp>
        <p:nvSpPr>
          <p:cNvPr id="60" name="Text 59"/>
          <p:cNvSpPr txBox="1"/>
          <p:nvPr/>
        </p:nvSpPr>
        <p:spPr>
          <a:xfrm>
            <a:off x="6214110" y="4527919"/>
            <a:ext cx="794603"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24506B"/>
                </a:solidFill>
                <a:latin typeface="IBM Plex Sans Arabic"/>
                <a:ea typeface="IBM Plex Sans Arabic"/>
                <a:cs typeface="IBM Plex Sans Arabic"/>
              </a:rPr>
              <a:t>الشريحة 34</a:t>
            </a:r>
          </a:p>
        </p:txBody>
      </p:sp>
      <p:sp>
        <p:nvSpPr>
          <p:cNvPr id="61" name="Box 60"/>
          <p:cNvSpPr/>
          <p:nvPr/>
        </p:nvSpPr>
        <p:spPr>
          <a:xfrm>
            <a:off x="812800" y="4167981"/>
            <a:ext cx="5219700" cy="689570"/>
          </a:xfrm>
          <a:prstGeom prst="roundRect">
            <a:avLst>
              <a:gd name="adj" fmla="val 12892"/>
            </a:avLst>
          </a:prstGeom>
          <a:solidFill>
            <a:srgbClr val="FFFDF8"/>
          </a:solidFill>
          <a:ln>
            <a:noFill/>
          </a:ln>
        </p:spPr>
        <p:txBody>
          <a:bodyPr rtlCol="0" anchor="ctr"/>
          <a:lstStyle/>
          <a:p>
            <a:pPr algn="ctr"/>
          </a:p>
        </p:txBody>
      </p:sp>
      <p:sp>
        <p:nvSpPr>
          <p:cNvPr id="62" name="Rule 61"/>
          <p:cNvSpPr/>
          <p:nvPr/>
        </p:nvSpPr>
        <p:spPr>
          <a:xfrm>
            <a:off x="812800" y="4167981"/>
            <a:ext cx="5219700" cy="6350"/>
          </a:xfrm>
          <a:prstGeom prst="rect">
            <a:avLst/>
          </a:prstGeom>
          <a:solidFill>
            <a:srgbClr val="E1DBCD"/>
          </a:solidFill>
          <a:ln>
            <a:noFill/>
          </a:ln>
        </p:spPr>
        <p:txBody>
          <a:bodyPr rtlCol="0" anchor="ctr"/>
          <a:lstStyle/>
          <a:p>
            <a:pPr algn="ctr"/>
          </a:p>
        </p:txBody>
      </p:sp>
      <p:sp>
        <p:nvSpPr>
          <p:cNvPr id="63" name="Rule 62"/>
          <p:cNvSpPr/>
          <p:nvPr/>
        </p:nvSpPr>
        <p:spPr>
          <a:xfrm>
            <a:off x="5981700" y="4167981"/>
            <a:ext cx="50800" cy="689570"/>
          </a:xfrm>
          <a:prstGeom prst="rect">
            <a:avLst/>
          </a:prstGeom>
          <a:solidFill>
            <a:srgbClr val="24506B"/>
          </a:solidFill>
          <a:ln>
            <a:noFill/>
          </a:ln>
        </p:spPr>
        <p:txBody>
          <a:bodyPr rtlCol="0" anchor="ctr"/>
          <a:lstStyle/>
          <a:p>
            <a:pPr algn="ctr"/>
          </a:p>
        </p:txBody>
      </p:sp>
      <p:sp>
        <p:nvSpPr>
          <p:cNvPr id="64" name="Rule 63"/>
          <p:cNvSpPr/>
          <p:nvPr/>
        </p:nvSpPr>
        <p:spPr>
          <a:xfrm>
            <a:off x="812800" y="4851202"/>
            <a:ext cx="5219700" cy="6350"/>
          </a:xfrm>
          <a:prstGeom prst="rect">
            <a:avLst/>
          </a:prstGeom>
          <a:solidFill>
            <a:srgbClr val="E1DBCD"/>
          </a:solidFill>
          <a:ln>
            <a:noFill/>
          </a:ln>
        </p:spPr>
        <p:txBody>
          <a:bodyPr rtlCol="0" anchor="ctr"/>
          <a:lstStyle/>
          <a:p>
            <a:pPr algn="ctr"/>
          </a:p>
        </p:txBody>
      </p:sp>
      <p:sp>
        <p:nvSpPr>
          <p:cNvPr id="65" name="Rule 64"/>
          <p:cNvSpPr/>
          <p:nvPr/>
        </p:nvSpPr>
        <p:spPr>
          <a:xfrm>
            <a:off x="812800" y="4167981"/>
            <a:ext cx="6350" cy="689570"/>
          </a:xfrm>
          <a:prstGeom prst="rect">
            <a:avLst/>
          </a:prstGeom>
          <a:solidFill>
            <a:srgbClr val="E1DBCD"/>
          </a:solidFill>
          <a:ln>
            <a:noFill/>
          </a:ln>
        </p:spPr>
        <p:txBody>
          <a:bodyPr rtlCol="0" anchor="ctr"/>
          <a:lstStyle/>
          <a:p>
            <a:pPr algn="ctr"/>
          </a:p>
        </p:txBody>
      </p:sp>
      <p:sp>
        <p:nvSpPr>
          <p:cNvPr id="66" name="Text 65"/>
          <p:cNvSpPr txBox="1"/>
          <p:nvPr/>
        </p:nvSpPr>
        <p:spPr>
          <a:xfrm>
            <a:off x="838200" y="4251325"/>
            <a:ext cx="5003800" cy="222250"/>
          </a:xfrm>
          <a:prstGeom prst="rect">
            <a:avLst/>
          </a:prstGeom>
          <a:noFill/>
        </p:spPr>
        <p:txBody>
          <a:bodyPr wrap="square" tIns="0" rIns="0" bIns="0" lIns="0" anchor="t" rtlCol="0" anchorCtr="0">
            <a:noAutofit/>
          </a:bodyPr>
          <a:lstStyle/>
          <a:p>
            <a:pPr algn="r" rtl="1">
              <a:lnSpc>
                <a:spcPts val="1750"/>
              </a:lnSpc>
              <a:spcBef>
                <a:spcPts val="0"/>
              </a:spcBef>
              <a:spcAft>
                <a:spcPts val="0"/>
              </a:spcAft>
            </a:pPr>
            <a:r>
              <a:rPr sz="1250" b="1" i="0" lang="ar-SA" altLang="en-US">
                <a:solidFill>
                  <a:srgbClr val="172433"/>
                </a:solidFill>
                <a:latin typeface="IBM Plex Sans Arabic"/>
                <a:ea typeface="IBM Plex Sans Arabic"/>
                <a:cs typeface="IBM Plex Sans Arabic"/>
              </a:rPr>
              <a:t>«لماذا GRC؟ ولماذا جهتنا تحديداً؟»</a:t>
            </a:r>
          </a:p>
        </p:txBody>
      </p:sp>
      <p:sp>
        <p:nvSpPr>
          <p:cNvPr id="67" name="Text 66"/>
          <p:cNvSpPr txBox="1"/>
          <p:nvPr/>
        </p:nvSpPr>
        <p:spPr>
          <a:xfrm>
            <a:off x="3954121" y="4512659"/>
            <a:ext cx="1887879"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يختبر: دافعك وبحثك عن الجهة</a:t>
            </a:r>
          </a:p>
        </p:txBody>
      </p:sp>
      <p:sp>
        <p:nvSpPr>
          <p:cNvPr id="68" name="Text 67"/>
          <p:cNvSpPr txBox="1"/>
          <p:nvPr/>
        </p:nvSpPr>
        <p:spPr>
          <a:xfrm>
            <a:off x="867410" y="4527919"/>
            <a:ext cx="861576"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24506B"/>
                </a:solidFill>
                <a:latin typeface="IBM Plex Sans Arabic"/>
                <a:ea typeface="IBM Plex Sans Arabic"/>
                <a:cs typeface="IBM Plex Sans Arabic"/>
              </a:rPr>
              <a:t>جهّزه بنفسك</a:t>
            </a:r>
          </a:p>
        </p:txBody>
      </p:sp>
      <p:sp>
        <p:nvSpPr>
          <p:cNvPr id="69" name="Text 68"/>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09 · المقابلة والانطلاق</a:t>
            </a:r>
          </a:p>
        </p:txBody>
      </p:sp>
      <p:sp>
        <p:nvSpPr>
          <p:cNvPr id="70" name="Text 69"/>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92</a:t>
            </a:r>
          </a:p>
        </p:txBody>
      </p:sp>
    </p:spTree>
  </p:cSld>
  <p:clrMapOvr>
    <a:masterClrMapping/>
  </p:clrMapOvr>
  <p:transition spd="med">
    <p:fade/>
  </p:transition>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333905" y="812800"/>
            <a:ext cx="2045295"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09 · المقابلة والانطلاق</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طريقة STAR: قصة قصيرة بنتيجة واضحة</a:t>
            </a:r>
          </a:p>
        </p:txBody>
      </p:sp>
      <p:sp>
        <p:nvSpPr>
          <p:cNvPr id="5" name="Text 4"/>
          <p:cNvSpPr txBox="1"/>
          <p:nvPr/>
        </p:nvSpPr>
        <p:spPr>
          <a:xfrm>
            <a:off x="0" y="1802852"/>
            <a:ext cx="11379200" cy="239316"/>
          </a:xfrm>
          <a:prstGeom prst="rect">
            <a:avLst/>
          </a:prstGeom>
          <a:noFill/>
        </p:spPr>
        <p:txBody>
          <a:bodyPr wrap="square" tIns="0" rIns="0" bIns="0" lIns="0" anchor="t" rtlCol="0" anchorCtr="0">
            <a:noAutofit/>
          </a:bodyPr>
          <a:lstStyle/>
          <a:p>
            <a:pPr algn="r" rtl="1">
              <a:lnSpc>
                <a:spcPts val="1885"/>
              </a:lnSpc>
              <a:spcBef>
                <a:spcPts val="0"/>
              </a:spcBef>
              <a:spcAft>
                <a:spcPts val="0"/>
              </a:spcAft>
            </a:pPr>
            <a:r>
              <a:rPr sz="1300" b="0" i="0" lang="ar-SA" altLang="en-US">
                <a:solidFill>
                  <a:srgbClr val="4E5A66"/>
                </a:solidFill>
                <a:latin typeface="IBM Plex Sans Arabic"/>
                <a:ea typeface="IBM Plex Sans Arabic"/>
                <a:cs typeface="IBM Plex Sans Arabic"/>
              </a:rPr>
              <a:t>السؤال: «حدثنا عن مرة اكتشفت فيها مشكلة لم ينتبه لها أحد.» والجواب مثال توضيحي.</a:t>
            </a:r>
          </a:p>
        </p:txBody>
      </p:sp>
      <p:sp>
        <p:nvSpPr>
          <p:cNvPr id="6" name="Box 5"/>
          <p:cNvSpPr/>
          <p:nvPr/>
        </p:nvSpPr>
        <p:spPr>
          <a:xfrm>
            <a:off x="8975328" y="2249686"/>
            <a:ext cx="2403872" cy="1429941"/>
          </a:xfrm>
          <a:prstGeom prst="roundRect">
            <a:avLst>
              <a:gd name="adj" fmla="val 7105"/>
            </a:avLst>
          </a:prstGeom>
          <a:solidFill>
            <a:srgbClr val="FFFDF8"/>
          </a:solidFill>
          <a:ln>
            <a:noFill/>
          </a:ln>
        </p:spPr>
        <p:txBody>
          <a:bodyPr rtlCol="0" anchor="ctr"/>
          <a:lstStyle/>
          <a:p>
            <a:pPr algn="ctr"/>
          </a:p>
        </p:txBody>
      </p:sp>
      <p:sp>
        <p:nvSpPr>
          <p:cNvPr id="7" name="Rule 6"/>
          <p:cNvSpPr/>
          <p:nvPr/>
        </p:nvSpPr>
        <p:spPr>
          <a:xfrm>
            <a:off x="8975328" y="2249686"/>
            <a:ext cx="2403872" cy="50800"/>
          </a:xfrm>
          <a:prstGeom prst="rect">
            <a:avLst/>
          </a:prstGeom>
          <a:solidFill>
            <a:srgbClr val="24506B"/>
          </a:solidFill>
          <a:ln>
            <a:noFill/>
          </a:ln>
        </p:spPr>
        <p:txBody>
          <a:bodyPr rtlCol="0" anchor="ctr"/>
          <a:lstStyle/>
          <a:p>
            <a:pPr algn="ctr"/>
          </a:p>
        </p:txBody>
      </p:sp>
      <p:sp>
        <p:nvSpPr>
          <p:cNvPr id="8" name="Rule 7"/>
          <p:cNvSpPr/>
          <p:nvPr/>
        </p:nvSpPr>
        <p:spPr>
          <a:xfrm>
            <a:off x="11372850" y="2249686"/>
            <a:ext cx="6350" cy="1429941"/>
          </a:xfrm>
          <a:prstGeom prst="rect">
            <a:avLst/>
          </a:prstGeom>
          <a:solidFill>
            <a:srgbClr val="E1DBCD"/>
          </a:solidFill>
          <a:ln>
            <a:noFill/>
          </a:ln>
        </p:spPr>
        <p:txBody>
          <a:bodyPr rtlCol="0" anchor="ctr"/>
          <a:lstStyle/>
          <a:p>
            <a:pPr algn="ctr"/>
          </a:p>
        </p:txBody>
      </p:sp>
      <p:sp>
        <p:nvSpPr>
          <p:cNvPr id="9" name="Rule 8"/>
          <p:cNvSpPr/>
          <p:nvPr/>
        </p:nvSpPr>
        <p:spPr>
          <a:xfrm>
            <a:off x="8975328" y="3673277"/>
            <a:ext cx="2403872" cy="6350"/>
          </a:xfrm>
          <a:prstGeom prst="rect">
            <a:avLst/>
          </a:prstGeom>
          <a:solidFill>
            <a:srgbClr val="E1DBCD"/>
          </a:solidFill>
          <a:ln>
            <a:noFill/>
          </a:ln>
        </p:spPr>
        <p:txBody>
          <a:bodyPr rtlCol="0" anchor="ctr"/>
          <a:lstStyle/>
          <a:p>
            <a:pPr algn="ctr"/>
          </a:p>
        </p:txBody>
      </p:sp>
      <p:sp>
        <p:nvSpPr>
          <p:cNvPr id="10" name="Rule 9"/>
          <p:cNvSpPr/>
          <p:nvPr/>
        </p:nvSpPr>
        <p:spPr>
          <a:xfrm>
            <a:off x="8975328" y="2249686"/>
            <a:ext cx="6350" cy="1429941"/>
          </a:xfrm>
          <a:prstGeom prst="rect">
            <a:avLst/>
          </a:prstGeom>
          <a:solidFill>
            <a:srgbClr val="E1DBCD"/>
          </a:solidFill>
          <a:ln>
            <a:noFill/>
          </a:ln>
        </p:spPr>
        <p:txBody>
          <a:bodyPr rtlCol="0" anchor="ctr"/>
          <a:lstStyle/>
          <a:p>
            <a:pPr algn="ctr"/>
          </a:p>
        </p:txBody>
      </p:sp>
      <p:sp>
        <p:nvSpPr>
          <p:cNvPr id="11" name="Text 10"/>
          <p:cNvSpPr txBox="1"/>
          <p:nvPr/>
        </p:nvSpPr>
        <p:spPr>
          <a:xfrm>
            <a:off x="10793968" y="2470412"/>
            <a:ext cx="439182"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800" b="1" i="0">
                <a:solidFill>
                  <a:srgbClr val="24506B"/>
                </a:solidFill>
                <a:latin typeface="Readex Pro"/>
                <a:ea typeface="Readex Pro"/>
                <a:cs typeface="Readex Pro"/>
              </a:rPr>
              <a:t>S</a:t>
            </a:r>
          </a:p>
        </p:txBody>
      </p:sp>
      <p:sp>
        <p:nvSpPr>
          <p:cNvPr id="12" name="Text 11"/>
          <p:cNvSpPr txBox="1"/>
          <p:nvPr/>
        </p:nvSpPr>
        <p:spPr>
          <a:xfrm>
            <a:off x="10310475" y="2575250"/>
            <a:ext cx="620653"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172433"/>
                </a:solidFill>
                <a:latin typeface="IBM Plex Sans Arabic"/>
                <a:ea typeface="IBM Plex Sans Arabic"/>
                <a:cs typeface="IBM Plex Sans Arabic"/>
              </a:rPr>
              <a:t>الموقف</a:t>
            </a:r>
          </a:p>
        </p:txBody>
      </p:sp>
      <p:sp>
        <p:nvSpPr>
          <p:cNvPr id="13" name="Text 12"/>
          <p:cNvSpPr txBox="1"/>
          <p:nvPr/>
        </p:nvSpPr>
        <p:spPr>
          <a:xfrm>
            <a:off x="9058025" y="2843264"/>
            <a:ext cx="2175125" cy="66288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في تدريبي التعاوني، كانت مراجعة صلاحيات نظام المالية متأخرة ثمانية أشهر.</a:t>
            </a:r>
          </a:p>
        </p:txBody>
      </p:sp>
      <p:sp>
        <p:nvSpPr>
          <p:cNvPr id="14" name="Box 13"/>
          <p:cNvSpPr/>
          <p:nvPr/>
        </p:nvSpPr>
        <p:spPr>
          <a:xfrm>
            <a:off x="6469856" y="2249686"/>
            <a:ext cx="2403872" cy="1429941"/>
          </a:xfrm>
          <a:prstGeom prst="roundRect">
            <a:avLst>
              <a:gd name="adj" fmla="val 7105"/>
            </a:avLst>
          </a:prstGeom>
          <a:solidFill>
            <a:srgbClr val="FFFDF8"/>
          </a:solidFill>
          <a:ln>
            <a:noFill/>
          </a:ln>
        </p:spPr>
        <p:txBody>
          <a:bodyPr rtlCol="0" anchor="ctr"/>
          <a:lstStyle/>
          <a:p>
            <a:pPr algn="ctr"/>
          </a:p>
        </p:txBody>
      </p:sp>
      <p:sp>
        <p:nvSpPr>
          <p:cNvPr id="15" name="Rule 14"/>
          <p:cNvSpPr/>
          <p:nvPr/>
        </p:nvSpPr>
        <p:spPr>
          <a:xfrm>
            <a:off x="6469856" y="2249686"/>
            <a:ext cx="2403872" cy="50800"/>
          </a:xfrm>
          <a:prstGeom prst="rect">
            <a:avLst/>
          </a:prstGeom>
          <a:solidFill>
            <a:srgbClr val="6B4E9B"/>
          </a:solidFill>
          <a:ln>
            <a:noFill/>
          </a:ln>
        </p:spPr>
        <p:txBody>
          <a:bodyPr rtlCol="0" anchor="ctr"/>
          <a:lstStyle/>
          <a:p>
            <a:pPr algn="ctr"/>
          </a:p>
        </p:txBody>
      </p:sp>
      <p:sp>
        <p:nvSpPr>
          <p:cNvPr id="16" name="Rule 15"/>
          <p:cNvSpPr/>
          <p:nvPr/>
        </p:nvSpPr>
        <p:spPr>
          <a:xfrm>
            <a:off x="8867378" y="2249686"/>
            <a:ext cx="6350" cy="1429941"/>
          </a:xfrm>
          <a:prstGeom prst="rect">
            <a:avLst/>
          </a:prstGeom>
          <a:solidFill>
            <a:srgbClr val="E1DBCD"/>
          </a:solidFill>
          <a:ln>
            <a:noFill/>
          </a:ln>
        </p:spPr>
        <p:txBody>
          <a:bodyPr rtlCol="0" anchor="ctr"/>
          <a:lstStyle/>
          <a:p>
            <a:pPr algn="ctr"/>
          </a:p>
        </p:txBody>
      </p:sp>
      <p:sp>
        <p:nvSpPr>
          <p:cNvPr id="17" name="Rule 16"/>
          <p:cNvSpPr/>
          <p:nvPr/>
        </p:nvSpPr>
        <p:spPr>
          <a:xfrm>
            <a:off x="6469856" y="3673277"/>
            <a:ext cx="2403872" cy="6350"/>
          </a:xfrm>
          <a:prstGeom prst="rect">
            <a:avLst/>
          </a:prstGeom>
          <a:solidFill>
            <a:srgbClr val="E1DBCD"/>
          </a:solidFill>
          <a:ln>
            <a:noFill/>
          </a:ln>
        </p:spPr>
        <p:txBody>
          <a:bodyPr rtlCol="0" anchor="ctr"/>
          <a:lstStyle/>
          <a:p>
            <a:pPr algn="ctr"/>
          </a:p>
        </p:txBody>
      </p:sp>
      <p:sp>
        <p:nvSpPr>
          <p:cNvPr id="18" name="Rule 17"/>
          <p:cNvSpPr/>
          <p:nvPr/>
        </p:nvSpPr>
        <p:spPr>
          <a:xfrm>
            <a:off x="6469856" y="2249686"/>
            <a:ext cx="6350" cy="1429941"/>
          </a:xfrm>
          <a:prstGeom prst="rect">
            <a:avLst/>
          </a:prstGeom>
          <a:solidFill>
            <a:srgbClr val="E1DBCD"/>
          </a:solidFill>
          <a:ln>
            <a:noFill/>
          </a:ln>
        </p:spPr>
        <p:txBody>
          <a:bodyPr rtlCol="0" anchor="ctr"/>
          <a:lstStyle/>
          <a:p>
            <a:pPr algn="ctr"/>
          </a:p>
        </p:txBody>
      </p:sp>
      <p:sp>
        <p:nvSpPr>
          <p:cNvPr id="19" name="Text 18"/>
          <p:cNvSpPr txBox="1"/>
          <p:nvPr/>
        </p:nvSpPr>
        <p:spPr>
          <a:xfrm>
            <a:off x="8281353" y="2470412"/>
            <a:ext cx="446326"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800" b="1" i="0">
                <a:solidFill>
                  <a:srgbClr val="5A3F87"/>
                </a:solidFill>
                <a:latin typeface="Readex Pro"/>
                <a:ea typeface="Readex Pro"/>
                <a:cs typeface="Readex Pro"/>
              </a:rPr>
              <a:t>T</a:t>
            </a:r>
          </a:p>
        </p:txBody>
      </p:sp>
      <p:sp>
        <p:nvSpPr>
          <p:cNvPr id="20" name="Text 19"/>
          <p:cNvSpPr txBox="1"/>
          <p:nvPr/>
        </p:nvSpPr>
        <p:spPr>
          <a:xfrm>
            <a:off x="7859574" y="2575250"/>
            <a:ext cx="558939"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172433"/>
                </a:solidFill>
                <a:latin typeface="IBM Plex Sans Arabic"/>
                <a:ea typeface="IBM Plex Sans Arabic"/>
                <a:cs typeface="IBM Plex Sans Arabic"/>
              </a:rPr>
              <a:t>المهمة</a:t>
            </a:r>
          </a:p>
        </p:txBody>
      </p:sp>
      <p:sp>
        <p:nvSpPr>
          <p:cNvPr id="21" name="Text 20"/>
          <p:cNvSpPr txBox="1"/>
          <p:nvPr/>
        </p:nvSpPr>
        <p:spPr>
          <a:xfrm>
            <a:off x="6552553" y="2843264"/>
            <a:ext cx="2175125"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كُلفت بتجهيز قائمة المستخدمين للمراجعة.</a:t>
            </a:r>
          </a:p>
        </p:txBody>
      </p:sp>
      <p:sp>
        <p:nvSpPr>
          <p:cNvPr id="22" name="Box 21"/>
          <p:cNvSpPr/>
          <p:nvPr/>
        </p:nvSpPr>
        <p:spPr>
          <a:xfrm>
            <a:off x="3330873" y="2249686"/>
            <a:ext cx="3037384" cy="1429941"/>
          </a:xfrm>
          <a:prstGeom prst="roundRect">
            <a:avLst>
              <a:gd name="adj" fmla="val 7105"/>
            </a:avLst>
          </a:prstGeom>
          <a:solidFill>
            <a:srgbClr val="FFFDF8"/>
          </a:solidFill>
          <a:ln>
            <a:noFill/>
          </a:ln>
        </p:spPr>
        <p:txBody>
          <a:bodyPr rtlCol="0" anchor="ctr"/>
          <a:lstStyle/>
          <a:p>
            <a:pPr algn="ctr"/>
          </a:p>
        </p:txBody>
      </p:sp>
      <p:sp>
        <p:nvSpPr>
          <p:cNvPr id="23" name="Rule 22"/>
          <p:cNvSpPr/>
          <p:nvPr/>
        </p:nvSpPr>
        <p:spPr>
          <a:xfrm>
            <a:off x="3330873" y="2249686"/>
            <a:ext cx="3037384" cy="50800"/>
          </a:xfrm>
          <a:prstGeom prst="rect">
            <a:avLst/>
          </a:prstGeom>
          <a:solidFill>
            <a:srgbClr val="0E7C6B"/>
          </a:solidFill>
          <a:ln>
            <a:noFill/>
          </a:ln>
        </p:spPr>
        <p:txBody>
          <a:bodyPr rtlCol="0" anchor="ctr"/>
          <a:lstStyle/>
          <a:p>
            <a:pPr algn="ctr"/>
          </a:p>
        </p:txBody>
      </p:sp>
      <p:sp>
        <p:nvSpPr>
          <p:cNvPr id="24" name="Rule 23"/>
          <p:cNvSpPr/>
          <p:nvPr/>
        </p:nvSpPr>
        <p:spPr>
          <a:xfrm>
            <a:off x="6361906" y="2249686"/>
            <a:ext cx="6350" cy="1429941"/>
          </a:xfrm>
          <a:prstGeom prst="rect">
            <a:avLst/>
          </a:prstGeom>
          <a:solidFill>
            <a:srgbClr val="E1DBCD"/>
          </a:solidFill>
          <a:ln>
            <a:noFill/>
          </a:ln>
        </p:spPr>
        <p:txBody>
          <a:bodyPr rtlCol="0" anchor="ctr"/>
          <a:lstStyle/>
          <a:p>
            <a:pPr algn="ctr"/>
          </a:p>
        </p:txBody>
      </p:sp>
      <p:sp>
        <p:nvSpPr>
          <p:cNvPr id="25" name="Rule 24"/>
          <p:cNvSpPr/>
          <p:nvPr/>
        </p:nvSpPr>
        <p:spPr>
          <a:xfrm>
            <a:off x="3330873" y="3673277"/>
            <a:ext cx="3037384" cy="6350"/>
          </a:xfrm>
          <a:prstGeom prst="rect">
            <a:avLst/>
          </a:prstGeom>
          <a:solidFill>
            <a:srgbClr val="E1DBCD"/>
          </a:solidFill>
          <a:ln>
            <a:noFill/>
          </a:ln>
        </p:spPr>
        <p:txBody>
          <a:bodyPr rtlCol="0" anchor="ctr"/>
          <a:lstStyle/>
          <a:p>
            <a:pPr algn="ctr"/>
          </a:p>
        </p:txBody>
      </p:sp>
      <p:sp>
        <p:nvSpPr>
          <p:cNvPr id="26" name="Rule 25"/>
          <p:cNvSpPr/>
          <p:nvPr/>
        </p:nvSpPr>
        <p:spPr>
          <a:xfrm>
            <a:off x="3330873" y="2249686"/>
            <a:ext cx="6350" cy="1429941"/>
          </a:xfrm>
          <a:prstGeom prst="rect">
            <a:avLst/>
          </a:prstGeom>
          <a:solidFill>
            <a:srgbClr val="E1DBCD"/>
          </a:solidFill>
          <a:ln>
            <a:noFill/>
          </a:ln>
        </p:spPr>
        <p:txBody>
          <a:bodyPr rtlCol="0" anchor="ctr"/>
          <a:lstStyle/>
          <a:p>
            <a:pPr algn="ctr"/>
          </a:p>
        </p:txBody>
      </p:sp>
      <p:sp>
        <p:nvSpPr>
          <p:cNvPr id="27" name="Text 26"/>
          <p:cNvSpPr txBox="1"/>
          <p:nvPr/>
        </p:nvSpPr>
        <p:spPr>
          <a:xfrm>
            <a:off x="5760899" y="2470412"/>
            <a:ext cx="461308"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800" b="1" i="0">
                <a:solidFill>
                  <a:srgbClr val="0E7C6B"/>
                </a:solidFill>
                <a:latin typeface="Readex Pro"/>
                <a:ea typeface="Readex Pro"/>
                <a:cs typeface="Readex Pro"/>
              </a:rPr>
              <a:t>A</a:t>
            </a:r>
          </a:p>
        </p:txBody>
      </p:sp>
      <p:sp>
        <p:nvSpPr>
          <p:cNvPr id="28" name="Text 27"/>
          <p:cNvSpPr txBox="1"/>
          <p:nvPr/>
        </p:nvSpPr>
        <p:spPr>
          <a:xfrm>
            <a:off x="5089981" y="2575250"/>
            <a:ext cx="808077"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172433"/>
                </a:solidFill>
                <a:latin typeface="IBM Plex Sans Arabic"/>
                <a:ea typeface="IBM Plex Sans Arabic"/>
                <a:cs typeface="IBM Plex Sans Arabic"/>
              </a:rPr>
              <a:t>ما فعلته أنا</a:t>
            </a:r>
          </a:p>
        </p:txBody>
      </p:sp>
      <p:sp>
        <p:nvSpPr>
          <p:cNvPr id="29" name="Text 28"/>
          <p:cNvSpPr txBox="1"/>
          <p:nvPr/>
        </p:nvSpPr>
        <p:spPr>
          <a:xfrm>
            <a:off x="3394564" y="2843264"/>
            <a:ext cx="2827642" cy="66288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صدّرت القائمة من النظام، وقارنتها بسجل الموارد البشرية، فوجدت 6 حسابات لموظفين غادروا، ورفعتها لمالك النظام مع مقترح.</a:t>
            </a:r>
          </a:p>
        </p:txBody>
      </p:sp>
      <p:sp>
        <p:nvSpPr>
          <p:cNvPr id="30" name="Box 29"/>
          <p:cNvSpPr/>
          <p:nvPr/>
        </p:nvSpPr>
        <p:spPr>
          <a:xfrm>
            <a:off x="812701" y="2249686"/>
            <a:ext cx="2416572" cy="1429941"/>
          </a:xfrm>
          <a:prstGeom prst="roundRect">
            <a:avLst>
              <a:gd name="adj" fmla="val 7105"/>
            </a:avLst>
          </a:prstGeom>
          <a:solidFill>
            <a:srgbClr val="E3F1ED"/>
          </a:solidFill>
          <a:ln>
            <a:noFill/>
          </a:ln>
        </p:spPr>
        <p:txBody>
          <a:bodyPr rtlCol="0" anchor="ctr"/>
          <a:lstStyle/>
          <a:p>
            <a:pPr algn="ctr"/>
          </a:p>
        </p:txBody>
      </p:sp>
      <p:sp>
        <p:nvSpPr>
          <p:cNvPr id="31" name="Rule 30"/>
          <p:cNvSpPr/>
          <p:nvPr/>
        </p:nvSpPr>
        <p:spPr>
          <a:xfrm>
            <a:off x="812701" y="2249686"/>
            <a:ext cx="2416572" cy="50800"/>
          </a:xfrm>
          <a:prstGeom prst="rect">
            <a:avLst/>
          </a:prstGeom>
          <a:solidFill>
            <a:srgbClr val="C27A16"/>
          </a:solidFill>
          <a:ln>
            <a:noFill/>
          </a:ln>
        </p:spPr>
        <p:txBody>
          <a:bodyPr rtlCol="0" anchor="ctr"/>
          <a:lstStyle/>
          <a:p>
            <a:pPr algn="ctr"/>
          </a:p>
        </p:txBody>
      </p:sp>
      <p:sp>
        <p:nvSpPr>
          <p:cNvPr id="32" name="Rule 31"/>
          <p:cNvSpPr/>
          <p:nvPr/>
        </p:nvSpPr>
        <p:spPr>
          <a:xfrm>
            <a:off x="3216573" y="2249686"/>
            <a:ext cx="12700" cy="1429941"/>
          </a:xfrm>
          <a:prstGeom prst="rect">
            <a:avLst/>
          </a:prstGeom>
          <a:solidFill>
            <a:srgbClr val="0E7C6B"/>
          </a:solidFill>
          <a:ln>
            <a:noFill/>
          </a:ln>
        </p:spPr>
        <p:txBody>
          <a:bodyPr rtlCol="0" anchor="ctr"/>
          <a:lstStyle/>
          <a:p>
            <a:pPr algn="ctr"/>
          </a:p>
        </p:txBody>
      </p:sp>
      <p:sp>
        <p:nvSpPr>
          <p:cNvPr id="33" name="Rule 32"/>
          <p:cNvSpPr/>
          <p:nvPr/>
        </p:nvSpPr>
        <p:spPr>
          <a:xfrm>
            <a:off x="812701" y="3666927"/>
            <a:ext cx="2416572" cy="12700"/>
          </a:xfrm>
          <a:prstGeom prst="rect">
            <a:avLst/>
          </a:prstGeom>
          <a:solidFill>
            <a:srgbClr val="0E7C6B"/>
          </a:solidFill>
          <a:ln>
            <a:noFill/>
          </a:ln>
        </p:spPr>
        <p:txBody>
          <a:bodyPr rtlCol="0" anchor="ctr"/>
          <a:lstStyle/>
          <a:p>
            <a:pPr algn="ctr"/>
          </a:p>
        </p:txBody>
      </p:sp>
      <p:sp>
        <p:nvSpPr>
          <p:cNvPr id="34" name="Rule 33"/>
          <p:cNvSpPr/>
          <p:nvPr/>
        </p:nvSpPr>
        <p:spPr>
          <a:xfrm>
            <a:off x="812701" y="2249686"/>
            <a:ext cx="12700" cy="1429941"/>
          </a:xfrm>
          <a:prstGeom prst="rect">
            <a:avLst/>
          </a:prstGeom>
          <a:solidFill>
            <a:srgbClr val="0E7C6B"/>
          </a:solidFill>
          <a:ln>
            <a:noFill/>
          </a:ln>
        </p:spPr>
        <p:txBody>
          <a:bodyPr rtlCol="0" anchor="ctr"/>
          <a:lstStyle/>
          <a:p>
            <a:pPr algn="ctr"/>
          </a:p>
        </p:txBody>
      </p:sp>
      <p:sp>
        <p:nvSpPr>
          <p:cNvPr id="35" name="Text 34"/>
          <p:cNvSpPr txBox="1"/>
          <p:nvPr/>
        </p:nvSpPr>
        <p:spPr>
          <a:xfrm>
            <a:off x="2613085" y="2470412"/>
            <a:ext cx="463788"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800" b="1" i="0">
                <a:solidFill>
                  <a:srgbClr val="9A5F0F"/>
                </a:solidFill>
                <a:latin typeface="Readex Pro"/>
                <a:ea typeface="Readex Pro"/>
                <a:cs typeface="Readex Pro"/>
              </a:rPr>
              <a:t>R</a:t>
            </a:r>
          </a:p>
        </p:txBody>
      </p:sp>
      <p:sp>
        <p:nvSpPr>
          <p:cNvPr id="36" name="Text 35"/>
          <p:cNvSpPr txBox="1"/>
          <p:nvPr/>
        </p:nvSpPr>
        <p:spPr>
          <a:xfrm>
            <a:off x="2202220" y="2575250"/>
            <a:ext cx="548025"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172433"/>
                </a:solidFill>
                <a:latin typeface="IBM Plex Sans Arabic"/>
                <a:ea typeface="IBM Plex Sans Arabic"/>
                <a:cs typeface="IBM Plex Sans Arabic"/>
              </a:rPr>
              <a:t>النتيجة</a:t>
            </a:r>
          </a:p>
        </p:txBody>
      </p:sp>
      <p:sp>
        <p:nvSpPr>
          <p:cNvPr id="37" name="Text 36"/>
          <p:cNvSpPr txBox="1"/>
          <p:nvPr/>
        </p:nvSpPr>
        <p:spPr>
          <a:xfrm>
            <a:off x="901748" y="2843264"/>
            <a:ext cx="2175125"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أُلغيت الحسابات الستة خلال أسبوع، واعتُمدت مراجعة ربع سنوية.</a:t>
            </a:r>
          </a:p>
        </p:txBody>
      </p:sp>
      <p:sp>
        <p:nvSpPr>
          <p:cNvPr id="38" name="Box 37"/>
          <p:cNvSpPr/>
          <p:nvPr/>
        </p:nvSpPr>
        <p:spPr>
          <a:xfrm>
            <a:off x="7924800" y="3857427"/>
            <a:ext cx="3454400" cy="416520"/>
          </a:xfrm>
          <a:prstGeom prst="roundRect">
            <a:avLst>
              <a:gd name="adj" fmla="val 21343"/>
            </a:avLst>
          </a:prstGeom>
          <a:solidFill>
            <a:srgbClr val="172433"/>
          </a:solidFill>
          <a:ln>
            <a:noFill/>
          </a:ln>
        </p:spPr>
        <p:txBody>
          <a:bodyPr rtlCol="0" anchor="ctr"/>
          <a:lstStyle/>
          <a:p>
            <a:pPr algn="ctr"/>
          </a:p>
        </p:txBody>
      </p:sp>
      <p:pic>
        <p:nvPicPr>
          <p:cNvPr id="39" name="Icon Clock 38" descr="icon066.png"/>
          <p:cNvPicPr>
            <a:picLocks noChangeAspect="1"/>
          </p:cNvPicPr>
          <p:nvPr/>
        </p:nvPicPr>
        <p:blipFill>
          <a:blip r:embed="rId2"/>
          <a:stretch>
            <a:fillRect/>
          </a:stretch>
        </p:blipFill>
        <p:spPr>
          <a:xfrm>
            <a:off x="11061700" y="3976787"/>
            <a:ext cx="177800" cy="177800"/>
          </a:xfrm>
          <a:prstGeom prst="rect">
            <a:avLst/>
          </a:prstGeom>
        </p:spPr>
      </p:pic>
      <p:sp>
        <p:nvSpPr>
          <p:cNvPr id="40" name="Text 39"/>
          <p:cNvSpPr txBox="1"/>
          <p:nvPr/>
        </p:nvSpPr>
        <p:spPr>
          <a:xfrm>
            <a:off x="7950200" y="3935405"/>
            <a:ext cx="30353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F3EFE6"/>
                </a:solidFill>
                <a:latin typeface="IBM Plex Sans Arabic"/>
                <a:ea typeface="IBM Plex Sans Arabic"/>
                <a:cs typeface="IBM Plex Sans Arabic"/>
              </a:rPr>
              <a:t>دقيقة إلى دقيقتين لكل إجابة</a:t>
            </a:r>
          </a:p>
        </p:txBody>
      </p:sp>
      <p:sp>
        <p:nvSpPr>
          <p:cNvPr id="41" name="Box 40"/>
          <p:cNvSpPr/>
          <p:nvPr/>
        </p:nvSpPr>
        <p:spPr>
          <a:xfrm>
            <a:off x="4368800" y="3857427"/>
            <a:ext cx="3454400" cy="416520"/>
          </a:xfrm>
          <a:prstGeom prst="roundRect">
            <a:avLst>
              <a:gd name="adj" fmla="val 21343"/>
            </a:avLst>
          </a:prstGeom>
          <a:solidFill>
            <a:srgbClr val="172433"/>
          </a:solidFill>
          <a:ln>
            <a:noFill/>
          </a:ln>
        </p:spPr>
        <p:txBody>
          <a:bodyPr rtlCol="0" anchor="ctr"/>
          <a:lstStyle/>
          <a:p>
            <a:pPr algn="ctr"/>
          </a:p>
        </p:txBody>
      </p:sp>
      <p:pic>
        <p:nvPicPr>
          <p:cNvPr id="42" name="Icon Users 41" descr="icon067.png"/>
          <p:cNvPicPr>
            <a:picLocks noChangeAspect="1"/>
          </p:cNvPicPr>
          <p:nvPr/>
        </p:nvPicPr>
        <p:blipFill>
          <a:blip r:embed="rId3"/>
          <a:stretch>
            <a:fillRect/>
          </a:stretch>
        </p:blipFill>
        <p:spPr>
          <a:xfrm>
            <a:off x="7505700" y="3976787"/>
            <a:ext cx="177800" cy="177800"/>
          </a:xfrm>
          <a:prstGeom prst="rect">
            <a:avLst/>
          </a:prstGeom>
        </p:spPr>
      </p:pic>
      <p:sp>
        <p:nvSpPr>
          <p:cNvPr id="43" name="Text 42"/>
          <p:cNvSpPr txBox="1"/>
          <p:nvPr/>
        </p:nvSpPr>
        <p:spPr>
          <a:xfrm>
            <a:off x="4394200" y="3935405"/>
            <a:ext cx="30353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F3EFE6"/>
                </a:solidFill>
                <a:latin typeface="IBM Plex Sans Arabic"/>
                <a:ea typeface="IBM Plex Sans Arabic"/>
                <a:cs typeface="IBM Plex Sans Arabic"/>
              </a:rPr>
              <a:t>«أنا» في الإجراء، لا «نحن»</a:t>
            </a:r>
          </a:p>
        </p:txBody>
      </p:sp>
      <p:sp>
        <p:nvSpPr>
          <p:cNvPr id="44" name="Box 43"/>
          <p:cNvSpPr/>
          <p:nvPr/>
        </p:nvSpPr>
        <p:spPr>
          <a:xfrm>
            <a:off x="812800" y="3857427"/>
            <a:ext cx="3454400" cy="416520"/>
          </a:xfrm>
          <a:prstGeom prst="roundRect">
            <a:avLst>
              <a:gd name="adj" fmla="val 21343"/>
            </a:avLst>
          </a:prstGeom>
          <a:solidFill>
            <a:srgbClr val="172433"/>
          </a:solidFill>
          <a:ln>
            <a:noFill/>
          </a:ln>
        </p:spPr>
        <p:txBody>
          <a:bodyPr rtlCol="0" anchor="ctr"/>
          <a:lstStyle/>
          <a:p>
            <a:pPr algn="ctr"/>
          </a:p>
        </p:txBody>
      </p:sp>
      <p:pic>
        <p:nvPicPr>
          <p:cNvPr id="45" name="Icon Book 44" descr="icon052.png"/>
          <p:cNvPicPr>
            <a:picLocks noChangeAspect="1"/>
          </p:cNvPicPr>
          <p:nvPr/>
        </p:nvPicPr>
        <p:blipFill>
          <a:blip r:embed="rId4"/>
          <a:stretch>
            <a:fillRect/>
          </a:stretch>
        </p:blipFill>
        <p:spPr>
          <a:xfrm>
            <a:off x="3949700" y="3976787"/>
            <a:ext cx="177800" cy="177800"/>
          </a:xfrm>
          <a:prstGeom prst="rect">
            <a:avLst/>
          </a:prstGeom>
        </p:spPr>
      </p:pic>
      <p:sp>
        <p:nvSpPr>
          <p:cNvPr id="46" name="Text 45"/>
          <p:cNvSpPr txBox="1"/>
          <p:nvPr/>
        </p:nvSpPr>
        <p:spPr>
          <a:xfrm>
            <a:off x="838200" y="3935405"/>
            <a:ext cx="30353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F3EFE6"/>
                </a:solidFill>
                <a:latin typeface="IBM Plex Sans Arabic"/>
                <a:ea typeface="IBM Plex Sans Arabic"/>
                <a:cs typeface="IBM Plex Sans Arabic"/>
              </a:rPr>
              <a:t>جهّز 5 قصص مسبقاً</a:t>
            </a:r>
          </a:p>
        </p:txBody>
      </p:sp>
      <p:sp>
        <p:nvSpPr>
          <p:cNvPr id="47" name="Text 46"/>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09 · المقابلة والانطلاق</a:t>
            </a:r>
          </a:p>
        </p:txBody>
      </p:sp>
      <p:sp>
        <p:nvSpPr>
          <p:cNvPr id="48" name="Text 47"/>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333905" y="812800"/>
            <a:ext cx="2045295"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09 · المقابلة والانطلاق</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قائمة المراجعة: هل أنت جاهز للتقديم؟</a:t>
            </a:r>
          </a:p>
        </p:txBody>
      </p:sp>
      <p:sp>
        <p:nvSpPr>
          <p:cNvPr id="5" name="Box 4"/>
          <p:cNvSpPr/>
          <p:nvPr/>
        </p:nvSpPr>
        <p:spPr>
          <a:xfrm>
            <a:off x="8832850" y="1832570"/>
            <a:ext cx="2546350" cy="1989832"/>
          </a:xfrm>
          <a:prstGeom prst="roundRect">
            <a:avLst>
              <a:gd name="adj" fmla="val 5105"/>
            </a:avLst>
          </a:prstGeom>
          <a:solidFill>
            <a:srgbClr val="FFFDF8"/>
          </a:solidFill>
          <a:ln>
            <a:noFill/>
          </a:ln>
        </p:spPr>
        <p:txBody>
          <a:bodyPr rtlCol="0" anchor="ctr"/>
          <a:lstStyle/>
          <a:p>
            <a:pPr algn="ctr"/>
          </a:p>
        </p:txBody>
      </p:sp>
      <p:sp>
        <p:nvSpPr>
          <p:cNvPr id="6" name="Rule 5"/>
          <p:cNvSpPr/>
          <p:nvPr/>
        </p:nvSpPr>
        <p:spPr>
          <a:xfrm>
            <a:off x="8832850" y="1832570"/>
            <a:ext cx="2546350" cy="50800"/>
          </a:xfrm>
          <a:prstGeom prst="rect">
            <a:avLst/>
          </a:prstGeom>
          <a:solidFill>
            <a:srgbClr val="0E7C6B"/>
          </a:solidFill>
          <a:ln>
            <a:noFill/>
          </a:ln>
        </p:spPr>
        <p:txBody>
          <a:bodyPr rtlCol="0" anchor="ctr"/>
          <a:lstStyle/>
          <a:p>
            <a:pPr algn="ctr"/>
          </a:p>
        </p:txBody>
      </p:sp>
      <p:sp>
        <p:nvSpPr>
          <p:cNvPr id="7" name="Rule 6"/>
          <p:cNvSpPr/>
          <p:nvPr/>
        </p:nvSpPr>
        <p:spPr>
          <a:xfrm>
            <a:off x="11372850" y="1832570"/>
            <a:ext cx="6350" cy="1989832"/>
          </a:xfrm>
          <a:prstGeom prst="rect">
            <a:avLst/>
          </a:prstGeom>
          <a:solidFill>
            <a:srgbClr val="E1DBCD"/>
          </a:solidFill>
          <a:ln>
            <a:noFill/>
          </a:ln>
        </p:spPr>
        <p:txBody>
          <a:bodyPr rtlCol="0" anchor="ctr"/>
          <a:lstStyle/>
          <a:p>
            <a:pPr algn="ctr"/>
          </a:p>
        </p:txBody>
      </p:sp>
      <p:sp>
        <p:nvSpPr>
          <p:cNvPr id="8" name="Rule 7"/>
          <p:cNvSpPr/>
          <p:nvPr/>
        </p:nvSpPr>
        <p:spPr>
          <a:xfrm>
            <a:off x="8832850" y="3816052"/>
            <a:ext cx="2546350" cy="6350"/>
          </a:xfrm>
          <a:prstGeom prst="rect">
            <a:avLst/>
          </a:prstGeom>
          <a:solidFill>
            <a:srgbClr val="E1DBCD"/>
          </a:solidFill>
          <a:ln>
            <a:noFill/>
          </a:ln>
        </p:spPr>
        <p:txBody>
          <a:bodyPr rtlCol="0" anchor="ctr"/>
          <a:lstStyle/>
          <a:p>
            <a:pPr algn="ctr"/>
          </a:p>
        </p:txBody>
      </p:sp>
      <p:sp>
        <p:nvSpPr>
          <p:cNvPr id="9" name="Rule 8"/>
          <p:cNvSpPr/>
          <p:nvPr/>
        </p:nvSpPr>
        <p:spPr>
          <a:xfrm>
            <a:off x="8832850" y="1832570"/>
            <a:ext cx="6350" cy="1989832"/>
          </a:xfrm>
          <a:prstGeom prst="rect">
            <a:avLst/>
          </a:prstGeom>
          <a:solidFill>
            <a:srgbClr val="E1DBCD"/>
          </a:solidFill>
          <a:ln>
            <a:noFill/>
          </a:ln>
        </p:spPr>
        <p:txBody>
          <a:bodyPr rtlCol="0" anchor="ctr"/>
          <a:lstStyle/>
          <a:p>
            <a:pPr algn="ctr"/>
          </a:p>
        </p:txBody>
      </p:sp>
      <p:sp>
        <p:nvSpPr>
          <p:cNvPr id="10" name="Text 9"/>
          <p:cNvSpPr txBox="1"/>
          <p:nvPr/>
        </p:nvSpPr>
        <p:spPr>
          <a:xfrm>
            <a:off x="8858250" y="2011513"/>
            <a:ext cx="237490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0E7C6B"/>
                </a:solidFill>
                <a:latin typeface="Readex Pro"/>
                <a:ea typeface="Readex Pro"/>
                <a:cs typeface="Readex Pro"/>
              </a:rPr>
              <a:t>المعرفة</a:t>
            </a:r>
          </a:p>
        </p:txBody>
      </p:sp>
      <p:sp>
        <p:nvSpPr>
          <p:cNvPr id="11" name="Box 10"/>
          <p:cNvSpPr/>
          <p:nvPr/>
        </p:nvSpPr>
        <p:spPr>
          <a:xfrm>
            <a:off x="11061700" y="2349401"/>
            <a:ext cx="165100" cy="165100"/>
          </a:xfrm>
          <a:prstGeom prst="roundRect">
            <a:avLst>
              <a:gd name="adj" fmla="val 21428"/>
            </a:avLst>
          </a:prstGeom>
          <a:noFill/>
          <a:ln w="12700">
            <a:solidFill>
              <a:srgbClr val="0E7C6B"/>
            </a:solidFill>
          </a:ln>
        </p:spPr>
        <p:txBody>
          <a:bodyPr rtlCol="0" anchor="ctr"/>
          <a:lstStyle/>
          <a:p>
            <a:pPr algn="ctr"/>
          </a:p>
        </p:txBody>
      </p:sp>
      <p:sp>
        <p:nvSpPr>
          <p:cNvPr id="12" name="Text 11"/>
          <p:cNvSpPr txBox="1"/>
          <p:nvPr/>
        </p:nvSpPr>
        <p:spPr>
          <a:xfrm>
            <a:off x="8918892" y="2319429"/>
            <a:ext cx="2060258"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أشرح مصطلحات المخاطر الستة بمثال</a:t>
            </a:r>
          </a:p>
        </p:txBody>
      </p:sp>
      <p:sp>
        <p:nvSpPr>
          <p:cNvPr id="13" name="Box 12"/>
          <p:cNvSpPr/>
          <p:nvPr/>
        </p:nvSpPr>
        <p:spPr>
          <a:xfrm>
            <a:off x="11061700" y="2864941"/>
            <a:ext cx="165100" cy="165100"/>
          </a:xfrm>
          <a:prstGeom prst="roundRect">
            <a:avLst>
              <a:gd name="adj" fmla="val 21428"/>
            </a:avLst>
          </a:prstGeom>
          <a:noFill/>
          <a:ln w="12700">
            <a:solidFill>
              <a:srgbClr val="0E7C6B"/>
            </a:solidFill>
          </a:ln>
        </p:spPr>
        <p:txBody>
          <a:bodyPr rtlCol="0" anchor="ctr"/>
          <a:lstStyle/>
          <a:p>
            <a:pPr algn="ctr"/>
          </a:p>
        </p:txBody>
      </p:sp>
      <p:sp>
        <p:nvSpPr>
          <p:cNvPr id="14" name="Text 13"/>
          <p:cNvSpPr txBox="1"/>
          <p:nvPr/>
        </p:nvSpPr>
        <p:spPr>
          <a:xfrm>
            <a:off x="8858250" y="2834969"/>
            <a:ext cx="21209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أفرق بين السياسة والمعيار والإجراء</a:t>
            </a:r>
          </a:p>
        </p:txBody>
      </p:sp>
      <p:sp>
        <p:nvSpPr>
          <p:cNvPr id="15" name="Box 14"/>
          <p:cNvSpPr/>
          <p:nvPr/>
        </p:nvSpPr>
        <p:spPr>
          <a:xfrm>
            <a:off x="11061700" y="3167162"/>
            <a:ext cx="165100" cy="165100"/>
          </a:xfrm>
          <a:prstGeom prst="roundRect">
            <a:avLst>
              <a:gd name="adj" fmla="val 21428"/>
            </a:avLst>
          </a:prstGeom>
          <a:noFill/>
          <a:ln w="12700">
            <a:solidFill>
              <a:srgbClr val="0E7C6B"/>
            </a:solidFill>
          </a:ln>
        </p:spPr>
        <p:txBody>
          <a:bodyPr rtlCol="0" anchor="ctr"/>
          <a:lstStyle/>
          <a:p>
            <a:pPr algn="ctr"/>
          </a:p>
        </p:txBody>
      </p:sp>
      <p:sp>
        <p:nvSpPr>
          <p:cNvPr id="16" name="Text 15"/>
          <p:cNvSpPr txBox="1"/>
          <p:nvPr/>
        </p:nvSpPr>
        <p:spPr>
          <a:xfrm>
            <a:off x="8858250" y="3137190"/>
            <a:ext cx="21209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قرأت NIST CSF 2.0 كاملاً</a:t>
            </a:r>
          </a:p>
        </p:txBody>
      </p:sp>
      <p:sp>
        <p:nvSpPr>
          <p:cNvPr id="17" name="Box 16"/>
          <p:cNvSpPr/>
          <p:nvPr/>
        </p:nvSpPr>
        <p:spPr>
          <a:xfrm>
            <a:off x="11061700" y="3469382"/>
            <a:ext cx="165100" cy="165100"/>
          </a:xfrm>
          <a:prstGeom prst="roundRect">
            <a:avLst>
              <a:gd name="adj" fmla="val 21428"/>
            </a:avLst>
          </a:prstGeom>
          <a:noFill/>
          <a:ln w="12700">
            <a:solidFill>
              <a:srgbClr val="0E7C6B"/>
            </a:solidFill>
          </a:ln>
        </p:spPr>
        <p:txBody>
          <a:bodyPr rtlCol="0" anchor="ctr"/>
          <a:lstStyle/>
          <a:p>
            <a:pPr algn="ctr"/>
          </a:p>
        </p:txBody>
      </p:sp>
      <p:sp>
        <p:nvSpPr>
          <p:cNvPr id="18" name="Text 17"/>
          <p:cNvSpPr txBox="1"/>
          <p:nvPr/>
        </p:nvSpPr>
        <p:spPr>
          <a:xfrm>
            <a:off x="8858250" y="3439410"/>
            <a:ext cx="21209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أعرف الأطر التي تنطبق على قطاعي</a:t>
            </a:r>
          </a:p>
        </p:txBody>
      </p:sp>
      <p:sp>
        <p:nvSpPr>
          <p:cNvPr id="19" name="Box 18"/>
          <p:cNvSpPr/>
          <p:nvPr/>
        </p:nvSpPr>
        <p:spPr>
          <a:xfrm>
            <a:off x="6159500" y="1832570"/>
            <a:ext cx="2546350" cy="1989832"/>
          </a:xfrm>
          <a:prstGeom prst="roundRect">
            <a:avLst>
              <a:gd name="adj" fmla="val 5105"/>
            </a:avLst>
          </a:prstGeom>
          <a:solidFill>
            <a:srgbClr val="FFFDF8"/>
          </a:solidFill>
          <a:ln>
            <a:noFill/>
          </a:ln>
        </p:spPr>
        <p:txBody>
          <a:bodyPr rtlCol="0" anchor="ctr"/>
          <a:lstStyle/>
          <a:p>
            <a:pPr algn="ctr"/>
          </a:p>
        </p:txBody>
      </p:sp>
      <p:sp>
        <p:nvSpPr>
          <p:cNvPr id="20" name="Rule 19"/>
          <p:cNvSpPr/>
          <p:nvPr/>
        </p:nvSpPr>
        <p:spPr>
          <a:xfrm>
            <a:off x="6159500" y="1832570"/>
            <a:ext cx="2546350" cy="50800"/>
          </a:xfrm>
          <a:prstGeom prst="rect">
            <a:avLst/>
          </a:prstGeom>
          <a:solidFill>
            <a:srgbClr val="24506B"/>
          </a:solidFill>
          <a:ln>
            <a:noFill/>
          </a:ln>
        </p:spPr>
        <p:txBody>
          <a:bodyPr rtlCol="0" anchor="ctr"/>
          <a:lstStyle/>
          <a:p>
            <a:pPr algn="ctr"/>
          </a:p>
        </p:txBody>
      </p:sp>
      <p:sp>
        <p:nvSpPr>
          <p:cNvPr id="21" name="Rule 20"/>
          <p:cNvSpPr/>
          <p:nvPr/>
        </p:nvSpPr>
        <p:spPr>
          <a:xfrm>
            <a:off x="8699500" y="1832570"/>
            <a:ext cx="6350" cy="1989832"/>
          </a:xfrm>
          <a:prstGeom prst="rect">
            <a:avLst/>
          </a:prstGeom>
          <a:solidFill>
            <a:srgbClr val="E1DBCD"/>
          </a:solidFill>
          <a:ln>
            <a:noFill/>
          </a:ln>
        </p:spPr>
        <p:txBody>
          <a:bodyPr rtlCol="0" anchor="ctr"/>
          <a:lstStyle/>
          <a:p>
            <a:pPr algn="ctr"/>
          </a:p>
        </p:txBody>
      </p:sp>
      <p:sp>
        <p:nvSpPr>
          <p:cNvPr id="22" name="Rule 21"/>
          <p:cNvSpPr/>
          <p:nvPr/>
        </p:nvSpPr>
        <p:spPr>
          <a:xfrm>
            <a:off x="6159500" y="3816052"/>
            <a:ext cx="2546350" cy="6350"/>
          </a:xfrm>
          <a:prstGeom prst="rect">
            <a:avLst/>
          </a:prstGeom>
          <a:solidFill>
            <a:srgbClr val="E1DBCD"/>
          </a:solidFill>
          <a:ln>
            <a:noFill/>
          </a:ln>
        </p:spPr>
        <p:txBody>
          <a:bodyPr rtlCol="0" anchor="ctr"/>
          <a:lstStyle/>
          <a:p>
            <a:pPr algn="ctr"/>
          </a:p>
        </p:txBody>
      </p:sp>
      <p:sp>
        <p:nvSpPr>
          <p:cNvPr id="23" name="Rule 22"/>
          <p:cNvSpPr/>
          <p:nvPr/>
        </p:nvSpPr>
        <p:spPr>
          <a:xfrm>
            <a:off x="6159500" y="1832570"/>
            <a:ext cx="6350" cy="1989832"/>
          </a:xfrm>
          <a:prstGeom prst="rect">
            <a:avLst/>
          </a:prstGeom>
          <a:solidFill>
            <a:srgbClr val="E1DBCD"/>
          </a:solidFill>
          <a:ln>
            <a:noFill/>
          </a:ln>
        </p:spPr>
        <p:txBody>
          <a:bodyPr rtlCol="0" anchor="ctr"/>
          <a:lstStyle/>
          <a:p>
            <a:pPr algn="ctr"/>
          </a:p>
        </p:txBody>
      </p:sp>
      <p:sp>
        <p:nvSpPr>
          <p:cNvPr id="24" name="Text 23"/>
          <p:cNvSpPr txBox="1"/>
          <p:nvPr/>
        </p:nvSpPr>
        <p:spPr>
          <a:xfrm>
            <a:off x="6184900" y="2011513"/>
            <a:ext cx="237490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24506B"/>
                </a:solidFill>
                <a:latin typeface="Readex Pro"/>
                <a:ea typeface="Readex Pro"/>
                <a:cs typeface="Readex Pro"/>
              </a:rPr>
              <a:t>الشهادة</a:t>
            </a:r>
          </a:p>
        </p:txBody>
      </p:sp>
      <p:sp>
        <p:nvSpPr>
          <p:cNvPr id="25" name="Box 24"/>
          <p:cNvSpPr/>
          <p:nvPr/>
        </p:nvSpPr>
        <p:spPr>
          <a:xfrm>
            <a:off x="8388350" y="2349401"/>
            <a:ext cx="165100" cy="165100"/>
          </a:xfrm>
          <a:prstGeom prst="roundRect">
            <a:avLst>
              <a:gd name="adj" fmla="val 21428"/>
            </a:avLst>
          </a:prstGeom>
          <a:noFill/>
          <a:ln w="12700">
            <a:solidFill>
              <a:srgbClr val="24506B"/>
            </a:solidFill>
          </a:ln>
        </p:spPr>
        <p:txBody>
          <a:bodyPr rtlCol="0" anchor="ctr"/>
          <a:lstStyle/>
          <a:p>
            <a:pPr algn="ctr"/>
          </a:p>
        </p:txBody>
      </p:sp>
      <p:sp>
        <p:nvSpPr>
          <p:cNvPr id="26" name="Text 25"/>
          <p:cNvSpPr txBox="1"/>
          <p:nvPr/>
        </p:nvSpPr>
        <p:spPr>
          <a:xfrm>
            <a:off x="6184900" y="2319429"/>
            <a:ext cx="21209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اخترت شهادة مدخل واحدة</a:t>
            </a:r>
          </a:p>
        </p:txBody>
      </p:sp>
      <p:sp>
        <p:nvSpPr>
          <p:cNvPr id="27" name="Box 26"/>
          <p:cNvSpPr/>
          <p:nvPr/>
        </p:nvSpPr>
        <p:spPr>
          <a:xfrm>
            <a:off x="8388350" y="2651621"/>
            <a:ext cx="165100" cy="165100"/>
          </a:xfrm>
          <a:prstGeom prst="roundRect">
            <a:avLst>
              <a:gd name="adj" fmla="val 21428"/>
            </a:avLst>
          </a:prstGeom>
          <a:noFill/>
          <a:ln w="12700">
            <a:solidFill>
              <a:srgbClr val="24506B"/>
            </a:solidFill>
          </a:ln>
        </p:spPr>
        <p:txBody>
          <a:bodyPr rtlCol="0" anchor="ctr"/>
          <a:lstStyle/>
          <a:p>
            <a:pPr algn="ctr"/>
          </a:p>
        </p:txBody>
      </p:sp>
      <p:sp>
        <p:nvSpPr>
          <p:cNvPr id="28" name="Text 27"/>
          <p:cNvSpPr txBox="1"/>
          <p:nvPr/>
        </p:nvSpPr>
        <p:spPr>
          <a:xfrm>
            <a:off x="6245542" y="2621649"/>
            <a:ext cx="2060258"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قرأت مخطط اختبارها الرسمي الحالي</a:t>
            </a:r>
          </a:p>
        </p:txBody>
      </p:sp>
      <p:sp>
        <p:nvSpPr>
          <p:cNvPr id="29" name="Box 28"/>
          <p:cNvSpPr/>
          <p:nvPr/>
        </p:nvSpPr>
        <p:spPr>
          <a:xfrm>
            <a:off x="8388350" y="3167162"/>
            <a:ext cx="165100" cy="165100"/>
          </a:xfrm>
          <a:prstGeom prst="roundRect">
            <a:avLst>
              <a:gd name="adj" fmla="val 21428"/>
            </a:avLst>
          </a:prstGeom>
          <a:noFill/>
          <a:ln w="12700">
            <a:solidFill>
              <a:srgbClr val="24506B"/>
            </a:solidFill>
          </a:ln>
        </p:spPr>
        <p:txBody>
          <a:bodyPr rtlCol="0" anchor="ctr"/>
          <a:lstStyle/>
          <a:p>
            <a:pPr algn="ctr"/>
          </a:p>
        </p:txBody>
      </p:sp>
      <p:sp>
        <p:nvSpPr>
          <p:cNvPr id="30" name="Text 29"/>
          <p:cNvSpPr txBox="1"/>
          <p:nvPr/>
        </p:nvSpPr>
        <p:spPr>
          <a:xfrm>
            <a:off x="6184900" y="3137190"/>
            <a:ext cx="21209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تحققت من الرسوم في موقعها</a:t>
            </a:r>
          </a:p>
        </p:txBody>
      </p:sp>
      <p:sp>
        <p:nvSpPr>
          <p:cNvPr id="31" name="Box 30"/>
          <p:cNvSpPr/>
          <p:nvPr/>
        </p:nvSpPr>
        <p:spPr>
          <a:xfrm>
            <a:off x="8388350" y="3469382"/>
            <a:ext cx="165100" cy="165100"/>
          </a:xfrm>
          <a:prstGeom prst="roundRect">
            <a:avLst>
              <a:gd name="adj" fmla="val 21428"/>
            </a:avLst>
          </a:prstGeom>
          <a:noFill/>
          <a:ln w="12700">
            <a:solidFill>
              <a:srgbClr val="24506B"/>
            </a:solidFill>
          </a:ln>
        </p:spPr>
        <p:txBody>
          <a:bodyPr rtlCol="0" anchor="ctr"/>
          <a:lstStyle/>
          <a:p>
            <a:pPr algn="ctr"/>
          </a:p>
        </p:txBody>
      </p:sp>
      <p:sp>
        <p:nvSpPr>
          <p:cNvPr id="32" name="Text 31"/>
          <p:cNvSpPr txBox="1"/>
          <p:nvPr/>
        </p:nvSpPr>
        <p:spPr>
          <a:xfrm>
            <a:off x="6184900" y="3439410"/>
            <a:ext cx="21209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حجزت موعداً أو حصلت عليها</a:t>
            </a:r>
          </a:p>
        </p:txBody>
      </p:sp>
      <p:sp>
        <p:nvSpPr>
          <p:cNvPr id="33" name="Box 32"/>
          <p:cNvSpPr/>
          <p:nvPr/>
        </p:nvSpPr>
        <p:spPr>
          <a:xfrm>
            <a:off x="3486150" y="1832570"/>
            <a:ext cx="2546350" cy="1989832"/>
          </a:xfrm>
          <a:prstGeom prst="roundRect">
            <a:avLst>
              <a:gd name="adj" fmla="val 5105"/>
            </a:avLst>
          </a:prstGeom>
          <a:solidFill>
            <a:srgbClr val="FFFDF8"/>
          </a:solidFill>
          <a:ln>
            <a:noFill/>
          </a:ln>
        </p:spPr>
        <p:txBody>
          <a:bodyPr rtlCol="0" anchor="ctr"/>
          <a:lstStyle/>
          <a:p>
            <a:pPr algn="ctr"/>
          </a:p>
        </p:txBody>
      </p:sp>
      <p:sp>
        <p:nvSpPr>
          <p:cNvPr id="34" name="Rule 33"/>
          <p:cNvSpPr/>
          <p:nvPr/>
        </p:nvSpPr>
        <p:spPr>
          <a:xfrm>
            <a:off x="3486150" y="1832570"/>
            <a:ext cx="2546350" cy="50800"/>
          </a:xfrm>
          <a:prstGeom prst="rect">
            <a:avLst/>
          </a:prstGeom>
          <a:solidFill>
            <a:srgbClr val="6B4E9B"/>
          </a:solidFill>
          <a:ln>
            <a:noFill/>
          </a:ln>
        </p:spPr>
        <p:txBody>
          <a:bodyPr rtlCol="0" anchor="ctr"/>
          <a:lstStyle/>
          <a:p>
            <a:pPr algn="ctr"/>
          </a:p>
        </p:txBody>
      </p:sp>
      <p:sp>
        <p:nvSpPr>
          <p:cNvPr id="35" name="Rule 34"/>
          <p:cNvSpPr/>
          <p:nvPr/>
        </p:nvSpPr>
        <p:spPr>
          <a:xfrm>
            <a:off x="6026150" y="1832570"/>
            <a:ext cx="6350" cy="1989832"/>
          </a:xfrm>
          <a:prstGeom prst="rect">
            <a:avLst/>
          </a:prstGeom>
          <a:solidFill>
            <a:srgbClr val="E1DBCD"/>
          </a:solidFill>
          <a:ln>
            <a:noFill/>
          </a:ln>
        </p:spPr>
        <p:txBody>
          <a:bodyPr rtlCol="0" anchor="ctr"/>
          <a:lstStyle/>
          <a:p>
            <a:pPr algn="ctr"/>
          </a:p>
        </p:txBody>
      </p:sp>
      <p:sp>
        <p:nvSpPr>
          <p:cNvPr id="36" name="Rule 35"/>
          <p:cNvSpPr/>
          <p:nvPr/>
        </p:nvSpPr>
        <p:spPr>
          <a:xfrm>
            <a:off x="3486150" y="3816052"/>
            <a:ext cx="2546350" cy="6350"/>
          </a:xfrm>
          <a:prstGeom prst="rect">
            <a:avLst/>
          </a:prstGeom>
          <a:solidFill>
            <a:srgbClr val="E1DBCD"/>
          </a:solidFill>
          <a:ln>
            <a:noFill/>
          </a:ln>
        </p:spPr>
        <p:txBody>
          <a:bodyPr rtlCol="0" anchor="ctr"/>
          <a:lstStyle/>
          <a:p>
            <a:pPr algn="ctr"/>
          </a:p>
        </p:txBody>
      </p:sp>
      <p:sp>
        <p:nvSpPr>
          <p:cNvPr id="37" name="Rule 36"/>
          <p:cNvSpPr/>
          <p:nvPr/>
        </p:nvSpPr>
        <p:spPr>
          <a:xfrm>
            <a:off x="3486150" y="1832570"/>
            <a:ext cx="6350" cy="1989832"/>
          </a:xfrm>
          <a:prstGeom prst="rect">
            <a:avLst/>
          </a:prstGeom>
          <a:solidFill>
            <a:srgbClr val="E1DBCD"/>
          </a:solidFill>
          <a:ln>
            <a:noFill/>
          </a:ln>
        </p:spPr>
        <p:txBody>
          <a:bodyPr rtlCol="0" anchor="ctr"/>
          <a:lstStyle/>
          <a:p>
            <a:pPr algn="ctr"/>
          </a:p>
        </p:txBody>
      </p:sp>
      <p:sp>
        <p:nvSpPr>
          <p:cNvPr id="38" name="Text 37"/>
          <p:cNvSpPr txBox="1"/>
          <p:nvPr/>
        </p:nvSpPr>
        <p:spPr>
          <a:xfrm>
            <a:off x="3511550" y="2011513"/>
            <a:ext cx="237490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5A3F87"/>
                </a:solidFill>
                <a:latin typeface="Readex Pro"/>
                <a:ea typeface="Readex Pro"/>
                <a:cs typeface="Readex Pro"/>
              </a:rPr>
              <a:t>الدليل</a:t>
            </a:r>
          </a:p>
        </p:txBody>
      </p:sp>
      <p:sp>
        <p:nvSpPr>
          <p:cNvPr id="39" name="Box 38"/>
          <p:cNvSpPr/>
          <p:nvPr/>
        </p:nvSpPr>
        <p:spPr>
          <a:xfrm>
            <a:off x="5715000" y="2349401"/>
            <a:ext cx="165100" cy="165100"/>
          </a:xfrm>
          <a:prstGeom prst="roundRect">
            <a:avLst>
              <a:gd name="adj" fmla="val 21428"/>
            </a:avLst>
          </a:prstGeom>
          <a:noFill/>
          <a:ln w="12700">
            <a:solidFill>
              <a:srgbClr val="6B4E9B"/>
            </a:solidFill>
          </a:ln>
        </p:spPr>
        <p:txBody>
          <a:bodyPr rtlCol="0" anchor="ctr"/>
          <a:lstStyle/>
          <a:p>
            <a:pPr algn="ctr"/>
          </a:p>
        </p:txBody>
      </p:sp>
      <p:sp>
        <p:nvSpPr>
          <p:cNvPr id="40" name="Text 39"/>
          <p:cNvSpPr txBox="1"/>
          <p:nvPr/>
        </p:nvSpPr>
        <p:spPr>
          <a:xfrm>
            <a:off x="3511550" y="2319429"/>
            <a:ext cx="21209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مشروعان منشوران على الأقل</a:t>
            </a:r>
          </a:p>
        </p:txBody>
      </p:sp>
      <p:sp>
        <p:nvSpPr>
          <p:cNvPr id="41" name="Box 40"/>
          <p:cNvSpPr/>
          <p:nvPr/>
        </p:nvSpPr>
        <p:spPr>
          <a:xfrm>
            <a:off x="5715000" y="2651621"/>
            <a:ext cx="165100" cy="165100"/>
          </a:xfrm>
          <a:prstGeom prst="roundRect">
            <a:avLst>
              <a:gd name="adj" fmla="val 21428"/>
            </a:avLst>
          </a:prstGeom>
          <a:noFill/>
          <a:ln w="12700">
            <a:solidFill>
              <a:srgbClr val="6B4E9B"/>
            </a:solidFill>
          </a:ln>
        </p:spPr>
        <p:txBody>
          <a:bodyPr rtlCol="0" anchor="ctr"/>
          <a:lstStyle/>
          <a:p>
            <a:pPr algn="ctr"/>
          </a:p>
        </p:txBody>
      </p:sp>
      <p:sp>
        <p:nvSpPr>
          <p:cNvPr id="42" name="Text 41"/>
          <p:cNvSpPr txBox="1"/>
          <p:nvPr/>
        </p:nvSpPr>
        <p:spPr>
          <a:xfrm>
            <a:off x="3511550" y="2621649"/>
            <a:ext cx="21209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صفحة «ماذا تعلمت» لكل مشروع</a:t>
            </a:r>
          </a:p>
        </p:txBody>
      </p:sp>
      <p:sp>
        <p:nvSpPr>
          <p:cNvPr id="43" name="Box 42"/>
          <p:cNvSpPr/>
          <p:nvPr/>
        </p:nvSpPr>
        <p:spPr>
          <a:xfrm>
            <a:off x="5715000" y="2953841"/>
            <a:ext cx="165100" cy="165100"/>
          </a:xfrm>
          <a:prstGeom prst="roundRect">
            <a:avLst>
              <a:gd name="adj" fmla="val 21428"/>
            </a:avLst>
          </a:prstGeom>
          <a:noFill/>
          <a:ln w="12700">
            <a:solidFill>
              <a:srgbClr val="6B4E9B"/>
            </a:solidFill>
          </a:ln>
        </p:spPr>
        <p:txBody>
          <a:bodyPr rtlCol="0" anchor="ctr"/>
          <a:lstStyle/>
          <a:p>
            <a:pPr algn="ctr"/>
          </a:p>
        </p:txBody>
      </p:sp>
      <p:sp>
        <p:nvSpPr>
          <p:cNvPr id="44" name="Text 43"/>
          <p:cNvSpPr txBox="1"/>
          <p:nvPr/>
        </p:nvSpPr>
        <p:spPr>
          <a:xfrm>
            <a:off x="3511550" y="2923869"/>
            <a:ext cx="21209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لا بيانات لجهة حقيقية فيها</a:t>
            </a:r>
          </a:p>
        </p:txBody>
      </p:sp>
      <p:sp>
        <p:nvSpPr>
          <p:cNvPr id="45" name="Box 44"/>
          <p:cNvSpPr/>
          <p:nvPr/>
        </p:nvSpPr>
        <p:spPr>
          <a:xfrm>
            <a:off x="5715000" y="3256062"/>
            <a:ext cx="165100" cy="165100"/>
          </a:xfrm>
          <a:prstGeom prst="roundRect">
            <a:avLst>
              <a:gd name="adj" fmla="val 21428"/>
            </a:avLst>
          </a:prstGeom>
          <a:noFill/>
          <a:ln w="12700">
            <a:solidFill>
              <a:srgbClr val="6B4E9B"/>
            </a:solidFill>
          </a:ln>
        </p:spPr>
        <p:txBody>
          <a:bodyPr rtlCol="0" anchor="ctr"/>
          <a:lstStyle/>
          <a:p>
            <a:pPr algn="ctr"/>
          </a:p>
        </p:txBody>
      </p:sp>
      <p:sp>
        <p:nvSpPr>
          <p:cNvPr id="46" name="Text 45"/>
          <p:cNvSpPr txBox="1"/>
          <p:nvPr/>
        </p:nvSpPr>
        <p:spPr>
          <a:xfrm>
            <a:off x="3511550" y="3226090"/>
            <a:ext cx="21209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أستطيع شرح كل مشروع في دقيقتين</a:t>
            </a:r>
          </a:p>
        </p:txBody>
      </p:sp>
      <p:sp>
        <p:nvSpPr>
          <p:cNvPr id="47" name="Box 46"/>
          <p:cNvSpPr/>
          <p:nvPr/>
        </p:nvSpPr>
        <p:spPr>
          <a:xfrm>
            <a:off x="812800" y="1832570"/>
            <a:ext cx="2546350" cy="1989832"/>
          </a:xfrm>
          <a:prstGeom prst="roundRect">
            <a:avLst>
              <a:gd name="adj" fmla="val 5105"/>
            </a:avLst>
          </a:prstGeom>
          <a:solidFill>
            <a:srgbClr val="FFFDF8"/>
          </a:solidFill>
          <a:ln>
            <a:noFill/>
          </a:ln>
        </p:spPr>
        <p:txBody>
          <a:bodyPr rtlCol="0" anchor="ctr"/>
          <a:lstStyle/>
          <a:p>
            <a:pPr algn="ctr"/>
          </a:p>
        </p:txBody>
      </p:sp>
      <p:sp>
        <p:nvSpPr>
          <p:cNvPr id="48" name="Rule 47"/>
          <p:cNvSpPr/>
          <p:nvPr/>
        </p:nvSpPr>
        <p:spPr>
          <a:xfrm>
            <a:off x="812800" y="1832570"/>
            <a:ext cx="2546350" cy="50800"/>
          </a:xfrm>
          <a:prstGeom prst="rect">
            <a:avLst/>
          </a:prstGeom>
          <a:solidFill>
            <a:srgbClr val="C27A16"/>
          </a:solidFill>
          <a:ln>
            <a:noFill/>
          </a:ln>
        </p:spPr>
        <p:txBody>
          <a:bodyPr rtlCol="0" anchor="ctr"/>
          <a:lstStyle/>
          <a:p>
            <a:pPr algn="ctr"/>
          </a:p>
        </p:txBody>
      </p:sp>
      <p:sp>
        <p:nvSpPr>
          <p:cNvPr id="49" name="Rule 48"/>
          <p:cNvSpPr/>
          <p:nvPr/>
        </p:nvSpPr>
        <p:spPr>
          <a:xfrm>
            <a:off x="3352800" y="1832570"/>
            <a:ext cx="6350" cy="1989832"/>
          </a:xfrm>
          <a:prstGeom prst="rect">
            <a:avLst/>
          </a:prstGeom>
          <a:solidFill>
            <a:srgbClr val="E1DBCD"/>
          </a:solidFill>
          <a:ln>
            <a:noFill/>
          </a:ln>
        </p:spPr>
        <p:txBody>
          <a:bodyPr rtlCol="0" anchor="ctr"/>
          <a:lstStyle/>
          <a:p>
            <a:pPr algn="ctr"/>
          </a:p>
        </p:txBody>
      </p:sp>
      <p:sp>
        <p:nvSpPr>
          <p:cNvPr id="50" name="Rule 49"/>
          <p:cNvSpPr/>
          <p:nvPr/>
        </p:nvSpPr>
        <p:spPr>
          <a:xfrm>
            <a:off x="812800" y="3816052"/>
            <a:ext cx="2546350" cy="6350"/>
          </a:xfrm>
          <a:prstGeom prst="rect">
            <a:avLst/>
          </a:prstGeom>
          <a:solidFill>
            <a:srgbClr val="E1DBCD"/>
          </a:solidFill>
          <a:ln>
            <a:noFill/>
          </a:ln>
        </p:spPr>
        <p:txBody>
          <a:bodyPr rtlCol="0" anchor="ctr"/>
          <a:lstStyle/>
          <a:p>
            <a:pPr algn="ctr"/>
          </a:p>
        </p:txBody>
      </p:sp>
      <p:sp>
        <p:nvSpPr>
          <p:cNvPr id="51" name="Rule 50"/>
          <p:cNvSpPr/>
          <p:nvPr/>
        </p:nvSpPr>
        <p:spPr>
          <a:xfrm>
            <a:off x="812800" y="1832570"/>
            <a:ext cx="6350" cy="1989832"/>
          </a:xfrm>
          <a:prstGeom prst="rect">
            <a:avLst/>
          </a:prstGeom>
          <a:solidFill>
            <a:srgbClr val="E1DBCD"/>
          </a:solidFill>
          <a:ln>
            <a:noFill/>
          </a:ln>
        </p:spPr>
        <p:txBody>
          <a:bodyPr rtlCol="0" anchor="ctr"/>
          <a:lstStyle/>
          <a:p>
            <a:pPr algn="ctr"/>
          </a:p>
        </p:txBody>
      </p:sp>
      <p:sp>
        <p:nvSpPr>
          <p:cNvPr id="52" name="Text 51"/>
          <p:cNvSpPr txBox="1"/>
          <p:nvPr/>
        </p:nvSpPr>
        <p:spPr>
          <a:xfrm>
            <a:off x="838200" y="2011513"/>
            <a:ext cx="237490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9A5F0F"/>
                </a:solidFill>
                <a:latin typeface="Readex Pro"/>
                <a:ea typeface="Readex Pro"/>
                <a:cs typeface="Readex Pro"/>
              </a:rPr>
              <a:t>السوق</a:t>
            </a:r>
          </a:p>
        </p:txBody>
      </p:sp>
      <p:sp>
        <p:nvSpPr>
          <p:cNvPr id="53" name="Box 52"/>
          <p:cNvSpPr/>
          <p:nvPr/>
        </p:nvSpPr>
        <p:spPr>
          <a:xfrm>
            <a:off x="3041650" y="2349401"/>
            <a:ext cx="165100" cy="165100"/>
          </a:xfrm>
          <a:prstGeom prst="roundRect">
            <a:avLst>
              <a:gd name="adj" fmla="val 21428"/>
            </a:avLst>
          </a:prstGeom>
          <a:noFill/>
          <a:ln w="12700">
            <a:solidFill>
              <a:srgbClr val="C27A16"/>
            </a:solidFill>
          </a:ln>
        </p:spPr>
        <p:txBody>
          <a:bodyPr rtlCol="0" anchor="ctr"/>
          <a:lstStyle/>
          <a:p>
            <a:pPr algn="ctr"/>
          </a:p>
        </p:txBody>
      </p:sp>
      <p:sp>
        <p:nvSpPr>
          <p:cNvPr id="54" name="Text 53"/>
          <p:cNvSpPr txBox="1"/>
          <p:nvPr/>
        </p:nvSpPr>
        <p:spPr>
          <a:xfrm>
            <a:off x="838200" y="2319429"/>
            <a:ext cx="21209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سيرة صفحة واحدة بإنجازات</a:t>
            </a:r>
          </a:p>
        </p:txBody>
      </p:sp>
      <p:sp>
        <p:nvSpPr>
          <p:cNvPr id="55" name="Box 54"/>
          <p:cNvSpPr/>
          <p:nvPr/>
        </p:nvSpPr>
        <p:spPr>
          <a:xfrm>
            <a:off x="3041650" y="2651621"/>
            <a:ext cx="165100" cy="165100"/>
          </a:xfrm>
          <a:prstGeom prst="roundRect">
            <a:avLst>
              <a:gd name="adj" fmla="val 21428"/>
            </a:avLst>
          </a:prstGeom>
          <a:noFill/>
          <a:ln w="12700">
            <a:solidFill>
              <a:srgbClr val="C27A16"/>
            </a:solidFill>
          </a:ln>
        </p:spPr>
        <p:txBody>
          <a:bodyPr rtlCol="0" anchor="ctr"/>
          <a:lstStyle/>
          <a:p>
            <a:pPr algn="ctr"/>
          </a:p>
        </p:txBody>
      </p:sp>
      <p:sp>
        <p:nvSpPr>
          <p:cNvPr id="56" name="Text 55"/>
          <p:cNvSpPr txBox="1"/>
          <p:nvPr/>
        </p:nvSpPr>
        <p:spPr>
          <a:xfrm>
            <a:off x="898843" y="2621649"/>
            <a:ext cx="2060258"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LinkedIn: صورة، وعنوان، ونبذة، وFeatured</a:t>
            </a:r>
          </a:p>
        </p:txBody>
      </p:sp>
      <p:sp>
        <p:nvSpPr>
          <p:cNvPr id="57" name="Box 56"/>
          <p:cNvSpPr/>
          <p:nvPr/>
        </p:nvSpPr>
        <p:spPr>
          <a:xfrm>
            <a:off x="3041650" y="3167162"/>
            <a:ext cx="165100" cy="165100"/>
          </a:xfrm>
          <a:prstGeom prst="roundRect">
            <a:avLst>
              <a:gd name="adj" fmla="val 21428"/>
            </a:avLst>
          </a:prstGeom>
          <a:noFill/>
          <a:ln w="12700">
            <a:solidFill>
              <a:srgbClr val="C27A16"/>
            </a:solidFill>
          </a:ln>
        </p:spPr>
        <p:txBody>
          <a:bodyPr rtlCol="0" anchor="ctr"/>
          <a:lstStyle/>
          <a:p>
            <a:pPr algn="ctr"/>
          </a:p>
        </p:txBody>
      </p:sp>
      <p:sp>
        <p:nvSpPr>
          <p:cNvPr id="58" name="Text 57"/>
          <p:cNvSpPr txBox="1"/>
          <p:nvPr/>
        </p:nvSpPr>
        <p:spPr>
          <a:xfrm>
            <a:off x="838200" y="3137190"/>
            <a:ext cx="21209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5 قصص STAR جاهزة</a:t>
            </a:r>
          </a:p>
        </p:txBody>
      </p:sp>
      <p:sp>
        <p:nvSpPr>
          <p:cNvPr id="59" name="Box 58"/>
          <p:cNvSpPr/>
          <p:nvPr/>
        </p:nvSpPr>
        <p:spPr>
          <a:xfrm>
            <a:off x="3041650" y="3469382"/>
            <a:ext cx="165100" cy="165100"/>
          </a:xfrm>
          <a:prstGeom prst="roundRect">
            <a:avLst>
              <a:gd name="adj" fmla="val 21428"/>
            </a:avLst>
          </a:prstGeom>
          <a:noFill/>
          <a:ln w="12700">
            <a:solidFill>
              <a:srgbClr val="C27A16"/>
            </a:solidFill>
          </a:ln>
        </p:spPr>
        <p:txBody>
          <a:bodyPr rtlCol="0" anchor="ctr"/>
          <a:lstStyle/>
          <a:p>
            <a:pPr algn="ctr"/>
          </a:p>
        </p:txBody>
      </p:sp>
      <p:sp>
        <p:nvSpPr>
          <p:cNvPr id="60" name="Text 59"/>
          <p:cNvSpPr txBox="1"/>
          <p:nvPr/>
        </p:nvSpPr>
        <p:spPr>
          <a:xfrm>
            <a:off x="838200" y="3439410"/>
            <a:ext cx="21209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قائمة بعشرين جهة تستهدفها</a:t>
            </a:r>
          </a:p>
        </p:txBody>
      </p:sp>
      <p:sp>
        <p:nvSpPr>
          <p:cNvPr id="61" name="Text 60"/>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09 · المقابلة والانطلاق</a:t>
            </a:r>
          </a:p>
        </p:txBody>
      </p:sp>
      <p:sp>
        <p:nvSpPr>
          <p:cNvPr id="62" name="Text 61"/>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4740656" y="1951244"/>
            <a:ext cx="6638544"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300" b="1" i="0" lang="ar-SA" altLang="en-US">
                <a:solidFill>
                  <a:srgbClr val="7FD3C3"/>
                </a:solidFill>
                <a:latin typeface="IBM Plex Sans Arabic"/>
                <a:ea typeface="IBM Plex Sans Arabic"/>
                <a:cs typeface="IBM Plex Sans Arabic"/>
              </a:rPr>
              <a:t>نهاية الكورس، وبداية المسار</a:t>
            </a:r>
          </a:p>
        </p:txBody>
      </p:sp>
      <p:sp>
        <p:nvSpPr>
          <p:cNvPr id="4" name="Text 3"/>
          <p:cNvSpPr txBox="1"/>
          <p:nvPr/>
        </p:nvSpPr>
        <p:spPr>
          <a:xfrm>
            <a:off x="5047996" y="2417719"/>
            <a:ext cx="6331204" cy="1518841"/>
          </a:xfrm>
          <a:prstGeom prst="rect">
            <a:avLst/>
          </a:prstGeom>
          <a:noFill/>
        </p:spPr>
        <p:txBody>
          <a:bodyPr wrap="square" tIns="0" rIns="0" bIns="0" lIns="0" anchor="t" rtlCol="0" anchorCtr="0">
            <a:noAutofit/>
          </a:bodyPr>
          <a:lstStyle/>
          <a:p>
            <a:pPr algn="r" rtl="1">
              <a:lnSpc>
                <a:spcPts val="5980"/>
              </a:lnSpc>
              <a:spcBef>
                <a:spcPts val="0"/>
              </a:spcBef>
              <a:spcAft>
                <a:spcPts val="0"/>
              </a:spcAft>
            </a:pPr>
            <a:r>
              <a:rPr sz="5200" b="1" i="0" lang="ar-SA" altLang="en-US">
                <a:solidFill>
                  <a:srgbClr val="F3EFE6"/>
                </a:solidFill>
                <a:latin typeface="Readex Pro"/>
                <a:ea typeface="Readex Pro"/>
                <a:cs typeface="Readex Pro"/>
              </a:rPr>
              <a:t>ابدأ هذا الأسبوع بثلاث خطوات</a:t>
            </a:r>
          </a:p>
        </p:txBody>
      </p:sp>
      <p:sp>
        <p:nvSpPr>
          <p:cNvPr id="5" name="Text 4"/>
          <p:cNvSpPr txBox="1"/>
          <p:nvPr/>
        </p:nvSpPr>
        <p:spPr>
          <a:xfrm>
            <a:off x="4740656" y="4088896"/>
            <a:ext cx="6638544" cy="323850"/>
          </a:xfrm>
          <a:prstGeom prst="rect">
            <a:avLst/>
          </a:prstGeom>
          <a:noFill/>
        </p:spPr>
        <p:txBody>
          <a:bodyPr wrap="square" tIns="0" rIns="0" bIns="0" lIns="0" anchor="t" rtlCol="0" anchorCtr="0">
            <a:noAutofit/>
          </a:bodyPr>
          <a:lstStyle/>
          <a:p>
            <a:pPr algn="r" rtl="1">
              <a:lnSpc>
                <a:spcPts val="2550"/>
              </a:lnSpc>
              <a:spcBef>
                <a:spcPts val="0"/>
              </a:spcBef>
              <a:spcAft>
                <a:spcPts val="0"/>
              </a:spcAft>
            </a:pPr>
            <a:r>
              <a:rPr sz="1700" b="0" i="0" lang="ar-SA" altLang="en-US">
                <a:solidFill>
                  <a:srgbClr val="D9E2E6"/>
                </a:solidFill>
                <a:latin typeface="IBM Plex Sans Arabic"/>
                <a:ea typeface="IBM Plex Sans Arabic"/>
                <a:cs typeface="IBM Plex Sans Arabic"/>
              </a:rPr>
              <a:t>لا تنتظر أن تكتمل الصورة. خطوة صغيرة كل أسبوع، ودليل تراه أنت وغيرك.</a:t>
            </a:r>
          </a:p>
        </p:txBody>
      </p:sp>
      <p:sp>
        <p:nvSpPr>
          <p:cNvPr id="6" name="Text 5"/>
          <p:cNvSpPr txBox="1"/>
          <p:nvPr/>
        </p:nvSpPr>
        <p:spPr>
          <a:xfrm>
            <a:off x="4740656" y="4632773"/>
            <a:ext cx="6638544"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93A3B1"/>
                </a:solidFill>
                <a:latin typeface="IBM Plex Sans Arabic"/>
                <a:ea typeface="IBM Plex Sans Arabic"/>
                <a:cs typeface="IBM Plex Sans Arabic"/>
              </a:rPr>
              <a:t>الأسعار والشروط والإصدارات كما في 27 أكتوبر 2026. تحقق منها في المواقع الرسمية قبل التسجيل.</a:t>
            </a:r>
          </a:p>
        </p:txBody>
      </p:sp>
      <p:sp>
        <p:nvSpPr>
          <p:cNvPr id="7" name="Box 6"/>
          <p:cNvSpPr/>
          <p:nvPr/>
        </p:nvSpPr>
        <p:spPr>
          <a:xfrm>
            <a:off x="812800" y="2014339"/>
            <a:ext cx="3810000" cy="858441"/>
          </a:xfrm>
          <a:prstGeom prst="roundRect">
            <a:avLst>
              <a:gd name="adj" fmla="val 14794"/>
            </a:avLst>
          </a:prstGeom>
          <a:solidFill>
            <a:srgbClr val="22344A"/>
          </a:solidFill>
          <a:ln>
            <a:noFill/>
          </a:ln>
        </p:spPr>
        <p:txBody>
          <a:bodyPr rtlCol="0" anchor="ctr"/>
          <a:lstStyle/>
          <a:p>
            <a:pPr algn="ctr"/>
          </a:p>
        </p:txBody>
      </p:sp>
      <p:sp>
        <p:nvSpPr>
          <p:cNvPr id="8" name="Rule 7"/>
          <p:cNvSpPr/>
          <p:nvPr/>
        </p:nvSpPr>
        <p:spPr>
          <a:xfrm>
            <a:off x="4572000" y="2014339"/>
            <a:ext cx="50800" cy="858441"/>
          </a:xfrm>
          <a:prstGeom prst="rect">
            <a:avLst/>
          </a:prstGeom>
          <a:solidFill>
            <a:srgbClr val="0E7C6B"/>
          </a:solidFill>
          <a:ln>
            <a:noFill/>
          </a:ln>
        </p:spPr>
        <p:txBody>
          <a:bodyPr rtlCol="0" anchor="ctr"/>
          <a:lstStyle/>
          <a:p>
            <a:pPr algn="ctr"/>
          </a:p>
        </p:txBody>
      </p:sp>
      <p:sp>
        <p:nvSpPr>
          <p:cNvPr id="9" name="Text 8"/>
          <p:cNvSpPr txBox="1"/>
          <p:nvPr/>
        </p:nvSpPr>
        <p:spPr>
          <a:xfrm>
            <a:off x="3789680" y="2274903"/>
            <a:ext cx="701040" cy="406400"/>
          </a:xfrm>
          <a:prstGeom prst="rect">
            <a:avLst/>
          </a:prstGeom>
          <a:noFill/>
        </p:spPr>
        <p:txBody>
          <a:bodyPr wrap="square" tIns="0" rIns="0" bIns="0" lIns="0" anchor="t" rtlCol="0" anchorCtr="0">
            <a:noAutofit/>
          </a:bodyPr>
          <a:lstStyle/>
          <a:p>
            <a:pPr algn="ctr">
              <a:lnSpc>
                <a:spcPts val="3200"/>
              </a:lnSpc>
              <a:spcBef>
                <a:spcPts val="0"/>
              </a:spcBef>
              <a:spcAft>
                <a:spcPts val="0"/>
              </a:spcAft>
            </a:pPr>
            <a:r>
              <a:rPr sz="3200" b="1" i="0">
                <a:solidFill>
                  <a:srgbClr val="7FD3C3"/>
                </a:solidFill>
                <a:latin typeface="Readex Pro"/>
                <a:ea typeface="Readex Pro"/>
                <a:cs typeface="Readex Pro"/>
              </a:rPr>
              <a:t>1</a:t>
            </a:r>
          </a:p>
        </p:txBody>
      </p:sp>
      <p:sp>
        <p:nvSpPr>
          <p:cNvPr id="10" name="Text 9"/>
          <p:cNvSpPr txBox="1"/>
          <p:nvPr/>
        </p:nvSpPr>
        <p:spPr>
          <a:xfrm>
            <a:off x="838200" y="2178931"/>
            <a:ext cx="29210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F3EFE6"/>
                </a:solidFill>
                <a:latin typeface="Readex Pro"/>
                <a:ea typeface="Readex Pro"/>
                <a:cs typeface="Readex Pro"/>
              </a:rPr>
              <a:t>اختر شهادة المدخل</a:t>
            </a:r>
          </a:p>
        </p:txBody>
      </p:sp>
      <p:sp>
        <p:nvSpPr>
          <p:cNvPr id="11" name="Text 10"/>
          <p:cNvSpPr txBox="1"/>
          <p:nvPr/>
        </p:nvSpPr>
        <p:spPr>
          <a:xfrm>
            <a:off x="838200" y="2458037"/>
            <a:ext cx="29210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B9C4CC"/>
                </a:solidFill>
                <a:latin typeface="IBM Plex Sans Arabic"/>
                <a:ea typeface="IBM Plex Sans Arabic"/>
                <a:cs typeface="IBM Plex Sans Arabic"/>
              </a:rPr>
              <a:t>واقرأ مخطط اختبارها الرسمي</a:t>
            </a:r>
          </a:p>
        </p:txBody>
      </p:sp>
      <p:sp>
        <p:nvSpPr>
          <p:cNvPr id="12" name="Box 11"/>
          <p:cNvSpPr/>
          <p:nvPr/>
        </p:nvSpPr>
        <p:spPr>
          <a:xfrm>
            <a:off x="812800" y="2999780"/>
            <a:ext cx="3810000" cy="858441"/>
          </a:xfrm>
          <a:prstGeom prst="roundRect">
            <a:avLst>
              <a:gd name="adj" fmla="val 14794"/>
            </a:avLst>
          </a:prstGeom>
          <a:solidFill>
            <a:srgbClr val="22344A"/>
          </a:solidFill>
          <a:ln>
            <a:noFill/>
          </a:ln>
        </p:spPr>
        <p:txBody>
          <a:bodyPr rtlCol="0" anchor="ctr"/>
          <a:lstStyle/>
          <a:p>
            <a:pPr algn="ctr"/>
          </a:p>
        </p:txBody>
      </p:sp>
      <p:sp>
        <p:nvSpPr>
          <p:cNvPr id="13" name="Rule 12"/>
          <p:cNvSpPr/>
          <p:nvPr/>
        </p:nvSpPr>
        <p:spPr>
          <a:xfrm>
            <a:off x="4572000" y="2999780"/>
            <a:ext cx="50800" cy="858441"/>
          </a:xfrm>
          <a:prstGeom prst="rect">
            <a:avLst/>
          </a:prstGeom>
          <a:solidFill>
            <a:srgbClr val="E0A33A"/>
          </a:solidFill>
          <a:ln>
            <a:noFill/>
          </a:ln>
        </p:spPr>
        <p:txBody>
          <a:bodyPr rtlCol="0" anchor="ctr"/>
          <a:lstStyle/>
          <a:p>
            <a:pPr algn="ctr"/>
          </a:p>
        </p:txBody>
      </p:sp>
      <p:sp>
        <p:nvSpPr>
          <p:cNvPr id="14" name="Text 13"/>
          <p:cNvSpPr txBox="1"/>
          <p:nvPr/>
        </p:nvSpPr>
        <p:spPr>
          <a:xfrm>
            <a:off x="3789680" y="3260344"/>
            <a:ext cx="701040" cy="406400"/>
          </a:xfrm>
          <a:prstGeom prst="rect">
            <a:avLst/>
          </a:prstGeom>
          <a:noFill/>
        </p:spPr>
        <p:txBody>
          <a:bodyPr wrap="square" tIns="0" rIns="0" bIns="0" lIns="0" anchor="t" rtlCol="0" anchorCtr="0">
            <a:noAutofit/>
          </a:bodyPr>
          <a:lstStyle/>
          <a:p>
            <a:pPr algn="ctr">
              <a:lnSpc>
                <a:spcPts val="3200"/>
              </a:lnSpc>
              <a:spcBef>
                <a:spcPts val="0"/>
              </a:spcBef>
              <a:spcAft>
                <a:spcPts val="0"/>
              </a:spcAft>
            </a:pPr>
            <a:r>
              <a:rPr sz="3200" b="1" i="0">
                <a:solidFill>
                  <a:srgbClr val="F2C46D"/>
                </a:solidFill>
                <a:latin typeface="Readex Pro"/>
                <a:ea typeface="Readex Pro"/>
                <a:cs typeface="Readex Pro"/>
              </a:rPr>
              <a:t>2</a:t>
            </a:r>
          </a:p>
        </p:txBody>
      </p:sp>
      <p:sp>
        <p:nvSpPr>
          <p:cNvPr id="15" name="Text 14"/>
          <p:cNvSpPr txBox="1"/>
          <p:nvPr/>
        </p:nvSpPr>
        <p:spPr>
          <a:xfrm>
            <a:off x="838200" y="3164372"/>
            <a:ext cx="29210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F3EFE6"/>
                </a:solidFill>
                <a:latin typeface="Readex Pro"/>
                <a:ea typeface="Readex Pro"/>
                <a:cs typeface="Readex Pro"/>
              </a:rPr>
              <a:t>ابدأ سجل المخاطر</a:t>
            </a:r>
          </a:p>
        </p:txBody>
      </p:sp>
      <p:sp>
        <p:nvSpPr>
          <p:cNvPr id="16" name="Text 15"/>
          <p:cNvSpPr txBox="1"/>
          <p:nvPr/>
        </p:nvSpPr>
        <p:spPr>
          <a:xfrm>
            <a:off x="838200" y="3443478"/>
            <a:ext cx="29210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B9C4CC"/>
                </a:solidFill>
                <a:latin typeface="IBM Plex Sans Arabic"/>
                <a:ea typeface="IBM Plex Sans Arabic"/>
                <a:cs typeface="IBM Plex Sans Arabic"/>
              </a:rPr>
              <a:t>أول مشروع في ملف أعمالك</a:t>
            </a:r>
          </a:p>
        </p:txBody>
      </p:sp>
      <p:sp>
        <p:nvSpPr>
          <p:cNvPr id="17" name="Box 16"/>
          <p:cNvSpPr/>
          <p:nvPr/>
        </p:nvSpPr>
        <p:spPr>
          <a:xfrm>
            <a:off x="812800" y="3985220"/>
            <a:ext cx="3810000" cy="858441"/>
          </a:xfrm>
          <a:prstGeom prst="roundRect">
            <a:avLst>
              <a:gd name="adj" fmla="val 14794"/>
            </a:avLst>
          </a:prstGeom>
          <a:solidFill>
            <a:srgbClr val="22344A"/>
          </a:solidFill>
          <a:ln>
            <a:noFill/>
          </a:ln>
        </p:spPr>
        <p:txBody>
          <a:bodyPr rtlCol="0" anchor="ctr"/>
          <a:lstStyle/>
          <a:p>
            <a:pPr algn="ctr"/>
          </a:p>
        </p:txBody>
      </p:sp>
      <p:sp>
        <p:nvSpPr>
          <p:cNvPr id="18" name="Rule 17"/>
          <p:cNvSpPr/>
          <p:nvPr/>
        </p:nvSpPr>
        <p:spPr>
          <a:xfrm>
            <a:off x="4572000" y="3985220"/>
            <a:ext cx="50800" cy="858441"/>
          </a:xfrm>
          <a:prstGeom prst="rect">
            <a:avLst/>
          </a:prstGeom>
          <a:solidFill>
            <a:srgbClr val="6E9BD1"/>
          </a:solidFill>
          <a:ln>
            <a:noFill/>
          </a:ln>
        </p:spPr>
        <p:txBody>
          <a:bodyPr rtlCol="0" anchor="ctr"/>
          <a:lstStyle/>
          <a:p>
            <a:pPr algn="ctr"/>
          </a:p>
        </p:txBody>
      </p:sp>
      <p:sp>
        <p:nvSpPr>
          <p:cNvPr id="19" name="Text 18"/>
          <p:cNvSpPr txBox="1"/>
          <p:nvPr/>
        </p:nvSpPr>
        <p:spPr>
          <a:xfrm>
            <a:off x="3789680" y="4245785"/>
            <a:ext cx="701040" cy="406400"/>
          </a:xfrm>
          <a:prstGeom prst="rect">
            <a:avLst/>
          </a:prstGeom>
          <a:noFill/>
        </p:spPr>
        <p:txBody>
          <a:bodyPr wrap="square" tIns="0" rIns="0" bIns="0" lIns="0" anchor="t" rtlCol="0" anchorCtr="0">
            <a:noAutofit/>
          </a:bodyPr>
          <a:lstStyle/>
          <a:p>
            <a:pPr algn="ctr">
              <a:lnSpc>
                <a:spcPts val="3200"/>
              </a:lnSpc>
              <a:spcBef>
                <a:spcPts val="0"/>
              </a:spcBef>
              <a:spcAft>
                <a:spcPts val="0"/>
              </a:spcAft>
            </a:pPr>
            <a:r>
              <a:rPr sz="3200" b="1" i="0">
                <a:solidFill>
                  <a:srgbClr val="A9C6EA"/>
                </a:solidFill>
                <a:latin typeface="Readex Pro"/>
                <a:ea typeface="Readex Pro"/>
                <a:cs typeface="Readex Pro"/>
              </a:rPr>
              <a:t>3</a:t>
            </a:r>
          </a:p>
        </p:txBody>
      </p:sp>
      <p:sp>
        <p:nvSpPr>
          <p:cNvPr id="20" name="Text 19"/>
          <p:cNvSpPr txBox="1"/>
          <p:nvPr/>
        </p:nvSpPr>
        <p:spPr>
          <a:xfrm>
            <a:off x="838200" y="4149812"/>
            <a:ext cx="29210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F3EFE6"/>
                </a:solidFill>
                <a:latin typeface="Readex Pro"/>
                <a:ea typeface="Readex Pro"/>
                <a:cs typeface="Readex Pro"/>
              </a:rPr>
              <a:t>حدّث عنوانك في LinkedIn</a:t>
            </a:r>
          </a:p>
        </p:txBody>
      </p:sp>
      <p:sp>
        <p:nvSpPr>
          <p:cNvPr id="21" name="Text 20"/>
          <p:cNvSpPr txBox="1"/>
          <p:nvPr/>
        </p:nvSpPr>
        <p:spPr>
          <a:xfrm>
            <a:off x="838200" y="4428919"/>
            <a:ext cx="29210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B9C4CC"/>
                </a:solidFill>
                <a:latin typeface="IBM Plex Sans Arabic"/>
                <a:ea typeface="IBM Plex Sans Arabic"/>
                <a:cs typeface="IBM Plex Sans Arabic"/>
              </a:rPr>
              <a:t>بالمعادلة من الشريحة 87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Readex Pro"/>
        <a:ea typeface=""/>
        <a:cs typeface="Readex Pro"/>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BM Plex Sans Arabic"/>
        <a:ea typeface=""/>
        <a:cs typeface="IBM Plex Sans Arabic"/>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كيف تبدأ في GRC</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