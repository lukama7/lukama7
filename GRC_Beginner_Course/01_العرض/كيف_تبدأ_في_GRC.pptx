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مرحباً بك. هذا كورس تأسيسي لمن يريد أن يبدأ في الحوكمة والمخاطر والامتثال، أو ما يُختصر بـ GRC، حتى لو لم يعمل في الأمن السيبراني من قبل. سنفهم أولاً طبيعة العمل، ثم نطبق كل مفهوم على شركة افتراضية واحدة اسمها رُفاد، فتشاهد كيف ترتبط القرارات والسياسات والمخاطر والضوابط والأدلة داخل جهة واحدة. وفي النصف الثاني نحول ما تعلمته إلى ملف أعمال وسيرة ذاتية وملف لينكدإن واستعداد للمقابلة. الحروف الثلاثة على اليسار هي الفكرة كلها: الحوكمة تسأل من يقرر وبأي قواعد، والمخاطر تسأل ما الذي قد يحدث وماذا نفعل، والامتثال يسأل هل نلتزم وكيف نثبت. جهّز كراسة التمارين بجانبك من الآن، فستحتاجها في كل وحدة.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نبدأ، اتفاق واضح على ما ستخرج به. على اليمين خمس قدرات عملية، لا معلومات فقط: أن تفهم العمل، وأن تميز بين أجزائه الثلاثة وتفهم الأساس التقني الذي يقوم عليه، وأن تنفذ بنفسك أربع مهام صغيرة يقوم بها المحلل المبتدئ فعلاً، وأن تختار شهادتك بوعي، وأن تدخل السوق بملف جاهز. وعلى اليسار ما لا يعدك به الكورس، وهذا مهم لتوقعاتك: هذا ليس برنامجاً يؤهلك لإدارة GRC في جهة كاملة، ولا يعلمك تطبيق الضوابط الأساسية للأمن السيبراني بكل تفاصيلها. هو أساس صحيح ومنظم، تبني عليه بالخبرة والتعلم المستمر. إن كان لديك كورس ECC المرافق، فهو الخطوة الطبيعية بعد هذا الكورس لمن يريد التعمق في تطبيق الضوابط.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موضوع في هذا الكورس يسير بأربع خطوات ثابتة. نشرح الفكرة باختصار، ثم نطبقها أمامك على شركة رُفاد في مثال محلول كامل، ثم نعطيك حالة مشابهة لتحلها بنفسك، ثم نعرض الإجابة النموذجية ونشرح لماذا هي صحيحة وما الأخطاء الشائعة. ستعرف نوع الشريحة من العلامة الملونة أعلاها: الأزرق مثال محلول، والبرتقالي تمرين، والأخضر إجابة نموذجية. وأهم قاعدة: حين ترى «توقف وطبّق» أوقف الفيديو فعلاً، واكتب إجابتك في الكراسة. قراءة الإجابة النموذجية قبل المحاولة تعطيك شعوراً بالفهم، لكنها لا تبني المهارة. المحاولة الخاطئة ثم المقارنة هي ما يثبت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الكورس مصمم لثلاث فئات. الخريج الجديد من أي تخصص، فـ GRC من أكثر مسارات الأمن السيبراني ترحيباً بالتخصصات المختلفة. وموظف التقنية الذي يعرف الأنظمة ويريد مساراً أقرب إلى الإدارة والتحليل. ومختص التدقيق أو القانون أو الجودة، الذي يملك أصلاً مهارة قراءة النصوص والأدلة والعمليات، ويحتاج فقط لغة الأمن السيبراني ومفاهيمه. إن كنت من أي فئة منها، فأنت في المكان الصحيح. وإن لم تكن، فالكورس مفيد أيضاً لكل من يتعامل مع فرق GRC ويريد أن يفهم عملها.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خريطة الكورس. الوحدات الخمس الأولى معرفة وتطبيق: ما هو GRC، ثم أساس تقني مختصر يكفي لتفهم ما تقيّمه، ثم المفاهيم الأساسية مع أربعة تطبيقات عملية على رُفاد، ثم الأطر وكيف نحدد ما ينطبق على الجهة وكيف نربط بينها، ثم الشهادات وكيف تختار. والوحدات الأربع الأخيرة للوصول إلى الوظيفة: خطة البداية وملف الأعمال، والسيرة الذاتية، ولينكدإن، والمقابلة. الوحدة الثالثة أطول وحدة وأهمها، لأنها تحتوي التطبيقات الأربعة. وبعد كل وحدة اختبار قصير في الكراسة، وفي آخر الكورس تقييم ختامي عملي، ثم ملحق مرجعي فيه الرسوم والجداول والروابط، لأنها معلومات تتغير وتحتاج تحديثاً دورياً.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تعرّف على رُفاد، الشركة التي سترافقك في الكورس كله. شركة متوسطة في الرياض بنحو مئتي موظف، تقدم التوصيل والتخزين للمتاجر الإلكترونية. عندها ثلاثة أنظمة تهمنا: نظام الموارد البشرية والرواتب، وفيه بيانات حساسة عن كل موظف؛ والبريد والملفات السحابية؛ وتطبيق تتبع الشحنات، وفيه بيانات المستلمين الشخصية. وعندها مورد اسمه سَنَد يدير خوادمها عن بعد. تنبيهان مهمان. الأول: كل ما في رُفاد افتراضي، من الاسم إلى الأشخاص والأدلة، وأي تشابه غير مقصود. الثاني: الضوابط الأساسية للأمن السيبراني ‎ECC-2:2024‎ ملزمة للجهات الحكومية والجهات التابعة لها وجهات البنية التحتية الوطنية الحساسة. رُفاد ليست منها، فالضوابط غير ملزمة لها؛ لكنها في حالتنا التدريبية تبنتها طوعاً مرجعاً داخلياً. لا تفترض أن ECC ملزم لكل شركة خاصة، وسنتعلم في الوحدة الرابعة كيف نحدد ما ينطبق على كل جهة.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هؤلاء الأشخاص سيتكررون في كل الأمثلة. الرئيس التنفيذي خالد هو صاحب الصلاحية: يعتمد السياسات ويقبل المخاطر. ولجنة الأمن السيبراني يرأسها، وتجتمع كل ربع سنة لتتابع. ريم مسؤولة GRC، وتعمل في الخط الثاني: تضع المنهجية وتتابع وتكتب التقارير. وأنت محلل متدرب مع ريم: في كل تطبيق تقرأ وتحلل وتكتب، ثم تقارن بالإجابة النموذجية. سلمان مدير تقنية المعلومات، يملك الأنظمة التقنية ويشرف على المورد سَنَد. ومنى مديرة الموارد البشرية، وهي مالكة نظام الرواتب. وفهد المدير المالي، ومعه العقود والمشتريات. لاحظ من الآن أن ريم لا تملك الأنظمة ولا تنفذ الضوابط، وسنرى لماذا في الجزء الخاص بالحوكمة.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الأولى قصيرة، وهدفها أن تعرف بالضبط ما الذي ستعمل فيه. سنشرح GRC بثلاثة أسئلة بسيطة، ونرى لماذا تحتاجه الجهات، وكيف يختلف عن مركز العمليات واختبار الاختراق، وكيف يبدو يوم عمل محلل مبتدئ في رُفاد. وفي آخرها تمرين قصير تصنف فيه مهام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احفظ هذه الأسئلة الثلاثة، فهي أسهل طريقة لشرح GRC في مقابلة. الحوكمة: من يقرر، وبأي قواعد، وكيف نتابع؟ وفي رُفاد مثالها أن يعتمد الرئيس التنفيذي سياسة الأمن السيبراني. المخاطر: ما الذي قد يضرنا، وما احتماله وأثره، وماذا نفعل؟ ومثالها تقييم خطر حساب المورد المشترك، وسنحله معاً في التطبيق الثاني. الامتثال: هل نلتزم بما يجب، وكيف نثبت؟ ومثاله فحص أدلة مراجعة الصلاحيات، وهو التطبيق الثالث. والجملة في الأسفل تربط الثلاثة: الحوكمة تضع القواعد، والمخاطر تحدد أين نبدأ، والامتثال يثبت أن القواعد طُبقت فعلاً. السياسة بلا تقييم مخاطر قد تحمي ما لا يهم، والامتثال بلا حوكمة يتحول إلى تعبئة نماذج.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تحتاج الجهات من يعمل في GRC، حتى حين تتغير التقنيات؟ ثلاثة أسباب. الأول الأنظمة والعقود: نصوص ملزمة لا تطبق نفسها، وأحد يجب أن يقرأها ويحولها إلى خطة وأدلة. الثاني الموارد: الميزانية محدودة دائماً، وتقييم المخاطر يجيب عن سؤال الإدارة: أين نصرف أولاً؟ الثالث الثقة: حين تتعاقد جهة مع مورد، أو تخضع لتقييم، يُطلب الدليل لا الوعد. وفي رُفاد ترى السببين الأول والثالث معاً: نظام حماية البيانات الشخصية ينطبق عليها لأنها تعالج بيانات أفراد في المملكة، والمتاجر التي تتعامل معها تسأل كيف تحمي بيانات عملائها. وفي الأسفل أهم فكرة: GRC يخدم أهداف العمل، لا العكس. أهداف رُفاد أربعة: استمرار التوصيل، وحماية بيانات العملاء، وصحة الرواتب، والالتزام بالعقود؛ وكل خطر وضابط ومؤشر في هذا الكورس سيرتبط بواحد منها. لاحظ أننا لا نذكر أرقاماً عن الرواتب أو حجم السوق؛ هذه تتغير بسرعة، فابحث عنها في مصادر حديثة إن احتجتها.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تساعدك أن تختار بوعي. GRC يسأل: هل نحمي ما يهم، وهل نلتزم ونثبت؟ ومركز العمليات يسأل: هل يحدث هجوم الآن؟ واختبار الاختراق يسأل: كيف يمكن اختراقنا؟ وهندسة الأمن تسأل: كيف نبني الحماية؟ إن كنت تحب الكتابة والتحليل والعمل مع إدارات مختلفة، فـ GRC مناسب لك. لكن انتبه للملاحظة في الأسفل: أضعف مختصي GRC من لا يفهمون التقنية إطلاقاً، فيقبلون أي لقطة شاشة دليلاً. لا تحتاج أن تكون مهندساً، لكن تحتاج أن تعرف ما هو التحقق متعدد العوامل، وما هو سجل الأحداث، ولماذا تُفصل الشبكات. والأدوار ليست جزراً معزولة: كثيرون بدؤوا في الدعم الفني أو مركز العمليات ثم انتقلوا إلى GRC، والعكس.</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حين تبحث عن وظيفة لن تجد دائماً كلمة GRC. هذه مسميات شائعة للمبتدئين. محلل GRC أو محلل الامتثال يعمل على تقييم الفجوات ومتابعة الأدلة والخطط. ومحلل المخاطر يدير سجل المخاطر وتقييمها. ومسؤول السياسات يكتب السياسات ويراجعها. ومقيّم الضوابط يختبر الضوابط ويجمع الأدلة. ومدقق تقنية المعلومات يعمل في المراجعة الداخلية باستقلالية. والعمود الأخير يربطها بنموذج الخطوط الثلاثة الذي سنشرحه في الوحدة الثالثة. وبعض هذه المسميات مأخوذة من الإطار السعودي لكوادر الأمن السيبراني، وإصداره الحالي 1.5 لعام 2026، وفيه فئة الحوكمة والمخاطر والامتثال والأنظمة. المصدر: صفحة الإطار على موقع الهيئة الوطنية للأمن السيبراني nca.gov.sa،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يوم مركب من مهام شائعة لمحلل مبتدئ، وقد وضعناه في رُفاد. لاحظ ثلاثة أشياء. الأول: أغلب العمل تواصل ومتابعة؛ الأدلة لا تصل وحدها، والخطط لا تُنفذ دون من يتابعها. الثاني: هناك لحظة حكم مهني، مثل الساعة الثانية عشرة: هل لقطة الشاشة تكفي دليلاً، أم نحتاج سجل التغييرات؟ سنتعلم الإجابة في التطبيق الثالث. الثالث: الكتابة حاضرة في كل شيء: إجراء، وتقرير، وشرائح للجنة. والأدوات بسيطة غالباً: جداول البيانات والمستندات ونظام التذاكر، وفي الجهات الكبيرة منصات GRC متخصصة.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 خرافات تؤخر كثيراً من المبتدئين. الأولى أن GRC أوراق فقط؛ والحقيقة أن السياسة بداية العمل، والجزء الأكبر التحقق من تطبيقها. الثانية أنه لا يحتاج معرفة تقنية؛ تحتاج أساسيات تكفي لتفهم الدليل، وهي موضوع الوحدة الثانية. الثالثة أنه للخبراء فقط؛ توجد وظائف مبتدئة، وأحياناً بمسميات لا تحمل كلمة GRC، والمشاريع العملية التي ستبنيها في الوحدة السادسة تعوض جزءاً من الخبرة. والرابعة أن شهادة واحدة تكفي؛ الشهادة تفتح الباب، لكن ما يقنع المقابل أن تشرح مثالاً عملياً بلغتك، وهذا ما تبنيه التطبيقات الأربعة في الوحدة الثالثة.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حان دورك. أمامك ست مهام من رُفاد. لكل مهمة، اكتب في الكراسة الحرف المناسب: G للحوكمة، أو R للمخاطر، أو C للامتثال، ومعه سبب في جملة واحدة. استخدم الأسئلة الثلاثة: من يقرر؟ ماذا قد يحدث؟ هل نلتزم وكيف نثبت؟ أوقف الفيديو الآن، وخذ أربع دقائق، ثم عد إلى الإجابة النموذجية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السياسة وتشكيل اللجنة حوكمة، لأنهما قرار وهيكل إشراف. تقدير احتمال سرقة الحاسوب واختيار خطة معالجة خطر المورد مخاطر، لأنهما يتعاملان مع ما قد يحدث وماذا نفعل. وجمع أدلة مراجعة الصلاحيات ومطابقة العقد مع بنود ECC امتثال، لأنهما يقارنان الواقع بمتطلب مكتوب ويثبتان ذلك بالأدلة. إن اختلفت إجابتك في مهمة أو اثنتين فلا بأس، المهم سببك. لاحظ الملاحظة في الأسفل: اعتماد خطة المعالجة قرار حوكمة أيضاً، والمجالات الثلاثة متداخلة في الواقع. الهدف أن تعرف السؤال الأساسي الذي تخدمه كل مهمة.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01: ما هو GRC؟. قبل أن تكمل، اختبر فهمك بـ 4 أسئلة قصيرة في كراسة التمارين. أوقف الفيديو الآن، وخذ نحو 8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ندخل في الحوكمة والمخاطر والامتثال، نحتاج أساساً تقنياً مختصراً. كثير من التطبيقات القادمة تسأل عن تحقق متعدد العوامل، وصلاحيات، وشبكة افتراضية، وسجلات، ونسخ احتياطي. لن نتعمق في البروتوكولات ولا الأوامر ولا إعداد المنتجات؛ هذا عمل المهندسين. ما يحتاجه مختص GRC أن يفهم ما الشيء، وما الذي قد يسوء فيه، وما الضابط الذي يعالجه، وما الدليل الذي يثبت أن الضابط يعمل.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الطريقة التي سنقرأ بها كل مفهوم تقني في الوحدة. أربعة أسئلة. ما هو؟ تعريف بجملة، دون تفاصيل الإعداد. ما الخطر؟ ما الذي قد يحدث لو غاب أو ضعف. ما الضابط؟ ما الذي يعالج الخطر، ومن أي مرجع. وما الدليل؟ ما الذي ستطلبه لتتأكد أن الضابط يعمل فعلاً. والمثال تحت كل سؤال من رُفاد: التحقق متعدد العوامل. وتحت الأسئلة الموضوعات الستة: الهويات والصلاحيات، والدليل المركزي، والشبكات، والسحابة، والحماية، والتطبيقات وإدارة التغيير.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الهويات والصلاحيات أكثر موضوع تقني ستقابله في GRC. خطوتان تختلطان كثيراً. المصادقة تجيب عن سؤال: هل أنت فعلاً من تدّعي؟ وتثبتها كلمة المرور، ومعها عامل ثانٍ مثل رمز من تطبيق، وهذا هو التحقق متعدد العوامل. ثم التفويض: ماذا يُسمح لك أن تفعل؟ ويحدده دورك. مسؤولة الرواتب في رُفاد تدخل بكلمة المرور والرمز، ثم يسمح لها دورها بعرض الرواتب وتعديلها. وتحت المخطط ثلاثة أفكار. الحساب العادي يستخدم النظام، والحساب الإداري يغيّر إعداداته وصلاحيات الآخرين، لذلك هو أخطر ما يُسرق. وRBAC يعني أن الصلاحيات تُعطى للدور لا للشخص؛ فإذا تغير الدور يجب أن تتغير الصلاحيات. سعد الدوسري انتقل إلى العمليات في فبراير، وستكتشف في التطبيق الثالث أن صلاحية تعديل الرواتب بقيت معه حتى مايو. البيانات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مفاهيم في الهويات بالأسئلة الأربعة. الحساب الإداري: خطره السيطرة على النظام كله، وضابطه أن تكون الحسابات الإدارية بأسماء أصحابها وتُدار صلاحياتها، وهذا الضابط ‎2-2-3-4‎ في ECC؛ والدليل قائمة الحسابات الإدارية ومالكيها وسجل استخدامها. التحقق متعدد العوامل: الضابط ‎2-2-3-2‎، ودليله الإعداد وسجل الدخول. RBAC وأقل صلاحية: الخطر صلاحيات زائدة تبقى بعد تغيير الدور؛ والضابط أدوار معتمدة ومراجعة دورية، ‎2-2-3-3‎ و‎2-2-3-5‎. وفصل المهام: لا يكمل شخص واحد عملية حساسة وحده، مثل تعديل الحساب البنكي للموظف ثم اعتماد مسير الرواتب.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المركزي، مثل Active Directory، يحفظ حسابات الموظفين ومجموعاتهم في مكان واحد، وتسأله الأنظمة عند الدخول: من هذا المستخدم؟ وإلى أي مجموعة ينتمي؟ والطريقة التي تسأل بها تسمى LDAP. لا تحتاج أكثر من هذه الفكرة. لماذا يهم GRC؟ لأن تعطيل حساب واحد في الدليل يغلق كل ما يعتمد عليه، ولأن المجموعات تحدد الصلاحيات: من في مجموعة ‎VPN-Users‎ يدخل عن بعد، وستراها في التطبيق الثالث. لكن انتبه للأنظمة التي لا يربطها الدليل. في رُفاد، وهذا افتراض تدريبي، نظام الرواتب السحابي بحسابات مستقلة، فتعطيل الحساب في الدليل لا يغلقه؛ وهذا يفسر لماذا قد يبقى حساب المغادر نشطاً فيه. والأسئلة الأربعة في الأسفل: الخطر حساب مغادر نشط أو مجموعة إدارية متضخمة، والضابط ربط الدليل بإجراء المغادرين ومراجعة المجموعات الإدارية، والدليل مقارنة الحسابات المعطلة بقائمة المغادرين، وقائمة أعضاء المجموعات الإدارية.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صورة مبسطة جداً لشبكة رُفاد، وهي افتراضية. الموظف في المنزل يتصل من الإنترنت، فيمر أولاً بالجدار الناري، الذي يسمح بالاتصالات المعتمدة فقط، ثم ببوابة VPN، وهي نفق مشفر إلى الداخل، ومعها التحقق متعدد العوامل. والشبكة الداخلية مقسمة: شبكة للمكاتب وشبكة للخوادم، وبينهما قواعد؛ فإذا اختُرق جهاز موظف لا ينتقل المهاجم بسهولة إلى الخوادم. وتحتها خادم تطبيق التتبع، وهو سحابي خارج الشبكة الداخلية، ويديره المورد سَنَد بأداة دعم مكشوفة على الإنترنت؛ ستقيّم هذا الخطر بنفسك في التطبيق الثاني. وفي الأسفل السجلات: كل هذه الأجزاء تسجل من دخل ومتى، ومنها جاء سجل الاتصالات الذي ستفحصه في التطبيق الثالث.</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الشبكات بالأسئلة الأربعة. الجدار الناري: الضابط قواعد معتمدة لكل منها مالك وسبب، وتقييد الخدمات والمنافذ، وهذا ‎2-5-3-5‎؛ والدليل قائمة القواعد وتاريخ آخر مراجعة. VPN: الخطر كلمة مرور مسروقة تفتح الشبكة، والضابط التحقق متعدد العوامل ومجموعة محددة من المستخدمين. فصل الشبكات: ‎2-5-3-1‎، وفصل الإنتاج عن التطوير والاختبار ‎2-5-3-2‎. والسجلات: تُفعّل للأصول المهمة وللدخول عن بعد، وتُحفظ اثني عشر شهراً على الأقل، وهذا من ‎2-12-3‎.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السحابة ثلاثة نماذج. IaaS: تستأجر خادماً، وتدير أنت نظام تشغيله وتطبيقه، مثل خادم تطبيق التتبع في رُفاد. PaaS: منصة تشغّل عليها تطبيقك دون أن تدير الخوادم. SaaS: خدمة جاهزة تستخدمها، مثل نظام الرواتب والبريد في رُفاد. الجدول يبين من يتولى كل طبقة عادةً. والسطر الذي لا يتغير: البيانات والحسابات والصلاحيات مسؤولية الجهة في كل النماذج. مزود نظام الرواتب يوفر أداة الصلاحيات، لكنه لا يعرف من يحتاج «تعديل الرواتب» في رُفاد. والتقسيم الدقيق في عقد كل مزود ووثائقه، فلا تعمم الجدول. الخطر أن تفترض الجهة أن المزود يحمي كل شيء؛ والضابط مسؤوليات مكتوبة في العقد، ومنها حماية البيانات وإعادتها عند انتهاء الخدمة، كما في ECC ‎4-2-3‎.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ضوابط حماية ستسأل عنها كثيراً. إدارة الثغرات والتحديثات: فحص دوري، وتصنيف حسب الخطورة، ومعالجة بمهل، واختبار التحديث قبل الإنتاج؛ وهذا ‎2-10-3‎. والدليل ليس السياسة، بل تقرير الفحص وقائمة الثغرات المفتوحة بأعمارها. التشفير: للبيانات المخزنة والمنقولة حسب تصنيفها، مع إدارة المفاتيح، ‎2-8-3‎؛ وتذكر حاسوب أخصائي الرواتب في المثال المحلول للتطبيق الثاني. النسخ الاحتياطي: الخطر الحقيقي ليس غياب النسخ، بل نسخ لا تُستعاد عند الحاجة؛ لذلك يطلب ‎2-9-3‎ فحصاً دورياً لفعالية الاستعادة، والدليل محضر اختبار استعادة. وDLP أداة تمنع خروج البيانات الحساسة، ولا تعمل قبل تصنيف البيانات؛ ولا يسميها ECC بالاسم، بل تدخل في حماية البيانات حسب تصنيفها، ‎2-7‎.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التطبيقات. ثلاث بيئات منفصلة: التطوير، حيث يُكتب الكود ببيانات وهمية؛ والاختبار، حيث يُجرَّب التغيير ببيانات غير حقيقية؛ والإنتاج، النظام الذي يخدم المتاجر ببيانات حقيقية. ولا ينتقل تغيير إلى الإنتاج إلا عبر إدارة التغيير: طلب، ثم تقييم الأثر والمخاطر، ثم اعتماد، ثم اختبار، ثم تنفيذ في وقت محدد، ثم مراجعة بعد التنفيذ. وفي رُفاد مثال ستقابله دليلاً في التطبيق الثالث: سجل بوابة VPN يوم 10 مارس يبين إنشاء سياسة استثناء بعد تفعيل التحقق بدقائق، بلا طلب تغيير ولا موافقة. هذا ما تكشفه مطابقة سجل التغييرات بتذاكر التغيير.</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التطبيقات بالأسئلة الأربعة. فصل البيئات: الخطر تغيير غير مختبر يعطل الإنتاج، والضابط فصل شبكة الإنتاج عن التطوير والاختبار، ‎2-5-3-2‎، وبيانات غير حقيقية للاختبار. إدارة التغيير: الضابط إجراء معتمد، ومراجعة الإعداد الآمن قبل إطلاق المشاريع والتغييرات، ‎1-6-2‎؛ والدليل الأقوى مطابقة سجل التغييرات بالتذاكر، لا قراءة الإجراء. والتطوير الآمن: معايير الكود الآمن، ومصادر موثوقة للمكتبات، واختبار الالتزام قبل الإطلاق، ‎1-6-3‎. وهذا مدخل فقط؛ التعمق في البرمجة خارج هذا الكورس.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قصير على الوحدة. ثلاثة مواقف من رُفاد، وكلها افتراضية. لكل موقف اكتب في الكراسة: ما المفهوم التقني، وما الخطر، وما الضابط المناسب، وما الدليل الذي ستطلبه.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الأول فصل المهام: موظف يعدّل الحساب البنكي ثم يعتمد المسير يستطيع تحويل راتب إلى حساب آخر دون أن يُكتشف؛ والضابط فصل التعديل عن الاعتماد وموافقة ثانية، والدليل تقرير بمن يجمع الصلاحيتين وعينة من التغييرات بموافقاتها. وسنكمل هذا الموقف نفسه في تمرين ربط الخطر بأهداف العمل. الثاني إدارة التغيير وفصل البيئات: الدليل تذكرة التغيير بموافقتها ونتيجة اختباره، ومطابقة سجل الخادم بالتذاكر. الثالث السجلات: تسعون يوماً أقل من اثني عشر شهراً يطلبها ‎2-12-3-5‎، ولا مراجعة. إن ذكرت ضابطاً آخر مناسباً بمبرر، فإجابتك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02: الأساس التقني. قبل أن تكمل، اختبر فهمك بـ 5 أسئلة قصيرة في كراسة التمارين. أوقف الفيديو الآن، وخذ نحو 10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الوحدة قلب الكورس. قسمناها ثلاثة أجزاء: الحوكمة، ثم المخاطر، ثم الامتثال، وتنتهي بالمؤشرات والتقرير الذي يصل إلى الإدارة. وفي كل جزء نشرح المفاهيم، ثم نحل مثالاً كاملاً على رُفاد، ثم تنفذ أنت تطبيقاً مشابهاً، ثم نراجع الإجابة النموذجية. في نهاية الوحدة ستكون نفذت أربع مهام يقوم بها المحلل المبتدئ فعلاً: تحديد المسؤوليات وكتابة بند سياسة، وكتابة خطر وتقييمه، وفحص أدلة ضابط، وكتابة ملاحظة بخطة تصحيح. وهذه المهام نفسها ستصبح لاحقاً مشاريع في ملف أعمالك، وأمثلة في سيرتك ومقابلتك. خذ وقتك هنا، ولا تتجاوز التمارين.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الأول عن الحوكمة. السؤال هنا: من يقرر، وبأي قواعد، ومن المسؤول عن ماذا؟ سنبدأ بالفرق بين الحوكمة والإدارة والتشغيل، ثم الأدوار في رُفاد، ثم نموذج الخطوط الثلاثة، ثم الوثائق وكيف تعيش السياسة من فكرة إلى مراجعة دورية، ثم أداة بسيطة جداً اسمها RACI. وننهي الجزء بالتطبيق الأول: تحديد المسؤوليات وكتابة بند سياسة من متطلب واضح.</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أول خلط شائع عند المبتدئين: اعتبار كل ما تفعله الإدارة العليا حوكمة. انظر إلى المخطط من الأعلى: الحوكمة تحدد ماذا نريد ولماذا ومن يحاسب، والإدارة تحول القرار إلى خطة وموارد وجدول، والتشغيل ينفذ العمل اليومي. خذ مثالاً واحداً من رُفاد: قرر الرئيس التنفيذي، بتوصية من اللجنة، أن يكون التحقق متعدد العوامل إلزامياً للدخول عن بعد. هذا قرار حوكمة. ثم وضع سلمان مدير تقنية المعلومات خطة نشر لستة أسابيع بميزانية ومسؤولين، وهذه إدارة. ثم سجّل فريق الدعم والمورد أجهزة الموظفين في تطبيق التحقق، وهذا تشغيل. والسطر الأخير مهم: الحوكمة لا تنتهي عند القرار، بل تعود اللجنة لتسأل هل تحقق ما قررناه؟ وما نسبة الحسابات التي فُعّل عليها التحقق؟ هذه المتابعة جزء من 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قصير قبل أن نكمل. أمامك أربعة أنشطة من مشروع التحقق متعدد العوامل في رُفاد. صنّف كل نشاط: حوكمة، أم إدارة، أم تشغيل؟ واكتب سبباً قصيراً. انتبه للنشاط الرابع تحديداً. أوقف الفيديو الآن، وخذ ثلاث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القرار حوكمة. وخطة النشر وميزانيتها إدارة. وتسجيل الأجهزة تشغيل. والنشاط الرابع، التقرير ربع السنوي للجنة عن نسبة الحسابات المفعل عليها التحقق، حوكمة: هو متابعة وإشراف من الجهة الأعلى لتعرف هل تحقق القرار. إعداد التقرير نفسه عمل يقوم به شخص، لكن الغرض منه المساءلة والإشراف. إن أخطأت فيه فأنت في صحبة كثيرين، والمهم أن تتذكر أن الحوكمة تشمل المتابعة لا القرار وحده.</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الأدوار ستتكرر في كل وثيقة وكل تقييم، فاعرف الفرق بينها. في أعلى المخطط صاحب الصلاحية: من يملك قرار الاعتماد وقبول المخاطر، وفي الضوابط الأساسية هو رئيس الجهة أو من يفوضه؛ وفي رُفاد الرئيس التنفيذي. وتحته اللجنة: تشرف وتتابع وتوصي، لكنها لا تنفذ. وفي الصف الأسفل ثلاثة أدوار: مالك النظام مسؤول عن النظام وبياناته وصلاحياته، مثل منى لنظام الرواتب، وهي أيضاً مالكة خطر ملفات الرواتب، لأن مالك الخطر هو من يقرر كيف يُعالج الخطر، وهو عادة من يتأثر عمله به أكثر، لا GRC. وفي الوسط GRC: يضع المنهجية ويراقب ويبلغ. ومالك الضابط من يطبق الضابط ويحتفظ بأدلته، مثل سلمان للتحقق متعدد العوامل. قد يجمع شخص واحد أكثر من دور، كما تجمع منى دورين، لكن يجب أن يكون كل دور واضحاً ومكتوباً.</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من أهم الأفكار للمبتدئ، لأن كثيرين يتوقعون أن GRC «مسؤول عن الأمن السيبراني» كله. GRC لا ينفذ كل الضوابط بنفسه، ولا يملك مخاطر الإدارات، ولا يعتمد السياسات بدل صاحب الصلاحية. دوره أن يضع المنهجية والنماذج، ويساعد الإدارات على فهم المتطلبات، ويتحقق من التطبيق بالأدلة، ويرفع الصورة للإدارة بوضوح. لماذا هذا مهم؟ لأن من ينفذ الضابط لا يستطيع أن يتحقق منه باستقلالية. في رُفاد، لو كانت ريم تعطّل الحسابات بنفسها، فمن سيتحقق أن التعطيل حدث في موعده؟ لذلك سلمان ينفذ، وريم تتحقق.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الخطوط الثلاثة من معهد المدققين الداخليين، وتستخدمه جهات كثيرة لتوزيع المسؤوليات. الخط الأول هو الإدارات التي تملك المخاطر فعلاً وتطبق الضوابط: في رُفاد سلمان ومنى، والمورد سَنَد يعمل تحت إشرافهما. الخط الثاني يضع الإطار والمنهجيات، ويدعم الخط الأول، ويراقب ويتحدى: هل الضابط مطبق فعلاً؟ وهنا تعمل ريم، وأغلب وظائف GRC المبتدئة. والخط الثالث يعطي تأكيداً مستقلاً لجهة الحوكمة؛ ولأن رُفاد شركة متوسطة، فقد تعاقدت مع مراجع خارجي يقوم بهذا الدور سنوياً، وهذا افتراض في حالتنا. لماذا يهمك النموذج؟ لأنه يحدد أين ستعمل: محلل الامتثال خط ثانٍ غالباً، ومدقق تقنية المعلومات خط ثالث، ولكل منهما مسار شهادات مختلف قليلاً كما سنرى في الوحدة الخامسة.</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عمل GRC كتابة ومراجعة لهذه الوثائق، فاعرف الفرق بينها بمثال واحد من رُفاد: مراجعة الصلاحيات. السياسة قصيرة وعامة: تُراجع الصلاحيات دورياً في كل الأنظمة، ويعتمدها صاحب الصلاحية. المعيار يحول السياسة إلى قيم قابلة للقياس: نظام الرواتب كل ثلاثة أشهر، والإزالة خلال خمسة أيام عمل. الإجراء يحول المعيار إلى خطوات بمسؤول وتوقيت. والإرشاد توصيات تساعد ولا تلزم. الخطأ الشائع: سياسة طولها عشرون صفحة فيها كل التفاصيل التقنية، فتحتاج اعتماداً من الرئيس التنفيذي كلما تغير رقم. لاحظ أيضاً أن بعض الجهات تضع المدد في السياسة نفسها، وهذا مقبول إن كان موثقاً ومعتمداً؛ المهم أن تعرف أين تبحث عن كل مستوى.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نكتب بنداً في التطبيق الأول، انظر إلى السياسة كاملة. هذه سياسة التحكم بالوصول في رُفاد، الإصدار الثاني، وهي نموذج تعليمي. ست مكونات تجدها في معظم السياسات. الغرض: لماذا وُجدت. النطاق: أي أنظمة وأشخاص تشمل، وهنا تشمل المورد سَنَد أيضاً. الأدوار: من يعتمد ومن ينفذ ومن يتابع، بالوظيفة. المتطلبات: البنود التي ستُسأل عن أدلتها، ومنها البند 4.3 الذي سنراه في المثال المحلول، و4.5 الذي ستكتبه أنت عن المغادرين. الاستثناءات: كيف نخرج عن السياسة بموافقة ومدة، لا بقرار فردي. وتذكر هذا البند حين ترى سياسة ‎VPN-Legacy‎ في التطبيق الثالث. والاعتماد والمراجعة: من اعتمدها، ومتى، ومتى تُراجع. والتفاصيل القابلة للقياس لا تُكتب هنا، بل في المعيار والإجراء.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السياسة ليست وثيقة تُكتب مرة وتُنسى. تمر بسبع مراحل. تبدأ بحاجة ومتطلبات: نظام ملزم، أو ضابط تبنته الجهة، أو خطر ظهر في التقييم، أو حادثة. ثم الصياغة بلغة واضحة يمكن تدقيقها، ثم مراجعة الإدارات المعنية والقانونية وGRC، ثم الاعتماد من صاحب الصلاحية بتاريخ ورقم إصدار، ثم النشر لمن تنطبق عليهم مع توعية، ثم التطبيق بإجراءات وضوابط تنتج أدلة، ثم المراجعة الدورية سنوياً أو عند أي تغيير مهم، فتعود الدورة. في التقييم ستسألك الجهات عن كل مرحلة: أين محضر الاعتماد؟ متى نُشرت؟ متى رُوجعت آخر مرة؟ فاحتفظ بأدلة كل مرحلة.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أمن العاملين يربط ثلاث لحظات في حياة الموظف بالصلاحيات والمسؤوليات. الانضمام: بنود المسؤوليات والسرية في عقد العمل، والتحقق من الموظفين في الوظائف الحساسة، والتوعية عند البدء، وهذا في ECC ‎1-9-3‎ و‎1-9-4‎. تغيير الدور: أكثر لحظة تُنسى؛ تُضاف صلاحيات الدور الجديد ولا تُزال القديمة. وفي رُفاد مثال من بيانات التطبيق الثالث: سعد الدوسري انتقل إلى العمليات في فبراير، وبقيت معه صلاحية تعديل الرواتب حتى العشرين من مايو. والمغادرة: مراجعة الصلاحيات وإلغاؤها مباشرة، وهذا ECC ‎1-9-5‎، وهو موضوع التطبيق الأول. وفي الأسفل التوعية: عند الانضمام وخلال العمل، ويُقاس إكمالها، كما يطلب برنامج التوعية في ECC ‎1-10‎.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نستخدم المصفوفة، لنفهم حروفها. R المنفذ: من يقوم بالعمل فعلاً، وقد يكونون أكثر من شخص. A المساءَل: من يحاسَب على النتيجة ويعتمدها، وهو شخص واحد فقط لكل نشاط؛ إن وضعت شخصين فلن يحاسَب أحد. C المستشار: يؤخذ رأيه قبل التنفيذ، والتواصل معه في الاتجاهين. I المُبلَّغ: يُخبر بالنتيجة بعد التنفيذ، في اتجاه واحد. والفرق بين C وI يسأل عنه كثيرون: C قبل القرار، I بعده. وقد يجمع شخص A وR معاً، فنكتبها ‎A/R‎، مثل مالكة النظام حين تعتمد نتيجة المراجعة بنفسها.</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تحول متطلباً إلى بند سياسة؟ أربع خطوات. اقرأ المتطلب بدقة: ماذا يطلب، وماذا لا يطلب. ثم حدد قرار الجهة: الضوابط غالباً تقول «دورياً» أو «بحد أدنى»، والجهة هي التي تحدد النطاق والمدة والمسؤول بناءً على مخاطرها. ثم اكتب البند بصيغة إلزامية واضحة. ثم اختبره: لو جاء مدقق غداً، هل يستطيع أن يطلب دليلاً على هذا البند؟ وعلى اليسار معايير البند الجيد. احفظها، فستقيّم بها بندك في التطبيق الأول. وأكثر خطأ نراه: نسخ نص الضابط كما هو. نص الضابط يقول ماذا يجب؛ وبند السياسة يقول كيف ستلتزم به الجهة ومن المسؤول.</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الآن نطبق كل ما سبق على مثال محلول. المتطلب من الضوابط الأساسية ‎ECC-2:2024‎، الضابط الفرعي ‎2-2-3-5‎: يجب أن تغطي متطلبات إدارة الهويات والصلاحيات المراجعة الدورية لهويات الدخول والصلاحيات. الوضع في رُفاد: نظام الرواتب فيه 214 حساباً ولا توجد مراجعة. القرار: مراجعة كل ثلاثة أشهر لهذا النظام بالذات، لأنه يحتوي رواتب الموظفين وحساباتهم البنكية. انتبه للملاحظة في الأسفل: الضابط يقول «دورية» ولا يحدد المدة. كثيرون يكتبون «الضابط يشترط ربع سنوي»، وهذا غير صحيح. المدة قرار الجهة، وتبرره بالمخاطر، وتوثقه في المعيار أو السياسة.</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نحدد الأنشطة أولاً، ثم نوزع الحروف. خمسة أنشطة: تصدير القائمة، وتأكيد حاجة كل موظف، واعتماد النتيجة، وإزالة غير المبرر، ومتابعة الإنجاز وحفظ الأدلة. مالكة النظام منى مساءلة عن أغلب الأنشطة لأن النظام نظامها. تقنية المعلومات تنفذ التصدير والإزالة، وهي A وR في الإزالة لأنها تملك التنفيذ التقني وتشرف على المورد. مدير الموظف ينفذ تأكيد الحاجة لأنه أعرف بعمل موظفيه. وGRC هنا منفذ لنشاط واحد فقط: المتابعة وحفظ الأدلة، لكن المساءلة عنه عند مالكة النظام. لاحظ: في كل صف A واحد بالضبط.</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بعد أن أصبح جزءاً من وثيقته: سياسة التحكم بالوصول في رُفاد، الإصدار الثاني، الذي اعتمده الرئيس التنفيذي في 15 يناير 2026. الصفحة نموذج تعليمي. اتبع الأرقام. الأول: البند يذكر الضابط الذي يحققه، ECC ‎2-2-3-5‎، فيسهل على المقيّم ربطه. الثاني: النطاق والتكرار، نظام الموارد البشرية والرواتب كل ثلاثة أشهر على الأقل؛ والمدة قرار رُفاد لا رقم من الضابط. الثالث: المسؤول بالوظيفة، مالكة النظام، ومهلتان قابلتان للقياس: اعتماد خلال عشرة أيام عمل، وإزالة خلال خمسة. الرابع: دليل التطبيق، ملف المراجعة وأدلة الإزالة محفوظة سنتين. لو جاء مدقق، يستطيع أن يطلب ملفات كل ربع، ويحسب المدد، ويتأكد من حفظ الأدلة. وهذا البند نفسه سنعود إليه في التطبيق الثالث، حين نفحص هل التزمت رُفاد به فعلاً. وفي الشريحتين التاليتين نرى كيف يتحول إلى معيار وإجراء.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السياسة تقول ماذا ولماذا، والمعيار يضع القيم القابلة للقياس. هذا معيار التحكم بالوصول في رُفاد، معتمد في 15 يناير 2026، وهو نموذج تعليمي. الأول: التكرار رقم واضح، كل ثلاثة أشهر. الثاني: مهلة الاعتماد عشرة أيام عمل من التصدير. الثالث: مهلة الإزالة خمسة أيام عمل، ولكل إزالة تذكرة، والتذكرة نفسها دليل بتاريخ فتح وتاريخ إغلاق. الرابع: ما يُحفظ من أدلة. احفظ هذه الأرقام، فهي المسطرة التي ستقيس بها التزام رُفاد في التطبيق الثالث.</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والإجراء يحول المعيار إلى خطوات: من يفعل ماذا، ومتى. خمس خطوات، وهي الأنشطة نفسها التي وزعنا عليها حروف RACI قبل قليل. تقنية المعلومات تصدّر القائمة، ومدير كل موظف يؤكد الحاجة، ومالكة النظام تعتمد خلال عشرة أيام عمل، وتقنية المعلومات تزيل خلال خمسة بتذكرة لكل حساب، وGRC تتابع وتحفظ الملف والتذاكر. لاحظ أن الإجراء يأخذ المدد من المعيار ولا يخترع أرقاماً جديدة، وأن كل خطوة تترك أثراً يمكن طلبه في التقييم. هكذا تعيش الوثائق الثلاث معاً: السياسة تقرر، والمعيار يقيس، والإجراء ينفذ.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الآن، في حالة مشابهة. المتطلب من ‎ECC-2:2024‎، الضابط ‎1-9-5‎: يجب مراجعة وإلغاء الصلاحيات للعامل مباشرة بعد انتهاء أو إنهاء العلاقة الوظيفية. وهذا ما وجدته في رُفاد: الموارد البشرية تسجل الاستقالات في نظامها، لكن تقنية المعلومات تعرف بالمغادرين برسائل غير رسمية، والمورد يعطل البريد فقط حين يُطلب منه، ولا أحد يتحقق من بقية الأنظمة. والنتيجة: الشهر الماضي بقي حسابان من أربعة مغادرين نشطين بعد ثلاثة أسابيع. اقرأ الحقائق جيداً، ثم انتقل إلى الشريحة التالية لترى المطلوب والنموذج الذي ستعبئه.</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أولاً، اكتب خمسة أنشطة لعملية إلغاء صلاحيات المغادرين، من لحظة معرفة آخر يوم عمل إلى التحقق أن كل شيء أُلغي. ثانياً، املأ مصفوفة RACI للأدوار الأربعة: الموارد البشرية، ومدير الموظف، وتقنية المعلومات، وGRC؛ وتذكر قاعدة A واحد لكل نشاط. ثالثاً، اكتب بند سياسة من جملتين أو ثلاث يحقق معايير البند الجيد التي تراها في الأسفل. وفي الشريحة التالية النموذج الذي ستعبئه.</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النموذج الذي ستعبئه: خمسة أنشطة، وأربعة أدوار، وخانة لبند السياسة. وهو موجود كاملاً في كراسة التمارين، في التطبيق الأول. أوقف الفيديو الآن، وخذ خمس عشرة دقيقة. لا تنتقل إلى الإجابة قبل أن تكتب محاولتك كاملة.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الإجابة النموذجية للمصفوفة. الموارد البشرية مساءلة ومنفذة للإشعار، لأنها مصدر الحقيقة عن انتهاء العلاقة الوظيفية. وتقنية المعلومات مساءلة ومنفذة لإلغاء الحسابات وتوثيقه وللمطابقة الشهرية، والمورد سَنَد ينفذ جزءاً من العمل تحت إشرافها. لاحظ أن المطابقة الشهرية ضابط كشفي يلتقط ما فات، وهو عند الخط الأول لا عند GRC. أما GRC فمساءلة ومنفذة لنشاط واحد: مراقبة فاعلية الإجراء وإبلاغ اللجنة. إن كانت أنشطتك مختلفة قليلاً فلا بأس، المهم أن تغطي الإشعار والإلغاء والتوثيق والكشف والمتابعة، وأن يكون في كل صف A واحد.</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النموذجي في صفحة السياسة. الأول: النطاق والموعد، كل الأنظمة بما فيها الوصول عن بعد، في موعد أقصاه نهاية آخر يوم عمل، وهذا يحقق كلمة «مباشرة» في الضابط. الثاني: المسؤولون والدليل، الموارد البشرية للإشعار لأنها مصدر الحقيقة، وتقنية المعلومات للتنفيذ والتوثيق في تذكرة. الثالث: ضابط كشفي، المطابقة الشهرية بين قائمة المغادرين والحسابات النشطة، يلتقط ما فات، ويملكه الخط الأول لا GRC. قارن بندك بهذه العناصر الثلاثة. إن نقص عنصر، أضفه الآن في الكراسة.</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نراها كثيراً في هذا التطبيق. الأول وضع GRC منفذاً لتعطيل الحسابات، وقد عرفنا لماذا هذا خطأ. الثاني أكثر من A في الصف. الثالث بند غامض مثل «تُلغى الصلاحيات في الوقت المناسب»: ما الوقت المناسب؟ لا يمكن تدقيقه. الرابع نسيان حسابات الوصول عن بعد وتطبيق التتبع ونظام الرواتب، والتركيز على البريد فقط. والخامس نسخ نص الضابط كما هو. إن وقعت في واحد منها فهذا طبيعي في أول محاولة؛ صححه في الكراسة، فهذا الجزء الأهم من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عن المخاطر. سنأخذ مثالاً واحداً ونحمله من البداية إلى النهاية: حاسوب أخصائي الرواتب في رُفاد. نعرّف المصطلحات عليه، ونكتب الخطر بصيغة صحيحة، ونقيمه بمصفوفة الإطار الوطني لإدارة مخاطر الأمن السيبراني، ونحدد معالجته، ونكتب صفاً كاملاً في سجل المخاطر. ثم تنفذ أنت التطبيق الثاني على خطر مختلف: حساب المورد المشترك.</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السرية والسلامة والتوافر، وتُختصر بالإنجليزية CIA، هي أول سؤال في كثير من المقابلات المبتدئة. أجب بمثال لا بتعريف، ومن رُفاد: السرية تُمس حين يتسرب ملف الرواتب. والسلامة تُمس حين يغير أحدهم رقم الحساب البنكي لموظف في نظام الرواتب، فيذهب راتبه إلى حساب آخر؛ وهذا نمط احتيال معروف، ويحميه فصل المهام وسجلات التغيير. والتوافر يُمس حين يتوقف تطبيق التتبع في يوم ذروة. ولاحظ أن الإطار الوطني لإدارة مخاطر الأمن السيبراني يصف مستويات الأثر بالضبط على هذه الأركان الثلاثة، كما سنرى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ستة مصطلحات بمثال واحد، وانظر إليها كمعادلة. في الأعلى ثلاثة مكونات: الأصل، ما له قيمة للجهة، وهنا الحاسوب وملفات الرواتب عليه. والتهديد، ما قد يسبب الضرر، مثل سرقة الحاسوب من السيارة. والثغرة، الضعف الذي يسهّل الضرر، والقرص هنا غير مشفر. حين يجتمع الثلاثة يظهر الخطر: تهديد يستغل ثغرة في أصل. وفي الأسفل نقيس الخطر: الاحتمال، فرصة الحدوث خلال فترة، والأثر، حجم الضرر إن حدث، وحاصل ضربهما مستوى الخطر الذي يرتب الأولوية. أهم تمييز هنا بين الثغرة والخطر: «القرص غير مشفر» ثغرة، وليست خطراً كاملاً. الخطر يقول ماذا قد يحدث بسببها وما نتيجته. وهذا ما سنتدرب عليه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نكتب الخطر؟ صيغة بسيطة من ثلاثة أجزاء: بسبب الثغرة أو السبب، قد يقع الحدث، مما يؤدي إلى الأثر. هذا مثالنا مكتوباً كاملاً: بسبب حفظ ملفات تصدير الرواتب على حاسوب محمول غير مشفر، قد يؤدي فقدانه أو سرقته إلى اطلاع غير مصرح به على رواتب مئتي موظف وحساباتهم البنكية، مما يضر الموظفين ويعرض رُفاد لمخالفة نظام حماية البيانات الشخصية ولضرر في سمعتها. قارنه بالصياغتين الضعيفتين: «لا يوجد تشفير» ثغرة فقط، و«خطر أمني على الحاسوب» بلا حدث ولا أثر، فلا يعرف أحد ماذا يقرر. ومن أين نكتشف المخاطر أصلاً؟ من سجل الأصول، والحوادث السابقة، وتقارير الثغرات، وملاحظات التدقيق، والتغييرات والمشاريع، والموردين. وهذه المصادر نفسها تذكرها مرحلة التحديد في الإطار الوطني.</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نقيّم خطرنا، تعرف على المرجع الوطني. أصدرت الهيئة الوطنية للأمن السيبراني الإطار الوطني لإدارة مخاطر الأمن السيبراني، ورمزه ‎NFCRM-1:2025‎، في 23 يوليو 2025. ينطبق على الجهات الحكومية والجهات التابعة لها داخل المملكة وخارجها، وعلى جهات القطاع الخاص التي تملك أو تشغل أو تستضيف بنية تحتية وطنية حساسة، وتشجع الهيئة بقية الجهات على الاستفادة منه. منهجيته أربع مراحل: التحديد، ثم التقييم بمصفوفة الاحتمال والأثر، ثم المعالجة، ثم المتابعة. رُفاد ليست ضمن نطاقه، لكنها في حالتنا تبنت مصفوفته طوعاً، فنتعلم عليها كما وردت. وتنبيه مهم: الجهات المشمولة به عليها التزامات إضافية، منها تعيين ضابط اتصال، والإبلاغ الفوري عن المخاطر العالية والحرجة عبر منصة حصين. هذا مدخل تأسيسي فقط؛ اقرأ النص الرسمي كاملاً قبل أي استخدام عملي.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مستويات الاحتمال الخمسة كما يصفها الإطار الوطني، باختصار. لكل مستوى وصفان، ويكفي أحدهما: إطار زمني، أو سهولة استغلال الثغرة. شبه مؤكد يتكرر عدة مرات في السنة، أو تستغل ثغرته بأداة جاهزة. ومحتمل يحدث مرة في السنة تقريباً، أو يحتاج مهاجماً متقدماً بأدوات خاصة. وغير مرجح قد يحدث مرة كل سنتين إلى ثلاث، أو يحتاج شروطاً محددة. ثم نادر، ونادر جداً. الفائدة: حين تقول «الاحتمال 3» يجب أن تستطيع أن تقول لماذا، بالرجوع إلى هذه الأوصاف، لا بالانطباع.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مستويات الأثر الخمسة. يصفها الإطار لكل ركن من الثلاثية منفصلاً: السرية والسلامة والتوافر، وجمعناها هنا في وصف مختصر. الفرق بين المستويات في حجم الأثر على الجهة: لا أثر، ثم طفيف، ثم ملموس، ثم كبير، ثم كبير لا تحتمله الجهة أو يمتد إلى المستوى الوطني. في مثالنا: تسرب رواتب مئتي موظف وحساباتهم البنكية أثر كبير على رُفاد، فنختار عالٍ، أي 4. ولم نختر حرجاً لأن الأثر لا يصل إلى مستوى لا تحتمله الجهة ولا إلى المستوى الوطني.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مصفوفة تقييم المخاطر كما وردت في الإطار الوطني: المستوى يساوي الأثر في الاحتمال. والنتيجة تقع في خمسة مستويات: منخفض جداً من 1 إلى 2، ومنخفض من 3 إلى 7، ومتوسط من 8 إلى 14، وعالٍ من 15 إلى 19، وحرج من 20 إلى 25. مثالنا: الاحتمال 3 والأثر 4، والنتيجة 12، فهو «متوسط». انتبه: مصفوفات الجهات تختلف؛ بعضها يسمي 12 عالياً. لا تنقل حدود مصفوفة جهة إلى أخرى. هنا نستخدم مصفوفة الإطار الوطني بالضبط، لأن رُفاد تبنتها. وحسب قاعدة القبول في رُفاد، الخطر المتوسط يحتاج خطة معالجة، أو قبولاً موثقاً من الرئيس التنفيذي.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الدرجة بلا مبرر رأي شخصي. لماذا اخترنا الاحتمال 3؟ لأن الموظف يتنقل يومياً بالحاسوب، وسُجلت في رُفاد سرقة حاسوب واحدة خلال ثلاث سنوات، وهذا يطابق وصف «غير مرجح»: قد يقع مرة كل سنتين إلى ثلاث. ولماذا الأثر 4؟ لأنها بيانات حساسة لكل الموظفين، والتسرب أثره كبير على الجهة. والجزء الأسفل مهم: الدرجة ليست ثابتة. لو تكررت السرقات يرتفع الاحتمال. ولو كانت الملفات تحتوي أسماء فقط ينخفض الأثر. لذلك نكتب المبرر بجانب الدرجة في السجل، فيراجعه مالك الخطر ويعترض عليه إن رأى غير ذلك.</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الخطر المتأصل والمتبقي. نتبع هنا تعريف الإطار الوطني: المتأصل هو الخطر قبل تنفيذ خطط المعالجة وضوابطها، والمتبقي ما يبقى بعد احتساب خطط المعالجة. بعض المراجع تعرّف المتأصل بأنه قبل أي ضابط على الإطلاق، فاعرف التعريف الذي تتبناه جهتك. خطرنا المتأصل 12، متوسط. بعد خطة التشفير نتوقع 6، منخفض. لكن انظر كيف انخفض: الاحتمال بقي 3، لأن التشفير لا يمنع سرقة الحاسوب. الذي انخفض هو الأثر، من 4 إلى 2، لأن الملفات لن تُقرأ. وهذا الانخفاض ليس تلقائياً؛ له شروط على اليسار: التشفير مفعّل ومتحقق منه على كل الأجهزة لا بعضها، وكلمة المرور قوية، ولا نسخ خارج المجلد المقيد. إن كان التشفير على سبعين بالمئة من الأجهزة فقط، أو سُرق الحاسوب وهو مفتوح، فالأثر لم ينخفض فعلياً. لذلك الخطر المتبقي «متوقع» حتى نتحقق.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خيارات لمعالجة الخطر، وهي نفسها في الإطار الوطني: القبول، والمشاركة، والتخفيف، والتجنب. التخفيف الأكثر استخداماً: ضوابط تقلل الاحتمال أو الأثر. والتجنب إيقاف النشاط نفسه، مثل منع حفظ ملفات الرواتب على الأجهزة. والمشاركة تحميل جزء من الأثر المالي لطرف آخر، بتأمين أو عقد؛ لكن المسؤولية والسمعة لا تنتقلان. والقبول قرار موثق ممن يملك الصلاحية، ويُفضل أن يكون مؤقتاً بموعد مراجعة. والتحذير في الأسفل مهم جداً: إن كانت الجهة ملزمة بنظام أو ضابط، فقبولها الداخلي للخطر لا يلغي الالتزام، ولا يعني أن الجهة التنظيمية أعفتها. القبول يوثق قرار الإدارة الداخلي فقط، والإعفاء التنظيمي إن وُجد له طريق رسمي مختلف عند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شهية المخاطر وحدود التحمل مصطلحان يخلط بينهما كثيرون، فلنبسطهما. الشهية عامة: حجم الخطر الذي تقبله الجهة لتحقق أهدافها، ويقرها المجلس أو صاحب الصلاحية، مثل: لا نقبل مخاطر عالية على بيانات الموظفين والعملاء. وحدود التحمل تحول الشهية إلى أرقام قابلة للقياس لخطر أو مؤشر محدد، مثل: لا يبقى خطر عالٍ بلا خطة أكثر من ثلاثين يوماً، أو توقف الرواتب لا يتجاوز يوم عمل. والجدول في الأسفل قاعدة القبول في رُفاد: من يقرر عند كل مستوى. وهو قريب من تعريف الإطار الوطني لمستوى الخطر المقبول: المستوى الذي يمكن أن يقبله مسؤول مخول. القيم هنا مثال تدريبي؛ كل جهة تحدد قيمها.</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الضابط هو أي إجراء أو آلية تقلل الخطر، ويصنف بطريقتين. الطبيعة: إداري مثل السياسات والتوعية، وتقني مثل التحقق متعدد العوامل والتشفير، ومادي مثل الأقفال والكاميرات. والوظيفة: وقائي يمنع، وكشفي يكتشف، وتصحيحي يعالج بعد الوقوع. في المقابلة اذكر البعدين معاً. والفكرة العملية: لا تعتمد على نوع واحد. جهة عندها وقاية ممتازة بلا كشف لن تعرف متى فشلت الوقاية. ولاحظ أن الإطار الوطني يعرّف الضوابط بأنها إجراءات حماية متوافقة مع ضوابط الهيئة. والضابط التعويضي مهم في الامتثال: بديل يحقق الهدف نفسه حين يتعذر الضابط الأصلي، ويحتاج توثيقاً واعتماداً.</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GRC لا يعمل لأجل الضوابط، بل لأجل أهداف العمل. أهداف رُفاد أربعة: استمرار التوصيل، وحماية بيانات العملاء، وصحة الرواتب، والالتزام بالعقود. وهذا مثال محلول يربط السلسلة كاملة، والأرقام فيه تدريبية. الهدف: استمرار تتبع الشحنات، والوفاء بالتزام عقود المتاجر بإتاحة تسعة وتسعين في المئة شهرياً. الأصل الداعم: خادم تطبيق التتبع الذي يديره سَنَد. الخطر: تأخر ترقيع الثغرات الحرجة في خادم مكشوف على الإنترنت، فقد يُستغل ويتوقف التتبع أو تتسرب بيانات المستلمين؛ وتقييمه أربعة في أربعة، ستة عشر، عالٍ. الضابط: فحص شهري وترقيع الحرج خلال أربعة عشر يوماً، والمهلة بند في عقد سَنَد. المالك: سلمان، وسَنَد ينفذ تحت إشرافه. المؤشر: عدد الثغرات الحرجة المفتوحة أكثر من أربعة عشر يوماً، وكان ثلاثاً في نهاية سبتمبر، والحد صفر. والقرار المطلوب من الإدارة: كلفة ترقيع عاجل، وإضافة المهلة إلى العقد عند التجديد. ولأن الخطر عالٍ، فقاعدة رُفاد تجعل معالجته إلزامية ولا تسمح بقبوله.</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الإدارة تقرر بلغة الأعمال. خمسة أنواع للأثر تكفي غالباً: توقف خدمة، وتأخير عمليات، وتسرب بيانات، وتكلفة، والتزام تعاقدي أو نظامي. وفي الجدول أربعة أمثلة من رُفاد. ثغرة حرجة غير مرقعة تعني أن تتبع الشحنات قد يتوقف لكل المتاجر. حسابان لمغادرين نشطان يعنيان أن شخصين خارج الشركة قد يطلعان على الرواتب. نسخ يومي مع حد فقد مقبول أربع ساعات يعني أننا قد نفقد يوماً من تعديلات الرواتب. وعقد بلا بند إبلاغ يعني أننا قد لا نعلم بالتسرب في الوقت. اكتب الأثر هكذا في الخطر والملاحظة والتقرير.</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الموقف نفسه الذي رأيته في تمرين الوحدة الثانية: موظفان يستطيعان تعديل الحساب البنكي واعتماد المسير معاً. الآن أكمل السلسلة كاملة: هدف العمل، والأصل الداعم، والخطر، والضابط، والمالك، والمؤشر، والقرار المطلوب من الإدارة. ثم صِف الأثر بلغة الأعمال. أوقف الفيديو، وخذ اثنتي عشرة دقيقة.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الهدف صرف رواتب صحيحة إلى الحسابات الصحيحة في موعدها. والأصل نظام الرواتب وبيانات الحسابات البنكية فيه. والخطر بالصيغة الثلاثية: بسبب جمع موظف واحد للتعديل والاعتماد، قد يُحوَّل راتب إلى حساب غير صحيح دون اكتشاف، مما يسبب خسارة وتأخراً ومساءلة. والضابط فصل المهام، وموافقة ثانية، وتقرير شهري يراجعه المدير المالي. والمالكة منى لأنها مالكة النظام. والمؤشر عدد التغييرات بلا موافقة ثانية، وحده صفر. والقرار المطلوب: إعادة توزيع الأدوار، وقبول تأخير بسيط في التعديلات. لاحظ أن القرار له كلفة؛ لهذا يحتاج الإدارة.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سجل المخاطر كما تراه عادة في جدول بيانات، وهو نموذج تعليمي ببيانات رُفاد. كل خطر صف، وكل خاصية عمود. الصف الثاني هو خطرنا ‎R-07‎، خلاصة المثال المحلول، والصفوف بعده فارغة لأخطار أخرى. في جدول البيانات تُختصر النصوص الطويلة داخل الخلية، والخلية المحددة C2 يظهر نصها كاملاً في شريط الصيغة في الأعلى: وصف الخطر بصيغته الثلاثية. ثلاثة عشر عموداً من الرقم إلى المتابعة. لن نقرأها هنا دفعة واحدة؛ في الشرائح الثلاث التالية نكبّر كل مجموعة أعمدة ونشرحها.</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نكبّر أول ثلاثة أعمدة. A الرقم: ‎R-07‎، معرّف ثابت نرجع إليه في التقارير. B الأصل: ما نحميه، الحاسوب وملفات تصدير الرواتب عليه. C وصف الخطر، وقد لوّنا أجزاءه الثلاثة: البرتقالي السبب، أي الثغرة: ملفات محفوظة على قرص غير مشفر. والأزرق الحدث: فقد الجهاز أو سرقته ثم اطلاع غير مصرح به. والأحمر الأثر: ضرر للموظفين، ومخالفة نظام حماية البيانات الشخصية، وضرر في سمعة رُفاد. إن غاب أحد الأجزاء الثلاثة فالوصف ناقص.</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المجموعة الثانية: الضوابط والتقييم. D الضوابط الحالية: ما يوجد فعلاً اليوم، كلمة مرور للجهاز وسياسة الاستخدام المقبول، ولا تشفير. لا نكتب ضوابط نتمناها. E الاحتمال 3: يتنقل الموظف يومياً بالحاسوب، وسُجلت في رُفاد سرقة حاسوب واحدة خلال 3 سنوات: «غير مرجح» قد يقع مرة كل 2 إلى 3 سنوات. F الأثر 4: تسرب بيانات حساسة لكل الموظفين بأثر كبير على الجهة: «عالٍ». G المستوى: ثلاثة في أربعة يساوي اثني عشر، متوسط حسب مصفوفة الإطار الوطني. H مالك الخطر: مديرة الموارد البشرية، لأن البيانات بياناتها، وهي من تقرر المعالجة. وGRC يدير السجل ولا يملك الخطر.</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المجموعة الأخيرة: المعالجة والمتابعة. I المعالجة: تخفيف، بتشفير القرص الكامل لحواسيب الموارد البشرية والمالية، وحفظ ملفات الرواتب في مجلد سحابي مقيد. J وK مالك الإجراء والموعد: مدير تقنية المعلومات خلال ثلاثين يوماً؛ لاحظ أن مالك الإجراء غير مالك الخطر، وهذا طبيعي. L المتبقي المتوقع: ثلاثة في اثنين يساوي ستة، منخفض، وهذا تقدير مشروط: أن يكون التشفير مفعلاً ومتحققاً منه على كل الأجهزة، وألا تبقى نسخ خارج المجلد المقيد. M المتابعة: تتحقق GRC من تقرير التشفير بعد ثلاثين يوماً وتحدّث السجل. بهذا اكتمل الصف.</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الثاني. الخطر هذه المرة عند المورد سَنَد. اقرأ الحقائق جيداً: أداة دعم عن بعد مكشوفة على الإنترنت، وحساب إداري واحد يستخدمه خمسة فنيين، وكلمة مرور لم تتغير منذ 2023 بلا تحقق متعدد العوامل، ووصول مفتوح على مدار الساعة، وسجلات لا يراجعها أحد، وعقد فيه بند سرية فقط. والخادم يحفظ بيانات نحو خمسين ألف مستلم شهرياً. هذه كل البيانات التي تحتاجها. انتقل إلى الشريحة التالية لترى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خمسة أشياء. اكتب الخطر بالصيغة الثلاثية: بسبب، قد، مما يؤدي إلى. اذكر الضوابط الحالية. قدّر الاحتمال والأثر بأوصاف المصفوفة، وبرر كل درجة، ثم احسب المستوى. اقترح معالجة: خياراً من الأربعة، وثلاثة إجراءات على الأقل، لكل إجراء مالك وموعد. ثم قدّر الخطر المتبقي المتوقع، واذكر افتراضاتك. استعن بشريحة المصفوفة وبأوصاف الاحتمال والأثر.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الوصف يربط الثغرة بالحدث والأثر: حساب مشترك على أداة مكشوفة بلا عامل ثانٍ، قد يستخدمه مهاجم بكلمة مرور مسربة أو مخمنة، فتتسرب بيانات المستلمين أو تتعطل الخدمة. الاحتمال 4، محتمل: الاستغلال سهل متى عُرفت كلمة المرور، وهي مشتركة ولم تتغير منذ سنوات. ولم نختر 5 لأن المهاجم يحتاج كلمة المرور أولاً، ولا توجد ثغرة منشورة تتجاوزها. وإن اخترت 5 بمبرر مقنع فإجابتك مقبولة؛ المهم المبرر. الأثر 4، عالٍ: بيانات شخصية لعشرات الآلاف مع احتمال توقف الخدمة. والنتيجة 16، عالٍ؛ وحسب قاعدة رُفاد: معالجة إلزامية وعرض على اللجنة. ملاحظة للمعرفة: لو كانت رُفاد ضمن نطاق الإطار الوطني، لوجب إبلاغ الهيئة فوراً عن المخاطر العالية والحرجة.</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المعالجة: تخفيف بخمسة إجراءات. حسابات فردية لكل فني وإلغاء الحساب المشترك، وتفعيل التحقق متعدد العوامل، وهذا ما يطلبه الضابط ‎2-2-3-2‎ للدخول عن بعد، وإيقاف الوصول الدائم ليصبح عند الطلب بموافقة، ومراجعة أسبوعية للسجلات، وإضافة بنود ضوابط الأطراف الخارجية ‎4-1-2‎ عند تجديد العقد. طلبنا منك ثلاثة إجراءات على الأقل، وأهم ثلاثة هي الأولى: الحسابات الفردية، والتحقق متعدد العوامل، والوصول عند الطلب. ولاحظ أن مالك كل إجراء من الخط الأول، وأن المورد لا يملك الخطر ولا 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والمهم في الخطر المتبقي: بعد هذه الإجراءات يصبح الاحتمال نادراً، 2، لأن كلمة المرور وحدها لم تعد تكفي. لكن الأثر يبقى 4، لأن البيانات نفسها ما زالت على الخادم؛ التحقق متعدد العوامل يقلل الاحتمال ولا يغير الأثر. النتيجة 8، متوسط. إذن الإجراءات لم تُنزل الخطر إلى منخفض، وهذا ليس تلقائياً: يعتمد على تطبيق الإجراءات فعلاً وعلى فاعليتها. والمتوسط في قاعدة رُفاد يحتاج قراراً: قبول موثق من الرئيس التنفيذي، أو إجراء إضافي مثل حصر الوصول بعناوين المورد المعتمدة.</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إجابتك على هذه الأخطاء. الأشهر كتابة الثغرة وحدها خطراً: «لا يوجد تحقق متعدد العوامل». ثم الدرجات بلا تبرير، أو خلط الاحتمال بالأثر. ثم افتراض أن أي ضابط يُنزل الخطر إلى منخفض جداً تلقائياً؛ وقد رأينا أن التحقق متعدد العوامل يقلل الاحتمال ولا يمس الأثر. ثم اختيار «النقل إلى المورد» معالجة، والمسؤولية لا تنتقل. وأخيراً إجراءات بلا مالك أو موعد، أو مالكها GRC. صحح ما يلزم في الكراسة الآن.</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إدارة مخاطر الأطراف الخارجية تربط التقييم بأربعة أشياء: العقد، والوصول، والمتابعة، والإنهاء. وتحت كل مرحلة وضع سَنَد في رُفاد، والدليل الذي يطلبه GRC. والدليل الذي يطلبه GRC في كل مرحلة: تقرير التقييم، ثم العقد وملاحقه، ثم قائمة حسابات المورد وسجلاتها، ثم محاضر المراجعة، ثم محضر الإنهاء وتأكيد الحذف. قبل التعاقد: تقييم المخاطر، ويطلبه ECC ‎4-1-3-1‎ لعقود خدمات التقنية والأمن المُسندة؛ وسَنَد لم يُقيَّم قبل التوقيع، وهذا افتراض تدريبي. العقد: الضابط ‎4-1-2‎ يطلب بنوداً للسرية والحذف الآمن للبيانات عند انتهاء الخدمة، وإجراءات التواصل عند الحوادث، وإلزام الطرف الخارجي بسياسات الجهة؛ وعقد سَنَد فيه بند سرية فقط. الوصول: حسابات فردية بأقل صلاحية وتحقق متعدد العوامل؛ وسَنَد يستخدم حساباً مشتركاً، وستقيّم هذا الخطر في التطبيق الثاني. المتابعة: مراجعة دورية، ويطلب ‎4-1-4‎ مراجعة متطلبات الأطراف الخارجية دورياً. والإنهاء: إلغاء الصلاحيات وإعادة البيانات وحذفها.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استمرارية الأعمال مجال قريب من GRC، وكثير من الوظائف تجمعهما. تحليل أثر الأعمال يجيب لكل خدمة مهمة عن سؤالين. RTO أقصى مدة توقف مقبولة حتى تعود الخدمة. وRPO أقصى كمية بيانات مقبول خسارتها، وتقاس بالوقت إلى الوراء حتى آخر نسخة. في رُفاد قررت الإدارة لنظام الرواتب يوم عمل واحداً للتوقف، وأربع ساعات للبيانات. فإن كانت النسخة الاحتياطية يومية، فقد نخسر حتى أربع وعشرين ساعة، وهذا يتجاوز الحد: فجوة تُكتب ملاحظة. لاحظ أن هذه القيم قرار إدارة بناءً على الأثر، وليست أرقاماً تقنية يختارها فريق النسخ الاحتياطي. والقيم هنا مثال تدريبي.</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مصطلحات تختلط على المبتدئين. تحليل أثر الأعمال BIA يجيب: ما أهم الخدمات، وكم تتحمل الجهة توقفها؟ ومنه يخرج RTO وRPO، ورأيتهما للرواتب في الشريحة السابقة. خطة استمرارية الأعمال BCP: كيف تستمر الخدمة المهمة أثناء التوقف، ومن يقرر. خطة التعافي من الكوارث DRP: كيف تُستعاد الأنظمة والبيانات تقنياً. والاستجابة للحوادث: اكتشاف الحادثة واحتواؤها والتعافي منها والإبلاغ عنها؛ وللجهات المشمولة بـ ECC متطلب إبلاغ الهيئة في ‎2-13-3‎، ويطلب ‎3-1-3‎ خطط استجابة تمس الاستمرارية وخطط تعافٍ من الكوارث. ودور GRC في الأسفل: يتأكد أن الخطط موجودة ومعتمدة ومختبرة، ويربط نتائجها بسجل المخاطر والملاحظات، ولا يقود الاستجابة الفنية.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الخصوصية المجال القريب الثاني. في المملكة نظام حماية البيانات الشخصية، والجهة المختصة الهيئة السعودية للبيانات والذكاء الاصطناعي، سدايا. صدر بالمرسوم الملكي م/19 بتاريخ ‎9/2/1443‎هـ، ودخل حيز النفاذ في 14 سبتمبر 2023، مع مهلة سنة للالتزام انتهت في 14 سبتمبر 2024، بحسب دليل سدايا الرسمي للنظام. النقاط الأربع مبادئ عامة مختصرة. ومدد الإبلاغ والتفاصيل في اللوائح التنفيذية، وقد تتغير، فارجع دائماً إلى النص الرسمي في موقع سدايا. وفي رُفاد النظام ينطبق لأنها تعالج بيانات شخصية في المملكة: بيانات الموظفين، وبيانات المستلمين. ولم نتمكن وقت التحقق من تأكيد ما إذا انتقل الإشراف من سدايا إلى مكتب إدارة البيانات الوطنية، فتحقق من ذلك في الموقع الرسمي.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الثالث عن الامتثال، وهو أكثر ما سيقضي فيه المحلل المبتدئ وقته. سنفرق أولاً بين المتطلب والضابط والدليل ونتيجة التقييم، ثم نحدد النطاق قبل طلب أي دليل، ثم نميز بين وجود سياسة، وضبط إعداد، واستمرار التشغيل. بعدها الأدلة والعينات، ثم تقييم ضابط كامل. وفيه تطبيقان: الثالث تفحص فيه أدلة ضابط وتحدد النتيجة، والرابع تكتب فيه ملاحظة وخطة تصحيح.</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مصطلحات يخلط بينها المبتدئون كثيراً. المتطلب ما يجب تحقيقه، ويأتي من نظام أو ضابط أو عقد أو سياسة داخلية؛ مثاله الضابط ‎2-2-3-5‎: مراجعة دورية للصلاحيات. والضابط هو ما تفعله الجهة لتحقق المتطلب؛ في رُفاد: مراجعة ربع سنوية لنظام الرواتب وفق معيار معتمد. والدليل ما يثبت أن الضابط موجود ويعمل: ملف المراجعة، والاعتماد، وتذاكر الإزالة. ونتيجة التقييم حكمك على مدى تحقق المتطلب، من مقياس محدد. والفكرة المهمة في الأسفل: المتطلب واحد، لكن الجهات قد تحققه بضوابط مختلفة. لذلك لا تسأل «هل عندكم الضابط الفلاني؟» بل «كيف تحققون هذا المتطلب؟ وما الدليل؟».</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أكثر ما يضيع وقت المبتدئ: طلب أدلة قبل الاتفاق على النطاق. خمسة أسئلة تكفي. ما المتطلبات المنطبقة؟ ما الأنظمة ضمن النطاق؟ ما الفترة؟ من مالك كل ضابط؟ وما المستثنى ولماذا؟ في رُفاد: التقييم الداخلي للنصف الأول من 2026، يغطي ضوابط الهويات وضابط المغادرين، لأربعة أنظمة. والخادم التجريبي المعزول بلا بيانات حقيقية مستثنى، ونكتب «لا ينطبق» مع المبرر. والقاعدة في الأسفل: الدليل الذي يقع خارج الفترة أو النطاق لا يُحتسب؛ لقطة إعداد من يوليو لا تثبت ما حدث في مارس. هذا بالضبط ما سنراه في المثال المحلول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ثلاثة مستويات للتحقق، وكل مستوى يحتاج دليلاً مختلفاً، وتحت كل مستوى نموذج صغير لشكل دليله. الأول: هل المتطلب موثق؟ ودليله سياسة أو معيار معتمد، مثل معيار الوصول عن بعد في رُفاد. الثاني: هل هو مطبق فعلاً؟ ودليله تصدير إعداد من النظام بتاريخه، مثل لقطة سياسة التحقق في بوابة VPN. الثالث: هل يعمل باستمرار طوال الفترة ولكل النطاق؟ ودليله سجلات أو ملفات تغطي الفترة كاملة، مثل سجل الاتصالات. أكثر خطأ شائع أن يتوقف المقيّم عند المستوى الأول: وجد السياسة فكتب «مطبق». والخطأ الثاني أن يتوقف عند لقطة إعداد من يوم التقييم. تذكر الجملة في الأسفل، وستحتاجها في التطبيق الثالث. النماذج الصغيرة تعليمية ببيانات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للأدلة أنواع: وثائق معتمدة، وتصدير من النظام، وسجلات وتقارير، ومقابلات وملاحظة مباشرة، وإعادة التنفيذ، أي أن تجرب الضابط بنفسك، مثل محاولة الدخول بكلمة مرور فقط. ولا يوجد ترتيب ثابت يقول إن نوعاً أقوى دائماً من غيره. المقابلة تساعدك على فهم العملية، لكنها وحدها لا تثبت التشغيل. والسجل قد يكون ناقصاً أو معدلاً. لذلك اسأل أربعة أسئلة عن كل دليل: هل هو مرتبط بهدف الفحص؟ هل هو موثوق، وما مصدره: تصدير مباشر من النظام أم ملف عدّله أحد؟ هل هو كافٍ ويغطي الفترة والمجتمع؟ وهل هو مؤرخ داخل الفترة؟ الإجابات تحدد كم تثق به، لا نوعه.</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العينات. المجتمع كل الحالات في الفترة: مثلاً كل الحسابات التي اتصلت بالشبكة عن بعد، وهي 41 في رُفاد. إن استطعت تصدير المجتمع كاملاً وفحصه، فهذا أفضل من أي عينة. وإن كان كبيراً، تختار عينة بطريقة معروفة: عشوائياً، أو بمعيار تبرره. والجهة الأخرى حدود الاستنتاج: نتيجة العينة تخص ما فحصته، والتعميم على الكل يحتاج مبرراً مثل عينة عشوائية كافية الحجم. إن وجدت استثناءين في العينة وكلاهما من حساب واحد، فلا تكتب أن كل الحسابات بلا تحقق. والسبب الجذري لا تستنتجه من بريد أو من انطباعك؛ تحقق منه بدليل، أو اكتبه «سبباً محتملاً بانتظار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عناصر تقييم ضابط كامل، وهي ورقة العمل التي ستعبئها في التطبيق الثالث. المتطلب بنصه ورقمه، ثم تفسيره في الجهة: ماذا يعني عملياً، وما النطاق. ثم المالك، ثم الأدلة التي طلبتها وما وصل منها، ثم طريقة الفحص لكل دليل، ثم النتيجة من مقياس محدد، ثم الملاحظة إن وجدت فجوة، ثم خطة التصحيح. والنتيجة تحتاج مقياساً متفقاً عليه، وهو موضوع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مقياس النتيجة الذي تستخدمه رُفاد داخلياً في الحالة: مطبق، ومطبق جزئياً، وغير مطبق، ولا ينطبق. انتبه لتعريف «مطبق»: موثق، ومطبق، ويعمل باستمرار طوال الفترة. فإن ثبت جزء وغاب جزء، أو عمل الضابط في جزء من الفترة فقط، فالنتيجة «مطبق جزئياً». و«لا ينطبق» تحتاج مبرراً موثقاً، لا مجرد قول إن الضابط لا يعنينا. والمقاييس تختلف بين الجهات والجهات المنظمة، فاستخدم دائماً مقياس الجهة التي تقيمها.</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كامل. نقيّم في رُفاد الضابط ‎2-2-3-2‎: التحقق متعدد العوامل للدخول عن بعد وللحسابات ذات الصلاحيات الهامة. قبل أي دليل حددنا النطاق: دخول الموظفين عبر الشبكة الافتراضية VPN، والفترة من 1 يناير إلى 30 يونيو 2026، والحسابات ذات الصلاحيات الهامة تُقيّم في فحص منفصل. والمالك سلمان، مدير تقنية المعلومات. والشريط في الوسط يلخص ما سنكتشفه في الأدلة: الإلزام بدأ في 10 مارس، ولقطة الإعداد التي وصلتنا مؤرخة في 5 يوليو، بعد نهاية الفترة. لذلك لا تكفي اللقطة وحدها. الآن نرى الأدلة التي وصلت.</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وصلتنا ستة أدلة: المعيار المعتمد في فبراير، ولقطة إعداد من بوابة VPN بتاريخ 5 يوليو، وسجل تغييرات الإعداد، وقائمتان بالمعرّفات: أعضاء مجموعة التحقق والحسابات التي اتصلت، وعينة من 25 اتصالاً، ومستخرج من سجل الاتصالات للحسابات التي تقع خارج المجموعة. في الشرائح التالية نفتح أهمها واحداً واحداً، ونسأل عن كل دليل أربعة أسئلة: ما الذي نراه؟ وماذا يثبت؟ وماذا لا يثبت؟ وما المطلوب إضافةً؟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نبدأ بالدليل الثاني: لقطة إعداد من بوابة الوصول عن بعد. الواجهة هنا نموذج تعليمي عام، لا لقطة من منتج حقيقي. نسأل عنها أربعة أسئلة. ما الذي نراه؟ سياسة اسمها ‎VPN-Users-MFA‎ مفعّلة: كلمة المرور ورمز من تطبيق التحقق، لمجموعة فيها 38 عضواً، والتاريخ 5 يوليو. ماذا يثبت؟ أن الإلزام مضبوط لهذه المجموعة يوم اللقطة. ماذا لا يثبت؟ ثلاثة أشياء: ما كان قبل 5 يوليو، ولا أن كل من يتصل عضو في هذه المجموعة، ولا أنه لا توجد سياسة أخرى تسمح بالدخول دون تحقق. والجهة غالباً ترسل لقطة لما تريد إظهاره، فاسأل عما لم يظهر. ما المطلوب إضافةً؟ سجل التغييرات، وقائمة كل السياسات.</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الثالث: سجل تغييرات الإعداد. نقرأ السطور بترتيبها الزمني. سطر 18 فبراير تجديد شهادة، لا علاقة له بالضابط، وهذا طبيعي في أي سجل. ثم 10 مارس الساعة ‎9:42‎: فُعّل الإلزام لمجموعة ‎VPN-Users‎. وبعده بدقائق، في ‎10:05‎ و‎10:07‎، أُنشئت سياسة اسمها ‎VPN-Legacy‎ بكلمة المرور فقط، وأُضيفت إليها ثلاثة حسابات، والتعليق «مؤقت». ماذا يثبت؟ تاريخ التفعيل، ووجود استثناء لثلاثة حسابات منذ اليوم نفسه. ماذا لا يثبت؟ أن هذه الحسابات اتصلت فعلاً، ولا أن أحداً وافق على الاستثناء. لذلك نحتاج سجل الاتصالات، وأي وثيقة موافقة.</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الرابع: قائمتان بالمعرّفات، وقد طابقناهما في جدول. هذا الجدول نموذج تعليمي. لماذا المطابقة؟ لأن فرق العدد وحده لا يكفي: 41 حساباً اتصلت و38 في المجموعة لا يعني أن ثلاثة اتصلت من خارجها. قد يكون بعض الأعضاء لم يتصلوا أصلاً، وبعض المتصلين من خارج المجموعة. لذلك طابقنا كل معرّف اتصل بقائمة الأعضاء: 38 مطابقة، وثلاثة خارج المجموعة بالاسم: test و‎ext-consult01‎ و‎it-support02‎. ماذا لا يثبت؟ طريقة التحقق في اتصالاتهم. فنحتاج سجل اتصالاتها.</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السادس: مستخرج من سجل الاتصالات لكل اتصالات الحسابات الثلاثة بعد 10 مارس، وفيه سطر لعضو في المجموعة للمقارنة. السطور الملونة اتصالات بكلمة المرور فقط. المجموع 29 اتصالاً: تسعة لحساب test، وستة لـ ‎ext-consult01‎ آخرها 27 أبريل، وأربعة عشر لـ ‎it-support02‎، وكلها دون عامل ثانٍ. ولاحظ السطر الرمادي: العينة التي سحبناها، 25 اتصالاً، لم تُظهر إلا حساب test. لو اكتفينا بها لفاتنا حسابان. ماذا لا يثبت السجل؟ سبب الاستثناء ومن وافق عليه. نسأل عنه فريق تقنية المعلومات، وهذا ما سنحتاجه حين نكتب سبب الملاحظة في التطبيق الرابع.</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نجمع الأدلة في أربعة أسئلة فحص. هل المتطلب موثق؟ نعم، المعيار يغطيه. هل الإعداد مطبق، ومنذ متى؟ نعم لمجموعة ‎VPN-Users‎ منذ 10 مارس بحسب سجل التغييرات؛ ولقطة 5 يوليو بعد نهاية الفترة، فلا تثبت وحدها ما حدث قبلها. هل يشمل كل من يتصل؟ لا: مطابقة المعرّفات حددت ثلاثة حسابات متصلة خارج المجموعة، وسجلها بكلمة المرور فقط. هل يعمل طوال الفترة؟ لا: لم يكن مفروضاً قبل 10 مارس. النتيجة: مطبق جزئياً. وانتبه للملاحظة عن العينة: العينة كشفت حساباً واحداً فقط، والذي حدد الحسابات الثلاثة بدقة هو مطابقة المعرّفات مع سجل الاتصالات، لا فرق العدد بين 41 و38.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الضابط هذه المرة ‎2-2-3-5‎: المراجعة الدورية للصلاحيات، في نظام الرواتب، للفترة نفسها. وهو الضابط الذي كتبنا بنده في التطبيق الأول؛ والآن نفحص هل التزمت به رُفاد فعلاً. المعيار المعتمد يطلب مراجعة كل ثلاثة أشهر، واعتماداً خلال عشرة أيام عمل، وإزالة خلال خمسة.</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وصلتك ستة أدلة: المعيار، وملف مراجعة الربع الأول، وتذاكر الإزالة، وبريد عن تأجيل الربع الثاني، وتصدير الحسابات النشطة في 2 يوليو، ومقابلة مع مالكة النظام. اقرأها بدقة، واحسب المدد بنفسك: متى صُدّرت القائمة؟ متى اعتُمدت؟ متى أزيلت الحسابات؟ ثم انتقل إلى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الدليل الثاني في حالتك، مقتطف من ملف مراجعة الربع الأول، وهو نموذج تعليمي. اقرأ الأعمدة: المعرّف، والاسم، والدور، والقسم، وقرار المدير لكل حساب، وملاحظته. وتحت الجدول بيانات الملف: تاريخ التصدير، وعدد الحسابات، وعدد ما قُرر إزالته، ومن اعتمد ومتى. احسب المدة بين التصدير والاعتماد بأيام العمل، ثم اكتب في الكراسة: ماذا يثبت هذا الدليل؟ وماذا لا يثبت؟ وما الذي ستطلبه بعده؟</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الثالث: تذكرة إزالة واحدة من التذاكر الاثنتي عشرة، وهي نموذج تعليمي. لاحظ الطلب ومصدره، وتاريخ الفتح وتاريخ الإغلاق، وملاحظة الإغلاق. احسب المدة بين الاعتماد والإغلاق، وقارنها بمهلة المعيار. ثم اكتب: ماذا تثبت التذكرة؟ وماذا لا تثبت؟ وماذا تحتاج لتفهم ما حدث؟</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الخامس: تصدير الحسابات النشطة في 2 يوليو، مقتطف خمسة صفوف من 221، ومعه قائمة المغادرين في مايو من الموارد البشرية. وكلاهما نموذج تعليمي. طابق الأسماء بين الجدولين. من غادر وما زال حسابه نشطاً؟ ومتى كان آخر دخول له؟ ثم اكتب في الكراسة ماذا يثبت هذا الدليل وماذا لا يثبت.</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لكل دليل من الستة، حدد ماذا يثبت: التوثيق، أم التطبيق، أم الاستمرار خلال الفترة؟ وبعضها قد لا يثبت شيئاً وحده. ثم حدد النتيجة من مقياس رُفاد الرباعي، وبرر اختيارك في ثلاث جمل. ثم اكتب ما الأدلة الإضافية التي ستطلبها قبل إغلاق التقييم. أوقف الفيديو الآن، وخذ عشرين دقيقة. وتذكر الدرس من المثال: المعيار وحده لا يكفي، وانتبه للفترة.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لكل دليل. الأول يثبت التوثيق. والثاني يثبت التطبيق في الربع الأول: المراجعة نُفذت واعتُمدت في موعدها. والثالث يتعلق بالاستمرار: ثلاث إزالات تأخرت عن مهلة خمسة أيام عمل. والرابع يثبت أن الربع الثاني لم يُنفذ، أما السبب المذكور في البريد فادعاء لم نتحقق منه بعد. والخامس نتيجة فعلية مهمة: صلاحيات غير مبررة بقيت نشطة، منها حسابان لمغادرين. والسادس، المقابلة، لا يثبت شيئاً وحده، لكنه يكشف أن مالكة النظام لا تعرف المعيار جيداً، وهذه معلومة مفيدة للسبب.</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نعود إلى أدلتك بالأسئلة الأربعة، ونبدأ بملف المراجعة. ما الذي نراه؟ قرار المدير لكل حساب، و214 حساباً، و12 للإزالة، واعتماد مالكة النظام في 8 أبريل. ماذا يثبت؟ أن المراجعة نُفذت واعتُمدت في موعدها: التصدير 29 مارس والاعتماد 8 أبريل، أي ثمانية أيام عمل، والمهلة عشرة. ماذا لا يثبت؟ أن الإزالات نُفذت؛ قرار الإزالة ليس إزالة. فنحتاج تذاكر الإزالة.</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التذكرة. ما الذي نراه؟ طلب إزالة صلاحية «تعديل الرواتب» من hr.s.dosari، فُتح في 8 أبريل وأُغلق في 20 مايو. ماذا يثبت؟ أن الإزالة نُفذت، لكن بعد نحو ستة أسابيع من الاعتماد، والمهلة خمسة أيام عمل تنتهي في 15 أبريل. ماذا لا يثبت؟ سبب التأخير؛ ملاحظة الإغلاق لا تذكره، فلا نخترعه. المطلوب: سبب تأخر الإزالات الثلاث، من تذاكرها أو من فريق تقنية المعلومات.</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والتصدير مع قائمة المغادرين. ما الذي نراه؟ ياسر القحطاني ولمى الشمري غادرا في مايو، وحساباهما ما زالا نشطين في 2 يوليو. أما عبدالله الزهراني فلا يظهر في المقتطف، والمقتطف خمسة صفوف من 221، فغيابه لا يعني أن حسابه أُلغي. ماذا يثبت؟ بقاء صلاحيات غير مبررة لحسابين بعد المغادرة. ماذا لا يثبت؟ أن الحسابين استُخدما بعد المغادرة؛ آخر دخول لكل منهما قبل مغادرته، لكن آخر دخول لا يغني عن مراجعة سجل النشاط. ولا يثبت حالة بقية المغادرين. والمطلوب: مطابقة كل المغادرين بالتصدير الكامل، كما طابقنا المعرّفات في المثال، ومراجعة نشاط الحسابين، وإبلاغ مالك ضابط إلغاء صلاحيات المغادرين، لأن هذه الحالة تخصه أيضاً.</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النتيجة: مطبق جزئياً. المتطلب موثق، وطُبق في الربع الأول، لكنه لم يعمل باستمرار: الربع الثاني لم يُنفذ، وثلاث إزالات تأخرت، وبقيت صلاحيات غير مبررة. لماذا ليس «مطبقاً»؟ لأن ذلك يتجاهل نصف الفترة. ولماذا ليس «غير مطبق»؟ لأن الربع الأول نُفذ فعلاً. وقبل إغلاق التقييم نطلب أربعة أدلة إضافية: سجل تغيير الترحيل لنتأكد من تاريخه وهل منع المراجعة فعلاً، وهل اعتُمد استثناء بالتأجيل، وهل نُفذت المراجعة لاحقاً في يوليو، وسبب تأخر الإزالات الثلاث. إن اختلفت نتيجتك، فالمهم مبررك: هل استند إلى الأدلة والفترة؟</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في هذا التطبيق. «مطبق» لأن المعيار موجود: الوثيقة لا تثبت التشغيل. «غير مطبق» مع تجاهل الربع الأول. الاعتماد على المقابلة وحدها. التعميم: كتابة أن كل الإزالات متأخرة، وهي ثلاث من اثنتي عشرة. واعتبار سبب البريد مؤكداً دون تحقق. وعلى اليمين القاعدة التي تمنع كل خطأ. صحح إجابتك في الكراسة، لأنها مدخل التطبيق الرابع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رأيت في التطبيق الثالث ضابطاً مطبقاً جزئياً. الآن نسأل سؤالاً أدق: أين الفجوة بالضبط؟ ثلاثة أسئلة بالترتيب. ملاءمة التصميم: هل الضابط، كما صُمّم، يغطي الخطر والنطاق المطلوبين؟ ودليله نص الإجراء ونطاقه. التنفيذ: هل طبقته الجهة فعلاً؟ ودليله أول تشغيل بتاريخ. وفاعلية التشغيل: هل عمل وفق تصميمه وبالتكرار المطلوب طوال الفترة؟ ودليله أدلة تغطي الفترة كلها. ولماذا الترتيب؟ لأنه لا معنى لاختبار تشغيل ضابط سيئ التصميم أو لم يبدأ. ونوع الفجوة يحدد العلاج: فجوة التصميم تُعالج بتعديل الإجراء، وفجوة التنفيذ ببدء التطبيق، وفجوة التشغيل بمتابعة واستمرار.</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مراجعة الصلاحيات في ثلاثة أنظمة من رُفاد، ولكل نظام فجوة مختلفة، والوثائق والأرقام تدريبية. البريد والملفات: الإجراء يطلب من مدير كل إدارة مراجعة حسابات موظفيه، لكن تصدير الحسابات يبين أربعة حسابات إدارية لا تتبع أي إدارة، فلا أحد يراجعها. هذه فجوة تصميم؛ ولو نُفذ الإجراء بإتقان لبقيت أخطر الحسابات خارج المراجعة. تطبيق التتبع: المعيار في إصداره المعدل في مارس يضيف التطبيق ويطلب أول مراجعة قبل نهاية أبريل، لكن لا ملف ولا تصدير، والبريد يقول إنهم لم يحددوا بعد من يصدّر القائمة. فجوة تنفيذ: الضابط مصمم وموثق ولم يبدأ.</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الحالة الثالثة: نظام الرواتب، والضابط الذي فحصته في التطبيق الثالث؛ طُبق في الربع الأول ولم يعمل في الثاني. فجوة تشغيل. وفي الجدول لماذا يهمك نوع الفجوة: العلاج يختلف. فجوة التصميم تُعالج بتعديل الإجراء، وفجوة التنفيذ ببدء التطبيق بمالك وموعد، وفجوة التشغيل باستعادة الدورة المفقودة ومتابعة تمنع التكرار. لاحظ أن كل استنتاج بُني على دليل محدد، لا على انطباع.</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ثلاثة مواقف من رُفاد. لكل موقف حدد نوع الفجوة، واذكر السبب، والدليل الذي يؤكد استنتاجك. اكتب في الكراسة.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الأول فجوة تصميم: المعيار كما كُتب يسمح باستثناء بلا موافقة ولا مدة، وهذا تحديداً ما سمح بسياسة ‎VPN-Legacy‎ في التطبيق الثالث؛ والدليل نص المعيار وقائمة الاستثناءات. الثاني فجوة تنفيذ: المتطلب مكتوب ومعتمد في السياسة، لكنه لم يُطبق على عقد سَنَد. الثالث فجوة تشغيل: الضابط مصمم ومطبق، لكنه توقف تسعة أيام دون متابعة. والخطأ الشائع أن نسمي كل فجوة فجوة تشغيل؛ ابدأ دائماً بالتصميم.</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نموذج الملاحظة الذي ستكتبه، وفي كل خانة ما يُكتب فيها. خمسة عناصر بعد العنوان. الوضع القائم: ما وجدته فعلاً، بأرقام وتواريخ. والمعيار: المتطلب أو البند الذي تقيس عليه. والسبب: لماذا حدث، بعد التحقق؛ وإن لم تتحقق بعد فاكتب «سبب محتمل». والأثر: ماذا يعني للجهة بلغة يفهمها مدير غير تقني. والتوصية: ما يعالج السبب، لا العرض فقط. وعلى اليسار ثلاث قواعد: اكتب الحقائق لا الأحكام، والسبب بعد التحقق، وصف العملية التي فشلت ولا تلُم أشخاصاً بالاسم. النموذج تعليمي.</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التصحيح تُتابع عادة في متتبع مثل هذا، وهو نموذج تعليمي. لكل إجراء صف: الإجراء محدد بما سيُنفذ، والمالك شخص واحد بالوظيفة لا «تقنية المعلومات» عامة، والموعد تاريخ لا كلمة «قريباً»، والحالة، ودليل الإغلاق: ما ستطلبه لتتأكد. والإجراءات مجموعة تحت شريطين ملونين: معالجة الحالة، وتزيل الخطر الآن، ومنع التكرار، ويعالج السبب. الخطة الجيدة فيها النوعان. والملاحظة لا تُغلق بوعد؛ تُغلق بدليل وبعد إعادة الاختبار. وأخيراً، قد تقرر الإدارة قبول الخطر بدل التصحيح، وهذا حقها إن وثقه صاحب الصلاحية، لكنه قرار داخلي لا يلغي التزاماً نظامياً ولا يعني إعفاءً من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للتطبيق الرابع، مبني على نتيجة المثال في التطبيق الثالث، مكتوباً في نموذج الملاحظة. العنوان يصف الفجوة في سطر. الوضع القائم بأرقام وتواريخ: الإلزام لم يكن مفروضاً حتى 10 مارس، وبعدها اتصلت ثلاثة حسابات من خارج مجموعة التحقق بكلمة المرور فقط، حددتها مطابقة المعرّفات وسجل الاتصالات، منها حساب لمستشار انتهى عقده. المعيار: الضابط ومعيار رُفاد. والسبب بعد التحقق: أُضيفت الحسابات الثلاثة إلى سياسة استثناء مؤقتة دون إجراء موافقة أو مراجعة، وتحققنا من ذلك بسجل التغييرات ومقابلة الفريق. والأثر والتوصية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نكمل الملاحظة نفسها. والأثر بلغة العمل: من يعرف كلمة مرور أحدها يدخل الشبكة دون عامل ثانٍ، ومنها حساب شخص لم يعد يعمل مع رُفاد. والتوصية تعالج السبب لا العرض: إزالة الاستثناءات، وإجراء معتمد للاستثناءات، ومطابقة دورية. وتفاصيلها في خطة التصحيح.</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للملاحظة نفسها. الإجراء الأول فوري: تعطيل حساب المستشار السابق خلال يوم عمل. والثاني: ضم الحسابين المتبقيين إلى مجموعة التحقق أو تعطيلهما. والثالث يعالج السبب: إجراء استثناءات معتمد بموافقة ومدة ومراجعة، ومالكته ريم لأنه وثيقة حوكمة. والرابع ضابط كشفي يمنع التكرار: مطابقة شهرية. ولاحظ الشريطين الملونين: الإجراءان تحت «معالجة الحالة» يزيلان الخطر الآن، والإجراءان تحت «منع التكرار» يعالجان السبب. والحالة «مفتوح» لكل الإجراءات يوم إصدار الملاحظة. وعمود دليل الإغلاق: لكل إجراء ما سنطلبه لنتأكد، مثل تصدير المجموعة وسجل VPN لأسبوع.</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الرابع. ستبني على نتيجتك في التطبيق الثالث: مراجعة صلاحيات نظام الرواتب «مطبق جزئياً». الربع الأول نُفذ في موعده، والربع الثاني لم يُنفذ، وثلاث إزالات من اثنتي عشرة تأخرت، وحسابان لمغادرين بقيا نشطين. المطلوب: ملاحظة بعناصرها الخمسة. وللسبب، افترض أنك تحققت من سجل الترحيل ووجدت أنه لم يُعتمد أي استثناء بتأجيل المراجعة. ثم خطة تصحيح من أربعة إجراءات، لكل إجراء مالك وموعد ودليل إغلاق. انتقل إلى الشريحة التالية لترى النموذج.</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نموذج الملاحظة، وفي الكراسة جدول خطة التصحيح. ابدأ بالعنوان في سطر، ثم الوضع القائم بالأرقام والتواريخ من الأدلة، ثم المعيار، ثم السبب الذي تحققت منه، ثم الأثر بلغة العمل، ثم التوصية التي تعالج السبب.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للملاحظة. الوضع القائم بالأرقام: الربع الأول نُفذ في موعده، لكن ثلاث إزالات من اثنتي عشرة تأخرت ستة أسابيع، والربع الثاني لم يُنفذ، وفي 2 يوليو كان حسابان لمغادرين نشطين. المعيار: الضابط ومعيار رُفاد. السبب بعد التحقق: التأجيل بسبب الترحيل دون استثناء معتمد أو موعد بديل، ولا متابعة لتذاكر الإزالة. والأثر والتوصية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نكمل الملاحظة. والأثر: صلاحيات غير مبررة على رواتب الموظفين وحساباتهم البنكية. والتوصية تعالج السبب: جدول ببديل معتمد، ومتابعة للتذاكر، مع إجراء فوري لحسابي المغادرين. قارن عناصرك بهذه، وتأكد أنك لم تلم شخصاً بالاسم.</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النموذجية. الأول فوري: تعطيل حسابي المغادرين خلال يومي عمل، ومراجعة نشاطهما بعد المغادرة، لأننا يجب أن نعرف هل استُخدما. والثاني: تنفيذ مراجعة الربع الثاني واعتمادها، ومالكتها منى لأنها مالكة النظام. والثالث يعالج السبب: جدول سنوي بتذكير آلي، وبديل معتمد عند التعارض مع المشاريع. والرابع: متابعة أسبوعية لتذاكر الإزالة. ثم تعيد ريم الاختبار بعد مراجعة الربع الثالث، ولا تُغلق الملاحظة إلا بأدلة الإغلاق.</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أخطاء شائعة في كتابة الملاحظات: لوم شخص بالاسم، ومالك عام مثل «تقنية المعلومات» أو «الجميع»، وإجراء بلا موعد أو دليل إغلاق، والاكتفاء بتوصية «تدريب الموظفين» وكأنها تعالج كل شيء، وإغلاق الملاحظة بوعد. وعلى اليمين ما يجعل الإجابة قوية. بهذا تكون أنهيت التطبيقات الأربعة. احتفظ بإجاباتك المصححة، فهي نواة ملف أعمالك في الوحدة السادسة.</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أنواع من المؤشرات، والفرق بينها في الغرض. KGI يقيس تحقق هدف العمل، مثل إتاحة تطبيق التتبع مقابل التزام تسعة وتسعين في المئة. KPI يقيس أداء عملية، مثل سرعة إغلاق تذاكر إزالة الصلاحيات. KRI يقيس التعرض للخطر، مثل الثغرات الحرجة المفتوحة طويلاً. وKCI يقيس هل يعمل الضابط، مثل نسبة المراجعات المعتمدة في موعدها. ولا تعامل هذه الحدود كأنها ثابتة؛ الجهات تستخدمها بطرق مختلفة، والمؤشر نفسه قد يُصنف بأكثر من طريقة. المهم أن يكون تعريفه مكتوباً: ماذا يقيس، ولماذا. والأمثلة والأرقام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المؤشر بلا تعريف رقم بلا معنى. لكل مؤشر ستة أسئلة: ماذا يقيس، وكيف يُحسب، ومن أي مصدر، ومن مالكه، وكل كم يُقاس، وما الرقم الذي يستدعي إجراءً. خذ مؤشر الخطر في العمود الثالث: عدد الثغرات الحرجة المفتوحة أكثر من أربعة عشر يوماً، من تقرير فحص الثغرات، ومالكه سلمان وسَنَد ينفذ، شهرياً؛ وأي رقم أكبر من صفر يستدعي إجراءً، ويُصعَّد للجنة إن تجاوز عمر الثغرة ثلاثين يوماً. ولاحظ مؤشر الضابط في العمود الأخير: تجمعه ريم، لكن مالكة المراجعة منى. القيم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هكذا يصل كل ما سبق إلى الإدارة: تقرير من صفحة واحدة للجنة كل ربع سنة. نعرضه على شريحتين ليُقرأ. والبيانات تدريبية حتى 30 سبتمبر 2026. القسم الأول أهم المخاطر: ثلاثة فقط، بمستواها وحالتها ومالكها؛ خطران عاليان على خادم التتبع، وخطر عولج فانخفض. والقسم الثاني المؤشرات الأربعة التي عرّفناها، بقيمتها ومرجعها وحالتها؛ واحد فقط يتجاوز الحد: الثغرات الحرجة. اللجنة لا تحتاج تفاصيل كل ثغرة، بل ما يتجاوز الحد ولماذا يهمها.</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من التقرير. الملاحظات: ‎F-03‎ عن الدخول عن بعد تسير في موعدها، و‎F-04‎ عن مراجعة صلاحيات الرواتب فيها إجراء متأخر عشرين يوماً: جدول المراجعات السنوي. ثم حالة إجراءات التصحيح بثلاثة أرقام: خمسة منجزة، واثنان جاريان في موعدهما، وواحد متأخر. وأهم قسم في التقرير الأخير: القرارات المطلوبة. تقرير بلا قرار مطلوب معلومة فقط. هنا قراران: اعتماد كلفة ترقيع عاجل، وتكليف المدير المالي بإضافة مهلة الترقيع وبند الإبلاغ إلى عقد سَنَد عند تجديده. وكل رقم في التقرير له مصدر تستطيع أن تريه للجنة إن سألت.</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أربعة مؤشرات من رُفاد: صنف كل واحد واكتب غرضه في جملة. ثم خذ المؤشر الثاني، الحسابات النشطة لمغادرين، واكتب تعريفه بالأسئلة الستة: ماذا يقيس، وكيف يُحسب، والمصدر، والمالك، والدورية، وما يستدعي إجراءً. النموذج في الكراسة. أوقف الفيديو، وخذ اثنتي عشرة دقيقة.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الأول KGI لأنه يقيس هدف عمل: التوصيل في الموعد. الثاني KRI: كل حساب نشط لمغادر باب مفتوح لشخص خارج الشركة. الثالث KCI: هل يعمل ضابط التحقق متعدد العوامل على كل الاتصالات، وهذا تحديداً ما فحصته في التطبيق الثالث. والرابع يعتمد على الغرض: لمتابعة عملية التهيئة فهو KPI، ولإثبات أن ضابط التوعية يعمل فهو KCI. وتعريف المؤشر الثاني في الأسفل: مصدره قائمة المغادرين وتصدير الحسابات، ومالكته منى، شهرياً، وأي رقم فوق الصفر يعني تعطيلاً خلال يوم عمل.</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أين يعيش كل هذا؟ في الجهات الصغيرة غالباً في جدول بيانات، وفي الكبيرة في منصة GRC. والفكرة واحدة: معرّف لكل شيء، وأعمدة تربط بينها. هذا نموذج تعليمي لورقة الربط في سجل رُفاد. الصف الأول: المتطلب ECC ‎2-2-3-5‎، والضابط الداخلي الذي يحققه ‎CTL-AC-03‎، وأدلته، والخطر الذي يعالجه، والملاحظة ‎F-04‎ التي كتبتها في التطبيق الرابع، وإجراءات تصحيحها. فإذا سألتك اللجنة عن ‎F-04‎ وصلت في ثوانٍ إلى المتطلب والدليل والخطر. والصف الأخير بلا ملاحظة بعد، لكنه مرتبط بخطر وخطة معالجة. والمعرّفات افتراضية. لا تحتاج منصة لتبدأ؛ تحتاج الانضباط في الربط.</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نغادر الوحدة الثالثة، انظر إلى الصورة كاملة في رُفاد. قرار من الإدارة بالتحقق متعدد العوامل، ثم سياسة تحدد كيف تلتزم الجهة، ثم خطر قيّمناه عند المورد، ثم ضابط يطبق السياسة، ثم أدلة تثبت تشغيله، ثم ملاحظة حين وجدنا فجوة، ثم خطة تصحيح. كل حلقة تعتمد على التي قبلها: لا تقييم بلا ضابط محدد، ولا ضابط مفهوم بلا سياسة، ولا أولوية بلا تقييم مخاطر. وتحت كل حلقة رقم الشريحة التي شرحناها فيها، إن أردت المراجعة. هذه الصورة نفسها ستشرحها في المقابلة حين يُسأل: ماذا يفعل محلل GRC؟</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03: المفاهيم وتطبيقاتها. قبل أن تكمل، اختبر فهمك بـ 5 أسئلة قصيرة في كراسة التمارين. أوقف الفيديو الآن، وخذ نحو 10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الأطر كثيرة، ومن يحاول حفظها كلها يتوه. هدف هذه الوحدة أن تعرف ماذا يفعل كل إطار، ولمن هو، والأهم: كيف تحدد ما ينطبق على جهة معينة. سنبدأ بالفرق بين أنواع المراجع، ثم بعمق كل مرجع في هذا الكورس، ثم ISO 27001 وNIST CSF، ثم الأطر السعودية، ثم تمرين على الانطباق بثلاث جهات افتراضية، ثم المواءمة: كيف تربط ضابطاً واحداً بأكثر من مرجع دون أن تفترض أن التشابه يعني الالتزام.</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الأطر، صنف المراجع. النظام أو التشريع ملزم بقوة القانون لمن يقع في نطاقه، مثل نظام حماية البيانات الشخصية. والضوابط التنظيمية ملزمة للجهات التي يحددها نطاقها، مثل الضوابط الأساسية للأمن السيبراني للجهات المشمولة. والإطار يرشد ويرتب العمل، وغالباً طوعي، مثل NIST CSF. والمعيار القابل للشهادة طوعي، وتمنح عليه جهة مانحة شهادة، مثل ISO 27001. والالتزام التعاقدي ملزم بالعقد لا بالقانون، مثل PCI DSS الذي تفرضه شبكات البطاقات عبر العقود. والسؤال الذي تبدأ به دائماً: هل هذا المرجع ملزم لهذه الجهة تحديداً، أم اختارته طوعاً؟ تذكر رُفاد: ECC غير ملزم لها، وتبنته طوعاً.</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ليست كل المراجع بالعمق نفسه في هذا الكورس. أربعة مراجع رئيسية ستفهم بنيتها وتطبق منها: الضوابط الأساسية، والإطار الوطني لإدارة المخاطر، وISO 27001، وNIST CSF. وأربعة مراجع ترتبط بالقطاع ونوع البيانات، تكفيك فيها مقدمة: لمن تنطبق، ولماذا. وخمسة مراجع للتعريف والمقارنة فقط: تعرف نوعها وموقعها إذا سمعتها في مقابلة أو إعلان. وفي الأسفل مراجع أخرى ستقابلها. ولا يطلب منك أحد أن تحفظ قوائم الضوابط؛ المطلوب أن تعرف عن كل مرجع: ما نوعه، وما غرضه، وعلى من ينطبق، ولماذا قد تستخدمه الجهة.</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مراجع ترتبط بالقطاع ونوع البيانات، والسؤال فيها دائماً: هل نحن في نطاقها؟ إطار ساما للأمن السيبراني، الإصدار الأول لعام 2017، ينطبق على الجهات الخاضعة لإشراف البنك المركزي السعودي، ومنها البنوك وشركات التأمين والتمويل ومكاتب الائتمان. ونظام حماية البيانات الشخصية قانون، ينطبق على معالجة البيانات الشخصية المتعلقة بأفراد في المملكة، حتى لو كانت المعالجة من خارجها؛ ولذلك ينطبق على رُفاد. وPCI DSS معيار من مجلس معايير أمن بطاقات الدفع، لمن يخزن بيانات البطاقات أو يعالجها أو ينقلها، وتفرضه شبكات البطاقات والبنوك بالعقود، لا القانون. وGDPR لائحة الاتحاد الأوروبي، وتنطبق المادة الثالثة منها أيضاً على جهات خارج الاتحاد تعرض سلعاً أو خدمات لأفراد فيه أو تراقب سلوكهم. المصادر: ‎rulebook.sama.gov.sa/en/cyber-security-framework-2‎ ، وdgp.sdaia.gov.sa ، و‎https://www.pcisecuritystandards.org/standards/pci-dss‎/ ، و‎EUR-Lex‎: ‎https://eur-lex.europa.eu/eli/reg/2016/679/oj‎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مراجع للتعريف فقط. COBIT 2019 من ISACA لحوكمة التقنية وإدارتها. وضوابط CIS، الإصدار 8.1، ثمانية عشر ضابطاً و153 إجراءً، مقسمة إلى ثلاث مجموعات تنفيذ؛ والأولى تسميها CIS النظافة السيبرانية الأساسية، وهي بداية عملية لأي جهة. وNIST RMF عملية من سبع خطوات لإدارة مخاطر نظام واحد عبر دورة حياته، مصممة للأنظمة الفيدرالية الأمريكية. وHIPAA قانون أمريكي لحماية المعلومات الصحية، ويشمل خطط التأمين الصحي ومقدمي الرعاية المشمولين وشركاءهم الذين يعالجون هذه المعلومات. وSOX قانون أمريكي من 2002 لموثوقية التقارير المالية للشركات المدرجة، والقسم 404 فيه يطلب تقييم الرقابة الداخلية على التقارير المالية؛ وهنا يلتقي بضوابط التقنية. لا تتعمق فيها الآن؛ هذه مجالات للتوسع لاحقاً. المصادر: ‎https://www.cisecurity.org/controls/implementation-groups‎ ، و‎https://csrc.nist.gov/projects/risk-management/about-rmf‎ ، و‎https://www.hhs.gov/hipaa/for-professionals/security/laws-regulations/index.html‎ ، و‎https://www.sec.gov/rules-regulations/2003/03/managements-report-internal-control-over-financial-reporting-certification-disclosure-exchange-act‎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‎ISO/IEC‎ 27001 أشهر معيار لأمن المعلومات، وهو قابل للشهادة. البنود من 4 إلى 10 هي متطلبات نظام الإدارة نفسه، وكلها إلزامية لمن يريد الشهادة: وقد رتبناها على دورة خطّط ونفّذ وتحقّق وحسّن: في التخطيط أربعة بنود، السياق والنطاق، والتزام القيادة والسياسة، وتقييم المخاطر وخطة معالجتها، والموارد؛ وفي التنفيذ التشغيل ومعالجة المخاطر؛ وفي التحقق القياس والتدقيق الداخلي ومراجعة الإدارة؛ وفي التحسين معالجة عدم المطابقة والتحسين المستمر. ومسار الشهادة: تدقيق مرحلة أولى للوثائق، ثم مرحلة ثانية للتطبيق، ثم شهادة لثلاث سنوات مع تدقيق متابعة سنوي. الإصدار الحالي 2022، ومعه تعديل صغير في 2024 يخص تغير المناخ، وانتهت الفترة الانتقالية من إصدار 2013 في 31 أكتوبر 2025. ونسخة المعيار مدفوعة من موقع ISO.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الملحق A في إصدار 2022 يضم 93 ضابطاً في أربعة محاور: 37 تنظيمية، و8 بشرية، و14 مادية، و34 تقنية. والأهم من الأرقام: الجهة لا تطبق كل الضوابط تلقائياً. تختار ما يعالج مخاطرها من تقييم المخاطر، وتوثق في بيان قابلية التطبيق ما طبقته وما استبعدته ومبرر كل قرار. هذه الوثيقة يُسأل عنها كثيراً في المقابلات. والمعيار المرافق ‎ISO/IEC‎ 27002 يشرح كل ضابط بالتفصيل، وهو مفيد للمذاكرة.</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إطار الأمن السيبراني من المعهد الوطني الأمريكي للمعايير والتقنية، NIST، طوعي ويستخدم عالمياً لغة مشتركة. صدر الإصدار 2.0 في 26 فبراير 2024، وأهم تغيير فيه إضافة وظيفة سادسة هي الحوكمة، وتوضع في المركز لأنها توجه الوظائف الخمس الأخرى: التحديد، والحماية، والاكتشاف، والاستجابة، والتعافي. والإطار وكل وثائقه مجانية على ‎nist.gov/cyberframework‎، ولهذا نقترحه أول إطار تقرؤه كاملاً.</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المستويات، أو Tiers، يُساء فهمها كثيراً. بحسب دليل NIST الخاص بها، SP 1302 الصادر في أكتوبر 2024، تصف المستويات مدى صرامة ممارسات الجهة في حوكمة مخاطر الأمن السيبراني وإدارتها، وتتدرج من استجابات غير رسمية إلى نهج متكيف يتحسن باستمرار: جزئي، ومطلع على المخاطر، وقابل للتكرار، ومتكيف. وتختارها قيادة الجهة، للجهة كلها أو لوظيفة أو فئة؛ ويقول الدليل إن اختيارها على هذا المستوى يعطي صورة أفضل من اختيارها للفئات الفرعية. وتُستخدم لتوجيه الملفين الحالي والمستهدف، والانتقال لمستوى أعلى يُشجع حين تتطلبه المخاطر أو الالتزامات. وما ليست عليه: ليست درجة نضج تعطيها لكل ضابط، ولا تحل محل منهجية إدارة المخاطر، فالدليل يقول إنها توجه المنهجية ولا تأخذ مكانها. المصادر: ‎csrc.nist.gov/pubs/sp/1302/final‎، و‎nist.gov/cyberframework‎.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مقارنتان تخلطهما المقابلات كثيراً. الأولى: NIST CSF وNIST RMF. CSF 2.0 إطار نتائج تستخدمه الجهة كلها لتصف وضعها المستهدف والحالي. وRMF عملية من سبع خطوات لإدارة مخاطر نظام واحد عبر دورة حياته: التهيئة، والتصنيف، واختيار الضوابط، وتطبيقها، وتقييمها، والتفويض بالتشغيل، والمراقبة؛ ومرجعها SP ‎800-37‎ الإصدار الثاني. والثانية: تقييم الفجوات وتقييم النضج. تقييم الفجوات يقارن الوضع القائم بمتطلب محدد، ونتيجته قائمة فجوات، وهو ما فعلناه في رُفاد للنصف الأول من 2026. وتقييم النضج يقيس مستوى الممارسات على مقياس. وتذكر من شريحة المستويات أن مستويات CSF ليست درجة نضج لكل ضابط. المصادر: ‎https://www.nist.gov/cyberframework‎ ، و‎https://csrc.nist.gov/projects/risk-management/about-rmf‎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الهيئة الوطنية للأمن السيبراني تصدر مجموعة ضوابط، أساسها الضوابط الأساسية ‎ECC-2:2024‎، وفيها 108 ضوابط أساسية، وتنطبق على الجهات الحكومية والجهات التابعة لها داخل المملكة وخارجها، وجهات القطاع الخاص التي تملك أو تشغل أو تستضيف بنية تحتية وطنية حساسة. وبقية الضوابط امتداد لها في سياقات محددة: السحابة، والبيانات، والأنظمة الحساسة، والتقنية التشغيلية، والعمل عن بعد، وحسابات التواصل الاجتماعي. الإصدارات في الجدول تحققنا منها من موقع الهيئة nca.gov.sa في 27 أكتوبر 2026. والنطاق في الجدول مختصر؛ النص الرسمي لكل ضابط يحدد نطاقه بدقة، فارجع إليه قبل أي حكم بالانطباق. وإن أردت التعمق في ECC، فالكورس المرافق يشرحه ضابطاً ضابطاً.</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مراجع سعودية أخرى تهم GRC. الإطار الوطني لإدارة مخاطر الأمن السيبراني الذي استخدمنا مصفوفته، ونطاقه مثل نطاق ECC. وإطار ساما للأمن السيبراني، الإصدار 1.0 لعام 2017، للجهات المالية الخاضعة لإشراف البنك المركزي. ونظام حماية البيانات الشخصية ولوائحه عند سدايا. ومعايير إدارة البيانات وحماية البيانات الشخصية من مكتب إدارة البيانات الوطنية، الإصدار 1.5، للجهات العامة وشركائها. والإطار السعودي لكوادر الأمن السيبراني، وإصداره الحالي 1.5 لعام 2026، ويصف الأدوار ومهامها، وفيه فئة للحوكمة والمخاطر والامتثال. المصادر: nca.gov.sa، وrulebook.sama.gov.sa، ودليل سدايا للنظام على dgp.sdaia.gov.sa، ونسخة من معايير المكتب.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تحدد ما ينطبق على جهة؟ أربعة أسئلة تكفي للبداية. نوع الجهة: حكومية، أم تابعة لجهة حكومية، أم تملك بنية تحتية حساسة، أم خاصة؟ والقطاع والمنظم: هل تخضع لجهة رقابية قطاعية مثل البنك المركزي؟ ونوع البيانات: شخصية، أو بطاقات، أو حكومية؟ والعقود والعملاء: هل تفرض العقود متطلبات أمن؟ ثم الخطوة الحاسمة: اقرأ نص نطاق التطبيق في المرجع الرسمي نفسه. لا تحكم من اسم الإطار ولا من منشور على الإنترنت. وفي الشريحة التالية تطبق هذه الأسئلة على ثلاث جهات.</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على الانطباق. ثلاث جهات افتراضية: رُفاد، وشركة تابعة لوزارة تقدم لها خدمات تقنية، وشركة تقنية مالية مرخصة من البنك المركزي تعالج مدفوعات بالبطاقات. وأربعة مراجع: الضوابط الأساسية، ونظام حماية البيانات الشخصية، وإطار ساما، وPCI DSS. لكل خانة اكتب: نعم، أو لا، أو يعتمد، مع سبب قصير من الأسئلة الأربعة. أوقف الفيديو الآن،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رُفاد: ECC غير ملزم لأنها خاصة وليست تابعة لجهة حكومية ولا تملك بنية حساسة، لكنها تبنته طوعاً. ونظام حماية البيانات ينطبق لأنها تعالج بيانات شخصية. وإطار ساما لا ينطبق لأنها ليست جهة مالية خاضعة لإشرافه. وPCI DSS لا ينطبق ما دامت لا تخزن بيانات البطاقات أو تعالجها أو تنقلها بنفسها. الشركة التابعة للوزارة: ECC ينطبق، لأن نطاقه يشمل الجهات التابعة للجهات الحكومية. والتقنية المالية: إطار ساما ينطبق غالباً، وتحقق من نطاقه في دليل ساما، وPCI DSS ينطبق لأنها تعالج بيانات البطاقات، ونظام حماية البيانات ينطبق. هذا تمرين تعليمي، وليس رأياً نظامياً في جهة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هذه الإجابة؟ القاعدة الأولى: الانطباق يُحدد من نص النطاق الرسمي لكل إطار، لا من اسمه أو شهرته. والثانية: أربعة أسئلة تكفي للبداية: هل الجهة حكومية أو تابعة أو خاصة؟ وما قطاعها ومن ينظمها؟ وما نوع بياناتها؟ وما عقودها؟ والثالثة: الإطار غير الملزم يمكن تبنيه طوعاً، كما فعلت رُفاد مع ECC، لكن لا تصف الجهة بأنها ملتزمة به نظاماً. وعلى اليسار أكثر الأخطاء: افتراض أن ECC تلزم كل شركة سعودية، ونسيان نظام حماية البيانات الشخصية، والجزم دون قراءة النطاق.</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في المواءمة. نبدأ من الضابط الداخلي: التحقق متعدد العوامل لكل مستخدمي VPN، من معيار الوصول عن بعد. ثم نسأل كل مرجع: ماذا يطلب، وماذا يغطي ضابطنا منه؟ ECC ‎2-2-3-2‎ يطلب التحقق للدخول عن بعد وللحسابات ذات الصلاحيات الهامة، بعوامل يحددها تقييم الأثر؛ وضابطنا يغطي الدخول عن بعد فقط، فالتغطية جزئية، والحسابات الهامة تحتاج ضابطاً آخر نربطه. وISO 27001 في الضابط A.8.5، المصادقة الآمنة، يطلب تقنيات وإجراءات مصادقة آمنة وفق قيود الوصول؛ والتحقق على VPN جزء منها. والأدلة نفسها تخدم المرجعين: الإعداد وسجل التغييرات وسجل الاتصالات. والأهم: التشابه لا يعني الالتزام. الضابط نفسه قيمناه «مطبقاً جزئياً» في التطبيق الثالث، وهذه النتيجة تنطبق على المرجعين معاً.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الضابط الذي رافقك في التطبيقات: مراجعة صلاحيات نظام الرواتب كل ثلاثة أشهر. اربطه بمرجعين: ECC ‎2-2-3-5‎ للمراجعة الدورية، وISO 27001 A.5.18 لصلاحيات الوصول. لكل مرجع: ماذا يغطي الضابط منه، وهل التغطية كلية أم جزئية، ولماذا؟ ثم ما الأدلة التي تخدم الاثنين. تذكر الحالات الثلاث في مثال الفجوات.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مع ECC ‎2-2-3-5‎ التغطية جزئية: الضابط يغطي نظام الرواتب، ثم تطبيق التتبع من الإصدار المعدل، أما البريد فيغطيه إجراء آخر فيه فجوة تصميم في الحسابات الإدارية، وVPN بلا مراجعة. ومع ISO A.5.18 جزئية أيضاً: الضابط يخدم المراجعة والإزالة، ولا يغطي منح الصلاحيات وتعديلها. والأدلة مشتركة: ملف المراجعة واعتماده للمراجعة في المرجعين، وتذاكر الإزالة لجزء الإزالة في ISO. والخطأ الشائع أن تكتب «متوافق» لأن العنوانين متشابهان.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بأي إطار تبدأ؟ ترتيب مقترح، وليس قاعدة. NIST CSF أولاً لأنه مجاني ومتاح كاملاً، ويعطيك خريطة ذهنية. ثم ISO 27001 لأنه يعلمك منطق نظام الإدارة، وهو كثير الطلب في الإعلانات. ثم إطار القطاع الذي تريد العمل فيه. وإن كنت تستهدف الجهات الحكومية في السعودية، فلا مانع أن تبدأ بـ ECC مباشرة. وأهم من الترتيب طريقة القراءة: الأسئلة الأربعة. لاحظ أنها نفسها ما فعلناه في التطبيقات: الخطر، والتطبيق، والدليل، والمواءمة.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04: الأطر والانطباق. قبل أن تكمل، اختبر فهمك بـ 4 أسئلة قصيرة في كراسة التمارين. أوقف الفيديو الآن، وخذ نحو 8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الشهادات، ثلاث حقائق. الأولى: الشهادة لا تعوض الفهم، والمقابلة تكشف الفرق خلال دقائق. الثانية: بعض الشهادات الكبيرة تشترط سنوات خبرة قبل أن تُمنح، فلا تبدأ بها. الثالثة: الرسوم والشروط تتغير، لذلك نقلنا الأرقام الدقيقة إلى ملحق مرجعي في آخر الكورس، مع روابطها وتاريخ التحقق، وركزنا هنا على ما يهمك للاختيار. وملاحظة: نعرض أسماء الشهادات نصاً، لا شعاراتها، لأن الجهات المانحة تقيد استخدام شعاراتها، وهذا الكورس ليس تدريباً معتمداً من أي منها.</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الخريطة كلها في شريحة. المرحلة الأولى لمن لا خبرة له: شهادة واحدة تكفي غالباً، CC أو Security+، أو شهادة الإتمام IT Risk Fundamentals من ISACA. المرحلة الثانية مهارة محددة: ISO 27001 منفذ رئيسي أو مدقق رئيسي، أو GRCP، أو شهادات الخصوصية من IAPP. والمرحلة الثالثة شهادات قوية، لكنها تشترط سنوات خبرة موثقة قبل منحها، حتى لو نجحت في الاختبار. التفاصيل لكل شهادة في الشرائح التالية.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 البداية الأشهر. CC من ISC2 مصممة للمبتدئين تماماً، ولا تشترط خبرة، ومخططها الجديد منذ 1 سبتمبر 2026 فيه مجال للحوكمة الأمنية، وهذا مناسب لمن يتجه إلى GRC. Security+ من CompTIA أوسع تقنياً، ولا شرط رسمي لها، لكن CompTIA تنصح بخبرة سنتين وبشهادة Network+؛ وإصدارها الجديد ‎SY0-801‎ يبدأ نحو 17 نوفمبر 2026. اختر واحدة: CC إن كنت بلا خلفية تقنية وتتجه إلى GRC، وSecurity+ إن أردت أساساً تقنياً أعمق. وتنبيه: برنامج ISC2 للاختبار المجاني انتهى؛ أعلنت ISC2 ذلك في 22 أبريل 2026 وأوقفت التسجيل في 20 مايو 2026. المصادر: ‎isc2.org/certifications/cc‎، وcomptia.org.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خياران آخران بلا شرط خبرة، أقرب إلى GRC. GRCP من OCEG من الشهادات القليلة المصممة لـ GRC نفسه، ومبنية على نموذج OCEG للقدرات، وتُشترى ضمن اشتراك OCEG السنوي لا منفصلة. وIT Risk Fundamentals من ISACA شهادة إتمام للمبتدئين، أي certificate لا certification، وحلت مع IT Audit Fundamentals محل شهادة ITCA التي أوقفتها ISACA. المصادر: ‎oceg.org/certifications/grc-professional-certification‎، و‎isaca.org/credentialing/it-risk-fundamentals-certificate‎.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شهادات ISO 27001 للمهنيين نوعان رئيسيان. المنفذ الرئيسي، Lead Implementer، لمن سيبني نظام إدارة أمن المعلومات في جهة أو يستشير فيه، ويتعلم تخطيط النظام وتطبيقه ومتابعته. والمدقق الرئيسي، Lead Auditor، لمن سيدقق أنظمة الإدارة، داخلياً أو لدى جهة مانحة للشهادات، ويتعلم تخطيط التدقيق وتنفيذه وكتابة الملاحظات. ولا تصدرها ISO نفسها، بل جهات تدريب واعتماد مثل PECB وBSI وغيرهما، ولكل جهة شروطها. وفي الشريحة التالية نفرق بين شهادة التدريب والاختبار واللقب المهني.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أشياء يخلطها كثيرون في شهادات ISO. إتمام التدريب يعطيك شهادة حضور أو إتمام؛ عند PECB شهادة بإحدى وثلاثين ساعة تطوير مهني، وهذه ليست الشهادة المهنية. ثم النجاح في الاختبار: عند PECB ثمانون سؤالاً بكتاب مفتوح، والنجاح سبعون بالمئة. ثم استحقاق اللقب المهني، وهو موضوع الشريحة التالية. ورابعاً: كل جهة مانحة لها شروطها، فلا تفترض أن شهادة جهة تساوي شهادة أخرى. وعن اللغة: قد تجد دورات تُشرح بالعربية، لكن لغة الاختبار شيء آخر؛ لم نتحقق من توفر اختبار PECB بالعربية، فراجع قائمة اختبارات PECB على pecb.com.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استحقاق اللقب المهني عند PECB مثالاً. النجاح في الاختبار وحده يعطيك لقب Provisional Implementer. أما Implementer فيحتاج سنتي خبرة، منها سنة في إدارة أمن المعلومات، ومئتي ساعة مشاريع. وLead Implementer خمس سنوات، منها سنتان، وثلاثمئة ساعة. وSenior Lead عشر سنوات، منها سبع، وألف ساعة. ويلزم أيضاً توقيع مدونة الأخلاقيات. وجهات أخرى لها شروط مختلفة. والنتيجة العملية: لا تكتب في سيرتك لقباً لم تستحقه بعد؛ اكتب ما حصلت عليه فعلاً، مثل إتمام الدورة أو النجاح في الاختبار.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ISACA شهادتان قريبتان من GRC. CISA للتدقيق، وهي الأشهر لوظائف المراجعة الداخلية لتقنية المعلومات، أي الخط الثالث، وتشترط خمس سنوات مع إعفاء حتى ثلاث. وCRISC للمخاطر، وهي الأقرب لعمل محلل GRC في الخط الثاني، وتشترط ثلاث سنوات في مجالين من أربعة، بلا إعفاء. والقاعدة المهمة للمبتدئ: ISACA تسمح بالاختبار قبل اكتمال الخبرة، ثم تقديم الطلب خلال خمس سنوات من النجاح. لكن لا تبدأ بها؛ ابدأ بشهادة مدخل وخبرة. المصدر: ‎isaca.org/credentialing‎.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CISM لمن يتجه إلى إدارة برنامج أمن المعلومات. أعلنت ISACA في 10 سبتمبر 2026 مخطط اختبار جديداً يبدأ في 3 نوفمبر 2026، بالمجالات الأربعة نفسها مع أوزان جديدة: حوكمة أمن المعلومات 18%، وإدارة المخاطر 20%، وبرنامج أمن المعلومات 33%، وإدارة الحوادث 29%، مع تركيز أكبر على الاستراتيجية وتطوير البرنامج، وإضافة معمارية المؤسسة ومعمارية أمن المعلومات. وأوصت باستخدام مواد المذاكرة المحدثة لمن يختبر بعد هذا التاريخ. أما CGEIT فلقيادات حوكمة التقنية على مستوى الجهة، وترتبط بإطار COBIT، وتشترط خمس سنوات بلا إعفاء. المصدر: بيان ISACA الصحفي بتحديث مخطط CISM على isaca.org، وصفحتا الشهادتين.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ISC2: CGRC هي الشهادة الوحيدة هنا التي تحمل GRC في اسمها، وكانت تسمى CAP حتى 15 فبراير 2023، وتشترط سنتين في مجال واحد على الأقل من سبعة. وCISSP أوسع بكثير: ثماني مجالات، ومجال الأمن وإدارة المخاطر 16% فقط، فهي ليست شهادة GRC خالصة، لكنها مطلوبة للمناصب القيادية. وفي ISC2 مسار مفيد: إن نجحت قبل اكتمال الخبرة تصبح Associate of ISC2، ثم تُمنح الشهادة عند اكتمال الخبرة خلال ثلاث سنوات في CGRC وست في CISSP، مع تزكية من عضو معتمد خلال تسعة أشهر من النجاح. ومخطط CISSP الجديد يبدأ في 15 أبريل 2027. المصدر: ‎isc2.org/certifications‎.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شهادتان من IAPP بتركيز مختلف، فلا تعمم. ‎CIPP/E‎ هي التركيز الأوروبي من شهادة CIPP، وتعنى بقانون حماية البيانات في أوروبا. أما CIPM فعن إدارة برنامج الخصوصية وتشغيله داخل الجهة، وهي غير مرتبطة بقانون دولة واحدة، لذلك تناسب من يعمل على تطبيق نظام سعودي عملياً. لم نجد في صفحات IAPP شرط خبرة لأي منهما. المصدر: ‎iapp.org/certify‎.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CDPSE من ISACA للجانب التقني من الخصوصية: كيف تُصمم الأنظمة لتحمي البيانات في دورة حياتها، وتشترط ثلاث سنوات بلا إعفاء. وقبل أن تختار شهادة خصوصية: لشهادة CIPP من IAPP ستة تركيزات إقليمية: آسيا، وأستراليا، وكندا، والصين، وأوروبا، والولايات المتحدة، ولا يوجد بينها تركيز خاص بالنظام السعودي. وفي السعودية الأساس نظام حماية البيانات الشخصية ولوائحه؛ أي شهادة دولية تبني عليه ولا تغني عنه. المصادر: ‎iapp.org/certify‎، و‎isaca.org/credentialing/cdpse‎.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الأساسية: كم سنة خبرة تحتاج قبل أن تُمنح كل شهادة؟ العمود الأول بلا خبرة، وفيه شهادات البداية وشهادات IAPP ولقب Provisional من PECB. ثم سنتان: CGRC ولقب Implementer. ثم ثلاث: CRISC وCDPSE. ثم خمس: CISA وCISM وCGEIT وCISSP ولقب Lead. وتذكر أن بعض الجهات تقبل إعفاءات، مثل CISA حتى ثلاث سنوات، وCISSP سنة بدرجة أو شهادة معتمدة. أما الرسوم ورسوم التجديد فنقلناها إلى الملحق، لأنها تتغير، ومعها روابط المصادر وتاريخ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تختار؟ ابدأ من الوظيفة، لا من الشهادة. هذه مسارات نقترحها نحن، وليست شروطاً من أي جهة. محلل الامتثال في الخط الثاني: شهادة مدخل، ثم ISO 27001 منفذ رئيسي أو GRCP، ثم CRISC أو CGRC حين تكتمل الخبرة. ومدقق تقنية المعلومات: مدخل أو IT Audit Fundamentals، ثم مدقق رئيسي ISO 27001، وهدفه CISA. ومن يميل إلى الخصوصية: CIPM أو ‎CIPP/E‎ ثم CDPSE. والقيادة هدف بعيد لكل المسارات. والقاعدة في الأسفل: كثير من المبتدئين يجمعون أربع شهادات مدخل بلا مشروع واحد. شهادة واحدة ومشروعان أقوى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اللغة نقطة يغفل عنها كثيرون. أولاً، لغة التدريب ليست لغة الاختبار: قد تجد دورة ISO 27001 تُشرح بالعربية، بينما الاختبار نفسه بلغة أخرى. ثانياً، تحققنا من لغات كل اختبار منفصلاً، ولم نعمم. شهادات ISC2 وISACA وCompTIA وIAPP التي تحققنا منها لا تُقدم اختباراتها بالعربية وقت التحقق، واللغات المتاحة تختلف من شهادة لأخرى، فمثلاً CGRC بالإنجليزية فقط، وCISA بسبع لغات. أما PECB وOCEG وIT Risk Fundamentals فلم نتمكن من تأكيد لغات اختباراتها، فراجع صفحاتها قبل الحجز. القائمة الكاملة في الملحق. وهذا يعني عملياً: ذاكر المصطلحات بالإنجليزية من اليوم الأول.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طريقة عامة تصلح لأي شهادة. ابدأ بمخطط الاختبار الرسمي، فهو مجاني ويحدد المجالات ونسبة كل مجال؛ وزع وقتك بالنسبة نفسها. ثم مصدر أساسي واحد، وبنك أسئلة واحد. والخطأ الأشهر: حفظ إجابات البنك؛ الاختبار يصوغ الأسئلة بطريقة مختلفة، فافهم السبب. واحجز حين تتجاوز حد النجاح في الاختبارات التجريبية مرة بعد مرة. وفي شهادات ISACA وISC2 تحديداً، كثير من الأسئلة تطلب أفضل إجراء أو أول إجراء، والإجابة الصحيحة غالباً تبدأ بفهم المخاطر أو إشراك الإدارة. وانتبه للتواريخ: مخطط CC الجديد منذ 1 سبتمبر 2026، وCISM من 3 نوفمبر 2026، وSecurity+ ‎SY0-801‎ نحو 17 نوفمبر 2026، وCISSP من 15 أبريل 2027.</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اختيار. ثلاثة أشخاص افتراضيين: سارة خريجة نظم معلومات بلا خبرة تريد وظيفة امتثال خلال سنة. وعبدالله محاسب بخبرة أربع سنوات في المراجعة الداخلية يريد التحول إلى تدقيق تقنية المعلومات. ونورة محامية بخبرة سنتين مهتمة بحماية البيانات. لكل شخص اقترح شهادة الآن، وشهادة لاحقاً، وسبباً من جملتين.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مقترحة، وقد تختلف إجابتك وتبقى صحيحة إن كان مبررك سليماً. سارة: شهادة مدخل بلا شرط خبرة، ثم مهارة تطبيقية مثل ISO 27001 منفذ رئيسي أو GRCP، وCRISC أو CGRC لاحقاً. عبدالله: خبرته في المراجعة قد تُحتسب لشرط CISA بحسب قواعد ISACA، فيتحقق منها؛ ومدقق رئيسي ISO 27001 يبني على مهارته. نورة: خلفيتها القانونية تناسب ‎CIPP/E‎، وCIPM يضيف إدارة برنامج الخصوصية؛ ولا تحتاج شهادة تقنية أولاً، مع قراءة نظام حماية البيانات الشخصية ولوائحه.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05: الشهادات. قبل أن تكمل، اختبر فهمك بـ 3 أسئلة قصيرة في كراسة التمارين. أوقف الفيديو الآن، وخذ نحو 6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الإعلانات تطلب خبرة، وكل مبتدئ يسأل: كيف أحصل على خبرة بلا وظيفة؟ الجواب في هذه الوحدة: لقد بدأت فعلاً. التطبيقات الأربعة التي نفذتها على رُفاد هي نواة ملف أعمال، وسنحولها إلى مشاريع أكبر قليلاً، ونكتب لكل منها صفحة تعريفية، ونضعها في خطة تسعين يوماً.</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مقترحة لمن يبدأ من الصفر، وليست وعداً بوظيفة خلال تسعين يوماً؛ مدة البحث تختلف كثيراً حسب السوق والمدينة. كل مرحلة تنتهي بمخرَج ملموس. الشهر الأول: الأساس، وفيه الوحدات الثلاث الأولى والتطبيقات الأربعة مصححة، وقراءة NIST CSF، وبدء مذاكرة شهادة مدخل. الشهر الثاني: تحويل التطبيقات إلى مشروعين منشورين، وقراءة إطار قطاعك، وحجز الاختبار. الشهر الثالث: السوق: السيرة، ولينكدإن، والطلبات، والمحادثات التعريفية، والاستعداد للمقابلة. ولا تؤجل التقديم حتى تحصل على الشهادة؛ قدّم بالتوازي.</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تطبيق نفذته يتوسع إلى مشروع. التطبيق الأول يصبح حزمة سياسة ومعيار وإجراء لموضوع واحد. والثاني يصبح سجل مخاطر من عشرة مخاطر ثم عشرين، بعد أن أتقنت كتابة خطر واحد وتقييمه. والثالث يصبح تقييماً لمكوّن فرعي كامل من الضوابط الأساسية. والرابع يصبح تقرير تدقيق مصغراً من ثلاث ملاحظات. وأضفنا مشروعين اختياريين: تقييم مورد، ومصفوفة مواءمة بين الأطر. لا تحتاجها كلها؛ مشروعان أو ثلاثة جيدة أفضل من ستة متسرعة. والتحذير مهم: استخدم جهة افتراضية دائماً، ولا تنشر أي وثيقة من جهة حقيقية؛ هذا يخالف السرية، وهي أول قيمة في المهنة.</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مشروع يحتاج صفحة تعريفية في بدايته، لأن مسؤول التوظيف لن يفتح ملف Excel من عشرين صفاً. ستة حقول: العنوان، والمشكلة، وما فعلته، والنتيجة، وما تعلمته، والملفات. هذا مثال محلول لمشروع سجل المخاطر. لاحظ أن «ما فعلته» أفعال محددة بأرقام، و«ما تعلمته» درس مهني حقيقي، لا جملة عامة. وفي آخر الصفحة تنبيه بأن البيانات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المهارات في عمودين. مهارات المجال تتعلمها من الكورس والتطبيقات ومذاكرة الشهادة. والمهارات الشخصية غالباً ما تميز محلل GRC الجيد: نصف العمل إقناع أشخاص لا يتبعون لك أن يغيروا طريقة عملهم. ومنصات GRC التجارية كثيرة ومكلفة؛ يكفي أن تعرف ما تفعله: سجلات، وتقييمات، وسير عمل، ولوحات. وإن ذكرتها في المقابلة فقل بصدق إنك تعرف المفهوم.</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الصفحة التعريفية لمشروعك من التطبيقين الثالث والرابع، تقييم مراجعة الصلاحيات في رُفاد. املأ الحقول الستة، واجعل «ما فعلته» أفعالاً بأرقام. أوقف الفيديو مؤقتاً،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العنوان يصف المشروع والجهة الافتراضية. المشكلة سؤال واضح: معيار يطلب مراجعة ربع سنوية، ولا نعرف هل تُنفذ. وما فعلته: حللت ستة أدلة، وحددت النتيجة، وكتبت ملاحظة وخطة. والنتيجة ملموسة. وما تعلمته درسان مهنيان. والملفات مع تنبيه البيانات الافتراضية. قارن صفحتك بها، وانشرها مع ملفات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06: خطة البداية وملف الأعمال. قبل أن تكمل، اختبر فهمك بـ 3 أسئلة قصيرة في كراسة التمارين. أوقف الفيديو الآن، وخذ نحو 6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الذاتية وثيقة تسويقية، هدفها الوحيد أن تحصل على مقابلة. في هذه الوحدة نرى نموذج سيرة لمبتدئة افتراضية، ثم كيف تتعامل مع أنظمة الفرز الآلي، ثم كيف تكتب الإنجازات من مشاريعك على رُفاد، ثم ماذا تكتب إن لم تكن لديك خبرة، والأخطاء الشائعة. والنماذج بالإنجليزية لأن أغلب الإعلانات في المنطقة تطلبها كذلك.</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الجزء الأعلى من نموذج سيرة لمبتدئة افتراضية، والاسم والبيانات مثال. أولاً الاسم، وتحته العنوان المهني: مسمى الوظيفة التي تستهدفها، لا «طالب» ولا «باحث عن عمل». ثم ملخص في سطرين: من أنت، وماذا تجيد، وأقوى دليل لديك. ثم المهارات بكلمات الإعلان نفسها، بشرط أن تكون صادقة عنك؛ فالمقابلة ستسألك عن كل كلمة. وفي الشريحة التالية بقية الصفحة: المشاريع، والتعليم، والشهادات.</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بقية الصفحة. المشاريع هنا هي مشاريعك من رُفاد: تقييم خطر المورد، وتقييم مراجعة الصلاحيات، مع ذكر أنها لشركة افتراضية. المبتدئ يقدم المشاريع على التعليم لأنها أقوى دليل عنده. وإن كانت لديك خبرة عمل، ولو في مجال قريب، فضع الخبرة قبل المشاريع. ثم التعليم والشهادات. والقاعدة المهمة: لا تضع شهادة لم تحصل عليها؛ اكتب «قيد الدراسة» مع موعد الاختبار المتوقع. وصفحة واحدة تكفي للمبتدئ، بلا صورة ولا عمر ولا حالة اجتماعية، إلا إن طلبها الإعلان.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الجهات تستخدم نظام تتبع المتقدمين، ATS، يستخرج النص من سيرتك وقد يقارنه بالإعلان قبل أن يراه إنسان. لكن الأنظمة تختلف كثيراً: بعضها يقرأ التنسيقات المعقدة جيداً، وبعضها يخطئ، وبعض الجهات لا تصفّي آلياً أصلاً. لذلك لا نقول إن تنسيقاً معيناً يُرفض حتماً؛ نقول إن البسيط يقلل احتمال الخطأ. القاعدة العملية: إن نسخت نص سيرتك ولصقته في ملف نصي فظهر مرتباً، فالنظام غالباً سيقرؤه. واستخدم مصطلحات الإعلان بالصيغة نفسها إن كانت صادقة عنك، ولا تحشو كلمات لا تعرفها؛ المقابلة ستكشفها.</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الجملة على اليمين تصف مهمة، والجملة على اليسار تثبت قدرة. المعادلة: فعل قوي، ثم ماذا فعلت، ثم بأي طريقة، ثم النتيجة. والمثالان من التطبيقين الأول والثاني في رُفاد: بدل «مسؤول عن مصفوفة RACI» نكتب: بنيت مصفوفة من خمسة أنشطة لإلغاء صلاحيات المغادرين، وكتبت بند سياسة بمالك وموعد ودليل. وبدل «قمت بتقييم المخاطر» نكتب: كتبت خطراً وقيمته على مصفوفة الهيئة الخماسية، وخططت لمعالجته بموعد. والأرقام يجب أن تكون حقيقية من عملك، فكل رقم قد تُسأل عنه.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العاملين في GRC جاؤوا من مجالات أخرى، فلا تكتب «لا خبرة» وأنت عملت في مجال قريب. موظف الدعم الفني تعامل مع طلبات صلاحيات وموافقات، وهذه ضوابط وصول. والمحاسب يعرف الرقابة الداخلية والعينات والأدلة. والقانوني قريب من الامتثال والخصوصية. وإن لم تكن لديك أي خبرة عمل، فاستخدم أقساماً بديلة: المشاريع، والتدريب التعاوني، والتطوع، ومشروع التخرج. وكل ما تكتبه يجب أن يكون حقيقياً وتستطيع شرحه.</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سيرتك على هذه القائمة قبل الإرسال. اثنان منها مهمان في GRC بالذات: الأخطاء الإملائية، لأن عملك مراجعة الوثائق واكتشاف الأخطاء؛ والمعلومات الحساسة، فمختص حماية البيانات الذي يضع رقم هويته في ملف يرسله لعشرات الجهات يناقض ما يعمل عليه. والخطأ الذي لا يُغتفر: شهادة لم تحصل عليها؛ كثير من الجهات المانحة تتيح التحقق من حاملي شهاداتها.</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ثلاثة أسطر ضعيفة. أعد صياغة كل منها بالمعادلة، مستخدماً ما نفذته فعلاً في التطبيقات: خطر المورد، وتقييم مراجعة الصلاحيات، والضابطين اللذين قرأتهما. اكتب بالإنجليزية، وبأرقام حقيقية من تطبيقاتك.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إجابات نموذجية. كل سطر يبدأ بفعل قوي: Assessed، وTested، وMapped. ويذكر الطريقة: مصفوفة، وأدلة، وضوابط محددة. وينتهي بنتيجة: درجة الخطر وعدد الإجراءات، ونتيجة التقييم والملاحظة. ولاحظ أننا نوضح أنها حالة تدريبية لشركة افتراضية؛ الصدق هنا يحميك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07: السيرة الذاتية. قبل أن تكمل، اختبر فهمك بـ 3 أسئلة قصيرة في كراسة التمارين. أوقف الفيديو الآن، وخذ نحو 6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ترسلها أنت، أما لينكدإن فيجدك من خلاله الآخرون. مسؤولو التوظيف يبحثون بكلمات مثل GRC Analyst وISO 27001 وNCA ECC، فإن لم تكن في ملفك فلن تظهر لهم. الحدود والمقاسات في هذه الوحدة من صفحات مساعدة لينكدإن، وتحققنا منها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الجزء الأعلى من ملف مكتمل، رسمناه للتوضيح وليس لقطة من لينكدإن، والاسم والبيانات افتراضية. الأرقام من صفحات المساعدة: الصورة الشخصية بين 400 في 400 و7680 في 4320 بكسل، وحتى ثمانية ميغابايت، بصيغة JPG أو PNG. والخلفية مقاسها الموصى به 1584 في 396. والرابط المخصص من 3 إلى 100 حرف بلا مسافات أو رموز، ولا يحتوي كلمة LinkedIn، ويمكن تغييره حتى خمس مرات في ستة أشهر. وحتى مئة مهارة. وقسم Featured يعرض منشوراتك وملفاتك وروابطك أعلى الملف، ولا يظهر إن كان فارغاً؛ ضع فيه مشروعيك من رُفاد.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والجزء الأسفل من الملف نفسه. قسم Featured يعرض منشوراتك وملفاتك وروابطك أعلى الملف، ولا يظهر إن كان فارغاً؛ ضع فيه مشروعيك من رُفاد، مع ذكر أنها حالة تدريبية لشركة افتراضية. والمهارات: يمكنك إضافة حتى مئة مهارة، فاجعل أهمها في الأعلى، وبكلمات الإعلانات التي تستهدفها، بشرط أن تكون صادقة عنك. والرسم توضيحي مبسط، وليس لقطة من لينكدإن.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العنوان المهني يظهر تحت اسمك في كل مكان: البحث، والتعليقات، وطلبات التواصل. الأمثلة الضعيفة لا تحتوي كلمة يبحث بها مسؤول التوظيف. والقوية تتبع المعادلة: الوظيفة المستهدفة، ثم مجالان أو ثلاثة، ثم دليل. وكلمة ‎Entry-Level‎ صادقة وتوضح مستواك. وعن الطول: لم نجد في صفحات مساعدة لينكدإن حداً رسمياً لعدد الحروف؛ مواقع غير رسمية تذكر 220 حرفاً، ولم نتحقق منه. فضع أهم الكلمات في البداية.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النبذة أربعة أجزاء في فقرات قصيرة: افتتاح يقول من أنت، ودليل من مشاريعك، ومجالات وأطر بكلمات البحث، ودعوة للتواصل. والنموذج على اليسار، والألوان تبين كل جزء. الحد الأقصى 2,600 حرف بحسب مدونة لينكدإن الرسمية للتوظيف في أبريل 2024، وليس في صفحات المساعدة. ونقترح 150 إلى 250 كلمة لأنها تُقرأ كاملة، وهذا اقتراح منا لا قاعدة. وإن كنت تستهدف جهات محلية، أضف فقرة عربية قصيرة.</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الشبكة ليست عدداً، بل أشخاص في المجال يعرفون اسمك. أضف من يعمل فيما تريد، واكتب رسالة قصيرة بسبب حقيقي، والاسم في المثال افتراضي. ولا تطلب وظيفة في الرسالة الأولى. والنشر يجعلك مرئياً: اكتب ما تعلمته، ومشاريعك من رُفاد. اقتراحنا، لا قاعدة: منشور أسبوعياً وتعليقات مفيدة. والتحذير مهم في مجالنا: لا تكشف ضوابط جهة أو ثغراتها.</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Open to Work يخبر مسؤولي التوظيف أنك متاح. المسار بحسب صفحة المساعدة: Me، ثم View profile، ثم Open to، ثم Finding a new job، وتحدد المسميات والمواقع ونوع العمل. وللظهور خياران: كل الأعضاء، ويضيف إطاراً على صورتك ويراه الجميع؛ أو مسؤولو التوظيف فقط، وتحاول لينكدإن إخفاءه عن مسؤولي التوظيف في جهتك الحالية لكنها تقول صراحة إنها لا تضمن ذلك تماماً. وفي البحث لا تكتف بمسمى واحد؛ بعض المسميات هنا من الإطار السعودي لكوادر الأمن السيبراني.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عنوانك المهني بالمعادلة، وافتتاح نبذتك في جملتين تذكر فيهما أقوى دليل من مشاريعك على رُفاد. اكتب بالإنجليزية.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العنوان: ‎Entry-Level‎ يوضح المستوى، ثم ثلاث مهارات بكلمات البحث، ثم شهادة. والافتتاح: جملة تعريف، ثم دليل من المشاريع، مع ذكر أنها حالة تدريبية لشركة افتراضية. هذا الصدق يحميك حين يُسأل عن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08: لينكدإن والفرص. قبل أن تكمل، اختبر فهمك بـ 3 أسئلة قصيرة في كراسة التمارين. أوقف الفيديو الآن، وخذ نحو 6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الأخيرة قصيرة وعملية. نبدأ بالأسئلة الأكثر تكراراً في مقابلات GRC للمبتدئين، ونرى إجابة نموذجية كاملة لسؤال تطبيقي، ثم طريقة STAR، ثم قائمة المراجعة، والخطوة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أسئلة شائعة في مقابلات GRC للمبتدئين، وليست قائمة رسمية. وبجانب كل سؤال رقم الشريحة التي فيها جوابه. أغلبها أسئلة معرفة، وجوابها الجيد مثال من رُفاد لا تعريف محفوظ. وأهمها الأسئلة التطبيقية، مثل مالك النظام الذي يرفض الضابط، وسنحلها الآن كاملة. وسؤال «لماذا جهتنا» لا جواب له في الكورس: اقرأ عن الجهة قبل المقابلة، وما الأطر التي تنطبق عليها.</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لسؤال تطبيقي شائع، بمثال من رُفاد: سلمان يرفض فرض التحقق متعدد العوامل على حساب المورد خوفاً من تعطل الدعم. الإجابة الجيدة لا تبدأ بالتصعيد. أولاً افهم السبب: تكلفة، أم تعطل عمل، أم سوء فهم؟ ثانياً اشرح الخطر بلغة العمل لا بأرقام الضوابط. ثالثاً اقترح بديلاً: ضابطاً تعويضياً، أو تطبيقاً مرحلياً بموعد. رابعاً، إن تعذر كل ذلك: استثناء موثق مؤقت بموافقة صاحب الصلاحية ومراجعة دورية، مع تذكر أن الاستثناء الداخلي لا يلغي التزاماً نظامياً. وأخيراً التصعيد للجنة، بالحقائق. المقابل يقيس هنا طريقة تفكيرك وتعاملك مع الناس، لا حفظك للضوابط.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الأسئلة السلوكية تبدأ عادة بـ «حدثنا عن مرة…». أجب بطريقة STAR: الموقف باختصار، ثم المهمة، ثم ما فعلته أنت تحديداً، ثم النتيجة. والمثال من التطبيق الثاني: حساب المورد المشترك. لاحظ أن الإجراء هو الجزء الأطول، وأن النتيجة رقم وقرار. وثلاث نصائح: دقيقة إلى دقيقتين، واستخدم «أنا» في الإجراء، وجهز خمس قصص مسبقاً. ومن لا خبرة عمل له يأخذ قصصه من مشاريعه، بشرط أن يقول بصدق إنها مشاريع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جهز قصة STAR لهذا السؤال من التطبيقين الثالث والرابع: تقييم مراجعة الصلاحيات. اكتب الأجزاء الأربعة في الكراسة، ثم قلها بصوت مرتفع واحسب وقتها.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قصة نموذجية. الموقف قصير. والمهمة محددة. والإجراء أطول جزء، ويذكر ما فعلته أنت: ربطت كل دليل بما يثبته، ولم تعتمد على البريد في السبب بل طلبت سجل الترحيل. والنتيجة: تقييم، وملاحظة بخطة، ومشروع منشور. قارن قصتك بها، وتدرب على قولها في أقل من دقيقتين.</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نهاية الوحدة 09: المقابلة والانطلاق. قبل أن تكمل، اختبر فهمك بـ 3 أسئلة قصيرة في كراسة التمارين. أوقف الفيديو الآن، وخذ نحو 6 دقائق، ثم افتح ملف الإجابات: لكل سؤال الإجابة الصحيحة، وسبب خطأ البدائل المهمة. إن أخطأت في سؤال، فارجع إلى الشرائح التي تشرحه قبل أن تنتقل.</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التقييم الختامي العملي. حالة جديدة من رُفاد تجمع ما تعلمته كله: النسخ الاحتياطي لنظام الموارد البشرية والرواتب. النظام خدمة سحابية، والمزود ينسخ البيانات، ورُفاد تصدّر نسخة إضافية بنفسها، وتبنّت طوعاً متطلبات النسخ الاحتياطي في ECC ‎2-9-3‎. أمامك أربعة أدلة، وهي بيانات تدريبية. والمطلوب أربع مهام: حدد الخطر وقيّمه، واختر ضابطين على الأقل بمالكيهما، وقيّم الأدلة وحدد نوع كل فجوة، ثم اكتب ملاحظة بخطة تصحيح. ستحتاج الأساس التقني في السحابة والنسخ، والمصفوفة، والفرق بين فجوات التصميم والتنفيذ والتشغيل. خذ ساعة كاملة، ثم قارن بالإجابة النموذجية ومعايير التصحيح في ملف الإجابات.</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الكورس كله في شريحة واحدة. ضع علامة على كل بند تنجزه. لا تحتاج أن تكتمل كلها قبل أول طلب توظيف؛ إن أنجزت المعرفة والتطبيق، وكانت سيرتك وملفك جاهزين، فابدأ التقديم، والشهادة تأتي بالتوازي. ولاحظ بند «لا بيانات لجهة حقيقية»: هذا أهم من أي شهادة، لأنه يثبت أنك تفهم السرية.</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وصلنا إلى النهاية. ثلاث خطوات لهذا الأسبوع فقط: اختر شهادة مدخل واحدة واقرأ مخططها، ووسّع التطبيق الثاني إلى سجل من عشرة مخاطر، وحدّث عنوانك في لينكدإن. بعدها اتبع خطة التسعين يوماً. وإن أردت التعمق في الضوابط الأساسية للأمن السيبراني، فالكورس المرافق عن ‎ECC-2:2024‎ يأخذك من الفهم إلى التطبيق. وتذكير أخير: الرسوم والشروط والإصدارات في هذا الكورس تحققنا منها في 27 أكتوبر 2026، وهي تتغير، فراجعها قبل أن تدفع أو تسجل. والملحق بعد هذه الشريحة فيه الجداول والروابط. بالتوفيق.</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الملحق مرجع، لا درس. فيه قاموس المصطلحات، ورسوم الشهادات وتجديدها، وصيغ الاختبارات ولغاتها، والمراجع السعودية، وصفحة روابط قابلة للنقر، وقائمة بما يحتاج تحديثاً دورياً. كل رقم فيه تحققنا منه في 27 أكتوبر 2026 من الصفحة الرسمية المذكورة، وما لم نستطع تأكيده كتبنا ذلك صراحة.</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رسوم الشهادات، الجزء الأول. ISC2: صفحة أسعار الاختبارات ‎isc2.org/register-for-exam/isc2-exam-pricing‎، وسياسات الأعضاء للرسم السنوي. ISACA: ‎isaca.org/credentialing‎، ودليل المرشح، وصفحة IT Risk Fundamentals. CompTIA: صفحة Security+ على comptia.org، وصفحة رسوم التجديد؛ سعر الاختبار يُعرض ديناميكياً حسب الدولة ولم نتمكن من قراءته، ومواقع غير رسمية تذكر نحو 425 دولاراً، ولم نتحقق منه.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IAPP: store.iapp.org وصفحات الشهادات على ‎iapp.org/certify‎. OCEG: ‎oceg.org/certifications/grc-professional-certification‎ وصفحة العضوية. PECB: صفحات الدورات على pecb.com وأدلة المرشحين لعام 2026؛ مدة الاختبار ثلاث ساعات وردت في كتيب 2024 ولم تُذكر في أدلة 2026.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صيغ الاختبارات كما في الصفحات الرسمية وأدلة المرشحين. ISC2: مخطط CC الجديد منذ 1 سبتمبر 2026 تكيفي من 100 إلى 125 سؤالاً، وCISSP تكيفي. ISACA: 150 سؤالاً في أربع ساعات للشهادات الأربع، و120 لـ CDPSE، والنجاح 450 على مقياس من 200 إلى 800. IAPP: 90 سؤالاً والنجاح 300 على مقياس 100 إلى 500. GRCP: مئة سؤال محتسب وحتى 15 غير محتسبة، بكتاب مفتوح. PECB: 80 سؤالاً بكتاب مفتوح والنجاح 70%.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لغات كل اختبار منفصلة كما وردت في الصفحات الرسمية وأدلة المرشحين وقت التحقق. هذا الجزء لاختبارات ISC2 وCompTIA وIAPP. والإصدار الجديد من Security+، ‎SY0-801‎، يبدأ بالإنجليزية فقط.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اختبارات ISACA، ثم اختبارات لم تذكر صفحاتها التي راجعناها لغة الاختبار: GRCP وIT Risk Fundamentals واختبارات PECB؛ راجع قائمة اختبارات PECB على pecb.com، أو اسأل الجهة. ولم نجد العربية في أي من الاختبارات التي تحققنا منها، وهذا حكم على كل اختبار راجعناه، لا تعميم على كل الاختبارات.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مرجع سريع لضوابط الهيئة الوطنية للأمن السيبراني وإطارها لإدارة المخاطر، بإصداراتها. المصدر: صفحات الضوابط والأطر على nca.gov.sa. النطاق في الجدول مختصر جداً؛ النص الرسمي لكل مرجع هو الأساس.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الإطار السعودي لكوادر الأمن السيبراني من الهيئة، وإطار ساما للأمن السيبراني، ونظام حماية البيانات الشخصية. المصادر: nca.gov.sa، ودليل ساما rulebook.sama.gov.sa، ودليل سدايا لنظام حماية البيانات الشخصية على dgp.sdaia.gov.sa.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الأطر والمراجع. الروابط قابلة للنقر في ملف PowerPoint وفي العرض.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الجهات المانحة للشهادات. تحقق دائماً من الرسوم والشروط في هذه الصفحات قبل التسجيل.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الخصوصية والمتطلبات القطاعية ولينكدإن.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ما يحتاج تحديثاً دورياً، مع الشرائح التي تحتويه. اقتراحنا مراجعة الرسوم ومخططات الاختبارات كل ستة أشهر، وإصدارات الأطر سنوياً أو عند أي إعلان رسمي. وحين تحدث رقماً، حدّث معه تاريخ التحقق في الملاحظات وفي الملحق.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30.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0.png"/><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9.png"/><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9.png"/><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9.png"/><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56.png"/><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27.png"/><Relationship Id="rId4"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image" Target="../media/image80.png"/><Relationship Id="rId4" Type="http://schemas.openxmlformats.org/officeDocument/2006/relationships/image" Target="../media/image95.png"/><Relationship Id="rId5"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a.gov.sa/" TargetMode="External"/><Relationship Id="rId3" Type="http://schemas.openxmlformats.org/officeDocument/2006/relationships/hyperlink" Target="https://nca.gov.sa/en/regulatory-documents/frameworks-and-standard-list/nfcrm/" TargetMode="External"/><Relationship Id="rId4" Type="http://schemas.openxmlformats.org/officeDocument/2006/relationships/hyperlink" Target="https://nca.gov.sa/en/regulatory-documents/controls-list/ecc/" TargetMode="External"/><Relationship Id="rId5" Type="http://schemas.openxmlformats.org/officeDocument/2006/relationships/hyperlink" Target="https://nca.gov.sa/en/regulatory-documents/frameworks-and-standard-list/scywf/" TargetMode="External"/><Relationship Id="rId6" Type="http://schemas.openxmlformats.org/officeDocument/2006/relationships/hyperlink" Target="https://rulebook.sama.gov.sa/en/cyber-security-framework-2" TargetMode="External"/><Relationship Id="rId7" Type="http://schemas.openxmlformats.org/officeDocument/2006/relationships/hyperlink" Target="https://www.nist.gov/cyberframework" TargetMode="External"/><Relationship Id="rId8" Type="http://schemas.openxmlformats.org/officeDocument/2006/relationships/hyperlink" Target="https://csrc.nist.gov/pubs/sp/1302/final" TargetMode="External"/><Relationship Id="rId9" Type="http://schemas.openxmlformats.org/officeDocument/2006/relationships/hyperlink" Target="https://www.iso.org/standard/27001" TargetMode="External"/><Relationship Id="rId10"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sc2.org/certifications" TargetMode="External"/><Relationship Id="rId3" Type="http://schemas.openxmlformats.org/officeDocument/2006/relationships/hyperlink" Target="https://www.isc2.org/register-for-exam/isc2-exam-pricing" TargetMode="External"/><Relationship Id="rId4" Type="http://schemas.openxmlformats.org/officeDocument/2006/relationships/hyperlink" Target="https://www.isaca.org/credentialing" TargetMode="External"/><Relationship Id="rId5" Type="http://schemas.openxmlformats.org/officeDocument/2006/relationships/hyperlink" Target="https://www.isaca.org/about-us/newsroom/press-releases/2026/isaca-updates-cism-exam-content-outline-factoring-in-todays-technologies-security-responsibilities" TargetMode="External"/><Relationship Id="rId6" Type="http://schemas.openxmlformats.org/officeDocument/2006/relationships/hyperlink" Target="https://www.comptia.org/en-us/certifications/security/" TargetMode="External"/><Relationship Id="rId7" Type="http://schemas.openxmlformats.org/officeDocument/2006/relationships/hyperlink" Target="https://iapp.org/certify" TargetMode="External"/><Relationship Id="rId8" Type="http://schemas.openxmlformats.org/officeDocument/2006/relationships/hyperlink" Target="https://www.oceg.org/certifications/grc-professional-certification/" TargetMode="External"/><Relationship Id="rId9" Type="http://schemas.openxmlformats.org/officeDocument/2006/relationships/hyperlink" Target="https://pecb.com/" TargetMode="External"/><Relationship Id="rId10"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gp.sdaia.gov.sa/wps/wcm/connect/f579bc32-fda8-47bd-bc6f-66b8cb77985c/ENG-Guide+to+the+saudi+PDP+law+for+controllersprocessors.pdf?MOD=AJPERES" TargetMode="External"/><Relationship Id="rId3" Type="http://schemas.openxmlformats.org/officeDocument/2006/relationships/hyperlink" Target="https://www.pcisecuritystandards.org/document_library/" TargetMode="External"/><Relationship Id="rId4" Type="http://schemas.openxmlformats.org/officeDocument/2006/relationships/hyperlink" Target="https://www.isaca.org/resources/cobit" TargetMode="External"/><Relationship Id="rId5" Type="http://schemas.openxmlformats.org/officeDocument/2006/relationships/hyperlink" Target="https://www.linkedin.com/help/linkedin/answer/a507508" TargetMode="External"/><Relationship Id="rId6" Type="http://schemas.openxmlformats.org/officeDocument/2006/relationships/hyperlink" Target="https://www.linkedin.com/help/linkedin/answer/a542685" TargetMode="External"/><Relationship Id="rId7" Type="http://schemas.openxmlformats.org/officeDocument/2006/relationships/hyperlink" Target="https://www.linkedin.com/help/linkedin/answer/a549047" TargetMode="External"/><Relationship Id="rId8"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699508" y="1554119"/>
            <a:ext cx="667969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كورس تأسيسي عملي للمبتدئين والخريجين</a:t>
            </a:r>
          </a:p>
        </p:txBody>
      </p:sp>
      <p:sp>
        <p:nvSpPr>
          <p:cNvPr id="4" name="Text 3"/>
          <p:cNvSpPr txBox="1"/>
          <p:nvPr/>
        </p:nvSpPr>
        <p:spPr>
          <a:xfrm>
            <a:off x="5003800" y="2112645"/>
            <a:ext cx="6375400" cy="1676400"/>
          </a:xfrm>
          <a:prstGeom prst="rect">
            <a:avLst/>
          </a:prstGeom>
          <a:noFill/>
        </p:spPr>
        <p:txBody>
          <a:bodyPr wrap="square" tIns="0" rIns="0" bIns="0" lIns="0" anchor="t" rtlCol="0" anchorCtr="0">
            <a:noAutofit/>
          </a:bodyPr>
          <a:lstStyle/>
          <a:p>
            <a:pPr algn="r" rtl="1">
              <a:lnSpc>
                <a:spcPts val="6600"/>
              </a:lnSpc>
              <a:spcBef>
                <a:spcPts val="0"/>
              </a:spcBef>
              <a:spcAft>
                <a:spcPts val="0"/>
              </a:spcAft>
            </a:pPr>
            <a:r>
              <a:rPr sz="6000" b="1" i="0">
                <a:solidFill>
                  <a:srgbClr val="F3EFE6"/>
                </a:solidFill>
                <a:latin typeface="Readex Pro"/>
                <a:ea typeface="Readex Pro"/>
                <a:cs typeface="Readex Pro"/>
              </a:rPr>
              <a:t>كيف تبدأ في GRC</a:t>
            </a:r>
          </a:p>
        </p:txBody>
      </p:sp>
      <p:sp>
        <p:nvSpPr>
          <p:cNvPr id="5" name="Text 4"/>
          <p:cNvSpPr txBox="1"/>
          <p:nvPr/>
        </p:nvSpPr>
        <p:spPr>
          <a:xfrm>
            <a:off x="5008753" y="3928808"/>
            <a:ext cx="6370447" cy="723900"/>
          </a:xfrm>
          <a:prstGeom prst="rect">
            <a:avLst/>
          </a:prstGeom>
          <a:noFill/>
        </p:spPr>
        <p:txBody>
          <a:bodyPr wrap="square" tIns="0" rIns="0" bIns="0" lIns="0" anchor="t" rtlCol="0" anchorCtr="0">
            <a:noAutofit/>
          </a:bodyPr>
          <a:lstStyle/>
          <a:p>
            <a:pPr algn="r" rtl="1">
              <a:lnSpc>
                <a:spcPts val="2850"/>
              </a:lnSpc>
              <a:spcBef>
                <a:spcPts val="0"/>
              </a:spcBef>
              <a:spcAft>
                <a:spcPts val="0"/>
              </a:spcAft>
            </a:pPr>
            <a:r>
              <a:rPr sz="1900" b="0" i="0">
                <a:solidFill>
                  <a:srgbClr val="D9E2E6"/>
                </a:solidFill>
                <a:latin typeface="IBM Plex Sans Arabic"/>
                <a:ea typeface="IBM Plex Sans Arabic"/>
                <a:cs typeface="IBM Plex Sans Arabic"/>
              </a:rPr>
              <a:t>الحوكمة والمخاطر والامتثال من الصفر: تفهم العمل، وتطبّقه على شركة واحدة، ثم تجهز ملفك للوظيفة الأولى.</a:t>
            </a:r>
          </a:p>
        </p:txBody>
      </p:sp>
      <p:sp>
        <p:nvSpPr>
          <p:cNvPr id="6" name="Text box 5"/>
          <p:cNvSpPr/>
          <p:nvPr/>
        </p:nvSpPr>
        <p:spPr>
          <a:xfrm>
            <a:off x="10464502" y="4921250"/>
            <a:ext cx="911523"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9 وحدات</a:t>
            </a:r>
          </a:p>
        </p:txBody>
      </p:sp>
      <p:sp>
        <p:nvSpPr>
          <p:cNvPr id="7" name="Text box 6"/>
          <p:cNvSpPr/>
          <p:nvPr/>
        </p:nvSpPr>
        <p:spPr>
          <a:xfrm>
            <a:off x="8924925" y="4921250"/>
            <a:ext cx="1444327"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حالة عملية واحدة</a:t>
            </a:r>
          </a:p>
        </p:txBody>
      </p:sp>
      <p:sp>
        <p:nvSpPr>
          <p:cNvPr id="8" name="Text box 7"/>
          <p:cNvSpPr/>
          <p:nvPr/>
        </p:nvSpPr>
        <p:spPr>
          <a:xfrm>
            <a:off x="7353201" y="4921250"/>
            <a:ext cx="1476474"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4 تطبيقات موجهة</a:t>
            </a:r>
          </a:p>
        </p:txBody>
      </p:sp>
      <p:sp>
        <p:nvSpPr>
          <p:cNvPr id="9" name="Text box 8"/>
          <p:cNvSpPr/>
          <p:nvPr/>
        </p:nvSpPr>
        <p:spPr>
          <a:xfrm>
            <a:off x="5570041" y="4921250"/>
            <a:ext cx="1687909"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كراسة تمارين وإجابات</a:t>
            </a:r>
          </a:p>
        </p:txBody>
      </p:sp>
      <p:sp>
        <p:nvSpPr>
          <p:cNvPr id="10" name="Box 9"/>
          <p:cNvSpPr/>
          <p:nvPr/>
        </p:nvSpPr>
        <p:spPr>
          <a:xfrm>
            <a:off x="812800" y="1855788"/>
            <a:ext cx="3810000" cy="955675"/>
          </a:xfrm>
          <a:prstGeom prst="roundRect">
            <a:avLst>
              <a:gd name="adj" fmla="val 13289"/>
            </a:avLst>
          </a:prstGeom>
          <a:solidFill>
            <a:srgbClr val="22344A"/>
          </a:solidFill>
          <a:ln>
            <a:noFill/>
          </a:ln>
        </p:spPr>
        <p:txBody>
          <a:bodyPr rtlCol="0" anchor="ctr"/>
          <a:lstStyle/>
          <a:p>
            <a:pPr algn="ctr"/>
          </a:p>
        </p:txBody>
      </p:sp>
      <p:sp>
        <p:nvSpPr>
          <p:cNvPr id="11" name="Rule 10"/>
          <p:cNvSpPr/>
          <p:nvPr/>
        </p:nvSpPr>
        <p:spPr>
          <a:xfrm>
            <a:off x="4572000" y="1855788"/>
            <a:ext cx="50800" cy="955675"/>
          </a:xfrm>
          <a:prstGeom prst="rect">
            <a:avLst/>
          </a:prstGeom>
          <a:solidFill>
            <a:srgbClr val="0E7C6B"/>
          </a:solidFill>
          <a:ln>
            <a:noFill/>
          </a:ln>
        </p:spPr>
        <p:txBody>
          <a:bodyPr rtlCol="0" anchor="ctr"/>
          <a:lstStyle/>
          <a:p>
            <a:pPr algn="ctr"/>
          </a:p>
        </p:txBody>
      </p:sp>
      <p:sp>
        <p:nvSpPr>
          <p:cNvPr id="12" name="Text 11"/>
          <p:cNvSpPr txBox="1"/>
          <p:nvPr/>
        </p:nvSpPr>
        <p:spPr>
          <a:xfrm>
            <a:off x="3723640" y="214388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7FD3C3"/>
                </a:solidFill>
                <a:latin typeface="Readex Pro"/>
                <a:ea typeface="Readex Pro"/>
                <a:cs typeface="Readex Pro"/>
              </a:rPr>
              <a:t>G</a:t>
            </a:r>
          </a:p>
        </p:txBody>
      </p:sp>
      <p:sp>
        <p:nvSpPr>
          <p:cNvPr id="13" name="Text 12"/>
          <p:cNvSpPr txBox="1"/>
          <p:nvPr/>
        </p:nvSpPr>
        <p:spPr>
          <a:xfrm>
            <a:off x="838200" y="2023427"/>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الحوكمة</a:t>
            </a:r>
          </a:p>
        </p:txBody>
      </p:sp>
      <p:sp>
        <p:nvSpPr>
          <p:cNvPr id="14" name="Text 13"/>
          <p:cNvSpPr txBox="1"/>
          <p:nvPr/>
        </p:nvSpPr>
        <p:spPr>
          <a:xfrm>
            <a:off x="838200" y="235172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من يقرر، وبأي قواعد</a:t>
            </a:r>
          </a:p>
        </p:txBody>
      </p:sp>
      <p:sp>
        <p:nvSpPr>
          <p:cNvPr id="15" name="Box 14"/>
          <p:cNvSpPr/>
          <p:nvPr/>
        </p:nvSpPr>
        <p:spPr>
          <a:xfrm>
            <a:off x="812800" y="2951162"/>
            <a:ext cx="3810000" cy="955675"/>
          </a:xfrm>
          <a:prstGeom prst="roundRect">
            <a:avLst>
              <a:gd name="adj" fmla="val 13289"/>
            </a:avLst>
          </a:prstGeom>
          <a:solidFill>
            <a:srgbClr val="22344A"/>
          </a:solidFill>
          <a:ln>
            <a:noFill/>
          </a:ln>
        </p:spPr>
        <p:txBody>
          <a:bodyPr rtlCol="0" anchor="ctr"/>
          <a:lstStyle/>
          <a:p>
            <a:pPr algn="ctr"/>
          </a:p>
        </p:txBody>
      </p:sp>
      <p:sp>
        <p:nvSpPr>
          <p:cNvPr id="16" name="Rule 15"/>
          <p:cNvSpPr/>
          <p:nvPr/>
        </p:nvSpPr>
        <p:spPr>
          <a:xfrm>
            <a:off x="4572000" y="2951162"/>
            <a:ext cx="50800" cy="955675"/>
          </a:xfrm>
          <a:prstGeom prst="rect">
            <a:avLst/>
          </a:prstGeom>
          <a:solidFill>
            <a:srgbClr val="E0A33A"/>
          </a:solidFill>
          <a:ln>
            <a:noFill/>
          </a:ln>
        </p:spPr>
        <p:txBody>
          <a:bodyPr rtlCol="0" anchor="ctr"/>
          <a:lstStyle/>
          <a:p>
            <a:pPr algn="ctr"/>
          </a:p>
        </p:txBody>
      </p:sp>
      <p:sp>
        <p:nvSpPr>
          <p:cNvPr id="17" name="Text 16"/>
          <p:cNvSpPr txBox="1"/>
          <p:nvPr/>
        </p:nvSpPr>
        <p:spPr>
          <a:xfrm>
            <a:off x="3723640" y="3239262"/>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F2C46D"/>
                </a:solidFill>
                <a:latin typeface="Readex Pro"/>
                <a:ea typeface="Readex Pro"/>
                <a:cs typeface="Readex Pro"/>
              </a:rPr>
              <a:t>R</a:t>
            </a:r>
          </a:p>
        </p:txBody>
      </p:sp>
      <p:sp>
        <p:nvSpPr>
          <p:cNvPr id="18" name="Text 17"/>
          <p:cNvSpPr txBox="1"/>
          <p:nvPr/>
        </p:nvSpPr>
        <p:spPr>
          <a:xfrm>
            <a:off x="838200" y="3118802"/>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المخاطر</a:t>
            </a:r>
          </a:p>
        </p:txBody>
      </p:sp>
      <p:sp>
        <p:nvSpPr>
          <p:cNvPr id="19" name="Text 18"/>
          <p:cNvSpPr txBox="1"/>
          <p:nvPr/>
        </p:nvSpPr>
        <p:spPr>
          <a:xfrm>
            <a:off x="838200" y="3447098"/>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ما الذي قد يحدث، وماذا نفعل</a:t>
            </a:r>
          </a:p>
        </p:txBody>
      </p:sp>
      <p:sp>
        <p:nvSpPr>
          <p:cNvPr id="20" name="Box 19"/>
          <p:cNvSpPr/>
          <p:nvPr/>
        </p:nvSpPr>
        <p:spPr>
          <a:xfrm>
            <a:off x="812800" y="4046538"/>
            <a:ext cx="3810000" cy="955675"/>
          </a:xfrm>
          <a:prstGeom prst="roundRect">
            <a:avLst>
              <a:gd name="adj" fmla="val 13289"/>
            </a:avLst>
          </a:prstGeom>
          <a:solidFill>
            <a:srgbClr val="22344A"/>
          </a:solidFill>
          <a:ln>
            <a:noFill/>
          </a:ln>
        </p:spPr>
        <p:txBody>
          <a:bodyPr rtlCol="0" anchor="ctr"/>
          <a:lstStyle/>
          <a:p>
            <a:pPr algn="ctr"/>
          </a:p>
        </p:txBody>
      </p:sp>
      <p:sp>
        <p:nvSpPr>
          <p:cNvPr id="21" name="Rule 20"/>
          <p:cNvSpPr/>
          <p:nvPr/>
        </p:nvSpPr>
        <p:spPr>
          <a:xfrm>
            <a:off x="4572000" y="4046538"/>
            <a:ext cx="50800" cy="955675"/>
          </a:xfrm>
          <a:prstGeom prst="rect">
            <a:avLst/>
          </a:prstGeom>
          <a:solidFill>
            <a:srgbClr val="6E9BD1"/>
          </a:solidFill>
          <a:ln>
            <a:noFill/>
          </a:ln>
        </p:spPr>
        <p:txBody>
          <a:bodyPr rtlCol="0" anchor="ctr"/>
          <a:lstStyle/>
          <a:p>
            <a:pPr algn="ctr"/>
          </a:p>
        </p:txBody>
      </p:sp>
      <p:sp>
        <p:nvSpPr>
          <p:cNvPr id="22" name="Text 21"/>
          <p:cNvSpPr txBox="1"/>
          <p:nvPr/>
        </p:nvSpPr>
        <p:spPr>
          <a:xfrm>
            <a:off x="3723640" y="433463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A9C6EA"/>
                </a:solidFill>
                <a:latin typeface="Readex Pro"/>
                <a:ea typeface="Readex Pro"/>
                <a:cs typeface="Readex Pro"/>
              </a:rPr>
              <a:t>C</a:t>
            </a:r>
          </a:p>
        </p:txBody>
      </p:sp>
      <p:sp>
        <p:nvSpPr>
          <p:cNvPr id="23" name="Text 22"/>
          <p:cNvSpPr txBox="1"/>
          <p:nvPr/>
        </p:nvSpPr>
        <p:spPr>
          <a:xfrm>
            <a:off x="838200" y="4214178"/>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الامتثال</a:t>
            </a:r>
          </a:p>
        </p:txBody>
      </p:sp>
      <p:sp>
        <p:nvSpPr>
          <p:cNvPr id="24" name="Text 23"/>
          <p:cNvSpPr txBox="1"/>
          <p:nvPr/>
        </p:nvSpPr>
        <p:spPr>
          <a:xfrm>
            <a:off x="838200" y="454247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هل نلتزم، وكيف نثبت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ماذا ستستطيع أن تفعل بعد هذا الكورس؟</a:t>
            </a:r>
          </a:p>
        </p:txBody>
      </p:sp>
      <p:sp>
        <p:nvSpPr>
          <p:cNvPr id="5" name="Rule 4"/>
          <p:cNvSpPr/>
          <p:nvPr/>
        </p:nvSpPr>
        <p:spPr>
          <a:xfrm>
            <a:off x="5230416" y="1657945"/>
            <a:ext cx="6148784" cy="31750"/>
          </a:xfrm>
          <a:prstGeom prst="rect">
            <a:avLst/>
          </a:prstGeom>
          <a:solidFill>
            <a:srgbClr val="0E7C6B"/>
          </a:solidFill>
          <a:ln>
            <a:noFill/>
          </a:ln>
        </p:spPr>
        <p:txBody>
          <a:bodyPr rtlCol="0" anchor="ctr"/>
          <a:lstStyle/>
          <a:p>
            <a:pPr algn="ctr"/>
          </a:p>
        </p:txBody>
      </p:sp>
      <p:sp>
        <p:nvSpPr>
          <p:cNvPr id="6" name="Text 5"/>
          <p:cNvSpPr txBox="1"/>
          <p:nvPr/>
        </p:nvSpPr>
        <p:spPr>
          <a:xfrm>
            <a:off x="5255816" y="1818219"/>
            <a:ext cx="608528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بعد الكورس ستستطيع أن:</a:t>
            </a:r>
          </a:p>
        </p:txBody>
      </p:sp>
      <p:sp>
        <p:nvSpPr>
          <p:cNvPr id="7" name="Text 6"/>
          <p:cNvSpPr txBox="1"/>
          <p:nvPr/>
        </p:nvSpPr>
        <p:spPr>
          <a:xfrm>
            <a:off x="10960100" y="22256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1</a:t>
            </a:r>
          </a:p>
        </p:txBody>
      </p:sp>
      <p:sp>
        <p:nvSpPr>
          <p:cNvPr id="8" name="Text 7"/>
          <p:cNvSpPr txBox="1"/>
          <p:nvPr/>
        </p:nvSpPr>
        <p:spPr>
          <a:xfrm>
            <a:off x="5255816" y="22154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تفهم طبيعة العمل في GRC وأدواره اليومية.</a:t>
            </a:r>
          </a:p>
        </p:txBody>
      </p:sp>
      <p:sp>
        <p:nvSpPr>
          <p:cNvPr id="9" name="Text 8"/>
          <p:cNvSpPr txBox="1"/>
          <p:nvPr/>
        </p:nvSpPr>
        <p:spPr>
          <a:xfrm>
            <a:off x="10960100" y="27082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2</a:t>
            </a:r>
          </a:p>
        </p:txBody>
      </p:sp>
      <p:sp>
        <p:nvSpPr>
          <p:cNvPr id="10" name="Text 9"/>
          <p:cNvSpPr txBox="1"/>
          <p:nvPr/>
        </p:nvSpPr>
        <p:spPr>
          <a:xfrm>
            <a:off x="5255816" y="2698075"/>
            <a:ext cx="569158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تميّز بين الحوكمة والمخاطر والامتثال، وتفهم الأساس التقني لما تقيّمه.</a:t>
            </a:r>
          </a:p>
        </p:txBody>
      </p:sp>
      <p:sp>
        <p:nvSpPr>
          <p:cNvPr id="11" name="Text 10"/>
          <p:cNvSpPr txBox="1"/>
          <p:nvPr/>
        </p:nvSpPr>
        <p:spPr>
          <a:xfrm>
            <a:off x="10960100" y="35464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3</a:t>
            </a:r>
          </a:p>
        </p:txBody>
      </p:sp>
      <p:sp>
        <p:nvSpPr>
          <p:cNvPr id="12" name="Text 11"/>
          <p:cNvSpPr txBox="1"/>
          <p:nvPr/>
        </p:nvSpPr>
        <p:spPr>
          <a:xfrm>
            <a:off x="5255816" y="3536275"/>
            <a:ext cx="569158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تنفّذ مهام تأسيسية صغيرة: مسؤوليات، وخطر، وتقييم ضابط، وملاحظة.</a:t>
            </a:r>
          </a:p>
        </p:txBody>
      </p:sp>
      <p:sp>
        <p:nvSpPr>
          <p:cNvPr id="13" name="Text 12"/>
          <p:cNvSpPr txBox="1"/>
          <p:nvPr/>
        </p:nvSpPr>
        <p:spPr>
          <a:xfrm>
            <a:off x="10960100" y="43846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4</a:t>
            </a:r>
          </a:p>
        </p:txBody>
      </p:sp>
      <p:sp>
        <p:nvSpPr>
          <p:cNvPr id="14" name="Text 13"/>
          <p:cNvSpPr txBox="1"/>
          <p:nvPr/>
        </p:nvSpPr>
        <p:spPr>
          <a:xfrm>
            <a:off x="5255816" y="43744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تختار شهادتك ومسارك التعليمي حسب هدفك ومرحلتك.</a:t>
            </a:r>
          </a:p>
        </p:txBody>
      </p:sp>
      <p:sp>
        <p:nvSpPr>
          <p:cNvPr id="15" name="Text 14"/>
          <p:cNvSpPr txBox="1"/>
          <p:nvPr/>
        </p:nvSpPr>
        <p:spPr>
          <a:xfrm>
            <a:off x="10960100" y="48672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5</a:t>
            </a:r>
          </a:p>
        </p:txBody>
      </p:sp>
      <p:sp>
        <p:nvSpPr>
          <p:cNvPr id="16" name="Text 15"/>
          <p:cNvSpPr txBox="1"/>
          <p:nvPr/>
        </p:nvSpPr>
        <p:spPr>
          <a:xfrm>
            <a:off x="5255816" y="48570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تجهز ملف أعمال وسيرة ولينكدإن، وتستعد للمقابلة.</a:t>
            </a:r>
          </a:p>
        </p:txBody>
      </p:sp>
      <p:sp>
        <p:nvSpPr>
          <p:cNvPr id="17" name="Box 16"/>
          <p:cNvSpPr/>
          <p:nvPr/>
        </p:nvSpPr>
        <p:spPr>
          <a:xfrm>
            <a:off x="815975" y="1661120"/>
            <a:ext cx="4208066" cy="3613150"/>
          </a:xfrm>
          <a:prstGeom prst="roundRect">
            <a:avLst>
              <a:gd name="adj" fmla="val 3157"/>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397946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لا يقدمه الكورس</a:t>
            </a:r>
          </a:p>
        </p:txBody>
      </p:sp>
      <p:pic>
        <p:nvPicPr>
          <p:cNvPr id="19" name="Icon Warning 18" descr="icon001.png"/>
          <p:cNvPicPr>
            <a:picLocks noChangeAspect="1"/>
          </p:cNvPicPr>
          <p:nvPr/>
        </p:nvPicPr>
        <p:blipFill>
          <a:blip r:embed="rId2"/>
          <a:stretch>
            <a:fillRect/>
          </a:stretch>
        </p:blipFill>
        <p:spPr>
          <a:xfrm>
            <a:off x="4512866" y="2273895"/>
            <a:ext cx="304800" cy="304800"/>
          </a:xfrm>
          <a:prstGeom prst="rect">
            <a:avLst/>
          </a:prstGeom>
        </p:spPr>
      </p:pic>
      <p:sp>
        <p:nvSpPr>
          <p:cNvPr id="20" name="Text 19"/>
          <p:cNvSpPr txBox="1"/>
          <p:nvPr/>
        </p:nvSpPr>
        <p:spPr>
          <a:xfrm>
            <a:off x="838200" y="22345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تأهيلاً كاملاً لإدارة برنامج GRC.</a:t>
            </a:r>
          </a:p>
        </p:txBody>
      </p:sp>
      <p:pic>
        <p:nvPicPr>
          <p:cNvPr id="21" name="Icon Warning 20" descr="icon001.png"/>
          <p:cNvPicPr>
            <a:picLocks noChangeAspect="1"/>
          </p:cNvPicPr>
          <p:nvPr/>
        </p:nvPicPr>
        <p:blipFill>
          <a:blip r:embed="rId2"/>
          <a:stretch>
            <a:fillRect/>
          </a:stretch>
        </p:blipFill>
        <p:spPr>
          <a:xfrm>
            <a:off x="4512866" y="2756495"/>
            <a:ext cx="304800" cy="304800"/>
          </a:xfrm>
          <a:prstGeom prst="rect">
            <a:avLst/>
          </a:prstGeom>
        </p:spPr>
      </p:pic>
      <p:sp>
        <p:nvSpPr>
          <p:cNvPr id="22" name="Text 21"/>
          <p:cNvSpPr txBox="1"/>
          <p:nvPr/>
        </p:nvSpPr>
        <p:spPr>
          <a:xfrm>
            <a:off x="838200" y="27171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تطبيق ECC كاملاً في جهة حقيقية.</a:t>
            </a:r>
          </a:p>
        </p:txBody>
      </p:sp>
      <p:pic>
        <p:nvPicPr>
          <p:cNvPr id="23" name="Icon Warning 22" descr="icon001.png"/>
          <p:cNvPicPr>
            <a:picLocks noChangeAspect="1"/>
          </p:cNvPicPr>
          <p:nvPr/>
        </p:nvPicPr>
        <p:blipFill>
          <a:blip r:embed="rId2"/>
          <a:stretch>
            <a:fillRect/>
          </a:stretch>
        </p:blipFill>
        <p:spPr>
          <a:xfrm>
            <a:off x="4512866" y="3239095"/>
            <a:ext cx="304800" cy="304800"/>
          </a:xfrm>
          <a:prstGeom prst="rect">
            <a:avLst/>
          </a:prstGeom>
        </p:spPr>
      </p:pic>
      <p:sp>
        <p:nvSpPr>
          <p:cNvPr id="24" name="Text 23"/>
          <p:cNvSpPr txBox="1"/>
          <p:nvPr/>
        </p:nvSpPr>
        <p:spPr>
          <a:xfrm>
            <a:off x="838200" y="31997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بديلاً عن الخبرة أو الشهادات المهنية.</a:t>
            </a:r>
          </a:p>
        </p:txBody>
      </p:sp>
      <p:sp>
        <p:nvSpPr>
          <p:cNvPr id="25" name="Text 24"/>
          <p:cNvSpPr txBox="1"/>
          <p:nvPr/>
        </p:nvSpPr>
        <p:spPr>
          <a:xfrm>
            <a:off x="838200" y="3669625"/>
            <a:ext cx="39794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هو بداية منظمة وصحيحة، تبني عليها.</a:t>
            </a:r>
          </a:p>
        </p:txBody>
      </p:sp>
      <p:sp>
        <p:nvSpPr>
          <p:cNvPr id="26" name="Text 2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7" name="Text 2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يسير كل موضوع في الكورس</a:t>
            </a:r>
          </a:p>
        </p:txBody>
      </p:sp>
      <p:sp>
        <p:nvSpPr>
          <p:cNvPr id="5" name="Rule 4"/>
          <p:cNvSpPr/>
          <p:nvPr/>
        </p:nvSpPr>
        <p:spPr>
          <a:xfrm>
            <a:off x="9008170" y="17214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1</a:t>
            </a:r>
          </a:p>
        </p:txBody>
      </p:sp>
      <p:sp>
        <p:nvSpPr>
          <p:cNvPr id="7" name="Text 6"/>
          <p:cNvSpPr txBox="1"/>
          <p:nvPr/>
        </p:nvSpPr>
        <p:spPr>
          <a:xfrm>
            <a:off x="903357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شرح مبسط</a:t>
            </a:r>
          </a:p>
        </p:txBody>
      </p:sp>
      <p:sp>
        <p:nvSpPr>
          <p:cNvPr id="8" name="Text 7"/>
          <p:cNvSpPr txBox="1"/>
          <p:nvPr/>
        </p:nvSpPr>
        <p:spPr>
          <a:xfrm>
            <a:off x="903357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الفكرة بلغة واضحة.</a:t>
            </a:r>
          </a:p>
        </p:txBody>
      </p:sp>
      <p:sp>
        <p:nvSpPr>
          <p:cNvPr id="9" name="Text 8"/>
          <p:cNvSpPr txBox="1"/>
          <p:nvPr/>
        </p:nvSpPr>
        <p:spPr>
          <a:xfrm>
            <a:off x="857121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7214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2</a:t>
            </a:r>
          </a:p>
        </p:txBody>
      </p:sp>
      <p:sp>
        <p:nvSpPr>
          <p:cNvPr id="12" name="Text 11"/>
          <p:cNvSpPr txBox="1"/>
          <p:nvPr/>
        </p:nvSpPr>
        <p:spPr>
          <a:xfrm>
            <a:off x="630178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مثال محلول</a:t>
            </a:r>
          </a:p>
        </p:txBody>
      </p:sp>
      <p:sp>
        <p:nvSpPr>
          <p:cNvPr id="13" name="Text 12"/>
          <p:cNvSpPr txBox="1"/>
          <p:nvPr/>
        </p:nvSpPr>
        <p:spPr>
          <a:xfrm>
            <a:off x="630178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نطبقها أمامك على رُفاد.</a:t>
            </a:r>
          </a:p>
        </p:txBody>
      </p:sp>
      <p:sp>
        <p:nvSpPr>
          <p:cNvPr id="14" name="Text 13"/>
          <p:cNvSpPr txBox="1"/>
          <p:nvPr/>
        </p:nvSpPr>
        <p:spPr>
          <a:xfrm>
            <a:off x="583942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7214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3</a:t>
            </a:r>
          </a:p>
        </p:txBody>
      </p:sp>
      <p:sp>
        <p:nvSpPr>
          <p:cNvPr id="17" name="Text 16"/>
          <p:cNvSpPr txBox="1"/>
          <p:nvPr/>
        </p:nvSpPr>
        <p:spPr>
          <a:xfrm>
            <a:off x="356999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تمرين قصير</a:t>
            </a:r>
          </a:p>
        </p:txBody>
      </p:sp>
      <p:sp>
        <p:nvSpPr>
          <p:cNvPr id="18" name="Text 17"/>
          <p:cNvSpPr txBox="1"/>
          <p:nvPr/>
        </p:nvSpPr>
        <p:spPr>
          <a:xfrm>
            <a:off x="3569990" y="2953266"/>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تحاول بنفسك في الكراسة.</a:t>
            </a:r>
          </a:p>
        </p:txBody>
      </p:sp>
      <p:sp>
        <p:nvSpPr>
          <p:cNvPr id="19" name="Text 18"/>
          <p:cNvSpPr txBox="1"/>
          <p:nvPr/>
        </p:nvSpPr>
        <p:spPr>
          <a:xfrm>
            <a:off x="310763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7214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4</a:t>
            </a:r>
          </a:p>
        </p:txBody>
      </p:sp>
      <p:sp>
        <p:nvSpPr>
          <p:cNvPr id="22" name="Text 21"/>
          <p:cNvSpPr txBox="1"/>
          <p:nvPr/>
        </p:nvSpPr>
        <p:spPr>
          <a:xfrm>
            <a:off x="83820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إجابة نموذجية</a:t>
            </a:r>
          </a:p>
        </p:txBody>
      </p:sp>
      <p:sp>
        <p:nvSpPr>
          <p:cNvPr id="23" name="Text 22"/>
          <p:cNvSpPr txBox="1"/>
          <p:nvPr/>
        </p:nvSpPr>
        <p:spPr>
          <a:xfrm>
            <a:off x="83820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نقارن ونشرح لماذا.</a:t>
            </a:r>
          </a:p>
        </p:txBody>
      </p:sp>
      <p:sp>
        <p:nvSpPr>
          <p:cNvPr id="24" name="Text box 23"/>
          <p:cNvSpPr/>
          <p:nvPr/>
        </p:nvSpPr>
        <p:spPr>
          <a:xfrm>
            <a:off x="9887148" y="3983236"/>
            <a:ext cx="1492052" cy="444500"/>
          </a:xfrm>
          <a:prstGeom prst="roundRect">
            <a:avLst>
              <a:gd name="adj" fmla="val 50000"/>
            </a:avLst>
          </a:prstGeom>
          <a:solidFill>
            <a:srgbClr val="E6EDF4"/>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24506B"/>
                </a:solidFill>
                <a:latin typeface="IBM Plex Sans Arabic"/>
                <a:ea typeface="IBM Plex Sans Arabic"/>
                <a:cs typeface="IBM Plex Sans Arabic"/>
              </a:rPr>
              <a:t>مثال محلول</a:t>
            </a:r>
          </a:p>
        </p:txBody>
      </p:sp>
      <p:sp>
        <p:nvSpPr>
          <p:cNvPr id="25" name="Text box 24"/>
          <p:cNvSpPr/>
          <p:nvPr/>
        </p:nvSpPr>
        <p:spPr>
          <a:xfrm>
            <a:off x="7480498" y="3983236"/>
            <a:ext cx="2305050" cy="444500"/>
          </a:xfrm>
          <a:prstGeom prst="roundRect">
            <a:avLst>
              <a:gd name="adj" fmla="val 50000"/>
            </a:avLst>
          </a:prstGeom>
          <a:solidFill>
            <a:srgbClr val="F6ECDA"/>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8A4B12"/>
                </a:solidFill>
                <a:latin typeface="IBM Plex Sans Arabic"/>
                <a:ea typeface="IBM Plex Sans Arabic"/>
                <a:cs typeface="IBM Plex Sans Arabic"/>
              </a:rPr>
              <a:t>تمرين · توقف وطبّق</a:t>
            </a:r>
          </a:p>
        </p:txBody>
      </p:sp>
      <p:sp>
        <p:nvSpPr>
          <p:cNvPr id="26" name="Text box 25"/>
          <p:cNvSpPr/>
          <p:nvPr/>
        </p:nvSpPr>
        <p:spPr>
          <a:xfrm>
            <a:off x="5392341" y="3983236"/>
            <a:ext cx="1986558" cy="444500"/>
          </a:xfrm>
          <a:prstGeom prst="roundRect">
            <a:avLst>
              <a:gd name="adj" fmla="val 50000"/>
            </a:avLst>
          </a:prstGeom>
          <a:solidFill>
            <a:srgbClr val="DCEFEA"/>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الإجابة النموذجية</a:t>
            </a:r>
          </a:p>
        </p:txBody>
      </p:sp>
      <p:sp>
        <p:nvSpPr>
          <p:cNvPr id="27" name="Text 26"/>
          <p:cNvSpPr txBox="1"/>
          <p:nvPr/>
        </p:nvSpPr>
        <p:spPr>
          <a:xfrm>
            <a:off x="1511661" y="3988316"/>
            <a:ext cx="3779079"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ابحث عن هذه العلامات أعلى الشرائح.</a:t>
            </a:r>
          </a:p>
        </p:txBody>
      </p:sp>
      <p:sp>
        <p:nvSpPr>
          <p:cNvPr id="28" name="Box 27"/>
          <p:cNvSpPr/>
          <p:nvPr/>
        </p:nvSpPr>
        <p:spPr>
          <a:xfrm>
            <a:off x="812800" y="4681736"/>
            <a:ext cx="10566400" cy="965200"/>
          </a:xfrm>
          <a:prstGeom prst="roundRect">
            <a:avLst>
              <a:gd name="adj" fmla="val 10526"/>
            </a:avLst>
          </a:prstGeom>
          <a:solidFill>
            <a:srgbClr val="F6ECDA"/>
          </a:solidFill>
          <a:ln>
            <a:noFill/>
          </a:ln>
        </p:spPr>
        <p:txBody>
          <a:bodyPr rtlCol="0" anchor="ctr"/>
          <a:lstStyle/>
          <a:p>
            <a:pPr algn="ctr"/>
          </a:p>
        </p:txBody>
      </p:sp>
      <p:pic>
        <p:nvPicPr>
          <p:cNvPr id="29" name="Icon Clock 28" descr="icon002.png"/>
          <p:cNvPicPr>
            <a:picLocks noChangeAspect="1"/>
          </p:cNvPicPr>
          <p:nvPr/>
        </p:nvPicPr>
        <p:blipFill>
          <a:blip r:embed="rId2"/>
          <a:stretch>
            <a:fillRect/>
          </a:stretch>
        </p:blipFill>
        <p:spPr>
          <a:xfrm>
            <a:off x="10877550" y="5002411"/>
            <a:ext cx="323850" cy="323850"/>
          </a:xfrm>
          <a:prstGeom prst="rect">
            <a:avLst/>
          </a:prstGeom>
        </p:spPr>
      </p:pic>
      <p:sp>
        <p:nvSpPr>
          <p:cNvPr id="30" name="Text 29"/>
          <p:cNvSpPr txBox="1"/>
          <p:nvPr/>
        </p:nvSpPr>
        <p:spPr>
          <a:xfrm>
            <a:off x="838200" y="4769366"/>
            <a:ext cx="99250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حين ترى «توقف وطبّق»: أوقف الفيديو مؤقتاً، واكتب إجابتك في الكراسة قبل أن تنتقل إلى الإجابة النموذجية.</a:t>
            </a:r>
          </a:p>
        </p:txBody>
      </p:sp>
      <p:sp>
        <p:nvSpPr>
          <p:cNvPr id="31" name="Text 30"/>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32" name="Text 31"/>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لمن هذا الكورس؟</a:t>
            </a:r>
          </a:p>
        </p:txBody>
      </p:sp>
      <p:sp>
        <p:nvSpPr>
          <p:cNvPr id="5" name="Rule 4"/>
          <p:cNvSpPr/>
          <p:nvPr/>
        </p:nvSpPr>
        <p:spPr>
          <a:xfrm>
            <a:off x="7975600" y="1721445"/>
            <a:ext cx="3403600" cy="31750"/>
          </a:xfrm>
          <a:prstGeom prst="rect">
            <a:avLst/>
          </a:prstGeom>
          <a:solidFill>
            <a:srgbClr val="C9C0AC"/>
          </a:solidFill>
          <a:ln>
            <a:noFill/>
          </a:ln>
        </p:spPr>
        <p:txBody>
          <a:bodyPr rtlCol="0" anchor="ctr"/>
          <a:lstStyle/>
          <a:p>
            <a:pPr algn="ctr"/>
          </a:p>
        </p:txBody>
      </p:sp>
      <p:pic>
        <p:nvPicPr>
          <p:cNvPr id="6" name="Icon GraduationCap 5" descr="icon003.png"/>
          <p:cNvPicPr>
            <a:picLocks noChangeAspect="1"/>
          </p:cNvPicPr>
          <p:nvPr/>
        </p:nvPicPr>
        <p:blipFill>
          <a:blip r:embed="rId2"/>
          <a:stretch>
            <a:fillRect/>
          </a:stretch>
        </p:blipFill>
        <p:spPr>
          <a:xfrm>
            <a:off x="8013700" y="1892895"/>
            <a:ext cx="603250" cy="603250"/>
          </a:xfrm>
          <a:prstGeom prst="rect">
            <a:avLst/>
          </a:prstGeom>
        </p:spPr>
      </p:pic>
      <p:sp>
        <p:nvSpPr>
          <p:cNvPr id="7" name="Text 6"/>
          <p:cNvSpPr txBox="1"/>
          <p:nvPr/>
        </p:nvSpPr>
        <p:spPr>
          <a:xfrm>
            <a:off x="8001000" y="2611969"/>
            <a:ext cx="33401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خريج بلا خبرة</a:t>
            </a:r>
          </a:p>
        </p:txBody>
      </p:sp>
      <p:sp>
        <p:nvSpPr>
          <p:cNvPr id="8" name="Text 7"/>
          <p:cNvSpPr txBox="1"/>
          <p:nvPr/>
        </p:nvSpPr>
        <p:spPr>
          <a:xfrm>
            <a:off x="8001000" y="304732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من أي تخصص: حاسب، أو نظم، أو إدارة، أو قانون، أو محاسبة.</a:t>
            </a:r>
          </a:p>
        </p:txBody>
      </p:sp>
      <p:sp>
        <p:nvSpPr>
          <p:cNvPr id="9" name="Rule 8"/>
          <p:cNvSpPr/>
          <p:nvPr/>
        </p:nvSpPr>
        <p:spPr>
          <a:xfrm>
            <a:off x="4394200" y="1721445"/>
            <a:ext cx="3403600" cy="31750"/>
          </a:xfrm>
          <a:prstGeom prst="rect">
            <a:avLst/>
          </a:prstGeom>
          <a:solidFill>
            <a:srgbClr val="C9C0AC"/>
          </a:solidFill>
          <a:ln>
            <a:noFill/>
          </a:ln>
        </p:spPr>
        <p:txBody>
          <a:bodyPr rtlCol="0" anchor="ctr"/>
          <a:lstStyle/>
          <a:p>
            <a:pPr algn="ctr"/>
          </a:p>
        </p:txBody>
      </p:sp>
      <p:pic>
        <p:nvPicPr>
          <p:cNvPr id="10" name="Icon Settings 9" descr="icon004.png"/>
          <p:cNvPicPr>
            <a:picLocks noChangeAspect="1"/>
          </p:cNvPicPr>
          <p:nvPr/>
        </p:nvPicPr>
        <p:blipFill>
          <a:blip r:embed="rId3"/>
          <a:stretch>
            <a:fillRect/>
          </a:stretch>
        </p:blipFill>
        <p:spPr>
          <a:xfrm>
            <a:off x="4432300" y="1892895"/>
            <a:ext cx="603250" cy="603250"/>
          </a:xfrm>
          <a:prstGeom prst="rect">
            <a:avLst/>
          </a:prstGeom>
        </p:spPr>
      </p:pic>
      <p:sp>
        <p:nvSpPr>
          <p:cNvPr id="11" name="Text 10"/>
          <p:cNvSpPr txBox="1"/>
          <p:nvPr/>
        </p:nvSpPr>
        <p:spPr>
          <a:xfrm>
            <a:off x="4419600" y="2611969"/>
            <a:ext cx="33401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موظف تقنية يريد التحول</a:t>
            </a:r>
          </a:p>
        </p:txBody>
      </p:sp>
      <p:sp>
        <p:nvSpPr>
          <p:cNvPr id="12" name="Text 11"/>
          <p:cNvSpPr txBox="1"/>
          <p:nvPr/>
        </p:nvSpPr>
        <p:spPr>
          <a:xfrm>
            <a:off x="4419600" y="304732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دعم فني، أو شبكات، أو تطوير، ويريد مساراً يجمع التقنية بالإدارة.</a:t>
            </a:r>
          </a:p>
        </p:txBody>
      </p:sp>
      <p:sp>
        <p:nvSpPr>
          <p:cNvPr id="13" name="Rule 12"/>
          <p:cNvSpPr/>
          <p:nvPr/>
        </p:nvSpPr>
        <p:spPr>
          <a:xfrm>
            <a:off x="812800" y="1721445"/>
            <a:ext cx="3403600" cy="31750"/>
          </a:xfrm>
          <a:prstGeom prst="rect">
            <a:avLst/>
          </a:prstGeom>
          <a:solidFill>
            <a:srgbClr val="C9C0AC"/>
          </a:solidFill>
          <a:ln>
            <a:noFill/>
          </a:ln>
        </p:spPr>
        <p:txBody>
          <a:bodyPr rtlCol="0" anchor="ctr"/>
          <a:lstStyle/>
          <a:p>
            <a:pPr algn="ctr"/>
          </a:p>
        </p:txBody>
      </p:sp>
      <p:pic>
        <p:nvPicPr>
          <p:cNvPr id="14" name="Icon Book 13" descr="icon005.png"/>
          <p:cNvPicPr>
            <a:picLocks noChangeAspect="1"/>
          </p:cNvPicPr>
          <p:nvPr/>
        </p:nvPicPr>
        <p:blipFill>
          <a:blip r:embed="rId4"/>
          <a:stretch>
            <a:fillRect/>
          </a:stretch>
        </p:blipFill>
        <p:spPr>
          <a:xfrm>
            <a:off x="850900" y="1892895"/>
            <a:ext cx="603250" cy="603250"/>
          </a:xfrm>
          <a:prstGeom prst="rect">
            <a:avLst/>
          </a:prstGeom>
        </p:spPr>
      </p:pic>
      <p:sp>
        <p:nvSpPr>
          <p:cNvPr id="15" name="Text 14"/>
          <p:cNvSpPr txBox="1"/>
          <p:nvPr/>
        </p:nvSpPr>
        <p:spPr>
          <a:xfrm>
            <a:off x="838200" y="2611969"/>
            <a:ext cx="3340100" cy="69850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مختص تدقيق أو قانون أو جودة</a:t>
            </a:r>
          </a:p>
        </p:txBody>
      </p:sp>
      <p:sp>
        <p:nvSpPr>
          <p:cNvPr id="16" name="Text 15"/>
          <p:cNvSpPr txBox="1"/>
          <p:nvPr/>
        </p:nvSpPr>
        <p:spPr>
          <a:xfrm>
            <a:off x="838200" y="339657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يملك نصف المهارة، ويحتاج لغة الأمن السيبراني.</a:t>
            </a:r>
          </a:p>
        </p:txBody>
      </p:sp>
      <p:sp>
        <p:nvSpPr>
          <p:cNvPr id="17" name="Box 16"/>
          <p:cNvSpPr/>
          <p:nvPr/>
        </p:nvSpPr>
        <p:spPr>
          <a:xfrm>
            <a:off x="812800" y="4845645"/>
            <a:ext cx="10566400" cy="609600"/>
          </a:xfrm>
          <a:prstGeom prst="roundRect">
            <a:avLst>
              <a:gd name="adj" fmla="val 16666"/>
            </a:avLst>
          </a:prstGeom>
          <a:solidFill>
            <a:srgbClr val="E3F1ED"/>
          </a:solidFill>
          <a:ln>
            <a:noFill/>
          </a:ln>
        </p:spPr>
        <p:txBody>
          <a:bodyPr rtlCol="0" anchor="ctr"/>
          <a:lstStyle/>
          <a:p>
            <a:pPr algn="ctr"/>
          </a:p>
        </p:txBody>
      </p:sp>
      <p:pic>
        <p:nvPicPr>
          <p:cNvPr id="18" name="Icon Lightbulb 17" descr="icon006.png"/>
          <p:cNvPicPr>
            <a:picLocks noChangeAspect="1"/>
          </p:cNvPicPr>
          <p:nvPr/>
        </p:nvPicPr>
        <p:blipFill>
          <a:blip r:embed="rId5"/>
          <a:stretch>
            <a:fillRect/>
          </a:stretch>
        </p:blipFill>
        <p:spPr>
          <a:xfrm>
            <a:off x="10877550" y="4988520"/>
            <a:ext cx="323850" cy="323850"/>
          </a:xfrm>
          <a:prstGeom prst="rect">
            <a:avLst/>
          </a:prstGeom>
        </p:spPr>
      </p:pic>
      <p:sp>
        <p:nvSpPr>
          <p:cNvPr id="19" name="Text 18"/>
          <p:cNvSpPr txBox="1"/>
          <p:nvPr/>
        </p:nvSpPr>
        <p:spPr>
          <a:xfrm>
            <a:off x="838200" y="4933275"/>
            <a:ext cx="9925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تحتاج خلفية في الأمن السيبراني. تحتاج فضولاً، وكتابة واضحة، واستعداداً للتطبيق.</a:t>
            </a:r>
          </a:p>
        </p:txBody>
      </p:sp>
      <p:sp>
        <p:nvSpPr>
          <p:cNvPr id="20" name="Text 19"/>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1" name="Text 20"/>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الكورس: تسع وحدات من الفكرة إلى الوظيفة</a:t>
            </a:r>
          </a:p>
        </p:txBody>
      </p:sp>
      <p:sp>
        <p:nvSpPr>
          <p:cNvPr id="5" name="Text 4"/>
          <p:cNvSpPr txBox="1"/>
          <p:nvPr/>
        </p:nvSpPr>
        <p:spPr>
          <a:xfrm>
            <a:off x="0" y="1601049"/>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0E7C6B"/>
                </a:solidFill>
                <a:latin typeface="IBM Plex Sans Arabic"/>
                <a:ea typeface="IBM Plex Sans Arabic"/>
                <a:cs typeface="IBM Plex Sans Arabic"/>
              </a:rPr>
              <a:t>المعرفة والتطبيق: الوحدات 1 إلى 5</a:t>
            </a:r>
          </a:p>
        </p:txBody>
      </p:sp>
      <p:sp>
        <p:nvSpPr>
          <p:cNvPr id="6" name="Rule 5"/>
          <p:cNvSpPr/>
          <p:nvPr/>
        </p:nvSpPr>
        <p:spPr>
          <a:xfrm>
            <a:off x="9347200" y="2005905"/>
            <a:ext cx="2032000" cy="31750"/>
          </a:xfrm>
          <a:prstGeom prst="rect">
            <a:avLst/>
          </a:prstGeom>
          <a:solidFill>
            <a:srgbClr val="0E7C6B"/>
          </a:solidFill>
          <a:ln>
            <a:noFill/>
          </a:ln>
        </p:spPr>
        <p:txBody>
          <a:bodyPr rtlCol="0" anchor="ctr"/>
          <a:lstStyle/>
          <a:p>
            <a:pPr algn="ctr"/>
          </a:p>
        </p:txBody>
      </p:sp>
      <p:sp>
        <p:nvSpPr>
          <p:cNvPr id="7" name="Text 6"/>
          <p:cNvSpPr txBox="1"/>
          <p:nvPr/>
        </p:nvSpPr>
        <p:spPr>
          <a:xfrm>
            <a:off x="9372600" y="2209740"/>
            <a:ext cx="196850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01</a:t>
            </a:r>
          </a:p>
        </p:txBody>
      </p:sp>
      <p:sp>
        <p:nvSpPr>
          <p:cNvPr id="8" name="Text 7"/>
          <p:cNvSpPr txBox="1"/>
          <p:nvPr/>
        </p:nvSpPr>
        <p:spPr>
          <a:xfrm>
            <a:off x="9372600" y="2592645"/>
            <a:ext cx="1968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ما هو GRC؟</a:t>
            </a:r>
          </a:p>
        </p:txBody>
      </p:sp>
      <p:sp>
        <p:nvSpPr>
          <p:cNvPr id="9" name="Text 8"/>
          <p:cNvSpPr txBox="1"/>
          <p:nvPr/>
        </p:nvSpPr>
        <p:spPr>
          <a:xfrm>
            <a:off x="9372600" y="2958659"/>
            <a:ext cx="19685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الفكرة، والأدوار، ويوم العمل</a:t>
            </a:r>
          </a:p>
        </p:txBody>
      </p:sp>
      <p:sp>
        <p:nvSpPr>
          <p:cNvPr id="10" name="Rule 9"/>
          <p:cNvSpPr/>
          <p:nvPr/>
        </p:nvSpPr>
        <p:spPr>
          <a:xfrm>
            <a:off x="7213600" y="2005905"/>
            <a:ext cx="2032000" cy="31750"/>
          </a:xfrm>
          <a:prstGeom prst="rect">
            <a:avLst/>
          </a:prstGeom>
          <a:solidFill>
            <a:srgbClr val="0E7C6B"/>
          </a:solidFill>
          <a:ln>
            <a:noFill/>
          </a:ln>
        </p:spPr>
        <p:txBody>
          <a:bodyPr rtlCol="0" anchor="ctr"/>
          <a:lstStyle/>
          <a:p>
            <a:pPr algn="ctr"/>
          </a:p>
        </p:txBody>
      </p:sp>
      <p:sp>
        <p:nvSpPr>
          <p:cNvPr id="11" name="Text 10"/>
          <p:cNvSpPr txBox="1"/>
          <p:nvPr/>
        </p:nvSpPr>
        <p:spPr>
          <a:xfrm>
            <a:off x="7239000" y="2209740"/>
            <a:ext cx="196850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02</a:t>
            </a:r>
          </a:p>
        </p:txBody>
      </p:sp>
      <p:sp>
        <p:nvSpPr>
          <p:cNvPr id="12" name="Text 11"/>
          <p:cNvSpPr txBox="1"/>
          <p:nvPr/>
        </p:nvSpPr>
        <p:spPr>
          <a:xfrm>
            <a:off x="7239000" y="2592645"/>
            <a:ext cx="1968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الأساس التقني</a:t>
            </a:r>
          </a:p>
        </p:txBody>
      </p:sp>
      <p:sp>
        <p:nvSpPr>
          <p:cNvPr id="13" name="Text 12"/>
          <p:cNvSpPr txBox="1"/>
          <p:nvPr/>
        </p:nvSpPr>
        <p:spPr>
          <a:xfrm>
            <a:off x="7239000" y="2958659"/>
            <a:ext cx="19685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هويات، وشبكات، وسحابة، وحماية</a:t>
            </a:r>
          </a:p>
        </p:txBody>
      </p:sp>
      <p:sp>
        <p:nvSpPr>
          <p:cNvPr id="14" name="Rule 13"/>
          <p:cNvSpPr/>
          <p:nvPr/>
        </p:nvSpPr>
        <p:spPr>
          <a:xfrm>
            <a:off x="5080000" y="2005905"/>
            <a:ext cx="2032000" cy="31750"/>
          </a:xfrm>
          <a:prstGeom prst="rect">
            <a:avLst/>
          </a:prstGeom>
          <a:solidFill>
            <a:srgbClr val="0E7C6B"/>
          </a:solidFill>
          <a:ln>
            <a:noFill/>
          </a:ln>
        </p:spPr>
        <p:txBody>
          <a:bodyPr rtlCol="0" anchor="ctr"/>
          <a:lstStyle/>
          <a:p>
            <a:pPr algn="ctr"/>
          </a:p>
        </p:txBody>
      </p:sp>
      <p:sp>
        <p:nvSpPr>
          <p:cNvPr id="15" name="Text 14"/>
          <p:cNvSpPr txBox="1"/>
          <p:nvPr/>
        </p:nvSpPr>
        <p:spPr>
          <a:xfrm>
            <a:off x="5105400" y="2209740"/>
            <a:ext cx="196850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03</a:t>
            </a:r>
          </a:p>
        </p:txBody>
      </p:sp>
      <p:sp>
        <p:nvSpPr>
          <p:cNvPr id="16" name="Text 15"/>
          <p:cNvSpPr txBox="1"/>
          <p:nvPr/>
        </p:nvSpPr>
        <p:spPr>
          <a:xfrm>
            <a:off x="5105400" y="2592645"/>
            <a:ext cx="196850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المفاهيم وتطبيقاتها</a:t>
            </a:r>
          </a:p>
        </p:txBody>
      </p:sp>
      <p:sp>
        <p:nvSpPr>
          <p:cNvPr id="17" name="Text 16"/>
          <p:cNvSpPr txBox="1"/>
          <p:nvPr/>
        </p:nvSpPr>
        <p:spPr>
          <a:xfrm>
            <a:off x="5105400" y="3288859"/>
            <a:ext cx="1968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حوكمة، ومخاطر، وامتثال</a:t>
            </a:r>
          </a:p>
        </p:txBody>
      </p:sp>
      <p:sp>
        <p:nvSpPr>
          <p:cNvPr id="18" name="Rule 17"/>
          <p:cNvSpPr/>
          <p:nvPr/>
        </p:nvSpPr>
        <p:spPr>
          <a:xfrm>
            <a:off x="2946400" y="2005905"/>
            <a:ext cx="2032000" cy="31750"/>
          </a:xfrm>
          <a:prstGeom prst="rect">
            <a:avLst/>
          </a:prstGeom>
          <a:solidFill>
            <a:srgbClr val="0E7C6B"/>
          </a:solidFill>
          <a:ln>
            <a:noFill/>
          </a:ln>
        </p:spPr>
        <p:txBody>
          <a:bodyPr rtlCol="0" anchor="ctr"/>
          <a:lstStyle/>
          <a:p>
            <a:pPr algn="ctr"/>
          </a:p>
        </p:txBody>
      </p:sp>
      <p:sp>
        <p:nvSpPr>
          <p:cNvPr id="19" name="Text 18"/>
          <p:cNvSpPr txBox="1"/>
          <p:nvPr/>
        </p:nvSpPr>
        <p:spPr>
          <a:xfrm>
            <a:off x="2971800" y="2209740"/>
            <a:ext cx="196850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04</a:t>
            </a:r>
          </a:p>
        </p:txBody>
      </p:sp>
      <p:sp>
        <p:nvSpPr>
          <p:cNvPr id="20" name="Text 19"/>
          <p:cNvSpPr txBox="1"/>
          <p:nvPr/>
        </p:nvSpPr>
        <p:spPr>
          <a:xfrm>
            <a:off x="2971800" y="2592645"/>
            <a:ext cx="1968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الأطر والانطباق</a:t>
            </a:r>
          </a:p>
        </p:txBody>
      </p:sp>
      <p:sp>
        <p:nvSpPr>
          <p:cNvPr id="21" name="Text 20"/>
          <p:cNvSpPr txBox="1"/>
          <p:nvPr/>
        </p:nvSpPr>
        <p:spPr>
          <a:xfrm>
            <a:off x="2971800" y="2958659"/>
            <a:ext cx="1968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ما الذي ينطبق، والمواءمة</a:t>
            </a:r>
          </a:p>
        </p:txBody>
      </p:sp>
      <p:sp>
        <p:nvSpPr>
          <p:cNvPr id="22" name="Rule 21"/>
          <p:cNvSpPr/>
          <p:nvPr/>
        </p:nvSpPr>
        <p:spPr>
          <a:xfrm>
            <a:off x="812800" y="2005905"/>
            <a:ext cx="2032000" cy="31750"/>
          </a:xfrm>
          <a:prstGeom prst="rect">
            <a:avLst/>
          </a:prstGeom>
          <a:solidFill>
            <a:srgbClr val="0E7C6B"/>
          </a:solidFill>
          <a:ln>
            <a:noFill/>
          </a:ln>
        </p:spPr>
        <p:txBody>
          <a:bodyPr rtlCol="0" anchor="ctr"/>
          <a:lstStyle/>
          <a:p>
            <a:pPr algn="ctr"/>
          </a:p>
        </p:txBody>
      </p:sp>
      <p:sp>
        <p:nvSpPr>
          <p:cNvPr id="23" name="Text 22"/>
          <p:cNvSpPr txBox="1"/>
          <p:nvPr/>
        </p:nvSpPr>
        <p:spPr>
          <a:xfrm>
            <a:off x="838200" y="2209740"/>
            <a:ext cx="196850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05</a:t>
            </a:r>
          </a:p>
        </p:txBody>
      </p:sp>
      <p:sp>
        <p:nvSpPr>
          <p:cNvPr id="24" name="Text 23"/>
          <p:cNvSpPr txBox="1"/>
          <p:nvPr/>
        </p:nvSpPr>
        <p:spPr>
          <a:xfrm>
            <a:off x="838200" y="2592645"/>
            <a:ext cx="1968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الشهادات</a:t>
            </a:r>
          </a:p>
        </p:txBody>
      </p:sp>
      <p:sp>
        <p:nvSpPr>
          <p:cNvPr id="25" name="Text 24"/>
          <p:cNvSpPr txBox="1"/>
          <p:nvPr/>
        </p:nvSpPr>
        <p:spPr>
          <a:xfrm>
            <a:off x="838200" y="2958659"/>
            <a:ext cx="1968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لمن، ومتى، وكيف تختار</a:t>
            </a:r>
          </a:p>
        </p:txBody>
      </p:sp>
      <p:sp>
        <p:nvSpPr>
          <p:cNvPr id="26" name="Text 25"/>
          <p:cNvSpPr txBox="1"/>
          <p:nvPr/>
        </p:nvSpPr>
        <p:spPr>
          <a:xfrm>
            <a:off x="0" y="3687620"/>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الوصول إلى الوظيفة: الوحدات 6 إلى 9</a:t>
            </a:r>
          </a:p>
        </p:txBody>
      </p:sp>
      <p:sp>
        <p:nvSpPr>
          <p:cNvPr id="27" name="Rule 26"/>
          <p:cNvSpPr/>
          <p:nvPr/>
        </p:nvSpPr>
        <p:spPr>
          <a:xfrm>
            <a:off x="9331920" y="4092476"/>
            <a:ext cx="2047280" cy="31750"/>
          </a:xfrm>
          <a:prstGeom prst="rect">
            <a:avLst/>
          </a:prstGeom>
          <a:solidFill>
            <a:srgbClr val="C27A16"/>
          </a:solidFill>
          <a:ln>
            <a:noFill/>
          </a:ln>
        </p:spPr>
        <p:txBody>
          <a:bodyPr rtlCol="0" anchor="ctr"/>
          <a:lstStyle/>
          <a:p>
            <a:pPr algn="ctr"/>
          </a:p>
        </p:txBody>
      </p:sp>
      <p:sp>
        <p:nvSpPr>
          <p:cNvPr id="28" name="Text 27"/>
          <p:cNvSpPr txBox="1"/>
          <p:nvPr/>
        </p:nvSpPr>
        <p:spPr>
          <a:xfrm>
            <a:off x="9357320" y="4296311"/>
            <a:ext cx="198378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C27A16"/>
                </a:solidFill>
                <a:latin typeface="Readex Pro"/>
                <a:ea typeface="Readex Pro"/>
                <a:cs typeface="Readex Pro"/>
              </a:rPr>
              <a:t>06</a:t>
            </a:r>
          </a:p>
        </p:txBody>
      </p:sp>
      <p:sp>
        <p:nvSpPr>
          <p:cNvPr id="29" name="Text 28"/>
          <p:cNvSpPr txBox="1"/>
          <p:nvPr/>
        </p:nvSpPr>
        <p:spPr>
          <a:xfrm>
            <a:off x="9357320" y="4679216"/>
            <a:ext cx="19837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خطة البداية</a:t>
            </a:r>
          </a:p>
        </p:txBody>
      </p:sp>
      <p:sp>
        <p:nvSpPr>
          <p:cNvPr id="30" name="Text 29"/>
          <p:cNvSpPr txBox="1"/>
          <p:nvPr/>
        </p:nvSpPr>
        <p:spPr>
          <a:xfrm>
            <a:off x="9357320" y="5045230"/>
            <a:ext cx="198378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مشاريع وملف أعمال</a:t>
            </a:r>
          </a:p>
        </p:txBody>
      </p:sp>
      <p:sp>
        <p:nvSpPr>
          <p:cNvPr id="31" name="Rule 30"/>
          <p:cNvSpPr/>
          <p:nvPr/>
        </p:nvSpPr>
        <p:spPr>
          <a:xfrm>
            <a:off x="7183041" y="4092476"/>
            <a:ext cx="2047280" cy="31750"/>
          </a:xfrm>
          <a:prstGeom prst="rect">
            <a:avLst/>
          </a:prstGeom>
          <a:solidFill>
            <a:srgbClr val="C27A16"/>
          </a:solidFill>
          <a:ln>
            <a:noFill/>
          </a:ln>
        </p:spPr>
        <p:txBody>
          <a:bodyPr rtlCol="0" anchor="ctr"/>
          <a:lstStyle/>
          <a:p>
            <a:pPr algn="ctr"/>
          </a:p>
        </p:txBody>
      </p:sp>
      <p:sp>
        <p:nvSpPr>
          <p:cNvPr id="32" name="Text 31"/>
          <p:cNvSpPr txBox="1"/>
          <p:nvPr/>
        </p:nvSpPr>
        <p:spPr>
          <a:xfrm>
            <a:off x="7208441" y="4296311"/>
            <a:ext cx="198378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C27A16"/>
                </a:solidFill>
                <a:latin typeface="Readex Pro"/>
                <a:ea typeface="Readex Pro"/>
                <a:cs typeface="Readex Pro"/>
              </a:rPr>
              <a:t>07</a:t>
            </a:r>
          </a:p>
        </p:txBody>
      </p:sp>
      <p:sp>
        <p:nvSpPr>
          <p:cNvPr id="33" name="Text 32"/>
          <p:cNvSpPr txBox="1"/>
          <p:nvPr/>
        </p:nvSpPr>
        <p:spPr>
          <a:xfrm>
            <a:off x="7208441" y="4679216"/>
            <a:ext cx="19837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السيرة الذاتية</a:t>
            </a:r>
          </a:p>
        </p:txBody>
      </p:sp>
      <p:sp>
        <p:nvSpPr>
          <p:cNvPr id="34" name="Text 33"/>
          <p:cNvSpPr txBox="1"/>
          <p:nvPr/>
        </p:nvSpPr>
        <p:spPr>
          <a:xfrm>
            <a:off x="7208441" y="5045230"/>
            <a:ext cx="198378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إنجازات تُقرأ</a:t>
            </a:r>
          </a:p>
        </p:txBody>
      </p:sp>
      <p:sp>
        <p:nvSpPr>
          <p:cNvPr id="35" name="Rule 34"/>
          <p:cNvSpPr/>
          <p:nvPr/>
        </p:nvSpPr>
        <p:spPr>
          <a:xfrm>
            <a:off x="5034161" y="4092476"/>
            <a:ext cx="2047280" cy="31750"/>
          </a:xfrm>
          <a:prstGeom prst="rect">
            <a:avLst/>
          </a:prstGeom>
          <a:solidFill>
            <a:srgbClr val="C27A16"/>
          </a:solidFill>
          <a:ln>
            <a:noFill/>
          </a:ln>
        </p:spPr>
        <p:txBody>
          <a:bodyPr rtlCol="0" anchor="ctr"/>
          <a:lstStyle/>
          <a:p>
            <a:pPr algn="ctr"/>
          </a:p>
        </p:txBody>
      </p:sp>
      <p:sp>
        <p:nvSpPr>
          <p:cNvPr id="36" name="Text 35"/>
          <p:cNvSpPr txBox="1"/>
          <p:nvPr/>
        </p:nvSpPr>
        <p:spPr>
          <a:xfrm>
            <a:off x="5059561" y="4296311"/>
            <a:ext cx="198378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C27A16"/>
                </a:solidFill>
                <a:latin typeface="Readex Pro"/>
                <a:ea typeface="Readex Pro"/>
                <a:cs typeface="Readex Pro"/>
              </a:rPr>
              <a:t>08</a:t>
            </a:r>
          </a:p>
        </p:txBody>
      </p:sp>
      <p:sp>
        <p:nvSpPr>
          <p:cNvPr id="37" name="Text 36"/>
          <p:cNvSpPr txBox="1"/>
          <p:nvPr/>
        </p:nvSpPr>
        <p:spPr>
          <a:xfrm>
            <a:off x="5059561" y="4679216"/>
            <a:ext cx="19837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لينكدإن والفرص</a:t>
            </a:r>
          </a:p>
        </p:txBody>
      </p:sp>
      <p:sp>
        <p:nvSpPr>
          <p:cNvPr id="38" name="Text 37"/>
          <p:cNvSpPr txBox="1"/>
          <p:nvPr/>
        </p:nvSpPr>
        <p:spPr>
          <a:xfrm>
            <a:off x="5059561" y="5045230"/>
            <a:ext cx="198378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ملف يجده الباحث</a:t>
            </a:r>
          </a:p>
        </p:txBody>
      </p:sp>
      <p:sp>
        <p:nvSpPr>
          <p:cNvPr id="39" name="Rule 38"/>
          <p:cNvSpPr/>
          <p:nvPr/>
        </p:nvSpPr>
        <p:spPr>
          <a:xfrm>
            <a:off x="2885281" y="4092476"/>
            <a:ext cx="2047280" cy="31750"/>
          </a:xfrm>
          <a:prstGeom prst="rect">
            <a:avLst/>
          </a:prstGeom>
          <a:solidFill>
            <a:srgbClr val="C27A16"/>
          </a:solidFill>
          <a:ln>
            <a:noFill/>
          </a:ln>
        </p:spPr>
        <p:txBody>
          <a:bodyPr rtlCol="0" anchor="ctr"/>
          <a:lstStyle/>
          <a:p>
            <a:pPr algn="ctr"/>
          </a:p>
        </p:txBody>
      </p:sp>
      <p:sp>
        <p:nvSpPr>
          <p:cNvPr id="40" name="Text 39"/>
          <p:cNvSpPr txBox="1"/>
          <p:nvPr/>
        </p:nvSpPr>
        <p:spPr>
          <a:xfrm>
            <a:off x="2910681" y="4296311"/>
            <a:ext cx="198378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C27A16"/>
                </a:solidFill>
                <a:latin typeface="Readex Pro"/>
                <a:ea typeface="Readex Pro"/>
                <a:cs typeface="Readex Pro"/>
              </a:rPr>
              <a:t>09</a:t>
            </a:r>
          </a:p>
        </p:txBody>
      </p:sp>
      <p:sp>
        <p:nvSpPr>
          <p:cNvPr id="41" name="Text 40"/>
          <p:cNvSpPr txBox="1"/>
          <p:nvPr/>
        </p:nvSpPr>
        <p:spPr>
          <a:xfrm>
            <a:off x="2910681" y="4679216"/>
            <a:ext cx="198378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المقابلة والانطلاق</a:t>
            </a:r>
          </a:p>
        </p:txBody>
      </p:sp>
      <p:sp>
        <p:nvSpPr>
          <p:cNvPr id="42" name="Text 41"/>
          <p:cNvSpPr txBox="1"/>
          <p:nvPr/>
        </p:nvSpPr>
        <p:spPr>
          <a:xfrm>
            <a:off x="2910681" y="5375430"/>
            <a:ext cx="198378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إجابات وخطة</a:t>
            </a:r>
          </a:p>
        </p:txBody>
      </p:sp>
      <p:sp>
        <p:nvSpPr>
          <p:cNvPr id="43" name="Text 42"/>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44" name="Text 43"/>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الحالة العملية: شركة رُفاد</a:t>
            </a:r>
          </a:p>
        </p:txBody>
      </p:sp>
      <p:sp>
        <p:nvSpPr>
          <p:cNvPr id="5" name="Box 4"/>
          <p:cNvSpPr/>
          <p:nvPr/>
        </p:nvSpPr>
        <p:spPr>
          <a:xfrm>
            <a:off x="812800" y="1657945"/>
            <a:ext cx="10566400" cy="905470"/>
          </a:xfrm>
          <a:prstGeom prst="roundRect">
            <a:avLst>
              <a:gd name="adj" fmla="val 11220"/>
            </a:avLst>
          </a:prstGeom>
          <a:solidFill>
            <a:srgbClr val="172433"/>
          </a:solidFill>
          <a:ln>
            <a:noFill/>
          </a:ln>
        </p:spPr>
        <p:txBody>
          <a:bodyPr rtlCol="0" anchor="ctr"/>
          <a:lstStyle/>
          <a:p>
            <a:pPr algn="ctr"/>
          </a:p>
        </p:txBody>
      </p:sp>
      <p:sp>
        <p:nvSpPr>
          <p:cNvPr id="6" name="Text 5"/>
          <p:cNvSpPr txBox="1"/>
          <p:nvPr/>
        </p:nvSpPr>
        <p:spPr>
          <a:xfrm>
            <a:off x="1520150" y="1806535"/>
            <a:ext cx="9655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F3EFE6"/>
                </a:solidFill>
                <a:latin typeface="Readex Pro"/>
                <a:ea typeface="Readex Pro"/>
                <a:cs typeface="Readex Pro"/>
              </a:rPr>
              <a:t>رُفاد للخدمات اللوجستية</a:t>
            </a:r>
          </a:p>
        </p:txBody>
      </p:sp>
      <p:sp>
        <p:nvSpPr>
          <p:cNvPr id="7" name="Text 6"/>
          <p:cNvSpPr txBox="1"/>
          <p:nvPr/>
        </p:nvSpPr>
        <p:spPr>
          <a:xfrm>
            <a:off x="1520150" y="2121241"/>
            <a:ext cx="965585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C9D3DC"/>
                </a:solidFill>
                <a:latin typeface="IBM Plex Sans Arabic"/>
                <a:ea typeface="IBM Plex Sans Arabic"/>
                <a:cs typeface="IBM Plex Sans Arabic"/>
              </a:rPr>
              <a:t>شركة افتراضية متوسطة الحجم في الرياض، نحو 200 موظف، تقدم خدمات التوصيل والتخزين للمتاجر الإلكترونية.</a:t>
            </a:r>
          </a:p>
        </p:txBody>
      </p:sp>
      <p:sp>
        <p:nvSpPr>
          <p:cNvPr id="8" name="Text box 7"/>
          <p:cNvSpPr/>
          <p:nvPr/>
        </p:nvSpPr>
        <p:spPr>
          <a:xfrm>
            <a:off x="1016000" y="1810345"/>
            <a:ext cx="1066998" cy="274241"/>
          </a:xfrm>
          <a:prstGeom prst="roundRect">
            <a:avLst>
              <a:gd name="adj" fmla="val 50000"/>
            </a:avLst>
          </a:prstGeom>
          <a:solidFill>
            <a:srgbClr val="F2C46D"/>
          </a:solidFill>
          <a:ln>
            <a:noFill/>
          </a:ln>
        </p:spPr>
        <p:txBody>
          <a:bodyPr rtlCol="0" anchor="ctr" wrap="square" tIns="0" rIns="74139" bIns="32004" lIns="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شركة افتراضية</a:t>
            </a:r>
          </a:p>
        </p:txBody>
      </p:sp>
      <p:sp>
        <p:nvSpPr>
          <p:cNvPr id="9" name="Rule 8"/>
          <p:cNvSpPr/>
          <p:nvPr/>
        </p:nvSpPr>
        <p:spPr>
          <a:xfrm>
            <a:off x="7992566" y="2753916"/>
            <a:ext cx="3386634" cy="31750"/>
          </a:xfrm>
          <a:prstGeom prst="rect">
            <a:avLst/>
          </a:prstGeom>
          <a:solidFill>
            <a:srgbClr val="0E7C6B"/>
          </a:solidFill>
          <a:ln>
            <a:noFill/>
          </a:ln>
        </p:spPr>
        <p:txBody>
          <a:bodyPr rtlCol="0" anchor="ctr"/>
          <a:lstStyle/>
          <a:p>
            <a:pPr algn="ctr"/>
          </a:p>
        </p:txBody>
      </p:sp>
      <p:sp>
        <p:nvSpPr>
          <p:cNvPr id="10" name="Text 9"/>
          <p:cNvSpPr txBox="1"/>
          <p:nvPr/>
        </p:nvSpPr>
        <p:spPr>
          <a:xfrm>
            <a:off x="7992566"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نظام الموارد البشرية والرواتب</a:t>
            </a:r>
          </a:p>
        </p:txBody>
      </p:sp>
      <p:sp>
        <p:nvSpPr>
          <p:cNvPr id="11" name="Text 10"/>
          <p:cNvSpPr txBox="1"/>
          <p:nvPr/>
        </p:nvSpPr>
        <p:spPr>
          <a:xfrm>
            <a:off x="7992566"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خدمة سحابية. بيانات الموظفين ورواتبهم وحساباتهم البنكية. المالكة: مديرة الموارد البشرية.</a:t>
            </a:r>
          </a:p>
        </p:txBody>
      </p:sp>
      <p:sp>
        <p:nvSpPr>
          <p:cNvPr id="12" name="Rule 11"/>
          <p:cNvSpPr/>
          <p:nvPr/>
        </p:nvSpPr>
        <p:spPr>
          <a:xfrm>
            <a:off x="4402733" y="2753916"/>
            <a:ext cx="3386634" cy="31750"/>
          </a:xfrm>
          <a:prstGeom prst="rect">
            <a:avLst/>
          </a:prstGeom>
          <a:solidFill>
            <a:srgbClr val="24506B"/>
          </a:solidFill>
          <a:ln>
            <a:noFill/>
          </a:ln>
        </p:spPr>
        <p:txBody>
          <a:bodyPr rtlCol="0" anchor="ctr"/>
          <a:lstStyle/>
          <a:p>
            <a:pPr algn="ctr"/>
          </a:p>
        </p:txBody>
      </p:sp>
      <p:sp>
        <p:nvSpPr>
          <p:cNvPr id="13" name="Text 12"/>
          <p:cNvSpPr txBox="1"/>
          <p:nvPr/>
        </p:nvSpPr>
        <p:spPr>
          <a:xfrm>
            <a:off x="4402733"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Readex Pro"/>
                <a:ea typeface="Readex Pro"/>
                <a:cs typeface="Readex Pro"/>
              </a:rPr>
              <a:t>البريد والملفات السحابية</a:t>
            </a:r>
          </a:p>
        </p:txBody>
      </p:sp>
      <p:sp>
        <p:nvSpPr>
          <p:cNvPr id="14" name="Text 13"/>
          <p:cNvSpPr txBox="1"/>
          <p:nvPr/>
        </p:nvSpPr>
        <p:spPr>
          <a:xfrm>
            <a:off x="4402733"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منصة بريد وتخزين سحابية لكل الموظفين. المالك: مدير تقنية المعلومات.</a:t>
            </a:r>
          </a:p>
        </p:txBody>
      </p:sp>
      <p:sp>
        <p:nvSpPr>
          <p:cNvPr id="15" name="Rule 14"/>
          <p:cNvSpPr/>
          <p:nvPr/>
        </p:nvSpPr>
        <p:spPr>
          <a:xfrm>
            <a:off x="812899" y="2753916"/>
            <a:ext cx="3386634" cy="31750"/>
          </a:xfrm>
          <a:prstGeom prst="rect">
            <a:avLst/>
          </a:prstGeom>
          <a:solidFill>
            <a:srgbClr val="5A3F87"/>
          </a:solidFill>
          <a:ln>
            <a:noFill/>
          </a:ln>
        </p:spPr>
        <p:txBody>
          <a:bodyPr rtlCol="0" anchor="ctr"/>
          <a:lstStyle/>
          <a:p>
            <a:pPr algn="ctr"/>
          </a:p>
        </p:txBody>
      </p:sp>
      <p:sp>
        <p:nvSpPr>
          <p:cNvPr id="16" name="Text 15"/>
          <p:cNvSpPr txBox="1"/>
          <p:nvPr/>
        </p:nvSpPr>
        <p:spPr>
          <a:xfrm>
            <a:off x="812899"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Readex Pro"/>
                <a:ea typeface="Readex Pro"/>
                <a:cs typeface="Readex Pro"/>
              </a:rPr>
              <a:t>تطبيق تتبع الشحنات</a:t>
            </a:r>
          </a:p>
        </p:txBody>
      </p:sp>
      <p:sp>
        <p:nvSpPr>
          <p:cNvPr id="17" name="Text 16"/>
          <p:cNvSpPr txBox="1"/>
          <p:nvPr/>
        </p:nvSpPr>
        <p:spPr>
          <a:xfrm>
            <a:off x="812899"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على خادم سحابي. أسماء المستلمين وهواتفهم وعناوينهم. المالك: مدير تقنية المعلومات.</a:t>
            </a:r>
          </a:p>
        </p:txBody>
      </p:sp>
      <p:sp>
        <p:nvSpPr>
          <p:cNvPr id="18" name="Text 17"/>
          <p:cNvSpPr txBox="1"/>
          <p:nvPr/>
        </p:nvSpPr>
        <p:spPr>
          <a:xfrm>
            <a:off x="536448" y="3892225"/>
            <a:ext cx="3730752"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 يدير خادم التطبيق عن بعد</a:t>
            </a:r>
          </a:p>
        </p:txBody>
      </p:sp>
      <p:sp>
        <p:nvSpPr>
          <p:cNvPr id="19" name="Box 18"/>
          <p:cNvSpPr/>
          <p:nvPr/>
        </p:nvSpPr>
        <p:spPr>
          <a:xfrm>
            <a:off x="812800" y="4157067"/>
            <a:ext cx="3454400" cy="860921"/>
          </a:xfrm>
          <a:prstGeom prst="roundRect">
            <a:avLst>
              <a:gd name="adj" fmla="val 10326"/>
            </a:avLst>
          </a:prstGeom>
          <a:solidFill>
            <a:srgbClr val="F6ECDA"/>
          </a:solidFill>
          <a:ln>
            <a:noFill/>
          </a:ln>
        </p:spPr>
        <p:txBody>
          <a:bodyPr rtlCol="0" anchor="ctr"/>
          <a:lstStyle/>
          <a:p>
            <a:pPr algn="ctr"/>
          </a:p>
        </p:txBody>
      </p:sp>
      <p:sp>
        <p:nvSpPr>
          <p:cNvPr id="20" name="Text 19"/>
          <p:cNvSpPr txBox="1"/>
          <p:nvPr/>
        </p:nvSpPr>
        <p:spPr>
          <a:xfrm>
            <a:off x="838200" y="4247110"/>
            <a:ext cx="32893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8A4B12"/>
                </a:solidFill>
                <a:latin typeface="Readex Pro"/>
                <a:ea typeface="Readex Pro"/>
                <a:cs typeface="Readex Pro"/>
              </a:rPr>
              <a:t>شركة سَنَد للحلول التقنية</a:t>
            </a:r>
          </a:p>
        </p:txBody>
      </p:sp>
      <p:sp>
        <p:nvSpPr>
          <p:cNvPr id="21" name="Text 20"/>
          <p:cNvSpPr txBox="1"/>
          <p:nvPr/>
        </p:nvSpPr>
        <p:spPr>
          <a:xfrm>
            <a:off x="857250" y="4466126"/>
            <a:ext cx="327025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172433"/>
                </a:solidFill>
                <a:latin typeface="IBM Plex Sans Arabic"/>
                <a:ea typeface="IBM Plex Sans Arabic"/>
                <a:cs typeface="IBM Plex Sans Arabic"/>
              </a:rPr>
              <a:t>مورد افتراضي للدعم الفني وإدارة الخوادم عن بعد، بعقد سنوي.</a:t>
            </a:r>
          </a:p>
        </p:txBody>
      </p:sp>
      <p:sp>
        <p:nvSpPr>
          <p:cNvPr id="22" name="Text 21"/>
          <p:cNvSpPr txBox="1"/>
          <p:nvPr/>
        </p:nvSpPr>
        <p:spPr>
          <a:xfrm>
            <a:off x="6068314" y="5181056"/>
            <a:ext cx="5310886"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4E5A66"/>
                </a:solidFill>
                <a:latin typeface="IBM Plex Sans Arabic"/>
                <a:ea typeface="IBM Plex Sans Arabic"/>
                <a:cs typeface="IBM Plex Sans Arabic"/>
              </a:rPr>
              <a:t>رُفاد شركة افتراضية لأغراض التدريب. اسمها وأشخاصها وأنظمتها وبياناتها وأدلتها مختلقة، وأي تشابه مع جهة حقيقية غير مقصود.</a:t>
            </a:r>
          </a:p>
        </p:txBody>
      </p:sp>
      <p:sp>
        <p:nvSpPr>
          <p:cNvPr id="23" name="Text 22"/>
          <p:cNvSpPr txBox="1"/>
          <p:nvPr/>
        </p:nvSpPr>
        <p:spPr>
          <a:xfrm>
            <a:off x="658114" y="5181056"/>
            <a:ext cx="5310886"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24506B"/>
                </a:solidFill>
                <a:latin typeface="IBM Plex Sans Arabic"/>
                <a:ea typeface="IBM Plex Sans Arabic"/>
                <a:cs typeface="IBM Plex Sans Arabic"/>
              </a:rPr>
              <a:t>رُفاد شركة خاصة ليست جهة حكومية ولا تابعة لجهة حكومية، ولا تملك بنية تحتية وطنية حساسة، فالضوابط الأساسية ECC-⁠‎2:2024‎ غير ملزمة لها. في هذه الحالة التدريبية تبنّتها رُفاد طوعاً مرجعاً داخلياً.</a:t>
            </a:r>
          </a:p>
        </p:txBody>
      </p:sp>
      <p:sp>
        <p:nvSpPr>
          <p:cNvPr id="24" name="Text 23"/>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5" name="Text 24"/>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يفعل ماذا في رُفاد</a:t>
            </a:r>
          </a:p>
        </p:txBody>
      </p:sp>
      <p:graphicFrame>
        <p:nvGraphicFramePr>
          <p:cNvPr id="5" name="Table 4"/>
          <p:cNvGraphicFramePr>
            <a:graphicFrameLocks noGrp="1"/>
          </p:cNvGraphicFramePr>
          <p:nvPr/>
        </p:nvGraphicFramePr>
        <p:xfrm>
          <a:off x="815975" y="1661120"/>
          <a:ext cx="10560050" cy="3798888"/>
        </p:xfrm>
        <a:graphic>
          <a:graphicData uri="http://schemas.openxmlformats.org/drawingml/2006/table">
            <a:tbl>
              <a:tblPr firstRow="0" bandRow="0" lastRow="0" firstCol="0" lastCol="0" bandCol="0">
                <a:tableStyleId>{2D5ABB26-0587-4C30-8999-92F81FD0307C}</a:tableStyleId>
              </a:tblPr>
              <a:tblGrid>
                <a:gridCol w="5068570"/>
                <a:gridCol w="2323465"/>
                <a:gridCol w="31680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ماذا يفعل في الحالة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الشخص</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الدور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صاحب الصلاحية: يعتمد السياسات ويقبل المخاطر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خالد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تشرف وتتابع كل ربع سنة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يرأسها 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لجنة الأمن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الخط الثاني: المنهجية والمتابعة والتقارير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ريم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مسؤولة GRC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تساعد ريم في كل تطبيقات الكورس</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أنت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محلل GRC متدرب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يملك الأنظمة التقنية ويشرف على المورد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 سلمان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مالكة نظام الموارد البشرية والرواتب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منى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مديرة الموارد البشرية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العقود والمشتريات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فهد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المدير المالي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7" name="Text 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48651" y="1423690"/>
            <a:ext cx="233054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01</a:t>
            </a:r>
          </a:p>
        </p:txBody>
      </p:sp>
      <p:sp>
        <p:nvSpPr>
          <p:cNvPr id="4" name="Text 3"/>
          <p:cNvSpPr txBox="1"/>
          <p:nvPr/>
        </p:nvSpPr>
        <p:spPr>
          <a:xfrm>
            <a:off x="5809119" y="1845155"/>
            <a:ext cx="369673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ما هو GRC؟</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قبل المصطلحات والأطر: ما العمل الذي يقوم به مختص GRC، ولماذا تحتاجه كل جهة؟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تشرح GRC بثلاثة أسئلة وبمثال من رُفاد.</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لماذا تحتاجه الجهات، وأين يقع بين أدوار الأمن.</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شكل يوم العمل والمسميات المبتدئة.</a:t>
            </a:r>
          </a:p>
        </p:txBody>
      </p:sp>
      <p:sp>
        <p:nvSpPr>
          <p:cNvPr id="14" name="Text 13"/>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01 · ما هو GRC؟</a:t>
            </a:r>
          </a:p>
        </p:txBody>
      </p:sp>
      <p:sp>
        <p:nvSpPr>
          <p:cNvPr id="15" name="Text 14"/>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 كلمات، وسؤال لكل منها</a:t>
            </a:r>
          </a:p>
        </p:txBody>
      </p:sp>
      <p:sp>
        <p:nvSpPr>
          <p:cNvPr id="5" name="Rule 4"/>
          <p:cNvSpPr/>
          <p:nvPr/>
        </p:nvSpPr>
        <p:spPr>
          <a:xfrm>
            <a:off x="7958634" y="1657945"/>
            <a:ext cx="3420566" cy="31750"/>
          </a:xfrm>
          <a:prstGeom prst="rect">
            <a:avLst/>
          </a:prstGeom>
          <a:solidFill>
            <a:srgbClr val="0E7C6B"/>
          </a:solidFill>
          <a:ln>
            <a:noFill/>
          </a:ln>
        </p:spPr>
        <p:txBody>
          <a:bodyPr rtlCol="0" anchor="ctr"/>
          <a:lstStyle/>
          <a:p>
            <a:pPr algn="ctr"/>
          </a:p>
        </p:txBody>
      </p:sp>
      <p:sp>
        <p:nvSpPr>
          <p:cNvPr id="6" name="Text 5"/>
          <p:cNvSpPr txBox="1"/>
          <p:nvPr/>
        </p:nvSpPr>
        <p:spPr>
          <a:xfrm>
            <a:off x="7984034"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0E7C6B"/>
                </a:solidFill>
                <a:latin typeface="Readex Pro"/>
                <a:ea typeface="Readex Pro"/>
                <a:cs typeface="Readex Pro"/>
              </a:rPr>
              <a:t>Governance</a:t>
            </a:r>
          </a:p>
        </p:txBody>
      </p:sp>
      <p:sp>
        <p:nvSpPr>
          <p:cNvPr id="7" name="Text 6"/>
          <p:cNvSpPr txBox="1"/>
          <p:nvPr/>
        </p:nvSpPr>
        <p:spPr>
          <a:xfrm>
            <a:off x="7984034"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الحوكمة</a:t>
            </a:r>
          </a:p>
        </p:txBody>
      </p:sp>
      <p:sp>
        <p:nvSpPr>
          <p:cNvPr id="8" name="Text 7"/>
          <p:cNvSpPr txBox="1"/>
          <p:nvPr/>
        </p:nvSpPr>
        <p:spPr>
          <a:xfrm>
            <a:off x="7984034" y="2662456"/>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من يقرر، وبأي قواعد،</a:t>
            </a:r>
            <a:br/>
            <a:r>
              <a:rPr sz="2000" b="1" i="0">
                <a:solidFill>
                  <a:srgbClr val="0E7C6B"/>
                </a:solidFill>
                <a:latin typeface="IBM Plex Sans Arabic"/>
                <a:ea typeface="IBM Plex Sans Arabic"/>
                <a:cs typeface="IBM Plex Sans Arabic"/>
              </a:rPr>
              <a:t>وكيف نتابع؟</a:t>
            </a:r>
          </a:p>
        </p:txBody>
      </p:sp>
      <p:sp>
        <p:nvSpPr>
          <p:cNvPr id="9" name="Text 8"/>
          <p:cNvSpPr txBox="1"/>
          <p:nvPr/>
        </p:nvSpPr>
        <p:spPr>
          <a:xfrm>
            <a:off x="7984034" y="3448078"/>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سياسات معتمدة، ولجنة، وأدوار.</a:t>
            </a:r>
          </a:p>
        </p:txBody>
      </p:sp>
      <p:sp>
        <p:nvSpPr>
          <p:cNvPr id="10" name="Box 9"/>
          <p:cNvSpPr/>
          <p:nvPr/>
        </p:nvSpPr>
        <p:spPr>
          <a:xfrm>
            <a:off x="7996734" y="4228207"/>
            <a:ext cx="3344366" cy="840581"/>
          </a:xfrm>
          <a:prstGeom prst="roundRect">
            <a:avLst>
              <a:gd name="adj" fmla="val 9065"/>
            </a:avLst>
          </a:prstGeom>
          <a:solidFill>
            <a:srgbClr val="F1ECE1"/>
          </a:solidFill>
          <a:ln>
            <a:noFill/>
          </a:ln>
        </p:spPr>
        <p:txBody>
          <a:bodyPr rtlCol="0" anchor="ctr"/>
          <a:lstStyle/>
          <a:p>
            <a:pPr algn="ctr"/>
          </a:p>
        </p:txBody>
      </p:sp>
      <p:sp>
        <p:nvSpPr>
          <p:cNvPr id="11" name="Text 10"/>
          <p:cNvSpPr txBox="1"/>
          <p:nvPr/>
        </p:nvSpPr>
        <p:spPr>
          <a:xfrm>
            <a:off x="8022134" y="4275959"/>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الرئيس التنفيذي يعتمد سياسة الأمن السيبراني.</a:t>
            </a:r>
          </a:p>
        </p:txBody>
      </p:sp>
      <p:sp>
        <p:nvSpPr>
          <p:cNvPr id="12" name="Rule 11"/>
          <p:cNvSpPr/>
          <p:nvPr/>
        </p:nvSpPr>
        <p:spPr>
          <a:xfrm>
            <a:off x="4385667" y="1657945"/>
            <a:ext cx="3420566" cy="31750"/>
          </a:xfrm>
          <a:prstGeom prst="rect">
            <a:avLst/>
          </a:prstGeom>
          <a:solidFill>
            <a:srgbClr val="8A4B12"/>
          </a:solidFill>
          <a:ln>
            <a:noFill/>
          </a:ln>
        </p:spPr>
        <p:txBody>
          <a:bodyPr rtlCol="0" anchor="ctr"/>
          <a:lstStyle/>
          <a:p>
            <a:pPr algn="ctr"/>
          </a:p>
        </p:txBody>
      </p:sp>
      <p:sp>
        <p:nvSpPr>
          <p:cNvPr id="13" name="Text 12"/>
          <p:cNvSpPr txBox="1"/>
          <p:nvPr/>
        </p:nvSpPr>
        <p:spPr>
          <a:xfrm>
            <a:off x="4411067"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8A4B12"/>
                </a:solidFill>
                <a:latin typeface="Readex Pro"/>
                <a:ea typeface="Readex Pro"/>
                <a:cs typeface="Readex Pro"/>
              </a:rPr>
              <a:t>Risk</a:t>
            </a:r>
          </a:p>
        </p:txBody>
      </p:sp>
      <p:sp>
        <p:nvSpPr>
          <p:cNvPr id="14" name="Text 13"/>
          <p:cNvSpPr txBox="1"/>
          <p:nvPr/>
        </p:nvSpPr>
        <p:spPr>
          <a:xfrm>
            <a:off x="4411067"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المخاطر</a:t>
            </a:r>
          </a:p>
        </p:txBody>
      </p:sp>
      <p:sp>
        <p:nvSpPr>
          <p:cNvPr id="15" name="Text 14"/>
          <p:cNvSpPr txBox="1"/>
          <p:nvPr/>
        </p:nvSpPr>
        <p:spPr>
          <a:xfrm>
            <a:off x="4411067" y="2662456"/>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ما الذي قد يضرنا،</a:t>
            </a:r>
            <a:br/>
            <a:r>
              <a:rPr sz="2000" b="1" i="0">
                <a:solidFill>
                  <a:srgbClr val="8A4B12"/>
                </a:solidFill>
                <a:latin typeface="IBM Plex Sans Arabic"/>
                <a:ea typeface="IBM Plex Sans Arabic"/>
                <a:cs typeface="IBM Plex Sans Arabic"/>
              </a:rPr>
              <a:t>وماذا نفعل حياله؟</a:t>
            </a:r>
          </a:p>
        </p:txBody>
      </p:sp>
      <p:sp>
        <p:nvSpPr>
          <p:cNvPr id="16" name="Text 15"/>
          <p:cNvSpPr txBox="1"/>
          <p:nvPr/>
        </p:nvSpPr>
        <p:spPr>
          <a:xfrm>
            <a:off x="4411067" y="3448078"/>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سجل مخاطر وخطط معالجة.</a:t>
            </a:r>
          </a:p>
        </p:txBody>
      </p:sp>
      <p:sp>
        <p:nvSpPr>
          <p:cNvPr id="17" name="Box 16"/>
          <p:cNvSpPr/>
          <p:nvPr/>
        </p:nvSpPr>
        <p:spPr>
          <a:xfrm>
            <a:off x="4423767" y="3896816"/>
            <a:ext cx="3344366" cy="840581"/>
          </a:xfrm>
          <a:prstGeom prst="roundRect">
            <a:avLst>
              <a:gd name="adj" fmla="val 9065"/>
            </a:avLst>
          </a:prstGeom>
          <a:solidFill>
            <a:srgbClr val="F1ECE1"/>
          </a:solidFill>
          <a:ln>
            <a:noFill/>
          </a:ln>
        </p:spPr>
        <p:txBody>
          <a:bodyPr rtlCol="0" anchor="ctr"/>
          <a:lstStyle/>
          <a:p>
            <a:pPr algn="ctr"/>
          </a:p>
        </p:txBody>
      </p:sp>
      <p:sp>
        <p:nvSpPr>
          <p:cNvPr id="18" name="Text 17"/>
          <p:cNvSpPr txBox="1"/>
          <p:nvPr/>
        </p:nvSpPr>
        <p:spPr>
          <a:xfrm>
            <a:off x="4449167" y="3944568"/>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تقييم خطر حساب المورد المشترك.</a:t>
            </a:r>
          </a:p>
        </p:txBody>
      </p:sp>
      <p:sp>
        <p:nvSpPr>
          <p:cNvPr id="19" name="Rule 18"/>
          <p:cNvSpPr/>
          <p:nvPr/>
        </p:nvSpPr>
        <p:spPr>
          <a:xfrm>
            <a:off x="812701" y="1657945"/>
            <a:ext cx="3420566" cy="31750"/>
          </a:xfrm>
          <a:prstGeom prst="rect">
            <a:avLst/>
          </a:prstGeom>
          <a:solidFill>
            <a:srgbClr val="24506B"/>
          </a:solidFill>
          <a:ln>
            <a:noFill/>
          </a:ln>
        </p:spPr>
        <p:txBody>
          <a:bodyPr rtlCol="0" anchor="ctr"/>
          <a:lstStyle/>
          <a:p>
            <a:pPr algn="ctr"/>
          </a:p>
        </p:txBody>
      </p:sp>
      <p:sp>
        <p:nvSpPr>
          <p:cNvPr id="20" name="Text 19"/>
          <p:cNvSpPr txBox="1"/>
          <p:nvPr/>
        </p:nvSpPr>
        <p:spPr>
          <a:xfrm>
            <a:off x="838101"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24506B"/>
                </a:solidFill>
                <a:latin typeface="Readex Pro"/>
                <a:ea typeface="Readex Pro"/>
                <a:cs typeface="Readex Pro"/>
              </a:rPr>
              <a:t>Compliance</a:t>
            </a:r>
          </a:p>
        </p:txBody>
      </p:sp>
      <p:sp>
        <p:nvSpPr>
          <p:cNvPr id="21" name="Text 20"/>
          <p:cNvSpPr txBox="1"/>
          <p:nvPr/>
        </p:nvSpPr>
        <p:spPr>
          <a:xfrm>
            <a:off x="838101"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الامتثال</a:t>
            </a:r>
          </a:p>
        </p:txBody>
      </p:sp>
      <p:sp>
        <p:nvSpPr>
          <p:cNvPr id="22" name="Text 21"/>
          <p:cNvSpPr txBox="1"/>
          <p:nvPr/>
        </p:nvSpPr>
        <p:spPr>
          <a:xfrm>
            <a:off x="838101" y="2662456"/>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هل نلتزم، وكيف نثبت؟</a:t>
            </a:r>
          </a:p>
        </p:txBody>
      </p:sp>
      <p:sp>
        <p:nvSpPr>
          <p:cNvPr id="23" name="Text 22"/>
          <p:cNvSpPr txBox="1"/>
          <p:nvPr/>
        </p:nvSpPr>
        <p:spPr>
          <a:xfrm>
            <a:off x="838101" y="3092478"/>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تقييمات، وأدلة، وملاحظات.</a:t>
            </a:r>
          </a:p>
        </p:txBody>
      </p:sp>
      <p:sp>
        <p:nvSpPr>
          <p:cNvPr id="24" name="Box 23"/>
          <p:cNvSpPr/>
          <p:nvPr/>
        </p:nvSpPr>
        <p:spPr>
          <a:xfrm>
            <a:off x="850801" y="3541216"/>
            <a:ext cx="3344366" cy="840581"/>
          </a:xfrm>
          <a:prstGeom prst="roundRect">
            <a:avLst>
              <a:gd name="adj" fmla="val 9065"/>
            </a:avLst>
          </a:prstGeom>
          <a:solidFill>
            <a:srgbClr val="F1ECE1"/>
          </a:solidFill>
          <a:ln>
            <a:noFill/>
          </a:ln>
        </p:spPr>
        <p:txBody>
          <a:bodyPr rtlCol="0" anchor="ctr"/>
          <a:lstStyle/>
          <a:p>
            <a:pPr algn="ctr"/>
          </a:p>
        </p:txBody>
      </p:sp>
      <p:sp>
        <p:nvSpPr>
          <p:cNvPr id="25" name="Text 24"/>
          <p:cNvSpPr txBox="1"/>
          <p:nvPr/>
        </p:nvSpPr>
        <p:spPr>
          <a:xfrm>
            <a:off x="876201" y="3588968"/>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فحص أدلة مراجعة صلاحيات نظام الرواتب.</a:t>
            </a:r>
          </a:p>
        </p:txBody>
      </p:sp>
      <p:sp>
        <p:nvSpPr>
          <p:cNvPr id="26" name="Box 25"/>
          <p:cNvSpPr/>
          <p:nvPr/>
        </p:nvSpPr>
        <p:spPr>
          <a:xfrm>
            <a:off x="812800" y="5284688"/>
            <a:ext cx="10566400" cy="609600"/>
          </a:xfrm>
          <a:prstGeom prst="roundRect">
            <a:avLst>
              <a:gd name="adj" fmla="val 16666"/>
            </a:avLst>
          </a:prstGeom>
          <a:solidFill>
            <a:srgbClr val="172433"/>
          </a:solidFill>
          <a:ln>
            <a:noFill/>
          </a:ln>
        </p:spPr>
        <p:txBody>
          <a:bodyPr rtlCol="0" anchor="ctr"/>
          <a:lstStyle/>
          <a:p>
            <a:pPr algn="ctr"/>
          </a:p>
        </p:txBody>
      </p:sp>
      <p:pic>
        <p:nvPicPr>
          <p:cNvPr id="27" name="Icon Lightbulb 26" descr="icon008.png"/>
          <p:cNvPicPr>
            <a:picLocks noChangeAspect="1"/>
          </p:cNvPicPr>
          <p:nvPr/>
        </p:nvPicPr>
        <p:blipFill>
          <a:blip r:embed="rId2"/>
          <a:stretch>
            <a:fillRect/>
          </a:stretch>
        </p:blipFill>
        <p:spPr>
          <a:xfrm>
            <a:off x="10915650" y="5446613"/>
            <a:ext cx="285750" cy="285750"/>
          </a:xfrm>
          <a:prstGeom prst="rect">
            <a:avLst/>
          </a:prstGeom>
        </p:spPr>
      </p:pic>
      <p:sp>
        <p:nvSpPr>
          <p:cNvPr id="28" name="Text 27"/>
          <p:cNvSpPr txBox="1"/>
          <p:nvPr/>
        </p:nvSpPr>
        <p:spPr>
          <a:xfrm>
            <a:off x="838200" y="5372318"/>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الحوكمة تضع القواعد، والمخاطر تحدد الأولويات، والامتثال يثبت التطبيق.</a:t>
            </a:r>
          </a:p>
        </p:txBody>
      </p:sp>
      <p:sp>
        <p:nvSpPr>
          <p:cNvPr id="29" name="Text 28"/>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30" name="Text 29"/>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تحتاج كل جهة من يعمل في GRC؟</a:t>
            </a:r>
          </a:p>
        </p:txBody>
      </p:sp>
      <p:sp>
        <p:nvSpPr>
          <p:cNvPr id="5" name="Rule 4"/>
          <p:cNvSpPr/>
          <p:nvPr/>
        </p:nvSpPr>
        <p:spPr>
          <a:xfrm>
            <a:off x="7967166" y="1696045"/>
            <a:ext cx="3412034" cy="31750"/>
          </a:xfrm>
          <a:prstGeom prst="rect">
            <a:avLst/>
          </a:prstGeom>
          <a:solidFill>
            <a:srgbClr val="C9C0AC"/>
          </a:solidFill>
          <a:ln>
            <a:noFill/>
          </a:ln>
        </p:spPr>
        <p:txBody>
          <a:bodyPr rtlCol="0" anchor="ctr"/>
          <a:lstStyle/>
          <a:p>
            <a:pPr algn="ctr"/>
          </a:p>
        </p:txBody>
      </p:sp>
      <p:sp>
        <p:nvSpPr>
          <p:cNvPr id="6" name="Text 5"/>
          <p:cNvSpPr txBox="1"/>
          <p:nvPr/>
        </p:nvSpPr>
        <p:spPr>
          <a:xfrm>
            <a:off x="7992566"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1</a:t>
            </a:r>
          </a:p>
        </p:txBody>
      </p:sp>
      <p:sp>
        <p:nvSpPr>
          <p:cNvPr id="7" name="Text 6"/>
          <p:cNvSpPr txBox="1"/>
          <p:nvPr/>
        </p:nvSpPr>
        <p:spPr>
          <a:xfrm>
            <a:off x="7992566"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أنظمة وعقود</a:t>
            </a:r>
          </a:p>
        </p:txBody>
      </p:sp>
      <p:sp>
        <p:nvSpPr>
          <p:cNvPr id="8" name="Text 7"/>
          <p:cNvSpPr txBox="1"/>
          <p:nvPr/>
        </p:nvSpPr>
        <p:spPr>
          <a:xfrm>
            <a:off x="7992566" y="3002875"/>
            <a:ext cx="3348534"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جهات كثيرة ملزمة بأنظمة وضوابط، والعملاء يطلبون التزامات في العقود. أحدٌ يجب أن يحول النص إلى تطبيق.</a:t>
            </a:r>
          </a:p>
        </p:txBody>
      </p:sp>
      <p:sp>
        <p:nvSpPr>
          <p:cNvPr id="9" name="Rule 8"/>
          <p:cNvSpPr/>
          <p:nvPr/>
        </p:nvSpPr>
        <p:spPr>
          <a:xfrm>
            <a:off x="4390033" y="1696045"/>
            <a:ext cx="3412034" cy="31750"/>
          </a:xfrm>
          <a:prstGeom prst="rect">
            <a:avLst/>
          </a:prstGeom>
          <a:solidFill>
            <a:srgbClr val="C9C0AC"/>
          </a:solidFill>
          <a:ln>
            <a:noFill/>
          </a:ln>
        </p:spPr>
        <p:txBody>
          <a:bodyPr rtlCol="0" anchor="ctr"/>
          <a:lstStyle/>
          <a:p>
            <a:pPr algn="ctr"/>
          </a:p>
        </p:txBody>
      </p:sp>
      <p:sp>
        <p:nvSpPr>
          <p:cNvPr id="10" name="Text 9"/>
          <p:cNvSpPr txBox="1"/>
          <p:nvPr/>
        </p:nvSpPr>
        <p:spPr>
          <a:xfrm>
            <a:off x="4415433"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2</a:t>
            </a:r>
          </a:p>
        </p:txBody>
      </p:sp>
      <p:sp>
        <p:nvSpPr>
          <p:cNvPr id="11" name="Text 10"/>
          <p:cNvSpPr txBox="1"/>
          <p:nvPr/>
        </p:nvSpPr>
        <p:spPr>
          <a:xfrm>
            <a:off x="4415433"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موارد محدودة</a:t>
            </a:r>
          </a:p>
        </p:txBody>
      </p:sp>
      <p:sp>
        <p:nvSpPr>
          <p:cNvPr id="12" name="Text 11"/>
          <p:cNvSpPr txBox="1"/>
          <p:nvPr/>
        </p:nvSpPr>
        <p:spPr>
          <a:xfrm>
            <a:off x="4415433" y="3002875"/>
            <a:ext cx="3348534"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لا تستطيع جهة أن تحمي كل شيء بالقدر نفسه. تقييم المخاطر يحدد أين تبدأ.</a:t>
            </a:r>
          </a:p>
        </p:txBody>
      </p:sp>
      <p:sp>
        <p:nvSpPr>
          <p:cNvPr id="13" name="Rule 12"/>
          <p:cNvSpPr/>
          <p:nvPr/>
        </p:nvSpPr>
        <p:spPr>
          <a:xfrm>
            <a:off x="812899" y="1696045"/>
            <a:ext cx="3412034" cy="31750"/>
          </a:xfrm>
          <a:prstGeom prst="rect">
            <a:avLst/>
          </a:prstGeom>
          <a:solidFill>
            <a:srgbClr val="C9C0AC"/>
          </a:solidFill>
          <a:ln>
            <a:noFill/>
          </a:ln>
        </p:spPr>
        <p:txBody>
          <a:bodyPr rtlCol="0" anchor="ctr"/>
          <a:lstStyle/>
          <a:p>
            <a:pPr algn="ctr"/>
          </a:p>
        </p:txBody>
      </p:sp>
      <p:sp>
        <p:nvSpPr>
          <p:cNvPr id="14" name="Text 13"/>
          <p:cNvSpPr txBox="1"/>
          <p:nvPr/>
        </p:nvSpPr>
        <p:spPr>
          <a:xfrm>
            <a:off x="838299"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3</a:t>
            </a:r>
          </a:p>
        </p:txBody>
      </p:sp>
      <p:sp>
        <p:nvSpPr>
          <p:cNvPr id="15" name="Text 14"/>
          <p:cNvSpPr txBox="1"/>
          <p:nvPr/>
        </p:nvSpPr>
        <p:spPr>
          <a:xfrm>
            <a:off x="838299"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ثقة تحتاج دليلاً</a:t>
            </a:r>
          </a:p>
        </p:txBody>
      </p:sp>
      <p:sp>
        <p:nvSpPr>
          <p:cNvPr id="16" name="Text 15"/>
          <p:cNvSpPr txBox="1"/>
          <p:nvPr/>
        </p:nvSpPr>
        <p:spPr>
          <a:xfrm>
            <a:off x="838299" y="3002875"/>
            <a:ext cx="334853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الجهات الرقابية والعملاء والشركاء يطلبون إثباتاً، لا وعداً.</a:t>
            </a:r>
          </a:p>
        </p:txBody>
      </p:sp>
      <p:sp>
        <p:nvSpPr>
          <p:cNvPr id="17" name="Text 16"/>
          <p:cNvSpPr txBox="1"/>
          <p:nvPr/>
        </p:nvSpPr>
        <p:spPr>
          <a:xfrm>
            <a:off x="0" y="4412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وكل ذلك يخدم أهداف العمل. أهداف رُفاد:</a:t>
            </a:r>
          </a:p>
        </p:txBody>
      </p:sp>
      <p:sp>
        <p:nvSpPr>
          <p:cNvPr id="18" name="Text box 17"/>
          <p:cNvSpPr/>
          <p:nvPr/>
        </p:nvSpPr>
        <p:spPr>
          <a:xfrm>
            <a:off x="8794750" y="4871045"/>
            <a:ext cx="2584450" cy="469900"/>
          </a:xfrm>
          <a:prstGeom prst="roundRect">
            <a:avLst>
              <a:gd name="adj" fmla="val 16216"/>
            </a:avLst>
          </a:prstGeom>
          <a:solidFill>
            <a:srgbClr val="E3F1ED"/>
          </a:solidFill>
          <a:ln>
            <a:noFill/>
          </a:ln>
        </p:spPr>
        <p:txBody>
          <a:bodyPr rtlCol="0" anchor="ctr" wrap="square" tIns="8162" rIns="0" bIns="74202" lIns="0" anchorCtr="0">
            <a:noAutofit/>
          </a:bodyPr>
          <a:lstStyle/>
          <a:p>
            <a:pPr algn="ctr" rtl="1">
              <a:lnSpc>
                <a:spcPts val="2700"/>
              </a:lnSpc>
              <a:spcBef>
                <a:spcPts val="0"/>
              </a:spcBef>
              <a:spcAft>
                <a:spcPts val="0"/>
              </a:spcAft>
            </a:pPr>
            <a:r>
              <a:rPr sz="2000" b="1" i="0">
                <a:solidFill>
                  <a:srgbClr val="0E7C6B"/>
                </a:solidFill>
                <a:latin typeface="IBM Plex Sans Arabic"/>
                <a:ea typeface="IBM Plex Sans Arabic"/>
                <a:cs typeface="IBM Plex Sans Arabic"/>
              </a:rPr>
              <a:t>استمرار التوصيل</a:t>
            </a:r>
          </a:p>
        </p:txBody>
      </p:sp>
      <p:sp>
        <p:nvSpPr>
          <p:cNvPr id="19" name="Text box 18"/>
          <p:cNvSpPr/>
          <p:nvPr/>
        </p:nvSpPr>
        <p:spPr>
          <a:xfrm>
            <a:off x="6134100" y="4871045"/>
            <a:ext cx="2584450" cy="469900"/>
          </a:xfrm>
          <a:prstGeom prst="roundRect">
            <a:avLst>
              <a:gd name="adj" fmla="val 16216"/>
            </a:avLst>
          </a:prstGeom>
          <a:solidFill>
            <a:srgbClr val="E3F1ED"/>
          </a:solidFill>
          <a:ln>
            <a:noFill/>
          </a:ln>
        </p:spPr>
        <p:txBody>
          <a:bodyPr rtlCol="0" anchor="ctr" wrap="square" tIns="8162" rIns="0" bIns="74202" lIns="0" anchorCtr="0">
            <a:noAutofit/>
          </a:bodyPr>
          <a:lstStyle/>
          <a:p>
            <a:pPr algn="ctr" rtl="1">
              <a:lnSpc>
                <a:spcPts val="2700"/>
              </a:lnSpc>
              <a:spcBef>
                <a:spcPts val="0"/>
              </a:spcBef>
              <a:spcAft>
                <a:spcPts val="0"/>
              </a:spcAft>
            </a:pPr>
            <a:r>
              <a:rPr sz="2000" b="1" i="0">
                <a:solidFill>
                  <a:srgbClr val="0E7C6B"/>
                </a:solidFill>
                <a:latin typeface="IBM Plex Sans Arabic"/>
                <a:ea typeface="IBM Plex Sans Arabic"/>
                <a:cs typeface="IBM Plex Sans Arabic"/>
              </a:rPr>
              <a:t>حماية بيانات العملاء</a:t>
            </a:r>
          </a:p>
        </p:txBody>
      </p:sp>
      <p:sp>
        <p:nvSpPr>
          <p:cNvPr id="20" name="Text box 19"/>
          <p:cNvSpPr/>
          <p:nvPr/>
        </p:nvSpPr>
        <p:spPr>
          <a:xfrm>
            <a:off x="3473450" y="4871045"/>
            <a:ext cx="2584450" cy="469900"/>
          </a:xfrm>
          <a:prstGeom prst="roundRect">
            <a:avLst>
              <a:gd name="adj" fmla="val 16216"/>
            </a:avLst>
          </a:prstGeom>
          <a:solidFill>
            <a:srgbClr val="E3F1ED"/>
          </a:solidFill>
          <a:ln>
            <a:noFill/>
          </a:ln>
        </p:spPr>
        <p:txBody>
          <a:bodyPr rtlCol="0" anchor="ctr" wrap="square" tIns="8162" rIns="0" bIns="74202" lIns="0" anchorCtr="0">
            <a:noAutofit/>
          </a:bodyPr>
          <a:lstStyle/>
          <a:p>
            <a:pPr algn="ctr" rtl="1">
              <a:lnSpc>
                <a:spcPts val="2700"/>
              </a:lnSpc>
              <a:spcBef>
                <a:spcPts val="0"/>
              </a:spcBef>
              <a:spcAft>
                <a:spcPts val="0"/>
              </a:spcAft>
            </a:pPr>
            <a:r>
              <a:rPr sz="2000" b="1" i="0">
                <a:solidFill>
                  <a:srgbClr val="0E7C6B"/>
                </a:solidFill>
                <a:latin typeface="IBM Plex Sans Arabic"/>
                <a:ea typeface="IBM Plex Sans Arabic"/>
                <a:cs typeface="IBM Plex Sans Arabic"/>
              </a:rPr>
              <a:t>صحة الرواتب</a:t>
            </a:r>
          </a:p>
        </p:txBody>
      </p:sp>
      <p:sp>
        <p:nvSpPr>
          <p:cNvPr id="21" name="Text box 20"/>
          <p:cNvSpPr/>
          <p:nvPr/>
        </p:nvSpPr>
        <p:spPr>
          <a:xfrm>
            <a:off x="812800" y="4871045"/>
            <a:ext cx="2584450" cy="469900"/>
          </a:xfrm>
          <a:prstGeom prst="roundRect">
            <a:avLst>
              <a:gd name="adj" fmla="val 16216"/>
            </a:avLst>
          </a:prstGeom>
          <a:solidFill>
            <a:srgbClr val="E3F1ED"/>
          </a:solidFill>
          <a:ln>
            <a:noFill/>
          </a:ln>
        </p:spPr>
        <p:txBody>
          <a:bodyPr rtlCol="0" anchor="ctr" wrap="square" tIns="8162" rIns="0" bIns="74202" lIns="0" anchorCtr="0">
            <a:noAutofit/>
          </a:bodyPr>
          <a:lstStyle/>
          <a:p>
            <a:pPr algn="ctr" rtl="1">
              <a:lnSpc>
                <a:spcPts val="2700"/>
              </a:lnSpc>
              <a:spcBef>
                <a:spcPts val="0"/>
              </a:spcBef>
              <a:spcAft>
                <a:spcPts val="0"/>
              </a:spcAft>
            </a:pPr>
            <a:r>
              <a:rPr sz="2000" b="1" i="0">
                <a:solidFill>
                  <a:srgbClr val="0E7C6B"/>
                </a:solidFill>
                <a:latin typeface="IBM Plex Sans Arabic"/>
                <a:ea typeface="IBM Plex Sans Arabic"/>
                <a:cs typeface="IBM Plex Sans Arabic"/>
              </a:rPr>
              <a:t>الالتزام بالعقود</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أين يقع GRC بين أدوار الأمن السيبراني؟</a:t>
            </a:r>
          </a:p>
        </p:txBody>
      </p:sp>
      <p:graphicFrame>
        <p:nvGraphicFramePr>
          <p:cNvPr id="5" name="Table 4"/>
          <p:cNvGraphicFramePr>
            <a:graphicFrameLocks noGrp="1"/>
          </p:cNvGraphicFramePr>
          <p:nvPr/>
        </p:nvGraphicFramePr>
        <p:xfrm>
          <a:off x="815975" y="1661120"/>
          <a:ext cx="10560050" cy="2978150"/>
        </p:xfrm>
        <a:graphic>
          <a:graphicData uri="http://schemas.openxmlformats.org/drawingml/2006/table">
            <a:tbl>
              <a:tblPr firstRow="0" bandRow="0" lastRow="0" firstCol="0" lastCol="0" bandCol="0">
                <a:tableStyleId>{2D5ABB26-0587-4C30-8999-92F81FD0307C}</a:tableStyleId>
              </a:tblPr>
              <a:tblGrid>
                <a:gridCol w="4435475"/>
                <a:gridCol w="3801110"/>
                <a:gridCol w="232346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يوم العمل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السؤال الذي يجيب عنه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الدور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سياسات، وتقييم مخاطر، وفحص أدلة، ومتابعة</a:t>
                      </a:r>
                    </a:p>
                  </a:txBody>
                  <a:tcPr marT="107061" marR="152400" marB="70739" marL="2848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هل نحمي ما يهم، وهل نلتزم ونثبت؟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GRC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فرز التنبيهات، والتحقيق، والتصعيد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هل يحدث هجوم الآن؟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مركز العمليات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اختبار الأنظمة وكتابة تقارير الثغرات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كيف يمكن اختراقنا؟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اختبار الاختراق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تصميم الضوابط التقنية وتشغيلها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كيف نبني الحماية؟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هندسة الأمن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832945"/>
            <a:ext cx="10566400" cy="965200"/>
          </a:xfrm>
          <a:prstGeom prst="roundRect">
            <a:avLst>
              <a:gd name="adj" fmla="val 10526"/>
            </a:avLst>
          </a:prstGeom>
          <a:solidFill>
            <a:srgbClr val="172433"/>
          </a:solidFill>
          <a:ln>
            <a:noFill/>
          </a:ln>
        </p:spPr>
        <p:txBody>
          <a:bodyPr rtlCol="0" anchor="ctr"/>
          <a:lstStyle/>
          <a:p>
            <a:pPr algn="ctr"/>
          </a:p>
        </p:txBody>
      </p:sp>
      <p:pic>
        <p:nvPicPr>
          <p:cNvPr id="7" name="Icon Lightbulb 6" descr="icon009.png"/>
          <p:cNvPicPr>
            <a:picLocks noChangeAspect="1"/>
          </p:cNvPicPr>
          <p:nvPr/>
        </p:nvPicPr>
        <p:blipFill>
          <a:blip r:embed="rId2"/>
          <a:stretch>
            <a:fillRect/>
          </a:stretch>
        </p:blipFill>
        <p:spPr>
          <a:xfrm>
            <a:off x="10928350" y="5179020"/>
            <a:ext cx="273050" cy="273050"/>
          </a:xfrm>
          <a:prstGeom prst="rect">
            <a:avLst/>
          </a:prstGeom>
        </p:spPr>
      </p:pic>
      <p:sp>
        <p:nvSpPr>
          <p:cNvPr id="8" name="Text 7"/>
          <p:cNvSpPr txBox="1"/>
          <p:nvPr/>
        </p:nvSpPr>
        <p:spPr>
          <a:xfrm>
            <a:off x="838200" y="4920575"/>
            <a:ext cx="99758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مختص GRC لا ينفذ الضوابط التقنية بنفسه غالباً، لكنه يفهمها بما يكفي ليسأل الأسئلة الصحيحة ويقرأ الدليل.</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المسميات التي ستراها في الإعلانات</a:t>
            </a:r>
          </a:p>
        </p:txBody>
      </p:sp>
      <p:graphicFrame>
        <p:nvGraphicFramePr>
          <p:cNvPr id="5" name="Table 4"/>
          <p:cNvGraphicFramePr>
            <a:graphicFrameLocks noGrp="1"/>
          </p:cNvGraphicFramePr>
          <p:nvPr/>
        </p:nvGraphicFramePr>
        <p:xfrm>
          <a:off x="815975" y="1661120"/>
          <a:ext cx="10560050" cy="3162300"/>
        </p:xfrm>
        <a:graphic>
          <a:graphicData uri="http://schemas.openxmlformats.org/drawingml/2006/table">
            <a:tbl>
              <a:tblPr firstRow="0" bandRow="0" lastRow="0" firstCol="0" lastCol="0" bandCol="0">
                <a:tableStyleId>{2D5ABB26-0587-4C30-8999-92F81FD0307C}</a:tableStyleId>
              </a:tblPr>
              <a:tblGrid>
                <a:gridCol w="2323465"/>
                <a:gridCol w="4434840"/>
                <a:gridCol w="380174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أين يعمل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يفعل غالباً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المسمى الذي ستراه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تقييم فجوات، وأدلة، ومتابعة خطط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محلل GRC أو محلل امتثال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سجل المخاطر، والتقييم، والتقارير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محلل مخاطر الأمن السيبراني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كتابة السياسات والمعايير ومراجعتها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مسؤول سياسات الأمن السيبراني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الثاني أو الثالث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اختبار الضوابط وجمع الأدلة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مقيّم الضوابط الأمنية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الثالث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تدقيق مستقل وتقارير ملاحظات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مدقق تقنية معلومات مبتدئ</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495808" y="4985599"/>
            <a:ext cx="10883392"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المسميات تختلف بين الجهات. بعضها من فئة «الحوكمة والمخاطر والامتثال والأنظمة» في الإطار السعودي لكوادر الأمن السيبراني SCyWF-⁠‎1.5:2026‎.</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يوم في عمل محلل GRC مبتدئ في رُفاد</a:t>
            </a:r>
          </a:p>
        </p:txBody>
      </p:sp>
      <p:sp>
        <p:nvSpPr>
          <p:cNvPr id="5" name="Text 4"/>
          <p:cNvSpPr txBox="1"/>
          <p:nvPr/>
        </p:nvSpPr>
        <p:spPr>
          <a:xfrm>
            <a:off x="10210800" y="1679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08:00</a:t>
            </a:r>
          </a:p>
        </p:txBody>
      </p:sp>
      <p:sp>
        <p:nvSpPr>
          <p:cNvPr id="6" name="Text 5"/>
          <p:cNvSpPr txBox="1"/>
          <p:nvPr/>
        </p:nvSpPr>
        <p:spPr>
          <a:xfrm>
            <a:off x="6128385" y="1650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طلبات الأدلة: الموارد البشرية أرسلت ملف المراجعة، وتقنية المعلومات تأخرت.</a:t>
            </a:r>
          </a:p>
        </p:txBody>
      </p:sp>
      <p:sp>
        <p:nvSpPr>
          <p:cNvPr id="7" name="Text 6"/>
          <p:cNvSpPr txBox="1"/>
          <p:nvPr/>
        </p:nvSpPr>
        <p:spPr>
          <a:xfrm>
            <a:off x="10210800" y="26320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09:00</a:t>
            </a:r>
          </a:p>
        </p:txBody>
      </p:sp>
      <p:sp>
        <p:nvSpPr>
          <p:cNvPr id="8" name="Text 7"/>
          <p:cNvSpPr txBox="1"/>
          <p:nvPr/>
        </p:nvSpPr>
        <p:spPr>
          <a:xfrm>
            <a:off x="6128385" y="26028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متابعة خطة معالجة خطر المورد مع سلمان.</a:t>
            </a:r>
          </a:p>
        </p:txBody>
      </p:sp>
      <p:sp>
        <p:nvSpPr>
          <p:cNvPr id="9" name="Text 8"/>
          <p:cNvSpPr txBox="1"/>
          <p:nvPr/>
        </p:nvSpPr>
        <p:spPr>
          <a:xfrm>
            <a:off x="10210800" y="3584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10:30</a:t>
            </a:r>
          </a:p>
        </p:txBody>
      </p:sp>
      <p:sp>
        <p:nvSpPr>
          <p:cNvPr id="10" name="Text 9"/>
          <p:cNvSpPr txBox="1"/>
          <p:nvPr/>
        </p:nvSpPr>
        <p:spPr>
          <a:xfrm>
            <a:off x="6128385" y="3555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تحديث سجل المخاطر بخطر جديد من مشروع ترحيل نظام الرواتب.</a:t>
            </a:r>
          </a:p>
        </p:txBody>
      </p:sp>
      <p:sp>
        <p:nvSpPr>
          <p:cNvPr id="11" name="Text 10"/>
          <p:cNvSpPr txBox="1"/>
          <p:nvPr/>
        </p:nvSpPr>
        <p:spPr>
          <a:xfrm>
            <a:off x="4775200" y="1679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12:00</a:t>
            </a:r>
          </a:p>
        </p:txBody>
      </p:sp>
      <p:sp>
        <p:nvSpPr>
          <p:cNvPr id="12" name="Text 11"/>
          <p:cNvSpPr txBox="1"/>
          <p:nvPr/>
        </p:nvSpPr>
        <p:spPr>
          <a:xfrm>
            <a:off x="692785" y="1650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فحص دليل: هل تكفي لقطة الإعداد، أم نطلب سجل التغييرات؟</a:t>
            </a:r>
          </a:p>
        </p:txBody>
      </p:sp>
      <p:sp>
        <p:nvSpPr>
          <p:cNvPr id="13" name="Text 12"/>
          <p:cNvSpPr txBox="1"/>
          <p:nvPr/>
        </p:nvSpPr>
        <p:spPr>
          <a:xfrm>
            <a:off x="4775200" y="26320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14:00</a:t>
            </a:r>
          </a:p>
        </p:txBody>
      </p:sp>
      <p:sp>
        <p:nvSpPr>
          <p:cNvPr id="14" name="Text 13"/>
          <p:cNvSpPr txBox="1"/>
          <p:nvPr/>
        </p:nvSpPr>
        <p:spPr>
          <a:xfrm>
            <a:off x="492760" y="2602825"/>
            <a:ext cx="432054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مسودة إجراء إلغاء صلاحيات المغادرين.</a:t>
            </a:r>
          </a:p>
        </p:txBody>
      </p:sp>
      <p:sp>
        <p:nvSpPr>
          <p:cNvPr id="15" name="Text 14"/>
          <p:cNvSpPr txBox="1"/>
          <p:nvPr/>
        </p:nvSpPr>
        <p:spPr>
          <a:xfrm>
            <a:off x="4775200" y="32162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15:30</a:t>
            </a:r>
          </a:p>
        </p:txBody>
      </p:sp>
      <p:sp>
        <p:nvSpPr>
          <p:cNvPr id="16" name="Text 15"/>
          <p:cNvSpPr txBox="1"/>
          <p:nvPr/>
        </p:nvSpPr>
        <p:spPr>
          <a:xfrm>
            <a:off x="692785" y="31870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شريحتان للجنة: المخاطر العالية والملاحظات المفتوحة.</a:t>
            </a:r>
          </a:p>
        </p:txBody>
      </p:sp>
      <p:sp>
        <p:nvSpPr>
          <p:cNvPr id="17" name="Text 16"/>
          <p:cNvSpPr txBox="1"/>
          <p:nvPr/>
        </p:nvSpPr>
        <p:spPr>
          <a:xfrm>
            <a:off x="0" y="489441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مثال توضيحي مركّب. اليوم الفعلي يختلف حسب الجهة وحجمها وموسم التقييم.</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 خرافات تؤخر البداية</a:t>
            </a:r>
          </a:p>
        </p:txBody>
      </p:sp>
      <p:sp>
        <p:nvSpPr>
          <p:cNvPr id="5" name="Text 4"/>
          <p:cNvSpPr txBox="1"/>
          <p:nvPr/>
        </p:nvSpPr>
        <p:spPr>
          <a:xfrm>
            <a:off x="7127240" y="1633942"/>
            <a:ext cx="425196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B4412C"/>
                </a:solidFill>
                <a:latin typeface="IBM Plex Sans Arabic"/>
                <a:ea typeface="IBM Plex Sans Arabic"/>
                <a:cs typeface="IBM Plex Sans Arabic"/>
              </a:rPr>
              <a:t>الخرافة</a:t>
            </a:r>
          </a:p>
        </p:txBody>
      </p:sp>
      <p:sp>
        <p:nvSpPr>
          <p:cNvPr id="6" name="Text 5"/>
          <p:cNvSpPr txBox="1"/>
          <p:nvPr/>
        </p:nvSpPr>
        <p:spPr>
          <a:xfrm>
            <a:off x="302768" y="1633942"/>
            <a:ext cx="6885432"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0E7C6B"/>
                </a:solidFill>
                <a:latin typeface="IBM Plex Sans Arabic"/>
                <a:ea typeface="IBM Plex Sans Arabic"/>
                <a:cs typeface="IBM Plex Sans Arabic"/>
              </a:rPr>
              <a:t>الواقع</a:t>
            </a:r>
          </a:p>
        </p:txBody>
      </p:sp>
      <p:sp>
        <p:nvSpPr>
          <p:cNvPr id="7" name="Rule 6"/>
          <p:cNvSpPr/>
          <p:nvPr/>
        </p:nvSpPr>
        <p:spPr>
          <a:xfrm>
            <a:off x="812800" y="2501205"/>
            <a:ext cx="10566400" cy="6350"/>
          </a:xfrm>
          <a:prstGeom prst="rect">
            <a:avLst/>
          </a:prstGeom>
          <a:solidFill>
            <a:srgbClr val="DED7C8"/>
          </a:solidFill>
          <a:ln>
            <a:noFill/>
          </a:ln>
        </p:spPr>
        <p:txBody>
          <a:bodyPr rtlCol="0" anchor="ctr"/>
          <a:lstStyle/>
          <a:p>
            <a:pPr algn="ctr"/>
          </a:p>
        </p:txBody>
      </p:sp>
      <p:pic>
        <p:nvPicPr>
          <p:cNvPr id="8" name="Icon Warning 7" descr="icon001.png"/>
          <p:cNvPicPr>
            <a:picLocks noChangeAspect="1"/>
          </p:cNvPicPr>
          <p:nvPr/>
        </p:nvPicPr>
        <p:blipFill>
          <a:blip r:embed="rId2"/>
          <a:stretch>
            <a:fillRect/>
          </a:stretch>
        </p:blipFill>
        <p:spPr>
          <a:xfrm>
            <a:off x="11074400" y="2666305"/>
            <a:ext cx="304800" cy="304800"/>
          </a:xfrm>
          <a:prstGeom prst="rect">
            <a:avLst/>
          </a:prstGeom>
        </p:spPr>
      </p:pic>
      <p:sp>
        <p:nvSpPr>
          <p:cNvPr id="9" name="Text 8"/>
          <p:cNvSpPr txBox="1"/>
          <p:nvPr/>
        </p:nvSpPr>
        <p:spPr>
          <a:xfrm>
            <a:off x="7158736" y="26142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«GRC أوراق وسياسات فقط»</a:t>
            </a:r>
          </a:p>
        </p:txBody>
      </p:sp>
      <p:pic>
        <p:nvPicPr>
          <p:cNvPr id="10" name="Icon CheckCircle 9" descr="icon010.png"/>
          <p:cNvPicPr>
            <a:picLocks noChangeAspect="1"/>
          </p:cNvPicPr>
          <p:nvPr/>
        </p:nvPicPr>
        <p:blipFill>
          <a:blip r:embed="rId3"/>
          <a:stretch>
            <a:fillRect/>
          </a:stretch>
        </p:blipFill>
        <p:spPr>
          <a:xfrm>
            <a:off x="6883400" y="2666305"/>
            <a:ext cx="304800" cy="304800"/>
          </a:xfrm>
          <a:prstGeom prst="rect">
            <a:avLst/>
          </a:prstGeom>
        </p:spPr>
      </p:pic>
      <p:sp>
        <p:nvSpPr>
          <p:cNvPr id="11" name="Text 10"/>
          <p:cNvSpPr txBox="1"/>
          <p:nvPr/>
        </p:nvSpPr>
        <p:spPr>
          <a:xfrm>
            <a:off x="812800" y="258883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السياسة بداية العمل. الجزء الأكبر هو التحقق من تطبيقها بالأدلة.</a:t>
            </a:r>
          </a:p>
        </p:txBody>
      </p:sp>
      <p:sp>
        <p:nvSpPr>
          <p:cNvPr id="12" name="Rule 11"/>
          <p:cNvSpPr/>
          <p:nvPr/>
        </p:nvSpPr>
        <p:spPr>
          <a:xfrm>
            <a:off x="812800" y="3129855"/>
            <a:ext cx="10566400" cy="6350"/>
          </a:xfrm>
          <a:prstGeom prst="rect">
            <a:avLst/>
          </a:prstGeom>
          <a:solidFill>
            <a:srgbClr val="DED7C8"/>
          </a:solidFill>
          <a:ln>
            <a:noFill/>
          </a:ln>
        </p:spPr>
        <p:txBody>
          <a:bodyPr rtlCol="0" anchor="ctr"/>
          <a:lstStyle/>
          <a:p>
            <a:pPr algn="ctr"/>
          </a:p>
        </p:txBody>
      </p:sp>
      <p:pic>
        <p:nvPicPr>
          <p:cNvPr id="13" name="Icon Warning 12" descr="icon001.png"/>
          <p:cNvPicPr>
            <a:picLocks noChangeAspect="1"/>
          </p:cNvPicPr>
          <p:nvPr/>
        </p:nvPicPr>
        <p:blipFill>
          <a:blip r:embed="rId2"/>
          <a:stretch>
            <a:fillRect/>
          </a:stretch>
        </p:blipFill>
        <p:spPr>
          <a:xfrm>
            <a:off x="11074400" y="3479105"/>
            <a:ext cx="304800" cy="304800"/>
          </a:xfrm>
          <a:prstGeom prst="rect">
            <a:avLst/>
          </a:prstGeom>
        </p:spPr>
      </p:pic>
      <p:sp>
        <p:nvSpPr>
          <p:cNvPr id="14" name="Text 13"/>
          <p:cNvSpPr txBox="1"/>
          <p:nvPr/>
        </p:nvSpPr>
        <p:spPr>
          <a:xfrm>
            <a:off x="7158736" y="34270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«لا يحتاج معرفة تقنية»</a:t>
            </a:r>
          </a:p>
        </p:txBody>
      </p:sp>
      <p:pic>
        <p:nvPicPr>
          <p:cNvPr id="15" name="Icon CheckCircle 14" descr="icon010.png"/>
          <p:cNvPicPr>
            <a:picLocks noChangeAspect="1"/>
          </p:cNvPicPr>
          <p:nvPr/>
        </p:nvPicPr>
        <p:blipFill>
          <a:blip r:embed="rId3"/>
          <a:stretch>
            <a:fillRect/>
          </a:stretch>
        </p:blipFill>
        <p:spPr>
          <a:xfrm>
            <a:off x="6883400" y="3479105"/>
            <a:ext cx="304800" cy="304800"/>
          </a:xfrm>
          <a:prstGeom prst="rect">
            <a:avLst/>
          </a:prstGeom>
        </p:spPr>
      </p:pic>
      <p:sp>
        <p:nvSpPr>
          <p:cNvPr id="16" name="Text 15"/>
          <p:cNvSpPr txBox="1"/>
          <p:nvPr/>
        </p:nvSpPr>
        <p:spPr>
          <a:xfrm>
            <a:off x="812800" y="3217485"/>
            <a:ext cx="59817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تحتاج أساسيات تكفي لتسأل وتفهم الدليل: الهويات، والشبكات، والسجلات، والسحابة.</a:t>
            </a:r>
          </a:p>
        </p:txBody>
      </p:sp>
      <p:sp>
        <p:nvSpPr>
          <p:cNvPr id="17" name="Rule 16"/>
          <p:cNvSpPr/>
          <p:nvPr/>
        </p:nvSpPr>
        <p:spPr>
          <a:xfrm>
            <a:off x="812800" y="4126805"/>
            <a:ext cx="10566400" cy="6350"/>
          </a:xfrm>
          <a:prstGeom prst="rect">
            <a:avLst/>
          </a:prstGeom>
          <a:solidFill>
            <a:srgbClr val="DED7C8"/>
          </a:solidFill>
          <a:ln>
            <a:noFill/>
          </a:ln>
        </p:spPr>
        <p:txBody>
          <a:bodyPr rtlCol="0" anchor="ctr"/>
          <a:lstStyle/>
          <a:p>
            <a:pPr algn="ctr"/>
          </a:p>
        </p:txBody>
      </p:sp>
      <p:pic>
        <p:nvPicPr>
          <p:cNvPr id="18" name="Icon Warning 17" descr="icon001.png"/>
          <p:cNvPicPr>
            <a:picLocks noChangeAspect="1"/>
          </p:cNvPicPr>
          <p:nvPr/>
        </p:nvPicPr>
        <p:blipFill>
          <a:blip r:embed="rId2"/>
          <a:stretch>
            <a:fillRect/>
          </a:stretch>
        </p:blipFill>
        <p:spPr>
          <a:xfrm>
            <a:off x="11074400" y="4291905"/>
            <a:ext cx="304800" cy="304800"/>
          </a:xfrm>
          <a:prstGeom prst="rect">
            <a:avLst/>
          </a:prstGeom>
        </p:spPr>
      </p:pic>
      <p:sp>
        <p:nvSpPr>
          <p:cNvPr id="19" name="Text 18"/>
          <p:cNvSpPr txBox="1"/>
          <p:nvPr/>
        </p:nvSpPr>
        <p:spPr>
          <a:xfrm>
            <a:off x="7158736" y="42398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«لا يدخله إلا أصحاب الخبرة»</a:t>
            </a:r>
          </a:p>
        </p:txBody>
      </p:sp>
      <p:pic>
        <p:nvPicPr>
          <p:cNvPr id="20" name="Icon CheckCircle 19" descr="icon010.png"/>
          <p:cNvPicPr>
            <a:picLocks noChangeAspect="1"/>
          </p:cNvPicPr>
          <p:nvPr/>
        </p:nvPicPr>
        <p:blipFill>
          <a:blip r:embed="rId3"/>
          <a:stretch>
            <a:fillRect/>
          </a:stretch>
        </p:blipFill>
        <p:spPr>
          <a:xfrm>
            <a:off x="6883400" y="4291905"/>
            <a:ext cx="304800" cy="304800"/>
          </a:xfrm>
          <a:prstGeom prst="rect">
            <a:avLst/>
          </a:prstGeom>
        </p:spPr>
      </p:pic>
      <p:sp>
        <p:nvSpPr>
          <p:cNvPr id="21" name="Text 20"/>
          <p:cNvSpPr txBox="1"/>
          <p:nvPr/>
        </p:nvSpPr>
        <p:spPr>
          <a:xfrm>
            <a:off x="812800" y="421443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توجد وظائف مبتدئة، والمشاريع العملية تعوض جزءاً من الخبرة.</a:t>
            </a:r>
          </a:p>
        </p:txBody>
      </p:sp>
      <p:sp>
        <p:nvSpPr>
          <p:cNvPr id="22" name="Rule 21"/>
          <p:cNvSpPr/>
          <p:nvPr/>
        </p:nvSpPr>
        <p:spPr>
          <a:xfrm>
            <a:off x="812800" y="4755455"/>
            <a:ext cx="10566400" cy="6350"/>
          </a:xfrm>
          <a:prstGeom prst="rect">
            <a:avLst/>
          </a:prstGeom>
          <a:solidFill>
            <a:srgbClr val="DED7C8"/>
          </a:solidFill>
          <a:ln>
            <a:noFill/>
          </a:ln>
        </p:spPr>
        <p:txBody>
          <a:bodyPr rtlCol="0" anchor="ctr"/>
          <a:lstStyle/>
          <a:p>
            <a:pPr algn="ctr"/>
          </a:p>
        </p:txBody>
      </p:sp>
      <p:pic>
        <p:nvPicPr>
          <p:cNvPr id="23" name="Icon Warning 22" descr="icon001.png"/>
          <p:cNvPicPr>
            <a:picLocks noChangeAspect="1"/>
          </p:cNvPicPr>
          <p:nvPr/>
        </p:nvPicPr>
        <p:blipFill>
          <a:blip r:embed="rId2"/>
          <a:stretch>
            <a:fillRect/>
          </a:stretch>
        </p:blipFill>
        <p:spPr>
          <a:xfrm>
            <a:off x="11074400" y="4920555"/>
            <a:ext cx="304800" cy="304800"/>
          </a:xfrm>
          <a:prstGeom prst="rect">
            <a:avLst/>
          </a:prstGeom>
        </p:spPr>
      </p:pic>
      <p:sp>
        <p:nvSpPr>
          <p:cNvPr id="24" name="Text 23"/>
          <p:cNvSpPr txBox="1"/>
          <p:nvPr/>
        </p:nvSpPr>
        <p:spPr>
          <a:xfrm>
            <a:off x="7158736" y="486848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«تكفي شهادة واحدة»</a:t>
            </a:r>
          </a:p>
        </p:txBody>
      </p:sp>
      <p:pic>
        <p:nvPicPr>
          <p:cNvPr id="25" name="Icon CheckCircle 24" descr="icon010.png"/>
          <p:cNvPicPr>
            <a:picLocks noChangeAspect="1"/>
          </p:cNvPicPr>
          <p:nvPr/>
        </p:nvPicPr>
        <p:blipFill>
          <a:blip r:embed="rId3"/>
          <a:stretch>
            <a:fillRect/>
          </a:stretch>
        </p:blipFill>
        <p:spPr>
          <a:xfrm>
            <a:off x="6883400" y="4920555"/>
            <a:ext cx="304800" cy="304800"/>
          </a:xfrm>
          <a:prstGeom prst="rect">
            <a:avLst/>
          </a:prstGeom>
        </p:spPr>
      </p:pic>
      <p:sp>
        <p:nvSpPr>
          <p:cNvPr id="26" name="Text 25"/>
          <p:cNvSpPr txBox="1"/>
          <p:nvPr/>
        </p:nvSpPr>
        <p:spPr>
          <a:xfrm>
            <a:off x="812800" y="484308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الشهادة تفتح باب المقابلة. ما يقنع هو أن تشرح مثالاً عملياً.</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786695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مهام رُفاد: حوكمة أم مخاطر أم امتثال؟</a:t>
            </a:r>
          </a:p>
        </p:txBody>
      </p:sp>
      <p:graphicFrame>
        <p:nvGraphicFramePr>
          <p:cNvPr id="6" name="Table 5"/>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2112010"/>
                <a:gridCol w="7603490"/>
                <a:gridCol w="84455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G أو R أو 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المهمة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الرئيس التنفيذي يعتمد سياسة الأمن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تقدير احتمال وأثر سرقة حاسوب عليه ملفات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جمع أدلة مراجعة الصلاحيات لتقييم الالتزام بـ ECC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تشكيل لجنة الأمن السيبراني وتحديد مهامها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اختيار خطة معالجة لخطر حساب المورد المشترك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مطابقة عقد المورد مع بنود ECC 4-⁠1-⁠2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178822"/>
            <a:ext cx="10566400" cy="538460"/>
          </a:xfrm>
          <a:prstGeom prst="roundRect">
            <a:avLst>
              <a:gd name="adj" fmla="val 18868"/>
            </a:avLst>
          </a:prstGeom>
          <a:solidFill>
            <a:srgbClr val="F6ECDA"/>
          </a:solidFill>
          <a:ln>
            <a:noFill/>
          </a:ln>
        </p:spPr>
        <p:txBody>
          <a:bodyPr rtlCol="0" anchor="ctr"/>
          <a:lstStyle/>
          <a:p>
            <a:pPr algn="ctr"/>
          </a:p>
        </p:txBody>
      </p:sp>
      <p:pic>
        <p:nvPicPr>
          <p:cNvPr id="8" name="Icon Clock 7" descr="icon011.png"/>
          <p:cNvPicPr>
            <a:picLocks noChangeAspect="1"/>
          </p:cNvPicPr>
          <p:nvPr/>
        </p:nvPicPr>
        <p:blipFill>
          <a:blip r:embed="rId2"/>
          <a:stretch>
            <a:fillRect/>
          </a:stretch>
        </p:blipFill>
        <p:spPr>
          <a:xfrm>
            <a:off x="10991850" y="5343227"/>
            <a:ext cx="209550" cy="209550"/>
          </a:xfrm>
          <a:prstGeom prst="rect">
            <a:avLst/>
          </a:prstGeom>
        </p:spPr>
      </p:pic>
      <p:sp>
        <p:nvSpPr>
          <p:cNvPr id="9" name="Text 8"/>
          <p:cNvSpPr txBox="1"/>
          <p:nvPr/>
        </p:nvSpPr>
        <p:spPr>
          <a:xfrm>
            <a:off x="838200" y="5274326"/>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اكتب الحرف في الكراسة، وسبباً من جملة واحدة لكل مهمة. 4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807402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G وR وC في مهام رُفاد</a:t>
            </a:r>
          </a:p>
        </p:txBody>
      </p:sp>
      <p:graphicFrame>
        <p:nvGraphicFramePr>
          <p:cNvPr id="6" name="Table 5"/>
          <p:cNvGraphicFramePr>
            <a:graphicFrameLocks noGrp="1"/>
          </p:cNvGraphicFramePr>
          <p:nvPr/>
        </p:nvGraphicFramePr>
        <p:xfrm>
          <a:off x="815975" y="1661120"/>
          <a:ext cx="10560050" cy="2958704"/>
        </p:xfrm>
        <a:graphic>
          <a:graphicData uri="http://schemas.openxmlformats.org/drawingml/2006/table">
            <a:tbl>
              <a:tblPr firstRow="0" bandRow="0" lastRow="0" firstCol="0" lastCol="0" bandCol="0">
                <a:tableStyleId>{2D5ABB26-0587-4C30-8999-92F81FD0307C}</a:tableStyleId>
              </a:tblPr>
              <a:tblGrid>
                <a:gridCol w="4224020"/>
                <a:gridCol w="1056005"/>
                <a:gridCol w="4646295"/>
                <a:gridCol w="63373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لماذا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الإجابة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المهمة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قرار ممن يملك الصلاحية يضع القواعد.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G</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الرئيس التنفيذي يعتمد سياسة الأمن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تحليل ما قد يحدث وحجمه لترتيب الأولوية.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تقدير احتمال وأثر سرقة حاسوب عليه ملفات الرواتب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إثبات تطبيق متطلب محدد بالأدلة.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جمع أدلة مراجعة الصلاحيات لتقييم الالتزام بـ ECC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هيكل إشراف ومسؤوليات ومتابعة.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G</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تشكيل لجنة الأمن السيبراني وتحديد مهامها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قرار معالجة لخطر قُيّم مستواه.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اختيار خطة معالجة لخطر حساب المورد المشترك</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مقارنة الوضع القائم بمتطلب مكتوب.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عقد المورد مع بنود ECC 4-⁠1-⁠2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813498"/>
            <a:ext cx="10566400" cy="893961"/>
          </a:xfrm>
          <a:prstGeom prst="roundRect">
            <a:avLst>
              <a:gd name="adj" fmla="val 11365"/>
            </a:avLst>
          </a:prstGeom>
          <a:solidFill>
            <a:srgbClr val="E3F1ED"/>
          </a:solidFill>
          <a:ln>
            <a:noFill/>
          </a:ln>
        </p:spPr>
        <p:txBody>
          <a:bodyPr rtlCol="0" anchor="ctr"/>
          <a:lstStyle/>
          <a:p>
            <a:pPr algn="ctr"/>
          </a:p>
        </p:txBody>
      </p:sp>
      <p:pic>
        <p:nvPicPr>
          <p:cNvPr id="8" name="Icon Lightbulb 7" descr="icon012.png"/>
          <p:cNvPicPr>
            <a:picLocks noChangeAspect="1"/>
          </p:cNvPicPr>
          <p:nvPr/>
        </p:nvPicPr>
        <p:blipFill>
          <a:blip r:embed="rId2"/>
          <a:stretch>
            <a:fillRect/>
          </a:stretch>
        </p:blipFill>
        <p:spPr>
          <a:xfrm>
            <a:off x="10972800" y="5146179"/>
            <a:ext cx="228600" cy="228600"/>
          </a:xfrm>
          <a:prstGeom prst="rect">
            <a:avLst/>
          </a:prstGeom>
        </p:spPr>
      </p:pic>
      <p:sp>
        <p:nvSpPr>
          <p:cNvPr id="9" name="Text 8"/>
          <p:cNvSpPr txBox="1"/>
          <p:nvPr/>
        </p:nvSpPr>
        <p:spPr>
          <a:xfrm>
            <a:off x="838200" y="4905065"/>
            <a:ext cx="1002030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المهام متداخلة في الواقع: اعتماد خطة معالجة للخطر قرار حوكمة أيضاً. المهم أن تعرف السؤال الأساسي الذي تجيب عنه كل مهمة.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786695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01</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4</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8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الفرق بين الحوكمة والمخاطر والامتثال.</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أدوار الأمن السيبراني ومكان GRC بينها.</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لماذا تحتاج الجهات إلى GRC.</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01». ثم قارن بالإجابات المفسرة، وانتبه لسبب خطأ كل بديل.</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67701" y="1233190"/>
            <a:ext cx="23114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02</a:t>
            </a:r>
          </a:p>
        </p:txBody>
      </p:sp>
      <p:sp>
        <p:nvSpPr>
          <p:cNvPr id="4" name="Text 3"/>
          <p:cNvSpPr txBox="1"/>
          <p:nvPr/>
        </p:nvSpPr>
        <p:spPr>
          <a:xfrm>
            <a:off x="863890" y="1654655"/>
            <a:ext cx="866101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الأساس التقني لمختص GRC</a:t>
            </a:r>
          </a:p>
        </p:txBody>
      </p:sp>
      <p:sp>
        <p:nvSpPr>
          <p:cNvPr id="5" name="Text 4"/>
          <p:cNvSpPr txBox="1"/>
          <p:nvPr/>
        </p:nvSpPr>
        <p:spPr>
          <a:xfrm>
            <a:off x="527050" y="259717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لا تحتاج أن تكون مهندساً، لكنك تحتاج أن تفهم ما تقيّمه. ستة موضوعات قصيرة، ولكل مفهوم أربعة أسئلة.</a:t>
            </a:r>
          </a:p>
        </p:txBody>
      </p:sp>
      <p:sp>
        <p:nvSpPr>
          <p:cNvPr id="6" name="Box 5"/>
          <p:cNvSpPr/>
          <p:nvPr/>
        </p:nvSpPr>
        <p:spPr>
          <a:xfrm>
            <a:off x="812800" y="36652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8115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216400"/>
            <a:ext cx="228600" cy="228600"/>
          </a:xfrm>
          <a:prstGeom prst="rect">
            <a:avLst/>
          </a:prstGeom>
        </p:spPr>
      </p:pic>
      <p:sp>
        <p:nvSpPr>
          <p:cNvPr id="9" name="Text 8"/>
          <p:cNvSpPr txBox="1"/>
          <p:nvPr/>
        </p:nvSpPr>
        <p:spPr>
          <a:xfrm>
            <a:off x="838200" y="41829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تشرح الهويات والشبكات والسحابة والحماية والتغيير بلغة بسيطة.</a:t>
            </a:r>
          </a:p>
        </p:txBody>
      </p:sp>
      <p:pic>
        <p:nvPicPr>
          <p:cNvPr id="10" name="Icon CheckCircle 9" descr="icon007.png"/>
          <p:cNvPicPr>
            <a:picLocks noChangeAspect="1"/>
          </p:cNvPicPr>
          <p:nvPr/>
        </p:nvPicPr>
        <p:blipFill>
          <a:blip r:embed="rId2"/>
          <a:stretch>
            <a:fillRect/>
          </a:stretch>
        </p:blipFill>
        <p:spPr>
          <a:xfrm>
            <a:off x="9880600" y="4607520"/>
            <a:ext cx="228600" cy="228600"/>
          </a:xfrm>
          <a:prstGeom prst="rect">
            <a:avLst/>
          </a:prstGeom>
        </p:spPr>
      </p:pic>
      <p:sp>
        <p:nvSpPr>
          <p:cNvPr id="11" name="Text 10"/>
          <p:cNvSpPr txBox="1"/>
          <p:nvPr/>
        </p:nvSpPr>
        <p:spPr>
          <a:xfrm>
            <a:off x="838200" y="45740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تربط كل مفهوم تقني بخطره والضابط المناسب له.</a:t>
            </a:r>
          </a:p>
        </p:txBody>
      </p:sp>
      <p:pic>
        <p:nvPicPr>
          <p:cNvPr id="12" name="Icon CheckCircle 11" descr="icon007.png"/>
          <p:cNvPicPr>
            <a:picLocks noChangeAspect="1"/>
          </p:cNvPicPr>
          <p:nvPr/>
        </p:nvPicPr>
        <p:blipFill>
          <a:blip r:embed="rId2"/>
          <a:stretch>
            <a:fillRect/>
          </a:stretch>
        </p:blipFill>
        <p:spPr>
          <a:xfrm>
            <a:off x="9880600" y="4998641"/>
            <a:ext cx="228600" cy="228600"/>
          </a:xfrm>
          <a:prstGeom prst="rect">
            <a:avLst/>
          </a:prstGeom>
        </p:spPr>
      </p:pic>
      <p:sp>
        <p:nvSpPr>
          <p:cNvPr id="13" name="Text 12"/>
          <p:cNvSpPr txBox="1"/>
          <p:nvPr/>
        </p:nvSpPr>
        <p:spPr>
          <a:xfrm>
            <a:off x="838200" y="49651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الدليل الذي تطلبه، ولماذا يقنع.</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02 · الأساس التقني</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أربعة أسئلة لكل مفهوم تقني</a:t>
            </a:r>
          </a:p>
        </p:txBody>
      </p:sp>
      <p:sp>
        <p:nvSpPr>
          <p:cNvPr id="5" name="Rule 4"/>
          <p:cNvSpPr/>
          <p:nvPr/>
        </p:nvSpPr>
        <p:spPr>
          <a:xfrm>
            <a:off x="9008170" y="16960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0E7C6B"/>
                </a:solidFill>
                <a:latin typeface="Readex Pro"/>
                <a:ea typeface="Readex Pro"/>
                <a:cs typeface="Readex Pro"/>
              </a:rPr>
              <a:t>ما هو؟</a:t>
            </a:r>
          </a:p>
        </p:txBody>
      </p:sp>
      <p:sp>
        <p:nvSpPr>
          <p:cNvPr id="7" name="Text 6"/>
          <p:cNvSpPr txBox="1"/>
          <p:nvPr/>
        </p:nvSpPr>
        <p:spPr>
          <a:xfrm>
            <a:off x="903357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تعريف بجملة، بلا تفاصيل إعداد.</a:t>
            </a:r>
          </a:p>
        </p:txBody>
      </p:sp>
      <p:sp>
        <p:nvSpPr>
          <p:cNvPr id="8" name="Text 7"/>
          <p:cNvSpPr txBox="1"/>
          <p:nvPr/>
        </p:nvSpPr>
        <p:spPr>
          <a:xfrm>
            <a:off x="903357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مثال: MFA: عامل ثانٍ مع كلمة المرور.</a:t>
            </a:r>
          </a:p>
        </p:txBody>
      </p:sp>
      <p:sp>
        <p:nvSpPr>
          <p:cNvPr id="9" name="Text 8"/>
          <p:cNvSpPr txBox="1"/>
          <p:nvPr/>
        </p:nvSpPr>
        <p:spPr>
          <a:xfrm>
            <a:off x="857121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96045"/>
            <a:ext cx="2371030" cy="31750"/>
          </a:xfrm>
          <a:prstGeom prst="rect">
            <a:avLst/>
          </a:prstGeom>
          <a:solidFill>
            <a:srgbClr val="B4412C"/>
          </a:solidFill>
          <a:ln>
            <a:noFill/>
          </a:ln>
        </p:spPr>
        <p:txBody>
          <a:bodyPr rtlCol="0" anchor="ctr"/>
          <a:lstStyle/>
          <a:p>
            <a:pPr algn="ctr"/>
          </a:p>
        </p:txBody>
      </p:sp>
      <p:sp>
        <p:nvSpPr>
          <p:cNvPr id="11" name="Text 10"/>
          <p:cNvSpPr txBox="1"/>
          <p:nvPr/>
        </p:nvSpPr>
        <p:spPr>
          <a:xfrm>
            <a:off x="630178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B4412C"/>
                </a:solidFill>
                <a:latin typeface="Readex Pro"/>
                <a:ea typeface="Readex Pro"/>
                <a:cs typeface="Readex Pro"/>
              </a:rPr>
              <a:t>ما الخطر؟</a:t>
            </a:r>
          </a:p>
        </p:txBody>
      </p:sp>
      <p:sp>
        <p:nvSpPr>
          <p:cNvPr id="12" name="Text 11"/>
          <p:cNvSpPr txBox="1"/>
          <p:nvPr/>
        </p:nvSpPr>
        <p:spPr>
          <a:xfrm>
            <a:off x="630178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الذي قد يحدث لو غاب أو ضعف؟</a:t>
            </a:r>
          </a:p>
        </p:txBody>
      </p:sp>
      <p:sp>
        <p:nvSpPr>
          <p:cNvPr id="13" name="Text 12"/>
          <p:cNvSpPr txBox="1"/>
          <p:nvPr/>
        </p:nvSpPr>
        <p:spPr>
          <a:xfrm>
            <a:off x="630178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مثال: كلمة مرور مسروقة تكفي للدخول.</a:t>
            </a:r>
          </a:p>
        </p:txBody>
      </p:sp>
      <p:sp>
        <p:nvSpPr>
          <p:cNvPr id="14" name="Text 13"/>
          <p:cNvSpPr txBox="1"/>
          <p:nvPr/>
        </p:nvSpPr>
        <p:spPr>
          <a:xfrm>
            <a:off x="583942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96045"/>
            <a:ext cx="2371030" cy="31750"/>
          </a:xfrm>
          <a:prstGeom prst="rect">
            <a:avLst/>
          </a:prstGeom>
          <a:solidFill>
            <a:srgbClr val="24506B"/>
          </a:solidFill>
          <a:ln>
            <a:noFill/>
          </a:ln>
        </p:spPr>
        <p:txBody>
          <a:bodyPr rtlCol="0" anchor="ctr"/>
          <a:lstStyle/>
          <a:p>
            <a:pPr algn="ctr"/>
          </a:p>
        </p:txBody>
      </p:sp>
      <p:sp>
        <p:nvSpPr>
          <p:cNvPr id="16" name="Text 15"/>
          <p:cNvSpPr txBox="1"/>
          <p:nvPr/>
        </p:nvSpPr>
        <p:spPr>
          <a:xfrm>
            <a:off x="356999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24506B"/>
                </a:solidFill>
                <a:latin typeface="Readex Pro"/>
                <a:ea typeface="Readex Pro"/>
                <a:cs typeface="Readex Pro"/>
              </a:rPr>
              <a:t>ما الضابط؟</a:t>
            </a:r>
          </a:p>
        </p:txBody>
      </p:sp>
      <p:sp>
        <p:nvSpPr>
          <p:cNvPr id="17" name="Text 16"/>
          <p:cNvSpPr txBox="1"/>
          <p:nvPr/>
        </p:nvSpPr>
        <p:spPr>
          <a:xfrm>
            <a:off x="356999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الذي يعالج الخطر، ومن أي مرجع؟</a:t>
            </a:r>
          </a:p>
        </p:txBody>
      </p:sp>
      <p:sp>
        <p:nvSpPr>
          <p:cNvPr id="18" name="Text 17"/>
          <p:cNvSpPr txBox="1"/>
          <p:nvPr/>
        </p:nvSpPr>
        <p:spPr>
          <a:xfrm>
            <a:off x="356999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مثال: MFA إلزامي للدخول عن بعد: ECC 2-⁠2-⁠3-⁠2.</a:t>
            </a:r>
          </a:p>
        </p:txBody>
      </p:sp>
      <p:sp>
        <p:nvSpPr>
          <p:cNvPr id="19" name="Text 18"/>
          <p:cNvSpPr txBox="1"/>
          <p:nvPr/>
        </p:nvSpPr>
        <p:spPr>
          <a:xfrm>
            <a:off x="310763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96045"/>
            <a:ext cx="2371030" cy="31750"/>
          </a:xfrm>
          <a:prstGeom prst="rect">
            <a:avLst/>
          </a:prstGeom>
          <a:solidFill>
            <a:srgbClr val="8A4B12"/>
          </a:solidFill>
          <a:ln>
            <a:noFill/>
          </a:ln>
        </p:spPr>
        <p:txBody>
          <a:bodyPr rtlCol="0" anchor="ctr"/>
          <a:lstStyle/>
          <a:p>
            <a:pPr algn="ctr"/>
          </a:p>
        </p:txBody>
      </p:sp>
      <p:sp>
        <p:nvSpPr>
          <p:cNvPr id="21" name="Text 20"/>
          <p:cNvSpPr txBox="1"/>
          <p:nvPr/>
        </p:nvSpPr>
        <p:spPr>
          <a:xfrm>
            <a:off x="83820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8A4B12"/>
                </a:solidFill>
                <a:latin typeface="Readex Pro"/>
                <a:ea typeface="Readex Pro"/>
                <a:cs typeface="Readex Pro"/>
              </a:rPr>
              <a:t>ما الدليل؟</a:t>
            </a:r>
          </a:p>
        </p:txBody>
      </p:sp>
      <p:sp>
        <p:nvSpPr>
          <p:cNvPr id="22" name="Text 21"/>
          <p:cNvSpPr txBox="1"/>
          <p:nvPr/>
        </p:nvSpPr>
        <p:spPr>
          <a:xfrm>
            <a:off x="83820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الذي ستطلبه لتتأكد أنه يعمل؟</a:t>
            </a:r>
          </a:p>
        </p:txBody>
      </p:sp>
      <p:sp>
        <p:nvSpPr>
          <p:cNvPr id="23" name="Text 22"/>
          <p:cNvSpPr txBox="1"/>
          <p:nvPr/>
        </p:nvSpPr>
        <p:spPr>
          <a:xfrm>
            <a:off x="83820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مثال: إعداد السياسة، وسجل الدخول بطريقة التحقق.</a:t>
            </a:r>
          </a:p>
        </p:txBody>
      </p:sp>
      <p:sp>
        <p:nvSpPr>
          <p:cNvPr id="24" name="Text 23"/>
          <p:cNvSpPr txBox="1"/>
          <p:nvPr/>
        </p:nvSpPr>
        <p:spPr>
          <a:xfrm>
            <a:off x="0" y="438588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الموضوعات الستة:</a:t>
            </a:r>
          </a:p>
        </p:txBody>
      </p:sp>
      <p:sp>
        <p:nvSpPr>
          <p:cNvPr id="25" name="Text box 24"/>
          <p:cNvSpPr/>
          <p:nvPr/>
        </p:nvSpPr>
        <p:spPr>
          <a:xfrm>
            <a:off x="9106595" y="4844355"/>
            <a:ext cx="2272605"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الهويات والصلاحيات</a:t>
            </a:r>
          </a:p>
        </p:txBody>
      </p:sp>
      <p:sp>
        <p:nvSpPr>
          <p:cNvPr id="26" name="Text box 25"/>
          <p:cNvSpPr/>
          <p:nvPr/>
        </p:nvSpPr>
        <p:spPr>
          <a:xfrm>
            <a:off x="7326511" y="4844355"/>
            <a:ext cx="1703884"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الدليل المركزي</a:t>
            </a:r>
          </a:p>
        </p:txBody>
      </p:sp>
      <p:sp>
        <p:nvSpPr>
          <p:cNvPr id="27" name="Text box 26"/>
          <p:cNvSpPr/>
          <p:nvPr/>
        </p:nvSpPr>
        <p:spPr>
          <a:xfrm>
            <a:off x="6127055" y="4844355"/>
            <a:ext cx="1123255"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الشبكات</a:t>
            </a:r>
          </a:p>
        </p:txBody>
      </p:sp>
      <p:sp>
        <p:nvSpPr>
          <p:cNvPr id="28" name="Text box 27"/>
          <p:cNvSpPr/>
          <p:nvPr/>
        </p:nvSpPr>
        <p:spPr>
          <a:xfrm>
            <a:off x="4983262" y="4844355"/>
            <a:ext cx="1067594"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السحابة</a:t>
            </a:r>
          </a:p>
        </p:txBody>
      </p:sp>
      <p:sp>
        <p:nvSpPr>
          <p:cNvPr id="29" name="Text box 28"/>
          <p:cNvSpPr/>
          <p:nvPr/>
        </p:nvSpPr>
        <p:spPr>
          <a:xfrm>
            <a:off x="3904952" y="4844355"/>
            <a:ext cx="1002109"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الحماية</a:t>
            </a:r>
          </a:p>
        </p:txBody>
      </p:sp>
      <p:sp>
        <p:nvSpPr>
          <p:cNvPr id="30" name="Text box 29"/>
          <p:cNvSpPr/>
          <p:nvPr/>
        </p:nvSpPr>
        <p:spPr>
          <a:xfrm>
            <a:off x="1817291" y="4844355"/>
            <a:ext cx="2011462" cy="444500"/>
          </a:xfrm>
          <a:prstGeom prst="roundRect">
            <a:avLst>
              <a:gd name="adj" fmla="val 50000"/>
            </a:avLst>
          </a:prstGeom>
          <a:solidFill>
            <a:srgbClr val="E3F1ED"/>
          </a:solidFill>
          <a:ln>
            <a:noFill/>
          </a:ln>
        </p:spPr>
        <p:txBody>
          <a:bodyPr rtlCol="0" anchor="ctr" wrap="square" tIns="0" rIns="746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التطبيقات والتغيير</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الهويات: من أنت؟ وماذا يُسمح لك أن تفعل؟</a:t>
            </a:r>
          </a:p>
        </p:txBody>
      </p:sp>
      <p:sp>
        <p:nvSpPr>
          <p:cNvPr id="5" name="Box 4"/>
          <p:cNvSpPr/>
          <p:nvPr/>
        </p:nvSpPr>
        <p:spPr>
          <a:xfrm>
            <a:off x="9480550" y="1727795"/>
            <a:ext cx="1892300" cy="1361281"/>
          </a:xfrm>
          <a:prstGeom prst="roundRect">
            <a:avLst>
              <a:gd name="adj" fmla="val 6470"/>
            </a:avLst>
          </a:prstGeom>
          <a:solidFill>
            <a:srgbClr val="FFFDF8"/>
          </a:solidFill>
          <a:ln w="12700">
            <a:solidFill>
              <a:srgbClr val="172433"/>
            </a:solidFill>
          </a:ln>
        </p:spPr>
        <p:txBody>
          <a:bodyPr rtlCol="0" anchor="ctr"/>
          <a:lstStyle/>
          <a:p>
            <a:pPr algn="ctr"/>
          </a:p>
        </p:txBody>
      </p:sp>
      <p:sp>
        <p:nvSpPr>
          <p:cNvPr id="6" name="Text 5"/>
          <p:cNvSpPr txBox="1"/>
          <p:nvPr/>
        </p:nvSpPr>
        <p:spPr>
          <a:xfrm>
            <a:off x="9532620" y="2106597"/>
            <a:ext cx="178816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a:solidFill>
                  <a:srgbClr val="172433"/>
                </a:solidFill>
                <a:latin typeface="Readex Pro"/>
                <a:ea typeface="Readex Pro"/>
                <a:cs typeface="Readex Pro"/>
              </a:rPr>
              <a:t>المستخدم</a:t>
            </a:r>
          </a:p>
        </p:txBody>
      </p:sp>
      <p:sp>
        <p:nvSpPr>
          <p:cNvPr id="7" name="Text 6"/>
          <p:cNvSpPr txBox="1"/>
          <p:nvPr/>
        </p:nvSpPr>
        <p:spPr>
          <a:xfrm>
            <a:off x="9535160" y="2400475"/>
            <a:ext cx="1783080" cy="274241"/>
          </a:xfrm>
          <a:prstGeom prst="rect">
            <a:avLst/>
          </a:prstGeom>
          <a:noFill/>
        </p:spPr>
        <p:txBody>
          <a:bodyPr wrap="square" tIns="0" rIns="0" bIns="0" lIns="0" anchor="t" rtlCol="0" anchorCtr="0">
            <a:noAutofit/>
          </a:bodyPr>
          <a:lstStyle/>
          <a:p>
            <a:pPr algn="ctr">
              <a:lnSpc>
                <a:spcPts val="2160"/>
              </a:lnSpc>
              <a:spcBef>
                <a:spcPts val="0"/>
              </a:spcBef>
              <a:spcAft>
                <a:spcPts val="0"/>
              </a:spcAft>
            </a:pPr>
            <a:r>
              <a:rPr sz="1600" b="0" i="0">
                <a:solidFill>
                  <a:srgbClr val="4E5A66"/>
                </a:solidFill>
                <a:latin typeface="IBM Plex Sans Arabic"/>
                <a:ea typeface="IBM Plex Sans Arabic"/>
                <a:cs typeface="IBM Plex Sans Arabic"/>
              </a:rPr>
              <a:t>hr.n.alharbi</a:t>
            </a:r>
          </a:p>
        </p:txBody>
      </p:sp>
      <p:sp>
        <p:nvSpPr>
          <p:cNvPr id="8" name="Text 7"/>
          <p:cNvSpPr txBox="1"/>
          <p:nvPr/>
        </p:nvSpPr>
        <p:spPr>
          <a:xfrm>
            <a:off x="9037241"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6377980" y="1727795"/>
            <a:ext cx="2729111" cy="1361281"/>
          </a:xfrm>
          <a:prstGeom prst="roundRect">
            <a:avLst>
              <a:gd name="adj" fmla="val 6470"/>
            </a:avLst>
          </a:prstGeom>
          <a:solidFill>
            <a:srgbClr val="FFFDF8"/>
          </a:solidFill>
          <a:ln w="12700">
            <a:solidFill>
              <a:srgbClr val="0E7C6B"/>
            </a:solidFill>
          </a:ln>
        </p:spPr>
        <p:txBody>
          <a:bodyPr rtlCol="0" anchor="ctr"/>
          <a:lstStyle/>
          <a:p>
            <a:pPr algn="ctr"/>
          </a:p>
        </p:txBody>
      </p:sp>
      <p:sp>
        <p:nvSpPr>
          <p:cNvPr id="10" name="Text 9"/>
          <p:cNvSpPr txBox="1"/>
          <p:nvPr/>
        </p:nvSpPr>
        <p:spPr>
          <a:xfrm>
            <a:off x="6461313"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a:solidFill>
                  <a:srgbClr val="0E7C6B"/>
                </a:solidFill>
                <a:latin typeface="Readex Pro"/>
                <a:ea typeface="Readex Pro"/>
                <a:cs typeface="Readex Pro"/>
              </a:rPr>
              <a:t>المصادقة Authentication</a:t>
            </a:r>
          </a:p>
        </p:txBody>
      </p:sp>
      <p:sp>
        <p:nvSpPr>
          <p:cNvPr id="11" name="Text 10"/>
          <p:cNvSpPr txBox="1"/>
          <p:nvPr/>
        </p:nvSpPr>
        <p:spPr>
          <a:xfrm>
            <a:off x="6461313"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a:solidFill>
                  <a:srgbClr val="4E5A66"/>
                </a:solidFill>
                <a:latin typeface="IBM Plex Sans Arabic"/>
                <a:ea typeface="IBM Plex Sans Arabic"/>
                <a:cs typeface="IBM Plex Sans Arabic"/>
              </a:rPr>
              <a:t>«هل أنت فعلاً من تدّعي؟» كلمة المرور + رمز MFA</a:t>
            </a:r>
          </a:p>
        </p:txBody>
      </p:sp>
      <p:sp>
        <p:nvSpPr>
          <p:cNvPr id="12" name="Text 11"/>
          <p:cNvSpPr txBox="1"/>
          <p:nvPr/>
        </p:nvSpPr>
        <p:spPr>
          <a:xfrm>
            <a:off x="593467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3275409" y="1727795"/>
            <a:ext cx="2729111" cy="1361281"/>
          </a:xfrm>
          <a:prstGeom prst="roundRect">
            <a:avLst>
              <a:gd name="adj" fmla="val 6470"/>
            </a:avLst>
          </a:prstGeom>
          <a:solidFill>
            <a:srgbClr val="FFFDF8"/>
          </a:solidFill>
          <a:ln w="12700">
            <a:solidFill>
              <a:srgbClr val="24506B"/>
            </a:solidFill>
          </a:ln>
        </p:spPr>
        <p:txBody>
          <a:bodyPr rtlCol="0" anchor="ctr"/>
          <a:lstStyle/>
          <a:p>
            <a:pPr algn="ctr"/>
          </a:p>
        </p:txBody>
      </p:sp>
      <p:sp>
        <p:nvSpPr>
          <p:cNvPr id="14" name="Text 13"/>
          <p:cNvSpPr txBox="1"/>
          <p:nvPr/>
        </p:nvSpPr>
        <p:spPr>
          <a:xfrm>
            <a:off x="3358742"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a:solidFill>
                  <a:srgbClr val="24506B"/>
                </a:solidFill>
                <a:latin typeface="Readex Pro"/>
                <a:ea typeface="Readex Pro"/>
                <a:cs typeface="Readex Pro"/>
              </a:rPr>
              <a:t>التفويض Authorization</a:t>
            </a:r>
          </a:p>
        </p:txBody>
      </p:sp>
      <p:sp>
        <p:nvSpPr>
          <p:cNvPr id="15" name="Text 14"/>
          <p:cNvSpPr txBox="1"/>
          <p:nvPr/>
        </p:nvSpPr>
        <p:spPr>
          <a:xfrm>
            <a:off x="3358742"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a:solidFill>
                  <a:srgbClr val="4E5A66"/>
                </a:solidFill>
                <a:latin typeface="IBM Plex Sans Arabic"/>
                <a:ea typeface="IBM Plex Sans Arabic"/>
                <a:cs typeface="IBM Plex Sans Arabic"/>
              </a:rPr>
              <a:t>«ماذا يُسمح لك؟» الدور: مسؤول الرواتب</a:t>
            </a:r>
          </a:p>
        </p:txBody>
      </p:sp>
      <p:sp>
        <p:nvSpPr>
          <p:cNvPr id="16" name="Text 15"/>
          <p:cNvSpPr txBox="1"/>
          <p:nvPr/>
        </p:nvSpPr>
        <p:spPr>
          <a:xfrm>
            <a:off x="283210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9150" y="1727795"/>
            <a:ext cx="2082800" cy="1361281"/>
          </a:xfrm>
          <a:prstGeom prst="roundRect">
            <a:avLst>
              <a:gd name="adj" fmla="val 6470"/>
            </a:avLst>
          </a:prstGeom>
          <a:solidFill>
            <a:srgbClr val="FFFDF8"/>
          </a:solidFill>
          <a:ln w="12700">
            <a:solidFill>
              <a:srgbClr val="8A4B12"/>
            </a:solidFill>
          </a:ln>
        </p:spPr>
        <p:txBody>
          <a:bodyPr rtlCol="0" anchor="ctr"/>
          <a:lstStyle/>
          <a:p>
            <a:pPr algn="ctr"/>
          </a:p>
        </p:txBody>
      </p:sp>
      <p:sp>
        <p:nvSpPr>
          <p:cNvPr id="18" name="Text 17"/>
          <p:cNvSpPr txBox="1"/>
          <p:nvPr/>
        </p:nvSpPr>
        <p:spPr>
          <a:xfrm>
            <a:off x="866140" y="2106597"/>
            <a:ext cx="198882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a:solidFill>
                  <a:srgbClr val="8A4B12"/>
                </a:solidFill>
                <a:latin typeface="Readex Pro"/>
                <a:ea typeface="Readex Pro"/>
                <a:cs typeface="Readex Pro"/>
              </a:rPr>
              <a:t>الصلاحيات</a:t>
            </a:r>
          </a:p>
        </p:txBody>
      </p:sp>
      <p:sp>
        <p:nvSpPr>
          <p:cNvPr id="19" name="Text 18"/>
          <p:cNvSpPr txBox="1"/>
          <p:nvPr/>
        </p:nvSpPr>
        <p:spPr>
          <a:xfrm>
            <a:off x="866140" y="2400475"/>
            <a:ext cx="1988820" cy="27424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a:solidFill>
                  <a:srgbClr val="4E5A66"/>
                </a:solidFill>
                <a:latin typeface="IBM Plex Sans Arabic"/>
                <a:ea typeface="IBM Plex Sans Arabic"/>
                <a:cs typeface="IBM Plex Sans Arabic"/>
              </a:rPr>
              <a:t>عرض الرواتب وتعديلها</a:t>
            </a:r>
          </a:p>
        </p:txBody>
      </p:sp>
      <p:sp>
        <p:nvSpPr>
          <p:cNvPr id="20" name="Rule 19"/>
          <p:cNvSpPr/>
          <p:nvPr/>
        </p:nvSpPr>
        <p:spPr>
          <a:xfrm>
            <a:off x="7958634" y="3349427"/>
            <a:ext cx="3420566" cy="31750"/>
          </a:xfrm>
          <a:prstGeom prst="rect">
            <a:avLst/>
          </a:prstGeom>
          <a:solidFill>
            <a:srgbClr val="0E7C6B"/>
          </a:solidFill>
          <a:ln>
            <a:noFill/>
          </a:ln>
        </p:spPr>
        <p:txBody>
          <a:bodyPr rtlCol="0" anchor="ctr"/>
          <a:lstStyle/>
          <a:p>
            <a:pPr algn="ctr"/>
          </a:p>
        </p:txBody>
      </p:sp>
      <p:sp>
        <p:nvSpPr>
          <p:cNvPr id="21" name="Text 20"/>
          <p:cNvSpPr txBox="1"/>
          <p:nvPr/>
        </p:nvSpPr>
        <p:spPr>
          <a:xfrm>
            <a:off x="7984034"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Readex Pro"/>
                <a:ea typeface="Readex Pro"/>
                <a:cs typeface="Readex Pro"/>
              </a:rPr>
              <a:t>حساب عادي</a:t>
            </a:r>
          </a:p>
        </p:txBody>
      </p:sp>
      <p:sp>
        <p:nvSpPr>
          <p:cNvPr id="22" name="Text 21"/>
          <p:cNvSpPr txBox="1"/>
          <p:nvPr/>
        </p:nvSpPr>
        <p:spPr>
          <a:xfrm>
            <a:off x="7984034" y="391152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يستخدم النظام في عمله اليومي.</a:t>
            </a:r>
          </a:p>
        </p:txBody>
      </p:sp>
      <p:sp>
        <p:nvSpPr>
          <p:cNvPr id="23" name="Text 22"/>
          <p:cNvSpPr txBox="1"/>
          <p:nvPr/>
        </p:nvSpPr>
        <p:spPr>
          <a:xfrm>
            <a:off x="7984034" y="431911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مثال: hr.n.alharbi، مسؤولة الرواتب.</a:t>
            </a:r>
          </a:p>
        </p:txBody>
      </p:sp>
      <p:sp>
        <p:nvSpPr>
          <p:cNvPr id="24" name="Rule 23"/>
          <p:cNvSpPr/>
          <p:nvPr/>
        </p:nvSpPr>
        <p:spPr>
          <a:xfrm>
            <a:off x="4385667" y="3349427"/>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4411067" y="3491667"/>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B4412C"/>
                </a:solidFill>
                <a:latin typeface="Readex Pro"/>
                <a:ea typeface="Readex Pro"/>
                <a:cs typeface="Readex Pro"/>
              </a:rPr>
              <a:t>حساب إداري (صلاحيات هامة)</a:t>
            </a:r>
          </a:p>
        </p:txBody>
      </p:sp>
      <p:sp>
        <p:nvSpPr>
          <p:cNvPr id="26" name="Text 25"/>
          <p:cNvSpPr txBox="1"/>
          <p:nvPr/>
        </p:nvSpPr>
        <p:spPr>
          <a:xfrm>
            <a:off x="4411067" y="42671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يغيّر الإعدادات وصلاحيات الآخرين. أخطر ما يُسرق.</a:t>
            </a:r>
          </a:p>
        </p:txBody>
      </p:sp>
      <p:sp>
        <p:nvSpPr>
          <p:cNvPr id="27" name="Text 26"/>
          <p:cNvSpPr txBox="1"/>
          <p:nvPr/>
        </p:nvSpPr>
        <p:spPr>
          <a:xfrm>
            <a:off x="4411067" y="50061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مثال: it.f.otaibi، «مدير النظام» في نظام الرواتب.</a:t>
            </a:r>
          </a:p>
        </p:txBody>
      </p:sp>
      <p:sp>
        <p:nvSpPr>
          <p:cNvPr id="28" name="Rule 27"/>
          <p:cNvSpPr/>
          <p:nvPr/>
        </p:nvSpPr>
        <p:spPr>
          <a:xfrm>
            <a:off x="812701" y="3349427"/>
            <a:ext cx="3420566" cy="31750"/>
          </a:xfrm>
          <a:prstGeom prst="rect">
            <a:avLst/>
          </a:prstGeom>
          <a:solidFill>
            <a:srgbClr val="24506B"/>
          </a:solidFill>
          <a:ln>
            <a:noFill/>
          </a:ln>
        </p:spPr>
        <p:txBody>
          <a:bodyPr rtlCol="0" anchor="ctr"/>
          <a:lstStyle/>
          <a:p>
            <a:pPr algn="ctr"/>
          </a:p>
        </p:txBody>
      </p:sp>
      <p:sp>
        <p:nvSpPr>
          <p:cNvPr id="29" name="Text 28"/>
          <p:cNvSpPr txBox="1"/>
          <p:nvPr/>
        </p:nvSpPr>
        <p:spPr>
          <a:xfrm>
            <a:off x="838101"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Readex Pro"/>
                <a:ea typeface="Readex Pro"/>
                <a:cs typeface="Readex Pro"/>
              </a:rPr>
              <a:t>RBAC: الصلاحية للدور</a:t>
            </a:r>
          </a:p>
        </p:txBody>
      </p:sp>
      <p:sp>
        <p:nvSpPr>
          <p:cNvPr id="30" name="Text 29"/>
          <p:cNvSpPr txBox="1"/>
          <p:nvPr/>
        </p:nvSpPr>
        <p:spPr>
          <a:xfrm>
            <a:off x="838101" y="39115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تُعطى الصلاحيات للدور لا للشخص. يتغير الدور فتتغير الصلاحيات.</a:t>
            </a:r>
          </a:p>
        </p:txBody>
      </p:sp>
      <p:sp>
        <p:nvSpPr>
          <p:cNvPr id="31" name="Text 30"/>
          <p:cNvSpPr txBox="1"/>
          <p:nvPr/>
        </p:nvSpPr>
        <p:spPr>
          <a:xfrm>
            <a:off x="838101" y="46505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مثال: سعد الدوسري انتقل إلى العمليات في فبراير.</a:t>
            </a:r>
          </a:p>
        </p:txBody>
      </p:sp>
      <p:sp>
        <p:nvSpPr>
          <p:cNvPr id="32" name="Text 3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33" name="Text 3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الهويات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قائمة الحسابات الإدارية ومالكيها، وسجل استخدامها.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حسابات إدارية بأسماء أصحابها وتُدار صلاحياتها · ECC 2-⁠2-⁠3-⁠4</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سرقته سيطرة على النظام كله.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الحساب الإداري</a:t>
                      </a:r>
                      <a:r>
                        <a:rPr sz="1600" b="0" i="0">
                          <a:solidFill>
                            <a:srgbClr val="172433"/>
                          </a:solidFill>
                          <a:latin typeface="IBM Plex Sans Arabic"/>
                          <a:ea typeface="IBM Plex Sans Arabic"/>
                          <a:cs typeface="IBM Plex Sans Arabic"/>
                        </a:rPr>
                        <a:t>: يغيّر الإعدادات وصلاحيات الآخرين.</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إعداد السياسة وتاريخه، وسجل الدخول بطريقة التحقق.</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MFA للدخول عن بعد وللحسابات الهامة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مرور مسروقة تكفي للدخول.</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MFA</a:t>
                      </a:r>
                      <a:r>
                        <a:rPr sz="1600" b="0" i="0">
                          <a:solidFill>
                            <a:srgbClr val="172433"/>
                          </a:solidFill>
                          <a:latin typeface="IBM Plex Sans Arabic"/>
                          <a:ea typeface="IBM Plex Sans Arabic"/>
                          <a:cs typeface="IBM Plex Sans Arabic"/>
                        </a:rPr>
                        <a:t>: عامل ثانٍ مع كلمة المرور.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مصفوفة الأدوار، وملف المراجعة المعتمد.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أدوار معتمدة ومراجعة دورية · ECC 2-⁠2-⁠3-⁠3 و‎2-⁠2-⁠3-⁠5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صلاحيات زائدة تبقى بعد تغيير الدور.</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RBAC وأقل صلاحية</a:t>
                      </a:r>
                      <a:r>
                        <a:rPr sz="1600" b="0" i="0">
                          <a:solidFill>
                            <a:srgbClr val="172433"/>
                          </a:solidFill>
                          <a:latin typeface="IBM Plex Sans Arabic"/>
                          <a:ea typeface="IBM Plex Sans Arabic"/>
                          <a:cs typeface="IBM Plex Sans Arabic"/>
                        </a:rPr>
                        <a:t>: صلاحيات حسب الدور، وبقدر الحاجة.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بمن يجمع دورين متعارضين.</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فصل الإدخال عن الاعتماد، وموافقة ثانية.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 يعدّل الحساب البنكي ويعتمد المسير قد يختلس.</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فصل المهام</a:t>
                      </a:r>
                      <a:r>
                        <a:rPr sz="1600" b="0" i="0">
                          <a:solidFill>
                            <a:srgbClr val="172433"/>
                          </a:solidFill>
                          <a:latin typeface="IBM Plex Sans Arabic"/>
                          <a:ea typeface="IBM Plex Sans Arabic"/>
                          <a:cs typeface="IBM Plex Sans Arabic"/>
                        </a:rPr>
                        <a:t>: لا يكمل شخص واحد عملية حساسة وحده.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المركزي: Active Directory وLDAP</a:t>
            </a:r>
          </a:p>
        </p:txBody>
      </p:sp>
      <p:sp>
        <p:nvSpPr>
          <p:cNvPr id="5" name="Box 4"/>
          <p:cNvSpPr/>
          <p:nvPr/>
        </p:nvSpPr>
        <p:spPr>
          <a:xfrm>
            <a:off x="7750969" y="165159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6" name="Text 5"/>
          <p:cNvSpPr txBox="1"/>
          <p:nvPr/>
        </p:nvSpPr>
        <p:spPr>
          <a:xfrm>
            <a:off x="7770019" y="1751417"/>
            <a:ext cx="3583781"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1600" b="1" i="0">
                <a:solidFill>
                  <a:srgbClr val="0E7C6B"/>
                </a:solidFill>
                <a:latin typeface="Readex Pro"/>
                <a:ea typeface="Readex Pro"/>
                <a:cs typeface="Readex Pro"/>
              </a:rPr>
              <a:t>VPN</a:t>
            </a:r>
          </a:p>
        </p:txBody>
      </p:sp>
      <p:sp>
        <p:nvSpPr>
          <p:cNvPr id="7" name="Text 6"/>
          <p:cNvSpPr txBox="1"/>
          <p:nvPr/>
        </p:nvSpPr>
        <p:spPr>
          <a:xfrm>
            <a:off x="7770019" y="201583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a:solidFill>
                  <a:srgbClr val="4E5A66"/>
                </a:solidFill>
                <a:latin typeface="IBM Plex Sans Arabic"/>
                <a:ea typeface="IBM Plex Sans Arabic"/>
                <a:cs typeface="IBM Plex Sans Arabic"/>
              </a:rPr>
              <a:t>من في مجموعة VPN-⁠Users يدخل</a:t>
            </a:r>
          </a:p>
        </p:txBody>
      </p:sp>
      <p:sp>
        <p:nvSpPr>
          <p:cNvPr id="8" name="Box 7"/>
          <p:cNvSpPr/>
          <p:nvPr/>
        </p:nvSpPr>
        <p:spPr>
          <a:xfrm>
            <a:off x="7750969" y="247580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9" name="Text 8"/>
          <p:cNvSpPr txBox="1"/>
          <p:nvPr/>
        </p:nvSpPr>
        <p:spPr>
          <a:xfrm>
            <a:off x="7770019" y="2575627"/>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a:solidFill>
                  <a:srgbClr val="0E7C6B"/>
                </a:solidFill>
                <a:latin typeface="Readex Pro"/>
                <a:ea typeface="Readex Pro"/>
                <a:cs typeface="Readex Pro"/>
              </a:rPr>
              <a:t>البريد والملفات</a:t>
            </a:r>
          </a:p>
        </p:txBody>
      </p:sp>
      <p:sp>
        <p:nvSpPr>
          <p:cNvPr id="10" name="Text 9"/>
          <p:cNvSpPr txBox="1"/>
          <p:nvPr/>
        </p:nvSpPr>
        <p:spPr>
          <a:xfrm>
            <a:off x="7770019" y="284004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a:solidFill>
                  <a:srgbClr val="4E5A66"/>
                </a:solidFill>
                <a:latin typeface="IBM Plex Sans Arabic"/>
                <a:ea typeface="IBM Plex Sans Arabic"/>
                <a:cs typeface="IBM Plex Sans Arabic"/>
              </a:rPr>
              <a:t>بحساب الدليل نفسه</a:t>
            </a:r>
          </a:p>
        </p:txBody>
      </p:sp>
      <p:sp>
        <p:nvSpPr>
          <p:cNvPr id="11" name="Box 10"/>
          <p:cNvSpPr/>
          <p:nvPr/>
        </p:nvSpPr>
        <p:spPr>
          <a:xfrm>
            <a:off x="7750969" y="3300016"/>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12" name="Text 11"/>
          <p:cNvSpPr txBox="1"/>
          <p:nvPr/>
        </p:nvSpPr>
        <p:spPr>
          <a:xfrm>
            <a:off x="7770019" y="3399838"/>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a:solidFill>
                  <a:srgbClr val="0E7C6B"/>
                </a:solidFill>
                <a:latin typeface="Readex Pro"/>
                <a:ea typeface="Readex Pro"/>
                <a:cs typeface="Readex Pro"/>
              </a:rPr>
              <a:t>أجهزة الموظفين</a:t>
            </a:r>
          </a:p>
        </p:txBody>
      </p:sp>
      <p:sp>
        <p:nvSpPr>
          <p:cNvPr id="13" name="Text 12"/>
          <p:cNvSpPr txBox="1"/>
          <p:nvPr/>
        </p:nvSpPr>
        <p:spPr>
          <a:xfrm>
            <a:off x="7770019" y="3664252"/>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a:solidFill>
                  <a:srgbClr val="4E5A66"/>
                </a:solidFill>
                <a:latin typeface="IBM Plex Sans Arabic"/>
                <a:ea typeface="IBM Plex Sans Arabic"/>
                <a:cs typeface="IBM Plex Sans Arabic"/>
              </a:rPr>
              <a:t>تسجيل الدخول إلى الحاسوب</a:t>
            </a:r>
          </a:p>
        </p:txBody>
      </p:sp>
      <p:sp>
        <p:nvSpPr>
          <p:cNvPr id="14" name="Text 13"/>
          <p:cNvSpPr txBox="1"/>
          <p:nvPr/>
        </p:nvSpPr>
        <p:spPr>
          <a:xfrm>
            <a:off x="7294959"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Box 14"/>
          <p:cNvSpPr/>
          <p:nvPr/>
        </p:nvSpPr>
        <p:spPr>
          <a:xfrm>
            <a:off x="4189809" y="2289770"/>
            <a:ext cx="3162300" cy="1107281"/>
          </a:xfrm>
          <a:prstGeom prst="roundRect">
            <a:avLst>
              <a:gd name="adj" fmla="val 7937"/>
            </a:avLst>
          </a:prstGeom>
          <a:solidFill>
            <a:srgbClr val="FFFDF8"/>
          </a:solidFill>
          <a:ln w="12700">
            <a:solidFill>
              <a:srgbClr val="24506B"/>
            </a:solidFill>
          </a:ln>
        </p:spPr>
        <p:txBody>
          <a:bodyPr rtlCol="0" anchor="ctr"/>
          <a:lstStyle/>
          <a:p>
            <a:pPr algn="ctr"/>
          </a:p>
        </p:txBody>
      </p:sp>
      <p:sp>
        <p:nvSpPr>
          <p:cNvPr id="16" name="Text 15"/>
          <p:cNvSpPr txBox="1"/>
          <p:nvPr/>
        </p:nvSpPr>
        <p:spPr>
          <a:xfrm>
            <a:off x="4208859" y="2387560"/>
            <a:ext cx="31242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الدليل المركزي</a:t>
            </a:r>
          </a:p>
        </p:txBody>
      </p:sp>
      <p:sp>
        <p:nvSpPr>
          <p:cNvPr id="17" name="Text 16"/>
          <p:cNvSpPr txBox="1"/>
          <p:nvPr/>
        </p:nvSpPr>
        <p:spPr>
          <a:xfrm>
            <a:off x="4266644" y="2714204"/>
            <a:ext cx="3008630"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a:solidFill>
                  <a:srgbClr val="4E5A66"/>
                </a:solidFill>
                <a:latin typeface="IBM Plex Sans Arabic"/>
                <a:ea typeface="IBM Plex Sans Arabic"/>
                <a:cs typeface="IBM Plex Sans Arabic"/>
              </a:rPr>
              <a:t>مثل Active Directory: الحسابات والمجموعات في مكان واحد</a:t>
            </a:r>
          </a:p>
        </p:txBody>
      </p:sp>
      <p:sp>
        <p:nvSpPr>
          <p:cNvPr id="18" name="Text 17"/>
          <p:cNvSpPr txBox="1"/>
          <p:nvPr/>
        </p:nvSpPr>
        <p:spPr>
          <a:xfrm>
            <a:off x="3733800"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Box 18"/>
          <p:cNvSpPr/>
          <p:nvPr/>
        </p:nvSpPr>
        <p:spPr>
          <a:xfrm>
            <a:off x="819150" y="2051050"/>
            <a:ext cx="2971800" cy="735310"/>
          </a:xfrm>
          <a:prstGeom prst="roundRect">
            <a:avLst>
              <a:gd name="adj" fmla="val 11884"/>
            </a:avLst>
          </a:prstGeom>
          <a:solidFill>
            <a:srgbClr val="FFF8F6"/>
          </a:solidFill>
          <a:ln w="12700">
            <a:solidFill>
              <a:srgbClr val="B4412C"/>
            </a:solidFill>
          </a:ln>
        </p:spPr>
        <p:txBody>
          <a:bodyPr rtlCol="0" anchor="ctr"/>
          <a:lstStyle/>
          <a:p>
            <a:pPr algn="ctr"/>
          </a:p>
        </p:txBody>
      </p:sp>
      <p:sp>
        <p:nvSpPr>
          <p:cNvPr id="20" name="Text 19"/>
          <p:cNvSpPr txBox="1"/>
          <p:nvPr/>
        </p:nvSpPr>
        <p:spPr>
          <a:xfrm>
            <a:off x="838200" y="2150872"/>
            <a:ext cx="2933700"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a:solidFill>
                  <a:srgbClr val="B4412C"/>
                </a:solidFill>
                <a:latin typeface="Readex Pro"/>
                <a:ea typeface="Readex Pro"/>
                <a:cs typeface="Readex Pro"/>
              </a:rPr>
              <a:t>نظام الرواتب السحابي</a:t>
            </a:r>
          </a:p>
        </p:txBody>
      </p:sp>
      <p:sp>
        <p:nvSpPr>
          <p:cNvPr id="21" name="Text 20"/>
          <p:cNvSpPr txBox="1"/>
          <p:nvPr/>
        </p:nvSpPr>
        <p:spPr>
          <a:xfrm>
            <a:off x="838200" y="2415286"/>
            <a:ext cx="2933700"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a:solidFill>
                  <a:srgbClr val="4E5A66"/>
                </a:solidFill>
                <a:latin typeface="IBM Plex Sans Arabic"/>
                <a:ea typeface="IBM Plex Sans Arabic"/>
                <a:cs typeface="IBM Plex Sans Arabic"/>
              </a:rPr>
              <a:t>حسابات مستقلة لا يربطها الدليل</a:t>
            </a:r>
          </a:p>
        </p:txBody>
      </p:sp>
      <p:sp>
        <p:nvSpPr>
          <p:cNvPr id="22" name="Text 21"/>
          <p:cNvSpPr txBox="1"/>
          <p:nvPr/>
        </p:nvSpPr>
        <p:spPr>
          <a:xfrm>
            <a:off x="723265" y="2836906"/>
            <a:ext cx="3074035" cy="77331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افتراض تدريبي في رُفاد: تعطيل الحساب في الدليل لا يغلق حساب الرواتب، لذلك قد يبقى نشطاً بعد المغادرة.</a:t>
            </a:r>
          </a:p>
        </p:txBody>
      </p:sp>
      <p:sp>
        <p:nvSpPr>
          <p:cNvPr id="23" name="Text 22"/>
          <p:cNvSpPr txBox="1"/>
          <p:nvPr/>
        </p:nvSpPr>
        <p:spPr>
          <a:xfrm>
            <a:off x="0" y="4182900"/>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LDAP: الطريقة التي تسأل بها الأنظمة الدليل: من هذا المستخدم؟ وإلى أي مجموعة ينتمي؟ لا تحتاج أكثر من هذا.</a:t>
            </a:r>
          </a:p>
        </p:txBody>
      </p:sp>
      <p:sp>
        <p:nvSpPr>
          <p:cNvPr id="24" name="Rule 23"/>
          <p:cNvSpPr/>
          <p:nvPr/>
        </p:nvSpPr>
        <p:spPr>
          <a:xfrm>
            <a:off x="7958634" y="4691856"/>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7984034"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B4412C"/>
                </a:solidFill>
                <a:latin typeface="IBM Plex Sans Arabic"/>
                <a:ea typeface="IBM Plex Sans Arabic"/>
                <a:cs typeface="IBM Plex Sans Arabic"/>
              </a:rPr>
              <a:t>الخطر</a:t>
            </a:r>
          </a:p>
        </p:txBody>
      </p:sp>
      <p:sp>
        <p:nvSpPr>
          <p:cNvPr id="26" name="Text 25"/>
          <p:cNvSpPr txBox="1"/>
          <p:nvPr/>
        </p:nvSpPr>
        <p:spPr>
          <a:xfrm>
            <a:off x="7984034"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حساب مغادر نشط يفتح كل ما يرتبط بالدليل، ومجموعة إدارية متضخمة.</a:t>
            </a:r>
          </a:p>
        </p:txBody>
      </p:sp>
      <p:sp>
        <p:nvSpPr>
          <p:cNvPr id="27" name="Rule 26"/>
          <p:cNvSpPr/>
          <p:nvPr/>
        </p:nvSpPr>
        <p:spPr>
          <a:xfrm>
            <a:off x="4385667" y="4691856"/>
            <a:ext cx="3420566" cy="31750"/>
          </a:xfrm>
          <a:prstGeom prst="rect">
            <a:avLst/>
          </a:prstGeom>
          <a:solidFill>
            <a:srgbClr val="24506B"/>
          </a:solidFill>
          <a:ln>
            <a:noFill/>
          </a:ln>
        </p:spPr>
        <p:txBody>
          <a:bodyPr rtlCol="0" anchor="ctr"/>
          <a:lstStyle/>
          <a:p>
            <a:pPr algn="ctr"/>
          </a:p>
        </p:txBody>
      </p:sp>
      <p:sp>
        <p:nvSpPr>
          <p:cNvPr id="28" name="Text 27"/>
          <p:cNvSpPr txBox="1"/>
          <p:nvPr/>
        </p:nvSpPr>
        <p:spPr>
          <a:xfrm>
            <a:off x="4411067"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24506B"/>
                </a:solidFill>
                <a:latin typeface="IBM Plex Sans Arabic"/>
                <a:ea typeface="IBM Plex Sans Arabic"/>
                <a:cs typeface="IBM Plex Sans Arabic"/>
              </a:rPr>
              <a:t>الضابط</a:t>
            </a:r>
          </a:p>
        </p:txBody>
      </p:sp>
      <p:sp>
        <p:nvSpPr>
          <p:cNvPr id="29" name="Text 28"/>
          <p:cNvSpPr txBox="1"/>
          <p:nvPr/>
        </p:nvSpPr>
        <p:spPr>
          <a:xfrm>
            <a:off x="4411067"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ربط الدليل بإجراء المغادرين، ومراجعة المجموعات الإدارية.</a:t>
            </a:r>
          </a:p>
        </p:txBody>
      </p:sp>
      <p:sp>
        <p:nvSpPr>
          <p:cNvPr id="30" name="Rule 29"/>
          <p:cNvSpPr/>
          <p:nvPr/>
        </p:nvSpPr>
        <p:spPr>
          <a:xfrm>
            <a:off x="812701" y="4691856"/>
            <a:ext cx="3420566" cy="31750"/>
          </a:xfrm>
          <a:prstGeom prst="rect">
            <a:avLst/>
          </a:prstGeom>
          <a:solidFill>
            <a:srgbClr val="8A4B12"/>
          </a:solidFill>
          <a:ln>
            <a:noFill/>
          </a:ln>
        </p:spPr>
        <p:txBody>
          <a:bodyPr rtlCol="0" anchor="ctr"/>
          <a:lstStyle/>
          <a:p>
            <a:pPr algn="ctr"/>
          </a:p>
        </p:txBody>
      </p:sp>
      <p:sp>
        <p:nvSpPr>
          <p:cNvPr id="31" name="Text 30"/>
          <p:cNvSpPr txBox="1"/>
          <p:nvPr/>
        </p:nvSpPr>
        <p:spPr>
          <a:xfrm>
            <a:off x="838101"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الدليل</a:t>
            </a:r>
          </a:p>
        </p:txBody>
      </p:sp>
      <p:sp>
        <p:nvSpPr>
          <p:cNvPr id="32" name="Text 31"/>
          <p:cNvSpPr txBox="1"/>
          <p:nvPr/>
        </p:nvSpPr>
        <p:spPr>
          <a:xfrm>
            <a:off x="838101"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الحسابات المعطلة مقابل قائمة المغادرين، وأعضاء المجموعات الإدارية.</a:t>
            </a:r>
          </a:p>
        </p:txBody>
      </p:sp>
      <p:sp>
        <p:nvSpPr>
          <p:cNvPr id="33" name="Text 3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34" name="Text 3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الشبكات: من أين يدخل الاتصال، وأين يُسجَّل؟</a:t>
            </a:r>
          </a:p>
        </p:txBody>
      </p:sp>
      <p:sp>
        <p:nvSpPr>
          <p:cNvPr id="5" name="Box 4"/>
          <p:cNvSpPr/>
          <p:nvPr/>
        </p:nvSpPr>
        <p:spPr>
          <a:xfrm>
            <a:off x="9925050" y="1848445"/>
            <a:ext cx="1447800" cy="1175941"/>
          </a:xfrm>
          <a:prstGeom prst="roundRect">
            <a:avLst>
              <a:gd name="adj" fmla="val 7479"/>
            </a:avLst>
          </a:prstGeom>
          <a:solidFill>
            <a:srgbClr val="FFFDF8"/>
          </a:solidFill>
          <a:ln w="12700">
            <a:solidFill>
              <a:srgbClr val="172433"/>
            </a:solidFill>
          </a:ln>
        </p:spPr>
        <p:txBody>
          <a:bodyPr rtlCol="0" anchor="ctr"/>
          <a:lstStyle/>
          <a:p>
            <a:pPr algn="ctr"/>
          </a:p>
        </p:txBody>
      </p:sp>
      <p:sp>
        <p:nvSpPr>
          <p:cNvPr id="6" name="Text 5"/>
          <p:cNvSpPr txBox="1"/>
          <p:nvPr/>
        </p:nvSpPr>
        <p:spPr>
          <a:xfrm>
            <a:off x="9969500" y="1946235"/>
            <a:ext cx="13589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172433"/>
                </a:solidFill>
                <a:latin typeface="Readex Pro"/>
                <a:ea typeface="Readex Pro"/>
                <a:cs typeface="Readex Pro"/>
              </a:rPr>
              <a:t>الإنترنت</a:t>
            </a:r>
          </a:p>
        </p:txBody>
      </p:sp>
      <p:sp>
        <p:nvSpPr>
          <p:cNvPr id="7" name="Text 6"/>
          <p:cNvSpPr txBox="1"/>
          <p:nvPr/>
        </p:nvSpPr>
        <p:spPr>
          <a:xfrm>
            <a:off x="10017125" y="2269577"/>
            <a:ext cx="12636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الموظف من المنزل</a:t>
            </a:r>
          </a:p>
        </p:txBody>
      </p:sp>
      <p:sp>
        <p:nvSpPr>
          <p:cNvPr id="8" name="Text 7"/>
          <p:cNvSpPr txBox="1"/>
          <p:nvPr/>
        </p:nvSpPr>
        <p:spPr>
          <a:xfrm>
            <a:off x="948174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7913291" y="1689695"/>
            <a:ext cx="1638300" cy="1493441"/>
          </a:xfrm>
          <a:prstGeom prst="roundRect">
            <a:avLst>
              <a:gd name="adj" fmla="val 5902"/>
            </a:avLst>
          </a:prstGeom>
          <a:solidFill>
            <a:srgbClr val="FFFDF8"/>
          </a:solidFill>
          <a:ln w="12700">
            <a:solidFill>
              <a:srgbClr val="B4412C"/>
            </a:solidFill>
          </a:ln>
        </p:spPr>
        <p:txBody>
          <a:bodyPr rtlCol="0" anchor="ctr"/>
          <a:lstStyle/>
          <a:p>
            <a:pPr algn="ctr"/>
          </a:p>
        </p:txBody>
      </p:sp>
      <p:sp>
        <p:nvSpPr>
          <p:cNvPr id="10" name="Text 9"/>
          <p:cNvSpPr txBox="1"/>
          <p:nvPr/>
        </p:nvSpPr>
        <p:spPr>
          <a:xfrm>
            <a:off x="8002191" y="1787485"/>
            <a:ext cx="146050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B4412C"/>
                </a:solidFill>
                <a:latin typeface="Readex Pro"/>
                <a:ea typeface="Readex Pro"/>
                <a:cs typeface="Readex Pro"/>
              </a:rPr>
              <a:t>الجدار الناري</a:t>
            </a:r>
          </a:p>
        </p:txBody>
      </p:sp>
      <p:sp>
        <p:nvSpPr>
          <p:cNvPr id="11" name="Text 10"/>
          <p:cNvSpPr txBox="1"/>
          <p:nvPr/>
        </p:nvSpPr>
        <p:spPr>
          <a:xfrm>
            <a:off x="8005366" y="242832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يسمح بالمعتمد فقط</a:t>
            </a:r>
          </a:p>
        </p:txBody>
      </p:sp>
      <p:sp>
        <p:nvSpPr>
          <p:cNvPr id="12" name="Text 11"/>
          <p:cNvSpPr txBox="1"/>
          <p:nvPr/>
        </p:nvSpPr>
        <p:spPr>
          <a:xfrm>
            <a:off x="746998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5901531" y="1848445"/>
            <a:ext cx="1638300" cy="1175941"/>
          </a:xfrm>
          <a:prstGeom prst="roundRect">
            <a:avLst>
              <a:gd name="adj" fmla="val 7479"/>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5945981" y="1946235"/>
            <a:ext cx="15494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0E7C6B"/>
                </a:solidFill>
                <a:latin typeface="Readex Pro"/>
                <a:ea typeface="Readex Pro"/>
                <a:cs typeface="Readex Pro"/>
              </a:rPr>
              <a:t>بوابة VPN</a:t>
            </a:r>
          </a:p>
        </p:txBody>
      </p:sp>
      <p:sp>
        <p:nvSpPr>
          <p:cNvPr id="15" name="Text 14"/>
          <p:cNvSpPr txBox="1"/>
          <p:nvPr/>
        </p:nvSpPr>
        <p:spPr>
          <a:xfrm>
            <a:off x="5993606" y="226957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نفق مشفر + MFA</a:t>
            </a:r>
          </a:p>
        </p:txBody>
      </p:sp>
      <p:sp>
        <p:nvSpPr>
          <p:cNvPr id="16" name="Text 15"/>
          <p:cNvSpPr txBox="1"/>
          <p:nvPr/>
        </p:nvSpPr>
        <p:spPr>
          <a:xfrm>
            <a:off x="5458222"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2800" y="1709341"/>
            <a:ext cx="4721622" cy="1454051"/>
          </a:xfrm>
          <a:prstGeom prst="roundRect">
            <a:avLst>
              <a:gd name="adj" fmla="val 6987"/>
            </a:avLst>
          </a:prstGeom>
          <a:solidFill>
            <a:srgbClr val="F1ECE1"/>
          </a:solidFill>
          <a:ln>
            <a:noFill/>
          </a:ln>
        </p:spPr>
        <p:txBody>
          <a:bodyPr rtlCol="0" anchor="ctr"/>
          <a:lstStyle/>
          <a:p>
            <a:pPr algn="ctr"/>
          </a:p>
        </p:txBody>
      </p:sp>
      <p:sp>
        <p:nvSpPr>
          <p:cNvPr id="18" name="Box 17"/>
          <p:cNvSpPr/>
          <p:nvPr/>
        </p:nvSpPr>
        <p:spPr>
          <a:xfrm>
            <a:off x="3406477"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9" name="Text 18"/>
          <p:cNvSpPr txBox="1"/>
          <p:nvPr/>
        </p:nvSpPr>
        <p:spPr>
          <a:xfrm>
            <a:off x="3450927"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شبكة المكاتب</a:t>
            </a:r>
          </a:p>
        </p:txBody>
      </p:sp>
      <p:sp>
        <p:nvSpPr>
          <p:cNvPr id="20" name="Text 19"/>
          <p:cNvSpPr txBox="1"/>
          <p:nvPr/>
        </p:nvSpPr>
        <p:spPr>
          <a:xfrm>
            <a:off x="3455980"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أجهزة الموظفين</a:t>
            </a:r>
          </a:p>
        </p:txBody>
      </p:sp>
      <p:sp>
        <p:nvSpPr>
          <p:cNvPr id="21" name="Text 20"/>
          <p:cNvSpPr txBox="1"/>
          <p:nvPr/>
        </p:nvSpPr>
        <p:spPr>
          <a:xfrm>
            <a:off x="2761575" y="2042950"/>
            <a:ext cx="549652"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0" i="0">
                <a:solidFill>
                  <a:srgbClr val="B4412C"/>
                </a:solidFill>
                <a:latin typeface="IBM Plex Sans Arabic"/>
                <a:ea typeface="IBM Plex Sans Arabic"/>
                <a:cs typeface="IBM Plex Sans Arabic"/>
              </a:rPr>
              <a:t>┆</a:t>
            </a:r>
          </a:p>
        </p:txBody>
      </p:sp>
      <p:sp>
        <p:nvSpPr>
          <p:cNvPr id="22" name="Box 21"/>
          <p:cNvSpPr/>
          <p:nvPr/>
        </p:nvSpPr>
        <p:spPr>
          <a:xfrm>
            <a:off x="920651"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23" name="Text 22"/>
          <p:cNvSpPr txBox="1"/>
          <p:nvPr/>
        </p:nvSpPr>
        <p:spPr>
          <a:xfrm>
            <a:off x="965101"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شبكة الخوادم</a:t>
            </a:r>
          </a:p>
        </p:txBody>
      </p:sp>
      <p:sp>
        <p:nvSpPr>
          <p:cNvPr id="24" name="Text 23"/>
          <p:cNvSpPr txBox="1"/>
          <p:nvPr/>
        </p:nvSpPr>
        <p:spPr>
          <a:xfrm>
            <a:off x="970153"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أنظمة داخلية</a:t>
            </a:r>
          </a:p>
        </p:txBody>
      </p:sp>
      <p:sp>
        <p:nvSpPr>
          <p:cNvPr id="25" name="Text 24"/>
          <p:cNvSpPr txBox="1"/>
          <p:nvPr/>
        </p:nvSpPr>
        <p:spPr>
          <a:xfrm>
            <a:off x="838200" y="2706378"/>
            <a:ext cx="4670822"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a:solidFill>
                  <a:srgbClr val="B4412C"/>
                </a:solidFill>
                <a:latin typeface="IBM Plex Sans Arabic"/>
                <a:ea typeface="IBM Plex Sans Arabic"/>
                <a:cs typeface="IBM Plex Sans Arabic"/>
              </a:rPr>
              <a:t>فصل بقواعد بين الجزأين</a:t>
            </a:r>
          </a:p>
        </p:txBody>
      </p:sp>
      <p:sp>
        <p:nvSpPr>
          <p:cNvPr id="26" name="Box 25"/>
          <p:cNvSpPr/>
          <p:nvPr/>
        </p:nvSpPr>
        <p:spPr>
          <a:xfrm>
            <a:off x="8337550" y="3576836"/>
            <a:ext cx="3035300" cy="1184870"/>
          </a:xfrm>
          <a:prstGeom prst="roundRect">
            <a:avLst>
              <a:gd name="adj" fmla="val 7423"/>
            </a:avLst>
          </a:prstGeom>
          <a:solidFill>
            <a:srgbClr val="FFFDF8"/>
          </a:solidFill>
          <a:ln w="12700">
            <a:solidFill>
              <a:srgbClr val="24506B"/>
            </a:solidFill>
          </a:ln>
        </p:spPr>
        <p:txBody>
          <a:bodyPr rtlCol="0" anchor="ctr"/>
          <a:lstStyle/>
          <a:p>
            <a:pPr algn="ctr"/>
          </a:p>
        </p:txBody>
      </p:sp>
      <p:sp>
        <p:nvSpPr>
          <p:cNvPr id="27" name="Text 26"/>
          <p:cNvSpPr txBox="1"/>
          <p:nvPr/>
        </p:nvSpPr>
        <p:spPr>
          <a:xfrm>
            <a:off x="8416290" y="3674626"/>
            <a:ext cx="287782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خادم تطبيق التتبع السحابي</a:t>
            </a:r>
          </a:p>
        </p:txBody>
      </p:sp>
      <p:sp>
        <p:nvSpPr>
          <p:cNvPr id="28" name="Text 27"/>
          <p:cNvSpPr txBox="1"/>
          <p:nvPr/>
        </p:nvSpPr>
        <p:spPr>
          <a:xfrm>
            <a:off x="8356600" y="4315468"/>
            <a:ext cx="299720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خارج الشبكة الداخلية</a:t>
            </a:r>
          </a:p>
        </p:txBody>
      </p:sp>
      <p:sp>
        <p:nvSpPr>
          <p:cNvPr id="29" name="Text 28"/>
          <p:cNvSpPr txBox="1"/>
          <p:nvPr/>
        </p:nvSpPr>
        <p:spPr>
          <a:xfrm>
            <a:off x="7894241" y="405370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30" name="Box 29"/>
          <p:cNvSpPr/>
          <p:nvPr/>
        </p:nvSpPr>
        <p:spPr>
          <a:xfrm>
            <a:off x="5563791" y="3735586"/>
            <a:ext cx="2400300" cy="867370"/>
          </a:xfrm>
          <a:prstGeom prst="roundRect">
            <a:avLst>
              <a:gd name="adj" fmla="val 10101"/>
            </a:avLst>
          </a:prstGeom>
          <a:solidFill>
            <a:srgbClr val="FFF8F6"/>
          </a:solidFill>
          <a:ln w="12700">
            <a:solidFill>
              <a:srgbClr val="B4412C"/>
            </a:solidFill>
          </a:ln>
        </p:spPr>
        <p:txBody>
          <a:bodyPr rtlCol="0" anchor="ctr"/>
          <a:lstStyle/>
          <a:p>
            <a:pPr algn="ctr"/>
          </a:p>
        </p:txBody>
      </p:sp>
      <p:sp>
        <p:nvSpPr>
          <p:cNvPr id="31" name="Text 30"/>
          <p:cNvSpPr txBox="1"/>
          <p:nvPr/>
        </p:nvSpPr>
        <p:spPr>
          <a:xfrm>
            <a:off x="5598081" y="3833376"/>
            <a:ext cx="233172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B4412C"/>
                </a:solidFill>
                <a:latin typeface="Readex Pro"/>
                <a:ea typeface="Readex Pro"/>
                <a:cs typeface="Readex Pro"/>
              </a:rPr>
              <a:t>أداة دعم سَنَد</a:t>
            </a:r>
          </a:p>
        </p:txBody>
      </p:sp>
      <p:sp>
        <p:nvSpPr>
          <p:cNvPr id="32" name="Text 31"/>
          <p:cNvSpPr txBox="1"/>
          <p:nvPr/>
        </p:nvSpPr>
        <p:spPr>
          <a:xfrm>
            <a:off x="5598081" y="4156718"/>
            <a:ext cx="233172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مكشوفة على الإنترنت</a:t>
            </a:r>
          </a:p>
        </p:txBody>
      </p:sp>
      <p:sp>
        <p:nvSpPr>
          <p:cNvPr id="33" name="Text 32"/>
          <p:cNvSpPr txBox="1"/>
          <p:nvPr/>
        </p:nvSpPr>
        <p:spPr>
          <a:xfrm>
            <a:off x="439325" y="3952101"/>
            <a:ext cx="50419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ستقيّم هذا الخطر بنفسك في التطبيق 2.</a:t>
            </a:r>
          </a:p>
        </p:txBody>
      </p:sp>
      <p:pic>
        <p:nvPicPr>
          <p:cNvPr id="34" name="Icon Activity 33" descr="icon014.png"/>
          <p:cNvPicPr>
            <a:picLocks noChangeAspect="1"/>
          </p:cNvPicPr>
          <p:nvPr/>
        </p:nvPicPr>
        <p:blipFill>
          <a:blip r:embed="rId2"/>
          <a:stretch>
            <a:fillRect/>
          </a:stretch>
        </p:blipFill>
        <p:spPr>
          <a:xfrm>
            <a:off x="11010900" y="5149056"/>
            <a:ext cx="368300" cy="368300"/>
          </a:xfrm>
          <a:prstGeom prst="rect">
            <a:avLst/>
          </a:prstGeom>
        </p:spPr>
      </p:pic>
      <p:sp>
        <p:nvSpPr>
          <p:cNvPr id="35" name="Text 34"/>
          <p:cNvSpPr txBox="1"/>
          <p:nvPr/>
        </p:nvSpPr>
        <p:spPr>
          <a:xfrm>
            <a:off x="5080" y="5103336"/>
            <a:ext cx="1090422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السجلات: الجدار الناري وبوابة VPN والخوادم تسجل من دخل ومتى. بلا سجلات لا اكتشاف ولا تحقيق.</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الشبكات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قائمة القواعد، وتاريخ آخر مراجعة.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قواعد بمالك وسبب، وتقييد المنافذ · ECC 2-⁠5-⁠3-⁠5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منفذ مفتوح بلا حاجة باب للمهاجم.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الجدار الناري</a:t>
                      </a:r>
                      <a:r>
                        <a:rPr sz="1600" b="0" i="0">
                          <a:solidFill>
                            <a:srgbClr val="172433"/>
                          </a:solidFill>
                          <a:latin typeface="IBM Plex Sans Arabic"/>
                          <a:ea typeface="IBM Plex Sans Arabic"/>
                          <a:cs typeface="IBM Plex Sans Arabic"/>
                        </a:rPr>
                        <a:t>: يسمح بالاتصالات المعتمدة فقط.</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إعداد البوابة، وسجل الاتصالات.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MFA ومجموعة محددة من المستخدمين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مرور مسروقة تفتح الشبكة.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VPN</a:t>
                      </a:r>
                      <a:r>
                        <a:rPr sz="1600" b="0" i="0">
                          <a:solidFill>
                            <a:srgbClr val="172433"/>
                          </a:solidFill>
                          <a:latin typeface="IBM Plex Sans Arabic"/>
                          <a:ea typeface="IBM Plex Sans Arabic"/>
                          <a:cs typeface="IBM Plex Sans Arabic"/>
                        </a:rPr>
                        <a:t>: نفق مشفر إلى الشبكة من الخارج.</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مخطط الشبكة، وقواعد العبور.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فصل بالجدار الناري، والإنتاج عن الاختبار · ECC 2-⁠5-⁠3-⁠1 و‎2-⁠5-⁠3-⁠2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اختراق جهاز واحد يصل إلى الخوادم.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فصل الشبكات</a:t>
                      </a:r>
                      <a:r>
                        <a:rPr sz="1600" b="0" i="0">
                          <a:solidFill>
                            <a:srgbClr val="172433"/>
                          </a:solidFill>
                          <a:latin typeface="IBM Plex Sans Arabic"/>
                          <a:ea typeface="IBM Plex Sans Arabic"/>
                          <a:cs typeface="IBM Plex Sans Arabic"/>
                        </a:rPr>
                        <a:t>: أجزاء بقواعد بينها.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إعداد التسجيل، وعينة من الفترة.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للأصول المهمة والدخول عن بعد، وحفظ 12 شهراً · ECC 2-⁠12-⁠3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هجوم لا يُكتشف ولا يُحقق فيه.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السجلات</a:t>
                      </a:r>
                      <a:r>
                        <a:rPr sz="1600" b="0" i="0">
                          <a:solidFill>
                            <a:srgbClr val="172433"/>
                          </a:solidFill>
                          <a:latin typeface="IBM Plex Sans Arabic"/>
                          <a:ea typeface="IBM Plex Sans Arabic"/>
                          <a:cs typeface="IBM Plex Sans Arabic"/>
                        </a:rPr>
                        <a:t>: من دخل، ومتى، وماذا فعل.</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السحابة: من المسؤول عن ماذا؟</a:t>
            </a:r>
          </a:p>
        </p:txBody>
      </p:sp>
      <p:graphicFrame>
        <p:nvGraphicFramePr>
          <p:cNvPr id="5" name="Table 4"/>
          <p:cNvGraphicFramePr>
            <a:graphicFrameLocks noGrp="1"/>
          </p:cNvGraphicFramePr>
          <p:nvPr/>
        </p:nvGraphicFramePr>
        <p:xfrm>
          <a:off x="815975" y="1623020"/>
          <a:ext cx="10560050" cy="2484140"/>
        </p:xfrm>
        <a:graphic>
          <a:graphicData uri="http://schemas.openxmlformats.org/drawingml/2006/table">
            <a:tbl>
              <a:tblPr firstRow="0" bandRow="0" lastRow="0" firstCol="0" lastCol="0" bandCol="0">
                <a:tableStyleId>{2D5ABB26-0587-4C30-8999-92F81FD0307C}</a:tableStyleId>
              </a:tblPr>
              <a:tblGrid>
                <a:gridCol w="2428875"/>
                <a:gridCol w="2428875"/>
                <a:gridCol w="2428875"/>
                <a:gridCol w="3273425"/>
              </a:tblGrid>
              <a:tr h="370780">
                <a:tc>
                  <a:txBody>
                    <a:bodyPr wrap="square"/>
                    <a:lstStyle/>
                    <a:p>
                      <a:pPr algn="ctr" rtl="1">
                        <a:lnSpc>
                          <a:spcPts val="1889"/>
                        </a:lnSpc>
                        <a:spcBef>
                          <a:spcPts val="0"/>
                        </a:spcBef>
                        <a:spcAft>
                          <a:spcPts val="0"/>
                        </a:spcAft>
                      </a:pPr>
                      <a:r>
                        <a:rPr sz="1400" b="1" i="0">
                          <a:solidFill>
                            <a:srgbClr val="F3EFE6"/>
                          </a:solidFill>
                          <a:latin typeface="IBM Plex Sans Arabic"/>
                          <a:ea typeface="IBM Plex Sans Arabic"/>
                          <a:cs typeface="IBM Plex Sans Arabic"/>
                        </a:rPr>
                        <a:t>SaaS · الرواتب والبريد</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a:solidFill>
                            <a:srgbClr val="F3EFE6"/>
                          </a:solidFill>
                          <a:latin typeface="IBM Plex Sans Arabic"/>
                          <a:ea typeface="IBM Plex Sans Arabic"/>
                          <a:cs typeface="IBM Plex Sans Arabic"/>
                        </a:rPr>
                        <a:t>PaaS · منصة لتشغيل تطبيق</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a:solidFill>
                            <a:srgbClr val="F3EFE6"/>
                          </a:solidFill>
                          <a:latin typeface="IBM Plex Sans Arabic"/>
                          <a:ea typeface="IBM Plex Sans Arabic"/>
                          <a:cs typeface="IBM Plex Sans Arabic"/>
                        </a:rPr>
                        <a:t>IaaS · خادم تطبيق التتبع</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الطبقة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البيانات وتصنيفها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الحسابات والصلاحيات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التطبيق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نظام التشغيل والتحديثات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الخوادم والشبكة والمراكز</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Rule 5"/>
          <p:cNvSpPr/>
          <p:nvPr/>
        </p:nvSpPr>
        <p:spPr>
          <a:xfrm>
            <a:off x="7958634" y="4262735"/>
            <a:ext cx="3420566" cy="31750"/>
          </a:xfrm>
          <a:prstGeom prst="rect">
            <a:avLst/>
          </a:prstGeom>
          <a:solidFill>
            <a:srgbClr val="B4412C"/>
          </a:solidFill>
          <a:ln>
            <a:noFill/>
          </a:ln>
        </p:spPr>
        <p:txBody>
          <a:bodyPr rtlCol="0" anchor="ctr"/>
          <a:lstStyle/>
          <a:p>
            <a:pPr algn="ctr"/>
          </a:p>
        </p:txBody>
      </p:sp>
      <p:sp>
        <p:nvSpPr>
          <p:cNvPr id="7" name="Text 6"/>
          <p:cNvSpPr txBox="1"/>
          <p:nvPr/>
        </p:nvSpPr>
        <p:spPr>
          <a:xfrm>
            <a:off x="7984034"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B4412C"/>
                </a:solidFill>
                <a:latin typeface="IBM Plex Sans Arabic"/>
                <a:ea typeface="IBM Plex Sans Arabic"/>
                <a:cs typeface="IBM Plex Sans Arabic"/>
              </a:rPr>
              <a:t>الخطر</a:t>
            </a:r>
          </a:p>
        </p:txBody>
      </p:sp>
      <p:sp>
        <p:nvSpPr>
          <p:cNvPr id="8" name="Text 7"/>
          <p:cNvSpPr txBox="1"/>
          <p:nvPr/>
        </p:nvSpPr>
        <p:spPr>
          <a:xfrm>
            <a:off x="7984034" y="4762841"/>
            <a:ext cx="3357066"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أن تفترض الجهة أن المزود يحمي كل شيء.</a:t>
            </a:r>
          </a:p>
        </p:txBody>
      </p:sp>
      <p:sp>
        <p:nvSpPr>
          <p:cNvPr id="9" name="Rule 8"/>
          <p:cNvSpPr/>
          <p:nvPr/>
        </p:nvSpPr>
        <p:spPr>
          <a:xfrm>
            <a:off x="4385667" y="4262735"/>
            <a:ext cx="3420566" cy="31750"/>
          </a:xfrm>
          <a:prstGeom prst="rect">
            <a:avLst/>
          </a:prstGeom>
          <a:solidFill>
            <a:srgbClr val="24506B"/>
          </a:solidFill>
          <a:ln>
            <a:noFill/>
          </a:ln>
        </p:spPr>
        <p:txBody>
          <a:bodyPr rtlCol="0" anchor="ctr"/>
          <a:lstStyle/>
          <a:p>
            <a:pPr algn="ctr"/>
          </a:p>
        </p:txBody>
      </p:sp>
      <p:sp>
        <p:nvSpPr>
          <p:cNvPr id="10" name="Text 9"/>
          <p:cNvSpPr txBox="1"/>
          <p:nvPr/>
        </p:nvSpPr>
        <p:spPr>
          <a:xfrm>
            <a:off x="4411067"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24506B"/>
                </a:solidFill>
                <a:latin typeface="IBM Plex Sans Arabic"/>
                <a:ea typeface="IBM Plex Sans Arabic"/>
                <a:cs typeface="IBM Plex Sans Arabic"/>
              </a:rPr>
              <a:t>الضابط</a:t>
            </a:r>
          </a:p>
        </p:txBody>
      </p:sp>
      <p:sp>
        <p:nvSpPr>
          <p:cNvPr id="11" name="Text 10"/>
          <p:cNvSpPr txBox="1"/>
          <p:nvPr/>
        </p:nvSpPr>
        <p:spPr>
          <a:xfrm>
            <a:off x="4411067"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مسؤوليات مكتوبة في العقد، وحماية البيانات وإعادتها عند الإنهاء (ECC 4-⁠2-⁠3).</a:t>
            </a:r>
          </a:p>
        </p:txBody>
      </p:sp>
      <p:sp>
        <p:nvSpPr>
          <p:cNvPr id="12" name="Rule 11"/>
          <p:cNvSpPr/>
          <p:nvPr/>
        </p:nvSpPr>
        <p:spPr>
          <a:xfrm>
            <a:off x="812701" y="4262735"/>
            <a:ext cx="3420566" cy="31750"/>
          </a:xfrm>
          <a:prstGeom prst="rect">
            <a:avLst/>
          </a:prstGeom>
          <a:solidFill>
            <a:srgbClr val="8A4B12"/>
          </a:solidFill>
          <a:ln>
            <a:noFill/>
          </a:ln>
        </p:spPr>
        <p:txBody>
          <a:bodyPr rtlCol="0" anchor="ctr"/>
          <a:lstStyle/>
          <a:p>
            <a:pPr algn="ctr"/>
          </a:p>
        </p:txBody>
      </p:sp>
      <p:sp>
        <p:nvSpPr>
          <p:cNvPr id="13" name="Text 12"/>
          <p:cNvSpPr txBox="1"/>
          <p:nvPr/>
        </p:nvSpPr>
        <p:spPr>
          <a:xfrm>
            <a:off x="838101"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الدليل</a:t>
            </a:r>
          </a:p>
        </p:txBody>
      </p:sp>
      <p:sp>
        <p:nvSpPr>
          <p:cNvPr id="14" name="Text 13"/>
          <p:cNvSpPr txBox="1"/>
          <p:nvPr/>
        </p:nvSpPr>
        <p:spPr>
          <a:xfrm>
            <a:off x="838101"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العقد وملحق المسؤوليات، وتقارير المزود، وإعداد الحسابات من جهة رُفاد.</a:t>
            </a:r>
          </a:p>
        </p:txBody>
      </p:sp>
      <p:sp>
        <p:nvSpPr>
          <p:cNvPr id="15" name="Text 14"/>
          <p:cNvSpPr txBox="1"/>
          <p:nvPr/>
        </p:nvSpPr>
        <p:spPr>
          <a:xfrm>
            <a:off x="0" y="5456182"/>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التقسيم الدقيق في عقد كل مزود ووثائقه. لكن البيانات والحسابات تبقى مسؤولية الجهة في كل النماذج.</a:t>
            </a:r>
          </a:p>
        </p:txBody>
      </p:sp>
      <p:sp>
        <p:nvSpPr>
          <p:cNvPr id="16" name="Text 1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17" name="Text 1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الحماية: أربعة ضوابط ستسأل عنها كثيراً</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الفحص، والثغرات المفتوحة بأعمارها.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معالجة بمهل حسب الخطورة، واختبار قبل الإنتاج · ECC 2-⁠10-⁠3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ثغرة معروفة يستغلها 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الثغرات والتحديثات</a:t>
                      </a:r>
                      <a:r>
                        <a:rPr sz="1600" b="0" i="0">
                          <a:solidFill>
                            <a:srgbClr val="172433"/>
                          </a:solidFill>
                          <a:latin typeface="IBM Plex Sans Arabic"/>
                          <a:ea typeface="IBM Plex Sans Arabic"/>
                          <a:cs typeface="IBM Plex Sans Arabic"/>
                        </a:rPr>
                        <a:t>: فحص دوري، وتحديث حسب الخطورة.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حالة التشفير للأجهزة.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تشفير المخزن والمنقول حسب التصنيف · ECC 2-⁠8-⁠3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جهاز مسروق يكشف البيانات.</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التشفير</a:t>
                      </a:r>
                      <a:r>
                        <a:rPr sz="1600" b="0" i="0">
                          <a:solidFill>
                            <a:srgbClr val="172433"/>
                          </a:solidFill>
                          <a:latin typeface="IBM Plex Sans Arabic"/>
                          <a:ea typeface="IBM Plex Sans Arabic"/>
                          <a:cs typeface="IBM Plex Sans Arabic"/>
                        </a:rPr>
                        <a:t>: بيانات لا تُقرأ بلا مفتاح.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المهام، ومحضر اختبار استعادة.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نطاق للأصول المهمة، واختبار دوري للاستعادة · ECC 2-⁠9-⁠3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نسخ لا تُستعاد عند الحاجة.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النسخ الاحتياطي</a:t>
                      </a:r>
                      <a:r>
                        <a:rPr sz="1600" b="0" i="0">
                          <a:solidFill>
                            <a:srgbClr val="172433"/>
                          </a:solidFill>
                          <a:latin typeface="IBM Plex Sans Arabic"/>
                          <a:ea typeface="IBM Plex Sans Arabic"/>
                          <a:cs typeface="IBM Plex Sans Arabic"/>
                        </a:rPr>
                        <a:t>: نسخ دورية تُستعاد عند الفقد.</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القواعد المفعلة، وتقرير التنبيهات.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تصنيف البيانات، ثم قواعد منع · ضمن ECC 2-⁠7</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ملفات الرواتب تُرسل إلى بريد خارجي.</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DLP</a:t>
                      </a:r>
                      <a:r>
                        <a:rPr sz="1600" b="0" i="0">
                          <a:solidFill>
                            <a:srgbClr val="172433"/>
                          </a:solidFill>
                          <a:latin typeface="IBM Plex Sans Arabic"/>
                          <a:ea typeface="IBM Plex Sans Arabic"/>
                          <a:cs typeface="IBM Plex Sans Arabic"/>
                        </a:rPr>
                        <a:t>: يكتشف خروج البيانات الحساسة ويمنعه.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التطبيقات والتغيير: من التطوير إلى الإنتاج</a:t>
            </a:r>
          </a:p>
        </p:txBody>
      </p:sp>
      <p:sp>
        <p:nvSpPr>
          <p:cNvPr id="5" name="Box 4"/>
          <p:cNvSpPr/>
          <p:nvPr/>
        </p:nvSpPr>
        <p:spPr>
          <a:xfrm>
            <a:off x="810389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6" name="Text 5"/>
          <p:cNvSpPr txBox="1"/>
          <p:nvPr/>
        </p:nvSpPr>
        <p:spPr>
          <a:xfrm>
            <a:off x="812294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التطوير Dev</a:t>
            </a:r>
          </a:p>
        </p:txBody>
      </p:sp>
      <p:sp>
        <p:nvSpPr>
          <p:cNvPr id="7" name="Text 6"/>
          <p:cNvSpPr txBox="1"/>
          <p:nvPr/>
        </p:nvSpPr>
        <p:spPr>
          <a:xfrm>
            <a:off x="812294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يُكتب الكود · بيانات وهمية</a:t>
            </a:r>
          </a:p>
        </p:txBody>
      </p:sp>
      <p:sp>
        <p:nvSpPr>
          <p:cNvPr id="8" name="Text 7"/>
          <p:cNvSpPr txBox="1"/>
          <p:nvPr/>
        </p:nvSpPr>
        <p:spPr>
          <a:xfrm>
            <a:off x="7660580"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446147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0" name="Text 9"/>
          <p:cNvSpPr txBox="1"/>
          <p:nvPr/>
        </p:nvSpPr>
        <p:spPr>
          <a:xfrm>
            <a:off x="448052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24506B"/>
                </a:solidFill>
                <a:latin typeface="Readex Pro"/>
                <a:ea typeface="Readex Pro"/>
                <a:cs typeface="Readex Pro"/>
              </a:rPr>
              <a:t>الاختبار Test</a:t>
            </a:r>
          </a:p>
        </p:txBody>
      </p:sp>
      <p:sp>
        <p:nvSpPr>
          <p:cNvPr id="11" name="Text 10"/>
          <p:cNvSpPr txBox="1"/>
          <p:nvPr/>
        </p:nvSpPr>
        <p:spPr>
          <a:xfrm>
            <a:off x="448052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يُجرَّب التغيير · بيانات غير حقيقية</a:t>
            </a:r>
          </a:p>
        </p:txBody>
      </p:sp>
      <p:sp>
        <p:nvSpPr>
          <p:cNvPr id="12" name="Text 11"/>
          <p:cNvSpPr txBox="1"/>
          <p:nvPr/>
        </p:nvSpPr>
        <p:spPr>
          <a:xfrm>
            <a:off x="4018161"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819051" y="1676995"/>
            <a:ext cx="3268960" cy="867370"/>
          </a:xfrm>
          <a:prstGeom prst="roundRect">
            <a:avLst>
              <a:gd name="adj" fmla="val 10101"/>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838101"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a:solidFill>
                  <a:srgbClr val="0E7C6B"/>
                </a:solidFill>
                <a:latin typeface="Readex Pro"/>
                <a:ea typeface="Readex Pro"/>
                <a:cs typeface="Readex Pro"/>
              </a:rPr>
              <a:t>الإنتاج Prod</a:t>
            </a:r>
          </a:p>
        </p:txBody>
      </p:sp>
      <p:sp>
        <p:nvSpPr>
          <p:cNvPr id="15" name="Text 14"/>
          <p:cNvSpPr txBox="1"/>
          <p:nvPr/>
        </p:nvSpPr>
        <p:spPr>
          <a:xfrm>
            <a:off x="838101"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a:solidFill>
                  <a:srgbClr val="4E5A66"/>
                </a:solidFill>
                <a:latin typeface="IBM Plex Sans Arabic"/>
                <a:ea typeface="IBM Plex Sans Arabic"/>
                <a:cs typeface="IBM Plex Sans Arabic"/>
              </a:rPr>
              <a:t>يخدم المتاجر · بيانات حقيقية</a:t>
            </a:r>
          </a:p>
        </p:txBody>
      </p:sp>
      <p:sp>
        <p:nvSpPr>
          <p:cNvPr id="16" name="Text 15"/>
          <p:cNvSpPr txBox="1"/>
          <p:nvPr/>
        </p:nvSpPr>
        <p:spPr>
          <a:xfrm>
            <a:off x="0" y="3070146"/>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إدارة التغيير: كل تغيير على الإنتاج يمر بست خطوات</a:t>
            </a:r>
          </a:p>
        </p:txBody>
      </p:sp>
      <p:sp>
        <p:nvSpPr>
          <p:cNvPr id="17" name="Text box 16"/>
          <p:cNvSpPr/>
          <p:nvPr/>
        </p:nvSpPr>
        <p:spPr>
          <a:xfrm>
            <a:off x="96710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طلب</a:t>
            </a:r>
          </a:p>
        </p:txBody>
      </p:sp>
      <p:sp>
        <p:nvSpPr>
          <p:cNvPr id="18" name="Rule 17"/>
          <p:cNvSpPr/>
          <p:nvPr/>
        </p:nvSpPr>
        <p:spPr>
          <a:xfrm>
            <a:off x="9671050" y="3528616"/>
            <a:ext cx="1708150" cy="25400"/>
          </a:xfrm>
          <a:prstGeom prst="rect">
            <a:avLst/>
          </a:prstGeom>
          <a:solidFill>
            <a:srgbClr val="C27A16"/>
          </a:solidFill>
          <a:ln>
            <a:noFill/>
          </a:ln>
        </p:spPr>
        <p:txBody>
          <a:bodyPr rtlCol="0" anchor="ctr"/>
          <a:lstStyle/>
          <a:p>
            <a:pPr algn="ctr"/>
          </a:p>
        </p:txBody>
      </p:sp>
      <p:sp>
        <p:nvSpPr>
          <p:cNvPr id="19" name="Text box 18"/>
          <p:cNvSpPr/>
          <p:nvPr/>
        </p:nvSpPr>
        <p:spPr>
          <a:xfrm>
            <a:off x="78994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تقييم الأثر</a:t>
            </a:r>
          </a:p>
        </p:txBody>
      </p:sp>
      <p:sp>
        <p:nvSpPr>
          <p:cNvPr id="20" name="Rule 19"/>
          <p:cNvSpPr/>
          <p:nvPr/>
        </p:nvSpPr>
        <p:spPr>
          <a:xfrm>
            <a:off x="7899400" y="3528616"/>
            <a:ext cx="1708150" cy="25400"/>
          </a:xfrm>
          <a:prstGeom prst="rect">
            <a:avLst/>
          </a:prstGeom>
          <a:solidFill>
            <a:srgbClr val="C27A16"/>
          </a:solidFill>
          <a:ln>
            <a:noFill/>
          </a:ln>
        </p:spPr>
        <p:txBody>
          <a:bodyPr rtlCol="0" anchor="ctr"/>
          <a:lstStyle/>
          <a:p>
            <a:pPr algn="ctr"/>
          </a:p>
        </p:txBody>
      </p:sp>
      <p:sp>
        <p:nvSpPr>
          <p:cNvPr id="21" name="Text box 20"/>
          <p:cNvSpPr/>
          <p:nvPr/>
        </p:nvSpPr>
        <p:spPr>
          <a:xfrm>
            <a:off x="61277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اعتماد</a:t>
            </a:r>
          </a:p>
        </p:txBody>
      </p:sp>
      <p:sp>
        <p:nvSpPr>
          <p:cNvPr id="22" name="Rule 21"/>
          <p:cNvSpPr/>
          <p:nvPr/>
        </p:nvSpPr>
        <p:spPr>
          <a:xfrm>
            <a:off x="6127750" y="3528616"/>
            <a:ext cx="1708150" cy="25400"/>
          </a:xfrm>
          <a:prstGeom prst="rect">
            <a:avLst/>
          </a:prstGeom>
          <a:solidFill>
            <a:srgbClr val="C27A16"/>
          </a:solidFill>
          <a:ln>
            <a:noFill/>
          </a:ln>
        </p:spPr>
        <p:txBody>
          <a:bodyPr rtlCol="0" anchor="ctr"/>
          <a:lstStyle/>
          <a:p>
            <a:pPr algn="ctr"/>
          </a:p>
        </p:txBody>
      </p:sp>
      <p:sp>
        <p:nvSpPr>
          <p:cNvPr id="23" name="Text box 22"/>
          <p:cNvSpPr/>
          <p:nvPr/>
        </p:nvSpPr>
        <p:spPr>
          <a:xfrm>
            <a:off x="43561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اختبار</a:t>
            </a:r>
          </a:p>
        </p:txBody>
      </p:sp>
      <p:sp>
        <p:nvSpPr>
          <p:cNvPr id="24" name="Rule 23"/>
          <p:cNvSpPr/>
          <p:nvPr/>
        </p:nvSpPr>
        <p:spPr>
          <a:xfrm>
            <a:off x="4356100" y="3528616"/>
            <a:ext cx="1708150" cy="25400"/>
          </a:xfrm>
          <a:prstGeom prst="rect">
            <a:avLst/>
          </a:prstGeom>
          <a:solidFill>
            <a:srgbClr val="C27A16"/>
          </a:solidFill>
          <a:ln>
            <a:noFill/>
          </a:ln>
        </p:spPr>
        <p:txBody>
          <a:bodyPr rtlCol="0" anchor="ctr"/>
          <a:lstStyle/>
          <a:p>
            <a:pPr algn="ctr"/>
          </a:p>
        </p:txBody>
      </p:sp>
      <p:sp>
        <p:nvSpPr>
          <p:cNvPr id="25" name="Text box 24"/>
          <p:cNvSpPr/>
          <p:nvPr/>
        </p:nvSpPr>
        <p:spPr>
          <a:xfrm>
            <a:off x="25844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تنفيذ</a:t>
            </a:r>
          </a:p>
        </p:txBody>
      </p:sp>
      <p:sp>
        <p:nvSpPr>
          <p:cNvPr id="26" name="Rule 25"/>
          <p:cNvSpPr/>
          <p:nvPr/>
        </p:nvSpPr>
        <p:spPr>
          <a:xfrm>
            <a:off x="2584450" y="3528616"/>
            <a:ext cx="1708150" cy="25400"/>
          </a:xfrm>
          <a:prstGeom prst="rect">
            <a:avLst/>
          </a:prstGeom>
          <a:solidFill>
            <a:srgbClr val="C27A16"/>
          </a:solidFill>
          <a:ln>
            <a:noFill/>
          </a:ln>
        </p:spPr>
        <p:txBody>
          <a:bodyPr rtlCol="0" anchor="ctr"/>
          <a:lstStyle/>
          <a:p>
            <a:pPr algn="ctr"/>
          </a:p>
        </p:txBody>
      </p:sp>
      <p:sp>
        <p:nvSpPr>
          <p:cNvPr id="27" name="Text box 26"/>
          <p:cNvSpPr/>
          <p:nvPr/>
        </p:nvSpPr>
        <p:spPr>
          <a:xfrm>
            <a:off x="8128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a:solidFill>
                  <a:srgbClr val="172433"/>
                </a:solidFill>
                <a:latin typeface="IBM Plex Sans Arabic"/>
                <a:ea typeface="IBM Plex Sans Arabic"/>
                <a:cs typeface="IBM Plex Sans Arabic"/>
              </a:rPr>
              <a:t>مراجعة</a:t>
            </a:r>
          </a:p>
        </p:txBody>
      </p:sp>
      <p:sp>
        <p:nvSpPr>
          <p:cNvPr id="28" name="Rule 27"/>
          <p:cNvSpPr/>
          <p:nvPr/>
        </p:nvSpPr>
        <p:spPr>
          <a:xfrm>
            <a:off x="812800" y="3528616"/>
            <a:ext cx="1708150" cy="25400"/>
          </a:xfrm>
          <a:prstGeom prst="rect">
            <a:avLst/>
          </a:prstGeom>
          <a:solidFill>
            <a:srgbClr val="C27A16"/>
          </a:solidFill>
          <a:ln>
            <a:noFill/>
          </a:ln>
        </p:spPr>
        <p:txBody>
          <a:bodyPr rtlCol="0" anchor="ctr"/>
          <a:lstStyle/>
          <a:p>
            <a:pPr algn="ctr"/>
          </a:p>
        </p:txBody>
      </p:sp>
      <p:pic>
        <p:nvPicPr>
          <p:cNvPr id="29" name="Icon Search 28" descr="icon015.png"/>
          <p:cNvPicPr>
            <a:picLocks noChangeAspect="1"/>
          </p:cNvPicPr>
          <p:nvPr/>
        </p:nvPicPr>
        <p:blipFill>
          <a:blip r:embed="rId2"/>
          <a:stretch>
            <a:fillRect/>
          </a:stretch>
        </p:blipFill>
        <p:spPr>
          <a:xfrm>
            <a:off x="11010900" y="4792266"/>
            <a:ext cx="368300" cy="368300"/>
          </a:xfrm>
          <a:prstGeom prst="rect">
            <a:avLst/>
          </a:prstGeom>
        </p:spPr>
      </p:pic>
      <p:sp>
        <p:nvSpPr>
          <p:cNvPr id="30" name="Text 29"/>
          <p:cNvSpPr txBox="1"/>
          <p:nvPr/>
        </p:nvSpPr>
        <p:spPr>
          <a:xfrm>
            <a:off x="509905" y="4562396"/>
            <a:ext cx="1039939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رُفاد: سجل بوابة VPN في 10 مارس يبين إنشاء سياسة استثناء بعد تفعيل MFA بدقائق، بلا طلب تغيير ولا موافقة. ستراه دليلاً في التطبيق 3.</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التطبيقات بالأسئلة الأربعة</a:t>
            </a:r>
          </a:p>
        </p:txBody>
      </p:sp>
      <p:graphicFrame>
        <p:nvGraphicFramePr>
          <p:cNvPr id="5" name="Table 4"/>
          <p:cNvGraphicFramePr>
            <a:graphicFrameLocks noGrp="1"/>
          </p:cNvGraphicFramePr>
          <p:nvPr/>
        </p:nvGraphicFramePr>
        <p:xfrm>
          <a:off x="815975" y="1661120"/>
          <a:ext cx="10560050" cy="4165600"/>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الدليل الذي تطلبه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الضابط المناسب</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 الخطر؟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المفهوم: ما هو؟</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مخطط البيئات، ومن يصل إلى كل بيئة.</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فصل الإنتاج، وبيانات غير حقيقية للاختبار · ECC 2-⁠5-⁠3-⁠2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تغيير غير مختبر يعطل الإنتاج.</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فصل البيئات</a:t>
                      </a:r>
                      <a:r>
                        <a:rPr sz="2000" b="0" i="0">
                          <a:solidFill>
                            <a:srgbClr val="172433"/>
                          </a:solidFill>
                          <a:latin typeface="IBM Plex Sans Arabic"/>
                          <a:ea typeface="IBM Plex Sans Arabic"/>
                          <a:cs typeface="IBM Plex Sans Arabic"/>
                        </a:rPr>
                        <a:t>: التطوير والاختبار والإنتاج منفصلة.</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تذاكر بموافقاتها، ومطابقتها بسجل التغييرات.</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إجراء تغيير، ومراجعة الإعداد الآمن قبل الإطلاق · ECC 1-⁠6-⁠2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تغيير غير معتمد يفتح ثغرة.</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إدارة التغيير</a:t>
                      </a:r>
                      <a:r>
                        <a:rPr sz="2000" b="0" i="0">
                          <a:solidFill>
                            <a:srgbClr val="172433"/>
                          </a:solidFill>
                          <a:latin typeface="IBM Plex Sans Arabic"/>
                          <a:ea typeface="IBM Plex Sans Arabic"/>
                          <a:cs typeface="IBM Plex Sans Arabic"/>
                        </a:rPr>
                        <a:t>: كل تغيير يُطلب ويُعتمد ويُختبر.</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المعيار، ونتائج اختبار الأمن.</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كود آمن، ومكتبات موثوقة، واختبار قبل الإطلاق · ECC 1-⁠6-⁠3</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ثغرة في الكود تكشف بيانات المستلمين.</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التطوير الآمن</a:t>
                      </a:r>
                      <a:r>
                        <a:rPr sz="2000" b="0" i="0">
                          <a:solidFill>
                            <a:srgbClr val="172433"/>
                          </a:solidFill>
                          <a:latin typeface="IBM Plex Sans Arabic"/>
                          <a:ea typeface="IBM Plex Sans Arabic"/>
                          <a:cs typeface="IBM Plex Sans Arabic"/>
                        </a:rPr>
                        <a:t>: الأمن جزء من كتابة الكود.</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7772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المفهوم والخطر والضابط والدليل</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8A4B12"/>
                </a:solidFill>
                <a:latin typeface="IBM Plex Sans Arabic"/>
                <a:ea typeface="IBM Plex Sans Arabic"/>
                <a:cs typeface="IBM Plex Sans Arabic"/>
              </a:rPr>
              <a:t>لكل موقف: ما المفهوم التقني؟ ما الخطر؟ ما الضابط المناسب؟ وما الدليل الذي ستطلبه؟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534285"/>
                <a:gridCol w="2534285"/>
                <a:gridCol w="4857750"/>
                <a:gridCol w="63373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الضابط والدليل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المفهوم والخطر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الموقف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في نظام الرواتب، يستطيع موظفان في الموارد البشرية تعديل الحساب البنكي للموظف واعتماد مسير الرواتب كليهما.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طُبّق تحديث على خادم تطبيق التتبع مساء خميس مباشرة، دون طلب تغيير ولا اختبار، فتوقف التتبع ساعتين.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سجلات الدخول إلى البريد السحابي تُحفظ 90 يوماً فقط، ولا أحد يراجعها.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9" name="Text 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98433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المفهوم والخطر والضابط والدليل</a:t>
            </a:r>
          </a:p>
        </p:txBody>
      </p:sp>
      <p:graphicFrame>
        <p:nvGraphicFramePr>
          <p:cNvPr id="6" name="Table 5"/>
          <p:cNvGraphicFramePr>
            <a:graphicFrameLocks noGrp="1"/>
          </p:cNvGraphicFramePr>
          <p:nvPr/>
        </p:nvGraphicFramePr>
        <p:xfrm>
          <a:off x="815975" y="1661120"/>
          <a:ext cx="10560050" cy="3610372"/>
        </p:xfrm>
        <a:graphic>
          <a:graphicData uri="http://schemas.openxmlformats.org/drawingml/2006/table">
            <a:tbl>
              <a:tblPr firstRow="0" bandRow="0" lastRow="0" firstCol="0" lastCol="0" bandCol="0">
                <a:tableStyleId>{2D5ABB26-0587-4C30-8999-92F81FD0307C}</a:tableStyleId>
              </a:tblPr>
              <a:tblGrid>
                <a:gridCol w="2851150"/>
                <a:gridCol w="3062605"/>
                <a:gridCol w="2851150"/>
                <a:gridCol w="179514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المفهوم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45394">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مصفوفة الأدوار في النظام، وتقرير بمن يجمع الصلاحيتين، وعينة من تغييرات الحسابات البنكية بموافقاتها.</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فصل التعديل عن الاعتماد، وموافقة ثانية على تغيير الحساب البنكي، وتقرير شهري بالتغييرات.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موظف واحد يغيّر الحساب البنكي ثم يعتمد المسير، فيحوّل راتباً إلى حساب آخر دون أن يُكتشف.</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1. فصل المهام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تذكرة التغيير بموافقتها ونتيجة اختباره، ومطابقة سجل تغييرات الخادم بالتذاكر.</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إجراء تغيير: طلب، وتقييم أثر، واعتماد، واختبار في بيئة غير الإنتاج، ونافذة تنفيذ محددة.</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تغيير غير مختبر يوقف خدمة يعتمد عليها العملاء، أو يفتح ثغرة.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2. إدارة التغيير وفصل البيئات</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إعداد مدة الحفظ في الخدمة، وأقدم سجل متاح، وتقرير المراقبة أو المراجعة.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حفظ السجلات 12 شهراً على الأقل (ECC 2-⁠12-⁠3-⁠5)، ومراقبة مستمرة أو مراجعة منتظمة للتنبيهات.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حادثة قديمة لا يمكن التحقيق فيها، ودخول مشبوه لا يكتشفه أحد.</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3. السجلات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7772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02</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5</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10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المصادقة والتفويض وفصل المهام.</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المسؤولية المشتركة في السحابة.</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أدلة النسخ الاحتياطي وإدارة التغيير.</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02». ثم قارن بالإجابات المفسرة، وانتبه لسبب خطأ كل بديل.</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الأساس التقني</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15710" y="1228130"/>
            <a:ext cx="236349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03</a:t>
            </a:r>
          </a:p>
        </p:txBody>
      </p:sp>
      <p:sp>
        <p:nvSpPr>
          <p:cNvPr id="4" name="Text 3"/>
          <p:cNvSpPr txBox="1"/>
          <p:nvPr/>
        </p:nvSpPr>
        <p:spPr>
          <a:xfrm>
            <a:off x="3414510" y="1649595"/>
            <a:ext cx="60584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المفاهيم وتطبيقاتها</a:t>
            </a:r>
          </a:p>
        </p:txBody>
      </p:sp>
      <p:sp>
        <p:nvSpPr>
          <p:cNvPr id="5" name="Text 4"/>
          <p:cNvSpPr txBox="1"/>
          <p:nvPr/>
        </p:nvSpPr>
        <p:spPr>
          <a:xfrm>
            <a:off x="50800" y="259211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أطول وحدة وأهمها: ثلاثة أجزاء، وأربعة تطبيقات تنفذها بنفسك على رُفاد.</a:t>
            </a:r>
          </a:p>
        </p:txBody>
      </p:sp>
      <p:sp>
        <p:nvSpPr>
          <p:cNvPr id="6" name="Box 5"/>
          <p:cNvSpPr/>
          <p:nvPr/>
        </p:nvSpPr>
        <p:spPr>
          <a:xfrm>
            <a:off x="812800" y="3279180"/>
            <a:ext cx="9525000" cy="2204541"/>
          </a:xfrm>
          <a:prstGeom prst="roundRect">
            <a:avLst>
              <a:gd name="adj" fmla="val 5184"/>
            </a:avLst>
          </a:prstGeom>
          <a:solidFill>
            <a:srgbClr val="22344A"/>
          </a:solidFill>
          <a:ln>
            <a:noFill/>
          </a:ln>
        </p:spPr>
        <p:txBody>
          <a:bodyPr rtlCol="0" anchor="ctr"/>
          <a:lstStyle/>
          <a:p>
            <a:pPr algn="ctr"/>
          </a:p>
        </p:txBody>
      </p:sp>
      <p:sp>
        <p:nvSpPr>
          <p:cNvPr id="7" name="Text 6"/>
          <p:cNvSpPr txBox="1"/>
          <p:nvPr/>
        </p:nvSpPr>
        <p:spPr>
          <a:xfrm>
            <a:off x="838200" y="342548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3830340"/>
            <a:ext cx="228600" cy="228600"/>
          </a:xfrm>
          <a:prstGeom prst="rect">
            <a:avLst/>
          </a:prstGeom>
        </p:spPr>
      </p:pic>
      <p:sp>
        <p:nvSpPr>
          <p:cNvPr id="9" name="Text 8"/>
          <p:cNvSpPr txBox="1"/>
          <p:nvPr/>
        </p:nvSpPr>
        <p:spPr>
          <a:xfrm>
            <a:off x="838200" y="3796875"/>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المسؤوليات بمصفوفة RACI، وتكتب بند سياسة من متطلب.</a:t>
            </a:r>
          </a:p>
        </p:txBody>
      </p:sp>
      <p:pic>
        <p:nvPicPr>
          <p:cNvPr id="10" name="Icon CheckCircle 9" descr="icon007.png"/>
          <p:cNvPicPr>
            <a:picLocks noChangeAspect="1"/>
          </p:cNvPicPr>
          <p:nvPr/>
        </p:nvPicPr>
        <p:blipFill>
          <a:blip r:embed="rId2"/>
          <a:stretch>
            <a:fillRect/>
          </a:stretch>
        </p:blipFill>
        <p:spPr>
          <a:xfrm>
            <a:off x="9880600" y="4221460"/>
            <a:ext cx="228600" cy="228600"/>
          </a:xfrm>
          <a:prstGeom prst="rect">
            <a:avLst/>
          </a:prstGeom>
        </p:spPr>
      </p:pic>
      <p:sp>
        <p:nvSpPr>
          <p:cNvPr id="11" name="Text 10"/>
          <p:cNvSpPr txBox="1"/>
          <p:nvPr/>
        </p:nvSpPr>
        <p:spPr>
          <a:xfrm>
            <a:off x="838200" y="418799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خطراً وتقيمه بمصفوفة الإطار الوطني، وتحدد معالجته.</a:t>
            </a:r>
          </a:p>
        </p:txBody>
      </p:sp>
      <p:pic>
        <p:nvPicPr>
          <p:cNvPr id="12" name="Icon CheckCircle 11" descr="icon007.png"/>
          <p:cNvPicPr>
            <a:picLocks noChangeAspect="1"/>
          </p:cNvPicPr>
          <p:nvPr/>
        </p:nvPicPr>
        <p:blipFill>
          <a:blip r:embed="rId2"/>
          <a:stretch>
            <a:fillRect/>
          </a:stretch>
        </p:blipFill>
        <p:spPr>
          <a:xfrm>
            <a:off x="9880600" y="4612580"/>
            <a:ext cx="228600" cy="228600"/>
          </a:xfrm>
          <a:prstGeom prst="rect">
            <a:avLst/>
          </a:prstGeom>
        </p:spPr>
      </p:pic>
      <p:sp>
        <p:nvSpPr>
          <p:cNvPr id="13" name="Text 12"/>
          <p:cNvSpPr txBox="1"/>
          <p:nvPr/>
        </p:nvSpPr>
        <p:spPr>
          <a:xfrm>
            <a:off x="838200" y="457911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تفحص أدلة ضابط، وتميز فجوة التصميم من التنفيذ والتشغيل، وتكتب ملاحظة وخطة تصحيح.</a:t>
            </a:r>
          </a:p>
        </p:txBody>
      </p:sp>
      <p:pic>
        <p:nvPicPr>
          <p:cNvPr id="14" name="Icon CheckCircle 13" descr="icon007.png"/>
          <p:cNvPicPr>
            <a:picLocks noChangeAspect="1"/>
          </p:cNvPicPr>
          <p:nvPr/>
        </p:nvPicPr>
        <p:blipFill>
          <a:blip r:embed="rId2"/>
          <a:stretch>
            <a:fillRect/>
          </a:stretch>
        </p:blipFill>
        <p:spPr>
          <a:xfrm>
            <a:off x="9880600" y="5003701"/>
            <a:ext cx="228600" cy="228600"/>
          </a:xfrm>
          <a:prstGeom prst="rect">
            <a:avLst/>
          </a:prstGeom>
        </p:spPr>
      </p:pic>
      <p:sp>
        <p:nvSpPr>
          <p:cNvPr id="15" name="Text 14"/>
          <p:cNvSpPr txBox="1"/>
          <p:nvPr/>
        </p:nvSpPr>
        <p:spPr>
          <a:xfrm>
            <a:off x="838200" y="49702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مؤشرات، وتقرأ تقريراً للإدارة بصفحة واحدة.</a:t>
            </a:r>
          </a:p>
        </p:txBody>
      </p:sp>
      <p:sp>
        <p:nvSpPr>
          <p:cNvPr id="16" name="Text 1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03 · المفاهيم وتطبيقاتها</a:t>
            </a:r>
          </a:p>
        </p:txBody>
      </p:sp>
      <p:sp>
        <p:nvSpPr>
          <p:cNvPr id="17" name="Text 1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الأول</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الحوكمة</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من يقرر، وبأي قواعد، ومن المسؤول عن ماذا؟</a:t>
            </a:r>
          </a:p>
        </p:txBody>
      </p:sp>
      <p:sp>
        <p:nvSpPr>
          <p:cNvPr id="5" name="Text box 4"/>
          <p:cNvSpPr/>
          <p:nvPr/>
        </p:nvSpPr>
        <p:spPr>
          <a:xfrm>
            <a:off x="8694440" y="3952280"/>
            <a:ext cx="227836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الحوكمة والإدارة والتشغيل</a:t>
            </a:r>
          </a:p>
        </p:txBody>
      </p:sp>
      <p:sp>
        <p:nvSpPr>
          <p:cNvPr id="6" name="Text box 5"/>
          <p:cNvSpPr/>
          <p:nvPr/>
        </p:nvSpPr>
        <p:spPr>
          <a:xfrm>
            <a:off x="6795591" y="3952280"/>
            <a:ext cx="180994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الأدوار والمسؤوليات</a:t>
            </a:r>
          </a:p>
        </p:txBody>
      </p:sp>
      <p:sp>
        <p:nvSpPr>
          <p:cNvPr id="7" name="Text box 6"/>
          <p:cNvSpPr/>
          <p:nvPr/>
        </p:nvSpPr>
        <p:spPr>
          <a:xfrm>
            <a:off x="4765278" y="3952280"/>
            <a:ext cx="194141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نموذج الخطوط الثلاثة</a:t>
            </a:r>
          </a:p>
        </p:txBody>
      </p:sp>
      <p:sp>
        <p:nvSpPr>
          <p:cNvPr id="8" name="Text box 7"/>
          <p:cNvSpPr/>
          <p:nvPr/>
        </p:nvSpPr>
        <p:spPr>
          <a:xfrm>
            <a:off x="1957884" y="3952280"/>
            <a:ext cx="2718495"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هرم الوثائق ودورة حياة السياسة</a:t>
            </a:r>
          </a:p>
        </p:txBody>
      </p:sp>
      <p:sp>
        <p:nvSpPr>
          <p:cNvPr id="9" name="Text box 8"/>
          <p:cNvSpPr/>
          <p:nvPr/>
        </p:nvSpPr>
        <p:spPr>
          <a:xfrm>
            <a:off x="9486900" y="4442420"/>
            <a:ext cx="148590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RACI</a:t>
            </a:r>
          </a:p>
        </p:txBody>
      </p:sp>
      <p:sp>
        <p:nvSpPr>
          <p:cNvPr id="10" name="Text box 9"/>
          <p:cNvSpPr/>
          <p:nvPr/>
        </p:nvSpPr>
        <p:spPr>
          <a:xfrm>
            <a:off x="6493966" y="4442420"/>
            <a:ext cx="290403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1: مسؤوليات وبند سياسة</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03 · الحوكمة</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68729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الحوكمة والإدارة والتشغيل: قرار واحد بثلاثة مستويات</a:t>
            </a:r>
          </a:p>
        </p:txBody>
      </p:sp>
      <p:sp>
        <p:nvSpPr>
          <p:cNvPr id="6" name="Box 5"/>
          <p:cNvSpPr/>
          <p:nvPr/>
        </p:nvSpPr>
        <p:spPr>
          <a:xfrm>
            <a:off x="9283700" y="1619845"/>
            <a:ext cx="2095500" cy="1117501"/>
          </a:xfrm>
          <a:prstGeom prst="roundRect">
            <a:avLst>
              <a:gd name="adj" fmla="val 7955"/>
            </a:avLst>
          </a:prstGeom>
          <a:solidFill>
            <a:srgbClr val="0E7C6B"/>
          </a:solidFill>
          <a:ln>
            <a:noFill/>
          </a:ln>
        </p:spPr>
        <p:txBody>
          <a:bodyPr rtlCol="0" anchor="ctr"/>
          <a:lstStyle/>
          <a:p>
            <a:pPr algn="ctr"/>
          </a:p>
        </p:txBody>
      </p:sp>
      <p:sp>
        <p:nvSpPr>
          <p:cNvPr id="7" name="Text 6"/>
          <p:cNvSpPr txBox="1"/>
          <p:nvPr/>
        </p:nvSpPr>
        <p:spPr>
          <a:xfrm>
            <a:off x="9309100" y="1729954"/>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الحوكمة</a:t>
            </a:r>
          </a:p>
        </p:txBody>
      </p:sp>
      <p:sp>
        <p:nvSpPr>
          <p:cNvPr id="8" name="Text 7"/>
          <p:cNvSpPr txBox="1"/>
          <p:nvPr/>
        </p:nvSpPr>
        <p:spPr>
          <a:xfrm>
            <a:off x="9395841" y="2073469"/>
            <a:ext cx="1818259" cy="528241"/>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صاحب الصلاحية واللجنة</a:t>
            </a:r>
          </a:p>
        </p:txBody>
      </p:sp>
      <p:sp>
        <p:nvSpPr>
          <p:cNvPr id="9" name="Text 8"/>
          <p:cNvSpPr txBox="1"/>
          <p:nvPr/>
        </p:nvSpPr>
        <p:spPr>
          <a:xfrm>
            <a:off x="151384" y="1789331"/>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ماذا نريد، ولماذا، ومن يحاسب؟</a:t>
            </a:r>
          </a:p>
        </p:txBody>
      </p:sp>
      <p:sp>
        <p:nvSpPr>
          <p:cNvPr id="10" name="Text 9"/>
          <p:cNvSpPr txBox="1"/>
          <p:nvPr/>
        </p:nvSpPr>
        <p:spPr>
          <a:xfrm>
            <a:off x="151384" y="2162203"/>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اعتماد قرار: التحقق متعدد العوامل إلزامي للدخول عن بعد.</a:t>
            </a:r>
          </a:p>
        </p:txBody>
      </p:sp>
      <p:sp>
        <p:nvSpPr>
          <p:cNvPr id="11" name="Text 10"/>
          <p:cNvSpPr txBox="1"/>
          <p:nvPr/>
        </p:nvSpPr>
        <p:spPr>
          <a:xfrm>
            <a:off x="9199880" y="2786876"/>
            <a:ext cx="2263140"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2" name="Box 11"/>
          <p:cNvSpPr/>
          <p:nvPr/>
        </p:nvSpPr>
        <p:spPr>
          <a:xfrm>
            <a:off x="9283700" y="3067546"/>
            <a:ext cx="2095500" cy="853380"/>
          </a:xfrm>
          <a:prstGeom prst="roundRect">
            <a:avLst>
              <a:gd name="adj" fmla="val 10417"/>
            </a:avLst>
          </a:prstGeom>
          <a:solidFill>
            <a:srgbClr val="24506B"/>
          </a:solidFill>
          <a:ln>
            <a:noFill/>
          </a:ln>
        </p:spPr>
        <p:txBody>
          <a:bodyPr rtlCol="0" anchor="ctr"/>
          <a:lstStyle/>
          <a:p>
            <a:pPr algn="ctr"/>
          </a:p>
        </p:txBody>
      </p:sp>
      <p:sp>
        <p:nvSpPr>
          <p:cNvPr id="13" name="Text 12"/>
          <p:cNvSpPr txBox="1"/>
          <p:nvPr/>
        </p:nvSpPr>
        <p:spPr>
          <a:xfrm>
            <a:off x="9309100" y="3177655"/>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الإدارة</a:t>
            </a:r>
          </a:p>
        </p:txBody>
      </p:sp>
      <p:sp>
        <p:nvSpPr>
          <p:cNvPr id="14" name="Text 13"/>
          <p:cNvSpPr txBox="1"/>
          <p:nvPr/>
        </p:nvSpPr>
        <p:spPr>
          <a:xfrm>
            <a:off x="9309100" y="3521170"/>
            <a:ext cx="1905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مدراء الإدارات</a:t>
            </a:r>
          </a:p>
        </p:txBody>
      </p:sp>
      <p:sp>
        <p:nvSpPr>
          <p:cNvPr id="15" name="Text 14"/>
          <p:cNvSpPr txBox="1"/>
          <p:nvPr/>
        </p:nvSpPr>
        <p:spPr>
          <a:xfrm>
            <a:off x="151384" y="3104971"/>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كيف ننفذ القرار، وبأي موارد وجدول؟</a:t>
            </a:r>
          </a:p>
        </p:txBody>
      </p:sp>
      <p:sp>
        <p:nvSpPr>
          <p:cNvPr id="16" name="Text 15"/>
          <p:cNvSpPr txBox="1"/>
          <p:nvPr/>
        </p:nvSpPr>
        <p:spPr>
          <a:xfrm>
            <a:off x="151384" y="3477843"/>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خطة نشر خلال 6 أسابيع، وميزانية، ومسؤول لكل مرحلة.</a:t>
            </a:r>
          </a:p>
        </p:txBody>
      </p:sp>
      <p:sp>
        <p:nvSpPr>
          <p:cNvPr id="17" name="Text 16"/>
          <p:cNvSpPr txBox="1"/>
          <p:nvPr/>
        </p:nvSpPr>
        <p:spPr>
          <a:xfrm>
            <a:off x="9199880" y="3970457"/>
            <a:ext cx="2263140"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8" name="Box 17"/>
          <p:cNvSpPr/>
          <p:nvPr/>
        </p:nvSpPr>
        <p:spPr>
          <a:xfrm>
            <a:off x="9283700" y="4251127"/>
            <a:ext cx="2095500" cy="853380"/>
          </a:xfrm>
          <a:prstGeom prst="roundRect">
            <a:avLst>
              <a:gd name="adj" fmla="val 10417"/>
            </a:avLst>
          </a:prstGeom>
          <a:solidFill>
            <a:srgbClr val="8A4B12"/>
          </a:solidFill>
          <a:ln>
            <a:noFill/>
          </a:ln>
        </p:spPr>
        <p:txBody>
          <a:bodyPr rtlCol="0" anchor="ctr"/>
          <a:lstStyle/>
          <a:p>
            <a:pPr algn="ctr"/>
          </a:p>
        </p:txBody>
      </p:sp>
      <p:sp>
        <p:nvSpPr>
          <p:cNvPr id="19" name="Text 18"/>
          <p:cNvSpPr txBox="1"/>
          <p:nvPr/>
        </p:nvSpPr>
        <p:spPr>
          <a:xfrm>
            <a:off x="9309100" y="4361236"/>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التشغيل</a:t>
            </a:r>
          </a:p>
        </p:txBody>
      </p:sp>
      <p:sp>
        <p:nvSpPr>
          <p:cNvPr id="20" name="Text 19"/>
          <p:cNvSpPr txBox="1"/>
          <p:nvPr/>
        </p:nvSpPr>
        <p:spPr>
          <a:xfrm>
            <a:off x="9309100" y="4704751"/>
            <a:ext cx="1905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الفرق والمورد</a:t>
            </a:r>
          </a:p>
        </p:txBody>
      </p:sp>
      <p:sp>
        <p:nvSpPr>
          <p:cNvPr id="21" name="Text 20"/>
          <p:cNvSpPr txBox="1"/>
          <p:nvPr/>
        </p:nvSpPr>
        <p:spPr>
          <a:xfrm>
            <a:off x="151384" y="4288552"/>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من ينفذ العمل يومياً؟</a:t>
            </a:r>
          </a:p>
        </p:txBody>
      </p:sp>
      <p:sp>
        <p:nvSpPr>
          <p:cNvPr id="22" name="Text 21"/>
          <p:cNvSpPr txBox="1"/>
          <p:nvPr/>
        </p:nvSpPr>
        <p:spPr>
          <a:xfrm>
            <a:off x="151384" y="4661424"/>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تسجيل أجهزة الموظفين في تطبيق التحقق.</a:t>
            </a:r>
          </a:p>
        </p:txBody>
      </p:sp>
      <p:pic>
        <p:nvPicPr>
          <p:cNvPr id="23" name="Icon Activity 22" descr="icon016.png"/>
          <p:cNvPicPr>
            <a:picLocks noChangeAspect="1"/>
          </p:cNvPicPr>
          <p:nvPr/>
        </p:nvPicPr>
        <p:blipFill>
          <a:blip r:embed="rId2"/>
          <a:stretch>
            <a:fillRect/>
          </a:stretch>
        </p:blipFill>
        <p:spPr>
          <a:xfrm>
            <a:off x="11106150" y="5280323"/>
            <a:ext cx="273050" cy="273050"/>
          </a:xfrm>
          <a:prstGeom prst="rect">
            <a:avLst/>
          </a:prstGeom>
        </p:spPr>
      </p:pic>
      <p:sp>
        <p:nvSpPr>
          <p:cNvPr id="24" name="Text 23"/>
          <p:cNvSpPr txBox="1"/>
          <p:nvPr/>
        </p:nvSpPr>
        <p:spPr>
          <a:xfrm>
            <a:off x="0" y="5221474"/>
            <a:ext cx="110045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ثم تعود الحوكمة لتتابع: هل تحقق ما قررناه؟ وما نسبة الحسابات المفعّل عليها التحقق؟</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15875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أنشطة رُفاد: حوكمة أم إدارة أم تشغيل؟</a:t>
            </a:r>
          </a:p>
        </p:txBody>
      </p:sp>
      <p:graphicFrame>
        <p:nvGraphicFramePr>
          <p:cNvPr id="6" name="Table 5"/>
          <p:cNvGraphicFramePr>
            <a:graphicFrameLocks noGrp="1"/>
          </p:cNvGraphicFramePr>
          <p:nvPr/>
        </p:nvGraphicFramePr>
        <p:xfrm>
          <a:off x="815975" y="1661120"/>
          <a:ext cx="10560050" cy="2635250"/>
        </p:xfrm>
        <a:graphic>
          <a:graphicData uri="http://schemas.openxmlformats.org/drawingml/2006/table">
            <a:tbl>
              <a:tblPr firstRow="0" bandRow="0" lastRow="0" firstCol="0" lastCol="0" bandCol="0">
                <a:tableStyleId>{2D5ABB26-0587-4C30-8999-92F81FD0307C}</a:tableStyleId>
              </a:tblPr>
              <a:tblGrid>
                <a:gridCol w="3168015"/>
                <a:gridCol w="6652895"/>
                <a:gridCol w="73914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حوكمة أم إدارة أم تشغيل؟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النشاط في رُفاد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700"/>
                        </a:lnSpc>
                        <a:spcBef>
                          <a:spcPts val="0"/>
                        </a:spcBef>
                        <a:spcAft>
                          <a:spcPts val="0"/>
                        </a:spcAft>
                      </a:pPr>
                      <a:r>
                        <a:rPr sz="2000" b="1" i="0">
                          <a:solidFill>
                            <a:srgbClr val="F3EFE6"/>
                          </a:solidFill>
                          <a:latin typeface="IBM Plex Sans Arabic"/>
                          <a:ea typeface="IBM Plex Sans Arabic"/>
                          <a:cs typeface="IBM Plex Sans Arabic"/>
                        </a:rPr>
                        <a:t>#</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تسجيل جهاز الموظف في تطبيق التحقق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845645"/>
            <a:ext cx="10566400" cy="609600"/>
          </a:xfrm>
          <a:prstGeom prst="roundRect">
            <a:avLst>
              <a:gd name="adj" fmla="val 16666"/>
            </a:avLst>
          </a:prstGeom>
          <a:solidFill>
            <a:srgbClr val="F6ECDA"/>
          </a:solidFill>
          <a:ln>
            <a:noFill/>
          </a:ln>
        </p:spPr>
        <p:txBody>
          <a:bodyPr rtlCol="0" anchor="ctr"/>
          <a:lstStyle/>
          <a:p>
            <a:pPr algn="ctr"/>
          </a:p>
        </p:txBody>
      </p:sp>
      <p:pic>
        <p:nvPicPr>
          <p:cNvPr id="8" name="Icon Clock 7" descr="icon017.png"/>
          <p:cNvPicPr>
            <a:picLocks noChangeAspect="1"/>
          </p:cNvPicPr>
          <p:nvPr/>
        </p:nvPicPr>
        <p:blipFill>
          <a:blip r:embed="rId2"/>
          <a:stretch>
            <a:fillRect/>
          </a:stretch>
        </p:blipFill>
        <p:spPr>
          <a:xfrm>
            <a:off x="10890250" y="4994870"/>
            <a:ext cx="311150" cy="311150"/>
          </a:xfrm>
          <a:prstGeom prst="rect">
            <a:avLst/>
          </a:prstGeom>
        </p:spPr>
      </p:pic>
      <p:sp>
        <p:nvSpPr>
          <p:cNvPr id="9" name="Text 8"/>
          <p:cNvSpPr txBox="1"/>
          <p:nvPr/>
        </p:nvSpPr>
        <p:spPr>
          <a:xfrm>
            <a:off x="838200" y="49332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المستوى وسبباً قصيراً لكل نشاط. 3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36582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مستويات أنشطة رُفاد</a:t>
            </a:r>
          </a:p>
        </p:txBody>
      </p:sp>
      <p:graphicFrame>
        <p:nvGraphicFramePr>
          <p:cNvPr id="6" name="Table 5"/>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3590290"/>
                <a:gridCol w="1478280"/>
                <a:gridCol w="4857750"/>
                <a:gridCol w="63373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قرار وتوجه يعتمده صاحب الصلاحية.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حوكمة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تخطيط الموارد والجدول لتنفيذ القرار.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إدارة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تنفيذ يومي للإجراء.</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تشغيل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تسجيل جهاز الموظف في تطبيق التحقق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متابعة وإشراف ومساءلة من الجهة الأعلى.</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حوكمة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154811"/>
            <a:ext cx="10566400" cy="609600"/>
          </a:xfrm>
          <a:prstGeom prst="roundRect">
            <a:avLst>
              <a:gd name="adj" fmla="val 16666"/>
            </a:avLst>
          </a:prstGeom>
          <a:solidFill>
            <a:srgbClr val="E3F1ED"/>
          </a:solidFill>
          <a:ln>
            <a:noFill/>
          </a:ln>
        </p:spPr>
        <p:txBody>
          <a:bodyPr rtlCol="0" anchor="ctr"/>
          <a:lstStyle/>
          <a:p>
            <a:pPr algn="ctr"/>
          </a:p>
        </p:txBody>
      </p:sp>
      <p:pic>
        <p:nvPicPr>
          <p:cNvPr id="8" name="Icon Lightbulb 7" descr="icon018.png"/>
          <p:cNvPicPr>
            <a:picLocks noChangeAspect="1"/>
          </p:cNvPicPr>
          <p:nvPr/>
        </p:nvPicPr>
        <p:blipFill>
          <a:blip r:embed="rId2"/>
          <a:stretch>
            <a:fillRect/>
          </a:stretch>
        </p:blipFill>
        <p:spPr>
          <a:xfrm>
            <a:off x="10947400" y="5332611"/>
            <a:ext cx="254000" cy="254000"/>
          </a:xfrm>
          <a:prstGeom prst="rect">
            <a:avLst/>
          </a:prstGeom>
        </p:spPr>
      </p:pic>
      <p:sp>
        <p:nvSpPr>
          <p:cNvPr id="9" name="Text 8"/>
          <p:cNvSpPr txBox="1"/>
          <p:nvPr/>
        </p:nvSpPr>
        <p:spPr>
          <a:xfrm>
            <a:off x="838200" y="5242441"/>
            <a:ext cx="9994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النشاط الرابع يخدع كثيرين: التقرير للجنة ليس عملاً إدارياً عادياً، بل متابعة وإشراف، وهما جزء من الحوكمة.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يقرر، ومن يملك، ومن يتحقق في رُفاد</a:t>
            </a:r>
          </a:p>
        </p:txBody>
      </p:sp>
      <p:sp>
        <p:nvSpPr>
          <p:cNvPr id="5" name="Box 4"/>
          <p:cNvSpPr/>
          <p:nvPr/>
        </p:nvSpPr>
        <p:spPr>
          <a:xfrm>
            <a:off x="4064000" y="1594445"/>
            <a:ext cx="4064000" cy="1167011"/>
          </a:xfrm>
          <a:prstGeom prst="roundRect">
            <a:avLst>
              <a:gd name="adj" fmla="val 7617"/>
            </a:avLst>
          </a:prstGeom>
          <a:solidFill>
            <a:srgbClr val="FFFDF8"/>
          </a:solidFill>
          <a:ln>
            <a:noFill/>
          </a:ln>
        </p:spPr>
        <p:txBody>
          <a:bodyPr rtlCol="0" anchor="ctr"/>
          <a:lstStyle/>
          <a:p>
            <a:pPr algn="ctr"/>
          </a:p>
        </p:txBody>
      </p:sp>
      <p:sp>
        <p:nvSpPr>
          <p:cNvPr id="6" name="Rule 5"/>
          <p:cNvSpPr/>
          <p:nvPr/>
        </p:nvSpPr>
        <p:spPr>
          <a:xfrm>
            <a:off x="4064000" y="1594445"/>
            <a:ext cx="4064000" cy="38100"/>
          </a:xfrm>
          <a:prstGeom prst="rect">
            <a:avLst/>
          </a:prstGeom>
          <a:solidFill>
            <a:srgbClr val="172433"/>
          </a:solidFill>
          <a:ln>
            <a:noFill/>
          </a:ln>
        </p:spPr>
        <p:txBody>
          <a:bodyPr rtlCol="0" anchor="ctr"/>
          <a:lstStyle/>
          <a:p>
            <a:pPr algn="ctr"/>
          </a:p>
        </p:txBody>
      </p:sp>
      <p:sp>
        <p:nvSpPr>
          <p:cNvPr id="7" name="Text 6"/>
          <p:cNvSpPr txBox="1"/>
          <p:nvPr/>
        </p:nvSpPr>
        <p:spPr>
          <a:xfrm>
            <a:off x="4089400" y="1750401"/>
            <a:ext cx="3873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172433"/>
                </a:solidFill>
                <a:latin typeface="Readex Pro"/>
                <a:ea typeface="Readex Pro"/>
                <a:cs typeface="Readex Pro"/>
              </a:rPr>
              <a:t>صاحب الصلاحية</a:t>
            </a:r>
          </a:p>
        </p:txBody>
      </p:sp>
      <p:sp>
        <p:nvSpPr>
          <p:cNvPr id="8" name="Text 7"/>
          <p:cNvSpPr txBox="1"/>
          <p:nvPr/>
        </p:nvSpPr>
        <p:spPr>
          <a:xfrm>
            <a:off x="4089400" y="2062059"/>
            <a:ext cx="38735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الرئيس التنفيذي خالد</a:t>
            </a:r>
          </a:p>
        </p:txBody>
      </p:sp>
      <p:sp>
        <p:nvSpPr>
          <p:cNvPr id="9" name="Text 8"/>
          <p:cNvSpPr txBox="1"/>
          <p:nvPr/>
        </p:nvSpPr>
        <p:spPr>
          <a:xfrm>
            <a:off x="4089400" y="2358057"/>
            <a:ext cx="38735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يعتمد السياسات ويقبل المخاطر</a:t>
            </a:r>
          </a:p>
        </p:txBody>
      </p:sp>
      <p:sp>
        <p:nvSpPr>
          <p:cNvPr id="10" name="Box 9"/>
          <p:cNvSpPr/>
          <p:nvPr/>
        </p:nvSpPr>
        <p:spPr>
          <a:xfrm>
            <a:off x="6083300" y="2761456"/>
            <a:ext cx="25400" cy="215900"/>
          </a:xfrm>
          <a:prstGeom prst="rect">
            <a:avLst/>
          </a:prstGeom>
          <a:solidFill>
            <a:srgbClr val="B7AE9C"/>
          </a:solidFill>
          <a:ln>
            <a:noFill/>
          </a:ln>
        </p:spPr>
        <p:txBody>
          <a:bodyPr rtlCol="0" anchor="ctr"/>
          <a:lstStyle/>
          <a:p>
            <a:pPr algn="ctr"/>
          </a:p>
        </p:txBody>
      </p:sp>
      <p:sp>
        <p:nvSpPr>
          <p:cNvPr id="11" name="Box 10"/>
          <p:cNvSpPr/>
          <p:nvPr/>
        </p:nvSpPr>
        <p:spPr>
          <a:xfrm>
            <a:off x="4064000" y="2977356"/>
            <a:ext cx="4064000" cy="1167011"/>
          </a:xfrm>
          <a:prstGeom prst="roundRect">
            <a:avLst>
              <a:gd name="adj" fmla="val 7617"/>
            </a:avLst>
          </a:prstGeom>
          <a:solidFill>
            <a:srgbClr val="FFFDF8"/>
          </a:solidFill>
          <a:ln>
            <a:noFill/>
          </a:ln>
        </p:spPr>
        <p:txBody>
          <a:bodyPr rtlCol="0" anchor="ctr"/>
          <a:lstStyle/>
          <a:p>
            <a:pPr algn="ctr"/>
          </a:p>
        </p:txBody>
      </p:sp>
      <p:sp>
        <p:nvSpPr>
          <p:cNvPr id="12" name="Rule 11"/>
          <p:cNvSpPr/>
          <p:nvPr/>
        </p:nvSpPr>
        <p:spPr>
          <a:xfrm>
            <a:off x="4064000" y="2977356"/>
            <a:ext cx="4064000" cy="38100"/>
          </a:xfrm>
          <a:prstGeom prst="rect">
            <a:avLst/>
          </a:prstGeom>
          <a:solidFill>
            <a:srgbClr val="5A3F87"/>
          </a:solidFill>
          <a:ln>
            <a:noFill/>
          </a:ln>
        </p:spPr>
        <p:txBody>
          <a:bodyPr rtlCol="0" anchor="ctr"/>
          <a:lstStyle/>
          <a:p>
            <a:pPr algn="ctr"/>
          </a:p>
        </p:txBody>
      </p:sp>
      <p:sp>
        <p:nvSpPr>
          <p:cNvPr id="13" name="Text 12"/>
          <p:cNvSpPr txBox="1"/>
          <p:nvPr/>
        </p:nvSpPr>
        <p:spPr>
          <a:xfrm>
            <a:off x="4089400" y="3133312"/>
            <a:ext cx="3873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5A3F87"/>
                </a:solidFill>
                <a:latin typeface="Readex Pro"/>
                <a:ea typeface="Readex Pro"/>
                <a:cs typeface="Readex Pro"/>
              </a:rPr>
              <a:t>اللجنة</a:t>
            </a:r>
          </a:p>
        </p:txBody>
      </p:sp>
      <p:sp>
        <p:nvSpPr>
          <p:cNvPr id="14" name="Text 13"/>
          <p:cNvSpPr txBox="1"/>
          <p:nvPr/>
        </p:nvSpPr>
        <p:spPr>
          <a:xfrm>
            <a:off x="4089400" y="3444970"/>
            <a:ext cx="38735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لجنة الأمن السيبراني</a:t>
            </a:r>
          </a:p>
        </p:txBody>
      </p:sp>
      <p:sp>
        <p:nvSpPr>
          <p:cNvPr id="15" name="Text 14"/>
          <p:cNvSpPr txBox="1"/>
          <p:nvPr/>
        </p:nvSpPr>
        <p:spPr>
          <a:xfrm>
            <a:off x="4089400" y="3740968"/>
            <a:ext cx="38735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تشرف، وتتابع، وتوصي</a:t>
            </a:r>
          </a:p>
        </p:txBody>
      </p:sp>
      <p:sp>
        <p:nvSpPr>
          <p:cNvPr id="16" name="Box 15"/>
          <p:cNvSpPr/>
          <p:nvPr/>
        </p:nvSpPr>
        <p:spPr>
          <a:xfrm>
            <a:off x="6083300" y="4144367"/>
            <a:ext cx="25400" cy="215900"/>
          </a:xfrm>
          <a:prstGeom prst="rect">
            <a:avLst/>
          </a:prstGeom>
          <a:solidFill>
            <a:srgbClr val="B7AE9C"/>
          </a:solidFill>
          <a:ln>
            <a:noFill/>
          </a:ln>
        </p:spPr>
        <p:txBody>
          <a:bodyPr rtlCol="0" anchor="ctr"/>
          <a:lstStyle/>
          <a:p>
            <a:pPr algn="ctr"/>
          </a:p>
        </p:txBody>
      </p:sp>
      <p:sp>
        <p:nvSpPr>
          <p:cNvPr id="17" name="Box 16"/>
          <p:cNvSpPr/>
          <p:nvPr/>
        </p:nvSpPr>
        <p:spPr>
          <a:xfrm>
            <a:off x="2463800" y="4360267"/>
            <a:ext cx="7264400" cy="25400"/>
          </a:xfrm>
          <a:prstGeom prst="rect">
            <a:avLst/>
          </a:prstGeom>
          <a:solidFill>
            <a:srgbClr val="B7AE9C"/>
          </a:solidFill>
          <a:ln>
            <a:noFill/>
          </a:ln>
        </p:spPr>
        <p:txBody>
          <a:bodyPr rtlCol="0" anchor="ctr"/>
          <a:lstStyle/>
          <a:p>
            <a:pPr algn="ctr"/>
          </a:p>
        </p:txBody>
      </p:sp>
      <p:sp>
        <p:nvSpPr>
          <p:cNvPr id="18" name="Box 17"/>
          <p:cNvSpPr/>
          <p:nvPr/>
        </p:nvSpPr>
        <p:spPr>
          <a:xfrm>
            <a:off x="9605268" y="4385667"/>
            <a:ext cx="25400" cy="190500"/>
          </a:xfrm>
          <a:prstGeom prst="rect">
            <a:avLst/>
          </a:prstGeom>
          <a:solidFill>
            <a:srgbClr val="B7AE9C"/>
          </a:solidFill>
          <a:ln>
            <a:noFill/>
          </a:ln>
        </p:spPr>
        <p:txBody>
          <a:bodyPr rtlCol="0" anchor="ctr"/>
          <a:lstStyle/>
          <a:p>
            <a:pPr algn="ctr"/>
          </a:p>
        </p:txBody>
      </p:sp>
      <p:sp>
        <p:nvSpPr>
          <p:cNvPr id="19" name="Box 18"/>
          <p:cNvSpPr/>
          <p:nvPr/>
        </p:nvSpPr>
        <p:spPr>
          <a:xfrm>
            <a:off x="6083201" y="4385667"/>
            <a:ext cx="25400" cy="190500"/>
          </a:xfrm>
          <a:prstGeom prst="rect">
            <a:avLst/>
          </a:prstGeom>
          <a:solidFill>
            <a:srgbClr val="B7AE9C"/>
          </a:solidFill>
          <a:ln>
            <a:noFill/>
          </a:ln>
        </p:spPr>
        <p:txBody>
          <a:bodyPr rtlCol="0" anchor="ctr"/>
          <a:lstStyle/>
          <a:p>
            <a:pPr algn="ctr"/>
          </a:p>
        </p:txBody>
      </p:sp>
      <p:sp>
        <p:nvSpPr>
          <p:cNvPr id="20" name="Box 19"/>
          <p:cNvSpPr/>
          <p:nvPr/>
        </p:nvSpPr>
        <p:spPr>
          <a:xfrm>
            <a:off x="2561134" y="4385667"/>
            <a:ext cx="25400" cy="190500"/>
          </a:xfrm>
          <a:prstGeom prst="rect">
            <a:avLst/>
          </a:prstGeom>
          <a:solidFill>
            <a:srgbClr val="B7AE9C"/>
          </a:solidFill>
          <a:ln>
            <a:noFill/>
          </a:ln>
        </p:spPr>
        <p:txBody>
          <a:bodyPr rtlCol="0" anchor="ctr"/>
          <a:lstStyle/>
          <a:p>
            <a:pPr algn="ctr"/>
          </a:p>
        </p:txBody>
      </p:sp>
      <p:sp>
        <p:nvSpPr>
          <p:cNvPr id="21" name="Box 20"/>
          <p:cNvSpPr/>
          <p:nvPr/>
        </p:nvSpPr>
        <p:spPr>
          <a:xfrm>
            <a:off x="7975600" y="4576167"/>
            <a:ext cx="3403600" cy="1415852"/>
          </a:xfrm>
          <a:prstGeom prst="roundRect">
            <a:avLst>
              <a:gd name="adj" fmla="val 6278"/>
            </a:avLst>
          </a:prstGeom>
          <a:solidFill>
            <a:srgbClr val="FFFDF8"/>
          </a:solidFill>
          <a:ln>
            <a:noFill/>
          </a:ln>
        </p:spPr>
        <p:txBody>
          <a:bodyPr rtlCol="0" anchor="ctr"/>
          <a:lstStyle/>
          <a:p>
            <a:pPr algn="ctr"/>
          </a:p>
        </p:txBody>
      </p:sp>
      <p:sp>
        <p:nvSpPr>
          <p:cNvPr id="22" name="Rule 21"/>
          <p:cNvSpPr/>
          <p:nvPr/>
        </p:nvSpPr>
        <p:spPr>
          <a:xfrm>
            <a:off x="7975600" y="4576167"/>
            <a:ext cx="3403600" cy="38100"/>
          </a:xfrm>
          <a:prstGeom prst="rect">
            <a:avLst/>
          </a:prstGeom>
          <a:solidFill>
            <a:srgbClr val="24506B"/>
          </a:solidFill>
          <a:ln>
            <a:noFill/>
          </a:ln>
        </p:spPr>
        <p:txBody>
          <a:bodyPr rtlCol="0" anchor="ctr"/>
          <a:lstStyle/>
          <a:p>
            <a:pPr algn="ctr"/>
          </a:p>
        </p:txBody>
      </p:sp>
      <p:sp>
        <p:nvSpPr>
          <p:cNvPr id="23" name="Text 22"/>
          <p:cNvSpPr txBox="1"/>
          <p:nvPr/>
        </p:nvSpPr>
        <p:spPr>
          <a:xfrm>
            <a:off x="8001000" y="4732123"/>
            <a:ext cx="32131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24506B"/>
                </a:solidFill>
                <a:latin typeface="Readex Pro"/>
                <a:ea typeface="Readex Pro"/>
                <a:cs typeface="Readex Pro"/>
              </a:rPr>
              <a:t>مالك النظام ومالك الخطر</a:t>
            </a:r>
          </a:p>
        </p:txBody>
      </p:sp>
      <p:sp>
        <p:nvSpPr>
          <p:cNvPr id="24" name="Text 23"/>
          <p:cNvSpPr txBox="1"/>
          <p:nvPr/>
        </p:nvSpPr>
        <p:spPr>
          <a:xfrm>
            <a:off x="80010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منى · نظام الرواتب</a:t>
            </a:r>
          </a:p>
        </p:txBody>
      </p:sp>
      <p:sp>
        <p:nvSpPr>
          <p:cNvPr id="25" name="Text 24"/>
          <p:cNvSpPr txBox="1"/>
          <p:nvPr/>
        </p:nvSpPr>
        <p:spPr>
          <a:xfrm>
            <a:off x="8048498" y="5339778"/>
            <a:ext cx="3165602"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مسؤولة عن النظام وبياناته، وتقرر معالجة خطر ملفات الرواتب</a:t>
            </a:r>
          </a:p>
        </p:txBody>
      </p:sp>
      <p:sp>
        <p:nvSpPr>
          <p:cNvPr id="26" name="Box 25"/>
          <p:cNvSpPr/>
          <p:nvPr/>
        </p:nvSpPr>
        <p:spPr>
          <a:xfrm>
            <a:off x="4394200" y="4576167"/>
            <a:ext cx="3403600" cy="1415852"/>
          </a:xfrm>
          <a:prstGeom prst="roundRect">
            <a:avLst>
              <a:gd name="adj" fmla="val 6278"/>
            </a:avLst>
          </a:prstGeom>
          <a:solidFill>
            <a:srgbClr val="FFFDF8"/>
          </a:solidFill>
          <a:ln>
            <a:noFill/>
          </a:ln>
        </p:spPr>
        <p:txBody>
          <a:bodyPr rtlCol="0" anchor="ctr"/>
          <a:lstStyle/>
          <a:p>
            <a:pPr algn="ctr"/>
          </a:p>
        </p:txBody>
      </p:sp>
      <p:sp>
        <p:nvSpPr>
          <p:cNvPr id="27" name="Rule 26"/>
          <p:cNvSpPr/>
          <p:nvPr/>
        </p:nvSpPr>
        <p:spPr>
          <a:xfrm>
            <a:off x="4394200" y="4576167"/>
            <a:ext cx="3403600" cy="38100"/>
          </a:xfrm>
          <a:prstGeom prst="rect">
            <a:avLst/>
          </a:prstGeom>
          <a:solidFill>
            <a:srgbClr val="0E7C6B"/>
          </a:solidFill>
          <a:ln>
            <a:noFill/>
          </a:ln>
        </p:spPr>
        <p:txBody>
          <a:bodyPr rtlCol="0" anchor="ctr"/>
          <a:lstStyle/>
          <a:p>
            <a:pPr algn="ctr"/>
          </a:p>
        </p:txBody>
      </p:sp>
      <p:sp>
        <p:nvSpPr>
          <p:cNvPr id="28" name="Text 27"/>
          <p:cNvSpPr txBox="1"/>
          <p:nvPr/>
        </p:nvSpPr>
        <p:spPr>
          <a:xfrm>
            <a:off x="4419600" y="4732123"/>
            <a:ext cx="3213100"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1800" b="1" i="0">
                <a:solidFill>
                  <a:srgbClr val="0E7C6B"/>
                </a:solidFill>
                <a:latin typeface="Readex Pro"/>
                <a:ea typeface="Readex Pro"/>
                <a:cs typeface="Readex Pro"/>
              </a:rPr>
              <a:t>GRC</a:t>
            </a:r>
          </a:p>
        </p:txBody>
      </p:sp>
      <p:sp>
        <p:nvSpPr>
          <p:cNvPr id="29" name="Text 28"/>
          <p:cNvSpPr txBox="1"/>
          <p:nvPr/>
        </p:nvSpPr>
        <p:spPr>
          <a:xfrm>
            <a:off x="44196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ريم، وأنت معها</a:t>
            </a:r>
          </a:p>
        </p:txBody>
      </p:sp>
      <p:sp>
        <p:nvSpPr>
          <p:cNvPr id="30" name="Text 29"/>
          <p:cNvSpPr txBox="1"/>
          <p:nvPr/>
        </p:nvSpPr>
        <p:spPr>
          <a:xfrm>
            <a:off x="4419600" y="5339778"/>
            <a:ext cx="3213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تضع المنهجية، وتراقب، وتبلغ</a:t>
            </a:r>
          </a:p>
        </p:txBody>
      </p:sp>
      <p:sp>
        <p:nvSpPr>
          <p:cNvPr id="31" name="Box 30"/>
          <p:cNvSpPr/>
          <p:nvPr/>
        </p:nvSpPr>
        <p:spPr>
          <a:xfrm>
            <a:off x="812800" y="4576167"/>
            <a:ext cx="3403600" cy="1415852"/>
          </a:xfrm>
          <a:prstGeom prst="roundRect">
            <a:avLst>
              <a:gd name="adj" fmla="val 6278"/>
            </a:avLst>
          </a:prstGeom>
          <a:solidFill>
            <a:srgbClr val="FFFDF8"/>
          </a:solidFill>
          <a:ln>
            <a:noFill/>
          </a:ln>
        </p:spPr>
        <p:txBody>
          <a:bodyPr rtlCol="0" anchor="ctr"/>
          <a:lstStyle/>
          <a:p>
            <a:pPr algn="ctr"/>
          </a:p>
        </p:txBody>
      </p:sp>
      <p:sp>
        <p:nvSpPr>
          <p:cNvPr id="32" name="Rule 31"/>
          <p:cNvSpPr/>
          <p:nvPr/>
        </p:nvSpPr>
        <p:spPr>
          <a:xfrm>
            <a:off x="812800" y="4576167"/>
            <a:ext cx="3403600" cy="38100"/>
          </a:xfrm>
          <a:prstGeom prst="rect">
            <a:avLst/>
          </a:prstGeom>
          <a:solidFill>
            <a:srgbClr val="8A4B12"/>
          </a:solidFill>
          <a:ln>
            <a:noFill/>
          </a:ln>
        </p:spPr>
        <p:txBody>
          <a:bodyPr rtlCol="0" anchor="ctr"/>
          <a:lstStyle/>
          <a:p>
            <a:pPr algn="ctr"/>
          </a:p>
        </p:txBody>
      </p:sp>
      <p:sp>
        <p:nvSpPr>
          <p:cNvPr id="33" name="Text 32"/>
          <p:cNvSpPr txBox="1"/>
          <p:nvPr/>
        </p:nvSpPr>
        <p:spPr>
          <a:xfrm>
            <a:off x="838200" y="4732123"/>
            <a:ext cx="32131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8A4B12"/>
                </a:solidFill>
                <a:latin typeface="Readex Pro"/>
                <a:ea typeface="Readex Pro"/>
                <a:cs typeface="Readex Pro"/>
              </a:rPr>
              <a:t>مالك الضابط</a:t>
            </a:r>
          </a:p>
        </p:txBody>
      </p:sp>
      <p:sp>
        <p:nvSpPr>
          <p:cNvPr id="34" name="Text 33"/>
          <p:cNvSpPr txBox="1"/>
          <p:nvPr/>
        </p:nvSpPr>
        <p:spPr>
          <a:xfrm>
            <a:off x="8382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سلمان · التحقق متعدد العوامل</a:t>
            </a:r>
          </a:p>
        </p:txBody>
      </p:sp>
      <p:sp>
        <p:nvSpPr>
          <p:cNvPr id="35" name="Text 34"/>
          <p:cNvSpPr txBox="1"/>
          <p:nvPr/>
        </p:nvSpPr>
        <p:spPr>
          <a:xfrm>
            <a:off x="838200" y="5339778"/>
            <a:ext cx="3213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يطبق الضابط ويحتفظ بأدلته</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GRC لا ينفذ كل الضوابط، ولا يملك كل المخاطر</a:t>
            </a:r>
          </a:p>
        </p:txBody>
      </p:sp>
      <p:sp>
        <p:nvSpPr>
          <p:cNvPr id="5" name="Box 4"/>
          <p:cNvSpPr/>
          <p:nvPr/>
        </p:nvSpPr>
        <p:spPr>
          <a:xfrm>
            <a:off x="6188075" y="1661120"/>
            <a:ext cx="5187950" cy="2457450"/>
          </a:xfrm>
          <a:prstGeom prst="roundRect">
            <a:avLst>
              <a:gd name="adj" fmla="val 4639"/>
            </a:avLst>
          </a:prstGeom>
          <a:solidFill>
            <a:srgbClr val="E3F1ED"/>
          </a:solidFill>
          <a:ln w="6350">
            <a:solidFill>
              <a:srgbClr val="9FD1C5"/>
            </a:solidFill>
          </a:ln>
        </p:spPr>
        <p:txBody>
          <a:bodyPr rtlCol="0" anchor="ctr"/>
          <a:lstStyle/>
          <a:p>
            <a:pPr algn="ctr"/>
          </a:p>
        </p:txBody>
      </p:sp>
      <p:sp>
        <p:nvSpPr>
          <p:cNvPr id="6" name="Text 5"/>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يفعله GRC</a:t>
            </a:r>
          </a:p>
        </p:txBody>
      </p:sp>
      <p:pic>
        <p:nvPicPr>
          <p:cNvPr id="7" name="Icon CheckCircle 6" descr="icon010.png"/>
          <p:cNvPicPr>
            <a:picLocks noChangeAspect="1"/>
          </p:cNvPicPr>
          <p:nvPr/>
        </p:nvPicPr>
        <p:blipFill>
          <a:blip r:embed="rId2"/>
          <a:stretch>
            <a:fillRect/>
          </a:stretch>
        </p:blipFill>
        <p:spPr>
          <a:xfrm>
            <a:off x="10864850" y="2248495"/>
            <a:ext cx="304800" cy="304800"/>
          </a:xfrm>
          <a:prstGeom prst="rect">
            <a:avLst/>
          </a:prstGeom>
        </p:spPr>
      </p:pic>
      <p:sp>
        <p:nvSpPr>
          <p:cNvPr id="8" name="Text 7"/>
          <p:cNvSpPr txBox="1"/>
          <p:nvPr/>
        </p:nvSpPr>
        <p:spPr>
          <a:xfrm>
            <a:off x="6210300" y="2209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يضع المنهجية والنماذج.</a:t>
            </a:r>
          </a:p>
        </p:txBody>
      </p:sp>
      <p:pic>
        <p:nvPicPr>
          <p:cNvPr id="9" name="Icon CheckCircle 8" descr="icon010.png"/>
          <p:cNvPicPr>
            <a:picLocks noChangeAspect="1"/>
          </p:cNvPicPr>
          <p:nvPr/>
        </p:nvPicPr>
        <p:blipFill>
          <a:blip r:embed="rId2"/>
          <a:stretch>
            <a:fillRect/>
          </a:stretch>
        </p:blipFill>
        <p:spPr>
          <a:xfrm>
            <a:off x="10864850" y="2692995"/>
            <a:ext cx="304800" cy="304800"/>
          </a:xfrm>
          <a:prstGeom prst="rect">
            <a:avLst/>
          </a:prstGeom>
        </p:spPr>
      </p:pic>
      <p:sp>
        <p:nvSpPr>
          <p:cNvPr id="10" name="Text 9"/>
          <p:cNvSpPr txBox="1"/>
          <p:nvPr/>
        </p:nvSpPr>
        <p:spPr>
          <a:xfrm>
            <a:off x="6210300" y="2653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يساعد الإدارات على فهم المتطلبات.</a:t>
            </a:r>
          </a:p>
        </p:txBody>
      </p:sp>
      <p:pic>
        <p:nvPicPr>
          <p:cNvPr id="11" name="Icon CheckCircle 10" descr="icon010.png"/>
          <p:cNvPicPr>
            <a:picLocks noChangeAspect="1"/>
          </p:cNvPicPr>
          <p:nvPr/>
        </p:nvPicPr>
        <p:blipFill>
          <a:blip r:embed="rId2"/>
          <a:stretch>
            <a:fillRect/>
          </a:stretch>
        </p:blipFill>
        <p:spPr>
          <a:xfrm>
            <a:off x="10864850" y="3137495"/>
            <a:ext cx="304800" cy="304800"/>
          </a:xfrm>
          <a:prstGeom prst="rect">
            <a:avLst/>
          </a:prstGeom>
        </p:spPr>
      </p:pic>
      <p:sp>
        <p:nvSpPr>
          <p:cNvPr id="12" name="Text 11"/>
          <p:cNvSpPr txBox="1"/>
          <p:nvPr/>
        </p:nvSpPr>
        <p:spPr>
          <a:xfrm>
            <a:off x="6210300" y="3098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يتحقق من التطبيق بالأدلة.</a:t>
            </a:r>
          </a:p>
        </p:txBody>
      </p:sp>
      <p:pic>
        <p:nvPicPr>
          <p:cNvPr id="13" name="Icon CheckCircle 12" descr="icon010.png"/>
          <p:cNvPicPr>
            <a:picLocks noChangeAspect="1"/>
          </p:cNvPicPr>
          <p:nvPr/>
        </p:nvPicPr>
        <p:blipFill>
          <a:blip r:embed="rId2"/>
          <a:stretch>
            <a:fillRect/>
          </a:stretch>
        </p:blipFill>
        <p:spPr>
          <a:xfrm>
            <a:off x="10864850" y="3581995"/>
            <a:ext cx="304800" cy="304800"/>
          </a:xfrm>
          <a:prstGeom prst="rect">
            <a:avLst/>
          </a:prstGeom>
        </p:spPr>
      </p:pic>
      <p:sp>
        <p:nvSpPr>
          <p:cNvPr id="14" name="Text 13"/>
          <p:cNvSpPr txBox="1"/>
          <p:nvPr/>
        </p:nvSpPr>
        <p:spPr>
          <a:xfrm>
            <a:off x="6210300" y="3542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يرفع الصورة بوضوح للإدارة واللجنة.</a:t>
            </a:r>
          </a:p>
        </p:txBody>
      </p:sp>
      <p:sp>
        <p:nvSpPr>
          <p:cNvPr id="15" name="Box 14"/>
          <p:cNvSpPr/>
          <p:nvPr/>
        </p:nvSpPr>
        <p:spPr>
          <a:xfrm>
            <a:off x="815975" y="1661120"/>
            <a:ext cx="5187950" cy="2457450"/>
          </a:xfrm>
          <a:prstGeom prst="roundRect">
            <a:avLst>
              <a:gd name="adj" fmla="val 4639"/>
            </a:avLst>
          </a:prstGeom>
          <a:solidFill>
            <a:srgbClr val="FBEAE5"/>
          </a:solidFill>
          <a:ln w="6350">
            <a:solidFill>
              <a:srgbClr val="E7B8AC"/>
            </a:solidFill>
          </a:ln>
        </p:spPr>
        <p:txBody>
          <a:bodyPr rtlCol="0" anchor="ctr"/>
          <a:lstStyle/>
          <a:p>
            <a:pPr algn="ctr"/>
          </a:p>
        </p:txBody>
      </p:sp>
      <p:sp>
        <p:nvSpPr>
          <p:cNvPr id="16" name="Text 15"/>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لا يفعله GRC</a:t>
            </a:r>
          </a:p>
        </p:txBody>
      </p:sp>
      <p:pic>
        <p:nvPicPr>
          <p:cNvPr id="17" name="Icon Warning 16" descr="icon001.png"/>
          <p:cNvPicPr>
            <a:picLocks noChangeAspect="1"/>
          </p:cNvPicPr>
          <p:nvPr/>
        </p:nvPicPr>
        <p:blipFill>
          <a:blip r:embed="rId3"/>
          <a:stretch>
            <a:fillRect/>
          </a:stretch>
        </p:blipFill>
        <p:spPr>
          <a:xfrm>
            <a:off x="5492750" y="2248495"/>
            <a:ext cx="304800" cy="304800"/>
          </a:xfrm>
          <a:prstGeom prst="rect">
            <a:avLst/>
          </a:prstGeom>
        </p:spPr>
      </p:pic>
      <p:sp>
        <p:nvSpPr>
          <p:cNvPr id="18" name="Text 17"/>
          <p:cNvSpPr txBox="1"/>
          <p:nvPr/>
        </p:nvSpPr>
        <p:spPr>
          <a:xfrm>
            <a:off x="838200" y="2209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ينفذ كل الضوابط بنفسه.</a:t>
            </a:r>
          </a:p>
        </p:txBody>
      </p:sp>
      <p:pic>
        <p:nvPicPr>
          <p:cNvPr id="19" name="Icon Warning 18" descr="icon001.png"/>
          <p:cNvPicPr>
            <a:picLocks noChangeAspect="1"/>
          </p:cNvPicPr>
          <p:nvPr/>
        </p:nvPicPr>
        <p:blipFill>
          <a:blip r:embed="rId3"/>
          <a:stretch>
            <a:fillRect/>
          </a:stretch>
        </p:blipFill>
        <p:spPr>
          <a:xfrm>
            <a:off x="5492750" y="2692995"/>
            <a:ext cx="304800" cy="304800"/>
          </a:xfrm>
          <a:prstGeom prst="rect">
            <a:avLst/>
          </a:prstGeom>
        </p:spPr>
      </p:pic>
      <p:sp>
        <p:nvSpPr>
          <p:cNvPr id="20" name="Text 19"/>
          <p:cNvSpPr txBox="1"/>
          <p:nvPr/>
        </p:nvSpPr>
        <p:spPr>
          <a:xfrm>
            <a:off x="838200" y="2653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يملك مخاطر الإدارات الأخرى.</a:t>
            </a:r>
          </a:p>
        </p:txBody>
      </p:sp>
      <p:pic>
        <p:nvPicPr>
          <p:cNvPr id="21" name="Icon Warning 20" descr="icon001.png"/>
          <p:cNvPicPr>
            <a:picLocks noChangeAspect="1"/>
          </p:cNvPicPr>
          <p:nvPr/>
        </p:nvPicPr>
        <p:blipFill>
          <a:blip r:embed="rId3"/>
          <a:stretch>
            <a:fillRect/>
          </a:stretch>
        </p:blipFill>
        <p:spPr>
          <a:xfrm>
            <a:off x="5492750" y="3137495"/>
            <a:ext cx="304800" cy="304800"/>
          </a:xfrm>
          <a:prstGeom prst="rect">
            <a:avLst/>
          </a:prstGeom>
        </p:spPr>
      </p:pic>
      <p:sp>
        <p:nvSpPr>
          <p:cNvPr id="22" name="Text 21"/>
          <p:cNvSpPr txBox="1"/>
          <p:nvPr/>
        </p:nvSpPr>
        <p:spPr>
          <a:xfrm>
            <a:off x="838200" y="3098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يعتمد السياسات بدل صاحب الصلاحية.</a:t>
            </a:r>
          </a:p>
        </p:txBody>
      </p:sp>
      <p:pic>
        <p:nvPicPr>
          <p:cNvPr id="23" name="Icon Warning 22" descr="icon001.png"/>
          <p:cNvPicPr>
            <a:picLocks noChangeAspect="1"/>
          </p:cNvPicPr>
          <p:nvPr/>
        </p:nvPicPr>
        <p:blipFill>
          <a:blip r:embed="rId3"/>
          <a:stretch>
            <a:fillRect/>
          </a:stretch>
        </p:blipFill>
        <p:spPr>
          <a:xfrm>
            <a:off x="5492750" y="3581995"/>
            <a:ext cx="304800" cy="304800"/>
          </a:xfrm>
          <a:prstGeom prst="rect">
            <a:avLst/>
          </a:prstGeom>
        </p:spPr>
      </p:pic>
      <p:sp>
        <p:nvSpPr>
          <p:cNvPr id="24" name="Text 23"/>
          <p:cNvSpPr txBox="1"/>
          <p:nvPr/>
        </p:nvSpPr>
        <p:spPr>
          <a:xfrm>
            <a:off x="838200" y="3542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يتحمل الخطأ عن كل الجهة.</a:t>
            </a:r>
          </a:p>
        </p:txBody>
      </p:sp>
      <p:sp>
        <p:nvSpPr>
          <p:cNvPr id="25" name="Box 24"/>
          <p:cNvSpPr/>
          <p:nvPr/>
        </p:nvSpPr>
        <p:spPr>
          <a:xfrm>
            <a:off x="812800" y="4667845"/>
            <a:ext cx="10566400" cy="609600"/>
          </a:xfrm>
          <a:prstGeom prst="roundRect">
            <a:avLst>
              <a:gd name="adj" fmla="val 16666"/>
            </a:avLst>
          </a:prstGeom>
          <a:solidFill>
            <a:srgbClr val="E3F1ED"/>
          </a:solidFill>
          <a:ln>
            <a:noFill/>
          </a:ln>
        </p:spPr>
        <p:txBody>
          <a:bodyPr rtlCol="0" anchor="ctr"/>
          <a:lstStyle/>
          <a:p>
            <a:pPr algn="ctr"/>
          </a:p>
        </p:txBody>
      </p:sp>
      <p:pic>
        <p:nvPicPr>
          <p:cNvPr id="26" name="Icon Users 25" descr="icon019.png"/>
          <p:cNvPicPr>
            <a:picLocks noChangeAspect="1"/>
          </p:cNvPicPr>
          <p:nvPr/>
        </p:nvPicPr>
        <p:blipFill>
          <a:blip r:embed="rId4"/>
          <a:stretch>
            <a:fillRect/>
          </a:stretch>
        </p:blipFill>
        <p:spPr>
          <a:xfrm>
            <a:off x="10890250" y="4817070"/>
            <a:ext cx="311150" cy="311150"/>
          </a:xfrm>
          <a:prstGeom prst="rect">
            <a:avLst/>
          </a:prstGeom>
        </p:spPr>
      </p:pic>
      <p:sp>
        <p:nvSpPr>
          <p:cNvPr id="27" name="Text 26"/>
          <p:cNvSpPr txBox="1"/>
          <p:nvPr/>
        </p:nvSpPr>
        <p:spPr>
          <a:xfrm>
            <a:off x="838200" y="47554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ريم لا تعطّل حسابات المغادرين. سلمان يعطّلها، وريم تتحقق أن ذلك يحدث فعلاً.</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نموذج الخطوط الثلاثة في رُفاد</a:t>
            </a:r>
          </a:p>
        </p:txBody>
      </p:sp>
      <p:sp>
        <p:nvSpPr>
          <p:cNvPr id="5" name="Box 4"/>
          <p:cNvSpPr/>
          <p:nvPr/>
        </p:nvSpPr>
        <p:spPr>
          <a:xfrm>
            <a:off x="812800" y="1657945"/>
            <a:ext cx="10566400" cy="647700"/>
          </a:xfrm>
          <a:prstGeom prst="roundRect">
            <a:avLst>
              <a:gd name="adj" fmla="val 15686"/>
            </a:avLst>
          </a:prstGeom>
          <a:solidFill>
            <a:srgbClr val="172433"/>
          </a:solidFill>
          <a:ln>
            <a:noFill/>
          </a:ln>
        </p:spPr>
        <p:txBody>
          <a:bodyPr rtlCol="0" anchor="ctr"/>
          <a:lstStyle/>
          <a:p>
            <a:pPr algn="ctr"/>
          </a:p>
        </p:txBody>
      </p:sp>
      <p:pic>
        <p:nvPicPr>
          <p:cNvPr id="6" name="Icon Users 5" descr="icon020.png"/>
          <p:cNvPicPr>
            <a:picLocks noChangeAspect="1"/>
          </p:cNvPicPr>
          <p:nvPr/>
        </p:nvPicPr>
        <p:blipFill>
          <a:blip r:embed="rId2"/>
          <a:stretch>
            <a:fillRect/>
          </a:stretch>
        </p:blipFill>
        <p:spPr>
          <a:xfrm>
            <a:off x="10820400" y="1797645"/>
            <a:ext cx="368300" cy="368300"/>
          </a:xfrm>
          <a:prstGeom prst="rect">
            <a:avLst/>
          </a:prstGeom>
        </p:spPr>
      </p:pic>
      <p:sp>
        <p:nvSpPr>
          <p:cNvPr id="7" name="Text 6"/>
          <p:cNvSpPr txBox="1"/>
          <p:nvPr/>
        </p:nvSpPr>
        <p:spPr>
          <a:xfrm>
            <a:off x="838200" y="1764625"/>
            <a:ext cx="986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جهة الحوكمة: الرئيس التنفيذي ولجنة الأمن السيبراني، تحدد التوجه وتحاسب.</a:t>
            </a:r>
          </a:p>
        </p:txBody>
      </p:sp>
      <p:sp>
        <p:nvSpPr>
          <p:cNvPr id="8" name="Rule 7"/>
          <p:cNvSpPr/>
          <p:nvPr/>
        </p:nvSpPr>
        <p:spPr>
          <a:xfrm>
            <a:off x="7950200" y="2680295"/>
            <a:ext cx="3429000" cy="31750"/>
          </a:xfrm>
          <a:prstGeom prst="rect">
            <a:avLst/>
          </a:prstGeom>
          <a:solidFill>
            <a:srgbClr val="24506B"/>
          </a:solidFill>
          <a:ln>
            <a:noFill/>
          </a:ln>
        </p:spPr>
        <p:txBody>
          <a:bodyPr rtlCol="0" anchor="ctr"/>
          <a:lstStyle/>
          <a:p>
            <a:pPr algn="ctr"/>
          </a:p>
        </p:txBody>
      </p:sp>
      <p:sp>
        <p:nvSpPr>
          <p:cNvPr id="9" name="Text 8"/>
          <p:cNvSpPr txBox="1"/>
          <p:nvPr/>
        </p:nvSpPr>
        <p:spPr>
          <a:xfrm>
            <a:off x="79756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24506B"/>
                </a:solidFill>
                <a:latin typeface="IBM Plex Sans Arabic"/>
                <a:ea typeface="IBM Plex Sans Arabic"/>
                <a:cs typeface="IBM Plex Sans Arabic"/>
              </a:rPr>
              <a:t>الخط الأول</a:t>
            </a:r>
          </a:p>
        </p:txBody>
      </p:sp>
      <p:sp>
        <p:nvSpPr>
          <p:cNvPr id="10" name="Text 9"/>
          <p:cNvSpPr txBox="1"/>
          <p:nvPr/>
        </p:nvSpPr>
        <p:spPr>
          <a:xfrm>
            <a:off x="79756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الإدارات التشغيلية</a:t>
            </a:r>
          </a:p>
        </p:txBody>
      </p:sp>
      <p:sp>
        <p:nvSpPr>
          <p:cNvPr id="11" name="Text 10"/>
          <p:cNvSpPr txBox="1"/>
          <p:nvPr/>
        </p:nvSpPr>
        <p:spPr>
          <a:xfrm>
            <a:off x="7975600" y="3612475"/>
            <a:ext cx="33655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تملك المخاطر وتطبق الضوابط. في رُفاد: سلمان ومنى والمورد تحت إشرافهما.</a:t>
            </a:r>
          </a:p>
        </p:txBody>
      </p:sp>
      <p:sp>
        <p:nvSpPr>
          <p:cNvPr id="12" name="Rule 11"/>
          <p:cNvSpPr/>
          <p:nvPr/>
        </p:nvSpPr>
        <p:spPr>
          <a:xfrm>
            <a:off x="4381500" y="2680295"/>
            <a:ext cx="3429000" cy="31750"/>
          </a:xfrm>
          <a:prstGeom prst="rect">
            <a:avLst/>
          </a:prstGeom>
          <a:solidFill>
            <a:srgbClr val="0E7C6B"/>
          </a:solidFill>
          <a:ln>
            <a:noFill/>
          </a:ln>
        </p:spPr>
        <p:txBody>
          <a:bodyPr rtlCol="0" anchor="ctr"/>
          <a:lstStyle/>
          <a:p>
            <a:pPr algn="ctr"/>
          </a:p>
        </p:txBody>
      </p:sp>
      <p:sp>
        <p:nvSpPr>
          <p:cNvPr id="13" name="Text 12"/>
          <p:cNvSpPr txBox="1"/>
          <p:nvPr/>
        </p:nvSpPr>
        <p:spPr>
          <a:xfrm>
            <a:off x="44069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0E7C6B"/>
                </a:solidFill>
                <a:latin typeface="IBM Plex Sans Arabic"/>
                <a:ea typeface="IBM Plex Sans Arabic"/>
                <a:cs typeface="IBM Plex Sans Arabic"/>
              </a:rPr>
              <a:t>الخط الثاني</a:t>
            </a:r>
          </a:p>
        </p:txBody>
      </p:sp>
      <p:sp>
        <p:nvSpPr>
          <p:cNvPr id="14" name="Text 13"/>
          <p:cNvSpPr txBox="1"/>
          <p:nvPr/>
        </p:nvSpPr>
        <p:spPr>
          <a:xfrm>
            <a:off x="44069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المخاطر والامتثال</a:t>
            </a:r>
          </a:p>
        </p:txBody>
      </p:sp>
      <p:sp>
        <p:nvSpPr>
          <p:cNvPr id="15" name="Text 14"/>
          <p:cNvSpPr txBox="1"/>
          <p:nvPr/>
        </p:nvSpPr>
        <p:spPr>
          <a:xfrm>
            <a:off x="4406900" y="361247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يضع الإطار ويراقب ويتحدى. في رُفاد: ريم، وأنت معها.</a:t>
            </a:r>
          </a:p>
        </p:txBody>
      </p:sp>
      <p:sp>
        <p:nvSpPr>
          <p:cNvPr id="16" name="Rule 15"/>
          <p:cNvSpPr/>
          <p:nvPr/>
        </p:nvSpPr>
        <p:spPr>
          <a:xfrm>
            <a:off x="812800" y="2680295"/>
            <a:ext cx="3429000" cy="31750"/>
          </a:xfrm>
          <a:prstGeom prst="rect">
            <a:avLst/>
          </a:prstGeom>
          <a:solidFill>
            <a:srgbClr val="8A4B12"/>
          </a:solidFill>
          <a:ln>
            <a:noFill/>
          </a:ln>
        </p:spPr>
        <p:txBody>
          <a:bodyPr rtlCol="0" anchor="ctr"/>
          <a:lstStyle/>
          <a:p>
            <a:pPr algn="ctr"/>
          </a:p>
        </p:txBody>
      </p:sp>
      <p:sp>
        <p:nvSpPr>
          <p:cNvPr id="17" name="Text 16"/>
          <p:cNvSpPr txBox="1"/>
          <p:nvPr/>
        </p:nvSpPr>
        <p:spPr>
          <a:xfrm>
            <a:off x="8382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8A4B12"/>
                </a:solidFill>
                <a:latin typeface="IBM Plex Sans Arabic"/>
                <a:ea typeface="IBM Plex Sans Arabic"/>
                <a:cs typeface="IBM Plex Sans Arabic"/>
              </a:rPr>
              <a:t>الخط الثالث</a:t>
            </a:r>
          </a:p>
        </p:txBody>
      </p:sp>
      <p:sp>
        <p:nvSpPr>
          <p:cNvPr id="18" name="Text 17"/>
          <p:cNvSpPr txBox="1"/>
          <p:nvPr/>
        </p:nvSpPr>
        <p:spPr>
          <a:xfrm>
            <a:off x="8382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المراجعة الداخلية</a:t>
            </a:r>
          </a:p>
        </p:txBody>
      </p:sp>
      <p:sp>
        <p:nvSpPr>
          <p:cNvPr id="19" name="Text 18"/>
          <p:cNvSpPr txBox="1"/>
          <p:nvPr/>
        </p:nvSpPr>
        <p:spPr>
          <a:xfrm>
            <a:off x="838200" y="361247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تأكيد مستقل. في رُفاد: مراجع خارجي متعاقد معه سنوياً.</a:t>
            </a:r>
          </a:p>
        </p:txBody>
      </p:sp>
      <p:sp>
        <p:nvSpPr>
          <p:cNvPr id="20" name="Text 19"/>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النموذج من معهد المدققين الداخليين IIA. توزيع الأدوار يختلف من جهة لأخرى.</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هرم الوثائق: من «لماذا» إلى «كيف»</a:t>
            </a:r>
          </a:p>
        </p:txBody>
      </p:sp>
      <p:sp>
        <p:nvSpPr>
          <p:cNvPr id="5" name="Box 4"/>
          <p:cNvSpPr/>
          <p:nvPr/>
        </p:nvSpPr>
        <p:spPr>
          <a:xfrm>
            <a:off x="8077200" y="1645245"/>
            <a:ext cx="3302000" cy="760710"/>
          </a:xfrm>
          <a:prstGeom prst="roundRect">
            <a:avLst>
              <a:gd name="adj" fmla="val 11686"/>
            </a:avLst>
          </a:prstGeom>
          <a:solidFill>
            <a:srgbClr val="172433"/>
          </a:solidFill>
          <a:ln>
            <a:noFill/>
          </a:ln>
        </p:spPr>
        <p:txBody>
          <a:bodyPr rtlCol="0" anchor="ctr"/>
          <a:lstStyle/>
          <a:p>
            <a:pPr algn="ctr"/>
          </a:p>
        </p:txBody>
      </p:sp>
      <p:sp>
        <p:nvSpPr>
          <p:cNvPr id="6" name="Text 5"/>
          <p:cNvSpPr txBox="1"/>
          <p:nvPr/>
        </p:nvSpPr>
        <p:spPr>
          <a:xfrm>
            <a:off x="8102600" y="173668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السياسة</a:t>
            </a:r>
          </a:p>
        </p:txBody>
      </p:sp>
      <p:sp>
        <p:nvSpPr>
          <p:cNvPr id="7" name="Text 6"/>
          <p:cNvSpPr txBox="1"/>
          <p:nvPr/>
        </p:nvSpPr>
        <p:spPr>
          <a:xfrm>
            <a:off x="8102600" y="204123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B9C4CC"/>
                </a:solidFill>
                <a:latin typeface="IBM Plex Sans Arabic"/>
                <a:ea typeface="IBM Plex Sans Arabic"/>
                <a:cs typeface="IBM Plex Sans Arabic"/>
              </a:rPr>
              <a:t>ماذا ولماذا · يعتمدها صاحب الصلاحية</a:t>
            </a:r>
          </a:p>
        </p:txBody>
      </p:sp>
      <p:sp>
        <p:nvSpPr>
          <p:cNvPr id="8" name="Text 7"/>
          <p:cNvSpPr txBox="1"/>
          <p:nvPr/>
        </p:nvSpPr>
        <p:spPr>
          <a:xfrm>
            <a:off x="244856" y="1818707"/>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«تُراجع الصلاحيات دورياً في كل الأنظمة.»</a:t>
            </a:r>
          </a:p>
        </p:txBody>
      </p:sp>
      <p:sp>
        <p:nvSpPr>
          <p:cNvPr id="9" name="Box 8"/>
          <p:cNvSpPr/>
          <p:nvPr/>
        </p:nvSpPr>
        <p:spPr>
          <a:xfrm>
            <a:off x="8077200" y="2507555"/>
            <a:ext cx="3302000" cy="760710"/>
          </a:xfrm>
          <a:prstGeom prst="roundRect">
            <a:avLst>
              <a:gd name="adj" fmla="val 11686"/>
            </a:avLst>
          </a:prstGeom>
          <a:solidFill>
            <a:srgbClr val="24506B"/>
          </a:solidFill>
          <a:ln>
            <a:noFill/>
          </a:ln>
        </p:spPr>
        <p:txBody>
          <a:bodyPr rtlCol="0" anchor="ctr"/>
          <a:lstStyle/>
          <a:p>
            <a:pPr algn="ctr"/>
          </a:p>
        </p:txBody>
      </p:sp>
      <p:sp>
        <p:nvSpPr>
          <p:cNvPr id="10" name="Text 9"/>
          <p:cNvSpPr txBox="1"/>
          <p:nvPr/>
        </p:nvSpPr>
        <p:spPr>
          <a:xfrm>
            <a:off x="8102600" y="259899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المعيار</a:t>
            </a:r>
          </a:p>
        </p:txBody>
      </p:sp>
      <p:sp>
        <p:nvSpPr>
          <p:cNvPr id="11" name="Text 10"/>
          <p:cNvSpPr txBox="1"/>
          <p:nvPr/>
        </p:nvSpPr>
        <p:spPr>
          <a:xfrm>
            <a:off x="8102600" y="290354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CFE0EA"/>
                </a:solidFill>
                <a:latin typeface="IBM Plex Sans Arabic"/>
                <a:ea typeface="IBM Plex Sans Arabic"/>
                <a:cs typeface="IBM Plex Sans Arabic"/>
              </a:rPr>
              <a:t>قيم ملزمة قابلة للقياس</a:t>
            </a:r>
          </a:p>
        </p:txBody>
      </p:sp>
      <p:sp>
        <p:nvSpPr>
          <p:cNvPr id="12" name="Text 11"/>
          <p:cNvSpPr txBox="1"/>
          <p:nvPr/>
        </p:nvSpPr>
        <p:spPr>
          <a:xfrm>
            <a:off x="244856" y="268101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«نظام الرواتب: مراجعة كل 3 أشهر، وإزالة خلال 5 أيام عمل.»</a:t>
            </a:r>
          </a:p>
        </p:txBody>
      </p:sp>
      <p:sp>
        <p:nvSpPr>
          <p:cNvPr id="13" name="Box 12"/>
          <p:cNvSpPr/>
          <p:nvPr/>
        </p:nvSpPr>
        <p:spPr>
          <a:xfrm>
            <a:off x="8077200" y="3369866"/>
            <a:ext cx="3302000" cy="760710"/>
          </a:xfrm>
          <a:prstGeom prst="roundRect">
            <a:avLst>
              <a:gd name="adj" fmla="val 11686"/>
            </a:avLst>
          </a:prstGeom>
          <a:solidFill>
            <a:srgbClr val="0E7C6B"/>
          </a:solidFill>
          <a:ln>
            <a:noFill/>
          </a:ln>
        </p:spPr>
        <p:txBody>
          <a:bodyPr rtlCol="0" anchor="ctr"/>
          <a:lstStyle/>
          <a:p>
            <a:pPr algn="ctr"/>
          </a:p>
        </p:txBody>
      </p:sp>
      <p:sp>
        <p:nvSpPr>
          <p:cNvPr id="14" name="Text 13"/>
          <p:cNvSpPr txBox="1"/>
          <p:nvPr/>
        </p:nvSpPr>
        <p:spPr>
          <a:xfrm>
            <a:off x="8102600" y="346130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الإجراء</a:t>
            </a:r>
          </a:p>
        </p:txBody>
      </p:sp>
      <p:sp>
        <p:nvSpPr>
          <p:cNvPr id="15" name="Text 14"/>
          <p:cNvSpPr txBox="1"/>
          <p:nvPr/>
        </p:nvSpPr>
        <p:spPr>
          <a:xfrm>
            <a:off x="8102600" y="376585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D3EFE8"/>
                </a:solidFill>
                <a:latin typeface="IBM Plex Sans Arabic"/>
                <a:ea typeface="IBM Plex Sans Arabic"/>
                <a:cs typeface="IBM Plex Sans Arabic"/>
              </a:rPr>
              <a:t>خطوات: من يفعل ماذا ومتى</a:t>
            </a:r>
          </a:p>
        </p:txBody>
      </p:sp>
      <p:sp>
        <p:nvSpPr>
          <p:cNvPr id="16" name="Text 15"/>
          <p:cNvSpPr txBox="1"/>
          <p:nvPr/>
        </p:nvSpPr>
        <p:spPr>
          <a:xfrm>
            <a:off x="244856" y="354332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«تصدّر تقنية المعلومات القائمة، ثم يؤكد كل مدير…»</a:t>
            </a:r>
          </a:p>
        </p:txBody>
      </p:sp>
      <p:sp>
        <p:nvSpPr>
          <p:cNvPr id="17" name="Box 16"/>
          <p:cNvSpPr/>
          <p:nvPr/>
        </p:nvSpPr>
        <p:spPr>
          <a:xfrm>
            <a:off x="8077200" y="4232176"/>
            <a:ext cx="3302000" cy="760710"/>
          </a:xfrm>
          <a:prstGeom prst="roundRect">
            <a:avLst>
              <a:gd name="adj" fmla="val 11686"/>
            </a:avLst>
          </a:prstGeom>
          <a:solidFill>
            <a:srgbClr val="E5DCC8"/>
          </a:solidFill>
          <a:ln>
            <a:noFill/>
          </a:ln>
        </p:spPr>
        <p:txBody>
          <a:bodyPr rtlCol="0" anchor="ctr"/>
          <a:lstStyle/>
          <a:p>
            <a:pPr algn="ctr"/>
          </a:p>
        </p:txBody>
      </p:sp>
      <p:sp>
        <p:nvSpPr>
          <p:cNvPr id="18" name="Text 17"/>
          <p:cNvSpPr txBox="1"/>
          <p:nvPr/>
        </p:nvSpPr>
        <p:spPr>
          <a:xfrm>
            <a:off x="8102600" y="432361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الإرشاد</a:t>
            </a:r>
          </a:p>
        </p:txBody>
      </p:sp>
      <p:sp>
        <p:nvSpPr>
          <p:cNvPr id="19" name="Text 18"/>
          <p:cNvSpPr txBox="1"/>
          <p:nvPr/>
        </p:nvSpPr>
        <p:spPr>
          <a:xfrm>
            <a:off x="8102600" y="462816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توصيات غير ملزمة</a:t>
            </a:r>
          </a:p>
        </p:txBody>
      </p:sp>
      <p:sp>
        <p:nvSpPr>
          <p:cNvPr id="20" name="Text 19"/>
          <p:cNvSpPr txBox="1"/>
          <p:nvPr/>
        </p:nvSpPr>
        <p:spPr>
          <a:xfrm>
            <a:off x="244856" y="440563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«يُنصح بمراجعة الحسابات غير المستخدمة منذ 90 يوماً أولاً.»</a:t>
            </a:r>
          </a:p>
        </p:txBody>
      </p:sp>
      <p:sp>
        <p:nvSpPr>
          <p:cNvPr id="21" name="Text 20"/>
          <p:cNvSpPr txBox="1"/>
          <p:nvPr/>
        </p:nvSpPr>
        <p:spPr>
          <a:xfrm>
            <a:off x="0" y="5143127"/>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مثال واحد عبر المستويات الأربعة: مراجعة الصلاحيات في رُفاد. القيم مثال تدريبي.</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مكونات السياسة: سياسة واحدة كاملة</a:t>
            </a:r>
          </a:p>
        </p:txBody>
      </p:sp>
      <p:sp>
        <p:nvSpPr>
          <p:cNvPr id="5" name="Box 4"/>
          <p:cNvSpPr/>
          <p:nvPr/>
        </p:nvSpPr>
        <p:spPr>
          <a:xfrm>
            <a:off x="4029075" y="1661120"/>
            <a:ext cx="7346950" cy="4672310"/>
          </a:xfrm>
          <a:prstGeom prst="roundRect">
            <a:avLst>
              <a:gd name="adj" fmla="val 1357"/>
            </a:avLst>
          </a:prstGeom>
          <a:solidFill>
            <a:srgbClr val="FFFFFF"/>
          </a:solidFill>
          <a:ln w="6350">
            <a:solidFill>
              <a:srgbClr val="D6CFBF"/>
            </a:solidFill>
          </a:ln>
        </p:spPr>
        <p:txBody>
          <a:bodyPr rtlCol="0" anchor="ctr"/>
          <a:lstStyle/>
          <a:p>
            <a:pPr algn="ctr"/>
          </a:p>
        </p:txBody>
      </p:sp>
      <p:sp>
        <p:nvSpPr>
          <p:cNvPr id="6" name="Rule 5"/>
          <p:cNvSpPr/>
          <p:nvPr/>
        </p:nvSpPr>
        <p:spPr>
          <a:xfrm>
            <a:off x="4032250" y="2766516"/>
            <a:ext cx="7340600" cy="12700"/>
          </a:xfrm>
          <a:prstGeom prst="rect">
            <a:avLst/>
          </a:prstGeom>
          <a:solidFill>
            <a:srgbClr val="0E7C6B"/>
          </a:solidFill>
          <a:ln>
            <a:noFill/>
          </a:ln>
        </p:spPr>
        <p:txBody>
          <a:bodyPr rtlCol="0" anchor="ctr"/>
          <a:lstStyle/>
          <a:p>
            <a:pPr algn="ctr"/>
          </a:p>
        </p:txBody>
      </p:sp>
      <p:sp>
        <p:nvSpPr>
          <p:cNvPr id="7" name="Text 6"/>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سياسة</a:t>
            </a:r>
          </a:p>
        </p:txBody>
      </p:sp>
      <p:sp>
        <p:nvSpPr>
          <p:cNvPr id="8" name="Text 7"/>
          <p:cNvSpPr txBox="1"/>
          <p:nvPr/>
        </p:nvSpPr>
        <p:spPr>
          <a:xfrm>
            <a:off x="41215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9" name="Text 8"/>
          <p:cNvSpPr txBox="1"/>
          <p:nvPr/>
        </p:nvSpPr>
        <p:spPr>
          <a:xfrm>
            <a:off x="4057650" y="2068076"/>
            <a:ext cx="70866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سياسة التحكم بالوصول</a:t>
            </a:r>
          </a:p>
        </p:txBody>
      </p:sp>
      <p:sp>
        <p:nvSpPr>
          <p:cNvPr id="10" name="Text 9"/>
          <p:cNvSpPr txBox="1"/>
          <p:nvPr/>
        </p:nvSpPr>
        <p:spPr>
          <a:xfrm>
            <a:off x="9967258" y="2426724"/>
            <a:ext cx="117699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POL-⁠AC-⁠01</a:t>
            </a:r>
          </a:p>
        </p:txBody>
      </p:sp>
      <p:sp>
        <p:nvSpPr>
          <p:cNvPr id="11" name="Text 10"/>
          <p:cNvSpPr txBox="1"/>
          <p:nvPr/>
        </p:nvSpPr>
        <p:spPr>
          <a:xfrm>
            <a:off x="9085798"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2.0</a:t>
            </a:r>
          </a:p>
        </p:txBody>
      </p:sp>
      <p:sp>
        <p:nvSpPr>
          <p:cNvPr id="12" name="Text 11"/>
          <p:cNvSpPr txBox="1"/>
          <p:nvPr/>
        </p:nvSpPr>
        <p:spPr>
          <a:xfrm>
            <a:off x="6441404" y="2426724"/>
            <a:ext cx="2558034"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الاعتماد: الرئيس التنفيذي · 15 يناير 2026</a:t>
            </a:r>
          </a:p>
        </p:txBody>
      </p:sp>
      <p:sp>
        <p:nvSpPr>
          <p:cNvPr id="13" name="Text 12"/>
          <p:cNvSpPr txBox="1"/>
          <p:nvPr/>
        </p:nvSpPr>
        <p:spPr>
          <a:xfrm>
            <a:off x="5112349" y="2426724"/>
            <a:ext cx="134073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مسؤولة GRC</a:t>
            </a:r>
          </a:p>
        </p:txBody>
      </p:sp>
      <p:sp>
        <p:nvSpPr>
          <p:cNvPr id="14" name="Rule 13"/>
          <p:cNvSpPr/>
          <p:nvPr/>
        </p:nvSpPr>
        <p:spPr>
          <a:xfrm>
            <a:off x="4260850" y="3289697"/>
            <a:ext cx="6883400" cy="6350"/>
          </a:xfrm>
          <a:prstGeom prst="rect">
            <a:avLst/>
          </a:prstGeom>
          <a:solidFill>
            <a:srgbClr val="ECE7DC"/>
          </a:solidFill>
          <a:ln>
            <a:noFill/>
          </a:ln>
        </p:spPr>
        <p:txBody>
          <a:bodyPr rtlCol="0" anchor="ctr"/>
          <a:lstStyle/>
          <a:p>
            <a:pPr algn="ctr"/>
          </a:p>
        </p:txBody>
      </p:sp>
      <p:sp>
        <p:nvSpPr>
          <p:cNvPr id="15" name="Text 14"/>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1. الغرض</a:t>
            </a:r>
          </a:p>
        </p:txBody>
      </p:sp>
      <p:sp>
        <p:nvSpPr>
          <p:cNvPr id="16" name="Text 15"/>
          <p:cNvSpPr txBox="1"/>
          <p:nvPr/>
        </p:nvSpPr>
        <p:spPr>
          <a:xfrm>
            <a:off x="4260850" y="2923488"/>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حماية الأنظمة والبيانات بمنح الوصول بقدر الحاجة، ومراجعته وإلغائه.</a:t>
            </a:r>
          </a:p>
        </p:txBody>
      </p:sp>
      <p:sp>
        <p:nvSpPr>
          <p:cNvPr id="17" name="Rule 16"/>
          <p:cNvSpPr/>
          <p:nvPr/>
        </p:nvSpPr>
        <p:spPr>
          <a:xfrm>
            <a:off x="4260850" y="3743027"/>
            <a:ext cx="6883400" cy="6350"/>
          </a:xfrm>
          <a:prstGeom prst="rect">
            <a:avLst/>
          </a:prstGeom>
          <a:solidFill>
            <a:srgbClr val="ECE7DC"/>
          </a:solidFill>
          <a:ln>
            <a:noFill/>
          </a:ln>
        </p:spPr>
        <p:txBody>
          <a:bodyPr rtlCol="0" anchor="ctr"/>
          <a:lstStyle/>
          <a:p>
            <a:pPr algn="ctr"/>
          </a:p>
        </p:txBody>
      </p:sp>
      <p:sp>
        <p:nvSpPr>
          <p:cNvPr id="18" name="Text 17"/>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2. النطاق</a:t>
            </a:r>
          </a:p>
        </p:txBody>
      </p:sp>
      <p:sp>
        <p:nvSpPr>
          <p:cNvPr id="19" name="Text 18"/>
          <p:cNvSpPr txBox="1"/>
          <p:nvPr/>
        </p:nvSpPr>
        <p:spPr>
          <a:xfrm>
            <a:off x="4260850" y="337681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كل أنظمة رُفاد وحساباتها، والموظفون والمتعاقدون والمورد سَنَد.</a:t>
            </a:r>
          </a:p>
        </p:txBody>
      </p:sp>
      <p:sp>
        <p:nvSpPr>
          <p:cNvPr id="20" name="Rule 19"/>
          <p:cNvSpPr/>
          <p:nvPr/>
        </p:nvSpPr>
        <p:spPr>
          <a:xfrm>
            <a:off x="4260850" y="4196358"/>
            <a:ext cx="6883400" cy="6350"/>
          </a:xfrm>
          <a:prstGeom prst="rect">
            <a:avLst/>
          </a:prstGeom>
          <a:solidFill>
            <a:srgbClr val="ECE7DC"/>
          </a:solidFill>
          <a:ln>
            <a:noFill/>
          </a:ln>
        </p:spPr>
        <p:txBody>
          <a:bodyPr rtlCol="0" anchor="ctr"/>
          <a:lstStyle/>
          <a:p>
            <a:pPr algn="ctr"/>
          </a:p>
        </p:txBody>
      </p:sp>
      <p:sp>
        <p:nvSpPr>
          <p:cNvPr id="21" name="Text 20"/>
          <p:cNvSpPr txBox="1"/>
          <p:nvPr/>
        </p:nvSpPr>
        <p:spPr>
          <a:xfrm>
            <a:off x="9625330" y="382710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3. الأدوار</a:t>
            </a:r>
          </a:p>
        </p:txBody>
      </p:sp>
      <p:sp>
        <p:nvSpPr>
          <p:cNvPr id="22" name="Text 21"/>
          <p:cNvSpPr txBox="1"/>
          <p:nvPr/>
        </p:nvSpPr>
        <p:spPr>
          <a:xfrm>
            <a:off x="4260850" y="383014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مالك كل نظام يعتمد الصلاحيات، وتقنية المعلومات تنفذ، وGRC تتابع.</a:t>
            </a:r>
          </a:p>
        </p:txBody>
      </p:sp>
      <p:sp>
        <p:nvSpPr>
          <p:cNvPr id="23" name="Rule 22"/>
          <p:cNvSpPr/>
          <p:nvPr/>
        </p:nvSpPr>
        <p:spPr>
          <a:xfrm>
            <a:off x="4260850" y="4932164"/>
            <a:ext cx="6883400" cy="6350"/>
          </a:xfrm>
          <a:prstGeom prst="rect">
            <a:avLst/>
          </a:prstGeom>
          <a:solidFill>
            <a:srgbClr val="ECE7DC"/>
          </a:solidFill>
          <a:ln>
            <a:noFill/>
          </a:ln>
        </p:spPr>
        <p:txBody>
          <a:bodyPr rtlCol="0" anchor="ctr"/>
          <a:lstStyle/>
          <a:p>
            <a:pPr algn="ctr"/>
          </a:p>
        </p:txBody>
      </p:sp>
      <p:sp>
        <p:nvSpPr>
          <p:cNvPr id="24" name="Text 23"/>
          <p:cNvSpPr txBox="1"/>
          <p:nvPr/>
        </p:nvSpPr>
        <p:spPr>
          <a:xfrm>
            <a:off x="9625330" y="428043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4. المتطلبات</a:t>
            </a:r>
          </a:p>
        </p:txBody>
      </p:sp>
      <p:sp>
        <p:nvSpPr>
          <p:cNvPr id="25" name="Text 24"/>
          <p:cNvSpPr txBox="1"/>
          <p:nvPr/>
        </p:nvSpPr>
        <p:spPr>
          <a:xfrm>
            <a:off x="4260850" y="4283480"/>
            <a:ext cx="53848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4.1 حسابات مسماة · 4.2 MFA للدخول عن بعد · 4.3 المراجعة الدورية · 4.5 المغادرون.</a:t>
            </a:r>
          </a:p>
        </p:txBody>
      </p:sp>
      <p:sp>
        <p:nvSpPr>
          <p:cNvPr id="26" name="Rule 25"/>
          <p:cNvSpPr/>
          <p:nvPr/>
        </p:nvSpPr>
        <p:spPr>
          <a:xfrm>
            <a:off x="4260850" y="5385495"/>
            <a:ext cx="6883400" cy="6350"/>
          </a:xfrm>
          <a:prstGeom prst="rect">
            <a:avLst/>
          </a:prstGeom>
          <a:solidFill>
            <a:srgbClr val="ECE7DC"/>
          </a:solidFill>
          <a:ln>
            <a:noFill/>
          </a:ln>
        </p:spPr>
        <p:txBody>
          <a:bodyPr rtlCol="0" anchor="ctr"/>
          <a:lstStyle/>
          <a:p>
            <a:pPr algn="ctr"/>
          </a:p>
        </p:txBody>
      </p:sp>
      <p:sp>
        <p:nvSpPr>
          <p:cNvPr id="27" name="Text 26"/>
          <p:cNvSpPr txBox="1"/>
          <p:nvPr/>
        </p:nvSpPr>
        <p:spPr>
          <a:xfrm>
            <a:off x="9625330" y="5016238"/>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5. الاستثناءات</a:t>
            </a:r>
          </a:p>
        </p:txBody>
      </p:sp>
      <p:sp>
        <p:nvSpPr>
          <p:cNvPr id="28" name="Text 27"/>
          <p:cNvSpPr txBox="1"/>
          <p:nvPr/>
        </p:nvSpPr>
        <p:spPr>
          <a:xfrm>
            <a:off x="4260850" y="5019286"/>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بموافقة موثقة من مالك النظام وGRC، ولمدة محددة.</a:t>
            </a:r>
          </a:p>
        </p:txBody>
      </p:sp>
      <p:sp>
        <p:nvSpPr>
          <p:cNvPr id="29" name="Rule 28"/>
          <p:cNvSpPr/>
          <p:nvPr/>
        </p:nvSpPr>
        <p:spPr>
          <a:xfrm>
            <a:off x="4260850" y="6133405"/>
            <a:ext cx="6883400" cy="6350"/>
          </a:xfrm>
          <a:prstGeom prst="rect">
            <a:avLst/>
          </a:prstGeom>
          <a:solidFill>
            <a:srgbClr val="ECE7DC"/>
          </a:solidFill>
          <a:ln>
            <a:noFill/>
          </a:ln>
        </p:spPr>
        <p:txBody>
          <a:bodyPr rtlCol="0" anchor="ctr"/>
          <a:lstStyle/>
          <a:p>
            <a:pPr algn="ctr"/>
          </a:p>
        </p:txBody>
      </p:sp>
      <p:sp>
        <p:nvSpPr>
          <p:cNvPr id="30" name="Text 29"/>
          <p:cNvSpPr txBox="1"/>
          <p:nvPr/>
        </p:nvSpPr>
        <p:spPr>
          <a:xfrm>
            <a:off x="9696450" y="5469569"/>
            <a:ext cx="14478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6. الاعتماد والمراجعة</a:t>
            </a:r>
          </a:p>
        </p:txBody>
      </p:sp>
      <p:sp>
        <p:nvSpPr>
          <p:cNvPr id="31" name="Text 30"/>
          <p:cNvSpPr txBox="1"/>
          <p:nvPr/>
        </p:nvSpPr>
        <p:spPr>
          <a:xfrm>
            <a:off x="4260850" y="5472617"/>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يعتمدها الرئيس التنفيذي، وتُراجع سنوياً أو عند تغيير مهم.</a:t>
            </a:r>
          </a:p>
        </p:txBody>
      </p:sp>
      <p:sp>
        <p:nvSpPr>
          <p:cNvPr id="32" name="Text box 31"/>
          <p:cNvSpPr/>
          <p:nvPr/>
        </p:nvSpPr>
        <p:spPr>
          <a:xfrm>
            <a:off x="35179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33" name="Text 32"/>
          <p:cNvSpPr txBox="1"/>
          <p:nvPr/>
        </p:nvSpPr>
        <p:spPr>
          <a:xfrm>
            <a:off x="604520" y="1639276"/>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0E7C6B"/>
                </a:solidFill>
                <a:latin typeface="IBM Plex Sans Arabic"/>
                <a:ea typeface="IBM Plex Sans Arabic"/>
                <a:cs typeface="IBM Plex Sans Arabic"/>
              </a:rPr>
              <a:t>لماذا ولمن؟</a:t>
            </a:r>
          </a:p>
        </p:txBody>
      </p:sp>
      <p:sp>
        <p:nvSpPr>
          <p:cNvPr id="34" name="Text 33"/>
          <p:cNvSpPr txBox="1"/>
          <p:nvPr/>
        </p:nvSpPr>
        <p:spPr>
          <a:xfrm>
            <a:off x="734695" y="1869722"/>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الغرض والنطاق يحددان ما تغطيه السياسة.</a:t>
            </a:r>
          </a:p>
        </p:txBody>
      </p:sp>
      <p:sp>
        <p:nvSpPr>
          <p:cNvPr id="35" name="Text box 34"/>
          <p:cNvSpPr/>
          <p:nvPr/>
        </p:nvSpPr>
        <p:spPr>
          <a:xfrm>
            <a:off x="3517900" y="2556966"/>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6" name="Text 35"/>
          <p:cNvSpPr txBox="1"/>
          <p:nvPr/>
        </p:nvSpPr>
        <p:spPr>
          <a:xfrm>
            <a:off x="604520" y="2538297"/>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24506B"/>
                </a:solidFill>
                <a:latin typeface="IBM Plex Sans Arabic"/>
                <a:ea typeface="IBM Plex Sans Arabic"/>
                <a:cs typeface="IBM Plex Sans Arabic"/>
              </a:rPr>
              <a:t>من يفعل ماذا؟</a:t>
            </a:r>
          </a:p>
        </p:txBody>
      </p:sp>
      <p:sp>
        <p:nvSpPr>
          <p:cNvPr id="37" name="Text 36"/>
          <p:cNvSpPr txBox="1"/>
          <p:nvPr/>
        </p:nvSpPr>
        <p:spPr>
          <a:xfrm>
            <a:off x="734695" y="2768743"/>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الأدوار بالوظيفة، والمتطلبات ما يُطلب دليله.</a:t>
            </a:r>
          </a:p>
        </p:txBody>
      </p:sp>
      <p:sp>
        <p:nvSpPr>
          <p:cNvPr id="38" name="Text box 37"/>
          <p:cNvSpPr/>
          <p:nvPr/>
        </p:nvSpPr>
        <p:spPr>
          <a:xfrm>
            <a:off x="3517900" y="345598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9" name="Text 38"/>
          <p:cNvSpPr txBox="1"/>
          <p:nvPr/>
        </p:nvSpPr>
        <p:spPr>
          <a:xfrm>
            <a:off x="604520" y="3437318"/>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C27A16"/>
                </a:solidFill>
                <a:latin typeface="IBM Plex Sans Arabic"/>
                <a:ea typeface="IBM Plex Sans Arabic"/>
                <a:cs typeface="IBM Plex Sans Arabic"/>
              </a:rPr>
              <a:t>متى نخرج عنها؟</a:t>
            </a:r>
          </a:p>
        </p:txBody>
      </p:sp>
      <p:sp>
        <p:nvSpPr>
          <p:cNvPr id="40" name="Text 39"/>
          <p:cNvSpPr txBox="1"/>
          <p:nvPr/>
        </p:nvSpPr>
        <p:spPr>
          <a:xfrm>
            <a:off x="604520" y="3667764"/>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استثناء بموافقة ومدة، لا بقرار فردي.</a:t>
            </a:r>
          </a:p>
        </p:txBody>
      </p:sp>
      <p:sp>
        <p:nvSpPr>
          <p:cNvPr id="41" name="Text box 40"/>
          <p:cNvSpPr/>
          <p:nvPr/>
        </p:nvSpPr>
        <p:spPr>
          <a:xfrm>
            <a:off x="3517900" y="4097238"/>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42" name="Text 41"/>
          <p:cNvSpPr txBox="1"/>
          <p:nvPr/>
        </p:nvSpPr>
        <p:spPr>
          <a:xfrm>
            <a:off x="604520" y="4078569"/>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5A3F87"/>
                </a:solidFill>
                <a:latin typeface="IBM Plex Sans Arabic"/>
                <a:ea typeface="IBM Plex Sans Arabic"/>
                <a:cs typeface="IBM Plex Sans Arabic"/>
              </a:rPr>
              <a:t>من يعتمد، ومتى تُراجع؟</a:t>
            </a:r>
          </a:p>
        </p:txBody>
      </p:sp>
      <p:sp>
        <p:nvSpPr>
          <p:cNvPr id="43" name="Text 42"/>
          <p:cNvSpPr txBox="1"/>
          <p:nvPr/>
        </p:nvSpPr>
        <p:spPr>
          <a:xfrm>
            <a:off x="604520" y="4309015"/>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172433"/>
                </a:solidFill>
                <a:latin typeface="IBM Plex Sans Arabic"/>
                <a:ea typeface="IBM Plex Sans Arabic"/>
                <a:cs typeface="IBM Plex Sans Arabic"/>
              </a:rPr>
              <a:t>إصدار وتاريخ وصاحب صلاحية.</a:t>
            </a:r>
          </a:p>
        </p:txBody>
      </p:sp>
      <p:sp>
        <p:nvSpPr>
          <p:cNvPr id="44" name="Text 4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45" name="Text 4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دورة حياة السياسة: سبع مراحل</a:t>
            </a:r>
          </a:p>
        </p:txBody>
      </p:sp>
      <p:sp>
        <p:nvSpPr>
          <p:cNvPr id="5" name="Rule 4"/>
          <p:cNvSpPr/>
          <p:nvPr/>
        </p:nvSpPr>
        <p:spPr>
          <a:xfrm>
            <a:off x="8851900" y="1607145"/>
            <a:ext cx="2527300" cy="31750"/>
          </a:xfrm>
          <a:prstGeom prst="rect">
            <a:avLst/>
          </a:prstGeom>
          <a:solidFill>
            <a:srgbClr val="0E7C6B"/>
          </a:solidFill>
          <a:ln>
            <a:noFill/>
          </a:ln>
        </p:spPr>
        <p:txBody>
          <a:bodyPr rtlCol="0" anchor="ctr"/>
          <a:lstStyle/>
          <a:p>
            <a:pPr algn="ctr"/>
          </a:p>
        </p:txBody>
      </p:sp>
      <p:sp>
        <p:nvSpPr>
          <p:cNvPr id="6" name="Text 5"/>
          <p:cNvSpPr txBox="1"/>
          <p:nvPr/>
        </p:nvSpPr>
        <p:spPr>
          <a:xfrm>
            <a:off x="11016099" y="1992844"/>
            <a:ext cx="32500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877300" y="1762085"/>
            <a:ext cx="2217539"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تحديد الحاجة والمتطلبات</a:t>
            </a:r>
          </a:p>
        </p:txBody>
      </p:sp>
      <p:sp>
        <p:nvSpPr>
          <p:cNvPr id="8" name="Text 7"/>
          <p:cNvSpPr txBox="1"/>
          <p:nvPr/>
        </p:nvSpPr>
        <p:spPr>
          <a:xfrm>
            <a:off x="8877300" y="24567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نظام، أو ضابط، أو خطر، أو حادثة.</a:t>
            </a:r>
          </a:p>
        </p:txBody>
      </p:sp>
      <p:sp>
        <p:nvSpPr>
          <p:cNvPr id="9" name="Rule 8"/>
          <p:cNvSpPr/>
          <p:nvPr/>
        </p:nvSpPr>
        <p:spPr>
          <a:xfrm>
            <a:off x="6172200" y="1607145"/>
            <a:ext cx="2527300" cy="31750"/>
          </a:xfrm>
          <a:prstGeom prst="rect">
            <a:avLst/>
          </a:prstGeom>
          <a:solidFill>
            <a:srgbClr val="0E7C6B"/>
          </a:solidFill>
          <a:ln>
            <a:noFill/>
          </a:ln>
        </p:spPr>
        <p:txBody>
          <a:bodyPr rtlCol="0" anchor="ctr"/>
          <a:lstStyle/>
          <a:p>
            <a:pPr algn="ctr"/>
          </a:p>
        </p:txBody>
      </p:sp>
      <p:sp>
        <p:nvSpPr>
          <p:cNvPr id="10" name="Text 9"/>
          <p:cNvSpPr txBox="1"/>
          <p:nvPr/>
        </p:nvSpPr>
        <p:spPr>
          <a:xfrm>
            <a:off x="8340566" y="1827744"/>
            <a:ext cx="32083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197600" y="1762085"/>
            <a:ext cx="222170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الصياغة</a:t>
            </a:r>
          </a:p>
        </p:txBody>
      </p:sp>
      <p:sp>
        <p:nvSpPr>
          <p:cNvPr id="12" name="Text 11"/>
          <p:cNvSpPr txBox="1"/>
          <p:nvPr/>
        </p:nvSpPr>
        <p:spPr>
          <a:xfrm>
            <a:off x="61976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مسودة بلغة واضحة وقابلة للتدقيق.</a:t>
            </a:r>
          </a:p>
        </p:txBody>
      </p:sp>
      <p:sp>
        <p:nvSpPr>
          <p:cNvPr id="13" name="Rule 12"/>
          <p:cNvSpPr/>
          <p:nvPr/>
        </p:nvSpPr>
        <p:spPr>
          <a:xfrm>
            <a:off x="3492500" y="1607145"/>
            <a:ext cx="2527300" cy="31750"/>
          </a:xfrm>
          <a:prstGeom prst="rect">
            <a:avLst/>
          </a:prstGeom>
          <a:solidFill>
            <a:srgbClr val="0E7C6B"/>
          </a:solidFill>
          <a:ln>
            <a:noFill/>
          </a:ln>
        </p:spPr>
        <p:txBody>
          <a:bodyPr rtlCol="0" anchor="ctr"/>
          <a:lstStyle/>
          <a:p>
            <a:pPr algn="ctr"/>
          </a:p>
        </p:txBody>
      </p:sp>
      <p:sp>
        <p:nvSpPr>
          <p:cNvPr id="14" name="Text 13"/>
          <p:cNvSpPr txBox="1"/>
          <p:nvPr/>
        </p:nvSpPr>
        <p:spPr>
          <a:xfrm>
            <a:off x="5649456" y="1827744"/>
            <a:ext cx="33224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17900" y="1762085"/>
            <a:ext cx="22102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المراجعة</a:t>
            </a:r>
          </a:p>
        </p:txBody>
      </p:sp>
      <p:sp>
        <p:nvSpPr>
          <p:cNvPr id="16" name="Text 15"/>
          <p:cNvSpPr txBox="1"/>
          <p:nvPr/>
        </p:nvSpPr>
        <p:spPr>
          <a:xfrm>
            <a:off x="35179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الإدارات المعنية والقانونية وGRC.</a:t>
            </a:r>
          </a:p>
        </p:txBody>
      </p:sp>
      <p:sp>
        <p:nvSpPr>
          <p:cNvPr id="17" name="Rule 16"/>
          <p:cNvSpPr/>
          <p:nvPr/>
        </p:nvSpPr>
        <p:spPr>
          <a:xfrm>
            <a:off x="812800" y="1607145"/>
            <a:ext cx="2527300" cy="31750"/>
          </a:xfrm>
          <a:prstGeom prst="rect">
            <a:avLst/>
          </a:prstGeom>
          <a:solidFill>
            <a:srgbClr val="0E7C6B"/>
          </a:solidFill>
          <a:ln>
            <a:noFill/>
          </a:ln>
        </p:spPr>
        <p:txBody>
          <a:bodyPr rtlCol="0" anchor="ctr"/>
          <a:lstStyle/>
          <a:p>
            <a:pPr algn="ctr"/>
          </a:p>
        </p:txBody>
      </p:sp>
      <p:sp>
        <p:nvSpPr>
          <p:cNvPr id="18" name="Text 17"/>
          <p:cNvSpPr txBox="1"/>
          <p:nvPr/>
        </p:nvSpPr>
        <p:spPr>
          <a:xfrm>
            <a:off x="2949615" y="1827744"/>
            <a:ext cx="35238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1762085"/>
            <a:ext cx="21901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الاعتماد</a:t>
            </a:r>
          </a:p>
        </p:txBody>
      </p:sp>
      <p:sp>
        <p:nvSpPr>
          <p:cNvPr id="20" name="Text 19"/>
          <p:cNvSpPr txBox="1"/>
          <p:nvPr/>
        </p:nvSpPr>
        <p:spPr>
          <a:xfrm>
            <a:off x="8382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من صاحب الصلاحية، بتاريخ وإصدار.</a:t>
            </a:r>
          </a:p>
        </p:txBody>
      </p:sp>
      <p:sp>
        <p:nvSpPr>
          <p:cNvPr id="21" name="Rule 20"/>
          <p:cNvSpPr/>
          <p:nvPr/>
        </p:nvSpPr>
        <p:spPr>
          <a:xfrm>
            <a:off x="8842375" y="3550245"/>
            <a:ext cx="2536825" cy="31750"/>
          </a:xfrm>
          <a:prstGeom prst="rect">
            <a:avLst/>
          </a:prstGeom>
          <a:solidFill>
            <a:srgbClr val="0E7C6B"/>
          </a:solidFill>
          <a:ln>
            <a:noFill/>
          </a:ln>
        </p:spPr>
        <p:txBody>
          <a:bodyPr rtlCol="0" anchor="ctr"/>
          <a:lstStyle/>
          <a:p>
            <a:pPr algn="ctr"/>
          </a:p>
        </p:txBody>
      </p:sp>
      <p:sp>
        <p:nvSpPr>
          <p:cNvPr id="22" name="Text 21"/>
          <p:cNvSpPr txBox="1"/>
          <p:nvPr/>
        </p:nvSpPr>
        <p:spPr>
          <a:xfrm>
            <a:off x="11007169" y="3770844"/>
            <a:ext cx="33393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23" name="Text 22"/>
          <p:cNvSpPr txBox="1"/>
          <p:nvPr/>
        </p:nvSpPr>
        <p:spPr>
          <a:xfrm>
            <a:off x="8867775" y="3705185"/>
            <a:ext cx="22181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النشر</a:t>
            </a:r>
          </a:p>
        </p:txBody>
      </p:sp>
      <p:sp>
        <p:nvSpPr>
          <p:cNvPr id="24" name="Text 23"/>
          <p:cNvSpPr txBox="1"/>
          <p:nvPr/>
        </p:nvSpPr>
        <p:spPr>
          <a:xfrm>
            <a:off x="8867775" y="4069675"/>
            <a:ext cx="247332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لمن تنطبق عليهم، مع توعية.</a:t>
            </a:r>
          </a:p>
        </p:txBody>
      </p:sp>
      <p:sp>
        <p:nvSpPr>
          <p:cNvPr id="25" name="Rule 24"/>
          <p:cNvSpPr/>
          <p:nvPr/>
        </p:nvSpPr>
        <p:spPr>
          <a:xfrm>
            <a:off x="6153150" y="3550245"/>
            <a:ext cx="2536825" cy="31750"/>
          </a:xfrm>
          <a:prstGeom prst="rect">
            <a:avLst/>
          </a:prstGeom>
          <a:solidFill>
            <a:srgbClr val="0E7C6B"/>
          </a:solidFill>
          <a:ln>
            <a:noFill/>
          </a:ln>
        </p:spPr>
        <p:txBody>
          <a:bodyPr rtlCol="0" anchor="ctr"/>
          <a:lstStyle/>
          <a:p>
            <a:pPr algn="ctr"/>
          </a:p>
        </p:txBody>
      </p:sp>
      <p:sp>
        <p:nvSpPr>
          <p:cNvPr id="26" name="Text 25"/>
          <p:cNvSpPr txBox="1"/>
          <p:nvPr/>
        </p:nvSpPr>
        <p:spPr>
          <a:xfrm>
            <a:off x="8323005" y="3770844"/>
            <a:ext cx="32887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6</a:t>
            </a:r>
          </a:p>
        </p:txBody>
      </p:sp>
      <p:sp>
        <p:nvSpPr>
          <p:cNvPr id="27" name="Text 26"/>
          <p:cNvSpPr txBox="1"/>
          <p:nvPr/>
        </p:nvSpPr>
        <p:spPr>
          <a:xfrm>
            <a:off x="6178550" y="3705185"/>
            <a:ext cx="222319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التطبيق</a:t>
            </a:r>
          </a:p>
        </p:txBody>
      </p:sp>
      <p:sp>
        <p:nvSpPr>
          <p:cNvPr id="28" name="Text 27"/>
          <p:cNvSpPr txBox="1"/>
          <p:nvPr/>
        </p:nvSpPr>
        <p:spPr>
          <a:xfrm>
            <a:off x="6178550" y="4069675"/>
            <a:ext cx="2473325"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إجراءات وضوابط وأدلة.</a:t>
            </a:r>
          </a:p>
        </p:txBody>
      </p:sp>
      <p:sp>
        <p:nvSpPr>
          <p:cNvPr id="29" name="Rule 28"/>
          <p:cNvSpPr/>
          <p:nvPr/>
        </p:nvSpPr>
        <p:spPr>
          <a:xfrm>
            <a:off x="3463925" y="3550245"/>
            <a:ext cx="2536825" cy="31750"/>
          </a:xfrm>
          <a:prstGeom prst="rect">
            <a:avLst/>
          </a:prstGeom>
          <a:solidFill>
            <a:srgbClr val="0E7C6B"/>
          </a:solidFill>
          <a:ln>
            <a:noFill/>
          </a:ln>
        </p:spPr>
        <p:txBody>
          <a:bodyPr rtlCol="0" anchor="ctr"/>
          <a:lstStyle/>
          <a:p>
            <a:pPr algn="ctr"/>
          </a:p>
        </p:txBody>
      </p:sp>
      <p:sp>
        <p:nvSpPr>
          <p:cNvPr id="30" name="Text 29"/>
          <p:cNvSpPr txBox="1"/>
          <p:nvPr/>
        </p:nvSpPr>
        <p:spPr>
          <a:xfrm>
            <a:off x="5639931" y="3770844"/>
            <a:ext cx="322719"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7</a:t>
            </a:r>
          </a:p>
        </p:txBody>
      </p:sp>
      <p:sp>
        <p:nvSpPr>
          <p:cNvPr id="31" name="Text 30"/>
          <p:cNvSpPr txBox="1"/>
          <p:nvPr/>
        </p:nvSpPr>
        <p:spPr>
          <a:xfrm>
            <a:off x="3489325" y="3705185"/>
            <a:ext cx="222934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المراجعة الدورية</a:t>
            </a:r>
          </a:p>
        </p:txBody>
      </p:sp>
      <p:sp>
        <p:nvSpPr>
          <p:cNvPr id="32" name="Text 31"/>
          <p:cNvSpPr txBox="1"/>
          <p:nvPr/>
        </p:nvSpPr>
        <p:spPr>
          <a:xfrm>
            <a:off x="3489325" y="4069675"/>
            <a:ext cx="2473325"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سنوياً أو عند التغيير.</a:t>
            </a:r>
          </a:p>
        </p:txBody>
      </p:sp>
      <p:sp>
        <p:nvSpPr>
          <p:cNvPr id="33" name="Box 32"/>
          <p:cNvSpPr/>
          <p:nvPr/>
        </p:nvSpPr>
        <p:spPr>
          <a:xfrm>
            <a:off x="822325" y="3559770"/>
            <a:ext cx="2479675" cy="1308100"/>
          </a:xfrm>
          <a:prstGeom prst="roundRect">
            <a:avLst>
              <a:gd name="adj" fmla="val 8612"/>
            </a:avLst>
          </a:prstGeom>
          <a:noFill/>
          <a:ln w="19050">
            <a:solidFill>
              <a:srgbClr val="9FD1C5"/>
            </a:solidFill>
            <a:prstDash val="dash"/>
          </a:ln>
        </p:spPr>
        <p:txBody>
          <a:bodyPr rtlCol="0" anchor="ctr"/>
          <a:lstStyle/>
          <a:p>
            <a:pPr algn="ctr"/>
          </a:p>
        </p:txBody>
      </p:sp>
      <p:sp>
        <p:nvSpPr>
          <p:cNvPr id="34" name="Text 33"/>
          <p:cNvSpPr txBox="1"/>
          <p:nvPr/>
        </p:nvSpPr>
        <p:spPr>
          <a:xfrm>
            <a:off x="831850" y="3818850"/>
            <a:ext cx="24606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ثم تعود الدورة من البداية</a:t>
            </a:r>
          </a:p>
        </p:txBody>
      </p:sp>
      <p:sp>
        <p:nvSpPr>
          <p:cNvPr id="35" name="Text 34"/>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سياسة التحكم بالوصول تُراجع سنوياً، أو فوراً عند تغيير نظام مهم مثل ترحيل نظام الرواتب.</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أمن العاملين: الانضمام وتغيير الدور والمغادرة</a:t>
            </a:r>
          </a:p>
        </p:txBody>
      </p:sp>
      <p:sp>
        <p:nvSpPr>
          <p:cNvPr id="5" name="Rule 4"/>
          <p:cNvSpPr/>
          <p:nvPr/>
        </p:nvSpPr>
        <p:spPr>
          <a:xfrm>
            <a:off x="8097540" y="16325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Readex Pro"/>
                <a:ea typeface="Readex Pro"/>
                <a:cs typeface="Readex Pro"/>
              </a:rPr>
              <a:t>الانضمام</a:t>
            </a:r>
          </a:p>
        </p:txBody>
      </p:sp>
      <p:sp>
        <p:nvSpPr>
          <p:cNvPr id="7" name="Text 6"/>
          <p:cNvSpPr txBox="1"/>
          <p:nvPr/>
        </p:nvSpPr>
        <p:spPr>
          <a:xfrm>
            <a:off x="8122940" y="2194647"/>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بنود المسؤوليات والسرية في العقد، وتوعية عند البدء، وصلاحيات حسب الدور.</a:t>
            </a:r>
          </a:p>
        </p:txBody>
      </p:sp>
      <p:sp>
        <p:nvSpPr>
          <p:cNvPr id="8" name="Text 7"/>
          <p:cNvSpPr txBox="1"/>
          <p:nvPr/>
        </p:nvSpPr>
        <p:spPr>
          <a:xfrm>
            <a:off x="8122940" y="3269591"/>
            <a:ext cx="321816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لا يحصل الموظف الجديد على حساب الرواتب قبل طلب معتمد من مديره.</a:t>
            </a:r>
          </a:p>
        </p:txBody>
      </p:sp>
      <p:sp>
        <p:nvSpPr>
          <p:cNvPr id="9" name="Text box 8"/>
          <p:cNvSpPr/>
          <p:nvPr/>
        </p:nvSpPr>
        <p:spPr>
          <a:xfrm>
            <a:off x="8135640" y="4266109"/>
            <a:ext cx="3205460" cy="659011"/>
          </a:xfrm>
          <a:prstGeom prst="rect">
            <a:avLst/>
          </a:prstGeom>
          <a:noFill/>
          <a:ln>
            <a:noFill/>
          </a:ln>
        </p:spPr>
        <p:txBody>
          <a:bodyPr rtlCol="0" anchor="ctr" wrap="square" tIns="33274" rIns="0" bIns="36576" lIns="0" anchorCtr="0">
            <a:noAutofit/>
          </a:bodyPr>
          <a:lstStyle/>
          <a:p>
            <a:pPr algn="r" rtl="1">
              <a:lnSpc>
                <a:spcPts val="2320"/>
              </a:lnSpc>
              <a:spcBef>
                <a:spcPts val="0"/>
              </a:spcBef>
              <a:spcAft>
                <a:spcPts val="0"/>
              </a:spcAft>
            </a:pPr>
            <a:r>
              <a:rPr sz="1600" b="1" i="0">
                <a:solidFill>
                  <a:srgbClr val="172433"/>
                </a:solidFill>
                <a:latin typeface="IBM Plex Sans Arabic"/>
                <a:ea typeface="IBM Plex Sans Arabic"/>
                <a:cs typeface="IBM Plex Sans Arabic"/>
              </a:rPr>
              <a:t>الدليل: عقد موقّع، وسجل إكمال التوعية، وطلب الصلاحيات.</a:t>
            </a:r>
          </a:p>
        </p:txBody>
      </p:sp>
      <p:sp>
        <p:nvSpPr>
          <p:cNvPr id="10" name="Rule 9"/>
          <p:cNvSpPr/>
          <p:nvPr/>
        </p:nvSpPr>
        <p:spPr>
          <a:xfrm>
            <a:off x="8135640" y="4266109"/>
            <a:ext cx="3205460" cy="6350"/>
          </a:xfrm>
          <a:prstGeom prst="rect">
            <a:avLst/>
          </a:prstGeom>
          <a:solidFill>
            <a:srgbClr val="E1DBCD"/>
          </a:solidFill>
          <a:ln>
            <a:noFill/>
          </a:ln>
        </p:spPr>
        <p:txBody>
          <a:bodyPr rtlCol="0" anchor="ctr"/>
          <a:lstStyle/>
          <a:p>
            <a:pPr algn="ctr"/>
          </a:p>
        </p:txBody>
      </p:sp>
      <p:sp>
        <p:nvSpPr>
          <p:cNvPr id="11" name="Text 10"/>
          <p:cNvSpPr txBox="1"/>
          <p:nvPr/>
        </p:nvSpPr>
        <p:spPr>
          <a:xfrm>
            <a:off x="7660580" y="317591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2" name="Rule 11"/>
          <p:cNvSpPr/>
          <p:nvPr/>
        </p:nvSpPr>
        <p:spPr>
          <a:xfrm>
            <a:off x="4455120" y="1632545"/>
            <a:ext cx="3281660" cy="31750"/>
          </a:xfrm>
          <a:prstGeom prst="rect">
            <a:avLst/>
          </a:prstGeom>
          <a:solidFill>
            <a:srgbClr val="24506B"/>
          </a:solidFill>
          <a:ln>
            <a:noFill/>
          </a:ln>
        </p:spPr>
        <p:txBody>
          <a:bodyPr rtlCol="0" anchor="ctr"/>
          <a:lstStyle/>
          <a:p>
            <a:pPr algn="ctr"/>
          </a:p>
        </p:txBody>
      </p:sp>
      <p:sp>
        <p:nvSpPr>
          <p:cNvPr id="13" name="Text 12"/>
          <p:cNvSpPr txBox="1"/>
          <p:nvPr/>
        </p:nvSpPr>
        <p:spPr>
          <a:xfrm>
            <a:off x="448052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Readex Pro"/>
                <a:ea typeface="Readex Pro"/>
                <a:cs typeface="Readex Pro"/>
              </a:rPr>
              <a:t>تغيير الدور</a:t>
            </a:r>
          </a:p>
        </p:txBody>
      </p:sp>
      <p:sp>
        <p:nvSpPr>
          <p:cNvPr id="14" name="Text 13"/>
          <p:cNvSpPr txBox="1"/>
          <p:nvPr/>
        </p:nvSpPr>
        <p:spPr>
          <a:xfrm>
            <a:off x="4480520"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تُضاف صلاحيات الدور الجديد، وتُزال صلاحيات القديم في الوقت نفسه.</a:t>
            </a:r>
          </a:p>
        </p:txBody>
      </p:sp>
      <p:sp>
        <p:nvSpPr>
          <p:cNvPr id="15" name="Text 14"/>
          <p:cNvSpPr txBox="1"/>
          <p:nvPr/>
        </p:nvSpPr>
        <p:spPr>
          <a:xfrm>
            <a:off x="4480520" y="2938201"/>
            <a:ext cx="321816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سعد الدوسري انتقل إلى العمليات في فبراير، وبقيت معه صلاحية «تعديل الرواتب» حتى 20 مايو.</a:t>
            </a:r>
          </a:p>
        </p:txBody>
      </p:sp>
      <p:sp>
        <p:nvSpPr>
          <p:cNvPr id="16" name="Text box 15"/>
          <p:cNvSpPr/>
          <p:nvPr/>
        </p:nvSpPr>
        <p:spPr>
          <a:xfrm>
            <a:off x="4493220" y="3934718"/>
            <a:ext cx="3205460" cy="659011"/>
          </a:xfrm>
          <a:prstGeom prst="rect">
            <a:avLst/>
          </a:prstGeom>
          <a:noFill/>
          <a:ln>
            <a:noFill/>
          </a:ln>
        </p:spPr>
        <p:txBody>
          <a:bodyPr rtlCol="0" anchor="ctr" wrap="square" tIns="33274" rIns="0" bIns="36576" lIns="0" anchorCtr="0">
            <a:noAutofit/>
          </a:bodyPr>
          <a:lstStyle/>
          <a:p>
            <a:pPr algn="r" rtl="1">
              <a:lnSpc>
                <a:spcPts val="2320"/>
              </a:lnSpc>
              <a:spcBef>
                <a:spcPts val="0"/>
              </a:spcBef>
              <a:spcAft>
                <a:spcPts val="0"/>
              </a:spcAft>
            </a:pPr>
            <a:r>
              <a:rPr sz="1600" b="1" i="0">
                <a:solidFill>
                  <a:srgbClr val="172433"/>
                </a:solidFill>
                <a:latin typeface="IBM Plex Sans Arabic"/>
                <a:ea typeface="IBM Plex Sans Arabic"/>
                <a:cs typeface="IBM Plex Sans Arabic"/>
              </a:rPr>
              <a:t>الدليل: طلب النقل، وتذكرة تعديل الصلاحيات بتاريخها.</a:t>
            </a:r>
          </a:p>
        </p:txBody>
      </p:sp>
      <p:sp>
        <p:nvSpPr>
          <p:cNvPr id="17" name="Rule 16"/>
          <p:cNvSpPr/>
          <p:nvPr/>
        </p:nvSpPr>
        <p:spPr>
          <a:xfrm>
            <a:off x="4493220" y="3934718"/>
            <a:ext cx="3205460" cy="6350"/>
          </a:xfrm>
          <a:prstGeom prst="rect">
            <a:avLst/>
          </a:prstGeom>
          <a:solidFill>
            <a:srgbClr val="E1DBCD"/>
          </a:solidFill>
          <a:ln>
            <a:noFill/>
          </a:ln>
        </p:spPr>
        <p:txBody>
          <a:bodyPr rtlCol="0" anchor="ctr"/>
          <a:lstStyle/>
          <a:p>
            <a:pPr algn="ctr"/>
          </a:p>
        </p:txBody>
      </p:sp>
      <p:sp>
        <p:nvSpPr>
          <p:cNvPr id="18" name="Text 17"/>
          <p:cNvSpPr txBox="1"/>
          <p:nvPr/>
        </p:nvSpPr>
        <p:spPr>
          <a:xfrm>
            <a:off x="4018161" y="317591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Rule 18"/>
          <p:cNvSpPr/>
          <p:nvPr/>
        </p:nvSpPr>
        <p:spPr>
          <a:xfrm>
            <a:off x="812701" y="1632545"/>
            <a:ext cx="3281660" cy="31750"/>
          </a:xfrm>
          <a:prstGeom prst="rect">
            <a:avLst/>
          </a:prstGeom>
          <a:solidFill>
            <a:srgbClr val="8A4B12"/>
          </a:solidFill>
          <a:ln>
            <a:noFill/>
          </a:ln>
        </p:spPr>
        <p:txBody>
          <a:bodyPr rtlCol="0" anchor="ctr"/>
          <a:lstStyle/>
          <a:p>
            <a:pPr algn="ctr"/>
          </a:p>
        </p:txBody>
      </p:sp>
      <p:sp>
        <p:nvSpPr>
          <p:cNvPr id="20" name="Text 19"/>
          <p:cNvSpPr txBox="1"/>
          <p:nvPr/>
        </p:nvSpPr>
        <p:spPr>
          <a:xfrm>
            <a:off x="838101"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Readex Pro"/>
                <a:ea typeface="Readex Pro"/>
                <a:cs typeface="Readex Pro"/>
              </a:rPr>
              <a:t>المغادرة</a:t>
            </a:r>
          </a:p>
        </p:txBody>
      </p:sp>
      <p:sp>
        <p:nvSpPr>
          <p:cNvPr id="21" name="Text 20"/>
          <p:cNvSpPr txBox="1"/>
          <p:nvPr/>
        </p:nvSpPr>
        <p:spPr>
          <a:xfrm>
            <a:off x="838101"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مراجعة الصلاحيات وإلغاؤها مباشرة، واستعادة الأصول، وتذكير بالسرية.</a:t>
            </a:r>
          </a:p>
        </p:txBody>
      </p:sp>
      <p:sp>
        <p:nvSpPr>
          <p:cNvPr id="22" name="Text 21"/>
          <p:cNvSpPr txBox="1"/>
          <p:nvPr/>
        </p:nvSpPr>
        <p:spPr>
          <a:xfrm>
            <a:off x="838101" y="2938201"/>
            <a:ext cx="321816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هذا موضوع التطبيق 1: من يُبلَّغ، ومن يلغي، ومن يتحقق.</a:t>
            </a:r>
          </a:p>
        </p:txBody>
      </p:sp>
      <p:sp>
        <p:nvSpPr>
          <p:cNvPr id="23" name="Text box 22"/>
          <p:cNvSpPr/>
          <p:nvPr/>
        </p:nvSpPr>
        <p:spPr>
          <a:xfrm>
            <a:off x="850801" y="3640138"/>
            <a:ext cx="3205460" cy="659011"/>
          </a:xfrm>
          <a:prstGeom prst="rect">
            <a:avLst/>
          </a:prstGeom>
          <a:noFill/>
          <a:ln>
            <a:noFill/>
          </a:ln>
        </p:spPr>
        <p:txBody>
          <a:bodyPr rtlCol="0" anchor="ctr" wrap="square" tIns="33274" rIns="0" bIns="36576" lIns="0" anchorCtr="0">
            <a:noAutofit/>
          </a:bodyPr>
          <a:lstStyle/>
          <a:p>
            <a:pPr algn="r" rtl="1">
              <a:lnSpc>
                <a:spcPts val="2320"/>
              </a:lnSpc>
              <a:spcBef>
                <a:spcPts val="0"/>
              </a:spcBef>
              <a:spcAft>
                <a:spcPts val="0"/>
              </a:spcAft>
            </a:pPr>
            <a:r>
              <a:rPr sz="1600" b="1" i="0">
                <a:solidFill>
                  <a:srgbClr val="172433"/>
                </a:solidFill>
                <a:latin typeface="IBM Plex Sans Arabic"/>
                <a:ea typeface="IBM Plex Sans Arabic"/>
                <a:cs typeface="IBM Plex Sans Arabic"/>
              </a:rPr>
              <a:t>الدليل: إشعار الموارد البشرية، وتذاكر الإلغاء، ومحضر استلام الأصول.</a:t>
            </a:r>
          </a:p>
        </p:txBody>
      </p:sp>
      <p:sp>
        <p:nvSpPr>
          <p:cNvPr id="24" name="Rule 23"/>
          <p:cNvSpPr/>
          <p:nvPr/>
        </p:nvSpPr>
        <p:spPr>
          <a:xfrm>
            <a:off x="850801" y="3640138"/>
            <a:ext cx="3205460" cy="6350"/>
          </a:xfrm>
          <a:prstGeom prst="rect">
            <a:avLst/>
          </a:prstGeom>
          <a:solidFill>
            <a:srgbClr val="E1DBCD"/>
          </a:solidFill>
          <a:ln>
            <a:noFill/>
          </a:ln>
        </p:spPr>
        <p:txBody>
          <a:bodyPr rtlCol="0" anchor="ctr"/>
          <a:lstStyle/>
          <a:p>
            <a:pPr algn="ctr"/>
          </a:p>
        </p:txBody>
      </p:sp>
      <p:sp>
        <p:nvSpPr>
          <p:cNvPr id="25" name="Box 24"/>
          <p:cNvSpPr/>
          <p:nvPr/>
        </p:nvSpPr>
        <p:spPr>
          <a:xfrm>
            <a:off x="812800" y="5115620"/>
            <a:ext cx="10566400" cy="573980"/>
          </a:xfrm>
          <a:prstGeom prst="roundRect">
            <a:avLst>
              <a:gd name="adj" fmla="val 17700"/>
            </a:avLst>
          </a:prstGeom>
          <a:solidFill>
            <a:srgbClr val="E3F1ED"/>
          </a:solidFill>
          <a:ln>
            <a:noFill/>
          </a:ln>
        </p:spPr>
        <p:txBody>
          <a:bodyPr rtlCol="0" anchor="ctr"/>
          <a:lstStyle/>
          <a:p>
            <a:pPr algn="ctr"/>
          </a:p>
        </p:txBody>
      </p:sp>
      <p:pic>
        <p:nvPicPr>
          <p:cNvPr id="26" name="Icon Lightbulb 25" descr="icon012.png"/>
          <p:cNvPicPr>
            <a:picLocks noChangeAspect="1"/>
          </p:cNvPicPr>
          <p:nvPr/>
        </p:nvPicPr>
        <p:blipFill>
          <a:blip r:embed="rId2"/>
          <a:stretch>
            <a:fillRect/>
          </a:stretch>
        </p:blipFill>
        <p:spPr>
          <a:xfrm>
            <a:off x="10972800" y="5288260"/>
            <a:ext cx="228600" cy="228600"/>
          </a:xfrm>
          <a:prstGeom prst="rect">
            <a:avLst/>
          </a:prstGeom>
        </p:spPr>
      </p:pic>
      <p:sp>
        <p:nvSpPr>
          <p:cNvPr id="27" name="Text 26"/>
          <p:cNvSpPr txBox="1"/>
          <p:nvPr/>
        </p:nvSpPr>
        <p:spPr>
          <a:xfrm>
            <a:off x="838200" y="5207187"/>
            <a:ext cx="100203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التوعية ليست محاضرة سنوية فقط: عند الانضمام وخلال العمل، ويُقاس إكمالها.</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مصفوفة RACI: أربعة حروف قبل أن نبدأ</a:t>
            </a:r>
          </a:p>
        </p:txBody>
      </p:sp>
      <p:sp>
        <p:nvSpPr>
          <p:cNvPr id="5" name="Box 4"/>
          <p:cNvSpPr/>
          <p:nvPr/>
        </p:nvSpPr>
        <p:spPr>
          <a:xfrm>
            <a:off x="6172200" y="1657945"/>
            <a:ext cx="5207000" cy="1504950"/>
          </a:xfrm>
          <a:prstGeom prst="roundRect">
            <a:avLst>
              <a:gd name="adj" fmla="val 7594"/>
            </a:avLst>
          </a:prstGeom>
          <a:solidFill>
            <a:srgbClr val="FFFDF8"/>
          </a:solidFill>
          <a:ln>
            <a:noFill/>
          </a:ln>
        </p:spPr>
        <p:txBody>
          <a:bodyPr rtlCol="0" anchor="ctr"/>
          <a:lstStyle/>
          <a:p>
            <a:pPr algn="ctr"/>
          </a:p>
        </p:txBody>
      </p:sp>
      <p:sp>
        <p:nvSpPr>
          <p:cNvPr id="6" name="Rule 5"/>
          <p:cNvSpPr/>
          <p:nvPr/>
        </p:nvSpPr>
        <p:spPr>
          <a:xfrm>
            <a:off x="6172200" y="1657945"/>
            <a:ext cx="5207000" cy="50800"/>
          </a:xfrm>
          <a:prstGeom prst="rect">
            <a:avLst/>
          </a:prstGeom>
          <a:solidFill>
            <a:srgbClr val="0E7C6B"/>
          </a:solidFill>
          <a:ln>
            <a:noFill/>
          </a:ln>
        </p:spPr>
        <p:txBody>
          <a:bodyPr rtlCol="0" anchor="ctr"/>
          <a:lstStyle/>
          <a:p>
            <a:pPr algn="ctr"/>
          </a:p>
        </p:txBody>
      </p:sp>
      <p:sp>
        <p:nvSpPr>
          <p:cNvPr id="7" name="Text 6"/>
          <p:cNvSpPr txBox="1"/>
          <p:nvPr/>
        </p:nvSpPr>
        <p:spPr>
          <a:xfrm>
            <a:off x="10319246" y="1930519"/>
            <a:ext cx="869454"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0E7C6B"/>
                </a:solidFill>
                <a:latin typeface="Readex Pro"/>
                <a:ea typeface="Readex Pro"/>
                <a:cs typeface="Readex Pro"/>
              </a:rPr>
              <a:t>R</a:t>
            </a:r>
          </a:p>
        </p:txBody>
      </p:sp>
      <p:sp>
        <p:nvSpPr>
          <p:cNvPr id="8" name="Text 7"/>
          <p:cNvSpPr txBox="1"/>
          <p:nvPr/>
        </p:nvSpPr>
        <p:spPr>
          <a:xfrm>
            <a:off x="6197600" y="1894840"/>
            <a:ext cx="439469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المنفّذ</a:t>
            </a:r>
          </a:p>
        </p:txBody>
      </p:sp>
      <p:sp>
        <p:nvSpPr>
          <p:cNvPr id="9" name="Text 8"/>
          <p:cNvSpPr txBox="1"/>
          <p:nvPr/>
        </p:nvSpPr>
        <p:spPr>
          <a:xfrm>
            <a:off x="6197600" y="2222627"/>
            <a:ext cx="4394696"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Responsible</a:t>
            </a:r>
          </a:p>
        </p:txBody>
      </p:sp>
      <p:sp>
        <p:nvSpPr>
          <p:cNvPr id="10" name="Text 9"/>
          <p:cNvSpPr txBox="1"/>
          <p:nvPr/>
        </p:nvSpPr>
        <p:spPr>
          <a:xfrm>
            <a:off x="6197600" y="258377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من يقوم بالعمل فعلاً. قد يكونون أكثر من واحد.</a:t>
            </a:r>
          </a:p>
        </p:txBody>
      </p:sp>
      <p:sp>
        <p:nvSpPr>
          <p:cNvPr id="11" name="Box 10"/>
          <p:cNvSpPr/>
          <p:nvPr/>
        </p:nvSpPr>
        <p:spPr>
          <a:xfrm>
            <a:off x="6172200" y="3289895"/>
            <a:ext cx="5207000" cy="1504950"/>
          </a:xfrm>
          <a:prstGeom prst="roundRect">
            <a:avLst>
              <a:gd name="adj" fmla="val 7594"/>
            </a:avLst>
          </a:prstGeom>
          <a:solidFill>
            <a:srgbClr val="FFFDF8"/>
          </a:solidFill>
          <a:ln>
            <a:noFill/>
          </a:ln>
        </p:spPr>
        <p:txBody>
          <a:bodyPr rtlCol="0" anchor="ctr"/>
          <a:lstStyle/>
          <a:p>
            <a:pPr algn="ctr"/>
          </a:p>
        </p:txBody>
      </p:sp>
      <p:sp>
        <p:nvSpPr>
          <p:cNvPr id="12" name="Rule 11"/>
          <p:cNvSpPr/>
          <p:nvPr/>
        </p:nvSpPr>
        <p:spPr>
          <a:xfrm>
            <a:off x="6172200" y="3289895"/>
            <a:ext cx="5207000" cy="50800"/>
          </a:xfrm>
          <a:prstGeom prst="rect">
            <a:avLst/>
          </a:prstGeom>
          <a:solidFill>
            <a:srgbClr val="B4412C"/>
          </a:solidFill>
          <a:ln>
            <a:noFill/>
          </a:ln>
        </p:spPr>
        <p:txBody>
          <a:bodyPr rtlCol="0" anchor="ctr"/>
          <a:lstStyle/>
          <a:p>
            <a:pPr algn="ctr"/>
          </a:p>
        </p:txBody>
      </p:sp>
      <p:sp>
        <p:nvSpPr>
          <p:cNvPr id="13" name="Text 12"/>
          <p:cNvSpPr txBox="1"/>
          <p:nvPr/>
        </p:nvSpPr>
        <p:spPr>
          <a:xfrm>
            <a:off x="10323909" y="3562469"/>
            <a:ext cx="864791"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B4412C"/>
                </a:solidFill>
                <a:latin typeface="Readex Pro"/>
                <a:ea typeface="Readex Pro"/>
                <a:cs typeface="Readex Pro"/>
              </a:rPr>
              <a:t>A</a:t>
            </a:r>
          </a:p>
        </p:txBody>
      </p:sp>
      <p:sp>
        <p:nvSpPr>
          <p:cNvPr id="14" name="Text 13"/>
          <p:cNvSpPr txBox="1"/>
          <p:nvPr/>
        </p:nvSpPr>
        <p:spPr>
          <a:xfrm>
            <a:off x="6197600" y="3526790"/>
            <a:ext cx="439935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المساءَل</a:t>
            </a:r>
          </a:p>
        </p:txBody>
      </p:sp>
      <p:sp>
        <p:nvSpPr>
          <p:cNvPr id="15" name="Text 14"/>
          <p:cNvSpPr txBox="1"/>
          <p:nvPr/>
        </p:nvSpPr>
        <p:spPr>
          <a:xfrm>
            <a:off x="6197600" y="3854577"/>
            <a:ext cx="4399359"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Accountable</a:t>
            </a:r>
          </a:p>
        </p:txBody>
      </p:sp>
      <p:sp>
        <p:nvSpPr>
          <p:cNvPr id="16" name="Text 15"/>
          <p:cNvSpPr txBox="1"/>
          <p:nvPr/>
        </p:nvSpPr>
        <p:spPr>
          <a:xfrm>
            <a:off x="6197600" y="421572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من يحاسَب على النتيجة ويعتمدها. واحد فقط.</a:t>
            </a:r>
          </a:p>
        </p:txBody>
      </p:sp>
      <p:sp>
        <p:nvSpPr>
          <p:cNvPr id="17" name="Box 16"/>
          <p:cNvSpPr/>
          <p:nvPr/>
        </p:nvSpPr>
        <p:spPr>
          <a:xfrm>
            <a:off x="812800" y="1657945"/>
            <a:ext cx="5207000" cy="1504950"/>
          </a:xfrm>
          <a:prstGeom prst="roundRect">
            <a:avLst>
              <a:gd name="adj" fmla="val 7594"/>
            </a:avLst>
          </a:prstGeom>
          <a:solidFill>
            <a:srgbClr val="FFFDF8"/>
          </a:solidFill>
          <a:ln>
            <a:noFill/>
          </a:ln>
        </p:spPr>
        <p:txBody>
          <a:bodyPr rtlCol="0" anchor="ctr"/>
          <a:lstStyle/>
          <a:p>
            <a:pPr algn="ctr"/>
          </a:p>
        </p:txBody>
      </p:sp>
      <p:sp>
        <p:nvSpPr>
          <p:cNvPr id="18" name="Rule 17"/>
          <p:cNvSpPr/>
          <p:nvPr/>
        </p:nvSpPr>
        <p:spPr>
          <a:xfrm>
            <a:off x="812800" y="1657945"/>
            <a:ext cx="5207000" cy="50800"/>
          </a:xfrm>
          <a:prstGeom prst="rect">
            <a:avLst/>
          </a:prstGeom>
          <a:solidFill>
            <a:srgbClr val="24506B"/>
          </a:solidFill>
          <a:ln>
            <a:noFill/>
          </a:ln>
        </p:spPr>
        <p:txBody>
          <a:bodyPr rtlCol="0" anchor="ctr"/>
          <a:lstStyle/>
          <a:p>
            <a:pPr algn="ctr"/>
          </a:p>
        </p:txBody>
      </p:sp>
      <p:sp>
        <p:nvSpPr>
          <p:cNvPr id="19" name="Text 18"/>
          <p:cNvSpPr txBox="1"/>
          <p:nvPr/>
        </p:nvSpPr>
        <p:spPr>
          <a:xfrm>
            <a:off x="4967188" y="1930519"/>
            <a:ext cx="862112"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24506B"/>
                </a:solidFill>
                <a:latin typeface="Readex Pro"/>
                <a:ea typeface="Readex Pro"/>
                <a:cs typeface="Readex Pro"/>
              </a:rPr>
              <a:t>C</a:t>
            </a:r>
          </a:p>
        </p:txBody>
      </p:sp>
      <p:sp>
        <p:nvSpPr>
          <p:cNvPr id="20" name="Text 19"/>
          <p:cNvSpPr txBox="1"/>
          <p:nvPr/>
        </p:nvSpPr>
        <p:spPr>
          <a:xfrm>
            <a:off x="838200" y="1894840"/>
            <a:ext cx="440203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المستشار</a:t>
            </a:r>
          </a:p>
        </p:txBody>
      </p:sp>
      <p:sp>
        <p:nvSpPr>
          <p:cNvPr id="21" name="Text 20"/>
          <p:cNvSpPr txBox="1"/>
          <p:nvPr/>
        </p:nvSpPr>
        <p:spPr>
          <a:xfrm>
            <a:off x="838200" y="2222627"/>
            <a:ext cx="4402038"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Consulted</a:t>
            </a:r>
          </a:p>
        </p:txBody>
      </p:sp>
      <p:sp>
        <p:nvSpPr>
          <p:cNvPr id="22" name="Text 21"/>
          <p:cNvSpPr txBox="1"/>
          <p:nvPr/>
        </p:nvSpPr>
        <p:spPr>
          <a:xfrm>
            <a:off x="838200" y="258377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يؤخذ رأيه قبل التنفيذ: تواصل باتجاهين.</a:t>
            </a:r>
          </a:p>
        </p:txBody>
      </p:sp>
      <p:sp>
        <p:nvSpPr>
          <p:cNvPr id="23" name="Box 22"/>
          <p:cNvSpPr/>
          <p:nvPr/>
        </p:nvSpPr>
        <p:spPr>
          <a:xfrm>
            <a:off x="812800" y="3289895"/>
            <a:ext cx="5207000" cy="1504950"/>
          </a:xfrm>
          <a:prstGeom prst="roundRect">
            <a:avLst>
              <a:gd name="adj" fmla="val 7594"/>
            </a:avLst>
          </a:prstGeom>
          <a:solidFill>
            <a:srgbClr val="FFFDF8"/>
          </a:solidFill>
          <a:ln>
            <a:noFill/>
          </a:ln>
        </p:spPr>
        <p:txBody>
          <a:bodyPr rtlCol="0" anchor="ctr"/>
          <a:lstStyle/>
          <a:p>
            <a:pPr algn="ctr"/>
          </a:p>
        </p:txBody>
      </p:sp>
      <p:sp>
        <p:nvSpPr>
          <p:cNvPr id="24" name="Rule 23"/>
          <p:cNvSpPr/>
          <p:nvPr/>
        </p:nvSpPr>
        <p:spPr>
          <a:xfrm>
            <a:off x="812800" y="3289895"/>
            <a:ext cx="5207000" cy="50800"/>
          </a:xfrm>
          <a:prstGeom prst="rect">
            <a:avLst/>
          </a:prstGeom>
          <a:solidFill>
            <a:srgbClr val="8A4B12"/>
          </a:solidFill>
          <a:ln>
            <a:noFill/>
          </a:ln>
        </p:spPr>
        <p:txBody>
          <a:bodyPr rtlCol="0" anchor="ctr"/>
          <a:lstStyle/>
          <a:p>
            <a:pPr algn="ctr"/>
          </a:p>
        </p:txBody>
      </p:sp>
      <p:sp>
        <p:nvSpPr>
          <p:cNvPr id="25" name="Text 24"/>
          <p:cNvSpPr txBox="1"/>
          <p:nvPr/>
        </p:nvSpPr>
        <p:spPr>
          <a:xfrm>
            <a:off x="5059164" y="3562469"/>
            <a:ext cx="770136"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8A4B12"/>
                </a:solidFill>
                <a:latin typeface="Readex Pro"/>
                <a:ea typeface="Readex Pro"/>
                <a:cs typeface="Readex Pro"/>
              </a:rPr>
              <a:t>I</a:t>
            </a:r>
          </a:p>
        </p:txBody>
      </p:sp>
      <p:sp>
        <p:nvSpPr>
          <p:cNvPr id="26" name="Text 25"/>
          <p:cNvSpPr txBox="1"/>
          <p:nvPr/>
        </p:nvSpPr>
        <p:spPr>
          <a:xfrm>
            <a:off x="838200" y="3526790"/>
            <a:ext cx="4494014"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المُبلَّغ</a:t>
            </a:r>
          </a:p>
        </p:txBody>
      </p:sp>
      <p:sp>
        <p:nvSpPr>
          <p:cNvPr id="27" name="Text 26"/>
          <p:cNvSpPr txBox="1"/>
          <p:nvPr/>
        </p:nvSpPr>
        <p:spPr>
          <a:xfrm>
            <a:off x="838200" y="3854577"/>
            <a:ext cx="449401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Informed</a:t>
            </a:r>
          </a:p>
        </p:txBody>
      </p:sp>
      <p:sp>
        <p:nvSpPr>
          <p:cNvPr id="28" name="Text 27"/>
          <p:cNvSpPr txBox="1"/>
          <p:nvPr/>
        </p:nvSpPr>
        <p:spPr>
          <a:xfrm>
            <a:off x="838200" y="421572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يُخبر بالنتيجة بعد التنفيذ: اتجاه واحد.</a:t>
            </a:r>
          </a:p>
        </p:txBody>
      </p:sp>
      <p:sp>
        <p:nvSpPr>
          <p:cNvPr id="29" name="Box 28"/>
          <p:cNvSpPr/>
          <p:nvPr/>
        </p:nvSpPr>
        <p:spPr>
          <a:xfrm>
            <a:off x="812800" y="4985345"/>
            <a:ext cx="10566400" cy="609600"/>
          </a:xfrm>
          <a:prstGeom prst="roundRect">
            <a:avLst>
              <a:gd name="adj" fmla="val 16666"/>
            </a:avLst>
          </a:prstGeom>
          <a:solidFill>
            <a:srgbClr val="172433"/>
          </a:solidFill>
          <a:ln>
            <a:noFill/>
          </a:ln>
        </p:spPr>
        <p:txBody>
          <a:bodyPr rtlCol="0" anchor="ctr"/>
          <a:lstStyle/>
          <a:p>
            <a:pPr algn="ctr"/>
          </a:p>
        </p:txBody>
      </p:sp>
      <p:pic>
        <p:nvPicPr>
          <p:cNvPr id="30" name="Icon Lightbulb 29" descr="icon021.png"/>
          <p:cNvPicPr>
            <a:picLocks noChangeAspect="1"/>
          </p:cNvPicPr>
          <p:nvPr/>
        </p:nvPicPr>
        <p:blipFill>
          <a:blip r:embed="rId2"/>
          <a:stretch>
            <a:fillRect/>
          </a:stretch>
        </p:blipFill>
        <p:spPr>
          <a:xfrm>
            <a:off x="10890250" y="5134570"/>
            <a:ext cx="311150" cy="311150"/>
          </a:xfrm>
          <a:prstGeom prst="rect">
            <a:avLst/>
          </a:prstGeom>
        </p:spPr>
      </p:pic>
      <p:sp>
        <p:nvSpPr>
          <p:cNvPr id="31" name="Text 30"/>
          <p:cNvSpPr txBox="1"/>
          <p:nvPr/>
        </p:nvSpPr>
        <p:spPr>
          <a:xfrm>
            <a:off x="838200" y="50729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قاعدة واحدة تمنع أغلب الأخطاء: A واحد لكل نشاط. وقد يكون الشخص نفسه A وR معاً.</a:t>
            </a:r>
          </a:p>
        </p:txBody>
      </p:sp>
      <p:sp>
        <p:nvSpPr>
          <p:cNvPr id="32" name="Text 3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3" name="Text 3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متطلب إلى بند سياسة: أربع خطوات</a:t>
            </a:r>
          </a:p>
        </p:txBody>
      </p:sp>
      <p:sp>
        <p:nvSpPr>
          <p:cNvPr id="5" name="Rule 4"/>
          <p:cNvSpPr/>
          <p:nvPr/>
        </p:nvSpPr>
        <p:spPr>
          <a:xfrm>
            <a:off x="9008170" y="16706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03357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اقرأ المتطلب</a:t>
            </a:r>
          </a:p>
        </p:txBody>
      </p:sp>
      <p:sp>
        <p:nvSpPr>
          <p:cNvPr id="8" name="Text 7"/>
          <p:cNvSpPr txBox="1"/>
          <p:nvPr/>
        </p:nvSpPr>
        <p:spPr>
          <a:xfrm>
            <a:off x="903357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ماذا يطلب بالضبط؟</a:t>
            </a:r>
          </a:p>
        </p:txBody>
      </p:sp>
      <p:sp>
        <p:nvSpPr>
          <p:cNvPr id="9" name="Text 8"/>
          <p:cNvSpPr txBox="1"/>
          <p:nvPr/>
        </p:nvSpPr>
        <p:spPr>
          <a:xfrm>
            <a:off x="857121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706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30178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حدد قرار الجهة</a:t>
            </a:r>
          </a:p>
        </p:txBody>
      </p:sp>
      <p:sp>
        <p:nvSpPr>
          <p:cNvPr id="13" name="Text 12"/>
          <p:cNvSpPr txBox="1"/>
          <p:nvPr/>
        </p:nvSpPr>
        <p:spPr>
          <a:xfrm>
            <a:off x="6301780" y="25393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النطاق والمدة والمسؤول.</a:t>
            </a:r>
          </a:p>
        </p:txBody>
      </p:sp>
      <p:sp>
        <p:nvSpPr>
          <p:cNvPr id="14" name="Text 13"/>
          <p:cNvSpPr txBox="1"/>
          <p:nvPr/>
        </p:nvSpPr>
        <p:spPr>
          <a:xfrm>
            <a:off x="583942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706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7" name="Text 16"/>
          <p:cNvSpPr txBox="1"/>
          <p:nvPr/>
        </p:nvSpPr>
        <p:spPr>
          <a:xfrm>
            <a:off x="356999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اكتب البند</a:t>
            </a:r>
          </a:p>
        </p:txBody>
      </p:sp>
      <p:sp>
        <p:nvSpPr>
          <p:cNvPr id="18" name="Text 17"/>
          <p:cNvSpPr txBox="1"/>
          <p:nvPr/>
        </p:nvSpPr>
        <p:spPr>
          <a:xfrm>
            <a:off x="356999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جملة إلزامية واضحة.</a:t>
            </a:r>
          </a:p>
        </p:txBody>
      </p:sp>
      <p:sp>
        <p:nvSpPr>
          <p:cNvPr id="19" name="Text 18"/>
          <p:cNvSpPr txBox="1"/>
          <p:nvPr/>
        </p:nvSpPr>
        <p:spPr>
          <a:xfrm>
            <a:off x="310763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706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2" name="Text 21"/>
          <p:cNvSpPr txBox="1"/>
          <p:nvPr/>
        </p:nvSpPr>
        <p:spPr>
          <a:xfrm>
            <a:off x="83820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اختبره</a:t>
            </a:r>
          </a:p>
        </p:txBody>
      </p:sp>
      <p:sp>
        <p:nvSpPr>
          <p:cNvPr id="23" name="Text 22"/>
          <p:cNvSpPr txBox="1"/>
          <p:nvPr/>
        </p:nvSpPr>
        <p:spPr>
          <a:xfrm>
            <a:off x="83820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هل يمكن تدقيقه بدليل؟</a:t>
            </a:r>
          </a:p>
        </p:txBody>
      </p:sp>
      <p:sp>
        <p:nvSpPr>
          <p:cNvPr id="24" name="Box 23"/>
          <p:cNvSpPr/>
          <p:nvPr/>
        </p:nvSpPr>
        <p:spPr>
          <a:xfrm>
            <a:off x="815975" y="3521670"/>
            <a:ext cx="10560050" cy="1962150"/>
          </a:xfrm>
          <a:prstGeom prst="roundRect">
            <a:avLst>
              <a:gd name="adj" fmla="val 5806"/>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38200" y="3679785"/>
            <a:ext cx="103314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معايير البند الجيد</a:t>
            </a:r>
          </a:p>
        </p:txBody>
      </p:sp>
      <p:pic>
        <p:nvPicPr>
          <p:cNvPr id="26" name="Icon Check 25" descr="icon022.png"/>
          <p:cNvPicPr>
            <a:picLocks noChangeAspect="1"/>
          </p:cNvPicPr>
          <p:nvPr/>
        </p:nvPicPr>
        <p:blipFill>
          <a:blip r:embed="rId2"/>
          <a:stretch>
            <a:fillRect/>
          </a:stretch>
        </p:blipFill>
        <p:spPr>
          <a:xfrm>
            <a:off x="10890250" y="4096345"/>
            <a:ext cx="279400" cy="279400"/>
          </a:xfrm>
          <a:prstGeom prst="rect">
            <a:avLst/>
          </a:prstGeom>
        </p:spPr>
      </p:pic>
      <p:sp>
        <p:nvSpPr>
          <p:cNvPr id="27" name="Text 26"/>
          <p:cNvSpPr txBox="1"/>
          <p:nvPr/>
        </p:nvSpPr>
        <p:spPr>
          <a:xfrm>
            <a:off x="7186108" y="40569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النطاق: أي أنظمة أو أشخاص.</a:t>
            </a:r>
          </a:p>
        </p:txBody>
      </p:sp>
      <p:pic>
        <p:nvPicPr>
          <p:cNvPr id="28" name="Icon Check 27" descr="icon022.png"/>
          <p:cNvPicPr>
            <a:picLocks noChangeAspect="1"/>
          </p:cNvPicPr>
          <p:nvPr/>
        </p:nvPicPr>
        <p:blipFill>
          <a:blip r:embed="rId2"/>
          <a:stretch>
            <a:fillRect/>
          </a:stretch>
        </p:blipFill>
        <p:spPr>
          <a:xfrm>
            <a:off x="10890250" y="4528145"/>
            <a:ext cx="279400" cy="279400"/>
          </a:xfrm>
          <a:prstGeom prst="rect">
            <a:avLst/>
          </a:prstGeom>
        </p:spPr>
      </p:pic>
      <p:sp>
        <p:nvSpPr>
          <p:cNvPr id="29" name="Text 28"/>
          <p:cNvSpPr txBox="1"/>
          <p:nvPr/>
        </p:nvSpPr>
        <p:spPr>
          <a:xfrm>
            <a:off x="7186108" y="44887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المسؤول بالوظيفة.</a:t>
            </a:r>
          </a:p>
        </p:txBody>
      </p:sp>
      <p:pic>
        <p:nvPicPr>
          <p:cNvPr id="30" name="Icon Check 29" descr="icon022.png"/>
          <p:cNvPicPr>
            <a:picLocks noChangeAspect="1"/>
          </p:cNvPicPr>
          <p:nvPr/>
        </p:nvPicPr>
        <p:blipFill>
          <a:blip r:embed="rId2"/>
          <a:stretch>
            <a:fillRect/>
          </a:stretch>
        </p:blipFill>
        <p:spPr>
          <a:xfrm>
            <a:off x="10890250" y="4959945"/>
            <a:ext cx="279400" cy="279400"/>
          </a:xfrm>
          <a:prstGeom prst="rect">
            <a:avLst/>
          </a:prstGeom>
        </p:spPr>
      </p:pic>
      <p:sp>
        <p:nvSpPr>
          <p:cNvPr id="31" name="Text 30"/>
          <p:cNvSpPr txBox="1"/>
          <p:nvPr/>
        </p:nvSpPr>
        <p:spPr>
          <a:xfrm>
            <a:off x="7186108" y="49205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المدة أو التكرار.</a:t>
            </a:r>
          </a:p>
        </p:txBody>
      </p:sp>
      <p:pic>
        <p:nvPicPr>
          <p:cNvPr id="32" name="Icon Check 31" descr="icon022.png"/>
          <p:cNvPicPr>
            <a:picLocks noChangeAspect="1"/>
          </p:cNvPicPr>
          <p:nvPr/>
        </p:nvPicPr>
        <p:blipFill>
          <a:blip r:embed="rId2"/>
          <a:stretch>
            <a:fillRect/>
          </a:stretch>
        </p:blipFill>
        <p:spPr>
          <a:xfrm>
            <a:off x="6982123" y="4096345"/>
            <a:ext cx="279400" cy="279400"/>
          </a:xfrm>
          <a:prstGeom prst="rect">
            <a:avLst/>
          </a:prstGeom>
        </p:spPr>
      </p:pic>
      <p:sp>
        <p:nvSpPr>
          <p:cNvPr id="33" name="Text 32"/>
          <p:cNvSpPr txBox="1"/>
          <p:nvPr/>
        </p:nvSpPr>
        <p:spPr>
          <a:xfrm>
            <a:off x="3466255" y="40569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بصيغة إلزامية: «يجب» أو «تُ…».</a:t>
            </a:r>
          </a:p>
        </p:txBody>
      </p:sp>
      <p:pic>
        <p:nvPicPr>
          <p:cNvPr id="34" name="Icon Check 33" descr="icon022.png"/>
          <p:cNvPicPr>
            <a:picLocks noChangeAspect="1"/>
          </p:cNvPicPr>
          <p:nvPr/>
        </p:nvPicPr>
        <p:blipFill>
          <a:blip r:embed="rId2"/>
          <a:stretch>
            <a:fillRect/>
          </a:stretch>
        </p:blipFill>
        <p:spPr>
          <a:xfrm>
            <a:off x="6982123" y="4528145"/>
            <a:ext cx="279400" cy="279400"/>
          </a:xfrm>
          <a:prstGeom prst="rect">
            <a:avLst/>
          </a:prstGeom>
        </p:spPr>
      </p:pic>
      <p:sp>
        <p:nvSpPr>
          <p:cNvPr id="35" name="Text 34"/>
          <p:cNvSpPr txBox="1"/>
          <p:nvPr/>
        </p:nvSpPr>
        <p:spPr>
          <a:xfrm>
            <a:off x="3466255" y="44887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ينتج دليلاً يمكن طلبه.</a:t>
            </a:r>
          </a:p>
        </p:txBody>
      </p:sp>
      <p:pic>
        <p:nvPicPr>
          <p:cNvPr id="36" name="Icon Check 35" descr="icon022.png"/>
          <p:cNvPicPr>
            <a:picLocks noChangeAspect="1"/>
          </p:cNvPicPr>
          <p:nvPr/>
        </p:nvPicPr>
        <p:blipFill>
          <a:blip r:embed="rId2"/>
          <a:stretch>
            <a:fillRect/>
          </a:stretch>
        </p:blipFill>
        <p:spPr>
          <a:xfrm>
            <a:off x="6982123" y="4959945"/>
            <a:ext cx="279400" cy="279400"/>
          </a:xfrm>
          <a:prstGeom prst="rect">
            <a:avLst/>
          </a:prstGeom>
        </p:spPr>
      </p:pic>
      <p:sp>
        <p:nvSpPr>
          <p:cNvPr id="37" name="Text 36"/>
          <p:cNvSpPr txBox="1"/>
          <p:nvPr/>
        </p:nvSpPr>
        <p:spPr>
          <a:xfrm>
            <a:off x="3466255" y="49205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يكرر نص الضابط حرفياً.</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وقرار الجهة</a:t>
            </a:r>
          </a:p>
        </p:txBody>
      </p:sp>
      <p:sp>
        <p:nvSpPr>
          <p:cNvPr id="7" name="Box 6"/>
          <p:cNvSpPr/>
          <p:nvPr/>
        </p:nvSpPr>
        <p:spPr>
          <a:xfrm>
            <a:off x="812800" y="1645245"/>
            <a:ext cx="10566400" cy="1016000"/>
          </a:xfrm>
          <a:prstGeom prst="roundRect">
            <a:avLst>
              <a:gd name="adj" fmla="val 8750"/>
            </a:avLst>
          </a:prstGeom>
          <a:solidFill>
            <a:srgbClr val="FFFFFF"/>
          </a:solidFill>
          <a:ln>
            <a:noFill/>
          </a:ln>
        </p:spPr>
        <p:txBody>
          <a:bodyPr rtlCol="0" anchor="ctr"/>
          <a:lstStyle/>
          <a:p>
            <a:pPr algn="ctr"/>
          </a:p>
        </p:txBody>
      </p:sp>
      <p:sp>
        <p:nvSpPr>
          <p:cNvPr id="8" name="Rule 7"/>
          <p:cNvSpPr/>
          <p:nvPr/>
        </p:nvSpPr>
        <p:spPr>
          <a:xfrm>
            <a:off x="11328400" y="1645245"/>
            <a:ext cx="50800" cy="1016000"/>
          </a:xfrm>
          <a:prstGeom prst="rect">
            <a:avLst/>
          </a:prstGeom>
          <a:solidFill>
            <a:srgbClr val="24506B"/>
          </a:solidFill>
          <a:ln>
            <a:noFill/>
          </a:ln>
        </p:spPr>
        <p:txBody>
          <a:bodyPr rtlCol="0" anchor="ctr"/>
          <a:lstStyle/>
          <a:p>
            <a:pPr algn="ctr"/>
          </a:p>
        </p:txBody>
      </p:sp>
      <p:sp>
        <p:nvSpPr>
          <p:cNvPr id="9" name="Text 8"/>
          <p:cNvSpPr txBox="1"/>
          <p:nvPr/>
        </p:nvSpPr>
        <p:spPr>
          <a:xfrm>
            <a:off x="838200" y="1720175"/>
            <a:ext cx="103124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ECC 2-⁠2-⁠3-⁠5: يجب أن تغطي متطلبات إدارة هويات الدخول والصلاحيات بحد أدنى: المراجعة الدورية لهويات الدخول والصلاحيات.</a:t>
            </a:r>
          </a:p>
        </p:txBody>
      </p:sp>
      <p:sp>
        <p:nvSpPr>
          <p:cNvPr id="10" name="Text 9"/>
          <p:cNvSpPr txBox="1"/>
          <p:nvPr/>
        </p:nvSpPr>
        <p:spPr>
          <a:xfrm>
            <a:off x="9448800" y="3155275"/>
            <a:ext cx="1930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الوضع في رُفاد</a:t>
            </a:r>
          </a:p>
        </p:txBody>
      </p:sp>
      <p:sp>
        <p:nvSpPr>
          <p:cNvPr id="11" name="Text 10"/>
          <p:cNvSpPr txBox="1"/>
          <p:nvPr/>
        </p:nvSpPr>
        <p:spPr>
          <a:xfrm>
            <a:off x="118872" y="3155275"/>
            <a:ext cx="93680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نظام الموارد البشرية والرواتب فيه 214 حساباً، ولا توجد مراجعة دورية للصلاحيات حتى الآن.</a:t>
            </a:r>
          </a:p>
        </p:txBody>
      </p:sp>
      <p:sp>
        <p:nvSpPr>
          <p:cNvPr id="12" name="Text 11"/>
          <p:cNvSpPr txBox="1"/>
          <p:nvPr/>
        </p:nvSpPr>
        <p:spPr>
          <a:xfrm>
            <a:off x="9448800" y="3637875"/>
            <a:ext cx="1930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قرار رُفاد</a:t>
            </a:r>
          </a:p>
        </p:txBody>
      </p:sp>
      <p:sp>
        <p:nvSpPr>
          <p:cNvPr id="13" name="Text 12"/>
          <p:cNvSpPr txBox="1"/>
          <p:nvPr/>
        </p:nvSpPr>
        <p:spPr>
          <a:xfrm>
            <a:off x="552577" y="3637875"/>
            <a:ext cx="893432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قررت رُفاد مراجعة ربع سنوية لهذا النظام لأنه يحتوي رواتب الموظفين وحساباتهم البنكية. الضابط يقول «دورية» ولا يحدد المدة؛ الجهة تحددها بناءً على المخاطر وتوثقها.</a:t>
            </a:r>
          </a:p>
        </p:txBody>
      </p:sp>
      <p:sp>
        <p:nvSpPr>
          <p:cNvPr id="14" name="Box 13"/>
          <p:cNvSpPr/>
          <p:nvPr/>
        </p:nvSpPr>
        <p:spPr>
          <a:xfrm>
            <a:off x="812800" y="4921845"/>
            <a:ext cx="10566400" cy="609600"/>
          </a:xfrm>
          <a:prstGeom prst="roundRect">
            <a:avLst>
              <a:gd name="adj" fmla="val 16666"/>
            </a:avLst>
          </a:prstGeom>
          <a:solidFill>
            <a:srgbClr val="F6ECDA"/>
          </a:solidFill>
          <a:ln>
            <a:noFill/>
          </a:ln>
        </p:spPr>
        <p:txBody>
          <a:bodyPr rtlCol="0" anchor="ctr"/>
          <a:lstStyle/>
          <a:p>
            <a:pPr algn="ctr"/>
          </a:p>
        </p:txBody>
      </p:sp>
      <p:pic>
        <p:nvPicPr>
          <p:cNvPr id="15" name="Icon Warning 14" descr="icon023.png"/>
          <p:cNvPicPr>
            <a:picLocks noChangeAspect="1"/>
          </p:cNvPicPr>
          <p:nvPr/>
        </p:nvPicPr>
        <p:blipFill>
          <a:blip r:embed="rId2"/>
          <a:stretch>
            <a:fillRect/>
          </a:stretch>
        </p:blipFill>
        <p:spPr>
          <a:xfrm>
            <a:off x="10915650" y="5083770"/>
            <a:ext cx="285750" cy="285750"/>
          </a:xfrm>
          <a:prstGeom prst="rect">
            <a:avLst/>
          </a:prstGeom>
        </p:spPr>
      </p:pic>
      <p:sp>
        <p:nvSpPr>
          <p:cNvPr id="16" name="Text 15"/>
          <p:cNvSpPr txBox="1"/>
          <p:nvPr/>
        </p:nvSpPr>
        <p:spPr>
          <a:xfrm>
            <a:off x="838200" y="500947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لا يحدد المدة. لا تخترع رقماً «من الضابط»؛ اكتب أنه قرار الجهة ومبرره.</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مصفوفة RACI لمراجعة الصلاحيات</a:t>
            </a:r>
          </a:p>
        </p:txBody>
      </p:sp>
      <p:sp>
        <p:nvSpPr>
          <p:cNvPr id="7" name="Text 6"/>
          <p:cNvSpPr txBox="1"/>
          <p:nvPr/>
        </p:nvSpPr>
        <p:spPr>
          <a:xfrm>
            <a:off x="11081008" y="1654516"/>
            <a:ext cx="29819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R</a:t>
            </a:r>
          </a:p>
        </p:txBody>
      </p:sp>
      <p:sp>
        <p:nvSpPr>
          <p:cNvPr id="8" name="Text 7"/>
          <p:cNvSpPr txBox="1"/>
          <p:nvPr/>
        </p:nvSpPr>
        <p:spPr>
          <a:xfrm>
            <a:off x="10787539" y="1660807"/>
            <a:ext cx="37982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ينفّذ</a:t>
            </a:r>
          </a:p>
        </p:txBody>
      </p:sp>
      <p:sp>
        <p:nvSpPr>
          <p:cNvPr id="9" name="Text 8"/>
          <p:cNvSpPr txBox="1"/>
          <p:nvPr/>
        </p:nvSpPr>
        <p:spPr>
          <a:xfrm>
            <a:off x="10369113" y="1654516"/>
            <a:ext cx="296505"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B4412C"/>
                </a:solidFill>
                <a:latin typeface="Readex Pro"/>
                <a:ea typeface="Readex Pro"/>
                <a:cs typeface="Readex Pro"/>
              </a:rPr>
              <a:t>A</a:t>
            </a:r>
          </a:p>
        </p:txBody>
      </p:sp>
      <p:sp>
        <p:nvSpPr>
          <p:cNvPr id="10" name="Text 9"/>
          <p:cNvSpPr txBox="1"/>
          <p:nvPr/>
        </p:nvSpPr>
        <p:spPr>
          <a:xfrm>
            <a:off x="9082465" y="1660807"/>
            <a:ext cx="137300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يُحاسَب، واحد فقط</a:t>
            </a:r>
          </a:p>
        </p:txBody>
      </p:sp>
      <p:sp>
        <p:nvSpPr>
          <p:cNvPr id="11" name="Text 10"/>
          <p:cNvSpPr txBox="1"/>
          <p:nvPr/>
        </p:nvSpPr>
        <p:spPr>
          <a:xfrm>
            <a:off x="8664932" y="1654516"/>
            <a:ext cx="29561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24506B"/>
                </a:solidFill>
                <a:latin typeface="Readex Pro"/>
                <a:ea typeface="Readex Pro"/>
                <a:cs typeface="Readex Pro"/>
              </a:rPr>
              <a:t>C</a:t>
            </a:r>
          </a:p>
        </p:txBody>
      </p:sp>
      <p:sp>
        <p:nvSpPr>
          <p:cNvPr id="12" name="Text 11"/>
          <p:cNvSpPr txBox="1"/>
          <p:nvPr/>
        </p:nvSpPr>
        <p:spPr>
          <a:xfrm>
            <a:off x="7853144" y="1660807"/>
            <a:ext cx="89814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يُستشار قبل</a:t>
            </a:r>
          </a:p>
        </p:txBody>
      </p:sp>
      <p:sp>
        <p:nvSpPr>
          <p:cNvPr id="13" name="Text 12"/>
          <p:cNvSpPr txBox="1"/>
          <p:nvPr/>
        </p:nvSpPr>
        <p:spPr>
          <a:xfrm>
            <a:off x="7467163" y="1654516"/>
            <a:ext cx="264061"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8A4B12"/>
                </a:solidFill>
                <a:latin typeface="Readex Pro"/>
                <a:ea typeface="Readex Pro"/>
                <a:cs typeface="Readex Pro"/>
              </a:rPr>
              <a:t>I</a:t>
            </a:r>
          </a:p>
        </p:txBody>
      </p:sp>
      <p:sp>
        <p:nvSpPr>
          <p:cNvPr id="14" name="Text 13"/>
          <p:cNvSpPr txBox="1"/>
          <p:nvPr/>
        </p:nvSpPr>
        <p:spPr>
          <a:xfrm>
            <a:off x="6922770" y="1660807"/>
            <a:ext cx="63075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يُبلَّغ بعد</a:t>
            </a:r>
          </a:p>
        </p:txBody>
      </p:sp>
      <p:graphicFrame>
        <p:nvGraphicFramePr>
          <p:cNvPr id="15" name="Table 14"/>
          <p:cNvGraphicFramePr>
            <a:graphicFrameLocks noGrp="1"/>
          </p:cNvGraphicFramePr>
          <p:nvPr/>
        </p:nvGraphicFramePr>
        <p:xfrm>
          <a:off x="815975" y="2125861"/>
          <a:ext cx="10560050" cy="315773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783431">
                <a:tc>
                  <a:txBody>
                    <a:bodyPr wrap="square"/>
                    <a:lstStyle/>
                    <a:p>
                      <a:pPr algn="ctr">
                        <a:lnSpc>
                          <a:spcPts val="2430"/>
                        </a:lnSpc>
                        <a:spcBef>
                          <a:spcPts val="0"/>
                        </a:spcBef>
                        <a:spcAft>
                          <a:spcPts val="0"/>
                        </a:spcAft>
                      </a:pPr>
                      <a:r>
                        <a:rPr sz="1800" b="1" i="0">
                          <a:solidFill>
                            <a:srgbClr val="F3EFE6"/>
                          </a:solidFill>
                          <a:latin typeface="IBM Plex Sans Arabic"/>
                          <a:ea typeface="IBM Plex Sans Arabic"/>
                          <a:cs typeface="IBM Plex Sans Arabic"/>
                        </a:rPr>
                        <a:t>GRC</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تقنية المعلومات</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مدير الموظف</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مالكة النظام</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تصدير قائمة المستخدمين وصلاحياتهم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تأكيد حاجة كل موظف لصلاحيته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اعتماد نتيجة المراجعة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إزالة الصلاحيات غير المبررة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متابعة الإنجاز وحفظ الأدلة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6" name="Text 15"/>
          <p:cNvSpPr txBox="1"/>
          <p:nvPr/>
        </p:nvSpPr>
        <p:spPr>
          <a:xfrm>
            <a:off x="0" y="5445776"/>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A واحد في كل صف. GRC يتابع ويحفظ الأدلة، ولا ينفذ الإزالة.</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البند في صفحة السياسة</a:t>
            </a:r>
          </a:p>
        </p:txBody>
      </p:sp>
      <p:sp>
        <p:nvSpPr>
          <p:cNvPr id="7" name="Box 6"/>
          <p:cNvSpPr/>
          <p:nvPr/>
        </p:nvSpPr>
        <p:spPr>
          <a:xfrm>
            <a:off x="4117975" y="1661120"/>
            <a:ext cx="7258050" cy="4247753"/>
          </a:xfrm>
          <a:prstGeom prst="roundRect">
            <a:avLst>
              <a:gd name="adj" fmla="val 1492"/>
            </a:avLst>
          </a:prstGeom>
          <a:solidFill>
            <a:srgbClr val="FFFFFF"/>
          </a:solidFill>
          <a:ln w="6350">
            <a:solidFill>
              <a:srgbClr val="D6CFBF"/>
            </a:solidFill>
          </a:ln>
        </p:spPr>
        <p:txBody>
          <a:bodyPr rtlCol="0" anchor="ctr"/>
          <a:lstStyle/>
          <a:p>
            <a:pPr algn="ctr"/>
          </a:p>
        </p:txBody>
      </p:sp>
      <p:sp>
        <p:nvSpPr>
          <p:cNvPr id="8" name="Rule 7"/>
          <p:cNvSpPr/>
          <p:nvPr/>
        </p:nvSpPr>
        <p:spPr>
          <a:xfrm>
            <a:off x="4121150" y="2766516"/>
            <a:ext cx="7251700" cy="12700"/>
          </a:xfrm>
          <a:prstGeom prst="rect">
            <a:avLst/>
          </a:prstGeom>
          <a:solidFill>
            <a:srgbClr val="0E7C6B"/>
          </a:solidFill>
          <a:ln>
            <a:noFill/>
          </a:ln>
        </p:spPr>
        <p:txBody>
          <a:bodyPr rtlCol="0" anchor="ctr"/>
          <a:lstStyle/>
          <a:p>
            <a:pPr algn="ctr"/>
          </a:p>
        </p:txBody>
      </p:sp>
      <p:sp>
        <p:nvSpPr>
          <p:cNvPr id="9" name="Text 8"/>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سياسة</a:t>
            </a:r>
          </a:p>
        </p:txBody>
      </p:sp>
      <p:sp>
        <p:nvSpPr>
          <p:cNvPr id="10" name="Text 9"/>
          <p:cNvSpPr txBox="1"/>
          <p:nvPr/>
        </p:nvSpPr>
        <p:spPr>
          <a:xfrm>
            <a:off x="4210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146550" y="2068076"/>
            <a:ext cx="6997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سياسة التحكم بالوصول</a:t>
            </a:r>
          </a:p>
        </p:txBody>
      </p:sp>
      <p:sp>
        <p:nvSpPr>
          <p:cNvPr id="12" name="Text 11"/>
          <p:cNvSpPr txBox="1"/>
          <p:nvPr/>
        </p:nvSpPr>
        <p:spPr>
          <a:xfrm>
            <a:off x="9967258" y="2426724"/>
            <a:ext cx="117699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POL-⁠AC-⁠01</a:t>
            </a:r>
          </a:p>
        </p:txBody>
      </p:sp>
      <p:sp>
        <p:nvSpPr>
          <p:cNvPr id="13" name="Text 12"/>
          <p:cNvSpPr txBox="1"/>
          <p:nvPr/>
        </p:nvSpPr>
        <p:spPr>
          <a:xfrm>
            <a:off x="9085798"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2.0</a:t>
            </a:r>
          </a:p>
        </p:txBody>
      </p:sp>
      <p:sp>
        <p:nvSpPr>
          <p:cNvPr id="14" name="Text 13"/>
          <p:cNvSpPr txBox="1"/>
          <p:nvPr/>
        </p:nvSpPr>
        <p:spPr>
          <a:xfrm>
            <a:off x="6441404" y="2426724"/>
            <a:ext cx="2558034"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الاعتماد: الرئيس التنفيذي · 15 يناير 2026</a:t>
            </a:r>
          </a:p>
        </p:txBody>
      </p:sp>
      <p:sp>
        <p:nvSpPr>
          <p:cNvPr id="15" name="Text 14"/>
          <p:cNvSpPr txBox="1"/>
          <p:nvPr/>
        </p:nvSpPr>
        <p:spPr>
          <a:xfrm>
            <a:off x="5112349" y="2426724"/>
            <a:ext cx="134073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مسؤولة GRC</a:t>
            </a:r>
          </a:p>
        </p:txBody>
      </p:sp>
      <p:sp>
        <p:nvSpPr>
          <p:cNvPr id="16" name="Text 15"/>
          <p:cNvSpPr txBox="1"/>
          <p:nvPr/>
        </p:nvSpPr>
        <p:spPr>
          <a:xfrm>
            <a:off x="4140200" y="2904057"/>
            <a:ext cx="7004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4.3 المراجعة الدورية للصلاحيات</a:t>
            </a:r>
          </a:p>
        </p:txBody>
      </p:sp>
      <p:sp>
        <p:nvSpPr>
          <p:cNvPr id="17" name="Text box 16"/>
          <p:cNvSpPr/>
          <p:nvPr/>
        </p:nvSpPr>
        <p:spPr>
          <a:xfrm>
            <a:off x="10864850" y="3292277"/>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8" name="Text box 17"/>
          <p:cNvSpPr/>
          <p:nvPr/>
        </p:nvSpPr>
        <p:spPr>
          <a:xfrm>
            <a:off x="4349750" y="3292277"/>
            <a:ext cx="6438900" cy="391120"/>
          </a:xfrm>
          <a:prstGeom prst="roundRect">
            <a:avLst>
              <a:gd name="adj" fmla="val 9741"/>
            </a:avLst>
          </a:prstGeom>
          <a:solidFill>
            <a:srgbClr val="ECE6F4"/>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يحقق هذا البند: ECC 2-⁠2-⁠3-⁠5، المراجعة الدورية لهويات الدخول والصلاحيات.</a:t>
            </a:r>
          </a:p>
        </p:txBody>
      </p:sp>
      <p:sp>
        <p:nvSpPr>
          <p:cNvPr id="19" name="Text box 18"/>
          <p:cNvSpPr/>
          <p:nvPr/>
        </p:nvSpPr>
        <p:spPr>
          <a:xfrm>
            <a:off x="10864850" y="375959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0" name="Text box 19"/>
          <p:cNvSpPr/>
          <p:nvPr/>
        </p:nvSpPr>
        <p:spPr>
          <a:xfrm>
            <a:off x="4349750" y="3759597"/>
            <a:ext cx="6438900" cy="706041"/>
          </a:xfrm>
          <a:prstGeom prst="roundRect">
            <a:avLst>
              <a:gd name="adj" fmla="val 5396"/>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تُراجع هويات الدخول والصلاحيات في نظام الموارد البشرية والرواتب كل ثلاثة أشهر على الأقل.</a:t>
            </a:r>
          </a:p>
        </p:txBody>
      </p:sp>
      <p:sp>
        <p:nvSpPr>
          <p:cNvPr id="21" name="Text box 20"/>
          <p:cNvSpPr/>
          <p:nvPr/>
        </p:nvSpPr>
        <p:spPr>
          <a:xfrm>
            <a:off x="10864850" y="454183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2" name="Text box 21"/>
          <p:cNvSpPr/>
          <p:nvPr/>
        </p:nvSpPr>
        <p:spPr>
          <a:xfrm>
            <a:off x="4349750" y="4541838"/>
            <a:ext cx="6438900" cy="706041"/>
          </a:xfrm>
          <a:prstGeom prst="roundRect">
            <a:avLst>
              <a:gd name="adj" fmla="val 5396"/>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تعتمد مالكة النظام نتيجة المراجعة خلال 10 أيام عمل من تصدير القائمة، وتُزال الصلاحيات غير المبررة خلال 5 أيام عمل من الاعتماد،</a:t>
            </a:r>
          </a:p>
        </p:txBody>
      </p:sp>
      <p:sp>
        <p:nvSpPr>
          <p:cNvPr id="23" name="Text box 22"/>
          <p:cNvSpPr/>
          <p:nvPr/>
        </p:nvSpPr>
        <p:spPr>
          <a:xfrm>
            <a:off x="10864850" y="532407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4" name="Text box 23"/>
          <p:cNvSpPr/>
          <p:nvPr/>
        </p:nvSpPr>
        <p:spPr>
          <a:xfrm>
            <a:off x="4349750" y="5324078"/>
            <a:ext cx="6438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وتُحفظ أدلة المراجعة والإزالة سنتين على الأقل.</a:t>
            </a:r>
          </a:p>
        </p:txBody>
      </p:sp>
      <p:sp>
        <p:nvSpPr>
          <p:cNvPr id="25" name="Text box 24"/>
          <p:cNvSpPr/>
          <p:nvPr/>
        </p:nvSpPr>
        <p:spPr>
          <a:xfrm>
            <a:off x="3581400" y="1657945"/>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6" name="Text 25"/>
          <p:cNvSpPr txBox="1"/>
          <p:nvPr/>
        </p:nvSpPr>
        <p:spPr>
          <a:xfrm>
            <a:off x="599440" y="1636609"/>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المتطلب</a:t>
            </a:r>
          </a:p>
        </p:txBody>
      </p:sp>
      <p:sp>
        <p:nvSpPr>
          <p:cNvPr id="27" name="Text 26"/>
          <p:cNvSpPr txBox="1"/>
          <p:nvPr/>
        </p:nvSpPr>
        <p:spPr>
          <a:xfrm>
            <a:off x="732790" y="1898190"/>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البند يذكر الضابط الذي يحققه، فيسهل ربطه في التقييم.</a:t>
            </a:r>
          </a:p>
        </p:txBody>
      </p:sp>
      <p:sp>
        <p:nvSpPr>
          <p:cNvPr id="28" name="Text box 27"/>
          <p:cNvSpPr/>
          <p:nvPr/>
        </p:nvSpPr>
        <p:spPr>
          <a:xfrm>
            <a:off x="3581400" y="26890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9" name="Text 28"/>
          <p:cNvSpPr txBox="1"/>
          <p:nvPr/>
        </p:nvSpPr>
        <p:spPr>
          <a:xfrm>
            <a:off x="599440" y="2667691"/>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النطاق والتكرار</a:t>
            </a:r>
          </a:p>
        </p:txBody>
      </p:sp>
      <p:sp>
        <p:nvSpPr>
          <p:cNvPr id="30" name="Text 29"/>
          <p:cNvSpPr txBox="1"/>
          <p:nvPr/>
        </p:nvSpPr>
        <p:spPr>
          <a:xfrm>
            <a:off x="732790" y="2929271"/>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نظام محدد، وكل ثلاثة أشهر: قرار رُفاد، لا رقم من الضابط.</a:t>
            </a:r>
          </a:p>
        </p:txBody>
      </p:sp>
      <p:sp>
        <p:nvSpPr>
          <p:cNvPr id="31" name="Text box 30"/>
          <p:cNvSpPr/>
          <p:nvPr/>
        </p:nvSpPr>
        <p:spPr>
          <a:xfrm>
            <a:off x="3581400" y="372010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2" name="Text 31"/>
          <p:cNvSpPr txBox="1"/>
          <p:nvPr/>
        </p:nvSpPr>
        <p:spPr>
          <a:xfrm>
            <a:off x="599440" y="3698772"/>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المسؤول والمدد</a:t>
            </a:r>
          </a:p>
        </p:txBody>
      </p:sp>
      <p:sp>
        <p:nvSpPr>
          <p:cNvPr id="33" name="Text 32"/>
          <p:cNvSpPr txBox="1"/>
          <p:nvPr/>
        </p:nvSpPr>
        <p:spPr>
          <a:xfrm>
            <a:off x="732790" y="3960352"/>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مالكة النظام بالوظيفة، ومهلتان قابلتان للقياس.</a:t>
            </a:r>
          </a:p>
        </p:txBody>
      </p:sp>
      <p:sp>
        <p:nvSpPr>
          <p:cNvPr id="34" name="Text box 33"/>
          <p:cNvSpPr/>
          <p:nvPr/>
        </p:nvSpPr>
        <p:spPr>
          <a:xfrm>
            <a:off x="3581400" y="4751189"/>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5" name="Text 34"/>
          <p:cNvSpPr txBox="1"/>
          <p:nvPr/>
        </p:nvSpPr>
        <p:spPr>
          <a:xfrm>
            <a:off x="599440" y="4729853"/>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دليل التطبيق</a:t>
            </a:r>
          </a:p>
        </p:txBody>
      </p:sp>
      <p:sp>
        <p:nvSpPr>
          <p:cNvPr id="36" name="Text 35"/>
          <p:cNvSpPr txBox="1"/>
          <p:nvPr/>
        </p:nvSpPr>
        <p:spPr>
          <a:xfrm>
            <a:off x="732790" y="4991433"/>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سيُطلب في التقييم: ملف المراجعة وأدلة الإزالة.</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المعيار للموضوع نفسه</a:t>
            </a:r>
          </a:p>
        </p:txBody>
      </p:sp>
      <p:sp>
        <p:nvSpPr>
          <p:cNvPr id="7" name="Box 6"/>
          <p:cNvSpPr/>
          <p:nvPr/>
        </p:nvSpPr>
        <p:spPr>
          <a:xfrm>
            <a:off x="4625975" y="1661120"/>
            <a:ext cx="6750050" cy="3617912"/>
          </a:xfrm>
          <a:prstGeom prst="roundRect">
            <a:avLst>
              <a:gd name="adj" fmla="val 1752"/>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756940" y="1813393"/>
            <a:ext cx="38731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معيار</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معيار التحكم بالوصول</a:t>
            </a:r>
          </a:p>
        </p:txBody>
      </p:sp>
      <p:sp>
        <p:nvSpPr>
          <p:cNvPr id="12" name="Text 11"/>
          <p:cNvSpPr txBox="1"/>
          <p:nvPr/>
        </p:nvSpPr>
        <p:spPr>
          <a:xfrm>
            <a:off x="9959519" y="2426724"/>
            <a:ext cx="11847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STD-⁠AC-⁠01</a:t>
            </a:r>
          </a:p>
        </p:txBody>
      </p:sp>
      <p:sp>
        <p:nvSpPr>
          <p:cNvPr id="13" name="Text 12"/>
          <p:cNvSpPr txBox="1"/>
          <p:nvPr/>
        </p:nvSpPr>
        <p:spPr>
          <a:xfrm>
            <a:off x="9078059"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1.0</a:t>
            </a:r>
          </a:p>
        </p:txBody>
      </p:sp>
      <p:sp>
        <p:nvSpPr>
          <p:cNvPr id="14" name="Text 13"/>
          <p:cNvSpPr txBox="1"/>
          <p:nvPr/>
        </p:nvSpPr>
        <p:spPr>
          <a:xfrm>
            <a:off x="7543268" y="2426724"/>
            <a:ext cx="14484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الاعتماد:‏ 15 يناير 2026</a:t>
            </a:r>
          </a:p>
        </p:txBody>
      </p:sp>
      <p:sp>
        <p:nvSpPr>
          <p:cNvPr id="15" name="Text 14"/>
          <p:cNvSpPr txBox="1"/>
          <p:nvPr/>
        </p:nvSpPr>
        <p:spPr>
          <a:xfrm>
            <a:off x="5711111" y="2426724"/>
            <a:ext cx="176164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مدير تقنية المعلومات</a:t>
            </a:r>
          </a:p>
        </p:txBody>
      </p:sp>
      <p:sp>
        <p:nvSpPr>
          <p:cNvPr id="16" name="Text 15"/>
          <p:cNvSpPr txBox="1"/>
          <p:nvPr/>
        </p:nvSpPr>
        <p:spPr>
          <a:xfrm>
            <a:off x="4648200" y="2904057"/>
            <a:ext cx="6496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مراجعة صلاحيات نظام الموارد البشرية والرواتب</a:t>
            </a:r>
          </a:p>
        </p:txBody>
      </p:sp>
      <p:sp>
        <p:nvSpPr>
          <p:cNvPr id="17" name="Text box 16"/>
          <p:cNvSpPr/>
          <p:nvPr/>
        </p:nvSpPr>
        <p:spPr>
          <a:xfrm>
            <a:off x="10864850" y="329227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8" name="Text box 17"/>
          <p:cNvSpPr/>
          <p:nvPr/>
        </p:nvSpPr>
        <p:spPr>
          <a:xfrm>
            <a:off x="4857750" y="3292277"/>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التكرار: مراجعة كل 3 أشهر.</a:t>
            </a:r>
          </a:p>
        </p:txBody>
      </p:sp>
      <p:sp>
        <p:nvSpPr>
          <p:cNvPr id="19" name="Text box 18"/>
          <p:cNvSpPr/>
          <p:nvPr/>
        </p:nvSpPr>
        <p:spPr>
          <a:xfrm>
            <a:off x="10864850" y="375959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0" name="Text box 19"/>
          <p:cNvSpPr/>
          <p:nvPr/>
        </p:nvSpPr>
        <p:spPr>
          <a:xfrm>
            <a:off x="4857750" y="375959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الاعتماد: تعتمد مالكة النظام النتيجة خلال 10 أيام عمل من التصدير.</a:t>
            </a:r>
          </a:p>
        </p:txBody>
      </p:sp>
      <p:sp>
        <p:nvSpPr>
          <p:cNvPr id="21" name="Text box 20"/>
          <p:cNvSpPr/>
          <p:nvPr/>
        </p:nvSpPr>
        <p:spPr>
          <a:xfrm>
            <a:off x="10864850" y="42269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2" name="Text box 21"/>
          <p:cNvSpPr/>
          <p:nvPr/>
        </p:nvSpPr>
        <p:spPr>
          <a:xfrm>
            <a:off x="4857750" y="422691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الإزالة: خلال 5 أيام عمل من الاعتماد، بتذكرة لكل إزالة.</a:t>
            </a:r>
          </a:p>
        </p:txBody>
      </p:sp>
      <p:sp>
        <p:nvSpPr>
          <p:cNvPr id="23" name="Text box 22"/>
          <p:cNvSpPr/>
          <p:nvPr/>
        </p:nvSpPr>
        <p:spPr>
          <a:xfrm>
            <a:off x="10864850" y="469423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4" name="Text box 23"/>
          <p:cNvSpPr/>
          <p:nvPr/>
        </p:nvSpPr>
        <p:spPr>
          <a:xfrm>
            <a:off x="4857750" y="469423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الأدلة: ملف المراجعة المعتمد، وتذاكر الإزالة، تُحفظ سنتين.</a:t>
            </a:r>
          </a:p>
        </p:txBody>
      </p:sp>
      <p:sp>
        <p:nvSpPr>
          <p:cNvPr id="25" name="Text box 24"/>
          <p:cNvSpPr/>
          <p:nvPr/>
        </p:nvSpPr>
        <p:spPr>
          <a:xfrm>
            <a:off x="4089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6" name="Text 25"/>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قيمة قابلة للقياس</a:t>
            </a:r>
          </a:p>
        </p:txBody>
      </p:sp>
      <p:sp>
        <p:nvSpPr>
          <p:cNvPr id="27" name="Text 26"/>
          <p:cNvSpPr txBox="1"/>
          <p:nvPr/>
        </p:nvSpPr>
        <p:spPr>
          <a:xfrm>
            <a:off x="558800" y="1898190"/>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المعيار يحول «دورياً» إلى رقم.</a:t>
            </a:r>
          </a:p>
        </p:txBody>
      </p:sp>
      <p:sp>
        <p:nvSpPr>
          <p:cNvPr id="28" name="Text box 27"/>
          <p:cNvSpPr/>
          <p:nvPr/>
        </p:nvSpPr>
        <p:spPr>
          <a:xfrm>
            <a:off x="4089400" y="2394446"/>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9" name="Text 28"/>
          <p:cNvSpPr txBox="1"/>
          <p:nvPr/>
        </p:nvSpPr>
        <p:spPr>
          <a:xfrm>
            <a:off x="558800" y="2373110"/>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مهلة الاعتماد</a:t>
            </a:r>
          </a:p>
        </p:txBody>
      </p:sp>
      <p:sp>
        <p:nvSpPr>
          <p:cNvPr id="30" name="Text 29"/>
          <p:cNvSpPr txBox="1"/>
          <p:nvPr/>
        </p:nvSpPr>
        <p:spPr>
          <a:xfrm>
            <a:off x="558800" y="2634690"/>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تُحسب بأيام العمل من تاريخ التصدير.</a:t>
            </a:r>
          </a:p>
        </p:txBody>
      </p:sp>
      <p:sp>
        <p:nvSpPr>
          <p:cNvPr id="31" name="Text box 30"/>
          <p:cNvSpPr/>
          <p:nvPr/>
        </p:nvSpPr>
        <p:spPr>
          <a:xfrm>
            <a:off x="4089400" y="313094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2" name="Text 31"/>
          <p:cNvSpPr txBox="1"/>
          <p:nvPr/>
        </p:nvSpPr>
        <p:spPr>
          <a:xfrm>
            <a:off x="558800" y="310961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مهلة الإزالة ودليلها</a:t>
            </a:r>
          </a:p>
        </p:txBody>
      </p:sp>
      <p:sp>
        <p:nvSpPr>
          <p:cNvPr id="33" name="Text 32"/>
          <p:cNvSpPr txBox="1"/>
          <p:nvPr/>
        </p:nvSpPr>
        <p:spPr>
          <a:xfrm>
            <a:off x="558800" y="3371191"/>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لكل إزالة تذكرة بتاريخ فتح وإغلاق.</a:t>
            </a:r>
          </a:p>
        </p:txBody>
      </p:sp>
      <p:sp>
        <p:nvSpPr>
          <p:cNvPr id="34" name="Text box 33"/>
          <p:cNvSpPr/>
          <p:nvPr/>
        </p:nvSpPr>
        <p:spPr>
          <a:xfrm>
            <a:off x="4089400" y="386744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5" name="Text 34"/>
          <p:cNvSpPr txBox="1"/>
          <p:nvPr/>
        </p:nvSpPr>
        <p:spPr>
          <a:xfrm>
            <a:off x="558800" y="384611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ما يُحفظ</a:t>
            </a:r>
          </a:p>
        </p:txBody>
      </p:sp>
      <p:sp>
        <p:nvSpPr>
          <p:cNvPr id="36" name="Text 35"/>
          <p:cNvSpPr txBox="1"/>
          <p:nvPr/>
        </p:nvSpPr>
        <p:spPr>
          <a:xfrm>
            <a:off x="717550" y="4107692"/>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هذه هي الأدلة التي ستفحصها في التطبيق 3.</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الإجراء للموضوع نفسه</a:t>
            </a:r>
          </a:p>
        </p:txBody>
      </p:sp>
      <p:sp>
        <p:nvSpPr>
          <p:cNvPr id="7" name="Box 6"/>
          <p:cNvSpPr/>
          <p:nvPr/>
        </p:nvSpPr>
        <p:spPr>
          <a:xfrm>
            <a:off x="4625975" y="1661120"/>
            <a:ext cx="6750050" cy="4009033"/>
          </a:xfrm>
          <a:prstGeom prst="roundRect">
            <a:avLst>
              <a:gd name="adj" fmla="val 1581"/>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755551" y="1813393"/>
            <a:ext cx="38869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إجراء</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إجراء المراجعة الفصلية للصلاحيات</a:t>
            </a:r>
          </a:p>
        </p:txBody>
      </p:sp>
      <p:sp>
        <p:nvSpPr>
          <p:cNvPr id="12" name="Text 11"/>
          <p:cNvSpPr txBox="1"/>
          <p:nvPr/>
        </p:nvSpPr>
        <p:spPr>
          <a:xfrm>
            <a:off x="9957832" y="2426724"/>
            <a:ext cx="118641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PRC-⁠AC-⁠03</a:t>
            </a:r>
          </a:p>
        </p:txBody>
      </p:sp>
      <p:sp>
        <p:nvSpPr>
          <p:cNvPr id="13" name="Text 12"/>
          <p:cNvSpPr txBox="1"/>
          <p:nvPr/>
        </p:nvSpPr>
        <p:spPr>
          <a:xfrm>
            <a:off x="9076372"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1.0</a:t>
            </a:r>
          </a:p>
        </p:txBody>
      </p:sp>
      <p:sp>
        <p:nvSpPr>
          <p:cNvPr id="14" name="Text 13"/>
          <p:cNvSpPr txBox="1"/>
          <p:nvPr/>
        </p:nvSpPr>
        <p:spPr>
          <a:xfrm>
            <a:off x="7754501" y="2426724"/>
            <a:ext cx="123551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مالكة النظام</a:t>
            </a:r>
          </a:p>
        </p:txBody>
      </p:sp>
      <p:sp>
        <p:nvSpPr>
          <p:cNvPr id="15" name="Text 14"/>
          <p:cNvSpPr txBox="1"/>
          <p:nvPr/>
        </p:nvSpPr>
        <p:spPr>
          <a:xfrm>
            <a:off x="4648200" y="2904057"/>
            <a:ext cx="6496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الخطوات</a:t>
            </a:r>
          </a:p>
        </p:txBody>
      </p:sp>
      <p:sp>
        <p:nvSpPr>
          <p:cNvPr id="16" name="Text box 15"/>
          <p:cNvSpPr/>
          <p:nvPr/>
        </p:nvSpPr>
        <p:spPr>
          <a:xfrm>
            <a:off x="10864850" y="329227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7" name="Text box 16"/>
          <p:cNvSpPr/>
          <p:nvPr/>
        </p:nvSpPr>
        <p:spPr>
          <a:xfrm>
            <a:off x="4857750" y="329227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1. تقنية المعلومات: تصدّر قائمة المستخدمين وصلاحياتهم من النظام.</a:t>
            </a:r>
          </a:p>
        </p:txBody>
      </p:sp>
      <p:sp>
        <p:nvSpPr>
          <p:cNvPr id="18" name="Text 17"/>
          <p:cNvSpPr txBox="1"/>
          <p:nvPr/>
        </p:nvSpPr>
        <p:spPr>
          <a:xfrm>
            <a:off x="10941764" y="3712861"/>
            <a:ext cx="202486" cy="314920"/>
          </a:xfrm>
          <a:prstGeom prst="rect">
            <a:avLst/>
          </a:prstGeom>
          <a:noFill/>
        </p:spPr>
        <p:txBody>
          <a:bodyPr wrap="square" tIns="0" rIns="0" bIns="0" lIns="0" anchor="t" rtlCol="0" anchorCtr="0">
            <a:noAutofit/>
          </a:bodyPr>
          <a:lstStyle/>
          <a:p>
            <a:pPr algn="r">
              <a:lnSpc>
                <a:spcPts val="2480"/>
              </a:lnSpc>
              <a:spcBef>
                <a:spcPts val="0"/>
              </a:spcBef>
              <a:spcAft>
                <a:spcPts val="0"/>
              </a:spcAft>
            </a:pPr>
            <a:r>
              <a:rPr sz="1600" b="0" i="0">
                <a:solidFill>
                  <a:srgbClr val="4E5A66"/>
                </a:solidFill>
                <a:latin typeface="IBM Plex Sans Arabic"/>
                <a:ea typeface="IBM Plex Sans Arabic"/>
                <a:cs typeface="IBM Plex Sans Arabic"/>
              </a:rPr>
              <a:t>•</a:t>
            </a:r>
          </a:p>
        </p:txBody>
      </p:sp>
      <p:sp>
        <p:nvSpPr>
          <p:cNvPr id="19" name="Text 18"/>
          <p:cNvSpPr txBox="1"/>
          <p:nvPr/>
        </p:nvSpPr>
        <p:spPr>
          <a:xfrm>
            <a:off x="4648200" y="3712861"/>
            <a:ext cx="6351984" cy="314920"/>
          </a:xfrm>
          <a:prstGeom prst="rect">
            <a:avLst/>
          </a:prstGeom>
          <a:noFill/>
        </p:spPr>
        <p:txBody>
          <a:bodyPr wrap="square" tIns="0" rIns="0" bIns="0" lIns="0" anchor="t" rtlCol="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2. مدير كل موظف: يؤكد حاجة موظفيه لصلاحياتهم، أو يطلب إزالتها.</a:t>
            </a:r>
          </a:p>
        </p:txBody>
      </p:sp>
      <p:sp>
        <p:nvSpPr>
          <p:cNvPr id="20" name="Text box 19"/>
          <p:cNvSpPr/>
          <p:nvPr/>
        </p:nvSpPr>
        <p:spPr>
          <a:xfrm>
            <a:off x="10864850" y="415071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1" name="Text box 20"/>
          <p:cNvSpPr/>
          <p:nvPr/>
        </p:nvSpPr>
        <p:spPr>
          <a:xfrm>
            <a:off x="4857750" y="4150717"/>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3. مالكة النظام: تعتمد النتيجة خلال 10 أيام عمل من التصدير.</a:t>
            </a:r>
          </a:p>
        </p:txBody>
      </p:sp>
      <p:sp>
        <p:nvSpPr>
          <p:cNvPr id="22" name="Text box 21"/>
          <p:cNvSpPr/>
          <p:nvPr/>
        </p:nvSpPr>
        <p:spPr>
          <a:xfrm>
            <a:off x="10864850" y="4618038"/>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3" name="Text box 22"/>
          <p:cNvSpPr/>
          <p:nvPr/>
        </p:nvSpPr>
        <p:spPr>
          <a:xfrm>
            <a:off x="4857750" y="4618038"/>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4. تقنية المعلومات: تزيل غير المبرر خلال 5 أيام عمل، بتذكرة لكل حساب.</a:t>
            </a:r>
          </a:p>
        </p:txBody>
      </p:sp>
      <p:sp>
        <p:nvSpPr>
          <p:cNvPr id="24" name="Text box 23"/>
          <p:cNvSpPr/>
          <p:nvPr/>
        </p:nvSpPr>
        <p:spPr>
          <a:xfrm>
            <a:off x="10864850" y="508535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5" name="Text box 24"/>
          <p:cNvSpPr/>
          <p:nvPr/>
        </p:nvSpPr>
        <p:spPr>
          <a:xfrm>
            <a:off x="4857750" y="508535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5. GRC: تتابع الإنجاز، وتحفظ ملف المراجعة والتذاكر.</a:t>
            </a:r>
          </a:p>
        </p:txBody>
      </p:sp>
      <p:sp>
        <p:nvSpPr>
          <p:cNvPr id="26" name="Text box 25"/>
          <p:cNvSpPr/>
          <p:nvPr/>
        </p:nvSpPr>
        <p:spPr>
          <a:xfrm>
            <a:off x="4089400" y="1657945"/>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7" name="Text 26"/>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من يبدأ</a:t>
            </a:r>
          </a:p>
        </p:txBody>
      </p:sp>
      <p:sp>
        <p:nvSpPr>
          <p:cNvPr id="28" name="Text 27"/>
          <p:cNvSpPr txBox="1"/>
          <p:nvPr/>
        </p:nvSpPr>
        <p:spPr>
          <a:xfrm>
            <a:off x="717550" y="1898190"/>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كل خطوة بمسؤول بالوظيفة، كما في مصفوفة RACI.</a:t>
            </a:r>
          </a:p>
        </p:txBody>
      </p:sp>
      <p:sp>
        <p:nvSpPr>
          <p:cNvPr id="29" name="Text box 28"/>
          <p:cNvSpPr/>
          <p:nvPr/>
        </p:nvSpPr>
        <p:spPr>
          <a:xfrm>
            <a:off x="4089400" y="26890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0" name="Text 29"/>
          <p:cNvSpPr txBox="1"/>
          <p:nvPr/>
        </p:nvSpPr>
        <p:spPr>
          <a:xfrm>
            <a:off x="558800" y="26676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المهلة من المعيار</a:t>
            </a:r>
          </a:p>
        </p:txBody>
      </p:sp>
      <p:sp>
        <p:nvSpPr>
          <p:cNvPr id="31" name="Text 30"/>
          <p:cNvSpPr txBox="1"/>
          <p:nvPr/>
        </p:nvSpPr>
        <p:spPr>
          <a:xfrm>
            <a:off x="558800" y="2929271"/>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الإجراء لا يخترع أرقاماً جديدة.</a:t>
            </a:r>
          </a:p>
        </p:txBody>
      </p:sp>
      <p:sp>
        <p:nvSpPr>
          <p:cNvPr id="32" name="Text box 31"/>
          <p:cNvSpPr/>
          <p:nvPr/>
        </p:nvSpPr>
        <p:spPr>
          <a:xfrm>
            <a:off x="4089400" y="34255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3" name="Text 32"/>
          <p:cNvSpPr txBox="1"/>
          <p:nvPr/>
        </p:nvSpPr>
        <p:spPr>
          <a:xfrm>
            <a:off x="558800" y="34041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أثر يمكن طلبه</a:t>
            </a:r>
          </a:p>
        </p:txBody>
      </p:sp>
      <p:sp>
        <p:nvSpPr>
          <p:cNvPr id="34" name="Text 33"/>
          <p:cNvSpPr txBox="1"/>
          <p:nvPr/>
        </p:nvSpPr>
        <p:spPr>
          <a:xfrm>
            <a:off x="558800" y="3665772"/>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التذكرة تثبت الإزالة وتاريخها.</a:t>
            </a:r>
          </a:p>
        </p:txBody>
      </p:sp>
      <p:sp>
        <p:nvSpPr>
          <p:cNvPr id="35" name="Text box 34"/>
          <p:cNvSpPr/>
          <p:nvPr/>
        </p:nvSpPr>
        <p:spPr>
          <a:xfrm>
            <a:off x="4089400" y="416202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6" name="Text 35"/>
          <p:cNvSpPr txBox="1"/>
          <p:nvPr/>
        </p:nvSpPr>
        <p:spPr>
          <a:xfrm>
            <a:off x="558800" y="414069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حفظ الأدلة</a:t>
            </a:r>
          </a:p>
        </p:txBody>
      </p:sp>
      <p:sp>
        <p:nvSpPr>
          <p:cNvPr id="37" name="Text 36"/>
          <p:cNvSpPr txBox="1"/>
          <p:nvPr/>
        </p:nvSpPr>
        <p:spPr>
          <a:xfrm>
            <a:off x="558800" y="4402272"/>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GRC يتابع ويحفظ، ولا ينفذ الإزالة.</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إلغاء صلاحيات المغادرين</a:t>
            </a:r>
          </a:p>
        </p:txBody>
      </p:sp>
      <p:sp>
        <p:nvSpPr>
          <p:cNvPr id="7" name="Box 6"/>
          <p:cNvSpPr/>
          <p:nvPr/>
        </p:nvSpPr>
        <p:spPr>
          <a:xfrm>
            <a:off x="812800" y="1632545"/>
            <a:ext cx="10566400" cy="635000"/>
          </a:xfrm>
          <a:prstGeom prst="roundRect">
            <a:avLst>
              <a:gd name="adj" fmla="val 14000"/>
            </a:avLst>
          </a:prstGeom>
          <a:solidFill>
            <a:srgbClr val="FFFFFF"/>
          </a:solidFill>
          <a:ln>
            <a:noFill/>
          </a:ln>
        </p:spPr>
        <p:txBody>
          <a:bodyPr rtlCol="0" anchor="ctr"/>
          <a:lstStyle/>
          <a:p>
            <a:pPr algn="ctr"/>
          </a:p>
        </p:txBody>
      </p:sp>
      <p:sp>
        <p:nvSpPr>
          <p:cNvPr id="8" name="Rule 7"/>
          <p:cNvSpPr/>
          <p:nvPr/>
        </p:nvSpPr>
        <p:spPr>
          <a:xfrm>
            <a:off x="11328400" y="1632545"/>
            <a:ext cx="50800" cy="635000"/>
          </a:xfrm>
          <a:prstGeom prst="rect">
            <a:avLst/>
          </a:prstGeom>
          <a:solidFill>
            <a:srgbClr val="C27A16"/>
          </a:solidFill>
          <a:ln>
            <a:noFill/>
          </a:ln>
        </p:spPr>
        <p:txBody>
          <a:bodyPr rtlCol="0" anchor="ctr"/>
          <a:lstStyle/>
          <a:p>
            <a:pPr algn="ctr"/>
          </a:p>
        </p:txBody>
      </p:sp>
      <p:sp>
        <p:nvSpPr>
          <p:cNvPr id="9" name="Text 8"/>
          <p:cNvSpPr txBox="1"/>
          <p:nvPr/>
        </p:nvSpPr>
        <p:spPr>
          <a:xfrm>
            <a:off x="838200" y="1707475"/>
            <a:ext cx="103124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ECC 1-⁠9-⁠5: يجب مراجعة وإلغاء الصلاحيات للعامل مباشرة بعد انتهاء/إنهاء العلاقة الوظيفية مع الجهة.</a:t>
            </a:r>
          </a:p>
        </p:txBody>
      </p:sp>
      <p:sp>
        <p:nvSpPr>
          <p:cNvPr id="10" name="Box 9"/>
          <p:cNvSpPr/>
          <p:nvPr/>
        </p:nvSpPr>
        <p:spPr>
          <a:xfrm>
            <a:off x="815975" y="2791420"/>
            <a:ext cx="10560050" cy="2749550"/>
          </a:xfrm>
          <a:prstGeom prst="roundRect">
            <a:avLst>
              <a:gd name="adj" fmla="val 414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2936835"/>
            <a:ext cx="103441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وجدته في رُفاد</a:t>
            </a:r>
          </a:p>
        </p:txBody>
      </p:sp>
      <p:pic>
        <p:nvPicPr>
          <p:cNvPr id="12" name="Icon Search 11" descr="icon024.png"/>
          <p:cNvPicPr>
            <a:picLocks noChangeAspect="1"/>
          </p:cNvPicPr>
          <p:nvPr/>
        </p:nvPicPr>
        <p:blipFill>
          <a:blip r:embed="rId2"/>
          <a:stretch>
            <a:fillRect/>
          </a:stretch>
        </p:blipFill>
        <p:spPr>
          <a:xfrm>
            <a:off x="10915650" y="3353395"/>
            <a:ext cx="266700" cy="266700"/>
          </a:xfrm>
          <a:prstGeom prst="rect">
            <a:avLst/>
          </a:prstGeom>
        </p:spPr>
      </p:pic>
      <p:sp>
        <p:nvSpPr>
          <p:cNvPr id="13" name="Text 12"/>
          <p:cNvSpPr txBox="1"/>
          <p:nvPr/>
        </p:nvSpPr>
        <p:spPr>
          <a:xfrm>
            <a:off x="838200" y="33140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تسجل الموارد البشرية الاستقالات في نظام الموارد البشرية والرواتب.</a:t>
            </a:r>
          </a:p>
        </p:txBody>
      </p:sp>
      <p:pic>
        <p:nvPicPr>
          <p:cNvPr id="14" name="Icon Search 13" descr="icon024.png"/>
          <p:cNvPicPr>
            <a:picLocks noChangeAspect="1"/>
          </p:cNvPicPr>
          <p:nvPr/>
        </p:nvPicPr>
        <p:blipFill>
          <a:blip r:embed="rId2"/>
          <a:stretch>
            <a:fillRect/>
          </a:stretch>
        </p:blipFill>
        <p:spPr>
          <a:xfrm>
            <a:off x="10915650" y="3772495"/>
            <a:ext cx="266700" cy="266700"/>
          </a:xfrm>
          <a:prstGeom prst="rect">
            <a:avLst/>
          </a:prstGeom>
        </p:spPr>
      </p:pic>
      <p:sp>
        <p:nvSpPr>
          <p:cNvPr id="15" name="Text 14"/>
          <p:cNvSpPr txBox="1"/>
          <p:nvPr/>
        </p:nvSpPr>
        <p:spPr>
          <a:xfrm>
            <a:off x="838200" y="37331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تعرف تقنية المعلومات بالمغادرين عبر رسائل غير رسمية من المدراء.</a:t>
            </a:r>
          </a:p>
        </p:txBody>
      </p:sp>
      <p:pic>
        <p:nvPicPr>
          <p:cNvPr id="16" name="Icon Search 15" descr="icon024.png"/>
          <p:cNvPicPr>
            <a:picLocks noChangeAspect="1"/>
          </p:cNvPicPr>
          <p:nvPr/>
        </p:nvPicPr>
        <p:blipFill>
          <a:blip r:embed="rId2"/>
          <a:stretch>
            <a:fillRect/>
          </a:stretch>
        </p:blipFill>
        <p:spPr>
          <a:xfrm>
            <a:off x="10915650" y="4191595"/>
            <a:ext cx="266700" cy="266700"/>
          </a:xfrm>
          <a:prstGeom prst="rect">
            <a:avLst/>
          </a:prstGeom>
        </p:spPr>
      </p:pic>
      <p:sp>
        <p:nvSpPr>
          <p:cNvPr id="17" name="Text 16"/>
          <p:cNvSpPr txBox="1"/>
          <p:nvPr/>
        </p:nvSpPr>
        <p:spPr>
          <a:xfrm>
            <a:off x="838200" y="41522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المورد سَنَد يعطل حساب البريد حين تطلب منه تقنية المعلومات ذلك.</a:t>
            </a:r>
          </a:p>
        </p:txBody>
      </p:sp>
      <p:pic>
        <p:nvPicPr>
          <p:cNvPr id="18" name="Icon Search 17" descr="icon024.png"/>
          <p:cNvPicPr>
            <a:picLocks noChangeAspect="1"/>
          </p:cNvPicPr>
          <p:nvPr/>
        </p:nvPicPr>
        <p:blipFill>
          <a:blip r:embed="rId2"/>
          <a:stretch>
            <a:fillRect/>
          </a:stretch>
        </p:blipFill>
        <p:spPr>
          <a:xfrm>
            <a:off x="10915650" y="4610695"/>
            <a:ext cx="266700" cy="266700"/>
          </a:xfrm>
          <a:prstGeom prst="rect">
            <a:avLst/>
          </a:prstGeom>
        </p:spPr>
      </p:pic>
      <p:sp>
        <p:nvSpPr>
          <p:cNvPr id="19" name="Text 18"/>
          <p:cNvSpPr txBox="1"/>
          <p:nvPr/>
        </p:nvSpPr>
        <p:spPr>
          <a:xfrm>
            <a:off x="838200" y="45713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أحد يتحقق من حسابات نظام الرواتب وتطبيق التتبع والوصول عن بعد.</a:t>
            </a:r>
          </a:p>
        </p:txBody>
      </p:sp>
      <p:pic>
        <p:nvPicPr>
          <p:cNvPr id="20" name="Icon Search 19" descr="icon024.png"/>
          <p:cNvPicPr>
            <a:picLocks noChangeAspect="1"/>
          </p:cNvPicPr>
          <p:nvPr/>
        </p:nvPicPr>
        <p:blipFill>
          <a:blip r:embed="rId2"/>
          <a:stretch>
            <a:fillRect/>
          </a:stretch>
        </p:blipFill>
        <p:spPr>
          <a:xfrm>
            <a:off x="10915650" y="5029795"/>
            <a:ext cx="266700" cy="266700"/>
          </a:xfrm>
          <a:prstGeom prst="rect">
            <a:avLst/>
          </a:prstGeom>
        </p:spPr>
      </p:pic>
      <p:sp>
        <p:nvSpPr>
          <p:cNvPr id="21" name="Text 20"/>
          <p:cNvSpPr txBox="1"/>
          <p:nvPr/>
        </p:nvSpPr>
        <p:spPr>
          <a:xfrm>
            <a:off x="838200" y="49904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الشهر الماضي غادر 4 موظفين، وبقي حسابان منهم نشطين بعد 3 أسابيع.</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a:t>
            </a:r>
          </a:p>
        </p:txBody>
      </p:sp>
      <p:sp>
        <p:nvSpPr>
          <p:cNvPr id="7" name="Text 6"/>
          <p:cNvSpPr txBox="1"/>
          <p:nvPr/>
        </p:nvSpPr>
        <p:spPr>
          <a:xfrm>
            <a:off x="10998200" y="16287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8" name="Text 7"/>
          <p:cNvSpPr txBox="1"/>
          <p:nvPr/>
        </p:nvSpPr>
        <p:spPr>
          <a:xfrm>
            <a:off x="0" y="16185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خمسة أنشطة لعملية إلغاء صلاحيات المغادرين.</a:t>
            </a:r>
          </a:p>
        </p:txBody>
      </p:sp>
      <p:sp>
        <p:nvSpPr>
          <p:cNvPr id="9" name="Text 8"/>
          <p:cNvSpPr txBox="1"/>
          <p:nvPr/>
        </p:nvSpPr>
        <p:spPr>
          <a:xfrm>
            <a:off x="10998200" y="20859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10" name="Text 9"/>
          <p:cNvSpPr txBox="1"/>
          <p:nvPr/>
        </p:nvSpPr>
        <p:spPr>
          <a:xfrm>
            <a:off x="0" y="20757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املأ مصفوفة RACI، مع مسؤول A واحد لكل نشاط.</a:t>
            </a:r>
          </a:p>
        </p:txBody>
      </p:sp>
      <p:sp>
        <p:nvSpPr>
          <p:cNvPr id="11" name="Text 10"/>
          <p:cNvSpPr txBox="1"/>
          <p:nvPr/>
        </p:nvSpPr>
        <p:spPr>
          <a:xfrm>
            <a:off x="10998200" y="25431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12" name="Text 11"/>
          <p:cNvSpPr txBox="1"/>
          <p:nvPr/>
        </p:nvSpPr>
        <p:spPr>
          <a:xfrm>
            <a:off x="0" y="25329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بند سياسة من جملتين أو ثلاث يحقق معايير البند الجيد.</a:t>
            </a:r>
          </a:p>
        </p:txBody>
      </p:sp>
      <p:sp>
        <p:nvSpPr>
          <p:cNvPr id="13" name="Rule 12"/>
          <p:cNvSpPr/>
          <p:nvPr/>
        </p:nvSpPr>
        <p:spPr>
          <a:xfrm>
            <a:off x="812800" y="3474045"/>
            <a:ext cx="10566400" cy="31750"/>
          </a:xfrm>
          <a:prstGeom prst="rect">
            <a:avLst/>
          </a:prstGeom>
          <a:solidFill>
            <a:srgbClr val="C27A16"/>
          </a:solidFill>
          <a:ln>
            <a:noFill/>
          </a:ln>
        </p:spPr>
        <p:txBody>
          <a:bodyPr rtlCol="0" anchor="ctr"/>
          <a:lstStyle/>
          <a:p>
            <a:pPr algn="ctr"/>
          </a:p>
        </p:txBody>
      </p:sp>
      <p:sp>
        <p:nvSpPr>
          <p:cNvPr id="14" name="Text 13"/>
          <p:cNvSpPr txBox="1"/>
          <p:nvPr/>
        </p:nvSpPr>
        <p:spPr>
          <a:xfrm>
            <a:off x="838200" y="36353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تذكّر معايير البند الجيد</a:t>
            </a:r>
          </a:p>
        </p:txBody>
      </p:sp>
      <p:pic>
        <p:nvPicPr>
          <p:cNvPr id="15" name="Icon Check 14" descr="icon025.png"/>
          <p:cNvPicPr>
            <a:picLocks noChangeAspect="1"/>
          </p:cNvPicPr>
          <p:nvPr/>
        </p:nvPicPr>
        <p:blipFill>
          <a:blip r:embed="rId2"/>
          <a:stretch>
            <a:fillRect/>
          </a:stretch>
        </p:blipFill>
        <p:spPr>
          <a:xfrm>
            <a:off x="11087100" y="4051895"/>
            <a:ext cx="254000" cy="254000"/>
          </a:xfrm>
          <a:prstGeom prst="rect">
            <a:avLst/>
          </a:prstGeom>
        </p:spPr>
      </p:pic>
      <p:sp>
        <p:nvSpPr>
          <p:cNvPr id="16" name="Text 15"/>
          <p:cNvSpPr txBox="1"/>
          <p:nvPr/>
        </p:nvSpPr>
        <p:spPr>
          <a:xfrm>
            <a:off x="7382958" y="40125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النطاق: أي أنظمة أو أشخاص.</a:t>
            </a:r>
          </a:p>
        </p:txBody>
      </p:sp>
      <p:pic>
        <p:nvPicPr>
          <p:cNvPr id="17" name="Icon Check 16" descr="icon025.png"/>
          <p:cNvPicPr>
            <a:picLocks noChangeAspect="1"/>
          </p:cNvPicPr>
          <p:nvPr/>
        </p:nvPicPr>
        <p:blipFill>
          <a:blip r:embed="rId2"/>
          <a:stretch>
            <a:fillRect/>
          </a:stretch>
        </p:blipFill>
        <p:spPr>
          <a:xfrm>
            <a:off x="11087100" y="4470995"/>
            <a:ext cx="254000" cy="254000"/>
          </a:xfrm>
          <a:prstGeom prst="rect">
            <a:avLst/>
          </a:prstGeom>
        </p:spPr>
      </p:pic>
      <p:sp>
        <p:nvSpPr>
          <p:cNvPr id="18" name="Text 17"/>
          <p:cNvSpPr txBox="1"/>
          <p:nvPr/>
        </p:nvSpPr>
        <p:spPr>
          <a:xfrm>
            <a:off x="7382958" y="44316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المسؤول بالوظيفة.</a:t>
            </a:r>
          </a:p>
        </p:txBody>
      </p:sp>
      <p:pic>
        <p:nvPicPr>
          <p:cNvPr id="19" name="Icon Check 18" descr="icon025.png"/>
          <p:cNvPicPr>
            <a:picLocks noChangeAspect="1"/>
          </p:cNvPicPr>
          <p:nvPr/>
        </p:nvPicPr>
        <p:blipFill>
          <a:blip r:embed="rId2"/>
          <a:stretch>
            <a:fillRect/>
          </a:stretch>
        </p:blipFill>
        <p:spPr>
          <a:xfrm>
            <a:off x="11087100" y="4890095"/>
            <a:ext cx="254000" cy="254000"/>
          </a:xfrm>
          <a:prstGeom prst="rect">
            <a:avLst/>
          </a:prstGeom>
        </p:spPr>
      </p:pic>
      <p:sp>
        <p:nvSpPr>
          <p:cNvPr id="20" name="Text 19"/>
          <p:cNvSpPr txBox="1"/>
          <p:nvPr/>
        </p:nvSpPr>
        <p:spPr>
          <a:xfrm>
            <a:off x="7382958" y="48507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المدة أو التكرار.</a:t>
            </a:r>
          </a:p>
        </p:txBody>
      </p:sp>
      <p:pic>
        <p:nvPicPr>
          <p:cNvPr id="21" name="Icon Check 20" descr="icon025.png"/>
          <p:cNvPicPr>
            <a:picLocks noChangeAspect="1"/>
          </p:cNvPicPr>
          <p:nvPr/>
        </p:nvPicPr>
        <p:blipFill>
          <a:blip r:embed="rId2"/>
          <a:stretch>
            <a:fillRect/>
          </a:stretch>
        </p:blipFill>
        <p:spPr>
          <a:xfrm>
            <a:off x="7204373" y="4051895"/>
            <a:ext cx="254000" cy="254000"/>
          </a:xfrm>
          <a:prstGeom prst="rect">
            <a:avLst/>
          </a:prstGeom>
        </p:spPr>
      </p:pic>
      <p:sp>
        <p:nvSpPr>
          <p:cNvPr id="22" name="Text 21"/>
          <p:cNvSpPr txBox="1"/>
          <p:nvPr/>
        </p:nvSpPr>
        <p:spPr>
          <a:xfrm>
            <a:off x="3688505" y="40125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بصيغة إلزامية: «يجب» أو «تُ…».</a:t>
            </a:r>
          </a:p>
        </p:txBody>
      </p:sp>
      <p:pic>
        <p:nvPicPr>
          <p:cNvPr id="23" name="Icon Check 22" descr="icon025.png"/>
          <p:cNvPicPr>
            <a:picLocks noChangeAspect="1"/>
          </p:cNvPicPr>
          <p:nvPr/>
        </p:nvPicPr>
        <p:blipFill>
          <a:blip r:embed="rId2"/>
          <a:stretch>
            <a:fillRect/>
          </a:stretch>
        </p:blipFill>
        <p:spPr>
          <a:xfrm>
            <a:off x="7204373" y="4470995"/>
            <a:ext cx="254000" cy="254000"/>
          </a:xfrm>
          <a:prstGeom prst="rect">
            <a:avLst/>
          </a:prstGeom>
        </p:spPr>
      </p:pic>
      <p:sp>
        <p:nvSpPr>
          <p:cNvPr id="24" name="Text 23"/>
          <p:cNvSpPr txBox="1"/>
          <p:nvPr/>
        </p:nvSpPr>
        <p:spPr>
          <a:xfrm>
            <a:off x="3688505" y="44316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ينتج دليلاً يمكن طلبه.</a:t>
            </a:r>
          </a:p>
        </p:txBody>
      </p:sp>
      <p:pic>
        <p:nvPicPr>
          <p:cNvPr id="25" name="Icon Check 24" descr="icon025.png"/>
          <p:cNvPicPr>
            <a:picLocks noChangeAspect="1"/>
          </p:cNvPicPr>
          <p:nvPr/>
        </p:nvPicPr>
        <p:blipFill>
          <a:blip r:embed="rId2"/>
          <a:stretch>
            <a:fillRect/>
          </a:stretch>
        </p:blipFill>
        <p:spPr>
          <a:xfrm>
            <a:off x="7204373" y="4890095"/>
            <a:ext cx="254000" cy="254000"/>
          </a:xfrm>
          <a:prstGeom prst="rect">
            <a:avLst/>
          </a:prstGeom>
        </p:spPr>
      </p:pic>
      <p:sp>
        <p:nvSpPr>
          <p:cNvPr id="26" name="Text 25"/>
          <p:cNvSpPr txBox="1"/>
          <p:nvPr/>
        </p:nvSpPr>
        <p:spPr>
          <a:xfrm>
            <a:off x="3688505" y="48507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يكرر نص الضابط حرفياً.</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النموذج</a:t>
            </a:r>
          </a:p>
        </p:txBody>
      </p:sp>
      <p:graphicFrame>
        <p:nvGraphicFramePr>
          <p:cNvPr id="7" name="Table 6"/>
          <p:cNvGraphicFramePr>
            <a:graphicFrameLocks noGrp="1"/>
          </p:cNvGraphicFramePr>
          <p:nvPr/>
        </p:nvGraphicFramePr>
        <p:xfrm>
          <a:off x="815975" y="1623020"/>
          <a:ext cx="10560050" cy="315773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783431">
                <a:tc>
                  <a:txBody>
                    <a:bodyPr wrap="square"/>
                    <a:lstStyle/>
                    <a:p>
                      <a:pPr algn="ctr">
                        <a:lnSpc>
                          <a:spcPts val="2430"/>
                        </a:lnSpc>
                        <a:spcBef>
                          <a:spcPts val="0"/>
                        </a:spcBef>
                        <a:spcAft>
                          <a:spcPts val="0"/>
                        </a:spcAft>
                      </a:pPr>
                      <a:r>
                        <a:rPr sz="1800" b="1" i="0">
                          <a:solidFill>
                            <a:srgbClr val="F3EFE6"/>
                          </a:solidFill>
                          <a:latin typeface="IBM Plex Sans Arabic"/>
                          <a:ea typeface="IBM Plex Sans Arabic"/>
                          <a:cs typeface="IBM Plex Sans Arabic"/>
                        </a:rPr>
                        <a:t>GRC</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تقنية المعلومات</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مدير الموظف</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الموارد البشرية</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Text 7"/>
          <p:cNvSpPr txBox="1"/>
          <p:nvPr/>
        </p:nvSpPr>
        <p:spPr>
          <a:xfrm>
            <a:off x="9781540" y="4900898"/>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بند السياسة</a:t>
            </a:r>
          </a:p>
        </p:txBody>
      </p:sp>
      <p:sp>
        <p:nvSpPr>
          <p:cNvPr id="9" name="Box 8"/>
          <p:cNvSpPr/>
          <p:nvPr/>
        </p:nvSpPr>
        <p:spPr>
          <a:xfrm>
            <a:off x="819150" y="4942681"/>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0" name="Text 9"/>
          <p:cNvSpPr txBox="1"/>
          <p:nvPr/>
        </p:nvSpPr>
        <p:spPr>
          <a:xfrm>
            <a:off x="838200" y="5002498"/>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اكتب جملتين أو ثلاثاً هنا…</a:t>
            </a:r>
          </a:p>
        </p:txBody>
      </p:sp>
      <p:sp>
        <p:nvSpPr>
          <p:cNvPr id="11" name="Text 10"/>
          <p:cNvSpPr txBox="1"/>
          <p:nvPr/>
        </p:nvSpPr>
        <p:spPr>
          <a:xfrm>
            <a:off x="0" y="5580416"/>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النموذج كاملاً في الكراسة. 15 دقيقة.</a:t>
            </a:r>
          </a:p>
        </p:txBody>
      </p:sp>
      <p:sp>
        <p:nvSpPr>
          <p:cNvPr id="12" name="Text 1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3" name="Text 1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مصفوفة RACI لإلغاء صلاحيات المغادرين</a:t>
            </a:r>
          </a:p>
        </p:txBody>
      </p:sp>
      <p:sp>
        <p:nvSpPr>
          <p:cNvPr id="7" name="Text 6"/>
          <p:cNvSpPr txBox="1"/>
          <p:nvPr/>
        </p:nvSpPr>
        <p:spPr>
          <a:xfrm>
            <a:off x="11081008" y="1654516"/>
            <a:ext cx="29819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R</a:t>
            </a:r>
          </a:p>
        </p:txBody>
      </p:sp>
      <p:sp>
        <p:nvSpPr>
          <p:cNvPr id="8" name="Text 7"/>
          <p:cNvSpPr txBox="1"/>
          <p:nvPr/>
        </p:nvSpPr>
        <p:spPr>
          <a:xfrm>
            <a:off x="10787539" y="1660807"/>
            <a:ext cx="37982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ينفّذ</a:t>
            </a:r>
          </a:p>
        </p:txBody>
      </p:sp>
      <p:sp>
        <p:nvSpPr>
          <p:cNvPr id="9" name="Text 8"/>
          <p:cNvSpPr txBox="1"/>
          <p:nvPr/>
        </p:nvSpPr>
        <p:spPr>
          <a:xfrm>
            <a:off x="10369113" y="1654516"/>
            <a:ext cx="296505"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B4412C"/>
                </a:solidFill>
                <a:latin typeface="Readex Pro"/>
                <a:ea typeface="Readex Pro"/>
                <a:cs typeface="Readex Pro"/>
              </a:rPr>
              <a:t>A</a:t>
            </a:r>
          </a:p>
        </p:txBody>
      </p:sp>
      <p:sp>
        <p:nvSpPr>
          <p:cNvPr id="10" name="Text 9"/>
          <p:cNvSpPr txBox="1"/>
          <p:nvPr/>
        </p:nvSpPr>
        <p:spPr>
          <a:xfrm>
            <a:off x="9082465" y="1660807"/>
            <a:ext cx="137300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يُحاسَب، واحد فقط</a:t>
            </a:r>
          </a:p>
        </p:txBody>
      </p:sp>
      <p:sp>
        <p:nvSpPr>
          <p:cNvPr id="11" name="Text 10"/>
          <p:cNvSpPr txBox="1"/>
          <p:nvPr/>
        </p:nvSpPr>
        <p:spPr>
          <a:xfrm>
            <a:off x="8664932" y="1654516"/>
            <a:ext cx="29561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24506B"/>
                </a:solidFill>
                <a:latin typeface="Readex Pro"/>
                <a:ea typeface="Readex Pro"/>
                <a:cs typeface="Readex Pro"/>
              </a:rPr>
              <a:t>C</a:t>
            </a:r>
          </a:p>
        </p:txBody>
      </p:sp>
      <p:sp>
        <p:nvSpPr>
          <p:cNvPr id="12" name="Text 11"/>
          <p:cNvSpPr txBox="1"/>
          <p:nvPr/>
        </p:nvSpPr>
        <p:spPr>
          <a:xfrm>
            <a:off x="7853144" y="1660807"/>
            <a:ext cx="89814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يُستشار قبل</a:t>
            </a:r>
          </a:p>
        </p:txBody>
      </p:sp>
      <p:sp>
        <p:nvSpPr>
          <p:cNvPr id="13" name="Text 12"/>
          <p:cNvSpPr txBox="1"/>
          <p:nvPr/>
        </p:nvSpPr>
        <p:spPr>
          <a:xfrm>
            <a:off x="7467163" y="1654516"/>
            <a:ext cx="264061"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8A4B12"/>
                </a:solidFill>
                <a:latin typeface="Readex Pro"/>
                <a:ea typeface="Readex Pro"/>
                <a:cs typeface="Readex Pro"/>
              </a:rPr>
              <a:t>I</a:t>
            </a:r>
          </a:p>
        </p:txBody>
      </p:sp>
      <p:sp>
        <p:nvSpPr>
          <p:cNvPr id="14" name="Text 13"/>
          <p:cNvSpPr txBox="1"/>
          <p:nvPr/>
        </p:nvSpPr>
        <p:spPr>
          <a:xfrm>
            <a:off x="6922770" y="1660807"/>
            <a:ext cx="63075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يُبلَّغ بعد</a:t>
            </a:r>
          </a:p>
        </p:txBody>
      </p:sp>
      <p:graphicFrame>
        <p:nvGraphicFramePr>
          <p:cNvPr id="15" name="Table 14"/>
          <p:cNvGraphicFramePr>
            <a:graphicFrameLocks noGrp="1"/>
          </p:cNvGraphicFramePr>
          <p:nvPr/>
        </p:nvGraphicFramePr>
        <p:xfrm>
          <a:off x="815975" y="2335411"/>
          <a:ext cx="10560050" cy="2536032"/>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422672">
                <a:tc>
                  <a:txBody>
                    <a:bodyPr wrap="square"/>
                    <a:lstStyle/>
                    <a:p>
                      <a:pPr algn="ctr">
                        <a:lnSpc>
                          <a:spcPts val="2160"/>
                        </a:lnSpc>
                        <a:spcBef>
                          <a:spcPts val="0"/>
                        </a:spcBef>
                        <a:spcAft>
                          <a:spcPts val="0"/>
                        </a:spcAft>
                      </a:pPr>
                      <a:r>
                        <a:rPr sz="1600" b="1" i="0">
                          <a:solidFill>
                            <a:srgbClr val="F3EFE6"/>
                          </a:solidFill>
                          <a:latin typeface="IBM Plex Sans Arabic"/>
                          <a:ea typeface="IBM Plex Sans Arabic"/>
                          <a:cs typeface="IBM Plex Sans Arabic"/>
                        </a:rPr>
                        <a:t>GRC</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تقنية المعلومات</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مدير الموظف</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الموارد البشرية</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النشاط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إشعار انتهاء العلاقة الوظيفية فور تحديد آخر يوم عمل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إلغاء الحسابات والصلاحيات في كل الأنظمة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توثيق الإلغاء في تذكرة مغلقة بأدلتها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شهرية: المغادرون مقابل الحسابات النشطة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مراقبة فاعلية الإجراء وإبلاغ اللجنة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6" name="Text 15"/>
          <p:cNvSpPr txBox="1"/>
          <p:nvPr/>
        </p:nvSpPr>
        <p:spPr>
          <a:xfrm>
            <a:off x="0" y="5243171"/>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المورد ينفذ الإلغاء تحت إشراف تقنية المعلومات، فهي المساءلة. المسؤولية لا تنتقل إلى المورد.</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بند السياسة ولماذا</a:t>
            </a:r>
          </a:p>
        </p:txBody>
      </p:sp>
      <p:sp>
        <p:nvSpPr>
          <p:cNvPr id="7" name="Box 6"/>
          <p:cNvSpPr/>
          <p:nvPr/>
        </p:nvSpPr>
        <p:spPr>
          <a:xfrm>
            <a:off x="4625975" y="1661120"/>
            <a:ext cx="6750050" cy="3407073"/>
          </a:xfrm>
          <a:prstGeom prst="roundRect">
            <a:avLst>
              <a:gd name="adj" fmla="val 1860"/>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سياسة</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سياسة التحكم بالوصول</a:t>
            </a:r>
          </a:p>
        </p:txBody>
      </p:sp>
      <p:sp>
        <p:nvSpPr>
          <p:cNvPr id="12" name="Text 11"/>
          <p:cNvSpPr txBox="1"/>
          <p:nvPr/>
        </p:nvSpPr>
        <p:spPr>
          <a:xfrm>
            <a:off x="9003054" y="2426724"/>
            <a:ext cx="214119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البند:‏ 4.5 إلغاء صلاحيات المغادرين</a:t>
            </a:r>
          </a:p>
        </p:txBody>
      </p:sp>
      <p:sp>
        <p:nvSpPr>
          <p:cNvPr id="13" name="Text 12"/>
          <p:cNvSpPr txBox="1"/>
          <p:nvPr/>
        </p:nvSpPr>
        <p:spPr>
          <a:xfrm>
            <a:off x="7788315" y="2426724"/>
            <a:ext cx="119554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يحقق: ECC 1-⁠9-⁠5</a:t>
            </a:r>
          </a:p>
        </p:txBody>
      </p:sp>
      <p:sp>
        <p:nvSpPr>
          <p:cNvPr id="14" name="Text box 13"/>
          <p:cNvSpPr/>
          <p:nvPr/>
        </p:nvSpPr>
        <p:spPr>
          <a:xfrm>
            <a:off x="10864850" y="291891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5" name="Text box 14"/>
          <p:cNvSpPr/>
          <p:nvPr/>
        </p:nvSpPr>
        <p:spPr>
          <a:xfrm>
            <a:off x="4857750" y="2918916"/>
            <a:ext cx="5930900" cy="706041"/>
          </a:xfrm>
          <a:prstGeom prst="roundRect">
            <a:avLst>
              <a:gd name="adj" fmla="val 5396"/>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يجب إلغاء جميع حسابات العامل وصلاحياته في أنظمة رُفاد، بما فيها حسابات الوصول عن بعد، في موعد أقصاه نهاية آخر يوم عمل له.</a:t>
            </a:r>
          </a:p>
        </p:txBody>
      </p:sp>
      <p:sp>
        <p:nvSpPr>
          <p:cNvPr id="16" name="Text box 15"/>
          <p:cNvSpPr/>
          <p:nvPr/>
        </p:nvSpPr>
        <p:spPr>
          <a:xfrm>
            <a:off x="10864850" y="370115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17" name="Text box 16"/>
          <p:cNvSpPr/>
          <p:nvPr/>
        </p:nvSpPr>
        <p:spPr>
          <a:xfrm>
            <a:off x="4857750" y="3701157"/>
            <a:ext cx="5930900" cy="706041"/>
          </a:xfrm>
          <a:prstGeom prst="roundRect">
            <a:avLst>
              <a:gd name="adj" fmla="val 5396"/>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تُشعر الموارد البشرية تقنية المعلومات فور تحديد آخر يوم عمل، وتنفذ تقنية المعلومات الإلغاء وتوثقه في تذكرة،</a:t>
            </a:r>
          </a:p>
        </p:txBody>
      </p:sp>
      <p:sp>
        <p:nvSpPr>
          <p:cNvPr id="18" name="Text box 17"/>
          <p:cNvSpPr/>
          <p:nvPr/>
        </p:nvSpPr>
        <p:spPr>
          <a:xfrm>
            <a:off x="10864850" y="448339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19" name="Text box 18"/>
          <p:cNvSpPr/>
          <p:nvPr/>
        </p:nvSpPr>
        <p:spPr>
          <a:xfrm>
            <a:off x="4857750" y="448339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وتطابق شهرياً قائمة المغادرين مع الحسابات النشطة.</a:t>
            </a:r>
          </a:p>
        </p:txBody>
      </p:sp>
      <p:sp>
        <p:nvSpPr>
          <p:cNvPr id="20" name="Text box 19"/>
          <p:cNvSpPr/>
          <p:nvPr/>
        </p:nvSpPr>
        <p:spPr>
          <a:xfrm>
            <a:off x="4089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1" name="Text 20"/>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النطاق والموعد</a:t>
            </a:r>
          </a:p>
        </p:txBody>
      </p:sp>
      <p:sp>
        <p:nvSpPr>
          <p:cNvPr id="22" name="Text 21"/>
          <p:cNvSpPr txBox="1"/>
          <p:nvPr/>
        </p:nvSpPr>
        <p:spPr>
          <a:xfrm>
            <a:off x="717550" y="1898190"/>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كل الأنظمة، ونهاية آخر يوم عمل تحقق كلمة «مباشرة».</a:t>
            </a:r>
          </a:p>
        </p:txBody>
      </p:sp>
      <p:sp>
        <p:nvSpPr>
          <p:cNvPr id="23" name="Text box 22"/>
          <p:cNvSpPr/>
          <p:nvPr/>
        </p:nvSpPr>
        <p:spPr>
          <a:xfrm>
            <a:off x="4089400" y="268902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4" name="Text 23"/>
          <p:cNvSpPr txBox="1"/>
          <p:nvPr/>
        </p:nvSpPr>
        <p:spPr>
          <a:xfrm>
            <a:off x="558800" y="26676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المسؤول والدليل</a:t>
            </a:r>
          </a:p>
        </p:txBody>
      </p:sp>
      <p:sp>
        <p:nvSpPr>
          <p:cNvPr id="25" name="Text 24"/>
          <p:cNvSpPr txBox="1"/>
          <p:nvPr/>
        </p:nvSpPr>
        <p:spPr>
          <a:xfrm>
            <a:off x="717550" y="2929271"/>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الموارد البشرية تُشعر، وتقنية المعلومات تنفذ وتوثق في تذكرة.</a:t>
            </a:r>
          </a:p>
        </p:txBody>
      </p:sp>
      <p:sp>
        <p:nvSpPr>
          <p:cNvPr id="26" name="Text box 25"/>
          <p:cNvSpPr/>
          <p:nvPr/>
        </p:nvSpPr>
        <p:spPr>
          <a:xfrm>
            <a:off x="4089400" y="372010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7" name="Text 26"/>
          <p:cNvSpPr txBox="1"/>
          <p:nvPr/>
        </p:nvSpPr>
        <p:spPr>
          <a:xfrm>
            <a:off x="558800" y="369877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ضابط كشفي</a:t>
            </a:r>
          </a:p>
        </p:txBody>
      </p:sp>
      <p:sp>
        <p:nvSpPr>
          <p:cNvPr id="28" name="Text 27"/>
          <p:cNvSpPr txBox="1"/>
          <p:nvPr/>
        </p:nvSpPr>
        <p:spPr>
          <a:xfrm>
            <a:off x="717550" y="3960352"/>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المطابقة الشهرية تلتقط ما فات، ويملكها الخط الأول لا GRC.</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959997"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1: أخطاء شائعة</a:t>
            </a:r>
          </a:p>
        </p:txBody>
      </p:sp>
      <p:sp>
        <p:nvSpPr>
          <p:cNvPr id="7" name="Box 6"/>
          <p:cNvSpPr/>
          <p:nvPr/>
        </p:nvSpPr>
        <p:spPr>
          <a:xfrm>
            <a:off x="6188075" y="1661120"/>
            <a:ext cx="5187950" cy="3968750"/>
          </a:xfrm>
          <a:prstGeom prst="roundRect">
            <a:avLst>
              <a:gd name="adj" fmla="val 2875"/>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كيف تتجنبها</a:t>
            </a:r>
          </a:p>
        </p:txBody>
      </p:sp>
      <p:pic>
        <p:nvPicPr>
          <p:cNvPr id="9" name="Icon CheckCircle 8" descr="icon026.png"/>
          <p:cNvPicPr>
            <a:picLocks noChangeAspect="1"/>
          </p:cNvPicPr>
          <p:nvPr/>
        </p:nvPicPr>
        <p:blipFill>
          <a:blip r:embed="rId2"/>
          <a:stretch>
            <a:fillRect/>
          </a:stretch>
        </p:blipFill>
        <p:spPr>
          <a:xfrm>
            <a:off x="10909300" y="2248495"/>
            <a:ext cx="260350" cy="260350"/>
          </a:xfrm>
          <a:prstGeom prst="rect">
            <a:avLst/>
          </a:prstGeom>
        </p:spPr>
      </p:pic>
      <p:sp>
        <p:nvSpPr>
          <p:cNvPr id="10" name="Text 9"/>
          <p:cNvSpPr txBox="1"/>
          <p:nvPr/>
        </p:nvSpPr>
        <p:spPr>
          <a:xfrm>
            <a:off x="6262434" y="22091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A واحد في كل صف، وراجع الصفوف بعد التعبئة.</a:t>
            </a:r>
          </a:p>
        </p:txBody>
      </p:sp>
      <p:pic>
        <p:nvPicPr>
          <p:cNvPr id="11" name="Icon CheckCircle 10" descr="icon026.png"/>
          <p:cNvPicPr>
            <a:picLocks noChangeAspect="1"/>
          </p:cNvPicPr>
          <p:nvPr/>
        </p:nvPicPr>
        <p:blipFill>
          <a:blip r:embed="rId2"/>
          <a:stretch>
            <a:fillRect/>
          </a:stretch>
        </p:blipFill>
        <p:spPr>
          <a:xfrm>
            <a:off x="10909300" y="3048595"/>
            <a:ext cx="260350" cy="260350"/>
          </a:xfrm>
          <a:prstGeom prst="rect">
            <a:avLst/>
          </a:prstGeom>
        </p:spPr>
      </p:pic>
      <p:sp>
        <p:nvSpPr>
          <p:cNvPr id="12" name="Text 11"/>
          <p:cNvSpPr txBox="1"/>
          <p:nvPr/>
        </p:nvSpPr>
        <p:spPr>
          <a:xfrm>
            <a:off x="6210300" y="30092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الخط الأول ينفذ، وGRC يتحقق.</a:t>
            </a:r>
          </a:p>
        </p:txBody>
      </p:sp>
      <p:pic>
        <p:nvPicPr>
          <p:cNvPr id="13" name="Icon CheckCircle 12" descr="icon026.png"/>
          <p:cNvPicPr>
            <a:picLocks noChangeAspect="1"/>
          </p:cNvPicPr>
          <p:nvPr/>
        </p:nvPicPr>
        <p:blipFill>
          <a:blip r:embed="rId2"/>
          <a:stretch>
            <a:fillRect/>
          </a:stretch>
        </p:blipFill>
        <p:spPr>
          <a:xfrm>
            <a:off x="10909300" y="3493095"/>
            <a:ext cx="260350" cy="260350"/>
          </a:xfrm>
          <a:prstGeom prst="rect">
            <a:avLst/>
          </a:prstGeom>
        </p:spPr>
      </p:pic>
      <p:sp>
        <p:nvSpPr>
          <p:cNvPr id="14" name="Text 13"/>
          <p:cNvSpPr txBox="1"/>
          <p:nvPr/>
        </p:nvSpPr>
        <p:spPr>
          <a:xfrm>
            <a:off x="6210300" y="34537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موعد محدد ومسؤول بالوظيفة ودليل.</a:t>
            </a:r>
          </a:p>
        </p:txBody>
      </p:sp>
      <p:pic>
        <p:nvPicPr>
          <p:cNvPr id="15" name="Icon CheckCircle 14" descr="icon026.png"/>
          <p:cNvPicPr>
            <a:picLocks noChangeAspect="1"/>
          </p:cNvPicPr>
          <p:nvPr/>
        </p:nvPicPr>
        <p:blipFill>
          <a:blip r:embed="rId2"/>
          <a:stretch>
            <a:fillRect/>
          </a:stretch>
        </p:blipFill>
        <p:spPr>
          <a:xfrm>
            <a:off x="10909300" y="3937595"/>
            <a:ext cx="260350" cy="260350"/>
          </a:xfrm>
          <a:prstGeom prst="rect">
            <a:avLst/>
          </a:prstGeom>
        </p:spPr>
      </p:pic>
      <p:sp>
        <p:nvSpPr>
          <p:cNvPr id="16" name="Text 15"/>
          <p:cNvSpPr txBox="1"/>
          <p:nvPr/>
        </p:nvSpPr>
        <p:spPr>
          <a:xfrm>
            <a:off x="6210300" y="38982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غطِّ كل الأنظمة، بما فيها الوصول عن بعد.</a:t>
            </a:r>
          </a:p>
        </p:txBody>
      </p:sp>
      <p:pic>
        <p:nvPicPr>
          <p:cNvPr id="17" name="Icon CheckCircle 16" descr="icon026.png"/>
          <p:cNvPicPr>
            <a:picLocks noChangeAspect="1"/>
          </p:cNvPicPr>
          <p:nvPr/>
        </p:nvPicPr>
        <p:blipFill>
          <a:blip r:embed="rId2"/>
          <a:stretch>
            <a:fillRect/>
          </a:stretch>
        </p:blipFill>
        <p:spPr>
          <a:xfrm>
            <a:off x="10909300" y="4382095"/>
            <a:ext cx="260350" cy="260350"/>
          </a:xfrm>
          <a:prstGeom prst="rect">
            <a:avLst/>
          </a:prstGeom>
        </p:spPr>
      </p:pic>
      <p:sp>
        <p:nvSpPr>
          <p:cNvPr id="18" name="Text 17"/>
          <p:cNvSpPr txBox="1"/>
          <p:nvPr/>
        </p:nvSpPr>
        <p:spPr>
          <a:xfrm>
            <a:off x="6210300" y="43427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البند يقول كيف ستلتزم الجهة، لا يكرر الضابط.</a:t>
            </a:r>
          </a:p>
        </p:txBody>
      </p:sp>
      <p:sp>
        <p:nvSpPr>
          <p:cNvPr id="19" name="Box 18"/>
          <p:cNvSpPr/>
          <p:nvPr/>
        </p:nvSpPr>
        <p:spPr>
          <a:xfrm>
            <a:off x="815975" y="1661120"/>
            <a:ext cx="5187950" cy="3968750"/>
          </a:xfrm>
          <a:prstGeom prst="roundRect">
            <a:avLst>
              <a:gd name="adj" fmla="val 2875"/>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21" name="Icon Warning 20" descr="icon027.png"/>
          <p:cNvPicPr>
            <a:picLocks noChangeAspect="1"/>
          </p:cNvPicPr>
          <p:nvPr/>
        </p:nvPicPr>
        <p:blipFill>
          <a:blip r:embed="rId3"/>
          <a:stretch>
            <a:fillRect/>
          </a:stretch>
        </p:blipFill>
        <p:spPr>
          <a:xfrm>
            <a:off x="5537200" y="2248495"/>
            <a:ext cx="260350" cy="260350"/>
          </a:xfrm>
          <a:prstGeom prst="rect">
            <a:avLst/>
          </a:prstGeom>
        </p:spPr>
      </p:pic>
      <p:sp>
        <p:nvSpPr>
          <p:cNvPr id="22" name="Text 21"/>
          <p:cNvSpPr txBox="1"/>
          <p:nvPr/>
        </p:nvSpPr>
        <p:spPr>
          <a:xfrm>
            <a:off x="838200" y="22091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وضع GRC مسؤولاً عن تعطيل الحسابات.</a:t>
            </a:r>
          </a:p>
        </p:txBody>
      </p:sp>
      <p:pic>
        <p:nvPicPr>
          <p:cNvPr id="23" name="Icon Warning 22" descr="icon027.png"/>
          <p:cNvPicPr>
            <a:picLocks noChangeAspect="1"/>
          </p:cNvPicPr>
          <p:nvPr/>
        </p:nvPicPr>
        <p:blipFill>
          <a:blip r:embed="rId3"/>
          <a:stretch>
            <a:fillRect/>
          </a:stretch>
        </p:blipFill>
        <p:spPr>
          <a:xfrm>
            <a:off x="5537200" y="2692995"/>
            <a:ext cx="260350" cy="260350"/>
          </a:xfrm>
          <a:prstGeom prst="rect">
            <a:avLst/>
          </a:prstGeom>
        </p:spPr>
      </p:pic>
      <p:sp>
        <p:nvSpPr>
          <p:cNvPr id="24" name="Text 23"/>
          <p:cNvSpPr txBox="1"/>
          <p:nvPr/>
        </p:nvSpPr>
        <p:spPr>
          <a:xfrm>
            <a:off x="838200" y="26536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أكثر من A في النشاط الواحد، أو نشاط بلا A.</a:t>
            </a:r>
          </a:p>
        </p:txBody>
      </p:sp>
      <p:pic>
        <p:nvPicPr>
          <p:cNvPr id="25" name="Icon Warning 24" descr="icon027.png"/>
          <p:cNvPicPr>
            <a:picLocks noChangeAspect="1"/>
          </p:cNvPicPr>
          <p:nvPr/>
        </p:nvPicPr>
        <p:blipFill>
          <a:blip r:embed="rId3"/>
          <a:stretch>
            <a:fillRect/>
          </a:stretch>
        </p:blipFill>
        <p:spPr>
          <a:xfrm>
            <a:off x="5537200" y="3137495"/>
            <a:ext cx="260350" cy="260350"/>
          </a:xfrm>
          <a:prstGeom prst="rect">
            <a:avLst/>
          </a:prstGeom>
        </p:spPr>
      </p:pic>
      <p:sp>
        <p:nvSpPr>
          <p:cNvPr id="26" name="Text 25"/>
          <p:cNvSpPr txBox="1"/>
          <p:nvPr/>
        </p:nvSpPr>
        <p:spPr>
          <a:xfrm>
            <a:off x="890334" y="30981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بند غامض: «تُلغى الصلاحيات في الوقت المناسب».</a:t>
            </a:r>
          </a:p>
        </p:txBody>
      </p:sp>
      <p:pic>
        <p:nvPicPr>
          <p:cNvPr id="27" name="Icon Warning 26" descr="icon027.png"/>
          <p:cNvPicPr>
            <a:picLocks noChangeAspect="1"/>
          </p:cNvPicPr>
          <p:nvPr/>
        </p:nvPicPr>
        <p:blipFill>
          <a:blip r:embed="rId3"/>
          <a:stretch>
            <a:fillRect/>
          </a:stretch>
        </p:blipFill>
        <p:spPr>
          <a:xfrm>
            <a:off x="5537200" y="3937595"/>
            <a:ext cx="260350" cy="260350"/>
          </a:xfrm>
          <a:prstGeom prst="rect">
            <a:avLst/>
          </a:prstGeom>
        </p:spPr>
      </p:pic>
      <p:sp>
        <p:nvSpPr>
          <p:cNvPr id="28" name="Text 27"/>
          <p:cNvSpPr txBox="1"/>
          <p:nvPr/>
        </p:nvSpPr>
        <p:spPr>
          <a:xfrm>
            <a:off x="890334" y="38982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نسيان حسابات الوصول عن بعد ونظام الرواتب وتطبيق التتبع.</a:t>
            </a:r>
          </a:p>
        </p:txBody>
      </p:sp>
      <p:pic>
        <p:nvPicPr>
          <p:cNvPr id="29" name="Icon Warning 28" descr="icon027.png"/>
          <p:cNvPicPr>
            <a:picLocks noChangeAspect="1"/>
          </p:cNvPicPr>
          <p:nvPr/>
        </p:nvPicPr>
        <p:blipFill>
          <a:blip r:embed="rId3"/>
          <a:stretch>
            <a:fillRect/>
          </a:stretch>
        </p:blipFill>
        <p:spPr>
          <a:xfrm>
            <a:off x="5537200" y="4737695"/>
            <a:ext cx="260350" cy="260350"/>
          </a:xfrm>
          <a:prstGeom prst="rect">
            <a:avLst/>
          </a:prstGeom>
        </p:spPr>
      </p:pic>
      <p:sp>
        <p:nvSpPr>
          <p:cNvPr id="30" name="Text 29"/>
          <p:cNvSpPr txBox="1"/>
          <p:nvPr/>
        </p:nvSpPr>
        <p:spPr>
          <a:xfrm>
            <a:off x="890334" y="46983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نسخ نص الضابط كما هو دون تحديد من ومتى وما الدليل.</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الحوكمة</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الثاني</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المخاطر</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ما الذي قد يحدث، وما حجمه، وماذا نفعل حياله؟</a:t>
            </a:r>
          </a:p>
        </p:txBody>
      </p:sp>
      <p:sp>
        <p:nvSpPr>
          <p:cNvPr id="5" name="Text box 4"/>
          <p:cNvSpPr/>
          <p:nvPr/>
        </p:nvSpPr>
        <p:spPr>
          <a:xfrm>
            <a:off x="9823450" y="3952280"/>
            <a:ext cx="114935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ثلاثية الأمن</a:t>
            </a:r>
          </a:p>
        </p:txBody>
      </p:sp>
      <p:sp>
        <p:nvSpPr>
          <p:cNvPr id="6" name="Text box 5"/>
          <p:cNvSpPr/>
          <p:nvPr/>
        </p:nvSpPr>
        <p:spPr>
          <a:xfrm>
            <a:off x="7919541" y="3952280"/>
            <a:ext cx="181500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مصطلحات المخاطر</a:t>
            </a:r>
          </a:p>
        </p:txBody>
      </p:sp>
      <p:sp>
        <p:nvSpPr>
          <p:cNvPr id="7" name="Text box 6"/>
          <p:cNvSpPr/>
          <p:nvPr/>
        </p:nvSpPr>
        <p:spPr>
          <a:xfrm>
            <a:off x="6527105" y="3952280"/>
            <a:ext cx="1303536"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صياغة الخطر</a:t>
            </a:r>
          </a:p>
        </p:txBody>
      </p:sp>
      <p:sp>
        <p:nvSpPr>
          <p:cNvPr id="8" name="Text box 7"/>
          <p:cNvSpPr/>
          <p:nvPr/>
        </p:nvSpPr>
        <p:spPr>
          <a:xfrm>
            <a:off x="4064595" y="3952280"/>
            <a:ext cx="237361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الإطار الوطني لإدارة المخاطر</a:t>
            </a:r>
          </a:p>
        </p:txBody>
      </p:sp>
      <p:sp>
        <p:nvSpPr>
          <p:cNvPr id="9" name="Text box 8"/>
          <p:cNvSpPr/>
          <p:nvPr/>
        </p:nvSpPr>
        <p:spPr>
          <a:xfrm>
            <a:off x="2444353" y="3952280"/>
            <a:ext cx="153134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التقييم</a:t>
            </a:r>
          </a:p>
        </p:txBody>
      </p:sp>
      <p:sp>
        <p:nvSpPr>
          <p:cNvPr id="10" name="Text box 9"/>
          <p:cNvSpPr/>
          <p:nvPr/>
        </p:nvSpPr>
        <p:spPr>
          <a:xfrm>
            <a:off x="9299773" y="4442420"/>
            <a:ext cx="1673027"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المتأصل والمتبقي</a:t>
            </a:r>
          </a:p>
        </p:txBody>
      </p:sp>
      <p:sp>
        <p:nvSpPr>
          <p:cNvPr id="11" name="Text box 10"/>
          <p:cNvSpPr/>
          <p:nvPr/>
        </p:nvSpPr>
        <p:spPr>
          <a:xfrm>
            <a:off x="7572375" y="4442420"/>
            <a:ext cx="163849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المعالجة والشهية</a:t>
            </a:r>
          </a:p>
        </p:txBody>
      </p:sp>
      <p:sp>
        <p:nvSpPr>
          <p:cNvPr id="12" name="Text box 11"/>
          <p:cNvSpPr/>
          <p:nvPr/>
        </p:nvSpPr>
        <p:spPr>
          <a:xfrm>
            <a:off x="6529586" y="4442420"/>
            <a:ext cx="95388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الضوابط</a:t>
            </a:r>
          </a:p>
        </p:txBody>
      </p:sp>
      <p:sp>
        <p:nvSpPr>
          <p:cNvPr id="13" name="Text box 12"/>
          <p:cNvSpPr/>
          <p:nvPr/>
        </p:nvSpPr>
        <p:spPr>
          <a:xfrm>
            <a:off x="5033268" y="4442420"/>
            <a:ext cx="140741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سجل المخاطر</a:t>
            </a:r>
          </a:p>
        </p:txBody>
      </p:sp>
      <p:sp>
        <p:nvSpPr>
          <p:cNvPr id="14" name="Text box 13"/>
          <p:cNvSpPr/>
          <p:nvPr/>
        </p:nvSpPr>
        <p:spPr>
          <a:xfrm>
            <a:off x="3870424"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2</a:t>
            </a:r>
          </a:p>
        </p:txBody>
      </p:sp>
      <p:sp>
        <p:nvSpPr>
          <p:cNvPr id="15" name="Text 1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03 · المخاطر</a:t>
            </a:r>
          </a:p>
        </p:txBody>
      </p:sp>
      <p:sp>
        <p:nvSpPr>
          <p:cNvPr id="16" name="Text 1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ثلاثية الأمن: ما الذي نحميه في المعلومات؟</a:t>
            </a:r>
          </a:p>
        </p:txBody>
      </p:sp>
      <p:sp>
        <p:nvSpPr>
          <p:cNvPr id="5" name="Rule 4"/>
          <p:cNvSpPr/>
          <p:nvPr/>
        </p:nvSpPr>
        <p:spPr>
          <a:xfrm>
            <a:off x="7950200" y="1657945"/>
            <a:ext cx="3429000" cy="31750"/>
          </a:xfrm>
          <a:prstGeom prst="rect">
            <a:avLst/>
          </a:prstGeom>
          <a:solidFill>
            <a:srgbClr val="0E7C6B"/>
          </a:solidFill>
          <a:ln>
            <a:noFill/>
          </a:ln>
        </p:spPr>
        <p:txBody>
          <a:bodyPr rtlCol="0" anchor="ctr"/>
          <a:lstStyle/>
          <a:p>
            <a:pPr algn="ctr"/>
          </a:p>
        </p:txBody>
      </p:sp>
      <p:sp>
        <p:nvSpPr>
          <p:cNvPr id="6" name="Text 5"/>
          <p:cNvSpPr txBox="1"/>
          <p:nvPr/>
        </p:nvSpPr>
        <p:spPr>
          <a:xfrm>
            <a:off x="10319286" y="1818219"/>
            <a:ext cx="102181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السرية</a:t>
            </a:r>
          </a:p>
        </p:txBody>
      </p:sp>
      <p:sp>
        <p:nvSpPr>
          <p:cNvPr id="7" name="Text 6"/>
          <p:cNvSpPr txBox="1"/>
          <p:nvPr/>
        </p:nvSpPr>
        <p:spPr>
          <a:xfrm>
            <a:off x="8645783" y="1817691"/>
            <a:ext cx="1752243"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Confidentiality</a:t>
            </a:r>
          </a:p>
        </p:txBody>
      </p:sp>
      <p:sp>
        <p:nvSpPr>
          <p:cNvPr id="8" name="Text 7"/>
          <p:cNvSpPr txBox="1"/>
          <p:nvPr/>
        </p:nvSpPr>
        <p:spPr>
          <a:xfrm>
            <a:off x="7975600" y="2215475"/>
            <a:ext cx="336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لا يطّلع على المعلومة إلا المخوَّل.</a:t>
            </a:r>
          </a:p>
        </p:txBody>
      </p:sp>
      <p:sp>
        <p:nvSpPr>
          <p:cNvPr id="9" name="Text 8"/>
          <p:cNvSpPr txBox="1"/>
          <p:nvPr/>
        </p:nvSpPr>
        <p:spPr>
          <a:xfrm>
            <a:off x="7975600" y="26409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تسرب ملف الرواتب.</a:t>
            </a:r>
          </a:p>
        </p:txBody>
      </p:sp>
      <p:sp>
        <p:nvSpPr>
          <p:cNvPr id="10" name="Text 9"/>
          <p:cNvSpPr txBox="1"/>
          <p:nvPr/>
        </p:nvSpPr>
        <p:spPr>
          <a:xfrm>
            <a:off x="7975600" y="3453725"/>
            <a:ext cx="33655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الصلاحيات والتشفير.</a:t>
            </a:r>
          </a:p>
        </p:txBody>
      </p:sp>
      <p:sp>
        <p:nvSpPr>
          <p:cNvPr id="11" name="Rule 10"/>
          <p:cNvSpPr/>
          <p:nvPr/>
        </p:nvSpPr>
        <p:spPr>
          <a:xfrm>
            <a:off x="4381500" y="1657945"/>
            <a:ext cx="3429000" cy="31750"/>
          </a:xfrm>
          <a:prstGeom prst="rect">
            <a:avLst/>
          </a:prstGeom>
          <a:solidFill>
            <a:srgbClr val="24506B"/>
          </a:solidFill>
          <a:ln>
            <a:noFill/>
          </a:ln>
        </p:spPr>
        <p:txBody>
          <a:bodyPr rtlCol="0" anchor="ctr"/>
          <a:lstStyle/>
          <a:p>
            <a:pPr algn="ctr"/>
          </a:p>
        </p:txBody>
      </p:sp>
      <p:sp>
        <p:nvSpPr>
          <p:cNvPr id="12" name="Text 11"/>
          <p:cNvSpPr txBox="1"/>
          <p:nvPr/>
        </p:nvSpPr>
        <p:spPr>
          <a:xfrm>
            <a:off x="6648589" y="1818219"/>
            <a:ext cx="1123811"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السلامة</a:t>
            </a:r>
          </a:p>
        </p:txBody>
      </p:sp>
      <p:sp>
        <p:nvSpPr>
          <p:cNvPr id="13" name="Text 12"/>
          <p:cNvSpPr txBox="1"/>
          <p:nvPr/>
        </p:nvSpPr>
        <p:spPr>
          <a:xfrm>
            <a:off x="5600760" y="1817691"/>
            <a:ext cx="112656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Integrity</a:t>
            </a:r>
          </a:p>
        </p:txBody>
      </p:sp>
      <p:sp>
        <p:nvSpPr>
          <p:cNvPr id="14" name="Text 13"/>
          <p:cNvSpPr txBox="1"/>
          <p:nvPr/>
        </p:nvSpPr>
        <p:spPr>
          <a:xfrm>
            <a:off x="4406900" y="2215475"/>
            <a:ext cx="33655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المعلومة صحيحة ولم تُغيَّر دون إذن.</a:t>
            </a:r>
          </a:p>
        </p:txBody>
      </p:sp>
      <p:sp>
        <p:nvSpPr>
          <p:cNvPr id="15" name="Text 14"/>
          <p:cNvSpPr txBox="1"/>
          <p:nvPr/>
        </p:nvSpPr>
        <p:spPr>
          <a:xfrm>
            <a:off x="4406900" y="2996525"/>
            <a:ext cx="33655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تغيير رقم الحساب البنكي لموظف في نظام الرواتب.</a:t>
            </a:r>
          </a:p>
        </p:txBody>
      </p:sp>
      <p:sp>
        <p:nvSpPr>
          <p:cNvPr id="16" name="Text 15"/>
          <p:cNvSpPr txBox="1"/>
          <p:nvPr/>
        </p:nvSpPr>
        <p:spPr>
          <a:xfrm>
            <a:off x="4406900" y="41776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فصل المهام وسجلات التغيير.</a:t>
            </a:r>
          </a:p>
        </p:txBody>
      </p:sp>
      <p:sp>
        <p:nvSpPr>
          <p:cNvPr id="17" name="Rule 16"/>
          <p:cNvSpPr/>
          <p:nvPr/>
        </p:nvSpPr>
        <p:spPr>
          <a:xfrm>
            <a:off x="812800" y="1657945"/>
            <a:ext cx="3429000" cy="31750"/>
          </a:xfrm>
          <a:prstGeom prst="rect">
            <a:avLst/>
          </a:prstGeom>
          <a:solidFill>
            <a:srgbClr val="8A4B12"/>
          </a:solidFill>
          <a:ln>
            <a:noFill/>
          </a:ln>
        </p:spPr>
        <p:txBody>
          <a:bodyPr rtlCol="0" anchor="ctr"/>
          <a:lstStyle/>
          <a:p>
            <a:pPr algn="ctr"/>
          </a:p>
        </p:txBody>
      </p:sp>
      <p:sp>
        <p:nvSpPr>
          <p:cNvPr id="18" name="Text 17"/>
          <p:cNvSpPr txBox="1"/>
          <p:nvPr/>
        </p:nvSpPr>
        <p:spPr>
          <a:xfrm>
            <a:off x="3203912" y="1818219"/>
            <a:ext cx="999788"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التوافر</a:t>
            </a:r>
          </a:p>
        </p:txBody>
      </p:sp>
      <p:sp>
        <p:nvSpPr>
          <p:cNvPr id="19" name="Text 18"/>
          <p:cNvSpPr txBox="1"/>
          <p:nvPr/>
        </p:nvSpPr>
        <p:spPr>
          <a:xfrm>
            <a:off x="1957447" y="1817691"/>
            <a:ext cx="132520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Availability</a:t>
            </a:r>
          </a:p>
        </p:txBody>
      </p:sp>
      <p:sp>
        <p:nvSpPr>
          <p:cNvPr id="20" name="Text 19"/>
          <p:cNvSpPr txBox="1"/>
          <p:nvPr/>
        </p:nvSpPr>
        <p:spPr>
          <a:xfrm>
            <a:off x="838200" y="2215475"/>
            <a:ext cx="336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الخدمة متاحة وقت الحاجة.</a:t>
            </a:r>
          </a:p>
        </p:txBody>
      </p:sp>
      <p:sp>
        <p:nvSpPr>
          <p:cNvPr id="21" name="Text 20"/>
          <p:cNvSpPr txBox="1"/>
          <p:nvPr/>
        </p:nvSpPr>
        <p:spPr>
          <a:xfrm>
            <a:off x="838200" y="26409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توقف تطبيق التتبع يوم ذروة.</a:t>
            </a:r>
          </a:p>
        </p:txBody>
      </p:sp>
      <p:sp>
        <p:nvSpPr>
          <p:cNvPr id="22" name="Text 21"/>
          <p:cNvSpPr txBox="1"/>
          <p:nvPr/>
        </p:nvSpPr>
        <p:spPr>
          <a:xfrm>
            <a:off x="838200" y="34537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النسخ الاحتياطي وخطة التعافي.</a:t>
            </a:r>
          </a:p>
        </p:txBody>
      </p:sp>
      <p:sp>
        <p:nvSpPr>
          <p:cNvPr id="23" name="Box 22"/>
          <p:cNvSpPr/>
          <p:nvPr/>
        </p:nvSpPr>
        <p:spPr>
          <a:xfrm>
            <a:off x="812800" y="5175845"/>
            <a:ext cx="10566400" cy="609600"/>
          </a:xfrm>
          <a:prstGeom prst="roundRect">
            <a:avLst>
              <a:gd name="adj" fmla="val 16666"/>
            </a:avLst>
          </a:prstGeom>
          <a:solidFill>
            <a:srgbClr val="172433"/>
          </a:solidFill>
          <a:ln>
            <a:noFill/>
          </a:ln>
        </p:spPr>
        <p:txBody>
          <a:bodyPr rtlCol="0" anchor="ctr"/>
          <a:lstStyle/>
          <a:p>
            <a:pPr algn="ctr"/>
          </a:p>
        </p:txBody>
      </p:sp>
      <p:pic>
        <p:nvPicPr>
          <p:cNvPr id="24" name="Icon Lightbulb 23" descr="icon028.png"/>
          <p:cNvPicPr>
            <a:picLocks noChangeAspect="1"/>
          </p:cNvPicPr>
          <p:nvPr/>
        </p:nvPicPr>
        <p:blipFill>
          <a:blip r:embed="rId2"/>
          <a:stretch>
            <a:fillRect/>
          </a:stretch>
        </p:blipFill>
        <p:spPr>
          <a:xfrm>
            <a:off x="10922000" y="5340945"/>
            <a:ext cx="279400" cy="279400"/>
          </a:xfrm>
          <a:prstGeom prst="rect">
            <a:avLst/>
          </a:prstGeom>
        </p:spPr>
      </p:pic>
      <p:sp>
        <p:nvSpPr>
          <p:cNvPr id="25" name="Text 24"/>
          <p:cNvSpPr txBox="1"/>
          <p:nvPr/>
        </p:nvSpPr>
        <p:spPr>
          <a:xfrm>
            <a:off x="838200" y="52634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في كل خطر اسأل: أي الثلاثة يمس؟ الإجابة تحدد الضابط المناسب وحجم الأثر.</a:t>
            </a:r>
          </a:p>
        </p:txBody>
      </p:sp>
      <p:sp>
        <p:nvSpPr>
          <p:cNvPr id="26" name="Text 2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7" name="Text 2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مصطلحات للمخاطر، بمثال واحد</a:t>
            </a:r>
          </a:p>
        </p:txBody>
      </p:sp>
      <p:sp>
        <p:nvSpPr>
          <p:cNvPr id="5" name="Rule 4"/>
          <p:cNvSpPr/>
          <p:nvPr/>
        </p:nvSpPr>
        <p:spPr>
          <a:xfrm>
            <a:off x="8246566" y="1607145"/>
            <a:ext cx="3132634" cy="31750"/>
          </a:xfrm>
          <a:prstGeom prst="rect">
            <a:avLst/>
          </a:prstGeom>
          <a:solidFill>
            <a:srgbClr val="0E7C6B"/>
          </a:solidFill>
          <a:ln>
            <a:noFill/>
          </a:ln>
        </p:spPr>
        <p:txBody>
          <a:bodyPr rtlCol="0" anchor="ctr"/>
          <a:lstStyle/>
          <a:p>
            <a:pPr algn="ctr"/>
          </a:p>
        </p:txBody>
      </p:sp>
      <p:sp>
        <p:nvSpPr>
          <p:cNvPr id="6" name="Text 5"/>
          <p:cNvSpPr txBox="1"/>
          <p:nvPr/>
        </p:nvSpPr>
        <p:spPr>
          <a:xfrm>
            <a:off x="8246566"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0E7C6B"/>
                </a:solidFill>
                <a:latin typeface="Readex Pro"/>
                <a:ea typeface="Readex Pro"/>
                <a:cs typeface="Readex Pro"/>
              </a:rPr>
              <a:t>الأصل</a:t>
            </a:r>
          </a:p>
        </p:txBody>
      </p:sp>
      <p:sp>
        <p:nvSpPr>
          <p:cNvPr id="7" name="Text 6"/>
          <p:cNvSpPr txBox="1"/>
          <p:nvPr/>
        </p:nvSpPr>
        <p:spPr>
          <a:xfrm>
            <a:off x="8246566"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له قيمة للجهة.</a:t>
            </a:r>
          </a:p>
        </p:txBody>
      </p:sp>
      <p:sp>
        <p:nvSpPr>
          <p:cNvPr id="8" name="Text 7"/>
          <p:cNvSpPr txBox="1"/>
          <p:nvPr/>
        </p:nvSpPr>
        <p:spPr>
          <a:xfrm>
            <a:off x="8246566"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الحاسوب وملفات الرواتب.</a:t>
            </a:r>
          </a:p>
        </p:txBody>
      </p:sp>
      <p:sp>
        <p:nvSpPr>
          <p:cNvPr id="9" name="Text 8"/>
          <p:cNvSpPr txBox="1"/>
          <p:nvPr/>
        </p:nvSpPr>
        <p:spPr>
          <a:xfrm>
            <a:off x="7662366" y="1999536"/>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10" name="Rule 9"/>
          <p:cNvSpPr/>
          <p:nvPr/>
        </p:nvSpPr>
        <p:spPr>
          <a:xfrm>
            <a:off x="4529733" y="1607145"/>
            <a:ext cx="3132634" cy="31750"/>
          </a:xfrm>
          <a:prstGeom prst="rect">
            <a:avLst/>
          </a:prstGeom>
          <a:solidFill>
            <a:srgbClr val="8A4B12"/>
          </a:solidFill>
          <a:ln>
            <a:noFill/>
          </a:ln>
        </p:spPr>
        <p:txBody>
          <a:bodyPr rtlCol="0" anchor="ctr"/>
          <a:lstStyle/>
          <a:p>
            <a:pPr algn="ctr"/>
          </a:p>
        </p:txBody>
      </p:sp>
      <p:sp>
        <p:nvSpPr>
          <p:cNvPr id="11" name="Text 10"/>
          <p:cNvSpPr txBox="1"/>
          <p:nvPr/>
        </p:nvSpPr>
        <p:spPr>
          <a:xfrm>
            <a:off x="4529733"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8A4B12"/>
                </a:solidFill>
                <a:latin typeface="Readex Pro"/>
                <a:ea typeface="Readex Pro"/>
                <a:cs typeface="Readex Pro"/>
              </a:rPr>
              <a:t>التهديد</a:t>
            </a:r>
          </a:p>
        </p:txBody>
      </p:sp>
      <p:sp>
        <p:nvSpPr>
          <p:cNvPr id="12" name="Text 11"/>
          <p:cNvSpPr txBox="1"/>
          <p:nvPr/>
        </p:nvSpPr>
        <p:spPr>
          <a:xfrm>
            <a:off x="4529733"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قد يسبب الضرر.</a:t>
            </a:r>
          </a:p>
        </p:txBody>
      </p:sp>
      <p:sp>
        <p:nvSpPr>
          <p:cNvPr id="13" name="Text 12"/>
          <p:cNvSpPr txBox="1"/>
          <p:nvPr/>
        </p:nvSpPr>
        <p:spPr>
          <a:xfrm>
            <a:off x="4529733"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سرقة الحاسوب من السيارة.</a:t>
            </a:r>
          </a:p>
        </p:txBody>
      </p:sp>
      <p:sp>
        <p:nvSpPr>
          <p:cNvPr id="14" name="Text 13"/>
          <p:cNvSpPr txBox="1"/>
          <p:nvPr/>
        </p:nvSpPr>
        <p:spPr>
          <a:xfrm>
            <a:off x="3945533" y="1999536"/>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15" name="Rule 14"/>
          <p:cNvSpPr/>
          <p:nvPr/>
        </p:nvSpPr>
        <p:spPr>
          <a:xfrm>
            <a:off x="812899" y="1607145"/>
            <a:ext cx="3132634" cy="31750"/>
          </a:xfrm>
          <a:prstGeom prst="rect">
            <a:avLst/>
          </a:prstGeom>
          <a:solidFill>
            <a:srgbClr val="B4412C"/>
          </a:solidFill>
          <a:ln>
            <a:noFill/>
          </a:ln>
        </p:spPr>
        <p:txBody>
          <a:bodyPr rtlCol="0" anchor="ctr"/>
          <a:lstStyle/>
          <a:p>
            <a:pPr algn="ctr"/>
          </a:p>
        </p:txBody>
      </p:sp>
      <p:sp>
        <p:nvSpPr>
          <p:cNvPr id="16" name="Text 15"/>
          <p:cNvSpPr txBox="1"/>
          <p:nvPr/>
        </p:nvSpPr>
        <p:spPr>
          <a:xfrm>
            <a:off x="812899"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B4412C"/>
                </a:solidFill>
                <a:latin typeface="Readex Pro"/>
                <a:ea typeface="Readex Pro"/>
                <a:cs typeface="Readex Pro"/>
              </a:rPr>
              <a:t>الثغرة</a:t>
            </a:r>
          </a:p>
        </p:txBody>
      </p:sp>
      <p:sp>
        <p:nvSpPr>
          <p:cNvPr id="17" name="Text 16"/>
          <p:cNvSpPr txBox="1"/>
          <p:nvPr/>
        </p:nvSpPr>
        <p:spPr>
          <a:xfrm>
            <a:off x="812899"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ضعف يسهّل الضرر.</a:t>
            </a:r>
          </a:p>
        </p:txBody>
      </p:sp>
      <p:sp>
        <p:nvSpPr>
          <p:cNvPr id="18" name="Text 17"/>
          <p:cNvSpPr txBox="1"/>
          <p:nvPr/>
        </p:nvSpPr>
        <p:spPr>
          <a:xfrm>
            <a:off x="812899"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القرص غير مشفر.</a:t>
            </a:r>
          </a:p>
        </p:txBody>
      </p:sp>
      <p:sp>
        <p:nvSpPr>
          <p:cNvPr id="19" name="Text 18"/>
          <p:cNvSpPr txBox="1"/>
          <p:nvPr/>
        </p:nvSpPr>
        <p:spPr>
          <a:xfrm>
            <a:off x="390144" y="2889766"/>
            <a:ext cx="11411712"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Box 19"/>
          <p:cNvSpPr/>
          <p:nvPr/>
        </p:nvSpPr>
        <p:spPr>
          <a:xfrm>
            <a:off x="812800" y="3272036"/>
            <a:ext cx="10566400" cy="897830"/>
          </a:xfrm>
          <a:prstGeom prst="roundRect">
            <a:avLst>
              <a:gd name="adj" fmla="val 11316"/>
            </a:avLst>
          </a:prstGeom>
          <a:solidFill>
            <a:srgbClr val="172433"/>
          </a:solidFill>
          <a:ln>
            <a:noFill/>
          </a:ln>
        </p:spPr>
        <p:txBody>
          <a:bodyPr rtlCol="0" anchor="ctr"/>
          <a:lstStyle/>
          <a:p>
            <a:pPr algn="ctr"/>
          </a:p>
        </p:txBody>
      </p:sp>
      <p:sp>
        <p:nvSpPr>
          <p:cNvPr id="21" name="Text 20"/>
          <p:cNvSpPr txBox="1"/>
          <p:nvPr/>
        </p:nvSpPr>
        <p:spPr>
          <a:xfrm>
            <a:off x="9738360" y="3549130"/>
            <a:ext cx="143764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3EFE6"/>
                </a:solidFill>
                <a:latin typeface="Readex Pro"/>
                <a:ea typeface="Readex Pro"/>
                <a:cs typeface="Readex Pro"/>
              </a:rPr>
              <a:t>الخطر</a:t>
            </a:r>
          </a:p>
        </p:txBody>
      </p:sp>
      <p:sp>
        <p:nvSpPr>
          <p:cNvPr id="22" name="Text 21"/>
          <p:cNvSpPr txBox="1"/>
          <p:nvPr/>
        </p:nvSpPr>
        <p:spPr>
          <a:xfrm>
            <a:off x="838200" y="3382018"/>
            <a:ext cx="8915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تهديد يستغل ثغرة في أصل.</a:t>
            </a:r>
          </a:p>
        </p:txBody>
      </p:sp>
      <p:sp>
        <p:nvSpPr>
          <p:cNvPr id="23" name="Text 22"/>
          <p:cNvSpPr txBox="1"/>
          <p:nvPr/>
        </p:nvSpPr>
        <p:spPr>
          <a:xfrm>
            <a:off x="838200" y="3714210"/>
            <a:ext cx="89154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C9D3DC"/>
                </a:solidFill>
                <a:latin typeface="IBM Plex Sans Arabic"/>
                <a:ea typeface="IBM Plex Sans Arabic"/>
                <a:cs typeface="IBM Plex Sans Arabic"/>
              </a:rPr>
              <a:t>«تسرب الرواتب بسرقة حاسوب غير مشفر».</a:t>
            </a:r>
          </a:p>
        </p:txBody>
      </p:sp>
      <p:sp>
        <p:nvSpPr>
          <p:cNvPr id="24" name="Rule 23"/>
          <p:cNvSpPr/>
          <p:nvPr/>
        </p:nvSpPr>
        <p:spPr>
          <a:xfrm>
            <a:off x="8246566" y="4309566"/>
            <a:ext cx="3132634" cy="31750"/>
          </a:xfrm>
          <a:prstGeom prst="rect">
            <a:avLst/>
          </a:prstGeom>
          <a:solidFill>
            <a:srgbClr val="24506B"/>
          </a:solidFill>
          <a:ln>
            <a:noFill/>
          </a:ln>
        </p:spPr>
        <p:txBody>
          <a:bodyPr rtlCol="0" anchor="ctr"/>
          <a:lstStyle/>
          <a:p>
            <a:pPr algn="ctr"/>
          </a:p>
        </p:txBody>
      </p:sp>
      <p:sp>
        <p:nvSpPr>
          <p:cNvPr id="25" name="Text 24"/>
          <p:cNvSpPr txBox="1"/>
          <p:nvPr/>
        </p:nvSpPr>
        <p:spPr>
          <a:xfrm>
            <a:off x="8246566"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24506B"/>
                </a:solidFill>
                <a:latin typeface="Readex Pro"/>
                <a:ea typeface="Readex Pro"/>
                <a:cs typeface="Readex Pro"/>
              </a:rPr>
              <a:t>الاحتمال</a:t>
            </a:r>
          </a:p>
        </p:txBody>
      </p:sp>
      <p:sp>
        <p:nvSpPr>
          <p:cNvPr id="26" name="Text 25"/>
          <p:cNvSpPr txBox="1"/>
          <p:nvPr/>
        </p:nvSpPr>
        <p:spPr>
          <a:xfrm>
            <a:off x="8246566"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فرصة الحدوث خلال فترة.</a:t>
            </a:r>
          </a:p>
        </p:txBody>
      </p:sp>
      <p:sp>
        <p:nvSpPr>
          <p:cNvPr id="27" name="Text 26"/>
          <p:cNvSpPr txBox="1"/>
          <p:nvPr/>
        </p:nvSpPr>
        <p:spPr>
          <a:xfrm>
            <a:off x="8246566"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الموظف يتنقل بالحاسوب يومياً.</a:t>
            </a:r>
          </a:p>
        </p:txBody>
      </p:sp>
      <p:sp>
        <p:nvSpPr>
          <p:cNvPr id="28" name="Text 27"/>
          <p:cNvSpPr txBox="1"/>
          <p:nvPr/>
        </p:nvSpPr>
        <p:spPr>
          <a:xfrm>
            <a:off x="7662366" y="4701957"/>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29" name="Rule 28"/>
          <p:cNvSpPr/>
          <p:nvPr/>
        </p:nvSpPr>
        <p:spPr>
          <a:xfrm>
            <a:off x="4529733" y="4309566"/>
            <a:ext cx="3132634" cy="31750"/>
          </a:xfrm>
          <a:prstGeom prst="rect">
            <a:avLst/>
          </a:prstGeom>
          <a:solidFill>
            <a:srgbClr val="5A3F87"/>
          </a:solidFill>
          <a:ln>
            <a:noFill/>
          </a:ln>
        </p:spPr>
        <p:txBody>
          <a:bodyPr rtlCol="0" anchor="ctr"/>
          <a:lstStyle/>
          <a:p>
            <a:pPr algn="ctr"/>
          </a:p>
        </p:txBody>
      </p:sp>
      <p:sp>
        <p:nvSpPr>
          <p:cNvPr id="30" name="Text 29"/>
          <p:cNvSpPr txBox="1"/>
          <p:nvPr/>
        </p:nvSpPr>
        <p:spPr>
          <a:xfrm>
            <a:off x="4529733"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5A3F87"/>
                </a:solidFill>
                <a:latin typeface="Readex Pro"/>
                <a:ea typeface="Readex Pro"/>
                <a:cs typeface="Readex Pro"/>
              </a:rPr>
              <a:t>الأثر</a:t>
            </a:r>
          </a:p>
        </p:txBody>
      </p:sp>
      <p:sp>
        <p:nvSpPr>
          <p:cNvPr id="31" name="Text 30"/>
          <p:cNvSpPr txBox="1"/>
          <p:nvPr/>
        </p:nvSpPr>
        <p:spPr>
          <a:xfrm>
            <a:off x="4529733"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حجم الضرر إن حدث.</a:t>
            </a:r>
          </a:p>
        </p:txBody>
      </p:sp>
      <p:sp>
        <p:nvSpPr>
          <p:cNvPr id="32" name="Text 31"/>
          <p:cNvSpPr txBox="1"/>
          <p:nvPr/>
        </p:nvSpPr>
        <p:spPr>
          <a:xfrm>
            <a:off x="4529733"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تسرب رواتب كل الموظفين.</a:t>
            </a:r>
          </a:p>
        </p:txBody>
      </p:sp>
      <p:sp>
        <p:nvSpPr>
          <p:cNvPr id="33" name="Text 32"/>
          <p:cNvSpPr txBox="1"/>
          <p:nvPr/>
        </p:nvSpPr>
        <p:spPr>
          <a:xfrm>
            <a:off x="3945533" y="4701957"/>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34" name="Rule 33"/>
          <p:cNvSpPr/>
          <p:nvPr/>
        </p:nvSpPr>
        <p:spPr>
          <a:xfrm>
            <a:off x="812899" y="4309566"/>
            <a:ext cx="3132634" cy="31750"/>
          </a:xfrm>
          <a:prstGeom prst="rect">
            <a:avLst/>
          </a:prstGeom>
          <a:solidFill>
            <a:srgbClr val="172433"/>
          </a:solidFill>
          <a:ln>
            <a:noFill/>
          </a:ln>
        </p:spPr>
        <p:txBody>
          <a:bodyPr rtlCol="0" anchor="ctr"/>
          <a:lstStyle/>
          <a:p>
            <a:pPr algn="ctr"/>
          </a:p>
        </p:txBody>
      </p:sp>
      <p:sp>
        <p:nvSpPr>
          <p:cNvPr id="35" name="Text 34"/>
          <p:cNvSpPr txBox="1"/>
          <p:nvPr/>
        </p:nvSpPr>
        <p:spPr>
          <a:xfrm>
            <a:off x="812899"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172433"/>
                </a:solidFill>
                <a:latin typeface="Readex Pro"/>
                <a:ea typeface="Readex Pro"/>
                <a:cs typeface="Readex Pro"/>
              </a:rPr>
              <a:t>مستوى الخطر</a:t>
            </a:r>
          </a:p>
        </p:txBody>
      </p:sp>
      <p:sp>
        <p:nvSpPr>
          <p:cNvPr id="36" name="Text 35"/>
          <p:cNvSpPr txBox="1"/>
          <p:nvPr/>
        </p:nvSpPr>
        <p:spPr>
          <a:xfrm>
            <a:off x="812899"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يرتب الأولوية.</a:t>
            </a:r>
          </a:p>
        </p:txBody>
      </p:sp>
      <p:sp>
        <p:nvSpPr>
          <p:cNvPr id="37" name="Text 36"/>
          <p:cNvSpPr txBox="1"/>
          <p:nvPr/>
        </p:nvSpPr>
        <p:spPr>
          <a:xfrm>
            <a:off x="812899"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نقيسه بمصفوفة الإطار الوطني.</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نكتب الخطر: سبب، وحدث، وأثر</a:t>
            </a:r>
          </a:p>
        </p:txBody>
      </p:sp>
      <p:sp>
        <p:nvSpPr>
          <p:cNvPr id="6" name="Text box 5"/>
          <p:cNvSpPr/>
          <p:nvPr/>
        </p:nvSpPr>
        <p:spPr>
          <a:xfrm>
            <a:off x="9038927" y="1619845"/>
            <a:ext cx="2340273" cy="401241"/>
          </a:xfrm>
          <a:prstGeom prst="roundRect">
            <a:avLst>
              <a:gd name="adj" fmla="val 50000"/>
            </a:avLst>
          </a:prstGeom>
          <a:solidFill>
            <a:srgbClr val="E6EDF4"/>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بسبب… (الثغرة أو السبب)</a:t>
            </a:r>
          </a:p>
        </p:txBody>
      </p:sp>
      <p:sp>
        <p:nvSpPr>
          <p:cNvPr id="7" name="Text box 6"/>
          <p:cNvSpPr/>
          <p:nvPr/>
        </p:nvSpPr>
        <p:spPr>
          <a:xfrm>
            <a:off x="7556798" y="1619845"/>
            <a:ext cx="1393230" cy="401241"/>
          </a:xfrm>
          <a:prstGeom prst="roundRect">
            <a:avLst>
              <a:gd name="adj" fmla="val 50000"/>
            </a:avLst>
          </a:prstGeom>
          <a:solidFill>
            <a:srgbClr val="F6ECD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8A4B12"/>
                </a:solidFill>
                <a:latin typeface="IBM Plex Sans Arabic"/>
                <a:ea typeface="IBM Plex Sans Arabic"/>
                <a:cs typeface="IBM Plex Sans Arabic"/>
              </a:rPr>
              <a:t>قد… (الحدث)</a:t>
            </a:r>
          </a:p>
        </p:txBody>
      </p:sp>
      <p:sp>
        <p:nvSpPr>
          <p:cNvPr id="8" name="Text box 7"/>
          <p:cNvSpPr/>
          <p:nvPr/>
        </p:nvSpPr>
        <p:spPr>
          <a:xfrm>
            <a:off x="5558334" y="1619845"/>
            <a:ext cx="1909564" cy="401241"/>
          </a:xfrm>
          <a:prstGeom prst="roundRect">
            <a:avLst>
              <a:gd name="adj" fmla="val 50000"/>
            </a:avLst>
          </a:prstGeom>
          <a:solidFill>
            <a:srgbClr val="DCEFE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مما يؤدي إلى… (الأثر)</a:t>
            </a:r>
          </a:p>
        </p:txBody>
      </p:sp>
      <p:sp>
        <p:nvSpPr>
          <p:cNvPr id="9" name="Box 8"/>
          <p:cNvSpPr/>
          <p:nvPr/>
        </p:nvSpPr>
        <p:spPr>
          <a:xfrm>
            <a:off x="812800" y="2173486"/>
            <a:ext cx="10566400" cy="1282700"/>
          </a:xfrm>
          <a:prstGeom prst="roundRect">
            <a:avLst>
              <a:gd name="adj" fmla="val 6930"/>
            </a:avLst>
          </a:prstGeom>
          <a:solidFill>
            <a:srgbClr val="FFFFFF"/>
          </a:solidFill>
          <a:ln>
            <a:noFill/>
          </a:ln>
        </p:spPr>
        <p:txBody>
          <a:bodyPr rtlCol="0" anchor="ctr"/>
          <a:lstStyle/>
          <a:p>
            <a:pPr algn="ctr"/>
          </a:p>
        </p:txBody>
      </p:sp>
      <p:sp>
        <p:nvSpPr>
          <p:cNvPr id="10" name="Rule 9"/>
          <p:cNvSpPr/>
          <p:nvPr/>
        </p:nvSpPr>
        <p:spPr>
          <a:xfrm>
            <a:off x="11328400" y="2173486"/>
            <a:ext cx="50800" cy="1282700"/>
          </a:xfrm>
          <a:prstGeom prst="rect">
            <a:avLst/>
          </a:prstGeom>
          <a:solidFill>
            <a:srgbClr val="0E7C6B"/>
          </a:solidFill>
          <a:ln>
            <a:noFill/>
          </a:ln>
        </p:spPr>
        <p:txBody>
          <a:bodyPr rtlCol="0" anchor="ctr"/>
          <a:lstStyle/>
          <a:p>
            <a:pPr algn="ctr"/>
          </a:p>
        </p:txBody>
      </p:sp>
      <p:sp>
        <p:nvSpPr>
          <p:cNvPr id="11" name="Text 10"/>
          <p:cNvSpPr txBox="1"/>
          <p:nvPr/>
        </p:nvSpPr>
        <p:spPr>
          <a:xfrm>
            <a:off x="838200" y="2253623"/>
            <a:ext cx="10312400"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2" name="Box 11"/>
          <p:cNvSpPr/>
          <p:nvPr/>
        </p:nvSpPr>
        <p:spPr>
          <a:xfrm>
            <a:off x="6188075" y="3611761"/>
            <a:ext cx="5187950" cy="1394420"/>
          </a:xfrm>
          <a:prstGeom prst="roundRect">
            <a:avLst>
              <a:gd name="adj" fmla="val 8159"/>
            </a:avLst>
          </a:prstGeom>
          <a:solidFill>
            <a:srgbClr val="E3F1ED"/>
          </a:solidFill>
          <a:ln w="6350">
            <a:solidFill>
              <a:srgbClr val="9FD1C5"/>
            </a:solidFill>
          </a:ln>
        </p:spPr>
        <p:txBody>
          <a:bodyPr rtlCol="0" anchor="ctr"/>
          <a:lstStyle/>
          <a:p>
            <a:pPr algn="ctr"/>
          </a:p>
        </p:txBody>
      </p:sp>
      <p:sp>
        <p:nvSpPr>
          <p:cNvPr id="13" name="Text 12"/>
          <p:cNvSpPr txBox="1"/>
          <p:nvPr/>
        </p:nvSpPr>
        <p:spPr>
          <a:xfrm>
            <a:off x="6210300" y="3783592"/>
            <a:ext cx="495935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0E7C6B"/>
                </a:solidFill>
                <a:latin typeface="Readex Pro"/>
                <a:ea typeface="Readex Pro"/>
                <a:cs typeface="Readex Pro"/>
              </a:rPr>
              <a:t>صياغة جيدة</a:t>
            </a:r>
          </a:p>
        </p:txBody>
      </p:sp>
      <p:pic>
        <p:nvPicPr>
          <p:cNvPr id="14" name="Icon CheckCircle 13" descr="icon029.png"/>
          <p:cNvPicPr>
            <a:picLocks noChangeAspect="1"/>
          </p:cNvPicPr>
          <p:nvPr/>
        </p:nvPicPr>
        <p:blipFill>
          <a:blip r:embed="rId2"/>
          <a:stretch>
            <a:fillRect/>
          </a:stretch>
        </p:blipFill>
        <p:spPr>
          <a:xfrm>
            <a:off x="10979150" y="4167386"/>
            <a:ext cx="190500" cy="190500"/>
          </a:xfrm>
          <a:prstGeom prst="rect">
            <a:avLst/>
          </a:prstGeom>
        </p:spPr>
      </p:pic>
      <p:sp>
        <p:nvSpPr>
          <p:cNvPr id="15" name="Text 14"/>
          <p:cNvSpPr txBox="1"/>
          <p:nvPr/>
        </p:nvSpPr>
        <p:spPr>
          <a:xfrm>
            <a:off x="6210300" y="413589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وحدث، وأثر في جملة واحدة.</a:t>
            </a:r>
          </a:p>
        </p:txBody>
      </p:sp>
      <p:pic>
        <p:nvPicPr>
          <p:cNvPr id="16" name="Icon CheckCircle 15" descr="icon029.png"/>
          <p:cNvPicPr>
            <a:picLocks noChangeAspect="1"/>
          </p:cNvPicPr>
          <p:nvPr/>
        </p:nvPicPr>
        <p:blipFill>
          <a:blip r:embed="rId2"/>
          <a:stretch>
            <a:fillRect/>
          </a:stretch>
        </p:blipFill>
        <p:spPr>
          <a:xfrm>
            <a:off x="10979150" y="4540746"/>
            <a:ext cx="190500" cy="190500"/>
          </a:xfrm>
          <a:prstGeom prst="rect">
            <a:avLst/>
          </a:prstGeom>
        </p:spPr>
      </p:pic>
      <p:sp>
        <p:nvSpPr>
          <p:cNvPr id="17" name="Text 16"/>
          <p:cNvSpPr txBox="1"/>
          <p:nvPr/>
        </p:nvSpPr>
        <p:spPr>
          <a:xfrm>
            <a:off x="6210300" y="450925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يفهمها مالك الخطر دون شرح.</a:t>
            </a:r>
          </a:p>
        </p:txBody>
      </p:sp>
      <p:sp>
        <p:nvSpPr>
          <p:cNvPr id="18" name="Box 17"/>
          <p:cNvSpPr/>
          <p:nvPr/>
        </p:nvSpPr>
        <p:spPr>
          <a:xfrm>
            <a:off x="815975" y="3611761"/>
            <a:ext cx="5187950" cy="1394420"/>
          </a:xfrm>
          <a:prstGeom prst="roundRect">
            <a:avLst>
              <a:gd name="adj" fmla="val 8159"/>
            </a:avLst>
          </a:prstGeom>
          <a:solidFill>
            <a:srgbClr val="FBEAE5"/>
          </a:solidFill>
          <a:ln w="6350">
            <a:solidFill>
              <a:srgbClr val="E7B8AC"/>
            </a:solidFill>
          </a:ln>
        </p:spPr>
        <p:txBody>
          <a:bodyPr rtlCol="0" anchor="ctr"/>
          <a:lstStyle/>
          <a:p>
            <a:pPr algn="ctr"/>
          </a:p>
        </p:txBody>
      </p:sp>
      <p:sp>
        <p:nvSpPr>
          <p:cNvPr id="19" name="Text 18"/>
          <p:cNvSpPr txBox="1"/>
          <p:nvPr/>
        </p:nvSpPr>
        <p:spPr>
          <a:xfrm>
            <a:off x="838200" y="3783592"/>
            <a:ext cx="495935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B4412C"/>
                </a:solidFill>
                <a:latin typeface="Readex Pro"/>
                <a:ea typeface="Readex Pro"/>
                <a:cs typeface="Readex Pro"/>
              </a:rPr>
              <a:t>صياغة ضعيفة</a:t>
            </a:r>
          </a:p>
        </p:txBody>
      </p:sp>
      <p:pic>
        <p:nvPicPr>
          <p:cNvPr id="20" name="Icon Warning 19" descr="icon030.png"/>
          <p:cNvPicPr>
            <a:picLocks noChangeAspect="1"/>
          </p:cNvPicPr>
          <p:nvPr/>
        </p:nvPicPr>
        <p:blipFill>
          <a:blip r:embed="rId3"/>
          <a:stretch>
            <a:fillRect/>
          </a:stretch>
        </p:blipFill>
        <p:spPr>
          <a:xfrm>
            <a:off x="5607050" y="4167386"/>
            <a:ext cx="190500" cy="190500"/>
          </a:xfrm>
          <a:prstGeom prst="rect">
            <a:avLst/>
          </a:prstGeom>
        </p:spPr>
      </p:pic>
      <p:sp>
        <p:nvSpPr>
          <p:cNvPr id="21" name="Text 20"/>
          <p:cNvSpPr txBox="1"/>
          <p:nvPr/>
        </p:nvSpPr>
        <p:spPr>
          <a:xfrm>
            <a:off x="838200" y="413589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«لا يوجد تشفير». هذه ثغرة.</a:t>
            </a:r>
          </a:p>
        </p:txBody>
      </p:sp>
      <p:pic>
        <p:nvPicPr>
          <p:cNvPr id="22" name="Icon Warning 21" descr="icon030.png"/>
          <p:cNvPicPr>
            <a:picLocks noChangeAspect="1"/>
          </p:cNvPicPr>
          <p:nvPr/>
        </p:nvPicPr>
        <p:blipFill>
          <a:blip r:embed="rId3"/>
          <a:stretch>
            <a:fillRect/>
          </a:stretch>
        </p:blipFill>
        <p:spPr>
          <a:xfrm>
            <a:off x="5607050" y="4540746"/>
            <a:ext cx="190500" cy="190500"/>
          </a:xfrm>
          <a:prstGeom prst="rect">
            <a:avLst/>
          </a:prstGeom>
        </p:spPr>
      </p:pic>
      <p:sp>
        <p:nvSpPr>
          <p:cNvPr id="23" name="Text 22"/>
          <p:cNvSpPr txBox="1"/>
          <p:nvPr/>
        </p:nvSpPr>
        <p:spPr>
          <a:xfrm>
            <a:off x="838200" y="450925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«خطر أمني على الحاسوب». بلا حدث ولا أثر.</a:t>
            </a:r>
          </a:p>
        </p:txBody>
      </p:sp>
      <p:sp>
        <p:nvSpPr>
          <p:cNvPr id="24" name="Text 23"/>
          <p:cNvSpPr txBox="1"/>
          <p:nvPr/>
        </p:nvSpPr>
        <p:spPr>
          <a:xfrm>
            <a:off x="9205214" y="5130260"/>
            <a:ext cx="21739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من أين نكتشف المخاطر؟</a:t>
            </a:r>
          </a:p>
        </p:txBody>
      </p:sp>
      <p:sp>
        <p:nvSpPr>
          <p:cNvPr id="25" name="Text 24"/>
          <p:cNvSpPr txBox="1"/>
          <p:nvPr/>
        </p:nvSpPr>
        <p:spPr>
          <a:xfrm>
            <a:off x="137668" y="5130260"/>
            <a:ext cx="911428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الأصول، والحوادث السابقة، وتقارير الثغرات، والتدقيق، والتغييرات والمشاريع، والموردون.</a:t>
            </a:r>
          </a:p>
        </p:txBody>
      </p:sp>
      <p:sp>
        <p:nvSpPr>
          <p:cNvPr id="26" name="Text 2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7" name="Text 2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الإطار الوطني لإدارة مخاطر الأمن السيبراني</a:t>
            </a:r>
          </a:p>
        </p:txBody>
      </p:sp>
      <p:sp>
        <p:nvSpPr>
          <p:cNvPr id="5" name="Text 4"/>
          <p:cNvSpPr txBox="1"/>
          <p:nvPr/>
        </p:nvSpPr>
        <p:spPr>
          <a:xfrm>
            <a:off x="9458960" y="1597112"/>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الاسم والإصدار</a:t>
            </a:r>
          </a:p>
        </p:txBody>
      </p:sp>
      <p:sp>
        <p:nvSpPr>
          <p:cNvPr id="6" name="Text 5"/>
          <p:cNvSpPr txBox="1"/>
          <p:nvPr/>
        </p:nvSpPr>
        <p:spPr>
          <a:xfrm>
            <a:off x="118872" y="1597112"/>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الإطار الوطني لإدارة مخاطر الأمن السيبراني NFCRM-⁠‎1:2025‎، صدر 23 يوليو 2025.</a:t>
            </a:r>
          </a:p>
        </p:txBody>
      </p:sp>
      <p:sp>
        <p:nvSpPr>
          <p:cNvPr id="7" name="Text 6"/>
          <p:cNvSpPr txBox="1"/>
          <p:nvPr/>
        </p:nvSpPr>
        <p:spPr>
          <a:xfrm>
            <a:off x="9458960" y="2005993"/>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على من ينطبق</a:t>
            </a:r>
          </a:p>
        </p:txBody>
      </p:sp>
      <p:sp>
        <p:nvSpPr>
          <p:cNvPr id="8" name="Text 7"/>
          <p:cNvSpPr txBox="1"/>
          <p:nvPr/>
        </p:nvSpPr>
        <p:spPr>
          <a:xfrm>
            <a:off x="552577" y="2005993"/>
            <a:ext cx="8934323"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الجهات الحكومية وما يتبعها، وجهات القطاع الخاص التي تملك أو تشغل أو تستضيف بنية تحتية وطنية حساسة.</a:t>
            </a:r>
          </a:p>
        </p:txBody>
      </p:sp>
      <p:sp>
        <p:nvSpPr>
          <p:cNvPr id="9" name="Text 8"/>
          <p:cNvSpPr txBox="1"/>
          <p:nvPr/>
        </p:nvSpPr>
        <p:spPr>
          <a:xfrm>
            <a:off x="9458960" y="2734854"/>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في رُفاد</a:t>
            </a:r>
          </a:p>
        </p:txBody>
      </p:sp>
      <p:sp>
        <p:nvSpPr>
          <p:cNvPr id="10" name="Text 9"/>
          <p:cNvSpPr txBox="1"/>
          <p:nvPr/>
        </p:nvSpPr>
        <p:spPr>
          <a:xfrm>
            <a:off x="118872" y="2734854"/>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غير ملزم لها. تبنت مصفوفته طوعاً في الحالة التدريبية.</a:t>
            </a:r>
          </a:p>
        </p:txBody>
      </p:sp>
      <p:sp>
        <p:nvSpPr>
          <p:cNvPr id="11" name="Rule 10"/>
          <p:cNvSpPr/>
          <p:nvPr/>
        </p:nvSpPr>
        <p:spPr>
          <a:xfrm>
            <a:off x="9008170" y="3255367"/>
            <a:ext cx="2371030" cy="31750"/>
          </a:xfrm>
          <a:prstGeom prst="rect">
            <a:avLst/>
          </a:prstGeom>
          <a:solidFill>
            <a:srgbClr val="0E7C6B"/>
          </a:solidFill>
          <a:ln>
            <a:noFill/>
          </a:ln>
        </p:spPr>
        <p:txBody>
          <a:bodyPr rtlCol="0" anchor="ctr"/>
          <a:lstStyle/>
          <a:p>
            <a:pPr algn="ctr"/>
          </a:p>
        </p:txBody>
      </p:sp>
      <p:sp>
        <p:nvSpPr>
          <p:cNvPr id="12" name="Text 11"/>
          <p:cNvSpPr txBox="1"/>
          <p:nvPr/>
        </p:nvSpPr>
        <p:spPr>
          <a:xfrm>
            <a:off x="903357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13" name="Text 12"/>
          <p:cNvSpPr txBox="1"/>
          <p:nvPr/>
        </p:nvSpPr>
        <p:spPr>
          <a:xfrm>
            <a:off x="903357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التحديد</a:t>
            </a:r>
          </a:p>
        </p:txBody>
      </p:sp>
      <p:sp>
        <p:nvSpPr>
          <p:cNvPr id="14" name="Text 13"/>
          <p:cNvSpPr txBox="1"/>
          <p:nvPr/>
        </p:nvSpPr>
        <p:spPr>
          <a:xfrm>
            <a:off x="9033570" y="4229584"/>
            <a:ext cx="2307530" cy="1279922"/>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الأصول، والثغرات، والتهديدات، والسيناريوهات، والضوابط الحالية.</a:t>
            </a:r>
          </a:p>
        </p:txBody>
      </p:sp>
      <p:sp>
        <p:nvSpPr>
          <p:cNvPr id="15" name="Text 14"/>
          <p:cNvSpPr txBox="1"/>
          <p:nvPr/>
        </p:nvSpPr>
        <p:spPr>
          <a:xfrm>
            <a:off x="857121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6" name="Rule 15"/>
          <p:cNvSpPr/>
          <p:nvPr/>
        </p:nvSpPr>
        <p:spPr>
          <a:xfrm>
            <a:off x="6276380" y="3255367"/>
            <a:ext cx="2371030" cy="31750"/>
          </a:xfrm>
          <a:prstGeom prst="rect">
            <a:avLst/>
          </a:prstGeom>
          <a:solidFill>
            <a:srgbClr val="0E7C6B"/>
          </a:solidFill>
          <a:ln>
            <a:noFill/>
          </a:ln>
        </p:spPr>
        <p:txBody>
          <a:bodyPr rtlCol="0" anchor="ctr"/>
          <a:lstStyle/>
          <a:p>
            <a:pPr algn="ctr"/>
          </a:p>
        </p:txBody>
      </p:sp>
      <p:sp>
        <p:nvSpPr>
          <p:cNvPr id="17" name="Text 16"/>
          <p:cNvSpPr txBox="1"/>
          <p:nvPr/>
        </p:nvSpPr>
        <p:spPr>
          <a:xfrm>
            <a:off x="630178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8" name="Text 17"/>
          <p:cNvSpPr txBox="1"/>
          <p:nvPr/>
        </p:nvSpPr>
        <p:spPr>
          <a:xfrm>
            <a:off x="630178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التقييم</a:t>
            </a:r>
          </a:p>
        </p:txBody>
      </p:sp>
      <p:sp>
        <p:nvSpPr>
          <p:cNvPr id="19" name="Text 18"/>
          <p:cNvSpPr txBox="1"/>
          <p:nvPr/>
        </p:nvSpPr>
        <p:spPr>
          <a:xfrm>
            <a:off x="630178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الاحتمال والأثر بالمصفوفة، والتوثيق في السجل.</a:t>
            </a:r>
          </a:p>
        </p:txBody>
      </p:sp>
      <p:sp>
        <p:nvSpPr>
          <p:cNvPr id="20" name="Text 19"/>
          <p:cNvSpPr txBox="1"/>
          <p:nvPr/>
        </p:nvSpPr>
        <p:spPr>
          <a:xfrm>
            <a:off x="583942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3544590" y="3255367"/>
            <a:ext cx="2371030" cy="31750"/>
          </a:xfrm>
          <a:prstGeom prst="rect">
            <a:avLst/>
          </a:prstGeom>
          <a:solidFill>
            <a:srgbClr val="0E7C6B"/>
          </a:solidFill>
          <a:ln>
            <a:noFill/>
          </a:ln>
        </p:spPr>
        <p:txBody>
          <a:bodyPr rtlCol="0" anchor="ctr"/>
          <a:lstStyle/>
          <a:p>
            <a:pPr algn="ctr"/>
          </a:p>
        </p:txBody>
      </p:sp>
      <p:sp>
        <p:nvSpPr>
          <p:cNvPr id="22" name="Text 21"/>
          <p:cNvSpPr txBox="1"/>
          <p:nvPr/>
        </p:nvSpPr>
        <p:spPr>
          <a:xfrm>
            <a:off x="356999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23" name="Text 22"/>
          <p:cNvSpPr txBox="1"/>
          <p:nvPr/>
        </p:nvSpPr>
        <p:spPr>
          <a:xfrm>
            <a:off x="356999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المعالجة</a:t>
            </a:r>
          </a:p>
        </p:txBody>
      </p:sp>
      <p:sp>
        <p:nvSpPr>
          <p:cNvPr id="24" name="Text 23"/>
          <p:cNvSpPr txBox="1"/>
          <p:nvPr/>
        </p:nvSpPr>
        <p:spPr>
          <a:xfrm>
            <a:off x="3569990" y="4229584"/>
            <a:ext cx="2307530" cy="95994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قبول، أو مشاركة، أو تخفيف، أو تجنب، بخطط وأولويات.</a:t>
            </a:r>
          </a:p>
        </p:txBody>
      </p:sp>
      <p:sp>
        <p:nvSpPr>
          <p:cNvPr id="25" name="Text 24"/>
          <p:cNvSpPr txBox="1"/>
          <p:nvPr/>
        </p:nvSpPr>
        <p:spPr>
          <a:xfrm>
            <a:off x="310763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6" name="Rule 25"/>
          <p:cNvSpPr/>
          <p:nvPr/>
        </p:nvSpPr>
        <p:spPr>
          <a:xfrm>
            <a:off x="812800" y="3255367"/>
            <a:ext cx="2371030" cy="31750"/>
          </a:xfrm>
          <a:prstGeom prst="rect">
            <a:avLst/>
          </a:prstGeom>
          <a:solidFill>
            <a:srgbClr val="0E7C6B"/>
          </a:solidFill>
          <a:ln>
            <a:noFill/>
          </a:ln>
        </p:spPr>
        <p:txBody>
          <a:bodyPr rtlCol="0" anchor="ctr"/>
          <a:lstStyle/>
          <a:p>
            <a:pPr algn="ctr"/>
          </a:p>
        </p:txBody>
      </p:sp>
      <p:sp>
        <p:nvSpPr>
          <p:cNvPr id="27" name="Text 26"/>
          <p:cNvSpPr txBox="1"/>
          <p:nvPr/>
        </p:nvSpPr>
        <p:spPr>
          <a:xfrm>
            <a:off x="83820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4</a:t>
            </a:r>
          </a:p>
        </p:txBody>
      </p:sp>
      <p:sp>
        <p:nvSpPr>
          <p:cNvPr id="28" name="Text 27"/>
          <p:cNvSpPr txBox="1"/>
          <p:nvPr/>
        </p:nvSpPr>
        <p:spPr>
          <a:xfrm>
            <a:off x="83820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المتابعة</a:t>
            </a:r>
          </a:p>
        </p:txBody>
      </p:sp>
      <p:sp>
        <p:nvSpPr>
          <p:cNvPr id="29" name="Text 28"/>
          <p:cNvSpPr txBox="1"/>
          <p:nvPr/>
        </p:nvSpPr>
        <p:spPr>
          <a:xfrm>
            <a:off x="83820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تقارير، ومراقبة الخطط، وإعادة التقييم عند التغيير.</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الاحتمال في الإطار الوطني</a:t>
            </a:r>
          </a:p>
        </p:txBody>
      </p:sp>
      <p:graphicFrame>
        <p:nvGraphicFramePr>
          <p:cNvPr id="5" name="Table 4"/>
          <p:cNvGraphicFramePr>
            <a:graphicFrameLocks noGrp="1"/>
          </p:cNvGraphicFramePr>
          <p:nvPr/>
        </p:nvGraphicFramePr>
        <p:xfrm>
          <a:off x="815975" y="1661120"/>
          <a:ext cx="10560050" cy="3162300"/>
        </p:xfrm>
        <a:graphic>
          <a:graphicData uri="http://schemas.openxmlformats.org/drawingml/2006/table">
            <a:tbl>
              <a:tblPr firstRow="0" bandRow="0" lastRow="0" firstCol="0" lastCol="0" bandCol="0">
                <a:tableStyleId>{2D5ABB26-0587-4C30-8999-92F81FD0307C}</a:tableStyleId>
              </a:tblPr>
              <a:tblGrid>
                <a:gridCol w="4012565"/>
                <a:gridCol w="3696335"/>
                <a:gridCol w="1795145"/>
                <a:gridCol w="105600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أو: سهولة الاستغلال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الإطار الزمني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المستوى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القيمة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مهاجم غير محترف بأداة جاهزة.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يتكرر غالباً، عدة مرات في السنة.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شبه مؤكد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مهاجم متقدم بأدوات خاصة.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يحدث غالباً مرة في السنة.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محتمل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متقدم بشروط محددة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قد يحدث مرة كل 2 إلى 3 سنوات.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غير مرجح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غير قابل للاستغلال مباشرة الآن.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مرة كل 3 إلى 10 سنوات.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نادر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يُعد قابلاً للاستغلال حالياً.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أقل من مرة كل 10 إلى 20 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نادر جداً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30716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ملخص من الشكل 5 في NFCRM-⁠‎1:2025‎. يُختار المستوى بالإطار الزمني أو بسهولة الاستغلال.</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الأثر في الإطار الوطني</a:t>
            </a:r>
          </a:p>
        </p:txBody>
      </p:sp>
      <p:graphicFrame>
        <p:nvGraphicFramePr>
          <p:cNvPr id="5" name="Table 4"/>
          <p:cNvGraphicFramePr>
            <a:graphicFrameLocks noGrp="1"/>
          </p:cNvGraphicFramePr>
          <p:nvPr/>
        </p:nvGraphicFramePr>
        <p:xfrm>
          <a:off x="815975" y="1623020"/>
          <a:ext cx="10560050" cy="2849166"/>
        </p:xfrm>
        <a:graphic>
          <a:graphicData uri="http://schemas.openxmlformats.org/drawingml/2006/table">
            <a:tbl>
              <a:tblPr firstRow="0" bandRow="0" lastRow="0" firstCol="0" lastCol="0" bandCol="0">
                <a:tableStyleId>{2D5ABB26-0587-4C30-8999-92F81FD0307C}</a:tableStyleId>
              </a:tblPr>
              <a:tblGrid>
                <a:gridCol w="7392035"/>
                <a:gridCol w="2006600"/>
                <a:gridCol w="11614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الأثر عند المساس بالسرية أو السلامة أو التوافر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القيمة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لا تحتمله الجهة، أو أثر على المستوى الوطني.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ملموس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طفيف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أثر على الجهة، أو بيانات غير حساسة.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 جداً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4627761"/>
            <a:ext cx="10566400" cy="573980"/>
          </a:xfrm>
          <a:prstGeom prst="roundRect">
            <a:avLst>
              <a:gd name="adj" fmla="val 17700"/>
            </a:avLst>
          </a:prstGeom>
          <a:solidFill>
            <a:srgbClr val="E3F1ED"/>
          </a:solidFill>
          <a:ln>
            <a:noFill/>
          </a:ln>
        </p:spPr>
        <p:txBody>
          <a:bodyPr rtlCol="0" anchor="ctr"/>
          <a:lstStyle/>
          <a:p>
            <a:pPr algn="ctr"/>
          </a:p>
        </p:txBody>
      </p:sp>
      <p:pic>
        <p:nvPicPr>
          <p:cNvPr id="7" name="Icon Lightbulb 6" descr="icon012.png"/>
          <p:cNvPicPr>
            <a:picLocks noChangeAspect="1"/>
          </p:cNvPicPr>
          <p:nvPr/>
        </p:nvPicPr>
        <p:blipFill>
          <a:blip r:embed="rId2"/>
          <a:stretch>
            <a:fillRect/>
          </a:stretch>
        </p:blipFill>
        <p:spPr>
          <a:xfrm>
            <a:off x="10972800" y="4800402"/>
            <a:ext cx="228600" cy="228600"/>
          </a:xfrm>
          <a:prstGeom prst="rect">
            <a:avLst/>
          </a:prstGeom>
        </p:spPr>
      </p:pic>
      <p:sp>
        <p:nvSpPr>
          <p:cNvPr id="8" name="Text 7"/>
          <p:cNvSpPr txBox="1"/>
          <p:nvPr/>
        </p:nvSpPr>
        <p:spPr>
          <a:xfrm>
            <a:off x="838200" y="4719328"/>
            <a:ext cx="100203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في رُفاد: تسرب رواتب وحسابات 200 موظف أثر كبير على الجهة، فهو «عالٍ» (4).</a:t>
            </a:r>
          </a:p>
        </p:txBody>
      </p:sp>
      <p:sp>
        <p:nvSpPr>
          <p:cNvPr id="9" name="Text 8"/>
          <p:cNvSpPr txBox="1"/>
          <p:nvPr/>
        </p:nvSpPr>
        <p:spPr>
          <a:xfrm>
            <a:off x="0" y="5326709"/>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ملخص من الشكل 4 في NFCRM-⁠‎1:2025‎، ويصف الإطار كل مستوى للسرية والسلامة والتوافر منفصلة.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المصفوفة: الاحتمال × الأثر</a:t>
            </a:r>
          </a:p>
        </p:txBody>
      </p:sp>
      <p:sp>
        <p:nvSpPr>
          <p:cNvPr id="6" name="Rule 5"/>
          <p:cNvSpPr/>
          <p:nvPr/>
        </p:nvSpPr>
        <p:spPr>
          <a:xfrm>
            <a:off x="7099300" y="1594445"/>
            <a:ext cx="4279900" cy="31750"/>
          </a:xfrm>
          <a:prstGeom prst="rect">
            <a:avLst/>
          </a:prstGeom>
          <a:solidFill>
            <a:srgbClr val="C9C0AC"/>
          </a:solidFill>
          <a:ln>
            <a:noFill/>
          </a:ln>
        </p:spPr>
        <p:txBody>
          <a:bodyPr rtlCol="0" anchor="ctr"/>
          <a:lstStyle/>
          <a:p>
            <a:pPr algn="ctr"/>
          </a:p>
        </p:txBody>
      </p:sp>
      <p:sp>
        <p:nvSpPr>
          <p:cNvPr id="7" name="Text 6"/>
          <p:cNvSpPr txBox="1"/>
          <p:nvPr/>
        </p:nvSpPr>
        <p:spPr>
          <a:xfrm>
            <a:off x="7124700" y="1755735"/>
            <a:ext cx="42164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مثال الحاسوب</a:t>
            </a:r>
          </a:p>
        </p:txBody>
      </p:sp>
      <p:sp>
        <p:nvSpPr>
          <p:cNvPr id="8" name="Text 7"/>
          <p:cNvSpPr txBox="1"/>
          <p:nvPr/>
        </p:nvSpPr>
        <p:spPr>
          <a:xfrm>
            <a:off x="7124700" y="2130385"/>
            <a:ext cx="4216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Readex Pro"/>
                <a:ea typeface="Readex Pro"/>
                <a:cs typeface="Readex Pro"/>
              </a:rPr>
              <a:t>الاحتمال 3 × الأثر 4 = 12</a:t>
            </a:r>
          </a:p>
        </p:txBody>
      </p:sp>
      <p:sp>
        <p:nvSpPr>
          <p:cNvPr id="9" name="Text 8"/>
          <p:cNvSpPr txBox="1"/>
          <p:nvPr/>
        </p:nvSpPr>
        <p:spPr>
          <a:xfrm>
            <a:off x="7124700" y="2554819"/>
            <a:ext cx="42164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12 يقع بين 8 و14: «متوسط».</a:t>
            </a:r>
          </a:p>
        </p:txBody>
      </p:sp>
      <p:sp>
        <p:nvSpPr>
          <p:cNvPr id="10" name="Text 9"/>
          <p:cNvSpPr txBox="1"/>
          <p:nvPr/>
        </p:nvSpPr>
        <p:spPr>
          <a:xfrm>
            <a:off x="7124700" y="2925600"/>
            <a:ext cx="42164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حسب قاعدة رُفاد: خطة معالجة، أو قبول موثق من الرئيس التنفيذي.</a:t>
            </a:r>
          </a:p>
        </p:txBody>
      </p:sp>
      <p:sp>
        <p:nvSpPr>
          <p:cNvPr id="11" name="Box 10"/>
          <p:cNvSpPr/>
          <p:nvPr/>
        </p:nvSpPr>
        <p:spPr>
          <a:xfrm>
            <a:off x="10563820" y="3691037"/>
            <a:ext cx="815380" cy="675580"/>
          </a:xfrm>
          <a:prstGeom prst="roundRect">
            <a:avLst>
              <a:gd name="adj" fmla="val 9399"/>
            </a:avLst>
          </a:prstGeom>
          <a:solidFill>
            <a:srgbClr val="A61B1B"/>
          </a:solidFill>
          <a:ln>
            <a:noFill/>
          </a:ln>
        </p:spPr>
        <p:txBody>
          <a:bodyPr rtlCol="0" anchor="ctr"/>
          <a:lstStyle/>
          <a:p>
            <a:pPr algn="ctr"/>
          </a:p>
        </p:txBody>
      </p:sp>
      <p:sp>
        <p:nvSpPr>
          <p:cNvPr id="12" name="Text 11"/>
          <p:cNvSpPr txBox="1"/>
          <p:nvPr/>
        </p:nvSpPr>
        <p:spPr>
          <a:xfrm>
            <a:off x="10797600" y="3746155"/>
            <a:ext cx="3478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حرج</a:t>
            </a:r>
          </a:p>
        </p:txBody>
      </p:sp>
      <p:sp>
        <p:nvSpPr>
          <p:cNvPr id="13" name="Text 12"/>
          <p:cNvSpPr txBox="1"/>
          <p:nvPr/>
        </p:nvSpPr>
        <p:spPr>
          <a:xfrm>
            <a:off x="10698083" y="392901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20–25</a:t>
            </a:r>
          </a:p>
        </p:txBody>
      </p:sp>
      <p:sp>
        <p:nvSpPr>
          <p:cNvPr id="14" name="Box 13"/>
          <p:cNvSpPr/>
          <p:nvPr/>
        </p:nvSpPr>
        <p:spPr>
          <a:xfrm>
            <a:off x="9697641" y="3691037"/>
            <a:ext cx="815380" cy="675580"/>
          </a:xfrm>
          <a:prstGeom prst="roundRect">
            <a:avLst>
              <a:gd name="adj" fmla="val 9399"/>
            </a:avLst>
          </a:prstGeom>
          <a:solidFill>
            <a:srgbClr val="E0452B"/>
          </a:solidFill>
          <a:ln>
            <a:noFill/>
          </a:ln>
        </p:spPr>
        <p:txBody>
          <a:bodyPr rtlCol="0" anchor="ctr"/>
          <a:lstStyle/>
          <a:p>
            <a:pPr algn="ctr"/>
          </a:p>
        </p:txBody>
      </p:sp>
      <p:sp>
        <p:nvSpPr>
          <p:cNvPr id="15" name="Text 14"/>
          <p:cNvSpPr txBox="1"/>
          <p:nvPr/>
        </p:nvSpPr>
        <p:spPr>
          <a:xfrm>
            <a:off x="9942433" y="3746155"/>
            <a:ext cx="32569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عالٍ</a:t>
            </a:r>
          </a:p>
        </p:txBody>
      </p:sp>
      <p:sp>
        <p:nvSpPr>
          <p:cNvPr id="16" name="Text 15"/>
          <p:cNvSpPr txBox="1"/>
          <p:nvPr/>
        </p:nvSpPr>
        <p:spPr>
          <a:xfrm>
            <a:off x="9831903" y="392901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15–19</a:t>
            </a:r>
          </a:p>
        </p:txBody>
      </p:sp>
      <p:sp>
        <p:nvSpPr>
          <p:cNvPr id="17" name="Box 16"/>
          <p:cNvSpPr/>
          <p:nvPr/>
        </p:nvSpPr>
        <p:spPr>
          <a:xfrm>
            <a:off x="8831461" y="3691037"/>
            <a:ext cx="815380" cy="675580"/>
          </a:xfrm>
          <a:prstGeom prst="roundRect">
            <a:avLst>
              <a:gd name="adj" fmla="val 9399"/>
            </a:avLst>
          </a:prstGeom>
          <a:solidFill>
            <a:srgbClr val="F2B530"/>
          </a:solidFill>
          <a:ln>
            <a:noFill/>
          </a:ln>
        </p:spPr>
        <p:txBody>
          <a:bodyPr rtlCol="0" anchor="ctr"/>
          <a:lstStyle/>
          <a:p>
            <a:pPr algn="ctr"/>
          </a:p>
        </p:txBody>
      </p:sp>
      <p:sp>
        <p:nvSpPr>
          <p:cNvPr id="18" name="Text 17"/>
          <p:cNvSpPr txBox="1"/>
          <p:nvPr/>
        </p:nvSpPr>
        <p:spPr>
          <a:xfrm>
            <a:off x="8972868" y="3746155"/>
            <a:ext cx="532567"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متوسط</a:t>
            </a:r>
          </a:p>
        </p:txBody>
      </p:sp>
      <p:sp>
        <p:nvSpPr>
          <p:cNvPr id="19" name="Text 18"/>
          <p:cNvSpPr txBox="1"/>
          <p:nvPr/>
        </p:nvSpPr>
        <p:spPr>
          <a:xfrm>
            <a:off x="9011464" y="3929015"/>
            <a:ext cx="45537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8–14</a:t>
            </a:r>
          </a:p>
        </p:txBody>
      </p:sp>
      <p:sp>
        <p:nvSpPr>
          <p:cNvPr id="20" name="Box 19"/>
          <p:cNvSpPr/>
          <p:nvPr/>
        </p:nvSpPr>
        <p:spPr>
          <a:xfrm>
            <a:off x="7965281" y="3691037"/>
            <a:ext cx="815380" cy="675580"/>
          </a:xfrm>
          <a:prstGeom prst="roundRect">
            <a:avLst>
              <a:gd name="adj" fmla="val 9399"/>
            </a:avLst>
          </a:prstGeom>
          <a:solidFill>
            <a:srgbClr val="8CC765"/>
          </a:solidFill>
          <a:ln>
            <a:noFill/>
          </a:ln>
        </p:spPr>
        <p:txBody>
          <a:bodyPr rtlCol="0" anchor="ctr"/>
          <a:lstStyle/>
          <a:p>
            <a:pPr algn="ctr"/>
          </a:p>
        </p:txBody>
      </p:sp>
      <p:sp>
        <p:nvSpPr>
          <p:cNvPr id="21" name="Text 20"/>
          <p:cNvSpPr txBox="1"/>
          <p:nvPr/>
        </p:nvSpPr>
        <p:spPr>
          <a:xfrm>
            <a:off x="8072656" y="3746155"/>
            <a:ext cx="60053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منخفض</a:t>
            </a:r>
          </a:p>
        </p:txBody>
      </p:sp>
      <p:sp>
        <p:nvSpPr>
          <p:cNvPr id="22" name="Text 21"/>
          <p:cNvSpPr txBox="1"/>
          <p:nvPr/>
        </p:nvSpPr>
        <p:spPr>
          <a:xfrm>
            <a:off x="8190925" y="392901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3–7</a:t>
            </a:r>
          </a:p>
        </p:txBody>
      </p:sp>
      <p:sp>
        <p:nvSpPr>
          <p:cNvPr id="23" name="Box 22"/>
          <p:cNvSpPr/>
          <p:nvPr/>
        </p:nvSpPr>
        <p:spPr>
          <a:xfrm>
            <a:off x="7099102" y="3691037"/>
            <a:ext cx="815380" cy="675580"/>
          </a:xfrm>
          <a:prstGeom prst="roundRect">
            <a:avLst>
              <a:gd name="adj" fmla="val 9399"/>
            </a:avLst>
          </a:prstGeom>
          <a:solidFill>
            <a:srgbClr val="1E8E4E"/>
          </a:solidFill>
          <a:ln>
            <a:noFill/>
          </a:ln>
        </p:spPr>
        <p:txBody>
          <a:bodyPr rtlCol="0" anchor="ctr"/>
          <a:lstStyle/>
          <a:p>
            <a:pPr algn="ctr"/>
          </a:p>
        </p:txBody>
      </p:sp>
      <p:sp>
        <p:nvSpPr>
          <p:cNvPr id="24" name="Text 23"/>
          <p:cNvSpPr txBox="1"/>
          <p:nvPr/>
        </p:nvSpPr>
        <p:spPr>
          <a:xfrm>
            <a:off x="7156252" y="3746155"/>
            <a:ext cx="701080" cy="36572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منخفض جداً</a:t>
            </a:r>
          </a:p>
        </p:txBody>
      </p:sp>
      <p:sp>
        <p:nvSpPr>
          <p:cNvPr id="25" name="Text 24"/>
          <p:cNvSpPr txBox="1"/>
          <p:nvPr/>
        </p:nvSpPr>
        <p:spPr>
          <a:xfrm>
            <a:off x="7324745" y="411187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1–2</a:t>
            </a:r>
          </a:p>
        </p:txBody>
      </p:sp>
      <p:sp>
        <p:nvSpPr>
          <p:cNvPr id="26" name="Text 25"/>
          <p:cNvSpPr txBox="1"/>
          <p:nvPr/>
        </p:nvSpPr>
        <p:spPr>
          <a:xfrm>
            <a:off x="759460" y="1566886"/>
            <a:ext cx="1376680"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1" i="0">
                <a:solidFill>
                  <a:srgbClr val="0E7C6B"/>
                </a:solidFill>
                <a:latin typeface="IBM Plex Sans Arabic"/>
                <a:ea typeface="IBM Plex Sans Arabic"/>
                <a:cs typeface="IBM Plex Sans Arabic"/>
              </a:rPr>
              <a:t>الاحتمال ↑</a:t>
            </a:r>
          </a:p>
        </p:txBody>
      </p:sp>
      <p:sp>
        <p:nvSpPr>
          <p:cNvPr id="27" name="Box 26"/>
          <p:cNvSpPr/>
          <p:nvPr/>
        </p:nvSpPr>
        <p:spPr>
          <a:xfrm>
            <a:off x="812800" y="1881386"/>
            <a:ext cx="1270000" cy="533400"/>
          </a:xfrm>
          <a:prstGeom prst="roundRect">
            <a:avLst>
              <a:gd name="adj" fmla="val 9523"/>
            </a:avLst>
          </a:prstGeom>
          <a:solidFill>
            <a:srgbClr val="E6E2D8"/>
          </a:solidFill>
          <a:ln>
            <a:noFill/>
          </a:ln>
        </p:spPr>
        <p:txBody>
          <a:bodyPr rtlCol="0" anchor="ctr"/>
          <a:lstStyle/>
          <a:p>
            <a:pPr algn="ctr"/>
          </a:p>
        </p:txBody>
      </p:sp>
      <p:sp>
        <p:nvSpPr>
          <p:cNvPr id="28" name="Text 27"/>
          <p:cNvSpPr txBox="1"/>
          <p:nvPr/>
        </p:nvSpPr>
        <p:spPr>
          <a:xfrm>
            <a:off x="1325820" y="1928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29" name="Text 28"/>
          <p:cNvSpPr txBox="1"/>
          <p:nvPr/>
        </p:nvSpPr>
        <p:spPr>
          <a:xfrm>
            <a:off x="1077258" y="2143367"/>
            <a:ext cx="74098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شبه مؤكد</a:t>
            </a:r>
          </a:p>
        </p:txBody>
      </p:sp>
      <p:sp>
        <p:nvSpPr>
          <p:cNvPr id="30" name="Box 29"/>
          <p:cNvSpPr/>
          <p:nvPr/>
        </p:nvSpPr>
        <p:spPr>
          <a:xfrm>
            <a:off x="2120900" y="1881386"/>
            <a:ext cx="927100" cy="533400"/>
          </a:xfrm>
          <a:prstGeom prst="roundRect">
            <a:avLst>
              <a:gd name="adj" fmla="val 9523"/>
            </a:avLst>
          </a:prstGeom>
          <a:solidFill>
            <a:srgbClr val="8CC765"/>
          </a:solidFill>
          <a:ln>
            <a:noFill/>
          </a:ln>
        </p:spPr>
        <p:txBody>
          <a:bodyPr rtlCol="0" anchor="ctr"/>
          <a:lstStyle/>
          <a:p>
            <a:pPr algn="ctr"/>
          </a:p>
        </p:txBody>
      </p:sp>
      <p:sp>
        <p:nvSpPr>
          <p:cNvPr id="31" name="Text 30"/>
          <p:cNvSpPr txBox="1"/>
          <p:nvPr/>
        </p:nvSpPr>
        <p:spPr>
          <a:xfrm>
            <a:off x="2462470" y="1933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32" name="Text 31"/>
          <p:cNvSpPr txBox="1"/>
          <p:nvPr/>
        </p:nvSpPr>
        <p:spPr>
          <a:xfrm>
            <a:off x="2250718" y="2152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33" name="Box 32"/>
          <p:cNvSpPr/>
          <p:nvPr/>
        </p:nvSpPr>
        <p:spPr>
          <a:xfrm>
            <a:off x="3086100" y="1881386"/>
            <a:ext cx="927100" cy="533400"/>
          </a:xfrm>
          <a:prstGeom prst="roundRect">
            <a:avLst>
              <a:gd name="adj" fmla="val 9523"/>
            </a:avLst>
          </a:prstGeom>
          <a:solidFill>
            <a:srgbClr val="F2B530"/>
          </a:solidFill>
          <a:ln>
            <a:noFill/>
          </a:ln>
        </p:spPr>
        <p:txBody>
          <a:bodyPr rtlCol="0" anchor="ctr"/>
          <a:lstStyle/>
          <a:p>
            <a:pPr algn="ctr"/>
          </a:p>
        </p:txBody>
      </p:sp>
      <p:sp>
        <p:nvSpPr>
          <p:cNvPr id="34" name="Text 33"/>
          <p:cNvSpPr txBox="1"/>
          <p:nvPr/>
        </p:nvSpPr>
        <p:spPr>
          <a:xfrm>
            <a:off x="33667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10</a:t>
            </a:r>
          </a:p>
        </p:txBody>
      </p:sp>
      <p:sp>
        <p:nvSpPr>
          <p:cNvPr id="35" name="Text 34"/>
          <p:cNvSpPr txBox="1"/>
          <p:nvPr/>
        </p:nvSpPr>
        <p:spPr>
          <a:xfrm>
            <a:off x="3249255" y="2152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36" name="Box 35"/>
          <p:cNvSpPr/>
          <p:nvPr/>
        </p:nvSpPr>
        <p:spPr>
          <a:xfrm>
            <a:off x="4051300" y="1881386"/>
            <a:ext cx="927100" cy="533400"/>
          </a:xfrm>
          <a:prstGeom prst="roundRect">
            <a:avLst>
              <a:gd name="adj" fmla="val 9523"/>
            </a:avLst>
          </a:prstGeom>
          <a:solidFill>
            <a:srgbClr val="E0452B"/>
          </a:solidFill>
          <a:ln>
            <a:noFill/>
          </a:ln>
        </p:spPr>
        <p:txBody>
          <a:bodyPr rtlCol="0" anchor="ctr"/>
          <a:lstStyle/>
          <a:p>
            <a:pPr algn="ctr"/>
          </a:p>
        </p:txBody>
      </p:sp>
      <p:sp>
        <p:nvSpPr>
          <p:cNvPr id="37" name="Text 36"/>
          <p:cNvSpPr txBox="1"/>
          <p:nvPr/>
        </p:nvSpPr>
        <p:spPr>
          <a:xfrm>
            <a:off x="43319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15</a:t>
            </a:r>
          </a:p>
        </p:txBody>
      </p:sp>
      <p:sp>
        <p:nvSpPr>
          <p:cNvPr id="38" name="Text 37"/>
          <p:cNvSpPr txBox="1"/>
          <p:nvPr/>
        </p:nvSpPr>
        <p:spPr>
          <a:xfrm>
            <a:off x="4336693" y="21522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39" name="Box 38"/>
          <p:cNvSpPr/>
          <p:nvPr/>
        </p:nvSpPr>
        <p:spPr>
          <a:xfrm>
            <a:off x="5016500" y="1881386"/>
            <a:ext cx="927100" cy="533400"/>
          </a:xfrm>
          <a:prstGeom prst="roundRect">
            <a:avLst>
              <a:gd name="adj" fmla="val 9523"/>
            </a:avLst>
          </a:prstGeom>
          <a:solidFill>
            <a:srgbClr val="A61B1B"/>
          </a:solidFill>
          <a:ln>
            <a:noFill/>
          </a:ln>
        </p:spPr>
        <p:txBody>
          <a:bodyPr rtlCol="0" anchor="ctr"/>
          <a:lstStyle/>
          <a:p>
            <a:pPr algn="ctr"/>
          </a:p>
        </p:txBody>
      </p:sp>
      <p:sp>
        <p:nvSpPr>
          <p:cNvPr id="40" name="Text 39"/>
          <p:cNvSpPr txBox="1"/>
          <p:nvPr/>
        </p:nvSpPr>
        <p:spPr>
          <a:xfrm>
            <a:off x="52971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20</a:t>
            </a:r>
          </a:p>
        </p:txBody>
      </p:sp>
      <p:sp>
        <p:nvSpPr>
          <p:cNvPr id="41" name="Text 40"/>
          <p:cNvSpPr txBox="1"/>
          <p:nvPr/>
        </p:nvSpPr>
        <p:spPr>
          <a:xfrm>
            <a:off x="5286712" y="21522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42" name="Box 41"/>
          <p:cNvSpPr/>
          <p:nvPr/>
        </p:nvSpPr>
        <p:spPr>
          <a:xfrm>
            <a:off x="5981700" y="1881386"/>
            <a:ext cx="927100" cy="533400"/>
          </a:xfrm>
          <a:prstGeom prst="roundRect">
            <a:avLst>
              <a:gd name="adj" fmla="val 9523"/>
            </a:avLst>
          </a:prstGeom>
          <a:solidFill>
            <a:srgbClr val="A61B1B"/>
          </a:solidFill>
          <a:ln>
            <a:noFill/>
          </a:ln>
        </p:spPr>
        <p:txBody>
          <a:bodyPr rtlCol="0" anchor="ctr"/>
          <a:lstStyle/>
          <a:p>
            <a:pPr algn="ctr"/>
          </a:p>
        </p:txBody>
      </p:sp>
      <p:sp>
        <p:nvSpPr>
          <p:cNvPr id="43" name="Text 42"/>
          <p:cNvSpPr txBox="1"/>
          <p:nvPr/>
        </p:nvSpPr>
        <p:spPr>
          <a:xfrm>
            <a:off x="62623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25</a:t>
            </a:r>
          </a:p>
        </p:txBody>
      </p:sp>
      <p:sp>
        <p:nvSpPr>
          <p:cNvPr id="44" name="Text 43"/>
          <p:cNvSpPr txBox="1"/>
          <p:nvPr/>
        </p:nvSpPr>
        <p:spPr>
          <a:xfrm>
            <a:off x="6251912" y="21522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45" name="Box 44"/>
          <p:cNvSpPr/>
          <p:nvPr/>
        </p:nvSpPr>
        <p:spPr>
          <a:xfrm>
            <a:off x="812800" y="2452886"/>
            <a:ext cx="1270000" cy="533400"/>
          </a:xfrm>
          <a:prstGeom prst="roundRect">
            <a:avLst>
              <a:gd name="adj" fmla="val 9523"/>
            </a:avLst>
          </a:prstGeom>
          <a:solidFill>
            <a:srgbClr val="E6E2D8"/>
          </a:solidFill>
          <a:ln>
            <a:noFill/>
          </a:ln>
        </p:spPr>
        <p:txBody>
          <a:bodyPr rtlCol="0" anchor="ctr"/>
          <a:lstStyle/>
          <a:p>
            <a:pPr algn="ctr"/>
          </a:p>
        </p:txBody>
      </p:sp>
      <p:sp>
        <p:nvSpPr>
          <p:cNvPr id="46" name="Text 45"/>
          <p:cNvSpPr txBox="1"/>
          <p:nvPr/>
        </p:nvSpPr>
        <p:spPr>
          <a:xfrm>
            <a:off x="1325820" y="25001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47" name="Text 46"/>
          <p:cNvSpPr txBox="1"/>
          <p:nvPr/>
        </p:nvSpPr>
        <p:spPr>
          <a:xfrm>
            <a:off x="1155938" y="2714867"/>
            <a:ext cx="58362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محتمل</a:t>
            </a:r>
          </a:p>
        </p:txBody>
      </p:sp>
      <p:sp>
        <p:nvSpPr>
          <p:cNvPr id="48" name="Box 47"/>
          <p:cNvSpPr/>
          <p:nvPr/>
        </p:nvSpPr>
        <p:spPr>
          <a:xfrm>
            <a:off x="2120900" y="2452886"/>
            <a:ext cx="927100" cy="533400"/>
          </a:xfrm>
          <a:prstGeom prst="roundRect">
            <a:avLst>
              <a:gd name="adj" fmla="val 9523"/>
            </a:avLst>
          </a:prstGeom>
          <a:solidFill>
            <a:srgbClr val="8CC765"/>
          </a:solidFill>
          <a:ln>
            <a:noFill/>
          </a:ln>
        </p:spPr>
        <p:txBody>
          <a:bodyPr rtlCol="0" anchor="ctr"/>
          <a:lstStyle/>
          <a:p>
            <a:pPr algn="ctr"/>
          </a:p>
        </p:txBody>
      </p:sp>
      <p:sp>
        <p:nvSpPr>
          <p:cNvPr id="49" name="Text 48"/>
          <p:cNvSpPr txBox="1"/>
          <p:nvPr/>
        </p:nvSpPr>
        <p:spPr>
          <a:xfrm>
            <a:off x="2462470" y="2504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50" name="Text 49"/>
          <p:cNvSpPr txBox="1"/>
          <p:nvPr/>
        </p:nvSpPr>
        <p:spPr>
          <a:xfrm>
            <a:off x="2250718" y="2723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51" name="Box 50"/>
          <p:cNvSpPr/>
          <p:nvPr/>
        </p:nvSpPr>
        <p:spPr>
          <a:xfrm>
            <a:off x="3086100" y="2452886"/>
            <a:ext cx="927100" cy="533400"/>
          </a:xfrm>
          <a:prstGeom prst="roundRect">
            <a:avLst>
              <a:gd name="adj" fmla="val 9523"/>
            </a:avLst>
          </a:prstGeom>
          <a:solidFill>
            <a:srgbClr val="F2B530"/>
          </a:solidFill>
          <a:ln>
            <a:noFill/>
          </a:ln>
        </p:spPr>
        <p:txBody>
          <a:bodyPr rtlCol="0" anchor="ctr"/>
          <a:lstStyle/>
          <a:p>
            <a:pPr algn="ctr"/>
          </a:p>
        </p:txBody>
      </p:sp>
      <p:sp>
        <p:nvSpPr>
          <p:cNvPr id="52" name="Text 51"/>
          <p:cNvSpPr txBox="1"/>
          <p:nvPr/>
        </p:nvSpPr>
        <p:spPr>
          <a:xfrm>
            <a:off x="3427670" y="2504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8</a:t>
            </a:r>
          </a:p>
        </p:txBody>
      </p:sp>
      <p:sp>
        <p:nvSpPr>
          <p:cNvPr id="53" name="Text 52"/>
          <p:cNvSpPr txBox="1"/>
          <p:nvPr/>
        </p:nvSpPr>
        <p:spPr>
          <a:xfrm>
            <a:off x="3249255" y="2723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54" name="Box 53"/>
          <p:cNvSpPr/>
          <p:nvPr/>
        </p:nvSpPr>
        <p:spPr>
          <a:xfrm>
            <a:off x="4051300" y="2452886"/>
            <a:ext cx="927100" cy="533400"/>
          </a:xfrm>
          <a:prstGeom prst="roundRect">
            <a:avLst>
              <a:gd name="adj" fmla="val 9523"/>
            </a:avLst>
          </a:prstGeom>
          <a:solidFill>
            <a:srgbClr val="F2B530"/>
          </a:solidFill>
          <a:ln>
            <a:noFill/>
          </a:ln>
        </p:spPr>
        <p:txBody>
          <a:bodyPr rtlCol="0" anchor="ctr"/>
          <a:lstStyle/>
          <a:p>
            <a:pPr algn="ctr"/>
          </a:p>
        </p:txBody>
      </p:sp>
      <p:sp>
        <p:nvSpPr>
          <p:cNvPr id="55" name="Text 54"/>
          <p:cNvSpPr txBox="1"/>
          <p:nvPr/>
        </p:nvSpPr>
        <p:spPr>
          <a:xfrm>
            <a:off x="43319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12</a:t>
            </a:r>
          </a:p>
        </p:txBody>
      </p:sp>
      <p:sp>
        <p:nvSpPr>
          <p:cNvPr id="56" name="Text 55"/>
          <p:cNvSpPr txBox="1"/>
          <p:nvPr/>
        </p:nvSpPr>
        <p:spPr>
          <a:xfrm>
            <a:off x="4214455" y="2723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57" name="Box 56"/>
          <p:cNvSpPr/>
          <p:nvPr/>
        </p:nvSpPr>
        <p:spPr>
          <a:xfrm>
            <a:off x="5016500" y="2452886"/>
            <a:ext cx="927100" cy="533400"/>
          </a:xfrm>
          <a:prstGeom prst="roundRect">
            <a:avLst>
              <a:gd name="adj" fmla="val 9523"/>
            </a:avLst>
          </a:prstGeom>
          <a:solidFill>
            <a:srgbClr val="E0452B"/>
          </a:solidFill>
          <a:ln>
            <a:noFill/>
          </a:ln>
        </p:spPr>
        <p:txBody>
          <a:bodyPr rtlCol="0" anchor="ctr"/>
          <a:lstStyle/>
          <a:p>
            <a:pPr algn="ctr"/>
          </a:p>
        </p:txBody>
      </p:sp>
      <p:sp>
        <p:nvSpPr>
          <p:cNvPr id="58" name="Text 57"/>
          <p:cNvSpPr txBox="1"/>
          <p:nvPr/>
        </p:nvSpPr>
        <p:spPr>
          <a:xfrm>
            <a:off x="52971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16</a:t>
            </a:r>
          </a:p>
        </p:txBody>
      </p:sp>
      <p:sp>
        <p:nvSpPr>
          <p:cNvPr id="59" name="Text 58"/>
          <p:cNvSpPr txBox="1"/>
          <p:nvPr/>
        </p:nvSpPr>
        <p:spPr>
          <a:xfrm>
            <a:off x="5301893" y="27237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60" name="Box 59"/>
          <p:cNvSpPr/>
          <p:nvPr/>
        </p:nvSpPr>
        <p:spPr>
          <a:xfrm>
            <a:off x="5981700" y="2452886"/>
            <a:ext cx="927100" cy="533400"/>
          </a:xfrm>
          <a:prstGeom prst="roundRect">
            <a:avLst>
              <a:gd name="adj" fmla="val 9523"/>
            </a:avLst>
          </a:prstGeom>
          <a:solidFill>
            <a:srgbClr val="A61B1B"/>
          </a:solidFill>
          <a:ln>
            <a:noFill/>
          </a:ln>
        </p:spPr>
        <p:txBody>
          <a:bodyPr rtlCol="0" anchor="ctr"/>
          <a:lstStyle/>
          <a:p>
            <a:pPr algn="ctr"/>
          </a:p>
        </p:txBody>
      </p:sp>
      <p:sp>
        <p:nvSpPr>
          <p:cNvPr id="61" name="Text 60"/>
          <p:cNvSpPr txBox="1"/>
          <p:nvPr/>
        </p:nvSpPr>
        <p:spPr>
          <a:xfrm>
            <a:off x="62623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20</a:t>
            </a:r>
          </a:p>
        </p:txBody>
      </p:sp>
      <p:sp>
        <p:nvSpPr>
          <p:cNvPr id="62" name="Text 61"/>
          <p:cNvSpPr txBox="1"/>
          <p:nvPr/>
        </p:nvSpPr>
        <p:spPr>
          <a:xfrm>
            <a:off x="6251912" y="27237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63" name="Box 62"/>
          <p:cNvSpPr/>
          <p:nvPr/>
        </p:nvSpPr>
        <p:spPr>
          <a:xfrm>
            <a:off x="812800" y="3024386"/>
            <a:ext cx="1270000" cy="533400"/>
          </a:xfrm>
          <a:prstGeom prst="roundRect">
            <a:avLst>
              <a:gd name="adj" fmla="val 9523"/>
            </a:avLst>
          </a:prstGeom>
          <a:solidFill>
            <a:srgbClr val="E6E2D8"/>
          </a:solidFill>
          <a:ln>
            <a:noFill/>
          </a:ln>
        </p:spPr>
        <p:txBody>
          <a:bodyPr rtlCol="0" anchor="ctr"/>
          <a:lstStyle/>
          <a:p>
            <a:pPr algn="ctr"/>
          </a:p>
        </p:txBody>
      </p:sp>
      <p:sp>
        <p:nvSpPr>
          <p:cNvPr id="64" name="Text 63"/>
          <p:cNvSpPr txBox="1"/>
          <p:nvPr/>
        </p:nvSpPr>
        <p:spPr>
          <a:xfrm>
            <a:off x="1325820" y="3071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65" name="Text 64"/>
          <p:cNvSpPr txBox="1"/>
          <p:nvPr/>
        </p:nvSpPr>
        <p:spPr>
          <a:xfrm>
            <a:off x="1098590" y="3286367"/>
            <a:ext cx="698421"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غير مرجح</a:t>
            </a:r>
          </a:p>
        </p:txBody>
      </p:sp>
      <p:sp>
        <p:nvSpPr>
          <p:cNvPr id="66" name="Box 65"/>
          <p:cNvSpPr/>
          <p:nvPr/>
        </p:nvSpPr>
        <p:spPr>
          <a:xfrm>
            <a:off x="2120900" y="3024386"/>
            <a:ext cx="927100" cy="533400"/>
          </a:xfrm>
          <a:prstGeom prst="roundRect">
            <a:avLst>
              <a:gd name="adj" fmla="val 9523"/>
            </a:avLst>
          </a:prstGeom>
          <a:solidFill>
            <a:srgbClr val="8CC765"/>
          </a:solidFill>
          <a:ln>
            <a:noFill/>
          </a:ln>
        </p:spPr>
        <p:txBody>
          <a:bodyPr rtlCol="0" anchor="ctr"/>
          <a:lstStyle/>
          <a:p>
            <a:pPr algn="ctr"/>
          </a:p>
        </p:txBody>
      </p:sp>
      <p:sp>
        <p:nvSpPr>
          <p:cNvPr id="67" name="Text 66"/>
          <p:cNvSpPr txBox="1"/>
          <p:nvPr/>
        </p:nvSpPr>
        <p:spPr>
          <a:xfrm>
            <a:off x="24624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68" name="Text 67"/>
          <p:cNvSpPr txBox="1"/>
          <p:nvPr/>
        </p:nvSpPr>
        <p:spPr>
          <a:xfrm>
            <a:off x="2250718" y="3295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69" name="Box 68"/>
          <p:cNvSpPr/>
          <p:nvPr/>
        </p:nvSpPr>
        <p:spPr>
          <a:xfrm>
            <a:off x="3086100" y="3024386"/>
            <a:ext cx="927100" cy="533400"/>
          </a:xfrm>
          <a:prstGeom prst="roundRect">
            <a:avLst>
              <a:gd name="adj" fmla="val 9523"/>
            </a:avLst>
          </a:prstGeom>
          <a:solidFill>
            <a:srgbClr val="8CC765"/>
          </a:solidFill>
          <a:ln>
            <a:noFill/>
          </a:ln>
        </p:spPr>
        <p:txBody>
          <a:bodyPr rtlCol="0" anchor="ctr"/>
          <a:lstStyle/>
          <a:p>
            <a:pPr algn="ctr"/>
          </a:p>
        </p:txBody>
      </p:sp>
      <p:sp>
        <p:nvSpPr>
          <p:cNvPr id="70" name="Text 69"/>
          <p:cNvSpPr txBox="1"/>
          <p:nvPr/>
        </p:nvSpPr>
        <p:spPr>
          <a:xfrm>
            <a:off x="34276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6</a:t>
            </a:r>
          </a:p>
        </p:txBody>
      </p:sp>
      <p:sp>
        <p:nvSpPr>
          <p:cNvPr id="71" name="Text 70"/>
          <p:cNvSpPr txBox="1"/>
          <p:nvPr/>
        </p:nvSpPr>
        <p:spPr>
          <a:xfrm>
            <a:off x="3215918" y="3295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72" name="Box 71"/>
          <p:cNvSpPr/>
          <p:nvPr/>
        </p:nvSpPr>
        <p:spPr>
          <a:xfrm>
            <a:off x="4051300" y="3024386"/>
            <a:ext cx="927100" cy="533400"/>
          </a:xfrm>
          <a:prstGeom prst="roundRect">
            <a:avLst>
              <a:gd name="adj" fmla="val 9523"/>
            </a:avLst>
          </a:prstGeom>
          <a:solidFill>
            <a:srgbClr val="F2B530"/>
          </a:solidFill>
          <a:ln>
            <a:noFill/>
          </a:ln>
        </p:spPr>
        <p:txBody>
          <a:bodyPr rtlCol="0" anchor="ctr"/>
          <a:lstStyle/>
          <a:p>
            <a:pPr algn="ctr"/>
          </a:p>
        </p:txBody>
      </p:sp>
      <p:sp>
        <p:nvSpPr>
          <p:cNvPr id="73" name="Text 72"/>
          <p:cNvSpPr txBox="1"/>
          <p:nvPr/>
        </p:nvSpPr>
        <p:spPr>
          <a:xfrm>
            <a:off x="43928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9</a:t>
            </a:r>
          </a:p>
        </p:txBody>
      </p:sp>
      <p:sp>
        <p:nvSpPr>
          <p:cNvPr id="74" name="Text 73"/>
          <p:cNvSpPr txBox="1"/>
          <p:nvPr/>
        </p:nvSpPr>
        <p:spPr>
          <a:xfrm>
            <a:off x="4214455" y="3295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75" name="Box 74"/>
          <p:cNvSpPr/>
          <p:nvPr/>
        </p:nvSpPr>
        <p:spPr>
          <a:xfrm>
            <a:off x="5035550" y="3043436"/>
            <a:ext cx="889000" cy="495300"/>
          </a:xfrm>
          <a:prstGeom prst="roundRect">
            <a:avLst>
              <a:gd name="adj" fmla="val 9523"/>
            </a:avLst>
          </a:prstGeom>
          <a:solidFill>
            <a:srgbClr val="F2B530"/>
          </a:solidFill>
          <a:ln w="38100">
            <a:solidFill>
              <a:srgbClr val="172433"/>
            </a:solidFill>
          </a:ln>
        </p:spPr>
        <p:txBody>
          <a:bodyPr rtlCol="0" anchor="ctr"/>
          <a:lstStyle/>
          <a:p>
            <a:pPr algn="ctr"/>
          </a:p>
        </p:txBody>
      </p:sp>
      <p:sp>
        <p:nvSpPr>
          <p:cNvPr id="76" name="Text 75"/>
          <p:cNvSpPr txBox="1"/>
          <p:nvPr/>
        </p:nvSpPr>
        <p:spPr>
          <a:xfrm>
            <a:off x="5297150" y="3076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12</a:t>
            </a:r>
          </a:p>
        </p:txBody>
      </p:sp>
      <p:sp>
        <p:nvSpPr>
          <p:cNvPr id="77" name="Text 76"/>
          <p:cNvSpPr txBox="1"/>
          <p:nvPr/>
        </p:nvSpPr>
        <p:spPr>
          <a:xfrm>
            <a:off x="5179655" y="3295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78" name="Box 77"/>
          <p:cNvSpPr/>
          <p:nvPr/>
        </p:nvSpPr>
        <p:spPr>
          <a:xfrm>
            <a:off x="5981700" y="3024386"/>
            <a:ext cx="927100" cy="533400"/>
          </a:xfrm>
          <a:prstGeom prst="roundRect">
            <a:avLst>
              <a:gd name="adj" fmla="val 9523"/>
            </a:avLst>
          </a:prstGeom>
          <a:solidFill>
            <a:srgbClr val="E0452B"/>
          </a:solidFill>
          <a:ln>
            <a:noFill/>
          </a:ln>
        </p:spPr>
        <p:txBody>
          <a:bodyPr rtlCol="0" anchor="ctr"/>
          <a:lstStyle/>
          <a:p>
            <a:pPr algn="ctr"/>
          </a:p>
        </p:txBody>
      </p:sp>
      <p:sp>
        <p:nvSpPr>
          <p:cNvPr id="79" name="Text 78"/>
          <p:cNvSpPr txBox="1"/>
          <p:nvPr/>
        </p:nvSpPr>
        <p:spPr>
          <a:xfrm>
            <a:off x="6262350" y="3076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15</a:t>
            </a:r>
          </a:p>
        </p:txBody>
      </p:sp>
      <p:sp>
        <p:nvSpPr>
          <p:cNvPr id="80" name="Text 79"/>
          <p:cNvSpPr txBox="1"/>
          <p:nvPr/>
        </p:nvSpPr>
        <p:spPr>
          <a:xfrm>
            <a:off x="6267093" y="32952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81" name="Box 80"/>
          <p:cNvSpPr/>
          <p:nvPr/>
        </p:nvSpPr>
        <p:spPr>
          <a:xfrm>
            <a:off x="812800" y="3595886"/>
            <a:ext cx="1270000" cy="533400"/>
          </a:xfrm>
          <a:prstGeom prst="roundRect">
            <a:avLst>
              <a:gd name="adj" fmla="val 9523"/>
            </a:avLst>
          </a:prstGeom>
          <a:solidFill>
            <a:srgbClr val="E6E2D8"/>
          </a:solidFill>
          <a:ln>
            <a:noFill/>
          </a:ln>
        </p:spPr>
        <p:txBody>
          <a:bodyPr rtlCol="0" anchor="ctr"/>
          <a:lstStyle/>
          <a:p>
            <a:pPr algn="ctr"/>
          </a:p>
        </p:txBody>
      </p:sp>
      <p:sp>
        <p:nvSpPr>
          <p:cNvPr id="82" name="Text 81"/>
          <p:cNvSpPr txBox="1"/>
          <p:nvPr/>
        </p:nvSpPr>
        <p:spPr>
          <a:xfrm>
            <a:off x="1325820" y="36431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2</a:t>
            </a:r>
          </a:p>
        </p:txBody>
      </p:sp>
      <p:sp>
        <p:nvSpPr>
          <p:cNvPr id="83" name="Text 82"/>
          <p:cNvSpPr txBox="1"/>
          <p:nvPr/>
        </p:nvSpPr>
        <p:spPr>
          <a:xfrm>
            <a:off x="1282740" y="3857867"/>
            <a:ext cx="330021"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نادر</a:t>
            </a:r>
          </a:p>
        </p:txBody>
      </p:sp>
      <p:sp>
        <p:nvSpPr>
          <p:cNvPr id="84" name="Box 83"/>
          <p:cNvSpPr/>
          <p:nvPr/>
        </p:nvSpPr>
        <p:spPr>
          <a:xfrm>
            <a:off x="2120900" y="3595886"/>
            <a:ext cx="927100" cy="533400"/>
          </a:xfrm>
          <a:prstGeom prst="roundRect">
            <a:avLst>
              <a:gd name="adj" fmla="val 9523"/>
            </a:avLst>
          </a:prstGeom>
          <a:solidFill>
            <a:srgbClr val="1E8E4E"/>
          </a:solidFill>
          <a:ln>
            <a:noFill/>
          </a:ln>
        </p:spPr>
        <p:txBody>
          <a:bodyPr rtlCol="0" anchor="ctr"/>
          <a:lstStyle/>
          <a:p>
            <a:pPr algn="ctr"/>
          </a:p>
        </p:txBody>
      </p:sp>
      <p:sp>
        <p:nvSpPr>
          <p:cNvPr id="85" name="Text 84"/>
          <p:cNvSpPr txBox="1"/>
          <p:nvPr/>
        </p:nvSpPr>
        <p:spPr>
          <a:xfrm>
            <a:off x="24624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a:t>
            </a:r>
          </a:p>
        </p:txBody>
      </p:sp>
      <p:sp>
        <p:nvSpPr>
          <p:cNvPr id="86" name="Text 85"/>
          <p:cNvSpPr txBox="1"/>
          <p:nvPr/>
        </p:nvSpPr>
        <p:spPr>
          <a:xfrm>
            <a:off x="2146300" y="38667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87" name="Box 86"/>
          <p:cNvSpPr/>
          <p:nvPr/>
        </p:nvSpPr>
        <p:spPr>
          <a:xfrm>
            <a:off x="3086100" y="3595886"/>
            <a:ext cx="927100" cy="533400"/>
          </a:xfrm>
          <a:prstGeom prst="roundRect">
            <a:avLst>
              <a:gd name="adj" fmla="val 9523"/>
            </a:avLst>
          </a:prstGeom>
          <a:solidFill>
            <a:srgbClr val="8CC765"/>
          </a:solidFill>
          <a:ln>
            <a:noFill/>
          </a:ln>
        </p:spPr>
        <p:txBody>
          <a:bodyPr rtlCol="0" anchor="ctr"/>
          <a:lstStyle/>
          <a:p>
            <a:pPr algn="ctr"/>
          </a:p>
        </p:txBody>
      </p:sp>
      <p:sp>
        <p:nvSpPr>
          <p:cNvPr id="88" name="Text 87"/>
          <p:cNvSpPr txBox="1"/>
          <p:nvPr/>
        </p:nvSpPr>
        <p:spPr>
          <a:xfrm>
            <a:off x="34276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89" name="Text 88"/>
          <p:cNvSpPr txBox="1"/>
          <p:nvPr/>
        </p:nvSpPr>
        <p:spPr>
          <a:xfrm>
            <a:off x="3215918" y="3866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90" name="Box 89"/>
          <p:cNvSpPr/>
          <p:nvPr/>
        </p:nvSpPr>
        <p:spPr>
          <a:xfrm>
            <a:off x="4051300" y="3595886"/>
            <a:ext cx="927100" cy="533400"/>
          </a:xfrm>
          <a:prstGeom prst="roundRect">
            <a:avLst>
              <a:gd name="adj" fmla="val 9523"/>
            </a:avLst>
          </a:prstGeom>
          <a:solidFill>
            <a:srgbClr val="8CC765"/>
          </a:solidFill>
          <a:ln>
            <a:noFill/>
          </a:ln>
        </p:spPr>
        <p:txBody>
          <a:bodyPr rtlCol="0" anchor="ctr"/>
          <a:lstStyle/>
          <a:p>
            <a:pPr algn="ctr"/>
          </a:p>
        </p:txBody>
      </p:sp>
      <p:sp>
        <p:nvSpPr>
          <p:cNvPr id="91" name="Text 90"/>
          <p:cNvSpPr txBox="1"/>
          <p:nvPr/>
        </p:nvSpPr>
        <p:spPr>
          <a:xfrm>
            <a:off x="43928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6</a:t>
            </a:r>
          </a:p>
        </p:txBody>
      </p:sp>
      <p:sp>
        <p:nvSpPr>
          <p:cNvPr id="92" name="Text 91"/>
          <p:cNvSpPr txBox="1"/>
          <p:nvPr/>
        </p:nvSpPr>
        <p:spPr>
          <a:xfrm>
            <a:off x="4181118" y="3866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93" name="Box 92"/>
          <p:cNvSpPr/>
          <p:nvPr/>
        </p:nvSpPr>
        <p:spPr>
          <a:xfrm>
            <a:off x="5016500" y="3595886"/>
            <a:ext cx="927100" cy="533400"/>
          </a:xfrm>
          <a:prstGeom prst="roundRect">
            <a:avLst>
              <a:gd name="adj" fmla="val 9523"/>
            </a:avLst>
          </a:prstGeom>
          <a:solidFill>
            <a:srgbClr val="F2B530"/>
          </a:solidFill>
          <a:ln>
            <a:noFill/>
          </a:ln>
        </p:spPr>
        <p:txBody>
          <a:bodyPr rtlCol="0" anchor="ctr"/>
          <a:lstStyle/>
          <a:p>
            <a:pPr algn="ctr"/>
          </a:p>
        </p:txBody>
      </p:sp>
      <p:sp>
        <p:nvSpPr>
          <p:cNvPr id="94" name="Text 93"/>
          <p:cNvSpPr txBox="1"/>
          <p:nvPr/>
        </p:nvSpPr>
        <p:spPr>
          <a:xfrm>
            <a:off x="53580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8</a:t>
            </a:r>
          </a:p>
        </p:txBody>
      </p:sp>
      <p:sp>
        <p:nvSpPr>
          <p:cNvPr id="95" name="Text 94"/>
          <p:cNvSpPr txBox="1"/>
          <p:nvPr/>
        </p:nvSpPr>
        <p:spPr>
          <a:xfrm>
            <a:off x="5179655" y="3866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96" name="Box 95"/>
          <p:cNvSpPr/>
          <p:nvPr/>
        </p:nvSpPr>
        <p:spPr>
          <a:xfrm>
            <a:off x="5981700" y="3595886"/>
            <a:ext cx="927100" cy="533400"/>
          </a:xfrm>
          <a:prstGeom prst="roundRect">
            <a:avLst>
              <a:gd name="adj" fmla="val 9523"/>
            </a:avLst>
          </a:prstGeom>
          <a:solidFill>
            <a:srgbClr val="F2B530"/>
          </a:solidFill>
          <a:ln>
            <a:noFill/>
          </a:ln>
        </p:spPr>
        <p:txBody>
          <a:bodyPr rtlCol="0" anchor="ctr"/>
          <a:lstStyle/>
          <a:p>
            <a:pPr algn="ctr"/>
          </a:p>
        </p:txBody>
      </p:sp>
      <p:sp>
        <p:nvSpPr>
          <p:cNvPr id="97" name="Text 96"/>
          <p:cNvSpPr txBox="1"/>
          <p:nvPr/>
        </p:nvSpPr>
        <p:spPr>
          <a:xfrm>
            <a:off x="6262350" y="3647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10</a:t>
            </a:r>
          </a:p>
        </p:txBody>
      </p:sp>
      <p:sp>
        <p:nvSpPr>
          <p:cNvPr id="98" name="Text 97"/>
          <p:cNvSpPr txBox="1"/>
          <p:nvPr/>
        </p:nvSpPr>
        <p:spPr>
          <a:xfrm>
            <a:off x="6144855" y="3866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99" name="Box 98"/>
          <p:cNvSpPr/>
          <p:nvPr/>
        </p:nvSpPr>
        <p:spPr>
          <a:xfrm>
            <a:off x="812800" y="4167386"/>
            <a:ext cx="1270000" cy="533400"/>
          </a:xfrm>
          <a:prstGeom prst="roundRect">
            <a:avLst>
              <a:gd name="adj" fmla="val 9523"/>
            </a:avLst>
          </a:prstGeom>
          <a:solidFill>
            <a:srgbClr val="E6E2D8"/>
          </a:solidFill>
          <a:ln>
            <a:noFill/>
          </a:ln>
        </p:spPr>
        <p:txBody>
          <a:bodyPr rtlCol="0" anchor="ctr"/>
          <a:lstStyle/>
          <a:p>
            <a:pPr algn="ctr"/>
          </a:p>
        </p:txBody>
      </p:sp>
      <p:sp>
        <p:nvSpPr>
          <p:cNvPr id="100" name="Text 99"/>
          <p:cNvSpPr txBox="1"/>
          <p:nvPr/>
        </p:nvSpPr>
        <p:spPr>
          <a:xfrm>
            <a:off x="1325820" y="4214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a:t>
            </a:r>
          </a:p>
        </p:txBody>
      </p:sp>
      <p:sp>
        <p:nvSpPr>
          <p:cNvPr id="101" name="Text 100"/>
          <p:cNvSpPr txBox="1"/>
          <p:nvPr/>
        </p:nvSpPr>
        <p:spPr>
          <a:xfrm>
            <a:off x="1138277" y="4429367"/>
            <a:ext cx="618946"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نادر جداً</a:t>
            </a:r>
          </a:p>
        </p:txBody>
      </p:sp>
      <p:sp>
        <p:nvSpPr>
          <p:cNvPr id="102" name="Box 101"/>
          <p:cNvSpPr/>
          <p:nvPr/>
        </p:nvSpPr>
        <p:spPr>
          <a:xfrm>
            <a:off x="2120900" y="4167386"/>
            <a:ext cx="927100" cy="533400"/>
          </a:xfrm>
          <a:prstGeom prst="roundRect">
            <a:avLst>
              <a:gd name="adj" fmla="val 9523"/>
            </a:avLst>
          </a:prstGeom>
          <a:solidFill>
            <a:srgbClr val="1E8E4E"/>
          </a:solidFill>
          <a:ln>
            <a:noFill/>
          </a:ln>
        </p:spPr>
        <p:txBody>
          <a:bodyPr rtlCol="0" anchor="ctr"/>
          <a:lstStyle/>
          <a:p>
            <a:pPr algn="ctr"/>
          </a:p>
        </p:txBody>
      </p:sp>
      <p:sp>
        <p:nvSpPr>
          <p:cNvPr id="103" name="Text 102"/>
          <p:cNvSpPr txBox="1"/>
          <p:nvPr/>
        </p:nvSpPr>
        <p:spPr>
          <a:xfrm>
            <a:off x="24624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a:t>
            </a:r>
          </a:p>
        </p:txBody>
      </p:sp>
      <p:sp>
        <p:nvSpPr>
          <p:cNvPr id="104" name="Text 103"/>
          <p:cNvSpPr txBox="1"/>
          <p:nvPr/>
        </p:nvSpPr>
        <p:spPr>
          <a:xfrm>
            <a:off x="2146300" y="44382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105" name="Box 104"/>
          <p:cNvSpPr/>
          <p:nvPr/>
        </p:nvSpPr>
        <p:spPr>
          <a:xfrm>
            <a:off x="3086100" y="4167386"/>
            <a:ext cx="927100" cy="533400"/>
          </a:xfrm>
          <a:prstGeom prst="roundRect">
            <a:avLst>
              <a:gd name="adj" fmla="val 9523"/>
            </a:avLst>
          </a:prstGeom>
          <a:solidFill>
            <a:srgbClr val="1E8E4E"/>
          </a:solidFill>
          <a:ln>
            <a:noFill/>
          </a:ln>
        </p:spPr>
        <p:txBody>
          <a:bodyPr rtlCol="0" anchor="ctr"/>
          <a:lstStyle/>
          <a:p>
            <a:pPr algn="ctr"/>
          </a:p>
        </p:txBody>
      </p:sp>
      <p:sp>
        <p:nvSpPr>
          <p:cNvPr id="106" name="Text 105"/>
          <p:cNvSpPr txBox="1"/>
          <p:nvPr/>
        </p:nvSpPr>
        <p:spPr>
          <a:xfrm>
            <a:off x="34276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a:t>
            </a:r>
          </a:p>
        </p:txBody>
      </p:sp>
      <p:sp>
        <p:nvSpPr>
          <p:cNvPr id="107" name="Text 106"/>
          <p:cNvSpPr txBox="1"/>
          <p:nvPr/>
        </p:nvSpPr>
        <p:spPr>
          <a:xfrm>
            <a:off x="3111500" y="44382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108" name="Box 107"/>
          <p:cNvSpPr/>
          <p:nvPr/>
        </p:nvSpPr>
        <p:spPr>
          <a:xfrm>
            <a:off x="4051300" y="4167386"/>
            <a:ext cx="927100" cy="533400"/>
          </a:xfrm>
          <a:prstGeom prst="roundRect">
            <a:avLst>
              <a:gd name="adj" fmla="val 9523"/>
            </a:avLst>
          </a:prstGeom>
          <a:solidFill>
            <a:srgbClr val="8CC765"/>
          </a:solidFill>
          <a:ln>
            <a:noFill/>
          </a:ln>
        </p:spPr>
        <p:txBody>
          <a:bodyPr rtlCol="0" anchor="ctr"/>
          <a:lstStyle/>
          <a:p>
            <a:pPr algn="ctr"/>
          </a:p>
        </p:txBody>
      </p:sp>
      <p:sp>
        <p:nvSpPr>
          <p:cNvPr id="109" name="Text 108"/>
          <p:cNvSpPr txBox="1"/>
          <p:nvPr/>
        </p:nvSpPr>
        <p:spPr>
          <a:xfrm>
            <a:off x="43928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110" name="Text 109"/>
          <p:cNvSpPr txBox="1"/>
          <p:nvPr/>
        </p:nvSpPr>
        <p:spPr>
          <a:xfrm>
            <a:off x="41811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1" name="Box 110"/>
          <p:cNvSpPr/>
          <p:nvPr/>
        </p:nvSpPr>
        <p:spPr>
          <a:xfrm>
            <a:off x="5016500" y="4167386"/>
            <a:ext cx="927100" cy="533400"/>
          </a:xfrm>
          <a:prstGeom prst="roundRect">
            <a:avLst>
              <a:gd name="adj" fmla="val 9523"/>
            </a:avLst>
          </a:prstGeom>
          <a:solidFill>
            <a:srgbClr val="8CC765"/>
          </a:solidFill>
          <a:ln>
            <a:noFill/>
          </a:ln>
        </p:spPr>
        <p:txBody>
          <a:bodyPr rtlCol="0" anchor="ctr"/>
          <a:lstStyle/>
          <a:p>
            <a:pPr algn="ctr"/>
          </a:p>
        </p:txBody>
      </p:sp>
      <p:sp>
        <p:nvSpPr>
          <p:cNvPr id="112" name="Text 111"/>
          <p:cNvSpPr txBox="1"/>
          <p:nvPr/>
        </p:nvSpPr>
        <p:spPr>
          <a:xfrm>
            <a:off x="53580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113" name="Text 112"/>
          <p:cNvSpPr txBox="1"/>
          <p:nvPr/>
        </p:nvSpPr>
        <p:spPr>
          <a:xfrm>
            <a:off x="51463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4" name="Box 113"/>
          <p:cNvSpPr/>
          <p:nvPr/>
        </p:nvSpPr>
        <p:spPr>
          <a:xfrm>
            <a:off x="5981700" y="4167386"/>
            <a:ext cx="927100" cy="533400"/>
          </a:xfrm>
          <a:prstGeom prst="roundRect">
            <a:avLst>
              <a:gd name="adj" fmla="val 9523"/>
            </a:avLst>
          </a:prstGeom>
          <a:solidFill>
            <a:srgbClr val="8CC765"/>
          </a:solidFill>
          <a:ln>
            <a:noFill/>
          </a:ln>
        </p:spPr>
        <p:txBody>
          <a:bodyPr rtlCol="0" anchor="ctr"/>
          <a:lstStyle/>
          <a:p>
            <a:pPr algn="ctr"/>
          </a:p>
        </p:txBody>
      </p:sp>
      <p:sp>
        <p:nvSpPr>
          <p:cNvPr id="115" name="Text 114"/>
          <p:cNvSpPr txBox="1"/>
          <p:nvPr/>
        </p:nvSpPr>
        <p:spPr>
          <a:xfrm>
            <a:off x="63232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116" name="Text 115"/>
          <p:cNvSpPr txBox="1"/>
          <p:nvPr/>
        </p:nvSpPr>
        <p:spPr>
          <a:xfrm>
            <a:off x="61115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7" name="Text 116"/>
          <p:cNvSpPr txBox="1"/>
          <p:nvPr/>
        </p:nvSpPr>
        <p:spPr>
          <a:xfrm>
            <a:off x="24624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a:t>
            </a:r>
          </a:p>
        </p:txBody>
      </p:sp>
      <p:sp>
        <p:nvSpPr>
          <p:cNvPr id="118" name="Text 117"/>
          <p:cNvSpPr txBox="1"/>
          <p:nvPr/>
        </p:nvSpPr>
        <p:spPr>
          <a:xfrm>
            <a:off x="2106255" y="4952548"/>
            <a:ext cx="956290"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منخفض جداً</a:t>
            </a:r>
          </a:p>
        </p:txBody>
      </p:sp>
      <p:sp>
        <p:nvSpPr>
          <p:cNvPr id="119" name="Text 118"/>
          <p:cNvSpPr txBox="1"/>
          <p:nvPr/>
        </p:nvSpPr>
        <p:spPr>
          <a:xfrm>
            <a:off x="34276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2</a:t>
            </a:r>
          </a:p>
        </p:txBody>
      </p:sp>
      <p:sp>
        <p:nvSpPr>
          <p:cNvPr id="120" name="Text 119"/>
          <p:cNvSpPr txBox="1"/>
          <p:nvPr/>
        </p:nvSpPr>
        <p:spPr>
          <a:xfrm>
            <a:off x="3215918" y="4952548"/>
            <a:ext cx="66736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21" name="Text 120"/>
          <p:cNvSpPr txBox="1"/>
          <p:nvPr/>
        </p:nvSpPr>
        <p:spPr>
          <a:xfrm>
            <a:off x="43928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122" name="Text 121"/>
          <p:cNvSpPr txBox="1"/>
          <p:nvPr/>
        </p:nvSpPr>
        <p:spPr>
          <a:xfrm>
            <a:off x="4214455" y="4952548"/>
            <a:ext cx="600789"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123" name="Text 122"/>
          <p:cNvSpPr txBox="1"/>
          <p:nvPr/>
        </p:nvSpPr>
        <p:spPr>
          <a:xfrm>
            <a:off x="53580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124" name="Text 123"/>
          <p:cNvSpPr txBox="1"/>
          <p:nvPr/>
        </p:nvSpPr>
        <p:spPr>
          <a:xfrm>
            <a:off x="5301893" y="4952548"/>
            <a:ext cx="356314"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عالٍ</a:t>
            </a:r>
          </a:p>
        </p:txBody>
      </p:sp>
      <p:sp>
        <p:nvSpPr>
          <p:cNvPr id="125" name="Text 124"/>
          <p:cNvSpPr txBox="1"/>
          <p:nvPr/>
        </p:nvSpPr>
        <p:spPr>
          <a:xfrm>
            <a:off x="63232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126" name="Text 125"/>
          <p:cNvSpPr txBox="1"/>
          <p:nvPr/>
        </p:nvSpPr>
        <p:spPr>
          <a:xfrm>
            <a:off x="6251912" y="4952548"/>
            <a:ext cx="386576"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حرج</a:t>
            </a:r>
          </a:p>
        </p:txBody>
      </p:sp>
      <p:sp>
        <p:nvSpPr>
          <p:cNvPr id="127" name="Text 126"/>
          <p:cNvSpPr txBox="1"/>
          <p:nvPr/>
        </p:nvSpPr>
        <p:spPr>
          <a:xfrm>
            <a:off x="1929384" y="5186188"/>
            <a:ext cx="5170932"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1" i="0">
                <a:solidFill>
                  <a:srgbClr val="0E7C6B"/>
                </a:solidFill>
                <a:latin typeface="IBM Plex Sans Arabic"/>
                <a:ea typeface="IBM Plex Sans Arabic"/>
                <a:cs typeface="IBM Plex Sans Arabic"/>
              </a:rPr>
              <a:t>الأثر يزداد نحو اليمين →</a:t>
            </a:r>
          </a:p>
        </p:txBody>
      </p:sp>
      <p:sp>
        <p:nvSpPr>
          <p:cNvPr id="128" name="Text 127"/>
          <p:cNvSpPr txBox="1"/>
          <p:nvPr/>
        </p:nvSpPr>
        <p:spPr>
          <a:xfrm>
            <a:off x="0" y="5562156"/>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المصفوفة والمستويات كما وردت في الشكلين 2 و3 من NFCRM-⁠‎1:2025‎.</a:t>
            </a:r>
          </a:p>
        </p:txBody>
      </p:sp>
      <p:sp>
        <p:nvSpPr>
          <p:cNvPr id="129" name="Text 1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30" name="Text 1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3 و4؟ مبرر كل درجة</a:t>
            </a:r>
          </a:p>
        </p:txBody>
      </p:sp>
      <p:sp>
        <p:nvSpPr>
          <p:cNvPr id="6" name="Text 5"/>
          <p:cNvSpPr txBox="1"/>
          <p:nvPr/>
        </p:nvSpPr>
        <p:spPr>
          <a:xfrm>
            <a:off x="9766300" y="16185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الاحتمال 3</a:t>
            </a:r>
          </a:p>
        </p:txBody>
      </p:sp>
      <p:sp>
        <p:nvSpPr>
          <p:cNvPr id="7" name="Text 6"/>
          <p:cNvSpPr txBox="1"/>
          <p:nvPr/>
        </p:nvSpPr>
        <p:spPr>
          <a:xfrm>
            <a:off x="543052" y="16185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يتنقل الموظف يومياً بالحاسوب، وسُجلت في رُفاد سرقة حاسوب واحدة خلال 3 سنوات: «غير مرجح» قد يقع مرة كل 2 إلى 3 سنوات.</a:t>
            </a:r>
          </a:p>
        </p:txBody>
      </p:sp>
      <p:sp>
        <p:nvSpPr>
          <p:cNvPr id="8" name="Text 7"/>
          <p:cNvSpPr txBox="1"/>
          <p:nvPr/>
        </p:nvSpPr>
        <p:spPr>
          <a:xfrm>
            <a:off x="9766300" y="24694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الأثر 4</a:t>
            </a:r>
          </a:p>
        </p:txBody>
      </p:sp>
      <p:sp>
        <p:nvSpPr>
          <p:cNvPr id="9" name="Text 8"/>
          <p:cNvSpPr txBox="1"/>
          <p:nvPr/>
        </p:nvSpPr>
        <p:spPr>
          <a:xfrm>
            <a:off x="93472" y="24694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تسرب بيانات حساسة لكل الموظفين بأثر كبير على الجهة: «عالٍ».</a:t>
            </a:r>
          </a:p>
        </p:txBody>
      </p:sp>
      <p:sp>
        <p:nvSpPr>
          <p:cNvPr id="10" name="Rule 9"/>
          <p:cNvSpPr/>
          <p:nvPr/>
        </p:nvSpPr>
        <p:spPr>
          <a:xfrm>
            <a:off x="812800" y="3410545"/>
            <a:ext cx="10566400" cy="31750"/>
          </a:xfrm>
          <a:prstGeom prst="rect">
            <a:avLst/>
          </a:prstGeom>
          <a:solidFill>
            <a:srgbClr val="C9C0AC"/>
          </a:solidFill>
          <a:ln>
            <a:noFill/>
          </a:ln>
        </p:spPr>
        <p:txBody>
          <a:bodyPr rtlCol="0" anchor="ctr"/>
          <a:lstStyle/>
          <a:p>
            <a:pPr algn="ctr"/>
          </a:p>
        </p:txBody>
      </p:sp>
      <p:sp>
        <p:nvSpPr>
          <p:cNvPr id="11" name="Text 10"/>
          <p:cNvSpPr txBox="1"/>
          <p:nvPr/>
        </p:nvSpPr>
        <p:spPr>
          <a:xfrm>
            <a:off x="838200" y="35718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الذي يغير الدرجة؟</a:t>
            </a:r>
          </a:p>
        </p:txBody>
      </p:sp>
      <p:pic>
        <p:nvPicPr>
          <p:cNvPr id="12" name="Icon Search 11" descr="icon031.png"/>
          <p:cNvPicPr>
            <a:picLocks noChangeAspect="1"/>
          </p:cNvPicPr>
          <p:nvPr/>
        </p:nvPicPr>
        <p:blipFill>
          <a:blip r:embed="rId2"/>
          <a:stretch>
            <a:fillRect/>
          </a:stretch>
        </p:blipFill>
        <p:spPr>
          <a:xfrm>
            <a:off x="11080750" y="3975695"/>
            <a:ext cx="260350" cy="260350"/>
          </a:xfrm>
          <a:prstGeom prst="rect">
            <a:avLst/>
          </a:prstGeom>
        </p:spPr>
      </p:pic>
      <p:sp>
        <p:nvSpPr>
          <p:cNvPr id="13" name="Text 12"/>
          <p:cNvSpPr txBox="1"/>
          <p:nvPr/>
        </p:nvSpPr>
        <p:spPr>
          <a:xfrm>
            <a:off x="838200" y="39363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 سُرق حاسوبان في السنة الماضية، يرتفع الاحتمال إلى 4.</a:t>
            </a:r>
          </a:p>
        </p:txBody>
      </p:sp>
      <p:pic>
        <p:nvPicPr>
          <p:cNvPr id="14" name="Icon Search 13" descr="icon031.png"/>
          <p:cNvPicPr>
            <a:picLocks noChangeAspect="1"/>
          </p:cNvPicPr>
          <p:nvPr/>
        </p:nvPicPr>
        <p:blipFill>
          <a:blip r:embed="rId2"/>
          <a:stretch>
            <a:fillRect/>
          </a:stretch>
        </p:blipFill>
        <p:spPr>
          <a:xfrm>
            <a:off x="11080750" y="4394795"/>
            <a:ext cx="260350" cy="260350"/>
          </a:xfrm>
          <a:prstGeom prst="rect">
            <a:avLst/>
          </a:prstGeom>
        </p:spPr>
      </p:pic>
      <p:sp>
        <p:nvSpPr>
          <p:cNvPr id="15" name="Text 14"/>
          <p:cNvSpPr txBox="1"/>
          <p:nvPr/>
        </p:nvSpPr>
        <p:spPr>
          <a:xfrm>
            <a:off x="838200" y="43554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 كانت الملفات أسماء فقط بلا رواتب أو حسابات، ينخفض الأثر.</a:t>
            </a:r>
          </a:p>
        </p:txBody>
      </p:sp>
      <p:pic>
        <p:nvPicPr>
          <p:cNvPr id="16" name="Icon Search 15" descr="icon031.png"/>
          <p:cNvPicPr>
            <a:picLocks noChangeAspect="1"/>
          </p:cNvPicPr>
          <p:nvPr/>
        </p:nvPicPr>
        <p:blipFill>
          <a:blip r:embed="rId2"/>
          <a:stretch>
            <a:fillRect/>
          </a:stretch>
        </p:blipFill>
        <p:spPr>
          <a:xfrm>
            <a:off x="11080750" y="4813895"/>
            <a:ext cx="260350" cy="260350"/>
          </a:xfrm>
          <a:prstGeom prst="rect">
            <a:avLst/>
          </a:prstGeom>
        </p:spPr>
      </p:pic>
      <p:sp>
        <p:nvSpPr>
          <p:cNvPr id="17" name="Text 16"/>
          <p:cNvSpPr txBox="1"/>
          <p:nvPr/>
        </p:nvSpPr>
        <p:spPr>
          <a:xfrm>
            <a:off x="838200" y="47745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الدرجة تُكتب مع مبررها في السجل، ليراجعها غيرك.</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الخطر المتأصل والمتبقي: الانخفاض ليس تلقائياً</a:t>
            </a:r>
          </a:p>
        </p:txBody>
      </p:sp>
      <p:sp>
        <p:nvSpPr>
          <p:cNvPr id="6" name="Rule 5"/>
          <p:cNvSpPr/>
          <p:nvPr/>
        </p:nvSpPr>
        <p:spPr>
          <a:xfrm>
            <a:off x="8501955" y="1632545"/>
            <a:ext cx="2877245" cy="31750"/>
          </a:xfrm>
          <a:prstGeom prst="rect">
            <a:avLst/>
          </a:prstGeom>
          <a:solidFill>
            <a:srgbClr val="C9C0AC"/>
          </a:solidFill>
          <a:ln>
            <a:noFill/>
          </a:ln>
        </p:spPr>
        <p:txBody>
          <a:bodyPr rtlCol="0" anchor="ctr"/>
          <a:lstStyle/>
          <a:p>
            <a:pPr algn="ctr"/>
          </a:p>
        </p:txBody>
      </p:sp>
      <p:sp>
        <p:nvSpPr>
          <p:cNvPr id="7" name="Text 6"/>
          <p:cNvSpPr txBox="1"/>
          <p:nvPr/>
        </p:nvSpPr>
        <p:spPr>
          <a:xfrm>
            <a:off x="8527355" y="1764625"/>
            <a:ext cx="281374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المتأصل: قبل خطة المعالجة</a:t>
            </a:r>
          </a:p>
        </p:txBody>
      </p:sp>
      <p:sp>
        <p:nvSpPr>
          <p:cNvPr id="8" name="Text 7"/>
          <p:cNvSpPr txBox="1"/>
          <p:nvPr/>
        </p:nvSpPr>
        <p:spPr>
          <a:xfrm>
            <a:off x="8527355" y="2539325"/>
            <a:ext cx="28137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4</a:t>
            </a:r>
          </a:p>
        </p:txBody>
      </p:sp>
      <p:sp>
        <p:nvSpPr>
          <p:cNvPr id="9" name="Box 8"/>
          <p:cNvSpPr/>
          <p:nvPr/>
        </p:nvSpPr>
        <p:spPr>
          <a:xfrm>
            <a:off x="8540055" y="2997795"/>
            <a:ext cx="2801045" cy="508000"/>
          </a:xfrm>
          <a:prstGeom prst="roundRect">
            <a:avLst>
              <a:gd name="adj" fmla="val 15000"/>
            </a:avLst>
          </a:prstGeom>
          <a:solidFill>
            <a:srgbClr val="F2B530"/>
          </a:solidFill>
          <a:ln>
            <a:noFill/>
          </a:ln>
        </p:spPr>
        <p:txBody>
          <a:bodyPr rtlCol="0" anchor="ctr"/>
          <a:lstStyle/>
          <a:p>
            <a:pPr algn="ctr"/>
          </a:p>
        </p:txBody>
      </p:sp>
      <p:sp>
        <p:nvSpPr>
          <p:cNvPr id="10" name="Text 9"/>
          <p:cNvSpPr txBox="1"/>
          <p:nvPr/>
        </p:nvSpPr>
        <p:spPr>
          <a:xfrm>
            <a:off x="8565455" y="3044785"/>
            <a:ext cx="2750245"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172433"/>
                </a:solidFill>
                <a:latin typeface="Readex Pro"/>
                <a:ea typeface="Readex Pro"/>
                <a:cs typeface="Readex Pro"/>
              </a:rPr>
              <a:t>12 · متوسط</a:t>
            </a:r>
          </a:p>
        </p:txBody>
      </p:sp>
      <p:sp>
        <p:nvSpPr>
          <p:cNvPr id="11" name="Rule 10"/>
          <p:cNvSpPr/>
          <p:nvPr/>
        </p:nvSpPr>
        <p:spPr>
          <a:xfrm>
            <a:off x="5497711" y="1632545"/>
            <a:ext cx="2877245" cy="31750"/>
          </a:xfrm>
          <a:prstGeom prst="rect">
            <a:avLst/>
          </a:prstGeom>
          <a:solidFill>
            <a:srgbClr val="C9C0AC"/>
          </a:solidFill>
          <a:ln>
            <a:noFill/>
          </a:ln>
        </p:spPr>
        <p:txBody>
          <a:bodyPr rtlCol="0" anchor="ctr"/>
          <a:lstStyle/>
          <a:p>
            <a:pPr algn="ctr"/>
          </a:p>
        </p:txBody>
      </p:sp>
      <p:sp>
        <p:nvSpPr>
          <p:cNvPr id="12" name="Text 11"/>
          <p:cNvSpPr txBox="1"/>
          <p:nvPr/>
        </p:nvSpPr>
        <p:spPr>
          <a:xfrm>
            <a:off x="5523111" y="1764625"/>
            <a:ext cx="281374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المتبقي المتوقع: بعد التشفير</a:t>
            </a:r>
          </a:p>
        </p:txBody>
      </p:sp>
      <p:sp>
        <p:nvSpPr>
          <p:cNvPr id="13" name="Text 12"/>
          <p:cNvSpPr txBox="1"/>
          <p:nvPr/>
        </p:nvSpPr>
        <p:spPr>
          <a:xfrm>
            <a:off x="5523111" y="2539325"/>
            <a:ext cx="28137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2</a:t>
            </a:r>
          </a:p>
        </p:txBody>
      </p:sp>
      <p:sp>
        <p:nvSpPr>
          <p:cNvPr id="14" name="Box 13"/>
          <p:cNvSpPr/>
          <p:nvPr/>
        </p:nvSpPr>
        <p:spPr>
          <a:xfrm>
            <a:off x="5535811" y="2997795"/>
            <a:ext cx="2801045" cy="508000"/>
          </a:xfrm>
          <a:prstGeom prst="roundRect">
            <a:avLst>
              <a:gd name="adj" fmla="val 15000"/>
            </a:avLst>
          </a:prstGeom>
          <a:solidFill>
            <a:srgbClr val="8CC765"/>
          </a:solidFill>
          <a:ln>
            <a:noFill/>
          </a:ln>
        </p:spPr>
        <p:txBody>
          <a:bodyPr rtlCol="0" anchor="ctr"/>
          <a:lstStyle/>
          <a:p>
            <a:pPr algn="ctr"/>
          </a:p>
        </p:txBody>
      </p:sp>
      <p:sp>
        <p:nvSpPr>
          <p:cNvPr id="15" name="Text 14"/>
          <p:cNvSpPr txBox="1"/>
          <p:nvPr/>
        </p:nvSpPr>
        <p:spPr>
          <a:xfrm>
            <a:off x="5561211" y="3044785"/>
            <a:ext cx="2750245"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172433"/>
                </a:solidFill>
                <a:latin typeface="Readex Pro"/>
                <a:ea typeface="Readex Pro"/>
                <a:cs typeface="Readex Pro"/>
              </a:rPr>
              <a:t>6 · منخفض</a:t>
            </a:r>
          </a:p>
        </p:txBody>
      </p:sp>
      <p:sp>
        <p:nvSpPr>
          <p:cNvPr id="16" name="Rule 15"/>
          <p:cNvSpPr/>
          <p:nvPr/>
        </p:nvSpPr>
        <p:spPr>
          <a:xfrm>
            <a:off x="812800" y="1632545"/>
            <a:ext cx="4557911" cy="31750"/>
          </a:xfrm>
          <a:prstGeom prst="rect">
            <a:avLst/>
          </a:prstGeom>
          <a:solidFill>
            <a:srgbClr val="C9C0AC"/>
          </a:solidFill>
          <a:ln>
            <a:noFill/>
          </a:ln>
        </p:spPr>
        <p:txBody>
          <a:bodyPr rtlCol="0" anchor="ctr"/>
          <a:lstStyle/>
          <a:p>
            <a:pPr algn="ctr"/>
          </a:p>
        </p:txBody>
      </p:sp>
      <p:sp>
        <p:nvSpPr>
          <p:cNvPr id="17" name="Text 16"/>
          <p:cNvSpPr txBox="1"/>
          <p:nvPr/>
        </p:nvSpPr>
        <p:spPr>
          <a:xfrm>
            <a:off x="838200" y="1793835"/>
            <a:ext cx="4494411"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بشرط أن:</a:t>
            </a:r>
          </a:p>
        </p:txBody>
      </p:sp>
      <p:pic>
        <p:nvPicPr>
          <p:cNvPr id="18" name="Icon Check 17" descr="icon032.png"/>
          <p:cNvPicPr>
            <a:picLocks noChangeAspect="1"/>
          </p:cNvPicPr>
          <p:nvPr/>
        </p:nvPicPr>
        <p:blipFill>
          <a:blip r:embed="rId2"/>
          <a:stretch>
            <a:fillRect/>
          </a:stretch>
        </p:blipFill>
        <p:spPr>
          <a:xfrm>
            <a:off x="5104011" y="2184995"/>
            <a:ext cx="228600" cy="228600"/>
          </a:xfrm>
          <a:prstGeom prst="rect">
            <a:avLst/>
          </a:prstGeom>
        </p:spPr>
      </p:pic>
      <p:sp>
        <p:nvSpPr>
          <p:cNvPr id="19" name="Text 18"/>
          <p:cNvSpPr txBox="1"/>
          <p:nvPr/>
        </p:nvSpPr>
        <p:spPr>
          <a:xfrm>
            <a:off x="838200" y="2145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التشفير مفعّل ومُتحقق منه على كل الأجهزة المعنية، لا على بعضها.</a:t>
            </a:r>
          </a:p>
        </p:txBody>
      </p:sp>
      <p:pic>
        <p:nvPicPr>
          <p:cNvPr id="20" name="Icon Check 19" descr="icon032.png"/>
          <p:cNvPicPr>
            <a:picLocks noChangeAspect="1"/>
          </p:cNvPicPr>
          <p:nvPr/>
        </p:nvPicPr>
        <p:blipFill>
          <a:blip r:embed="rId2"/>
          <a:stretch>
            <a:fillRect/>
          </a:stretch>
        </p:blipFill>
        <p:spPr>
          <a:xfrm>
            <a:off x="5104011" y="2946995"/>
            <a:ext cx="228600" cy="228600"/>
          </a:xfrm>
          <a:prstGeom prst="rect">
            <a:avLst/>
          </a:prstGeom>
        </p:spPr>
      </p:pic>
      <p:sp>
        <p:nvSpPr>
          <p:cNvPr id="21" name="Text 20"/>
          <p:cNvSpPr txBox="1"/>
          <p:nvPr/>
        </p:nvSpPr>
        <p:spPr>
          <a:xfrm>
            <a:off x="838200" y="2907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الجهاز محمي بكلمة مرور قوية، ومفاتيح الاسترداد محفوظة بأمان.</a:t>
            </a:r>
          </a:p>
        </p:txBody>
      </p:sp>
      <p:pic>
        <p:nvPicPr>
          <p:cNvPr id="22" name="Icon Check 21" descr="icon032.png"/>
          <p:cNvPicPr>
            <a:picLocks noChangeAspect="1"/>
          </p:cNvPicPr>
          <p:nvPr/>
        </p:nvPicPr>
        <p:blipFill>
          <a:blip r:embed="rId2"/>
          <a:stretch>
            <a:fillRect/>
          </a:stretch>
        </p:blipFill>
        <p:spPr>
          <a:xfrm>
            <a:off x="5104011" y="3708995"/>
            <a:ext cx="228600" cy="228600"/>
          </a:xfrm>
          <a:prstGeom prst="rect">
            <a:avLst/>
          </a:prstGeom>
        </p:spPr>
      </p:pic>
      <p:sp>
        <p:nvSpPr>
          <p:cNvPr id="23" name="Text 22"/>
          <p:cNvSpPr txBox="1"/>
          <p:nvPr/>
        </p:nvSpPr>
        <p:spPr>
          <a:xfrm>
            <a:off x="838200" y="3669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تبقى نسخ من ملفات الرواتب خارج المجلد المقيد.</a:t>
            </a:r>
          </a:p>
        </p:txBody>
      </p:sp>
      <p:sp>
        <p:nvSpPr>
          <p:cNvPr id="24" name="Box 23"/>
          <p:cNvSpPr/>
          <p:nvPr/>
        </p:nvSpPr>
        <p:spPr>
          <a:xfrm>
            <a:off x="815975" y="49694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5" name="Icon Warning 24" descr="icon033.png"/>
          <p:cNvPicPr>
            <a:picLocks noChangeAspect="1"/>
          </p:cNvPicPr>
          <p:nvPr/>
        </p:nvPicPr>
        <p:blipFill>
          <a:blip r:embed="rId3"/>
          <a:stretch>
            <a:fillRect/>
          </a:stretch>
        </p:blipFill>
        <p:spPr>
          <a:xfrm>
            <a:off x="10909300" y="5134570"/>
            <a:ext cx="285750" cy="285750"/>
          </a:xfrm>
          <a:prstGeom prst="rect">
            <a:avLst/>
          </a:prstGeom>
        </p:spPr>
      </p:pic>
      <p:sp>
        <p:nvSpPr>
          <p:cNvPr id="26" name="Text 25"/>
          <p:cNvSpPr txBox="1"/>
          <p:nvPr/>
        </p:nvSpPr>
        <p:spPr>
          <a:xfrm>
            <a:off x="838200" y="5060275"/>
            <a:ext cx="9956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التشفير لا يمنع السرقة، فالاحتمال لا يتغير. يقلل الأثر فقط، وبشرط أن يعمل فعلاً على كل الأجهزة.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أربعة خيارات لمعالجة الخطر</a:t>
            </a:r>
          </a:p>
        </p:txBody>
      </p:sp>
      <p:sp>
        <p:nvSpPr>
          <p:cNvPr id="5" name="Rule 4"/>
          <p:cNvSpPr/>
          <p:nvPr/>
        </p:nvSpPr>
        <p:spPr>
          <a:xfrm>
            <a:off x="8813800" y="1657945"/>
            <a:ext cx="2565400" cy="31750"/>
          </a:xfrm>
          <a:prstGeom prst="rect">
            <a:avLst/>
          </a:prstGeom>
          <a:solidFill>
            <a:srgbClr val="0E7C6B"/>
          </a:solidFill>
          <a:ln>
            <a:noFill/>
          </a:ln>
        </p:spPr>
        <p:txBody>
          <a:bodyPr rtlCol="0" anchor="ctr"/>
          <a:lstStyle/>
          <a:p>
            <a:pPr algn="ctr"/>
          </a:p>
        </p:txBody>
      </p:sp>
      <p:sp>
        <p:nvSpPr>
          <p:cNvPr id="6" name="Text 5"/>
          <p:cNvSpPr txBox="1"/>
          <p:nvPr/>
        </p:nvSpPr>
        <p:spPr>
          <a:xfrm>
            <a:off x="8839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التخفيف</a:t>
            </a:r>
          </a:p>
        </p:txBody>
      </p:sp>
      <p:sp>
        <p:nvSpPr>
          <p:cNvPr id="7" name="Text 6"/>
          <p:cNvSpPr txBox="1"/>
          <p:nvPr/>
        </p:nvSpPr>
        <p:spPr>
          <a:xfrm>
            <a:off x="8839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ضوابط تقلل الاحتمال أو الأثر.</a:t>
            </a:r>
          </a:p>
        </p:txBody>
      </p:sp>
      <p:sp>
        <p:nvSpPr>
          <p:cNvPr id="8" name="Text 7"/>
          <p:cNvSpPr txBox="1"/>
          <p:nvPr/>
        </p:nvSpPr>
        <p:spPr>
          <a:xfrm>
            <a:off x="8839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تشفير حواسيب الرواتب.</a:t>
            </a:r>
          </a:p>
        </p:txBody>
      </p:sp>
      <p:sp>
        <p:nvSpPr>
          <p:cNvPr id="9" name="Rule 8"/>
          <p:cNvSpPr/>
          <p:nvPr/>
        </p:nvSpPr>
        <p:spPr>
          <a:xfrm>
            <a:off x="6146800" y="1657945"/>
            <a:ext cx="2565400" cy="31750"/>
          </a:xfrm>
          <a:prstGeom prst="rect">
            <a:avLst/>
          </a:prstGeom>
          <a:solidFill>
            <a:srgbClr val="24506B"/>
          </a:solidFill>
          <a:ln>
            <a:noFill/>
          </a:ln>
        </p:spPr>
        <p:txBody>
          <a:bodyPr rtlCol="0" anchor="ctr"/>
          <a:lstStyle/>
          <a:p>
            <a:pPr algn="ctr"/>
          </a:p>
        </p:txBody>
      </p:sp>
      <p:sp>
        <p:nvSpPr>
          <p:cNvPr id="10" name="Text 9"/>
          <p:cNvSpPr txBox="1"/>
          <p:nvPr/>
        </p:nvSpPr>
        <p:spPr>
          <a:xfrm>
            <a:off x="6172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التجنب</a:t>
            </a:r>
          </a:p>
        </p:txBody>
      </p:sp>
      <p:sp>
        <p:nvSpPr>
          <p:cNvPr id="11" name="Text 10"/>
          <p:cNvSpPr txBox="1"/>
          <p:nvPr/>
        </p:nvSpPr>
        <p:spPr>
          <a:xfrm>
            <a:off x="6172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إيقاف النشاط المسبب للخطر.</a:t>
            </a:r>
          </a:p>
        </p:txBody>
      </p:sp>
      <p:sp>
        <p:nvSpPr>
          <p:cNvPr id="12" name="Text 11"/>
          <p:cNvSpPr txBox="1"/>
          <p:nvPr/>
        </p:nvSpPr>
        <p:spPr>
          <a:xfrm>
            <a:off x="6172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منع حفظ ملفات الرواتب على الأجهزة.</a:t>
            </a:r>
          </a:p>
        </p:txBody>
      </p:sp>
      <p:sp>
        <p:nvSpPr>
          <p:cNvPr id="13" name="Rule 12"/>
          <p:cNvSpPr/>
          <p:nvPr/>
        </p:nvSpPr>
        <p:spPr>
          <a:xfrm>
            <a:off x="3479800" y="1657945"/>
            <a:ext cx="2565400" cy="31750"/>
          </a:xfrm>
          <a:prstGeom prst="rect">
            <a:avLst/>
          </a:prstGeom>
          <a:solidFill>
            <a:srgbClr val="5A3F87"/>
          </a:solidFill>
          <a:ln>
            <a:noFill/>
          </a:ln>
        </p:spPr>
        <p:txBody>
          <a:bodyPr rtlCol="0" anchor="ctr"/>
          <a:lstStyle/>
          <a:p>
            <a:pPr algn="ctr"/>
          </a:p>
        </p:txBody>
      </p:sp>
      <p:sp>
        <p:nvSpPr>
          <p:cNvPr id="14" name="Text 13"/>
          <p:cNvSpPr txBox="1"/>
          <p:nvPr/>
        </p:nvSpPr>
        <p:spPr>
          <a:xfrm>
            <a:off x="3505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5A3F87"/>
                </a:solidFill>
                <a:latin typeface="Readex Pro"/>
                <a:ea typeface="Readex Pro"/>
                <a:cs typeface="Readex Pro"/>
              </a:rPr>
              <a:t>المشاركة</a:t>
            </a:r>
          </a:p>
        </p:txBody>
      </p:sp>
      <p:sp>
        <p:nvSpPr>
          <p:cNvPr id="15" name="Text 14"/>
          <p:cNvSpPr txBox="1"/>
          <p:nvPr/>
        </p:nvSpPr>
        <p:spPr>
          <a:xfrm>
            <a:off x="3505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تحميل جزء من الأثر لطرف آخر.</a:t>
            </a:r>
          </a:p>
        </p:txBody>
      </p:sp>
      <p:sp>
        <p:nvSpPr>
          <p:cNvPr id="16" name="Text 15"/>
          <p:cNvSpPr txBox="1"/>
          <p:nvPr/>
        </p:nvSpPr>
        <p:spPr>
          <a:xfrm>
            <a:off x="3505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تأمين، أو عقد. المسؤولية لا تنتقل.</a:t>
            </a:r>
          </a:p>
        </p:txBody>
      </p:sp>
      <p:sp>
        <p:nvSpPr>
          <p:cNvPr id="17" name="Rule 16"/>
          <p:cNvSpPr/>
          <p:nvPr/>
        </p:nvSpPr>
        <p:spPr>
          <a:xfrm>
            <a:off x="812800" y="1657945"/>
            <a:ext cx="2565400" cy="31750"/>
          </a:xfrm>
          <a:prstGeom prst="rect">
            <a:avLst/>
          </a:prstGeom>
          <a:solidFill>
            <a:srgbClr val="8A4B12"/>
          </a:solidFill>
          <a:ln>
            <a:noFill/>
          </a:ln>
        </p:spPr>
        <p:txBody>
          <a:bodyPr rtlCol="0" anchor="ctr"/>
          <a:lstStyle/>
          <a:p>
            <a:pPr algn="ctr"/>
          </a:p>
        </p:txBody>
      </p:sp>
      <p:sp>
        <p:nvSpPr>
          <p:cNvPr id="18" name="Text 17"/>
          <p:cNvSpPr txBox="1"/>
          <p:nvPr/>
        </p:nvSpPr>
        <p:spPr>
          <a:xfrm>
            <a:off x="838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القبول</a:t>
            </a:r>
          </a:p>
        </p:txBody>
      </p:sp>
      <p:sp>
        <p:nvSpPr>
          <p:cNvPr id="19" name="Text 18"/>
          <p:cNvSpPr txBox="1"/>
          <p:nvPr/>
        </p:nvSpPr>
        <p:spPr>
          <a:xfrm>
            <a:off x="838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قرار موثق ممن يملك الصلاحية.</a:t>
            </a:r>
          </a:p>
        </p:txBody>
      </p:sp>
      <p:sp>
        <p:nvSpPr>
          <p:cNvPr id="20" name="Text 19"/>
          <p:cNvSpPr txBox="1"/>
          <p:nvPr/>
        </p:nvSpPr>
        <p:spPr>
          <a:xfrm>
            <a:off x="838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قبول مؤقت مع موعد مراجعة.</a:t>
            </a:r>
          </a:p>
        </p:txBody>
      </p:sp>
      <p:sp>
        <p:nvSpPr>
          <p:cNvPr id="21" name="Box 20"/>
          <p:cNvSpPr/>
          <p:nvPr/>
        </p:nvSpPr>
        <p:spPr>
          <a:xfrm>
            <a:off x="815975" y="430272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2" name="Icon Warning 21" descr="icon034.png"/>
          <p:cNvPicPr>
            <a:picLocks noChangeAspect="1"/>
          </p:cNvPicPr>
          <p:nvPr/>
        </p:nvPicPr>
        <p:blipFill>
          <a:blip r:embed="rId2"/>
          <a:stretch>
            <a:fillRect/>
          </a:stretch>
        </p:blipFill>
        <p:spPr>
          <a:xfrm>
            <a:off x="10902950" y="4464645"/>
            <a:ext cx="292100" cy="292100"/>
          </a:xfrm>
          <a:prstGeom prst="rect">
            <a:avLst/>
          </a:prstGeom>
        </p:spPr>
      </p:pic>
      <p:sp>
        <p:nvSpPr>
          <p:cNvPr id="23" name="Text 22"/>
          <p:cNvSpPr txBox="1"/>
          <p:nvPr/>
        </p:nvSpPr>
        <p:spPr>
          <a:xfrm>
            <a:off x="838200" y="4393525"/>
            <a:ext cx="99504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قبول الخطر قرار داخلي. لا يلغي التزاماً نظامياً، ولا يمنح إعفاءً من جهة تنظيمية.</a:t>
            </a:r>
          </a:p>
        </p:txBody>
      </p:sp>
      <p:sp>
        <p:nvSpPr>
          <p:cNvPr id="24" name="Text 2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5" name="Text 2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شهية المخاطر وحدود التحمل</a:t>
            </a:r>
          </a:p>
        </p:txBody>
      </p:sp>
      <p:sp>
        <p:nvSpPr>
          <p:cNvPr id="5" name="Rule 4"/>
          <p:cNvSpPr/>
          <p:nvPr/>
        </p:nvSpPr>
        <p:spPr>
          <a:xfrm>
            <a:off x="6165850" y="1619845"/>
            <a:ext cx="5213350" cy="31750"/>
          </a:xfrm>
          <a:prstGeom prst="rect">
            <a:avLst/>
          </a:prstGeom>
          <a:solidFill>
            <a:srgbClr val="C9C0AC"/>
          </a:solidFill>
          <a:ln>
            <a:noFill/>
          </a:ln>
        </p:spPr>
        <p:txBody>
          <a:bodyPr rtlCol="0" anchor="ctr"/>
          <a:lstStyle/>
          <a:p>
            <a:pPr algn="ctr"/>
          </a:p>
        </p:txBody>
      </p:sp>
      <p:sp>
        <p:nvSpPr>
          <p:cNvPr id="6" name="Text 5"/>
          <p:cNvSpPr txBox="1"/>
          <p:nvPr/>
        </p:nvSpPr>
        <p:spPr>
          <a:xfrm>
            <a:off x="6191250" y="1780119"/>
            <a:ext cx="514985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شهية المخاطر</a:t>
            </a:r>
          </a:p>
        </p:txBody>
      </p:sp>
      <p:sp>
        <p:nvSpPr>
          <p:cNvPr id="7" name="Text 6"/>
          <p:cNvSpPr txBox="1"/>
          <p:nvPr/>
        </p:nvSpPr>
        <p:spPr>
          <a:xfrm>
            <a:off x="6191250" y="2175597"/>
            <a:ext cx="514985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حجم الخطر الذي تقبله الجهة عموماً لتحقق أهدافها. يقرها المجلس أو صاحب الصلاحية.</a:t>
            </a:r>
          </a:p>
        </p:txBody>
      </p:sp>
      <p:sp>
        <p:nvSpPr>
          <p:cNvPr id="8" name="Box 7"/>
          <p:cNvSpPr/>
          <p:nvPr/>
        </p:nvSpPr>
        <p:spPr>
          <a:xfrm>
            <a:off x="6203950" y="2955727"/>
            <a:ext cx="5137150" cy="596900"/>
          </a:xfrm>
          <a:prstGeom prst="roundRect">
            <a:avLst>
              <a:gd name="adj" fmla="val 14893"/>
            </a:avLst>
          </a:prstGeom>
          <a:solidFill>
            <a:srgbClr val="FFFFFF"/>
          </a:solidFill>
          <a:ln>
            <a:noFill/>
          </a:ln>
        </p:spPr>
        <p:txBody>
          <a:bodyPr rtlCol="0" anchor="ctr"/>
          <a:lstStyle/>
          <a:p>
            <a:pPr algn="ctr"/>
          </a:p>
        </p:txBody>
      </p:sp>
      <p:sp>
        <p:nvSpPr>
          <p:cNvPr id="9" name="Rule 8"/>
          <p:cNvSpPr/>
          <p:nvPr/>
        </p:nvSpPr>
        <p:spPr>
          <a:xfrm>
            <a:off x="11290300" y="2955727"/>
            <a:ext cx="50800" cy="596900"/>
          </a:xfrm>
          <a:prstGeom prst="rect">
            <a:avLst/>
          </a:prstGeom>
          <a:solidFill>
            <a:srgbClr val="0E7C6B"/>
          </a:solidFill>
          <a:ln>
            <a:noFill/>
          </a:ln>
        </p:spPr>
        <p:txBody>
          <a:bodyPr rtlCol="0" anchor="ctr"/>
          <a:lstStyle/>
          <a:p>
            <a:pPr algn="ctr"/>
          </a:p>
        </p:txBody>
      </p:sp>
      <p:sp>
        <p:nvSpPr>
          <p:cNvPr id="10" name="Text 9"/>
          <p:cNvSpPr txBox="1"/>
          <p:nvPr/>
        </p:nvSpPr>
        <p:spPr>
          <a:xfrm>
            <a:off x="6229350" y="3035864"/>
            <a:ext cx="488315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«لا نقبل مخاطر عالية على بيانات الموظفين والعملاء.»</a:t>
            </a:r>
          </a:p>
        </p:txBody>
      </p:sp>
      <p:sp>
        <p:nvSpPr>
          <p:cNvPr id="11" name="Rule 10"/>
          <p:cNvSpPr/>
          <p:nvPr/>
        </p:nvSpPr>
        <p:spPr>
          <a:xfrm>
            <a:off x="812800" y="1619845"/>
            <a:ext cx="5213350" cy="31750"/>
          </a:xfrm>
          <a:prstGeom prst="rect">
            <a:avLst/>
          </a:prstGeom>
          <a:solidFill>
            <a:srgbClr val="C9C0AC"/>
          </a:solidFill>
          <a:ln>
            <a:noFill/>
          </a:ln>
        </p:spPr>
        <p:txBody>
          <a:bodyPr rtlCol="0" anchor="ctr"/>
          <a:lstStyle/>
          <a:p>
            <a:pPr algn="ctr"/>
          </a:p>
        </p:txBody>
      </p:sp>
      <p:sp>
        <p:nvSpPr>
          <p:cNvPr id="12" name="Text 11"/>
          <p:cNvSpPr txBox="1"/>
          <p:nvPr/>
        </p:nvSpPr>
        <p:spPr>
          <a:xfrm>
            <a:off x="838200" y="1780119"/>
            <a:ext cx="514985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حدود التحمل</a:t>
            </a:r>
          </a:p>
        </p:txBody>
      </p:sp>
      <p:sp>
        <p:nvSpPr>
          <p:cNvPr id="13" name="Text 12"/>
          <p:cNvSpPr txBox="1"/>
          <p:nvPr/>
        </p:nvSpPr>
        <p:spPr>
          <a:xfrm>
            <a:off x="838200" y="2175597"/>
            <a:ext cx="514985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حدود قابلة للقياس تطبق الشهية على خطر أو مؤشر محدد.</a:t>
            </a:r>
          </a:p>
        </p:txBody>
      </p:sp>
      <p:sp>
        <p:nvSpPr>
          <p:cNvPr id="14" name="Box 13"/>
          <p:cNvSpPr/>
          <p:nvPr/>
        </p:nvSpPr>
        <p:spPr>
          <a:xfrm>
            <a:off x="850900" y="2624336"/>
            <a:ext cx="5137150" cy="939800"/>
          </a:xfrm>
          <a:prstGeom prst="roundRect">
            <a:avLst>
              <a:gd name="adj" fmla="val 9459"/>
            </a:avLst>
          </a:prstGeom>
          <a:solidFill>
            <a:srgbClr val="FFFFFF"/>
          </a:solidFill>
          <a:ln>
            <a:noFill/>
          </a:ln>
        </p:spPr>
        <p:txBody>
          <a:bodyPr rtlCol="0" anchor="ctr"/>
          <a:lstStyle/>
          <a:p>
            <a:pPr algn="ctr"/>
          </a:p>
        </p:txBody>
      </p:sp>
      <p:sp>
        <p:nvSpPr>
          <p:cNvPr id="15" name="Rule 14"/>
          <p:cNvSpPr/>
          <p:nvPr/>
        </p:nvSpPr>
        <p:spPr>
          <a:xfrm>
            <a:off x="5937250" y="2624336"/>
            <a:ext cx="50800" cy="939800"/>
          </a:xfrm>
          <a:prstGeom prst="rect">
            <a:avLst/>
          </a:prstGeom>
          <a:solidFill>
            <a:srgbClr val="24506B"/>
          </a:solidFill>
          <a:ln>
            <a:noFill/>
          </a:ln>
        </p:spPr>
        <p:txBody>
          <a:bodyPr rtlCol="0" anchor="ctr"/>
          <a:lstStyle/>
          <a:p>
            <a:pPr algn="ctr"/>
          </a:p>
        </p:txBody>
      </p:sp>
      <p:sp>
        <p:nvSpPr>
          <p:cNvPr id="16" name="Text 15"/>
          <p:cNvSpPr txBox="1"/>
          <p:nvPr/>
        </p:nvSpPr>
        <p:spPr>
          <a:xfrm>
            <a:off x="886778" y="2704473"/>
            <a:ext cx="4872672"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«لا يبقى خطر عالٍ بلا خطة أكثر من 30 يوماً.» «توقف الرواتب لا يتجاوز يوم عمل.»</a:t>
            </a:r>
          </a:p>
        </p:txBody>
      </p:sp>
      <p:graphicFrame>
        <p:nvGraphicFramePr>
          <p:cNvPr id="17" name="Table 16"/>
          <p:cNvGraphicFramePr>
            <a:graphicFrameLocks noGrp="1"/>
          </p:cNvGraphicFramePr>
          <p:nvPr/>
        </p:nvGraphicFramePr>
        <p:xfrm>
          <a:off x="815975" y="3745111"/>
          <a:ext cx="10560050" cy="1899444"/>
        </p:xfrm>
        <a:graphic>
          <a:graphicData uri="http://schemas.openxmlformats.org/drawingml/2006/table">
            <a:tbl>
              <a:tblPr firstRow="0" bandRow="0" lastRow="0" firstCol="0" lastCol="0" bandCol="0">
                <a:tableStyleId>{2D5ABB26-0587-4C30-8999-92F81FD0307C}</a:tableStyleId>
              </a:tblPr>
              <a:tblGrid>
                <a:gridCol w="6546850"/>
                <a:gridCol w="401320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القرار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يقبله مالك الخطر ويوثقه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منخفض جداً أو 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خطة معالجة، أو قبول موثق من 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معالجة إلزامية، وعرض على اللجنة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عالٍ أو 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الضوابط: طبيعتها ووظيفتها</a:t>
            </a:r>
          </a:p>
        </p:txBody>
      </p:sp>
      <p:graphicFrame>
        <p:nvGraphicFramePr>
          <p:cNvPr id="5" name="Table 4"/>
          <p:cNvGraphicFramePr>
            <a:graphicFrameLocks noGrp="1"/>
          </p:cNvGraphicFramePr>
          <p:nvPr/>
        </p:nvGraphicFramePr>
        <p:xfrm>
          <a:off x="815975" y="1635720"/>
          <a:ext cx="10560050" cy="2451100"/>
        </p:xfrm>
        <a:graphic>
          <a:graphicData uri="http://schemas.openxmlformats.org/drawingml/2006/table">
            <a:tbl>
              <a:tblPr firstRow="0" bandRow="0" lastRow="0" firstCol="0" lastCol="0" bandCol="0">
                <a:tableStyleId>{2D5ABB26-0587-4C30-8999-92F81FD0307C}</a:tableStyleId>
              </a:tblPr>
              <a:tblGrid>
                <a:gridCol w="2956560"/>
                <a:gridCol w="2957195"/>
                <a:gridCol w="2956560"/>
                <a:gridCol w="168973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تصحيحي: يعالج</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كشفي: يكتشف</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وقائي: يمنع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الطبيعة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خطة الاستجابة للحوادث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مراجعة الصلاحيات الدورية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سياسة الاستخدام، والتوعية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إداري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الاستعادة من النسخ</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تنبيهات الدخول، وسجلات الأحداث</a:t>
                      </a:r>
                    </a:p>
                  </a:txBody>
                  <a:tcPr marT="107061" marR="152400" marB="70739" marL="7284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والتشفير</a:t>
                      </a:r>
                    </a:p>
                  </a:txBody>
                  <a:tcPr marT="107061" marR="152400" marB="70739" marL="7284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تقني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موقع بديل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كاميرات المراقبة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أقفال غرفة الخوادم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مادي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5803503" y="4610695"/>
            <a:ext cx="5575697" cy="965200"/>
          </a:xfrm>
          <a:prstGeom prst="roundRect">
            <a:avLst>
              <a:gd name="adj" fmla="val 10526"/>
            </a:avLst>
          </a:prstGeom>
          <a:solidFill>
            <a:srgbClr val="E3F1ED"/>
          </a:solidFill>
          <a:ln>
            <a:noFill/>
          </a:ln>
        </p:spPr>
        <p:txBody>
          <a:bodyPr rtlCol="0" anchor="ctr"/>
          <a:lstStyle/>
          <a:p>
            <a:pPr algn="ctr"/>
          </a:p>
        </p:txBody>
      </p:sp>
      <p:pic>
        <p:nvPicPr>
          <p:cNvPr id="7" name="Icon Lightbulb 6" descr="icon035.png"/>
          <p:cNvPicPr>
            <a:picLocks noChangeAspect="1"/>
          </p:cNvPicPr>
          <p:nvPr/>
        </p:nvPicPr>
        <p:blipFill>
          <a:blip r:embed="rId2"/>
          <a:stretch>
            <a:fillRect/>
          </a:stretch>
        </p:blipFill>
        <p:spPr>
          <a:xfrm>
            <a:off x="10934700" y="4959945"/>
            <a:ext cx="266700" cy="266700"/>
          </a:xfrm>
          <a:prstGeom prst="rect">
            <a:avLst/>
          </a:prstGeom>
        </p:spPr>
      </p:pic>
      <p:sp>
        <p:nvSpPr>
          <p:cNvPr id="8" name="Text 7"/>
          <p:cNvSpPr txBox="1"/>
          <p:nvPr/>
        </p:nvSpPr>
        <p:spPr>
          <a:xfrm>
            <a:off x="5836130" y="4698325"/>
            <a:ext cx="498427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صنّف الضابط بالبعدين معاً: «التحقق متعدد العوامل ضابط تقني وقائي».</a:t>
            </a:r>
          </a:p>
        </p:txBody>
      </p:sp>
      <p:sp>
        <p:nvSpPr>
          <p:cNvPr id="9" name="Box 8"/>
          <p:cNvSpPr/>
          <p:nvPr/>
        </p:nvSpPr>
        <p:spPr>
          <a:xfrm>
            <a:off x="812800" y="4610695"/>
            <a:ext cx="4876403" cy="965200"/>
          </a:xfrm>
          <a:prstGeom prst="roundRect">
            <a:avLst>
              <a:gd name="adj" fmla="val 10526"/>
            </a:avLst>
          </a:prstGeom>
          <a:solidFill>
            <a:srgbClr val="F6ECDA"/>
          </a:solidFill>
          <a:ln>
            <a:noFill/>
          </a:ln>
        </p:spPr>
        <p:txBody>
          <a:bodyPr rtlCol="0" anchor="ctr"/>
          <a:lstStyle/>
          <a:p>
            <a:pPr algn="ctr"/>
          </a:p>
        </p:txBody>
      </p:sp>
      <p:pic>
        <p:nvPicPr>
          <p:cNvPr id="10" name="Icon Lightbulb 9" descr="icon036.png"/>
          <p:cNvPicPr>
            <a:picLocks noChangeAspect="1"/>
          </p:cNvPicPr>
          <p:nvPr/>
        </p:nvPicPr>
        <p:blipFill>
          <a:blip r:embed="rId3"/>
          <a:stretch>
            <a:fillRect/>
          </a:stretch>
        </p:blipFill>
        <p:spPr>
          <a:xfrm>
            <a:off x="5244703" y="4959945"/>
            <a:ext cx="266700" cy="266700"/>
          </a:xfrm>
          <a:prstGeom prst="rect">
            <a:avLst/>
          </a:prstGeom>
        </p:spPr>
      </p:pic>
      <p:sp>
        <p:nvSpPr>
          <p:cNvPr id="11" name="Text 10"/>
          <p:cNvSpPr txBox="1"/>
          <p:nvPr/>
        </p:nvSpPr>
        <p:spPr>
          <a:xfrm>
            <a:off x="866406" y="4698325"/>
            <a:ext cx="4263997"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التعويضي بديل يحقق الهدف نفسه حين يتعذر الأصلي.</a:t>
            </a:r>
          </a:p>
        </p:txBody>
      </p:sp>
      <p:sp>
        <p:nvSpPr>
          <p:cNvPr id="12" name="Text 1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3" name="Text 1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من هدف العمل إلى قرار الإدارة</a:t>
            </a:r>
          </a:p>
        </p:txBody>
      </p:sp>
      <p:sp>
        <p:nvSpPr>
          <p:cNvPr id="6" name="Text 5"/>
          <p:cNvSpPr txBox="1"/>
          <p:nvPr/>
        </p:nvSpPr>
        <p:spPr>
          <a:xfrm>
            <a:off x="0" y="15795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أهداف رُفاد التي يخدمها GRC:</a:t>
            </a:r>
          </a:p>
        </p:txBody>
      </p:sp>
      <p:sp>
        <p:nvSpPr>
          <p:cNvPr id="7" name="Text box 6"/>
          <p:cNvSpPr/>
          <p:nvPr/>
        </p:nvSpPr>
        <p:spPr>
          <a:xfrm>
            <a:off x="880427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استمرار التوصيل: تتبع الشحنات متاح للمتاجر والمستلمين.</a:t>
            </a:r>
          </a:p>
        </p:txBody>
      </p:sp>
      <p:sp>
        <p:nvSpPr>
          <p:cNvPr id="8" name="Rule 7"/>
          <p:cNvSpPr/>
          <p:nvPr/>
        </p:nvSpPr>
        <p:spPr>
          <a:xfrm>
            <a:off x="8804275" y="1906786"/>
            <a:ext cx="2574925" cy="25400"/>
          </a:xfrm>
          <a:prstGeom prst="rect">
            <a:avLst/>
          </a:prstGeom>
          <a:solidFill>
            <a:srgbClr val="0E7C6B"/>
          </a:solidFill>
          <a:ln>
            <a:noFill/>
          </a:ln>
        </p:spPr>
        <p:txBody>
          <a:bodyPr rtlCol="0" anchor="ctr"/>
          <a:lstStyle/>
          <a:p>
            <a:pPr algn="ctr"/>
          </a:p>
        </p:txBody>
      </p:sp>
      <p:sp>
        <p:nvSpPr>
          <p:cNvPr id="9" name="Text box 8"/>
          <p:cNvSpPr/>
          <p:nvPr/>
        </p:nvSpPr>
        <p:spPr>
          <a:xfrm>
            <a:off x="614045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حماية بيانات العملاء: بيانات المستلمين لا تتسرب.</a:t>
            </a:r>
          </a:p>
        </p:txBody>
      </p:sp>
      <p:sp>
        <p:nvSpPr>
          <p:cNvPr id="10" name="Rule 9"/>
          <p:cNvSpPr/>
          <p:nvPr/>
        </p:nvSpPr>
        <p:spPr>
          <a:xfrm>
            <a:off x="6140450" y="1906786"/>
            <a:ext cx="2574925" cy="25400"/>
          </a:xfrm>
          <a:prstGeom prst="rect">
            <a:avLst/>
          </a:prstGeom>
          <a:solidFill>
            <a:srgbClr val="0E7C6B"/>
          </a:solidFill>
          <a:ln>
            <a:noFill/>
          </a:ln>
        </p:spPr>
        <p:txBody>
          <a:bodyPr rtlCol="0" anchor="ctr"/>
          <a:lstStyle/>
          <a:p>
            <a:pPr algn="ctr"/>
          </a:p>
        </p:txBody>
      </p:sp>
      <p:sp>
        <p:nvSpPr>
          <p:cNvPr id="11" name="Text box 10"/>
          <p:cNvSpPr/>
          <p:nvPr/>
        </p:nvSpPr>
        <p:spPr>
          <a:xfrm>
            <a:off x="347662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صحة الرواتب: رواتب صحيحة إلى الحسابات الصحيحة في موعدها.</a:t>
            </a:r>
          </a:p>
        </p:txBody>
      </p:sp>
      <p:sp>
        <p:nvSpPr>
          <p:cNvPr id="12" name="Rule 11"/>
          <p:cNvSpPr/>
          <p:nvPr/>
        </p:nvSpPr>
        <p:spPr>
          <a:xfrm>
            <a:off x="3476625" y="1906786"/>
            <a:ext cx="2574925" cy="25400"/>
          </a:xfrm>
          <a:prstGeom prst="rect">
            <a:avLst/>
          </a:prstGeom>
          <a:solidFill>
            <a:srgbClr val="0E7C6B"/>
          </a:solidFill>
          <a:ln>
            <a:noFill/>
          </a:ln>
        </p:spPr>
        <p:txBody>
          <a:bodyPr rtlCol="0" anchor="ctr"/>
          <a:lstStyle/>
          <a:p>
            <a:pPr algn="ctr"/>
          </a:p>
        </p:txBody>
      </p:sp>
      <p:sp>
        <p:nvSpPr>
          <p:cNvPr id="13" name="Text box 12"/>
          <p:cNvSpPr/>
          <p:nvPr/>
        </p:nvSpPr>
        <p:spPr>
          <a:xfrm>
            <a:off x="81280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الالتزام بالعقود: ما وعدت به رُفاد المتاجر والمورد.</a:t>
            </a:r>
          </a:p>
        </p:txBody>
      </p:sp>
      <p:sp>
        <p:nvSpPr>
          <p:cNvPr id="14" name="Rule 13"/>
          <p:cNvSpPr/>
          <p:nvPr/>
        </p:nvSpPr>
        <p:spPr>
          <a:xfrm>
            <a:off x="812800" y="1906786"/>
            <a:ext cx="2574925" cy="25400"/>
          </a:xfrm>
          <a:prstGeom prst="rect">
            <a:avLst/>
          </a:prstGeom>
          <a:solidFill>
            <a:srgbClr val="0E7C6B"/>
          </a:solidFill>
          <a:ln>
            <a:noFill/>
          </a:ln>
        </p:spPr>
        <p:txBody>
          <a:bodyPr rtlCol="0" anchor="ctr"/>
          <a:lstStyle/>
          <a:p>
            <a:pPr algn="ctr"/>
          </a:p>
        </p:txBody>
      </p:sp>
      <p:sp>
        <p:nvSpPr>
          <p:cNvPr id="15" name="Rule 14"/>
          <p:cNvSpPr/>
          <p:nvPr/>
        </p:nvSpPr>
        <p:spPr>
          <a:xfrm>
            <a:off x="812800" y="3092748"/>
            <a:ext cx="10566400" cy="6350"/>
          </a:xfrm>
          <a:prstGeom prst="rect">
            <a:avLst/>
          </a:prstGeom>
          <a:solidFill>
            <a:srgbClr val="E1DBCD"/>
          </a:solidFill>
          <a:ln>
            <a:noFill/>
          </a:ln>
        </p:spPr>
        <p:txBody>
          <a:bodyPr rtlCol="0" anchor="ctr"/>
          <a:lstStyle/>
          <a:p>
            <a:pPr algn="ctr"/>
          </a:p>
        </p:txBody>
      </p:sp>
      <p:sp>
        <p:nvSpPr>
          <p:cNvPr id="16" name="Text 15"/>
          <p:cNvSpPr txBox="1"/>
          <p:nvPr/>
        </p:nvSpPr>
        <p:spPr>
          <a:xfrm>
            <a:off x="9664700" y="2715871"/>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0E7C6B"/>
                </a:solidFill>
                <a:latin typeface="IBM Plex Sans Arabic"/>
                <a:ea typeface="IBM Plex Sans Arabic"/>
                <a:cs typeface="IBM Plex Sans Arabic"/>
              </a:rPr>
              <a:t>1. هدف العمل</a:t>
            </a:r>
          </a:p>
        </p:txBody>
      </p:sp>
      <p:sp>
        <p:nvSpPr>
          <p:cNvPr id="17" name="Text 16"/>
          <p:cNvSpPr txBox="1"/>
          <p:nvPr/>
        </p:nvSpPr>
        <p:spPr>
          <a:xfrm>
            <a:off x="812800" y="2710791"/>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استمرار تتبع الشحنات، والوفاء بالتزام عقود المتاجر: إتاحة 99% شهرياً.</a:t>
            </a:r>
          </a:p>
        </p:txBody>
      </p:sp>
      <p:sp>
        <p:nvSpPr>
          <p:cNvPr id="18" name="Rule 17"/>
          <p:cNvSpPr/>
          <p:nvPr/>
        </p:nvSpPr>
        <p:spPr>
          <a:xfrm>
            <a:off x="812800" y="3495278"/>
            <a:ext cx="10566400" cy="6350"/>
          </a:xfrm>
          <a:prstGeom prst="rect">
            <a:avLst/>
          </a:prstGeom>
          <a:solidFill>
            <a:srgbClr val="E1DBCD"/>
          </a:solidFill>
          <a:ln>
            <a:noFill/>
          </a:ln>
        </p:spPr>
        <p:txBody>
          <a:bodyPr rtlCol="0" anchor="ctr"/>
          <a:lstStyle/>
          <a:p>
            <a:pPr algn="ctr"/>
          </a:p>
        </p:txBody>
      </p:sp>
      <p:sp>
        <p:nvSpPr>
          <p:cNvPr id="19" name="Text 18"/>
          <p:cNvSpPr txBox="1"/>
          <p:nvPr/>
        </p:nvSpPr>
        <p:spPr>
          <a:xfrm>
            <a:off x="9664700" y="311840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24506B"/>
                </a:solidFill>
                <a:latin typeface="IBM Plex Sans Arabic"/>
                <a:ea typeface="IBM Plex Sans Arabic"/>
                <a:cs typeface="IBM Plex Sans Arabic"/>
              </a:rPr>
              <a:t>2. الأصل الداعم</a:t>
            </a:r>
          </a:p>
        </p:txBody>
      </p:sp>
      <p:sp>
        <p:nvSpPr>
          <p:cNvPr id="20" name="Text 19"/>
          <p:cNvSpPr txBox="1"/>
          <p:nvPr/>
        </p:nvSpPr>
        <p:spPr>
          <a:xfrm>
            <a:off x="812800" y="3113322"/>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خادم تطبيق التتبع السحابي، ويديره المورد سَنَد عن بعد.</a:t>
            </a:r>
          </a:p>
        </p:txBody>
      </p:sp>
      <p:sp>
        <p:nvSpPr>
          <p:cNvPr id="21" name="Rule 20"/>
          <p:cNvSpPr/>
          <p:nvPr/>
        </p:nvSpPr>
        <p:spPr>
          <a:xfrm>
            <a:off x="812800" y="4192389"/>
            <a:ext cx="10566400" cy="6350"/>
          </a:xfrm>
          <a:prstGeom prst="rect">
            <a:avLst/>
          </a:prstGeom>
          <a:solidFill>
            <a:srgbClr val="E1DBCD"/>
          </a:solidFill>
          <a:ln>
            <a:noFill/>
          </a:ln>
        </p:spPr>
        <p:txBody>
          <a:bodyPr rtlCol="0" anchor="ctr"/>
          <a:lstStyle/>
          <a:p>
            <a:pPr algn="ctr"/>
          </a:p>
        </p:txBody>
      </p:sp>
      <p:sp>
        <p:nvSpPr>
          <p:cNvPr id="22" name="Text 21"/>
          <p:cNvSpPr txBox="1"/>
          <p:nvPr/>
        </p:nvSpPr>
        <p:spPr>
          <a:xfrm>
            <a:off x="9664700" y="352093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B4412C"/>
                </a:solidFill>
                <a:latin typeface="IBM Plex Sans Arabic"/>
                <a:ea typeface="IBM Plex Sans Arabic"/>
                <a:cs typeface="IBM Plex Sans Arabic"/>
              </a:rPr>
              <a:t>3. الخطر</a:t>
            </a:r>
          </a:p>
        </p:txBody>
      </p:sp>
      <p:sp>
        <p:nvSpPr>
          <p:cNvPr id="23" name="Text 22"/>
          <p:cNvSpPr txBox="1"/>
          <p:nvPr/>
        </p:nvSpPr>
        <p:spPr>
          <a:xfrm>
            <a:off x="812800" y="3515852"/>
            <a:ext cx="88773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بسبب تأخر ترقيع الثغرات الحرجة في خادم مكشوف على الإنترنت، قد يُستغل فيتوقف التتبع أو تتسرب بيانات المستلمين. 4 × 4 = 16 · عالٍ.</a:t>
            </a:r>
          </a:p>
        </p:txBody>
      </p:sp>
      <p:sp>
        <p:nvSpPr>
          <p:cNvPr id="24" name="Rule 23"/>
          <p:cNvSpPr/>
          <p:nvPr/>
        </p:nvSpPr>
        <p:spPr>
          <a:xfrm>
            <a:off x="812800" y="4594920"/>
            <a:ext cx="10566400" cy="6350"/>
          </a:xfrm>
          <a:prstGeom prst="rect">
            <a:avLst/>
          </a:prstGeom>
          <a:solidFill>
            <a:srgbClr val="E1DBCD"/>
          </a:solidFill>
          <a:ln>
            <a:noFill/>
          </a:ln>
        </p:spPr>
        <p:txBody>
          <a:bodyPr rtlCol="0" anchor="ctr"/>
          <a:lstStyle/>
          <a:p>
            <a:pPr algn="ctr"/>
          </a:p>
        </p:txBody>
      </p:sp>
      <p:sp>
        <p:nvSpPr>
          <p:cNvPr id="25" name="Text 24"/>
          <p:cNvSpPr txBox="1"/>
          <p:nvPr/>
        </p:nvSpPr>
        <p:spPr>
          <a:xfrm>
            <a:off x="9664700" y="4218043"/>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24506B"/>
                </a:solidFill>
                <a:latin typeface="IBM Plex Sans Arabic"/>
                <a:ea typeface="IBM Plex Sans Arabic"/>
                <a:cs typeface="IBM Plex Sans Arabic"/>
              </a:rPr>
              <a:t>4. الضابط</a:t>
            </a:r>
          </a:p>
        </p:txBody>
      </p:sp>
      <p:sp>
        <p:nvSpPr>
          <p:cNvPr id="26" name="Text 25"/>
          <p:cNvSpPr txBox="1"/>
          <p:nvPr/>
        </p:nvSpPr>
        <p:spPr>
          <a:xfrm>
            <a:off x="812800" y="4212963"/>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فحص شهري للثغرات، وترقيع الحرجة خلال 14 يوماً، ومهلة الترقيع بند في عقد سَنَد.</a:t>
            </a:r>
          </a:p>
        </p:txBody>
      </p:sp>
      <p:sp>
        <p:nvSpPr>
          <p:cNvPr id="27" name="Rule 26"/>
          <p:cNvSpPr/>
          <p:nvPr/>
        </p:nvSpPr>
        <p:spPr>
          <a:xfrm>
            <a:off x="812800" y="4997450"/>
            <a:ext cx="10566400" cy="6350"/>
          </a:xfrm>
          <a:prstGeom prst="rect">
            <a:avLst/>
          </a:prstGeom>
          <a:solidFill>
            <a:srgbClr val="E1DBCD"/>
          </a:solidFill>
          <a:ln>
            <a:noFill/>
          </a:ln>
        </p:spPr>
        <p:txBody>
          <a:bodyPr rtlCol="0" anchor="ctr"/>
          <a:lstStyle/>
          <a:p>
            <a:pPr algn="ctr"/>
          </a:p>
        </p:txBody>
      </p:sp>
      <p:sp>
        <p:nvSpPr>
          <p:cNvPr id="28" name="Text 27"/>
          <p:cNvSpPr txBox="1"/>
          <p:nvPr/>
        </p:nvSpPr>
        <p:spPr>
          <a:xfrm>
            <a:off x="9664700" y="462057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A3F87"/>
                </a:solidFill>
                <a:latin typeface="IBM Plex Sans Arabic"/>
                <a:ea typeface="IBM Plex Sans Arabic"/>
                <a:cs typeface="IBM Plex Sans Arabic"/>
              </a:rPr>
              <a:t>5. المالك</a:t>
            </a:r>
          </a:p>
        </p:txBody>
      </p:sp>
      <p:sp>
        <p:nvSpPr>
          <p:cNvPr id="29" name="Text 28"/>
          <p:cNvSpPr txBox="1"/>
          <p:nvPr/>
        </p:nvSpPr>
        <p:spPr>
          <a:xfrm>
            <a:off x="812800" y="461549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مالك الخطر: م. سلمان، مدير تقنية المعلومات. المنفذ: سَنَد تحت إشرافه.</a:t>
            </a:r>
          </a:p>
        </p:txBody>
      </p:sp>
      <p:sp>
        <p:nvSpPr>
          <p:cNvPr id="30" name="Rule 29"/>
          <p:cNvSpPr/>
          <p:nvPr/>
        </p:nvSpPr>
        <p:spPr>
          <a:xfrm>
            <a:off x="812800" y="5399980"/>
            <a:ext cx="10566400" cy="6350"/>
          </a:xfrm>
          <a:prstGeom prst="rect">
            <a:avLst/>
          </a:prstGeom>
          <a:solidFill>
            <a:srgbClr val="E1DBCD"/>
          </a:solidFill>
          <a:ln>
            <a:noFill/>
          </a:ln>
        </p:spPr>
        <p:txBody>
          <a:bodyPr rtlCol="0" anchor="ctr"/>
          <a:lstStyle/>
          <a:p>
            <a:pPr algn="ctr"/>
          </a:p>
        </p:txBody>
      </p:sp>
      <p:sp>
        <p:nvSpPr>
          <p:cNvPr id="31" name="Text 30"/>
          <p:cNvSpPr txBox="1"/>
          <p:nvPr/>
        </p:nvSpPr>
        <p:spPr>
          <a:xfrm>
            <a:off x="9664700" y="502310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6. المؤشر</a:t>
            </a:r>
          </a:p>
        </p:txBody>
      </p:sp>
      <p:sp>
        <p:nvSpPr>
          <p:cNvPr id="32" name="Text 31"/>
          <p:cNvSpPr txBox="1"/>
          <p:nvPr/>
        </p:nvSpPr>
        <p:spPr>
          <a:xfrm>
            <a:off x="812800" y="501802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KRI: الثغرات الحرجة المفتوحة أكثر من 14 يوماً. في 30 سبتمبر 2026:‏ 3. الحد: صفر.</a:t>
            </a:r>
          </a:p>
        </p:txBody>
      </p:sp>
      <p:sp>
        <p:nvSpPr>
          <p:cNvPr id="33" name="Rule 32"/>
          <p:cNvSpPr/>
          <p:nvPr/>
        </p:nvSpPr>
        <p:spPr>
          <a:xfrm>
            <a:off x="812800" y="5802511"/>
            <a:ext cx="10566400" cy="6350"/>
          </a:xfrm>
          <a:prstGeom prst="rect">
            <a:avLst/>
          </a:prstGeom>
          <a:solidFill>
            <a:srgbClr val="E1DBCD"/>
          </a:solidFill>
          <a:ln>
            <a:noFill/>
          </a:ln>
        </p:spPr>
        <p:txBody>
          <a:bodyPr rtlCol="0" anchor="ctr"/>
          <a:lstStyle/>
          <a:p>
            <a:pPr algn="ctr"/>
          </a:p>
        </p:txBody>
      </p:sp>
      <p:sp>
        <p:nvSpPr>
          <p:cNvPr id="34" name="Text 33"/>
          <p:cNvSpPr txBox="1"/>
          <p:nvPr/>
        </p:nvSpPr>
        <p:spPr>
          <a:xfrm>
            <a:off x="9664700" y="542563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7. القرار المطلوب</a:t>
            </a:r>
          </a:p>
        </p:txBody>
      </p:sp>
      <p:sp>
        <p:nvSpPr>
          <p:cNvPr id="35" name="Text 34"/>
          <p:cNvSpPr txBox="1"/>
          <p:nvPr/>
        </p:nvSpPr>
        <p:spPr>
          <a:xfrm>
            <a:off x="812800" y="542055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اعتماد كلفة ترقيع عاجل الآن، وإضافة المهلة إلى العقد عند تجديده. الخطر عالٍ، فلا يُقبل.</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صياغة الأثر بلغة الأعمال</a:t>
            </a:r>
          </a:p>
        </p:txBody>
      </p:sp>
      <p:sp>
        <p:nvSpPr>
          <p:cNvPr id="5" name="Text 4"/>
          <p:cNvSpPr txBox="1"/>
          <p:nvPr/>
        </p:nvSpPr>
        <p:spPr>
          <a:xfrm>
            <a:off x="0" y="15922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صِف الأثر بواحد أو أكثر من:</a:t>
            </a:r>
          </a:p>
        </p:txBody>
      </p:sp>
      <p:sp>
        <p:nvSpPr>
          <p:cNvPr id="6" name="Text box 5"/>
          <p:cNvSpPr/>
          <p:nvPr/>
        </p:nvSpPr>
        <p:spPr>
          <a:xfrm>
            <a:off x="10254853" y="1932186"/>
            <a:ext cx="1124347"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توقف خدمة</a:t>
            </a:r>
          </a:p>
        </p:txBody>
      </p:sp>
      <p:sp>
        <p:nvSpPr>
          <p:cNvPr id="7" name="Text box 6"/>
          <p:cNvSpPr/>
          <p:nvPr/>
        </p:nvSpPr>
        <p:spPr>
          <a:xfrm>
            <a:off x="9012734" y="1932186"/>
            <a:ext cx="1165920"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تأخير عمليات</a:t>
            </a:r>
          </a:p>
        </p:txBody>
      </p:sp>
      <p:sp>
        <p:nvSpPr>
          <p:cNvPr id="8" name="Text box 7"/>
          <p:cNvSpPr/>
          <p:nvPr/>
        </p:nvSpPr>
        <p:spPr>
          <a:xfrm>
            <a:off x="7805440" y="1932186"/>
            <a:ext cx="1131094"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تسرب بيانات</a:t>
            </a:r>
          </a:p>
        </p:txBody>
      </p:sp>
      <p:sp>
        <p:nvSpPr>
          <p:cNvPr id="9" name="Text box 8"/>
          <p:cNvSpPr/>
          <p:nvPr/>
        </p:nvSpPr>
        <p:spPr>
          <a:xfrm>
            <a:off x="7081242" y="1932186"/>
            <a:ext cx="647998"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تكلفة</a:t>
            </a:r>
          </a:p>
        </p:txBody>
      </p:sp>
      <p:sp>
        <p:nvSpPr>
          <p:cNvPr id="10" name="Text box 9"/>
          <p:cNvSpPr/>
          <p:nvPr/>
        </p:nvSpPr>
        <p:spPr>
          <a:xfrm>
            <a:off x="5821660" y="1932186"/>
            <a:ext cx="1183382"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التزام تعاقدي</a:t>
            </a:r>
          </a:p>
        </p:txBody>
      </p:sp>
      <p:graphicFrame>
        <p:nvGraphicFramePr>
          <p:cNvPr id="11" name="Table 10"/>
          <p:cNvGraphicFramePr>
            <a:graphicFrameLocks noGrp="1"/>
          </p:cNvGraphicFramePr>
          <p:nvPr/>
        </p:nvGraphicFramePr>
        <p:xfrm>
          <a:off x="815975" y="2734171"/>
          <a:ext cx="10560050" cy="2093911"/>
        </p:xfrm>
        <a:graphic>
          <a:graphicData uri="http://schemas.openxmlformats.org/drawingml/2006/table">
            <a:tbl>
              <a:tblPr firstRow="0" bandRow="0" lastRow="0" firstCol="0" lastCol="0" bandCol="0">
                <a:tableStyleId>{2D5ABB26-0587-4C30-8999-92F81FD0307C}</a:tableStyleId>
              </a:tblPr>
              <a:tblGrid>
                <a:gridCol w="1900555"/>
                <a:gridCol w="5280025"/>
                <a:gridCol w="3379470"/>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نوع الأثر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بلغة الأعمال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بلغة 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توقف خدمة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قد يتوقف تتبع الشحنات لكل المتاجر، فتتأخر التسليمات وتكثر الشكاوى.</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ثغرة حرجة غير مرقعة في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تسرب 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شخصان خارج الشركة قد يطلعان على رواتب الموظفين وحساباتهم البنكية.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حسابان لمغادرين نشطان في نظام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تأخير عمليات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قد نفقد يوم عمل من تعديلات الرواتب، فيتأخر الصرف أو يخطئ.</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النسخ يومي، والحد المقبول لفقد البيانات 4 ساعات.</a:t>
                      </a:r>
                    </a:p>
                  </a:txBody>
                  <a:tcPr marT="74943" marR="106680" marB="49517" marL="1170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التزام تعاقدي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قد لا نعلم بتسرب في الوقت، فنتأخر في إبلاغ المتاجر والجهة المختصة.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عقد سَنَد بلا بند للإبلاغ عن الحوادث.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2" name="Text 11"/>
          <p:cNvSpPr txBox="1"/>
          <p:nvPr/>
        </p:nvSpPr>
        <p:spPr>
          <a:xfrm>
            <a:off x="0" y="5256455"/>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المدير لا يقرر بناءً على «ثغرة حرجة»، بل على ما تعنيه لخدمته وعملائه وتكلفته والتزاماته.</a:t>
            </a:r>
          </a:p>
        </p:txBody>
      </p:sp>
      <p:sp>
        <p:nvSpPr>
          <p:cNvPr id="13" name="Text 1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4" name="Text 1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16689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من هدف «صحة الرواتب» إلى القرار</a:t>
            </a:r>
          </a:p>
        </p:txBody>
      </p:sp>
      <p:sp>
        <p:nvSpPr>
          <p:cNvPr id="6" name="Rule 5"/>
          <p:cNvSpPr/>
          <p:nvPr/>
        </p:nvSpPr>
        <p:spPr>
          <a:xfrm>
            <a:off x="812800" y="1619845"/>
            <a:ext cx="10566400" cy="31750"/>
          </a:xfrm>
          <a:prstGeom prst="rect">
            <a:avLst/>
          </a:prstGeom>
          <a:solidFill>
            <a:srgbClr val="C27A16"/>
          </a:solidFill>
          <a:ln>
            <a:noFill/>
          </a:ln>
        </p:spPr>
        <p:txBody>
          <a:bodyPr rtlCol="0" anchor="ctr"/>
          <a:lstStyle/>
          <a:p>
            <a:pPr algn="ctr"/>
          </a:p>
        </p:txBody>
      </p:sp>
      <p:sp>
        <p:nvSpPr>
          <p:cNvPr id="7" name="Text 6"/>
          <p:cNvSpPr txBox="1"/>
          <p:nvPr/>
        </p:nvSpPr>
        <p:spPr>
          <a:xfrm>
            <a:off x="838200" y="1751925"/>
            <a:ext cx="1050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ما وجدته في رُفاد</a:t>
            </a:r>
          </a:p>
        </p:txBody>
      </p:sp>
      <p:pic>
        <p:nvPicPr>
          <p:cNvPr id="8" name="Icon Search 7" descr="icon037.png"/>
          <p:cNvPicPr>
            <a:picLocks noChangeAspect="1"/>
          </p:cNvPicPr>
          <p:nvPr/>
        </p:nvPicPr>
        <p:blipFill>
          <a:blip r:embed="rId2"/>
          <a:stretch>
            <a:fillRect/>
          </a:stretch>
        </p:blipFill>
        <p:spPr>
          <a:xfrm>
            <a:off x="11131550" y="2223095"/>
            <a:ext cx="209550" cy="209550"/>
          </a:xfrm>
          <a:prstGeom prst="rect">
            <a:avLst/>
          </a:prstGeom>
        </p:spPr>
      </p:pic>
      <p:sp>
        <p:nvSpPr>
          <p:cNvPr id="9" name="Text 8"/>
          <p:cNvSpPr txBox="1"/>
          <p:nvPr/>
        </p:nvSpPr>
        <p:spPr>
          <a:xfrm>
            <a:off x="838200" y="2187662"/>
            <a:ext cx="101790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هدف رُفاد: رواتب صحيحة تُصرف إلى الحسابات الصحيحة في موعدها، لنحو 200 موظف.</a:t>
            </a:r>
          </a:p>
        </p:txBody>
      </p:sp>
      <p:pic>
        <p:nvPicPr>
          <p:cNvPr id="10" name="Icon Search 9" descr="icon037.png"/>
          <p:cNvPicPr>
            <a:picLocks noChangeAspect="1"/>
          </p:cNvPicPr>
          <p:nvPr/>
        </p:nvPicPr>
        <p:blipFill>
          <a:blip r:embed="rId2"/>
          <a:stretch>
            <a:fillRect/>
          </a:stretch>
        </p:blipFill>
        <p:spPr>
          <a:xfrm>
            <a:off x="11131550" y="2606576"/>
            <a:ext cx="209550" cy="209550"/>
          </a:xfrm>
          <a:prstGeom prst="rect">
            <a:avLst/>
          </a:prstGeom>
        </p:spPr>
      </p:pic>
      <p:sp>
        <p:nvSpPr>
          <p:cNvPr id="11" name="Text 10"/>
          <p:cNvSpPr txBox="1"/>
          <p:nvPr/>
        </p:nvSpPr>
        <p:spPr>
          <a:xfrm>
            <a:off x="838200" y="2571143"/>
            <a:ext cx="101790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في نظام الرواتب يستطيع موظفان تعديل الحساب البنكي للموظف واعتماد المسير كليهما.</a:t>
            </a:r>
          </a:p>
        </p:txBody>
      </p:sp>
      <p:pic>
        <p:nvPicPr>
          <p:cNvPr id="12" name="Icon Search 11" descr="icon037.png"/>
          <p:cNvPicPr>
            <a:picLocks noChangeAspect="1"/>
          </p:cNvPicPr>
          <p:nvPr/>
        </p:nvPicPr>
        <p:blipFill>
          <a:blip r:embed="rId2"/>
          <a:stretch>
            <a:fillRect/>
          </a:stretch>
        </p:blipFill>
        <p:spPr>
          <a:xfrm>
            <a:off x="11131550" y="2990056"/>
            <a:ext cx="209550" cy="209550"/>
          </a:xfrm>
          <a:prstGeom prst="rect">
            <a:avLst/>
          </a:prstGeom>
        </p:spPr>
      </p:pic>
      <p:sp>
        <p:nvSpPr>
          <p:cNvPr id="13" name="Text 12"/>
          <p:cNvSpPr txBox="1"/>
          <p:nvPr/>
        </p:nvSpPr>
        <p:spPr>
          <a:xfrm>
            <a:off x="838200" y="2954623"/>
            <a:ext cx="101790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لا توجد موافقة ثانية على تغيير الحساب البنكي، ولا تقرير بالتغييرات.</a:t>
            </a:r>
          </a:p>
        </p:txBody>
      </p:sp>
      <p:pic>
        <p:nvPicPr>
          <p:cNvPr id="14" name="Icon Search 13" descr="icon037.png"/>
          <p:cNvPicPr>
            <a:picLocks noChangeAspect="1"/>
          </p:cNvPicPr>
          <p:nvPr/>
        </p:nvPicPr>
        <p:blipFill>
          <a:blip r:embed="rId2"/>
          <a:stretch>
            <a:fillRect/>
          </a:stretch>
        </p:blipFill>
        <p:spPr>
          <a:xfrm>
            <a:off x="11131550" y="3373537"/>
            <a:ext cx="209550" cy="209550"/>
          </a:xfrm>
          <a:prstGeom prst="rect">
            <a:avLst/>
          </a:prstGeom>
        </p:spPr>
      </p:pic>
      <p:sp>
        <p:nvSpPr>
          <p:cNvPr id="15" name="Text 14"/>
          <p:cNvSpPr txBox="1"/>
          <p:nvPr/>
        </p:nvSpPr>
        <p:spPr>
          <a:xfrm>
            <a:off x="838200" y="3338104"/>
            <a:ext cx="101790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مالكة النظام: أ. منى، مديرة الموارد البشرية. والمدير المالي أ. فهد مسؤول عن الصرف.</a:t>
            </a:r>
          </a:p>
        </p:txBody>
      </p:sp>
      <p:sp>
        <p:nvSpPr>
          <p:cNvPr id="16" name="Text 15"/>
          <p:cNvSpPr txBox="1"/>
          <p:nvPr/>
        </p:nvSpPr>
        <p:spPr>
          <a:xfrm>
            <a:off x="0" y="3835884"/>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أكمل السلسلة في الكراسة:</a:t>
            </a:r>
          </a:p>
        </p:txBody>
      </p:sp>
      <p:sp>
        <p:nvSpPr>
          <p:cNvPr id="17" name="Text box 16"/>
          <p:cNvSpPr/>
          <p:nvPr/>
        </p:nvSpPr>
        <p:spPr>
          <a:xfrm>
            <a:off x="9924157" y="4254798"/>
            <a:ext cx="1455043" cy="746720"/>
          </a:xfrm>
          <a:prstGeom prst="rect">
            <a:avLst/>
          </a:prstGeom>
          <a:noFill/>
          <a:ln>
            <a:noFill/>
          </a:ln>
        </p:spPr>
        <p:txBody>
          <a:bodyPr rtlCol="0" anchor="t"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1. هدف العمل</a:t>
            </a:r>
          </a:p>
        </p:txBody>
      </p:sp>
      <p:sp>
        <p:nvSpPr>
          <p:cNvPr id="18" name="Rule 17"/>
          <p:cNvSpPr/>
          <p:nvPr/>
        </p:nvSpPr>
        <p:spPr>
          <a:xfrm>
            <a:off x="9924157" y="4254798"/>
            <a:ext cx="1455043" cy="25400"/>
          </a:xfrm>
          <a:prstGeom prst="rect">
            <a:avLst/>
          </a:prstGeom>
          <a:solidFill>
            <a:srgbClr val="C27A16"/>
          </a:solidFill>
          <a:ln>
            <a:noFill/>
          </a:ln>
        </p:spPr>
        <p:txBody>
          <a:bodyPr rtlCol="0" anchor="ctr"/>
          <a:lstStyle/>
          <a:p>
            <a:pPr algn="ctr"/>
          </a:p>
        </p:txBody>
      </p:sp>
      <p:sp>
        <p:nvSpPr>
          <p:cNvPr id="19" name="Text box 18"/>
          <p:cNvSpPr/>
          <p:nvPr/>
        </p:nvSpPr>
        <p:spPr>
          <a:xfrm>
            <a:off x="8405614" y="4254798"/>
            <a:ext cx="1455043" cy="746720"/>
          </a:xfrm>
          <a:prstGeom prst="rect">
            <a:avLst/>
          </a:prstGeom>
          <a:noFill/>
          <a:ln>
            <a:noFill/>
          </a:ln>
        </p:spPr>
        <p:txBody>
          <a:bodyPr rtlCol="0" anchor="ctr"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2. الأصل الداعم</a:t>
            </a:r>
          </a:p>
        </p:txBody>
      </p:sp>
      <p:sp>
        <p:nvSpPr>
          <p:cNvPr id="20" name="Rule 19"/>
          <p:cNvSpPr/>
          <p:nvPr/>
        </p:nvSpPr>
        <p:spPr>
          <a:xfrm>
            <a:off x="8405614" y="4254798"/>
            <a:ext cx="1455043" cy="25400"/>
          </a:xfrm>
          <a:prstGeom prst="rect">
            <a:avLst/>
          </a:prstGeom>
          <a:solidFill>
            <a:srgbClr val="C27A16"/>
          </a:solidFill>
          <a:ln>
            <a:noFill/>
          </a:ln>
        </p:spPr>
        <p:txBody>
          <a:bodyPr rtlCol="0" anchor="ctr"/>
          <a:lstStyle/>
          <a:p>
            <a:pPr algn="ctr"/>
          </a:p>
        </p:txBody>
      </p:sp>
      <p:sp>
        <p:nvSpPr>
          <p:cNvPr id="21" name="Text box 20"/>
          <p:cNvSpPr/>
          <p:nvPr/>
        </p:nvSpPr>
        <p:spPr>
          <a:xfrm>
            <a:off x="6887071" y="4254798"/>
            <a:ext cx="1455043" cy="746720"/>
          </a:xfrm>
          <a:prstGeom prst="rect">
            <a:avLst/>
          </a:prstGeom>
          <a:noFill/>
          <a:ln>
            <a:noFill/>
          </a:ln>
        </p:spPr>
        <p:txBody>
          <a:bodyPr rtlCol="0" anchor="t"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3. الخطر</a:t>
            </a:r>
          </a:p>
        </p:txBody>
      </p:sp>
      <p:sp>
        <p:nvSpPr>
          <p:cNvPr id="22" name="Rule 21"/>
          <p:cNvSpPr/>
          <p:nvPr/>
        </p:nvSpPr>
        <p:spPr>
          <a:xfrm>
            <a:off x="6887071" y="4254798"/>
            <a:ext cx="1455043" cy="25400"/>
          </a:xfrm>
          <a:prstGeom prst="rect">
            <a:avLst/>
          </a:prstGeom>
          <a:solidFill>
            <a:srgbClr val="C27A16"/>
          </a:solidFill>
          <a:ln>
            <a:noFill/>
          </a:ln>
        </p:spPr>
        <p:txBody>
          <a:bodyPr rtlCol="0" anchor="ctr"/>
          <a:lstStyle/>
          <a:p>
            <a:pPr algn="ctr"/>
          </a:p>
        </p:txBody>
      </p:sp>
      <p:sp>
        <p:nvSpPr>
          <p:cNvPr id="23" name="Text box 22"/>
          <p:cNvSpPr/>
          <p:nvPr/>
        </p:nvSpPr>
        <p:spPr>
          <a:xfrm>
            <a:off x="5368528" y="4254798"/>
            <a:ext cx="1455043" cy="746720"/>
          </a:xfrm>
          <a:prstGeom prst="rect">
            <a:avLst/>
          </a:prstGeom>
          <a:noFill/>
          <a:ln>
            <a:noFill/>
          </a:ln>
        </p:spPr>
        <p:txBody>
          <a:bodyPr rtlCol="0" anchor="t"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4. الضابط</a:t>
            </a:r>
          </a:p>
        </p:txBody>
      </p:sp>
      <p:sp>
        <p:nvSpPr>
          <p:cNvPr id="24" name="Rule 23"/>
          <p:cNvSpPr/>
          <p:nvPr/>
        </p:nvSpPr>
        <p:spPr>
          <a:xfrm>
            <a:off x="5368528" y="4254798"/>
            <a:ext cx="1455043" cy="25400"/>
          </a:xfrm>
          <a:prstGeom prst="rect">
            <a:avLst/>
          </a:prstGeom>
          <a:solidFill>
            <a:srgbClr val="C27A16"/>
          </a:solidFill>
          <a:ln>
            <a:noFill/>
          </a:ln>
        </p:spPr>
        <p:txBody>
          <a:bodyPr rtlCol="0" anchor="ctr"/>
          <a:lstStyle/>
          <a:p>
            <a:pPr algn="ctr"/>
          </a:p>
        </p:txBody>
      </p:sp>
      <p:sp>
        <p:nvSpPr>
          <p:cNvPr id="25" name="Text box 24"/>
          <p:cNvSpPr/>
          <p:nvPr/>
        </p:nvSpPr>
        <p:spPr>
          <a:xfrm>
            <a:off x="3849985" y="4254798"/>
            <a:ext cx="1455043" cy="746720"/>
          </a:xfrm>
          <a:prstGeom prst="rect">
            <a:avLst/>
          </a:prstGeom>
          <a:noFill/>
          <a:ln>
            <a:noFill/>
          </a:ln>
        </p:spPr>
        <p:txBody>
          <a:bodyPr rtlCol="0" anchor="t"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5. المالك</a:t>
            </a:r>
          </a:p>
        </p:txBody>
      </p:sp>
      <p:sp>
        <p:nvSpPr>
          <p:cNvPr id="26" name="Rule 25"/>
          <p:cNvSpPr/>
          <p:nvPr/>
        </p:nvSpPr>
        <p:spPr>
          <a:xfrm>
            <a:off x="3849985" y="4254798"/>
            <a:ext cx="1455043" cy="25400"/>
          </a:xfrm>
          <a:prstGeom prst="rect">
            <a:avLst/>
          </a:prstGeom>
          <a:solidFill>
            <a:srgbClr val="C27A16"/>
          </a:solidFill>
          <a:ln>
            <a:noFill/>
          </a:ln>
        </p:spPr>
        <p:txBody>
          <a:bodyPr rtlCol="0" anchor="ctr"/>
          <a:lstStyle/>
          <a:p>
            <a:pPr algn="ctr"/>
          </a:p>
        </p:txBody>
      </p:sp>
      <p:sp>
        <p:nvSpPr>
          <p:cNvPr id="27" name="Text box 26"/>
          <p:cNvSpPr/>
          <p:nvPr/>
        </p:nvSpPr>
        <p:spPr>
          <a:xfrm>
            <a:off x="2331442" y="4254798"/>
            <a:ext cx="1455043" cy="746720"/>
          </a:xfrm>
          <a:prstGeom prst="rect">
            <a:avLst/>
          </a:prstGeom>
          <a:noFill/>
          <a:ln>
            <a:noFill/>
          </a:ln>
        </p:spPr>
        <p:txBody>
          <a:bodyPr rtlCol="0" anchor="t"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6. المؤشر</a:t>
            </a:r>
          </a:p>
        </p:txBody>
      </p:sp>
      <p:sp>
        <p:nvSpPr>
          <p:cNvPr id="28" name="Rule 27"/>
          <p:cNvSpPr/>
          <p:nvPr/>
        </p:nvSpPr>
        <p:spPr>
          <a:xfrm>
            <a:off x="2331442" y="4254798"/>
            <a:ext cx="1455043" cy="25400"/>
          </a:xfrm>
          <a:prstGeom prst="rect">
            <a:avLst/>
          </a:prstGeom>
          <a:solidFill>
            <a:srgbClr val="C27A16"/>
          </a:solidFill>
          <a:ln>
            <a:noFill/>
          </a:ln>
        </p:spPr>
        <p:txBody>
          <a:bodyPr rtlCol="0" anchor="ctr"/>
          <a:lstStyle/>
          <a:p>
            <a:pPr algn="ctr"/>
          </a:p>
        </p:txBody>
      </p:sp>
      <p:sp>
        <p:nvSpPr>
          <p:cNvPr id="29" name="Text box 28"/>
          <p:cNvSpPr/>
          <p:nvPr/>
        </p:nvSpPr>
        <p:spPr>
          <a:xfrm>
            <a:off x="812899" y="4254798"/>
            <a:ext cx="1455043" cy="746720"/>
          </a:xfrm>
          <a:prstGeom prst="rect">
            <a:avLst/>
          </a:prstGeom>
          <a:noFill/>
          <a:ln>
            <a:noFill/>
          </a:ln>
        </p:spPr>
        <p:txBody>
          <a:bodyPr rtlCol="0" anchor="ctr" wrap="square" tIns="64897" rIns="50800" bIns="87503" lIns="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7. القرار المطلوب</a:t>
            </a:r>
          </a:p>
        </p:txBody>
      </p:sp>
      <p:sp>
        <p:nvSpPr>
          <p:cNvPr id="30" name="Rule 29"/>
          <p:cNvSpPr/>
          <p:nvPr/>
        </p:nvSpPr>
        <p:spPr>
          <a:xfrm>
            <a:off x="812899" y="4254798"/>
            <a:ext cx="1455043" cy="25400"/>
          </a:xfrm>
          <a:prstGeom prst="rect">
            <a:avLst/>
          </a:prstGeom>
          <a:solidFill>
            <a:srgbClr val="C27A16"/>
          </a:solidFill>
          <a:ln>
            <a:noFill/>
          </a:ln>
        </p:spPr>
        <p:txBody>
          <a:bodyPr rtlCol="0" anchor="ctr"/>
          <a:lstStyle/>
          <a:p>
            <a:pPr algn="ctr"/>
          </a:p>
        </p:txBody>
      </p:sp>
      <p:sp>
        <p:nvSpPr>
          <p:cNvPr id="31" name="Text 30"/>
          <p:cNvSpPr txBox="1"/>
          <p:nvPr/>
        </p:nvSpPr>
        <p:spPr>
          <a:xfrm>
            <a:off x="0" y="5118485"/>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8A4B12"/>
                </a:solidFill>
                <a:latin typeface="IBM Plex Sans Arabic"/>
                <a:ea typeface="IBM Plex Sans Arabic"/>
                <a:cs typeface="IBM Plex Sans Arabic"/>
              </a:rPr>
              <a:t>ثم صِف الأثر بلغة الأعمال، واذكر نوعه. 12 دقيقة.</a:t>
            </a:r>
          </a:p>
        </p:txBody>
      </p:sp>
      <p:sp>
        <p:nvSpPr>
          <p:cNvPr id="32" name="Text 3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3" name="Text 3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37396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السلسلة كاملة لهدف «صحة الرواتب»</a:t>
            </a:r>
          </a:p>
        </p:txBody>
      </p:sp>
      <p:sp>
        <p:nvSpPr>
          <p:cNvPr id="6" name="Rule 5"/>
          <p:cNvSpPr/>
          <p:nvPr/>
        </p:nvSpPr>
        <p:spPr>
          <a:xfrm>
            <a:off x="812800" y="2040136"/>
            <a:ext cx="10566400" cy="6350"/>
          </a:xfrm>
          <a:prstGeom prst="rect">
            <a:avLst/>
          </a:prstGeom>
          <a:solidFill>
            <a:srgbClr val="E1DBCD"/>
          </a:solidFill>
          <a:ln>
            <a:noFill/>
          </a:ln>
        </p:spPr>
        <p:txBody>
          <a:bodyPr rtlCol="0" anchor="ctr"/>
          <a:lstStyle/>
          <a:p>
            <a:pPr algn="ctr"/>
          </a:p>
        </p:txBody>
      </p:sp>
      <p:sp>
        <p:nvSpPr>
          <p:cNvPr id="7" name="Text 6"/>
          <p:cNvSpPr txBox="1"/>
          <p:nvPr/>
        </p:nvSpPr>
        <p:spPr>
          <a:xfrm>
            <a:off x="9654540" y="1622512"/>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1. هدف العمل</a:t>
            </a:r>
          </a:p>
        </p:txBody>
      </p:sp>
      <p:sp>
        <p:nvSpPr>
          <p:cNvPr id="8" name="Text 7"/>
          <p:cNvSpPr txBox="1"/>
          <p:nvPr/>
        </p:nvSpPr>
        <p:spPr>
          <a:xfrm>
            <a:off x="812800" y="1616797"/>
            <a:ext cx="88773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صرف رواتب صحيحة إلى الحسابات الصحيحة في موعدها.</a:t>
            </a:r>
          </a:p>
        </p:txBody>
      </p:sp>
      <p:sp>
        <p:nvSpPr>
          <p:cNvPr id="9" name="Rule 8"/>
          <p:cNvSpPr/>
          <p:nvPr/>
        </p:nvSpPr>
        <p:spPr>
          <a:xfrm>
            <a:off x="812800" y="2479477"/>
            <a:ext cx="10566400" cy="6350"/>
          </a:xfrm>
          <a:prstGeom prst="rect">
            <a:avLst/>
          </a:prstGeom>
          <a:solidFill>
            <a:srgbClr val="E1DBCD"/>
          </a:solidFill>
          <a:ln>
            <a:noFill/>
          </a:ln>
        </p:spPr>
        <p:txBody>
          <a:bodyPr rtlCol="0" anchor="ctr"/>
          <a:lstStyle/>
          <a:p>
            <a:pPr algn="ctr"/>
          </a:p>
        </p:txBody>
      </p:sp>
      <p:sp>
        <p:nvSpPr>
          <p:cNvPr id="10" name="Text 9"/>
          <p:cNvSpPr txBox="1"/>
          <p:nvPr/>
        </p:nvSpPr>
        <p:spPr>
          <a:xfrm>
            <a:off x="9654540" y="2061853"/>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2. الأصل الداعم</a:t>
            </a:r>
          </a:p>
        </p:txBody>
      </p:sp>
      <p:sp>
        <p:nvSpPr>
          <p:cNvPr id="11" name="Text 10"/>
          <p:cNvSpPr txBox="1"/>
          <p:nvPr/>
        </p:nvSpPr>
        <p:spPr>
          <a:xfrm>
            <a:off x="812800" y="2056138"/>
            <a:ext cx="88773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نظام الموارد البشرية والرواتب، وبيانات الحسابات البنكية فيه.</a:t>
            </a:r>
          </a:p>
        </p:txBody>
      </p:sp>
      <p:sp>
        <p:nvSpPr>
          <p:cNvPr id="12" name="Rule 11"/>
          <p:cNvSpPr/>
          <p:nvPr/>
        </p:nvSpPr>
        <p:spPr>
          <a:xfrm>
            <a:off x="812800" y="3250208"/>
            <a:ext cx="10566400" cy="6350"/>
          </a:xfrm>
          <a:prstGeom prst="rect">
            <a:avLst/>
          </a:prstGeom>
          <a:solidFill>
            <a:srgbClr val="E1DBCD"/>
          </a:solidFill>
          <a:ln>
            <a:noFill/>
          </a:ln>
        </p:spPr>
        <p:txBody>
          <a:bodyPr rtlCol="0" anchor="ctr"/>
          <a:lstStyle/>
          <a:p>
            <a:pPr algn="ctr"/>
          </a:p>
        </p:txBody>
      </p:sp>
      <p:sp>
        <p:nvSpPr>
          <p:cNvPr id="13" name="Text 12"/>
          <p:cNvSpPr txBox="1"/>
          <p:nvPr/>
        </p:nvSpPr>
        <p:spPr>
          <a:xfrm>
            <a:off x="9654540" y="2501194"/>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3. الخطر</a:t>
            </a:r>
          </a:p>
        </p:txBody>
      </p:sp>
      <p:sp>
        <p:nvSpPr>
          <p:cNvPr id="14" name="Text 13"/>
          <p:cNvSpPr txBox="1"/>
          <p:nvPr/>
        </p:nvSpPr>
        <p:spPr>
          <a:xfrm>
            <a:off x="812800" y="2495479"/>
            <a:ext cx="887730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بسبب جمع موظف واحد لتعديل الحساب البنكي واعتماد المسير، قد يُحوَّل راتب إلى حساب غير صحيح دون اكتشاف، مما يسبب خسارة مالية وتأخر راتب موظف ومساءلة داخلية.</a:t>
            </a:r>
          </a:p>
        </p:txBody>
      </p:sp>
      <p:sp>
        <p:nvSpPr>
          <p:cNvPr id="15" name="Rule 14"/>
          <p:cNvSpPr/>
          <p:nvPr/>
        </p:nvSpPr>
        <p:spPr>
          <a:xfrm>
            <a:off x="812800" y="4020939"/>
            <a:ext cx="10566400" cy="6350"/>
          </a:xfrm>
          <a:prstGeom prst="rect">
            <a:avLst/>
          </a:prstGeom>
          <a:solidFill>
            <a:srgbClr val="E1DBCD"/>
          </a:solidFill>
          <a:ln>
            <a:noFill/>
          </a:ln>
        </p:spPr>
        <p:txBody>
          <a:bodyPr rtlCol="0" anchor="ctr"/>
          <a:lstStyle/>
          <a:p>
            <a:pPr algn="ctr"/>
          </a:p>
        </p:txBody>
      </p:sp>
      <p:sp>
        <p:nvSpPr>
          <p:cNvPr id="16" name="Text 15"/>
          <p:cNvSpPr txBox="1"/>
          <p:nvPr/>
        </p:nvSpPr>
        <p:spPr>
          <a:xfrm>
            <a:off x="9654540" y="3271925"/>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4. الضابط</a:t>
            </a:r>
          </a:p>
        </p:txBody>
      </p:sp>
      <p:sp>
        <p:nvSpPr>
          <p:cNvPr id="17" name="Text 16"/>
          <p:cNvSpPr txBox="1"/>
          <p:nvPr/>
        </p:nvSpPr>
        <p:spPr>
          <a:xfrm>
            <a:off x="812800" y="3266210"/>
            <a:ext cx="887730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فصل المهام: من يعدّل لا يعتمد، وموافقة ثانية على تغيير الحساب البنكي، وتقرير شهري بالتغييرات يراجعه المدير المالي.</a:t>
            </a:r>
          </a:p>
        </p:txBody>
      </p:sp>
      <p:sp>
        <p:nvSpPr>
          <p:cNvPr id="18" name="Rule 17"/>
          <p:cNvSpPr/>
          <p:nvPr/>
        </p:nvSpPr>
        <p:spPr>
          <a:xfrm>
            <a:off x="812800" y="4460280"/>
            <a:ext cx="10566400" cy="6350"/>
          </a:xfrm>
          <a:prstGeom prst="rect">
            <a:avLst/>
          </a:prstGeom>
          <a:solidFill>
            <a:srgbClr val="E1DBCD"/>
          </a:solidFill>
          <a:ln>
            <a:noFill/>
          </a:ln>
        </p:spPr>
        <p:txBody>
          <a:bodyPr rtlCol="0" anchor="ctr"/>
          <a:lstStyle/>
          <a:p>
            <a:pPr algn="ctr"/>
          </a:p>
        </p:txBody>
      </p:sp>
      <p:sp>
        <p:nvSpPr>
          <p:cNvPr id="19" name="Text 18"/>
          <p:cNvSpPr txBox="1"/>
          <p:nvPr/>
        </p:nvSpPr>
        <p:spPr>
          <a:xfrm>
            <a:off x="9654540" y="4042656"/>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5. المالك</a:t>
            </a:r>
          </a:p>
        </p:txBody>
      </p:sp>
      <p:sp>
        <p:nvSpPr>
          <p:cNvPr id="20" name="Text 19"/>
          <p:cNvSpPr txBox="1"/>
          <p:nvPr/>
        </p:nvSpPr>
        <p:spPr>
          <a:xfrm>
            <a:off x="812800" y="4036941"/>
            <a:ext cx="88773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مالكة الخطر والنظام: أ. منى. ومراجعة التقرير الشهري: أ. فهد.</a:t>
            </a:r>
          </a:p>
        </p:txBody>
      </p:sp>
      <p:sp>
        <p:nvSpPr>
          <p:cNvPr id="21" name="Rule 20"/>
          <p:cNvSpPr/>
          <p:nvPr/>
        </p:nvSpPr>
        <p:spPr>
          <a:xfrm>
            <a:off x="812800" y="4899620"/>
            <a:ext cx="10566400" cy="6350"/>
          </a:xfrm>
          <a:prstGeom prst="rect">
            <a:avLst/>
          </a:prstGeom>
          <a:solidFill>
            <a:srgbClr val="E1DBCD"/>
          </a:solidFill>
          <a:ln>
            <a:noFill/>
          </a:ln>
        </p:spPr>
        <p:txBody>
          <a:bodyPr rtlCol="0" anchor="ctr"/>
          <a:lstStyle/>
          <a:p>
            <a:pPr algn="ctr"/>
          </a:p>
        </p:txBody>
      </p:sp>
      <p:sp>
        <p:nvSpPr>
          <p:cNvPr id="22" name="Text 21"/>
          <p:cNvSpPr txBox="1"/>
          <p:nvPr/>
        </p:nvSpPr>
        <p:spPr>
          <a:xfrm>
            <a:off x="9654540" y="4481997"/>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6. المؤشر</a:t>
            </a:r>
          </a:p>
        </p:txBody>
      </p:sp>
      <p:sp>
        <p:nvSpPr>
          <p:cNvPr id="23" name="Text 22"/>
          <p:cNvSpPr txBox="1"/>
          <p:nvPr/>
        </p:nvSpPr>
        <p:spPr>
          <a:xfrm>
            <a:off x="812800" y="4476282"/>
            <a:ext cx="88773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عدد تغييرات الحسابات البنكية بلا موافقة ثانية في الشهر. الحد المقبول: صفر.</a:t>
            </a:r>
          </a:p>
        </p:txBody>
      </p:sp>
      <p:sp>
        <p:nvSpPr>
          <p:cNvPr id="24" name="Rule 23"/>
          <p:cNvSpPr/>
          <p:nvPr/>
        </p:nvSpPr>
        <p:spPr>
          <a:xfrm>
            <a:off x="812800" y="5338961"/>
            <a:ext cx="10566400" cy="6350"/>
          </a:xfrm>
          <a:prstGeom prst="rect">
            <a:avLst/>
          </a:prstGeom>
          <a:solidFill>
            <a:srgbClr val="E1DBCD"/>
          </a:solidFill>
          <a:ln>
            <a:noFill/>
          </a:ln>
        </p:spPr>
        <p:txBody>
          <a:bodyPr rtlCol="0" anchor="ctr"/>
          <a:lstStyle/>
          <a:p>
            <a:pPr algn="ctr"/>
          </a:p>
        </p:txBody>
      </p:sp>
      <p:sp>
        <p:nvSpPr>
          <p:cNvPr id="25" name="Text 24"/>
          <p:cNvSpPr txBox="1"/>
          <p:nvPr/>
        </p:nvSpPr>
        <p:spPr>
          <a:xfrm>
            <a:off x="9654540" y="4921337"/>
            <a:ext cx="172466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7. القرار المطلوب</a:t>
            </a:r>
          </a:p>
        </p:txBody>
      </p:sp>
      <p:sp>
        <p:nvSpPr>
          <p:cNvPr id="26" name="Text 25"/>
          <p:cNvSpPr txBox="1"/>
          <p:nvPr/>
        </p:nvSpPr>
        <p:spPr>
          <a:xfrm>
            <a:off x="812800" y="4915622"/>
            <a:ext cx="88773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اعتماد إعادة توزيع الأدوار في الموارد البشرية، وقبول تأخير قصير في التعديلات بسبب الموافقة الثانية.</a:t>
            </a:r>
          </a:p>
        </p:txBody>
      </p:sp>
      <p:sp>
        <p:nvSpPr>
          <p:cNvPr id="27" name="Text 26"/>
          <p:cNvSpPr txBox="1"/>
          <p:nvPr/>
        </p:nvSpPr>
        <p:spPr>
          <a:xfrm>
            <a:off x="0" y="5448435"/>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الأثر: تكلفة مالية، وتأخير عمليات الصرف، ومساءلة. ومقبول أيضاً أن تختار KCI مثل «نسبة التغييرات بموافقة ثانية»، إن كتبت غرضه.</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سجل المخاطر: صف مكتمل من رُفاد</a:t>
            </a:r>
          </a:p>
        </p:txBody>
      </p:sp>
      <p:sp>
        <p:nvSpPr>
          <p:cNvPr id="6" name="Box 5"/>
          <p:cNvSpPr/>
          <p:nvPr/>
        </p:nvSpPr>
        <p:spPr>
          <a:xfrm>
            <a:off x="815975" y="1648420"/>
            <a:ext cx="10560050" cy="2874665"/>
          </a:xfrm>
          <a:prstGeom prst="roundRect">
            <a:avLst>
              <a:gd name="adj" fmla="val 1763"/>
            </a:avLst>
          </a:prstGeom>
          <a:solidFill>
            <a:srgbClr val="FFFFFF"/>
          </a:solidFill>
          <a:ln w="6350">
            <a:solidFill>
              <a:srgbClr val="C9D0D6"/>
            </a:solidFill>
          </a:ln>
        </p:spPr>
        <p:txBody>
          <a:bodyPr rtlCol="0" anchor="ctr"/>
          <a:lstStyle/>
          <a:p>
            <a:pPr algn="ctr"/>
          </a:p>
        </p:txBody>
      </p:sp>
      <p:sp>
        <p:nvSpPr>
          <p:cNvPr id="7" name="Box 6"/>
          <p:cNvSpPr/>
          <p:nvPr/>
        </p:nvSpPr>
        <p:spPr>
          <a:xfrm>
            <a:off x="819150" y="16515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19766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9964480" y="1699093"/>
            <a:ext cx="130677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المخاطر · رُفاد</a:t>
            </a:r>
          </a:p>
        </p:txBody>
      </p:sp>
      <p:sp>
        <p:nvSpPr>
          <p:cNvPr id="10" name="Text 9"/>
          <p:cNvSpPr txBox="1"/>
          <p:nvPr/>
        </p:nvSpPr>
        <p:spPr>
          <a:xfrm>
            <a:off x="844550" y="16990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Box 10"/>
          <p:cNvSpPr/>
          <p:nvPr/>
        </p:nvSpPr>
        <p:spPr>
          <a:xfrm>
            <a:off x="819150" y="1982986"/>
            <a:ext cx="10553700" cy="519311"/>
          </a:xfrm>
          <a:prstGeom prst="rect">
            <a:avLst/>
          </a:prstGeom>
          <a:solidFill>
            <a:srgbClr val="FFFFFF"/>
          </a:solidFill>
          <a:ln>
            <a:noFill/>
          </a:ln>
        </p:spPr>
        <p:txBody>
          <a:bodyPr rtlCol="0" anchor="ctr"/>
          <a:lstStyle/>
          <a:p>
            <a:pPr algn="ctr"/>
          </a:p>
        </p:txBody>
      </p:sp>
      <p:sp>
        <p:nvSpPr>
          <p:cNvPr id="12" name="Rule 11"/>
          <p:cNvSpPr/>
          <p:nvPr/>
        </p:nvSpPr>
        <p:spPr>
          <a:xfrm>
            <a:off x="819150" y="2495947"/>
            <a:ext cx="10553700" cy="6350"/>
          </a:xfrm>
          <a:prstGeom prst="rect">
            <a:avLst/>
          </a:prstGeom>
          <a:solidFill>
            <a:srgbClr val="D3D9DF"/>
          </a:solidFill>
          <a:ln>
            <a:noFill/>
          </a:ln>
        </p:spPr>
        <p:txBody>
          <a:bodyPr rtlCol="0" anchor="ctr"/>
          <a:lstStyle/>
          <a:p>
            <a:pPr algn="ctr"/>
          </a:p>
        </p:txBody>
      </p:sp>
      <p:sp>
        <p:nvSpPr>
          <p:cNvPr id="13" name="Text 12"/>
          <p:cNvSpPr txBox="1"/>
          <p:nvPr/>
        </p:nvSpPr>
        <p:spPr>
          <a:xfrm>
            <a:off x="10971530" y="2124444"/>
            <a:ext cx="370840" cy="198041"/>
          </a:xfrm>
          <a:prstGeom prst="rect">
            <a:avLst/>
          </a:prstGeom>
          <a:noFill/>
        </p:spPr>
        <p:txBody>
          <a:bodyPr wrap="square" tIns="0" rIns="0" bIns="0" lIns="0" anchor="t" rtlCol="0" anchorCtr="0">
            <a:noAutofit/>
          </a:bodyPr>
          <a:lstStyle/>
          <a:p>
            <a:pPr algn="ctr">
              <a:lnSpc>
                <a:spcPts val="1560"/>
              </a:lnSpc>
              <a:spcBef>
                <a:spcPts val="0"/>
              </a:spcBef>
              <a:spcAft>
                <a:spcPts val="0"/>
              </a:spcAft>
            </a:pPr>
            <a:r>
              <a:rPr sz="1200" b="1" i="0">
                <a:solidFill>
                  <a:srgbClr val="4E5A66"/>
                </a:solidFill>
                <a:latin typeface="IBM Plex Sans Arabic"/>
                <a:ea typeface="IBM Plex Sans Arabic"/>
                <a:cs typeface="IBM Plex Sans Arabic"/>
              </a:rPr>
              <a:t>fx</a:t>
            </a:r>
          </a:p>
        </p:txBody>
      </p:sp>
      <p:sp>
        <p:nvSpPr>
          <p:cNvPr id="14" name="Text 13"/>
          <p:cNvSpPr txBox="1"/>
          <p:nvPr/>
        </p:nvSpPr>
        <p:spPr>
          <a:xfrm>
            <a:off x="844550" y="2013974"/>
            <a:ext cx="1012190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5" name="Rule 14"/>
          <p:cNvSpPr/>
          <p:nvPr/>
        </p:nvSpPr>
        <p:spPr>
          <a:xfrm>
            <a:off x="819150" y="2809577"/>
            <a:ext cx="10553700" cy="6350"/>
          </a:xfrm>
          <a:prstGeom prst="rect">
            <a:avLst/>
          </a:prstGeom>
          <a:solidFill>
            <a:srgbClr val="D3D9DF"/>
          </a:solidFill>
          <a:ln>
            <a:noFill/>
          </a:ln>
        </p:spPr>
        <p:txBody>
          <a:bodyPr rtlCol="0" anchor="ctr"/>
          <a:lstStyle/>
          <a:p>
            <a:pPr algn="ctr"/>
          </a:p>
        </p:txBody>
      </p:sp>
      <p:sp>
        <p:nvSpPr>
          <p:cNvPr id="16" name="Box 15"/>
          <p:cNvSpPr/>
          <p:nvPr/>
        </p:nvSpPr>
        <p:spPr>
          <a:xfrm>
            <a:off x="11017250" y="2502297"/>
            <a:ext cx="355600" cy="307280"/>
          </a:xfrm>
          <a:prstGeom prst="rect">
            <a:avLst/>
          </a:prstGeom>
          <a:solidFill>
            <a:srgbClr val="EEF1F4"/>
          </a:solidFill>
          <a:ln>
            <a:noFill/>
          </a:ln>
        </p:spPr>
        <p:txBody>
          <a:bodyPr rtlCol="0" anchor="ctr"/>
          <a:lstStyle/>
          <a:p>
            <a:pPr algn="ctr"/>
          </a:p>
        </p:txBody>
      </p:sp>
      <p:sp>
        <p:nvSpPr>
          <p:cNvPr id="17" name="Rule 16"/>
          <p:cNvSpPr/>
          <p:nvPr/>
        </p:nvSpPr>
        <p:spPr>
          <a:xfrm>
            <a:off x="11017250" y="2502297"/>
            <a:ext cx="6350" cy="307280"/>
          </a:xfrm>
          <a:prstGeom prst="rect">
            <a:avLst/>
          </a:prstGeom>
          <a:solidFill>
            <a:srgbClr val="D3D9DF"/>
          </a:solidFill>
          <a:ln>
            <a:noFill/>
          </a:ln>
        </p:spPr>
        <p:txBody>
          <a:bodyPr rtlCol="0" anchor="ctr"/>
          <a:lstStyle/>
          <a:p>
            <a:pPr algn="ctr"/>
          </a:p>
        </p:txBody>
      </p:sp>
      <p:sp>
        <p:nvSpPr>
          <p:cNvPr id="18" name="Box 17"/>
          <p:cNvSpPr/>
          <p:nvPr/>
        </p:nvSpPr>
        <p:spPr>
          <a:xfrm>
            <a:off x="10382250" y="2502297"/>
            <a:ext cx="635000" cy="307280"/>
          </a:xfrm>
          <a:prstGeom prst="rect">
            <a:avLst/>
          </a:prstGeom>
          <a:solidFill>
            <a:srgbClr val="EEF1F4"/>
          </a:solidFill>
          <a:ln>
            <a:noFill/>
          </a:ln>
        </p:spPr>
        <p:txBody>
          <a:bodyPr rtlCol="0" anchor="ctr"/>
          <a:lstStyle/>
          <a:p>
            <a:pPr algn="ctr"/>
          </a:p>
        </p:txBody>
      </p:sp>
      <p:sp>
        <p:nvSpPr>
          <p:cNvPr id="19" name="Rule 18"/>
          <p:cNvSpPr/>
          <p:nvPr/>
        </p:nvSpPr>
        <p:spPr>
          <a:xfrm>
            <a:off x="10382250" y="2502297"/>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10419080" y="2533285"/>
            <a:ext cx="567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21" name="Box 20"/>
          <p:cNvSpPr/>
          <p:nvPr/>
        </p:nvSpPr>
        <p:spPr>
          <a:xfrm>
            <a:off x="9518650" y="2502297"/>
            <a:ext cx="863600" cy="307280"/>
          </a:xfrm>
          <a:prstGeom prst="rect">
            <a:avLst/>
          </a:prstGeom>
          <a:solidFill>
            <a:srgbClr val="EEF1F4"/>
          </a:solidFill>
          <a:ln>
            <a:noFill/>
          </a:ln>
        </p:spPr>
        <p:txBody>
          <a:bodyPr rtlCol="0" anchor="ctr"/>
          <a:lstStyle/>
          <a:p>
            <a:pPr algn="ctr"/>
          </a:p>
        </p:txBody>
      </p:sp>
      <p:sp>
        <p:nvSpPr>
          <p:cNvPr id="22" name="Rule 21"/>
          <p:cNvSpPr/>
          <p:nvPr/>
        </p:nvSpPr>
        <p:spPr>
          <a:xfrm>
            <a:off x="9518650" y="2502297"/>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9555480" y="2533285"/>
            <a:ext cx="796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4" name="Box 23"/>
          <p:cNvSpPr/>
          <p:nvPr/>
        </p:nvSpPr>
        <p:spPr>
          <a:xfrm>
            <a:off x="8426450" y="2502297"/>
            <a:ext cx="1092200" cy="307280"/>
          </a:xfrm>
          <a:prstGeom prst="rect">
            <a:avLst/>
          </a:prstGeom>
          <a:solidFill>
            <a:srgbClr val="EEF1F4"/>
          </a:solidFill>
          <a:ln>
            <a:noFill/>
          </a:ln>
        </p:spPr>
        <p:txBody>
          <a:bodyPr rtlCol="0" anchor="ctr"/>
          <a:lstStyle/>
          <a:p>
            <a:pPr algn="ctr"/>
          </a:p>
        </p:txBody>
      </p:sp>
      <p:sp>
        <p:nvSpPr>
          <p:cNvPr id="25" name="Rule 24"/>
          <p:cNvSpPr/>
          <p:nvPr/>
        </p:nvSpPr>
        <p:spPr>
          <a:xfrm>
            <a:off x="8426450" y="2502297"/>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8463280" y="2533285"/>
            <a:ext cx="1024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7" name="Box 26"/>
          <p:cNvSpPr/>
          <p:nvPr/>
        </p:nvSpPr>
        <p:spPr>
          <a:xfrm>
            <a:off x="7600950" y="2502297"/>
            <a:ext cx="825500" cy="307280"/>
          </a:xfrm>
          <a:prstGeom prst="rect">
            <a:avLst/>
          </a:prstGeom>
          <a:solidFill>
            <a:srgbClr val="EEF1F4"/>
          </a:solidFill>
          <a:ln>
            <a:noFill/>
          </a:ln>
        </p:spPr>
        <p:txBody>
          <a:bodyPr rtlCol="0" anchor="ctr"/>
          <a:lstStyle/>
          <a:p>
            <a:pPr algn="ctr"/>
          </a:p>
        </p:txBody>
      </p:sp>
      <p:sp>
        <p:nvSpPr>
          <p:cNvPr id="28" name="Rule 27"/>
          <p:cNvSpPr/>
          <p:nvPr/>
        </p:nvSpPr>
        <p:spPr>
          <a:xfrm>
            <a:off x="7600950" y="2502297"/>
            <a:ext cx="6350" cy="307280"/>
          </a:xfrm>
          <a:prstGeom prst="rect">
            <a:avLst/>
          </a:prstGeom>
          <a:solidFill>
            <a:srgbClr val="D3D9DF"/>
          </a:solidFill>
          <a:ln>
            <a:noFill/>
          </a:ln>
        </p:spPr>
        <p:txBody>
          <a:bodyPr rtlCol="0" anchor="ctr"/>
          <a:lstStyle/>
          <a:p>
            <a:pPr algn="ctr"/>
          </a:p>
        </p:txBody>
      </p:sp>
      <p:sp>
        <p:nvSpPr>
          <p:cNvPr id="29" name="Text 28"/>
          <p:cNvSpPr txBox="1"/>
          <p:nvPr/>
        </p:nvSpPr>
        <p:spPr>
          <a:xfrm>
            <a:off x="7637780" y="2533285"/>
            <a:ext cx="758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30" name="Box 29"/>
          <p:cNvSpPr/>
          <p:nvPr/>
        </p:nvSpPr>
        <p:spPr>
          <a:xfrm>
            <a:off x="6800850" y="2502297"/>
            <a:ext cx="800100" cy="307280"/>
          </a:xfrm>
          <a:prstGeom prst="rect">
            <a:avLst/>
          </a:prstGeom>
          <a:solidFill>
            <a:srgbClr val="EEF1F4"/>
          </a:solidFill>
          <a:ln>
            <a:noFill/>
          </a:ln>
        </p:spPr>
        <p:txBody>
          <a:bodyPr rtlCol="0" anchor="ctr"/>
          <a:lstStyle/>
          <a:p>
            <a:pPr algn="ctr"/>
          </a:p>
        </p:txBody>
      </p:sp>
      <p:sp>
        <p:nvSpPr>
          <p:cNvPr id="31" name="Rule 30"/>
          <p:cNvSpPr/>
          <p:nvPr/>
        </p:nvSpPr>
        <p:spPr>
          <a:xfrm>
            <a:off x="6800850" y="2502297"/>
            <a:ext cx="6350" cy="307280"/>
          </a:xfrm>
          <a:prstGeom prst="rect">
            <a:avLst/>
          </a:prstGeom>
          <a:solidFill>
            <a:srgbClr val="D3D9DF"/>
          </a:solidFill>
          <a:ln>
            <a:noFill/>
          </a:ln>
        </p:spPr>
        <p:txBody>
          <a:bodyPr rtlCol="0" anchor="ctr"/>
          <a:lstStyle/>
          <a:p>
            <a:pPr algn="ctr"/>
          </a:p>
        </p:txBody>
      </p:sp>
      <p:sp>
        <p:nvSpPr>
          <p:cNvPr id="32" name="Text 31"/>
          <p:cNvSpPr txBox="1"/>
          <p:nvPr/>
        </p:nvSpPr>
        <p:spPr>
          <a:xfrm>
            <a:off x="68376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33" name="Box 32"/>
          <p:cNvSpPr/>
          <p:nvPr/>
        </p:nvSpPr>
        <p:spPr>
          <a:xfrm>
            <a:off x="6356350" y="2502297"/>
            <a:ext cx="444500" cy="307280"/>
          </a:xfrm>
          <a:prstGeom prst="rect">
            <a:avLst/>
          </a:prstGeom>
          <a:solidFill>
            <a:srgbClr val="EEF1F4"/>
          </a:solidFill>
          <a:ln>
            <a:noFill/>
          </a:ln>
        </p:spPr>
        <p:txBody>
          <a:bodyPr rtlCol="0" anchor="ctr"/>
          <a:lstStyle/>
          <a:p>
            <a:pPr algn="ctr"/>
          </a:p>
        </p:txBody>
      </p:sp>
      <p:sp>
        <p:nvSpPr>
          <p:cNvPr id="34" name="Rule 33"/>
          <p:cNvSpPr/>
          <p:nvPr/>
        </p:nvSpPr>
        <p:spPr>
          <a:xfrm>
            <a:off x="6356350" y="2502297"/>
            <a:ext cx="6350" cy="307280"/>
          </a:xfrm>
          <a:prstGeom prst="rect">
            <a:avLst/>
          </a:prstGeom>
          <a:solidFill>
            <a:srgbClr val="D3D9DF"/>
          </a:solidFill>
          <a:ln>
            <a:noFill/>
          </a:ln>
        </p:spPr>
        <p:txBody>
          <a:bodyPr rtlCol="0" anchor="ctr"/>
          <a:lstStyle/>
          <a:p>
            <a:pPr algn="ctr"/>
          </a:p>
        </p:txBody>
      </p:sp>
      <p:sp>
        <p:nvSpPr>
          <p:cNvPr id="35" name="Text 34"/>
          <p:cNvSpPr txBox="1"/>
          <p:nvPr/>
        </p:nvSpPr>
        <p:spPr>
          <a:xfrm>
            <a:off x="6393180" y="2533285"/>
            <a:ext cx="377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F</a:t>
            </a:r>
          </a:p>
        </p:txBody>
      </p:sp>
      <p:sp>
        <p:nvSpPr>
          <p:cNvPr id="36" name="Box 35"/>
          <p:cNvSpPr/>
          <p:nvPr/>
        </p:nvSpPr>
        <p:spPr>
          <a:xfrm>
            <a:off x="5619750" y="2502297"/>
            <a:ext cx="736600" cy="307280"/>
          </a:xfrm>
          <a:prstGeom prst="rect">
            <a:avLst/>
          </a:prstGeom>
          <a:solidFill>
            <a:srgbClr val="EEF1F4"/>
          </a:solidFill>
          <a:ln>
            <a:noFill/>
          </a:ln>
        </p:spPr>
        <p:txBody>
          <a:bodyPr rtlCol="0" anchor="ctr"/>
          <a:lstStyle/>
          <a:p>
            <a:pPr algn="ctr"/>
          </a:p>
        </p:txBody>
      </p:sp>
      <p:sp>
        <p:nvSpPr>
          <p:cNvPr id="37" name="Rule 36"/>
          <p:cNvSpPr/>
          <p:nvPr/>
        </p:nvSpPr>
        <p:spPr>
          <a:xfrm>
            <a:off x="5619750" y="2502297"/>
            <a:ext cx="6350" cy="307280"/>
          </a:xfrm>
          <a:prstGeom prst="rect">
            <a:avLst/>
          </a:prstGeom>
          <a:solidFill>
            <a:srgbClr val="D3D9DF"/>
          </a:solidFill>
          <a:ln>
            <a:noFill/>
          </a:ln>
        </p:spPr>
        <p:txBody>
          <a:bodyPr rtlCol="0" anchor="ctr"/>
          <a:lstStyle/>
          <a:p>
            <a:pPr algn="ctr"/>
          </a:p>
        </p:txBody>
      </p:sp>
      <p:sp>
        <p:nvSpPr>
          <p:cNvPr id="38" name="Text 37"/>
          <p:cNvSpPr txBox="1"/>
          <p:nvPr/>
        </p:nvSpPr>
        <p:spPr>
          <a:xfrm>
            <a:off x="5656580" y="2533285"/>
            <a:ext cx="669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G</a:t>
            </a:r>
          </a:p>
        </p:txBody>
      </p:sp>
      <p:sp>
        <p:nvSpPr>
          <p:cNvPr id="39" name="Box 38"/>
          <p:cNvSpPr/>
          <p:nvPr/>
        </p:nvSpPr>
        <p:spPr>
          <a:xfrm>
            <a:off x="4819650" y="2502297"/>
            <a:ext cx="800100" cy="307280"/>
          </a:xfrm>
          <a:prstGeom prst="rect">
            <a:avLst/>
          </a:prstGeom>
          <a:solidFill>
            <a:srgbClr val="EEF1F4"/>
          </a:solidFill>
          <a:ln>
            <a:noFill/>
          </a:ln>
        </p:spPr>
        <p:txBody>
          <a:bodyPr rtlCol="0" anchor="ctr"/>
          <a:lstStyle/>
          <a:p>
            <a:pPr algn="ctr"/>
          </a:p>
        </p:txBody>
      </p:sp>
      <p:sp>
        <p:nvSpPr>
          <p:cNvPr id="40" name="Rule 39"/>
          <p:cNvSpPr/>
          <p:nvPr/>
        </p:nvSpPr>
        <p:spPr>
          <a:xfrm>
            <a:off x="4819650" y="2502297"/>
            <a:ext cx="6350" cy="307280"/>
          </a:xfrm>
          <a:prstGeom prst="rect">
            <a:avLst/>
          </a:prstGeom>
          <a:solidFill>
            <a:srgbClr val="D3D9DF"/>
          </a:solidFill>
          <a:ln>
            <a:noFill/>
          </a:ln>
        </p:spPr>
        <p:txBody>
          <a:bodyPr rtlCol="0" anchor="ctr"/>
          <a:lstStyle/>
          <a:p>
            <a:pPr algn="ctr"/>
          </a:p>
        </p:txBody>
      </p:sp>
      <p:sp>
        <p:nvSpPr>
          <p:cNvPr id="41" name="Text 40"/>
          <p:cNvSpPr txBox="1"/>
          <p:nvPr/>
        </p:nvSpPr>
        <p:spPr>
          <a:xfrm>
            <a:off x="48564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H</a:t>
            </a:r>
          </a:p>
        </p:txBody>
      </p:sp>
      <p:sp>
        <p:nvSpPr>
          <p:cNvPr id="42" name="Box 41"/>
          <p:cNvSpPr/>
          <p:nvPr/>
        </p:nvSpPr>
        <p:spPr>
          <a:xfrm>
            <a:off x="3956050" y="2502297"/>
            <a:ext cx="863600" cy="307280"/>
          </a:xfrm>
          <a:prstGeom prst="rect">
            <a:avLst/>
          </a:prstGeom>
          <a:solidFill>
            <a:srgbClr val="EEF1F4"/>
          </a:solidFill>
          <a:ln>
            <a:noFill/>
          </a:ln>
        </p:spPr>
        <p:txBody>
          <a:bodyPr rtlCol="0" anchor="ctr"/>
          <a:lstStyle/>
          <a:p>
            <a:pPr algn="ctr"/>
          </a:p>
        </p:txBody>
      </p:sp>
      <p:sp>
        <p:nvSpPr>
          <p:cNvPr id="43" name="Rule 42"/>
          <p:cNvSpPr/>
          <p:nvPr/>
        </p:nvSpPr>
        <p:spPr>
          <a:xfrm>
            <a:off x="3956050" y="2502297"/>
            <a:ext cx="6350" cy="307280"/>
          </a:xfrm>
          <a:prstGeom prst="rect">
            <a:avLst/>
          </a:prstGeom>
          <a:solidFill>
            <a:srgbClr val="D3D9DF"/>
          </a:solidFill>
          <a:ln>
            <a:noFill/>
          </a:ln>
        </p:spPr>
        <p:txBody>
          <a:bodyPr rtlCol="0" anchor="ctr"/>
          <a:lstStyle/>
          <a:p>
            <a:pPr algn="ctr"/>
          </a:p>
        </p:txBody>
      </p:sp>
      <p:sp>
        <p:nvSpPr>
          <p:cNvPr id="44" name="Text 43"/>
          <p:cNvSpPr txBox="1"/>
          <p:nvPr/>
        </p:nvSpPr>
        <p:spPr>
          <a:xfrm>
            <a:off x="3992880" y="2533285"/>
            <a:ext cx="796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I</a:t>
            </a:r>
          </a:p>
        </p:txBody>
      </p:sp>
      <p:sp>
        <p:nvSpPr>
          <p:cNvPr id="45" name="Box 44"/>
          <p:cNvSpPr/>
          <p:nvPr/>
        </p:nvSpPr>
        <p:spPr>
          <a:xfrm>
            <a:off x="3155950" y="2502297"/>
            <a:ext cx="800100" cy="307280"/>
          </a:xfrm>
          <a:prstGeom prst="rect">
            <a:avLst/>
          </a:prstGeom>
          <a:solidFill>
            <a:srgbClr val="EEF1F4"/>
          </a:solidFill>
          <a:ln>
            <a:noFill/>
          </a:ln>
        </p:spPr>
        <p:txBody>
          <a:bodyPr rtlCol="0" anchor="ctr"/>
          <a:lstStyle/>
          <a:p>
            <a:pPr algn="ctr"/>
          </a:p>
        </p:txBody>
      </p:sp>
      <p:sp>
        <p:nvSpPr>
          <p:cNvPr id="46" name="Rule 45"/>
          <p:cNvSpPr/>
          <p:nvPr/>
        </p:nvSpPr>
        <p:spPr>
          <a:xfrm>
            <a:off x="3155950" y="2502297"/>
            <a:ext cx="6350" cy="307280"/>
          </a:xfrm>
          <a:prstGeom prst="rect">
            <a:avLst/>
          </a:prstGeom>
          <a:solidFill>
            <a:srgbClr val="D3D9DF"/>
          </a:solidFill>
          <a:ln>
            <a:noFill/>
          </a:ln>
        </p:spPr>
        <p:txBody>
          <a:bodyPr rtlCol="0" anchor="ctr"/>
          <a:lstStyle/>
          <a:p>
            <a:pPr algn="ctr"/>
          </a:p>
        </p:txBody>
      </p:sp>
      <p:sp>
        <p:nvSpPr>
          <p:cNvPr id="47" name="Text 46"/>
          <p:cNvSpPr txBox="1"/>
          <p:nvPr/>
        </p:nvSpPr>
        <p:spPr>
          <a:xfrm>
            <a:off x="31927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J</a:t>
            </a:r>
          </a:p>
        </p:txBody>
      </p:sp>
      <p:sp>
        <p:nvSpPr>
          <p:cNvPr id="48" name="Box 47"/>
          <p:cNvSpPr/>
          <p:nvPr/>
        </p:nvSpPr>
        <p:spPr>
          <a:xfrm>
            <a:off x="2520950" y="2502297"/>
            <a:ext cx="635000" cy="307280"/>
          </a:xfrm>
          <a:prstGeom prst="rect">
            <a:avLst/>
          </a:prstGeom>
          <a:solidFill>
            <a:srgbClr val="EEF1F4"/>
          </a:solidFill>
          <a:ln>
            <a:noFill/>
          </a:ln>
        </p:spPr>
        <p:txBody>
          <a:bodyPr rtlCol="0" anchor="ctr"/>
          <a:lstStyle/>
          <a:p>
            <a:pPr algn="ctr"/>
          </a:p>
        </p:txBody>
      </p:sp>
      <p:sp>
        <p:nvSpPr>
          <p:cNvPr id="49" name="Rule 48"/>
          <p:cNvSpPr/>
          <p:nvPr/>
        </p:nvSpPr>
        <p:spPr>
          <a:xfrm>
            <a:off x="2520950" y="2502297"/>
            <a:ext cx="6350" cy="307280"/>
          </a:xfrm>
          <a:prstGeom prst="rect">
            <a:avLst/>
          </a:prstGeom>
          <a:solidFill>
            <a:srgbClr val="D3D9DF"/>
          </a:solidFill>
          <a:ln>
            <a:noFill/>
          </a:ln>
        </p:spPr>
        <p:txBody>
          <a:bodyPr rtlCol="0" anchor="ctr"/>
          <a:lstStyle/>
          <a:p>
            <a:pPr algn="ctr"/>
          </a:p>
        </p:txBody>
      </p:sp>
      <p:sp>
        <p:nvSpPr>
          <p:cNvPr id="50" name="Text 49"/>
          <p:cNvSpPr txBox="1"/>
          <p:nvPr/>
        </p:nvSpPr>
        <p:spPr>
          <a:xfrm>
            <a:off x="2557780" y="2533285"/>
            <a:ext cx="567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K</a:t>
            </a:r>
          </a:p>
        </p:txBody>
      </p:sp>
      <p:sp>
        <p:nvSpPr>
          <p:cNvPr id="51" name="Box 50"/>
          <p:cNvSpPr/>
          <p:nvPr/>
        </p:nvSpPr>
        <p:spPr>
          <a:xfrm>
            <a:off x="1809750" y="2502297"/>
            <a:ext cx="711200" cy="307280"/>
          </a:xfrm>
          <a:prstGeom prst="rect">
            <a:avLst/>
          </a:prstGeom>
          <a:solidFill>
            <a:srgbClr val="EEF1F4"/>
          </a:solidFill>
          <a:ln>
            <a:noFill/>
          </a:ln>
        </p:spPr>
        <p:txBody>
          <a:bodyPr rtlCol="0" anchor="ctr"/>
          <a:lstStyle/>
          <a:p>
            <a:pPr algn="ctr"/>
          </a:p>
        </p:txBody>
      </p:sp>
      <p:sp>
        <p:nvSpPr>
          <p:cNvPr id="52" name="Rule 51"/>
          <p:cNvSpPr/>
          <p:nvPr/>
        </p:nvSpPr>
        <p:spPr>
          <a:xfrm>
            <a:off x="1809750" y="2502297"/>
            <a:ext cx="6350" cy="307280"/>
          </a:xfrm>
          <a:prstGeom prst="rect">
            <a:avLst/>
          </a:prstGeom>
          <a:solidFill>
            <a:srgbClr val="D3D9DF"/>
          </a:solidFill>
          <a:ln>
            <a:noFill/>
          </a:ln>
        </p:spPr>
        <p:txBody>
          <a:bodyPr rtlCol="0" anchor="ctr"/>
          <a:lstStyle/>
          <a:p>
            <a:pPr algn="ctr"/>
          </a:p>
        </p:txBody>
      </p:sp>
      <p:sp>
        <p:nvSpPr>
          <p:cNvPr id="53" name="Text 52"/>
          <p:cNvSpPr txBox="1"/>
          <p:nvPr/>
        </p:nvSpPr>
        <p:spPr>
          <a:xfrm>
            <a:off x="1846580" y="2533285"/>
            <a:ext cx="643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L</a:t>
            </a:r>
          </a:p>
        </p:txBody>
      </p:sp>
      <p:sp>
        <p:nvSpPr>
          <p:cNvPr id="54" name="Box 53"/>
          <p:cNvSpPr/>
          <p:nvPr/>
        </p:nvSpPr>
        <p:spPr>
          <a:xfrm>
            <a:off x="819150" y="2502297"/>
            <a:ext cx="990600" cy="307280"/>
          </a:xfrm>
          <a:prstGeom prst="rect">
            <a:avLst/>
          </a:prstGeom>
          <a:solidFill>
            <a:srgbClr val="EEF1F4"/>
          </a:solidFill>
          <a:ln>
            <a:noFill/>
          </a:ln>
        </p:spPr>
        <p:txBody>
          <a:bodyPr rtlCol="0" anchor="ctr"/>
          <a:lstStyle/>
          <a:p>
            <a:pPr algn="ctr"/>
          </a:p>
        </p:txBody>
      </p:sp>
      <p:sp>
        <p:nvSpPr>
          <p:cNvPr id="55" name="Rule 54"/>
          <p:cNvSpPr/>
          <p:nvPr/>
        </p:nvSpPr>
        <p:spPr>
          <a:xfrm>
            <a:off x="819150" y="2502297"/>
            <a:ext cx="6350" cy="307280"/>
          </a:xfrm>
          <a:prstGeom prst="rect">
            <a:avLst/>
          </a:prstGeom>
          <a:solidFill>
            <a:srgbClr val="D3D9DF"/>
          </a:solidFill>
          <a:ln>
            <a:noFill/>
          </a:ln>
        </p:spPr>
        <p:txBody>
          <a:bodyPr rtlCol="0" anchor="ctr"/>
          <a:lstStyle/>
          <a:p>
            <a:pPr algn="ctr"/>
          </a:p>
        </p:txBody>
      </p:sp>
      <p:sp>
        <p:nvSpPr>
          <p:cNvPr id="56" name="Text 55"/>
          <p:cNvSpPr txBox="1"/>
          <p:nvPr/>
        </p:nvSpPr>
        <p:spPr>
          <a:xfrm>
            <a:off x="855980" y="2533285"/>
            <a:ext cx="923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M</a:t>
            </a:r>
          </a:p>
        </p:txBody>
      </p:sp>
      <p:sp>
        <p:nvSpPr>
          <p:cNvPr id="57" name="Rule 56"/>
          <p:cNvSpPr/>
          <p:nvPr/>
        </p:nvSpPr>
        <p:spPr>
          <a:xfrm>
            <a:off x="819150" y="3328888"/>
            <a:ext cx="10553700" cy="6350"/>
          </a:xfrm>
          <a:prstGeom prst="rect">
            <a:avLst/>
          </a:prstGeom>
          <a:solidFill>
            <a:srgbClr val="D3D9DF"/>
          </a:solidFill>
          <a:ln>
            <a:noFill/>
          </a:ln>
        </p:spPr>
        <p:txBody>
          <a:bodyPr rtlCol="0" anchor="ctr"/>
          <a:lstStyle/>
          <a:p>
            <a:pPr algn="ctr"/>
          </a:p>
        </p:txBody>
      </p:sp>
      <p:sp>
        <p:nvSpPr>
          <p:cNvPr id="58" name="Box 57"/>
          <p:cNvSpPr/>
          <p:nvPr/>
        </p:nvSpPr>
        <p:spPr>
          <a:xfrm>
            <a:off x="11017250" y="2815927"/>
            <a:ext cx="355600" cy="512961"/>
          </a:xfrm>
          <a:prstGeom prst="rect">
            <a:avLst/>
          </a:prstGeom>
          <a:solidFill>
            <a:srgbClr val="EEF1F4"/>
          </a:solidFill>
          <a:ln>
            <a:noFill/>
          </a:ln>
        </p:spPr>
        <p:txBody>
          <a:bodyPr rtlCol="0" anchor="ctr"/>
          <a:lstStyle/>
          <a:p>
            <a:pPr algn="ctr"/>
          </a:p>
        </p:txBody>
      </p:sp>
      <p:sp>
        <p:nvSpPr>
          <p:cNvPr id="59" name="Rule 58"/>
          <p:cNvSpPr/>
          <p:nvPr/>
        </p:nvSpPr>
        <p:spPr>
          <a:xfrm>
            <a:off x="11017250" y="2815927"/>
            <a:ext cx="6350" cy="512961"/>
          </a:xfrm>
          <a:prstGeom prst="rect">
            <a:avLst/>
          </a:prstGeom>
          <a:solidFill>
            <a:srgbClr val="D3D9DF"/>
          </a:solidFill>
          <a:ln>
            <a:noFill/>
          </a:ln>
        </p:spPr>
        <p:txBody>
          <a:bodyPr rtlCol="0" anchor="ctr"/>
          <a:lstStyle/>
          <a:p>
            <a:pPr algn="ctr"/>
          </a:p>
        </p:txBody>
      </p:sp>
      <p:sp>
        <p:nvSpPr>
          <p:cNvPr id="60" name="Text 59"/>
          <p:cNvSpPr txBox="1"/>
          <p:nvPr/>
        </p:nvSpPr>
        <p:spPr>
          <a:xfrm>
            <a:off x="11054080" y="284691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61" name="Box 60"/>
          <p:cNvSpPr/>
          <p:nvPr/>
        </p:nvSpPr>
        <p:spPr>
          <a:xfrm>
            <a:off x="10382250" y="2815927"/>
            <a:ext cx="635000" cy="512961"/>
          </a:xfrm>
          <a:prstGeom prst="rect">
            <a:avLst/>
          </a:prstGeom>
          <a:solidFill>
            <a:srgbClr val="F7F8FA"/>
          </a:solidFill>
          <a:ln>
            <a:noFill/>
          </a:ln>
        </p:spPr>
        <p:txBody>
          <a:bodyPr rtlCol="0" anchor="ctr"/>
          <a:lstStyle/>
          <a:p>
            <a:pPr algn="ctr"/>
          </a:p>
        </p:txBody>
      </p:sp>
      <p:sp>
        <p:nvSpPr>
          <p:cNvPr id="62" name="Rule 61"/>
          <p:cNvSpPr/>
          <p:nvPr/>
        </p:nvSpPr>
        <p:spPr>
          <a:xfrm>
            <a:off x="10382250" y="2815927"/>
            <a:ext cx="6350" cy="512961"/>
          </a:xfrm>
          <a:prstGeom prst="rect">
            <a:avLst/>
          </a:prstGeom>
          <a:solidFill>
            <a:srgbClr val="D3D9DF"/>
          </a:solidFill>
          <a:ln>
            <a:noFill/>
          </a:ln>
        </p:spPr>
        <p:txBody>
          <a:bodyPr rtlCol="0" anchor="ctr"/>
          <a:lstStyle/>
          <a:p>
            <a:pPr algn="ctr"/>
          </a:p>
        </p:txBody>
      </p:sp>
      <p:sp>
        <p:nvSpPr>
          <p:cNvPr id="63" name="Text 62"/>
          <p:cNvSpPr txBox="1"/>
          <p:nvPr/>
        </p:nvSpPr>
        <p:spPr>
          <a:xfrm>
            <a:off x="10407650" y="2846915"/>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الرقم</a:t>
            </a:r>
          </a:p>
        </p:txBody>
      </p:sp>
      <p:sp>
        <p:nvSpPr>
          <p:cNvPr id="64" name="Box 63"/>
          <p:cNvSpPr/>
          <p:nvPr/>
        </p:nvSpPr>
        <p:spPr>
          <a:xfrm>
            <a:off x="9518650" y="2815927"/>
            <a:ext cx="863600" cy="512961"/>
          </a:xfrm>
          <a:prstGeom prst="rect">
            <a:avLst/>
          </a:prstGeom>
          <a:solidFill>
            <a:srgbClr val="F7F8FA"/>
          </a:solidFill>
          <a:ln>
            <a:noFill/>
          </a:ln>
        </p:spPr>
        <p:txBody>
          <a:bodyPr rtlCol="0" anchor="ctr"/>
          <a:lstStyle/>
          <a:p>
            <a:pPr algn="ctr"/>
          </a:p>
        </p:txBody>
      </p:sp>
      <p:sp>
        <p:nvSpPr>
          <p:cNvPr id="65" name="Rule 64"/>
          <p:cNvSpPr/>
          <p:nvPr/>
        </p:nvSpPr>
        <p:spPr>
          <a:xfrm>
            <a:off x="9518650" y="2815927"/>
            <a:ext cx="6350" cy="512961"/>
          </a:xfrm>
          <a:prstGeom prst="rect">
            <a:avLst/>
          </a:prstGeom>
          <a:solidFill>
            <a:srgbClr val="D3D9DF"/>
          </a:solidFill>
          <a:ln>
            <a:noFill/>
          </a:ln>
        </p:spPr>
        <p:txBody>
          <a:bodyPr rtlCol="0" anchor="ctr"/>
          <a:lstStyle/>
          <a:p>
            <a:pPr algn="ctr"/>
          </a:p>
        </p:txBody>
      </p:sp>
      <p:sp>
        <p:nvSpPr>
          <p:cNvPr id="66" name="Text 65"/>
          <p:cNvSpPr txBox="1"/>
          <p:nvPr/>
        </p:nvSpPr>
        <p:spPr>
          <a:xfrm>
            <a:off x="9544050" y="2846915"/>
            <a:ext cx="762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الأصل</a:t>
            </a:r>
          </a:p>
        </p:txBody>
      </p:sp>
      <p:sp>
        <p:nvSpPr>
          <p:cNvPr id="67" name="Box 66"/>
          <p:cNvSpPr/>
          <p:nvPr/>
        </p:nvSpPr>
        <p:spPr>
          <a:xfrm>
            <a:off x="8426450" y="2815927"/>
            <a:ext cx="1092200" cy="512961"/>
          </a:xfrm>
          <a:prstGeom prst="rect">
            <a:avLst/>
          </a:prstGeom>
          <a:solidFill>
            <a:srgbClr val="F7F8FA"/>
          </a:solidFill>
          <a:ln>
            <a:noFill/>
          </a:ln>
        </p:spPr>
        <p:txBody>
          <a:bodyPr rtlCol="0" anchor="ctr"/>
          <a:lstStyle/>
          <a:p>
            <a:pPr algn="ctr"/>
          </a:p>
        </p:txBody>
      </p:sp>
      <p:sp>
        <p:nvSpPr>
          <p:cNvPr id="68" name="Rule 67"/>
          <p:cNvSpPr/>
          <p:nvPr/>
        </p:nvSpPr>
        <p:spPr>
          <a:xfrm>
            <a:off x="8426450" y="2815927"/>
            <a:ext cx="6350" cy="512961"/>
          </a:xfrm>
          <a:prstGeom prst="rect">
            <a:avLst/>
          </a:prstGeom>
          <a:solidFill>
            <a:srgbClr val="D3D9DF"/>
          </a:solidFill>
          <a:ln>
            <a:noFill/>
          </a:ln>
        </p:spPr>
        <p:txBody>
          <a:bodyPr rtlCol="0" anchor="ctr"/>
          <a:lstStyle/>
          <a:p>
            <a:pPr algn="ctr"/>
          </a:p>
        </p:txBody>
      </p:sp>
      <p:sp>
        <p:nvSpPr>
          <p:cNvPr id="69" name="Text 68"/>
          <p:cNvSpPr txBox="1"/>
          <p:nvPr/>
        </p:nvSpPr>
        <p:spPr>
          <a:xfrm>
            <a:off x="8451850" y="2846915"/>
            <a:ext cx="9906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وصف الخطر</a:t>
            </a:r>
          </a:p>
        </p:txBody>
      </p:sp>
      <p:sp>
        <p:nvSpPr>
          <p:cNvPr id="70" name="Box 69"/>
          <p:cNvSpPr/>
          <p:nvPr/>
        </p:nvSpPr>
        <p:spPr>
          <a:xfrm>
            <a:off x="7600950" y="2815927"/>
            <a:ext cx="825500" cy="512961"/>
          </a:xfrm>
          <a:prstGeom prst="rect">
            <a:avLst/>
          </a:prstGeom>
          <a:solidFill>
            <a:srgbClr val="F7F8FA"/>
          </a:solidFill>
          <a:ln>
            <a:noFill/>
          </a:ln>
        </p:spPr>
        <p:txBody>
          <a:bodyPr rtlCol="0" anchor="ctr"/>
          <a:lstStyle/>
          <a:p>
            <a:pPr algn="ctr"/>
          </a:p>
        </p:txBody>
      </p:sp>
      <p:sp>
        <p:nvSpPr>
          <p:cNvPr id="71" name="Rule 70"/>
          <p:cNvSpPr/>
          <p:nvPr/>
        </p:nvSpPr>
        <p:spPr>
          <a:xfrm>
            <a:off x="7600950" y="2815927"/>
            <a:ext cx="6350" cy="512961"/>
          </a:xfrm>
          <a:prstGeom prst="rect">
            <a:avLst/>
          </a:prstGeom>
          <a:solidFill>
            <a:srgbClr val="D3D9DF"/>
          </a:solidFill>
          <a:ln>
            <a:noFill/>
          </a:ln>
        </p:spPr>
        <p:txBody>
          <a:bodyPr rtlCol="0" anchor="ctr"/>
          <a:lstStyle/>
          <a:p>
            <a:pPr algn="ctr"/>
          </a:p>
        </p:txBody>
      </p:sp>
      <p:sp>
        <p:nvSpPr>
          <p:cNvPr id="72" name="Text 71"/>
          <p:cNvSpPr txBox="1"/>
          <p:nvPr/>
        </p:nvSpPr>
        <p:spPr>
          <a:xfrm>
            <a:off x="7645400" y="2846915"/>
            <a:ext cx="7048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الضوابط الحالية</a:t>
            </a:r>
          </a:p>
        </p:txBody>
      </p:sp>
      <p:sp>
        <p:nvSpPr>
          <p:cNvPr id="73" name="Box 72"/>
          <p:cNvSpPr/>
          <p:nvPr/>
        </p:nvSpPr>
        <p:spPr>
          <a:xfrm>
            <a:off x="6800850" y="2815927"/>
            <a:ext cx="800100" cy="512961"/>
          </a:xfrm>
          <a:prstGeom prst="rect">
            <a:avLst/>
          </a:prstGeom>
          <a:solidFill>
            <a:srgbClr val="F7F8FA"/>
          </a:solidFill>
          <a:ln>
            <a:noFill/>
          </a:ln>
        </p:spPr>
        <p:txBody>
          <a:bodyPr rtlCol="0" anchor="ctr"/>
          <a:lstStyle/>
          <a:p>
            <a:pPr algn="ctr"/>
          </a:p>
        </p:txBody>
      </p:sp>
      <p:sp>
        <p:nvSpPr>
          <p:cNvPr id="74" name="Rule 73"/>
          <p:cNvSpPr/>
          <p:nvPr/>
        </p:nvSpPr>
        <p:spPr>
          <a:xfrm>
            <a:off x="6800850" y="2815927"/>
            <a:ext cx="6350" cy="512961"/>
          </a:xfrm>
          <a:prstGeom prst="rect">
            <a:avLst/>
          </a:prstGeom>
          <a:solidFill>
            <a:srgbClr val="D3D9DF"/>
          </a:solidFill>
          <a:ln>
            <a:noFill/>
          </a:ln>
        </p:spPr>
        <p:txBody>
          <a:bodyPr rtlCol="0" anchor="ctr"/>
          <a:lstStyle/>
          <a:p>
            <a:pPr algn="ctr"/>
          </a:p>
        </p:txBody>
      </p:sp>
      <p:sp>
        <p:nvSpPr>
          <p:cNvPr id="75" name="Text 74"/>
          <p:cNvSpPr txBox="1"/>
          <p:nvPr/>
        </p:nvSpPr>
        <p:spPr>
          <a:xfrm>
            <a:off x="6826250" y="2846915"/>
            <a:ext cx="6985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الاحتمال</a:t>
            </a:r>
          </a:p>
        </p:txBody>
      </p:sp>
      <p:sp>
        <p:nvSpPr>
          <p:cNvPr id="76" name="Box 75"/>
          <p:cNvSpPr/>
          <p:nvPr/>
        </p:nvSpPr>
        <p:spPr>
          <a:xfrm>
            <a:off x="6356350" y="2815927"/>
            <a:ext cx="444500" cy="512961"/>
          </a:xfrm>
          <a:prstGeom prst="rect">
            <a:avLst/>
          </a:prstGeom>
          <a:solidFill>
            <a:srgbClr val="F7F8FA"/>
          </a:solidFill>
          <a:ln>
            <a:noFill/>
          </a:ln>
        </p:spPr>
        <p:txBody>
          <a:bodyPr rtlCol="0" anchor="ctr"/>
          <a:lstStyle/>
          <a:p>
            <a:pPr algn="ctr"/>
          </a:p>
        </p:txBody>
      </p:sp>
      <p:sp>
        <p:nvSpPr>
          <p:cNvPr id="77" name="Rule 76"/>
          <p:cNvSpPr/>
          <p:nvPr/>
        </p:nvSpPr>
        <p:spPr>
          <a:xfrm>
            <a:off x="6356350" y="2815927"/>
            <a:ext cx="6350" cy="512961"/>
          </a:xfrm>
          <a:prstGeom prst="rect">
            <a:avLst/>
          </a:prstGeom>
          <a:solidFill>
            <a:srgbClr val="D3D9DF"/>
          </a:solidFill>
          <a:ln>
            <a:noFill/>
          </a:ln>
        </p:spPr>
        <p:txBody>
          <a:bodyPr rtlCol="0" anchor="ctr"/>
          <a:lstStyle/>
          <a:p>
            <a:pPr algn="ctr"/>
          </a:p>
        </p:txBody>
      </p:sp>
      <p:sp>
        <p:nvSpPr>
          <p:cNvPr id="78" name="Text 77"/>
          <p:cNvSpPr txBox="1"/>
          <p:nvPr/>
        </p:nvSpPr>
        <p:spPr>
          <a:xfrm>
            <a:off x="6381750" y="2846915"/>
            <a:ext cx="342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الأثر</a:t>
            </a:r>
          </a:p>
        </p:txBody>
      </p:sp>
      <p:sp>
        <p:nvSpPr>
          <p:cNvPr id="79" name="Box 78"/>
          <p:cNvSpPr/>
          <p:nvPr/>
        </p:nvSpPr>
        <p:spPr>
          <a:xfrm>
            <a:off x="5619750" y="2815927"/>
            <a:ext cx="736600" cy="512961"/>
          </a:xfrm>
          <a:prstGeom prst="rect">
            <a:avLst/>
          </a:prstGeom>
          <a:solidFill>
            <a:srgbClr val="F7F8FA"/>
          </a:solidFill>
          <a:ln>
            <a:noFill/>
          </a:ln>
        </p:spPr>
        <p:txBody>
          <a:bodyPr rtlCol="0" anchor="ctr"/>
          <a:lstStyle/>
          <a:p>
            <a:pPr algn="ctr"/>
          </a:p>
        </p:txBody>
      </p:sp>
      <p:sp>
        <p:nvSpPr>
          <p:cNvPr id="80" name="Rule 79"/>
          <p:cNvSpPr/>
          <p:nvPr/>
        </p:nvSpPr>
        <p:spPr>
          <a:xfrm>
            <a:off x="5619750" y="2815927"/>
            <a:ext cx="6350" cy="512961"/>
          </a:xfrm>
          <a:prstGeom prst="rect">
            <a:avLst/>
          </a:prstGeom>
          <a:solidFill>
            <a:srgbClr val="D3D9DF"/>
          </a:solidFill>
          <a:ln>
            <a:noFill/>
          </a:ln>
        </p:spPr>
        <p:txBody>
          <a:bodyPr rtlCol="0" anchor="ctr"/>
          <a:lstStyle/>
          <a:p>
            <a:pPr algn="ctr"/>
          </a:p>
        </p:txBody>
      </p:sp>
      <p:sp>
        <p:nvSpPr>
          <p:cNvPr id="81" name="Text 80"/>
          <p:cNvSpPr txBox="1"/>
          <p:nvPr/>
        </p:nvSpPr>
        <p:spPr>
          <a:xfrm>
            <a:off x="5645150" y="2846915"/>
            <a:ext cx="635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المستوى</a:t>
            </a:r>
          </a:p>
        </p:txBody>
      </p:sp>
      <p:sp>
        <p:nvSpPr>
          <p:cNvPr id="82" name="Box 81"/>
          <p:cNvSpPr/>
          <p:nvPr/>
        </p:nvSpPr>
        <p:spPr>
          <a:xfrm>
            <a:off x="4819650" y="2815927"/>
            <a:ext cx="800100" cy="512961"/>
          </a:xfrm>
          <a:prstGeom prst="rect">
            <a:avLst/>
          </a:prstGeom>
          <a:solidFill>
            <a:srgbClr val="F7F8FA"/>
          </a:solidFill>
          <a:ln>
            <a:noFill/>
          </a:ln>
        </p:spPr>
        <p:txBody>
          <a:bodyPr rtlCol="0" anchor="ctr"/>
          <a:lstStyle/>
          <a:p>
            <a:pPr algn="ctr"/>
          </a:p>
        </p:txBody>
      </p:sp>
      <p:sp>
        <p:nvSpPr>
          <p:cNvPr id="83" name="Rule 82"/>
          <p:cNvSpPr/>
          <p:nvPr/>
        </p:nvSpPr>
        <p:spPr>
          <a:xfrm>
            <a:off x="4819650" y="2815927"/>
            <a:ext cx="6350" cy="512961"/>
          </a:xfrm>
          <a:prstGeom prst="rect">
            <a:avLst/>
          </a:prstGeom>
          <a:solidFill>
            <a:srgbClr val="D3D9DF"/>
          </a:solidFill>
          <a:ln>
            <a:noFill/>
          </a:ln>
        </p:spPr>
        <p:txBody>
          <a:bodyPr rtlCol="0" anchor="ctr"/>
          <a:lstStyle/>
          <a:p>
            <a:pPr algn="ctr"/>
          </a:p>
        </p:txBody>
      </p:sp>
      <p:sp>
        <p:nvSpPr>
          <p:cNvPr id="84" name="Text 83"/>
          <p:cNvSpPr txBox="1"/>
          <p:nvPr/>
        </p:nvSpPr>
        <p:spPr>
          <a:xfrm>
            <a:off x="4864100" y="2846915"/>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مالك الخطر</a:t>
            </a:r>
          </a:p>
        </p:txBody>
      </p:sp>
      <p:sp>
        <p:nvSpPr>
          <p:cNvPr id="85" name="Box 84"/>
          <p:cNvSpPr/>
          <p:nvPr/>
        </p:nvSpPr>
        <p:spPr>
          <a:xfrm>
            <a:off x="3956050" y="2815927"/>
            <a:ext cx="863600" cy="512961"/>
          </a:xfrm>
          <a:prstGeom prst="rect">
            <a:avLst/>
          </a:prstGeom>
          <a:solidFill>
            <a:srgbClr val="F7F8FA"/>
          </a:solidFill>
          <a:ln>
            <a:noFill/>
          </a:ln>
        </p:spPr>
        <p:txBody>
          <a:bodyPr rtlCol="0" anchor="ctr"/>
          <a:lstStyle/>
          <a:p>
            <a:pPr algn="ctr"/>
          </a:p>
        </p:txBody>
      </p:sp>
      <p:sp>
        <p:nvSpPr>
          <p:cNvPr id="86" name="Rule 85"/>
          <p:cNvSpPr/>
          <p:nvPr/>
        </p:nvSpPr>
        <p:spPr>
          <a:xfrm>
            <a:off x="3956050" y="2815927"/>
            <a:ext cx="6350" cy="512961"/>
          </a:xfrm>
          <a:prstGeom prst="rect">
            <a:avLst/>
          </a:prstGeom>
          <a:solidFill>
            <a:srgbClr val="D3D9DF"/>
          </a:solidFill>
          <a:ln>
            <a:noFill/>
          </a:ln>
        </p:spPr>
        <p:txBody>
          <a:bodyPr rtlCol="0" anchor="ctr"/>
          <a:lstStyle/>
          <a:p>
            <a:pPr algn="ctr"/>
          </a:p>
        </p:txBody>
      </p:sp>
      <p:sp>
        <p:nvSpPr>
          <p:cNvPr id="87" name="Text 86"/>
          <p:cNvSpPr txBox="1"/>
          <p:nvPr/>
        </p:nvSpPr>
        <p:spPr>
          <a:xfrm>
            <a:off x="3981450" y="2846915"/>
            <a:ext cx="762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المعالجة</a:t>
            </a:r>
          </a:p>
        </p:txBody>
      </p:sp>
      <p:sp>
        <p:nvSpPr>
          <p:cNvPr id="88" name="Box 87"/>
          <p:cNvSpPr/>
          <p:nvPr/>
        </p:nvSpPr>
        <p:spPr>
          <a:xfrm>
            <a:off x="3155950" y="2815927"/>
            <a:ext cx="800100" cy="512961"/>
          </a:xfrm>
          <a:prstGeom prst="rect">
            <a:avLst/>
          </a:prstGeom>
          <a:solidFill>
            <a:srgbClr val="F7F8FA"/>
          </a:solidFill>
          <a:ln>
            <a:noFill/>
          </a:ln>
        </p:spPr>
        <p:txBody>
          <a:bodyPr rtlCol="0" anchor="ctr"/>
          <a:lstStyle/>
          <a:p>
            <a:pPr algn="ctr"/>
          </a:p>
        </p:txBody>
      </p:sp>
      <p:sp>
        <p:nvSpPr>
          <p:cNvPr id="89" name="Rule 88"/>
          <p:cNvSpPr/>
          <p:nvPr/>
        </p:nvSpPr>
        <p:spPr>
          <a:xfrm>
            <a:off x="3155950" y="2815927"/>
            <a:ext cx="6350" cy="512961"/>
          </a:xfrm>
          <a:prstGeom prst="rect">
            <a:avLst/>
          </a:prstGeom>
          <a:solidFill>
            <a:srgbClr val="D3D9DF"/>
          </a:solidFill>
          <a:ln>
            <a:noFill/>
          </a:ln>
        </p:spPr>
        <p:txBody>
          <a:bodyPr rtlCol="0" anchor="ctr"/>
          <a:lstStyle/>
          <a:p>
            <a:pPr algn="ctr"/>
          </a:p>
        </p:txBody>
      </p:sp>
      <p:sp>
        <p:nvSpPr>
          <p:cNvPr id="90" name="Text 89"/>
          <p:cNvSpPr txBox="1"/>
          <p:nvPr/>
        </p:nvSpPr>
        <p:spPr>
          <a:xfrm>
            <a:off x="3200400" y="2846915"/>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مالك الإجراء</a:t>
            </a:r>
          </a:p>
        </p:txBody>
      </p:sp>
      <p:sp>
        <p:nvSpPr>
          <p:cNvPr id="91" name="Box 90"/>
          <p:cNvSpPr/>
          <p:nvPr/>
        </p:nvSpPr>
        <p:spPr>
          <a:xfrm>
            <a:off x="2520950" y="2815927"/>
            <a:ext cx="635000" cy="512961"/>
          </a:xfrm>
          <a:prstGeom prst="rect">
            <a:avLst/>
          </a:prstGeom>
          <a:solidFill>
            <a:srgbClr val="F7F8FA"/>
          </a:solidFill>
          <a:ln>
            <a:noFill/>
          </a:ln>
        </p:spPr>
        <p:txBody>
          <a:bodyPr rtlCol="0" anchor="ctr"/>
          <a:lstStyle/>
          <a:p>
            <a:pPr algn="ctr"/>
          </a:p>
        </p:txBody>
      </p:sp>
      <p:sp>
        <p:nvSpPr>
          <p:cNvPr id="92" name="Rule 91"/>
          <p:cNvSpPr/>
          <p:nvPr/>
        </p:nvSpPr>
        <p:spPr>
          <a:xfrm>
            <a:off x="2520950" y="2815927"/>
            <a:ext cx="6350" cy="512961"/>
          </a:xfrm>
          <a:prstGeom prst="rect">
            <a:avLst/>
          </a:prstGeom>
          <a:solidFill>
            <a:srgbClr val="D3D9DF"/>
          </a:solidFill>
          <a:ln>
            <a:noFill/>
          </a:ln>
        </p:spPr>
        <p:txBody>
          <a:bodyPr rtlCol="0" anchor="ctr"/>
          <a:lstStyle/>
          <a:p>
            <a:pPr algn="ctr"/>
          </a:p>
        </p:txBody>
      </p:sp>
      <p:sp>
        <p:nvSpPr>
          <p:cNvPr id="93" name="Text 92"/>
          <p:cNvSpPr txBox="1"/>
          <p:nvPr/>
        </p:nvSpPr>
        <p:spPr>
          <a:xfrm>
            <a:off x="2546350" y="2846915"/>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الموعد</a:t>
            </a:r>
          </a:p>
        </p:txBody>
      </p:sp>
      <p:sp>
        <p:nvSpPr>
          <p:cNvPr id="94" name="Box 93"/>
          <p:cNvSpPr/>
          <p:nvPr/>
        </p:nvSpPr>
        <p:spPr>
          <a:xfrm>
            <a:off x="1809750" y="2815927"/>
            <a:ext cx="711200" cy="512961"/>
          </a:xfrm>
          <a:prstGeom prst="rect">
            <a:avLst/>
          </a:prstGeom>
          <a:solidFill>
            <a:srgbClr val="F7F8FA"/>
          </a:solidFill>
          <a:ln>
            <a:noFill/>
          </a:ln>
        </p:spPr>
        <p:txBody>
          <a:bodyPr rtlCol="0" anchor="ctr"/>
          <a:lstStyle/>
          <a:p>
            <a:pPr algn="ctr"/>
          </a:p>
        </p:txBody>
      </p:sp>
      <p:sp>
        <p:nvSpPr>
          <p:cNvPr id="95" name="Rule 94"/>
          <p:cNvSpPr/>
          <p:nvPr/>
        </p:nvSpPr>
        <p:spPr>
          <a:xfrm>
            <a:off x="1809750" y="2815927"/>
            <a:ext cx="6350" cy="512961"/>
          </a:xfrm>
          <a:prstGeom prst="rect">
            <a:avLst/>
          </a:prstGeom>
          <a:solidFill>
            <a:srgbClr val="D3D9DF"/>
          </a:solidFill>
          <a:ln>
            <a:noFill/>
          </a:ln>
        </p:spPr>
        <p:txBody>
          <a:bodyPr rtlCol="0" anchor="ctr"/>
          <a:lstStyle/>
          <a:p>
            <a:pPr algn="ctr"/>
          </a:p>
        </p:txBody>
      </p:sp>
      <p:sp>
        <p:nvSpPr>
          <p:cNvPr id="96" name="Text 95"/>
          <p:cNvSpPr txBox="1"/>
          <p:nvPr/>
        </p:nvSpPr>
        <p:spPr>
          <a:xfrm>
            <a:off x="1854200" y="2846915"/>
            <a:ext cx="5905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المتبقي المتوقع</a:t>
            </a:r>
          </a:p>
        </p:txBody>
      </p:sp>
      <p:sp>
        <p:nvSpPr>
          <p:cNvPr id="97" name="Box 96"/>
          <p:cNvSpPr/>
          <p:nvPr/>
        </p:nvSpPr>
        <p:spPr>
          <a:xfrm>
            <a:off x="819150" y="2815927"/>
            <a:ext cx="990600" cy="512961"/>
          </a:xfrm>
          <a:prstGeom prst="rect">
            <a:avLst/>
          </a:prstGeom>
          <a:solidFill>
            <a:srgbClr val="F7F8FA"/>
          </a:solidFill>
          <a:ln>
            <a:noFill/>
          </a:ln>
        </p:spPr>
        <p:txBody>
          <a:bodyPr rtlCol="0" anchor="ctr"/>
          <a:lstStyle/>
          <a:p>
            <a:pPr algn="ctr"/>
          </a:p>
        </p:txBody>
      </p:sp>
      <p:sp>
        <p:nvSpPr>
          <p:cNvPr id="98" name="Rule 97"/>
          <p:cNvSpPr/>
          <p:nvPr/>
        </p:nvSpPr>
        <p:spPr>
          <a:xfrm>
            <a:off x="819150" y="2815927"/>
            <a:ext cx="6350" cy="512961"/>
          </a:xfrm>
          <a:prstGeom prst="rect">
            <a:avLst/>
          </a:prstGeom>
          <a:solidFill>
            <a:srgbClr val="D3D9DF"/>
          </a:solidFill>
          <a:ln>
            <a:noFill/>
          </a:ln>
        </p:spPr>
        <p:txBody>
          <a:bodyPr rtlCol="0" anchor="ctr"/>
          <a:lstStyle/>
          <a:p>
            <a:pPr algn="ctr"/>
          </a:p>
        </p:txBody>
      </p:sp>
      <p:sp>
        <p:nvSpPr>
          <p:cNvPr id="99" name="Text 98"/>
          <p:cNvSpPr txBox="1"/>
          <p:nvPr/>
        </p:nvSpPr>
        <p:spPr>
          <a:xfrm>
            <a:off x="844550" y="2846915"/>
            <a:ext cx="889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المتابعة</a:t>
            </a:r>
          </a:p>
        </p:txBody>
      </p:sp>
      <p:sp>
        <p:nvSpPr>
          <p:cNvPr id="100" name="Rule 99"/>
          <p:cNvSpPr/>
          <p:nvPr/>
        </p:nvSpPr>
        <p:spPr>
          <a:xfrm>
            <a:off x="819150" y="3886299"/>
            <a:ext cx="10553700" cy="6350"/>
          </a:xfrm>
          <a:prstGeom prst="rect">
            <a:avLst/>
          </a:prstGeom>
          <a:solidFill>
            <a:srgbClr val="D3D9DF"/>
          </a:solidFill>
          <a:ln>
            <a:noFill/>
          </a:ln>
        </p:spPr>
        <p:txBody>
          <a:bodyPr rtlCol="0" anchor="ctr"/>
          <a:lstStyle/>
          <a:p>
            <a:pPr algn="ctr"/>
          </a:p>
        </p:txBody>
      </p:sp>
      <p:sp>
        <p:nvSpPr>
          <p:cNvPr id="101" name="Box 100"/>
          <p:cNvSpPr/>
          <p:nvPr/>
        </p:nvSpPr>
        <p:spPr>
          <a:xfrm>
            <a:off x="11017250" y="3335238"/>
            <a:ext cx="355600" cy="551061"/>
          </a:xfrm>
          <a:prstGeom prst="rect">
            <a:avLst/>
          </a:prstGeom>
          <a:solidFill>
            <a:srgbClr val="EEF1F4"/>
          </a:solidFill>
          <a:ln>
            <a:noFill/>
          </a:ln>
        </p:spPr>
        <p:txBody>
          <a:bodyPr rtlCol="0" anchor="ctr"/>
          <a:lstStyle/>
          <a:p>
            <a:pPr algn="ctr"/>
          </a:p>
        </p:txBody>
      </p:sp>
      <p:sp>
        <p:nvSpPr>
          <p:cNvPr id="102" name="Rule 101"/>
          <p:cNvSpPr/>
          <p:nvPr/>
        </p:nvSpPr>
        <p:spPr>
          <a:xfrm>
            <a:off x="11017250" y="3335238"/>
            <a:ext cx="6350" cy="551061"/>
          </a:xfrm>
          <a:prstGeom prst="rect">
            <a:avLst/>
          </a:prstGeom>
          <a:solidFill>
            <a:srgbClr val="D3D9DF"/>
          </a:solidFill>
          <a:ln>
            <a:noFill/>
          </a:ln>
        </p:spPr>
        <p:txBody>
          <a:bodyPr rtlCol="0" anchor="ctr"/>
          <a:lstStyle/>
          <a:p>
            <a:pPr algn="ctr"/>
          </a:p>
        </p:txBody>
      </p:sp>
      <p:sp>
        <p:nvSpPr>
          <p:cNvPr id="103" name="Text 102"/>
          <p:cNvSpPr txBox="1"/>
          <p:nvPr/>
        </p:nvSpPr>
        <p:spPr>
          <a:xfrm>
            <a:off x="11054080" y="336622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104" name="Box 103"/>
          <p:cNvSpPr/>
          <p:nvPr/>
        </p:nvSpPr>
        <p:spPr>
          <a:xfrm>
            <a:off x="10382250" y="3335238"/>
            <a:ext cx="635000" cy="551061"/>
          </a:xfrm>
          <a:prstGeom prst="rect">
            <a:avLst/>
          </a:prstGeom>
          <a:solidFill>
            <a:srgbClr val="DDF0EA"/>
          </a:solidFill>
          <a:ln>
            <a:noFill/>
          </a:ln>
        </p:spPr>
        <p:txBody>
          <a:bodyPr rtlCol="0" anchor="ctr"/>
          <a:lstStyle/>
          <a:p>
            <a:pPr algn="ctr"/>
          </a:p>
        </p:txBody>
      </p:sp>
      <p:sp>
        <p:nvSpPr>
          <p:cNvPr id="105" name="Rule 104"/>
          <p:cNvSpPr/>
          <p:nvPr/>
        </p:nvSpPr>
        <p:spPr>
          <a:xfrm>
            <a:off x="10382250" y="3335238"/>
            <a:ext cx="6350" cy="551061"/>
          </a:xfrm>
          <a:prstGeom prst="rect">
            <a:avLst/>
          </a:prstGeom>
          <a:solidFill>
            <a:srgbClr val="D3D9DF"/>
          </a:solidFill>
          <a:ln>
            <a:noFill/>
          </a:ln>
        </p:spPr>
        <p:txBody>
          <a:bodyPr rtlCol="0" anchor="ctr"/>
          <a:lstStyle/>
          <a:p>
            <a:pPr algn="ctr"/>
          </a:p>
        </p:txBody>
      </p:sp>
      <p:sp>
        <p:nvSpPr>
          <p:cNvPr id="106" name="Text 105"/>
          <p:cNvSpPr txBox="1"/>
          <p:nvPr/>
        </p:nvSpPr>
        <p:spPr>
          <a:xfrm>
            <a:off x="10407650" y="3366226"/>
            <a:ext cx="5334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R-07</a:t>
            </a:r>
          </a:p>
        </p:txBody>
      </p:sp>
      <p:sp>
        <p:nvSpPr>
          <p:cNvPr id="107" name="Box 106"/>
          <p:cNvSpPr/>
          <p:nvPr/>
        </p:nvSpPr>
        <p:spPr>
          <a:xfrm>
            <a:off x="9518650" y="3335238"/>
            <a:ext cx="863600" cy="551061"/>
          </a:xfrm>
          <a:prstGeom prst="rect">
            <a:avLst/>
          </a:prstGeom>
          <a:solidFill>
            <a:srgbClr val="DDF0EA"/>
          </a:solidFill>
          <a:ln>
            <a:noFill/>
          </a:ln>
        </p:spPr>
        <p:txBody>
          <a:bodyPr rtlCol="0" anchor="ctr"/>
          <a:lstStyle/>
          <a:p>
            <a:pPr algn="ctr"/>
          </a:p>
        </p:txBody>
      </p:sp>
      <p:sp>
        <p:nvSpPr>
          <p:cNvPr id="108" name="Rule 107"/>
          <p:cNvSpPr/>
          <p:nvPr/>
        </p:nvSpPr>
        <p:spPr>
          <a:xfrm>
            <a:off x="9518650" y="3335238"/>
            <a:ext cx="6350" cy="551061"/>
          </a:xfrm>
          <a:prstGeom prst="rect">
            <a:avLst/>
          </a:prstGeom>
          <a:solidFill>
            <a:srgbClr val="D3D9DF"/>
          </a:solidFill>
          <a:ln>
            <a:noFill/>
          </a:ln>
        </p:spPr>
        <p:txBody>
          <a:bodyPr rtlCol="0" anchor="ctr"/>
          <a:lstStyle/>
          <a:p>
            <a:pPr algn="ctr"/>
          </a:p>
        </p:txBody>
      </p:sp>
      <p:sp>
        <p:nvSpPr>
          <p:cNvPr id="109" name="Text 108"/>
          <p:cNvSpPr txBox="1"/>
          <p:nvPr/>
        </p:nvSpPr>
        <p:spPr>
          <a:xfrm>
            <a:off x="9563100" y="3366226"/>
            <a:ext cx="742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حاسوب أخصائي…</a:t>
            </a:r>
          </a:p>
        </p:txBody>
      </p:sp>
      <p:sp>
        <p:nvSpPr>
          <p:cNvPr id="110" name="Box 109"/>
          <p:cNvSpPr/>
          <p:nvPr/>
        </p:nvSpPr>
        <p:spPr>
          <a:xfrm>
            <a:off x="8435975" y="3344763"/>
            <a:ext cx="1073150" cy="532011"/>
          </a:xfrm>
          <a:prstGeom prst="rect">
            <a:avLst/>
          </a:prstGeom>
          <a:solidFill>
            <a:srgbClr val="DDF0EA"/>
          </a:solidFill>
          <a:ln w="19050">
            <a:solidFill>
              <a:srgbClr val="24506B"/>
            </a:solidFill>
          </a:ln>
        </p:spPr>
        <p:txBody>
          <a:bodyPr rtlCol="0" anchor="ctr"/>
          <a:lstStyle/>
          <a:p>
            <a:pPr algn="ctr"/>
          </a:p>
        </p:txBody>
      </p:sp>
      <p:sp>
        <p:nvSpPr>
          <p:cNvPr id="111" name="Text 110"/>
          <p:cNvSpPr txBox="1"/>
          <p:nvPr/>
        </p:nvSpPr>
        <p:spPr>
          <a:xfrm>
            <a:off x="8483600" y="3385276"/>
            <a:ext cx="93980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بسبب حفظ ملفات…</a:t>
            </a:r>
          </a:p>
        </p:txBody>
      </p:sp>
      <p:sp>
        <p:nvSpPr>
          <p:cNvPr id="112" name="Box 111"/>
          <p:cNvSpPr/>
          <p:nvPr/>
        </p:nvSpPr>
        <p:spPr>
          <a:xfrm>
            <a:off x="7600950" y="3335238"/>
            <a:ext cx="825500" cy="551061"/>
          </a:xfrm>
          <a:prstGeom prst="rect">
            <a:avLst/>
          </a:prstGeom>
          <a:solidFill>
            <a:srgbClr val="DDF0EA"/>
          </a:solidFill>
          <a:ln>
            <a:noFill/>
          </a:ln>
        </p:spPr>
        <p:txBody>
          <a:bodyPr rtlCol="0" anchor="ctr"/>
          <a:lstStyle/>
          <a:p>
            <a:pPr algn="ctr"/>
          </a:p>
        </p:txBody>
      </p:sp>
      <p:sp>
        <p:nvSpPr>
          <p:cNvPr id="113" name="Rule 112"/>
          <p:cNvSpPr/>
          <p:nvPr/>
        </p:nvSpPr>
        <p:spPr>
          <a:xfrm>
            <a:off x="7600950" y="3335238"/>
            <a:ext cx="6350" cy="551061"/>
          </a:xfrm>
          <a:prstGeom prst="rect">
            <a:avLst/>
          </a:prstGeom>
          <a:solidFill>
            <a:srgbClr val="D3D9DF"/>
          </a:solidFill>
          <a:ln>
            <a:noFill/>
          </a:ln>
        </p:spPr>
        <p:txBody>
          <a:bodyPr rtlCol="0" anchor="ctr"/>
          <a:lstStyle/>
          <a:p>
            <a:pPr algn="ctr"/>
          </a:p>
        </p:txBody>
      </p:sp>
      <p:sp>
        <p:nvSpPr>
          <p:cNvPr id="114" name="Text 113"/>
          <p:cNvSpPr txBox="1"/>
          <p:nvPr/>
        </p:nvSpPr>
        <p:spPr>
          <a:xfrm>
            <a:off x="7626350" y="3366226"/>
            <a:ext cx="723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كلمة مرور…</a:t>
            </a:r>
          </a:p>
        </p:txBody>
      </p:sp>
      <p:sp>
        <p:nvSpPr>
          <p:cNvPr id="115" name="Box 114"/>
          <p:cNvSpPr/>
          <p:nvPr/>
        </p:nvSpPr>
        <p:spPr>
          <a:xfrm>
            <a:off x="6800850" y="3335238"/>
            <a:ext cx="800100" cy="551061"/>
          </a:xfrm>
          <a:prstGeom prst="rect">
            <a:avLst/>
          </a:prstGeom>
          <a:solidFill>
            <a:srgbClr val="DDF0EA"/>
          </a:solidFill>
          <a:ln>
            <a:noFill/>
          </a:ln>
        </p:spPr>
        <p:txBody>
          <a:bodyPr rtlCol="0" anchor="ctr"/>
          <a:lstStyle/>
          <a:p>
            <a:pPr algn="ctr"/>
          </a:p>
        </p:txBody>
      </p:sp>
      <p:sp>
        <p:nvSpPr>
          <p:cNvPr id="116" name="Rule 115"/>
          <p:cNvSpPr/>
          <p:nvPr/>
        </p:nvSpPr>
        <p:spPr>
          <a:xfrm>
            <a:off x="6800850" y="3335238"/>
            <a:ext cx="6350" cy="551061"/>
          </a:xfrm>
          <a:prstGeom prst="rect">
            <a:avLst/>
          </a:prstGeom>
          <a:solidFill>
            <a:srgbClr val="D3D9DF"/>
          </a:solidFill>
          <a:ln>
            <a:noFill/>
          </a:ln>
        </p:spPr>
        <p:txBody>
          <a:bodyPr rtlCol="0" anchor="ctr"/>
          <a:lstStyle/>
          <a:p>
            <a:pPr algn="ctr"/>
          </a:p>
        </p:txBody>
      </p:sp>
      <p:sp>
        <p:nvSpPr>
          <p:cNvPr id="117" name="Text 116"/>
          <p:cNvSpPr txBox="1"/>
          <p:nvPr/>
        </p:nvSpPr>
        <p:spPr>
          <a:xfrm>
            <a:off x="6826250" y="3366226"/>
            <a:ext cx="6985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3</a:t>
            </a:r>
          </a:p>
        </p:txBody>
      </p:sp>
      <p:sp>
        <p:nvSpPr>
          <p:cNvPr id="118" name="Box 117"/>
          <p:cNvSpPr/>
          <p:nvPr/>
        </p:nvSpPr>
        <p:spPr>
          <a:xfrm>
            <a:off x="6356350" y="3335238"/>
            <a:ext cx="444500" cy="551061"/>
          </a:xfrm>
          <a:prstGeom prst="rect">
            <a:avLst/>
          </a:prstGeom>
          <a:solidFill>
            <a:srgbClr val="DDF0EA"/>
          </a:solidFill>
          <a:ln>
            <a:noFill/>
          </a:ln>
        </p:spPr>
        <p:txBody>
          <a:bodyPr rtlCol="0" anchor="ctr"/>
          <a:lstStyle/>
          <a:p>
            <a:pPr algn="ctr"/>
          </a:p>
        </p:txBody>
      </p:sp>
      <p:sp>
        <p:nvSpPr>
          <p:cNvPr id="119" name="Rule 118"/>
          <p:cNvSpPr/>
          <p:nvPr/>
        </p:nvSpPr>
        <p:spPr>
          <a:xfrm>
            <a:off x="6356350" y="3335238"/>
            <a:ext cx="6350" cy="551061"/>
          </a:xfrm>
          <a:prstGeom prst="rect">
            <a:avLst/>
          </a:prstGeom>
          <a:solidFill>
            <a:srgbClr val="D3D9DF"/>
          </a:solidFill>
          <a:ln>
            <a:noFill/>
          </a:ln>
        </p:spPr>
        <p:txBody>
          <a:bodyPr rtlCol="0" anchor="ctr"/>
          <a:lstStyle/>
          <a:p>
            <a:pPr algn="ctr"/>
          </a:p>
        </p:txBody>
      </p:sp>
      <p:sp>
        <p:nvSpPr>
          <p:cNvPr id="120" name="Text 119"/>
          <p:cNvSpPr txBox="1"/>
          <p:nvPr/>
        </p:nvSpPr>
        <p:spPr>
          <a:xfrm>
            <a:off x="6381750" y="3366226"/>
            <a:ext cx="342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4</a:t>
            </a:r>
          </a:p>
        </p:txBody>
      </p:sp>
      <p:sp>
        <p:nvSpPr>
          <p:cNvPr id="121" name="Box 120"/>
          <p:cNvSpPr/>
          <p:nvPr/>
        </p:nvSpPr>
        <p:spPr>
          <a:xfrm>
            <a:off x="5619750" y="3335238"/>
            <a:ext cx="736600" cy="551061"/>
          </a:xfrm>
          <a:prstGeom prst="rect">
            <a:avLst/>
          </a:prstGeom>
          <a:solidFill>
            <a:srgbClr val="DDF0EA"/>
          </a:solidFill>
          <a:ln>
            <a:noFill/>
          </a:ln>
        </p:spPr>
        <p:txBody>
          <a:bodyPr rtlCol="0" anchor="ctr"/>
          <a:lstStyle/>
          <a:p>
            <a:pPr algn="ctr"/>
          </a:p>
        </p:txBody>
      </p:sp>
      <p:sp>
        <p:nvSpPr>
          <p:cNvPr id="122" name="Rule 121"/>
          <p:cNvSpPr/>
          <p:nvPr/>
        </p:nvSpPr>
        <p:spPr>
          <a:xfrm>
            <a:off x="5619750" y="3335238"/>
            <a:ext cx="6350" cy="551061"/>
          </a:xfrm>
          <a:prstGeom prst="rect">
            <a:avLst/>
          </a:prstGeom>
          <a:solidFill>
            <a:srgbClr val="D3D9DF"/>
          </a:solidFill>
          <a:ln>
            <a:noFill/>
          </a:ln>
        </p:spPr>
        <p:txBody>
          <a:bodyPr rtlCol="0" anchor="ctr"/>
          <a:lstStyle/>
          <a:p>
            <a:pPr algn="ctr"/>
          </a:p>
        </p:txBody>
      </p:sp>
      <p:sp>
        <p:nvSpPr>
          <p:cNvPr id="123" name="Text 122"/>
          <p:cNvSpPr txBox="1"/>
          <p:nvPr/>
        </p:nvSpPr>
        <p:spPr>
          <a:xfrm>
            <a:off x="5664200" y="3366226"/>
            <a:ext cx="615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12 · متوسط</a:t>
            </a:r>
          </a:p>
        </p:txBody>
      </p:sp>
      <p:sp>
        <p:nvSpPr>
          <p:cNvPr id="124" name="Box 123"/>
          <p:cNvSpPr/>
          <p:nvPr/>
        </p:nvSpPr>
        <p:spPr>
          <a:xfrm>
            <a:off x="4819650" y="3335238"/>
            <a:ext cx="800100" cy="551061"/>
          </a:xfrm>
          <a:prstGeom prst="rect">
            <a:avLst/>
          </a:prstGeom>
          <a:solidFill>
            <a:srgbClr val="DDF0EA"/>
          </a:solidFill>
          <a:ln>
            <a:noFill/>
          </a:ln>
        </p:spPr>
        <p:txBody>
          <a:bodyPr rtlCol="0" anchor="ctr"/>
          <a:lstStyle/>
          <a:p>
            <a:pPr algn="ctr"/>
          </a:p>
        </p:txBody>
      </p:sp>
      <p:sp>
        <p:nvSpPr>
          <p:cNvPr id="125" name="Rule 124"/>
          <p:cNvSpPr/>
          <p:nvPr/>
        </p:nvSpPr>
        <p:spPr>
          <a:xfrm>
            <a:off x="4819650" y="3335238"/>
            <a:ext cx="6350" cy="551061"/>
          </a:xfrm>
          <a:prstGeom prst="rect">
            <a:avLst/>
          </a:prstGeom>
          <a:solidFill>
            <a:srgbClr val="D3D9DF"/>
          </a:solidFill>
          <a:ln>
            <a:noFill/>
          </a:ln>
        </p:spPr>
        <p:txBody>
          <a:bodyPr rtlCol="0" anchor="ctr"/>
          <a:lstStyle/>
          <a:p>
            <a:pPr algn="ctr"/>
          </a:p>
        </p:txBody>
      </p:sp>
      <p:sp>
        <p:nvSpPr>
          <p:cNvPr id="126" name="Text 125"/>
          <p:cNvSpPr txBox="1"/>
          <p:nvPr/>
        </p:nvSpPr>
        <p:spPr>
          <a:xfrm>
            <a:off x="4864100" y="3366226"/>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مديرة الموارد…</a:t>
            </a:r>
          </a:p>
        </p:txBody>
      </p:sp>
      <p:sp>
        <p:nvSpPr>
          <p:cNvPr id="127" name="Box 126"/>
          <p:cNvSpPr/>
          <p:nvPr/>
        </p:nvSpPr>
        <p:spPr>
          <a:xfrm>
            <a:off x="3956050" y="3335238"/>
            <a:ext cx="863600" cy="551061"/>
          </a:xfrm>
          <a:prstGeom prst="rect">
            <a:avLst/>
          </a:prstGeom>
          <a:solidFill>
            <a:srgbClr val="DDF0EA"/>
          </a:solidFill>
          <a:ln>
            <a:noFill/>
          </a:ln>
        </p:spPr>
        <p:txBody>
          <a:bodyPr rtlCol="0" anchor="ctr"/>
          <a:lstStyle/>
          <a:p>
            <a:pPr algn="ctr"/>
          </a:p>
        </p:txBody>
      </p:sp>
      <p:sp>
        <p:nvSpPr>
          <p:cNvPr id="128" name="Rule 127"/>
          <p:cNvSpPr/>
          <p:nvPr/>
        </p:nvSpPr>
        <p:spPr>
          <a:xfrm>
            <a:off x="3956050" y="3335238"/>
            <a:ext cx="6350" cy="551061"/>
          </a:xfrm>
          <a:prstGeom prst="rect">
            <a:avLst/>
          </a:prstGeom>
          <a:solidFill>
            <a:srgbClr val="D3D9DF"/>
          </a:solidFill>
          <a:ln>
            <a:noFill/>
          </a:ln>
        </p:spPr>
        <p:txBody>
          <a:bodyPr rtlCol="0" anchor="ctr"/>
          <a:lstStyle/>
          <a:p>
            <a:pPr algn="ctr"/>
          </a:p>
        </p:txBody>
      </p:sp>
      <p:sp>
        <p:nvSpPr>
          <p:cNvPr id="129" name="Text 128"/>
          <p:cNvSpPr txBox="1"/>
          <p:nvPr/>
        </p:nvSpPr>
        <p:spPr>
          <a:xfrm>
            <a:off x="4000500" y="3366226"/>
            <a:ext cx="742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التخفيف: تشفير…</a:t>
            </a:r>
          </a:p>
        </p:txBody>
      </p:sp>
      <p:sp>
        <p:nvSpPr>
          <p:cNvPr id="130" name="Box 129"/>
          <p:cNvSpPr/>
          <p:nvPr/>
        </p:nvSpPr>
        <p:spPr>
          <a:xfrm>
            <a:off x="3155950" y="3335238"/>
            <a:ext cx="800100" cy="551061"/>
          </a:xfrm>
          <a:prstGeom prst="rect">
            <a:avLst/>
          </a:prstGeom>
          <a:solidFill>
            <a:srgbClr val="DDF0EA"/>
          </a:solidFill>
          <a:ln>
            <a:noFill/>
          </a:ln>
        </p:spPr>
        <p:txBody>
          <a:bodyPr rtlCol="0" anchor="ctr"/>
          <a:lstStyle/>
          <a:p>
            <a:pPr algn="ctr"/>
          </a:p>
        </p:txBody>
      </p:sp>
      <p:sp>
        <p:nvSpPr>
          <p:cNvPr id="131" name="Rule 130"/>
          <p:cNvSpPr/>
          <p:nvPr/>
        </p:nvSpPr>
        <p:spPr>
          <a:xfrm>
            <a:off x="3155950" y="3335238"/>
            <a:ext cx="6350" cy="551061"/>
          </a:xfrm>
          <a:prstGeom prst="rect">
            <a:avLst/>
          </a:prstGeom>
          <a:solidFill>
            <a:srgbClr val="D3D9DF"/>
          </a:solidFill>
          <a:ln>
            <a:noFill/>
          </a:ln>
        </p:spPr>
        <p:txBody>
          <a:bodyPr rtlCol="0" anchor="ctr"/>
          <a:lstStyle/>
          <a:p>
            <a:pPr algn="ctr"/>
          </a:p>
        </p:txBody>
      </p:sp>
      <p:sp>
        <p:nvSpPr>
          <p:cNvPr id="132" name="Text 131"/>
          <p:cNvSpPr txBox="1"/>
          <p:nvPr/>
        </p:nvSpPr>
        <p:spPr>
          <a:xfrm>
            <a:off x="3200400" y="3366226"/>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مدير تقنية…</a:t>
            </a:r>
          </a:p>
        </p:txBody>
      </p:sp>
      <p:sp>
        <p:nvSpPr>
          <p:cNvPr id="133" name="Box 132"/>
          <p:cNvSpPr/>
          <p:nvPr/>
        </p:nvSpPr>
        <p:spPr>
          <a:xfrm>
            <a:off x="2520950" y="3335238"/>
            <a:ext cx="635000" cy="551061"/>
          </a:xfrm>
          <a:prstGeom prst="rect">
            <a:avLst/>
          </a:prstGeom>
          <a:solidFill>
            <a:srgbClr val="DDF0EA"/>
          </a:solidFill>
          <a:ln>
            <a:noFill/>
          </a:ln>
        </p:spPr>
        <p:txBody>
          <a:bodyPr rtlCol="0" anchor="ctr"/>
          <a:lstStyle/>
          <a:p>
            <a:pPr algn="ctr"/>
          </a:p>
        </p:txBody>
      </p:sp>
      <p:sp>
        <p:nvSpPr>
          <p:cNvPr id="134" name="Rule 133"/>
          <p:cNvSpPr/>
          <p:nvPr/>
        </p:nvSpPr>
        <p:spPr>
          <a:xfrm>
            <a:off x="2520950" y="3335238"/>
            <a:ext cx="6350" cy="551061"/>
          </a:xfrm>
          <a:prstGeom prst="rect">
            <a:avLst/>
          </a:prstGeom>
          <a:solidFill>
            <a:srgbClr val="D3D9DF"/>
          </a:solidFill>
          <a:ln>
            <a:noFill/>
          </a:ln>
        </p:spPr>
        <p:txBody>
          <a:bodyPr rtlCol="0" anchor="ctr"/>
          <a:lstStyle/>
          <a:p>
            <a:pPr algn="ctr"/>
          </a:p>
        </p:txBody>
      </p:sp>
      <p:sp>
        <p:nvSpPr>
          <p:cNvPr id="135" name="Text 134"/>
          <p:cNvSpPr txBox="1"/>
          <p:nvPr/>
        </p:nvSpPr>
        <p:spPr>
          <a:xfrm>
            <a:off x="2546350" y="3366226"/>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30 يوماً</a:t>
            </a:r>
          </a:p>
        </p:txBody>
      </p:sp>
      <p:sp>
        <p:nvSpPr>
          <p:cNvPr id="136" name="Box 135"/>
          <p:cNvSpPr/>
          <p:nvPr/>
        </p:nvSpPr>
        <p:spPr>
          <a:xfrm>
            <a:off x="1809750" y="3335238"/>
            <a:ext cx="711200" cy="551061"/>
          </a:xfrm>
          <a:prstGeom prst="rect">
            <a:avLst/>
          </a:prstGeom>
          <a:solidFill>
            <a:srgbClr val="DDF0EA"/>
          </a:solidFill>
          <a:ln>
            <a:noFill/>
          </a:ln>
        </p:spPr>
        <p:txBody>
          <a:bodyPr rtlCol="0" anchor="ctr"/>
          <a:lstStyle/>
          <a:p>
            <a:pPr algn="ctr"/>
          </a:p>
        </p:txBody>
      </p:sp>
      <p:sp>
        <p:nvSpPr>
          <p:cNvPr id="137" name="Rule 136"/>
          <p:cNvSpPr/>
          <p:nvPr/>
        </p:nvSpPr>
        <p:spPr>
          <a:xfrm>
            <a:off x="1809750" y="3335238"/>
            <a:ext cx="6350" cy="551061"/>
          </a:xfrm>
          <a:prstGeom prst="rect">
            <a:avLst/>
          </a:prstGeom>
          <a:solidFill>
            <a:srgbClr val="D3D9DF"/>
          </a:solidFill>
          <a:ln>
            <a:noFill/>
          </a:ln>
        </p:spPr>
        <p:txBody>
          <a:bodyPr rtlCol="0" anchor="ctr"/>
          <a:lstStyle/>
          <a:p>
            <a:pPr algn="ctr"/>
          </a:p>
        </p:txBody>
      </p:sp>
      <p:sp>
        <p:nvSpPr>
          <p:cNvPr id="138" name="Text 137"/>
          <p:cNvSpPr txBox="1"/>
          <p:nvPr/>
        </p:nvSpPr>
        <p:spPr>
          <a:xfrm>
            <a:off x="1854200" y="3366226"/>
            <a:ext cx="5905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6 · منخفض</a:t>
            </a:r>
          </a:p>
        </p:txBody>
      </p:sp>
      <p:sp>
        <p:nvSpPr>
          <p:cNvPr id="139" name="Box 138"/>
          <p:cNvSpPr/>
          <p:nvPr/>
        </p:nvSpPr>
        <p:spPr>
          <a:xfrm>
            <a:off x="819150" y="3335238"/>
            <a:ext cx="990600" cy="551061"/>
          </a:xfrm>
          <a:prstGeom prst="rect">
            <a:avLst/>
          </a:prstGeom>
          <a:solidFill>
            <a:srgbClr val="DDF0EA"/>
          </a:solidFill>
          <a:ln>
            <a:noFill/>
          </a:ln>
        </p:spPr>
        <p:txBody>
          <a:bodyPr rtlCol="0" anchor="ctr"/>
          <a:lstStyle/>
          <a:p>
            <a:pPr algn="ctr"/>
          </a:p>
        </p:txBody>
      </p:sp>
      <p:sp>
        <p:nvSpPr>
          <p:cNvPr id="140" name="Rule 139"/>
          <p:cNvSpPr/>
          <p:nvPr/>
        </p:nvSpPr>
        <p:spPr>
          <a:xfrm>
            <a:off x="819150" y="3335238"/>
            <a:ext cx="6350" cy="551061"/>
          </a:xfrm>
          <a:prstGeom prst="rect">
            <a:avLst/>
          </a:prstGeom>
          <a:solidFill>
            <a:srgbClr val="D3D9DF"/>
          </a:solidFill>
          <a:ln>
            <a:noFill/>
          </a:ln>
        </p:spPr>
        <p:txBody>
          <a:bodyPr rtlCol="0" anchor="ctr"/>
          <a:lstStyle/>
          <a:p>
            <a:pPr algn="ctr"/>
          </a:p>
        </p:txBody>
      </p:sp>
      <p:sp>
        <p:nvSpPr>
          <p:cNvPr id="141" name="Text 140"/>
          <p:cNvSpPr txBox="1"/>
          <p:nvPr/>
        </p:nvSpPr>
        <p:spPr>
          <a:xfrm>
            <a:off x="844550" y="3366226"/>
            <a:ext cx="889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تتحقق GRC…</a:t>
            </a:r>
          </a:p>
        </p:txBody>
      </p:sp>
      <p:sp>
        <p:nvSpPr>
          <p:cNvPr id="142" name="Rule 141"/>
          <p:cNvSpPr/>
          <p:nvPr/>
        </p:nvSpPr>
        <p:spPr>
          <a:xfrm>
            <a:off x="819150" y="4199930"/>
            <a:ext cx="10553700" cy="6350"/>
          </a:xfrm>
          <a:prstGeom prst="rect">
            <a:avLst/>
          </a:prstGeom>
          <a:solidFill>
            <a:srgbClr val="D3D9DF"/>
          </a:solidFill>
          <a:ln>
            <a:noFill/>
          </a:ln>
        </p:spPr>
        <p:txBody>
          <a:bodyPr rtlCol="0" anchor="ctr"/>
          <a:lstStyle/>
          <a:p>
            <a:pPr algn="ctr"/>
          </a:p>
        </p:txBody>
      </p:sp>
      <p:sp>
        <p:nvSpPr>
          <p:cNvPr id="143" name="Box 142"/>
          <p:cNvSpPr/>
          <p:nvPr/>
        </p:nvSpPr>
        <p:spPr>
          <a:xfrm>
            <a:off x="11017250" y="3892649"/>
            <a:ext cx="355600" cy="307280"/>
          </a:xfrm>
          <a:prstGeom prst="rect">
            <a:avLst/>
          </a:prstGeom>
          <a:solidFill>
            <a:srgbClr val="EEF1F4"/>
          </a:solidFill>
          <a:ln>
            <a:noFill/>
          </a:ln>
        </p:spPr>
        <p:txBody>
          <a:bodyPr rtlCol="0" anchor="ctr"/>
          <a:lstStyle/>
          <a:p>
            <a:pPr algn="ctr"/>
          </a:p>
        </p:txBody>
      </p:sp>
      <p:sp>
        <p:nvSpPr>
          <p:cNvPr id="144" name="Rule 143"/>
          <p:cNvSpPr/>
          <p:nvPr/>
        </p:nvSpPr>
        <p:spPr>
          <a:xfrm>
            <a:off x="11017250" y="3892649"/>
            <a:ext cx="6350" cy="307280"/>
          </a:xfrm>
          <a:prstGeom prst="rect">
            <a:avLst/>
          </a:prstGeom>
          <a:solidFill>
            <a:srgbClr val="D3D9DF"/>
          </a:solidFill>
          <a:ln>
            <a:noFill/>
          </a:ln>
        </p:spPr>
        <p:txBody>
          <a:bodyPr rtlCol="0" anchor="ctr"/>
          <a:lstStyle/>
          <a:p>
            <a:pPr algn="ctr"/>
          </a:p>
        </p:txBody>
      </p:sp>
      <p:sp>
        <p:nvSpPr>
          <p:cNvPr id="145" name="Text 144"/>
          <p:cNvSpPr txBox="1"/>
          <p:nvPr/>
        </p:nvSpPr>
        <p:spPr>
          <a:xfrm>
            <a:off x="11054080" y="392363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146" name="Box 145"/>
          <p:cNvSpPr/>
          <p:nvPr/>
        </p:nvSpPr>
        <p:spPr>
          <a:xfrm>
            <a:off x="10382250" y="3892649"/>
            <a:ext cx="635000" cy="307280"/>
          </a:xfrm>
          <a:prstGeom prst="rect">
            <a:avLst/>
          </a:prstGeom>
          <a:solidFill>
            <a:srgbClr val="FFFFFF"/>
          </a:solidFill>
          <a:ln>
            <a:noFill/>
          </a:ln>
        </p:spPr>
        <p:txBody>
          <a:bodyPr rtlCol="0" anchor="ctr"/>
          <a:lstStyle/>
          <a:p>
            <a:pPr algn="ctr"/>
          </a:p>
        </p:txBody>
      </p:sp>
      <p:sp>
        <p:nvSpPr>
          <p:cNvPr id="147" name="Rule 146"/>
          <p:cNvSpPr/>
          <p:nvPr/>
        </p:nvSpPr>
        <p:spPr>
          <a:xfrm>
            <a:off x="10382250" y="3892649"/>
            <a:ext cx="6350" cy="307280"/>
          </a:xfrm>
          <a:prstGeom prst="rect">
            <a:avLst/>
          </a:prstGeom>
          <a:solidFill>
            <a:srgbClr val="D3D9DF"/>
          </a:solidFill>
          <a:ln>
            <a:noFill/>
          </a:ln>
        </p:spPr>
        <p:txBody>
          <a:bodyPr rtlCol="0" anchor="ctr"/>
          <a:lstStyle/>
          <a:p>
            <a:pPr algn="ctr"/>
          </a:p>
        </p:txBody>
      </p:sp>
      <p:sp>
        <p:nvSpPr>
          <p:cNvPr id="148" name="Box 147"/>
          <p:cNvSpPr/>
          <p:nvPr/>
        </p:nvSpPr>
        <p:spPr>
          <a:xfrm>
            <a:off x="9518650" y="3892649"/>
            <a:ext cx="863600" cy="307280"/>
          </a:xfrm>
          <a:prstGeom prst="rect">
            <a:avLst/>
          </a:prstGeom>
          <a:solidFill>
            <a:srgbClr val="FFFFFF"/>
          </a:solidFill>
          <a:ln>
            <a:noFill/>
          </a:ln>
        </p:spPr>
        <p:txBody>
          <a:bodyPr rtlCol="0" anchor="ctr"/>
          <a:lstStyle/>
          <a:p>
            <a:pPr algn="ctr"/>
          </a:p>
        </p:txBody>
      </p:sp>
      <p:sp>
        <p:nvSpPr>
          <p:cNvPr id="149" name="Rule 148"/>
          <p:cNvSpPr/>
          <p:nvPr/>
        </p:nvSpPr>
        <p:spPr>
          <a:xfrm>
            <a:off x="9518650" y="3892649"/>
            <a:ext cx="6350" cy="307280"/>
          </a:xfrm>
          <a:prstGeom prst="rect">
            <a:avLst/>
          </a:prstGeom>
          <a:solidFill>
            <a:srgbClr val="D3D9DF"/>
          </a:solidFill>
          <a:ln>
            <a:noFill/>
          </a:ln>
        </p:spPr>
        <p:txBody>
          <a:bodyPr rtlCol="0" anchor="ctr"/>
          <a:lstStyle/>
          <a:p>
            <a:pPr algn="ctr"/>
          </a:p>
        </p:txBody>
      </p:sp>
      <p:sp>
        <p:nvSpPr>
          <p:cNvPr id="150" name="Box 149"/>
          <p:cNvSpPr/>
          <p:nvPr/>
        </p:nvSpPr>
        <p:spPr>
          <a:xfrm>
            <a:off x="8426450" y="3892649"/>
            <a:ext cx="1092200" cy="307280"/>
          </a:xfrm>
          <a:prstGeom prst="rect">
            <a:avLst/>
          </a:prstGeom>
          <a:solidFill>
            <a:srgbClr val="FFFFFF"/>
          </a:solidFill>
          <a:ln>
            <a:noFill/>
          </a:ln>
        </p:spPr>
        <p:txBody>
          <a:bodyPr rtlCol="0" anchor="ctr"/>
          <a:lstStyle/>
          <a:p>
            <a:pPr algn="ctr"/>
          </a:p>
        </p:txBody>
      </p:sp>
      <p:sp>
        <p:nvSpPr>
          <p:cNvPr id="151" name="Rule 150"/>
          <p:cNvSpPr/>
          <p:nvPr/>
        </p:nvSpPr>
        <p:spPr>
          <a:xfrm>
            <a:off x="8426450" y="3892649"/>
            <a:ext cx="6350" cy="307280"/>
          </a:xfrm>
          <a:prstGeom prst="rect">
            <a:avLst/>
          </a:prstGeom>
          <a:solidFill>
            <a:srgbClr val="D3D9DF"/>
          </a:solidFill>
          <a:ln>
            <a:noFill/>
          </a:ln>
        </p:spPr>
        <p:txBody>
          <a:bodyPr rtlCol="0" anchor="ctr"/>
          <a:lstStyle/>
          <a:p>
            <a:pPr algn="ctr"/>
          </a:p>
        </p:txBody>
      </p:sp>
      <p:sp>
        <p:nvSpPr>
          <p:cNvPr id="152" name="Box 151"/>
          <p:cNvSpPr/>
          <p:nvPr/>
        </p:nvSpPr>
        <p:spPr>
          <a:xfrm>
            <a:off x="7600950" y="3892649"/>
            <a:ext cx="825500" cy="307280"/>
          </a:xfrm>
          <a:prstGeom prst="rect">
            <a:avLst/>
          </a:prstGeom>
          <a:solidFill>
            <a:srgbClr val="FFFFFF"/>
          </a:solidFill>
          <a:ln>
            <a:noFill/>
          </a:ln>
        </p:spPr>
        <p:txBody>
          <a:bodyPr rtlCol="0" anchor="ctr"/>
          <a:lstStyle/>
          <a:p>
            <a:pPr algn="ctr"/>
          </a:p>
        </p:txBody>
      </p:sp>
      <p:sp>
        <p:nvSpPr>
          <p:cNvPr id="153" name="Rule 152"/>
          <p:cNvSpPr/>
          <p:nvPr/>
        </p:nvSpPr>
        <p:spPr>
          <a:xfrm>
            <a:off x="7600950" y="3892649"/>
            <a:ext cx="6350" cy="307280"/>
          </a:xfrm>
          <a:prstGeom prst="rect">
            <a:avLst/>
          </a:prstGeom>
          <a:solidFill>
            <a:srgbClr val="D3D9DF"/>
          </a:solidFill>
          <a:ln>
            <a:noFill/>
          </a:ln>
        </p:spPr>
        <p:txBody>
          <a:bodyPr rtlCol="0" anchor="ctr"/>
          <a:lstStyle/>
          <a:p>
            <a:pPr algn="ctr"/>
          </a:p>
        </p:txBody>
      </p:sp>
      <p:sp>
        <p:nvSpPr>
          <p:cNvPr id="154" name="Box 153"/>
          <p:cNvSpPr/>
          <p:nvPr/>
        </p:nvSpPr>
        <p:spPr>
          <a:xfrm>
            <a:off x="6800850" y="3892649"/>
            <a:ext cx="800100" cy="307280"/>
          </a:xfrm>
          <a:prstGeom prst="rect">
            <a:avLst/>
          </a:prstGeom>
          <a:solidFill>
            <a:srgbClr val="FFFFFF"/>
          </a:solidFill>
          <a:ln>
            <a:noFill/>
          </a:ln>
        </p:spPr>
        <p:txBody>
          <a:bodyPr rtlCol="0" anchor="ctr"/>
          <a:lstStyle/>
          <a:p>
            <a:pPr algn="ctr"/>
          </a:p>
        </p:txBody>
      </p:sp>
      <p:sp>
        <p:nvSpPr>
          <p:cNvPr id="155" name="Rule 154"/>
          <p:cNvSpPr/>
          <p:nvPr/>
        </p:nvSpPr>
        <p:spPr>
          <a:xfrm>
            <a:off x="6800850" y="3892649"/>
            <a:ext cx="6350" cy="307280"/>
          </a:xfrm>
          <a:prstGeom prst="rect">
            <a:avLst/>
          </a:prstGeom>
          <a:solidFill>
            <a:srgbClr val="D3D9DF"/>
          </a:solidFill>
          <a:ln>
            <a:noFill/>
          </a:ln>
        </p:spPr>
        <p:txBody>
          <a:bodyPr rtlCol="0" anchor="ctr"/>
          <a:lstStyle/>
          <a:p>
            <a:pPr algn="ctr"/>
          </a:p>
        </p:txBody>
      </p:sp>
      <p:sp>
        <p:nvSpPr>
          <p:cNvPr id="156" name="Box 155"/>
          <p:cNvSpPr/>
          <p:nvPr/>
        </p:nvSpPr>
        <p:spPr>
          <a:xfrm>
            <a:off x="6356350" y="3892649"/>
            <a:ext cx="444500" cy="307280"/>
          </a:xfrm>
          <a:prstGeom prst="rect">
            <a:avLst/>
          </a:prstGeom>
          <a:solidFill>
            <a:srgbClr val="FFFFFF"/>
          </a:solidFill>
          <a:ln>
            <a:noFill/>
          </a:ln>
        </p:spPr>
        <p:txBody>
          <a:bodyPr rtlCol="0" anchor="ctr"/>
          <a:lstStyle/>
          <a:p>
            <a:pPr algn="ctr"/>
          </a:p>
        </p:txBody>
      </p:sp>
      <p:sp>
        <p:nvSpPr>
          <p:cNvPr id="157" name="Rule 156"/>
          <p:cNvSpPr/>
          <p:nvPr/>
        </p:nvSpPr>
        <p:spPr>
          <a:xfrm>
            <a:off x="6356350" y="3892649"/>
            <a:ext cx="6350" cy="307280"/>
          </a:xfrm>
          <a:prstGeom prst="rect">
            <a:avLst/>
          </a:prstGeom>
          <a:solidFill>
            <a:srgbClr val="D3D9DF"/>
          </a:solidFill>
          <a:ln>
            <a:noFill/>
          </a:ln>
        </p:spPr>
        <p:txBody>
          <a:bodyPr rtlCol="0" anchor="ctr"/>
          <a:lstStyle/>
          <a:p>
            <a:pPr algn="ctr"/>
          </a:p>
        </p:txBody>
      </p:sp>
      <p:sp>
        <p:nvSpPr>
          <p:cNvPr id="158" name="Box 157"/>
          <p:cNvSpPr/>
          <p:nvPr/>
        </p:nvSpPr>
        <p:spPr>
          <a:xfrm>
            <a:off x="5619750" y="3892649"/>
            <a:ext cx="736600" cy="307280"/>
          </a:xfrm>
          <a:prstGeom prst="rect">
            <a:avLst/>
          </a:prstGeom>
          <a:solidFill>
            <a:srgbClr val="FFFFFF"/>
          </a:solidFill>
          <a:ln>
            <a:noFill/>
          </a:ln>
        </p:spPr>
        <p:txBody>
          <a:bodyPr rtlCol="0" anchor="ctr"/>
          <a:lstStyle/>
          <a:p>
            <a:pPr algn="ctr"/>
          </a:p>
        </p:txBody>
      </p:sp>
      <p:sp>
        <p:nvSpPr>
          <p:cNvPr id="159" name="Rule 158"/>
          <p:cNvSpPr/>
          <p:nvPr/>
        </p:nvSpPr>
        <p:spPr>
          <a:xfrm>
            <a:off x="5619750" y="3892649"/>
            <a:ext cx="6350" cy="307280"/>
          </a:xfrm>
          <a:prstGeom prst="rect">
            <a:avLst/>
          </a:prstGeom>
          <a:solidFill>
            <a:srgbClr val="D3D9DF"/>
          </a:solidFill>
          <a:ln>
            <a:noFill/>
          </a:ln>
        </p:spPr>
        <p:txBody>
          <a:bodyPr rtlCol="0" anchor="ctr"/>
          <a:lstStyle/>
          <a:p>
            <a:pPr algn="ctr"/>
          </a:p>
        </p:txBody>
      </p:sp>
      <p:sp>
        <p:nvSpPr>
          <p:cNvPr id="160" name="Box 159"/>
          <p:cNvSpPr/>
          <p:nvPr/>
        </p:nvSpPr>
        <p:spPr>
          <a:xfrm>
            <a:off x="4819650" y="3892649"/>
            <a:ext cx="800100" cy="307280"/>
          </a:xfrm>
          <a:prstGeom prst="rect">
            <a:avLst/>
          </a:prstGeom>
          <a:solidFill>
            <a:srgbClr val="FFFFFF"/>
          </a:solidFill>
          <a:ln>
            <a:noFill/>
          </a:ln>
        </p:spPr>
        <p:txBody>
          <a:bodyPr rtlCol="0" anchor="ctr"/>
          <a:lstStyle/>
          <a:p>
            <a:pPr algn="ctr"/>
          </a:p>
        </p:txBody>
      </p:sp>
      <p:sp>
        <p:nvSpPr>
          <p:cNvPr id="161" name="Rule 160"/>
          <p:cNvSpPr/>
          <p:nvPr/>
        </p:nvSpPr>
        <p:spPr>
          <a:xfrm>
            <a:off x="4819650" y="3892649"/>
            <a:ext cx="6350" cy="307280"/>
          </a:xfrm>
          <a:prstGeom prst="rect">
            <a:avLst/>
          </a:prstGeom>
          <a:solidFill>
            <a:srgbClr val="D3D9DF"/>
          </a:solidFill>
          <a:ln>
            <a:noFill/>
          </a:ln>
        </p:spPr>
        <p:txBody>
          <a:bodyPr rtlCol="0" anchor="ctr"/>
          <a:lstStyle/>
          <a:p>
            <a:pPr algn="ctr"/>
          </a:p>
        </p:txBody>
      </p:sp>
      <p:sp>
        <p:nvSpPr>
          <p:cNvPr id="162" name="Box 161"/>
          <p:cNvSpPr/>
          <p:nvPr/>
        </p:nvSpPr>
        <p:spPr>
          <a:xfrm>
            <a:off x="3956050" y="3892649"/>
            <a:ext cx="863600" cy="307280"/>
          </a:xfrm>
          <a:prstGeom prst="rect">
            <a:avLst/>
          </a:prstGeom>
          <a:solidFill>
            <a:srgbClr val="FFFFFF"/>
          </a:solidFill>
          <a:ln>
            <a:noFill/>
          </a:ln>
        </p:spPr>
        <p:txBody>
          <a:bodyPr rtlCol="0" anchor="ctr"/>
          <a:lstStyle/>
          <a:p>
            <a:pPr algn="ctr"/>
          </a:p>
        </p:txBody>
      </p:sp>
      <p:sp>
        <p:nvSpPr>
          <p:cNvPr id="163" name="Rule 162"/>
          <p:cNvSpPr/>
          <p:nvPr/>
        </p:nvSpPr>
        <p:spPr>
          <a:xfrm>
            <a:off x="3956050" y="3892649"/>
            <a:ext cx="6350" cy="307280"/>
          </a:xfrm>
          <a:prstGeom prst="rect">
            <a:avLst/>
          </a:prstGeom>
          <a:solidFill>
            <a:srgbClr val="D3D9DF"/>
          </a:solidFill>
          <a:ln>
            <a:noFill/>
          </a:ln>
        </p:spPr>
        <p:txBody>
          <a:bodyPr rtlCol="0" anchor="ctr"/>
          <a:lstStyle/>
          <a:p>
            <a:pPr algn="ctr"/>
          </a:p>
        </p:txBody>
      </p:sp>
      <p:sp>
        <p:nvSpPr>
          <p:cNvPr id="164" name="Box 163"/>
          <p:cNvSpPr/>
          <p:nvPr/>
        </p:nvSpPr>
        <p:spPr>
          <a:xfrm>
            <a:off x="3155950" y="3892649"/>
            <a:ext cx="800100" cy="307280"/>
          </a:xfrm>
          <a:prstGeom prst="rect">
            <a:avLst/>
          </a:prstGeom>
          <a:solidFill>
            <a:srgbClr val="FFFFFF"/>
          </a:solidFill>
          <a:ln>
            <a:noFill/>
          </a:ln>
        </p:spPr>
        <p:txBody>
          <a:bodyPr rtlCol="0" anchor="ctr"/>
          <a:lstStyle/>
          <a:p>
            <a:pPr algn="ctr"/>
          </a:p>
        </p:txBody>
      </p:sp>
      <p:sp>
        <p:nvSpPr>
          <p:cNvPr id="165" name="Rule 164"/>
          <p:cNvSpPr/>
          <p:nvPr/>
        </p:nvSpPr>
        <p:spPr>
          <a:xfrm>
            <a:off x="3155950" y="3892649"/>
            <a:ext cx="6350" cy="307280"/>
          </a:xfrm>
          <a:prstGeom prst="rect">
            <a:avLst/>
          </a:prstGeom>
          <a:solidFill>
            <a:srgbClr val="D3D9DF"/>
          </a:solidFill>
          <a:ln>
            <a:noFill/>
          </a:ln>
        </p:spPr>
        <p:txBody>
          <a:bodyPr rtlCol="0" anchor="ctr"/>
          <a:lstStyle/>
          <a:p>
            <a:pPr algn="ctr"/>
          </a:p>
        </p:txBody>
      </p:sp>
      <p:sp>
        <p:nvSpPr>
          <p:cNvPr id="166" name="Box 165"/>
          <p:cNvSpPr/>
          <p:nvPr/>
        </p:nvSpPr>
        <p:spPr>
          <a:xfrm>
            <a:off x="2520950" y="3892649"/>
            <a:ext cx="635000" cy="307280"/>
          </a:xfrm>
          <a:prstGeom prst="rect">
            <a:avLst/>
          </a:prstGeom>
          <a:solidFill>
            <a:srgbClr val="FFFFFF"/>
          </a:solidFill>
          <a:ln>
            <a:noFill/>
          </a:ln>
        </p:spPr>
        <p:txBody>
          <a:bodyPr rtlCol="0" anchor="ctr"/>
          <a:lstStyle/>
          <a:p>
            <a:pPr algn="ctr"/>
          </a:p>
        </p:txBody>
      </p:sp>
      <p:sp>
        <p:nvSpPr>
          <p:cNvPr id="167" name="Rule 166"/>
          <p:cNvSpPr/>
          <p:nvPr/>
        </p:nvSpPr>
        <p:spPr>
          <a:xfrm>
            <a:off x="2520950" y="3892649"/>
            <a:ext cx="6350" cy="307280"/>
          </a:xfrm>
          <a:prstGeom prst="rect">
            <a:avLst/>
          </a:prstGeom>
          <a:solidFill>
            <a:srgbClr val="D3D9DF"/>
          </a:solidFill>
          <a:ln>
            <a:noFill/>
          </a:ln>
        </p:spPr>
        <p:txBody>
          <a:bodyPr rtlCol="0" anchor="ctr"/>
          <a:lstStyle/>
          <a:p>
            <a:pPr algn="ctr"/>
          </a:p>
        </p:txBody>
      </p:sp>
      <p:sp>
        <p:nvSpPr>
          <p:cNvPr id="168" name="Box 167"/>
          <p:cNvSpPr/>
          <p:nvPr/>
        </p:nvSpPr>
        <p:spPr>
          <a:xfrm>
            <a:off x="1809750" y="3892649"/>
            <a:ext cx="711200" cy="307280"/>
          </a:xfrm>
          <a:prstGeom prst="rect">
            <a:avLst/>
          </a:prstGeom>
          <a:solidFill>
            <a:srgbClr val="FFFFFF"/>
          </a:solidFill>
          <a:ln>
            <a:noFill/>
          </a:ln>
        </p:spPr>
        <p:txBody>
          <a:bodyPr rtlCol="0" anchor="ctr"/>
          <a:lstStyle/>
          <a:p>
            <a:pPr algn="ctr"/>
          </a:p>
        </p:txBody>
      </p:sp>
      <p:sp>
        <p:nvSpPr>
          <p:cNvPr id="169" name="Rule 168"/>
          <p:cNvSpPr/>
          <p:nvPr/>
        </p:nvSpPr>
        <p:spPr>
          <a:xfrm>
            <a:off x="1809750" y="3892649"/>
            <a:ext cx="6350" cy="307280"/>
          </a:xfrm>
          <a:prstGeom prst="rect">
            <a:avLst/>
          </a:prstGeom>
          <a:solidFill>
            <a:srgbClr val="D3D9DF"/>
          </a:solidFill>
          <a:ln>
            <a:noFill/>
          </a:ln>
        </p:spPr>
        <p:txBody>
          <a:bodyPr rtlCol="0" anchor="ctr"/>
          <a:lstStyle/>
          <a:p>
            <a:pPr algn="ctr"/>
          </a:p>
        </p:txBody>
      </p:sp>
      <p:sp>
        <p:nvSpPr>
          <p:cNvPr id="170" name="Box 169"/>
          <p:cNvSpPr/>
          <p:nvPr/>
        </p:nvSpPr>
        <p:spPr>
          <a:xfrm>
            <a:off x="819150" y="3892649"/>
            <a:ext cx="990600" cy="307280"/>
          </a:xfrm>
          <a:prstGeom prst="rect">
            <a:avLst/>
          </a:prstGeom>
          <a:solidFill>
            <a:srgbClr val="FFFFFF"/>
          </a:solidFill>
          <a:ln>
            <a:noFill/>
          </a:ln>
        </p:spPr>
        <p:txBody>
          <a:bodyPr rtlCol="0" anchor="ctr"/>
          <a:lstStyle/>
          <a:p>
            <a:pPr algn="ctr"/>
          </a:p>
        </p:txBody>
      </p:sp>
      <p:sp>
        <p:nvSpPr>
          <p:cNvPr id="171" name="Rule 170"/>
          <p:cNvSpPr/>
          <p:nvPr/>
        </p:nvSpPr>
        <p:spPr>
          <a:xfrm>
            <a:off x="819150" y="3892649"/>
            <a:ext cx="6350" cy="307280"/>
          </a:xfrm>
          <a:prstGeom prst="rect">
            <a:avLst/>
          </a:prstGeom>
          <a:solidFill>
            <a:srgbClr val="D3D9DF"/>
          </a:solidFill>
          <a:ln>
            <a:noFill/>
          </a:ln>
        </p:spPr>
        <p:txBody>
          <a:bodyPr rtlCol="0" anchor="ctr"/>
          <a:lstStyle/>
          <a:p>
            <a:pPr algn="ctr"/>
          </a:p>
        </p:txBody>
      </p:sp>
      <p:sp>
        <p:nvSpPr>
          <p:cNvPr id="172" name="Rule 171"/>
          <p:cNvSpPr/>
          <p:nvPr/>
        </p:nvSpPr>
        <p:spPr>
          <a:xfrm>
            <a:off x="819150" y="4513560"/>
            <a:ext cx="10553700" cy="6350"/>
          </a:xfrm>
          <a:prstGeom prst="rect">
            <a:avLst/>
          </a:prstGeom>
          <a:solidFill>
            <a:srgbClr val="D3D9DF"/>
          </a:solidFill>
          <a:ln>
            <a:noFill/>
          </a:ln>
        </p:spPr>
        <p:txBody>
          <a:bodyPr rtlCol="0" anchor="ctr"/>
          <a:lstStyle/>
          <a:p>
            <a:pPr algn="ctr"/>
          </a:p>
        </p:txBody>
      </p:sp>
      <p:sp>
        <p:nvSpPr>
          <p:cNvPr id="173" name="Box 172"/>
          <p:cNvSpPr/>
          <p:nvPr/>
        </p:nvSpPr>
        <p:spPr>
          <a:xfrm>
            <a:off x="11017250" y="4206280"/>
            <a:ext cx="355600" cy="307280"/>
          </a:xfrm>
          <a:prstGeom prst="roundRect">
            <a:avLst>
              <a:gd name="adj" fmla="val 3616"/>
            </a:avLst>
          </a:prstGeom>
          <a:solidFill>
            <a:srgbClr val="EEF1F4"/>
          </a:solidFill>
          <a:ln>
            <a:noFill/>
          </a:ln>
        </p:spPr>
        <p:txBody>
          <a:bodyPr rtlCol="0" anchor="ctr"/>
          <a:lstStyle/>
          <a:p>
            <a:pPr algn="ctr"/>
          </a:p>
        </p:txBody>
      </p:sp>
      <p:sp>
        <p:nvSpPr>
          <p:cNvPr id="174" name="Rule 173"/>
          <p:cNvSpPr/>
          <p:nvPr/>
        </p:nvSpPr>
        <p:spPr>
          <a:xfrm>
            <a:off x="11017250" y="4206280"/>
            <a:ext cx="6350" cy="307280"/>
          </a:xfrm>
          <a:prstGeom prst="rect">
            <a:avLst/>
          </a:prstGeom>
          <a:solidFill>
            <a:srgbClr val="D3D9DF"/>
          </a:solidFill>
          <a:ln>
            <a:noFill/>
          </a:ln>
        </p:spPr>
        <p:txBody>
          <a:bodyPr rtlCol="0" anchor="ctr"/>
          <a:lstStyle/>
          <a:p>
            <a:pPr algn="ctr"/>
          </a:p>
        </p:txBody>
      </p:sp>
      <p:sp>
        <p:nvSpPr>
          <p:cNvPr id="175" name="Text 174"/>
          <p:cNvSpPr txBox="1"/>
          <p:nvPr/>
        </p:nvSpPr>
        <p:spPr>
          <a:xfrm>
            <a:off x="11054080" y="423726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176" name="Box 175"/>
          <p:cNvSpPr/>
          <p:nvPr/>
        </p:nvSpPr>
        <p:spPr>
          <a:xfrm>
            <a:off x="10382250" y="4206280"/>
            <a:ext cx="635000" cy="307280"/>
          </a:xfrm>
          <a:prstGeom prst="rect">
            <a:avLst/>
          </a:prstGeom>
          <a:solidFill>
            <a:srgbClr val="FFFFFF"/>
          </a:solidFill>
          <a:ln>
            <a:noFill/>
          </a:ln>
        </p:spPr>
        <p:txBody>
          <a:bodyPr rtlCol="0" anchor="ctr"/>
          <a:lstStyle/>
          <a:p>
            <a:pPr algn="ctr"/>
          </a:p>
        </p:txBody>
      </p:sp>
      <p:sp>
        <p:nvSpPr>
          <p:cNvPr id="177" name="Rule 176"/>
          <p:cNvSpPr/>
          <p:nvPr/>
        </p:nvSpPr>
        <p:spPr>
          <a:xfrm>
            <a:off x="10382250" y="4206280"/>
            <a:ext cx="6350" cy="307280"/>
          </a:xfrm>
          <a:prstGeom prst="rect">
            <a:avLst/>
          </a:prstGeom>
          <a:solidFill>
            <a:srgbClr val="D3D9DF"/>
          </a:solidFill>
          <a:ln>
            <a:noFill/>
          </a:ln>
        </p:spPr>
        <p:txBody>
          <a:bodyPr rtlCol="0" anchor="ctr"/>
          <a:lstStyle/>
          <a:p>
            <a:pPr algn="ctr"/>
          </a:p>
        </p:txBody>
      </p:sp>
      <p:sp>
        <p:nvSpPr>
          <p:cNvPr id="178" name="Box 177"/>
          <p:cNvSpPr/>
          <p:nvPr/>
        </p:nvSpPr>
        <p:spPr>
          <a:xfrm>
            <a:off x="9518650" y="4206280"/>
            <a:ext cx="863600" cy="307280"/>
          </a:xfrm>
          <a:prstGeom prst="rect">
            <a:avLst/>
          </a:prstGeom>
          <a:solidFill>
            <a:srgbClr val="FFFFFF"/>
          </a:solidFill>
          <a:ln>
            <a:noFill/>
          </a:ln>
        </p:spPr>
        <p:txBody>
          <a:bodyPr rtlCol="0" anchor="ctr"/>
          <a:lstStyle/>
          <a:p>
            <a:pPr algn="ctr"/>
          </a:p>
        </p:txBody>
      </p:sp>
      <p:sp>
        <p:nvSpPr>
          <p:cNvPr id="179" name="Rule 178"/>
          <p:cNvSpPr/>
          <p:nvPr/>
        </p:nvSpPr>
        <p:spPr>
          <a:xfrm>
            <a:off x="9518650" y="4206280"/>
            <a:ext cx="6350" cy="307280"/>
          </a:xfrm>
          <a:prstGeom prst="rect">
            <a:avLst/>
          </a:prstGeom>
          <a:solidFill>
            <a:srgbClr val="D3D9DF"/>
          </a:solidFill>
          <a:ln>
            <a:noFill/>
          </a:ln>
        </p:spPr>
        <p:txBody>
          <a:bodyPr rtlCol="0" anchor="ctr"/>
          <a:lstStyle/>
          <a:p>
            <a:pPr algn="ctr"/>
          </a:p>
        </p:txBody>
      </p:sp>
      <p:sp>
        <p:nvSpPr>
          <p:cNvPr id="180" name="Box 179"/>
          <p:cNvSpPr/>
          <p:nvPr/>
        </p:nvSpPr>
        <p:spPr>
          <a:xfrm>
            <a:off x="8426450" y="4206280"/>
            <a:ext cx="1092200" cy="307280"/>
          </a:xfrm>
          <a:prstGeom prst="rect">
            <a:avLst/>
          </a:prstGeom>
          <a:solidFill>
            <a:srgbClr val="FFFFFF"/>
          </a:solidFill>
          <a:ln>
            <a:noFill/>
          </a:ln>
        </p:spPr>
        <p:txBody>
          <a:bodyPr rtlCol="0" anchor="ctr"/>
          <a:lstStyle/>
          <a:p>
            <a:pPr algn="ctr"/>
          </a:p>
        </p:txBody>
      </p:sp>
      <p:sp>
        <p:nvSpPr>
          <p:cNvPr id="181" name="Rule 180"/>
          <p:cNvSpPr/>
          <p:nvPr/>
        </p:nvSpPr>
        <p:spPr>
          <a:xfrm>
            <a:off x="8426450" y="4206280"/>
            <a:ext cx="6350" cy="307280"/>
          </a:xfrm>
          <a:prstGeom prst="rect">
            <a:avLst/>
          </a:prstGeom>
          <a:solidFill>
            <a:srgbClr val="D3D9DF"/>
          </a:solidFill>
          <a:ln>
            <a:noFill/>
          </a:ln>
        </p:spPr>
        <p:txBody>
          <a:bodyPr rtlCol="0" anchor="ctr"/>
          <a:lstStyle/>
          <a:p>
            <a:pPr algn="ctr"/>
          </a:p>
        </p:txBody>
      </p:sp>
      <p:sp>
        <p:nvSpPr>
          <p:cNvPr id="182" name="Box 181"/>
          <p:cNvSpPr/>
          <p:nvPr/>
        </p:nvSpPr>
        <p:spPr>
          <a:xfrm>
            <a:off x="7600950" y="4206280"/>
            <a:ext cx="825500" cy="307280"/>
          </a:xfrm>
          <a:prstGeom prst="rect">
            <a:avLst/>
          </a:prstGeom>
          <a:solidFill>
            <a:srgbClr val="FFFFFF"/>
          </a:solidFill>
          <a:ln>
            <a:noFill/>
          </a:ln>
        </p:spPr>
        <p:txBody>
          <a:bodyPr rtlCol="0" anchor="ctr"/>
          <a:lstStyle/>
          <a:p>
            <a:pPr algn="ctr"/>
          </a:p>
        </p:txBody>
      </p:sp>
      <p:sp>
        <p:nvSpPr>
          <p:cNvPr id="183" name="Rule 182"/>
          <p:cNvSpPr/>
          <p:nvPr/>
        </p:nvSpPr>
        <p:spPr>
          <a:xfrm>
            <a:off x="7600950" y="4206280"/>
            <a:ext cx="6350" cy="307280"/>
          </a:xfrm>
          <a:prstGeom prst="rect">
            <a:avLst/>
          </a:prstGeom>
          <a:solidFill>
            <a:srgbClr val="D3D9DF"/>
          </a:solidFill>
          <a:ln>
            <a:noFill/>
          </a:ln>
        </p:spPr>
        <p:txBody>
          <a:bodyPr rtlCol="0" anchor="ctr"/>
          <a:lstStyle/>
          <a:p>
            <a:pPr algn="ctr"/>
          </a:p>
        </p:txBody>
      </p:sp>
      <p:sp>
        <p:nvSpPr>
          <p:cNvPr id="184" name="Box 183"/>
          <p:cNvSpPr/>
          <p:nvPr/>
        </p:nvSpPr>
        <p:spPr>
          <a:xfrm>
            <a:off x="6800850" y="4206280"/>
            <a:ext cx="800100" cy="307280"/>
          </a:xfrm>
          <a:prstGeom prst="rect">
            <a:avLst/>
          </a:prstGeom>
          <a:solidFill>
            <a:srgbClr val="FFFFFF"/>
          </a:solidFill>
          <a:ln>
            <a:noFill/>
          </a:ln>
        </p:spPr>
        <p:txBody>
          <a:bodyPr rtlCol="0" anchor="ctr"/>
          <a:lstStyle/>
          <a:p>
            <a:pPr algn="ctr"/>
          </a:p>
        </p:txBody>
      </p:sp>
      <p:sp>
        <p:nvSpPr>
          <p:cNvPr id="185" name="Rule 184"/>
          <p:cNvSpPr/>
          <p:nvPr/>
        </p:nvSpPr>
        <p:spPr>
          <a:xfrm>
            <a:off x="6800850" y="4206280"/>
            <a:ext cx="6350" cy="307280"/>
          </a:xfrm>
          <a:prstGeom prst="rect">
            <a:avLst/>
          </a:prstGeom>
          <a:solidFill>
            <a:srgbClr val="D3D9DF"/>
          </a:solidFill>
          <a:ln>
            <a:noFill/>
          </a:ln>
        </p:spPr>
        <p:txBody>
          <a:bodyPr rtlCol="0" anchor="ctr"/>
          <a:lstStyle/>
          <a:p>
            <a:pPr algn="ctr"/>
          </a:p>
        </p:txBody>
      </p:sp>
      <p:sp>
        <p:nvSpPr>
          <p:cNvPr id="186" name="Box 185"/>
          <p:cNvSpPr/>
          <p:nvPr/>
        </p:nvSpPr>
        <p:spPr>
          <a:xfrm>
            <a:off x="6356350" y="4206280"/>
            <a:ext cx="444500" cy="307280"/>
          </a:xfrm>
          <a:prstGeom prst="rect">
            <a:avLst/>
          </a:prstGeom>
          <a:solidFill>
            <a:srgbClr val="FFFFFF"/>
          </a:solidFill>
          <a:ln>
            <a:noFill/>
          </a:ln>
        </p:spPr>
        <p:txBody>
          <a:bodyPr rtlCol="0" anchor="ctr"/>
          <a:lstStyle/>
          <a:p>
            <a:pPr algn="ctr"/>
          </a:p>
        </p:txBody>
      </p:sp>
      <p:sp>
        <p:nvSpPr>
          <p:cNvPr id="187" name="Rule 186"/>
          <p:cNvSpPr/>
          <p:nvPr/>
        </p:nvSpPr>
        <p:spPr>
          <a:xfrm>
            <a:off x="6356350" y="4206280"/>
            <a:ext cx="6350" cy="307280"/>
          </a:xfrm>
          <a:prstGeom prst="rect">
            <a:avLst/>
          </a:prstGeom>
          <a:solidFill>
            <a:srgbClr val="D3D9DF"/>
          </a:solidFill>
          <a:ln>
            <a:noFill/>
          </a:ln>
        </p:spPr>
        <p:txBody>
          <a:bodyPr rtlCol="0" anchor="ctr"/>
          <a:lstStyle/>
          <a:p>
            <a:pPr algn="ctr"/>
          </a:p>
        </p:txBody>
      </p:sp>
      <p:sp>
        <p:nvSpPr>
          <p:cNvPr id="188" name="Box 187"/>
          <p:cNvSpPr/>
          <p:nvPr/>
        </p:nvSpPr>
        <p:spPr>
          <a:xfrm>
            <a:off x="5619750" y="4206280"/>
            <a:ext cx="736600" cy="307280"/>
          </a:xfrm>
          <a:prstGeom prst="rect">
            <a:avLst/>
          </a:prstGeom>
          <a:solidFill>
            <a:srgbClr val="FFFFFF"/>
          </a:solidFill>
          <a:ln>
            <a:noFill/>
          </a:ln>
        </p:spPr>
        <p:txBody>
          <a:bodyPr rtlCol="0" anchor="ctr"/>
          <a:lstStyle/>
          <a:p>
            <a:pPr algn="ctr"/>
          </a:p>
        </p:txBody>
      </p:sp>
      <p:sp>
        <p:nvSpPr>
          <p:cNvPr id="189" name="Rule 188"/>
          <p:cNvSpPr/>
          <p:nvPr/>
        </p:nvSpPr>
        <p:spPr>
          <a:xfrm>
            <a:off x="5619750" y="4206280"/>
            <a:ext cx="6350" cy="307280"/>
          </a:xfrm>
          <a:prstGeom prst="rect">
            <a:avLst/>
          </a:prstGeom>
          <a:solidFill>
            <a:srgbClr val="D3D9DF"/>
          </a:solidFill>
          <a:ln>
            <a:noFill/>
          </a:ln>
        </p:spPr>
        <p:txBody>
          <a:bodyPr rtlCol="0" anchor="ctr"/>
          <a:lstStyle/>
          <a:p>
            <a:pPr algn="ctr"/>
          </a:p>
        </p:txBody>
      </p:sp>
      <p:sp>
        <p:nvSpPr>
          <p:cNvPr id="190" name="Box 189"/>
          <p:cNvSpPr/>
          <p:nvPr/>
        </p:nvSpPr>
        <p:spPr>
          <a:xfrm>
            <a:off x="4819650" y="4206280"/>
            <a:ext cx="800100" cy="307280"/>
          </a:xfrm>
          <a:prstGeom prst="rect">
            <a:avLst/>
          </a:prstGeom>
          <a:solidFill>
            <a:srgbClr val="FFFFFF"/>
          </a:solidFill>
          <a:ln>
            <a:noFill/>
          </a:ln>
        </p:spPr>
        <p:txBody>
          <a:bodyPr rtlCol="0" anchor="ctr"/>
          <a:lstStyle/>
          <a:p>
            <a:pPr algn="ctr"/>
          </a:p>
        </p:txBody>
      </p:sp>
      <p:sp>
        <p:nvSpPr>
          <p:cNvPr id="191" name="Rule 190"/>
          <p:cNvSpPr/>
          <p:nvPr/>
        </p:nvSpPr>
        <p:spPr>
          <a:xfrm>
            <a:off x="4819650" y="4206280"/>
            <a:ext cx="6350" cy="307280"/>
          </a:xfrm>
          <a:prstGeom prst="rect">
            <a:avLst/>
          </a:prstGeom>
          <a:solidFill>
            <a:srgbClr val="D3D9DF"/>
          </a:solidFill>
          <a:ln>
            <a:noFill/>
          </a:ln>
        </p:spPr>
        <p:txBody>
          <a:bodyPr rtlCol="0" anchor="ctr"/>
          <a:lstStyle/>
          <a:p>
            <a:pPr algn="ctr"/>
          </a:p>
        </p:txBody>
      </p:sp>
      <p:sp>
        <p:nvSpPr>
          <p:cNvPr id="192" name="Box 191"/>
          <p:cNvSpPr/>
          <p:nvPr/>
        </p:nvSpPr>
        <p:spPr>
          <a:xfrm>
            <a:off x="3956050" y="4206280"/>
            <a:ext cx="863600" cy="307280"/>
          </a:xfrm>
          <a:prstGeom prst="rect">
            <a:avLst/>
          </a:prstGeom>
          <a:solidFill>
            <a:srgbClr val="FFFFFF"/>
          </a:solidFill>
          <a:ln>
            <a:noFill/>
          </a:ln>
        </p:spPr>
        <p:txBody>
          <a:bodyPr rtlCol="0" anchor="ctr"/>
          <a:lstStyle/>
          <a:p>
            <a:pPr algn="ctr"/>
          </a:p>
        </p:txBody>
      </p:sp>
      <p:sp>
        <p:nvSpPr>
          <p:cNvPr id="193" name="Rule 192"/>
          <p:cNvSpPr/>
          <p:nvPr/>
        </p:nvSpPr>
        <p:spPr>
          <a:xfrm>
            <a:off x="3956050" y="4206280"/>
            <a:ext cx="6350" cy="307280"/>
          </a:xfrm>
          <a:prstGeom prst="rect">
            <a:avLst/>
          </a:prstGeom>
          <a:solidFill>
            <a:srgbClr val="D3D9DF"/>
          </a:solidFill>
          <a:ln>
            <a:noFill/>
          </a:ln>
        </p:spPr>
        <p:txBody>
          <a:bodyPr rtlCol="0" anchor="ctr"/>
          <a:lstStyle/>
          <a:p>
            <a:pPr algn="ctr"/>
          </a:p>
        </p:txBody>
      </p:sp>
      <p:sp>
        <p:nvSpPr>
          <p:cNvPr id="194" name="Box 193"/>
          <p:cNvSpPr/>
          <p:nvPr/>
        </p:nvSpPr>
        <p:spPr>
          <a:xfrm>
            <a:off x="3155950" y="4206280"/>
            <a:ext cx="800100" cy="307280"/>
          </a:xfrm>
          <a:prstGeom prst="rect">
            <a:avLst/>
          </a:prstGeom>
          <a:solidFill>
            <a:srgbClr val="FFFFFF"/>
          </a:solidFill>
          <a:ln>
            <a:noFill/>
          </a:ln>
        </p:spPr>
        <p:txBody>
          <a:bodyPr rtlCol="0" anchor="ctr"/>
          <a:lstStyle/>
          <a:p>
            <a:pPr algn="ctr"/>
          </a:p>
        </p:txBody>
      </p:sp>
      <p:sp>
        <p:nvSpPr>
          <p:cNvPr id="195" name="Rule 194"/>
          <p:cNvSpPr/>
          <p:nvPr/>
        </p:nvSpPr>
        <p:spPr>
          <a:xfrm>
            <a:off x="3155950" y="4206280"/>
            <a:ext cx="6350" cy="307280"/>
          </a:xfrm>
          <a:prstGeom prst="rect">
            <a:avLst/>
          </a:prstGeom>
          <a:solidFill>
            <a:srgbClr val="D3D9DF"/>
          </a:solidFill>
          <a:ln>
            <a:noFill/>
          </a:ln>
        </p:spPr>
        <p:txBody>
          <a:bodyPr rtlCol="0" anchor="ctr"/>
          <a:lstStyle/>
          <a:p>
            <a:pPr algn="ctr"/>
          </a:p>
        </p:txBody>
      </p:sp>
      <p:sp>
        <p:nvSpPr>
          <p:cNvPr id="196" name="Box 195"/>
          <p:cNvSpPr/>
          <p:nvPr/>
        </p:nvSpPr>
        <p:spPr>
          <a:xfrm>
            <a:off x="2520950" y="4206280"/>
            <a:ext cx="635000" cy="307280"/>
          </a:xfrm>
          <a:prstGeom prst="rect">
            <a:avLst/>
          </a:prstGeom>
          <a:solidFill>
            <a:srgbClr val="FFFFFF"/>
          </a:solidFill>
          <a:ln>
            <a:noFill/>
          </a:ln>
        </p:spPr>
        <p:txBody>
          <a:bodyPr rtlCol="0" anchor="ctr"/>
          <a:lstStyle/>
          <a:p>
            <a:pPr algn="ctr"/>
          </a:p>
        </p:txBody>
      </p:sp>
      <p:sp>
        <p:nvSpPr>
          <p:cNvPr id="197" name="Rule 196"/>
          <p:cNvSpPr/>
          <p:nvPr/>
        </p:nvSpPr>
        <p:spPr>
          <a:xfrm>
            <a:off x="2520950" y="4206280"/>
            <a:ext cx="6350" cy="307280"/>
          </a:xfrm>
          <a:prstGeom prst="rect">
            <a:avLst/>
          </a:prstGeom>
          <a:solidFill>
            <a:srgbClr val="D3D9DF"/>
          </a:solidFill>
          <a:ln>
            <a:noFill/>
          </a:ln>
        </p:spPr>
        <p:txBody>
          <a:bodyPr rtlCol="0" anchor="ctr"/>
          <a:lstStyle/>
          <a:p>
            <a:pPr algn="ctr"/>
          </a:p>
        </p:txBody>
      </p:sp>
      <p:sp>
        <p:nvSpPr>
          <p:cNvPr id="198" name="Box 197"/>
          <p:cNvSpPr/>
          <p:nvPr/>
        </p:nvSpPr>
        <p:spPr>
          <a:xfrm>
            <a:off x="1809750" y="4206280"/>
            <a:ext cx="711200" cy="307280"/>
          </a:xfrm>
          <a:prstGeom prst="rect">
            <a:avLst/>
          </a:prstGeom>
          <a:solidFill>
            <a:srgbClr val="FFFFFF"/>
          </a:solidFill>
          <a:ln>
            <a:noFill/>
          </a:ln>
        </p:spPr>
        <p:txBody>
          <a:bodyPr rtlCol="0" anchor="ctr"/>
          <a:lstStyle/>
          <a:p>
            <a:pPr algn="ctr"/>
          </a:p>
        </p:txBody>
      </p:sp>
      <p:sp>
        <p:nvSpPr>
          <p:cNvPr id="199" name="Rule 198"/>
          <p:cNvSpPr/>
          <p:nvPr/>
        </p:nvSpPr>
        <p:spPr>
          <a:xfrm>
            <a:off x="1809750" y="4206280"/>
            <a:ext cx="6350" cy="307280"/>
          </a:xfrm>
          <a:prstGeom prst="rect">
            <a:avLst/>
          </a:prstGeom>
          <a:solidFill>
            <a:srgbClr val="D3D9DF"/>
          </a:solidFill>
          <a:ln>
            <a:noFill/>
          </a:ln>
        </p:spPr>
        <p:txBody>
          <a:bodyPr rtlCol="0" anchor="ctr"/>
          <a:lstStyle/>
          <a:p>
            <a:pPr algn="ctr"/>
          </a:p>
        </p:txBody>
      </p:sp>
      <p:sp>
        <p:nvSpPr>
          <p:cNvPr id="200" name="Box 199"/>
          <p:cNvSpPr/>
          <p:nvPr/>
        </p:nvSpPr>
        <p:spPr>
          <a:xfrm>
            <a:off x="819150" y="4206280"/>
            <a:ext cx="990600" cy="307280"/>
          </a:xfrm>
          <a:prstGeom prst="roundRect">
            <a:avLst>
              <a:gd name="adj" fmla="val 3616"/>
            </a:avLst>
          </a:prstGeom>
          <a:solidFill>
            <a:srgbClr val="FFFFFF"/>
          </a:solidFill>
          <a:ln>
            <a:noFill/>
          </a:ln>
        </p:spPr>
        <p:txBody>
          <a:bodyPr rtlCol="0" anchor="ctr"/>
          <a:lstStyle/>
          <a:p>
            <a:pPr algn="ctr"/>
          </a:p>
        </p:txBody>
      </p:sp>
      <p:sp>
        <p:nvSpPr>
          <p:cNvPr id="201" name="Rule 200"/>
          <p:cNvSpPr/>
          <p:nvPr/>
        </p:nvSpPr>
        <p:spPr>
          <a:xfrm>
            <a:off x="819150" y="4206280"/>
            <a:ext cx="6350" cy="307280"/>
          </a:xfrm>
          <a:prstGeom prst="rect">
            <a:avLst/>
          </a:prstGeom>
          <a:solidFill>
            <a:srgbClr val="D3D9DF"/>
          </a:solidFill>
          <a:ln>
            <a:noFill/>
          </a:ln>
        </p:spPr>
        <p:txBody>
          <a:bodyPr rtlCol="0" anchor="ctr"/>
          <a:lstStyle/>
          <a:p>
            <a:pPr algn="ctr"/>
          </a:p>
        </p:txBody>
      </p:sp>
      <p:pic>
        <p:nvPicPr>
          <p:cNvPr id="202" name="Icon Search 201" descr="icon038.png"/>
          <p:cNvPicPr>
            <a:picLocks noChangeAspect="1"/>
          </p:cNvPicPr>
          <p:nvPr/>
        </p:nvPicPr>
        <p:blipFill>
          <a:blip r:embed="rId2"/>
          <a:stretch>
            <a:fillRect/>
          </a:stretch>
        </p:blipFill>
        <p:spPr>
          <a:xfrm>
            <a:off x="11125200" y="5074841"/>
            <a:ext cx="254000" cy="254000"/>
          </a:xfrm>
          <a:prstGeom prst="rect">
            <a:avLst/>
          </a:prstGeom>
        </p:spPr>
      </p:pic>
      <p:sp>
        <p:nvSpPr>
          <p:cNvPr id="203" name="Text 202"/>
          <p:cNvSpPr txBox="1"/>
          <p:nvPr/>
        </p:nvSpPr>
        <p:spPr>
          <a:xfrm>
            <a:off x="0" y="5028164"/>
            <a:ext cx="1102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صف واحد مكتمل للخطر R-⁠07. الخلية المحددة C2 يظهر نصها كاملاً في شريط الصيغة. في الشرائح الثلاث التالية نكبّر أعمدته بالترتيب.</a:t>
            </a:r>
          </a:p>
        </p:txBody>
      </p:sp>
      <p:sp>
        <p:nvSpPr>
          <p:cNvPr id="204" name="Text 20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05" name="Text 20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(1 من 3): الأصل ووصف الخطر</a:t>
            </a:r>
          </a:p>
        </p:txBody>
      </p:sp>
      <p:sp>
        <p:nvSpPr>
          <p:cNvPr id="6" name="Box 5"/>
          <p:cNvSpPr/>
          <p:nvPr/>
        </p:nvSpPr>
        <p:spPr>
          <a:xfrm>
            <a:off x="815975" y="1661120"/>
            <a:ext cx="10560050" cy="2483644"/>
          </a:xfrm>
          <a:prstGeom prst="roundRect">
            <a:avLst>
              <a:gd name="adj" fmla="val 2040"/>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10064750" y="1664295"/>
            <a:ext cx="952500" cy="307280"/>
          </a:xfrm>
          <a:prstGeom prst="rect">
            <a:avLst/>
          </a:prstGeom>
          <a:solidFill>
            <a:srgbClr val="EEF1F4"/>
          </a:solidFill>
          <a:ln>
            <a:noFill/>
          </a:ln>
        </p:spPr>
        <p:txBody>
          <a:bodyPr rtlCol="0" anchor="ctr"/>
          <a:lstStyle/>
          <a:p>
            <a:pPr algn="ctr"/>
          </a:p>
        </p:txBody>
      </p:sp>
      <p:sp>
        <p:nvSpPr>
          <p:cNvPr id="11" name="Rule 10"/>
          <p:cNvSpPr/>
          <p:nvPr/>
        </p:nvSpPr>
        <p:spPr>
          <a:xfrm>
            <a:off x="100647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10101580" y="1695283"/>
            <a:ext cx="885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3" name="Box 12"/>
          <p:cNvSpPr/>
          <p:nvPr/>
        </p:nvSpPr>
        <p:spPr>
          <a:xfrm>
            <a:off x="7397750" y="1664295"/>
            <a:ext cx="2667000" cy="307280"/>
          </a:xfrm>
          <a:prstGeom prst="rect">
            <a:avLst/>
          </a:prstGeom>
          <a:solidFill>
            <a:srgbClr val="EEF1F4"/>
          </a:solidFill>
          <a:ln>
            <a:noFill/>
          </a:ln>
        </p:spPr>
        <p:txBody>
          <a:bodyPr rtlCol="0" anchor="ctr"/>
          <a:lstStyle/>
          <a:p>
            <a:pPr algn="ctr"/>
          </a:p>
        </p:txBody>
      </p:sp>
      <p:sp>
        <p:nvSpPr>
          <p:cNvPr id="14" name="Rule 13"/>
          <p:cNvSpPr/>
          <p:nvPr/>
        </p:nvSpPr>
        <p:spPr>
          <a:xfrm>
            <a:off x="73977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7423150" y="1695283"/>
            <a:ext cx="2616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16" name="Box 15"/>
          <p:cNvSpPr/>
          <p:nvPr/>
        </p:nvSpPr>
        <p:spPr>
          <a:xfrm>
            <a:off x="819150" y="1664295"/>
            <a:ext cx="6578600" cy="307280"/>
          </a:xfrm>
          <a:prstGeom prst="roundRect">
            <a:avLst>
              <a:gd name="adj" fmla="val 3616"/>
            </a:avLst>
          </a:prstGeom>
          <a:solidFill>
            <a:srgbClr val="EEF1F4"/>
          </a:solidFill>
          <a:ln>
            <a:noFill/>
          </a:ln>
        </p:spPr>
        <p:txBody>
          <a:bodyPr rtlCol="0" anchor="ctr"/>
          <a:lstStyle/>
          <a:p>
            <a:pPr algn="ctr"/>
          </a:p>
        </p:txBody>
      </p:sp>
      <p:sp>
        <p:nvSpPr>
          <p:cNvPr id="17" name="Rule 16"/>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844550" y="1695283"/>
            <a:ext cx="65278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19" name="Rule 18"/>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0" name="Box 19"/>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1" name="Rule 20"/>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2" name="Text 21"/>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3" name="Box 22"/>
          <p:cNvSpPr/>
          <p:nvPr/>
        </p:nvSpPr>
        <p:spPr>
          <a:xfrm>
            <a:off x="10064750" y="1977926"/>
            <a:ext cx="952500" cy="410170"/>
          </a:xfrm>
          <a:prstGeom prst="rect">
            <a:avLst/>
          </a:prstGeom>
          <a:solidFill>
            <a:srgbClr val="F7F8FA"/>
          </a:solidFill>
          <a:ln>
            <a:noFill/>
          </a:ln>
        </p:spPr>
        <p:txBody>
          <a:bodyPr rtlCol="0" anchor="ctr"/>
          <a:lstStyle/>
          <a:p>
            <a:pPr algn="ctr"/>
          </a:p>
        </p:txBody>
      </p:sp>
      <p:sp>
        <p:nvSpPr>
          <p:cNvPr id="24" name="Rule 23"/>
          <p:cNvSpPr/>
          <p:nvPr/>
        </p:nvSpPr>
        <p:spPr>
          <a:xfrm>
            <a:off x="10064750" y="1977926"/>
            <a:ext cx="6350" cy="410170"/>
          </a:xfrm>
          <a:prstGeom prst="rect">
            <a:avLst/>
          </a:prstGeom>
          <a:solidFill>
            <a:srgbClr val="D3D9DF"/>
          </a:solidFill>
          <a:ln>
            <a:noFill/>
          </a:ln>
        </p:spPr>
        <p:txBody>
          <a:bodyPr rtlCol="0" anchor="ctr"/>
          <a:lstStyle/>
          <a:p>
            <a:pPr algn="ctr"/>
          </a:p>
        </p:txBody>
      </p:sp>
      <p:sp>
        <p:nvSpPr>
          <p:cNvPr id="25" name="Text 24"/>
          <p:cNvSpPr txBox="1"/>
          <p:nvPr/>
        </p:nvSpPr>
        <p:spPr>
          <a:xfrm>
            <a:off x="10090150" y="1999008"/>
            <a:ext cx="850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الرقم</a:t>
            </a:r>
          </a:p>
        </p:txBody>
      </p:sp>
      <p:sp>
        <p:nvSpPr>
          <p:cNvPr id="26" name="Box 25"/>
          <p:cNvSpPr/>
          <p:nvPr/>
        </p:nvSpPr>
        <p:spPr>
          <a:xfrm>
            <a:off x="7397750" y="1977926"/>
            <a:ext cx="2667000" cy="410170"/>
          </a:xfrm>
          <a:prstGeom prst="rect">
            <a:avLst/>
          </a:prstGeom>
          <a:solidFill>
            <a:srgbClr val="F7F8FA"/>
          </a:solidFill>
          <a:ln>
            <a:noFill/>
          </a:ln>
        </p:spPr>
        <p:txBody>
          <a:bodyPr rtlCol="0" anchor="ctr"/>
          <a:lstStyle/>
          <a:p>
            <a:pPr algn="ctr"/>
          </a:p>
        </p:txBody>
      </p:sp>
      <p:sp>
        <p:nvSpPr>
          <p:cNvPr id="27" name="Rule 26"/>
          <p:cNvSpPr/>
          <p:nvPr/>
        </p:nvSpPr>
        <p:spPr>
          <a:xfrm>
            <a:off x="73977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7423150" y="1999008"/>
            <a:ext cx="2565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الأصل</a:t>
            </a:r>
          </a:p>
        </p:txBody>
      </p:sp>
      <p:sp>
        <p:nvSpPr>
          <p:cNvPr id="29" name="Box 28"/>
          <p:cNvSpPr/>
          <p:nvPr/>
        </p:nvSpPr>
        <p:spPr>
          <a:xfrm>
            <a:off x="819150" y="1977926"/>
            <a:ext cx="6578600" cy="410170"/>
          </a:xfrm>
          <a:prstGeom prst="rect">
            <a:avLst/>
          </a:prstGeom>
          <a:solidFill>
            <a:srgbClr val="F7F8FA"/>
          </a:solidFill>
          <a:ln>
            <a:noFill/>
          </a:ln>
        </p:spPr>
        <p:txBody>
          <a:bodyPr rtlCol="0" anchor="ctr"/>
          <a:lstStyle/>
          <a:p>
            <a:pPr algn="ctr"/>
          </a:p>
        </p:txBody>
      </p:sp>
      <p:sp>
        <p:nvSpPr>
          <p:cNvPr id="30" name="Rule 29"/>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844550" y="1999008"/>
            <a:ext cx="64770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وصف الخطر</a:t>
            </a:r>
          </a:p>
        </p:txBody>
      </p:sp>
      <p:sp>
        <p:nvSpPr>
          <p:cNvPr id="32" name="Rule 31"/>
          <p:cNvSpPr/>
          <p:nvPr/>
        </p:nvSpPr>
        <p:spPr>
          <a:xfrm>
            <a:off x="819150" y="3821609"/>
            <a:ext cx="10553700" cy="6350"/>
          </a:xfrm>
          <a:prstGeom prst="rect">
            <a:avLst/>
          </a:prstGeom>
          <a:solidFill>
            <a:srgbClr val="D3D9DF"/>
          </a:solidFill>
          <a:ln>
            <a:noFill/>
          </a:ln>
        </p:spPr>
        <p:txBody>
          <a:bodyPr rtlCol="0" anchor="ctr"/>
          <a:lstStyle/>
          <a:p>
            <a:pPr algn="ctr"/>
          </a:p>
        </p:txBody>
      </p:sp>
      <p:sp>
        <p:nvSpPr>
          <p:cNvPr id="33" name="Box 32"/>
          <p:cNvSpPr/>
          <p:nvPr/>
        </p:nvSpPr>
        <p:spPr>
          <a:xfrm>
            <a:off x="11017250" y="2394446"/>
            <a:ext cx="355600" cy="1427162"/>
          </a:xfrm>
          <a:prstGeom prst="rect">
            <a:avLst/>
          </a:prstGeom>
          <a:solidFill>
            <a:srgbClr val="EEF1F4"/>
          </a:solidFill>
          <a:ln>
            <a:noFill/>
          </a:ln>
        </p:spPr>
        <p:txBody>
          <a:bodyPr rtlCol="0" anchor="ctr"/>
          <a:lstStyle/>
          <a:p>
            <a:pPr algn="ctr"/>
          </a:p>
        </p:txBody>
      </p:sp>
      <p:sp>
        <p:nvSpPr>
          <p:cNvPr id="34" name="Rule 33"/>
          <p:cNvSpPr/>
          <p:nvPr/>
        </p:nvSpPr>
        <p:spPr>
          <a:xfrm>
            <a:off x="11017250" y="2394446"/>
            <a:ext cx="6350" cy="1427162"/>
          </a:xfrm>
          <a:prstGeom prst="rect">
            <a:avLst/>
          </a:prstGeom>
          <a:solidFill>
            <a:srgbClr val="D3D9DF"/>
          </a:solidFill>
          <a:ln>
            <a:noFill/>
          </a:ln>
        </p:spPr>
        <p:txBody>
          <a:bodyPr rtlCol="0" anchor="ctr"/>
          <a:lstStyle/>
          <a:p>
            <a:pPr algn="ctr"/>
          </a:p>
        </p:txBody>
      </p:sp>
      <p:sp>
        <p:nvSpPr>
          <p:cNvPr id="35" name="Text 34"/>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36" name="Box 35"/>
          <p:cNvSpPr/>
          <p:nvPr/>
        </p:nvSpPr>
        <p:spPr>
          <a:xfrm>
            <a:off x="10064750" y="2394446"/>
            <a:ext cx="952500" cy="1427162"/>
          </a:xfrm>
          <a:prstGeom prst="rect">
            <a:avLst/>
          </a:prstGeom>
          <a:solidFill>
            <a:srgbClr val="FFFFFF"/>
          </a:solidFill>
          <a:ln>
            <a:noFill/>
          </a:ln>
        </p:spPr>
        <p:txBody>
          <a:bodyPr rtlCol="0" anchor="ctr"/>
          <a:lstStyle/>
          <a:p>
            <a:pPr algn="ctr"/>
          </a:p>
        </p:txBody>
      </p:sp>
      <p:sp>
        <p:nvSpPr>
          <p:cNvPr id="37" name="Rule 36"/>
          <p:cNvSpPr/>
          <p:nvPr/>
        </p:nvSpPr>
        <p:spPr>
          <a:xfrm>
            <a:off x="10064750" y="2394446"/>
            <a:ext cx="6350" cy="1427162"/>
          </a:xfrm>
          <a:prstGeom prst="rect">
            <a:avLst/>
          </a:prstGeom>
          <a:solidFill>
            <a:srgbClr val="D3D9DF"/>
          </a:solidFill>
          <a:ln>
            <a:noFill/>
          </a:ln>
        </p:spPr>
        <p:txBody>
          <a:bodyPr rtlCol="0" anchor="ctr"/>
          <a:lstStyle/>
          <a:p>
            <a:pPr algn="ctr"/>
          </a:p>
        </p:txBody>
      </p:sp>
      <p:sp>
        <p:nvSpPr>
          <p:cNvPr id="38" name="Text 37"/>
          <p:cNvSpPr txBox="1"/>
          <p:nvPr/>
        </p:nvSpPr>
        <p:spPr>
          <a:xfrm>
            <a:off x="10090150" y="2415528"/>
            <a:ext cx="850900" cy="308570"/>
          </a:xfrm>
          <a:prstGeom prst="rect">
            <a:avLst/>
          </a:prstGeom>
          <a:noFill/>
        </p:spPr>
        <p:txBody>
          <a:bodyPr wrap="square" tIns="0" rIns="0" bIns="0" lIns="0" anchor="t" rtlCol="0" anchorCtr="0">
            <a:noAutofit/>
          </a:bodyPr>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R-07</a:t>
            </a:r>
          </a:p>
        </p:txBody>
      </p:sp>
      <p:sp>
        <p:nvSpPr>
          <p:cNvPr id="39" name="Box 38"/>
          <p:cNvSpPr/>
          <p:nvPr/>
        </p:nvSpPr>
        <p:spPr>
          <a:xfrm>
            <a:off x="7397750" y="2394446"/>
            <a:ext cx="2667000" cy="1427162"/>
          </a:xfrm>
          <a:prstGeom prst="rect">
            <a:avLst/>
          </a:prstGeom>
          <a:solidFill>
            <a:srgbClr val="DDF0EA"/>
          </a:solidFill>
          <a:ln>
            <a:noFill/>
          </a:ln>
        </p:spPr>
        <p:txBody>
          <a:bodyPr rtlCol="0" anchor="ctr"/>
          <a:lstStyle/>
          <a:p>
            <a:pPr algn="ctr"/>
          </a:p>
        </p:txBody>
      </p:sp>
      <p:sp>
        <p:nvSpPr>
          <p:cNvPr id="40" name="Rule 39"/>
          <p:cNvSpPr/>
          <p:nvPr/>
        </p:nvSpPr>
        <p:spPr>
          <a:xfrm>
            <a:off x="7397750" y="2394446"/>
            <a:ext cx="6350" cy="1427162"/>
          </a:xfrm>
          <a:prstGeom prst="rect">
            <a:avLst/>
          </a:prstGeom>
          <a:solidFill>
            <a:srgbClr val="D3D9DF"/>
          </a:solidFill>
          <a:ln>
            <a:noFill/>
          </a:ln>
        </p:spPr>
        <p:txBody>
          <a:bodyPr rtlCol="0" anchor="ctr"/>
          <a:lstStyle/>
          <a:p>
            <a:pPr algn="ctr"/>
          </a:p>
        </p:txBody>
      </p:sp>
      <p:sp>
        <p:nvSpPr>
          <p:cNvPr id="41" name="Text 40"/>
          <p:cNvSpPr txBox="1"/>
          <p:nvPr/>
        </p:nvSpPr>
        <p:spPr>
          <a:xfrm>
            <a:off x="7423150" y="2415528"/>
            <a:ext cx="2565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حاسوب أخصائي الرواتب وملفات تصدير الرواتب</a:t>
            </a:r>
          </a:p>
        </p:txBody>
      </p:sp>
      <p:sp>
        <p:nvSpPr>
          <p:cNvPr id="42" name="Box 41"/>
          <p:cNvSpPr/>
          <p:nvPr/>
        </p:nvSpPr>
        <p:spPr>
          <a:xfrm>
            <a:off x="819150" y="2394446"/>
            <a:ext cx="6578600" cy="1427162"/>
          </a:xfrm>
          <a:prstGeom prst="rect">
            <a:avLst/>
          </a:prstGeom>
          <a:solidFill>
            <a:srgbClr val="FFFFFF"/>
          </a:solidFill>
          <a:ln>
            <a:noFill/>
          </a:ln>
        </p:spPr>
        <p:txBody>
          <a:bodyPr rtlCol="0" anchor="ctr"/>
          <a:lstStyle/>
          <a:p>
            <a:pPr algn="ctr"/>
          </a:p>
        </p:txBody>
      </p:sp>
      <p:sp>
        <p:nvSpPr>
          <p:cNvPr id="43" name="Rule 42"/>
          <p:cNvSpPr/>
          <p:nvPr/>
        </p:nvSpPr>
        <p:spPr>
          <a:xfrm>
            <a:off x="819150" y="2394446"/>
            <a:ext cx="6350" cy="1427162"/>
          </a:xfrm>
          <a:prstGeom prst="rect">
            <a:avLst/>
          </a:prstGeom>
          <a:solidFill>
            <a:srgbClr val="D3D9DF"/>
          </a:solidFill>
          <a:ln>
            <a:noFill/>
          </a:ln>
        </p:spPr>
        <p:txBody>
          <a:bodyPr rtlCol="0" anchor="ctr"/>
          <a:lstStyle/>
          <a:p>
            <a:pPr algn="ctr"/>
          </a:p>
        </p:txBody>
      </p:sp>
      <p:sp>
        <p:nvSpPr>
          <p:cNvPr id="44" name="Text 43"/>
          <p:cNvSpPr txBox="1"/>
          <p:nvPr/>
        </p:nvSpPr>
        <p:spPr>
          <a:xfrm>
            <a:off x="844550" y="2404098"/>
            <a:ext cx="6477000" cy="132556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8A4B12"/>
                </a:solidFill>
                <a:latin typeface="IBM Plex Sans Arabic"/>
                <a:ea typeface="IBM Plex Sans Arabic"/>
                <a:cs typeface="IBM Plex Sans Arabic"/>
              </a:rPr>
              <a:t>بسبب حفظ ملفات تصدير الرواتب على حاسوب محمول غير مشفر، </a:t>
            </a:r>
            <a:r>
              <a:rPr sz="1800" b="0" i="0">
                <a:solidFill>
                  <a:srgbClr val="24506B"/>
                </a:solidFill>
                <a:latin typeface="IBM Plex Sans Arabic"/>
                <a:ea typeface="IBM Plex Sans Arabic"/>
                <a:cs typeface="IBM Plex Sans Arabic"/>
              </a:rPr>
              <a:t>قد يؤدي فقدانه أو سرقته إلى اطلاع غير مصرح به على رواتب 200 موظف وحساباتهم البنكية، </a:t>
            </a:r>
            <a:r>
              <a:rPr sz="1800" b="0" i="0">
                <a:solidFill>
                  <a:srgbClr val="B4412C"/>
                </a:solidFill>
                <a:latin typeface="IBM Plex Sans Arabic"/>
                <a:ea typeface="IBM Plex Sans Arabic"/>
                <a:cs typeface="IBM Plex Sans Arabic"/>
              </a:rPr>
              <a:t>مما يضر الموظفين ويعرض رُفاد لمخالفة نظام حماية البيانات الشخصية ولضرر في سمعتها.</a:t>
            </a:r>
          </a:p>
        </p:txBody>
      </p:sp>
      <p:sp>
        <p:nvSpPr>
          <p:cNvPr id="45" name="Rule 44"/>
          <p:cNvSpPr/>
          <p:nvPr/>
        </p:nvSpPr>
        <p:spPr>
          <a:xfrm>
            <a:off x="819150" y="4135239"/>
            <a:ext cx="10553700" cy="6350"/>
          </a:xfrm>
          <a:prstGeom prst="rect">
            <a:avLst/>
          </a:prstGeom>
          <a:solidFill>
            <a:srgbClr val="D3D9DF"/>
          </a:solidFill>
          <a:ln>
            <a:noFill/>
          </a:ln>
        </p:spPr>
        <p:txBody>
          <a:bodyPr rtlCol="0" anchor="ctr"/>
          <a:lstStyle/>
          <a:p>
            <a:pPr algn="ctr"/>
          </a:p>
        </p:txBody>
      </p:sp>
      <p:sp>
        <p:nvSpPr>
          <p:cNvPr id="46" name="Box 45"/>
          <p:cNvSpPr/>
          <p:nvPr/>
        </p:nvSpPr>
        <p:spPr>
          <a:xfrm>
            <a:off x="11017250" y="3827959"/>
            <a:ext cx="355600" cy="307280"/>
          </a:xfrm>
          <a:prstGeom prst="roundRect">
            <a:avLst>
              <a:gd name="adj" fmla="val 3616"/>
            </a:avLst>
          </a:prstGeom>
          <a:solidFill>
            <a:srgbClr val="EEF1F4"/>
          </a:solidFill>
          <a:ln>
            <a:noFill/>
          </a:ln>
        </p:spPr>
        <p:txBody>
          <a:bodyPr rtlCol="0" anchor="ctr"/>
          <a:lstStyle/>
          <a:p>
            <a:pPr algn="ctr"/>
          </a:p>
        </p:txBody>
      </p:sp>
      <p:sp>
        <p:nvSpPr>
          <p:cNvPr id="47" name="Rule 46"/>
          <p:cNvSpPr/>
          <p:nvPr/>
        </p:nvSpPr>
        <p:spPr>
          <a:xfrm>
            <a:off x="11017250" y="3827959"/>
            <a:ext cx="6350" cy="307280"/>
          </a:xfrm>
          <a:prstGeom prst="rect">
            <a:avLst/>
          </a:prstGeom>
          <a:solidFill>
            <a:srgbClr val="D3D9DF"/>
          </a:solidFill>
          <a:ln>
            <a:noFill/>
          </a:ln>
        </p:spPr>
        <p:txBody>
          <a:bodyPr rtlCol="0" anchor="ctr"/>
          <a:lstStyle/>
          <a:p>
            <a:pPr algn="ctr"/>
          </a:p>
        </p:txBody>
      </p:sp>
      <p:sp>
        <p:nvSpPr>
          <p:cNvPr id="48" name="Text 47"/>
          <p:cNvSpPr txBox="1"/>
          <p:nvPr/>
        </p:nvSpPr>
        <p:spPr>
          <a:xfrm>
            <a:off x="11054080" y="385894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49" name="Box 48"/>
          <p:cNvSpPr/>
          <p:nvPr/>
        </p:nvSpPr>
        <p:spPr>
          <a:xfrm>
            <a:off x="10064750" y="3827959"/>
            <a:ext cx="952500" cy="307280"/>
          </a:xfrm>
          <a:prstGeom prst="rect">
            <a:avLst/>
          </a:prstGeom>
          <a:solidFill>
            <a:srgbClr val="FFFFFF"/>
          </a:solidFill>
          <a:ln>
            <a:noFill/>
          </a:ln>
        </p:spPr>
        <p:txBody>
          <a:bodyPr rtlCol="0" anchor="ctr"/>
          <a:lstStyle/>
          <a:p>
            <a:pPr algn="ctr"/>
          </a:p>
        </p:txBody>
      </p:sp>
      <p:sp>
        <p:nvSpPr>
          <p:cNvPr id="50" name="Rule 49"/>
          <p:cNvSpPr/>
          <p:nvPr/>
        </p:nvSpPr>
        <p:spPr>
          <a:xfrm>
            <a:off x="10064750" y="3827959"/>
            <a:ext cx="6350" cy="307280"/>
          </a:xfrm>
          <a:prstGeom prst="rect">
            <a:avLst/>
          </a:prstGeom>
          <a:solidFill>
            <a:srgbClr val="D3D9DF"/>
          </a:solidFill>
          <a:ln>
            <a:noFill/>
          </a:ln>
        </p:spPr>
        <p:txBody>
          <a:bodyPr rtlCol="0" anchor="ctr"/>
          <a:lstStyle/>
          <a:p>
            <a:pPr algn="ctr"/>
          </a:p>
        </p:txBody>
      </p:sp>
      <p:sp>
        <p:nvSpPr>
          <p:cNvPr id="51" name="Box 50"/>
          <p:cNvSpPr/>
          <p:nvPr/>
        </p:nvSpPr>
        <p:spPr>
          <a:xfrm>
            <a:off x="7397750" y="3827959"/>
            <a:ext cx="2667000" cy="307280"/>
          </a:xfrm>
          <a:prstGeom prst="rect">
            <a:avLst/>
          </a:prstGeom>
          <a:solidFill>
            <a:srgbClr val="FFFFFF"/>
          </a:solidFill>
          <a:ln>
            <a:noFill/>
          </a:ln>
        </p:spPr>
        <p:txBody>
          <a:bodyPr rtlCol="0" anchor="ctr"/>
          <a:lstStyle/>
          <a:p>
            <a:pPr algn="ctr"/>
          </a:p>
        </p:txBody>
      </p:sp>
      <p:sp>
        <p:nvSpPr>
          <p:cNvPr id="52" name="Rule 51"/>
          <p:cNvSpPr/>
          <p:nvPr/>
        </p:nvSpPr>
        <p:spPr>
          <a:xfrm>
            <a:off x="7397750" y="3827959"/>
            <a:ext cx="6350" cy="307280"/>
          </a:xfrm>
          <a:prstGeom prst="rect">
            <a:avLst/>
          </a:prstGeom>
          <a:solidFill>
            <a:srgbClr val="D3D9DF"/>
          </a:solidFill>
          <a:ln>
            <a:noFill/>
          </a:ln>
        </p:spPr>
        <p:txBody>
          <a:bodyPr rtlCol="0" anchor="ctr"/>
          <a:lstStyle/>
          <a:p>
            <a:pPr algn="ctr"/>
          </a:p>
        </p:txBody>
      </p:sp>
      <p:sp>
        <p:nvSpPr>
          <p:cNvPr id="53" name="Box 52"/>
          <p:cNvSpPr/>
          <p:nvPr/>
        </p:nvSpPr>
        <p:spPr>
          <a:xfrm>
            <a:off x="819150" y="3827959"/>
            <a:ext cx="6578600" cy="307280"/>
          </a:xfrm>
          <a:prstGeom prst="roundRect">
            <a:avLst>
              <a:gd name="adj" fmla="val 3616"/>
            </a:avLst>
          </a:prstGeom>
          <a:solidFill>
            <a:srgbClr val="FFFFFF"/>
          </a:solidFill>
          <a:ln>
            <a:noFill/>
          </a:ln>
        </p:spPr>
        <p:txBody>
          <a:bodyPr rtlCol="0" anchor="ctr"/>
          <a:lstStyle/>
          <a:p>
            <a:pPr algn="ctr"/>
          </a:p>
        </p:txBody>
      </p:sp>
      <p:sp>
        <p:nvSpPr>
          <p:cNvPr id="54" name="Rule 53"/>
          <p:cNvSpPr/>
          <p:nvPr/>
        </p:nvSpPr>
        <p:spPr>
          <a:xfrm>
            <a:off x="819150" y="3827959"/>
            <a:ext cx="6350" cy="307280"/>
          </a:xfrm>
          <a:prstGeom prst="rect">
            <a:avLst/>
          </a:prstGeom>
          <a:solidFill>
            <a:srgbClr val="D3D9DF"/>
          </a:solidFill>
          <a:ln>
            <a:noFill/>
          </a:ln>
        </p:spPr>
        <p:txBody>
          <a:bodyPr rtlCol="0" anchor="ctr"/>
          <a:lstStyle/>
          <a:p>
            <a:pPr algn="ctr"/>
          </a:p>
        </p:txBody>
      </p:sp>
      <p:sp>
        <p:nvSpPr>
          <p:cNvPr id="55" name="Text box 54"/>
          <p:cNvSpPr/>
          <p:nvPr/>
        </p:nvSpPr>
        <p:spPr>
          <a:xfrm>
            <a:off x="11099800" y="4655939"/>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B</a:t>
            </a:r>
          </a:p>
        </p:txBody>
      </p:sp>
      <p:sp>
        <p:nvSpPr>
          <p:cNvPr id="56" name="Text 55"/>
          <p:cNvSpPr txBox="1"/>
          <p:nvPr/>
        </p:nvSpPr>
        <p:spPr>
          <a:xfrm>
            <a:off x="87203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الأصل</a:t>
            </a:r>
          </a:p>
        </p:txBody>
      </p:sp>
      <p:sp>
        <p:nvSpPr>
          <p:cNvPr id="57" name="Text 56"/>
          <p:cNvSpPr txBox="1"/>
          <p:nvPr/>
        </p:nvSpPr>
        <p:spPr>
          <a:xfrm>
            <a:off x="88263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نحميه: الحاسوب والملفات عليه.</a:t>
            </a:r>
          </a:p>
        </p:txBody>
      </p:sp>
      <p:sp>
        <p:nvSpPr>
          <p:cNvPr id="58" name="Text box 57"/>
          <p:cNvSpPr/>
          <p:nvPr/>
        </p:nvSpPr>
        <p:spPr>
          <a:xfrm>
            <a:off x="8407400" y="4655939"/>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59" name="Text 58"/>
          <p:cNvSpPr txBox="1"/>
          <p:nvPr/>
        </p:nvSpPr>
        <p:spPr>
          <a:xfrm>
            <a:off x="60279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السبب: «بسبب…»</a:t>
            </a:r>
          </a:p>
        </p:txBody>
      </p:sp>
      <p:sp>
        <p:nvSpPr>
          <p:cNvPr id="60" name="Text 59"/>
          <p:cNvSpPr txBox="1"/>
          <p:nvPr/>
        </p:nvSpPr>
        <p:spPr>
          <a:xfrm>
            <a:off x="61339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الثغرة: ملفات على قرص غير مشفر.</a:t>
            </a:r>
          </a:p>
        </p:txBody>
      </p:sp>
      <p:sp>
        <p:nvSpPr>
          <p:cNvPr id="61" name="Text box 60"/>
          <p:cNvSpPr/>
          <p:nvPr/>
        </p:nvSpPr>
        <p:spPr>
          <a:xfrm>
            <a:off x="5715000" y="4655939"/>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62" name="Text 61"/>
          <p:cNvSpPr txBox="1"/>
          <p:nvPr/>
        </p:nvSpPr>
        <p:spPr>
          <a:xfrm>
            <a:off x="33355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الحدث: «قد…»</a:t>
            </a:r>
          </a:p>
        </p:txBody>
      </p:sp>
      <p:sp>
        <p:nvSpPr>
          <p:cNvPr id="63" name="Text 62"/>
          <p:cNvSpPr txBox="1"/>
          <p:nvPr/>
        </p:nvSpPr>
        <p:spPr>
          <a:xfrm>
            <a:off x="34415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فقد الجهاز أو سرقته، ثم اطلاع غير مصرح به.</a:t>
            </a:r>
          </a:p>
        </p:txBody>
      </p:sp>
      <p:sp>
        <p:nvSpPr>
          <p:cNvPr id="64" name="Text box 63"/>
          <p:cNvSpPr/>
          <p:nvPr/>
        </p:nvSpPr>
        <p:spPr>
          <a:xfrm>
            <a:off x="3022600" y="4655939"/>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65" name="Text 64"/>
          <p:cNvSpPr txBox="1"/>
          <p:nvPr/>
        </p:nvSpPr>
        <p:spPr>
          <a:xfrm>
            <a:off x="6431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 «مما…»</a:t>
            </a:r>
          </a:p>
        </p:txBody>
      </p:sp>
      <p:sp>
        <p:nvSpPr>
          <p:cNvPr id="66" name="Text 65"/>
          <p:cNvSpPr txBox="1"/>
          <p:nvPr/>
        </p:nvSpPr>
        <p:spPr>
          <a:xfrm>
            <a:off x="7491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ضرر للموظفين، ومخالفة نظامية، وضرر في السمعة.</a:t>
            </a:r>
          </a:p>
        </p:txBody>
      </p:sp>
      <p:sp>
        <p:nvSpPr>
          <p:cNvPr id="67" name="Text 6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68" name="Text 6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(2 من 3): الضوابط والتقييم والمالك</a:t>
            </a:r>
          </a:p>
        </p:txBody>
      </p:sp>
      <p:sp>
        <p:nvSpPr>
          <p:cNvPr id="6" name="Box 5"/>
          <p:cNvSpPr/>
          <p:nvPr/>
        </p:nvSpPr>
        <p:spPr>
          <a:xfrm>
            <a:off x="815975" y="1661120"/>
            <a:ext cx="10560050" cy="1775222"/>
          </a:xfrm>
          <a:prstGeom prst="roundRect">
            <a:avLst>
              <a:gd name="adj" fmla="val 2851"/>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7715250" y="1664295"/>
            <a:ext cx="3302000" cy="307280"/>
          </a:xfrm>
          <a:prstGeom prst="rect">
            <a:avLst/>
          </a:prstGeom>
          <a:solidFill>
            <a:srgbClr val="EEF1F4"/>
          </a:solidFill>
          <a:ln>
            <a:noFill/>
          </a:ln>
        </p:spPr>
        <p:txBody>
          <a:bodyPr rtlCol="0" anchor="ctr"/>
          <a:lstStyle/>
          <a:p>
            <a:pPr algn="ctr"/>
          </a:p>
        </p:txBody>
      </p:sp>
      <p:sp>
        <p:nvSpPr>
          <p:cNvPr id="11" name="Rule 10"/>
          <p:cNvSpPr/>
          <p:nvPr/>
        </p:nvSpPr>
        <p:spPr>
          <a:xfrm>
            <a:off x="77152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7740650" y="1695283"/>
            <a:ext cx="3251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13" name="Box 12"/>
          <p:cNvSpPr/>
          <p:nvPr/>
        </p:nvSpPr>
        <p:spPr>
          <a:xfrm>
            <a:off x="6254750" y="1664295"/>
            <a:ext cx="1460500" cy="307280"/>
          </a:xfrm>
          <a:prstGeom prst="rect">
            <a:avLst/>
          </a:prstGeom>
          <a:solidFill>
            <a:srgbClr val="EEF1F4"/>
          </a:solidFill>
          <a:ln>
            <a:noFill/>
          </a:ln>
        </p:spPr>
        <p:txBody>
          <a:bodyPr rtlCol="0" anchor="ctr"/>
          <a:lstStyle/>
          <a:p>
            <a:pPr algn="ctr"/>
          </a:p>
        </p:txBody>
      </p:sp>
      <p:sp>
        <p:nvSpPr>
          <p:cNvPr id="14" name="Rule 13"/>
          <p:cNvSpPr/>
          <p:nvPr/>
        </p:nvSpPr>
        <p:spPr>
          <a:xfrm>
            <a:off x="62547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6285230" y="1695283"/>
            <a:ext cx="140462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16" name="Box 15"/>
          <p:cNvSpPr/>
          <p:nvPr/>
        </p:nvSpPr>
        <p:spPr>
          <a:xfrm>
            <a:off x="4984750" y="1664295"/>
            <a:ext cx="1270000" cy="307280"/>
          </a:xfrm>
          <a:prstGeom prst="rect">
            <a:avLst/>
          </a:prstGeom>
          <a:solidFill>
            <a:srgbClr val="EEF1F4"/>
          </a:solidFill>
          <a:ln>
            <a:noFill/>
          </a:ln>
        </p:spPr>
        <p:txBody>
          <a:bodyPr rtlCol="0" anchor="ctr"/>
          <a:lstStyle/>
          <a:p>
            <a:pPr algn="ctr"/>
          </a:p>
        </p:txBody>
      </p:sp>
      <p:sp>
        <p:nvSpPr>
          <p:cNvPr id="17" name="Rule 16"/>
          <p:cNvSpPr/>
          <p:nvPr/>
        </p:nvSpPr>
        <p:spPr>
          <a:xfrm>
            <a:off x="49847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5021580" y="1695283"/>
            <a:ext cx="1202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F</a:t>
            </a:r>
          </a:p>
        </p:txBody>
      </p:sp>
      <p:sp>
        <p:nvSpPr>
          <p:cNvPr id="19" name="Box 18"/>
          <p:cNvSpPr/>
          <p:nvPr/>
        </p:nvSpPr>
        <p:spPr>
          <a:xfrm>
            <a:off x="3143250" y="1664295"/>
            <a:ext cx="1841500" cy="307280"/>
          </a:xfrm>
          <a:prstGeom prst="rect">
            <a:avLst/>
          </a:prstGeom>
          <a:solidFill>
            <a:srgbClr val="EEF1F4"/>
          </a:solidFill>
          <a:ln>
            <a:noFill/>
          </a:ln>
        </p:spPr>
        <p:txBody>
          <a:bodyPr rtlCol="0" anchor="ctr"/>
          <a:lstStyle/>
          <a:p>
            <a:pPr algn="ctr"/>
          </a:p>
        </p:txBody>
      </p:sp>
      <p:sp>
        <p:nvSpPr>
          <p:cNvPr id="20" name="Rule 19"/>
          <p:cNvSpPr/>
          <p:nvPr/>
        </p:nvSpPr>
        <p:spPr>
          <a:xfrm>
            <a:off x="3143250" y="1664295"/>
            <a:ext cx="6350" cy="307280"/>
          </a:xfrm>
          <a:prstGeom prst="rect">
            <a:avLst/>
          </a:prstGeom>
          <a:solidFill>
            <a:srgbClr val="D3D9DF"/>
          </a:solidFill>
          <a:ln>
            <a:noFill/>
          </a:ln>
        </p:spPr>
        <p:txBody>
          <a:bodyPr rtlCol="0" anchor="ctr"/>
          <a:lstStyle/>
          <a:p>
            <a:pPr algn="ctr"/>
          </a:p>
        </p:txBody>
      </p:sp>
      <p:sp>
        <p:nvSpPr>
          <p:cNvPr id="21" name="Text 20"/>
          <p:cNvSpPr txBox="1"/>
          <p:nvPr/>
        </p:nvSpPr>
        <p:spPr>
          <a:xfrm>
            <a:off x="3168650" y="1695283"/>
            <a:ext cx="17907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G</a:t>
            </a:r>
          </a:p>
        </p:txBody>
      </p:sp>
      <p:sp>
        <p:nvSpPr>
          <p:cNvPr id="22" name="Box 21"/>
          <p:cNvSpPr/>
          <p:nvPr/>
        </p:nvSpPr>
        <p:spPr>
          <a:xfrm>
            <a:off x="819150" y="1664295"/>
            <a:ext cx="2324100" cy="307280"/>
          </a:xfrm>
          <a:prstGeom prst="roundRect">
            <a:avLst>
              <a:gd name="adj" fmla="val 3616"/>
            </a:avLst>
          </a:prstGeom>
          <a:solidFill>
            <a:srgbClr val="EEF1F4"/>
          </a:solidFill>
          <a:ln>
            <a:noFill/>
          </a:ln>
        </p:spPr>
        <p:txBody>
          <a:bodyPr rtlCol="0" anchor="ctr"/>
          <a:lstStyle/>
          <a:p>
            <a:pPr algn="ctr"/>
          </a:p>
        </p:txBody>
      </p:sp>
      <p:sp>
        <p:nvSpPr>
          <p:cNvPr id="23" name="Rule 22"/>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24" name="Text 23"/>
          <p:cNvSpPr txBox="1"/>
          <p:nvPr/>
        </p:nvSpPr>
        <p:spPr>
          <a:xfrm>
            <a:off x="844550" y="1695283"/>
            <a:ext cx="22733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H</a:t>
            </a:r>
          </a:p>
        </p:txBody>
      </p:sp>
      <p:sp>
        <p:nvSpPr>
          <p:cNvPr id="25" name="Rule 24"/>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6" name="Box 25"/>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7" name="Rule 26"/>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9" name="Box 28"/>
          <p:cNvSpPr/>
          <p:nvPr/>
        </p:nvSpPr>
        <p:spPr>
          <a:xfrm>
            <a:off x="7715250" y="1977926"/>
            <a:ext cx="3302000" cy="410170"/>
          </a:xfrm>
          <a:prstGeom prst="rect">
            <a:avLst/>
          </a:prstGeom>
          <a:solidFill>
            <a:srgbClr val="F7F8FA"/>
          </a:solidFill>
          <a:ln>
            <a:noFill/>
          </a:ln>
        </p:spPr>
        <p:txBody>
          <a:bodyPr rtlCol="0" anchor="ctr"/>
          <a:lstStyle/>
          <a:p>
            <a:pPr algn="ctr"/>
          </a:p>
        </p:txBody>
      </p:sp>
      <p:sp>
        <p:nvSpPr>
          <p:cNvPr id="30" name="Rule 29"/>
          <p:cNvSpPr/>
          <p:nvPr/>
        </p:nvSpPr>
        <p:spPr>
          <a:xfrm>
            <a:off x="77152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7740650" y="1999008"/>
            <a:ext cx="3200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الضوابط الحالية</a:t>
            </a:r>
          </a:p>
        </p:txBody>
      </p:sp>
      <p:sp>
        <p:nvSpPr>
          <p:cNvPr id="32" name="Box 31"/>
          <p:cNvSpPr/>
          <p:nvPr/>
        </p:nvSpPr>
        <p:spPr>
          <a:xfrm>
            <a:off x="6254750" y="1977926"/>
            <a:ext cx="1460500" cy="410170"/>
          </a:xfrm>
          <a:prstGeom prst="rect">
            <a:avLst/>
          </a:prstGeom>
          <a:solidFill>
            <a:srgbClr val="F7F8FA"/>
          </a:solidFill>
          <a:ln>
            <a:noFill/>
          </a:ln>
        </p:spPr>
        <p:txBody>
          <a:bodyPr rtlCol="0" anchor="ctr"/>
          <a:lstStyle/>
          <a:p>
            <a:pPr algn="ctr"/>
          </a:p>
        </p:txBody>
      </p:sp>
      <p:sp>
        <p:nvSpPr>
          <p:cNvPr id="33" name="Rule 32"/>
          <p:cNvSpPr/>
          <p:nvPr/>
        </p:nvSpPr>
        <p:spPr>
          <a:xfrm>
            <a:off x="6254750" y="1977926"/>
            <a:ext cx="6350" cy="410170"/>
          </a:xfrm>
          <a:prstGeom prst="rect">
            <a:avLst/>
          </a:prstGeom>
          <a:solidFill>
            <a:srgbClr val="D3D9DF"/>
          </a:solidFill>
          <a:ln>
            <a:noFill/>
          </a:ln>
        </p:spPr>
        <p:txBody>
          <a:bodyPr rtlCol="0" anchor="ctr"/>
          <a:lstStyle/>
          <a:p>
            <a:pPr algn="ctr"/>
          </a:p>
        </p:txBody>
      </p:sp>
      <p:sp>
        <p:nvSpPr>
          <p:cNvPr id="34" name="Text 33"/>
          <p:cNvSpPr txBox="1"/>
          <p:nvPr/>
        </p:nvSpPr>
        <p:spPr>
          <a:xfrm>
            <a:off x="6280150" y="1999008"/>
            <a:ext cx="1358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الاحتمال</a:t>
            </a:r>
          </a:p>
        </p:txBody>
      </p:sp>
      <p:sp>
        <p:nvSpPr>
          <p:cNvPr id="35" name="Box 34"/>
          <p:cNvSpPr/>
          <p:nvPr/>
        </p:nvSpPr>
        <p:spPr>
          <a:xfrm>
            <a:off x="4984750" y="1977926"/>
            <a:ext cx="1270000" cy="410170"/>
          </a:xfrm>
          <a:prstGeom prst="rect">
            <a:avLst/>
          </a:prstGeom>
          <a:solidFill>
            <a:srgbClr val="F7F8FA"/>
          </a:solidFill>
          <a:ln>
            <a:noFill/>
          </a:ln>
        </p:spPr>
        <p:txBody>
          <a:bodyPr rtlCol="0" anchor="ctr"/>
          <a:lstStyle/>
          <a:p>
            <a:pPr algn="ctr"/>
          </a:p>
        </p:txBody>
      </p:sp>
      <p:sp>
        <p:nvSpPr>
          <p:cNvPr id="36" name="Rule 35"/>
          <p:cNvSpPr/>
          <p:nvPr/>
        </p:nvSpPr>
        <p:spPr>
          <a:xfrm>
            <a:off x="4984750" y="1977926"/>
            <a:ext cx="6350" cy="410170"/>
          </a:xfrm>
          <a:prstGeom prst="rect">
            <a:avLst/>
          </a:prstGeom>
          <a:solidFill>
            <a:srgbClr val="D3D9DF"/>
          </a:solidFill>
          <a:ln>
            <a:noFill/>
          </a:ln>
        </p:spPr>
        <p:txBody>
          <a:bodyPr rtlCol="0" anchor="ctr"/>
          <a:lstStyle/>
          <a:p>
            <a:pPr algn="ctr"/>
          </a:p>
        </p:txBody>
      </p:sp>
      <p:sp>
        <p:nvSpPr>
          <p:cNvPr id="37" name="Text 36"/>
          <p:cNvSpPr txBox="1"/>
          <p:nvPr/>
        </p:nvSpPr>
        <p:spPr>
          <a:xfrm>
            <a:off x="5010150" y="1999008"/>
            <a:ext cx="1168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الأثر</a:t>
            </a:r>
          </a:p>
        </p:txBody>
      </p:sp>
      <p:sp>
        <p:nvSpPr>
          <p:cNvPr id="38" name="Box 37"/>
          <p:cNvSpPr/>
          <p:nvPr/>
        </p:nvSpPr>
        <p:spPr>
          <a:xfrm>
            <a:off x="3143250" y="1977926"/>
            <a:ext cx="1841500" cy="410170"/>
          </a:xfrm>
          <a:prstGeom prst="rect">
            <a:avLst/>
          </a:prstGeom>
          <a:solidFill>
            <a:srgbClr val="F7F8FA"/>
          </a:solidFill>
          <a:ln>
            <a:noFill/>
          </a:ln>
        </p:spPr>
        <p:txBody>
          <a:bodyPr rtlCol="0" anchor="ctr"/>
          <a:lstStyle/>
          <a:p>
            <a:pPr algn="ctr"/>
          </a:p>
        </p:txBody>
      </p:sp>
      <p:sp>
        <p:nvSpPr>
          <p:cNvPr id="39" name="Rule 38"/>
          <p:cNvSpPr/>
          <p:nvPr/>
        </p:nvSpPr>
        <p:spPr>
          <a:xfrm>
            <a:off x="3143250" y="1977926"/>
            <a:ext cx="6350" cy="410170"/>
          </a:xfrm>
          <a:prstGeom prst="rect">
            <a:avLst/>
          </a:prstGeom>
          <a:solidFill>
            <a:srgbClr val="D3D9DF"/>
          </a:solidFill>
          <a:ln>
            <a:noFill/>
          </a:ln>
        </p:spPr>
        <p:txBody>
          <a:bodyPr rtlCol="0" anchor="ctr"/>
          <a:lstStyle/>
          <a:p>
            <a:pPr algn="ctr"/>
          </a:p>
        </p:txBody>
      </p:sp>
      <p:sp>
        <p:nvSpPr>
          <p:cNvPr id="40" name="Text 39"/>
          <p:cNvSpPr txBox="1"/>
          <p:nvPr/>
        </p:nvSpPr>
        <p:spPr>
          <a:xfrm>
            <a:off x="3168650" y="1999008"/>
            <a:ext cx="1739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المستوى</a:t>
            </a:r>
          </a:p>
        </p:txBody>
      </p:sp>
      <p:sp>
        <p:nvSpPr>
          <p:cNvPr id="41" name="Box 40"/>
          <p:cNvSpPr/>
          <p:nvPr/>
        </p:nvSpPr>
        <p:spPr>
          <a:xfrm>
            <a:off x="819150" y="1977926"/>
            <a:ext cx="2324100" cy="410170"/>
          </a:xfrm>
          <a:prstGeom prst="rect">
            <a:avLst/>
          </a:prstGeom>
          <a:solidFill>
            <a:srgbClr val="F7F8FA"/>
          </a:solidFill>
          <a:ln>
            <a:noFill/>
          </a:ln>
        </p:spPr>
        <p:txBody>
          <a:bodyPr rtlCol="0" anchor="ctr"/>
          <a:lstStyle/>
          <a:p>
            <a:pPr algn="ctr"/>
          </a:p>
        </p:txBody>
      </p:sp>
      <p:sp>
        <p:nvSpPr>
          <p:cNvPr id="42" name="Rule 41"/>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43" name="Text 42"/>
          <p:cNvSpPr txBox="1"/>
          <p:nvPr/>
        </p:nvSpPr>
        <p:spPr>
          <a:xfrm>
            <a:off x="844550" y="1999008"/>
            <a:ext cx="2222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مالك الخطر</a:t>
            </a:r>
          </a:p>
        </p:txBody>
      </p:sp>
      <p:sp>
        <p:nvSpPr>
          <p:cNvPr id="44" name="Rule 43"/>
          <p:cNvSpPr/>
          <p:nvPr/>
        </p:nvSpPr>
        <p:spPr>
          <a:xfrm>
            <a:off x="819150" y="3113187"/>
            <a:ext cx="10553700" cy="6350"/>
          </a:xfrm>
          <a:prstGeom prst="rect">
            <a:avLst/>
          </a:prstGeom>
          <a:solidFill>
            <a:srgbClr val="D3D9DF"/>
          </a:solidFill>
          <a:ln>
            <a:noFill/>
          </a:ln>
        </p:spPr>
        <p:txBody>
          <a:bodyPr rtlCol="0" anchor="ctr"/>
          <a:lstStyle/>
          <a:p>
            <a:pPr algn="ctr"/>
          </a:p>
        </p:txBody>
      </p:sp>
      <p:sp>
        <p:nvSpPr>
          <p:cNvPr id="45" name="Box 44"/>
          <p:cNvSpPr/>
          <p:nvPr/>
        </p:nvSpPr>
        <p:spPr>
          <a:xfrm>
            <a:off x="11017250" y="2394446"/>
            <a:ext cx="355600" cy="718741"/>
          </a:xfrm>
          <a:prstGeom prst="rect">
            <a:avLst/>
          </a:prstGeom>
          <a:solidFill>
            <a:srgbClr val="EEF1F4"/>
          </a:solidFill>
          <a:ln>
            <a:noFill/>
          </a:ln>
        </p:spPr>
        <p:txBody>
          <a:bodyPr rtlCol="0" anchor="ctr"/>
          <a:lstStyle/>
          <a:p>
            <a:pPr algn="ctr"/>
          </a:p>
        </p:txBody>
      </p:sp>
      <p:sp>
        <p:nvSpPr>
          <p:cNvPr id="46" name="Rule 45"/>
          <p:cNvSpPr/>
          <p:nvPr/>
        </p:nvSpPr>
        <p:spPr>
          <a:xfrm>
            <a:off x="11017250" y="2394446"/>
            <a:ext cx="6350" cy="718741"/>
          </a:xfrm>
          <a:prstGeom prst="rect">
            <a:avLst/>
          </a:prstGeom>
          <a:solidFill>
            <a:srgbClr val="D3D9DF"/>
          </a:solidFill>
          <a:ln>
            <a:noFill/>
          </a:ln>
        </p:spPr>
        <p:txBody>
          <a:bodyPr rtlCol="0" anchor="ctr"/>
          <a:lstStyle/>
          <a:p>
            <a:pPr algn="ctr"/>
          </a:p>
        </p:txBody>
      </p:sp>
      <p:sp>
        <p:nvSpPr>
          <p:cNvPr id="47" name="Text 46"/>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8" name="Box 47"/>
          <p:cNvSpPr/>
          <p:nvPr/>
        </p:nvSpPr>
        <p:spPr>
          <a:xfrm>
            <a:off x="7715250" y="2394446"/>
            <a:ext cx="3302000" cy="718741"/>
          </a:xfrm>
          <a:prstGeom prst="rect">
            <a:avLst/>
          </a:prstGeom>
          <a:solidFill>
            <a:srgbClr val="FBEFD9"/>
          </a:solidFill>
          <a:ln>
            <a:noFill/>
          </a:ln>
        </p:spPr>
        <p:txBody>
          <a:bodyPr rtlCol="0" anchor="ctr"/>
          <a:lstStyle/>
          <a:p>
            <a:pPr algn="ctr"/>
          </a:p>
        </p:txBody>
      </p:sp>
      <p:sp>
        <p:nvSpPr>
          <p:cNvPr id="49" name="Rule 48"/>
          <p:cNvSpPr/>
          <p:nvPr/>
        </p:nvSpPr>
        <p:spPr>
          <a:xfrm>
            <a:off x="7715250" y="2394446"/>
            <a:ext cx="6350" cy="718741"/>
          </a:xfrm>
          <a:prstGeom prst="rect">
            <a:avLst/>
          </a:prstGeom>
          <a:solidFill>
            <a:srgbClr val="D3D9DF"/>
          </a:solidFill>
          <a:ln>
            <a:noFill/>
          </a:ln>
        </p:spPr>
        <p:txBody>
          <a:bodyPr rtlCol="0" anchor="ctr"/>
          <a:lstStyle/>
          <a:p>
            <a:pPr algn="ctr"/>
          </a:p>
        </p:txBody>
      </p:sp>
      <p:sp>
        <p:nvSpPr>
          <p:cNvPr id="50" name="Text 49"/>
          <p:cNvSpPr txBox="1"/>
          <p:nvPr/>
        </p:nvSpPr>
        <p:spPr>
          <a:xfrm>
            <a:off x="7740650" y="2415528"/>
            <a:ext cx="3200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كلمة مرور لحساب الجهاز، وسياسة الاستخدام المقبول. لا تشفير للقرص.</a:t>
            </a:r>
          </a:p>
        </p:txBody>
      </p:sp>
      <p:sp>
        <p:nvSpPr>
          <p:cNvPr id="51" name="Box 50"/>
          <p:cNvSpPr/>
          <p:nvPr/>
        </p:nvSpPr>
        <p:spPr>
          <a:xfrm>
            <a:off x="6254750" y="2394446"/>
            <a:ext cx="1460500" cy="718741"/>
          </a:xfrm>
          <a:prstGeom prst="rect">
            <a:avLst/>
          </a:prstGeom>
          <a:solidFill>
            <a:srgbClr val="E3ECF5"/>
          </a:solidFill>
          <a:ln>
            <a:noFill/>
          </a:ln>
        </p:spPr>
        <p:txBody>
          <a:bodyPr rtlCol="0" anchor="ctr"/>
          <a:lstStyle/>
          <a:p>
            <a:pPr algn="ctr"/>
          </a:p>
        </p:txBody>
      </p:sp>
      <p:sp>
        <p:nvSpPr>
          <p:cNvPr id="52" name="Rule 51"/>
          <p:cNvSpPr/>
          <p:nvPr/>
        </p:nvSpPr>
        <p:spPr>
          <a:xfrm>
            <a:off x="6254750" y="2394446"/>
            <a:ext cx="6350" cy="718741"/>
          </a:xfrm>
          <a:prstGeom prst="rect">
            <a:avLst/>
          </a:prstGeom>
          <a:solidFill>
            <a:srgbClr val="D3D9DF"/>
          </a:solidFill>
          <a:ln>
            <a:noFill/>
          </a:ln>
        </p:spPr>
        <p:txBody>
          <a:bodyPr rtlCol="0" anchor="ctr"/>
          <a:lstStyle/>
          <a:p>
            <a:pPr algn="ctr"/>
          </a:p>
        </p:txBody>
      </p:sp>
      <p:sp>
        <p:nvSpPr>
          <p:cNvPr id="53" name="Text 52"/>
          <p:cNvSpPr txBox="1"/>
          <p:nvPr/>
        </p:nvSpPr>
        <p:spPr>
          <a:xfrm>
            <a:off x="6280150" y="2415528"/>
            <a:ext cx="1358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 · غير مرجح</a:t>
            </a:r>
          </a:p>
        </p:txBody>
      </p:sp>
      <p:sp>
        <p:nvSpPr>
          <p:cNvPr id="54" name="Box 53"/>
          <p:cNvSpPr/>
          <p:nvPr/>
        </p:nvSpPr>
        <p:spPr>
          <a:xfrm>
            <a:off x="4984750" y="2394446"/>
            <a:ext cx="1270000" cy="718741"/>
          </a:xfrm>
          <a:prstGeom prst="rect">
            <a:avLst/>
          </a:prstGeom>
          <a:solidFill>
            <a:srgbClr val="E3ECF5"/>
          </a:solidFill>
          <a:ln>
            <a:noFill/>
          </a:ln>
        </p:spPr>
        <p:txBody>
          <a:bodyPr rtlCol="0" anchor="ctr"/>
          <a:lstStyle/>
          <a:p>
            <a:pPr algn="ctr"/>
          </a:p>
        </p:txBody>
      </p:sp>
      <p:sp>
        <p:nvSpPr>
          <p:cNvPr id="55" name="Rule 54"/>
          <p:cNvSpPr/>
          <p:nvPr/>
        </p:nvSpPr>
        <p:spPr>
          <a:xfrm>
            <a:off x="4984750" y="2394446"/>
            <a:ext cx="6350" cy="718741"/>
          </a:xfrm>
          <a:prstGeom prst="rect">
            <a:avLst/>
          </a:prstGeom>
          <a:solidFill>
            <a:srgbClr val="D3D9DF"/>
          </a:solidFill>
          <a:ln>
            <a:noFill/>
          </a:ln>
        </p:spPr>
        <p:txBody>
          <a:bodyPr rtlCol="0" anchor="ctr"/>
          <a:lstStyle/>
          <a:p>
            <a:pPr algn="ctr"/>
          </a:p>
        </p:txBody>
      </p:sp>
      <p:sp>
        <p:nvSpPr>
          <p:cNvPr id="56" name="Text 55"/>
          <p:cNvSpPr txBox="1"/>
          <p:nvPr/>
        </p:nvSpPr>
        <p:spPr>
          <a:xfrm>
            <a:off x="5010150" y="2415528"/>
            <a:ext cx="1168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4 · عالٍ</a:t>
            </a:r>
          </a:p>
        </p:txBody>
      </p:sp>
      <p:sp>
        <p:nvSpPr>
          <p:cNvPr id="57" name="Box 56"/>
          <p:cNvSpPr/>
          <p:nvPr/>
        </p:nvSpPr>
        <p:spPr>
          <a:xfrm>
            <a:off x="3143250" y="2394446"/>
            <a:ext cx="1841500" cy="718741"/>
          </a:xfrm>
          <a:prstGeom prst="rect">
            <a:avLst/>
          </a:prstGeom>
          <a:solidFill>
            <a:srgbClr val="E3ECF5"/>
          </a:solidFill>
          <a:ln>
            <a:noFill/>
          </a:ln>
        </p:spPr>
        <p:txBody>
          <a:bodyPr rtlCol="0" anchor="ctr"/>
          <a:lstStyle/>
          <a:p>
            <a:pPr algn="ctr"/>
          </a:p>
        </p:txBody>
      </p:sp>
      <p:sp>
        <p:nvSpPr>
          <p:cNvPr id="58" name="Rule 57"/>
          <p:cNvSpPr/>
          <p:nvPr/>
        </p:nvSpPr>
        <p:spPr>
          <a:xfrm>
            <a:off x="3143250" y="2394446"/>
            <a:ext cx="6350" cy="718741"/>
          </a:xfrm>
          <a:prstGeom prst="rect">
            <a:avLst/>
          </a:prstGeom>
          <a:solidFill>
            <a:srgbClr val="D3D9DF"/>
          </a:solidFill>
          <a:ln>
            <a:noFill/>
          </a:ln>
        </p:spPr>
        <p:txBody>
          <a:bodyPr rtlCol="0" anchor="ctr"/>
          <a:lstStyle/>
          <a:p>
            <a:pPr algn="ctr"/>
          </a:p>
        </p:txBody>
      </p:sp>
      <p:sp>
        <p:nvSpPr>
          <p:cNvPr id="59" name="Text 58"/>
          <p:cNvSpPr txBox="1"/>
          <p:nvPr/>
        </p:nvSpPr>
        <p:spPr>
          <a:xfrm>
            <a:off x="3168650" y="2415528"/>
            <a:ext cx="1739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12 · متوسط</a:t>
            </a:r>
          </a:p>
        </p:txBody>
      </p:sp>
      <p:sp>
        <p:nvSpPr>
          <p:cNvPr id="60" name="Box 59"/>
          <p:cNvSpPr/>
          <p:nvPr/>
        </p:nvSpPr>
        <p:spPr>
          <a:xfrm>
            <a:off x="819150" y="2394446"/>
            <a:ext cx="2324100" cy="718741"/>
          </a:xfrm>
          <a:prstGeom prst="rect">
            <a:avLst/>
          </a:prstGeom>
          <a:solidFill>
            <a:srgbClr val="FFFFFF"/>
          </a:solidFill>
          <a:ln>
            <a:noFill/>
          </a:ln>
        </p:spPr>
        <p:txBody>
          <a:bodyPr rtlCol="0" anchor="ctr"/>
          <a:lstStyle/>
          <a:p>
            <a:pPr algn="ctr"/>
          </a:p>
        </p:txBody>
      </p:sp>
      <p:sp>
        <p:nvSpPr>
          <p:cNvPr id="61" name="Rule 60"/>
          <p:cNvSpPr/>
          <p:nvPr/>
        </p:nvSpPr>
        <p:spPr>
          <a:xfrm>
            <a:off x="819150" y="2394446"/>
            <a:ext cx="6350" cy="718741"/>
          </a:xfrm>
          <a:prstGeom prst="rect">
            <a:avLst/>
          </a:prstGeom>
          <a:solidFill>
            <a:srgbClr val="D3D9DF"/>
          </a:solidFill>
          <a:ln>
            <a:noFill/>
          </a:ln>
        </p:spPr>
        <p:txBody>
          <a:bodyPr rtlCol="0" anchor="ctr"/>
          <a:lstStyle/>
          <a:p>
            <a:pPr algn="ctr"/>
          </a:p>
        </p:txBody>
      </p:sp>
      <p:sp>
        <p:nvSpPr>
          <p:cNvPr id="62" name="Text 61"/>
          <p:cNvSpPr txBox="1"/>
          <p:nvPr/>
        </p:nvSpPr>
        <p:spPr>
          <a:xfrm>
            <a:off x="844550" y="2415528"/>
            <a:ext cx="2222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مديرة الموارد البشرية</a:t>
            </a:r>
          </a:p>
        </p:txBody>
      </p:sp>
      <p:sp>
        <p:nvSpPr>
          <p:cNvPr id="63" name="Rule 62"/>
          <p:cNvSpPr/>
          <p:nvPr/>
        </p:nvSpPr>
        <p:spPr>
          <a:xfrm>
            <a:off x="819150" y="3426817"/>
            <a:ext cx="10553700" cy="6350"/>
          </a:xfrm>
          <a:prstGeom prst="rect">
            <a:avLst/>
          </a:prstGeom>
          <a:solidFill>
            <a:srgbClr val="D3D9DF"/>
          </a:solidFill>
          <a:ln>
            <a:noFill/>
          </a:ln>
        </p:spPr>
        <p:txBody>
          <a:bodyPr rtlCol="0" anchor="ctr"/>
          <a:lstStyle/>
          <a:p>
            <a:pPr algn="ctr"/>
          </a:p>
        </p:txBody>
      </p:sp>
      <p:sp>
        <p:nvSpPr>
          <p:cNvPr id="64" name="Box 63"/>
          <p:cNvSpPr/>
          <p:nvPr/>
        </p:nvSpPr>
        <p:spPr>
          <a:xfrm>
            <a:off x="11017250" y="3119537"/>
            <a:ext cx="355600" cy="307280"/>
          </a:xfrm>
          <a:prstGeom prst="roundRect">
            <a:avLst>
              <a:gd name="adj" fmla="val 3616"/>
            </a:avLst>
          </a:prstGeom>
          <a:solidFill>
            <a:srgbClr val="EEF1F4"/>
          </a:solidFill>
          <a:ln>
            <a:noFill/>
          </a:ln>
        </p:spPr>
        <p:txBody>
          <a:bodyPr rtlCol="0" anchor="ctr"/>
          <a:lstStyle/>
          <a:p>
            <a:pPr algn="ctr"/>
          </a:p>
        </p:txBody>
      </p:sp>
      <p:sp>
        <p:nvSpPr>
          <p:cNvPr id="65" name="Rule 64"/>
          <p:cNvSpPr/>
          <p:nvPr/>
        </p:nvSpPr>
        <p:spPr>
          <a:xfrm>
            <a:off x="11017250" y="3119537"/>
            <a:ext cx="6350" cy="307280"/>
          </a:xfrm>
          <a:prstGeom prst="rect">
            <a:avLst/>
          </a:prstGeom>
          <a:solidFill>
            <a:srgbClr val="D3D9DF"/>
          </a:solidFill>
          <a:ln>
            <a:noFill/>
          </a:ln>
        </p:spPr>
        <p:txBody>
          <a:bodyPr rtlCol="0" anchor="ctr"/>
          <a:lstStyle/>
          <a:p>
            <a:pPr algn="ctr"/>
          </a:p>
        </p:txBody>
      </p:sp>
      <p:sp>
        <p:nvSpPr>
          <p:cNvPr id="66" name="Text 65"/>
          <p:cNvSpPr txBox="1"/>
          <p:nvPr/>
        </p:nvSpPr>
        <p:spPr>
          <a:xfrm>
            <a:off x="11054080" y="315052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7" name="Box 66"/>
          <p:cNvSpPr/>
          <p:nvPr/>
        </p:nvSpPr>
        <p:spPr>
          <a:xfrm>
            <a:off x="7715250" y="3119537"/>
            <a:ext cx="3302000" cy="307280"/>
          </a:xfrm>
          <a:prstGeom prst="rect">
            <a:avLst/>
          </a:prstGeom>
          <a:solidFill>
            <a:srgbClr val="FFFFFF"/>
          </a:solidFill>
          <a:ln>
            <a:noFill/>
          </a:ln>
        </p:spPr>
        <p:txBody>
          <a:bodyPr rtlCol="0" anchor="ctr"/>
          <a:lstStyle/>
          <a:p>
            <a:pPr algn="ctr"/>
          </a:p>
        </p:txBody>
      </p:sp>
      <p:sp>
        <p:nvSpPr>
          <p:cNvPr id="68" name="Rule 67"/>
          <p:cNvSpPr/>
          <p:nvPr/>
        </p:nvSpPr>
        <p:spPr>
          <a:xfrm>
            <a:off x="7715250" y="3119537"/>
            <a:ext cx="6350" cy="307280"/>
          </a:xfrm>
          <a:prstGeom prst="rect">
            <a:avLst/>
          </a:prstGeom>
          <a:solidFill>
            <a:srgbClr val="D3D9DF"/>
          </a:solidFill>
          <a:ln>
            <a:noFill/>
          </a:ln>
        </p:spPr>
        <p:txBody>
          <a:bodyPr rtlCol="0" anchor="ctr"/>
          <a:lstStyle/>
          <a:p>
            <a:pPr algn="ctr"/>
          </a:p>
        </p:txBody>
      </p:sp>
      <p:sp>
        <p:nvSpPr>
          <p:cNvPr id="69" name="Box 68"/>
          <p:cNvSpPr/>
          <p:nvPr/>
        </p:nvSpPr>
        <p:spPr>
          <a:xfrm>
            <a:off x="6254750" y="3119537"/>
            <a:ext cx="1460500" cy="307280"/>
          </a:xfrm>
          <a:prstGeom prst="rect">
            <a:avLst/>
          </a:prstGeom>
          <a:solidFill>
            <a:srgbClr val="FFFFFF"/>
          </a:solidFill>
          <a:ln>
            <a:noFill/>
          </a:ln>
        </p:spPr>
        <p:txBody>
          <a:bodyPr rtlCol="0" anchor="ctr"/>
          <a:lstStyle/>
          <a:p>
            <a:pPr algn="ctr"/>
          </a:p>
        </p:txBody>
      </p:sp>
      <p:sp>
        <p:nvSpPr>
          <p:cNvPr id="70" name="Rule 69"/>
          <p:cNvSpPr/>
          <p:nvPr/>
        </p:nvSpPr>
        <p:spPr>
          <a:xfrm>
            <a:off x="6254750" y="3119537"/>
            <a:ext cx="6350" cy="307280"/>
          </a:xfrm>
          <a:prstGeom prst="rect">
            <a:avLst/>
          </a:prstGeom>
          <a:solidFill>
            <a:srgbClr val="D3D9DF"/>
          </a:solidFill>
          <a:ln>
            <a:noFill/>
          </a:ln>
        </p:spPr>
        <p:txBody>
          <a:bodyPr rtlCol="0" anchor="ctr"/>
          <a:lstStyle/>
          <a:p>
            <a:pPr algn="ctr"/>
          </a:p>
        </p:txBody>
      </p:sp>
      <p:sp>
        <p:nvSpPr>
          <p:cNvPr id="71" name="Box 70"/>
          <p:cNvSpPr/>
          <p:nvPr/>
        </p:nvSpPr>
        <p:spPr>
          <a:xfrm>
            <a:off x="4984750" y="3119537"/>
            <a:ext cx="1270000" cy="307280"/>
          </a:xfrm>
          <a:prstGeom prst="rect">
            <a:avLst/>
          </a:prstGeom>
          <a:solidFill>
            <a:srgbClr val="FFFFFF"/>
          </a:solidFill>
          <a:ln>
            <a:noFill/>
          </a:ln>
        </p:spPr>
        <p:txBody>
          <a:bodyPr rtlCol="0" anchor="ctr"/>
          <a:lstStyle/>
          <a:p>
            <a:pPr algn="ctr"/>
          </a:p>
        </p:txBody>
      </p:sp>
      <p:sp>
        <p:nvSpPr>
          <p:cNvPr id="72" name="Rule 71"/>
          <p:cNvSpPr/>
          <p:nvPr/>
        </p:nvSpPr>
        <p:spPr>
          <a:xfrm>
            <a:off x="4984750" y="3119537"/>
            <a:ext cx="6350" cy="307280"/>
          </a:xfrm>
          <a:prstGeom prst="rect">
            <a:avLst/>
          </a:prstGeom>
          <a:solidFill>
            <a:srgbClr val="D3D9DF"/>
          </a:solidFill>
          <a:ln>
            <a:noFill/>
          </a:ln>
        </p:spPr>
        <p:txBody>
          <a:bodyPr rtlCol="0" anchor="ctr"/>
          <a:lstStyle/>
          <a:p>
            <a:pPr algn="ctr"/>
          </a:p>
        </p:txBody>
      </p:sp>
      <p:sp>
        <p:nvSpPr>
          <p:cNvPr id="73" name="Box 72"/>
          <p:cNvSpPr/>
          <p:nvPr/>
        </p:nvSpPr>
        <p:spPr>
          <a:xfrm>
            <a:off x="3143250" y="3119537"/>
            <a:ext cx="1841500" cy="307280"/>
          </a:xfrm>
          <a:prstGeom prst="rect">
            <a:avLst/>
          </a:prstGeom>
          <a:solidFill>
            <a:srgbClr val="FFFFFF"/>
          </a:solidFill>
          <a:ln>
            <a:noFill/>
          </a:ln>
        </p:spPr>
        <p:txBody>
          <a:bodyPr rtlCol="0" anchor="ctr"/>
          <a:lstStyle/>
          <a:p>
            <a:pPr algn="ctr"/>
          </a:p>
        </p:txBody>
      </p:sp>
      <p:sp>
        <p:nvSpPr>
          <p:cNvPr id="74" name="Rule 73"/>
          <p:cNvSpPr/>
          <p:nvPr/>
        </p:nvSpPr>
        <p:spPr>
          <a:xfrm>
            <a:off x="3143250" y="3119537"/>
            <a:ext cx="6350" cy="307280"/>
          </a:xfrm>
          <a:prstGeom prst="rect">
            <a:avLst/>
          </a:prstGeom>
          <a:solidFill>
            <a:srgbClr val="D3D9DF"/>
          </a:solidFill>
          <a:ln>
            <a:noFill/>
          </a:ln>
        </p:spPr>
        <p:txBody>
          <a:bodyPr rtlCol="0" anchor="ctr"/>
          <a:lstStyle/>
          <a:p>
            <a:pPr algn="ctr"/>
          </a:p>
        </p:txBody>
      </p:sp>
      <p:sp>
        <p:nvSpPr>
          <p:cNvPr id="75" name="Box 74"/>
          <p:cNvSpPr/>
          <p:nvPr/>
        </p:nvSpPr>
        <p:spPr>
          <a:xfrm>
            <a:off x="819150" y="3119537"/>
            <a:ext cx="2324100" cy="307280"/>
          </a:xfrm>
          <a:prstGeom prst="roundRect">
            <a:avLst>
              <a:gd name="adj" fmla="val 3616"/>
            </a:avLst>
          </a:prstGeom>
          <a:solidFill>
            <a:srgbClr val="FFFFFF"/>
          </a:solidFill>
          <a:ln>
            <a:noFill/>
          </a:ln>
        </p:spPr>
        <p:txBody>
          <a:bodyPr rtlCol="0" anchor="ctr"/>
          <a:lstStyle/>
          <a:p>
            <a:pPr algn="ctr"/>
          </a:p>
        </p:txBody>
      </p:sp>
      <p:sp>
        <p:nvSpPr>
          <p:cNvPr id="76" name="Rule 75"/>
          <p:cNvSpPr/>
          <p:nvPr/>
        </p:nvSpPr>
        <p:spPr>
          <a:xfrm>
            <a:off x="819150" y="3119537"/>
            <a:ext cx="6350" cy="307280"/>
          </a:xfrm>
          <a:prstGeom prst="rect">
            <a:avLst/>
          </a:prstGeom>
          <a:solidFill>
            <a:srgbClr val="D3D9DF"/>
          </a:solidFill>
          <a:ln>
            <a:noFill/>
          </a:ln>
        </p:spPr>
        <p:txBody>
          <a:bodyPr rtlCol="0" anchor="ctr"/>
          <a:lstStyle/>
          <a:p>
            <a:pPr algn="ctr"/>
          </a:p>
        </p:txBody>
      </p:sp>
      <p:sp>
        <p:nvSpPr>
          <p:cNvPr id="77" name="Text box 76"/>
          <p:cNvSpPr/>
          <p:nvPr/>
        </p:nvSpPr>
        <p:spPr>
          <a:xfrm>
            <a:off x="11099800" y="3985617"/>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D</a:t>
            </a:r>
          </a:p>
        </p:txBody>
      </p:sp>
      <p:sp>
        <p:nvSpPr>
          <p:cNvPr id="78" name="Text 77"/>
          <p:cNvSpPr txBox="1"/>
          <p:nvPr/>
        </p:nvSpPr>
        <p:spPr>
          <a:xfrm>
            <a:off x="930186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الضوابط الحالية</a:t>
            </a:r>
          </a:p>
        </p:txBody>
      </p:sp>
      <p:sp>
        <p:nvSpPr>
          <p:cNvPr id="79" name="Text 78"/>
          <p:cNvSpPr txBox="1"/>
          <p:nvPr/>
        </p:nvSpPr>
        <p:spPr>
          <a:xfrm>
            <a:off x="937766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يوجد فعلاً اليوم، حتى الضعيف منه.</a:t>
            </a:r>
          </a:p>
        </p:txBody>
      </p:sp>
      <p:sp>
        <p:nvSpPr>
          <p:cNvPr id="80" name="Text box 79"/>
          <p:cNvSpPr/>
          <p:nvPr/>
        </p:nvSpPr>
        <p:spPr>
          <a:xfrm>
            <a:off x="894586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E</a:t>
            </a:r>
          </a:p>
        </p:txBody>
      </p:sp>
      <p:sp>
        <p:nvSpPr>
          <p:cNvPr id="81" name="Text 80"/>
          <p:cNvSpPr txBox="1"/>
          <p:nvPr/>
        </p:nvSpPr>
        <p:spPr>
          <a:xfrm>
            <a:off x="714792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الاحتمال 3</a:t>
            </a:r>
          </a:p>
        </p:txBody>
      </p:sp>
      <p:sp>
        <p:nvSpPr>
          <p:cNvPr id="82" name="Text 81"/>
          <p:cNvSpPr txBox="1"/>
          <p:nvPr/>
        </p:nvSpPr>
        <p:spPr>
          <a:xfrm>
            <a:off x="722372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سرقة واحدة خلال 3 سنوات: «غير مرجح».</a:t>
            </a:r>
          </a:p>
        </p:txBody>
      </p:sp>
      <p:sp>
        <p:nvSpPr>
          <p:cNvPr id="83" name="Text box 82"/>
          <p:cNvSpPr/>
          <p:nvPr/>
        </p:nvSpPr>
        <p:spPr>
          <a:xfrm>
            <a:off x="679192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F</a:t>
            </a:r>
          </a:p>
        </p:txBody>
      </p:sp>
      <p:sp>
        <p:nvSpPr>
          <p:cNvPr id="84" name="Text 83"/>
          <p:cNvSpPr txBox="1"/>
          <p:nvPr/>
        </p:nvSpPr>
        <p:spPr>
          <a:xfrm>
            <a:off x="499398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الأثر 4</a:t>
            </a:r>
          </a:p>
        </p:txBody>
      </p:sp>
      <p:sp>
        <p:nvSpPr>
          <p:cNvPr id="85" name="Text 84"/>
          <p:cNvSpPr txBox="1"/>
          <p:nvPr/>
        </p:nvSpPr>
        <p:spPr>
          <a:xfrm>
            <a:off x="506978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بيانات حساسة لكل الموظفين: «عالٍ».</a:t>
            </a:r>
          </a:p>
        </p:txBody>
      </p:sp>
      <p:sp>
        <p:nvSpPr>
          <p:cNvPr id="86" name="Text box 85"/>
          <p:cNvSpPr/>
          <p:nvPr/>
        </p:nvSpPr>
        <p:spPr>
          <a:xfrm>
            <a:off x="463798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G</a:t>
            </a:r>
          </a:p>
        </p:txBody>
      </p:sp>
      <p:sp>
        <p:nvSpPr>
          <p:cNvPr id="87" name="Text 86"/>
          <p:cNvSpPr txBox="1"/>
          <p:nvPr/>
        </p:nvSpPr>
        <p:spPr>
          <a:xfrm>
            <a:off x="284004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المستوى</a:t>
            </a:r>
          </a:p>
        </p:txBody>
      </p:sp>
      <p:sp>
        <p:nvSpPr>
          <p:cNvPr id="88" name="Text 87"/>
          <p:cNvSpPr txBox="1"/>
          <p:nvPr/>
        </p:nvSpPr>
        <p:spPr>
          <a:xfrm>
            <a:off x="2915841" y="4225862"/>
            <a:ext cx="163324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3 × 4 = 12: «متوسط» في المصفوفة.</a:t>
            </a:r>
          </a:p>
        </p:txBody>
      </p:sp>
      <p:sp>
        <p:nvSpPr>
          <p:cNvPr id="89" name="Text box 88"/>
          <p:cNvSpPr/>
          <p:nvPr/>
        </p:nvSpPr>
        <p:spPr>
          <a:xfrm>
            <a:off x="2484041" y="3985617"/>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H</a:t>
            </a:r>
          </a:p>
        </p:txBody>
      </p:sp>
      <p:sp>
        <p:nvSpPr>
          <p:cNvPr id="90" name="Text 89"/>
          <p:cNvSpPr txBox="1"/>
          <p:nvPr/>
        </p:nvSpPr>
        <p:spPr>
          <a:xfrm>
            <a:off x="686106"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مالك الخطر</a:t>
            </a:r>
          </a:p>
        </p:txBody>
      </p:sp>
      <p:sp>
        <p:nvSpPr>
          <p:cNvPr id="91" name="Text 90"/>
          <p:cNvSpPr txBox="1"/>
          <p:nvPr/>
        </p:nvSpPr>
        <p:spPr>
          <a:xfrm>
            <a:off x="761901"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 لا GRC.</a:t>
            </a:r>
          </a:p>
        </p:txBody>
      </p:sp>
      <p:sp>
        <p:nvSpPr>
          <p:cNvPr id="92" name="Text 9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93" name="Text 9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(3 من 3): المعالجة والمتبقي والمتابعة</a:t>
            </a:r>
          </a:p>
        </p:txBody>
      </p:sp>
      <p:sp>
        <p:nvSpPr>
          <p:cNvPr id="6" name="Box 5"/>
          <p:cNvSpPr/>
          <p:nvPr/>
        </p:nvSpPr>
        <p:spPr>
          <a:xfrm>
            <a:off x="815975" y="1661120"/>
            <a:ext cx="10560050" cy="2392362"/>
          </a:xfrm>
          <a:prstGeom prst="roundRect">
            <a:avLst>
              <a:gd name="adj" fmla="val 2117"/>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7842250" y="1664295"/>
            <a:ext cx="3175000" cy="307280"/>
          </a:xfrm>
          <a:prstGeom prst="rect">
            <a:avLst/>
          </a:prstGeom>
          <a:solidFill>
            <a:srgbClr val="EEF1F4"/>
          </a:solidFill>
          <a:ln>
            <a:noFill/>
          </a:ln>
        </p:spPr>
        <p:txBody>
          <a:bodyPr rtlCol="0" anchor="ctr"/>
          <a:lstStyle/>
          <a:p>
            <a:pPr algn="ctr"/>
          </a:p>
        </p:txBody>
      </p:sp>
      <p:sp>
        <p:nvSpPr>
          <p:cNvPr id="11" name="Rule 10"/>
          <p:cNvSpPr/>
          <p:nvPr/>
        </p:nvSpPr>
        <p:spPr>
          <a:xfrm>
            <a:off x="78422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7867650" y="1695283"/>
            <a:ext cx="3124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I</a:t>
            </a:r>
          </a:p>
        </p:txBody>
      </p:sp>
      <p:sp>
        <p:nvSpPr>
          <p:cNvPr id="13" name="Box 12"/>
          <p:cNvSpPr/>
          <p:nvPr/>
        </p:nvSpPr>
        <p:spPr>
          <a:xfrm>
            <a:off x="6064250" y="1664295"/>
            <a:ext cx="1778000" cy="307280"/>
          </a:xfrm>
          <a:prstGeom prst="rect">
            <a:avLst/>
          </a:prstGeom>
          <a:solidFill>
            <a:srgbClr val="EEF1F4"/>
          </a:solidFill>
          <a:ln>
            <a:noFill/>
          </a:ln>
        </p:spPr>
        <p:txBody>
          <a:bodyPr rtlCol="0" anchor="ctr"/>
          <a:lstStyle/>
          <a:p>
            <a:pPr algn="ctr"/>
          </a:p>
        </p:txBody>
      </p:sp>
      <p:sp>
        <p:nvSpPr>
          <p:cNvPr id="14" name="Rule 13"/>
          <p:cNvSpPr/>
          <p:nvPr/>
        </p:nvSpPr>
        <p:spPr>
          <a:xfrm>
            <a:off x="60642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6089650" y="1695283"/>
            <a:ext cx="1727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J</a:t>
            </a:r>
          </a:p>
        </p:txBody>
      </p:sp>
      <p:sp>
        <p:nvSpPr>
          <p:cNvPr id="16" name="Box 15"/>
          <p:cNvSpPr/>
          <p:nvPr/>
        </p:nvSpPr>
        <p:spPr>
          <a:xfrm>
            <a:off x="4921250" y="1664295"/>
            <a:ext cx="1143000" cy="307280"/>
          </a:xfrm>
          <a:prstGeom prst="rect">
            <a:avLst/>
          </a:prstGeom>
          <a:solidFill>
            <a:srgbClr val="EEF1F4"/>
          </a:solidFill>
          <a:ln>
            <a:noFill/>
          </a:ln>
        </p:spPr>
        <p:txBody>
          <a:bodyPr rtlCol="0" anchor="ctr"/>
          <a:lstStyle/>
          <a:p>
            <a:pPr algn="ctr"/>
          </a:p>
        </p:txBody>
      </p:sp>
      <p:sp>
        <p:nvSpPr>
          <p:cNvPr id="17" name="Rule 16"/>
          <p:cNvSpPr/>
          <p:nvPr/>
        </p:nvSpPr>
        <p:spPr>
          <a:xfrm>
            <a:off x="49212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4958080" y="1695283"/>
            <a:ext cx="1075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K</a:t>
            </a:r>
          </a:p>
        </p:txBody>
      </p:sp>
      <p:sp>
        <p:nvSpPr>
          <p:cNvPr id="19" name="Box 18"/>
          <p:cNvSpPr/>
          <p:nvPr/>
        </p:nvSpPr>
        <p:spPr>
          <a:xfrm>
            <a:off x="3016250" y="1664295"/>
            <a:ext cx="1905000" cy="307280"/>
          </a:xfrm>
          <a:prstGeom prst="rect">
            <a:avLst/>
          </a:prstGeom>
          <a:solidFill>
            <a:srgbClr val="EEF1F4"/>
          </a:solidFill>
          <a:ln>
            <a:noFill/>
          </a:ln>
        </p:spPr>
        <p:txBody>
          <a:bodyPr rtlCol="0" anchor="ctr"/>
          <a:lstStyle/>
          <a:p>
            <a:pPr algn="ctr"/>
          </a:p>
        </p:txBody>
      </p:sp>
      <p:sp>
        <p:nvSpPr>
          <p:cNvPr id="20" name="Rule 19"/>
          <p:cNvSpPr/>
          <p:nvPr/>
        </p:nvSpPr>
        <p:spPr>
          <a:xfrm>
            <a:off x="3016250" y="1664295"/>
            <a:ext cx="6350" cy="307280"/>
          </a:xfrm>
          <a:prstGeom prst="rect">
            <a:avLst/>
          </a:prstGeom>
          <a:solidFill>
            <a:srgbClr val="D3D9DF"/>
          </a:solidFill>
          <a:ln>
            <a:noFill/>
          </a:ln>
        </p:spPr>
        <p:txBody>
          <a:bodyPr rtlCol="0" anchor="ctr"/>
          <a:lstStyle/>
          <a:p>
            <a:pPr algn="ctr"/>
          </a:p>
        </p:txBody>
      </p:sp>
      <p:sp>
        <p:nvSpPr>
          <p:cNvPr id="21" name="Text 20"/>
          <p:cNvSpPr txBox="1"/>
          <p:nvPr/>
        </p:nvSpPr>
        <p:spPr>
          <a:xfrm>
            <a:off x="3041650" y="1695283"/>
            <a:ext cx="1854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L</a:t>
            </a:r>
          </a:p>
        </p:txBody>
      </p:sp>
      <p:sp>
        <p:nvSpPr>
          <p:cNvPr id="22" name="Box 21"/>
          <p:cNvSpPr/>
          <p:nvPr/>
        </p:nvSpPr>
        <p:spPr>
          <a:xfrm>
            <a:off x="819150" y="1664295"/>
            <a:ext cx="2197100" cy="307280"/>
          </a:xfrm>
          <a:prstGeom prst="roundRect">
            <a:avLst>
              <a:gd name="adj" fmla="val 3616"/>
            </a:avLst>
          </a:prstGeom>
          <a:solidFill>
            <a:srgbClr val="EEF1F4"/>
          </a:solidFill>
          <a:ln>
            <a:noFill/>
          </a:ln>
        </p:spPr>
        <p:txBody>
          <a:bodyPr rtlCol="0" anchor="ctr"/>
          <a:lstStyle/>
          <a:p>
            <a:pPr algn="ctr"/>
          </a:p>
        </p:txBody>
      </p:sp>
      <p:sp>
        <p:nvSpPr>
          <p:cNvPr id="23" name="Rule 22"/>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24" name="Text 23"/>
          <p:cNvSpPr txBox="1"/>
          <p:nvPr/>
        </p:nvSpPr>
        <p:spPr>
          <a:xfrm>
            <a:off x="844550" y="1695283"/>
            <a:ext cx="21463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M</a:t>
            </a:r>
          </a:p>
        </p:txBody>
      </p:sp>
      <p:sp>
        <p:nvSpPr>
          <p:cNvPr id="25" name="Rule 24"/>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6" name="Box 25"/>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7" name="Rule 26"/>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9" name="Box 28"/>
          <p:cNvSpPr/>
          <p:nvPr/>
        </p:nvSpPr>
        <p:spPr>
          <a:xfrm>
            <a:off x="7842250" y="1977926"/>
            <a:ext cx="3175000" cy="410170"/>
          </a:xfrm>
          <a:prstGeom prst="rect">
            <a:avLst/>
          </a:prstGeom>
          <a:solidFill>
            <a:srgbClr val="F7F8FA"/>
          </a:solidFill>
          <a:ln>
            <a:noFill/>
          </a:ln>
        </p:spPr>
        <p:txBody>
          <a:bodyPr rtlCol="0" anchor="ctr"/>
          <a:lstStyle/>
          <a:p>
            <a:pPr algn="ctr"/>
          </a:p>
        </p:txBody>
      </p:sp>
      <p:sp>
        <p:nvSpPr>
          <p:cNvPr id="30" name="Rule 29"/>
          <p:cNvSpPr/>
          <p:nvPr/>
        </p:nvSpPr>
        <p:spPr>
          <a:xfrm>
            <a:off x="78422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7867650" y="1999008"/>
            <a:ext cx="3073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المعالجة</a:t>
            </a:r>
          </a:p>
        </p:txBody>
      </p:sp>
      <p:sp>
        <p:nvSpPr>
          <p:cNvPr id="32" name="Box 31"/>
          <p:cNvSpPr/>
          <p:nvPr/>
        </p:nvSpPr>
        <p:spPr>
          <a:xfrm>
            <a:off x="6064250" y="1977926"/>
            <a:ext cx="1778000" cy="410170"/>
          </a:xfrm>
          <a:prstGeom prst="rect">
            <a:avLst/>
          </a:prstGeom>
          <a:solidFill>
            <a:srgbClr val="F7F8FA"/>
          </a:solidFill>
          <a:ln>
            <a:noFill/>
          </a:ln>
        </p:spPr>
        <p:txBody>
          <a:bodyPr rtlCol="0" anchor="ctr"/>
          <a:lstStyle/>
          <a:p>
            <a:pPr algn="ctr"/>
          </a:p>
        </p:txBody>
      </p:sp>
      <p:sp>
        <p:nvSpPr>
          <p:cNvPr id="33" name="Rule 32"/>
          <p:cNvSpPr/>
          <p:nvPr/>
        </p:nvSpPr>
        <p:spPr>
          <a:xfrm>
            <a:off x="6064250" y="1977926"/>
            <a:ext cx="6350" cy="410170"/>
          </a:xfrm>
          <a:prstGeom prst="rect">
            <a:avLst/>
          </a:prstGeom>
          <a:solidFill>
            <a:srgbClr val="D3D9DF"/>
          </a:solidFill>
          <a:ln>
            <a:noFill/>
          </a:ln>
        </p:spPr>
        <p:txBody>
          <a:bodyPr rtlCol="0" anchor="ctr"/>
          <a:lstStyle/>
          <a:p>
            <a:pPr algn="ctr"/>
          </a:p>
        </p:txBody>
      </p:sp>
      <p:sp>
        <p:nvSpPr>
          <p:cNvPr id="34" name="Text 33"/>
          <p:cNvSpPr txBox="1"/>
          <p:nvPr/>
        </p:nvSpPr>
        <p:spPr>
          <a:xfrm>
            <a:off x="6089650" y="1999008"/>
            <a:ext cx="1676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مالك الإجراء</a:t>
            </a:r>
          </a:p>
        </p:txBody>
      </p:sp>
      <p:sp>
        <p:nvSpPr>
          <p:cNvPr id="35" name="Box 34"/>
          <p:cNvSpPr/>
          <p:nvPr/>
        </p:nvSpPr>
        <p:spPr>
          <a:xfrm>
            <a:off x="4921250" y="1977926"/>
            <a:ext cx="1143000" cy="410170"/>
          </a:xfrm>
          <a:prstGeom prst="rect">
            <a:avLst/>
          </a:prstGeom>
          <a:solidFill>
            <a:srgbClr val="F7F8FA"/>
          </a:solidFill>
          <a:ln>
            <a:noFill/>
          </a:ln>
        </p:spPr>
        <p:txBody>
          <a:bodyPr rtlCol="0" anchor="ctr"/>
          <a:lstStyle/>
          <a:p>
            <a:pPr algn="ctr"/>
          </a:p>
        </p:txBody>
      </p:sp>
      <p:sp>
        <p:nvSpPr>
          <p:cNvPr id="36" name="Rule 35"/>
          <p:cNvSpPr/>
          <p:nvPr/>
        </p:nvSpPr>
        <p:spPr>
          <a:xfrm>
            <a:off x="4921250" y="1977926"/>
            <a:ext cx="6350" cy="410170"/>
          </a:xfrm>
          <a:prstGeom prst="rect">
            <a:avLst/>
          </a:prstGeom>
          <a:solidFill>
            <a:srgbClr val="D3D9DF"/>
          </a:solidFill>
          <a:ln>
            <a:noFill/>
          </a:ln>
        </p:spPr>
        <p:txBody>
          <a:bodyPr rtlCol="0" anchor="ctr"/>
          <a:lstStyle/>
          <a:p>
            <a:pPr algn="ctr"/>
          </a:p>
        </p:txBody>
      </p:sp>
      <p:sp>
        <p:nvSpPr>
          <p:cNvPr id="37" name="Text 36"/>
          <p:cNvSpPr txBox="1"/>
          <p:nvPr/>
        </p:nvSpPr>
        <p:spPr>
          <a:xfrm>
            <a:off x="4946650" y="1999008"/>
            <a:ext cx="1041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الموعد</a:t>
            </a:r>
          </a:p>
        </p:txBody>
      </p:sp>
      <p:sp>
        <p:nvSpPr>
          <p:cNvPr id="38" name="Box 37"/>
          <p:cNvSpPr/>
          <p:nvPr/>
        </p:nvSpPr>
        <p:spPr>
          <a:xfrm>
            <a:off x="3016250" y="1977926"/>
            <a:ext cx="1905000" cy="410170"/>
          </a:xfrm>
          <a:prstGeom prst="rect">
            <a:avLst/>
          </a:prstGeom>
          <a:solidFill>
            <a:srgbClr val="F7F8FA"/>
          </a:solidFill>
          <a:ln>
            <a:noFill/>
          </a:ln>
        </p:spPr>
        <p:txBody>
          <a:bodyPr rtlCol="0" anchor="ctr"/>
          <a:lstStyle/>
          <a:p>
            <a:pPr algn="ctr"/>
          </a:p>
        </p:txBody>
      </p:sp>
      <p:sp>
        <p:nvSpPr>
          <p:cNvPr id="39" name="Rule 38"/>
          <p:cNvSpPr/>
          <p:nvPr/>
        </p:nvSpPr>
        <p:spPr>
          <a:xfrm>
            <a:off x="3016250" y="1977926"/>
            <a:ext cx="6350" cy="410170"/>
          </a:xfrm>
          <a:prstGeom prst="rect">
            <a:avLst/>
          </a:prstGeom>
          <a:solidFill>
            <a:srgbClr val="D3D9DF"/>
          </a:solidFill>
          <a:ln>
            <a:noFill/>
          </a:ln>
        </p:spPr>
        <p:txBody>
          <a:bodyPr rtlCol="0" anchor="ctr"/>
          <a:lstStyle/>
          <a:p>
            <a:pPr algn="ctr"/>
          </a:p>
        </p:txBody>
      </p:sp>
      <p:sp>
        <p:nvSpPr>
          <p:cNvPr id="40" name="Text 39"/>
          <p:cNvSpPr txBox="1"/>
          <p:nvPr/>
        </p:nvSpPr>
        <p:spPr>
          <a:xfrm>
            <a:off x="3041650" y="1999008"/>
            <a:ext cx="1803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المتبقي المتوقع</a:t>
            </a:r>
          </a:p>
        </p:txBody>
      </p:sp>
      <p:sp>
        <p:nvSpPr>
          <p:cNvPr id="41" name="Box 40"/>
          <p:cNvSpPr/>
          <p:nvPr/>
        </p:nvSpPr>
        <p:spPr>
          <a:xfrm>
            <a:off x="819150" y="1977926"/>
            <a:ext cx="2197100" cy="410170"/>
          </a:xfrm>
          <a:prstGeom prst="rect">
            <a:avLst/>
          </a:prstGeom>
          <a:solidFill>
            <a:srgbClr val="F7F8FA"/>
          </a:solidFill>
          <a:ln>
            <a:noFill/>
          </a:ln>
        </p:spPr>
        <p:txBody>
          <a:bodyPr rtlCol="0" anchor="ctr"/>
          <a:lstStyle/>
          <a:p>
            <a:pPr algn="ctr"/>
          </a:p>
        </p:txBody>
      </p:sp>
      <p:sp>
        <p:nvSpPr>
          <p:cNvPr id="42" name="Rule 41"/>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43" name="Text 42"/>
          <p:cNvSpPr txBox="1"/>
          <p:nvPr/>
        </p:nvSpPr>
        <p:spPr>
          <a:xfrm>
            <a:off x="844550" y="1999008"/>
            <a:ext cx="2095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المتابعة</a:t>
            </a:r>
          </a:p>
        </p:txBody>
      </p:sp>
      <p:sp>
        <p:nvSpPr>
          <p:cNvPr id="44" name="Rule 43"/>
          <p:cNvSpPr/>
          <p:nvPr/>
        </p:nvSpPr>
        <p:spPr>
          <a:xfrm>
            <a:off x="819150" y="3730327"/>
            <a:ext cx="10553700" cy="6350"/>
          </a:xfrm>
          <a:prstGeom prst="rect">
            <a:avLst/>
          </a:prstGeom>
          <a:solidFill>
            <a:srgbClr val="D3D9DF"/>
          </a:solidFill>
          <a:ln>
            <a:noFill/>
          </a:ln>
        </p:spPr>
        <p:txBody>
          <a:bodyPr rtlCol="0" anchor="ctr"/>
          <a:lstStyle/>
          <a:p>
            <a:pPr algn="ctr"/>
          </a:p>
        </p:txBody>
      </p:sp>
      <p:sp>
        <p:nvSpPr>
          <p:cNvPr id="45" name="Box 44"/>
          <p:cNvSpPr/>
          <p:nvPr/>
        </p:nvSpPr>
        <p:spPr>
          <a:xfrm>
            <a:off x="11017250" y="2394446"/>
            <a:ext cx="355600" cy="1335881"/>
          </a:xfrm>
          <a:prstGeom prst="rect">
            <a:avLst/>
          </a:prstGeom>
          <a:solidFill>
            <a:srgbClr val="EEF1F4"/>
          </a:solidFill>
          <a:ln>
            <a:noFill/>
          </a:ln>
        </p:spPr>
        <p:txBody>
          <a:bodyPr rtlCol="0" anchor="ctr"/>
          <a:lstStyle/>
          <a:p>
            <a:pPr algn="ctr"/>
          </a:p>
        </p:txBody>
      </p:sp>
      <p:sp>
        <p:nvSpPr>
          <p:cNvPr id="46" name="Rule 45"/>
          <p:cNvSpPr/>
          <p:nvPr/>
        </p:nvSpPr>
        <p:spPr>
          <a:xfrm>
            <a:off x="11017250" y="2394446"/>
            <a:ext cx="6350" cy="1335881"/>
          </a:xfrm>
          <a:prstGeom prst="rect">
            <a:avLst/>
          </a:prstGeom>
          <a:solidFill>
            <a:srgbClr val="D3D9DF"/>
          </a:solidFill>
          <a:ln>
            <a:noFill/>
          </a:ln>
        </p:spPr>
        <p:txBody>
          <a:bodyPr rtlCol="0" anchor="ctr"/>
          <a:lstStyle/>
          <a:p>
            <a:pPr algn="ctr"/>
          </a:p>
        </p:txBody>
      </p:sp>
      <p:sp>
        <p:nvSpPr>
          <p:cNvPr id="47" name="Text 46"/>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8" name="Box 47"/>
          <p:cNvSpPr/>
          <p:nvPr/>
        </p:nvSpPr>
        <p:spPr>
          <a:xfrm>
            <a:off x="7842250" y="2394446"/>
            <a:ext cx="3175000" cy="1335881"/>
          </a:xfrm>
          <a:prstGeom prst="rect">
            <a:avLst/>
          </a:prstGeom>
          <a:solidFill>
            <a:srgbClr val="DDF0EA"/>
          </a:solidFill>
          <a:ln>
            <a:noFill/>
          </a:ln>
        </p:spPr>
        <p:txBody>
          <a:bodyPr rtlCol="0" anchor="ctr"/>
          <a:lstStyle/>
          <a:p>
            <a:pPr algn="ctr"/>
          </a:p>
        </p:txBody>
      </p:sp>
      <p:sp>
        <p:nvSpPr>
          <p:cNvPr id="49" name="Rule 48"/>
          <p:cNvSpPr/>
          <p:nvPr/>
        </p:nvSpPr>
        <p:spPr>
          <a:xfrm>
            <a:off x="7842250" y="2394446"/>
            <a:ext cx="6350" cy="1335881"/>
          </a:xfrm>
          <a:prstGeom prst="rect">
            <a:avLst/>
          </a:prstGeom>
          <a:solidFill>
            <a:srgbClr val="D3D9DF"/>
          </a:solidFill>
          <a:ln>
            <a:noFill/>
          </a:ln>
        </p:spPr>
        <p:txBody>
          <a:bodyPr rtlCol="0" anchor="ctr"/>
          <a:lstStyle/>
          <a:p>
            <a:pPr algn="ctr"/>
          </a:p>
        </p:txBody>
      </p:sp>
      <p:sp>
        <p:nvSpPr>
          <p:cNvPr id="50" name="Text 49"/>
          <p:cNvSpPr txBox="1"/>
          <p:nvPr/>
        </p:nvSpPr>
        <p:spPr>
          <a:xfrm>
            <a:off x="7867650" y="2415528"/>
            <a:ext cx="3073400" cy="123428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التخفيف: تشفير القرص الكامل لحواسيب الموارد البشرية والمالية، وحفظ ملفات الرواتب في مجلد سحابي مقيد بدل الجهاز.</a:t>
            </a:r>
          </a:p>
        </p:txBody>
      </p:sp>
      <p:sp>
        <p:nvSpPr>
          <p:cNvPr id="51" name="Box 50"/>
          <p:cNvSpPr/>
          <p:nvPr/>
        </p:nvSpPr>
        <p:spPr>
          <a:xfrm>
            <a:off x="6064250" y="2394446"/>
            <a:ext cx="1778000" cy="1335881"/>
          </a:xfrm>
          <a:prstGeom prst="rect">
            <a:avLst/>
          </a:prstGeom>
          <a:solidFill>
            <a:srgbClr val="FFFFFF"/>
          </a:solidFill>
          <a:ln>
            <a:noFill/>
          </a:ln>
        </p:spPr>
        <p:txBody>
          <a:bodyPr rtlCol="0" anchor="ctr"/>
          <a:lstStyle/>
          <a:p>
            <a:pPr algn="ctr"/>
          </a:p>
        </p:txBody>
      </p:sp>
      <p:sp>
        <p:nvSpPr>
          <p:cNvPr id="52" name="Rule 51"/>
          <p:cNvSpPr/>
          <p:nvPr/>
        </p:nvSpPr>
        <p:spPr>
          <a:xfrm>
            <a:off x="6064250" y="2394446"/>
            <a:ext cx="6350" cy="1335881"/>
          </a:xfrm>
          <a:prstGeom prst="rect">
            <a:avLst/>
          </a:prstGeom>
          <a:solidFill>
            <a:srgbClr val="D3D9DF"/>
          </a:solidFill>
          <a:ln>
            <a:noFill/>
          </a:ln>
        </p:spPr>
        <p:txBody>
          <a:bodyPr rtlCol="0" anchor="ctr"/>
          <a:lstStyle/>
          <a:p>
            <a:pPr algn="ctr"/>
          </a:p>
        </p:txBody>
      </p:sp>
      <p:sp>
        <p:nvSpPr>
          <p:cNvPr id="53" name="Text 52"/>
          <p:cNvSpPr txBox="1"/>
          <p:nvPr/>
        </p:nvSpPr>
        <p:spPr>
          <a:xfrm>
            <a:off x="6089650" y="2415528"/>
            <a:ext cx="1676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p:txBody>
      </p:sp>
      <p:sp>
        <p:nvSpPr>
          <p:cNvPr id="54" name="Box 53"/>
          <p:cNvSpPr/>
          <p:nvPr/>
        </p:nvSpPr>
        <p:spPr>
          <a:xfrm>
            <a:off x="4921250" y="2394446"/>
            <a:ext cx="1143000" cy="1335881"/>
          </a:xfrm>
          <a:prstGeom prst="rect">
            <a:avLst/>
          </a:prstGeom>
          <a:solidFill>
            <a:srgbClr val="FFFFFF"/>
          </a:solidFill>
          <a:ln>
            <a:noFill/>
          </a:ln>
        </p:spPr>
        <p:txBody>
          <a:bodyPr rtlCol="0" anchor="ctr"/>
          <a:lstStyle/>
          <a:p>
            <a:pPr algn="ctr"/>
          </a:p>
        </p:txBody>
      </p:sp>
      <p:sp>
        <p:nvSpPr>
          <p:cNvPr id="55" name="Rule 54"/>
          <p:cNvSpPr/>
          <p:nvPr/>
        </p:nvSpPr>
        <p:spPr>
          <a:xfrm>
            <a:off x="4921250" y="2394446"/>
            <a:ext cx="6350" cy="1335881"/>
          </a:xfrm>
          <a:prstGeom prst="rect">
            <a:avLst/>
          </a:prstGeom>
          <a:solidFill>
            <a:srgbClr val="D3D9DF"/>
          </a:solidFill>
          <a:ln>
            <a:noFill/>
          </a:ln>
        </p:spPr>
        <p:txBody>
          <a:bodyPr rtlCol="0" anchor="ctr"/>
          <a:lstStyle/>
          <a:p>
            <a:pPr algn="ctr"/>
          </a:p>
        </p:txBody>
      </p:sp>
      <p:sp>
        <p:nvSpPr>
          <p:cNvPr id="56" name="Text 55"/>
          <p:cNvSpPr txBox="1"/>
          <p:nvPr/>
        </p:nvSpPr>
        <p:spPr>
          <a:xfrm>
            <a:off x="4946650" y="2415528"/>
            <a:ext cx="1041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p:txBody>
      </p:sp>
      <p:sp>
        <p:nvSpPr>
          <p:cNvPr id="57" name="Box 56"/>
          <p:cNvSpPr/>
          <p:nvPr/>
        </p:nvSpPr>
        <p:spPr>
          <a:xfrm>
            <a:off x="3016250" y="2394446"/>
            <a:ext cx="1905000" cy="1335881"/>
          </a:xfrm>
          <a:prstGeom prst="rect">
            <a:avLst/>
          </a:prstGeom>
          <a:solidFill>
            <a:srgbClr val="ECE6F4"/>
          </a:solidFill>
          <a:ln>
            <a:noFill/>
          </a:ln>
        </p:spPr>
        <p:txBody>
          <a:bodyPr rtlCol="0" anchor="ctr"/>
          <a:lstStyle/>
          <a:p>
            <a:pPr algn="ctr"/>
          </a:p>
        </p:txBody>
      </p:sp>
      <p:sp>
        <p:nvSpPr>
          <p:cNvPr id="58" name="Rule 57"/>
          <p:cNvSpPr/>
          <p:nvPr/>
        </p:nvSpPr>
        <p:spPr>
          <a:xfrm>
            <a:off x="3016250" y="2394446"/>
            <a:ext cx="6350" cy="1335881"/>
          </a:xfrm>
          <a:prstGeom prst="rect">
            <a:avLst/>
          </a:prstGeom>
          <a:solidFill>
            <a:srgbClr val="D3D9DF"/>
          </a:solidFill>
          <a:ln>
            <a:noFill/>
          </a:ln>
        </p:spPr>
        <p:txBody>
          <a:bodyPr rtlCol="0" anchor="ctr"/>
          <a:lstStyle/>
          <a:p>
            <a:pPr algn="ctr"/>
          </a:p>
        </p:txBody>
      </p:sp>
      <p:sp>
        <p:nvSpPr>
          <p:cNvPr id="59" name="Text 58"/>
          <p:cNvSpPr txBox="1"/>
          <p:nvPr/>
        </p:nvSpPr>
        <p:spPr>
          <a:xfrm>
            <a:off x="3041650" y="2415528"/>
            <a:ext cx="1803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 × 2 = 6 · منخفض</a:t>
            </a:r>
          </a:p>
        </p:txBody>
      </p:sp>
      <p:sp>
        <p:nvSpPr>
          <p:cNvPr id="60" name="Box 59"/>
          <p:cNvSpPr/>
          <p:nvPr/>
        </p:nvSpPr>
        <p:spPr>
          <a:xfrm>
            <a:off x="819150" y="2394446"/>
            <a:ext cx="2197100" cy="1335881"/>
          </a:xfrm>
          <a:prstGeom prst="rect">
            <a:avLst/>
          </a:prstGeom>
          <a:solidFill>
            <a:srgbClr val="FFFFFF"/>
          </a:solidFill>
          <a:ln>
            <a:noFill/>
          </a:ln>
        </p:spPr>
        <p:txBody>
          <a:bodyPr rtlCol="0" anchor="ctr"/>
          <a:lstStyle/>
          <a:p>
            <a:pPr algn="ctr"/>
          </a:p>
        </p:txBody>
      </p:sp>
      <p:sp>
        <p:nvSpPr>
          <p:cNvPr id="61" name="Rule 60"/>
          <p:cNvSpPr/>
          <p:nvPr/>
        </p:nvSpPr>
        <p:spPr>
          <a:xfrm>
            <a:off x="819150" y="2394446"/>
            <a:ext cx="6350" cy="1335881"/>
          </a:xfrm>
          <a:prstGeom prst="rect">
            <a:avLst/>
          </a:prstGeom>
          <a:solidFill>
            <a:srgbClr val="D3D9DF"/>
          </a:solidFill>
          <a:ln>
            <a:noFill/>
          </a:ln>
        </p:spPr>
        <p:txBody>
          <a:bodyPr rtlCol="0" anchor="ctr"/>
          <a:lstStyle/>
          <a:p>
            <a:pPr algn="ctr"/>
          </a:p>
        </p:txBody>
      </p:sp>
      <p:sp>
        <p:nvSpPr>
          <p:cNvPr id="62" name="Text 61"/>
          <p:cNvSpPr txBox="1"/>
          <p:nvPr/>
        </p:nvSpPr>
        <p:spPr>
          <a:xfrm>
            <a:off x="844550" y="2415528"/>
            <a:ext cx="2095500" cy="92571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تتحقق GRC من تقرير التشفير بعد 30 يوماً، وتحدّث السجل.</a:t>
            </a:r>
          </a:p>
        </p:txBody>
      </p:sp>
      <p:sp>
        <p:nvSpPr>
          <p:cNvPr id="63" name="Rule 62"/>
          <p:cNvSpPr/>
          <p:nvPr/>
        </p:nvSpPr>
        <p:spPr>
          <a:xfrm>
            <a:off x="819150" y="4043958"/>
            <a:ext cx="10553700" cy="6350"/>
          </a:xfrm>
          <a:prstGeom prst="rect">
            <a:avLst/>
          </a:prstGeom>
          <a:solidFill>
            <a:srgbClr val="D3D9DF"/>
          </a:solidFill>
          <a:ln>
            <a:noFill/>
          </a:ln>
        </p:spPr>
        <p:txBody>
          <a:bodyPr rtlCol="0" anchor="ctr"/>
          <a:lstStyle/>
          <a:p>
            <a:pPr algn="ctr"/>
          </a:p>
        </p:txBody>
      </p:sp>
      <p:sp>
        <p:nvSpPr>
          <p:cNvPr id="64" name="Box 63"/>
          <p:cNvSpPr/>
          <p:nvPr/>
        </p:nvSpPr>
        <p:spPr>
          <a:xfrm>
            <a:off x="11017250" y="3736677"/>
            <a:ext cx="355600" cy="307280"/>
          </a:xfrm>
          <a:prstGeom prst="roundRect">
            <a:avLst>
              <a:gd name="adj" fmla="val 3616"/>
            </a:avLst>
          </a:prstGeom>
          <a:solidFill>
            <a:srgbClr val="EEF1F4"/>
          </a:solidFill>
          <a:ln>
            <a:noFill/>
          </a:ln>
        </p:spPr>
        <p:txBody>
          <a:bodyPr rtlCol="0" anchor="ctr"/>
          <a:lstStyle/>
          <a:p>
            <a:pPr algn="ctr"/>
          </a:p>
        </p:txBody>
      </p:sp>
      <p:sp>
        <p:nvSpPr>
          <p:cNvPr id="65" name="Rule 64"/>
          <p:cNvSpPr/>
          <p:nvPr/>
        </p:nvSpPr>
        <p:spPr>
          <a:xfrm>
            <a:off x="11017250" y="3736677"/>
            <a:ext cx="6350" cy="307280"/>
          </a:xfrm>
          <a:prstGeom prst="rect">
            <a:avLst/>
          </a:prstGeom>
          <a:solidFill>
            <a:srgbClr val="D3D9DF"/>
          </a:solidFill>
          <a:ln>
            <a:noFill/>
          </a:ln>
        </p:spPr>
        <p:txBody>
          <a:bodyPr rtlCol="0" anchor="ctr"/>
          <a:lstStyle/>
          <a:p>
            <a:pPr algn="ctr"/>
          </a:p>
        </p:txBody>
      </p:sp>
      <p:sp>
        <p:nvSpPr>
          <p:cNvPr id="66" name="Text 65"/>
          <p:cNvSpPr txBox="1"/>
          <p:nvPr/>
        </p:nvSpPr>
        <p:spPr>
          <a:xfrm>
            <a:off x="11054080" y="376766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7" name="Box 66"/>
          <p:cNvSpPr/>
          <p:nvPr/>
        </p:nvSpPr>
        <p:spPr>
          <a:xfrm>
            <a:off x="7842250" y="3736677"/>
            <a:ext cx="3175000" cy="307280"/>
          </a:xfrm>
          <a:prstGeom prst="rect">
            <a:avLst/>
          </a:prstGeom>
          <a:solidFill>
            <a:srgbClr val="FFFFFF"/>
          </a:solidFill>
          <a:ln>
            <a:noFill/>
          </a:ln>
        </p:spPr>
        <p:txBody>
          <a:bodyPr rtlCol="0" anchor="ctr"/>
          <a:lstStyle/>
          <a:p>
            <a:pPr algn="ctr"/>
          </a:p>
        </p:txBody>
      </p:sp>
      <p:sp>
        <p:nvSpPr>
          <p:cNvPr id="68" name="Rule 67"/>
          <p:cNvSpPr/>
          <p:nvPr/>
        </p:nvSpPr>
        <p:spPr>
          <a:xfrm>
            <a:off x="7842250" y="3736677"/>
            <a:ext cx="6350" cy="307280"/>
          </a:xfrm>
          <a:prstGeom prst="rect">
            <a:avLst/>
          </a:prstGeom>
          <a:solidFill>
            <a:srgbClr val="D3D9DF"/>
          </a:solidFill>
          <a:ln>
            <a:noFill/>
          </a:ln>
        </p:spPr>
        <p:txBody>
          <a:bodyPr rtlCol="0" anchor="ctr"/>
          <a:lstStyle/>
          <a:p>
            <a:pPr algn="ctr"/>
          </a:p>
        </p:txBody>
      </p:sp>
      <p:sp>
        <p:nvSpPr>
          <p:cNvPr id="69" name="Box 68"/>
          <p:cNvSpPr/>
          <p:nvPr/>
        </p:nvSpPr>
        <p:spPr>
          <a:xfrm>
            <a:off x="6064250" y="3736677"/>
            <a:ext cx="1778000" cy="307280"/>
          </a:xfrm>
          <a:prstGeom prst="rect">
            <a:avLst/>
          </a:prstGeom>
          <a:solidFill>
            <a:srgbClr val="FFFFFF"/>
          </a:solidFill>
          <a:ln>
            <a:noFill/>
          </a:ln>
        </p:spPr>
        <p:txBody>
          <a:bodyPr rtlCol="0" anchor="ctr"/>
          <a:lstStyle/>
          <a:p>
            <a:pPr algn="ctr"/>
          </a:p>
        </p:txBody>
      </p:sp>
      <p:sp>
        <p:nvSpPr>
          <p:cNvPr id="70" name="Rule 69"/>
          <p:cNvSpPr/>
          <p:nvPr/>
        </p:nvSpPr>
        <p:spPr>
          <a:xfrm>
            <a:off x="6064250" y="3736677"/>
            <a:ext cx="6350" cy="307280"/>
          </a:xfrm>
          <a:prstGeom prst="rect">
            <a:avLst/>
          </a:prstGeom>
          <a:solidFill>
            <a:srgbClr val="D3D9DF"/>
          </a:solidFill>
          <a:ln>
            <a:noFill/>
          </a:ln>
        </p:spPr>
        <p:txBody>
          <a:bodyPr rtlCol="0" anchor="ctr"/>
          <a:lstStyle/>
          <a:p>
            <a:pPr algn="ctr"/>
          </a:p>
        </p:txBody>
      </p:sp>
      <p:sp>
        <p:nvSpPr>
          <p:cNvPr id="71" name="Box 70"/>
          <p:cNvSpPr/>
          <p:nvPr/>
        </p:nvSpPr>
        <p:spPr>
          <a:xfrm>
            <a:off x="4921250" y="3736677"/>
            <a:ext cx="1143000" cy="307280"/>
          </a:xfrm>
          <a:prstGeom prst="rect">
            <a:avLst/>
          </a:prstGeom>
          <a:solidFill>
            <a:srgbClr val="FFFFFF"/>
          </a:solidFill>
          <a:ln>
            <a:noFill/>
          </a:ln>
        </p:spPr>
        <p:txBody>
          <a:bodyPr rtlCol="0" anchor="ctr"/>
          <a:lstStyle/>
          <a:p>
            <a:pPr algn="ctr"/>
          </a:p>
        </p:txBody>
      </p:sp>
      <p:sp>
        <p:nvSpPr>
          <p:cNvPr id="72" name="Rule 71"/>
          <p:cNvSpPr/>
          <p:nvPr/>
        </p:nvSpPr>
        <p:spPr>
          <a:xfrm>
            <a:off x="4921250" y="3736677"/>
            <a:ext cx="6350" cy="307280"/>
          </a:xfrm>
          <a:prstGeom prst="rect">
            <a:avLst/>
          </a:prstGeom>
          <a:solidFill>
            <a:srgbClr val="D3D9DF"/>
          </a:solidFill>
          <a:ln>
            <a:noFill/>
          </a:ln>
        </p:spPr>
        <p:txBody>
          <a:bodyPr rtlCol="0" anchor="ctr"/>
          <a:lstStyle/>
          <a:p>
            <a:pPr algn="ctr"/>
          </a:p>
        </p:txBody>
      </p:sp>
      <p:sp>
        <p:nvSpPr>
          <p:cNvPr id="73" name="Box 72"/>
          <p:cNvSpPr/>
          <p:nvPr/>
        </p:nvSpPr>
        <p:spPr>
          <a:xfrm>
            <a:off x="3016250" y="3736677"/>
            <a:ext cx="1905000" cy="307280"/>
          </a:xfrm>
          <a:prstGeom prst="rect">
            <a:avLst/>
          </a:prstGeom>
          <a:solidFill>
            <a:srgbClr val="FFFFFF"/>
          </a:solidFill>
          <a:ln>
            <a:noFill/>
          </a:ln>
        </p:spPr>
        <p:txBody>
          <a:bodyPr rtlCol="0" anchor="ctr"/>
          <a:lstStyle/>
          <a:p>
            <a:pPr algn="ctr"/>
          </a:p>
        </p:txBody>
      </p:sp>
      <p:sp>
        <p:nvSpPr>
          <p:cNvPr id="74" name="Rule 73"/>
          <p:cNvSpPr/>
          <p:nvPr/>
        </p:nvSpPr>
        <p:spPr>
          <a:xfrm>
            <a:off x="3016250" y="3736677"/>
            <a:ext cx="6350" cy="307280"/>
          </a:xfrm>
          <a:prstGeom prst="rect">
            <a:avLst/>
          </a:prstGeom>
          <a:solidFill>
            <a:srgbClr val="D3D9DF"/>
          </a:solidFill>
          <a:ln>
            <a:noFill/>
          </a:ln>
        </p:spPr>
        <p:txBody>
          <a:bodyPr rtlCol="0" anchor="ctr"/>
          <a:lstStyle/>
          <a:p>
            <a:pPr algn="ctr"/>
          </a:p>
        </p:txBody>
      </p:sp>
      <p:sp>
        <p:nvSpPr>
          <p:cNvPr id="75" name="Box 74"/>
          <p:cNvSpPr/>
          <p:nvPr/>
        </p:nvSpPr>
        <p:spPr>
          <a:xfrm>
            <a:off x="819150" y="3736677"/>
            <a:ext cx="2197100" cy="307280"/>
          </a:xfrm>
          <a:prstGeom prst="roundRect">
            <a:avLst>
              <a:gd name="adj" fmla="val 3616"/>
            </a:avLst>
          </a:prstGeom>
          <a:solidFill>
            <a:srgbClr val="FFFFFF"/>
          </a:solidFill>
          <a:ln>
            <a:noFill/>
          </a:ln>
        </p:spPr>
        <p:txBody>
          <a:bodyPr rtlCol="0" anchor="ctr"/>
          <a:lstStyle/>
          <a:p>
            <a:pPr algn="ctr"/>
          </a:p>
        </p:txBody>
      </p:sp>
      <p:sp>
        <p:nvSpPr>
          <p:cNvPr id="76" name="Rule 75"/>
          <p:cNvSpPr/>
          <p:nvPr/>
        </p:nvSpPr>
        <p:spPr>
          <a:xfrm>
            <a:off x="819150" y="3736677"/>
            <a:ext cx="6350" cy="307280"/>
          </a:xfrm>
          <a:prstGeom prst="rect">
            <a:avLst/>
          </a:prstGeom>
          <a:solidFill>
            <a:srgbClr val="D3D9DF"/>
          </a:solidFill>
          <a:ln>
            <a:noFill/>
          </a:ln>
        </p:spPr>
        <p:txBody>
          <a:bodyPr rtlCol="0" anchor="ctr"/>
          <a:lstStyle/>
          <a:p>
            <a:pPr algn="ctr"/>
          </a:p>
        </p:txBody>
      </p:sp>
      <p:sp>
        <p:nvSpPr>
          <p:cNvPr id="77" name="Text box 76"/>
          <p:cNvSpPr/>
          <p:nvPr/>
        </p:nvSpPr>
        <p:spPr>
          <a:xfrm>
            <a:off x="11099800" y="4602758"/>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I</a:t>
            </a:r>
          </a:p>
        </p:txBody>
      </p:sp>
      <p:sp>
        <p:nvSpPr>
          <p:cNvPr id="78" name="Text 77"/>
          <p:cNvSpPr txBox="1"/>
          <p:nvPr/>
        </p:nvSpPr>
        <p:spPr>
          <a:xfrm>
            <a:off x="87203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المعالجة</a:t>
            </a:r>
          </a:p>
        </p:txBody>
      </p:sp>
      <p:sp>
        <p:nvSpPr>
          <p:cNvPr id="79" name="Text 78"/>
          <p:cNvSpPr txBox="1"/>
          <p:nvPr/>
        </p:nvSpPr>
        <p:spPr>
          <a:xfrm>
            <a:off x="88263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التخفيف: تشفير الأقراص، ومجلد سحابي مقيد.</a:t>
            </a:r>
          </a:p>
        </p:txBody>
      </p:sp>
      <p:sp>
        <p:nvSpPr>
          <p:cNvPr id="80" name="Text box 79"/>
          <p:cNvSpPr/>
          <p:nvPr/>
        </p:nvSpPr>
        <p:spPr>
          <a:xfrm>
            <a:off x="8407400" y="460275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J</a:t>
            </a:r>
          </a:p>
        </p:txBody>
      </p:sp>
      <p:sp>
        <p:nvSpPr>
          <p:cNvPr id="81" name="Text 80"/>
          <p:cNvSpPr txBox="1"/>
          <p:nvPr/>
        </p:nvSpPr>
        <p:spPr>
          <a:xfrm>
            <a:off x="60279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مالك الإجراء والموعد</a:t>
            </a:r>
          </a:p>
        </p:txBody>
      </p:sp>
      <p:sp>
        <p:nvSpPr>
          <p:cNvPr id="82" name="Text 81"/>
          <p:cNvSpPr txBox="1"/>
          <p:nvPr/>
        </p:nvSpPr>
        <p:spPr>
          <a:xfrm>
            <a:off x="61339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 خلال 30 يوماً.</a:t>
            </a:r>
          </a:p>
        </p:txBody>
      </p:sp>
      <p:sp>
        <p:nvSpPr>
          <p:cNvPr id="83" name="Text box 82"/>
          <p:cNvSpPr/>
          <p:nvPr/>
        </p:nvSpPr>
        <p:spPr>
          <a:xfrm>
            <a:off x="5715000" y="4602758"/>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L</a:t>
            </a:r>
          </a:p>
        </p:txBody>
      </p:sp>
      <p:sp>
        <p:nvSpPr>
          <p:cNvPr id="84" name="Text 83"/>
          <p:cNvSpPr txBox="1"/>
          <p:nvPr/>
        </p:nvSpPr>
        <p:spPr>
          <a:xfrm>
            <a:off x="33355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المتبقي المتوقع</a:t>
            </a:r>
          </a:p>
        </p:txBody>
      </p:sp>
      <p:sp>
        <p:nvSpPr>
          <p:cNvPr id="85" name="Text 84"/>
          <p:cNvSpPr txBox="1"/>
          <p:nvPr/>
        </p:nvSpPr>
        <p:spPr>
          <a:xfrm>
            <a:off x="34415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6، منخفض، بشرط أن يعمل التشفير على كل الأجهزة.</a:t>
            </a:r>
          </a:p>
        </p:txBody>
      </p:sp>
      <p:sp>
        <p:nvSpPr>
          <p:cNvPr id="86" name="Text box 85"/>
          <p:cNvSpPr/>
          <p:nvPr/>
        </p:nvSpPr>
        <p:spPr>
          <a:xfrm>
            <a:off x="3022600" y="460275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M</a:t>
            </a:r>
          </a:p>
        </p:txBody>
      </p:sp>
      <p:sp>
        <p:nvSpPr>
          <p:cNvPr id="87" name="Text 86"/>
          <p:cNvSpPr txBox="1"/>
          <p:nvPr/>
        </p:nvSpPr>
        <p:spPr>
          <a:xfrm>
            <a:off x="6431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المتابعة</a:t>
            </a:r>
          </a:p>
        </p:txBody>
      </p:sp>
      <p:sp>
        <p:nvSpPr>
          <p:cNvPr id="88" name="Text 87"/>
          <p:cNvSpPr txBox="1"/>
          <p:nvPr/>
        </p:nvSpPr>
        <p:spPr>
          <a:xfrm>
            <a:off x="7491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GRC تتحقق من تقرير التشفير وتحدّث السجل.</a:t>
            </a:r>
          </a:p>
        </p:txBody>
      </p:sp>
      <p:sp>
        <p:nvSpPr>
          <p:cNvPr id="89" name="Text 8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90" name="Text 8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حساب المورد المشترك</a:t>
            </a:r>
          </a:p>
        </p:txBody>
      </p:sp>
      <p:sp>
        <p:nvSpPr>
          <p:cNvPr id="7" name="Rule 6"/>
          <p:cNvSpPr/>
          <p:nvPr/>
        </p:nvSpPr>
        <p:spPr>
          <a:xfrm>
            <a:off x="812800" y="1657945"/>
            <a:ext cx="10566400" cy="31750"/>
          </a:xfrm>
          <a:prstGeom prst="rect">
            <a:avLst/>
          </a:prstGeom>
          <a:solidFill>
            <a:srgbClr val="C9C0AC"/>
          </a:solidFill>
          <a:ln>
            <a:noFill/>
          </a:ln>
        </p:spPr>
        <p:txBody>
          <a:bodyPr rtlCol="0" anchor="ctr"/>
          <a:lstStyle/>
          <a:p>
            <a:pPr algn="ctr"/>
          </a:p>
        </p:txBody>
      </p:sp>
      <p:sp>
        <p:nvSpPr>
          <p:cNvPr id="8" name="Text 7"/>
          <p:cNvSpPr txBox="1"/>
          <p:nvPr/>
        </p:nvSpPr>
        <p:spPr>
          <a:xfrm>
            <a:off x="838200" y="18192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وجدته في رُفاد</a:t>
            </a:r>
          </a:p>
        </p:txBody>
      </p:sp>
      <p:pic>
        <p:nvPicPr>
          <p:cNvPr id="9" name="Icon Search 8" descr="icon031.png"/>
          <p:cNvPicPr>
            <a:picLocks noChangeAspect="1"/>
          </p:cNvPicPr>
          <p:nvPr/>
        </p:nvPicPr>
        <p:blipFill>
          <a:blip r:embed="rId2"/>
          <a:stretch>
            <a:fillRect/>
          </a:stretch>
        </p:blipFill>
        <p:spPr>
          <a:xfrm>
            <a:off x="11080750" y="2223095"/>
            <a:ext cx="260350" cy="260350"/>
          </a:xfrm>
          <a:prstGeom prst="rect">
            <a:avLst/>
          </a:prstGeom>
        </p:spPr>
      </p:pic>
      <p:sp>
        <p:nvSpPr>
          <p:cNvPr id="10" name="Text 9"/>
          <p:cNvSpPr txBox="1"/>
          <p:nvPr/>
        </p:nvSpPr>
        <p:spPr>
          <a:xfrm>
            <a:off x="838200" y="21837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سَنَد يدير خادم تطبيق التتبع عن بعد بأداة دعم مكشوفة على الإنترنت.</a:t>
            </a:r>
          </a:p>
        </p:txBody>
      </p:sp>
      <p:pic>
        <p:nvPicPr>
          <p:cNvPr id="11" name="Icon Search 10" descr="icon031.png"/>
          <p:cNvPicPr>
            <a:picLocks noChangeAspect="1"/>
          </p:cNvPicPr>
          <p:nvPr/>
        </p:nvPicPr>
        <p:blipFill>
          <a:blip r:embed="rId2"/>
          <a:stretch>
            <a:fillRect/>
          </a:stretch>
        </p:blipFill>
        <p:spPr>
          <a:xfrm>
            <a:off x="11080750" y="2629495"/>
            <a:ext cx="260350" cy="260350"/>
          </a:xfrm>
          <a:prstGeom prst="rect">
            <a:avLst/>
          </a:prstGeom>
        </p:spPr>
      </p:pic>
      <p:sp>
        <p:nvSpPr>
          <p:cNvPr id="12" name="Text 11"/>
          <p:cNvSpPr txBox="1"/>
          <p:nvPr/>
        </p:nvSpPr>
        <p:spPr>
          <a:xfrm>
            <a:off x="838200" y="25901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حساب إداري مشترك واحد «sanad-⁠admin» يستخدمه 5 فنيين.</a:t>
            </a:r>
          </a:p>
        </p:txBody>
      </p:sp>
      <p:pic>
        <p:nvPicPr>
          <p:cNvPr id="13" name="Icon Search 12" descr="icon031.png"/>
          <p:cNvPicPr>
            <a:picLocks noChangeAspect="1"/>
          </p:cNvPicPr>
          <p:nvPr/>
        </p:nvPicPr>
        <p:blipFill>
          <a:blip r:embed="rId2"/>
          <a:stretch>
            <a:fillRect/>
          </a:stretch>
        </p:blipFill>
        <p:spPr>
          <a:xfrm>
            <a:off x="11080750" y="3035895"/>
            <a:ext cx="260350" cy="260350"/>
          </a:xfrm>
          <a:prstGeom prst="rect">
            <a:avLst/>
          </a:prstGeom>
        </p:spPr>
      </p:pic>
      <p:sp>
        <p:nvSpPr>
          <p:cNvPr id="14" name="Text 13"/>
          <p:cNvSpPr txBox="1"/>
          <p:nvPr/>
        </p:nvSpPr>
        <p:spPr>
          <a:xfrm>
            <a:off x="838200" y="29965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كلمة المرور لم تتغير منذ 2023، ولا يوجد تحقق متعدد العوامل.</a:t>
            </a:r>
          </a:p>
        </p:txBody>
      </p:sp>
      <p:pic>
        <p:nvPicPr>
          <p:cNvPr id="15" name="Icon Search 14" descr="icon031.png"/>
          <p:cNvPicPr>
            <a:picLocks noChangeAspect="1"/>
          </p:cNvPicPr>
          <p:nvPr/>
        </p:nvPicPr>
        <p:blipFill>
          <a:blip r:embed="rId2"/>
          <a:stretch>
            <a:fillRect/>
          </a:stretch>
        </p:blipFill>
        <p:spPr>
          <a:xfrm>
            <a:off x="11080750" y="3442295"/>
            <a:ext cx="260350" cy="260350"/>
          </a:xfrm>
          <a:prstGeom prst="rect">
            <a:avLst/>
          </a:prstGeom>
        </p:spPr>
      </p:pic>
      <p:sp>
        <p:nvSpPr>
          <p:cNvPr id="16" name="Text 15"/>
          <p:cNvSpPr txBox="1"/>
          <p:nvPr/>
        </p:nvSpPr>
        <p:spPr>
          <a:xfrm>
            <a:off x="838200" y="34029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الوصول مفتوح على مدار الساعة دون طلب أو موافقة.</a:t>
            </a:r>
          </a:p>
        </p:txBody>
      </p:sp>
      <p:pic>
        <p:nvPicPr>
          <p:cNvPr id="17" name="Icon Search 16" descr="icon031.png"/>
          <p:cNvPicPr>
            <a:picLocks noChangeAspect="1"/>
          </p:cNvPicPr>
          <p:nvPr/>
        </p:nvPicPr>
        <p:blipFill>
          <a:blip r:embed="rId2"/>
          <a:stretch>
            <a:fillRect/>
          </a:stretch>
        </p:blipFill>
        <p:spPr>
          <a:xfrm>
            <a:off x="11080750" y="3848695"/>
            <a:ext cx="260350" cy="260350"/>
          </a:xfrm>
          <a:prstGeom prst="rect">
            <a:avLst/>
          </a:prstGeom>
        </p:spPr>
      </p:pic>
      <p:sp>
        <p:nvSpPr>
          <p:cNvPr id="18" name="Text 17"/>
          <p:cNvSpPr txBox="1"/>
          <p:nvPr/>
        </p:nvSpPr>
        <p:spPr>
          <a:xfrm>
            <a:off x="838200" y="38093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الأداة تحفظ سجلات الجلسات 30 يوماً، ولا أحد يراجعها.</a:t>
            </a:r>
          </a:p>
        </p:txBody>
      </p:sp>
      <p:pic>
        <p:nvPicPr>
          <p:cNvPr id="19" name="Icon Search 18" descr="icon031.png"/>
          <p:cNvPicPr>
            <a:picLocks noChangeAspect="1"/>
          </p:cNvPicPr>
          <p:nvPr/>
        </p:nvPicPr>
        <p:blipFill>
          <a:blip r:embed="rId2"/>
          <a:stretch>
            <a:fillRect/>
          </a:stretch>
        </p:blipFill>
        <p:spPr>
          <a:xfrm>
            <a:off x="11080750" y="4255095"/>
            <a:ext cx="260350" cy="260350"/>
          </a:xfrm>
          <a:prstGeom prst="rect">
            <a:avLst/>
          </a:prstGeom>
        </p:spPr>
      </p:pic>
      <p:sp>
        <p:nvSpPr>
          <p:cNvPr id="20" name="Text 19"/>
          <p:cNvSpPr txBox="1"/>
          <p:nvPr/>
        </p:nvSpPr>
        <p:spPr>
          <a:xfrm>
            <a:off x="838200" y="42157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العقد فيه بند سرية فقط: لا إبلاغ عن الحوادث ولا التزام بسياسات رُفاد.</a:t>
            </a:r>
          </a:p>
        </p:txBody>
      </p:sp>
      <p:pic>
        <p:nvPicPr>
          <p:cNvPr id="21" name="Icon Search 20" descr="icon031.png"/>
          <p:cNvPicPr>
            <a:picLocks noChangeAspect="1"/>
          </p:cNvPicPr>
          <p:nvPr/>
        </p:nvPicPr>
        <p:blipFill>
          <a:blip r:embed="rId2"/>
          <a:stretch>
            <a:fillRect/>
          </a:stretch>
        </p:blipFill>
        <p:spPr>
          <a:xfrm>
            <a:off x="11080750" y="4661495"/>
            <a:ext cx="260350" cy="260350"/>
          </a:xfrm>
          <a:prstGeom prst="rect">
            <a:avLst/>
          </a:prstGeom>
        </p:spPr>
      </p:pic>
      <p:sp>
        <p:nvSpPr>
          <p:cNvPr id="22" name="Text 21"/>
          <p:cNvSpPr txBox="1"/>
          <p:nvPr/>
        </p:nvSpPr>
        <p:spPr>
          <a:xfrm>
            <a:off x="838200" y="46221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الخادم يحفظ أسماء المستلمين وهواتفهم وعناوينهم: نحو 50 ألف مستلم شهرياً.</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11005820" y="1568156"/>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1</a:t>
            </a:r>
          </a:p>
        </p:txBody>
      </p:sp>
      <p:sp>
        <p:nvSpPr>
          <p:cNvPr id="8" name="Text 7"/>
          <p:cNvSpPr txBox="1"/>
          <p:nvPr/>
        </p:nvSpPr>
        <p:spPr>
          <a:xfrm>
            <a:off x="0" y="1559012"/>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اكتب الخطر بصيغة: بسبب… قد… مما يؤدي إلى…</a:t>
            </a:r>
          </a:p>
        </p:txBody>
      </p:sp>
      <p:sp>
        <p:nvSpPr>
          <p:cNvPr id="9" name="Text 8"/>
          <p:cNvSpPr txBox="1"/>
          <p:nvPr/>
        </p:nvSpPr>
        <p:spPr>
          <a:xfrm>
            <a:off x="11005820" y="193893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2</a:t>
            </a:r>
          </a:p>
        </p:txBody>
      </p:sp>
      <p:sp>
        <p:nvSpPr>
          <p:cNvPr id="10" name="Text 9"/>
          <p:cNvSpPr txBox="1"/>
          <p:nvPr/>
        </p:nvSpPr>
        <p:spPr>
          <a:xfrm>
            <a:off x="0" y="192979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اذكر الضوابط الحالية.</a:t>
            </a:r>
          </a:p>
        </p:txBody>
      </p:sp>
      <p:sp>
        <p:nvSpPr>
          <p:cNvPr id="11" name="Text 10"/>
          <p:cNvSpPr txBox="1"/>
          <p:nvPr/>
        </p:nvSpPr>
        <p:spPr>
          <a:xfrm>
            <a:off x="11005820" y="230971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3</a:t>
            </a:r>
          </a:p>
        </p:txBody>
      </p:sp>
      <p:sp>
        <p:nvSpPr>
          <p:cNvPr id="12" name="Text 11"/>
          <p:cNvSpPr txBox="1"/>
          <p:nvPr/>
        </p:nvSpPr>
        <p:spPr>
          <a:xfrm>
            <a:off x="0" y="230057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قدّر الاحتمال والأثر بأوصاف المصفوفة، وبرر كلاً منهما، ثم احسب المستوى.</a:t>
            </a:r>
          </a:p>
        </p:txBody>
      </p:sp>
      <p:sp>
        <p:nvSpPr>
          <p:cNvPr id="13" name="Text 12"/>
          <p:cNvSpPr txBox="1"/>
          <p:nvPr/>
        </p:nvSpPr>
        <p:spPr>
          <a:xfrm>
            <a:off x="11005820" y="2680498"/>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4</a:t>
            </a:r>
          </a:p>
        </p:txBody>
      </p:sp>
      <p:sp>
        <p:nvSpPr>
          <p:cNvPr id="14" name="Text 13"/>
          <p:cNvSpPr txBox="1"/>
          <p:nvPr/>
        </p:nvSpPr>
        <p:spPr>
          <a:xfrm>
            <a:off x="0" y="2671354"/>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اقترح معالجة: خيار، وثلاثة إجراءات، لكل منها مالك وموعد.</a:t>
            </a:r>
          </a:p>
        </p:txBody>
      </p:sp>
      <p:sp>
        <p:nvSpPr>
          <p:cNvPr id="15" name="Text 14"/>
          <p:cNvSpPr txBox="1"/>
          <p:nvPr/>
        </p:nvSpPr>
        <p:spPr>
          <a:xfrm>
            <a:off x="11005820" y="3051278"/>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5</a:t>
            </a:r>
          </a:p>
        </p:txBody>
      </p:sp>
      <p:sp>
        <p:nvSpPr>
          <p:cNvPr id="16" name="Text 15"/>
          <p:cNvSpPr txBox="1"/>
          <p:nvPr/>
        </p:nvSpPr>
        <p:spPr>
          <a:xfrm>
            <a:off x="0" y="3042134"/>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قدّر الخطر المتبقي المتوقع واذكر افتراضاتك.</a:t>
            </a:r>
          </a:p>
        </p:txBody>
      </p:sp>
      <p:sp>
        <p:nvSpPr>
          <p:cNvPr id="17" name="Text 16"/>
          <p:cNvSpPr txBox="1"/>
          <p:nvPr/>
        </p:nvSpPr>
        <p:spPr>
          <a:xfrm>
            <a:off x="9664700" y="349305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وصف الخطر</a:t>
            </a:r>
          </a:p>
        </p:txBody>
      </p:sp>
      <p:sp>
        <p:nvSpPr>
          <p:cNvPr id="18" name="Box 17"/>
          <p:cNvSpPr/>
          <p:nvPr/>
        </p:nvSpPr>
        <p:spPr>
          <a:xfrm>
            <a:off x="819150" y="353089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838200" y="359465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بسبب… قد… مما يؤدي إلى…</a:t>
            </a:r>
          </a:p>
        </p:txBody>
      </p:sp>
      <p:sp>
        <p:nvSpPr>
          <p:cNvPr id="20" name="Text 19"/>
          <p:cNvSpPr txBox="1"/>
          <p:nvPr/>
        </p:nvSpPr>
        <p:spPr>
          <a:xfrm>
            <a:off x="9664700" y="404421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الاحتمال والأثر</a:t>
            </a:r>
          </a:p>
        </p:txBody>
      </p:sp>
      <p:sp>
        <p:nvSpPr>
          <p:cNvPr id="21" name="Box 20"/>
          <p:cNvSpPr/>
          <p:nvPr/>
        </p:nvSpPr>
        <p:spPr>
          <a:xfrm>
            <a:off x="819150" y="408205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2" name="Text 21"/>
          <p:cNvSpPr txBox="1"/>
          <p:nvPr/>
        </p:nvSpPr>
        <p:spPr>
          <a:xfrm>
            <a:off x="838200" y="414581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 × … = …، والمبرر:</a:t>
            </a:r>
          </a:p>
        </p:txBody>
      </p:sp>
      <p:sp>
        <p:nvSpPr>
          <p:cNvPr id="23" name="Text 22"/>
          <p:cNvSpPr txBox="1"/>
          <p:nvPr/>
        </p:nvSpPr>
        <p:spPr>
          <a:xfrm>
            <a:off x="9664700" y="459537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المعالجة</a:t>
            </a:r>
          </a:p>
        </p:txBody>
      </p:sp>
      <p:sp>
        <p:nvSpPr>
          <p:cNvPr id="24" name="Box 23"/>
          <p:cNvSpPr/>
          <p:nvPr/>
        </p:nvSpPr>
        <p:spPr>
          <a:xfrm>
            <a:off x="819150" y="463321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5" name="Text 24"/>
          <p:cNvSpPr txBox="1"/>
          <p:nvPr/>
        </p:nvSpPr>
        <p:spPr>
          <a:xfrm>
            <a:off x="838200" y="469697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الخيار، والإجراءات، والمالك، والموعد</a:t>
            </a:r>
          </a:p>
        </p:txBody>
      </p:sp>
      <p:sp>
        <p:nvSpPr>
          <p:cNvPr id="26" name="Text 25"/>
          <p:cNvSpPr txBox="1"/>
          <p:nvPr/>
        </p:nvSpPr>
        <p:spPr>
          <a:xfrm>
            <a:off x="0" y="5210032"/>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استخدم المصفوفة في الشريحة 64. النموذج كاملاً في الكراسة. 20 دقيقة.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الوصف والتقييم</a:t>
            </a:r>
          </a:p>
        </p:txBody>
      </p:sp>
      <p:sp>
        <p:nvSpPr>
          <p:cNvPr id="7" name="Box 6"/>
          <p:cNvSpPr/>
          <p:nvPr/>
        </p:nvSpPr>
        <p:spPr>
          <a:xfrm>
            <a:off x="812800" y="1594445"/>
            <a:ext cx="10566400" cy="1397000"/>
          </a:xfrm>
          <a:prstGeom prst="roundRect">
            <a:avLst>
              <a:gd name="adj" fmla="val 6363"/>
            </a:avLst>
          </a:prstGeom>
          <a:solidFill>
            <a:srgbClr val="FFFFFF"/>
          </a:solidFill>
          <a:ln>
            <a:noFill/>
          </a:ln>
        </p:spPr>
        <p:txBody>
          <a:bodyPr rtlCol="0" anchor="ctr"/>
          <a:lstStyle/>
          <a:p>
            <a:pPr algn="ctr"/>
          </a:p>
        </p:txBody>
      </p:sp>
      <p:sp>
        <p:nvSpPr>
          <p:cNvPr id="8" name="Rule 7"/>
          <p:cNvSpPr/>
          <p:nvPr/>
        </p:nvSpPr>
        <p:spPr>
          <a:xfrm>
            <a:off x="11328400" y="1594445"/>
            <a:ext cx="50800" cy="1397000"/>
          </a:xfrm>
          <a:prstGeom prst="rect">
            <a:avLst/>
          </a:prstGeom>
          <a:solidFill>
            <a:srgbClr val="0E7C6B"/>
          </a:solidFill>
          <a:ln>
            <a:noFill/>
          </a:ln>
        </p:spPr>
        <p:txBody>
          <a:bodyPr rtlCol="0" anchor="ctr"/>
          <a:lstStyle/>
          <a:p>
            <a:pPr algn="ctr"/>
          </a:p>
        </p:txBody>
      </p:sp>
      <p:sp>
        <p:nvSpPr>
          <p:cNvPr id="9" name="Text 8"/>
          <p:cNvSpPr txBox="1"/>
          <p:nvPr/>
        </p:nvSpPr>
        <p:spPr>
          <a:xfrm>
            <a:off x="838200" y="1669375"/>
            <a:ext cx="1031240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بسبب استخدام حساب إداري مشترك لمورد الدعم عبر أداة وصول عن بعد مكشوفة على الإنترنت بلا تحقق متعدد العوامل، قد يستخدم مهاجم كلمة مرور مسربة أو مخمّنة للدخول إلى خادم تطبيق التتبع، مما يؤدي إلى تسرب البيانات الشخصية للمستلمين أو تعطيل خدمة التتبع.</a:t>
            </a:r>
          </a:p>
        </p:txBody>
      </p:sp>
      <p:sp>
        <p:nvSpPr>
          <p:cNvPr id="10" name="Text 9"/>
          <p:cNvSpPr txBox="1"/>
          <p:nvPr/>
        </p:nvSpPr>
        <p:spPr>
          <a:xfrm>
            <a:off x="9855200" y="3079075"/>
            <a:ext cx="1524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الضوابط الحالية</a:t>
            </a:r>
          </a:p>
        </p:txBody>
      </p:sp>
      <p:sp>
        <p:nvSpPr>
          <p:cNvPr id="11" name="Text 10"/>
          <p:cNvSpPr txBox="1"/>
          <p:nvPr/>
        </p:nvSpPr>
        <p:spPr>
          <a:xfrm>
            <a:off x="93472" y="30790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كلمة مرور قديمة، وبند سرية في العقد، وسجلات جلسات 30 يوماً بلا مراجعة.</a:t>
            </a:r>
          </a:p>
        </p:txBody>
      </p:sp>
      <p:sp>
        <p:nvSpPr>
          <p:cNvPr id="12" name="Text 11"/>
          <p:cNvSpPr txBox="1"/>
          <p:nvPr/>
        </p:nvSpPr>
        <p:spPr>
          <a:xfrm>
            <a:off x="9766300" y="38664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الاحتمال 4</a:t>
            </a:r>
          </a:p>
        </p:txBody>
      </p:sp>
      <p:sp>
        <p:nvSpPr>
          <p:cNvPr id="13" name="Text 12"/>
          <p:cNvSpPr txBox="1"/>
          <p:nvPr/>
        </p:nvSpPr>
        <p:spPr>
          <a:xfrm>
            <a:off x="543052" y="38664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«محتمل»: الاستغلال سهل متى عُرفت كلمة المرور، وهي مشتركة بين 5 أشخاص ولم تتغير منذ سنوات. لم نختر 5 لأن المهاجم يحتاج أولاً إلى كلمة المرور، ولا توجد ثغرة منشورة تتجاوزها.</a:t>
            </a:r>
          </a:p>
        </p:txBody>
      </p:sp>
      <p:sp>
        <p:nvSpPr>
          <p:cNvPr id="14" name="Text 13"/>
          <p:cNvSpPr txBox="1"/>
          <p:nvPr/>
        </p:nvSpPr>
        <p:spPr>
          <a:xfrm>
            <a:off x="9766300" y="46538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الأثر 4</a:t>
            </a:r>
          </a:p>
        </p:txBody>
      </p:sp>
      <p:sp>
        <p:nvSpPr>
          <p:cNvPr id="15" name="Text 14"/>
          <p:cNvSpPr txBox="1"/>
          <p:nvPr/>
        </p:nvSpPr>
        <p:spPr>
          <a:xfrm>
            <a:off x="543052" y="46538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«عالٍ»: تسرب بيانات شخصية لعشرات الآلاف مع احتمال توقف الخدمة، بأثر كبير على رُفاد. لم نختر 5 لأن الأثر لا يمتد إلى المستوى الوطني.</a:t>
            </a:r>
          </a:p>
        </p:txBody>
      </p:sp>
      <p:sp>
        <p:nvSpPr>
          <p:cNvPr id="16" name="Text 15"/>
          <p:cNvSpPr txBox="1"/>
          <p:nvPr/>
        </p:nvSpPr>
        <p:spPr>
          <a:xfrm>
            <a:off x="9766300" y="54412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المستوى</a:t>
            </a:r>
          </a:p>
        </p:txBody>
      </p:sp>
      <p:sp>
        <p:nvSpPr>
          <p:cNvPr id="17" name="Text 16"/>
          <p:cNvSpPr txBox="1"/>
          <p:nvPr/>
        </p:nvSpPr>
        <p:spPr>
          <a:xfrm>
            <a:off x="93472" y="54412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4 × 4 = 16 · عالٍ: معالجة إلزامية وعرض على اللجنة.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المعالجة</a:t>
            </a:r>
          </a:p>
        </p:txBody>
      </p:sp>
      <p:sp>
        <p:nvSpPr>
          <p:cNvPr id="7" name="Text 6"/>
          <p:cNvSpPr txBox="1"/>
          <p:nvPr/>
        </p:nvSpPr>
        <p:spPr>
          <a:xfrm>
            <a:off x="10147300" y="1567775"/>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الخيار</a:t>
            </a:r>
          </a:p>
        </p:txBody>
      </p:sp>
      <p:sp>
        <p:nvSpPr>
          <p:cNvPr id="8" name="Text 7"/>
          <p:cNvSpPr txBox="1"/>
          <p:nvPr/>
        </p:nvSpPr>
        <p:spPr>
          <a:xfrm>
            <a:off x="62992" y="1567775"/>
            <a:ext cx="1012240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التخفيف، وعلى الخطر مالك واحد: مدير تقنية المعلومات.</a:t>
            </a:r>
          </a:p>
        </p:txBody>
      </p:sp>
      <p:graphicFrame>
        <p:nvGraphicFramePr>
          <p:cNvPr id="9" name="Table 8"/>
          <p:cNvGraphicFramePr>
            <a:graphicFrameLocks noGrp="1"/>
          </p:cNvGraphicFramePr>
          <p:nvPr/>
        </p:nvGraphicFramePr>
        <p:xfrm>
          <a:off x="815975" y="2105620"/>
          <a:ext cx="10560050" cy="2849166"/>
        </p:xfrm>
        <a:graphic>
          <a:graphicData uri="http://schemas.openxmlformats.org/drawingml/2006/table">
            <a:tbl>
              <a:tblPr firstRow="0" bandRow="0" lastRow="0" firstCol="0" lastCol="0" bandCol="0">
                <a:tableStyleId>{2D5ABB26-0587-4C30-8999-92F81FD0307C}</a:tableStyleId>
              </a:tblPr>
              <a:tblGrid>
                <a:gridCol w="1689735"/>
                <a:gridCol w="2745740"/>
                <a:gridCol w="61245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الموعد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المالك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الإجراء</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14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حسابات فردية لكل فني وإلغاء الحساب المشترك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14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تفعيل التحقق متعدد العوامل على أداة الوصول (ECC 2-⁠2-⁠3-⁠2)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إيقاف الوصول الدائم: وصول عند الطلب بموافقة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مراجعة أسبوعية لسجلات الجلسات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عند التجديد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المدير المالي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إضافة بنود ECC 4-⁠1-⁠2 عند تجديد العقد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0" name="Text 9"/>
          <p:cNvSpPr txBox="1"/>
          <p:nvPr/>
        </p:nvSpPr>
        <p:spPr>
          <a:xfrm>
            <a:off x="0" y="5062228"/>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طلب التمرين ثلاثة إجراءات. أهمها: الحسابات الفردية، والتحقق متعدد العوامل، والوصول عند الطلب.</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الخطر المتبقي والقرار</a:t>
            </a:r>
          </a:p>
        </p:txBody>
      </p:sp>
      <p:sp>
        <p:nvSpPr>
          <p:cNvPr id="7" name="Rule 6"/>
          <p:cNvSpPr/>
          <p:nvPr/>
        </p:nvSpPr>
        <p:spPr>
          <a:xfrm>
            <a:off x="6410424" y="1619845"/>
            <a:ext cx="4968776" cy="31750"/>
          </a:xfrm>
          <a:prstGeom prst="rect">
            <a:avLst/>
          </a:prstGeom>
          <a:solidFill>
            <a:srgbClr val="B4412C"/>
          </a:solidFill>
          <a:ln>
            <a:noFill/>
          </a:ln>
        </p:spPr>
        <p:txBody>
          <a:bodyPr rtlCol="0" anchor="ctr"/>
          <a:lstStyle/>
          <a:p>
            <a:pPr algn="ctr"/>
          </a:p>
        </p:txBody>
      </p:sp>
      <p:sp>
        <p:nvSpPr>
          <p:cNvPr id="8" name="Text 7"/>
          <p:cNvSpPr txBox="1"/>
          <p:nvPr/>
        </p:nvSpPr>
        <p:spPr>
          <a:xfrm>
            <a:off x="6435824" y="1751925"/>
            <a:ext cx="490527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B4412C"/>
                </a:solidFill>
                <a:latin typeface="IBM Plex Sans Arabic"/>
                <a:ea typeface="IBM Plex Sans Arabic"/>
                <a:cs typeface="IBM Plex Sans Arabic"/>
              </a:rPr>
              <a:t>قبل المعالجة</a:t>
            </a:r>
          </a:p>
        </p:txBody>
      </p:sp>
      <p:sp>
        <p:nvSpPr>
          <p:cNvPr id="9" name="Text 8"/>
          <p:cNvSpPr txBox="1"/>
          <p:nvPr/>
        </p:nvSpPr>
        <p:spPr>
          <a:xfrm>
            <a:off x="6435824" y="2226397"/>
            <a:ext cx="4905276" cy="502841"/>
          </a:xfrm>
          <a:prstGeom prst="rect">
            <a:avLst/>
          </a:prstGeom>
          <a:noFill/>
        </p:spPr>
        <p:txBody>
          <a:bodyPr wrap="square" tIns="0" rIns="0" bIns="0" lIns="0" anchor="t" rtlCol="0" anchorCtr="0">
            <a:noAutofit/>
          </a:bodyPr>
          <a:lstStyle/>
          <a:p>
            <a:pPr algn="r">
              <a:lnSpc>
                <a:spcPts val="3960"/>
              </a:lnSpc>
              <a:spcBef>
                <a:spcPts val="0"/>
              </a:spcBef>
              <a:spcAft>
                <a:spcPts val="0"/>
              </a:spcAft>
            </a:pPr>
            <a:r>
              <a:rPr sz="3600" b="1" i="0">
                <a:solidFill>
                  <a:srgbClr val="172433"/>
                </a:solidFill>
                <a:latin typeface="Readex Pro"/>
                <a:ea typeface="Readex Pro"/>
                <a:cs typeface="Readex Pro"/>
              </a:rPr>
              <a:t>4 × 4 = 16</a:t>
            </a:r>
          </a:p>
        </p:txBody>
      </p:sp>
      <p:sp>
        <p:nvSpPr>
          <p:cNvPr id="10" name="Text box 9"/>
          <p:cNvSpPr/>
          <p:nvPr/>
        </p:nvSpPr>
        <p:spPr>
          <a:xfrm>
            <a:off x="6448524" y="2776736"/>
            <a:ext cx="4892576" cy="431800"/>
          </a:xfrm>
          <a:prstGeom prst="roundRect">
            <a:avLst>
              <a:gd name="adj" fmla="val 14705"/>
            </a:avLst>
          </a:prstGeom>
          <a:solidFill>
            <a:srgbClr val="E0452B"/>
          </a:solidFill>
          <a:ln>
            <a:noFill/>
          </a:ln>
        </p:spPr>
        <p:txBody>
          <a:bodyPr rtlCol="0" anchor="ctr" wrap="square" tIns="0" rIns="0" bIns="78740" lIns="0" anchorCtr="0">
            <a:noAutofit/>
          </a:bodyPr>
          <a:lstStyle/>
          <a:p>
            <a:pPr algn="ctr" rtl="1">
              <a:lnSpc>
                <a:spcPts val="2800"/>
              </a:lnSpc>
              <a:spcBef>
                <a:spcPts val="0"/>
              </a:spcBef>
              <a:spcAft>
                <a:spcPts val="0"/>
              </a:spcAft>
            </a:pPr>
            <a:r>
              <a:rPr sz="2000" b="1" i="0">
                <a:solidFill>
                  <a:srgbClr val="FFFFFF"/>
                </a:solidFill>
                <a:latin typeface="IBM Plex Sans Arabic"/>
                <a:ea typeface="IBM Plex Sans Arabic"/>
                <a:cs typeface="IBM Plex Sans Arabic"/>
              </a:rPr>
              <a:t>عالٍ</a:t>
            </a:r>
          </a:p>
        </p:txBody>
      </p:sp>
      <p:sp>
        <p:nvSpPr>
          <p:cNvPr id="11" name="Text 10"/>
          <p:cNvSpPr txBox="1"/>
          <p:nvPr/>
        </p:nvSpPr>
        <p:spPr>
          <a:xfrm>
            <a:off x="5634157" y="2218865"/>
            <a:ext cx="649268"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0" i="0">
                <a:solidFill>
                  <a:srgbClr val="93A3B1"/>
                </a:solidFill>
                <a:latin typeface="IBM Plex Sans Arabic"/>
                <a:ea typeface="IBM Plex Sans Arabic"/>
                <a:cs typeface="IBM Plex Sans Arabic"/>
              </a:rPr>
              <a:t>←</a:t>
            </a:r>
          </a:p>
        </p:txBody>
      </p:sp>
      <p:sp>
        <p:nvSpPr>
          <p:cNvPr id="12" name="Rule 11"/>
          <p:cNvSpPr/>
          <p:nvPr/>
        </p:nvSpPr>
        <p:spPr>
          <a:xfrm>
            <a:off x="812701" y="1619845"/>
            <a:ext cx="4968776" cy="31750"/>
          </a:xfrm>
          <a:prstGeom prst="rect">
            <a:avLst/>
          </a:prstGeom>
          <a:solidFill>
            <a:srgbClr val="0E7C6B"/>
          </a:solidFill>
          <a:ln>
            <a:noFill/>
          </a:ln>
        </p:spPr>
        <p:txBody>
          <a:bodyPr rtlCol="0" anchor="ctr"/>
          <a:lstStyle/>
          <a:p>
            <a:pPr algn="ctr"/>
          </a:p>
        </p:txBody>
      </p:sp>
      <p:sp>
        <p:nvSpPr>
          <p:cNvPr id="13" name="Text 12"/>
          <p:cNvSpPr txBox="1"/>
          <p:nvPr/>
        </p:nvSpPr>
        <p:spPr>
          <a:xfrm>
            <a:off x="838101" y="1751925"/>
            <a:ext cx="490527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المتبقي المتوقع</a:t>
            </a:r>
          </a:p>
        </p:txBody>
      </p:sp>
      <p:sp>
        <p:nvSpPr>
          <p:cNvPr id="14" name="Text 13"/>
          <p:cNvSpPr txBox="1"/>
          <p:nvPr/>
        </p:nvSpPr>
        <p:spPr>
          <a:xfrm>
            <a:off x="838101" y="2226397"/>
            <a:ext cx="4905276" cy="502841"/>
          </a:xfrm>
          <a:prstGeom prst="rect">
            <a:avLst/>
          </a:prstGeom>
          <a:noFill/>
        </p:spPr>
        <p:txBody>
          <a:bodyPr wrap="square" tIns="0" rIns="0" bIns="0" lIns="0" anchor="t" rtlCol="0" anchorCtr="0">
            <a:noAutofit/>
          </a:bodyPr>
          <a:lstStyle/>
          <a:p>
            <a:pPr algn="r">
              <a:lnSpc>
                <a:spcPts val="3960"/>
              </a:lnSpc>
              <a:spcBef>
                <a:spcPts val="0"/>
              </a:spcBef>
              <a:spcAft>
                <a:spcPts val="0"/>
              </a:spcAft>
            </a:pPr>
            <a:r>
              <a:rPr sz="3600" b="1" i="0">
                <a:solidFill>
                  <a:srgbClr val="172433"/>
                </a:solidFill>
                <a:latin typeface="Readex Pro"/>
                <a:ea typeface="Readex Pro"/>
                <a:cs typeface="Readex Pro"/>
              </a:rPr>
              <a:t>2 × 4 = 8</a:t>
            </a:r>
          </a:p>
        </p:txBody>
      </p:sp>
      <p:sp>
        <p:nvSpPr>
          <p:cNvPr id="15" name="Text box 14"/>
          <p:cNvSpPr/>
          <p:nvPr/>
        </p:nvSpPr>
        <p:spPr>
          <a:xfrm>
            <a:off x="850801" y="2776736"/>
            <a:ext cx="4892576" cy="431800"/>
          </a:xfrm>
          <a:prstGeom prst="roundRect">
            <a:avLst>
              <a:gd name="adj" fmla="val 14705"/>
            </a:avLst>
          </a:prstGeom>
          <a:solidFill>
            <a:srgbClr val="F2B530"/>
          </a:solidFill>
          <a:ln>
            <a:noFill/>
          </a:ln>
        </p:spPr>
        <p:txBody>
          <a:bodyPr rtlCol="0" anchor="ctr" wrap="square" tIns="0" rIns="0" bIns="78740" lIns="0" anchorCtr="0">
            <a:noAutofit/>
          </a:bodyPr>
          <a:lstStyle/>
          <a:p>
            <a:pPr algn="ctr" rtl="1">
              <a:lnSpc>
                <a:spcPts val="2800"/>
              </a:lnSpc>
              <a:spcBef>
                <a:spcPts val="0"/>
              </a:spcBef>
              <a:spcAft>
                <a:spcPts val="0"/>
              </a:spcAft>
            </a:pPr>
            <a:r>
              <a:rPr sz="2000" b="1" i="0">
                <a:solidFill>
                  <a:srgbClr val="172433"/>
                </a:solidFill>
                <a:latin typeface="IBM Plex Sans Arabic"/>
                <a:ea typeface="IBM Plex Sans Arabic"/>
                <a:cs typeface="IBM Plex Sans Arabic"/>
              </a:rPr>
              <a:t>متوسط</a:t>
            </a:r>
          </a:p>
        </p:txBody>
      </p:sp>
      <p:sp>
        <p:nvSpPr>
          <p:cNvPr id="16" name="Text 15"/>
          <p:cNvSpPr txBox="1"/>
          <p:nvPr/>
        </p:nvSpPr>
        <p:spPr>
          <a:xfrm>
            <a:off x="10147300" y="3702566"/>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لماذا</a:t>
            </a:r>
          </a:p>
        </p:txBody>
      </p:sp>
      <p:sp>
        <p:nvSpPr>
          <p:cNvPr id="17" name="Text 16"/>
          <p:cNvSpPr txBox="1"/>
          <p:nvPr/>
        </p:nvSpPr>
        <p:spPr>
          <a:xfrm>
            <a:off x="531622" y="3702566"/>
            <a:ext cx="965377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الإجراءات يصبح الاحتمال «نادراً» (2) لأن كلمة المرور وحدها لا تكفي. الأثر يبقى «عالياً» (4) لأن البيانات نفسها ما زالت على الخادم. النتيجة 8: «متوسط».</a:t>
            </a:r>
          </a:p>
        </p:txBody>
      </p:sp>
      <p:sp>
        <p:nvSpPr>
          <p:cNvPr id="18" name="Text 17"/>
          <p:cNvSpPr txBox="1"/>
          <p:nvPr/>
        </p:nvSpPr>
        <p:spPr>
          <a:xfrm>
            <a:off x="10147300" y="4502666"/>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القرار</a:t>
            </a:r>
          </a:p>
        </p:txBody>
      </p:sp>
      <p:sp>
        <p:nvSpPr>
          <p:cNvPr id="19" name="Text 18"/>
          <p:cNvSpPr txBox="1"/>
          <p:nvPr/>
        </p:nvSpPr>
        <p:spPr>
          <a:xfrm>
            <a:off x="531622" y="4502666"/>
            <a:ext cx="965377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المتوسط يحتاج قراراً: قبول موثق من الرئيس التنفيذي، أو معالجة إضافية مثل حصر الوصول بعناوين المورد المعتمدة.</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968133"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2: أخطاء شائعة</a:t>
            </a:r>
          </a:p>
        </p:txBody>
      </p:sp>
      <p:sp>
        <p:nvSpPr>
          <p:cNvPr id="7" name="Box 6"/>
          <p:cNvSpPr/>
          <p:nvPr/>
        </p:nvSpPr>
        <p:spPr>
          <a:xfrm>
            <a:off x="6188075" y="1661120"/>
            <a:ext cx="5187950" cy="3879850"/>
          </a:xfrm>
          <a:prstGeom prst="roundRect">
            <a:avLst>
              <a:gd name="adj" fmla="val 2941"/>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لماذا الإجابة النموذجية أفضل</a:t>
            </a:r>
          </a:p>
        </p:txBody>
      </p:sp>
      <p:pic>
        <p:nvPicPr>
          <p:cNvPr id="9" name="Icon CheckCircle 8" descr="icon039.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618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يوجد تحقق متعدد العوامل» ثغرة، وليست خطراً كاملاً. الخطر يربط الثغرة بحدث وأثر.</a:t>
            </a:r>
          </a:p>
        </p:txBody>
      </p:sp>
      <p:pic>
        <p:nvPicPr>
          <p:cNvPr id="11" name="Icon CheckCircle 10" descr="icon039.png"/>
          <p:cNvPicPr>
            <a:picLocks noChangeAspect="1"/>
          </p:cNvPicPr>
          <p:nvPr/>
        </p:nvPicPr>
        <p:blipFill>
          <a:blip r:embed="rId2"/>
          <a:stretch>
            <a:fillRect/>
          </a:stretch>
        </p:blipFill>
        <p:spPr>
          <a:xfrm>
            <a:off x="10928350" y="3048595"/>
            <a:ext cx="241300" cy="241300"/>
          </a:xfrm>
          <a:prstGeom prst="rect">
            <a:avLst/>
          </a:prstGeom>
        </p:spPr>
      </p:pic>
      <p:sp>
        <p:nvSpPr>
          <p:cNvPr id="12" name="Text 11"/>
          <p:cNvSpPr txBox="1"/>
          <p:nvPr/>
        </p:nvSpPr>
        <p:spPr>
          <a:xfrm>
            <a:off x="6261862" y="3009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 درجة لها مبرر مأخوذ من أوصاف المصفوفة، لا من الانطباع.</a:t>
            </a:r>
          </a:p>
        </p:txBody>
      </p:sp>
      <p:pic>
        <p:nvPicPr>
          <p:cNvPr id="13" name="Icon CheckCircle 12" descr="icon039.png"/>
          <p:cNvPicPr>
            <a:picLocks noChangeAspect="1"/>
          </p:cNvPicPr>
          <p:nvPr/>
        </p:nvPicPr>
        <p:blipFill>
          <a:blip r:embed="rId2"/>
          <a:stretch>
            <a:fillRect/>
          </a:stretch>
        </p:blipFill>
        <p:spPr>
          <a:xfrm>
            <a:off x="10928350" y="3848695"/>
            <a:ext cx="241300" cy="241300"/>
          </a:xfrm>
          <a:prstGeom prst="rect">
            <a:avLst/>
          </a:prstGeom>
        </p:spPr>
      </p:pic>
      <p:sp>
        <p:nvSpPr>
          <p:cNvPr id="14" name="Text 13"/>
          <p:cNvSpPr txBox="1"/>
          <p:nvPr/>
        </p:nvSpPr>
        <p:spPr>
          <a:xfrm>
            <a:off x="6261862" y="38093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يقلل الاحتمال ولا يغير الأثر.</a:t>
            </a:r>
          </a:p>
        </p:txBody>
      </p:sp>
      <p:pic>
        <p:nvPicPr>
          <p:cNvPr id="15" name="Icon CheckCircle 14" descr="icon039.png"/>
          <p:cNvPicPr>
            <a:picLocks noChangeAspect="1"/>
          </p:cNvPicPr>
          <p:nvPr/>
        </p:nvPicPr>
        <p:blipFill>
          <a:blip r:embed="rId2"/>
          <a:stretch>
            <a:fillRect/>
          </a:stretch>
        </p:blipFill>
        <p:spPr>
          <a:xfrm>
            <a:off x="10928350" y="4648795"/>
            <a:ext cx="241300" cy="241300"/>
          </a:xfrm>
          <a:prstGeom prst="rect">
            <a:avLst/>
          </a:prstGeom>
        </p:spPr>
      </p:pic>
      <p:sp>
        <p:nvSpPr>
          <p:cNvPr id="16" name="Text 15"/>
          <p:cNvSpPr txBox="1"/>
          <p:nvPr/>
        </p:nvSpPr>
        <p:spPr>
          <a:xfrm>
            <a:off x="6261862" y="46094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المعالجة عند الخط الأول، وGRC يتابع، والمورد لا يملك الخطر.</a:t>
            </a:r>
          </a:p>
        </p:txBody>
      </p:sp>
      <p:sp>
        <p:nvSpPr>
          <p:cNvPr id="17" name="Box 16"/>
          <p:cNvSpPr/>
          <p:nvPr/>
        </p:nvSpPr>
        <p:spPr>
          <a:xfrm>
            <a:off x="815975" y="1661120"/>
            <a:ext cx="5187950" cy="3879850"/>
          </a:xfrm>
          <a:prstGeom prst="roundRect">
            <a:avLst>
              <a:gd name="adj" fmla="val 2941"/>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9" name="Icon Warning 18" descr="icon040.png"/>
          <p:cNvPicPr>
            <a:picLocks noChangeAspect="1"/>
          </p:cNvPicPr>
          <p:nvPr/>
        </p:nvPicPr>
        <p:blipFill>
          <a:blip r:embed="rId3"/>
          <a:stretch>
            <a:fillRect/>
          </a:stretch>
        </p:blipFill>
        <p:spPr>
          <a:xfrm>
            <a:off x="5556250" y="2248495"/>
            <a:ext cx="241300" cy="241300"/>
          </a:xfrm>
          <a:prstGeom prst="rect">
            <a:avLst/>
          </a:prstGeom>
        </p:spPr>
      </p:pic>
      <p:sp>
        <p:nvSpPr>
          <p:cNvPr id="20" name="Text 19"/>
          <p:cNvSpPr txBox="1"/>
          <p:nvPr/>
        </p:nvSpPr>
        <p:spPr>
          <a:xfrm>
            <a:off x="8382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كتابة الثغرة وحدها خطراً: «لا يوجد MFA».</a:t>
            </a:r>
          </a:p>
        </p:txBody>
      </p:sp>
      <p:pic>
        <p:nvPicPr>
          <p:cNvPr id="21" name="Icon Warning 20" descr="icon040.png"/>
          <p:cNvPicPr>
            <a:picLocks noChangeAspect="1"/>
          </p:cNvPicPr>
          <p:nvPr/>
        </p:nvPicPr>
        <p:blipFill>
          <a:blip r:embed="rId3"/>
          <a:stretch>
            <a:fillRect/>
          </a:stretch>
        </p:blipFill>
        <p:spPr>
          <a:xfrm>
            <a:off x="5556250" y="2692995"/>
            <a:ext cx="241300" cy="241300"/>
          </a:xfrm>
          <a:prstGeom prst="rect">
            <a:avLst/>
          </a:prstGeom>
        </p:spPr>
      </p:pic>
      <p:sp>
        <p:nvSpPr>
          <p:cNvPr id="22" name="Text 21"/>
          <p:cNvSpPr txBox="1"/>
          <p:nvPr/>
        </p:nvSpPr>
        <p:spPr>
          <a:xfrm>
            <a:off x="838200" y="2653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درجات بلا تبرير، أو خلط الاحتمال بالأثر.</a:t>
            </a:r>
          </a:p>
        </p:txBody>
      </p:sp>
      <p:pic>
        <p:nvPicPr>
          <p:cNvPr id="23" name="Icon Warning 22" descr="icon040.png"/>
          <p:cNvPicPr>
            <a:picLocks noChangeAspect="1"/>
          </p:cNvPicPr>
          <p:nvPr/>
        </p:nvPicPr>
        <p:blipFill>
          <a:blip r:embed="rId3"/>
          <a:stretch>
            <a:fillRect/>
          </a:stretch>
        </p:blipFill>
        <p:spPr>
          <a:xfrm>
            <a:off x="5556250" y="3137495"/>
            <a:ext cx="241300" cy="241300"/>
          </a:xfrm>
          <a:prstGeom prst="rect">
            <a:avLst/>
          </a:prstGeom>
        </p:spPr>
      </p:pic>
      <p:sp>
        <p:nvSpPr>
          <p:cNvPr id="24" name="Text 23"/>
          <p:cNvSpPr txBox="1"/>
          <p:nvPr/>
        </p:nvSpPr>
        <p:spPr>
          <a:xfrm>
            <a:off x="889762" y="3098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افتراض أن الخطر يصبح «منخفضاً جداً» تلقائياً بعد أي ضابط.</a:t>
            </a:r>
          </a:p>
        </p:txBody>
      </p:sp>
      <p:pic>
        <p:nvPicPr>
          <p:cNvPr id="25" name="Icon Warning 24" descr="icon040.png"/>
          <p:cNvPicPr>
            <a:picLocks noChangeAspect="1"/>
          </p:cNvPicPr>
          <p:nvPr/>
        </p:nvPicPr>
        <p:blipFill>
          <a:blip r:embed="rId3"/>
          <a:stretch>
            <a:fillRect/>
          </a:stretch>
        </p:blipFill>
        <p:spPr>
          <a:xfrm>
            <a:off x="5556250" y="3937595"/>
            <a:ext cx="241300" cy="241300"/>
          </a:xfrm>
          <a:prstGeom prst="rect">
            <a:avLst/>
          </a:prstGeom>
        </p:spPr>
      </p:pic>
      <p:sp>
        <p:nvSpPr>
          <p:cNvPr id="26" name="Text 25"/>
          <p:cNvSpPr txBox="1"/>
          <p:nvPr/>
        </p:nvSpPr>
        <p:spPr>
          <a:xfrm>
            <a:off x="889762" y="3898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اختيار «النقل إلى المورد» معالجة؛ المسؤولية لا تنتقل.</a:t>
            </a:r>
          </a:p>
        </p:txBody>
      </p:sp>
      <p:pic>
        <p:nvPicPr>
          <p:cNvPr id="27" name="Icon Warning 26" descr="icon040.png"/>
          <p:cNvPicPr>
            <a:picLocks noChangeAspect="1"/>
          </p:cNvPicPr>
          <p:nvPr/>
        </p:nvPicPr>
        <p:blipFill>
          <a:blip r:embed="rId3"/>
          <a:stretch>
            <a:fillRect/>
          </a:stretch>
        </p:blipFill>
        <p:spPr>
          <a:xfrm>
            <a:off x="5556250" y="4737695"/>
            <a:ext cx="241300" cy="241300"/>
          </a:xfrm>
          <a:prstGeom prst="rect">
            <a:avLst/>
          </a:prstGeom>
        </p:spPr>
      </p:pic>
      <p:sp>
        <p:nvSpPr>
          <p:cNvPr id="28" name="Text 27"/>
          <p:cNvSpPr txBox="1"/>
          <p:nvPr/>
        </p:nvSpPr>
        <p:spPr>
          <a:xfrm>
            <a:off x="838200" y="46983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إجراءات بلا مالك أو موعد، أو مالكها GRC.</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مخاطر الأطراف الخارجية: من التقييم إلى الإنهاء</a:t>
            </a:r>
          </a:p>
        </p:txBody>
      </p:sp>
      <p:sp>
        <p:nvSpPr>
          <p:cNvPr id="5" name="Rule 4"/>
          <p:cNvSpPr/>
          <p:nvPr/>
        </p:nvSpPr>
        <p:spPr>
          <a:xfrm>
            <a:off x="9357320" y="1632545"/>
            <a:ext cx="2021880" cy="31750"/>
          </a:xfrm>
          <a:prstGeom prst="rect">
            <a:avLst/>
          </a:prstGeom>
          <a:solidFill>
            <a:srgbClr val="0E7C6B"/>
          </a:solidFill>
          <a:ln>
            <a:noFill/>
          </a:ln>
        </p:spPr>
        <p:txBody>
          <a:bodyPr rtlCol="0" anchor="ctr"/>
          <a:lstStyle/>
          <a:p>
            <a:pPr algn="ctr"/>
          </a:p>
        </p:txBody>
      </p:sp>
      <p:sp>
        <p:nvSpPr>
          <p:cNvPr id="6" name="Text 5"/>
          <p:cNvSpPr txBox="1"/>
          <p:nvPr/>
        </p:nvSpPr>
        <p:spPr>
          <a:xfrm>
            <a:off x="9382720" y="1827744"/>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382720" y="2117685"/>
            <a:ext cx="19583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قبل التعاقد</a:t>
            </a:r>
          </a:p>
        </p:txBody>
      </p:sp>
      <p:sp>
        <p:nvSpPr>
          <p:cNvPr id="8" name="Text 7"/>
          <p:cNvSpPr txBox="1"/>
          <p:nvPr/>
        </p:nvSpPr>
        <p:spPr>
          <a:xfrm>
            <a:off x="9382720" y="2474047"/>
            <a:ext cx="1958380" cy="132556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تقييم المخاطر: ما الخدمة، وما البيانات والوصول؟ (ECC 4-⁠1-⁠3-⁠1)</a:t>
            </a:r>
          </a:p>
        </p:txBody>
      </p:sp>
      <p:sp>
        <p:nvSpPr>
          <p:cNvPr id="9" name="Text box 8"/>
          <p:cNvSpPr/>
          <p:nvPr/>
        </p:nvSpPr>
        <p:spPr>
          <a:xfrm>
            <a:off x="9395420" y="3891558"/>
            <a:ext cx="1945680" cy="697111"/>
          </a:xfrm>
          <a:prstGeom prst="rect">
            <a:avLst/>
          </a:prstGeom>
          <a:noFill/>
          <a:ln>
            <a:noFill/>
          </a:ln>
        </p:spPr>
        <p:txBody>
          <a:bodyPr rtlCol="0" anchor="ctr" wrap="square" tIns="21717" rIns="0" bIns="35433" lIns="0" anchorCtr="0">
            <a:noAutofit/>
          </a:bodyPr>
          <a:lstStyle/>
          <a:p>
            <a:pPr algn="r" rtl="1">
              <a:lnSpc>
                <a:spcPts val="2520"/>
              </a:lnSpc>
              <a:spcBef>
                <a:spcPts val="0"/>
              </a:spcBef>
              <a:spcAft>
                <a:spcPts val="0"/>
              </a:spcAft>
            </a:pPr>
            <a:r>
              <a:rPr sz="1800" b="0" i="0">
                <a:solidFill>
                  <a:srgbClr val="B4412C"/>
                </a:solidFill>
                <a:latin typeface="IBM Plex Sans Arabic"/>
                <a:ea typeface="IBM Plex Sans Arabic"/>
                <a:cs typeface="IBM Plex Sans Arabic"/>
              </a:rPr>
              <a:t>سَنَد: لم يُقيَّم سَنَد قبل توقيع العقد.</a:t>
            </a:r>
          </a:p>
        </p:txBody>
      </p:sp>
      <p:sp>
        <p:nvSpPr>
          <p:cNvPr id="10" name="Rule 9"/>
          <p:cNvSpPr/>
          <p:nvPr/>
        </p:nvSpPr>
        <p:spPr>
          <a:xfrm>
            <a:off x="9395420" y="3891558"/>
            <a:ext cx="1945680" cy="6350"/>
          </a:xfrm>
          <a:prstGeom prst="rect">
            <a:avLst/>
          </a:prstGeom>
          <a:solidFill>
            <a:srgbClr val="E1DBCD"/>
          </a:solidFill>
          <a:ln>
            <a:noFill/>
          </a:ln>
        </p:spPr>
        <p:txBody>
          <a:bodyPr rtlCol="0" anchor="ctr"/>
          <a:lstStyle/>
          <a:p>
            <a:pPr algn="ctr"/>
          </a:p>
        </p:txBody>
      </p:sp>
      <p:sp>
        <p:nvSpPr>
          <p:cNvPr id="11" name="Rule 10"/>
          <p:cNvSpPr/>
          <p:nvPr/>
        </p:nvSpPr>
        <p:spPr>
          <a:xfrm>
            <a:off x="7221141" y="1632545"/>
            <a:ext cx="2021880" cy="31750"/>
          </a:xfrm>
          <a:prstGeom prst="rect">
            <a:avLst/>
          </a:prstGeom>
          <a:solidFill>
            <a:srgbClr val="0E7C6B"/>
          </a:solidFill>
          <a:ln>
            <a:noFill/>
          </a:ln>
        </p:spPr>
        <p:txBody>
          <a:bodyPr rtlCol="0" anchor="ctr"/>
          <a:lstStyle/>
          <a:p>
            <a:pPr algn="ctr"/>
          </a:p>
        </p:txBody>
      </p:sp>
      <p:sp>
        <p:nvSpPr>
          <p:cNvPr id="12" name="Text 11"/>
          <p:cNvSpPr txBox="1"/>
          <p:nvPr/>
        </p:nvSpPr>
        <p:spPr>
          <a:xfrm>
            <a:off x="7246541" y="1827744"/>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3" name="Text 12"/>
          <p:cNvSpPr txBox="1"/>
          <p:nvPr/>
        </p:nvSpPr>
        <p:spPr>
          <a:xfrm>
            <a:off x="7246541" y="2117685"/>
            <a:ext cx="19583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العقد</a:t>
            </a:r>
          </a:p>
        </p:txBody>
      </p:sp>
      <p:sp>
        <p:nvSpPr>
          <p:cNvPr id="14" name="Text 13"/>
          <p:cNvSpPr txBox="1"/>
          <p:nvPr/>
        </p:nvSpPr>
        <p:spPr>
          <a:xfrm>
            <a:off x="7246541" y="2474047"/>
            <a:ext cx="1958380" cy="132556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السرية وحذف البيانات، والإبلاغ عن الحوادث، والالتزام بالسياسات (ECC 4-⁠1-⁠2).</a:t>
            </a:r>
          </a:p>
        </p:txBody>
      </p:sp>
      <p:sp>
        <p:nvSpPr>
          <p:cNvPr id="15" name="Text box 14"/>
          <p:cNvSpPr/>
          <p:nvPr/>
        </p:nvSpPr>
        <p:spPr>
          <a:xfrm>
            <a:off x="7259241" y="3891558"/>
            <a:ext cx="1945680" cy="377130"/>
          </a:xfrm>
          <a:prstGeom prst="rect">
            <a:avLst/>
          </a:prstGeom>
          <a:noFill/>
          <a:ln>
            <a:noFill/>
          </a:ln>
        </p:spPr>
        <p:txBody>
          <a:bodyPr rtlCol="0" anchor="ctr" wrap="square" tIns="21717" rIns="0" bIns="35433" lIns="0" anchorCtr="0">
            <a:noAutofit/>
          </a:bodyPr>
          <a:lstStyle/>
          <a:p>
            <a:pPr algn="r" rtl="1">
              <a:lnSpc>
                <a:spcPts val="2520"/>
              </a:lnSpc>
              <a:spcBef>
                <a:spcPts val="0"/>
              </a:spcBef>
              <a:spcAft>
                <a:spcPts val="0"/>
              </a:spcAft>
            </a:pPr>
            <a:r>
              <a:rPr sz="1800" b="0" i="0">
                <a:solidFill>
                  <a:srgbClr val="B4412C"/>
                </a:solidFill>
                <a:latin typeface="IBM Plex Sans Arabic"/>
                <a:ea typeface="IBM Plex Sans Arabic"/>
                <a:cs typeface="IBM Plex Sans Arabic"/>
              </a:rPr>
              <a:t>سَنَد: بند سرية فقط.</a:t>
            </a:r>
          </a:p>
        </p:txBody>
      </p:sp>
      <p:sp>
        <p:nvSpPr>
          <p:cNvPr id="16" name="Rule 15"/>
          <p:cNvSpPr/>
          <p:nvPr/>
        </p:nvSpPr>
        <p:spPr>
          <a:xfrm>
            <a:off x="7259241" y="3891558"/>
            <a:ext cx="1945680" cy="6350"/>
          </a:xfrm>
          <a:prstGeom prst="rect">
            <a:avLst/>
          </a:prstGeom>
          <a:solidFill>
            <a:srgbClr val="E1DBCD"/>
          </a:solidFill>
          <a:ln>
            <a:noFill/>
          </a:ln>
        </p:spPr>
        <p:txBody>
          <a:bodyPr rtlCol="0" anchor="ctr"/>
          <a:lstStyle/>
          <a:p>
            <a:pPr algn="ctr"/>
          </a:p>
        </p:txBody>
      </p:sp>
      <p:sp>
        <p:nvSpPr>
          <p:cNvPr id="17" name="Rule 16"/>
          <p:cNvSpPr/>
          <p:nvPr/>
        </p:nvSpPr>
        <p:spPr>
          <a:xfrm>
            <a:off x="5084961" y="1632545"/>
            <a:ext cx="2021880" cy="31750"/>
          </a:xfrm>
          <a:prstGeom prst="rect">
            <a:avLst/>
          </a:prstGeom>
          <a:solidFill>
            <a:srgbClr val="0E7C6B"/>
          </a:solidFill>
          <a:ln>
            <a:noFill/>
          </a:ln>
        </p:spPr>
        <p:txBody>
          <a:bodyPr rtlCol="0" anchor="ctr"/>
          <a:lstStyle/>
          <a:p>
            <a:pPr algn="ctr"/>
          </a:p>
        </p:txBody>
      </p:sp>
      <p:sp>
        <p:nvSpPr>
          <p:cNvPr id="18" name="Text 17"/>
          <p:cNvSpPr txBox="1"/>
          <p:nvPr/>
        </p:nvSpPr>
        <p:spPr>
          <a:xfrm>
            <a:off x="5110361" y="1827744"/>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9" name="Text 18"/>
          <p:cNvSpPr txBox="1"/>
          <p:nvPr/>
        </p:nvSpPr>
        <p:spPr>
          <a:xfrm>
            <a:off x="5110361" y="2117685"/>
            <a:ext cx="19583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الوصول</a:t>
            </a:r>
          </a:p>
        </p:txBody>
      </p:sp>
      <p:sp>
        <p:nvSpPr>
          <p:cNvPr id="20" name="Text 19"/>
          <p:cNvSpPr txBox="1"/>
          <p:nvPr/>
        </p:nvSpPr>
        <p:spPr>
          <a:xfrm>
            <a:off x="5110361" y="2474047"/>
            <a:ext cx="195838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حسابات فردية بأقل صلاحية وMFA، وسجلات تُراجع.</a:t>
            </a:r>
          </a:p>
        </p:txBody>
      </p:sp>
      <p:sp>
        <p:nvSpPr>
          <p:cNvPr id="21" name="Text box 20"/>
          <p:cNvSpPr/>
          <p:nvPr/>
        </p:nvSpPr>
        <p:spPr>
          <a:xfrm>
            <a:off x="5123061" y="3560167"/>
            <a:ext cx="1945680" cy="1017091"/>
          </a:xfrm>
          <a:prstGeom prst="rect">
            <a:avLst/>
          </a:prstGeom>
          <a:noFill/>
          <a:ln>
            <a:noFill/>
          </a:ln>
        </p:spPr>
        <p:txBody>
          <a:bodyPr rtlCol="0" anchor="ctr" wrap="square" tIns="21717" rIns="0" bIns="35433" lIns="0" anchorCtr="0">
            <a:noAutofit/>
          </a:bodyPr>
          <a:lstStyle/>
          <a:p>
            <a:pPr algn="r" rtl="1">
              <a:lnSpc>
                <a:spcPts val="2520"/>
              </a:lnSpc>
              <a:spcBef>
                <a:spcPts val="0"/>
              </a:spcBef>
              <a:spcAft>
                <a:spcPts val="0"/>
              </a:spcAft>
            </a:pPr>
            <a:r>
              <a:rPr sz="1800" b="0" i="0">
                <a:solidFill>
                  <a:srgbClr val="B4412C"/>
                </a:solidFill>
                <a:latin typeface="IBM Plex Sans Arabic"/>
                <a:ea typeface="IBM Plex Sans Arabic"/>
                <a:cs typeface="IBM Plex Sans Arabic"/>
              </a:rPr>
              <a:t>سَنَد: حساب مشترك sanad-⁠admin لخمسة فنيين.</a:t>
            </a:r>
          </a:p>
        </p:txBody>
      </p:sp>
      <p:sp>
        <p:nvSpPr>
          <p:cNvPr id="22" name="Rule 21"/>
          <p:cNvSpPr/>
          <p:nvPr/>
        </p:nvSpPr>
        <p:spPr>
          <a:xfrm>
            <a:off x="5123061" y="3560167"/>
            <a:ext cx="1945680" cy="6350"/>
          </a:xfrm>
          <a:prstGeom prst="rect">
            <a:avLst/>
          </a:prstGeom>
          <a:solidFill>
            <a:srgbClr val="E1DBCD"/>
          </a:solidFill>
          <a:ln>
            <a:noFill/>
          </a:ln>
        </p:spPr>
        <p:txBody>
          <a:bodyPr rtlCol="0" anchor="ctr"/>
          <a:lstStyle/>
          <a:p>
            <a:pPr algn="ctr"/>
          </a:p>
        </p:txBody>
      </p:sp>
      <p:sp>
        <p:nvSpPr>
          <p:cNvPr id="23" name="Rule 22"/>
          <p:cNvSpPr/>
          <p:nvPr/>
        </p:nvSpPr>
        <p:spPr>
          <a:xfrm>
            <a:off x="2948781" y="1632545"/>
            <a:ext cx="2021880" cy="31750"/>
          </a:xfrm>
          <a:prstGeom prst="rect">
            <a:avLst/>
          </a:prstGeom>
          <a:solidFill>
            <a:srgbClr val="0E7C6B"/>
          </a:solidFill>
          <a:ln>
            <a:noFill/>
          </a:ln>
        </p:spPr>
        <p:txBody>
          <a:bodyPr rtlCol="0" anchor="ctr"/>
          <a:lstStyle/>
          <a:p>
            <a:pPr algn="ctr"/>
          </a:p>
        </p:txBody>
      </p:sp>
      <p:sp>
        <p:nvSpPr>
          <p:cNvPr id="24" name="Text 23"/>
          <p:cNvSpPr txBox="1"/>
          <p:nvPr/>
        </p:nvSpPr>
        <p:spPr>
          <a:xfrm>
            <a:off x="2974181" y="1827744"/>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5" name="Text 24"/>
          <p:cNvSpPr txBox="1"/>
          <p:nvPr/>
        </p:nvSpPr>
        <p:spPr>
          <a:xfrm>
            <a:off x="2974181" y="2117685"/>
            <a:ext cx="19583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المتابعة</a:t>
            </a:r>
          </a:p>
        </p:txBody>
      </p:sp>
      <p:sp>
        <p:nvSpPr>
          <p:cNvPr id="26" name="Text 25"/>
          <p:cNvSpPr txBox="1"/>
          <p:nvPr/>
        </p:nvSpPr>
        <p:spPr>
          <a:xfrm>
            <a:off x="2974181" y="2474047"/>
            <a:ext cx="195838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مراجعة دورية للأداء والالتزام وتحديث التقييم (ECC 4-⁠1-⁠4).</a:t>
            </a:r>
          </a:p>
        </p:txBody>
      </p:sp>
      <p:sp>
        <p:nvSpPr>
          <p:cNvPr id="27" name="Text box 26"/>
          <p:cNvSpPr/>
          <p:nvPr/>
        </p:nvSpPr>
        <p:spPr>
          <a:xfrm>
            <a:off x="2986881" y="3560167"/>
            <a:ext cx="1945680" cy="377130"/>
          </a:xfrm>
          <a:prstGeom prst="rect">
            <a:avLst/>
          </a:prstGeom>
          <a:noFill/>
          <a:ln>
            <a:noFill/>
          </a:ln>
        </p:spPr>
        <p:txBody>
          <a:bodyPr rtlCol="0" anchor="ctr" wrap="square" tIns="21717" rIns="0" bIns="35433" lIns="0" anchorCtr="0">
            <a:noAutofit/>
          </a:bodyPr>
          <a:lstStyle/>
          <a:p>
            <a:pPr algn="r" rtl="1">
              <a:lnSpc>
                <a:spcPts val="2520"/>
              </a:lnSpc>
              <a:spcBef>
                <a:spcPts val="0"/>
              </a:spcBef>
              <a:spcAft>
                <a:spcPts val="0"/>
              </a:spcAft>
            </a:pPr>
            <a:r>
              <a:rPr sz="1800" b="0" i="0">
                <a:solidFill>
                  <a:srgbClr val="B4412C"/>
                </a:solidFill>
                <a:latin typeface="IBM Plex Sans Arabic"/>
                <a:ea typeface="IBM Plex Sans Arabic"/>
                <a:cs typeface="IBM Plex Sans Arabic"/>
              </a:rPr>
              <a:t>سَنَد: لا مراجعة دورية.</a:t>
            </a:r>
          </a:p>
        </p:txBody>
      </p:sp>
      <p:sp>
        <p:nvSpPr>
          <p:cNvPr id="28" name="Rule 27"/>
          <p:cNvSpPr/>
          <p:nvPr/>
        </p:nvSpPr>
        <p:spPr>
          <a:xfrm>
            <a:off x="2986881" y="3560167"/>
            <a:ext cx="1945680" cy="6350"/>
          </a:xfrm>
          <a:prstGeom prst="rect">
            <a:avLst/>
          </a:prstGeom>
          <a:solidFill>
            <a:srgbClr val="E1DBCD"/>
          </a:solidFill>
          <a:ln>
            <a:noFill/>
          </a:ln>
        </p:spPr>
        <p:txBody>
          <a:bodyPr rtlCol="0" anchor="ctr"/>
          <a:lstStyle/>
          <a:p>
            <a:pPr algn="ctr"/>
          </a:p>
        </p:txBody>
      </p:sp>
      <p:sp>
        <p:nvSpPr>
          <p:cNvPr id="29" name="Rule 28"/>
          <p:cNvSpPr/>
          <p:nvPr/>
        </p:nvSpPr>
        <p:spPr>
          <a:xfrm>
            <a:off x="812602" y="1632545"/>
            <a:ext cx="2021880" cy="31750"/>
          </a:xfrm>
          <a:prstGeom prst="rect">
            <a:avLst/>
          </a:prstGeom>
          <a:solidFill>
            <a:srgbClr val="0E7C6B"/>
          </a:solidFill>
          <a:ln>
            <a:noFill/>
          </a:ln>
        </p:spPr>
        <p:txBody>
          <a:bodyPr rtlCol="0" anchor="ctr"/>
          <a:lstStyle/>
          <a:p>
            <a:pPr algn="ctr"/>
          </a:p>
        </p:txBody>
      </p:sp>
      <p:sp>
        <p:nvSpPr>
          <p:cNvPr id="30" name="Text 29"/>
          <p:cNvSpPr txBox="1"/>
          <p:nvPr/>
        </p:nvSpPr>
        <p:spPr>
          <a:xfrm>
            <a:off x="838002" y="1827744"/>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31" name="Text 30"/>
          <p:cNvSpPr txBox="1"/>
          <p:nvPr/>
        </p:nvSpPr>
        <p:spPr>
          <a:xfrm>
            <a:off x="838002" y="2117685"/>
            <a:ext cx="195838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الإنهاء</a:t>
            </a:r>
          </a:p>
        </p:txBody>
      </p:sp>
      <p:sp>
        <p:nvSpPr>
          <p:cNvPr id="32" name="Text 31"/>
          <p:cNvSpPr txBox="1"/>
          <p:nvPr/>
        </p:nvSpPr>
        <p:spPr>
          <a:xfrm>
            <a:off x="838002" y="2474047"/>
            <a:ext cx="195838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إلغاء الصلاحيات، وإعادة البيانات وحذفها الآمن.</a:t>
            </a:r>
          </a:p>
        </p:txBody>
      </p:sp>
      <p:sp>
        <p:nvSpPr>
          <p:cNvPr id="33" name="Text box 32"/>
          <p:cNvSpPr/>
          <p:nvPr/>
        </p:nvSpPr>
        <p:spPr>
          <a:xfrm>
            <a:off x="850702" y="3560167"/>
            <a:ext cx="1945680" cy="697111"/>
          </a:xfrm>
          <a:prstGeom prst="rect">
            <a:avLst/>
          </a:prstGeom>
          <a:noFill/>
          <a:ln>
            <a:noFill/>
          </a:ln>
        </p:spPr>
        <p:txBody>
          <a:bodyPr rtlCol="0" anchor="ctr" wrap="square" tIns="21717" rIns="0" bIns="35433" lIns="0" anchorCtr="0">
            <a:noAutofit/>
          </a:bodyPr>
          <a:lstStyle/>
          <a:p>
            <a:pPr algn="r" rtl="1">
              <a:lnSpc>
                <a:spcPts val="2520"/>
              </a:lnSpc>
              <a:spcBef>
                <a:spcPts val="0"/>
              </a:spcBef>
              <a:spcAft>
                <a:spcPts val="0"/>
              </a:spcAft>
            </a:pPr>
            <a:r>
              <a:rPr sz="1800" b="0" i="0">
                <a:solidFill>
                  <a:srgbClr val="B4412C"/>
                </a:solidFill>
                <a:latin typeface="IBM Plex Sans Arabic"/>
                <a:ea typeface="IBM Plex Sans Arabic"/>
                <a:cs typeface="IBM Plex Sans Arabic"/>
              </a:rPr>
              <a:t>سَنَد: لا إجراء مكتوب للإنهاء.</a:t>
            </a:r>
          </a:p>
        </p:txBody>
      </p:sp>
      <p:sp>
        <p:nvSpPr>
          <p:cNvPr id="34" name="Rule 33"/>
          <p:cNvSpPr/>
          <p:nvPr/>
        </p:nvSpPr>
        <p:spPr>
          <a:xfrm>
            <a:off x="850702" y="3560167"/>
            <a:ext cx="1945680" cy="6350"/>
          </a:xfrm>
          <a:prstGeom prst="rect">
            <a:avLst/>
          </a:prstGeom>
          <a:solidFill>
            <a:srgbClr val="E1DBCD"/>
          </a:solidFill>
          <a:ln>
            <a:noFill/>
          </a:ln>
        </p:spPr>
        <p:txBody>
          <a:bodyPr rtlCol="0" anchor="ctr"/>
          <a:lstStyle/>
          <a:p>
            <a:pPr algn="ctr"/>
          </a:p>
        </p:txBody>
      </p:sp>
      <p:sp>
        <p:nvSpPr>
          <p:cNvPr id="35" name="Box 34"/>
          <p:cNvSpPr/>
          <p:nvPr/>
        </p:nvSpPr>
        <p:spPr>
          <a:xfrm>
            <a:off x="812800" y="4982369"/>
            <a:ext cx="10566400" cy="573980"/>
          </a:xfrm>
          <a:prstGeom prst="roundRect">
            <a:avLst>
              <a:gd name="adj" fmla="val 17700"/>
            </a:avLst>
          </a:prstGeom>
          <a:solidFill>
            <a:srgbClr val="F6ECDA"/>
          </a:solidFill>
          <a:ln>
            <a:noFill/>
          </a:ln>
        </p:spPr>
        <p:txBody>
          <a:bodyPr rtlCol="0" anchor="ctr"/>
          <a:lstStyle/>
          <a:p>
            <a:pPr algn="ctr"/>
          </a:p>
        </p:txBody>
      </p:sp>
      <p:pic>
        <p:nvPicPr>
          <p:cNvPr id="36" name="Icon Warning 35" descr="icon041.png"/>
          <p:cNvPicPr>
            <a:picLocks noChangeAspect="1"/>
          </p:cNvPicPr>
          <p:nvPr/>
        </p:nvPicPr>
        <p:blipFill>
          <a:blip r:embed="rId2"/>
          <a:stretch>
            <a:fillRect/>
          </a:stretch>
        </p:blipFill>
        <p:spPr>
          <a:xfrm>
            <a:off x="10960100" y="5148659"/>
            <a:ext cx="241300" cy="241300"/>
          </a:xfrm>
          <a:prstGeom prst="rect">
            <a:avLst/>
          </a:prstGeom>
        </p:spPr>
      </p:pic>
      <p:sp>
        <p:nvSpPr>
          <p:cNvPr id="37" name="Text 36"/>
          <p:cNvSpPr txBox="1"/>
          <p:nvPr/>
        </p:nvSpPr>
        <p:spPr>
          <a:xfrm>
            <a:off x="838200" y="5073936"/>
            <a:ext cx="100076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قدرة الجهة على فرض الشروط تضعف بعد التوقيع: التقييم والعقد أهم مرحلتين.</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استمرارية الأعمال: RTO وRPO</a:t>
            </a:r>
          </a:p>
        </p:txBody>
      </p:sp>
      <p:sp>
        <p:nvSpPr>
          <p:cNvPr id="5" name="Text 4"/>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تحليل أثر الأعمال (BIA) يحدد أهم الخدمات، وكم تتحمل الجهة توقفها.</a:t>
            </a:r>
          </a:p>
        </p:txBody>
      </p:sp>
      <p:sp>
        <p:nvSpPr>
          <p:cNvPr id="6" name="Rule 5"/>
          <p:cNvSpPr/>
          <p:nvPr/>
        </p:nvSpPr>
        <p:spPr>
          <a:xfrm>
            <a:off x="812800" y="2559645"/>
            <a:ext cx="10566400" cy="31750"/>
          </a:xfrm>
          <a:prstGeom prst="rect">
            <a:avLst/>
          </a:prstGeom>
          <a:solidFill>
            <a:srgbClr val="C9C0AC"/>
          </a:solidFill>
          <a:ln>
            <a:noFill/>
          </a:ln>
        </p:spPr>
        <p:txBody>
          <a:bodyPr rtlCol="0" anchor="ctr"/>
          <a:lstStyle/>
          <a:p>
            <a:pPr algn="ctr"/>
          </a:p>
        </p:txBody>
      </p:sp>
      <p:sp>
        <p:nvSpPr>
          <p:cNvPr id="7" name="Box 6"/>
          <p:cNvSpPr/>
          <p:nvPr/>
        </p:nvSpPr>
        <p:spPr>
          <a:xfrm>
            <a:off x="10642600" y="2833886"/>
            <a:ext cx="190500" cy="190500"/>
          </a:xfrm>
          <a:prstGeom prst="roundRect">
            <a:avLst>
              <a:gd name="adj" fmla="val 50000"/>
            </a:avLst>
          </a:prstGeom>
          <a:solidFill>
            <a:srgbClr val="24506B"/>
          </a:solidFill>
          <a:ln>
            <a:noFill/>
          </a:ln>
        </p:spPr>
        <p:txBody>
          <a:bodyPr rtlCol="0" anchor="ctr"/>
          <a:lstStyle/>
          <a:p>
            <a:pPr algn="ctr"/>
          </a:p>
        </p:txBody>
      </p:sp>
      <p:sp>
        <p:nvSpPr>
          <p:cNvPr id="8" name="Text 7"/>
          <p:cNvSpPr txBox="1"/>
          <p:nvPr/>
        </p:nvSpPr>
        <p:spPr>
          <a:xfrm>
            <a:off x="10200382" y="3035816"/>
            <a:ext cx="107493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آخر نسخة</a:t>
            </a:r>
          </a:p>
        </p:txBody>
      </p:sp>
      <p:sp>
        <p:nvSpPr>
          <p:cNvPr id="9" name="Text 8"/>
          <p:cNvSpPr txBox="1"/>
          <p:nvPr/>
        </p:nvSpPr>
        <p:spPr>
          <a:xfrm>
            <a:off x="6630416" y="2701885"/>
            <a:ext cx="3573018"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24506B"/>
                </a:solidFill>
                <a:latin typeface="Readex Pro"/>
                <a:ea typeface="Readex Pro"/>
                <a:cs typeface="Readex Pro"/>
              </a:rPr>
              <a:t>RPO</a:t>
            </a:r>
          </a:p>
        </p:txBody>
      </p:sp>
      <p:sp>
        <p:nvSpPr>
          <p:cNvPr id="10" name="Box 9"/>
          <p:cNvSpPr/>
          <p:nvPr/>
        </p:nvSpPr>
        <p:spPr>
          <a:xfrm>
            <a:off x="6762750" y="3124795"/>
            <a:ext cx="3308350" cy="50800"/>
          </a:xfrm>
          <a:prstGeom prst="roundRect">
            <a:avLst>
              <a:gd name="adj" fmla="val 50000"/>
            </a:avLst>
          </a:prstGeom>
          <a:solidFill>
            <a:srgbClr val="24506B"/>
          </a:solidFill>
          <a:ln>
            <a:noFill/>
          </a:ln>
        </p:spPr>
        <p:txBody>
          <a:bodyPr rtlCol="0" anchor="ctr"/>
          <a:lstStyle/>
          <a:p>
            <a:pPr algn="ctr"/>
          </a:p>
        </p:txBody>
      </p:sp>
      <p:sp>
        <p:nvSpPr>
          <p:cNvPr id="11" name="Text 10"/>
          <p:cNvSpPr txBox="1"/>
          <p:nvPr/>
        </p:nvSpPr>
        <p:spPr>
          <a:xfrm>
            <a:off x="6630416" y="3178262"/>
            <a:ext cx="3573018"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a:solidFill>
                  <a:srgbClr val="4E5A66"/>
                </a:solidFill>
                <a:latin typeface="IBM Plex Sans Arabic"/>
                <a:ea typeface="IBM Plex Sans Arabic"/>
                <a:cs typeface="IBM Plex Sans Arabic"/>
              </a:rPr>
              <a:t>كم بيانات نخسر</a:t>
            </a:r>
          </a:p>
        </p:txBody>
      </p:sp>
      <p:sp>
        <p:nvSpPr>
          <p:cNvPr id="12" name="Box 11"/>
          <p:cNvSpPr/>
          <p:nvPr/>
        </p:nvSpPr>
        <p:spPr>
          <a:xfrm>
            <a:off x="5969000" y="2802136"/>
            <a:ext cx="254000" cy="254000"/>
          </a:xfrm>
          <a:prstGeom prst="roundRect">
            <a:avLst>
              <a:gd name="adj" fmla="val 50000"/>
            </a:avLst>
          </a:prstGeom>
          <a:solidFill>
            <a:srgbClr val="B4412C"/>
          </a:solidFill>
          <a:ln>
            <a:noFill/>
          </a:ln>
        </p:spPr>
        <p:txBody>
          <a:bodyPr rtlCol="0" anchor="ctr"/>
          <a:lstStyle/>
          <a:p>
            <a:pPr algn="ctr"/>
          </a:p>
        </p:txBody>
      </p:sp>
      <p:sp>
        <p:nvSpPr>
          <p:cNvPr id="13" name="Text 12"/>
          <p:cNvSpPr txBox="1"/>
          <p:nvPr/>
        </p:nvSpPr>
        <p:spPr>
          <a:xfrm>
            <a:off x="5662017" y="3067566"/>
            <a:ext cx="86796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B4412C"/>
                </a:solidFill>
                <a:latin typeface="IBM Plex Sans Arabic"/>
                <a:ea typeface="IBM Plex Sans Arabic"/>
                <a:cs typeface="IBM Plex Sans Arabic"/>
              </a:rPr>
              <a:t>الحادثة</a:t>
            </a:r>
          </a:p>
        </p:txBody>
      </p:sp>
      <p:sp>
        <p:nvSpPr>
          <p:cNvPr id="14" name="Text 13"/>
          <p:cNvSpPr txBox="1"/>
          <p:nvPr/>
        </p:nvSpPr>
        <p:spPr>
          <a:xfrm>
            <a:off x="1988566" y="2701885"/>
            <a:ext cx="3573018"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RTO</a:t>
            </a:r>
          </a:p>
        </p:txBody>
      </p:sp>
      <p:sp>
        <p:nvSpPr>
          <p:cNvPr id="15" name="Box 14"/>
          <p:cNvSpPr/>
          <p:nvPr/>
        </p:nvSpPr>
        <p:spPr>
          <a:xfrm>
            <a:off x="2120900" y="3124795"/>
            <a:ext cx="3308350" cy="50800"/>
          </a:xfrm>
          <a:prstGeom prst="roundRect">
            <a:avLst>
              <a:gd name="adj" fmla="val 50000"/>
            </a:avLst>
          </a:prstGeom>
          <a:solidFill>
            <a:srgbClr val="0E7C6B"/>
          </a:solidFill>
          <a:ln>
            <a:noFill/>
          </a:ln>
        </p:spPr>
        <p:txBody>
          <a:bodyPr rtlCol="0" anchor="ctr"/>
          <a:lstStyle/>
          <a:p>
            <a:pPr algn="ctr"/>
          </a:p>
        </p:txBody>
      </p:sp>
      <p:sp>
        <p:nvSpPr>
          <p:cNvPr id="16" name="Text 15"/>
          <p:cNvSpPr txBox="1"/>
          <p:nvPr/>
        </p:nvSpPr>
        <p:spPr>
          <a:xfrm>
            <a:off x="1988566" y="3178262"/>
            <a:ext cx="3573018"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a:solidFill>
                  <a:srgbClr val="4E5A66"/>
                </a:solidFill>
                <a:latin typeface="IBM Plex Sans Arabic"/>
                <a:ea typeface="IBM Plex Sans Arabic"/>
                <a:cs typeface="IBM Plex Sans Arabic"/>
              </a:rPr>
              <a:t>كم نتوقف</a:t>
            </a:r>
          </a:p>
        </p:txBody>
      </p:sp>
      <p:sp>
        <p:nvSpPr>
          <p:cNvPr id="17" name="Box 16"/>
          <p:cNvSpPr/>
          <p:nvPr/>
        </p:nvSpPr>
        <p:spPr>
          <a:xfrm>
            <a:off x="1358900" y="2833886"/>
            <a:ext cx="190500" cy="190500"/>
          </a:xfrm>
          <a:prstGeom prst="roundRect">
            <a:avLst>
              <a:gd name="adj" fmla="val 50000"/>
            </a:avLst>
          </a:prstGeom>
          <a:solidFill>
            <a:srgbClr val="0E7C6B"/>
          </a:solidFill>
          <a:ln>
            <a:noFill/>
          </a:ln>
        </p:spPr>
        <p:txBody>
          <a:bodyPr rtlCol="0" anchor="ctr"/>
          <a:lstStyle/>
          <a:p>
            <a:pPr algn="ctr"/>
          </a:p>
        </p:txBody>
      </p:sp>
      <p:sp>
        <p:nvSpPr>
          <p:cNvPr id="18" name="Text 17"/>
          <p:cNvSpPr txBox="1"/>
          <p:nvPr/>
        </p:nvSpPr>
        <p:spPr>
          <a:xfrm>
            <a:off x="838200" y="3035816"/>
            <a:ext cx="1292523"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عودة الخدمة</a:t>
            </a:r>
          </a:p>
        </p:txBody>
      </p:sp>
      <p:sp>
        <p:nvSpPr>
          <p:cNvPr id="19" name="Box 18"/>
          <p:cNvSpPr/>
          <p:nvPr/>
        </p:nvSpPr>
        <p:spPr>
          <a:xfrm>
            <a:off x="812800" y="4105176"/>
            <a:ext cx="10566400" cy="1016000"/>
          </a:xfrm>
          <a:prstGeom prst="roundRect">
            <a:avLst>
              <a:gd name="adj" fmla="val 8750"/>
            </a:avLst>
          </a:prstGeom>
          <a:solidFill>
            <a:srgbClr val="FFFFFF"/>
          </a:solidFill>
          <a:ln>
            <a:noFill/>
          </a:ln>
        </p:spPr>
        <p:txBody>
          <a:bodyPr rtlCol="0" anchor="ctr"/>
          <a:lstStyle/>
          <a:p>
            <a:pPr algn="ctr"/>
          </a:p>
        </p:txBody>
      </p:sp>
      <p:sp>
        <p:nvSpPr>
          <p:cNvPr id="20" name="Rule 19"/>
          <p:cNvSpPr/>
          <p:nvPr/>
        </p:nvSpPr>
        <p:spPr>
          <a:xfrm>
            <a:off x="11328400" y="4105176"/>
            <a:ext cx="50800" cy="1016000"/>
          </a:xfrm>
          <a:prstGeom prst="rect">
            <a:avLst/>
          </a:prstGeom>
          <a:solidFill>
            <a:srgbClr val="24506B"/>
          </a:solidFill>
          <a:ln>
            <a:noFill/>
          </a:ln>
        </p:spPr>
        <p:txBody>
          <a:bodyPr rtlCol="0" anchor="ctr"/>
          <a:lstStyle/>
          <a:p>
            <a:pPr algn="ctr"/>
          </a:p>
        </p:txBody>
      </p:sp>
      <p:sp>
        <p:nvSpPr>
          <p:cNvPr id="21" name="Text 20"/>
          <p:cNvSpPr txBox="1"/>
          <p:nvPr/>
        </p:nvSpPr>
        <p:spPr>
          <a:xfrm>
            <a:off x="838200" y="4180106"/>
            <a:ext cx="103124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نظام الرواتب في رُفاد: RTO يوم عمل واحد، وRPO أربع ساعات. النسخة اليومية لا تكفي، فهذه فجوة تُكتب ملاحظة.</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BIA وBCP وDRP والحوادث: أين يقف GRC؟</a:t>
            </a:r>
          </a:p>
        </p:txBody>
      </p:sp>
      <p:sp>
        <p:nvSpPr>
          <p:cNvPr id="5" name="Rule 4"/>
          <p:cNvSpPr/>
          <p:nvPr/>
        </p:nvSpPr>
        <p:spPr>
          <a:xfrm>
            <a:off x="8842375" y="1632545"/>
            <a:ext cx="2536825" cy="31750"/>
          </a:xfrm>
          <a:prstGeom prst="rect">
            <a:avLst/>
          </a:prstGeom>
          <a:solidFill>
            <a:srgbClr val="0E7C6B"/>
          </a:solidFill>
          <a:ln>
            <a:noFill/>
          </a:ln>
        </p:spPr>
        <p:txBody>
          <a:bodyPr rtlCol="0" anchor="ctr"/>
          <a:lstStyle/>
          <a:p>
            <a:pPr algn="ctr"/>
          </a:p>
        </p:txBody>
      </p:sp>
      <p:sp>
        <p:nvSpPr>
          <p:cNvPr id="6" name="Text 5"/>
          <p:cNvSpPr txBox="1"/>
          <p:nvPr/>
        </p:nvSpPr>
        <p:spPr>
          <a:xfrm>
            <a:off x="886777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0E7C6B"/>
                </a:solidFill>
                <a:latin typeface="Readex Pro"/>
                <a:ea typeface="Readex Pro"/>
                <a:cs typeface="Readex Pro"/>
              </a:rPr>
              <a:t>BIA</a:t>
            </a:r>
          </a:p>
        </p:txBody>
      </p:sp>
      <p:sp>
        <p:nvSpPr>
          <p:cNvPr id="7" name="Text 6"/>
          <p:cNvSpPr txBox="1"/>
          <p:nvPr/>
        </p:nvSpPr>
        <p:spPr>
          <a:xfrm>
            <a:off x="886777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تحليل أثر الأعمال</a:t>
            </a:r>
          </a:p>
        </p:txBody>
      </p:sp>
      <p:sp>
        <p:nvSpPr>
          <p:cNvPr id="8" name="Text 7"/>
          <p:cNvSpPr txBox="1"/>
          <p:nvPr/>
        </p:nvSpPr>
        <p:spPr>
          <a:xfrm>
            <a:off x="8867775" y="2473460"/>
            <a:ext cx="2473325"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أهم الخدمات؟ وكم تتحمل الجهة توقفها؟ ومنه RTO وRPO.</a:t>
            </a:r>
          </a:p>
        </p:txBody>
      </p:sp>
      <p:sp>
        <p:nvSpPr>
          <p:cNvPr id="9" name="Text 8"/>
          <p:cNvSpPr txBox="1"/>
          <p:nvPr/>
        </p:nvSpPr>
        <p:spPr>
          <a:xfrm>
            <a:off x="8867775" y="340800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الرواتب: RTO يوم عمل، وRPO أربع ساعات.</a:t>
            </a:r>
          </a:p>
        </p:txBody>
      </p:sp>
      <p:sp>
        <p:nvSpPr>
          <p:cNvPr id="10" name="Rule 9"/>
          <p:cNvSpPr/>
          <p:nvPr/>
        </p:nvSpPr>
        <p:spPr>
          <a:xfrm>
            <a:off x="6165850" y="1632545"/>
            <a:ext cx="2536825" cy="31750"/>
          </a:xfrm>
          <a:prstGeom prst="rect">
            <a:avLst/>
          </a:prstGeom>
          <a:solidFill>
            <a:srgbClr val="24506B"/>
          </a:solidFill>
          <a:ln>
            <a:noFill/>
          </a:ln>
        </p:spPr>
        <p:txBody>
          <a:bodyPr rtlCol="0" anchor="ctr"/>
          <a:lstStyle/>
          <a:p>
            <a:pPr algn="ctr"/>
          </a:p>
        </p:txBody>
      </p:sp>
      <p:sp>
        <p:nvSpPr>
          <p:cNvPr id="11" name="Text 10"/>
          <p:cNvSpPr txBox="1"/>
          <p:nvPr/>
        </p:nvSpPr>
        <p:spPr>
          <a:xfrm>
            <a:off x="619125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24506B"/>
                </a:solidFill>
                <a:latin typeface="Readex Pro"/>
                <a:ea typeface="Readex Pro"/>
                <a:cs typeface="Readex Pro"/>
              </a:rPr>
              <a:t>BCP</a:t>
            </a:r>
          </a:p>
        </p:txBody>
      </p:sp>
      <p:sp>
        <p:nvSpPr>
          <p:cNvPr id="12" name="Text 11"/>
          <p:cNvSpPr txBox="1"/>
          <p:nvPr/>
        </p:nvSpPr>
        <p:spPr>
          <a:xfrm>
            <a:off x="619125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خطة استمرارية الأعمال</a:t>
            </a:r>
          </a:p>
        </p:txBody>
      </p:sp>
      <p:sp>
        <p:nvSpPr>
          <p:cNvPr id="13" name="Text 12"/>
          <p:cNvSpPr txBox="1"/>
          <p:nvPr/>
        </p:nvSpPr>
        <p:spPr>
          <a:xfrm>
            <a:off x="619125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كيف تستمر الخدمة المهمة أثناء التوقف، ومن يقرر؟</a:t>
            </a:r>
          </a:p>
        </p:txBody>
      </p:sp>
      <p:sp>
        <p:nvSpPr>
          <p:cNvPr id="14" name="Text 13"/>
          <p:cNvSpPr txBox="1"/>
          <p:nvPr/>
        </p:nvSpPr>
        <p:spPr>
          <a:xfrm>
            <a:off x="619125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إجراء بديل معتمد لصرف الرواتب إن تعذر النظام.</a:t>
            </a:r>
          </a:p>
        </p:txBody>
      </p:sp>
      <p:sp>
        <p:nvSpPr>
          <p:cNvPr id="15" name="Rule 14"/>
          <p:cNvSpPr/>
          <p:nvPr/>
        </p:nvSpPr>
        <p:spPr>
          <a:xfrm>
            <a:off x="3489325" y="1632545"/>
            <a:ext cx="2536825" cy="31750"/>
          </a:xfrm>
          <a:prstGeom prst="rect">
            <a:avLst/>
          </a:prstGeom>
          <a:solidFill>
            <a:srgbClr val="5A3F87"/>
          </a:solidFill>
          <a:ln>
            <a:noFill/>
          </a:ln>
        </p:spPr>
        <p:txBody>
          <a:bodyPr rtlCol="0" anchor="ctr"/>
          <a:lstStyle/>
          <a:p>
            <a:pPr algn="ctr"/>
          </a:p>
        </p:txBody>
      </p:sp>
      <p:sp>
        <p:nvSpPr>
          <p:cNvPr id="16" name="Text 15"/>
          <p:cNvSpPr txBox="1"/>
          <p:nvPr/>
        </p:nvSpPr>
        <p:spPr>
          <a:xfrm>
            <a:off x="351472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5A3F87"/>
                </a:solidFill>
                <a:latin typeface="Readex Pro"/>
                <a:ea typeface="Readex Pro"/>
                <a:cs typeface="Readex Pro"/>
              </a:rPr>
              <a:t>DRP</a:t>
            </a:r>
          </a:p>
        </p:txBody>
      </p:sp>
      <p:sp>
        <p:nvSpPr>
          <p:cNvPr id="17" name="Text 16"/>
          <p:cNvSpPr txBox="1"/>
          <p:nvPr/>
        </p:nvSpPr>
        <p:spPr>
          <a:xfrm>
            <a:off x="351472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خطة التعافي من الكوارث</a:t>
            </a:r>
          </a:p>
        </p:txBody>
      </p:sp>
      <p:sp>
        <p:nvSpPr>
          <p:cNvPr id="18" name="Text 17"/>
          <p:cNvSpPr txBox="1"/>
          <p:nvPr/>
        </p:nvSpPr>
        <p:spPr>
          <a:xfrm>
            <a:off x="3514725"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كيف تُستعاد الأنظمة والبيانات تقنياً، وبأي ترتيب؟</a:t>
            </a:r>
          </a:p>
        </p:txBody>
      </p:sp>
      <p:sp>
        <p:nvSpPr>
          <p:cNvPr id="19" name="Text 18"/>
          <p:cNvSpPr txBox="1"/>
          <p:nvPr/>
        </p:nvSpPr>
        <p:spPr>
          <a:xfrm>
            <a:off x="3514725"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استعادة بيانات الرواتب من النسخ.</a:t>
            </a:r>
          </a:p>
        </p:txBody>
      </p:sp>
      <p:sp>
        <p:nvSpPr>
          <p:cNvPr id="20" name="Rule 19"/>
          <p:cNvSpPr/>
          <p:nvPr/>
        </p:nvSpPr>
        <p:spPr>
          <a:xfrm>
            <a:off x="812800" y="1632545"/>
            <a:ext cx="2536825" cy="31750"/>
          </a:xfrm>
          <a:prstGeom prst="rect">
            <a:avLst/>
          </a:prstGeom>
          <a:solidFill>
            <a:srgbClr val="B4412C"/>
          </a:solidFill>
          <a:ln>
            <a:noFill/>
          </a:ln>
        </p:spPr>
        <p:txBody>
          <a:bodyPr rtlCol="0" anchor="ctr"/>
          <a:lstStyle/>
          <a:p>
            <a:pPr algn="ctr"/>
          </a:p>
        </p:txBody>
      </p:sp>
      <p:sp>
        <p:nvSpPr>
          <p:cNvPr id="21" name="Text 20"/>
          <p:cNvSpPr txBox="1"/>
          <p:nvPr/>
        </p:nvSpPr>
        <p:spPr>
          <a:xfrm>
            <a:off x="83820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B4412C"/>
                </a:solidFill>
                <a:latin typeface="Readex Pro"/>
                <a:ea typeface="Readex Pro"/>
                <a:cs typeface="Readex Pro"/>
              </a:rPr>
              <a:t>IR</a:t>
            </a:r>
          </a:p>
        </p:txBody>
      </p:sp>
      <p:sp>
        <p:nvSpPr>
          <p:cNvPr id="22" name="Text 21"/>
          <p:cNvSpPr txBox="1"/>
          <p:nvPr/>
        </p:nvSpPr>
        <p:spPr>
          <a:xfrm>
            <a:off x="83820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الاستجابة للحوادث</a:t>
            </a:r>
          </a:p>
        </p:txBody>
      </p:sp>
      <p:sp>
        <p:nvSpPr>
          <p:cNvPr id="23" name="Text 22"/>
          <p:cNvSpPr txBox="1"/>
          <p:nvPr/>
        </p:nvSpPr>
        <p:spPr>
          <a:xfrm>
            <a:off x="83820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اكتشاف الحادثة واحتواؤها والتعافي منها، والإبلاغ عنها.</a:t>
            </a:r>
          </a:p>
        </p:txBody>
      </p:sp>
      <p:sp>
        <p:nvSpPr>
          <p:cNvPr id="24" name="Text 23"/>
          <p:cNvSpPr txBox="1"/>
          <p:nvPr/>
        </p:nvSpPr>
        <p:spPr>
          <a:xfrm>
            <a:off x="83820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في رُفاد: تسرب من خادم التتبع: من يُبلَّغ، ومتى.</a:t>
            </a:r>
          </a:p>
        </p:txBody>
      </p:sp>
      <p:sp>
        <p:nvSpPr>
          <p:cNvPr id="25" name="Rule 24"/>
          <p:cNvSpPr/>
          <p:nvPr/>
        </p:nvSpPr>
        <p:spPr>
          <a:xfrm>
            <a:off x="6184900" y="4224238"/>
            <a:ext cx="5194300" cy="31750"/>
          </a:xfrm>
          <a:prstGeom prst="rect">
            <a:avLst/>
          </a:prstGeom>
          <a:solidFill>
            <a:srgbClr val="0E7C6B"/>
          </a:solidFill>
          <a:ln>
            <a:noFill/>
          </a:ln>
        </p:spPr>
        <p:txBody>
          <a:bodyPr rtlCol="0" anchor="ctr"/>
          <a:lstStyle/>
          <a:p>
            <a:pPr algn="ctr"/>
          </a:p>
        </p:txBody>
      </p:sp>
      <p:sp>
        <p:nvSpPr>
          <p:cNvPr id="26" name="Text 25"/>
          <p:cNvSpPr txBox="1"/>
          <p:nvPr/>
        </p:nvSpPr>
        <p:spPr>
          <a:xfrm>
            <a:off x="62103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ما يفعله GRC</a:t>
            </a:r>
          </a:p>
        </p:txBody>
      </p:sp>
      <p:pic>
        <p:nvPicPr>
          <p:cNvPr id="27" name="Icon Check 26" descr="icon042.png"/>
          <p:cNvPicPr>
            <a:picLocks noChangeAspect="1"/>
          </p:cNvPicPr>
          <p:nvPr/>
        </p:nvPicPr>
        <p:blipFill>
          <a:blip r:embed="rId2"/>
          <a:stretch>
            <a:fillRect/>
          </a:stretch>
        </p:blipFill>
        <p:spPr>
          <a:xfrm>
            <a:off x="11150600" y="4779169"/>
            <a:ext cx="190500" cy="190500"/>
          </a:xfrm>
          <a:prstGeom prst="rect">
            <a:avLst/>
          </a:prstGeom>
        </p:spPr>
      </p:pic>
      <p:sp>
        <p:nvSpPr>
          <p:cNvPr id="28" name="Text 27"/>
          <p:cNvSpPr txBox="1"/>
          <p:nvPr/>
        </p:nvSpPr>
        <p:spPr>
          <a:xfrm>
            <a:off x="62103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يتأكد أن الخطط موجودة ومعتمدة ومختبرة.</a:t>
            </a:r>
          </a:p>
        </p:txBody>
      </p:sp>
      <p:pic>
        <p:nvPicPr>
          <p:cNvPr id="29" name="Icon Check 28" descr="icon042.png"/>
          <p:cNvPicPr>
            <a:picLocks noChangeAspect="1"/>
          </p:cNvPicPr>
          <p:nvPr/>
        </p:nvPicPr>
        <p:blipFill>
          <a:blip r:embed="rId2"/>
          <a:stretch>
            <a:fillRect/>
          </a:stretch>
        </p:blipFill>
        <p:spPr>
          <a:xfrm>
            <a:off x="11150600" y="5114429"/>
            <a:ext cx="190500" cy="190500"/>
          </a:xfrm>
          <a:prstGeom prst="rect">
            <a:avLst/>
          </a:prstGeom>
        </p:spPr>
      </p:pic>
      <p:sp>
        <p:nvSpPr>
          <p:cNvPr id="30" name="Text 29"/>
          <p:cNvSpPr txBox="1"/>
          <p:nvPr/>
        </p:nvSpPr>
        <p:spPr>
          <a:xfrm>
            <a:off x="62103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يربط نتائج الاختبار والحوادث بسجل المخاطر والملاحظات.</a:t>
            </a:r>
          </a:p>
        </p:txBody>
      </p:sp>
      <p:sp>
        <p:nvSpPr>
          <p:cNvPr id="31" name="Rule 30"/>
          <p:cNvSpPr/>
          <p:nvPr/>
        </p:nvSpPr>
        <p:spPr>
          <a:xfrm>
            <a:off x="812800" y="4224238"/>
            <a:ext cx="5194300" cy="31750"/>
          </a:xfrm>
          <a:prstGeom prst="rect">
            <a:avLst/>
          </a:prstGeom>
          <a:solidFill>
            <a:srgbClr val="B4412C"/>
          </a:solidFill>
          <a:ln>
            <a:noFill/>
          </a:ln>
        </p:spPr>
        <p:txBody>
          <a:bodyPr rtlCol="0" anchor="ctr"/>
          <a:lstStyle/>
          <a:p>
            <a:pPr algn="ctr"/>
          </a:p>
        </p:txBody>
      </p:sp>
      <p:sp>
        <p:nvSpPr>
          <p:cNvPr id="32" name="Text 31"/>
          <p:cNvSpPr txBox="1"/>
          <p:nvPr/>
        </p:nvSpPr>
        <p:spPr>
          <a:xfrm>
            <a:off x="8382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B4412C"/>
                </a:solidFill>
                <a:latin typeface="IBM Plex Sans Arabic"/>
                <a:ea typeface="IBM Plex Sans Arabic"/>
                <a:cs typeface="IBM Plex Sans Arabic"/>
              </a:rPr>
              <a:t>ما لا يفعله</a:t>
            </a:r>
          </a:p>
        </p:txBody>
      </p:sp>
      <p:pic>
        <p:nvPicPr>
          <p:cNvPr id="33" name="Icon Warning 32" descr="icon030.png"/>
          <p:cNvPicPr>
            <a:picLocks noChangeAspect="1"/>
          </p:cNvPicPr>
          <p:nvPr/>
        </p:nvPicPr>
        <p:blipFill>
          <a:blip r:embed="rId3"/>
          <a:stretch>
            <a:fillRect/>
          </a:stretch>
        </p:blipFill>
        <p:spPr>
          <a:xfrm>
            <a:off x="5778500" y="4779169"/>
            <a:ext cx="190500" cy="190500"/>
          </a:xfrm>
          <a:prstGeom prst="rect">
            <a:avLst/>
          </a:prstGeom>
        </p:spPr>
      </p:pic>
      <p:sp>
        <p:nvSpPr>
          <p:cNvPr id="34" name="Text 33"/>
          <p:cNvSpPr txBox="1"/>
          <p:nvPr/>
        </p:nvSpPr>
        <p:spPr>
          <a:xfrm>
            <a:off x="8382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لا يقود الاستجابة الفنية للحادثة.</a:t>
            </a:r>
          </a:p>
        </p:txBody>
      </p:sp>
      <p:pic>
        <p:nvPicPr>
          <p:cNvPr id="35" name="Icon Warning 34" descr="icon030.png"/>
          <p:cNvPicPr>
            <a:picLocks noChangeAspect="1"/>
          </p:cNvPicPr>
          <p:nvPr/>
        </p:nvPicPr>
        <p:blipFill>
          <a:blip r:embed="rId3"/>
          <a:stretch>
            <a:fillRect/>
          </a:stretch>
        </p:blipFill>
        <p:spPr>
          <a:xfrm>
            <a:off x="5778500" y="5114429"/>
            <a:ext cx="190500" cy="190500"/>
          </a:xfrm>
          <a:prstGeom prst="rect">
            <a:avLst/>
          </a:prstGeom>
        </p:spPr>
      </p:pic>
      <p:sp>
        <p:nvSpPr>
          <p:cNvPr id="36" name="Text 35"/>
          <p:cNvSpPr txBox="1"/>
          <p:nvPr/>
        </p:nvSpPr>
        <p:spPr>
          <a:xfrm>
            <a:off x="8382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لا يكتب خطة التعافي التقنية بدل أصحابها.</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حماية البيانات الشخصية: الأساسيات</a:t>
            </a:r>
          </a:p>
        </p:txBody>
      </p:sp>
      <p:sp>
        <p:nvSpPr>
          <p:cNvPr id="5" name="Text 4"/>
          <p:cNvSpPr txBox="1"/>
          <p:nvPr/>
        </p:nvSpPr>
        <p:spPr>
          <a:xfrm>
            <a:off x="0" y="16058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المملكة: نظام حماية البيانات الشخصية (PDPL)، والجهة المختصة سدايا. دخل حيز النفاذ في 14 سبتمبر 2023.</a:t>
            </a:r>
          </a:p>
        </p:txBody>
      </p:sp>
      <p:sp>
        <p:nvSpPr>
          <p:cNvPr id="6" name="Rule 5"/>
          <p:cNvSpPr/>
          <p:nvPr/>
        </p:nvSpPr>
        <p:spPr>
          <a:xfrm>
            <a:off x="812800" y="2534245"/>
            <a:ext cx="10566400" cy="31750"/>
          </a:xfrm>
          <a:prstGeom prst="rect">
            <a:avLst/>
          </a:prstGeom>
          <a:solidFill>
            <a:srgbClr val="C9C0AC"/>
          </a:solidFill>
          <a:ln>
            <a:noFill/>
          </a:ln>
        </p:spPr>
        <p:txBody>
          <a:bodyPr rtlCol="0" anchor="ctr"/>
          <a:lstStyle/>
          <a:p>
            <a:pPr algn="ctr"/>
          </a:p>
        </p:txBody>
      </p:sp>
      <p:pic>
        <p:nvPicPr>
          <p:cNvPr id="7" name="Icon Check 6" descr="icon043.png"/>
          <p:cNvPicPr>
            <a:picLocks noChangeAspect="1"/>
          </p:cNvPicPr>
          <p:nvPr/>
        </p:nvPicPr>
        <p:blipFill>
          <a:blip r:embed="rId2"/>
          <a:stretch>
            <a:fillRect/>
          </a:stretch>
        </p:blipFill>
        <p:spPr>
          <a:xfrm>
            <a:off x="11074400" y="2705695"/>
            <a:ext cx="266700" cy="266700"/>
          </a:xfrm>
          <a:prstGeom prst="rect">
            <a:avLst/>
          </a:prstGeom>
        </p:spPr>
      </p:pic>
      <p:sp>
        <p:nvSpPr>
          <p:cNvPr id="8" name="Text 7"/>
          <p:cNvSpPr txBox="1"/>
          <p:nvPr/>
        </p:nvSpPr>
        <p:spPr>
          <a:xfrm>
            <a:off x="838200" y="26663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أساس نظامي لكل معالجة، وغرض محدد، وأقل قدر من البيانات.</a:t>
            </a:r>
          </a:p>
        </p:txBody>
      </p:sp>
      <p:pic>
        <p:nvPicPr>
          <p:cNvPr id="9" name="Icon Check 8" descr="icon043.png"/>
          <p:cNvPicPr>
            <a:picLocks noChangeAspect="1"/>
          </p:cNvPicPr>
          <p:nvPr/>
        </p:nvPicPr>
        <p:blipFill>
          <a:blip r:embed="rId2"/>
          <a:stretch>
            <a:fillRect/>
          </a:stretch>
        </p:blipFill>
        <p:spPr>
          <a:xfrm>
            <a:off x="11074400" y="3137495"/>
            <a:ext cx="266700" cy="266700"/>
          </a:xfrm>
          <a:prstGeom prst="rect">
            <a:avLst/>
          </a:prstGeom>
        </p:spPr>
      </p:pic>
      <p:sp>
        <p:nvSpPr>
          <p:cNvPr id="10" name="Text 9"/>
          <p:cNvSpPr txBox="1"/>
          <p:nvPr/>
        </p:nvSpPr>
        <p:spPr>
          <a:xfrm>
            <a:off x="838200" y="30981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حقوق لصاحب البيانات، منها العلم والوصول والتصحيح والإتلاف.</a:t>
            </a:r>
          </a:p>
        </p:txBody>
      </p:sp>
      <p:pic>
        <p:nvPicPr>
          <p:cNvPr id="11" name="Icon Check 10" descr="icon043.png"/>
          <p:cNvPicPr>
            <a:picLocks noChangeAspect="1"/>
          </p:cNvPicPr>
          <p:nvPr/>
        </p:nvPicPr>
        <p:blipFill>
          <a:blip r:embed="rId2"/>
          <a:stretch>
            <a:fillRect/>
          </a:stretch>
        </p:blipFill>
        <p:spPr>
          <a:xfrm>
            <a:off x="11074400" y="3569295"/>
            <a:ext cx="266700" cy="266700"/>
          </a:xfrm>
          <a:prstGeom prst="rect">
            <a:avLst/>
          </a:prstGeom>
        </p:spPr>
      </p:pic>
      <p:sp>
        <p:nvSpPr>
          <p:cNvPr id="12" name="Text 11"/>
          <p:cNvSpPr txBox="1"/>
          <p:nvPr/>
        </p:nvSpPr>
        <p:spPr>
          <a:xfrm>
            <a:off x="838200" y="35299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لأنشطة المعالجة، وتقييم أثر للمعالجات عالية المخاطر.</a:t>
            </a:r>
          </a:p>
        </p:txBody>
      </p:sp>
      <p:pic>
        <p:nvPicPr>
          <p:cNvPr id="13" name="Icon Check 12" descr="icon043.png"/>
          <p:cNvPicPr>
            <a:picLocks noChangeAspect="1"/>
          </p:cNvPicPr>
          <p:nvPr/>
        </p:nvPicPr>
        <p:blipFill>
          <a:blip r:embed="rId2"/>
          <a:stretch>
            <a:fillRect/>
          </a:stretch>
        </p:blipFill>
        <p:spPr>
          <a:xfrm>
            <a:off x="11074400" y="4001095"/>
            <a:ext cx="266700" cy="266700"/>
          </a:xfrm>
          <a:prstGeom prst="rect">
            <a:avLst/>
          </a:prstGeom>
        </p:spPr>
      </p:pic>
      <p:sp>
        <p:nvSpPr>
          <p:cNvPr id="14" name="Text 13"/>
          <p:cNvSpPr txBox="1"/>
          <p:nvPr/>
        </p:nvSpPr>
        <p:spPr>
          <a:xfrm>
            <a:off x="838200" y="39617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إبلاغ الجهة المختصة عن حوادث التسرب خلال المدة المحددة في اللوائح.</a:t>
            </a:r>
          </a:p>
        </p:txBody>
      </p:sp>
      <p:sp>
        <p:nvSpPr>
          <p:cNvPr id="15" name="Box 14"/>
          <p:cNvSpPr/>
          <p:nvPr/>
        </p:nvSpPr>
        <p:spPr>
          <a:xfrm>
            <a:off x="812800" y="4915495"/>
            <a:ext cx="10566400" cy="609600"/>
          </a:xfrm>
          <a:prstGeom prst="roundRect">
            <a:avLst>
              <a:gd name="adj" fmla="val 16666"/>
            </a:avLst>
          </a:prstGeom>
          <a:solidFill>
            <a:srgbClr val="E3F1ED"/>
          </a:solidFill>
          <a:ln>
            <a:noFill/>
          </a:ln>
        </p:spPr>
        <p:txBody>
          <a:bodyPr rtlCol="0" anchor="ctr"/>
          <a:lstStyle/>
          <a:p>
            <a:pPr algn="ctr"/>
          </a:p>
        </p:txBody>
      </p:sp>
      <p:pic>
        <p:nvPicPr>
          <p:cNvPr id="16" name="Icon Lock 15" descr="icon044.png"/>
          <p:cNvPicPr>
            <a:picLocks noChangeAspect="1"/>
          </p:cNvPicPr>
          <p:nvPr/>
        </p:nvPicPr>
        <p:blipFill>
          <a:blip r:embed="rId3"/>
          <a:stretch>
            <a:fillRect/>
          </a:stretch>
        </p:blipFill>
        <p:spPr>
          <a:xfrm>
            <a:off x="10922000" y="5080595"/>
            <a:ext cx="279400" cy="279400"/>
          </a:xfrm>
          <a:prstGeom prst="rect">
            <a:avLst/>
          </a:prstGeom>
        </p:spPr>
      </p:pic>
      <p:sp>
        <p:nvSpPr>
          <p:cNvPr id="17" name="Text 16"/>
          <p:cNvSpPr txBox="1"/>
          <p:nvPr/>
        </p:nvSpPr>
        <p:spPr>
          <a:xfrm>
            <a:off x="838200" y="50031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بيانات الموظفين في نظام الرواتب، وبيانات المستلمين في تطبيق التتبع، كلاهما بيانات شخصية.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الثالث</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الامتثال</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هل نلتزم بما يجب، وكيف نثبت ذلك؟</a:t>
            </a:r>
          </a:p>
        </p:txBody>
      </p:sp>
      <p:sp>
        <p:nvSpPr>
          <p:cNvPr id="5" name="Text box 4"/>
          <p:cNvSpPr/>
          <p:nvPr/>
        </p:nvSpPr>
        <p:spPr>
          <a:xfrm>
            <a:off x="8030567" y="3952280"/>
            <a:ext cx="29422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المتطلب والضابط والدليل والنتيجة</a:t>
            </a:r>
          </a:p>
        </p:txBody>
      </p:sp>
      <p:sp>
        <p:nvSpPr>
          <p:cNvPr id="6" name="Text box 5"/>
          <p:cNvSpPr/>
          <p:nvPr/>
        </p:nvSpPr>
        <p:spPr>
          <a:xfrm>
            <a:off x="6361906" y="3952280"/>
            <a:ext cx="1579761"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النطاق والانطباق</a:t>
            </a:r>
          </a:p>
        </p:txBody>
      </p:sp>
      <p:sp>
        <p:nvSpPr>
          <p:cNvPr id="7" name="Text box 6"/>
          <p:cNvSpPr/>
          <p:nvPr/>
        </p:nvSpPr>
        <p:spPr>
          <a:xfrm>
            <a:off x="3940373" y="3952280"/>
            <a:ext cx="23326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التوثيق والتطبيق والتشغيل</a:t>
            </a:r>
          </a:p>
        </p:txBody>
      </p:sp>
      <p:sp>
        <p:nvSpPr>
          <p:cNvPr id="8" name="Text box 7"/>
          <p:cNvSpPr/>
          <p:nvPr/>
        </p:nvSpPr>
        <p:spPr>
          <a:xfrm>
            <a:off x="2507059" y="3952280"/>
            <a:ext cx="134441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الأدلة وكفايتها</a:t>
            </a:r>
          </a:p>
        </p:txBody>
      </p:sp>
      <p:sp>
        <p:nvSpPr>
          <p:cNvPr id="9" name="Text box 8"/>
          <p:cNvSpPr/>
          <p:nvPr/>
        </p:nvSpPr>
        <p:spPr>
          <a:xfrm>
            <a:off x="1539280" y="3952280"/>
            <a:ext cx="87888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العينات</a:t>
            </a:r>
          </a:p>
        </p:txBody>
      </p:sp>
      <p:sp>
        <p:nvSpPr>
          <p:cNvPr id="10" name="Text box 9"/>
          <p:cNvSpPr/>
          <p:nvPr/>
        </p:nvSpPr>
        <p:spPr>
          <a:xfrm>
            <a:off x="9345116" y="4442420"/>
            <a:ext cx="162768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تقييم ضابط كامل</a:t>
            </a:r>
          </a:p>
        </p:txBody>
      </p:sp>
      <p:sp>
        <p:nvSpPr>
          <p:cNvPr id="11" name="Text box 10"/>
          <p:cNvSpPr/>
          <p:nvPr/>
        </p:nvSpPr>
        <p:spPr>
          <a:xfrm>
            <a:off x="8182273"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3</a:t>
            </a:r>
          </a:p>
        </p:txBody>
      </p:sp>
      <p:sp>
        <p:nvSpPr>
          <p:cNvPr id="12" name="Text box 11"/>
          <p:cNvSpPr/>
          <p:nvPr/>
        </p:nvSpPr>
        <p:spPr>
          <a:xfrm>
            <a:off x="5855891" y="4442420"/>
            <a:ext cx="223748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الملاحظة وخطة التصحيح</a:t>
            </a:r>
          </a:p>
        </p:txBody>
      </p:sp>
      <p:sp>
        <p:nvSpPr>
          <p:cNvPr id="13" name="Text box 12"/>
          <p:cNvSpPr/>
          <p:nvPr/>
        </p:nvSpPr>
        <p:spPr>
          <a:xfrm>
            <a:off x="4693047"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4</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03 · الامتثال</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المتطلب والضابط والدليل ونتيجة التقييم</a:t>
            </a:r>
          </a:p>
        </p:txBody>
      </p:sp>
      <p:sp>
        <p:nvSpPr>
          <p:cNvPr id="5" name="Box 4"/>
          <p:cNvSpPr/>
          <p:nvPr/>
        </p:nvSpPr>
        <p:spPr>
          <a:xfrm>
            <a:off x="9004697" y="1657945"/>
            <a:ext cx="2374503" cy="2279650"/>
          </a:xfrm>
          <a:prstGeom prst="roundRect">
            <a:avLst>
              <a:gd name="adj" fmla="val 5013"/>
            </a:avLst>
          </a:prstGeom>
          <a:solidFill>
            <a:srgbClr val="FFFDF8"/>
          </a:solidFill>
          <a:ln>
            <a:noFill/>
          </a:ln>
        </p:spPr>
        <p:txBody>
          <a:bodyPr rtlCol="0" anchor="ctr"/>
          <a:lstStyle/>
          <a:p>
            <a:pPr algn="ctr"/>
          </a:p>
        </p:txBody>
      </p:sp>
      <p:sp>
        <p:nvSpPr>
          <p:cNvPr id="6" name="Rule 5"/>
          <p:cNvSpPr/>
          <p:nvPr/>
        </p:nvSpPr>
        <p:spPr>
          <a:xfrm>
            <a:off x="9004697" y="1657945"/>
            <a:ext cx="2374503" cy="50800"/>
          </a:xfrm>
          <a:prstGeom prst="rect">
            <a:avLst/>
          </a:prstGeom>
          <a:solidFill>
            <a:srgbClr val="24506B"/>
          </a:solidFill>
          <a:ln>
            <a:noFill/>
          </a:ln>
        </p:spPr>
        <p:txBody>
          <a:bodyPr rtlCol="0" anchor="ctr"/>
          <a:lstStyle/>
          <a:p>
            <a:pPr algn="ctr"/>
          </a:p>
        </p:txBody>
      </p:sp>
      <p:sp>
        <p:nvSpPr>
          <p:cNvPr id="7" name="Text 6"/>
          <p:cNvSpPr txBox="1"/>
          <p:nvPr/>
        </p:nvSpPr>
        <p:spPr>
          <a:xfrm>
            <a:off x="9030097"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المتطلب</a:t>
            </a:r>
          </a:p>
        </p:txBody>
      </p:sp>
      <p:sp>
        <p:nvSpPr>
          <p:cNvPr id="8" name="Text 7"/>
          <p:cNvSpPr txBox="1"/>
          <p:nvPr/>
        </p:nvSpPr>
        <p:spPr>
          <a:xfrm>
            <a:off x="9030097"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ماذا يجب؟</a:t>
            </a:r>
          </a:p>
        </p:txBody>
      </p:sp>
      <p:sp>
        <p:nvSpPr>
          <p:cNvPr id="9" name="Text 8"/>
          <p:cNvSpPr txBox="1"/>
          <p:nvPr/>
        </p:nvSpPr>
        <p:spPr>
          <a:xfrm>
            <a:off x="9106297"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ECC 2-⁠2-⁠3-⁠5: مراجعة دورية للصلاحيات.</a:t>
            </a:r>
          </a:p>
        </p:txBody>
      </p:sp>
      <p:sp>
        <p:nvSpPr>
          <p:cNvPr id="10" name="Text 9"/>
          <p:cNvSpPr txBox="1"/>
          <p:nvPr/>
        </p:nvSpPr>
        <p:spPr>
          <a:xfrm>
            <a:off x="8544362"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1" name="Box 10"/>
          <p:cNvSpPr/>
          <p:nvPr/>
        </p:nvSpPr>
        <p:spPr>
          <a:xfrm>
            <a:off x="6273998" y="1657945"/>
            <a:ext cx="2374503" cy="2279650"/>
          </a:xfrm>
          <a:prstGeom prst="roundRect">
            <a:avLst>
              <a:gd name="adj" fmla="val 5013"/>
            </a:avLst>
          </a:prstGeom>
          <a:solidFill>
            <a:srgbClr val="FFFDF8"/>
          </a:solidFill>
          <a:ln>
            <a:noFill/>
          </a:ln>
        </p:spPr>
        <p:txBody>
          <a:bodyPr rtlCol="0" anchor="ctr"/>
          <a:lstStyle/>
          <a:p>
            <a:pPr algn="ctr"/>
          </a:p>
        </p:txBody>
      </p:sp>
      <p:sp>
        <p:nvSpPr>
          <p:cNvPr id="12" name="Rule 11"/>
          <p:cNvSpPr/>
          <p:nvPr/>
        </p:nvSpPr>
        <p:spPr>
          <a:xfrm>
            <a:off x="6273998" y="1657945"/>
            <a:ext cx="2374503" cy="50800"/>
          </a:xfrm>
          <a:prstGeom prst="rect">
            <a:avLst/>
          </a:prstGeom>
          <a:solidFill>
            <a:srgbClr val="0E7C6B"/>
          </a:solidFill>
          <a:ln>
            <a:noFill/>
          </a:ln>
        </p:spPr>
        <p:txBody>
          <a:bodyPr rtlCol="0" anchor="ctr"/>
          <a:lstStyle/>
          <a:p>
            <a:pPr algn="ctr"/>
          </a:p>
        </p:txBody>
      </p:sp>
      <p:sp>
        <p:nvSpPr>
          <p:cNvPr id="13" name="Text 12"/>
          <p:cNvSpPr txBox="1"/>
          <p:nvPr/>
        </p:nvSpPr>
        <p:spPr>
          <a:xfrm>
            <a:off x="6299398"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الضابط</a:t>
            </a:r>
          </a:p>
        </p:txBody>
      </p:sp>
      <p:sp>
        <p:nvSpPr>
          <p:cNvPr id="14" name="Text 13"/>
          <p:cNvSpPr txBox="1"/>
          <p:nvPr/>
        </p:nvSpPr>
        <p:spPr>
          <a:xfrm>
            <a:off x="6299398"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كيف تلتزم الجهة؟</a:t>
            </a:r>
          </a:p>
        </p:txBody>
      </p:sp>
      <p:sp>
        <p:nvSpPr>
          <p:cNvPr id="15" name="Text 14"/>
          <p:cNvSpPr txBox="1"/>
          <p:nvPr/>
        </p:nvSpPr>
        <p:spPr>
          <a:xfrm>
            <a:off x="6375598"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مراجعة ربع سنوية لنظام الرواتب بمعيار معتمد.</a:t>
            </a:r>
          </a:p>
        </p:txBody>
      </p:sp>
      <p:sp>
        <p:nvSpPr>
          <p:cNvPr id="16" name="Text 15"/>
          <p:cNvSpPr txBox="1"/>
          <p:nvPr/>
        </p:nvSpPr>
        <p:spPr>
          <a:xfrm>
            <a:off x="5813663"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7" name="Box 16"/>
          <p:cNvSpPr/>
          <p:nvPr/>
        </p:nvSpPr>
        <p:spPr>
          <a:xfrm>
            <a:off x="3543300" y="1657945"/>
            <a:ext cx="2374503" cy="2279650"/>
          </a:xfrm>
          <a:prstGeom prst="roundRect">
            <a:avLst>
              <a:gd name="adj" fmla="val 5013"/>
            </a:avLst>
          </a:prstGeom>
          <a:solidFill>
            <a:srgbClr val="FFFDF8"/>
          </a:solidFill>
          <a:ln>
            <a:noFill/>
          </a:ln>
        </p:spPr>
        <p:txBody>
          <a:bodyPr rtlCol="0" anchor="ctr"/>
          <a:lstStyle/>
          <a:p>
            <a:pPr algn="ctr"/>
          </a:p>
        </p:txBody>
      </p:sp>
      <p:sp>
        <p:nvSpPr>
          <p:cNvPr id="18" name="Rule 17"/>
          <p:cNvSpPr/>
          <p:nvPr/>
        </p:nvSpPr>
        <p:spPr>
          <a:xfrm>
            <a:off x="3543300" y="1657945"/>
            <a:ext cx="2374503" cy="50800"/>
          </a:xfrm>
          <a:prstGeom prst="rect">
            <a:avLst/>
          </a:prstGeom>
          <a:solidFill>
            <a:srgbClr val="8A4B12"/>
          </a:solidFill>
          <a:ln>
            <a:noFill/>
          </a:ln>
        </p:spPr>
        <p:txBody>
          <a:bodyPr rtlCol="0" anchor="ctr"/>
          <a:lstStyle/>
          <a:p>
            <a:pPr algn="ctr"/>
          </a:p>
        </p:txBody>
      </p:sp>
      <p:sp>
        <p:nvSpPr>
          <p:cNvPr id="19" name="Text 18"/>
          <p:cNvSpPr txBox="1"/>
          <p:nvPr/>
        </p:nvSpPr>
        <p:spPr>
          <a:xfrm>
            <a:off x="3568700"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الدليل</a:t>
            </a:r>
          </a:p>
        </p:txBody>
      </p:sp>
      <p:sp>
        <p:nvSpPr>
          <p:cNvPr id="20" name="Text 19"/>
          <p:cNvSpPr txBox="1"/>
          <p:nvPr/>
        </p:nvSpPr>
        <p:spPr>
          <a:xfrm>
            <a:off x="3568700"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 الذي يثبت؟</a:t>
            </a:r>
          </a:p>
        </p:txBody>
      </p:sp>
      <p:sp>
        <p:nvSpPr>
          <p:cNvPr id="21" name="Text 20"/>
          <p:cNvSpPr txBox="1"/>
          <p:nvPr/>
        </p:nvSpPr>
        <p:spPr>
          <a:xfrm>
            <a:off x="3644900"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ملف المراجعة، والاعتماد، وتذاكر الإزالة.</a:t>
            </a:r>
          </a:p>
        </p:txBody>
      </p:sp>
      <p:sp>
        <p:nvSpPr>
          <p:cNvPr id="22" name="Text 21"/>
          <p:cNvSpPr txBox="1"/>
          <p:nvPr/>
        </p:nvSpPr>
        <p:spPr>
          <a:xfrm>
            <a:off x="3082965"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3" name="Box 22"/>
          <p:cNvSpPr/>
          <p:nvPr/>
        </p:nvSpPr>
        <p:spPr>
          <a:xfrm>
            <a:off x="812602" y="1657945"/>
            <a:ext cx="2374503" cy="2279650"/>
          </a:xfrm>
          <a:prstGeom prst="roundRect">
            <a:avLst>
              <a:gd name="adj" fmla="val 5013"/>
            </a:avLst>
          </a:prstGeom>
          <a:solidFill>
            <a:srgbClr val="FFFDF8"/>
          </a:solidFill>
          <a:ln>
            <a:noFill/>
          </a:ln>
        </p:spPr>
        <p:txBody>
          <a:bodyPr rtlCol="0" anchor="ctr"/>
          <a:lstStyle/>
          <a:p>
            <a:pPr algn="ctr"/>
          </a:p>
        </p:txBody>
      </p:sp>
      <p:sp>
        <p:nvSpPr>
          <p:cNvPr id="24" name="Rule 23"/>
          <p:cNvSpPr/>
          <p:nvPr/>
        </p:nvSpPr>
        <p:spPr>
          <a:xfrm>
            <a:off x="812602" y="1657945"/>
            <a:ext cx="2374503" cy="50800"/>
          </a:xfrm>
          <a:prstGeom prst="rect">
            <a:avLst/>
          </a:prstGeom>
          <a:solidFill>
            <a:srgbClr val="5A3F87"/>
          </a:solidFill>
          <a:ln>
            <a:noFill/>
          </a:ln>
        </p:spPr>
        <p:txBody>
          <a:bodyPr rtlCol="0" anchor="ctr"/>
          <a:lstStyle/>
          <a:p>
            <a:pPr algn="ctr"/>
          </a:p>
        </p:txBody>
      </p:sp>
      <p:sp>
        <p:nvSpPr>
          <p:cNvPr id="25" name="Text 24"/>
          <p:cNvSpPr txBox="1"/>
          <p:nvPr/>
        </p:nvSpPr>
        <p:spPr>
          <a:xfrm>
            <a:off x="838002"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5A3F87"/>
                </a:solidFill>
                <a:latin typeface="Readex Pro"/>
                <a:ea typeface="Readex Pro"/>
                <a:cs typeface="Readex Pro"/>
              </a:rPr>
              <a:t>نتيجة التقييم</a:t>
            </a:r>
          </a:p>
        </p:txBody>
      </p:sp>
      <p:sp>
        <p:nvSpPr>
          <p:cNvPr id="26" name="Text 25"/>
          <p:cNvSpPr txBox="1"/>
          <p:nvPr/>
        </p:nvSpPr>
        <p:spPr>
          <a:xfrm>
            <a:off x="838002"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إلى أي حد؟</a:t>
            </a:r>
          </a:p>
        </p:txBody>
      </p:sp>
      <p:sp>
        <p:nvSpPr>
          <p:cNvPr id="27" name="Text 26"/>
          <p:cNvSpPr txBox="1"/>
          <p:nvPr/>
        </p:nvSpPr>
        <p:spPr>
          <a:xfrm>
            <a:off x="914202" y="2634575"/>
            <a:ext cx="2107803"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مطبق، أو جزئياً، أو غير مطبق، أو لا ينطبق.</a:t>
            </a:r>
          </a:p>
        </p:txBody>
      </p:sp>
      <p:sp>
        <p:nvSpPr>
          <p:cNvPr id="28" name="Box 27"/>
          <p:cNvSpPr/>
          <p:nvPr/>
        </p:nvSpPr>
        <p:spPr>
          <a:xfrm>
            <a:off x="812800" y="4483695"/>
            <a:ext cx="10566400" cy="609600"/>
          </a:xfrm>
          <a:prstGeom prst="roundRect">
            <a:avLst>
              <a:gd name="adj" fmla="val 16666"/>
            </a:avLst>
          </a:prstGeom>
          <a:solidFill>
            <a:srgbClr val="172433"/>
          </a:solidFill>
          <a:ln>
            <a:noFill/>
          </a:ln>
        </p:spPr>
        <p:txBody>
          <a:bodyPr rtlCol="0" anchor="ctr"/>
          <a:lstStyle/>
          <a:p>
            <a:pPr algn="ctr"/>
          </a:p>
        </p:txBody>
      </p:sp>
      <p:pic>
        <p:nvPicPr>
          <p:cNvPr id="29" name="Icon Lightbulb 28" descr="icon045.png"/>
          <p:cNvPicPr>
            <a:picLocks noChangeAspect="1"/>
          </p:cNvPicPr>
          <p:nvPr/>
        </p:nvPicPr>
        <p:blipFill>
          <a:blip r:embed="rId2"/>
          <a:stretch>
            <a:fillRect/>
          </a:stretch>
        </p:blipFill>
        <p:spPr>
          <a:xfrm>
            <a:off x="10909300" y="4642445"/>
            <a:ext cx="292100" cy="292100"/>
          </a:xfrm>
          <a:prstGeom prst="rect">
            <a:avLst/>
          </a:prstGeom>
        </p:spPr>
      </p:pic>
      <p:sp>
        <p:nvSpPr>
          <p:cNvPr id="30" name="Text 29"/>
          <p:cNvSpPr txBox="1"/>
          <p:nvPr/>
        </p:nvSpPr>
        <p:spPr>
          <a:xfrm>
            <a:off x="838200" y="4571325"/>
            <a:ext cx="9956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المتطلب واحد، والضابط اختيار الجهة لتحقيقه. لذلك قد تحقق جهتان المتطلب نفسه بضابطين مختلفين.</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89</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النطاق والانطباق قبل طلب الأدلة</a:t>
            </a:r>
          </a:p>
        </p:txBody>
      </p:sp>
      <p:sp>
        <p:nvSpPr>
          <p:cNvPr id="5" name="Text 4"/>
          <p:cNvSpPr txBox="1"/>
          <p:nvPr/>
        </p:nvSpPr>
        <p:spPr>
          <a:xfrm>
            <a:off x="0" y="15844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قبل أن تطلب أي دليل، اتفق مكتوباً على النطاق. مثال: تقييم رُفاد الداخلي للنصف الأول من 2026.</a:t>
            </a:r>
          </a:p>
        </p:txBody>
      </p:sp>
      <p:graphicFrame>
        <p:nvGraphicFramePr>
          <p:cNvPr id="6" name="Table 5"/>
          <p:cNvGraphicFramePr>
            <a:graphicFrameLocks noGrp="1"/>
          </p:cNvGraphicFramePr>
          <p:nvPr/>
        </p:nvGraphicFramePr>
        <p:xfrm>
          <a:off x="815975" y="2095401"/>
          <a:ext cx="10560050" cy="2849166"/>
        </p:xfrm>
        <a:graphic>
          <a:graphicData uri="http://schemas.openxmlformats.org/drawingml/2006/table">
            <a:tbl>
              <a:tblPr firstRow="0" bandRow="0" lastRow="0" firstCol="0" lastCol="0" bandCol="0">
                <a:tableStyleId>{2D5ABB26-0587-4C30-8999-92F81FD0307C}</a:tableStyleId>
              </a:tblPr>
              <a:tblGrid>
                <a:gridCol w="6546850"/>
                <a:gridCol w="401320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الإجابة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السؤال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ضوابط الهويات 2-⁠2-⁠3 كلها، و‎1-⁠9-⁠5.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المتطلبات المنطبقة؟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نظام الرواتب، والبريد، وVPN، وتطبيق التتبع.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الأنظمة ضمن النطاق؟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 يناير إلى 30 يونيو 2026.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الفترة؟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سلمان للتقنية، ومنى لنظام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من مالك كل ضابط؟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خادم تجريبي معزول بلا بيانات حقيقية: «لا ينطبق» بمبرر موثق.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المستثنى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5100141"/>
            <a:ext cx="10566400" cy="573980"/>
          </a:xfrm>
          <a:prstGeom prst="roundRect">
            <a:avLst>
              <a:gd name="adj" fmla="val 17700"/>
            </a:avLst>
          </a:prstGeom>
          <a:solidFill>
            <a:srgbClr val="F6ECDA"/>
          </a:solidFill>
          <a:ln>
            <a:noFill/>
          </a:ln>
        </p:spPr>
        <p:txBody>
          <a:bodyPr rtlCol="0" anchor="ctr"/>
          <a:lstStyle/>
          <a:p>
            <a:pPr algn="ctr"/>
          </a:p>
        </p:txBody>
      </p:sp>
      <p:pic>
        <p:nvPicPr>
          <p:cNvPr id="8" name="Icon Warning 7" descr="icon046.png"/>
          <p:cNvPicPr>
            <a:picLocks noChangeAspect="1"/>
          </p:cNvPicPr>
          <p:nvPr/>
        </p:nvPicPr>
        <p:blipFill>
          <a:blip r:embed="rId2"/>
          <a:stretch>
            <a:fillRect/>
          </a:stretch>
        </p:blipFill>
        <p:spPr>
          <a:xfrm>
            <a:off x="10966450" y="5269607"/>
            <a:ext cx="234950" cy="234950"/>
          </a:xfrm>
          <a:prstGeom prst="rect">
            <a:avLst/>
          </a:prstGeom>
        </p:spPr>
      </p:pic>
      <p:sp>
        <p:nvSpPr>
          <p:cNvPr id="9" name="Text 8"/>
          <p:cNvSpPr txBox="1"/>
          <p:nvPr/>
        </p:nvSpPr>
        <p:spPr>
          <a:xfrm>
            <a:off x="838200" y="5191708"/>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دليل خارج الفترة أو خارج النطاق لا يُحتسب، مهما كان جيداً.</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موثق، ومطبق، ويعمل باستمرار</a:t>
            </a:r>
          </a:p>
        </p:txBody>
      </p:sp>
      <p:sp>
        <p:nvSpPr>
          <p:cNvPr id="5" name="Rule 4"/>
          <p:cNvSpPr/>
          <p:nvPr/>
        </p:nvSpPr>
        <p:spPr>
          <a:xfrm>
            <a:off x="7992566" y="1657945"/>
            <a:ext cx="3386634" cy="31750"/>
          </a:xfrm>
          <a:prstGeom prst="rect">
            <a:avLst/>
          </a:prstGeom>
          <a:solidFill>
            <a:srgbClr val="24506B"/>
          </a:solidFill>
          <a:ln>
            <a:noFill/>
          </a:ln>
        </p:spPr>
        <p:txBody>
          <a:bodyPr rtlCol="0" anchor="ctr"/>
          <a:lstStyle/>
          <a:p>
            <a:pPr algn="ctr"/>
          </a:p>
        </p:txBody>
      </p:sp>
      <p:sp>
        <p:nvSpPr>
          <p:cNvPr id="6" name="Text 5"/>
          <p:cNvSpPr txBox="1"/>
          <p:nvPr/>
        </p:nvSpPr>
        <p:spPr>
          <a:xfrm>
            <a:off x="8017966"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موثق</a:t>
            </a:r>
          </a:p>
        </p:txBody>
      </p:sp>
      <p:sp>
        <p:nvSpPr>
          <p:cNvPr id="7" name="Text 6"/>
          <p:cNvSpPr txBox="1"/>
          <p:nvPr/>
        </p:nvSpPr>
        <p:spPr>
          <a:xfrm>
            <a:off x="8017966" y="2215475"/>
            <a:ext cx="33231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المتطلب مكتوب ومعتمد؟</a:t>
            </a:r>
          </a:p>
        </p:txBody>
      </p:sp>
      <p:sp>
        <p:nvSpPr>
          <p:cNvPr id="8" name="Text 7"/>
          <p:cNvSpPr txBox="1"/>
          <p:nvPr/>
        </p:nvSpPr>
        <p:spPr>
          <a:xfrm>
            <a:off x="8017966" y="2645497"/>
            <a:ext cx="332313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سياسة أو معيار معتمد.</a:t>
            </a:r>
          </a:p>
        </p:txBody>
      </p:sp>
      <p:sp>
        <p:nvSpPr>
          <p:cNvPr id="9" name="Box 8"/>
          <p:cNvSpPr/>
          <p:nvPr/>
        </p:nvSpPr>
        <p:spPr>
          <a:xfrm>
            <a:off x="8033841" y="3097411"/>
            <a:ext cx="3304084" cy="2026543"/>
          </a:xfrm>
          <a:prstGeom prst="roundRect">
            <a:avLst>
              <a:gd name="adj" fmla="val 3123"/>
            </a:avLst>
          </a:prstGeom>
          <a:solidFill>
            <a:srgbClr val="FFFFFF"/>
          </a:solidFill>
          <a:ln w="6350">
            <a:solidFill>
              <a:srgbClr val="D6CFBF"/>
            </a:solidFill>
          </a:ln>
        </p:spPr>
        <p:txBody>
          <a:bodyPr rtlCol="0" anchor="ctr"/>
          <a:lstStyle/>
          <a:p>
            <a:pPr algn="ctr"/>
          </a:p>
        </p:txBody>
      </p:sp>
      <p:sp>
        <p:nvSpPr>
          <p:cNvPr id="10" name="Text 9"/>
          <p:cNvSpPr txBox="1"/>
          <p:nvPr/>
        </p:nvSpPr>
        <p:spPr>
          <a:xfrm>
            <a:off x="8056066" y="3183517"/>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معيار الوصول عن بعد · فبراير 2026</a:t>
            </a:r>
          </a:p>
        </p:txBody>
      </p:sp>
      <p:sp>
        <p:nvSpPr>
          <p:cNvPr id="11" name="Text 10"/>
          <p:cNvSpPr txBox="1"/>
          <p:nvPr/>
        </p:nvSpPr>
        <p:spPr>
          <a:xfrm>
            <a:off x="8072704" y="3430218"/>
            <a:ext cx="313504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«التحقق متعدد العوامل إلزامي لكل مستخدمي VPN.»</a:t>
            </a:r>
          </a:p>
        </p:txBody>
      </p:sp>
      <p:sp>
        <p:nvSpPr>
          <p:cNvPr id="12" name="Rule 11"/>
          <p:cNvSpPr/>
          <p:nvPr/>
        </p:nvSpPr>
        <p:spPr>
          <a:xfrm>
            <a:off x="4402733" y="1657945"/>
            <a:ext cx="3386634" cy="31750"/>
          </a:xfrm>
          <a:prstGeom prst="rect">
            <a:avLst/>
          </a:prstGeom>
          <a:solidFill>
            <a:srgbClr val="0E7C6B"/>
          </a:solidFill>
          <a:ln>
            <a:noFill/>
          </a:ln>
        </p:spPr>
        <p:txBody>
          <a:bodyPr rtlCol="0" anchor="ctr"/>
          <a:lstStyle/>
          <a:p>
            <a:pPr algn="ctr"/>
          </a:p>
        </p:txBody>
      </p:sp>
      <p:sp>
        <p:nvSpPr>
          <p:cNvPr id="13" name="Text 12"/>
          <p:cNvSpPr txBox="1"/>
          <p:nvPr/>
        </p:nvSpPr>
        <p:spPr>
          <a:xfrm>
            <a:off x="4428133"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مطبق</a:t>
            </a:r>
          </a:p>
        </p:txBody>
      </p:sp>
      <p:sp>
        <p:nvSpPr>
          <p:cNvPr id="14" name="Text 13"/>
          <p:cNvSpPr txBox="1"/>
          <p:nvPr/>
        </p:nvSpPr>
        <p:spPr>
          <a:xfrm>
            <a:off x="4428133" y="2215475"/>
            <a:ext cx="33231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الإعداد أو الإجراء قائم؟</a:t>
            </a:r>
          </a:p>
        </p:txBody>
      </p:sp>
      <p:sp>
        <p:nvSpPr>
          <p:cNvPr id="15" name="Text 14"/>
          <p:cNvSpPr txBox="1"/>
          <p:nvPr/>
        </p:nvSpPr>
        <p:spPr>
          <a:xfrm>
            <a:off x="4428133" y="2645497"/>
            <a:ext cx="332313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تصدير إعداد من النظام بتاريخه.</a:t>
            </a:r>
          </a:p>
        </p:txBody>
      </p:sp>
      <p:sp>
        <p:nvSpPr>
          <p:cNvPr id="16" name="Box 15"/>
          <p:cNvSpPr/>
          <p:nvPr/>
        </p:nvSpPr>
        <p:spPr>
          <a:xfrm>
            <a:off x="4444008" y="3097411"/>
            <a:ext cx="3304084" cy="2026543"/>
          </a:xfrm>
          <a:prstGeom prst="roundRect">
            <a:avLst>
              <a:gd name="adj" fmla="val 3123"/>
            </a:avLst>
          </a:prstGeom>
          <a:solidFill>
            <a:srgbClr val="FFFFFF"/>
          </a:solidFill>
          <a:ln w="6350">
            <a:solidFill>
              <a:srgbClr val="D6CFBF"/>
            </a:solidFill>
          </a:ln>
        </p:spPr>
        <p:txBody>
          <a:bodyPr rtlCol="0" anchor="ctr"/>
          <a:lstStyle/>
          <a:p>
            <a:pPr algn="ctr"/>
          </a:p>
        </p:txBody>
      </p:sp>
      <p:sp>
        <p:nvSpPr>
          <p:cNvPr id="17" name="Text 16"/>
          <p:cNvSpPr txBox="1"/>
          <p:nvPr/>
        </p:nvSpPr>
        <p:spPr>
          <a:xfrm>
            <a:off x="5970603" y="3180850"/>
            <a:ext cx="1647313"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1" i="0">
                <a:solidFill>
                  <a:srgbClr val="172433"/>
                </a:solidFill>
                <a:latin typeface="IBM Plex Sans Arabic"/>
                <a:ea typeface="IBM Plex Sans Arabic"/>
                <a:cs typeface="IBM Plex Sans Arabic"/>
              </a:rPr>
              <a:t>VPN-Users-MFA</a:t>
            </a:r>
          </a:p>
        </p:txBody>
      </p:sp>
      <p:sp>
        <p:nvSpPr>
          <p:cNvPr id="18" name="Box 17"/>
          <p:cNvSpPr/>
          <p:nvPr/>
        </p:nvSpPr>
        <p:spPr>
          <a:xfrm>
            <a:off x="4574183" y="3238996"/>
            <a:ext cx="342900" cy="190500"/>
          </a:xfrm>
          <a:prstGeom prst="roundRect">
            <a:avLst>
              <a:gd name="adj" fmla="val 50000"/>
            </a:avLst>
          </a:prstGeom>
          <a:solidFill>
            <a:srgbClr val="0E7C6B"/>
          </a:solidFill>
          <a:ln>
            <a:noFill/>
          </a:ln>
        </p:spPr>
        <p:txBody>
          <a:bodyPr rtlCol="0" anchor="ctr"/>
          <a:lstStyle/>
          <a:p>
            <a:pPr algn="ctr"/>
          </a:p>
        </p:txBody>
      </p:sp>
      <p:sp>
        <p:nvSpPr>
          <p:cNvPr id="19" name="Box 18"/>
          <p:cNvSpPr/>
          <p:nvPr/>
        </p:nvSpPr>
        <p:spPr>
          <a:xfrm>
            <a:off x="4751983" y="3264396"/>
            <a:ext cx="139700" cy="139700"/>
          </a:xfrm>
          <a:prstGeom prst="roundRect">
            <a:avLst>
              <a:gd name="adj" fmla="val 50000"/>
            </a:avLst>
          </a:prstGeom>
          <a:solidFill>
            <a:srgbClr val="FFFFFF"/>
          </a:solidFill>
          <a:ln>
            <a:noFill/>
          </a:ln>
        </p:spPr>
        <p:txBody>
          <a:bodyPr rtlCol="0" anchor="ctr"/>
          <a:lstStyle/>
          <a:p>
            <a:pPr algn="ctr"/>
          </a:p>
        </p:txBody>
      </p:sp>
      <p:sp>
        <p:nvSpPr>
          <p:cNvPr id="20" name="Text 19"/>
          <p:cNvSpPr txBox="1"/>
          <p:nvPr/>
        </p:nvSpPr>
        <p:spPr>
          <a:xfrm>
            <a:off x="4466233" y="3485737"/>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كلمة المرور + رمز · لقطة 5 يوليو</a:t>
            </a:r>
          </a:p>
        </p:txBody>
      </p:sp>
      <p:sp>
        <p:nvSpPr>
          <p:cNvPr id="21" name="Rule 20"/>
          <p:cNvSpPr/>
          <p:nvPr/>
        </p:nvSpPr>
        <p:spPr>
          <a:xfrm>
            <a:off x="812899" y="1657945"/>
            <a:ext cx="3386634" cy="31750"/>
          </a:xfrm>
          <a:prstGeom prst="rect">
            <a:avLst/>
          </a:prstGeom>
          <a:solidFill>
            <a:srgbClr val="8A4B12"/>
          </a:solidFill>
          <a:ln>
            <a:noFill/>
          </a:ln>
        </p:spPr>
        <p:txBody>
          <a:bodyPr rtlCol="0" anchor="ctr"/>
          <a:lstStyle/>
          <a:p>
            <a:pPr algn="ctr"/>
          </a:p>
        </p:txBody>
      </p:sp>
      <p:sp>
        <p:nvSpPr>
          <p:cNvPr id="22" name="Text 21"/>
          <p:cNvSpPr txBox="1"/>
          <p:nvPr/>
        </p:nvSpPr>
        <p:spPr>
          <a:xfrm>
            <a:off x="838299"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يعمل باستمرار</a:t>
            </a:r>
          </a:p>
        </p:txBody>
      </p:sp>
      <p:sp>
        <p:nvSpPr>
          <p:cNvPr id="23" name="Text 22"/>
          <p:cNvSpPr txBox="1"/>
          <p:nvPr/>
        </p:nvSpPr>
        <p:spPr>
          <a:xfrm>
            <a:off x="838299" y="2215475"/>
            <a:ext cx="3323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عمل طوال الفترة ولكل النطاق؟</a:t>
            </a:r>
          </a:p>
        </p:txBody>
      </p:sp>
      <p:sp>
        <p:nvSpPr>
          <p:cNvPr id="24" name="Text 23"/>
          <p:cNvSpPr txBox="1"/>
          <p:nvPr/>
        </p:nvSpPr>
        <p:spPr>
          <a:xfrm>
            <a:off x="838299" y="3001097"/>
            <a:ext cx="3323134"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سجلات وملفات تغطي الفترة كاملة.</a:t>
            </a:r>
          </a:p>
        </p:txBody>
      </p:sp>
      <p:sp>
        <p:nvSpPr>
          <p:cNvPr id="25" name="Box 24"/>
          <p:cNvSpPr/>
          <p:nvPr/>
        </p:nvSpPr>
        <p:spPr>
          <a:xfrm>
            <a:off x="854174" y="3784402"/>
            <a:ext cx="3304084" cy="1339552"/>
          </a:xfrm>
          <a:prstGeom prst="roundRect">
            <a:avLst>
              <a:gd name="adj" fmla="val 4718"/>
            </a:avLst>
          </a:prstGeom>
          <a:solidFill>
            <a:srgbClr val="FFFFFF"/>
          </a:solidFill>
          <a:ln w="6350">
            <a:solidFill>
              <a:srgbClr val="D6CFBF"/>
            </a:solidFill>
          </a:ln>
        </p:spPr>
        <p:txBody>
          <a:bodyPr rtlCol="0" anchor="ctr"/>
          <a:lstStyle/>
          <a:p>
            <a:pPr algn="ctr"/>
          </a:p>
        </p:txBody>
      </p:sp>
      <p:sp>
        <p:nvSpPr>
          <p:cNvPr id="26" name="Text 25"/>
          <p:cNvSpPr txBox="1"/>
          <p:nvPr/>
        </p:nvSpPr>
        <p:spPr>
          <a:xfrm>
            <a:off x="3413403" y="3866063"/>
            <a:ext cx="614680" cy="274241"/>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03-12</a:t>
            </a:r>
          </a:p>
        </p:txBody>
      </p:sp>
      <p:sp>
        <p:nvSpPr>
          <p:cNvPr id="27" name="Text 26"/>
          <p:cNvSpPr txBox="1"/>
          <p:nvPr/>
        </p:nvSpPr>
        <p:spPr>
          <a:xfrm>
            <a:off x="876399" y="3862761"/>
            <a:ext cx="2580184"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a:t>
            </a:r>
          </a:p>
        </p:txBody>
      </p:sp>
      <p:sp>
        <p:nvSpPr>
          <p:cNvPr id="28" name="Text 27"/>
          <p:cNvSpPr txBox="1"/>
          <p:nvPr/>
        </p:nvSpPr>
        <p:spPr>
          <a:xfrm>
            <a:off x="3413403" y="4165703"/>
            <a:ext cx="614680" cy="274241"/>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04-02</a:t>
            </a:r>
          </a:p>
        </p:txBody>
      </p:sp>
      <p:sp>
        <p:nvSpPr>
          <p:cNvPr id="29" name="Text 28"/>
          <p:cNvSpPr txBox="1"/>
          <p:nvPr/>
        </p:nvSpPr>
        <p:spPr>
          <a:xfrm>
            <a:off x="876399" y="4162401"/>
            <a:ext cx="2580184"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a:t>
            </a:r>
          </a:p>
        </p:txBody>
      </p:sp>
      <p:sp>
        <p:nvSpPr>
          <p:cNvPr id="30" name="Text 29"/>
          <p:cNvSpPr txBox="1"/>
          <p:nvPr/>
        </p:nvSpPr>
        <p:spPr>
          <a:xfrm>
            <a:off x="3413403" y="4465344"/>
            <a:ext cx="614680" cy="274241"/>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06-24</a:t>
            </a:r>
          </a:p>
        </p:txBody>
      </p:sp>
      <p:sp>
        <p:nvSpPr>
          <p:cNvPr id="31" name="Text 30"/>
          <p:cNvSpPr txBox="1"/>
          <p:nvPr/>
        </p:nvSpPr>
        <p:spPr>
          <a:xfrm>
            <a:off x="876399" y="4462042"/>
            <a:ext cx="2580184"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a:t>
            </a:r>
          </a:p>
        </p:txBody>
      </p:sp>
      <p:sp>
        <p:nvSpPr>
          <p:cNvPr id="32" name="Text 31"/>
          <p:cNvSpPr txBox="1"/>
          <p:nvPr/>
        </p:nvSpPr>
        <p:spPr>
          <a:xfrm>
            <a:off x="876399" y="4769429"/>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سجل يغطي الفترة كلها</a:t>
            </a:r>
          </a:p>
        </p:txBody>
      </p:sp>
      <p:sp>
        <p:nvSpPr>
          <p:cNvPr id="33" name="Box 32"/>
          <p:cNvSpPr/>
          <p:nvPr/>
        </p:nvSpPr>
        <p:spPr>
          <a:xfrm>
            <a:off x="812800" y="5343029"/>
            <a:ext cx="10566400" cy="609600"/>
          </a:xfrm>
          <a:prstGeom prst="roundRect">
            <a:avLst>
              <a:gd name="adj" fmla="val 16666"/>
            </a:avLst>
          </a:prstGeom>
          <a:solidFill>
            <a:srgbClr val="172433"/>
          </a:solidFill>
          <a:ln>
            <a:noFill/>
          </a:ln>
        </p:spPr>
        <p:txBody>
          <a:bodyPr rtlCol="0" anchor="ctr"/>
          <a:lstStyle/>
          <a:p>
            <a:pPr algn="ctr"/>
          </a:p>
        </p:txBody>
      </p:sp>
      <p:pic>
        <p:nvPicPr>
          <p:cNvPr id="34" name="Icon Lightbulb 33" descr="icon047.png"/>
          <p:cNvPicPr>
            <a:picLocks noChangeAspect="1"/>
          </p:cNvPicPr>
          <p:nvPr/>
        </p:nvPicPr>
        <p:blipFill>
          <a:blip r:embed="rId2"/>
          <a:stretch>
            <a:fillRect/>
          </a:stretch>
        </p:blipFill>
        <p:spPr>
          <a:xfrm>
            <a:off x="10941050" y="5517654"/>
            <a:ext cx="260350" cy="260350"/>
          </a:xfrm>
          <a:prstGeom prst="rect">
            <a:avLst/>
          </a:prstGeom>
        </p:spPr>
      </p:pic>
      <p:sp>
        <p:nvSpPr>
          <p:cNvPr id="35" name="Text 34"/>
          <p:cNvSpPr txBox="1"/>
          <p:nvPr/>
        </p:nvSpPr>
        <p:spPr>
          <a:xfrm>
            <a:off x="838200" y="5430659"/>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سياسة موجودة لا تثبت إعداداً، وإعداد اليوم لا يثبت ما حدث في الأشهر الماضية.</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الأدلة: الأنواع، وكيف تحكم على كفايتها</a:t>
            </a:r>
          </a:p>
        </p:txBody>
      </p:sp>
      <p:sp>
        <p:nvSpPr>
          <p:cNvPr id="5" name="Box 4"/>
          <p:cNvSpPr/>
          <p:nvPr/>
        </p:nvSpPr>
        <p:spPr>
          <a:xfrm>
            <a:off x="6169025" y="1623020"/>
            <a:ext cx="5207000" cy="2736850"/>
          </a:xfrm>
          <a:prstGeom prst="roundRect">
            <a:avLst>
              <a:gd name="adj" fmla="val 4166"/>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7684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أنواع الأدلة</a:t>
            </a:r>
          </a:p>
        </p:txBody>
      </p:sp>
      <p:pic>
        <p:nvPicPr>
          <p:cNvPr id="7" name="Icon Check 6" descr="icon048.png"/>
          <p:cNvPicPr>
            <a:picLocks noChangeAspect="1"/>
          </p:cNvPicPr>
          <p:nvPr/>
        </p:nvPicPr>
        <p:blipFill>
          <a:blip r:embed="rId2"/>
          <a:stretch>
            <a:fillRect/>
          </a:stretch>
        </p:blipFill>
        <p:spPr>
          <a:xfrm>
            <a:off x="10953750" y="2172295"/>
            <a:ext cx="241300" cy="241300"/>
          </a:xfrm>
          <a:prstGeom prst="rect">
            <a:avLst/>
          </a:prstGeom>
        </p:spPr>
      </p:pic>
      <p:sp>
        <p:nvSpPr>
          <p:cNvPr id="8" name="Text 7"/>
          <p:cNvSpPr txBox="1"/>
          <p:nvPr/>
        </p:nvSpPr>
        <p:spPr>
          <a:xfrm>
            <a:off x="6191250" y="21329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وثائق معتمدة: سياسات، ومحاضر</a:t>
            </a:r>
          </a:p>
        </p:txBody>
      </p:sp>
      <p:pic>
        <p:nvPicPr>
          <p:cNvPr id="9" name="Icon Check 8" descr="icon048.png"/>
          <p:cNvPicPr>
            <a:picLocks noChangeAspect="1"/>
          </p:cNvPicPr>
          <p:nvPr/>
        </p:nvPicPr>
        <p:blipFill>
          <a:blip r:embed="rId2"/>
          <a:stretch>
            <a:fillRect/>
          </a:stretch>
        </p:blipFill>
        <p:spPr>
          <a:xfrm>
            <a:off x="10953750" y="2591395"/>
            <a:ext cx="241300" cy="241300"/>
          </a:xfrm>
          <a:prstGeom prst="rect">
            <a:avLst/>
          </a:prstGeom>
        </p:spPr>
      </p:pic>
      <p:sp>
        <p:nvSpPr>
          <p:cNvPr id="10" name="Text 9"/>
          <p:cNvSpPr txBox="1"/>
          <p:nvPr/>
        </p:nvSpPr>
        <p:spPr>
          <a:xfrm>
            <a:off x="6191250" y="25520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تصدير من النظام: إعدادات وقوائم</a:t>
            </a:r>
          </a:p>
        </p:txBody>
      </p:sp>
      <p:pic>
        <p:nvPicPr>
          <p:cNvPr id="11" name="Icon Check 10" descr="icon048.png"/>
          <p:cNvPicPr>
            <a:picLocks noChangeAspect="1"/>
          </p:cNvPicPr>
          <p:nvPr/>
        </p:nvPicPr>
        <p:blipFill>
          <a:blip r:embed="rId2"/>
          <a:stretch>
            <a:fillRect/>
          </a:stretch>
        </p:blipFill>
        <p:spPr>
          <a:xfrm>
            <a:off x="10953750" y="3010495"/>
            <a:ext cx="241300" cy="241300"/>
          </a:xfrm>
          <a:prstGeom prst="rect">
            <a:avLst/>
          </a:prstGeom>
        </p:spPr>
      </p:pic>
      <p:sp>
        <p:nvSpPr>
          <p:cNvPr id="12" name="Text 11"/>
          <p:cNvSpPr txBox="1"/>
          <p:nvPr/>
        </p:nvSpPr>
        <p:spPr>
          <a:xfrm>
            <a:off x="6191250" y="29711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سجلات وتقارير: ما حدث فعلاً</a:t>
            </a:r>
          </a:p>
        </p:txBody>
      </p:sp>
      <p:pic>
        <p:nvPicPr>
          <p:cNvPr id="13" name="Icon Check 12" descr="icon048.png"/>
          <p:cNvPicPr>
            <a:picLocks noChangeAspect="1"/>
          </p:cNvPicPr>
          <p:nvPr/>
        </p:nvPicPr>
        <p:blipFill>
          <a:blip r:embed="rId2"/>
          <a:stretch>
            <a:fillRect/>
          </a:stretch>
        </p:blipFill>
        <p:spPr>
          <a:xfrm>
            <a:off x="10953750" y="3429595"/>
            <a:ext cx="241300" cy="241300"/>
          </a:xfrm>
          <a:prstGeom prst="rect">
            <a:avLst/>
          </a:prstGeom>
        </p:spPr>
      </p:pic>
      <p:sp>
        <p:nvSpPr>
          <p:cNvPr id="14" name="Text 13"/>
          <p:cNvSpPr txBox="1"/>
          <p:nvPr/>
        </p:nvSpPr>
        <p:spPr>
          <a:xfrm>
            <a:off x="6191250" y="33902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مقابلات وملاحظة مباشرة</a:t>
            </a:r>
          </a:p>
        </p:txBody>
      </p:sp>
      <p:pic>
        <p:nvPicPr>
          <p:cNvPr id="15" name="Icon Check 14" descr="icon048.png"/>
          <p:cNvPicPr>
            <a:picLocks noChangeAspect="1"/>
          </p:cNvPicPr>
          <p:nvPr/>
        </p:nvPicPr>
        <p:blipFill>
          <a:blip r:embed="rId2"/>
          <a:stretch>
            <a:fillRect/>
          </a:stretch>
        </p:blipFill>
        <p:spPr>
          <a:xfrm>
            <a:off x="10953750" y="3848695"/>
            <a:ext cx="241300" cy="241300"/>
          </a:xfrm>
          <a:prstGeom prst="rect">
            <a:avLst/>
          </a:prstGeom>
        </p:spPr>
      </p:pic>
      <p:sp>
        <p:nvSpPr>
          <p:cNvPr id="16" name="Text 15"/>
          <p:cNvSpPr txBox="1"/>
          <p:nvPr/>
        </p:nvSpPr>
        <p:spPr>
          <a:xfrm>
            <a:off x="6191250" y="38093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إعادة التنفيذ: تجرب الضابط بنفسك</a:t>
            </a:r>
          </a:p>
        </p:txBody>
      </p:sp>
      <p:sp>
        <p:nvSpPr>
          <p:cNvPr id="17" name="Box 16"/>
          <p:cNvSpPr/>
          <p:nvPr/>
        </p:nvSpPr>
        <p:spPr>
          <a:xfrm>
            <a:off x="815975" y="1623020"/>
            <a:ext cx="5207000" cy="2736850"/>
          </a:xfrm>
          <a:prstGeom prst="roundRect">
            <a:avLst>
              <a:gd name="adj" fmla="val 4166"/>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17684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هل يكفي الدليل؟ اسأل:</a:t>
            </a:r>
          </a:p>
        </p:txBody>
      </p:sp>
      <p:pic>
        <p:nvPicPr>
          <p:cNvPr id="19" name="Icon Search 18" descr="icon049.png"/>
          <p:cNvPicPr>
            <a:picLocks noChangeAspect="1"/>
          </p:cNvPicPr>
          <p:nvPr/>
        </p:nvPicPr>
        <p:blipFill>
          <a:blip r:embed="rId3"/>
          <a:stretch>
            <a:fillRect/>
          </a:stretch>
        </p:blipFill>
        <p:spPr>
          <a:xfrm>
            <a:off x="5600700" y="2172295"/>
            <a:ext cx="241300" cy="241300"/>
          </a:xfrm>
          <a:prstGeom prst="rect">
            <a:avLst/>
          </a:prstGeom>
        </p:spPr>
      </p:pic>
      <p:sp>
        <p:nvSpPr>
          <p:cNvPr id="20" name="Text 19"/>
          <p:cNvSpPr txBox="1"/>
          <p:nvPr/>
        </p:nvSpPr>
        <p:spPr>
          <a:xfrm>
            <a:off x="838200" y="21329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مرتبط: هل يجيب عن هدف الفحص؟</a:t>
            </a:r>
          </a:p>
        </p:txBody>
      </p:sp>
      <p:pic>
        <p:nvPicPr>
          <p:cNvPr id="21" name="Icon Search 20" descr="icon049.png"/>
          <p:cNvPicPr>
            <a:picLocks noChangeAspect="1"/>
          </p:cNvPicPr>
          <p:nvPr/>
        </p:nvPicPr>
        <p:blipFill>
          <a:blip r:embed="rId3"/>
          <a:stretch>
            <a:fillRect/>
          </a:stretch>
        </p:blipFill>
        <p:spPr>
          <a:xfrm>
            <a:off x="5600700" y="2591395"/>
            <a:ext cx="241300" cy="241300"/>
          </a:xfrm>
          <a:prstGeom prst="rect">
            <a:avLst/>
          </a:prstGeom>
        </p:spPr>
      </p:pic>
      <p:sp>
        <p:nvSpPr>
          <p:cNvPr id="22" name="Text 21"/>
          <p:cNvSpPr txBox="1"/>
          <p:nvPr/>
        </p:nvSpPr>
        <p:spPr>
          <a:xfrm>
            <a:off x="838200" y="25520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موثوق: ما مصدره؟ من النظام أم نسخة معدّلة؟</a:t>
            </a:r>
          </a:p>
        </p:txBody>
      </p:sp>
      <p:pic>
        <p:nvPicPr>
          <p:cNvPr id="23" name="Icon Search 22" descr="icon049.png"/>
          <p:cNvPicPr>
            <a:picLocks noChangeAspect="1"/>
          </p:cNvPicPr>
          <p:nvPr/>
        </p:nvPicPr>
        <p:blipFill>
          <a:blip r:embed="rId3"/>
          <a:stretch>
            <a:fillRect/>
          </a:stretch>
        </p:blipFill>
        <p:spPr>
          <a:xfrm>
            <a:off x="5600700" y="3010495"/>
            <a:ext cx="241300" cy="241300"/>
          </a:xfrm>
          <a:prstGeom prst="rect">
            <a:avLst/>
          </a:prstGeom>
        </p:spPr>
      </p:pic>
      <p:sp>
        <p:nvSpPr>
          <p:cNvPr id="24" name="Text 23"/>
          <p:cNvSpPr txBox="1"/>
          <p:nvPr/>
        </p:nvSpPr>
        <p:spPr>
          <a:xfrm>
            <a:off x="838200" y="29711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كافٍ: هل يغطي الفترة والمجتمع؟</a:t>
            </a:r>
          </a:p>
        </p:txBody>
      </p:sp>
      <p:pic>
        <p:nvPicPr>
          <p:cNvPr id="25" name="Icon Search 24" descr="icon049.png"/>
          <p:cNvPicPr>
            <a:picLocks noChangeAspect="1"/>
          </p:cNvPicPr>
          <p:nvPr/>
        </p:nvPicPr>
        <p:blipFill>
          <a:blip r:embed="rId3"/>
          <a:stretch>
            <a:fillRect/>
          </a:stretch>
        </p:blipFill>
        <p:spPr>
          <a:xfrm>
            <a:off x="5600700" y="3429595"/>
            <a:ext cx="241300" cy="241300"/>
          </a:xfrm>
          <a:prstGeom prst="rect">
            <a:avLst/>
          </a:prstGeom>
        </p:spPr>
      </p:pic>
      <p:sp>
        <p:nvSpPr>
          <p:cNvPr id="26" name="Text 25"/>
          <p:cNvSpPr txBox="1"/>
          <p:nvPr/>
        </p:nvSpPr>
        <p:spPr>
          <a:xfrm>
            <a:off x="838200" y="33902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مؤرخ: هل يقع داخل الفترة؟</a:t>
            </a:r>
          </a:p>
        </p:txBody>
      </p:sp>
      <p:sp>
        <p:nvSpPr>
          <p:cNvPr id="27" name="Box 26"/>
          <p:cNvSpPr/>
          <p:nvPr/>
        </p:nvSpPr>
        <p:spPr>
          <a:xfrm>
            <a:off x="812800" y="4515445"/>
            <a:ext cx="10566400" cy="965200"/>
          </a:xfrm>
          <a:prstGeom prst="roundRect">
            <a:avLst>
              <a:gd name="adj" fmla="val 10526"/>
            </a:avLst>
          </a:prstGeom>
          <a:solidFill>
            <a:srgbClr val="172433"/>
          </a:solidFill>
          <a:ln>
            <a:noFill/>
          </a:ln>
        </p:spPr>
        <p:txBody>
          <a:bodyPr rtlCol="0" anchor="ctr"/>
          <a:lstStyle/>
          <a:p>
            <a:pPr algn="ctr"/>
          </a:p>
        </p:txBody>
      </p:sp>
      <p:pic>
        <p:nvPicPr>
          <p:cNvPr id="28" name="Icon Lightbulb 27" descr="icon050.png"/>
          <p:cNvPicPr>
            <a:picLocks noChangeAspect="1"/>
          </p:cNvPicPr>
          <p:nvPr/>
        </p:nvPicPr>
        <p:blipFill>
          <a:blip r:embed="rId4"/>
          <a:stretch>
            <a:fillRect/>
          </a:stretch>
        </p:blipFill>
        <p:spPr>
          <a:xfrm>
            <a:off x="10934700" y="4864695"/>
            <a:ext cx="266700" cy="266700"/>
          </a:xfrm>
          <a:prstGeom prst="rect">
            <a:avLst/>
          </a:prstGeom>
        </p:spPr>
      </p:pic>
      <p:sp>
        <p:nvSpPr>
          <p:cNvPr id="29" name="Text 28"/>
          <p:cNvSpPr txBox="1"/>
          <p:nvPr/>
        </p:nvSpPr>
        <p:spPr>
          <a:xfrm>
            <a:off x="838200" y="460307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لا يوجد ترتيب ثابت لقوة الأدلة. المقابلة تساعدك على الفهم، والسجلات قد تكون ناقصة. القيمة تعتمد على هدف الفحص ومصدر الدليل وتغطيته.</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المجتمع والعينة وحدود الاستنتاج</a:t>
            </a:r>
          </a:p>
        </p:txBody>
      </p:sp>
      <p:sp>
        <p:nvSpPr>
          <p:cNvPr id="5" name="Box 4"/>
          <p:cNvSpPr/>
          <p:nvPr/>
        </p:nvSpPr>
        <p:spPr>
          <a:xfrm>
            <a:off x="6169025" y="1661120"/>
            <a:ext cx="5207000" cy="2965450"/>
          </a:xfrm>
          <a:prstGeom prst="roundRect">
            <a:avLst>
              <a:gd name="adj" fmla="val 3846"/>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8065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المجتمع والعينة</a:t>
            </a:r>
          </a:p>
        </p:txBody>
      </p:sp>
      <p:pic>
        <p:nvPicPr>
          <p:cNvPr id="7" name="Icon Check 6" descr="icon048.png"/>
          <p:cNvPicPr>
            <a:picLocks noChangeAspect="1"/>
          </p:cNvPicPr>
          <p:nvPr/>
        </p:nvPicPr>
        <p:blipFill>
          <a:blip r:embed="rId2"/>
          <a:stretch>
            <a:fillRect/>
          </a:stretch>
        </p:blipFill>
        <p:spPr>
          <a:xfrm>
            <a:off x="10953750" y="2210395"/>
            <a:ext cx="241300" cy="241300"/>
          </a:xfrm>
          <a:prstGeom prst="rect">
            <a:avLst/>
          </a:prstGeom>
        </p:spPr>
      </p:pic>
      <p:sp>
        <p:nvSpPr>
          <p:cNvPr id="8" name="Text 7"/>
          <p:cNvSpPr txBox="1"/>
          <p:nvPr/>
        </p:nvSpPr>
        <p:spPr>
          <a:xfrm>
            <a:off x="6215316" y="21710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المجتمع: كل الحالات في الفترة، مثل 41 حساب VPN.</a:t>
            </a:r>
          </a:p>
        </p:txBody>
      </p:sp>
      <p:pic>
        <p:nvPicPr>
          <p:cNvPr id="9" name="Icon Check 8" descr="icon048.png"/>
          <p:cNvPicPr>
            <a:picLocks noChangeAspect="1"/>
          </p:cNvPicPr>
          <p:nvPr/>
        </p:nvPicPr>
        <p:blipFill>
          <a:blip r:embed="rId2"/>
          <a:stretch>
            <a:fillRect/>
          </a:stretch>
        </p:blipFill>
        <p:spPr>
          <a:xfrm>
            <a:off x="10953750" y="2985095"/>
            <a:ext cx="241300" cy="241300"/>
          </a:xfrm>
          <a:prstGeom prst="rect">
            <a:avLst/>
          </a:prstGeom>
        </p:spPr>
      </p:pic>
      <p:sp>
        <p:nvSpPr>
          <p:cNvPr id="10" name="Text 9"/>
          <p:cNvSpPr txBox="1"/>
          <p:nvPr/>
        </p:nvSpPr>
        <p:spPr>
          <a:xfrm>
            <a:off x="6191250" y="29457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أمكن تصديره كاملاً، افحصه كاملاً.</a:t>
            </a:r>
          </a:p>
        </p:txBody>
      </p:sp>
      <p:pic>
        <p:nvPicPr>
          <p:cNvPr id="11" name="Icon Check 10" descr="icon048.png"/>
          <p:cNvPicPr>
            <a:picLocks noChangeAspect="1"/>
          </p:cNvPicPr>
          <p:nvPr/>
        </p:nvPicPr>
        <p:blipFill>
          <a:blip r:embed="rId2"/>
          <a:stretch>
            <a:fillRect/>
          </a:stretch>
        </p:blipFill>
        <p:spPr>
          <a:xfrm>
            <a:off x="10953750" y="3404195"/>
            <a:ext cx="241300" cy="241300"/>
          </a:xfrm>
          <a:prstGeom prst="rect">
            <a:avLst/>
          </a:prstGeom>
        </p:spPr>
      </p:pic>
      <p:sp>
        <p:nvSpPr>
          <p:cNvPr id="12" name="Text 11"/>
          <p:cNvSpPr txBox="1"/>
          <p:nvPr/>
        </p:nvSpPr>
        <p:spPr>
          <a:xfrm>
            <a:off x="6215316" y="33648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العينة: جزء مختار بطريقة معروفة، عشوائياً أو بمعيار مبرر.</a:t>
            </a:r>
          </a:p>
        </p:txBody>
      </p:sp>
      <p:sp>
        <p:nvSpPr>
          <p:cNvPr id="13" name="Box 12"/>
          <p:cNvSpPr/>
          <p:nvPr/>
        </p:nvSpPr>
        <p:spPr>
          <a:xfrm>
            <a:off x="815975" y="1661120"/>
            <a:ext cx="5207000" cy="2965450"/>
          </a:xfrm>
          <a:prstGeom prst="roundRect">
            <a:avLst>
              <a:gd name="adj" fmla="val 3846"/>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18065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حدود الاستنتاج</a:t>
            </a:r>
          </a:p>
        </p:txBody>
      </p:sp>
      <p:pic>
        <p:nvPicPr>
          <p:cNvPr id="15" name="Icon Warning 14" descr="icon040.png"/>
          <p:cNvPicPr>
            <a:picLocks noChangeAspect="1"/>
          </p:cNvPicPr>
          <p:nvPr/>
        </p:nvPicPr>
        <p:blipFill>
          <a:blip r:embed="rId3"/>
          <a:stretch>
            <a:fillRect/>
          </a:stretch>
        </p:blipFill>
        <p:spPr>
          <a:xfrm>
            <a:off x="5600700" y="2210395"/>
            <a:ext cx="241300" cy="241300"/>
          </a:xfrm>
          <a:prstGeom prst="rect">
            <a:avLst/>
          </a:prstGeom>
        </p:spPr>
      </p:pic>
      <p:sp>
        <p:nvSpPr>
          <p:cNvPr id="16" name="Text 15"/>
          <p:cNvSpPr txBox="1"/>
          <p:nvPr/>
        </p:nvSpPr>
        <p:spPr>
          <a:xfrm>
            <a:off x="862266" y="21710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نتيجة العينة تخص ما فحصته، والتعميم يحتاج مبرراً.</a:t>
            </a:r>
          </a:p>
        </p:txBody>
      </p:sp>
      <p:pic>
        <p:nvPicPr>
          <p:cNvPr id="17" name="Icon Warning 16" descr="icon040.png"/>
          <p:cNvPicPr>
            <a:picLocks noChangeAspect="1"/>
          </p:cNvPicPr>
          <p:nvPr/>
        </p:nvPicPr>
        <p:blipFill>
          <a:blip r:embed="rId3"/>
          <a:stretch>
            <a:fillRect/>
          </a:stretch>
        </p:blipFill>
        <p:spPr>
          <a:xfrm>
            <a:off x="5600700" y="2985095"/>
            <a:ext cx="241300" cy="241300"/>
          </a:xfrm>
          <a:prstGeom prst="rect">
            <a:avLst/>
          </a:prstGeom>
        </p:spPr>
      </p:pic>
      <p:sp>
        <p:nvSpPr>
          <p:cNvPr id="18" name="Text 17"/>
          <p:cNvSpPr txBox="1"/>
          <p:nvPr/>
        </p:nvSpPr>
        <p:spPr>
          <a:xfrm>
            <a:off x="862266" y="29457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استثناءان من حساب واحد لا يعنيان أن كل الحسابات ضعيفة.</a:t>
            </a:r>
          </a:p>
        </p:txBody>
      </p:sp>
      <p:pic>
        <p:nvPicPr>
          <p:cNvPr id="19" name="Icon Warning 18" descr="icon040.png"/>
          <p:cNvPicPr>
            <a:picLocks noChangeAspect="1"/>
          </p:cNvPicPr>
          <p:nvPr/>
        </p:nvPicPr>
        <p:blipFill>
          <a:blip r:embed="rId3"/>
          <a:stretch>
            <a:fillRect/>
          </a:stretch>
        </p:blipFill>
        <p:spPr>
          <a:xfrm>
            <a:off x="5600700" y="3759795"/>
            <a:ext cx="241300" cy="241300"/>
          </a:xfrm>
          <a:prstGeom prst="rect">
            <a:avLst/>
          </a:prstGeom>
        </p:spPr>
      </p:pic>
      <p:sp>
        <p:nvSpPr>
          <p:cNvPr id="20" name="Text 19"/>
          <p:cNvSpPr txBox="1"/>
          <p:nvPr/>
        </p:nvSpPr>
        <p:spPr>
          <a:xfrm>
            <a:off x="862266" y="37204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الجذري يُتحقق منه، ولا يُستنتج من بريد أو انطباع.</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تقييم ضابط كامل: ثمانية عناصر</a:t>
            </a:r>
          </a:p>
        </p:txBody>
      </p:sp>
      <p:sp>
        <p:nvSpPr>
          <p:cNvPr id="5" name="Rule 4"/>
          <p:cNvSpPr/>
          <p:nvPr/>
        </p:nvSpPr>
        <p:spPr>
          <a:xfrm>
            <a:off x="8890000" y="1581745"/>
            <a:ext cx="2489200" cy="31750"/>
          </a:xfrm>
          <a:prstGeom prst="rect">
            <a:avLst/>
          </a:prstGeom>
          <a:solidFill>
            <a:srgbClr val="0E7C6B"/>
          </a:solidFill>
          <a:ln>
            <a:noFill/>
          </a:ln>
        </p:spPr>
        <p:txBody>
          <a:bodyPr rtlCol="0" anchor="ctr"/>
          <a:lstStyle/>
          <a:p>
            <a:pPr algn="ctr"/>
          </a:p>
        </p:txBody>
      </p:sp>
      <p:sp>
        <p:nvSpPr>
          <p:cNvPr id="6" name="Text 5"/>
          <p:cNvSpPr txBox="1"/>
          <p:nvPr/>
        </p:nvSpPr>
        <p:spPr>
          <a:xfrm>
            <a:off x="11016099" y="1802344"/>
            <a:ext cx="32500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915400" y="1736685"/>
            <a:ext cx="219213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المتطلب</a:t>
            </a:r>
          </a:p>
        </p:txBody>
      </p:sp>
      <p:sp>
        <p:nvSpPr>
          <p:cNvPr id="8" name="Text 7"/>
          <p:cNvSpPr txBox="1"/>
          <p:nvPr/>
        </p:nvSpPr>
        <p:spPr>
          <a:xfrm>
            <a:off x="89154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النص ورقمه</a:t>
            </a:r>
          </a:p>
        </p:txBody>
      </p:sp>
      <p:sp>
        <p:nvSpPr>
          <p:cNvPr id="9" name="Rule 8"/>
          <p:cNvSpPr/>
          <p:nvPr/>
        </p:nvSpPr>
        <p:spPr>
          <a:xfrm>
            <a:off x="6197600" y="1581745"/>
            <a:ext cx="2489200" cy="31750"/>
          </a:xfrm>
          <a:prstGeom prst="rect">
            <a:avLst/>
          </a:prstGeom>
          <a:solidFill>
            <a:srgbClr val="0E7C6B"/>
          </a:solidFill>
          <a:ln>
            <a:noFill/>
          </a:ln>
        </p:spPr>
        <p:txBody>
          <a:bodyPr rtlCol="0" anchor="ctr"/>
          <a:lstStyle/>
          <a:p>
            <a:pPr algn="ctr"/>
          </a:p>
        </p:txBody>
      </p:sp>
      <p:sp>
        <p:nvSpPr>
          <p:cNvPr id="10" name="Text 9"/>
          <p:cNvSpPr txBox="1"/>
          <p:nvPr/>
        </p:nvSpPr>
        <p:spPr>
          <a:xfrm>
            <a:off x="8327866" y="1802344"/>
            <a:ext cx="32083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223000" y="1736685"/>
            <a:ext cx="219630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التفسير</a:t>
            </a:r>
          </a:p>
        </p:txBody>
      </p:sp>
      <p:sp>
        <p:nvSpPr>
          <p:cNvPr id="12" name="Text 11"/>
          <p:cNvSpPr txBox="1"/>
          <p:nvPr/>
        </p:nvSpPr>
        <p:spPr>
          <a:xfrm>
            <a:off x="62230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ماذا يعني في الجهة</a:t>
            </a:r>
          </a:p>
        </p:txBody>
      </p:sp>
      <p:sp>
        <p:nvSpPr>
          <p:cNvPr id="13" name="Rule 12"/>
          <p:cNvSpPr/>
          <p:nvPr/>
        </p:nvSpPr>
        <p:spPr>
          <a:xfrm>
            <a:off x="3505200" y="1581745"/>
            <a:ext cx="2489200" cy="31750"/>
          </a:xfrm>
          <a:prstGeom prst="rect">
            <a:avLst/>
          </a:prstGeom>
          <a:solidFill>
            <a:srgbClr val="0E7C6B"/>
          </a:solidFill>
          <a:ln>
            <a:noFill/>
          </a:ln>
        </p:spPr>
        <p:txBody>
          <a:bodyPr rtlCol="0" anchor="ctr"/>
          <a:lstStyle/>
          <a:p>
            <a:pPr algn="ctr"/>
          </a:p>
        </p:txBody>
      </p:sp>
      <p:sp>
        <p:nvSpPr>
          <p:cNvPr id="14" name="Text 13"/>
          <p:cNvSpPr txBox="1"/>
          <p:nvPr/>
        </p:nvSpPr>
        <p:spPr>
          <a:xfrm>
            <a:off x="5624056" y="1802344"/>
            <a:ext cx="33224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30600" y="1736685"/>
            <a:ext cx="21848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المالك</a:t>
            </a:r>
          </a:p>
        </p:txBody>
      </p:sp>
      <p:sp>
        <p:nvSpPr>
          <p:cNvPr id="16" name="Text 15"/>
          <p:cNvSpPr txBox="1"/>
          <p:nvPr/>
        </p:nvSpPr>
        <p:spPr>
          <a:xfrm>
            <a:off x="35306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من يطبق الضابط</a:t>
            </a:r>
          </a:p>
        </p:txBody>
      </p:sp>
      <p:sp>
        <p:nvSpPr>
          <p:cNvPr id="17" name="Rule 16"/>
          <p:cNvSpPr/>
          <p:nvPr/>
        </p:nvSpPr>
        <p:spPr>
          <a:xfrm>
            <a:off x="812800" y="1581745"/>
            <a:ext cx="2489200" cy="31750"/>
          </a:xfrm>
          <a:prstGeom prst="rect">
            <a:avLst/>
          </a:prstGeom>
          <a:solidFill>
            <a:srgbClr val="0E7C6B"/>
          </a:solidFill>
          <a:ln>
            <a:noFill/>
          </a:ln>
        </p:spPr>
        <p:txBody>
          <a:bodyPr rtlCol="0" anchor="ctr"/>
          <a:lstStyle/>
          <a:p>
            <a:pPr algn="ctr"/>
          </a:p>
        </p:txBody>
      </p:sp>
      <p:sp>
        <p:nvSpPr>
          <p:cNvPr id="18" name="Text 17"/>
          <p:cNvSpPr txBox="1"/>
          <p:nvPr/>
        </p:nvSpPr>
        <p:spPr>
          <a:xfrm>
            <a:off x="2911515" y="1802344"/>
            <a:ext cx="35238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1736685"/>
            <a:ext cx="21647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الأدلة</a:t>
            </a:r>
          </a:p>
        </p:txBody>
      </p:sp>
      <p:sp>
        <p:nvSpPr>
          <p:cNvPr id="20" name="Text 19"/>
          <p:cNvSpPr txBox="1"/>
          <p:nvPr/>
        </p:nvSpPr>
        <p:spPr>
          <a:xfrm>
            <a:off x="8382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 طلبته وما وصل</a:t>
            </a:r>
          </a:p>
        </p:txBody>
      </p:sp>
      <p:sp>
        <p:nvSpPr>
          <p:cNvPr id="21" name="Rule 20"/>
          <p:cNvSpPr/>
          <p:nvPr/>
        </p:nvSpPr>
        <p:spPr>
          <a:xfrm>
            <a:off x="8890000" y="2997795"/>
            <a:ext cx="2489200" cy="31750"/>
          </a:xfrm>
          <a:prstGeom prst="rect">
            <a:avLst/>
          </a:prstGeom>
          <a:solidFill>
            <a:srgbClr val="0E7C6B"/>
          </a:solidFill>
          <a:ln>
            <a:noFill/>
          </a:ln>
        </p:spPr>
        <p:txBody>
          <a:bodyPr rtlCol="0" anchor="ctr"/>
          <a:lstStyle/>
          <a:p>
            <a:pPr algn="ctr"/>
          </a:p>
        </p:txBody>
      </p:sp>
      <p:sp>
        <p:nvSpPr>
          <p:cNvPr id="22" name="Text 21"/>
          <p:cNvSpPr txBox="1"/>
          <p:nvPr/>
        </p:nvSpPr>
        <p:spPr>
          <a:xfrm>
            <a:off x="11007169" y="3218394"/>
            <a:ext cx="33393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23" name="Text 22"/>
          <p:cNvSpPr txBox="1"/>
          <p:nvPr/>
        </p:nvSpPr>
        <p:spPr>
          <a:xfrm>
            <a:off x="8915400" y="3152735"/>
            <a:ext cx="218320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طريقة الفحص</a:t>
            </a:r>
          </a:p>
        </p:txBody>
      </p:sp>
      <p:sp>
        <p:nvSpPr>
          <p:cNvPr id="24" name="Text 23"/>
          <p:cNvSpPr txBox="1"/>
          <p:nvPr/>
        </p:nvSpPr>
        <p:spPr>
          <a:xfrm>
            <a:off x="89154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كيف اختبرت كل دليل</a:t>
            </a:r>
          </a:p>
        </p:txBody>
      </p:sp>
      <p:sp>
        <p:nvSpPr>
          <p:cNvPr id="25" name="Rule 24"/>
          <p:cNvSpPr/>
          <p:nvPr/>
        </p:nvSpPr>
        <p:spPr>
          <a:xfrm>
            <a:off x="6197600" y="2997795"/>
            <a:ext cx="2489200" cy="31750"/>
          </a:xfrm>
          <a:prstGeom prst="rect">
            <a:avLst/>
          </a:prstGeom>
          <a:solidFill>
            <a:srgbClr val="0E7C6B"/>
          </a:solidFill>
          <a:ln>
            <a:noFill/>
          </a:ln>
        </p:spPr>
        <p:txBody>
          <a:bodyPr rtlCol="0" anchor="ctr"/>
          <a:lstStyle/>
          <a:p>
            <a:pPr algn="ctr"/>
          </a:p>
        </p:txBody>
      </p:sp>
      <p:sp>
        <p:nvSpPr>
          <p:cNvPr id="26" name="Text 25"/>
          <p:cNvSpPr txBox="1"/>
          <p:nvPr/>
        </p:nvSpPr>
        <p:spPr>
          <a:xfrm>
            <a:off x="8319830" y="3218394"/>
            <a:ext cx="32887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6</a:t>
            </a:r>
          </a:p>
        </p:txBody>
      </p:sp>
      <p:sp>
        <p:nvSpPr>
          <p:cNvPr id="27" name="Text 26"/>
          <p:cNvSpPr txBox="1"/>
          <p:nvPr/>
        </p:nvSpPr>
        <p:spPr>
          <a:xfrm>
            <a:off x="6223000" y="3152735"/>
            <a:ext cx="218827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النتيجة</a:t>
            </a:r>
          </a:p>
        </p:txBody>
      </p:sp>
      <p:sp>
        <p:nvSpPr>
          <p:cNvPr id="28" name="Text 27"/>
          <p:cNvSpPr txBox="1"/>
          <p:nvPr/>
        </p:nvSpPr>
        <p:spPr>
          <a:xfrm>
            <a:off x="62230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من مقياس محدد</a:t>
            </a:r>
          </a:p>
        </p:txBody>
      </p:sp>
      <p:sp>
        <p:nvSpPr>
          <p:cNvPr id="29" name="Rule 28"/>
          <p:cNvSpPr/>
          <p:nvPr/>
        </p:nvSpPr>
        <p:spPr>
          <a:xfrm>
            <a:off x="3505200" y="2997795"/>
            <a:ext cx="2489200" cy="31750"/>
          </a:xfrm>
          <a:prstGeom prst="rect">
            <a:avLst/>
          </a:prstGeom>
          <a:solidFill>
            <a:srgbClr val="0E7C6B"/>
          </a:solidFill>
          <a:ln>
            <a:noFill/>
          </a:ln>
        </p:spPr>
        <p:txBody>
          <a:bodyPr rtlCol="0" anchor="ctr"/>
          <a:lstStyle/>
          <a:p>
            <a:pPr algn="ctr"/>
          </a:p>
        </p:txBody>
      </p:sp>
      <p:sp>
        <p:nvSpPr>
          <p:cNvPr id="30" name="Text 29"/>
          <p:cNvSpPr txBox="1"/>
          <p:nvPr/>
        </p:nvSpPr>
        <p:spPr>
          <a:xfrm>
            <a:off x="5633581" y="3218394"/>
            <a:ext cx="322719"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7</a:t>
            </a:r>
          </a:p>
        </p:txBody>
      </p:sp>
      <p:sp>
        <p:nvSpPr>
          <p:cNvPr id="31" name="Text 30"/>
          <p:cNvSpPr txBox="1"/>
          <p:nvPr/>
        </p:nvSpPr>
        <p:spPr>
          <a:xfrm>
            <a:off x="3530600" y="3152735"/>
            <a:ext cx="219442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الملاحظة</a:t>
            </a:r>
          </a:p>
        </p:txBody>
      </p:sp>
      <p:sp>
        <p:nvSpPr>
          <p:cNvPr id="32" name="Text 31"/>
          <p:cNvSpPr txBox="1"/>
          <p:nvPr/>
        </p:nvSpPr>
        <p:spPr>
          <a:xfrm>
            <a:off x="35306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إن وُجدت فجوة</a:t>
            </a:r>
          </a:p>
        </p:txBody>
      </p:sp>
      <p:sp>
        <p:nvSpPr>
          <p:cNvPr id="33" name="Rule 32"/>
          <p:cNvSpPr/>
          <p:nvPr/>
        </p:nvSpPr>
        <p:spPr>
          <a:xfrm>
            <a:off x="812800" y="2997795"/>
            <a:ext cx="2489200" cy="31750"/>
          </a:xfrm>
          <a:prstGeom prst="rect">
            <a:avLst/>
          </a:prstGeom>
          <a:solidFill>
            <a:srgbClr val="0E7C6B"/>
          </a:solidFill>
          <a:ln>
            <a:noFill/>
          </a:ln>
        </p:spPr>
        <p:txBody>
          <a:bodyPr rtlCol="0" anchor="ctr"/>
          <a:lstStyle/>
          <a:p>
            <a:pPr algn="ctr"/>
          </a:p>
        </p:txBody>
      </p:sp>
      <p:sp>
        <p:nvSpPr>
          <p:cNvPr id="34" name="Text 33"/>
          <p:cNvSpPr txBox="1"/>
          <p:nvPr/>
        </p:nvSpPr>
        <p:spPr>
          <a:xfrm>
            <a:off x="2929176" y="3218394"/>
            <a:ext cx="33472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8</a:t>
            </a:r>
          </a:p>
        </p:txBody>
      </p:sp>
      <p:sp>
        <p:nvSpPr>
          <p:cNvPr id="35" name="Text 34"/>
          <p:cNvSpPr txBox="1"/>
          <p:nvPr/>
        </p:nvSpPr>
        <p:spPr>
          <a:xfrm>
            <a:off x="838200" y="3152735"/>
            <a:ext cx="218241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خطة التصحيح</a:t>
            </a:r>
          </a:p>
        </p:txBody>
      </p:sp>
      <p:sp>
        <p:nvSpPr>
          <p:cNvPr id="36" name="Text 35"/>
          <p:cNvSpPr txBox="1"/>
          <p:nvPr/>
        </p:nvSpPr>
        <p:spPr>
          <a:xfrm>
            <a:off x="8382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إجراء، ومالك، وموعد</a:t>
            </a:r>
          </a:p>
        </p:txBody>
      </p:sp>
      <p:sp>
        <p:nvSpPr>
          <p:cNvPr id="37" name="Box 36"/>
          <p:cNvSpPr/>
          <p:nvPr/>
        </p:nvSpPr>
        <p:spPr>
          <a:xfrm>
            <a:off x="812800" y="4413845"/>
            <a:ext cx="10566400" cy="609600"/>
          </a:xfrm>
          <a:prstGeom prst="roundRect">
            <a:avLst>
              <a:gd name="adj" fmla="val 16666"/>
            </a:avLst>
          </a:prstGeom>
          <a:solidFill>
            <a:srgbClr val="E3F1ED"/>
          </a:solidFill>
          <a:ln>
            <a:noFill/>
          </a:ln>
        </p:spPr>
        <p:txBody>
          <a:bodyPr rtlCol="0" anchor="ctr"/>
          <a:lstStyle/>
          <a:p>
            <a:pPr algn="ctr"/>
          </a:p>
        </p:txBody>
      </p:sp>
      <p:pic>
        <p:nvPicPr>
          <p:cNvPr id="38" name="Icon Tool 37" descr="icon051.png"/>
          <p:cNvPicPr>
            <a:picLocks noChangeAspect="1"/>
          </p:cNvPicPr>
          <p:nvPr/>
        </p:nvPicPr>
        <p:blipFill>
          <a:blip r:embed="rId2"/>
          <a:stretch>
            <a:fillRect/>
          </a:stretch>
        </p:blipFill>
        <p:spPr>
          <a:xfrm>
            <a:off x="10922000" y="4578945"/>
            <a:ext cx="279400" cy="279400"/>
          </a:xfrm>
          <a:prstGeom prst="rect">
            <a:avLst/>
          </a:prstGeom>
        </p:spPr>
      </p:pic>
      <p:sp>
        <p:nvSpPr>
          <p:cNvPr id="39" name="Text 38"/>
          <p:cNvSpPr txBox="1"/>
          <p:nvPr/>
        </p:nvSpPr>
        <p:spPr>
          <a:xfrm>
            <a:off x="838200" y="45014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مثال التطبيق 3 نعبئ هذه العناصر لضابط من رُفاد، ثم تعبئها أنت لضابط آخر.</a:t>
            </a:r>
          </a:p>
        </p:txBody>
      </p:sp>
      <p:sp>
        <p:nvSpPr>
          <p:cNvPr id="40" name="Text 3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41" name="Text 4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مقياس نتيجة التقييم</a:t>
            </a:r>
          </a:p>
        </p:txBody>
      </p:sp>
      <p:graphicFrame>
        <p:nvGraphicFramePr>
          <p:cNvPr id="5" name="Table 4"/>
          <p:cNvGraphicFramePr>
            <a:graphicFrameLocks noGrp="1"/>
          </p:cNvGraphicFramePr>
          <p:nvPr/>
        </p:nvGraphicFramePr>
        <p:xfrm>
          <a:off x="815975" y="1623020"/>
          <a:ext cx="10560050" cy="2635250"/>
        </p:xfrm>
        <a:graphic>
          <a:graphicData uri="http://schemas.openxmlformats.org/drawingml/2006/table">
            <a:tbl>
              <a:tblPr firstRow="0" bandRow="0" lastRow="0" firstCol="0" lastCol="0" bandCol="0">
                <a:tableStyleId>{2D5ABB26-0587-4C30-8999-92F81FD0307C}</a:tableStyleId>
              </a:tblPr>
              <a:tblGrid>
                <a:gridCol w="7814310"/>
                <a:gridCol w="274574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المعنى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النتيجة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المتطلب موثق ومطبق، ويعمل باستمرار طوال فترة التقييم.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جزء من المتطلب مطبق، أو طُبق في جزء من الفترة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مطبق جزئياً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دليل على التطبيق، أو الأدلة تنفي التطبيق.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غير مطبق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المتطلب خارج النطاق، بمبرر موثق.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لا ينطبق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769445"/>
            <a:ext cx="10566400" cy="609600"/>
          </a:xfrm>
          <a:prstGeom prst="roundRect">
            <a:avLst>
              <a:gd name="adj" fmla="val 16666"/>
            </a:avLst>
          </a:prstGeom>
          <a:solidFill>
            <a:srgbClr val="F6ECDA"/>
          </a:solidFill>
          <a:ln>
            <a:noFill/>
          </a:ln>
        </p:spPr>
        <p:txBody>
          <a:bodyPr rtlCol="0" anchor="ctr"/>
          <a:lstStyle/>
          <a:p>
            <a:pPr algn="ctr"/>
          </a:p>
        </p:txBody>
      </p:sp>
      <p:pic>
        <p:nvPicPr>
          <p:cNvPr id="7" name="Icon Warning 6" descr="icon052.png"/>
          <p:cNvPicPr>
            <a:picLocks noChangeAspect="1"/>
          </p:cNvPicPr>
          <p:nvPr/>
        </p:nvPicPr>
        <p:blipFill>
          <a:blip r:embed="rId2"/>
          <a:stretch>
            <a:fillRect/>
          </a:stretch>
        </p:blipFill>
        <p:spPr>
          <a:xfrm>
            <a:off x="10922000" y="4934545"/>
            <a:ext cx="279400" cy="279400"/>
          </a:xfrm>
          <a:prstGeom prst="rect">
            <a:avLst/>
          </a:prstGeom>
        </p:spPr>
      </p:pic>
      <p:sp>
        <p:nvSpPr>
          <p:cNvPr id="8" name="Text 7"/>
          <p:cNvSpPr txBox="1"/>
          <p:nvPr/>
        </p:nvSpPr>
        <p:spPr>
          <a:xfrm>
            <a:off x="838200" y="48570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المقاييس تختلف بين الجهات والجهات المنظمة. استخدم دائماً مقياس الجهة التي تقيّمها.</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والنطاق والفترة</a:t>
            </a:r>
          </a:p>
        </p:txBody>
      </p:sp>
      <p:sp>
        <p:nvSpPr>
          <p:cNvPr id="7" name="Text 6"/>
          <p:cNvSpPr txBox="1"/>
          <p:nvPr/>
        </p:nvSpPr>
        <p:spPr>
          <a:xfrm>
            <a:off x="9575800" y="16185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المتطلب</a:t>
            </a:r>
          </a:p>
        </p:txBody>
      </p:sp>
      <p:sp>
        <p:nvSpPr>
          <p:cNvPr id="8" name="Text 7"/>
          <p:cNvSpPr txBox="1"/>
          <p:nvPr/>
        </p:nvSpPr>
        <p:spPr>
          <a:xfrm>
            <a:off x="108712" y="1618575"/>
            <a:ext cx="9505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ECC 2-⁠2-⁠3-⁠2: التحقق متعدد العوامل للدخول عن بعد وللحسابات ذات الصلاحيات الهامة.</a:t>
            </a:r>
          </a:p>
        </p:txBody>
      </p:sp>
      <p:sp>
        <p:nvSpPr>
          <p:cNvPr id="9" name="Text 8"/>
          <p:cNvSpPr txBox="1"/>
          <p:nvPr/>
        </p:nvSpPr>
        <p:spPr>
          <a:xfrm>
            <a:off x="9575800" y="20884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548767" y="2088475"/>
            <a:ext cx="906513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دخول الموظفين عن بعد عبر الشبكة الافتراضية VPN. الفترة:‏ 1 يناير إلى 30 يونيو 2026. الحسابات ذات الصلاحيات الهامة تُقيّم منفصلة.</a:t>
            </a:r>
          </a:p>
        </p:txBody>
      </p:sp>
      <p:sp>
        <p:nvSpPr>
          <p:cNvPr id="11" name="Text 10"/>
          <p:cNvSpPr txBox="1"/>
          <p:nvPr/>
        </p:nvSpPr>
        <p:spPr>
          <a:xfrm>
            <a:off x="9575800" y="29139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المالك</a:t>
            </a:r>
          </a:p>
        </p:txBody>
      </p:sp>
      <p:sp>
        <p:nvSpPr>
          <p:cNvPr id="12" name="Text 11"/>
          <p:cNvSpPr txBox="1"/>
          <p:nvPr/>
        </p:nvSpPr>
        <p:spPr>
          <a:xfrm>
            <a:off x="108712" y="2913975"/>
            <a:ext cx="9505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مدير تقنية المعلومات</a:t>
            </a:r>
          </a:p>
        </p:txBody>
      </p:sp>
      <p:sp>
        <p:nvSpPr>
          <p:cNvPr id="13" name="Text 12"/>
          <p:cNvSpPr txBox="1"/>
          <p:nvPr/>
        </p:nvSpPr>
        <p:spPr>
          <a:xfrm>
            <a:off x="0" y="3475442"/>
            <a:ext cx="11379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فترة التقييم</a:t>
            </a:r>
          </a:p>
        </p:txBody>
      </p:sp>
      <p:sp>
        <p:nvSpPr>
          <p:cNvPr id="14" name="Box 13"/>
          <p:cNvSpPr/>
          <p:nvPr/>
        </p:nvSpPr>
        <p:spPr>
          <a:xfrm>
            <a:off x="8394700" y="3860105"/>
            <a:ext cx="2984500" cy="548481"/>
          </a:xfrm>
          <a:prstGeom prst="roundRect">
            <a:avLst>
              <a:gd name="adj" fmla="val 6946"/>
            </a:avLst>
          </a:prstGeom>
          <a:solidFill>
            <a:srgbClr val="C27A16"/>
          </a:solidFill>
          <a:ln>
            <a:noFill/>
          </a:ln>
        </p:spPr>
        <p:txBody>
          <a:bodyPr rtlCol="0" anchor="ctr"/>
          <a:lstStyle/>
          <a:p>
            <a:pPr algn="ctr"/>
          </a:p>
        </p:txBody>
      </p:sp>
      <p:sp>
        <p:nvSpPr>
          <p:cNvPr id="15" name="Text 14"/>
          <p:cNvSpPr txBox="1"/>
          <p:nvPr/>
        </p:nvSpPr>
        <p:spPr>
          <a:xfrm>
            <a:off x="8394700" y="3912302"/>
            <a:ext cx="2984500" cy="297160"/>
          </a:xfrm>
          <a:prstGeom prst="rect">
            <a:avLst/>
          </a:prstGeom>
          <a:noFill/>
        </p:spPr>
        <p:txBody>
          <a:bodyPr wrap="square" tIns="0" rIns="0" bIns="0" lIns="0" anchor="t" rtlCol="0" anchorCtr="0">
            <a:noAutofit/>
          </a:bodyPr>
          <a:lstStyle/>
          <a:p>
            <a:pPr algn="ctr" rtl="1">
              <a:lnSpc>
                <a:spcPts val="2340"/>
              </a:lnSpc>
              <a:spcBef>
                <a:spcPts val="0"/>
              </a:spcBef>
              <a:spcAft>
                <a:spcPts val="0"/>
              </a:spcAft>
            </a:pPr>
            <a:r>
              <a:rPr sz="1800" b="1" i="0">
                <a:solidFill>
                  <a:srgbClr val="FFFFFF"/>
                </a:solidFill>
                <a:latin typeface="IBM Plex Sans Arabic"/>
                <a:ea typeface="IBM Plex Sans Arabic"/>
                <a:cs typeface="IBM Plex Sans Arabic"/>
              </a:rPr>
              <a:t>بلا إلزام</a:t>
            </a:r>
          </a:p>
        </p:txBody>
      </p:sp>
      <p:sp>
        <p:nvSpPr>
          <p:cNvPr id="16" name="Box 15"/>
          <p:cNvSpPr/>
          <p:nvPr/>
        </p:nvSpPr>
        <p:spPr>
          <a:xfrm>
            <a:off x="3378200" y="3860105"/>
            <a:ext cx="5016500" cy="548481"/>
          </a:xfrm>
          <a:prstGeom prst="roundRect">
            <a:avLst>
              <a:gd name="adj" fmla="val 6946"/>
            </a:avLst>
          </a:prstGeom>
          <a:solidFill>
            <a:srgbClr val="0E7C6B"/>
          </a:solidFill>
          <a:ln>
            <a:noFill/>
          </a:ln>
        </p:spPr>
        <p:txBody>
          <a:bodyPr rtlCol="0" anchor="ctr"/>
          <a:lstStyle/>
          <a:p>
            <a:pPr algn="ctr"/>
          </a:p>
        </p:txBody>
      </p:sp>
      <p:sp>
        <p:nvSpPr>
          <p:cNvPr id="17" name="Text 16"/>
          <p:cNvSpPr txBox="1"/>
          <p:nvPr/>
        </p:nvSpPr>
        <p:spPr>
          <a:xfrm>
            <a:off x="3378200" y="3912302"/>
            <a:ext cx="5016500" cy="297160"/>
          </a:xfrm>
          <a:prstGeom prst="rect">
            <a:avLst/>
          </a:prstGeom>
          <a:noFill/>
        </p:spPr>
        <p:txBody>
          <a:bodyPr wrap="square" tIns="0" rIns="0" bIns="0" lIns="0" anchor="t" rtlCol="0" anchorCtr="0">
            <a:noAutofit/>
          </a:bodyPr>
          <a:lstStyle/>
          <a:p>
            <a:pPr algn="ctr" rtl="1">
              <a:lnSpc>
                <a:spcPts val="2340"/>
              </a:lnSpc>
              <a:spcBef>
                <a:spcPts val="0"/>
              </a:spcBef>
              <a:spcAft>
                <a:spcPts val="0"/>
              </a:spcAft>
            </a:pPr>
            <a:r>
              <a:rPr sz="1800" b="1" i="0">
                <a:solidFill>
                  <a:srgbClr val="FFFFFF"/>
                </a:solidFill>
                <a:latin typeface="IBM Plex Sans Arabic"/>
                <a:ea typeface="IBM Plex Sans Arabic"/>
                <a:cs typeface="IBM Plex Sans Arabic"/>
              </a:rPr>
              <a:t>الإلزام مفعّل لمجموعة VPN-⁠Users</a:t>
            </a:r>
          </a:p>
        </p:txBody>
      </p:sp>
      <p:sp>
        <p:nvSpPr>
          <p:cNvPr id="18" name="Text 17"/>
          <p:cNvSpPr txBox="1"/>
          <p:nvPr/>
        </p:nvSpPr>
        <p:spPr>
          <a:xfrm>
            <a:off x="883920" y="3833689"/>
            <a:ext cx="235458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لقطة الإعداد د2:‏ 5 يوليو، بعد نهاية الفترة</a:t>
            </a:r>
          </a:p>
        </p:txBody>
      </p:sp>
      <p:sp>
        <p:nvSpPr>
          <p:cNvPr id="19" name="Text 18"/>
          <p:cNvSpPr txBox="1"/>
          <p:nvPr/>
        </p:nvSpPr>
        <p:spPr>
          <a:xfrm>
            <a:off x="8155940" y="4450751"/>
            <a:ext cx="32232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4E5A66"/>
                </a:solidFill>
                <a:latin typeface="IBM Plex Sans Arabic"/>
                <a:ea typeface="IBM Plex Sans Arabic"/>
                <a:cs typeface="IBM Plex Sans Arabic"/>
              </a:rPr>
              <a:t>1 يناير 2026</a:t>
            </a:r>
          </a:p>
        </p:txBody>
      </p:sp>
      <p:sp>
        <p:nvSpPr>
          <p:cNvPr id="20" name="Text 19"/>
          <p:cNvSpPr txBox="1"/>
          <p:nvPr/>
        </p:nvSpPr>
        <p:spPr>
          <a:xfrm>
            <a:off x="7524274" y="4450751"/>
            <a:ext cx="87042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10 مارس</a:t>
            </a:r>
          </a:p>
        </p:txBody>
      </p:sp>
      <p:sp>
        <p:nvSpPr>
          <p:cNvPr id="21" name="Text 20"/>
          <p:cNvSpPr txBox="1"/>
          <p:nvPr/>
        </p:nvSpPr>
        <p:spPr>
          <a:xfrm>
            <a:off x="3256280" y="4450751"/>
            <a:ext cx="129825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4E5A66"/>
                </a:solidFill>
                <a:latin typeface="IBM Plex Sans Arabic"/>
                <a:ea typeface="IBM Plex Sans Arabic"/>
                <a:cs typeface="IBM Plex Sans Arabic"/>
              </a:rPr>
              <a:t>30 يونيو 2026</a:t>
            </a:r>
          </a:p>
        </p:txBody>
      </p:sp>
      <p:sp>
        <p:nvSpPr>
          <p:cNvPr id="22" name="Box 21"/>
          <p:cNvSpPr/>
          <p:nvPr/>
        </p:nvSpPr>
        <p:spPr>
          <a:xfrm>
            <a:off x="812800" y="4926707"/>
            <a:ext cx="10566400" cy="609600"/>
          </a:xfrm>
          <a:prstGeom prst="roundRect">
            <a:avLst>
              <a:gd name="adj" fmla="val 16666"/>
            </a:avLst>
          </a:prstGeom>
          <a:solidFill>
            <a:srgbClr val="E3F1ED"/>
          </a:solidFill>
          <a:ln>
            <a:noFill/>
          </a:ln>
        </p:spPr>
        <p:txBody>
          <a:bodyPr rtlCol="0" anchor="ctr"/>
          <a:lstStyle/>
          <a:p>
            <a:pPr algn="ctr"/>
          </a:p>
        </p:txBody>
      </p:sp>
      <p:pic>
        <p:nvPicPr>
          <p:cNvPr id="23" name="Icon Lightbulb 22" descr="icon053.png"/>
          <p:cNvPicPr>
            <a:picLocks noChangeAspect="1"/>
          </p:cNvPicPr>
          <p:nvPr/>
        </p:nvPicPr>
        <p:blipFill>
          <a:blip r:embed="rId2"/>
          <a:stretch>
            <a:fillRect/>
          </a:stretch>
        </p:blipFill>
        <p:spPr>
          <a:xfrm>
            <a:off x="10941050" y="5101332"/>
            <a:ext cx="260350" cy="260350"/>
          </a:xfrm>
          <a:prstGeom prst="rect">
            <a:avLst/>
          </a:prstGeom>
        </p:spPr>
      </p:pic>
      <p:sp>
        <p:nvSpPr>
          <p:cNvPr id="24" name="Text 23"/>
          <p:cNvSpPr txBox="1"/>
          <p:nvPr/>
        </p:nvSpPr>
        <p:spPr>
          <a:xfrm>
            <a:off x="838200" y="5014337"/>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حددنا النطاق والفترة قبل طلب أي دليل. أي دليل خارج الفترة يحتاج دليلاً يغطيها.</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الأدلة المستلمة</a:t>
            </a:r>
          </a:p>
        </p:txBody>
      </p:sp>
      <p:graphicFrame>
        <p:nvGraphicFramePr>
          <p:cNvPr id="7" name="Table 6"/>
          <p:cNvGraphicFramePr>
            <a:graphicFrameLocks noGrp="1"/>
          </p:cNvGraphicFramePr>
          <p:nvPr/>
        </p:nvGraphicFramePr>
        <p:xfrm>
          <a:off x="815975" y="1623020"/>
          <a:ext cx="10560050" cy="3507184"/>
        </p:xfrm>
        <a:graphic>
          <a:graphicData uri="http://schemas.openxmlformats.org/drawingml/2006/table">
            <a:tbl>
              <a:tblPr firstRow="0" bandRow="0" lastRow="0" firstCol="0" lastCol="0" bandCol="0">
                <a:tableStyleId>{2D5ABB26-0587-4C30-8999-92F81FD0307C}</a:tableStyleId>
              </a:tblPr>
              <a:tblGrid>
                <a:gridCol w="9504045"/>
                <a:gridCol w="105600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وصل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معيار الوصول عن بعد، معتمد فبراير 2026: التحقق متعدد العوامل إلزامي لكل مستخدمي VPN.</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لقطة إعداد من بوابة VPN بتاريخ 5 يوليو 2026: التحقق إلزامي لمجموعة «VPN-⁠Users».</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سجل تغييرات الإعداد: فُعّل الإلزام لمجموعة «VPN-⁠Users» في 10 مارس 2026، وفي اليوم نفسه أُنشئت سياسة «VPN-⁠Legacy» بكلمة المرور فقط لثلاثة حسابات.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قائمتان بالمعرّفات: أعضاء «VPN-⁠Users» (38 حساباً)، والحسابات التي اتصلت خلال الفترة (41 حساباً).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عينة 25 اتصالاً بعد 10 مارس:‏ 23 بعامل ثانٍ، و2 بكلمة المرور فقط، كلاهما من حساب «test».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مستخرج من سجل الاتصالات لكل اتصالات الحسابات الثلاثة خارج المجموعة بعد 10 مارس:‏ 29 اتصالاً، كلها بكلمة المرور فقط.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254284"/>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قبل أن تنتقل: ماذا يثبت كل دليل؟ وهل تكفي لقطة 5 يوليو؟</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د2: لقطة إعداد التحقق</a:t>
            </a:r>
          </a:p>
        </p:txBody>
      </p:sp>
      <p:sp>
        <p:nvSpPr>
          <p:cNvPr id="7" name="Box 6"/>
          <p:cNvSpPr/>
          <p:nvPr/>
        </p:nvSpPr>
        <p:spPr>
          <a:xfrm>
            <a:off x="4879975" y="1661120"/>
            <a:ext cx="6496050" cy="3331865"/>
          </a:xfrm>
          <a:prstGeom prst="roundRect">
            <a:avLst>
              <a:gd name="adj" fmla="val 1902"/>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2B3A4A"/>
          </a:solidFill>
          <a:ln>
            <a:noFill/>
          </a:ln>
        </p:spPr>
        <p:txBody>
          <a:bodyPr rtlCol="0" anchor="ctr"/>
          <a:lstStyle/>
          <a:p>
            <a:pPr algn="ctr"/>
          </a:p>
        </p:txBody>
      </p:sp>
      <p:sp>
        <p:nvSpPr>
          <p:cNvPr id="9" name="Text 8"/>
          <p:cNvSpPr txBox="1"/>
          <p:nvPr/>
        </p:nvSpPr>
        <p:spPr>
          <a:xfrm>
            <a:off x="9870178" y="1724493"/>
            <a:ext cx="1375672"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FFFFFF"/>
                </a:solidFill>
                <a:latin typeface="IBM Plex Sans Arabic"/>
                <a:ea typeface="IBM Plex Sans Arabic"/>
                <a:cs typeface="IBM Plex Sans Arabic"/>
              </a:rPr>
              <a:t>بوابة الوصول عن بعد</a:t>
            </a:r>
          </a:p>
        </p:txBody>
      </p:sp>
      <p:sp>
        <p:nvSpPr>
          <p:cNvPr id="10" name="Text 9"/>
          <p:cNvSpPr txBox="1"/>
          <p:nvPr/>
        </p:nvSpPr>
        <p:spPr>
          <a:xfrm>
            <a:off x="4908550" y="1724493"/>
            <a:ext cx="18433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C9D3DC"/>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902200" y="2142879"/>
            <a:ext cx="628015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172433"/>
                </a:solidFill>
                <a:latin typeface="Readex Pro"/>
                <a:ea typeface="Readex Pro"/>
                <a:cs typeface="Readex Pro"/>
              </a:rPr>
              <a:t>سياسات التحقق · VPN-⁠Users-⁠MFA</a:t>
            </a:r>
          </a:p>
        </p:txBody>
      </p:sp>
      <p:sp>
        <p:nvSpPr>
          <p:cNvPr id="12" name="Rule 11"/>
          <p:cNvSpPr/>
          <p:nvPr/>
        </p:nvSpPr>
        <p:spPr>
          <a:xfrm>
            <a:off x="5073650" y="2824857"/>
            <a:ext cx="6108700" cy="6350"/>
          </a:xfrm>
          <a:prstGeom prst="rect">
            <a:avLst/>
          </a:prstGeom>
          <a:solidFill>
            <a:srgbClr val="E6E2D8"/>
          </a:solidFill>
          <a:ln>
            <a:noFill/>
          </a:ln>
        </p:spPr>
        <p:txBody>
          <a:bodyPr rtlCol="0" anchor="ctr"/>
          <a:lstStyle/>
          <a:p>
            <a:pPr algn="ctr"/>
          </a:p>
        </p:txBody>
      </p:sp>
      <p:sp>
        <p:nvSpPr>
          <p:cNvPr id="13" name="Text 12"/>
          <p:cNvSpPr txBox="1"/>
          <p:nvPr/>
        </p:nvSpPr>
        <p:spPr>
          <a:xfrm>
            <a:off x="9536430" y="246070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اسم السياسة</a:t>
            </a:r>
          </a:p>
        </p:txBody>
      </p:sp>
      <p:sp>
        <p:nvSpPr>
          <p:cNvPr id="14" name="Text 13"/>
          <p:cNvSpPr txBox="1"/>
          <p:nvPr/>
        </p:nvSpPr>
        <p:spPr>
          <a:xfrm>
            <a:off x="5073650" y="2460700"/>
            <a:ext cx="44831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VPN-Users-MFA</a:t>
            </a:r>
          </a:p>
        </p:txBody>
      </p:sp>
      <p:sp>
        <p:nvSpPr>
          <p:cNvPr id="15" name="Rule 14"/>
          <p:cNvSpPr/>
          <p:nvPr/>
        </p:nvSpPr>
        <p:spPr>
          <a:xfrm>
            <a:off x="5073650" y="3270548"/>
            <a:ext cx="6108700" cy="6350"/>
          </a:xfrm>
          <a:prstGeom prst="rect">
            <a:avLst/>
          </a:prstGeom>
          <a:solidFill>
            <a:srgbClr val="E6E2D8"/>
          </a:solidFill>
          <a:ln>
            <a:noFill/>
          </a:ln>
        </p:spPr>
        <p:txBody>
          <a:bodyPr rtlCol="0" anchor="ctr"/>
          <a:lstStyle/>
          <a:p>
            <a:pPr algn="ctr"/>
          </a:p>
        </p:txBody>
      </p:sp>
      <p:sp>
        <p:nvSpPr>
          <p:cNvPr id="16" name="Text 15"/>
          <p:cNvSpPr txBox="1"/>
          <p:nvPr/>
        </p:nvSpPr>
        <p:spPr>
          <a:xfrm>
            <a:off x="9536430" y="290639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المجموعة</a:t>
            </a:r>
          </a:p>
        </p:txBody>
      </p:sp>
      <p:sp>
        <p:nvSpPr>
          <p:cNvPr id="17" name="Text 16"/>
          <p:cNvSpPr txBox="1"/>
          <p:nvPr/>
        </p:nvSpPr>
        <p:spPr>
          <a:xfrm>
            <a:off x="5073650" y="2906391"/>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VPN-⁠Users · 38 عضواً</a:t>
            </a:r>
          </a:p>
        </p:txBody>
      </p:sp>
      <p:sp>
        <p:nvSpPr>
          <p:cNvPr id="18" name="Rule 17"/>
          <p:cNvSpPr/>
          <p:nvPr/>
        </p:nvSpPr>
        <p:spPr>
          <a:xfrm>
            <a:off x="5073650" y="3716238"/>
            <a:ext cx="6108700" cy="6350"/>
          </a:xfrm>
          <a:prstGeom prst="rect">
            <a:avLst/>
          </a:prstGeom>
          <a:solidFill>
            <a:srgbClr val="E6E2D8"/>
          </a:solidFill>
          <a:ln>
            <a:noFill/>
          </a:ln>
        </p:spPr>
        <p:txBody>
          <a:bodyPr rtlCol="0" anchor="ctr"/>
          <a:lstStyle/>
          <a:p>
            <a:pPr algn="ctr"/>
          </a:p>
        </p:txBody>
      </p:sp>
      <p:sp>
        <p:nvSpPr>
          <p:cNvPr id="19" name="Text 18"/>
          <p:cNvSpPr txBox="1"/>
          <p:nvPr/>
        </p:nvSpPr>
        <p:spPr>
          <a:xfrm>
            <a:off x="9536430" y="3352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طريقة التحقق</a:t>
            </a:r>
          </a:p>
        </p:txBody>
      </p:sp>
      <p:sp>
        <p:nvSpPr>
          <p:cNvPr id="20" name="Text 19"/>
          <p:cNvSpPr txBox="1"/>
          <p:nvPr/>
        </p:nvSpPr>
        <p:spPr>
          <a:xfrm>
            <a:off x="5073650" y="3352082"/>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 من تطبيق التحقق</a:t>
            </a:r>
          </a:p>
        </p:txBody>
      </p:sp>
      <p:sp>
        <p:nvSpPr>
          <p:cNvPr id="21" name="Rule 20"/>
          <p:cNvSpPr/>
          <p:nvPr/>
        </p:nvSpPr>
        <p:spPr>
          <a:xfrm>
            <a:off x="5073650" y="4161929"/>
            <a:ext cx="6108700" cy="6350"/>
          </a:xfrm>
          <a:prstGeom prst="rect">
            <a:avLst/>
          </a:prstGeom>
          <a:solidFill>
            <a:srgbClr val="E6E2D8"/>
          </a:solidFill>
          <a:ln>
            <a:noFill/>
          </a:ln>
        </p:spPr>
        <p:txBody>
          <a:bodyPr rtlCol="0" anchor="ctr"/>
          <a:lstStyle/>
          <a:p>
            <a:pPr algn="ctr"/>
          </a:p>
        </p:txBody>
      </p:sp>
      <p:sp>
        <p:nvSpPr>
          <p:cNvPr id="22" name="Text 21"/>
          <p:cNvSpPr txBox="1"/>
          <p:nvPr/>
        </p:nvSpPr>
        <p:spPr>
          <a:xfrm>
            <a:off x="9536430" y="379777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الحالة</a:t>
            </a:r>
          </a:p>
        </p:txBody>
      </p:sp>
      <p:sp>
        <p:nvSpPr>
          <p:cNvPr id="23" name="Box 22"/>
          <p:cNvSpPr/>
          <p:nvPr/>
        </p:nvSpPr>
        <p:spPr>
          <a:xfrm>
            <a:off x="9150350" y="3853359"/>
            <a:ext cx="406400" cy="215900"/>
          </a:xfrm>
          <a:prstGeom prst="roundRect">
            <a:avLst>
              <a:gd name="adj" fmla="val 50000"/>
            </a:avLst>
          </a:prstGeom>
          <a:solidFill>
            <a:srgbClr val="0E7C6B"/>
          </a:solidFill>
          <a:ln>
            <a:noFill/>
          </a:ln>
        </p:spPr>
        <p:txBody>
          <a:bodyPr rtlCol="0" anchor="ctr"/>
          <a:lstStyle/>
          <a:p>
            <a:pPr algn="ctr"/>
          </a:p>
        </p:txBody>
      </p:sp>
      <p:sp>
        <p:nvSpPr>
          <p:cNvPr id="24" name="Box 23"/>
          <p:cNvSpPr/>
          <p:nvPr/>
        </p:nvSpPr>
        <p:spPr>
          <a:xfrm>
            <a:off x="9366250" y="3878759"/>
            <a:ext cx="165100" cy="165100"/>
          </a:xfrm>
          <a:prstGeom prst="roundRect">
            <a:avLst>
              <a:gd name="adj" fmla="val 50000"/>
            </a:avLst>
          </a:prstGeom>
          <a:solidFill>
            <a:srgbClr val="FFFFFF"/>
          </a:solidFill>
          <a:ln>
            <a:noFill/>
          </a:ln>
        </p:spPr>
        <p:txBody>
          <a:bodyPr rtlCol="0" anchor="ctr"/>
          <a:lstStyle/>
          <a:p>
            <a:pPr algn="ctr"/>
          </a:p>
        </p:txBody>
      </p:sp>
      <p:sp>
        <p:nvSpPr>
          <p:cNvPr id="25" name="Text 24"/>
          <p:cNvSpPr txBox="1"/>
          <p:nvPr/>
        </p:nvSpPr>
        <p:spPr>
          <a:xfrm>
            <a:off x="8493839" y="3797772"/>
            <a:ext cx="567611"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مفعّلة</a:t>
            </a:r>
          </a:p>
        </p:txBody>
      </p:sp>
      <p:sp>
        <p:nvSpPr>
          <p:cNvPr id="26" name="Rule 25"/>
          <p:cNvSpPr/>
          <p:nvPr/>
        </p:nvSpPr>
        <p:spPr>
          <a:xfrm>
            <a:off x="5073650" y="4607620"/>
            <a:ext cx="6108700" cy="6350"/>
          </a:xfrm>
          <a:prstGeom prst="rect">
            <a:avLst/>
          </a:prstGeom>
          <a:solidFill>
            <a:srgbClr val="E6E2D8"/>
          </a:solidFill>
          <a:ln>
            <a:noFill/>
          </a:ln>
        </p:spPr>
        <p:txBody>
          <a:bodyPr rtlCol="0" anchor="ctr"/>
          <a:lstStyle/>
          <a:p>
            <a:pPr algn="ctr"/>
          </a:p>
        </p:txBody>
      </p:sp>
      <p:sp>
        <p:nvSpPr>
          <p:cNvPr id="27" name="Text 26"/>
          <p:cNvSpPr txBox="1"/>
          <p:nvPr/>
        </p:nvSpPr>
        <p:spPr>
          <a:xfrm>
            <a:off x="9536430" y="424346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آخر تعديل</a:t>
            </a:r>
          </a:p>
        </p:txBody>
      </p:sp>
      <p:sp>
        <p:nvSpPr>
          <p:cNvPr id="28" name="Text 27"/>
          <p:cNvSpPr txBox="1"/>
          <p:nvPr/>
        </p:nvSpPr>
        <p:spPr>
          <a:xfrm>
            <a:off x="5073650" y="4243463"/>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 مارس 2026</a:t>
            </a:r>
          </a:p>
        </p:txBody>
      </p:sp>
      <p:sp>
        <p:nvSpPr>
          <p:cNvPr id="29" name="Text 28"/>
          <p:cNvSpPr txBox="1"/>
          <p:nvPr/>
        </p:nvSpPr>
        <p:spPr>
          <a:xfrm>
            <a:off x="4902200" y="4636068"/>
            <a:ext cx="62801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تاريخ اللقطة:‏ 5 يوليو 2026</a:t>
            </a:r>
          </a:p>
        </p:txBody>
      </p:sp>
      <p:sp>
        <p:nvSpPr>
          <p:cNvPr id="30" name="Rule 2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31" name="Icon Search 30" descr="icon054.png"/>
          <p:cNvPicPr>
            <a:picLocks noChangeAspect="1"/>
          </p:cNvPicPr>
          <p:nvPr/>
        </p:nvPicPr>
        <p:blipFill>
          <a:blip r:embed="rId2"/>
          <a:stretch>
            <a:fillRect/>
          </a:stretch>
        </p:blipFill>
        <p:spPr>
          <a:xfrm>
            <a:off x="4406900" y="1682055"/>
            <a:ext cx="215900" cy="215900"/>
          </a:xfrm>
          <a:prstGeom prst="rect">
            <a:avLst/>
          </a:prstGeom>
        </p:spPr>
      </p:pic>
      <p:sp>
        <p:nvSpPr>
          <p:cNvPr id="32" name="Text 3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سياسة MFA مفعّلة لمجموعة VPN-⁠Users (38 عضواً)، في لقطة 5 يوليو.</a:t>
            </a:r>
          </a:p>
        </p:txBody>
      </p:sp>
      <p:sp>
        <p:nvSpPr>
          <p:cNvPr id="34" name="Rule 33"/>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35" name="Icon CheckCircle 34" descr="icon055.png"/>
          <p:cNvPicPr>
            <a:picLocks noChangeAspect="1"/>
          </p:cNvPicPr>
          <p:nvPr/>
        </p:nvPicPr>
        <p:blipFill>
          <a:blip r:embed="rId3"/>
          <a:stretch>
            <a:fillRect/>
          </a:stretch>
        </p:blipFill>
        <p:spPr>
          <a:xfrm>
            <a:off x="4406900" y="2699246"/>
            <a:ext cx="215900" cy="215900"/>
          </a:xfrm>
          <a:prstGeom prst="rect">
            <a:avLst/>
          </a:prstGeom>
        </p:spPr>
      </p:pic>
      <p:sp>
        <p:nvSpPr>
          <p:cNvPr id="36" name="Text 3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37" name="Text 36"/>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الإلزام مضبوط لهذه المجموعة يوم اللقطة فقط.</a:t>
            </a:r>
          </a:p>
        </p:txBody>
      </p:sp>
      <p:sp>
        <p:nvSpPr>
          <p:cNvPr id="38" name="Rule 3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39" name="Icon Warning 38" descr="icon056.png"/>
          <p:cNvPicPr>
            <a:picLocks noChangeAspect="1"/>
          </p:cNvPicPr>
          <p:nvPr/>
        </p:nvPicPr>
        <p:blipFill>
          <a:blip r:embed="rId4"/>
          <a:stretch>
            <a:fillRect/>
          </a:stretch>
        </p:blipFill>
        <p:spPr>
          <a:xfrm>
            <a:off x="4406900" y="3431977"/>
            <a:ext cx="215900" cy="215900"/>
          </a:xfrm>
          <a:prstGeom prst="rect">
            <a:avLst/>
          </a:prstGeom>
        </p:spPr>
      </p:pic>
      <p:sp>
        <p:nvSpPr>
          <p:cNvPr id="40" name="Text 39"/>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41" name="Text 40"/>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ما كان قبل 5 يوليو، ولا من يتصل من خارج المجموعة.</a:t>
            </a:r>
          </a:p>
        </p:txBody>
      </p:sp>
      <p:sp>
        <p:nvSpPr>
          <p:cNvPr id="42" name="Rule 41"/>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43" name="Icon Lightbulb 42" descr="icon057.png"/>
          <p:cNvPicPr>
            <a:picLocks noChangeAspect="1"/>
          </p:cNvPicPr>
          <p:nvPr/>
        </p:nvPicPr>
        <p:blipFill>
          <a:blip r:embed="rId5"/>
          <a:stretch>
            <a:fillRect/>
          </a:stretch>
        </p:blipFill>
        <p:spPr>
          <a:xfrm>
            <a:off x="4406900" y="4449167"/>
            <a:ext cx="215900" cy="215900"/>
          </a:xfrm>
          <a:prstGeom prst="rect">
            <a:avLst/>
          </a:prstGeom>
        </p:spPr>
      </p:pic>
      <p:sp>
        <p:nvSpPr>
          <p:cNvPr id="44" name="Text 4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45" name="Text 44"/>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التغييرات، وقائمة كل السياسات.</a:t>
            </a:r>
          </a:p>
        </p:txBody>
      </p:sp>
      <p:sp>
        <p:nvSpPr>
          <p:cNvPr id="46" name="Text 4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47" name="Text 4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د3: سجل التغييرات</a:t>
            </a:r>
          </a:p>
        </p:txBody>
      </p:sp>
      <p:sp>
        <p:nvSpPr>
          <p:cNvPr id="7" name="Box 6"/>
          <p:cNvSpPr/>
          <p:nvPr/>
        </p:nvSpPr>
        <p:spPr>
          <a:xfrm>
            <a:off x="4879975" y="1661120"/>
            <a:ext cx="6496050" cy="3322141"/>
          </a:xfrm>
          <a:prstGeom prst="roundRect">
            <a:avLst>
              <a:gd name="adj" fmla="val 1907"/>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E4E8EC"/>
          </a:solidFill>
          <a:ln>
            <a:noFill/>
          </a:ln>
        </p:spPr>
        <p:txBody>
          <a:bodyPr rtlCol="0" anchor="ctr"/>
          <a:lstStyle/>
          <a:p>
            <a:pPr algn="ctr"/>
          </a:p>
        </p:txBody>
      </p:sp>
      <p:sp>
        <p:nvSpPr>
          <p:cNvPr id="9" name="Text 8"/>
          <p:cNvSpPr txBox="1"/>
          <p:nvPr/>
        </p:nvSpPr>
        <p:spPr>
          <a:xfrm>
            <a:off x="7262801" y="1724493"/>
            <a:ext cx="399574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تغييرات بوابة VPN · المنفّذ في كل السطور: it-⁠admin01</a:t>
            </a:r>
          </a:p>
        </p:txBody>
      </p:sp>
      <p:sp>
        <p:nvSpPr>
          <p:cNvPr id="10" name="Text 9"/>
          <p:cNvSpPr txBox="1"/>
          <p:nvPr/>
        </p:nvSpPr>
        <p:spPr>
          <a:xfrm>
            <a:off x="4908550" y="1724493"/>
            <a:ext cx="18306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graphicFrame>
        <p:nvGraphicFramePr>
          <p:cNvPr id="11" name="Table 10"/>
          <p:cNvGraphicFramePr>
            <a:graphicFrameLocks noGrp="1"/>
          </p:cNvGraphicFramePr>
          <p:nvPr/>
        </p:nvGraphicFramePr>
        <p:xfrm>
          <a:off x="4987925" y="2106811"/>
          <a:ext cx="6280150" cy="2831999"/>
        </p:xfrm>
        <a:graphic>
          <a:graphicData uri="http://schemas.openxmlformats.org/drawingml/2006/table">
            <a:tbl>
              <a:tblPr firstRow="0" bandRow="0" lastRow="0" firstCol="0" lastCol="0" bandCol="0">
                <a:tableStyleId>{2D5ABB26-0587-4C30-8999-92F81FD0307C}</a:tableStyleId>
              </a:tblPr>
              <a:tblGrid>
                <a:gridCol w="816610"/>
                <a:gridCol w="3140075"/>
                <a:gridCol w="2323465"/>
              </a:tblGrid>
              <a:tr h="318591">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تعليق</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التغيير</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الوقت</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تجديد شهادة البوابة</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2026-02-18 14:10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696912">
                <a:tc>
                  <a:txBody>
                    <a:bodyPr wrap="square"/>
                    <a:lstStyle/>
                    <a:p>
                      <a:pPr algn="r">
                        <a:lnSpc>
                          <a:spcPts val="2160"/>
                        </a:lnSpc>
                        <a:spcBef>
                          <a:spcPts val="0"/>
                        </a:spcBef>
                        <a:spcAft>
                          <a:spcPts val="0"/>
                        </a:spcAft>
                      </a:pPr>
                      <a:endParaRPr sz="1600"/>
                    </a:p>
                  </a:txBody>
                  <a:tcPr marT="71120" marR="121920" marB="71120"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VPN-⁠Users-⁠MFA: التحقق متعدد العوامل = إلزامي</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09:42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مؤقت</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إنشاء سياسة VPN-⁠Legacy: كلمة المرور فقط</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10:05</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مؤقت</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إضافة test وext-⁠consult01 وit-⁠support02 إلى VPN-⁠Legacy</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10:07</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bl>
          </a:graphicData>
        </a:graphic>
      </p:graphicFrame>
      <p:sp>
        <p:nvSpPr>
          <p:cNvPr id="12" name="Rule 11"/>
          <p:cNvSpPr/>
          <p:nvPr/>
        </p:nvSpPr>
        <p:spPr>
          <a:xfrm>
            <a:off x="812800" y="2877046"/>
            <a:ext cx="3810000" cy="6350"/>
          </a:xfrm>
          <a:prstGeom prst="rect">
            <a:avLst/>
          </a:prstGeom>
          <a:solidFill>
            <a:srgbClr val="DED7C8"/>
          </a:solidFill>
          <a:ln>
            <a:noFill/>
          </a:ln>
        </p:spPr>
        <p:txBody>
          <a:bodyPr rtlCol="0" anchor="ctr"/>
          <a:lstStyle/>
          <a:p>
            <a:pPr algn="ctr"/>
          </a:p>
        </p:txBody>
      </p:sp>
      <p:pic>
        <p:nvPicPr>
          <p:cNvPr id="13" name="Icon Search 12" descr="icon054.png"/>
          <p:cNvPicPr>
            <a:picLocks noChangeAspect="1"/>
          </p:cNvPicPr>
          <p:nvPr/>
        </p:nvPicPr>
        <p:blipFill>
          <a:blip r:embed="rId2"/>
          <a:stretch>
            <a:fillRect/>
          </a:stretch>
        </p:blipFill>
        <p:spPr>
          <a:xfrm>
            <a:off x="4406900" y="1682055"/>
            <a:ext cx="215900" cy="215900"/>
          </a:xfrm>
          <a:prstGeom prst="rect">
            <a:avLst/>
          </a:prstGeom>
        </p:spPr>
      </p:pic>
      <p:sp>
        <p:nvSpPr>
          <p:cNvPr id="14" name="Text 13"/>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5" name="Text 14"/>
          <p:cNvSpPr txBox="1"/>
          <p:nvPr/>
        </p:nvSpPr>
        <p:spPr>
          <a:xfrm>
            <a:off x="812800" y="1915970"/>
            <a:ext cx="3810000" cy="85338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10 مارس ‎09:42‎ فُعّل الإلزام. وبعده بدقائق: سياسة VPN-⁠Legacy بكلمة المرور فقط لثلاثة حسابات، «مؤقت».</a:t>
            </a:r>
          </a:p>
        </p:txBody>
      </p:sp>
      <p:sp>
        <p:nvSpPr>
          <p:cNvPr id="16" name="Rule 15"/>
          <p:cNvSpPr/>
          <p:nvPr/>
        </p:nvSpPr>
        <p:spPr>
          <a:xfrm>
            <a:off x="812800" y="3894237"/>
            <a:ext cx="3810000" cy="6350"/>
          </a:xfrm>
          <a:prstGeom prst="rect">
            <a:avLst/>
          </a:prstGeom>
          <a:solidFill>
            <a:srgbClr val="DED7C8"/>
          </a:solidFill>
          <a:ln>
            <a:noFill/>
          </a:ln>
        </p:spPr>
        <p:txBody>
          <a:bodyPr rtlCol="0" anchor="ctr"/>
          <a:lstStyle/>
          <a:p>
            <a:pPr algn="ctr"/>
          </a:p>
        </p:txBody>
      </p:sp>
      <p:pic>
        <p:nvPicPr>
          <p:cNvPr id="17" name="Icon CheckCircle 16" descr="icon055.png"/>
          <p:cNvPicPr>
            <a:picLocks noChangeAspect="1"/>
          </p:cNvPicPr>
          <p:nvPr/>
        </p:nvPicPr>
        <p:blipFill>
          <a:blip r:embed="rId3"/>
          <a:stretch>
            <a:fillRect/>
          </a:stretch>
        </p:blipFill>
        <p:spPr>
          <a:xfrm>
            <a:off x="4406900" y="2983706"/>
            <a:ext cx="215900" cy="215900"/>
          </a:xfrm>
          <a:prstGeom prst="rect">
            <a:avLst/>
          </a:prstGeom>
        </p:spPr>
      </p:pic>
      <p:sp>
        <p:nvSpPr>
          <p:cNvPr id="18" name="Text 17"/>
          <p:cNvSpPr txBox="1"/>
          <p:nvPr/>
        </p:nvSpPr>
        <p:spPr>
          <a:xfrm>
            <a:off x="3354507" y="293826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9" name="Text 18"/>
          <p:cNvSpPr txBox="1"/>
          <p:nvPr/>
        </p:nvSpPr>
        <p:spPr>
          <a:xfrm>
            <a:off x="812800" y="321762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تاريخ التفعيل، واستثناء لثلاثة حسابات منذ اليوم نفسه.</a:t>
            </a:r>
          </a:p>
        </p:txBody>
      </p:sp>
      <p:sp>
        <p:nvSpPr>
          <p:cNvPr id="20" name="Rule 19"/>
          <p:cNvSpPr/>
          <p:nvPr/>
        </p:nvSpPr>
        <p:spPr>
          <a:xfrm>
            <a:off x="812800" y="4626967"/>
            <a:ext cx="3810000" cy="6350"/>
          </a:xfrm>
          <a:prstGeom prst="rect">
            <a:avLst/>
          </a:prstGeom>
          <a:solidFill>
            <a:srgbClr val="DED7C8"/>
          </a:solidFill>
          <a:ln>
            <a:noFill/>
          </a:ln>
        </p:spPr>
        <p:txBody>
          <a:bodyPr rtlCol="0" anchor="ctr"/>
          <a:lstStyle/>
          <a:p>
            <a:pPr algn="ctr"/>
          </a:p>
        </p:txBody>
      </p:sp>
      <p:pic>
        <p:nvPicPr>
          <p:cNvPr id="21" name="Icon Warning 20" descr="icon056.png"/>
          <p:cNvPicPr>
            <a:picLocks noChangeAspect="1"/>
          </p:cNvPicPr>
          <p:nvPr/>
        </p:nvPicPr>
        <p:blipFill>
          <a:blip r:embed="rId4"/>
          <a:stretch>
            <a:fillRect/>
          </a:stretch>
        </p:blipFill>
        <p:spPr>
          <a:xfrm>
            <a:off x="4406900" y="4000897"/>
            <a:ext cx="215900" cy="215900"/>
          </a:xfrm>
          <a:prstGeom prst="rect">
            <a:avLst/>
          </a:prstGeom>
        </p:spPr>
      </p:pic>
      <p:sp>
        <p:nvSpPr>
          <p:cNvPr id="22" name="Text 21"/>
          <p:cNvSpPr txBox="1"/>
          <p:nvPr/>
        </p:nvSpPr>
        <p:spPr>
          <a:xfrm>
            <a:off x="3200023" y="395545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23" name="Text 22"/>
          <p:cNvSpPr txBox="1"/>
          <p:nvPr/>
        </p:nvSpPr>
        <p:spPr>
          <a:xfrm>
            <a:off x="812800" y="423481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 الحسابات اتصلت فعلاً، ولا أن الاستثناء معتمد.</a:t>
            </a:r>
          </a:p>
        </p:txBody>
      </p:sp>
      <p:sp>
        <p:nvSpPr>
          <p:cNvPr id="24" name="Rule 23"/>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25" name="Icon Lightbulb 24" descr="icon057.png"/>
          <p:cNvPicPr>
            <a:picLocks noChangeAspect="1"/>
          </p:cNvPicPr>
          <p:nvPr/>
        </p:nvPicPr>
        <p:blipFill>
          <a:blip r:embed="rId5"/>
          <a:stretch>
            <a:fillRect/>
          </a:stretch>
        </p:blipFill>
        <p:spPr>
          <a:xfrm>
            <a:off x="4406900" y="4733627"/>
            <a:ext cx="215900" cy="215900"/>
          </a:xfrm>
          <a:prstGeom prst="rect">
            <a:avLst/>
          </a:prstGeom>
        </p:spPr>
      </p:pic>
      <p:sp>
        <p:nvSpPr>
          <p:cNvPr id="26" name="Text 25"/>
          <p:cNvSpPr txBox="1"/>
          <p:nvPr/>
        </p:nvSpPr>
        <p:spPr>
          <a:xfrm>
            <a:off x="2622844" y="468818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27" name="Text 26"/>
          <p:cNvSpPr txBox="1"/>
          <p:nvPr/>
        </p:nvSpPr>
        <p:spPr>
          <a:xfrm>
            <a:off x="812800" y="4967542"/>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اتصالاتها، وأي موافقة على الاستثناء.</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د4: مطابقة المعرّفات</a:t>
            </a:r>
          </a:p>
        </p:txBody>
      </p:sp>
      <p:sp>
        <p:nvSpPr>
          <p:cNvPr id="7" name="Box 6"/>
          <p:cNvSpPr/>
          <p:nvPr/>
        </p:nvSpPr>
        <p:spPr>
          <a:xfrm>
            <a:off x="4879975" y="1661120"/>
            <a:ext cx="6496050" cy="3600946"/>
          </a:xfrm>
          <a:prstGeom prst="roundRect">
            <a:avLst>
              <a:gd name="adj" fmla="val 1408"/>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8585914" y="1711793"/>
            <a:ext cx="268533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مطابقة المعرّفات · اتصالات VPN في الفترة</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302966"/>
            <a:ext cx="6489700" cy="6350"/>
          </a:xfrm>
          <a:prstGeom prst="rect">
            <a:avLst/>
          </a:prstGeom>
          <a:solidFill>
            <a:srgbClr val="D3D9DF"/>
          </a:solidFill>
          <a:ln>
            <a:noFill/>
          </a:ln>
        </p:spPr>
        <p:txBody>
          <a:bodyPr rtlCol="0" anchor="ctr"/>
          <a:lstStyle/>
          <a:p>
            <a:pPr algn="ctr"/>
          </a:p>
        </p:txBody>
      </p:sp>
      <p:sp>
        <p:nvSpPr>
          <p:cNvPr id="13" name="Box 12"/>
          <p:cNvSpPr/>
          <p:nvPr/>
        </p:nvSpPr>
        <p:spPr>
          <a:xfrm>
            <a:off x="11017250" y="1995686"/>
            <a:ext cx="355600" cy="307280"/>
          </a:xfrm>
          <a:prstGeom prst="rect">
            <a:avLst/>
          </a:prstGeom>
          <a:solidFill>
            <a:srgbClr val="EEF1F4"/>
          </a:solidFill>
          <a:ln>
            <a:noFill/>
          </a:ln>
        </p:spPr>
        <p:txBody>
          <a:bodyPr rtlCol="0" anchor="ctr"/>
          <a:lstStyle/>
          <a:p>
            <a:pPr algn="ctr"/>
          </a:p>
        </p:txBody>
      </p:sp>
      <p:sp>
        <p:nvSpPr>
          <p:cNvPr id="14" name="Rule 13"/>
          <p:cNvSpPr/>
          <p:nvPr/>
        </p:nvSpPr>
        <p:spPr>
          <a:xfrm>
            <a:off x="11017250" y="1995686"/>
            <a:ext cx="6350" cy="307280"/>
          </a:xfrm>
          <a:prstGeom prst="rect">
            <a:avLst/>
          </a:prstGeom>
          <a:solidFill>
            <a:srgbClr val="D3D9DF"/>
          </a:solidFill>
          <a:ln>
            <a:noFill/>
          </a:ln>
        </p:spPr>
        <p:txBody>
          <a:bodyPr rtlCol="0" anchor="ctr"/>
          <a:lstStyle/>
          <a:p>
            <a:pPr algn="ctr"/>
          </a:p>
        </p:txBody>
      </p:sp>
      <p:sp>
        <p:nvSpPr>
          <p:cNvPr id="15" name="Box 14"/>
          <p:cNvSpPr/>
          <p:nvPr/>
        </p:nvSpPr>
        <p:spPr>
          <a:xfrm>
            <a:off x="9429750" y="1995686"/>
            <a:ext cx="1587500" cy="307280"/>
          </a:xfrm>
          <a:prstGeom prst="rect">
            <a:avLst/>
          </a:prstGeom>
          <a:solidFill>
            <a:srgbClr val="EEF1F4"/>
          </a:solidFill>
          <a:ln>
            <a:noFill/>
          </a:ln>
        </p:spPr>
        <p:txBody>
          <a:bodyPr rtlCol="0" anchor="ctr"/>
          <a:lstStyle/>
          <a:p>
            <a:pPr algn="ctr"/>
          </a:p>
        </p:txBody>
      </p:sp>
      <p:sp>
        <p:nvSpPr>
          <p:cNvPr id="16" name="Rule 15"/>
          <p:cNvSpPr/>
          <p:nvPr/>
        </p:nvSpPr>
        <p:spPr>
          <a:xfrm>
            <a:off x="9429750" y="1995686"/>
            <a:ext cx="6350" cy="307280"/>
          </a:xfrm>
          <a:prstGeom prst="rect">
            <a:avLst/>
          </a:prstGeom>
          <a:solidFill>
            <a:srgbClr val="D3D9DF"/>
          </a:solidFill>
          <a:ln>
            <a:noFill/>
          </a:ln>
        </p:spPr>
        <p:txBody>
          <a:bodyPr rtlCol="0" anchor="ctr"/>
          <a:lstStyle/>
          <a:p>
            <a:pPr algn="ctr"/>
          </a:p>
        </p:txBody>
      </p:sp>
      <p:sp>
        <p:nvSpPr>
          <p:cNvPr id="17" name="Text 16"/>
          <p:cNvSpPr txBox="1"/>
          <p:nvPr/>
        </p:nvSpPr>
        <p:spPr>
          <a:xfrm>
            <a:off x="9455150" y="2026674"/>
            <a:ext cx="15367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8" name="Box 17"/>
          <p:cNvSpPr/>
          <p:nvPr/>
        </p:nvSpPr>
        <p:spPr>
          <a:xfrm>
            <a:off x="8032750" y="1995686"/>
            <a:ext cx="1397000" cy="307280"/>
          </a:xfrm>
          <a:prstGeom prst="rect">
            <a:avLst/>
          </a:prstGeom>
          <a:solidFill>
            <a:srgbClr val="EEF1F4"/>
          </a:solidFill>
          <a:ln>
            <a:noFill/>
          </a:ln>
        </p:spPr>
        <p:txBody>
          <a:bodyPr rtlCol="0" anchor="ctr"/>
          <a:lstStyle/>
          <a:p>
            <a:pPr algn="ctr"/>
          </a:p>
        </p:txBody>
      </p:sp>
      <p:sp>
        <p:nvSpPr>
          <p:cNvPr id="19" name="Rule 18"/>
          <p:cNvSpPr/>
          <p:nvPr/>
        </p:nvSpPr>
        <p:spPr>
          <a:xfrm>
            <a:off x="8032750" y="1995686"/>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8065770" y="2026674"/>
            <a:ext cx="133731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1" name="Box 20"/>
          <p:cNvSpPr/>
          <p:nvPr/>
        </p:nvSpPr>
        <p:spPr>
          <a:xfrm>
            <a:off x="6508750" y="1995686"/>
            <a:ext cx="1524000" cy="307280"/>
          </a:xfrm>
          <a:prstGeom prst="rect">
            <a:avLst/>
          </a:prstGeom>
          <a:solidFill>
            <a:srgbClr val="EEF1F4"/>
          </a:solidFill>
          <a:ln>
            <a:noFill/>
          </a:ln>
        </p:spPr>
        <p:txBody>
          <a:bodyPr rtlCol="0" anchor="ctr"/>
          <a:lstStyle/>
          <a:p>
            <a:pPr algn="ctr"/>
          </a:p>
        </p:txBody>
      </p:sp>
      <p:sp>
        <p:nvSpPr>
          <p:cNvPr id="22" name="Rule 21"/>
          <p:cNvSpPr/>
          <p:nvPr/>
        </p:nvSpPr>
        <p:spPr>
          <a:xfrm>
            <a:off x="6508750" y="1995686"/>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6536690" y="2026674"/>
            <a:ext cx="147066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4" name="Box 23"/>
          <p:cNvSpPr/>
          <p:nvPr/>
        </p:nvSpPr>
        <p:spPr>
          <a:xfrm>
            <a:off x="4883150" y="1995686"/>
            <a:ext cx="1625600" cy="307280"/>
          </a:xfrm>
          <a:prstGeom prst="rect">
            <a:avLst/>
          </a:prstGeom>
          <a:solidFill>
            <a:srgbClr val="EEF1F4"/>
          </a:solidFill>
          <a:ln>
            <a:noFill/>
          </a:ln>
        </p:spPr>
        <p:txBody>
          <a:bodyPr rtlCol="0" anchor="ctr"/>
          <a:lstStyle/>
          <a:p>
            <a:pPr algn="ctr"/>
          </a:p>
        </p:txBody>
      </p:sp>
      <p:sp>
        <p:nvSpPr>
          <p:cNvPr id="25" name="Rule 24"/>
          <p:cNvSpPr/>
          <p:nvPr/>
        </p:nvSpPr>
        <p:spPr>
          <a:xfrm>
            <a:off x="4883150" y="1995686"/>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4908550" y="2026674"/>
            <a:ext cx="15748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27" name="Rule 26"/>
          <p:cNvSpPr/>
          <p:nvPr/>
        </p:nvSpPr>
        <p:spPr>
          <a:xfrm>
            <a:off x="4883150" y="2959398"/>
            <a:ext cx="6489700" cy="6350"/>
          </a:xfrm>
          <a:prstGeom prst="rect">
            <a:avLst/>
          </a:prstGeom>
          <a:solidFill>
            <a:srgbClr val="D3D9DF"/>
          </a:solidFill>
          <a:ln>
            <a:noFill/>
          </a:ln>
        </p:spPr>
        <p:txBody>
          <a:bodyPr rtlCol="0" anchor="ctr"/>
          <a:lstStyle/>
          <a:p>
            <a:pPr algn="ctr"/>
          </a:p>
        </p:txBody>
      </p:sp>
      <p:sp>
        <p:nvSpPr>
          <p:cNvPr id="28" name="Box 27"/>
          <p:cNvSpPr/>
          <p:nvPr/>
        </p:nvSpPr>
        <p:spPr>
          <a:xfrm>
            <a:off x="11017250" y="2309316"/>
            <a:ext cx="355600" cy="650081"/>
          </a:xfrm>
          <a:prstGeom prst="rect">
            <a:avLst/>
          </a:prstGeom>
          <a:solidFill>
            <a:srgbClr val="EEF1F4"/>
          </a:solidFill>
          <a:ln>
            <a:noFill/>
          </a:ln>
        </p:spPr>
        <p:txBody>
          <a:bodyPr rtlCol="0" anchor="ctr"/>
          <a:lstStyle/>
          <a:p>
            <a:pPr algn="ctr"/>
          </a:p>
        </p:txBody>
      </p:sp>
      <p:sp>
        <p:nvSpPr>
          <p:cNvPr id="29" name="Rule 28"/>
          <p:cNvSpPr/>
          <p:nvPr/>
        </p:nvSpPr>
        <p:spPr>
          <a:xfrm>
            <a:off x="11017250" y="2309316"/>
            <a:ext cx="6350" cy="650081"/>
          </a:xfrm>
          <a:prstGeom prst="rect">
            <a:avLst/>
          </a:prstGeom>
          <a:solidFill>
            <a:srgbClr val="D3D9DF"/>
          </a:solidFill>
          <a:ln>
            <a:noFill/>
          </a:ln>
        </p:spPr>
        <p:txBody>
          <a:bodyPr rtlCol="0" anchor="ctr"/>
          <a:lstStyle/>
          <a:p>
            <a:pPr algn="ctr"/>
          </a:p>
        </p:txBody>
      </p:sp>
      <p:sp>
        <p:nvSpPr>
          <p:cNvPr id="30" name="Text 29"/>
          <p:cNvSpPr txBox="1"/>
          <p:nvPr/>
        </p:nvSpPr>
        <p:spPr>
          <a:xfrm>
            <a:off x="11054080" y="234030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31" name="Box 30"/>
          <p:cNvSpPr/>
          <p:nvPr/>
        </p:nvSpPr>
        <p:spPr>
          <a:xfrm>
            <a:off x="9429750" y="2309316"/>
            <a:ext cx="1587500" cy="650081"/>
          </a:xfrm>
          <a:prstGeom prst="rect">
            <a:avLst/>
          </a:prstGeom>
          <a:solidFill>
            <a:srgbClr val="F7F8FA"/>
          </a:solidFill>
          <a:ln>
            <a:noFill/>
          </a:ln>
        </p:spPr>
        <p:txBody>
          <a:bodyPr rtlCol="0" anchor="ctr"/>
          <a:lstStyle/>
          <a:p>
            <a:pPr algn="ctr"/>
          </a:p>
        </p:txBody>
      </p:sp>
      <p:sp>
        <p:nvSpPr>
          <p:cNvPr id="32" name="Rule 31"/>
          <p:cNvSpPr/>
          <p:nvPr/>
        </p:nvSpPr>
        <p:spPr>
          <a:xfrm>
            <a:off x="9429750" y="2309316"/>
            <a:ext cx="6350" cy="650081"/>
          </a:xfrm>
          <a:prstGeom prst="rect">
            <a:avLst/>
          </a:prstGeom>
          <a:solidFill>
            <a:srgbClr val="D3D9DF"/>
          </a:solidFill>
          <a:ln>
            <a:noFill/>
          </a:ln>
        </p:spPr>
        <p:txBody>
          <a:bodyPr rtlCol="0" anchor="ctr"/>
          <a:lstStyle/>
          <a:p>
            <a:pPr algn="ctr"/>
          </a:p>
        </p:txBody>
      </p:sp>
      <p:sp>
        <p:nvSpPr>
          <p:cNvPr id="33" name="Text 32"/>
          <p:cNvSpPr txBox="1"/>
          <p:nvPr/>
        </p:nvSpPr>
        <p:spPr>
          <a:xfrm>
            <a:off x="9455150" y="2333700"/>
            <a:ext cx="1485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34" name="Box 33"/>
          <p:cNvSpPr/>
          <p:nvPr/>
        </p:nvSpPr>
        <p:spPr>
          <a:xfrm>
            <a:off x="8032750" y="2309316"/>
            <a:ext cx="1397000" cy="650081"/>
          </a:xfrm>
          <a:prstGeom prst="rect">
            <a:avLst/>
          </a:prstGeom>
          <a:solidFill>
            <a:srgbClr val="F7F8FA"/>
          </a:solidFill>
          <a:ln>
            <a:noFill/>
          </a:ln>
        </p:spPr>
        <p:txBody>
          <a:bodyPr rtlCol="0" anchor="ctr"/>
          <a:lstStyle/>
          <a:p>
            <a:pPr algn="ctr"/>
          </a:p>
        </p:txBody>
      </p:sp>
      <p:sp>
        <p:nvSpPr>
          <p:cNvPr id="35" name="Rule 34"/>
          <p:cNvSpPr/>
          <p:nvPr/>
        </p:nvSpPr>
        <p:spPr>
          <a:xfrm>
            <a:off x="8032750" y="2309316"/>
            <a:ext cx="6350" cy="650081"/>
          </a:xfrm>
          <a:prstGeom prst="rect">
            <a:avLst/>
          </a:prstGeom>
          <a:solidFill>
            <a:srgbClr val="D3D9DF"/>
          </a:solidFill>
          <a:ln>
            <a:noFill/>
          </a:ln>
        </p:spPr>
        <p:txBody>
          <a:bodyPr rtlCol="0" anchor="ctr"/>
          <a:lstStyle/>
          <a:p>
            <a:pPr algn="ctr"/>
          </a:p>
        </p:txBody>
      </p:sp>
      <p:sp>
        <p:nvSpPr>
          <p:cNvPr id="36" name="Text 35"/>
          <p:cNvSpPr txBox="1"/>
          <p:nvPr/>
        </p:nvSpPr>
        <p:spPr>
          <a:xfrm>
            <a:off x="8064500" y="2333700"/>
            <a:ext cx="12890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في سجل الاتصالات</a:t>
            </a:r>
          </a:p>
        </p:txBody>
      </p:sp>
      <p:sp>
        <p:nvSpPr>
          <p:cNvPr id="37" name="Box 36"/>
          <p:cNvSpPr/>
          <p:nvPr/>
        </p:nvSpPr>
        <p:spPr>
          <a:xfrm>
            <a:off x="6508750" y="2309316"/>
            <a:ext cx="1524000" cy="650081"/>
          </a:xfrm>
          <a:prstGeom prst="rect">
            <a:avLst/>
          </a:prstGeom>
          <a:solidFill>
            <a:srgbClr val="F7F8FA"/>
          </a:solidFill>
          <a:ln>
            <a:noFill/>
          </a:ln>
        </p:spPr>
        <p:txBody>
          <a:bodyPr rtlCol="0" anchor="ctr"/>
          <a:lstStyle/>
          <a:p>
            <a:pPr algn="ctr"/>
          </a:p>
        </p:txBody>
      </p:sp>
      <p:sp>
        <p:nvSpPr>
          <p:cNvPr id="38" name="Rule 37"/>
          <p:cNvSpPr/>
          <p:nvPr/>
        </p:nvSpPr>
        <p:spPr>
          <a:xfrm>
            <a:off x="6508750" y="2309316"/>
            <a:ext cx="6350" cy="650081"/>
          </a:xfrm>
          <a:prstGeom prst="rect">
            <a:avLst/>
          </a:prstGeom>
          <a:solidFill>
            <a:srgbClr val="D3D9DF"/>
          </a:solidFill>
          <a:ln>
            <a:noFill/>
          </a:ln>
        </p:spPr>
        <p:txBody>
          <a:bodyPr rtlCol="0" anchor="ctr"/>
          <a:lstStyle/>
          <a:p>
            <a:pPr algn="ctr"/>
          </a:p>
        </p:txBody>
      </p:sp>
      <p:sp>
        <p:nvSpPr>
          <p:cNvPr id="39" name="Text 38"/>
          <p:cNvSpPr txBox="1"/>
          <p:nvPr/>
        </p:nvSpPr>
        <p:spPr>
          <a:xfrm>
            <a:off x="6540500" y="2333700"/>
            <a:ext cx="14160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عضو في VPN-⁠Users</a:t>
            </a:r>
          </a:p>
        </p:txBody>
      </p:sp>
      <p:sp>
        <p:nvSpPr>
          <p:cNvPr id="40" name="Box 39"/>
          <p:cNvSpPr/>
          <p:nvPr/>
        </p:nvSpPr>
        <p:spPr>
          <a:xfrm>
            <a:off x="4883150" y="2309316"/>
            <a:ext cx="1625600" cy="650081"/>
          </a:xfrm>
          <a:prstGeom prst="rect">
            <a:avLst/>
          </a:prstGeom>
          <a:solidFill>
            <a:srgbClr val="F7F8FA"/>
          </a:solidFill>
          <a:ln>
            <a:noFill/>
          </a:ln>
        </p:spPr>
        <p:txBody>
          <a:bodyPr rtlCol="0" anchor="ctr"/>
          <a:lstStyle/>
          <a:p>
            <a:pPr algn="ctr"/>
          </a:p>
        </p:txBody>
      </p:sp>
      <p:sp>
        <p:nvSpPr>
          <p:cNvPr id="41" name="Rule 40"/>
          <p:cNvSpPr/>
          <p:nvPr/>
        </p:nvSpPr>
        <p:spPr>
          <a:xfrm>
            <a:off x="4883150" y="2309316"/>
            <a:ext cx="6350" cy="650081"/>
          </a:xfrm>
          <a:prstGeom prst="rect">
            <a:avLst/>
          </a:prstGeom>
          <a:solidFill>
            <a:srgbClr val="D3D9DF"/>
          </a:solidFill>
          <a:ln>
            <a:noFill/>
          </a:ln>
        </p:spPr>
        <p:txBody>
          <a:bodyPr rtlCol="0" anchor="ctr"/>
          <a:lstStyle/>
          <a:p>
            <a:pPr algn="ctr"/>
          </a:p>
        </p:txBody>
      </p:sp>
      <p:sp>
        <p:nvSpPr>
          <p:cNvPr id="42" name="Text 41"/>
          <p:cNvSpPr txBox="1"/>
          <p:nvPr/>
        </p:nvSpPr>
        <p:spPr>
          <a:xfrm>
            <a:off x="4908550" y="2333700"/>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النتيجة</a:t>
            </a:r>
          </a:p>
        </p:txBody>
      </p:sp>
      <p:sp>
        <p:nvSpPr>
          <p:cNvPr id="43" name="Rule 42"/>
          <p:cNvSpPr/>
          <p:nvPr/>
        </p:nvSpPr>
        <p:spPr>
          <a:xfrm>
            <a:off x="4883150" y="3341588"/>
            <a:ext cx="6489700" cy="6350"/>
          </a:xfrm>
          <a:prstGeom prst="rect">
            <a:avLst/>
          </a:prstGeom>
          <a:solidFill>
            <a:srgbClr val="D3D9DF"/>
          </a:solidFill>
          <a:ln>
            <a:noFill/>
          </a:ln>
        </p:spPr>
        <p:txBody>
          <a:bodyPr rtlCol="0" anchor="ctr"/>
          <a:lstStyle/>
          <a:p>
            <a:pPr algn="ctr"/>
          </a:p>
        </p:txBody>
      </p:sp>
      <p:sp>
        <p:nvSpPr>
          <p:cNvPr id="44" name="Box 43"/>
          <p:cNvSpPr/>
          <p:nvPr/>
        </p:nvSpPr>
        <p:spPr>
          <a:xfrm>
            <a:off x="11017250" y="2965748"/>
            <a:ext cx="355600" cy="375841"/>
          </a:xfrm>
          <a:prstGeom prst="rect">
            <a:avLst/>
          </a:prstGeom>
          <a:solidFill>
            <a:srgbClr val="EEF1F4"/>
          </a:solidFill>
          <a:ln>
            <a:noFill/>
          </a:ln>
        </p:spPr>
        <p:txBody>
          <a:bodyPr rtlCol="0" anchor="ctr"/>
          <a:lstStyle/>
          <a:p>
            <a:pPr algn="ctr"/>
          </a:p>
        </p:txBody>
      </p:sp>
      <p:sp>
        <p:nvSpPr>
          <p:cNvPr id="45" name="Rule 44"/>
          <p:cNvSpPr/>
          <p:nvPr/>
        </p:nvSpPr>
        <p:spPr>
          <a:xfrm>
            <a:off x="11017250" y="2965748"/>
            <a:ext cx="6350" cy="375841"/>
          </a:xfrm>
          <a:prstGeom prst="rect">
            <a:avLst/>
          </a:prstGeom>
          <a:solidFill>
            <a:srgbClr val="D3D9DF"/>
          </a:solidFill>
          <a:ln>
            <a:noFill/>
          </a:ln>
        </p:spPr>
        <p:txBody>
          <a:bodyPr rtlCol="0" anchor="ctr"/>
          <a:lstStyle/>
          <a:p>
            <a:pPr algn="ctr"/>
          </a:p>
        </p:txBody>
      </p:sp>
      <p:sp>
        <p:nvSpPr>
          <p:cNvPr id="46" name="Text 45"/>
          <p:cNvSpPr txBox="1"/>
          <p:nvPr/>
        </p:nvSpPr>
        <p:spPr>
          <a:xfrm>
            <a:off x="11054080" y="299673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7" name="Box 46"/>
          <p:cNvSpPr/>
          <p:nvPr/>
        </p:nvSpPr>
        <p:spPr>
          <a:xfrm>
            <a:off x="9429750" y="2965748"/>
            <a:ext cx="1587500" cy="375841"/>
          </a:xfrm>
          <a:prstGeom prst="rect">
            <a:avLst/>
          </a:prstGeom>
          <a:solidFill>
            <a:srgbClr val="FFFFFF"/>
          </a:solidFill>
          <a:ln>
            <a:noFill/>
          </a:ln>
        </p:spPr>
        <p:txBody>
          <a:bodyPr rtlCol="0" anchor="ctr"/>
          <a:lstStyle/>
          <a:p>
            <a:pPr algn="ctr"/>
          </a:p>
        </p:txBody>
      </p:sp>
      <p:sp>
        <p:nvSpPr>
          <p:cNvPr id="48" name="Rule 47"/>
          <p:cNvSpPr/>
          <p:nvPr/>
        </p:nvSpPr>
        <p:spPr>
          <a:xfrm>
            <a:off x="9429750" y="2965748"/>
            <a:ext cx="6350" cy="375841"/>
          </a:xfrm>
          <a:prstGeom prst="rect">
            <a:avLst/>
          </a:prstGeom>
          <a:solidFill>
            <a:srgbClr val="D3D9DF"/>
          </a:solidFill>
          <a:ln>
            <a:noFill/>
          </a:ln>
        </p:spPr>
        <p:txBody>
          <a:bodyPr rtlCol="0" anchor="ctr"/>
          <a:lstStyle/>
          <a:p>
            <a:pPr algn="ctr"/>
          </a:p>
        </p:txBody>
      </p:sp>
      <p:sp>
        <p:nvSpPr>
          <p:cNvPr id="49" name="Text 48"/>
          <p:cNvSpPr txBox="1"/>
          <p:nvPr/>
        </p:nvSpPr>
        <p:spPr>
          <a:xfrm>
            <a:off x="9455150" y="2990132"/>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s.almutairi</a:t>
            </a:r>
          </a:p>
        </p:txBody>
      </p:sp>
      <p:sp>
        <p:nvSpPr>
          <p:cNvPr id="50" name="Box 49"/>
          <p:cNvSpPr/>
          <p:nvPr/>
        </p:nvSpPr>
        <p:spPr>
          <a:xfrm>
            <a:off x="8032750" y="2965748"/>
            <a:ext cx="1397000" cy="375841"/>
          </a:xfrm>
          <a:prstGeom prst="rect">
            <a:avLst/>
          </a:prstGeom>
          <a:solidFill>
            <a:srgbClr val="FFFFFF"/>
          </a:solidFill>
          <a:ln>
            <a:noFill/>
          </a:ln>
        </p:spPr>
        <p:txBody>
          <a:bodyPr rtlCol="0" anchor="ctr"/>
          <a:lstStyle/>
          <a:p>
            <a:pPr algn="ctr"/>
          </a:p>
        </p:txBody>
      </p:sp>
      <p:sp>
        <p:nvSpPr>
          <p:cNvPr id="51" name="Rule 50"/>
          <p:cNvSpPr/>
          <p:nvPr/>
        </p:nvSpPr>
        <p:spPr>
          <a:xfrm>
            <a:off x="8032750" y="2965748"/>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8058150" y="2990132"/>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53" name="Box 52"/>
          <p:cNvSpPr/>
          <p:nvPr/>
        </p:nvSpPr>
        <p:spPr>
          <a:xfrm>
            <a:off x="6508750" y="2965748"/>
            <a:ext cx="1524000" cy="375841"/>
          </a:xfrm>
          <a:prstGeom prst="rect">
            <a:avLst/>
          </a:prstGeom>
          <a:solidFill>
            <a:srgbClr val="FFFFFF"/>
          </a:solidFill>
          <a:ln>
            <a:noFill/>
          </a:ln>
        </p:spPr>
        <p:txBody>
          <a:bodyPr rtlCol="0" anchor="ctr"/>
          <a:lstStyle/>
          <a:p>
            <a:pPr algn="ctr"/>
          </a:p>
        </p:txBody>
      </p:sp>
      <p:sp>
        <p:nvSpPr>
          <p:cNvPr id="54" name="Rule 53"/>
          <p:cNvSpPr/>
          <p:nvPr/>
        </p:nvSpPr>
        <p:spPr>
          <a:xfrm>
            <a:off x="6508750" y="2965748"/>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6534150" y="2990132"/>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56" name="Box 55"/>
          <p:cNvSpPr/>
          <p:nvPr/>
        </p:nvSpPr>
        <p:spPr>
          <a:xfrm>
            <a:off x="4883150" y="2965748"/>
            <a:ext cx="1625600" cy="375841"/>
          </a:xfrm>
          <a:prstGeom prst="rect">
            <a:avLst/>
          </a:prstGeom>
          <a:solidFill>
            <a:srgbClr val="FFFFFF"/>
          </a:solidFill>
          <a:ln>
            <a:noFill/>
          </a:ln>
        </p:spPr>
        <p:txBody>
          <a:bodyPr rtlCol="0" anchor="ctr"/>
          <a:lstStyle/>
          <a:p>
            <a:pPr algn="ctr"/>
          </a:p>
        </p:txBody>
      </p:sp>
      <p:sp>
        <p:nvSpPr>
          <p:cNvPr id="57" name="Rule 56"/>
          <p:cNvSpPr/>
          <p:nvPr/>
        </p:nvSpPr>
        <p:spPr>
          <a:xfrm>
            <a:off x="4883150" y="2965748"/>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4908550" y="2990132"/>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59" name="Rule 58"/>
          <p:cNvSpPr/>
          <p:nvPr/>
        </p:nvSpPr>
        <p:spPr>
          <a:xfrm>
            <a:off x="4883150" y="3723779"/>
            <a:ext cx="6489700" cy="6350"/>
          </a:xfrm>
          <a:prstGeom prst="rect">
            <a:avLst/>
          </a:prstGeom>
          <a:solidFill>
            <a:srgbClr val="D3D9DF"/>
          </a:solidFill>
          <a:ln>
            <a:noFill/>
          </a:ln>
        </p:spPr>
        <p:txBody>
          <a:bodyPr rtlCol="0" anchor="ctr"/>
          <a:lstStyle/>
          <a:p>
            <a:pPr algn="ctr"/>
          </a:p>
        </p:txBody>
      </p:sp>
      <p:sp>
        <p:nvSpPr>
          <p:cNvPr id="60" name="Box 59"/>
          <p:cNvSpPr/>
          <p:nvPr/>
        </p:nvSpPr>
        <p:spPr>
          <a:xfrm>
            <a:off x="11017250" y="3347938"/>
            <a:ext cx="355600" cy="375841"/>
          </a:xfrm>
          <a:prstGeom prst="rect">
            <a:avLst/>
          </a:prstGeom>
          <a:solidFill>
            <a:srgbClr val="EEF1F4"/>
          </a:solidFill>
          <a:ln>
            <a:noFill/>
          </a:ln>
        </p:spPr>
        <p:txBody>
          <a:bodyPr rtlCol="0" anchor="ctr"/>
          <a:lstStyle/>
          <a:p>
            <a:pPr algn="ctr"/>
          </a:p>
        </p:txBody>
      </p:sp>
      <p:sp>
        <p:nvSpPr>
          <p:cNvPr id="61" name="Rule 60"/>
          <p:cNvSpPr/>
          <p:nvPr/>
        </p:nvSpPr>
        <p:spPr>
          <a:xfrm>
            <a:off x="11017250" y="3347938"/>
            <a:ext cx="6350" cy="375841"/>
          </a:xfrm>
          <a:prstGeom prst="rect">
            <a:avLst/>
          </a:prstGeom>
          <a:solidFill>
            <a:srgbClr val="D3D9DF"/>
          </a:solidFill>
          <a:ln>
            <a:noFill/>
          </a:ln>
        </p:spPr>
        <p:txBody>
          <a:bodyPr rtlCol="0" anchor="ctr"/>
          <a:lstStyle/>
          <a:p>
            <a:pPr algn="ctr"/>
          </a:p>
        </p:txBody>
      </p:sp>
      <p:sp>
        <p:nvSpPr>
          <p:cNvPr id="62" name="Text 61"/>
          <p:cNvSpPr txBox="1"/>
          <p:nvPr/>
        </p:nvSpPr>
        <p:spPr>
          <a:xfrm>
            <a:off x="11054080" y="337892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3" name="Box 62"/>
          <p:cNvSpPr/>
          <p:nvPr/>
        </p:nvSpPr>
        <p:spPr>
          <a:xfrm>
            <a:off x="9429750" y="3347938"/>
            <a:ext cx="1587500" cy="375841"/>
          </a:xfrm>
          <a:prstGeom prst="rect">
            <a:avLst/>
          </a:prstGeom>
          <a:solidFill>
            <a:srgbClr val="FFFFFF"/>
          </a:solidFill>
          <a:ln>
            <a:noFill/>
          </a:ln>
        </p:spPr>
        <p:txBody>
          <a:bodyPr rtlCol="0" anchor="ctr"/>
          <a:lstStyle/>
          <a:p>
            <a:pPr algn="ctr"/>
          </a:p>
        </p:txBody>
      </p:sp>
      <p:sp>
        <p:nvSpPr>
          <p:cNvPr id="64" name="Rule 63"/>
          <p:cNvSpPr/>
          <p:nvPr/>
        </p:nvSpPr>
        <p:spPr>
          <a:xfrm>
            <a:off x="9429750" y="3347938"/>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455150" y="3372322"/>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n.alzahrani</a:t>
            </a:r>
          </a:p>
        </p:txBody>
      </p:sp>
      <p:sp>
        <p:nvSpPr>
          <p:cNvPr id="66" name="Box 65"/>
          <p:cNvSpPr/>
          <p:nvPr/>
        </p:nvSpPr>
        <p:spPr>
          <a:xfrm>
            <a:off x="8032750" y="3347938"/>
            <a:ext cx="1397000" cy="375841"/>
          </a:xfrm>
          <a:prstGeom prst="rect">
            <a:avLst/>
          </a:prstGeom>
          <a:solidFill>
            <a:srgbClr val="FFFFFF"/>
          </a:solidFill>
          <a:ln>
            <a:noFill/>
          </a:ln>
        </p:spPr>
        <p:txBody>
          <a:bodyPr rtlCol="0" anchor="ctr"/>
          <a:lstStyle/>
          <a:p>
            <a:pPr algn="ctr"/>
          </a:p>
        </p:txBody>
      </p:sp>
      <p:sp>
        <p:nvSpPr>
          <p:cNvPr id="67" name="Rule 66"/>
          <p:cNvSpPr/>
          <p:nvPr/>
        </p:nvSpPr>
        <p:spPr>
          <a:xfrm>
            <a:off x="8032750" y="3347938"/>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058150" y="3372322"/>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69" name="Box 68"/>
          <p:cNvSpPr/>
          <p:nvPr/>
        </p:nvSpPr>
        <p:spPr>
          <a:xfrm>
            <a:off x="6508750" y="3347938"/>
            <a:ext cx="1524000" cy="375841"/>
          </a:xfrm>
          <a:prstGeom prst="rect">
            <a:avLst/>
          </a:prstGeom>
          <a:solidFill>
            <a:srgbClr val="FFFFFF"/>
          </a:solidFill>
          <a:ln>
            <a:noFill/>
          </a:ln>
        </p:spPr>
        <p:txBody>
          <a:bodyPr rtlCol="0" anchor="ctr"/>
          <a:lstStyle/>
          <a:p>
            <a:pPr algn="ctr"/>
          </a:p>
        </p:txBody>
      </p:sp>
      <p:sp>
        <p:nvSpPr>
          <p:cNvPr id="70" name="Rule 69"/>
          <p:cNvSpPr/>
          <p:nvPr/>
        </p:nvSpPr>
        <p:spPr>
          <a:xfrm>
            <a:off x="6508750" y="3347938"/>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6534150" y="3372322"/>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72" name="Box 71"/>
          <p:cNvSpPr/>
          <p:nvPr/>
        </p:nvSpPr>
        <p:spPr>
          <a:xfrm>
            <a:off x="4883150" y="3347938"/>
            <a:ext cx="1625600" cy="375841"/>
          </a:xfrm>
          <a:prstGeom prst="rect">
            <a:avLst/>
          </a:prstGeom>
          <a:solidFill>
            <a:srgbClr val="FFFFFF"/>
          </a:solidFill>
          <a:ln>
            <a:noFill/>
          </a:ln>
        </p:spPr>
        <p:txBody>
          <a:bodyPr rtlCol="0" anchor="ctr"/>
          <a:lstStyle/>
          <a:p>
            <a:pPr algn="ctr"/>
          </a:p>
        </p:txBody>
      </p:sp>
      <p:sp>
        <p:nvSpPr>
          <p:cNvPr id="73" name="Rule 72"/>
          <p:cNvSpPr/>
          <p:nvPr/>
        </p:nvSpPr>
        <p:spPr>
          <a:xfrm>
            <a:off x="4883150" y="3347938"/>
            <a:ext cx="6350" cy="375841"/>
          </a:xfrm>
          <a:prstGeom prst="rect">
            <a:avLst/>
          </a:prstGeom>
          <a:solidFill>
            <a:srgbClr val="D3D9DF"/>
          </a:solidFill>
          <a:ln>
            <a:noFill/>
          </a:ln>
        </p:spPr>
        <p:txBody>
          <a:bodyPr rtlCol="0" anchor="ctr"/>
          <a:lstStyle/>
          <a:p>
            <a:pPr algn="ctr"/>
          </a:p>
        </p:txBody>
      </p:sp>
      <p:sp>
        <p:nvSpPr>
          <p:cNvPr id="74" name="Text 73"/>
          <p:cNvSpPr txBox="1"/>
          <p:nvPr/>
        </p:nvSpPr>
        <p:spPr>
          <a:xfrm>
            <a:off x="4908550" y="3372322"/>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75" name="Rule 74"/>
          <p:cNvSpPr/>
          <p:nvPr/>
        </p:nvSpPr>
        <p:spPr>
          <a:xfrm>
            <a:off x="4883150" y="4105970"/>
            <a:ext cx="6489700" cy="6350"/>
          </a:xfrm>
          <a:prstGeom prst="rect">
            <a:avLst/>
          </a:prstGeom>
          <a:solidFill>
            <a:srgbClr val="D3D9DF"/>
          </a:solidFill>
          <a:ln>
            <a:noFill/>
          </a:ln>
        </p:spPr>
        <p:txBody>
          <a:bodyPr rtlCol="0" anchor="ctr"/>
          <a:lstStyle/>
          <a:p>
            <a:pPr algn="ctr"/>
          </a:p>
        </p:txBody>
      </p:sp>
      <p:sp>
        <p:nvSpPr>
          <p:cNvPr id="76" name="Box 75"/>
          <p:cNvSpPr/>
          <p:nvPr/>
        </p:nvSpPr>
        <p:spPr>
          <a:xfrm>
            <a:off x="11017250" y="3730129"/>
            <a:ext cx="355600" cy="375841"/>
          </a:xfrm>
          <a:prstGeom prst="rect">
            <a:avLst/>
          </a:prstGeom>
          <a:solidFill>
            <a:srgbClr val="EEF1F4"/>
          </a:solidFill>
          <a:ln>
            <a:noFill/>
          </a:ln>
        </p:spPr>
        <p:txBody>
          <a:bodyPr rtlCol="0" anchor="ctr"/>
          <a:lstStyle/>
          <a:p>
            <a:pPr algn="ctr"/>
          </a:p>
        </p:txBody>
      </p:sp>
      <p:sp>
        <p:nvSpPr>
          <p:cNvPr id="77" name="Rule 76"/>
          <p:cNvSpPr/>
          <p:nvPr/>
        </p:nvSpPr>
        <p:spPr>
          <a:xfrm>
            <a:off x="11017250" y="3730129"/>
            <a:ext cx="6350" cy="375841"/>
          </a:xfrm>
          <a:prstGeom prst="rect">
            <a:avLst/>
          </a:prstGeom>
          <a:solidFill>
            <a:srgbClr val="D3D9DF"/>
          </a:solidFill>
          <a:ln>
            <a:noFill/>
          </a:ln>
        </p:spPr>
        <p:txBody>
          <a:bodyPr rtlCol="0" anchor="ctr"/>
          <a:lstStyle/>
          <a:p>
            <a:pPr algn="ctr"/>
          </a:p>
        </p:txBody>
      </p:sp>
      <p:sp>
        <p:nvSpPr>
          <p:cNvPr id="78" name="Text 77"/>
          <p:cNvSpPr txBox="1"/>
          <p:nvPr/>
        </p:nvSpPr>
        <p:spPr>
          <a:xfrm>
            <a:off x="11054080" y="376111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79" name="Box 78"/>
          <p:cNvSpPr/>
          <p:nvPr/>
        </p:nvSpPr>
        <p:spPr>
          <a:xfrm>
            <a:off x="9429750" y="3730129"/>
            <a:ext cx="1587500" cy="375841"/>
          </a:xfrm>
          <a:prstGeom prst="rect">
            <a:avLst/>
          </a:prstGeom>
          <a:solidFill>
            <a:srgbClr val="FFFFFF"/>
          </a:solidFill>
          <a:ln>
            <a:noFill/>
          </a:ln>
        </p:spPr>
        <p:txBody>
          <a:bodyPr rtlCol="0" anchor="ctr"/>
          <a:lstStyle/>
          <a:p>
            <a:pPr algn="ctr"/>
          </a:p>
        </p:txBody>
      </p:sp>
      <p:sp>
        <p:nvSpPr>
          <p:cNvPr id="80" name="Rule 79"/>
          <p:cNvSpPr/>
          <p:nvPr/>
        </p:nvSpPr>
        <p:spPr>
          <a:xfrm>
            <a:off x="9429750" y="3730129"/>
            <a:ext cx="6350" cy="375841"/>
          </a:xfrm>
          <a:prstGeom prst="rect">
            <a:avLst/>
          </a:prstGeom>
          <a:solidFill>
            <a:srgbClr val="D3D9DF"/>
          </a:solidFill>
          <a:ln>
            <a:noFill/>
          </a:ln>
        </p:spPr>
        <p:txBody>
          <a:bodyPr rtlCol="0" anchor="ctr"/>
          <a:lstStyle/>
          <a:p>
            <a:pPr algn="ctr"/>
          </a:p>
        </p:txBody>
      </p:sp>
      <p:sp>
        <p:nvSpPr>
          <p:cNvPr id="81" name="Text 80"/>
          <p:cNvSpPr txBox="1"/>
          <p:nvPr/>
        </p:nvSpPr>
        <p:spPr>
          <a:xfrm>
            <a:off x="9455150" y="3754513"/>
            <a:ext cx="1485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 36 حساباً آخر</a:t>
            </a:r>
          </a:p>
        </p:txBody>
      </p:sp>
      <p:sp>
        <p:nvSpPr>
          <p:cNvPr id="82" name="Box 81"/>
          <p:cNvSpPr/>
          <p:nvPr/>
        </p:nvSpPr>
        <p:spPr>
          <a:xfrm>
            <a:off x="8032750" y="3730129"/>
            <a:ext cx="1397000" cy="375841"/>
          </a:xfrm>
          <a:prstGeom prst="rect">
            <a:avLst/>
          </a:prstGeom>
          <a:solidFill>
            <a:srgbClr val="FFFFFF"/>
          </a:solidFill>
          <a:ln>
            <a:noFill/>
          </a:ln>
        </p:spPr>
        <p:txBody>
          <a:bodyPr rtlCol="0" anchor="ctr"/>
          <a:lstStyle/>
          <a:p>
            <a:pPr algn="ctr"/>
          </a:p>
        </p:txBody>
      </p:sp>
      <p:sp>
        <p:nvSpPr>
          <p:cNvPr id="83" name="Rule 82"/>
          <p:cNvSpPr/>
          <p:nvPr/>
        </p:nvSpPr>
        <p:spPr>
          <a:xfrm>
            <a:off x="8032750" y="3730129"/>
            <a:ext cx="6350" cy="375841"/>
          </a:xfrm>
          <a:prstGeom prst="rect">
            <a:avLst/>
          </a:prstGeom>
          <a:solidFill>
            <a:srgbClr val="D3D9DF"/>
          </a:solidFill>
          <a:ln>
            <a:noFill/>
          </a:ln>
        </p:spPr>
        <p:txBody>
          <a:bodyPr rtlCol="0" anchor="ctr"/>
          <a:lstStyle/>
          <a:p>
            <a:pPr algn="ctr"/>
          </a:p>
        </p:txBody>
      </p:sp>
      <p:sp>
        <p:nvSpPr>
          <p:cNvPr id="84" name="Text 83"/>
          <p:cNvSpPr txBox="1"/>
          <p:nvPr/>
        </p:nvSpPr>
        <p:spPr>
          <a:xfrm>
            <a:off x="8058150" y="3754513"/>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85" name="Box 84"/>
          <p:cNvSpPr/>
          <p:nvPr/>
        </p:nvSpPr>
        <p:spPr>
          <a:xfrm>
            <a:off x="6508750" y="3730129"/>
            <a:ext cx="1524000" cy="375841"/>
          </a:xfrm>
          <a:prstGeom prst="rect">
            <a:avLst/>
          </a:prstGeom>
          <a:solidFill>
            <a:srgbClr val="FFFFFF"/>
          </a:solidFill>
          <a:ln>
            <a:noFill/>
          </a:ln>
        </p:spPr>
        <p:txBody>
          <a:bodyPr rtlCol="0" anchor="ctr"/>
          <a:lstStyle/>
          <a:p>
            <a:pPr algn="ctr"/>
          </a:p>
        </p:txBody>
      </p:sp>
      <p:sp>
        <p:nvSpPr>
          <p:cNvPr id="86" name="Rule 85"/>
          <p:cNvSpPr/>
          <p:nvPr/>
        </p:nvSpPr>
        <p:spPr>
          <a:xfrm>
            <a:off x="6508750" y="3730129"/>
            <a:ext cx="6350" cy="375841"/>
          </a:xfrm>
          <a:prstGeom prst="rect">
            <a:avLst/>
          </a:prstGeom>
          <a:solidFill>
            <a:srgbClr val="D3D9DF"/>
          </a:solidFill>
          <a:ln>
            <a:noFill/>
          </a:ln>
        </p:spPr>
        <p:txBody>
          <a:bodyPr rtlCol="0" anchor="ctr"/>
          <a:lstStyle/>
          <a:p>
            <a:pPr algn="ctr"/>
          </a:p>
        </p:txBody>
      </p:sp>
      <p:sp>
        <p:nvSpPr>
          <p:cNvPr id="87" name="Text 86"/>
          <p:cNvSpPr txBox="1"/>
          <p:nvPr/>
        </p:nvSpPr>
        <p:spPr>
          <a:xfrm>
            <a:off x="6534150" y="3754513"/>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88" name="Box 87"/>
          <p:cNvSpPr/>
          <p:nvPr/>
        </p:nvSpPr>
        <p:spPr>
          <a:xfrm>
            <a:off x="4883150" y="3730129"/>
            <a:ext cx="1625600" cy="375841"/>
          </a:xfrm>
          <a:prstGeom prst="rect">
            <a:avLst/>
          </a:prstGeom>
          <a:solidFill>
            <a:srgbClr val="FFFFFF"/>
          </a:solidFill>
          <a:ln>
            <a:noFill/>
          </a:ln>
        </p:spPr>
        <p:txBody>
          <a:bodyPr rtlCol="0" anchor="ctr"/>
          <a:lstStyle/>
          <a:p>
            <a:pPr algn="ctr"/>
          </a:p>
        </p:txBody>
      </p:sp>
      <p:sp>
        <p:nvSpPr>
          <p:cNvPr id="89" name="Rule 88"/>
          <p:cNvSpPr/>
          <p:nvPr/>
        </p:nvSpPr>
        <p:spPr>
          <a:xfrm>
            <a:off x="4883150" y="3730129"/>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4908550" y="3754513"/>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91" name="Rule 90"/>
          <p:cNvSpPr/>
          <p:nvPr/>
        </p:nvSpPr>
        <p:spPr>
          <a:xfrm>
            <a:off x="4883150" y="4488160"/>
            <a:ext cx="6489700" cy="6350"/>
          </a:xfrm>
          <a:prstGeom prst="rect">
            <a:avLst/>
          </a:prstGeom>
          <a:solidFill>
            <a:srgbClr val="D3D9DF"/>
          </a:solidFill>
          <a:ln>
            <a:noFill/>
          </a:ln>
        </p:spPr>
        <p:txBody>
          <a:bodyPr rtlCol="0" anchor="ctr"/>
          <a:lstStyle/>
          <a:p>
            <a:pPr algn="ctr"/>
          </a:p>
        </p:txBody>
      </p:sp>
      <p:sp>
        <p:nvSpPr>
          <p:cNvPr id="92" name="Box 91"/>
          <p:cNvSpPr/>
          <p:nvPr/>
        </p:nvSpPr>
        <p:spPr>
          <a:xfrm>
            <a:off x="11017250" y="4112320"/>
            <a:ext cx="355600" cy="375841"/>
          </a:xfrm>
          <a:prstGeom prst="rect">
            <a:avLst/>
          </a:prstGeom>
          <a:solidFill>
            <a:srgbClr val="EEF1F4"/>
          </a:solidFill>
          <a:ln>
            <a:noFill/>
          </a:ln>
        </p:spPr>
        <p:txBody>
          <a:bodyPr rtlCol="0" anchor="ctr"/>
          <a:lstStyle/>
          <a:p>
            <a:pPr algn="ctr"/>
          </a:p>
        </p:txBody>
      </p:sp>
      <p:sp>
        <p:nvSpPr>
          <p:cNvPr id="93" name="Rule 92"/>
          <p:cNvSpPr/>
          <p:nvPr/>
        </p:nvSpPr>
        <p:spPr>
          <a:xfrm>
            <a:off x="11017250" y="4112320"/>
            <a:ext cx="6350" cy="375841"/>
          </a:xfrm>
          <a:prstGeom prst="rect">
            <a:avLst/>
          </a:prstGeom>
          <a:solidFill>
            <a:srgbClr val="D3D9DF"/>
          </a:solidFill>
          <a:ln>
            <a:noFill/>
          </a:ln>
        </p:spPr>
        <p:txBody>
          <a:bodyPr rtlCol="0" anchor="ctr"/>
          <a:lstStyle/>
          <a:p>
            <a:pPr algn="ctr"/>
          </a:p>
        </p:txBody>
      </p:sp>
      <p:sp>
        <p:nvSpPr>
          <p:cNvPr id="94" name="Text 93"/>
          <p:cNvSpPr txBox="1"/>
          <p:nvPr/>
        </p:nvSpPr>
        <p:spPr>
          <a:xfrm>
            <a:off x="11054080" y="414330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95" name="Box 94"/>
          <p:cNvSpPr/>
          <p:nvPr/>
        </p:nvSpPr>
        <p:spPr>
          <a:xfrm>
            <a:off x="9429750" y="4112320"/>
            <a:ext cx="1587500" cy="375841"/>
          </a:xfrm>
          <a:prstGeom prst="rect">
            <a:avLst/>
          </a:prstGeom>
          <a:solidFill>
            <a:srgbClr val="FBEFD9"/>
          </a:solidFill>
          <a:ln>
            <a:noFill/>
          </a:ln>
        </p:spPr>
        <p:txBody>
          <a:bodyPr rtlCol="0" anchor="ctr"/>
          <a:lstStyle/>
          <a:p>
            <a:pPr algn="ctr"/>
          </a:p>
        </p:txBody>
      </p:sp>
      <p:sp>
        <p:nvSpPr>
          <p:cNvPr id="96" name="Rule 95"/>
          <p:cNvSpPr/>
          <p:nvPr/>
        </p:nvSpPr>
        <p:spPr>
          <a:xfrm>
            <a:off x="9429750" y="4112320"/>
            <a:ext cx="6350" cy="375841"/>
          </a:xfrm>
          <a:prstGeom prst="rect">
            <a:avLst/>
          </a:prstGeom>
          <a:solidFill>
            <a:srgbClr val="D3D9DF"/>
          </a:solidFill>
          <a:ln>
            <a:noFill/>
          </a:ln>
        </p:spPr>
        <p:txBody>
          <a:bodyPr rtlCol="0" anchor="ctr"/>
          <a:lstStyle/>
          <a:p>
            <a:pPr algn="ctr"/>
          </a:p>
        </p:txBody>
      </p:sp>
      <p:sp>
        <p:nvSpPr>
          <p:cNvPr id="97" name="Text 96"/>
          <p:cNvSpPr txBox="1"/>
          <p:nvPr/>
        </p:nvSpPr>
        <p:spPr>
          <a:xfrm>
            <a:off x="9455150" y="4136704"/>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test</a:t>
            </a:r>
          </a:p>
        </p:txBody>
      </p:sp>
      <p:sp>
        <p:nvSpPr>
          <p:cNvPr id="98" name="Box 97"/>
          <p:cNvSpPr/>
          <p:nvPr/>
        </p:nvSpPr>
        <p:spPr>
          <a:xfrm>
            <a:off x="8032750" y="4112320"/>
            <a:ext cx="1397000" cy="375841"/>
          </a:xfrm>
          <a:prstGeom prst="rect">
            <a:avLst/>
          </a:prstGeom>
          <a:solidFill>
            <a:srgbClr val="FBEFD9"/>
          </a:solidFill>
          <a:ln>
            <a:noFill/>
          </a:ln>
        </p:spPr>
        <p:txBody>
          <a:bodyPr rtlCol="0" anchor="ctr"/>
          <a:lstStyle/>
          <a:p>
            <a:pPr algn="ctr"/>
          </a:p>
        </p:txBody>
      </p:sp>
      <p:sp>
        <p:nvSpPr>
          <p:cNvPr id="99" name="Rule 98"/>
          <p:cNvSpPr/>
          <p:nvPr/>
        </p:nvSpPr>
        <p:spPr>
          <a:xfrm>
            <a:off x="8032750" y="4112320"/>
            <a:ext cx="6350" cy="375841"/>
          </a:xfrm>
          <a:prstGeom prst="rect">
            <a:avLst/>
          </a:prstGeom>
          <a:solidFill>
            <a:srgbClr val="D3D9DF"/>
          </a:solidFill>
          <a:ln>
            <a:noFill/>
          </a:ln>
        </p:spPr>
        <p:txBody>
          <a:bodyPr rtlCol="0" anchor="ctr"/>
          <a:lstStyle/>
          <a:p>
            <a:pPr algn="ctr"/>
          </a:p>
        </p:txBody>
      </p:sp>
      <p:sp>
        <p:nvSpPr>
          <p:cNvPr id="100" name="Text 99"/>
          <p:cNvSpPr txBox="1"/>
          <p:nvPr/>
        </p:nvSpPr>
        <p:spPr>
          <a:xfrm>
            <a:off x="8058150" y="4136704"/>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01" name="Box 100"/>
          <p:cNvSpPr/>
          <p:nvPr/>
        </p:nvSpPr>
        <p:spPr>
          <a:xfrm>
            <a:off x="6508750" y="4112320"/>
            <a:ext cx="1524000" cy="375841"/>
          </a:xfrm>
          <a:prstGeom prst="rect">
            <a:avLst/>
          </a:prstGeom>
          <a:solidFill>
            <a:srgbClr val="FBEFD9"/>
          </a:solidFill>
          <a:ln>
            <a:noFill/>
          </a:ln>
        </p:spPr>
        <p:txBody>
          <a:bodyPr rtlCol="0" anchor="ctr"/>
          <a:lstStyle/>
          <a:p>
            <a:pPr algn="ctr"/>
          </a:p>
        </p:txBody>
      </p:sp>
      <p:sp>
        <p:nvSpPr>
          <p:cNvPr id="102" name="Rule 101"/>
          <p:cNvSpPr/>
          <p:nvPr/>
        </p:nvSpPr>
        <p:spPr>
          <a:xfrm>
            <a:off x="6508750" y="4112320"/>
            <a:ext cx="6350" cy="375841"/>
          </a:xfrm>
          <a:prstGeom prst="rect">
            <a:avLst/>
          </a:prstGeom>
          <a:solidFill>
            <a:srgbClr val="D3D9DF"/>
          </a:solidFill>
          <a:ln>
            <a:noFill/>
          </a:ln>
        </p:spPr>
        <p:txBody>
          <a:bodyPr rtlCol="0" anchor="ctr"/>
          <a:lstStyle/>
          <a:p>
            <a:pPr algn="ctr"/>
          </a:p>
        </p:txBody>
      </p:sp>
      <p:sp>
        <p:nvSpPr>
          <p:cNvPr id="103" name="Text 102"/>
          <p:cNvSpPr txBox="1"/>
          <p:nvPr/>
        </p:nvSpPr>
        <p:spPr>
          <a:xfrm>
            <a:off x="6534150" y="4136704"/>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04" name="Box 103"/>
          <p:cNvSpPr/>
          <p:nvPr/>
        </p:nvSpPr>
        <p:spPr>
          <a:xfrm>
            <a:off x="4883150" y="4112320"/>
            <a:ext cx="1625600" cy="375841"/>
          </a:xfrm>
          <a:prstGeom prst="rect">
            <a:avLst/>
          </a:prstGeom>
          <a:solidFill>
            <a:srgbClr val="FBEFD9"/>
          </a:solidFill>
          <a:ln>
            <a:noFill/>
          </a:ln>
        </p:spPr>
        <p:txBody>
          <a:bodyPr rtlCol="0" anchor="ctr"/>
          <a:lstStyle/>
          <a:p>
            <a:pPr algn="ctr"/>
          </a:p>
        </p:txBody>
      </p:sp>
      <p:sp>
        <p:nvSpPr>
          <p:cNvPr id="105" name="Rule 104"/>
          <p:cNvSpPr/>
          <p:nvPr/>
        </p:nvSpPr>
        <p:spPr>
          <a:xfrm>
            <a:off x="4883150" y="4112320"/>
            <a:ext cx="6350" cy="375841"/>
          </a:xfrm>
          <a:prstGeom prst="rect">
            <a:avLst/>
          </a:prstGeom>
          <a:solidFill>
            <a:srgbClr val="D3D9DF"/>
          </a:solidFill>
          <a:ln>
            <a:noFill/>
          </a:ln>
        </p:spPr>
        <p:txBody>
          <a:bodyPr rtlCol="0" anchor="ctr"/>
          <a:lstStyle/>
          <a:p>
            <a:pPr algn="ctr"/>
          </a:p>
        </p:txBody>
      </p:sp>
      <p:sp>
        <p:nvSpPr>
          <p:cNvPr id="106" name="Text 105"/>
          <p:cNvSpPr txBox="1"/>
          <p:nvPr/>
        </p:nvSpPr>
        <p:spPr>
          <a:xfrm>
            <a:off x="4908550" y="4136704"/>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07" name="Rule 106"/>
          <p:cNvSpPr/>
          <p:nvPr/>
        </p:nvSpPr>
        <p:spPr>
          <a:xfrm>
            <a:off x="4883150" y="4870351"/>
            <a:ext cx="6489700" cy="6350"/>
          </a:xfrm>
          <a:prstGeom prst="rect">
            <a:avLst/>
          </a:prstGeom>
          <a:solidFill>
            <a:srgbClr val="D3D9DF"/>
          </a:solidFill>
          <a:ln>
            <a:noFill/>
          </a:ln>
        </p:spPr>
        <p:txBody>
          <a:bodyPr rtlCol="0" anchor="ctr"/>
          <a:lstStyle/>
          <a:p>
            <a:pPr algn="ctr"/>
          </a:p>
        </p:txBody>
      </p:sp>
      <p:sp>
        <p:nvSpPr>
          <p:cNvPr id="108" name="Box 107"/>
          <p:cNvSpPr/>
          <p:nvPr/>
        </p:nvSpPr>
        <p:spPr>
          <a:xfrm>
            <a:off x="11017250" y="4494510"/>
            <a:ext cx="355600" cy="375841"/>
          </a:xfrm>
          <a:prstGeom prst="rect">
            <a:avLst/>
          </a:prstGeom>
          <a:solidFill>
            <a:srgbClr val="EEF1F4"/>
          </a:solidFill>
          <a:ln>
            <a:noFill/>
          </a:ln>
        </p:spPr>
        <p:txBody>
          <a:bodyPr rtlCol="0" anchor="ctr"/>
          <a:lstStyle/>
          <a:p>
            <a:pPr algn="ctr"/>
          </a:p>
        </p:txBody>
      </p:sp>
      <p:sp>
        <p:nvSpPr>
          <p:cNvPr id="109" name="Rule 108"/>
          <p:cNvSpPr/>
          <p:nvPr/>
        </p:nvSpPr>
        <p:spPr>
          <a:xfrm>
            <a:off x="11017250" y="4494510"/>
            <a:ext cx="6350" cy="375841"/>
          </a:xfrm>
          <a:prstGeom prst="rect">
            <a:avLst/>
          </a:prstGeom>
          <a:solidFill>
            <a:srgbClr val="D3D9DF"/>
          </a:solidFill>
          <a:ln>
            <a:noFill/>
          </a:ln>
        </p:spPr>
        <p:txBody>
          <a:bodyPr rtlCol="0" anchor="ctr"/>
          <a:lstStyle/>
          <a:p>
            <a:pPr algn="ctr"/>
          </a:p>
        </p:txBody>
      </p:sp>
      <p:sp>
        <p:nvSpPr>
          <p:cNvPr id="110" name="Text 109"/>
          <p:cNvSpPr txBox="1"/>
          <p:nvPr/>
        </p:nvSpPr>
        <p:spPr>
          <a:xfrm>
            <a:off x="11054080" y="452549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6</a:t>
            </a:r>
          </a:p>
        </p:txBody>
      </p:sp>
      <p:sp>
        <p:nvSpPr>
          <p:cNvPr id="111" name="Box 110"/>
          <p:cNvSpPr/>
          <p:nvPr/>
        </p:nvSpPr>
        <p:spPr>
          <a:xfrm>
            <a:off x="9429750" y="4494510"/>
            <a:ext cx="1587500" cy="375841"/>
          </a:xfrm>
          <a:prstGeom prst="rect">
            <a:avLst/>
          </a:prstGeom>
          <a:solidFill>
            <a:srgbClr val="FBEFD9"/>
          </a:solidFill>
          <a:ln>
            <a:noFill/>
          </a:ln>
        </p:spPr>
        <p:txBody>
          <a:bodyPr rtlCol="0" anchor="ctr"/>
          <a:lstStyle/>
          <a:p>
            <a:pPr algn="ctr"/>
          </a:p>
        </p:txBody>
      </p:sp>
      <p:sp>
        <p:nvSpPr>
          <p:cNvPr id="112" name="Rule 111"/>
          <p:cNvSpPr/>
          <p:nvPr/>
        </p:nvSpPr>
        <p:spPr>
          <a:xfrm>
            <a:off x="9429750" y="4494510"/>
            <a:ext cx="6350" cy="375841"/>
          </a:xfrm>
          <a:prstGeom prst="rect">
            <a:avLst/>
          </a:prstGeom>
          <a:solidFill>
            <a:srgbClr val="D3D9DF"/>
          </a:solidFill>
          <a:ln>
            <a:noFill/>
          </a:ln>
        </p:spPr>
        <p:txBody>
          <a:bodyPr rtlCol="0" anchor="ctr"/>
          <a:lstStyle/>
          <a:p>
            <a:pPr algn="ctr"/>
          </a:p>
        </p:txBody>
      </p:sp>
      <p:sp>
        <p:nvSpPr>
          <p:cNvPr id="113" name="Text 112"/>
          <p:cNvSpPr txBox="1"/>
          <p:nvPr/>
        </p:nvSpPr>
        <p:spPr>
          <a:xfrm>
            <a:off x="9455150" y="4518894"/>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p:txBody>
      </p:sp>
      <p:sp>
        <p:nvSpPr>
          <p:cNvPr id="114" name="Box 113"/>
          <p:cNvSpPr/>
          <p:nvPr/>
        </p:nvSpPr>
        <p:spPr>
          <a:xfrm>
            <a:off x="8032750" y="4494510"/>
            <a:ext cx="1397000" cy="375841"/>
          </a:xfrm>
          <a:prstGeom prst="rect">
            <a:avLst/>
          </a:prstGeom>
          <a:solidFill>
            <a:srgbClr val="FBEFD9"/>
          </a:solidFill>
          <a:ln>
            <a:noFill/>
          </a:ln>
        </p:spPr>
        <p:txBody>
          <a:bodyPr rtlCol="0" anchor="ctr"/>
          <a:lstStyle/>
          <a:p>
            <a:pPr algn="ctr"/>
          </a:p>
        </p:txBody>
      </p:sp>
      <p:sp>
        <p:nvSpPr>
          <p:cNvPr id="115" name="Rule 114"/>
          <p:cNvSpPr/>
          <p:nvPr/>
        </p:nvSpPr>
        <p:spPr>
          <a:xfrm>
            <a:off x="8032750" y="4494510"/>
            <a:ext cx="6350" cy="375841"/>
          </a:xfrm>
          <a:prstGeom prst="rect">
            <a:avLst/>
          </a:prstGeom>
          <a:solidFill>
            <a:srgbClr val="D3D9DF"/>
          </a:solidFill>
          <a:ln>
            <a:noFill/>
          </a:ln>
        </p:spPr>
        <p:txBody>
          <a:bodyPr rtlCol="0" anchor="ctr"/>
          <a:lstStyle/>
          <a:p>
            <a:pPr algn="ctr"/>
          </a:p>
        </p:txBody>
      </p:sp>
      <p:sp>
        <p:nvSpPr>
          <p:cNvPr id="116" name="Text 115"/>
          <p:cNvSpPr txBox="1"/>
          <p:nvPr/>
        </p:nvSpPr>
        <p:spPr>
          <a:xfrm>
            <a:off x="8058150" y="4518894"/>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17" name="Box 116"/>
          <p:cNvSpPr/>
          <p:nvPr/>
        </p:nvSpPr>
        <p:spPr>
          <a:xfrm>
            <a:off x="6508750" y="4494510"/>
            <a:ext cx="1524000" cy="375841"/>
          </a:xfrm>
          <a:prstGeom prst="rect">
            <a:avLst/>
          </a:prstGeom>
          <a:solidFill>
            <a:srgbClr val="FBEFD9"/>
          </a:solidFill>
          <a:ln>
            <a:noFill/>
          </a:ln>
        </p:spPr>
        <p:txBody>
          <a:bodyPr rtlCol="0" anchor="ctr"/>
          <a:lstStyle/>
          <a:p>
            <a:pPr algn="ctr"/>
          </a:p>
        </p:txBody>
      </p:sp>
      <p:sp>
        <p:nvSpPr>
          <p:cNvPr id="118" name="Rule 117"/>
          <p:cNvSpPr/>
          <p:nvPr/>
        </p:nvSpPr>
        <p:spPr>
          <a:xfrm>
            <a:off x="6508750" y="4494510"/>
            <a:ext cx="6350" cy="375841"/>
          </a:xfrm>
          <a:prstGeom prst="rect">
            <a:avLst/>
          </a:prstGeom>
          <a:solidFill>
            <a:srgbClr val="D3D9DF"/>
          </a:solidFill>
          <a:ln>
            <a:noFill/>
          </a:ln>
        </p:spPr>
        <p:txBody>
          <a:bodyPr rtlCol="0" anchor="ctr"/>
          <a:lstStyle/>
          <a:p>
            <a:pPr algn="ctr"/>
          </a:p>
        </p:txBody>
      </p:sp>
      <p:sp>
        <p:nvSpPr>
          <p:cNvPr id="119" name="Text 118"/>
          <p:cNvSpPr txBox="1"/>
          <p:nvPr/>
        </p:nvSpPr>
        <p:spPr>
          <a:xfrm>
            <a:off x="6534150" y="4518894"/>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20" name="Box 119"/>
          <p:cNvSpPr/>
          <p:nvPr/>
        </p:nvSpPr>
        <p:spPr>
          <a:xfrm>
            <a:off x="4883150" y="4494510"/>
            <a:ext cx="1625600" cy="375841"/>
          </a:xfrm>
          <a:prstGeom prst="rect">
            <a:avLst/>
          </a:prstGeom>
          <a:solidFill>
            <a:srgbClr val="FBEFD9"/>
          </a:solidFill>
          <a:ln>
            <a:noFill/>
          </a:ln>
        </p:spPr>
        <p:txBody>
          <a:bodyPr rtlCol="0" anchor="ctr"/>
          <a:lstStyle/>
          <a:p>
            <a:pPr algn="ctr"/>
          </a:p>
        </p:txBody>
      </p:sp>
      <p:sp>
        <p:nvSpPr>
          <p:cNvPr id="121" name="Rule 120"/>
          <p:cNvSpPr/>
          <p:nvPr/>
        </p:nvSpPr>
        <p:spPr>
          <a:xfrm>
            <a:off x="4883150" y="4494510"/>
            <a:ext cx="6350" cy="375841"/>
          </a:xfrm>
          <a:prstGeom prst="rect">
            <a:avLst/>
          </a:prstGeom>
          <a:solidFill>
            <a:srgbClr val="D3D9DF"/>
          </a:solidFill>
          <a:ln>
            <a:noFill/>
          </a:ln>
        </p:spPr>
        <p:txBody>
          <a:bodyPr rtlCol="0" anchor="ctr"/>
          <a:lstStyle/>
          <a:p>
            <a:pPr algn="ctr"/>
          </a:p>
        </p:txBody>
      </p:sp>
      <p:sp>
        <p:nvSpPr>
          <p:cNvPr id="122" name="Text 121"/>
          <p:cNvSpPr txBox="1"/>
          <p:nvPr/>
        </p:nvSpPr>
        <p:spPr>
          <a:xfrm>
            <a:off x="4908550" y="4518894"/>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23" name="Rule 122"/>
          <p:cNvSpPr/>
          <p:nvPr/>
        </p:nvSpPr>
        <p:spPr>
          <a:xfrm>
            <a:off x="4883150" y="5252541"/>
            <a:ext cx="6489700" cy="6350"/>
          </a:xfrm>
          <a:prstGeom prst="rect">
            <a:avLst/>
          </a:prstGeom>
          <a:solidFill>
            <a:srgbClr val="D3D9DF"/>
          </a:solidFill>
          <a:ln>
            <a:noFill/>
          </a:ln>
        </p:spPr>
        <p:txBody>
          <a:bodyPr rtlCol="0" anchor="ctr"/>
          <a:lstStyle/>
          <a:p>
            <a:pPr algn="ctr"/>
          </a:p>
        </p:txBody>
      </p:sp>
      <p:sp>
        <p:nvSpPr>
          <p:cNvPr id="124" name="Box 123"/>
          <p:cNvSpPr/>
          <p:nvPr/>
        </p:nvSpPr>
        <p:spPr>
          <a:xfrm>
            <a:off x="11017250" y="4876701"/>
            <a:ext cx="355600" cy="375841"/>
          </a:xfrm>
          <a:prstGeom prst="roundRect">
            <a:avLst>
              <a:gd name="adj" fmla="val 3125"/>
            </a:avLst>
          </a:prstGeom>
          <a:solidFill>
            <a:srgbClr val="EEF1F4"/>
          </a:solidFill>
          <a:ln>
            <a:noFill/>
          </a:ln>
        </p:spPr>
        <p:txBody>
          <a:bodyPr rtlCol="0" anchor="ctr"/>
          <a:lstStyle/>
          <a:p>
            <a:pPr algn="ctr"/>
          </a:p>
        </p:txBody>
      </p:sp>
      <p:sp>
        <p:nvSpPr>
          <p:cNvPr id="125" name="Rule 124"/>
          <p:cNvSpPr/>
          <p:nvPr/>
        </p:nvSpPr>
        <p:spPr>
          <a:xfrm>
            <a:off x="11017250" y="4876701"/>
            <a:ext cx="6350" cy="375841"/>
          </a:xfrm>
          <a:prstGeom prst="rect">
            <a:avLst/>
          </a:prstGeom>
          <a:solidFill>
            <a:srgbClr val="D3D9DF"/>
          </a:solidFill>
          <a:ln>
            <a:noFill/>
          </a:ln>
        </p:spPr>
        <p:txBody>
          <a:bodyPr rtlCol="0" anchor="ctr"/>
          <a:lstStyle/>
          <a:p>
            <a:pPr algn="ctr"/>
          </a:p>
        </p:txBody>
      </p:sp>
      <p:sp>
        <p:nvSpPr>
          <p:cNvPr id="126" name="Text 125"/>
          <p:cNvSpPr txBox="1"/>
          <p:nvPr/>
        </p:nvSpPr>
        <p:spPr>
          <a:xfrm>
            <a:off x="11054080" y="4907689"/>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7</a:t>
            </a:r>
          </a:p>
        </p:txBody>
      </p:sp>
      <p:sp>
        <p:nvSpPr>
          <p:cNvPr id="127" name="Box 126"/>
          <p:cNvSpPr/>
          <p:nvPr/>
        </p:nvSpPr>
        <p:spPr>
          <a:xfrm>
            <a:off x="9429750" y="4876701"/>
            <a:ext cx="1587500" cy="375841"/>
          </a:xfrm>
          <a:prstGeom prst="rect">
            <a:avLst/>
          </a:prstGeom>
          <a:solidFill>
            <a:srgbClr val="FBEFD9"/>
          </a:solidFill>
          <a:ln>
            <a:noFill/>
          </a:ln>
        </p:spPr>
        <p:txBody>
          <a:bodyPr rtlCol="0" anchor="ctr"/>
          <a:lstStyle/>
          <a:p>
            <a:pPr algn="ctr"/>
          </a:p>
        </p:txBody>
      </p:sp>
      <p:sp>
        <p:nvSpPr>
          <p:cNvPr id="128" name="Rule 127"/>
          <p:cNvSpPr/>
          <p:nvPr/>
        </p:nvSpPr>
        <p:spPr>
          <a:xfrm>
            <a:off x="9429750" y="4876701"/>
            <a:ext cx="6350" cy="375841"/>
          </a:xfrm>
          <a:prstGeom prst="rect">
            <a:avLst/>
          </a:prstGeom>
          <a:solidFill>
            <a:srgbClr val="D3D9DF"/>
          </a:solidFill>
          <a:ln>
            <a:noFill/>
          </a:ln>
        </p:spPr>
        <p:txBody>
          <a:bodyPr rtlCol="0" anchor="ctr"/>
          <a:lstStyle/>
          <a:p>
            <a:pPr algn="ctr"/>
          </a:p>
        </p:txBody>
      </p:sp>
      <p:sp>
        <p:nvSpPr>
          <p:cNvPr id="129" name="Text 128"/>
          <p:cNvSpPr txBox="1"/>
          <p:nvPr/>
        </p:nvSpPr>
        <p:spPr>
          <a:xfrm>
            <a:off x="9455150" y="4901085"/>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p:txBody>
      </p:sp>
      <p:sp>
        <p:nvSpPr>
          <p:cNvPr id="130" name="Box 129"/>
          <p:cNvSpPr/>
          <p:nvPr/>
        </p:nvSpPr>
        <p:spPr>
          <a:xfrm>
            <a:off x="8032750" y="4876701"/>
            <a:ext cx="1397000" cy="375841"/>
          </a:xfrm>
          <a:prstGeom prst="rect">
            <a:avLst/>
          </a:prstGeom>
          <a:solidFill>
            <a:srgbClr val="FBEFD9"/>
          </a:solidFill>
          <a:ln>
            <a:noFill/>
          </a:ln>
        </p:spPr>
        <p:txBody>
          <a:bodyPr rtlCol="0" anchor="ctr"/>
          <a:lstStyle/>
          <a:p>
            <a:pPr algn="ctr"/>
          </a:p>
        </p:txBody>
      </p:sp>
      <p:sp>
        <p:nvSpPr>
          <p:cNvPr id="131" name="Rule 130"/>
          <p:cNvSpPr/>
          <p:nvPr/>
        </p:nvSpPr>
        <p:spPr>
          <a:xfrm>
            <a:off x="8032750" y="4876701"/>
            <a:ext cx="6350" cy="375841"/>
          </a:xfrm>
          <a:prstGeom prst="rect">
            <a:avLst/>
          </a:prstGeom>
          <a:solidFill>
            <a:srgbClr val="D3D9DF"/>
          </a:solidFill>
          <a:ln>
            <a:noFill/>
          </a:ln>
        </p:spPr>
        <p:txBody>
          <a:bodyPr rtlCol="0" anchor="ctr"/>
          <a:lstStyle/>
          <a:p>
            <a:pPr algn="ctr"/>
          </a:p>
        </p:txBody>
      </p:sp>
      <p:sp>
        <p:nvSpPr>
          <p:cNvPr id="132" name="Text 131"/>
          <p:cNvSpPr txBox="1"/>
          <p:nvPr/>
        </p:nvSpPr>
        <p:spPr>
          <a:xfrm>
            <a:off x="8058150" y="4901085"/>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33" name="Box 132"/>
          <p:cNvSpPr/>
          <p:nvPr/>
        </p:nvSpPr>
        <p:spPr>
          <a:xfrm>
            <a:off x="6508750" y="4876701"/>
            <a:ext cx="1524000" cy="375841"/>
          </a:xfrm>
          <a:prstGeom prst="rect">
            <a:avLst/>
          </a:prstGeom>
          <a:solidFill>
            <a:srgbClr val="FBEFD9"/>
          </a:solidFill>
          <a:ln>
            <a:noFill/>
          </a:ln>
        </p:spPr>
        <p:txBody>
          <a:bodyPr rtlCol="0" anchor="ctr"/>
          <a:lstStyle/>
          <a:p>
            <a:pPr algn="ctr"/>
          </a:p>
        </p:txBody>
      </p:sp>
      <p:sp>
        <p:nvSpPr>
          <p:cNvPr id="134" name="Rule 133"/>
          <p:cNvSpPr/>
          <p:nvPr/>
        </p:nvSpPr>
        <p:spPr>
          <a:xfrm>
            <a:off x="6508750" y="4876701"/>
            <a:ext cx="6350" cy="375841"/>
          </a:xfrm>
          <a:prstGeom prst="rect">
            <a:avLst/>
          </a:prstGeom>
          <a:solidFill>
            <a:srgbClr val="D3D9DF"/>
          </a:solidFill>
          <a:ln>
            <a:noFill/>
          </a:ln>
        </p:spPr>
        <p:txBody>
          <a:bodyPr rtlCol="0" anchor="ctr"/>
          <a:lstStyle/>
          <a:p>
            <a:pPr algn="ctr"/>
          </a:p>
        </p:txBody>
      </p:sp>
      <p:sp>
        <p:nvSpPr>
          <p:cNvPr id="135" name="Text 134"/>
          <p:cNvSpPr txBox="1"/>
          <p:nvPr/>
        </p:nvSpPr>
        <p:spPr>
          <a:xfrm>
            <a:off x="6534150" y="4901085"/>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36" name="Box 135"/>
          <p:cNvSpPr/>
          <p:nvPr/>
        </p:nvSpPr>
        <p:spPr>
          <a:xfrm>
            <a:off x="4883150" y="4876701"/>
            <a:ext cx="1625600" cy="375841"/>
          </a:xfrm>
          <a:prstGeom prst="roundRect">
            <a:avLst>
              <a:gd name="adj" fmla="val 2956"/>
            </a:avLst>
          </a:prstGeom>
          <a:solidFill>
            <a:srgbClr val="FBEFD9"/>
          </a:solidFill>
          <a:ln>
            <a:noFill/>
          </a:ln>
        </p:spPr>
        <p:txBody>
          <a:bodyPr rtlCol="0" anchor="ctr"/>
          <a:lstStyle/>
          <a:p>
            <a:pPr algn="ctr"/>
          </a:p>
        </p:txBody>
      </p:sp>
      <p:sp>
        <p:nvSpPr>
          <p:cNvPr id="137" name="Rule 136"/>
          <p:cNvSpPr/>
          <p:nvPr/>
        </p:nvSpPr>
        <p:spPr>
          <a:xfrm>
            <a:off x="4883150" y="4876701"/>
            <a:ext cx="6350" cy="375841"/>
          </a:xfrm>
          <a:prstGeom prst="rect">
            <a:avLst/>
          </a:prstGeom>
          <a:solidFill>
            <a:srgbClr val="D3D9DF"/>
          </a:solidFill>
          <a:ln>
            <a:noFill/>
          </a:ln>
        </p:spPr>
        <p:txBody>
          <a:bodyPr rtlCol="0" anchor="ctr"/>
          <a:lstStyle/>
          <a:p>
            <a:pPr algn="ctr"/>
          </a:p>
        </p:txBody>
      </p:sp>
      <p:sp>
        <p:nvSpPr>
          <p:cNvPr id="138" name="Text 137"/>
          <p:cNvSpPr txBox="1"/>
          <p:nvPr/>
        </p:nvSpPr>
        <p:spPr>
          <a:xfrm>
            <a:off x="4908550" y="4901085"/>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39" name="Text 138"/>
          <p:cNvSpPr txBox="1"/>
          <p:nvPr/>
        </p:nvSpPr>
        <p:spPr>
          <a:xfrm>
            <a:off x="4356608" y="5322645"/>
            <a:ext cx="702259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41 حساباً اتصلت · 38 منها أعضاء في المجموعة · 3 خارجها</a:t>
            </a:r>
          </a:p>
        </p:txBody>
      </p:sp>
      <p:sp>
        <p:nvSpPr>
          <p:cNvPr id="140" name="Rule 13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41" name="Icon Search 140" descr="icon054.png"/>
          <p:cNvPicPr>
            <a:picLocks noChangeAspect="1"/>
          </p:cNvPicPr>
          <p:nvPr/>
        </p:nvPicPr>
        <p:blipFill>
          <a:blip r:embed="rId2"/>
          <a:stretch>
            <a:fillRect/>
          </a:stretch>
        </p:blipFill>
        <p:spPr>
          <a:xfrm>
            <a:off x="4406900" y="1682055"/>
            <a:ext cx="215900" cy="215900"/>
          </a:xfrm>
          <a:prstGeom prst="rect">
            <a:avLst/>
          </a:prstGeom>
        </p:spPr>
      </p:pic>
      <p:sp>
        <p:nvSpPr>
          <p:cNvPr id="142" name="Text 14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43" name="Text 14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كل معرّف اتصل في الفترة مقابل أعضاء المجموعة:‏ 38 مطابقة، و3 خارجها.</a:t>
            </a:r>
          </a:p>
        </p:txBody>
      </p:sp>
      <p:sp>
        <p:nvSpPr>
          <p:cNvPr id="144" name="Rule 143"/>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145" name="Icon CheckCircle 144" descr="icon055.png"/>
          <p:cNvPicPr>
            <a:picLocks noChangeAspect="1"/>
          </p:cNvPicPr>
          <p:nvPr/>
        </p:nvPicPr>
        <p:blipFill>
          <a:blip r:embed="rId3"/>
          <a:stretch>
            <a:fillRect/>
          </a:stretch>
        </p:blipFill>
        <p:spPr>
          <a:xfrm>
            <a:off x="4406900" y="2699246"/>
            <a:ext cx="215900" cy="215900"/>
          </a:xfrm>
          <a:prstGeom prst="rect">
            <a:avLst/>
          </a:prstGeom>
        </p:spPr>
      </p:pic>
      <p:sp>
        <p:nvSpPr>
          <p:cNvPr id="146" name="Text 14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47" name="Text 146"/>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من اتصل من خارج مجموعة التحقق، بالاسم.</a:t>
            </a:r>
          </a:p>
        </p:txBody>
      </p:sp>
      <p:sp>
        <p:nvSpPr>
          <p:cNvPr id="148" name="Rule 14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49" name="Icon Warning 148" descr="icon056.png"/>
          <p:cNvPicPr>
            <a:picLocks noChangeAspect="1"/>
          </p:cNvPicPr>
          <p:nvPr/>
        </p:nvPicPr>
        <p:blipFill>
          <a:blip r:embed="rId4"/>
          <a:stretch>
            <a:fillRect/>
          </a:stretch>
        </p:blipFill>
        <p:spPr>
          <a:xfrm>
            <a:off x="4406900" y="3431977"/>
            <a:ext cx="215900" cy="215900"/>
          </a:xfrm>
          <a:prstGeom prst="rect">
            <a:avLst/>
          </a:prstGeom>
        </p:spPr>
      </p:pic>
      <p:sp>
        <p:nvSpPr>
          <p:cNvPr id="150" name="Text 149"/>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51" name="Text 150"/>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طريقة التحقق في اتصالاتهم. وفرق 41 − 38 وحده لا يثبت شيئاً.</a:t>
            </a:r>
          </a:p>
        </p:txBody>
      </p:sp>
      <p:sp>
        <p:nvSpPr>
          <p:cNvPr id="152" name="Rule 151"/>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153" name="Icon Lightbulb 152" descr="icon057.png"/>
          <p:cNvPicPr>
            <a:picLocks noChangeAspect="1"/>
          </p:cNvPicPr>
          <p:nvPr/>
        </p:nvPicPr>
        <p:blipFill>
          <a:blip r:embed="rId5"/>
          <a:stretch>
            <a:fillRect/>
          </a:stretch>
        </p:blipFill>
        <p:spPr>
          <a:xfrm>
            <a:off x="4406900" y="4449167"/>
            <a:ext cx="215900" cy="215900"/>
          </a:xfrm>
          <a:prstGeom prst="rect">
            <a:avLst/>
          </a:prstGeom>
        </p:spPr>
      </p:pic>
      <p:sp>
        <p:nvSpPr>
          <p:cNvPr id="154" name="Text 15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55" name="Text 154"/>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اتصالات الحسابات الثلاثة بعد 10 مارس.</a:t>
            </a:r>
          </a:p>
        </p:txBody>
      </p:sp>
      <p:sp>
        <p:nvSpPr>
          <p:cNvPr id="156" name="Text 15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57" name="Text 15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د6: سجل الاتصالات</a:t>
            </a:r>
          </a:p>
        </p:txBody>
      </p:sp>
      <p:sp>
        <p:nvSpPr>
          <p:cNvPr id="7" name="Box 6"/>
          <p:cNvSpPr/>
          <p:nvPr/>
        </p:nvSpPr>
        <p:spPr>
          <a:xfrm>
            <a:off x="4879975" y="1661120"/>
            <a:ext cx="6496050" cy="3344763"/>
          </a:xfrm>
          <a:prstGeom prst="roundRect">
            <a:avLst>
              <a:gd name="adj" fmla="val 1894"/>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E4E8EC"/>
          </a:solidFill>
          <a:ln>
            <a:noFill/>
          </a:ln>
        </p:spPr>
        <p:txBody>
          <a:bodyPr rtlCol="0" anchor="ctr"/>
          <a:lstStyle/>
          <a:p>
            <a:pPr algn="ctr"/>
          </a:p>
        </p:txBody>
      </p:sp>
      <p:sp>
        <p:nvSpPr>
          <p:cNvPr id="9" name="Text 8"/>
          <p:cNvSpPr txBox="1"/>
          <p:nvPr/>
        </p:nvSpPr>
        <p:spPr>
          <a:xfrm>
            <a:off x="8218313" y="1724493"/>
            <a:ext cx="304023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الاتصالات · مستخرج بعد 10 مارس 2026</a:t>
            </a:r>
          </a:p>
        </p:txBody>
      </p:sp>
      <p:sp>
        <p:nvSpPr>
          <p:cNvPr id="10" name="Text 9"/>
          <p:cNvSpPr txBox="1"/>
          <p:nvPr/>
        </p:nvSpPr>
        <p:spPr>
          <a:xfrm>
            <a:off x="4908550" y="1724493"/>
            <a:ext cx="18306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graphicFrame>
        <p:nvGraphicFramePr>
          <p:cNvPr id="11" name="Table 10"/>
          <p:cNvGraphicFramePr>
            <a:graphicFrameLocks noGrp="1"/>
          </p:cNvGraphicFramePr>
          <p:nvPr/>
        </p:nvGraphicFramePr>
        <p:xfrm>
          <a:off x="4987925" y="2106811"/>
          <a:ext cx="6280150" cy="2854623"/>
        </p:xfrm>
        <a:graphic>
          <a:graphicData uri="http://schemas.openxmlformats.org/drawingml/2006/table">
            <a:tbl>
              <a:tblPr firstRow="0" bandRow="0" lastRow="0" firstCol="0" lastCol="0" bandCol="0">
                <a:tableStyleId>{2D5ABB26-0587-4C30-8999-92F81FD0307C}</a:tableStyleId>
              </a:tblPr>
              <a:tblGrid>
                <a:gridCol w="816610"/>
                <a:gridCol w="1821180"/>
                <a:gridCol w="1569720"/>
                <a:gridCol w="2072640"/>
              </a:tblGrid>
              <a:tr h="318591">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النتيجة</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طريقة التحقق</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الحساب</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الوقت</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test</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2026-03-12 08:14</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s.almutairi</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2026-03-12 08:20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2026-03-19 21:40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2026-04-02 09:05</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2026-04-27 16:22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2026-06-24 22:08</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bl>
          </a:graphicData>
        </a:graphic>
      </p:graphicFrame>
      <p:sp>
        <p:nvSpPr>
          <p:cNvPr id="12" name="Text 11"/>
          <p:cNvSpPr txBox="1"/>
          <p:nvPr/>
        </p:nvSpPr>
        <p:spPr>
          <a:xfrm>
            <a:off x="4356608" y="5048683"/>
            <a:ext cx="7022592"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29 اتصالاً بعد 10 مارس، كلها بكلمة المرور فقط:</a:t>
            </a:r>
          </a:p>
        </p:txBody>
      </p:sp>
      <p:sp>
        <p:nvSpPr>
          <p:cNvPr id="13" name="Text 12"/>
          <p:cNvSpPr txBox="1"/>
          <p:nvPr/>
        </p:nvSpPr>
        <p:spPr>
          <a:xfrm>
            <a:off x="4356608" y="5434703"/>
            <a:ext cx="7022592"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1" i="0">
                <a:solidFill>
                  <a:srgbClr val="172433"/>
                </a:solidFill>
                <a:latin typeface="IBM Plex Sans Arabic"/>
                <a:ea typeface="IBM Plex Sans Arabic"/>
                <a:cs typeface="IBM Plex Sans Arabic"/>
              </a:rPr>
              <a:t>test: 9 · ext-consult01: 6 · it-support02: 14</a:t>
            </a:r>
          </a:p>
        </p:txBody>
      </p:sp>
      <p:sp>
        <p:nvSpPr>
          <p:cNvPr id="14" name="Text 13"/>
          <p:cNvSpPr txBox="1"/>
          <p:nvPr/>
        </p:nvSpPr>
        <p:spPr>
          <a:xfrm>
            <a:off x="4356608" y="5768800"/>
            <a:ext cx="702259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العينة د5 (25 اتصالاً) لم تُظهر إلا حساب test.</a:t>
            </a:r>
          </a:p>
        </p:txBody>
      </p:sp>
      <p:sp>
        <p:nvSpPr>
          <p:cNvPr id="15" name="Rule 14"/>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6" name="Icon Search 15" descr="icon054.png"/>
          <p:cNvPicPr>
            <a:picLocks noChangeAspect="1"/>
          </p:cNvPicPr>
          <p:nvPr/>
        </p:nvPicPr>
        <p:blipFill>
          <a:blip r:embed="rId2"/>
          <a:stretch>
            <a:fillRect/>
          </a:stretch>
        </p:blipFill>
        <p:spPr>
          <a:xfrm>
            <a:off x="4406900" y="1682055"/>
            <a:ext cx="215900" cy="215900"/>
          </a:xfrm>
          <a:prstGeom prst="rect">
            <a:avLst/>
          </a:prstGeom>
        </p:spPr>
      </p:pic>
      <p:sp>
        <p:nvSpPr>
          <p:cNvPr id="17" name="Text 16"/>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8" name="Text 17"/>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29 اتصالاً للحسابات الثلاثة بعد 10 مارس، كلها بكلمة المرور فقط.</a:t>
            </a:r>
          </a:p>
        </p:txBody>
      </p:sp>
      <p:sp>
        <p:nvSpPr>
          <p:cNvPr id="19" name="Rule 18"/>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20" name="Icon CheckCircle 19" descr="icon055.png"/>
          <p:cNvPicPr>
            <a:picLocks noChangeAspect="1"/>
          </p:cNvPicPr>
          <p:nvPr/>
        </p:nvPicPr>
        <p:blipFill>
          <a:blip r:embed="rId3"/>
          <a:stretch>
            <a:fillRect/>
          </a:stretch>
        </p:blipFill>
        <p:spPr>
          <a:xfrm>
            <a:off x="4406900" y="2699246"/>
            <a:ext cx="215900" cy="215900"/>
          </a:xfrm>
          <a:prstGeom prst="rect">
            <a:avLst/>
          </a:prstGeom>
        </p:spPr>
      </p:pic>
      <p:sp>
        <p:nvSpPr>
          <p:cNvPr id="21" name="Text 20"/>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22" name="Text 21"/>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ثلاثة حسابات اتصلت دون عامل ثانٍ بعد التفعيل.</a:t>
            </a:r>
          </a:p>
        </p:txBody>
      </p:sp>
      <p:sp>
        <p:nvSpPr>
          <p:cNvPr id="23" name="Rule 22"/>
          <p:cNvSpPr/>
          <p:nvPr/>
        </p:nvSpPr>
        <p:spPr>
          <a:xfrm>
            <a:off x="812800" y="4058047"/>
            <a:ext cx="3810000" cy="6350"/>
          </a:xfrm>
          <a:prstGeom prst="rect">
            <a:avLst/>
          </a:prstGeom>
          <a:solidFill>
            <a:srgbClr val="DED7C8"/>
          </a:solidFill>
          <a:ln>
            <a:noFill/>
          </a:ln>
        </p:spPr>
        <p:txBody>
          <a:bodyPr rtlCol="0" anchor="ctr"/>
          <a:lstStyle/>
          <a:p>
            <a:pPr algn="ctr"/>
          </a:p>
        </p:txBody>
      </p:sp>
      <p:pic>
        <p:nvPicPr>
          <p:cNvPr id="24" name="Icon Warning 23" descr="icon056.png"/>
          <p:cNvPicPr>
            <a:picLocks noChangeAspect="1"/>
          </p:cNvPicPr>
          <p:nvPr/>
        </p:nvPicPr>
        <p:blipFill>
          <a:blip r:embed="rId4"/>
          <a:stretch>
            <a:fillRect/>
          </a:stretch>
        </p:blipFill>
        <p:spPr>
          <a:xfrm>
            <a:off x="4406900" y="3431977"/>
            <a:ext cx="215900" cy="215900"/>
          </a:xfrm>
          <a:prstGeom prst="rect">
            <a:avLst/>
          </a:prstGeom>
        </p:spPr>
      </p:pic>
      <p:sp>
        <p:nvSpPr>
          <p:cNvPr id="25" name="Text 24"/>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26" name="Text 25"/>
          <p:cNvSpPr txBox="1"/>
          <p:nvPr/>
        </p:nvSpPr>
        <p:spPr>
          <a:xfrm>
            <a:off x="812800" y="366589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الاستثناء، ولا من وافق عليه.</a:t>
            </a:r>
          </a:p>
        </p:txBody>
      </p:sp>
      <p:sp>
        <p:nvSpPr>
          <p:cNvPr id="27" name="Rule 26"/>
          <p:cNvSpPr/>
          <p:nvPr/>
        </p:nvSpPr>
        <p:spPr>
          <a:xfrm>
            <a:off x="812800" y="4790777"/>
            <a:ext cx="3810000" cy="6350"/>
          </a:xfrm>
          <a:prstGeom prst="rect">
            <a:avLst/>
          </a:prstGeom>
          <a:solidFill>
            <a:srgbClr val="DED7C8"/>
          </a:solidFill>
          <a:ln>
            <a:noFill/>
          </a:ln>
        </p:spPr>
        <p:txBody>
          <a:bodyPr rtlCol="0" anchor="ctr"/>
          <a:lstStyle/>
          <a:p>
            <a:pPr algn="ctr"/>
          </a:p>
        </p:txBody>
      </p:sp>
      <p:pic>
        <p:nvPicPr>
          <p:cNvPr id="28" name="Icon Lightbulb 27" descr="icon057.png"/>
          <p:cNvPicPr>
            <a:picLocks noChangeAspect="1"/>
          </p:cNvPicPr>
          <p:nvPr/>
        </p:nvPicPr>
        <p:blipFill>
          <a:blip r:embed="rId5"/>
          <a:stretch>
            <a:fillRect/>
          </a:stretch>
        </p:blipFill>
        <p:spPr>
          <a:xfrm>
            <a:off x="4406900" y="4164707"/>
            <a:ext cx="215900" cy="215900"/>
          </a:xfrm>
          <a:prstGeom prst="rect">
            <a:avLst/>
          </a:prstGeom>
        </p:spPr>
      </p:pic>
      <p:sp>
        <p:nvSpPr>
          <p:cNvPr id="29" name="Text 28"/>
          <p:cNvSpPr txBox="1"/>
          <p:nvPr/>
        </p:nvSpPr>
        <p:spPr>
          <a:xfrm>
            <a:off x="2622844" y="411926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30" name="Text 29"/>
          <p:cNvSpPr txBox="1"/>
          <p:nvPr/>
        </p:nvSpPr>
        <p:spPr>
          <a:xfrm>
            <a:off x="812800" y="439862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مقابلة فريق تقنية المعلومات، وأي وثيقة موافقة.</a:t>
            </a:r>
          </a:p>
        </p:txBody>
      </p:sp>
      <p:sp>
        <p:nvSpPr>
          <p:cNvPr id="31" name="Text 3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2" name="Text 3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الفحص والنتيجة</a:t>
            </a:r>
          </a:p>
        </p:txBody>
      </p:sp>
      <p:graphicFrame>
        <p:nvGraphicFramePr>
          <p:cNvPr id="7" name="Table 6"/>
          <p:cNvGraphicFramePr>
            <a:graphicFrameLocks noGrp="1"/>
          </p:cNvGraphicFramePr>
          <p:nvPr/>
        </p:nvGraphicFramePr>
        <p:xfrm>
          <a:off x="815975" y="1610320"/>
          <a:ext cx="10560050" cy="2387600"/>
        </p:xfrm>
        <a:graphic>
          <a:graphicData uri="http://schemas.openxmlformats.org/drawingml/2006/table">
            <a:tbl>
              <a:tblPr firstRow="0" bandRow="0" lastRow="0" firstCol="0" lastCol="0" bandCol="0">
                <a:tableStyleId>{2D5ABB26-0587-4C30-8999-92F81FD0307C}</a:tableStyleId>
              </a:tblPr>
              <a:tblGrid>
                <a:gridCol w="6969760"/>
                <a:gridCol w="359029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وجدناه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سؤال الفحص</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 د1 يغطي المتطلب.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المتطلب موثق؟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 لمجموعة «VPN-⁠Users» منذ 10 مارس (د3). اللقطة د2 بعد الفترة، فلا تكفي وحدها.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الإعداد مطبق، ومنذ متى؟</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مطابقة المعرّفات (د4) تحدد 3 حسابات متصلة خارج المجموعة، وسجلها (د6) بكلمة المرور فقط.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يشمل كل من يتصل؟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لا إلزام قبل 10 مارس (د3).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يعمل طوال الفترة؟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Box 7"/>
          <p:cNvSpPr/>
          <p:nvPr/>
        </p:nvSpPr>
        <p:spPr>
          <a:xfrm>
            <a:off x="9093200" y="4140795"/>
            <a:ext cx="2286000" cy="1803102"/>
          </a:xfrm>
          <a:prstGeom prst="roundRect">
            <a:avLst>
              <a:gd name="adj" fmla="val 5634"/>
            </a:avLst>
          </a:prstGeom>
          <a:solidFill>
            <a:srgbClr val="C27A16"/>
          </a:solidFill>
          <a:ln>
            <a:noFill/>
          </a:ln>
        </p:spPr>
        <p:txBody>
          <a:bodyPr rtlCol="0" anchor="ctr"/>
          <a:lstStyle/>
          <a:p>
            <a:pPr algn="ctr"/>
          </a:p>
        </p:txBody>
      </p:sp>
      <p:sp>
        <p:nvSpPr>
          <p:cNvPr id="9" name="Text 8"/>
          <p:cNvSpPr txBox="1"/>
          <p:nvPr/>
        </p:nvSpPr>
        <p:spPr>
          <a:xfrm>
            <a:off x="9138920" y="4673060"/>
            <a:ext cx="2194560" cy="284460"/>
          </a:xfrm>
          <a:prstGeom prst="rect">
            <a:avLst/>
          </a:prstGeom>
          <a:noFill/>
        </p:spPr>
        <p:txBody>
          <a:bodyPr wrap="square" tIns="0" rIns="0" bIns="0" lIns="0" anchor="t" rtlCol="0" anchorCtr="0">
            <a:noAutofit/>
          </a:bodyPr>
          <a:lstStyle/>
          <a:p>
            <a:pPr algn="ctr" rtl="1">
              <a:lnSpc>
                <a:spcPts val="2240"/>
              </a:lnSpc>
              <a:spcBef>
                <a:spcPts val="0"/>
              </a:spcBef>
              <a:spcAft>
                <a:spcPts val="0"/>
              </a:spcAft>
            </a:pPr>
            <a:r>
              <a:rPr sz="1600" b="1" i="0">
                <a:solidFill>
                  <a:srgbClr val="F3EFE6"/>
                </a:solidFill>
                <a:latin typeface="IBM Plex Sans Arabic"/>
                <a:ea typeface="IBM Plex Sans Arabic"/>
                <a:cs typeface="IBM Plex Sans Arabic"/>
              </a:rPr>
              <a:t>النتيجة</a:t>
            </a:r>
          </a:p>
        </p:txBody>
      </p:sp>
      <p:sp>
        <p:nvSpPr>
          <p:cNvPr id="10" name="Text 9"/>
          <p:cNvSpPr txBox="1"/>
          <p:nvPr/>
        </p:nvSpPr>
        <p:spPr>
          <a:xfrm>
            <a:off x="9136380" y="4956885"/>
            <a:ext cx="2199640" cy="391120"/>
          </a:xfrm>
          <a:prstGeom prst="rect">
            <a:avLst/>
          </a:prstGeom>
          <a:noFill/>
        </p:spPr>
        <p:txBody>
          <a:bodyPr wrap="square" tIns="0" rIns="0" bIns="0" lIns="0" anchor="t" rtlCol="0" anchorCtr="0">
            <a:noAutofit/>
          </a:bodyPr>
          <a:lstStyle/>
          <a:p>
            <a:pPr algn="ctr" rtl="1">
              <a:lnSpc>
                <a:spcPts val="3080"/>
              </a:lnSpc>
              <a:spcBef>
                <a:spcPts val="0"/>
              </a:spcBef>
              <a:spcAft>
                <a:spcPts val="0"/>
              </a:spcAft>
            </a:pPr>
            <a:r>
              <a:rPr sz="2200" b="1" i="0">
                <a:solidFill>
                  <a:srgbClr val="F3EFE6"/>
                </a:solidFill>
                <a:latin typeface="Readex Pro"/>
                <a:ea typeface="Readex Pro"/>
                <a:cs typeface="Readex Pro"/>
              </a:rPr>
              <a:t>مطبق جزئياً</a:t>
            </a:r>
          </a:p>
        </p:txBody>
      </p:sp>
      <p:sp>
        <p:nvSpPr>
          <p:cNvPr id="11" name="Box 10"/>
          <p:cNvSpPr/>
          <p:nvPr/>
        </p:nvSpPr>
        <p:spPr>
          <a:xfrm>
            <a:off x="815975" y="4143970"/>
            <a:ext cx="8147050" cy="1796752"/>
          </a:xfrm>
          <a:prstGeom prst="roundRect">
            <a:avLst>
              <a:gd name="adj" fmla="val 6339"/>
            </a:avLst>
          </a:prstGeom>
          <a:solidFill>
            <a:srgbClr val="FFFDF8"/>
          </a:solidFill>
          <a:ln w="6350">
            <a:solidFill>
              <a:srgbClr val="E1DBCD"/>
            </a:solidFill>
          </a:ln>
        </p:spPr>
        <p:txBody>
          <a:bodyPr rtlCol="0" anchor="ctr"/>
          <a:lstStyle/>
          <a:p>
            <a:pPr algn="ctr"/>
          </a:p>
        </p:txBody>
      </p:sp>
      <p:sp>
        <p:nvSpPr>
          <p:cNvPr id="12" name="Text 11"/>
          <p:cNvSpPr txBox="1"/>
          <p:nvPr/>
        </p:nvSpPr>
        <p:spPr>
          <a:xfrm>
            <a:off x="838200" y="4237569"/>
            <a:ext cx="7969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المتطلب موثق ومطبق على المجموعة الرئيسية منذ 10 مارس، لكنه لم يعمل في أول الفترة، وثلاثة حسابات حددتها مطابقة المعرّفات تتصل بكلمة المرور فقط.</a:t>
            </a:r>
          </a:p>
        </p:txBody>
      </p:sp>
      <p:sp>
        <p:nvSpPr>
          <p:cNvPr id="13" name="Text 12"/>
          <p:cNvSpPr txBox="1"/>
          <p:nvPr/>
        </p:nvSpPr>
        <p:spPr>
          <a:xfrm>
            <a:off x="838200" y="4890230"/>
            <a:ext cx="796925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العينة (د5) كشفت حساباً واحداً من الثلاثة فقط. مطابقة المعرّفات (د4) مع سجل الاتصالات (د6) هي التي حددتها بدقة، ولا يكفي فرق العدد بين 41 و38 وحده: قد يكون بعض الأعضاء لم يتصلوا، وبعض المتصلين من خارج المجموعة.</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مراجعة صلاحيات نظام الرواتب</a:t>
            </a:r>
          </a:p>
        </p:txBody>
      </p:sp>
      <p:sp>
        <p:nvSpPr>
          <p:cNvPr id="7" name="Text 6"/>
          <p:cNvSpPr txBox="1"/>
          <p:nvPr/>
        </p:nvSpPr>
        <p:spPr>
          <a:xfrm>
            <a:off x="9527540" y="1588349"/>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المتطلب</a:t>
            </a:r>
          </a:p>
        </p:txBody>
      </p:sp>
      <p:sp>
        <p:nvSpPr>
          <p:cNvPr id="8" name="Text 7"/>
          <p:cNvSpPr txBox="1"/>
          <p:nvPr/>
        </p:nvSpPr>
        <p:spPr>
          <a:xfrm>
            <a:off x="113792" y="1588349"/>
            <a:ext cx="943660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ECC 2-⁠2-⁠3-⁠5: المراجعة الدورية لهويات الدخول والصلاحيات.</a:t>
            </a:r>
          </a:p>
        </p:txBody>
      </p:sp>
      <p:sp>
        <p:nvSpPr>
          <p:cNvPr id="9" name="Text 8"/>
          <p:cNvSpPr txBox="1"/>
          <p:nvPr/>
        </p:nvSpPr>
        <p:spPr>
          <a:xfrm>
            <a:off x="9527540" y="1987109"/>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113792" y="1987109"/>
            <a:ext cx="943660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نظام الموارد البشرية والرواتب. الفترة:‏ 1 يناير إلى 30 يونيو 2026 (ربعان).</a:t>
            </a:r>
          </a:p>
        </p:txBody>
      </p:sp>
      <p:sp>
        <p:nvSpPr>
          <p:cNvPr id="11" name="Text 10"/>
          <p:cNvSpPr txBox="1"/>
          <p:nvPr/>
        </p:nvSpPr>
        <p:spPr>
          <a:xfrm>
            <a:off x="9527540" y="2385870"/>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المعيار المعتمد</a:t>
            </a:r>
          </a:p>
        </p:txBody>
      </p:sp>
      <p:sp>
        <p:nvSpPr>
          <p:cNvPr id="12" name="Text 11"/>
          <p:cNvSpPr txBox="1"/>
          <p:nvPr/>
        </p:nvSpPr>
        <p:spPr>
          <a:xfrm>
            <a:off x="550672" y="2385870"/>
            <a:ext cx="8999728"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معيار التحكم بالوصول، معتمد 15 يناير 2026: مراجعة كل 3 أشهر، واعتماد خلال 10 أيام عمل، وإزالة خلال 5 أيام عمل.</a:t>
            </a:r>
          </a:p>
        </p:txBody>
      </p:sp>
      <p:sp>
        <p:nvSpPr>
          <p:cNvPr id="13" name="Text 12"/>
          <p:cNvSpPr txBox="1"/>
          <p:nvPr/>
        </p:nvSpPr>
        <p:spPr>
          <a:xfrm>
            <a:off x="0" y="3396877"/>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المسطرة التي ستقيس بها:</a:t>
            </a:r>
          </a:p>
        </p:txBody>
      </p:sp>
      <p:sp>
        <p:nvSpPr>
          <p:cNvPr id="14" name="Rule 13"/>
          <p:cNvSpPr/>
          <p:nvPr/>
        </p:nvSpPr>
        <p:spPr>
          <a:xfrm>
            <a:off x="7992566" y="4111427"/>
            <a:ext cx="3386634" cy="31750"/>
          </a:xfrm>
          <a:prstGeom prst="rect">
            <a:avLst/>
          </a:prstGeom>
          <a:solidFill>
            <a:srgbClr val="C27A16"/>
          </a:solidFill>
          <a:ln>
            <a:noFill/>
          </a:ln>
        </p:spPr>
        <p:txBody>
          <a:bodyPr rtlCol="0" anchor="ctr"/>
          <a:lstStyle/>
          <a:p>
            <a:pPr algn="ctr"/>
          </a:p>
        </p:txBody>
      </p:sp>
      <p:sp>
        <p:nvSpPr>
          <p:cNvPr id="15" name="Text 14"/>
          <p:cNvSpPr txBox="1"/>
          <p:nvPr/>
        </p:nvSpPr>
        <p:spPr>
          <a:xfrm>
            <a:off x="7992566"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كل 3 أشهر</a:t>
            </a:r>
          </a:p>
        </p:txBody>
      </p:sp>
      <p:sp>
        <p:nvSpPr>
          <p:cNvPr id="16" name="Text 15"/>
          <p:cNvSpPr txBox="1"/>
          <p:nvPr/>
        </p:nvSpPr>
        <p:spPr>
          <a:xfrm>
            <a:off x="7992566"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تكرار المراجعة</a:t>
            </a:r>
          </a:p>
        </p:txBody>
      </p:sp>
      <p:sp>
        <p:nvSpPr>
          <p:cNvPr id="17" name="Rule 16"/>
          <p:cNvSpPr/>
          <p:nvPr/>
        </p:nvSpPr>
        <p:spPr>
          <a:xfrm>
            <a:off x="4402733" y="4111427"/>
            <a:ext cx="3386634" cy="31750"/>
          </a:xfrm>
          <a:prstGeom prst="rect">
            <a:avLst/>
          </a:prstGeom>
          <a:solidFill>
            <a:srgbClr val="C27A16"/>
          </a:solidFill>
          <a:ln>
            <a:noFill/>
          </a:ln>
        </p:spPr>
        <p:txBody>
          <a:bodyPr rtlCol="0" anchor="ctr"/>
          <a:lstStyle/>
          <a:p>
            <a:pPr algn="ctr"/>
          </a:p>
        </p:txBody>
      </p:sp>
      <p:sp>
        <p:nvSpPr>
          <p:cNvPr id="18" name="Text 17"/>
          <p:cNvSpPr txBox="1"/>
          <p:nvPr/>
        </p:nvSpPr>
        <p:spPr>
          <a:xfrm>
            <a:off x="4402733"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10 أيام عمل</a:t>
            </a:r>
          </a:p>
        </p:txBody>
      </p:sp>
      <p:sp>
        <p:nvSpPr>
          <p:cNvPr id="19" name="Text 18"/>
          <p:cNvSpPr txBox="1"/>
          <p:nvPr/>
        </p:nvSpPr>
        <p:spPr>
          <a:xfrm>
            <a:off x="4402733"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من التصدير إلى الاعتماد</a:t>
            </a:r>
          </a:p>
        </p:txBody>
      </p:sp>
      <p:sp>
        <p:nvSpPr>
          <p:cNvPr id="20" name="Rule 19"/>
          <p:cNvSpPr/>
          <p:nvPr/>
        </p:nvSpPr>
        <p:spPr>
          <a:xfrm>
            <a:off x="812899" y="4111427"/>
            <a:ext cx="3386634" cy="31750"/>
          </a:xfrm>
          <a:prstGeom prst="rect">
            <a:avLst/>
          </a:prstGeom>
          <a:solidFill>
            <a:srgbClr val="C27A16"/>
          </a:solidFill>
          <a:ln>
            <a:noFill/>
          </a:ln>
        </p:spPr>
        <p:txBody>
          <a:bodyPr rtlCol="0" anchor="ctr"/>
          <a:lstStyle/>
          <a:p>
            <a:pPr algn="ctr"/>
          </a:p>
        </p:txBody>
      </p:sp>
      <p:sp>
        <p:nvSpPr>
          <p:cNvPr id="21" name="Text 20"/>
          <p:cNvSpPr txBox="1"/>
          <p:nvPr/>
        </p:nvSpPr>
        <p:spPr>
          <a:xfrm>
            <a:off x="812899"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5 أيام عمل</a:t>
            </a:r>
          </a:p>
        </p:txBody>
      </p:sp>
      <p:sp>
        <p:nvSpPr>
          <p:cNvPr id="22" name="Text 21"/>
          <p:cNvSpPr txBox="1"/>
          <p:nvPr/>
        </p:nvSpPr>
        <p:spPr>
          <a:xfrm>
            <a:off x="812899"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من الاعتماد إلى الإزالة</a:t>
            </a:r>
          </a:p>
        </p:txBody>
      </p:sp>
      <p:sp>
        <p:nvSpPr>
          <p:cNvPr id="23" name="Box 22"/>
          <p:cNvSpPr/>
          <p:nvPr/>
        </p:nvSpPr>
        <p:spPr>
          <a:xfrm>
            <a:off x="812800" y="5268317"/>
            <a:ext cx="10566400" cy="502841"/>
          </a:xfrm>
          <a:prstGeom prst="roundRect">
            <a:avLst>
              <a:gd name="adj" fmla="val 20205"/>
            </a:avLst>
          </a:prstGeom>
          <a:solidFill>
            <a:srgbClr val="F6ECDA"/>
          </a:solidFill>
          <a:ln>
            <a:noFill/>
          </a:ln>
        </p:spPr>
        <p:txBody>
          <a:bodyPr rtlCol="0" anchor="ctr"/>
          <a:lstStyle/>
          <a:p>
            <a:pPr algn="ctr"/>
          </a:p>
        </p:txBody>
      </p:sp>
      <p:pic>
        <p:nvPicPr>
          <p:cNvPr id="24" name="Icon Search 23" descr="icon058.png"/>
          <p:cNvPicPr>
            <a:picLocks noChangeAspect="1"/>
          </p:cNvPicPr>
          <p:nvPr/>
        </p:nvPicPr>
        <p:blipFill>
          <a:blip r:embed="rId2"/>
          <a:stretch>
            <a:fillRect/>
          </a:stretch>
        </p:blipFill>
        <p:spPr>
          <a:xfrm>
            <a:off x="11010900" y="5424488"/>
            <a:ext cx="190500" cy="190500"/>
          </a:xfrm>
          <a:prstGeom prst="rect">
            <a:avLst/>
          </a:prstGeom>
        </p:spPr>
      </p:pic>
      <p:sp>
        <p:nvSpPr>
          <p:cNvPr id="25" name="Text 24"/>
          <p:cNvSpPr txBox="1"/>
          <p:nvPr/>
        </p:nvSpPr>
        <p:spPr>
          <a:xfrm>
            <a:off x="838200" y="5367758"/>
            <a:ext cx="1005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هذا الضابط هو الذي كتبنا بنده في التطبيق 1. الآن نفحص: هل التزمت به رُفاد فعلاً؟</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الأدلة المستلمة</a:t>
            </a:r>
          </a:p>
        </p:txBody>
      </p:sp>
      <p:graphicFrame>
        <p:nvGraphicFramePr>
          <p:cNvPr id="7" name="Table 6"/>
          <p:cNvGraphicFramePr>
            <a:graphicFrameLocks noGrp="1"/>
          </p:cNvGraphicFramePr>
          <p:nvPr/>
        </p:nvGraphicFramePr>
        <p:xfrm>
          <a:off x="815975" y="1623020"/>
          <a:ext cx="10560050" cy="3324027"/>
        </p:xfrm>
        <a:graphic>
          <a:graphicData uri="http://schemas.openxmlformats.org/drawingml/2006/table">
            <a:tbl>
              <a:tblPr firstRow="0" bandRow="0" lastRow="0" firstCol="0" lastCol="0" bandCol="0">
                <a:tableStyleId>{2D5ABB26-0587-4C30-8999-92F81FD0307C}</a:tableStyleId>
              </a:tblPr>
              <a:tblGrid>
                <a:gridCol w="9609455"/>
                <a:gridCol w="95059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 وصل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معيار التحكم بالوصول المعتمد في 15 يناير 2026.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ملف مراجعة الربع الأول: تصدير 29 مارس، 214 حساباً، اعتمدته مالكة النظام في 8 أبريل، و12 حساباً للإزالة.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تذاكر الإزالة:‏ 9 حسابات أزيلت حتى 12 أبريل، و3 أزيلت في 20 مايو.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ملف لمراجعة الربع الثاني. بريد من تقنية المعلومات: «تأجلت بسبب ترحيل النظام إلى إصدار جديد في يونيو».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تصدير الحسابات النشطة في 2 يوليو:‏ 221 حساباً، منها حسابان لموظفين غادروا في مايو.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مقابلة مع مالكة النظام: «نراجع الصلاحيات عندما يطلب المدير».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063252"/>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انتبه للتواريخ ولمهلة كل خطوة في المعيار.</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د2: ملف مراجعة الربع الأول</a:t>
            </a:r>
          </a:p>
        </p:txBody>
      </p:sp>
      <p:sp>
        <p:nvSpPr>
          <p:cNvPr id="7" name="Box 6"/>
          <p:cNvSpPr/>
          <p:nvPr/>
        </p:nvSpPr>
        <p:spPr>
          <a:xfrm>
            <a:off x="4625975" y="1661120"/>
            <a:ext cx="6750050" cy="3835797"/>
          </a:xfrm>
          <a:prstGeom prst="roundRect">
            <a:avLst>
              <a:gd name="adj" fmla="val 1322"/>
            </a:avLst>
          </a:prstGeom>
          <a:solidFill>
            <a:srgbClr val="FFFFFF"/>
          </a:solidFill>
          <a:ln w="6350">
            <a:solidFill>
              <a:srgbClr val="C9D0D6"/>
            </a:solidFill>
          </a:ln>
        </p:spPr>
        <p:txBody>
          <a:bodyPr rtlCol="0" anchor="ctr"/>
          <a:lstStyle/>
          <a:p>
            <a:pPr algn="ctr"/>
          </a:p>
        </p:txBody>
      </p:sp>
      <p:sp>
        <p:nvSpPr>
          <p:cNvPr id="8" name="Box 7"/>
          <p:cNvSpPr/>
          <p:nvPr/>
        </p:nvSpPr>
        <p:spPr>
          <a:xfrm>
            <a:off x="4629150" y="1664295"/>
            <a:ext cx="674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629150" y="1989336"/>
            <a:ext cx="6743700" cy="6350"/>
          </a:xfrm>
          <a:prstGeom prst="rect">
            <a:avLst/>
          </a:prstGeom>
          <a:solidFill>
            <a:srgbClr val="D3D9DF"/>
          </a:solidFill>
          <a:ln>
            <a:noFill/>
          </a:ln>
        </p:spPr>
        <p:txBody>
          <a:bodyPr rtlCol="0" anchor="ctr"/>
          <a:lstStyle/>
          <a:p>
            <a:pPr algn="ctr"/>
          </a:p>
        </p:txBody>
      </p:sp>
      <p:sp>
        <p:nvSpPr>
          <p:cNvPr id="10" name="Text 9"/>
          <p:cNvSpPr txBox="1"/>
          <p:nvPr/>
        </p:nvSpPr>
        <p:spPr>
          <a:xfrm>
            <a:off x="6699321" y="1711793"/>
            <a:ext cx="45719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مراجعة صلاحيات نظام الرواتب · الربع الأول 2026 · مقتطف 6 من 214</a:t>
            </a:r>
          </a:p>
        </p:txBody>
      </p:sp>
      <p:sp>
        <p:nvSpPr>
          <p:cNvPr id="11" name="Text 10"/>
          <p:cNvSpPr txBox="1"/>
          <p:nvPr/>
        </p:nvSpPr>
        <p:spPr>
          <a:xfrm>
            <a:off x="465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629150" y="2645767"/>
            <a:ext cx="6743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65008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65008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420100" y="1995686"/>
            <a:ext cx="1460500" cy="650081"/>
          </a:xfrm>
          <a:prstGeom prst="rect">
            <a:avLst/>
          </a:prstGeom>
          <a:solidFill>
            <a:srgbClr val="F7F8FA"/>
          </a:solidFill>
          <a:ln>
            <a:noFill/>
          </a:ln>
        </p:spPr>
        <p:txBody>
          <a:bodyPr rtlCol="0" anchor="ctr"/>
          <a:lstStyle/>
          <a:p>
            <a:pPr algn="ctr"/>
          </a:p>
        </p:txBody>
      </p:sp>
      <p:sp>
        <p:nvSpPr>
          <p:cNvPr id="17" name="Rule 16"/>
          <p:cNvSpPr/>
          <p:nvPr/>
        </p:nvSpPr>
        <p:spPr>
          <a:xfrm>
            <a:off x="8420100" y="1995686"/>
            <a:ext cx="6350" cy="650081"/>
          </a:xfrm>
          <a:prstGeom prst="rect">
            <a:avLst/>
          </a:prstGeom>
          <a:solidFill>
            <a:srgbClr val="D3D9DF"/>
          </a:solidFill>
          <a:ln>
            <a:noFill/>
          </a:ln>
        </p:spPr>
        <p:txBody>
          <a:bodyPr rtlCol="0" anchor="ctr"/>
          <a:lstStyle/>
          <a:p>
            <a:pPr algn="ctr"/>
          </a:p>
        </p:txBody>
      </p:sp>
      <p:sp>
        <p:nvSpPr>
          <p:cNvPr id="18" name="Text 17"/>
          <p:cNvSpPr txBox="1"/>
          <p:nvPr/>
        </p:nvSpPr>
        <p:spPr>
          <a:xfrm>
            <a:off x="8445500" y="2020070"/>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 في النظام</a:t>
            </a:r>
          </a:p>
        </p:txBody>
      </p:sp>
      <p:sp>
        <p:nvSpPr>
          <p:cNvPr id="19" name="Box 18"/>
          <p:cNvSpPr/>
          <p:nvPr/>
        </p:nvSpPr>
        <p:spPr>
          <a:xfrm>
            <a:off x="7594600" y="1995686"/>
            <a:ext cx="825500" cy="650081"/>
          </a:xfrm>
          <a:prstGeom prst="rect">
            <a:avLst/>
          </a:prstGeom>
          <a:solidFill>
            <a:srgbClr val="F7F8FA"/>
          </a:solidFill>
          <a:ln>
            <a:noFill/>
          </a:ln>
        </p:spPr>
        <p:txBody>
          <a:bodyPr rtlCol="0" anchor="ctr"/>
          <a:lstStyle/>
          <a:p>
            <a:pPr algn="ctr"/>
          </a:p>
        </p:txBody>
      </p:sp>
      <p:sp>
        <p:nvSpPr>
          <p:cNvPr id="20" name="Rule 19"/>
          <p:cNvSpPr/>
          <p:nvPr/>
        </p:nvSpPr>
        <p:spPr>
          <a:xfrm>
            <a:off x="7594600" y="1995686"/>
            <a:ext cx="6350" cy="650081"/>
          </a:xfrm>
          <a:prstGeom prst="rect">
            <a:avLst/>
          </a:prstGeom>
          <a:solidFill>
            <a:srgbClr val="D3D9DF"/>
          </a:solidFill>
          <a:ln>
            <a:noFill/>
          </a:ln>
        </p:spPr>
        <p:txBody>
          <a:bodyPr rtlCol="0" anchor="ctr"/>
          <a:lstStyle/>
          <a:p>
            <a:pPr algn="ctr"/>
          </a:p>
        </p:txBody>
      </p:sp>
      <p:sp>
        <p:nvSpPr>
          <p:cNvPr id="21" name="Text 20"/>
          <p:cNvSpPr txBox="1"/>
          <p:nvPr/>
        </p:nvSpPr>
        <p:spPr>
          <a:xfrm>
            <a:off x="7626350" y="2020070"/>
            <a:ext cx="717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قرار المدير</a:t>
            </a:r>
          </a:p>
        </p:txBody>
      </p:sp>
      <p:sp>
        <p:nvSpPr>
          <p:cNvPr id="22" name="Box 21"/>
          <p:cNvSpPr/>
          <p:nvPr/>
        </p:nvSpPr>
        <p:spPr>
          <a:xfrm>
            <a:off x="4629150" y="1995686"/>
            <a:ext cx="2965450" cy="650081"/>
          </a:xfrm>
          <a:prstGeom prst="rect">
            <a:avLst/>
          </a:prstGeom>
          <a:solidFill>
            <a:srgbClr val="F7F8FA"/>
          </a:solidFill>
          <a:ln>
            <a:noFill/>
          </a:ln>
        </p:spPr>
        <p:txBody>
          <a:bodyPr rtlCol="0" anchor="ctr"/>
          <a:lstStyle/>
          <a:p>
            <a:pPr algn="ctr"/>
          </a:p>
        </p:txBody>
      </p:sp>
      <p:sp>
        <p:nvSpPr>
          <p:cNvPr id="23" name="Rule 22"/>
          <p:cNvSpPr/>
          <p:nvPr/>
        </p:nvSpPr>
        <p:spPr>
          <a:xfrm>
            <a:off x="4629150" y="1995686"/>
            <a:ext cx="6350" cy="650081"/>
          </a:xfrm>
          <a:prstGeom prst="rect">
            <a:avLst/>
          </a:prstGeom>
          <a:solidFill>
            <a:srgbClr val="D3D9DF"/>
          </a:solidFill>
          <a:ln>
            <a:noFill/>
          </a:ln>
        </p:spPr>
        <p:txBody>
          <a:bodyPr rtlCol="0" anchor="ctr"/>
          <a:lstStyle/>
          <a:p>
            <a:pPr algn="ctr"/>
          </a:p>
        </p:txBody>
      </p:sp>
      <p:sp>
        <p:nvSpPr>
          <p:cNvPr id="24" name="Text 23"/>
          <p:cNvSpPr txBox="1"/>
          <p:nvPr/>
        </p:nvSpPr>
        <p:spPr>
          <a:xfrm>
            <a:off x="4654550" y="2020070"/>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ملاحظة</a:t>
            </a:r>
          </a:p>
        </p:txBody>
      </p:sp>
      <p:sp>
        <p:nvSpPr>
          <p:cNvPr id="25" name="Rule 24"/>
          <p:cNvSpPr/>
          <p:nvPr/>
        </p:nvSpPr>
        <p:spPr>
          <a:xfrm>
            <a:off x="4629150" y="3027958"/>
            <a:ext cx="6743700" cy="6350"/>
          </a:xfrm>
          <a:prstGeom prst="rect">
            <a:avLst/>
          </a:prstGeom>
          <a:solidFill>
            <a:srgbClr val="D3D9DF"/>
          </a:solidFill>
          <a:ln>
            <a:noFill/>
          </a:ln>
        </p:spPr>
        <p:txBody>
          <a:bodyPr rtlCol="0" anchor="ctr"/>
          <a:lstStyle/>
          <a:p>
            <a:pPr algn="ctr"/>
          </a:p>
        </p:txBody>
      </p:sp>
      <p:sp>
        <p:nvSpPr>
          <p:cNvPr id="26" name="Box 25"/>
          <p:cNvSpPr/>
          <p:nvPr/>
        </p:nvSpPr>
        <p:spPr>
          <a:xfrm>
            <a:off x="9880600" y="2652117"/>
            <a:ext cx="1492250" cy="375841"/>
          </a:xfrm>
          <a:prstGeom prst="rect">
            <a:avLst/>
          </a:prstGeom>
          <a:solidFill>
            <a:srgbClr val="FFFFFF"/>
          </a:solidFill>
          <a:ln>
            <a:noFill/>
          </a:ln>
        </p:spPr>
        <p:txBody>
          <a:bodyPr rtlCol="0" anchor="ctr"/>
          <a:lstStyle/>
          <a:p>
            <a:pPr algn="ctr"/>
          </a:p>
        </p:txBody>
      </p:sp>
      <p:sp>
        <p:nvSpPr>
          <p:cNvPr id="27" name="Rule 26"/>
          <p:cNvSpPr/>
          <p:nvPr/>
        </p:nvSpPr>
        <p:spPr>
          <a:xfrm>
            <a:off x="9880600" y="2652117"/>
            <a:ext cx="6350" cy="375841"/>
          </a:xfrm>
          <a:prstGeom prst="rect">
            <a:avLst/>
          </a:prstGeom>
          <a:solidFill>
            <a:srgbClr val="D3D9DF"/>
          </a:solidFill>
          <a:ln>
            <a:noFill/>
          </a:ln>
        </p:spPr>
        <p:txBody>
          <a:bodyPr rtlCol="0" anchor="ctr"/>
          <a:lstStyle/>
          <a:p>
            <a:pPr algn="ctr"/>
          </a:p>
        </p:txBody>
      </p:sp>
      <p:sp>
        <p:nvSpPr>
          <p:cNvPr id="28" name="Text 27"/>
          <p:cNvSpPr txBox="1"/>
          <p:nvPr/>
        </p:nvSpPr>
        <p:spPr>
          <a:xfrm>
            <a:off x="9906000" y="267650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29" name="Box 28"/>
          <p:cNvSpPr/>
          <p:nvPr/>
        </p:nvSpPr>
        <p:spPr>
          <a:xfrm>
            <a:off x="8420100" y="2652117"/>
            <a:ext cx="1460500" cy="375841"/>
          </a:xfrm>
          <a:prstGeom prst="rect">
            <a:avLst/>
          </a:prstGeom>
          <a:solidFill>
            <a:srgbClr val="FFFFFF"/>
          </a:solidFill>
          <a:ln>
            <a:noFill/>
          </a:ln>
        </p:spPr>
        <p:txBody>
          <a:bodyPr rtlCol="0" anchor="ctr"/>
          <a:lstStyle/>
          <a:p>
            <a:pPr algn="ctr"/>
          </a:p>
        </p:txBody>
      </p:sp>
      <p:sp>
        <p:nvSpPr>
          <p:cNvPr id="30" name="Rule 29"/>
          <p:cNvSpPr/>
          <p:nvPr/>
        </p:nvSpPr>
        <p:spPr>
          <a:xfrm>
            <a:off x="8420100" y="265211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8445500" y="2676501"/>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2" name="Box 31"/>
          <p:cNvSpPr/>
          <p:nvPr/>
        </p:nvSpPr>
        <p:spPr>
          <a:xfrm>
            <a:off x="7594600" y="2652117"/>
            <a:ext cx="825500" cy="375841"/>
          </a:xfrm>
          <a:prstGeom prst="rect">
            <a:avLst/>
          </a:prstGeom>
          <a:solidFill>
            <a:srgbClr val="FFFFFF"/>
          </a:solidFill>
          <a:ln>
            <a:noFill/>
          </a:ln>
        </p:spPr>
        <p:txBody>
          <a:bodyPr rtlCol="0" anchor="ctr"/>
          <a:lstStyle/>
          <a:p>
            <a:pPr algn="ctr"/>
          </a:p>
        </p:txBody>
      </p:sp>
      <p:sp>
        <p:nvSpPr>
          <p:cNvPr id="33" name="Rule 32"/>
          <p:cNvSpPr/>
          <p:nvPr/>
        </p:nvSpPr>
        <p:spPr>
          <a:xfrm>
            <a:off x="7594600" y="265211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7620000" y="2676501"/>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35" name="Box 34"/>
          <p:cNvSpPr/>
          <p:nvPr/>
        </p:nvSpPr>
        <p:spPr>
          <a:xfrm>
            <a:off x="4629150" y="2652117"/>
            <a:ext cx="2965450" cy="375841"/>
          </a:xfrm>
          <a:prstGeom prst="rect">
            <a:avLst/>
          </a:prstGeom>
          <a:solidFill>
            <a:srgbClr val="FFFFFF"/>
          </a:solidFill>
          <a:ln>
            <a:noFill/>
          </a:ln>
        </p:spPr>
        <p:txBody>
          <a:bodyPr rtlCol="0" anchor="ctr"/>
          <a:lstStyle/>
          <a:p>
            <a:pPr algn="ctr"/>
          </a:p>
        </p:txBody>
      </p:sp>
      <p:sp>
        <p:nvSpPr>
          <p:cNvPr id="36" name="Rule 35"/>
          <p:cNvSpPr/>
          <p:nvPr/>
        </p:nvSpPr>
        <p:spPr>
          <a:xfrm>
            <a:off x="4629150" y="2652117"/>
            <a:ext cx="6350" cy="375841"/>
          </a:xfrm>
          <a:prstGeom prst="rect">
            <a:avLst/>
          </a:prstGeom>
          <a:solidFill>
            <a:srgbClr val="D3D9DF"/>
          </a:solidFill>
          <a:ln>
            <a:noFill/>
          </a:ln>
        </p:spPr>
        <p:txBody>
          <a:bodyPr rtlCol="0" anchor="ctr"/>
          <a:lstStyle/>
          <a:p>
            <a:pPr algn="ctr"/>
          </a:p>
        </p:txBody>
      </p:sp>
      <p:sp>
        <p:nvSpPr>
          <p:cNvPr id="37" name="Rule 36"/>
          <p:cNvSpPr/>
          <p:nvPr/>
        </p:nvSpPr>
        <p:spPr>
          <a:xfrm>
            <a:off x="4629150" y="3684389"/>
            <a:ext cx="6743700" cy="6350"/>
          </a:xfrm>
          <a:prstGeom prst="rect">
            <a:avLst/>
          </a:prstGeom>
          <a:solidFill>
            <a:srgbClr val="D3D9DF"/>
          </a:solidFill>
          <a:ln>
            <a:noFill/>
          </a:ln>
        </p:spPr>
        <p:txBody>
          <a:bodyPr rtlCol="0" anchor="ctr"/>
          <a:lstStyle/>
          <a:p>
            <a:pPr algn="ctr"/>
          </a:p>
        </p:txBody>
      </p:sp>
      <p:sp>
        <p:nvSpPr>
          <p:cNvPr id="38" name="Box 37"/>
          <p:cNvSpPr/>
          <p:nvPr/>
        </p:nvSpPr>
        <p:spPr>
          <a:xfrm>
            <a:off x="9880600" y="3034308"/>
            <a:ext cx="1492250" cy="650081"/>
          </a:xfrm>
          <a:prstGeom prst="rect">
            <a:avLst/>
          </a:prstGeom>
          <a:solidFill>
            <a:srgbClr val="FFFFFF"/>
          </a:solidFill>
          <a:ln>
            <a:noFill/>
          </a:ln>
        </p:spPr>
        <p:txBody>
          <a:bodyPr rtlCol="0" anchor="ctr"/>
          <a:lstStyle/>
          <a:p>
            <a:pPr algn="ctr"/>
          </a:p>
        </p:txBody>
      </p:sp>
      <p:sp>
        <p:nvSpPr>
          <p:cNvPr id="39" name="Rule 38"/>
          <p:cNvSpPr/>
          <p:nvPr/>
        </p:nvSpPr>
        <p:spPr>
          <a:xfrm>
            <a:off x="9880600" y="3034308"/>
            <a:ext cx="6350" cy="650081"/>
          </a:xfrm>
          <a:prstGeom prst="rect">
            <a:avLst/>
          </a:prstGeom>
          <a:solidFill>
            <a:srgbClr val="D3D9DF"/>
          </a:solidFill>
          <a:ln>
            <a:noFill/>
          </a:ln>
        </p:spPr>
        <p:txBody>
          <a:bodyPr rtlCol="0" anchor="ctr"/>
          <a:lstStyle/>
          <a:p>
            <a:pPr algn="ctr"/>
          </a:p>
        </p:txBody>
      </p:sp>
      <p:sp>
        <p:nvSpPr>
          <p:cNvPr id="40" name="Text 39"/>
          <p:cNvSpPr txBox="1"/>
          <p:nvPr/>
        </p:nvSpPr>
        <p:spPr>
          <a:xfrm>
            <a:off x="9906000" y="305869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fin.m.salem</a:t>
            </a:r>
          </a:p>
        </p:txBody>
      </p:sp>
      <p:sp>
        <p:nvSpPr>
          <p:cNvPr id="41" name="Box 40"/>
          <p:cNvSpPr/>
          <p:nvPr/>
        </p:nvSpPr>
        <p:spPr>
          <a:xfrm>
            <a:off x="8420100" y="3034308"/>
            <a:ext cx="1460500" cy="650081"/>
          </a:xfrm>
          <a:prstGeom prst="rect">
            <a:avLst/>
          </a:prstGeom>
          <a:solidFill>
            <a:srgbClr val="FFFFFF"/>
          </a:solidFill>
          <a:ln>
            <a:noFill/>
          </a:ln>
        </p:spPr>
        <p:txBody>
          <a:bodyPr rtlCol="0" anchor="ctr"/>
          <a:lstStyle/>
          <a:p>
            <a:pPr algn="ctr"/>
          </a:p>
        </p:txBody>
      </p:sp>
      <p:sp>
        <p:nvSpPr>
          <p:cNvPr id="42" name="Rule 41"/>
          <p:cNvSpPr/>
          <p:nvPr/>
        </p:nvSpPr>
        <p:spPr>
          <a:xfrm>
            <a:off x="8420100" y="3034308"/>
            <a:ext cx="6350" cy="650081"/>
          </a:xfrm>
          <a:prstGeom prst="rect">
            <a:avLst/>
          </a:prstGeom>
          <a:solidFill>
            <a:srgbClr val="D3D9DF"/>
          </a:solidFill>
          <a:ln>
            <a:noFill/>
          </a:ln>
        </p:spPr>
        <p:txBody>
          <a:bodyPr rtlCol="0" anchor="ctr"/>
          <a:lstStyle/>
          <a:p>
            <a:pPr algn="ctr"/>
          </a:p>
        </p:txBody>
      </p:sp>
      <p:sp>
        <p:nvSpPr>
          <p:cNvPr id="43" name="Text 42"/>
          <p:cNvSpPr txBox="1"/>
          <p:nvPr/>
        </p:nvSpPr>
        <p:spPr>
          <a:xfrm>
            <a:off x="8451850" y="3058692"/>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44" name="Box 43"/>
          <p:cNvSpPr/>
          <p:nvPr/>
        </p:nvSpPr>
        <p:spPr>
          <a:xfrm>
            <a:off x="7594600" y="3034308"/>
            <a:ext cx="825500" cy="650081"/>
          </a:xfrm>
          <a:prstGeom prst="rect">
            <a:avLst/>
          </a:prstGeom>
          <a:solidFill>
            <a:srgbClr val="FFFFFF"/>
          </a:solidFill>
          <a:ln>
            <a:noFill/>
          </a:ln>
        </p:spPr>
        <p:txBody>
          <a:bodyPr rtlCol="0" anchor="ctr"/>
          <a:lstStyle/>
          <a:p>
            <a:pPr algn="ctr"/>
          </a:p>
        </p:txBody>
      </p:sp>
      <p:sp>
        <p:nvSpPr>
          <p:cNvPr id="45" name="Rule 44"/>
          <p:cNvSpPr/>
          <p:nvPr/>
        </p:nvSpPr>
        <p:spPr>
          <a:xfrm>
            <a:off x="7594600" y="3034308"/>
            <a:ext cx="6350" cy="650081"/>
          </a:xfrm>
          <a:prstGeom prst="rect">
            <a:avLst/>
          </a:prstGeom>
          <a:solidFill>
            <a:srgbClr val="D3D9DF"/>
          </a:solidFill>
          <a:ln>
            <a:noFill/>
          </a:ln>
        </p:spPr>
        <p:txBody>
          <a:bodyPr rtlCol="0" anchor="ctr"/>
          <a:lstStyle/>
          <a:p>
            <a:pPr algn="ctr"/>
          </a:p>
        </p:txBody>
      </p:sp>
      <p:sp>
        <p:nvSpPr>
          <p:cNvPr id="46" name="Text 45"/>
          <p:cNvSpPr txBox="1"/>
          <p:nvPr/>
        </p:nvSpPr>
        <p:spPr>
          <a:xfrm>
            <a:off x="7620000" y="3058692"/>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47" name="Box 46"/>
          <p:cNvSpPr/>
          <p:nvPr/>
        </p:nvSpPr>
        <p:spPr>
          <a:xfrm>
            <a:off x="4629150" y="3034308"/>
            <a:ext cx="2965450" cy="650081"/>
          </a:xfrm>
          <a:prstGeom prst="rect">
            <a:avLst/>
          </a:prstGeom>
          <a:solidFill>
            <a:srgbClr val="FFFFFF"/>
          </a:solidFill>
          <a:ln>
            <a:noFill/>
          </a:ln>
        </p:spPr>
        <p:txBody>
          <a:bodyPr rtlCol="0" anchor="ctr"/>
          <a:lstStyle/>
          <a:p>
            <a:pPr algn="ctr"/>
          </a:p>
        </p:txBody>
      </p:sp>
      <p:sp>
        <p:nvSpPr>
          <p:cNvPr id="48" name="Rule 47"/>
          <p:cNvSpPr/>
          <p:nvPr/>
        </p:nvSpPr>
        <p:spPr>
          <a:xfrm>
            <a:off x="4629150" y="3034308"/>
            <a:ext cx="6350" cy="650081"/>
          </a:xfrm>
          <a:prstGeom prst="rect">
            <a:avLst/>
          </a:prstGeom>
          <a:solidFill>
            <a:srgbClr val="D3D9DF"/>
          </a:solidFill>
          <a:ln>
            <a:noFill/>
          </a:ln>
        </p:spPr>
        <p:txBody>
          <a:bodyPr rtlCol="0" anchor="ctr"/>
          <a:lstStyle/>
          <a:p>
            <a:pPr algn="ctr"/>
          </a:p>
        </p:txBody>
      </p:sp>
      <p:sp>
        <p:nvSpPr>
          <p:cNvPr id="49" name="Rule 48"/>
          <p:cNvSpPr/>
          <p:nvPr/>
        </p:nvSpPr>
        <p:spPr>
          <a:xfrm>
            <a:off x="4629150" y="4066580"/>
            <a:ext cx="6743700" cy="6350"/>
          </a:xfrm>
          <a:prstGeom prst="rect">
            <a:avLst/>
          </a:prstGeom>
          <a:solidFill>
            <a:srgbClr val="D3D9DF"/>
          </a:solidFill>
          <a:ln>
            <a:noFill/>
          </a:ln>
        </p:spPr>
        <p:txBody>
          <a:bodyPr rtlCol="0" anchor="ctr"/>
          <a:lstStyle/>
          <a:p>
            <a:pPr algn="ctr"/>
          </a:p>
        </p:txBody>
      </p:sp>
      <p:sp>
        <p:nvSpPr>
          <p:cNvPr id="50" name="Box 49"/>
          <p:cNvSpPr/>
          <p:nvPr/>
        </p:nvSpPr>
        <p:spPr>
          <a:xfrm>
            <a:off x="9880600" y="3690739"/>
            <a:ext cx="1492250" cy="375841"/>
          </a:xfrm>
          <a:prstGeom prst="rect">
            <a:avLst/>
          </a:prstGeom>
          <a:solidFill>
            <a:srgbClr val="FFFFFF"/>
          </a:solidFill>
          <a:ln>
            <a:noFill/>
          </a:ln>
        </p:spPr>
        <p:txBody>
          <a:bodyPr rtlCol="0" anchor="ctr"/>
          <a:lstStyle/>
          <a:p>
            <a:pPr algn="ctr"/>
          </a:p>
        </p:txBody>
      </p:sp>
      <p:sp>
        <p:nvSpPr>
          <p:cNvPr id="51" name="Rule 50"/>
          <p:cNvSpPr/>
          <p:nvPr/>
        </p:nvSpPr>
        <p:spPr>
          <a:xfrm>
            <a:off x="9880600" y="3690739"/>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9906000" y="371512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hr.s.dosari</a:t>
            </a:r>
          </a:p>
        </p:txBody>
      </p:sp>
      <p:sp>
        <p:nvSpPr>
          <p:cNvPr id="53" name="Box 52"/>
          <p:cNvSpPr/>
          <p:nvPr/>
        </p:nvSpPr>
        <p:spPr>
          <a:xfrm>
            <a:off x="8420100" y="3690739"/>
            <a:ext cx="1460500" cy="375841"/>
          </a:xfrm>
          <a:prstGeom prst="rect">
            <a:avLst/>
          </a:prstGeom>
          <a:solidFill>
            <a:srgbClr val="FFFFFF"/>
          </a:solidFill>
          <a:ln>
            <a:noFill/>
          </a:ln>
        </p:spPr>
        <p:txBody>
          <a:bodyPr rtlCol="0" anchor="ctr"/>
          <a:lstStyle/>
          <a:p>
            <a:pPr algn="ctr"/>
          </a:p>
        </p:txBody>
      </p:sp>
      <p:sp>
        <p:nvSpPr>
          <p:cNvPr id="54" name="Rule 53"/>
          <p:cNvSpPr/>
          <p:nvPr/>
        </p:nvSpPr>
        <p:spPr>
          <a:xfrm>
            <a:off x="8420100" y="3690739"/>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8445500" y="3715123"/>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6" name="Box 55"/>
          <p:cNvSpPr/>
          <p:nvPr/>
        </p:nvSpPr>
        <p:spPr>
          <a:xfrm>
            <a:off x="7594600" y="3690739"/>
            <a:ext cx="825500" cy="375841"/>
          </a:xfrm>
          <a:prstGeom prst="rect">
            <a:avLst/>
          </a:prstGeom>
          <a:solidFill>
            <a:srgbClr val="FFFFFF"/>
          </a:solidFill>
          <a:ln>
            <a:noFill/>
          </a:ln>
        </p:spPr>
        <p:txBody>
          <a:bodyPr rtlCol="0" anchor="ctr"/>
          <a:lstStyle/>
          <a:p>
            <a:pPr algn="ctr"/>
          </a:p>
        </p:txBody>
      </p:sp>
      <p:sp>
        <p:nvSpPr>
          <p:cNvPr id="57" name="Rule 56"/>
          <p:cNvSpPr/>
          <p:nvPr/>
        </p:nvSpPr>
        <p:spPr>
          <a:xfrm>
            <a:off x="7594600" y="3690739"/>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7620000" y="3715123"/>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59" name="Box 58"/>
          <p:cNvSpPr/>
          <p:nvPr/>
        </p:nvSpPr>
        <p:spPr>
          <a:xfrm>
            <a:off x="4629150" y="3690739"/>
            <a:ext cx="2965450" cy="375841"/>
          </a:xfrm>
          <a:prstGeom prst="rect">
            <a:avLst/>
          </a:prstGeom>
          <a:solidFill>
            <a:srgbClr val="FFFFFF"/>
          </a:solidFill>
          <a:ln>
            <a:noFill/>
          </a:ln>
        </p:spPr>
        <p:txBody>
          <a:bodyPr rtlCol="0" anchor="ctr"/>
          <a:lstStyle/>
          <a:p>
            <a:pPr algn="ctr"/>
          </a:p>
        </p:txBody>
      </p:sp>
      <p:sp>
        <p:nvSpPr>
          <p:cNvPr id="60" name="Rule 59"/>
          <p:cNvSpPr/>
          <p:nvPr/>
        </p:nvSpPr>
        <p:spPr>
          <a:xfrm>
            <a:off x="4629150" y="3690739"/>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4654550" y="3715123"/>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انتقل إلى العمليات في فبراير</a:t>
            </a:r>
          </a:p>
        </p:txBody>
      </p:sp>
      <p:sp>
        <p:nvSpPr>
          <p:cNvPr id="62" name="Rule 61"/>
          <p:cNvSpPr/>
          <p:nvPr/>
        </p:nvSpPr>
        <p:spPr>
          <a:xfrm>
            <a:off x="4629150" y="4448770"/>
            <a:ext cx="6743700" cy="6350"/>
          </a:xfrm>
          <a:prstGeom prst="rect">
            <a:avLst/>
          </a:prstGeom>
          <a:solidFill>
            <a:srgbClr val="D3D9DF"/>
          </a:solidFill>
          <a:ln>
            <a:noFill/>
          </a:ln>
        </p:spPr>
        <p:txBody>
          <a:bodyPr rtlCol="0" anchor="ctr"/>
          <a:lstStyle/>
          <a:p>
            <a:pPr algn="ctr"/>
          </a:p>
        </p:txBody>
      </p:sp>
      <p:sp>
        <p:nvSpPr>
          <p:cNvPr id="63" name="Box 62"/>
          <p:cNvSpPr/>
          <p:nvPr/>
        </p:nvSpPr>
        <p:spPr>
          <a:xfrm>
            <a:off x="9880600" y="4072930"/>
            <a:ext cx="1492250" cy="375841"/>
          </a:xfrm>
          <a:prstGeom prst="rect">
            <a:avLst/>
          </a:prstGeom>
          <a:solidFill>
            <a:srgbClr val="FFFFFF"/>
          </a:solidFill>
          <a:ln>
            <a:noFill/>
          </a:ln>
        </p:spPr>
        <p:txBody>
          <a:bodyPr rtlCol="0" anchor="ctr"/>
          <a:lstStyle/>
          <a:p>
            <a:pPr algn="ctr"/>
          </a:p>
        </p:txBody>
      </p:sp>
      <p:sp>
        <p:nvSpPr>
          <p:cNvPr id="64" name="Rule 63"/>
          <p:cNvSpPr/>
          <p:nvPr/>
        </p:nvSpPr>
        <p:spPr>
          <a:xfrm>
            <a:off x="9880600" y="4072930"/>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906000" y="409731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66" name="Box 65"/>
          <p:cNvSpPr/>
          <p:nvPr/>
        </p:nvSpPr>
        <p:spPr>
          <a:xfrm>
            <a:off x="8420100" y="4072930"/>
            <a:ext cx="1460500" cy="375841"/>
          </a:xfrm>
          <a:prstGeom prst="rect">
            <a:avLst/>
          </a:prstGeom>
          <a:solidFill>
            <a:srgbClr val="FFFFFF"/>
          </a:solidFill>
          <a:ln>
            <a:noFill/>
          </a:ln>
        </p:spPr>
        <p:txBody>
          <a:bodyPr rtlCol="0" anchor="ctr"/>
          <a:lstStyle/>
          <a:p>
            <a:pPr algn="ctr"/>
          </a:p>
        </p:txBody>
      </p:sp>
      <p:sp>
        <p:nvSpPr>
          <p:cNvPr id="67" name="Rule 66"/>
          <p:cNvSpPr/>
          <p:nvPr/>
        </p:nvSpPr>
        <p:spPr>
          <a:xfrm>
            <a:off x="8420100" y="4072930"/>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445500" y="4097314"/>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69" name="Box 68"/>
          <p:cNvSpPr/>
          <p:nvPr/>
        </p:nvSpPr>
        <p:spPr>
          <a:xfrm>
            <a:off x="7594600" y="4072930"/>
            <a:ext cx="825500" cy="375841"/>
          </a:xfrm>
          <a:prstGeom prst="rect">
            <a:avLst/>
          </a:prstGeom>
          <a:solidFill>
            <a:srgbClr val="FFFFFF"/>
          </a:solidFill>
          <a:ln>
            <a:noFill/>
          </a:ln>
        </p:spPr>
        <p:txBody>
          <a:bodyPr rtlCol="0" anchor="ctr"/>
          <a:lstStyle/>
          <a:p>
            <a:pPr algn="ctr"/>
          </a:p>
        </p:txBody>
      </p:sp>
      <p:sp>
        <p:nvSpPr>
          <p:cNvPr id="70" name="Rule 69"/>
          <p:cNvSpPr/>
          <p:nvPr/>
        </p:nvSpPr>
        <p:spPr>
          <a:xfrm>
            <a:off x="7594600" y="4072930"/>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7620000" y="409731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72" name="Box 71"/>
          <p:cNvSpPr/>
          <p:nvPr/>
        </p:nvSpPr>
        <p:spPr>
          <a:xfrm>
            <a:off x="4629150" y="4072930"/>
            <a:ext cx="2965450" cy="375841"/>
          </a:xfrm>
          <a:prstGeom prst="rect">
            <a:avLst/>
          </a:prstGeom>
          <a:solidFill>
            <a:srgbClr val="FFFFFF"/>
          </a:solidFill>
          <a:ln>
            <a:noFill/>
          </a:ln>
        </p:spPr>
        <p:txBody>
          <a:bodyPr rtlCol="0" anchor="ctr"/>
          <a:lstStyle/>
          <a:p>
            <a:pPr algn="ctr"/>
          </a:p>
        </p:txBody>
      </p:sp>
      <p:sp>
        <p:nvSpPr>
          <p:cNvPr id="73" name="Rule 72"/>
          <p:cNvSpPr/>
          <p:nvPr/>
        </p:nvSpPr>
        <p:spPr>
          <a:xfrm>
            <a:off x="4629150" y="4072930"/>
            <a:ext cx="6350" cy="375841"/>
          </a:xfrm>
          <a:prstGeom prst="rect">
            <a:avLst/>
          </a:prstGeom>
          <a:solidFill>
            <a:srgbClr val="D3D9DF"/>
          </a:solidFill>
          <a:ln>
            <a:noFill/>
          </a:ln>
        </p:spPr>
        <p:txBody>
          <a:bodyPr rtlCol="0" anchor="ctr"/>
          <a:lstStyle/>
          <a:p>
            <a:pPr algn="ctr"/>
          </a:p>
        </p:txBody>
      </p:sp>
      <p:sp>
        <p:nvSpPr>
          <p:cNvPr id="74" name="Rule 73"/>
          <p:cNvSpPr/>
          <p:nvPr/>
        </p:nvSpPr>
        <p:spPr>
          <a:xfrm>
            <a:off x="4629150" y="5105202"/>
            <a:ext cx="6743700" cy="6350"/>
          </a:xfrm>
          <a:prstGeom prst="rect">
            <a:avLst/>
          </a:prstGeom>
          <a:solidFill>
            <a:srgbClr val="D3D9DF"/>
          </a:solidFill>
          <a:ln>
            <a:noFill/>
          </a:ln>
        </p:spPr>
        <p:txBody>
          <a:bodyPr rtlCol="0" anchor="ctr"/>
          <a:lstStyle/>
          <a:p>
            <a:pPr algn="ctr"/>
          </a:p>
        </p:txBody>
      </p:sp>
      <p:sp>
        <p:nvSpPr>
          <p:cNvPr id="75" name="Box 74"/>
          <p:cNvSpPr/>
          <p:nvPr/>
        </p:nvSpPr>
        <p:spPr>
          <a:xfrm>
            <a:off x="9880600" y="4455120"/>
            <a:ext cx="1492250" cy="650081"/>
          </a:xfrm>
          <a:prstGeom prst="rect">
            <a:avLst/>
          </a:prstGeom>
          <a:solidFill>
            <a:srgbClr val="FFFFFF"/>
          </a:solidFill>
          <a:ln>
            <a:noFill/>
          </a:ln>
        </p:spPr>
        <p:txBody>
          <a:bodyPr rtlCol="0" anchor="ctr"/>
          <a:lstStyle/>
          <a:p>
            <a:pPr algn="ctr"/>
          </a:p>
        </p:txBody>
      </p:sp>
      <p:sp>
        <p:nvSpPr>
          <p:cNvPr id="76" name="Rule 75"/>
          <p:cNvSpPr/>
          <p:nvPr/>
        </p:nvSpPr>
        <p:spPr>
          <a:xfrm>
            <a:off x="9880600" y="4455120"/>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9906000" y="44795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ops.r.shahri</a:t>
            </a:r>
          </a:p>
        </p:txBody>
      </p:sp>
      <p:sp>
        <p:nvSpPr>
          <p:cNvPr id="78" name="Box 77"/>
          <p:cNvSpPr/>
          <p:nvPr/>
        </p:nvSpPr>
        <p:spPr>
          <a:xfrm>
            <a:off x="8420100" y="4455120"/>
            <a:ext cx="1460500" cy="650081"/>
          </a:xfrm>
          <a:prstGeom prst="rect">
            <a:avLst/>
          </a:prstGeom>
          <a:solidFill>
            <a:srgbClr val="FFFFFF"/>
          </a:solidFill>
          <a:ln>
            <a:noFill/>
          </a:ln>
        </p:spPr>
        <p:txBody>
          <a:bodyPr rtlCol="0" anchor="ctr"/>
          <a:lstStyle/>
          <a:p>
            <a:pPr algn="ctr"/>
          </a:p>
        </p:txBody>
      </p:sp>
      <p:sp>
        <p:nvSpPr>
          <p:cNvPr id="79" name="Rule 78"/>
          <p:cNvSpPr/>
          <p:nvPr/>
        </p:nvSpPr>
        <p:spPr>
          <a:xfrm>
            <a:off x="8420100" y="4455120"/>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8451850" y="4479504"/>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بيانات الموظفين</a:t>
            </a:r>
          </a:p>
        </p:txBody>
      </p:sp>
      <p:sp>
        <p:nvSpPr>
          <p:cNvPr id="81" name="Box 80"/>
          <p:cNvSpPr/>
          <p:nvPr/>
        </p:nvSpPr>
        <p:spPr>
          <a:xfrm>
            <a:off x="7594600" y="4455120"/>
            <a:ext cx="825500" cy="650081"/>
          </a:xfrm>
          <a:prstGeom prst="rect">
            <a:avLst/>
          </a:prstGeom>
          <a:solidFill>
            <a:srgbClr val="FFFFFF"/>
          </a:solidFill>
          <a:ln>
            <a:noFill/>
          </a:ln>
        </p:spPr>
        <p:txBody>
          <a:bodyPr rtlCol="0" anchor="ctr"/>
          <a:lstStyle/>
          <a:p>
            <a:pPr algn="ctr"/>
          </a:p>
        </p:txBody>
      </p:sp>
      <p:sp>
        <p:nvSpPr>
          <p:cNvPr id="82" name="Rule 81"/>
          <p:cNvSpPr/>
          <p:nvPr/>
        </p:nvSpPr>
        <p:spPr>
          <a:xfrm>
            <a:off x="7594600" y="4455120"/>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7620000" y="447950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84" name="Box 83"/>
          <p:cNvSpPr/>
          <p:nvPr/>
        </p:nvSpPr>
        <p:spPr>
          <a:xfrm>
            <a:off x="4629150" y="4455120"/>
            <a:ext cx="2965450" cy="650081"/>
          </a:xfrm>
          <a:prstGeom prst="rect">
            <a:avLst/>
          </a:prstGeom>
          <a:solidFill>
            <a:srgbClr val="FFFFFF"/>
          </a:solidFill>
          <a:ln>
            <a:noFill/>
          </a:ln>
        </p:spPr>
        <p:txBody>
          <a:bodyPr rtlCol="0" anchor="ctr"/>
          <a:lstStyle/>
          <a:p>
            <a:pPr algn="ctr"/>
          </a:p>
        </p:txBody>
      </p:sp>
      <p:sp>
        <p:nvSpPr>
          <p:cNvPr id="85" name="Rule 84"/>
          <p:cNvSpPr/>
          <p:nvPr/>
        </p:nvSpPr>
        <p:spPr>
          <a:xfrm>
            <a:off x="4629150" y="4455120"/>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4654550" y="4479504"/>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تحتاجها في عملها الحالي</a:t>
            </a:r>
          </a:p>
        </p:txBody>
      </p:sp>
      <p:sp>
        <p:nvSpPr>
          <p:cNvPr id="87" name="Rule 86"/>
          <p:cNvSpPr/>
          <p:nvPr/>
        </p:nvSpPr>
        <p:spPr>
          <a:xfrm>
            <a:off x="4629150" y="5487392"/>
            <a:ext cx="6743700" cy="6350"/>
          </a:xfrm>
          <a:prstGeom prst="rect">
            <a:avLst/>
          </a:prstGeom>
          <a:solidFill>
            <a:srgbClr val="D3D9DF"/>
          </a:solidFill>
          <a:ln>
            <a:noFill/>
          </a:ln>
        </p:spPr>
        <p:txBody>
          <a:bodyPr rtlCol="0" anchor="ctr"/>
          <a:lstStyle/>
          <a:p>
            <a:pPr algn="ctr"/>
          </a:p>
        </p:txBody>
      </p:sp>
      <p:sp>
        <p:nvSpPr>
          <p:cNvPr id="88" name="Box 87"/>
          <p:cNvSpPr/>
          <p:nvPr/>
        </p:nvSpPr>
        <p:spPr>
          <a:xfrm>
            <a:off x="9880600" y="5111552"/>
            <a:ext cx="1492250" cy="375841"/>
          </a:xfrm>
          <a:prstGeom prst="roundRect">
            <a:avLst>
              <a:gd name="adj" fmla="val 2956"/>
            </a:avLst>
          </a:prstGeom>
          <a:solidFill>
            <a:srgbClr val="FFFFFF"/>
          </a:solidFill>
          <a:ln>
            <a:noFill/>
          </a:ln>
        </p:spPr>
        <p:txBody>
          <a:bodyPr rtlCol="0" anchor="ctr"/>
          <a:lstStyle/>
          <a:p>
            <a:pPr algn="ctr"/>
          </a:p>
        </p:txBody>
      </p:sp>
      <p:sp>
        <p:nvSpPr>
          <p:cNvPr id="89" name="Rule 88"/>
          <p:cNvSpPr/>
          <p:nvPr/>
        </p:nvSpPr>
        <p:spPr>
          <a:xfrm>
            <a:off x="9880600" y="5111552"/>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9906000" y="5135936"/>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hr.temp02</a:t>
            </a:r>
          </a:p>
        </p:txBody>
      </p:sp>
      <p:sp>
        <p:nvSpPr>
          <p:cNvPr id="91" name="Box 90"/>
          <p:cNvSpPr/>
          <p:nvPr/>
        </p:nvSpPr>
        <p:spPr>
          <a:xfrm>
            <a:off x="8420100" y="5111552"/>
            <a:ext cx="1460500" cy="375841"/>
          </a:xfrm>
          <a:prstGeom prst="rect">
            <a:avLst/>
          </a:prstGeom>
          <a:solidFill>
            <a:srgbClr val="FFFFFF"/>
          </a:solidFill>
          <a:ln>
            <a:noFill/>
          </a:ln>
        </p:spPr>
        <p:txBody>
          <a:bodyPr rtlCol="0" anchor="ctr"/>
          <a:lstStyle/>
          <a:p>
            <a:pPr algn="ctr"/>
          </a:p>
        </p:txBody>
      </p:sp>
      <p:sp>
        <p:nvSpPr>
          <p:cNvPr id="92" name="Rule 91"/>
          <p:cNvSpPr/>
          <p:nvPr/>
        </p:nvSpPr>
        <p:spPr>
          <a:xfrm>
            <a:off x="8420100" y="5111552"/>
            <a:ext cx="6350" cy="375841"/>
          </a:xfrm>
          <a:prstGeom prst="rect">
            <a:avLst/>
          </a:prstGeom>
          <a:solidFill>
            <a:srgbClr val="D3D9DF"/>
          </a:solidFill>
          <a:ln>
            <a:noFill/>
          </a:ln>
        </p:spPr>
        <p:txBody>
          <a:bodyPr rtlCol="0" anchor="ctr"/>
          <a:lstStyle/>
          <a:p>
            <a:pPr algn="ctr"/>
          </a:p>
        </p:txBody>
      </p:sp>
      <p:sp>
        <p:nvSpPr>
          <p:cNvPr id="93" name="Text 92"/>
          <p:cNvSpPr txBox="1"/>
          <p:nvPr/>
        </p:nvSpPr>
        <p:spPr>
          <a:xfrm>
            <a:off x="8445500" y="5135936"/>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94" name="Box 93"/>
          <p:cNvSpPr/>
          <p:nvPr/>
        </p:nvSpPr>
        <p:spPr>
          <a:xfrm>
            <a:off x="7594600" y="5111552"/>
            <a:ext cx="825500" cy="375841"/>
          </a:xfrm>
          <a:prstGeom prst="rect">
            <a:avLst/>
          </a:prstGeom>
          <a:solidFill>
            <a:srgbClr val="FFFFFF"/>
          </a:solidFill>
          <a:ln>
            <a:noFill/>
          </a:ln>
        </p:spPr>
        <p:txBody>
          <a:bodyPr rtlCol="0" anchor="ctr"/>
          <a:lstStyle/>
          <a:p>
            <a:pPr algn="ctr"/>
          </a:p>
        </p:txBody>
      </p:sp>
      <p:sp>
        <p:nvSpPr>
          <p:cNvPr id="95" name="Rule 94"/>
          <p:cNvSpPr/>
          <p:nvPr/>
        </p:nvSpPr>
        <p:spPr>
          <a:xfrm>
            <a:off x="7594600" y="5111552"/>
            <a:ext cx="6350" cy="375841"/>
          </a:xfrm>
          <a:prstGeom prst="rect">
            <a:avLst/>
          </a:prstGeom>
          <a:solidFill>
            <a:srgbClr val="D3D9DF"/>
          </a:solidFill>
          <a:ln>
            <a:noFill/>
          </a:ln>
        </p:spPr>
        <p:txBody>
          <a:bodyPr rtlCol="0" anchor="ctr"/>
          <a:lstStyle/>
          <a:p>
            <a:pPr algn="ctr"/>
          </a:p>
        </p:txBody>
      </p:sp>
      <p:sp>
        <p:nvSpPr>
          <p:cNvPr id="96" name="Text 95"/>
          <p:cNvSpPr txBox="1"/>
          <p:nvPr/>
        </p:nvSpPr>
        <p:spPr>
          <a:xfrm>
            <a:off x="7620000" y="5135936"/>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97" name="Box 96"/>
          <p:cNvSpPr/>
          <p:nvPr/>
        </p:nvSpPr>
        <p:spPr>
          <a:xfrm>
            <a:off x="4629150" y="5111552"/>
            <a:ext cx="2965450" cy="375841"/>
          </a:xfrm>
          <a:prstGeom prst="roundRect">
            <a:avLst>
              <a:gd name="adj" fmla="val 2956"/>
            </a:avLst>
          </a:prstGeom>
          <a:solidFill>
            <a:srgbClr val="FFFFFF"/>
          </a:solidFill>
          <a:ln>
            <a:noFill/>
          </a:ln>
        </p:spPr>
        <p:txBody>
          <a:bodyPr rtlCol="0" anchor="ctr"/>
          <a:lstStyle/>
          <a:p>
            <a:pPr algn="ctr"/>
          </a:p>
        </p:txBody>
      </p:sp>
      <p:sp>
        <p:nvSpPr>
          <p:cNvPr id="98" name="Rule 97"/>
          <p:cNvSpPr/>
          <p:nvPr/>
        </p:nvSpPr>
        <p:spPr>
          <a:xfrm>
            <a:off x="4629150" y="5111552"/>
            <a:ext cx="6350" cy="375841"/>
          </a:xfrm>
          <a:prstGeom prst="rect">
            <a:avLst/>
          </a:prstGeom>
          <a:solidFill>
            <a:srgbClr val="D3D9DF"/>
          </a:solidFill>
          <a:ln>
            <a:noFill/>
          </a:ln>
        </p:spPr>
        <p:txBody>
          <a:bodyPr rtlCol="0" anchor="ctr"/>
          <a:lstStyle/>
          <a:p>
            <a:pPr algn="ctr"/>
          </a:p>
        </p:txBody>
      </p:sp>
      <p:sp>
        <p:nvSpPr>
          <p:cNvPr id="99" name="Text 98"/>
          <p:cNvSpPr txBox="1"/>
          <p:nvPr/>
        </p:nvSpPr>
        <p:spPr>
          <a:xfrm>
            <a:off x="4654550" y="5135936"/>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انتهى العقد في مارس</a:t>
            </a:r>
          </a:p>
        </p:txBody>
      </p:sp>
      <p:sp>
        <p:nvSpPr>
          <p:cNvPr id="100" name="Text 99"/>
          <p:cNvSpPr txBox="1"/>
          <p:nvPr/>
        </p:nvSpPr>
        <p:spPr>
          <a:xfrm>
            <a:off x="9165352" y="5565878"/>
            <a:ext cx="221384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تاريخ التصدير:‏ 29 مارس 2026</a:t>
            </a:r>
          </a:p>
        </p:txBody>
      </p:sp>
      <p:sp>
        <p:nvSpPr>
          <p:cNvPr id="101" name="Text 100"/>
          <p:cNvSpPr txBox="1"/>
          <p:nvPr/>
        </p:nvSpPr>
        <p:spPr>
          <a:xfrm>
            <a:off x="7693843" y="5565878"/>
            <a:ext cx="147039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عدد الحسابات:‏ 214</a:t>
            </a:r>
          </a:p>
        </p:txBody>
      </p:sp>
      <p:sp>
        <p:nvSpPr>
          <p:cNvPr id="102" name="Text 101"/>
          <p:cNvSpPr txBox="1"/>
          <p:nvPr/>
        </p:nvSpPr>
        <p:spPr>
          <a:xfrm>
            <a:off x="6856095" y="5565878"/>
            <a:ext cx="78156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للإزالة:‏ 12</a:t>
            </a:r>
          </a:p>
        </p:txBody>
      </p:sp>
      <p:sp>
        <p:nvSpPr>
          <p:cNvPr id="103" name="Text 102"/>
          <p:cNvSpPr txBox="1"/>
          <p:nvPr/>
        </p:nvSpPr>
        <p:spPr>
          <a:xfrm>
            <a:off x="8201374" y="5970988"/>
            <a:ext cx="317782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الاعتماد: أ. منى، مالكة النظام · 8 أبريل 2026</a:t>
            </a:r>
          </a:p>
        </p:txBody>
      </p:sp>
      <p:sp>
        <p:nvSpPr>
          <p:cNvPr id="104" name="Rule 103"/>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105" name="Icon Search 104" descr="icon054.png"/>
          <p:cNvPicPr>
            <a:picLocks noChangeAspect="1"/>
          </p:cNvPicPr>
          <p:nvPr/>
        </p:nvPicPr>
        <p:blipFill>
          <a:blip r:embed="rId2"/>
          <a:stretch>
            <a:fillRect/>
          </a:stretch>
        </p:blipFill>
        <p:spPr>
          <a:xfrm>
            <a:off x="4152900" y="1682055"/>
            <a:ext cx="215900" cy="215900"/>
          </a:xfrm>
          <a:prstGeom prst="rect">
            <a:avLst/>
          </a:prstGeom>
        </p:spPr>
      </p:pic>
      <p:sp>
        <p:nvSpPr>
          <p:cNvPr id="106" name="Text 105"/>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07" name="Text 106"/>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مقتطف من ملف المراجعة: قرار المدير لكل حساب، وبيانات التصدير والاعتماد.</a:t>
            </a:r>
          </a:p>
        </p:txBody>
      </p:sp>
      <p:pic>
        <p:nvPicPr>
          <p:cNvPr id="108" name="Icon Book 107" descr="icon059.png"/>
          <p:cNvPicPr>
            <a:picLocks noChangeAspect="1"/>
          </p:cNvPicPr>
          <p:nvPr/>
        </p:nvPicPr>
        <p:blipFill>
          <a:blip r:embed="rId3"/>
          <a:stretch>
            <a:fillRect/>
          </a:stretch>
        </p:blipFill>
        <p:spPr>
          <a:xfrm>
            <a:off x="4140200" y="2713236"/>
            <a:ext cx="228600" cy="228600"/>
          </a:xfrm>
          <a:prstGeom prst="rect">
            <a:avLst/>
          </a:prstGeom>
        </p:spPr>
      </p:pic>
      <p:sp>
        <p:nvSpPr>
          <p:cNvPr id="109" name="Text 108"/>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110" name="Text 10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11" name="Text 11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د3: تذكرة إزالة</a:t>
            </a:r>
          </a:p>
        </p:txBody>
      </p:sp>
      <p:sp>
        <p:nvSpPr>
          <p:cNvPr id="7" name="Box 6"/>
          <p:cNvSpPr/>
          <p:nvPr/>
        </p:nvSpPr>
        <p:spPr>
          <a:xfrm>
            <a:off x="4625975" y="1661120"/>
            <a:ext cx="6750050" cy="3145234"/>
          </a:xfrm>
          <a:prstGeom prst="roundRect">
            <a:avLst>
              <a:gd name="adj" fmla="val 2014"/>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141736"/>
            <a:ext cx="6743700" cy="12700"/>
          </a:xfrm>
          <a:prstGeom prst="rect">
            <a:avLst/>
          </a:prstGeom>
          <a:solidFill>
            <a:srgbClr val="D6CFBF"/>
          </a:solidFill>
          <a:ln>
            <a:noFill/>
          </a:ln>
        </p:spPr>
        <p:txBody>
          <a:bodyPr rtlCol="0" anchor="ctr"/>
          <a:lstStyle/>
          <a:p>
            <a:pPr algn="ctr"/>
          </a:p>
        </p:txBody>
      </p:sp>
      <p:sp>
        <p:nvSpPr>
          <p:cNvPr id="9" name="Text 8"/>
          <p:cNvSpPr txBox="1"/>
          <p:nvPr/>
        </p:nvSpPr>
        <p:spPr>
          <a:xfrm>
            <a:off x="9679968" y="1775869"/>
            <a:ext cx="1515082"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172433"/>
                </a:solidFill>
                <a:latin typeface="Readex Pro"/>
                <a:ea typeface="Readex Pro"/>
                <a:cs typeface="Readex Pro"/>
              </a:rPr>
              <a:t>REQ-2026-0418</a:t>
            </a:r>
          </a:p>
        </p:txBody>
      </p:sp>
      <p:sp>
        <p:nvSpPr>
          <p:cNvPr id="10" name="Text box 9"/>
          <p:cNvSpPr/>
          <p:nvPr/>
        </p:nvSpPr>
        <p:spPr>
          <a:xfrm>
            <a:off x="9172972" y="1778595"/>
            <a:ext cx="530324" cy="248841"/>
          </a:xfrm>
          <a:prstGeom prst="roundRect">
            <a:avLst>
              <a:gd name="adj" fmla="val 50000"/>
            </a:avLst>
          </a:prstGeom>
          <a:solidFill>
            <a:srgbClr val="E9E4D8"/>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a:solidFill>
                  <a:srgbClr val="4E5A66"/>
                </a:solidFill>
                <a:latin typeface="IBM Plex Sans Arabic"/>
                <a:ea typeface="IBM Plex Sans Arabic"/>
                <a:cs typeface="IBM Plex Sans Arabic"/>
              </a:rPr>
              <a:t>مغلقة</a:t>
            </a:r>
          </a:p>
        </p:txBody>
      </p:sp>
      <p:sp>
        <p:nvSpPr>
          <p:cNvPr id="11" name="Text 10"/>
          <p:cNvSpPr txBox="1"/>
          <p:nvPr/>
        </p:nvSpPr>
        <p:spPr>
          <a:xfrm>
            <a:off x="4667607" y="17879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06950" y="2619177"/>
            <a:ext cx="6388100" cy="6350"/>
          </a:xfrm>
          <a:prstGeom prst="rect">
            <a:avLst/>
          </a:prstGeom>
          <a:solidFill>
            <a:srgbClr val="E6E2D8"/>
          </a:solidFill>
          <a:ln>
            <a:noFill/>
          </a:ln>
        </p:spPr>
        <p:txBody>
          <a:bodyPr rtlCol="0" anchor="ctr"/>
          <a:lstStyle/>
          <a:p>
            <a:pPr algn="ctr"/>
          </a:p>
        </p:txBody>
      </p:sp>
      <p:sp>
        <p:nvSpPr>
          <p:cNvPr id="13" name="Text 12"/>
          <p:cNvSpPr txBox="1"/>
          <p:nvPr/>
        </p:nvSpPr>
        <p:spPr>
          <a:xfrm>
            <a:off x="9549130" y="226772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الطلب</a:t>
            </a:r>
          </a:p>
        </p:txBody>
      </p:sp>
      <p:sp>
        <p:nvSpPr>
          <p:cNvPr id="14" name="Text 13"/>
          <p:cNvSpPr txBox="1"/>
          <p:nvPr/>
        </p:nvSpPr>
        <p:spPr>
          <a:xfrm>
            <a:off x="4806950" y="2267720"/>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 صلاحية «تعديل الرواتب» من hr.s.dosari</a:t>
            </a:r>
          </a:p>
        </p:txBody>
      </p:sp>
      <p:sp>
        <p:nvSpPr>
          <p:cNvPr id="15" name="Rule 14"/>
          <p:cNvSpPr/>
          <p:nvPr/>
        </p:nvSpPr>
        <p:spPr>
          <a:xfrm>
            <a:off x="4806950" y="3026767"/>
            <a:ext cx="6388100" cy="6350"/>
          </a:xfrm>
          <a:prstGeom prst="rect">
            <a:avLst/>
          </a:prstGeom>
          <a:solidFill>
            <a:srgbClr val="E6E2D8"/>
          </a:solidFill>
          <a:ln>
            <a:noFill/>
          </a:ln>
        </p:spPr>
        <p:txBody>
          <a:bodyPr rtlCol="0" anchor="ctr"/>
          <a:lstStyle/>
          <a:p>
            <a:pPr algn="ctr"/>
          </a:p>
        </p:txBody>
      </p:sp>
      <p:sp>
        <p:nvSpPr>
          <p:cNvPr id="16" name="Text 15"/>
          <p:cNvSpPr txBox="1"/>
          <p:nvPr/>
        </p:nvSpPr>
        <p:spPr>
          <a:xfrm>
            <a:off x="9549130" y="267531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المصدر</a:t>
            </a:r>
          </a:p>
        </p:txBody>
      </p:sp>
      <p:sp>
        <p:nvSpPr>
          <p:cNvPr id="17" name="Text 16"/>
          <p:cNvSpPr txBox="1"/>
          <p:nvPr/>
        </p:nvSpPr>
        <p:spPr>
          <a:xfrm>
            <a:off x="4806950" y="2675311"/>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مراجعة الربع الأول المعتمدة</a:t>
            </a:r>
          </a:p>
        </p:txBody>
      </p:sp>
      <p:sp>
        <p:nvSpPr>
          <p:cNvPr id="18" name="Rule 17"/>
          <p:cNvSpPr/>
          <p:nvPr/>
        </p:nvSpPr>
        <p:spPr>
          <a:xfrm>
            <a:off x="4806950" y="3434358"/>
            <a:ext cx="6388100" cy="6350"/>
          </a:xfrm>
          <a:prstGeom prst="rect">
            <a:avLst/>
          </a:prstGeom>
          <a:solidFill>
            <a:srgbClr val="E6E2D8"/>
          </a:solidFill>
          <a:ln>
            <a:noFill/>
          </a:ln>
        </p:spPr>
        <p:txBody>
          <a:bodyPr rtlCol="0" anchor="ctr"/>
          <a:lstStyle/>
          <a:p>
            <a:pPr algn="ctr"/>
          </a:p>
        </p:txBody>
      </p:sp>
      <p:sp>
        <p:nvSpPr>
          <p:cNvPr id="19" name="Text 18"/>
          <p:cNvSpPr txBox="1"/>
          <p:nvPr/>
        </p:nvSpPr>
        <p:spPr>
          <a:xfrm>
            <a:off x="9549130" y="308290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المنفّذ</a:t>
            </a:r>
          </a:p>
        </p:txBody>
      </p:sp>
      <p:sp>
        <p:nvSpPr>
          <p:cNvPr id="20" name="Text 19"/>
          <p:cNvSpPr txBox="1"/>
          <p:nvPr/>
        </p:nvSpPr>
        <p:spPr>
          <a:xfrm>
            <a:off x="4806950" y="3082901"/>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تقنية المعلومات</a:t>
            </a:r>
          </a:p>
        </p:txBody>
      </p:sp>
      <p:sp>
        <p:nvSpPr>
          <p:cNvPr id="21" name="Rule 20"/>
          <p:cNvSpPr/>
          <p:nvPr/>
        </p:nvSpPr>
        <p:spPr>
          <a:xfrm>
            <a:off x="4806950" y="3841948"/>
            <a:ext cx="6388100" cy="6350"/>
          </a:xfrm>
          <a:prstGeom prst="rect">
            <a:avLst/>
          </a:prstGeom>
          <a:solidFill>
            <a:srgbClr val="E6E2D8"/>
          </a:solidFill>
          <a:ln>
            <a:noFill/>
          </a:ln>
        </p:spPr>
        <p:txBody>
          <a:bodyPr rtlCol="0" anchor="ctr"/>
          <a:lstStyle/>
          <a:p>
            <a:pPr algn="ctr"/>
          </a:p>
        </p:txBody>
      </p:sp>
      <p:sp>
        <p:nvSpPr>
          <p:cNvPr id="22" name="Text 21"/>
          <p:cNvSpPr txBox="1"/>
          <p:nvPr/>
        </p:nvSpPr>
        <p:spPr>
          <a:xfrm>
            <a:off x="9549130" y="349049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فُتح</a:t>
            </a:r>
          </a:p>
        </p:txBody>
      </p:sp>
      <p:sp>
        <p:nvSpPr>
          <p:cNvPr id="23" name="Text 22"/>
          <p:cNvSpPr txBox="1"/>
          <p:nvPr/>
        </p:nvSpPr>
        <p:spPr>
          <a:xfrm>
            <a:off x="4806950" y="3490492"/>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 أبريل 2026</a:t>
            </a:r>
          </a:p>
        </p:txBody>
      </p:sp>
      <p:sp>
        <p:nvSpPr>
          <p:cNvPr id="24" name="Rule 23"/>
          <p:cNvSpPr/>
          <p:nvPr/>
        </p:nvSpPr>
        <p:spPr>
          <a:xfrm>
            <a:off x="4806950" y="4249539"/>
            <a:ext cx="6388100" cy="6350"/>
          </a:xfrm>
          <a:prstGeom prst="rect">
            <a:avLst/>
          </a:prstGeom>
          <a:solidFill>
            <a:srgbClr val="E6E2D8"/>
          </a:solidFill>
          <a:ln>
            <a:noFill/>
          </a:ln>
        </p:spPr>
        <p:txBody>
          <a:bodyPr rtlCol="0" anchor="ctr"/>
          <a:lstStyle/>
          <a:p>
            <a:pPr algn="ctr"/>
          </a:p>
        </p:txBody>
      </p:sp>
      <p:sp>
        <p:nvSpPr>
          <p:cNvPr id="25" name="Text 24"/>
          <p:cNvSpPr txBox="1"/>
          <p:nvPr/>
        </p:nvSpPr>
        <p:spPr>
          <a:xfrm>
            <a:off x="9549130" y="3898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أُغلق</a:t>
            </a:r>
          </a:p>
        </p:txBody>
      </p:sp>
      <p:sp>
        <p:nvSpPr>
          <p:cNvPr id="26" name="Text 25"/>
          <p:cNvSpPr txBox="1"/>
          <p:nvPr/>
        </p:nvSpPr>
        <p:spPr>
          <a:xfrm>
            <a:off x="4806950" y="3898082"/>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20 مايو 2026</a:t>
            </a:r>
          </a:p>
        </p:txBody>
      </p:sp>
      <p:sp>
        <p:nvSpPr>
          <p:cNvPr id="27" name="Rule 26"/>
          <p:cNvSpPr/>
          <p:nvPr/>
        </p:nvSpPr>
        <p:spPr>
          <a:xfrm>
            <a:off x="4806950" y="4657130"/>
            <a:ext cx="6388100" cy="6350"/>
          </a:xfrm>
          <a:prstGeom prst="rect">
            <a:avLst/>
          </a:prstGeom>
          <a:solidFill>
            <a:srgbClr val="E6E2D8"/>
          </a:solidFill>
          <a:ln>
            <a:noFill/>
          </a:ln>
        </p:spPr>
        <p:txBody>
          <a:bodyPr rtlCol="0" anchor="ctr"/>
          <a:lstStyle/>
          <a:p>
            <a:pPr algn="ctr"/>
          </a:p>
        </p:txBody>
      </p:sp>
      <p:sp>
        <p:nvSpPr>
          <p:cNvPr id="28" name="Text 27"/>
          <p:cNvSpPr txBox="1"/>
          <p:nvPr/>
        </p:nvSpPr>
        <p:spPr>
          <a:xfrm>
            <a:off x="9549130" y="430567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ملاحظة الإغلاق</a:t>
            </a:r>
          </a:p>
        </p:txBody>
      </p:sp>
      <p:sp>
        <p:nvSpPr>
          <p:cNvPr id="29" name="Text 28"/>
          <p:cNvSpPr txBox="1"/>
          <p:nvPr/>
        </p:nvSpPr>
        <p:spPr>
          <a:xfrm>
            <a:off x="4806950" y="4305673"/>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تمت الإزالة.</a:t>
            </a:r>
          </a:p>
        </p:txBody>
      </p:sp>
      <p:sp>
        <p:nvSpPr>
          <p:cNvPr id="30" name="Rule 29"/>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31" name="Icon Search 30" descr="icon054.png"/>
          <p:cNvPicPr>
            <a:picLocks noChangeAspect="1"/>
          </p:cNvPicPr>
          <p:nvPr/>
        </p:nvPicPr>
        <p:blipFill>
          <a:blip r:embed="rId2"/>
          <a:stretch>
            <a:fillRect/>
          </a:stretch>
        </p:blipFill>
        <p:spPr>
          <a:xfrm>
            <a:off x="4152900" y="1682055"/>
            <a:ext cx="215900" cy="215900"/>
          </a:xfrm>
          <a:prstGeom prst="rect">
            <a:avLst/>
          </a:prstGeom>
        </p:spPr>
      </p:pic>
      <p:sp>
        <p:nvSpPr>
          <p:cNvPr id="32" name="Text 31"/>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تذكرة إزالة صلاحية واحدة، بتاريخ فتح وتاريخ إغلاق.</a:t>
            </a:r>
          </a:p>
        </p:txBody>
      </p:sp>
      <p:pic>
        <p:nvPicPr>
          <p:cNvPr id="34" name="Icon Book 33" descr="icon059.png"/>
          <p:cNvPicPr>
            <a:picLocks noChangeAspect="1"/>
          </p:cNvPicPr>
          <p:nvPr/>
        </p:nvPicPr>
        <p:blipFill>
          <a:blip r:embed="rId3"/>
          <a:stretch>
            <a:fillRect/>
          </a:stretch>
        </p:blipFill>
        <p:spPr>
          <a:xfrm>
            <a:off x="4140200" y="2713236"/>
            <a:ext cx="228600" cy="228600"/>
          </a:xfrm>
          <a:prstGeom prst="rect">
            <a:avLst/>
          </a:prstGeom>
        </p:spPr>
      </p:pic>
      <p:sp>
        <p:nvSpPr>
          <p:cNvPr id="35" name="Text 34"/>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د5: الحسابات النشطة والمغادرون</a:t>
            </a:r>
          </a:p>
        </p:txBody>
      </p:sp>
      <p:sp>
        <p:nvSpPr>
          <p:cNvPr id="7" name="Box 6"/>
          <p:cNvSpPr/>
          <p:nvPr/>
        </p:nvSpPr>
        <p:spPr>
          <a:xfrm>
            <a:off x="4625975" y="1661120"/>
            <a:ext cx="6750050" cy="3492996"/>
          </a:xfrm>
          <a:prstGeom prst="roundRect">
            <a:avLst>
              <a:gd name="adj" fmla="val 1451"/>
            </a:avLst>
          </a:prstGeom>
          <a:solidFill>
            <a:srgbClr val="FFFFFF"/>
          </a:solidFill>
          <a:ln w="6350">
            <a:solidFill>
              <a:srgbClr val="C9D0D6"/>
            </a:solidFill>
          </a:ln>
        </p:spPr>
        <p:txBody>
          <a:bodyPr rtlCol="0" anchor="ctr"/>
          <a:lstStyle/>
          <a:p>
            <a:pPr algn="ctr"/>
          </a:p>
        </p:txBody>
      </p:sp>
      <p:sp>
        <p:nvSpPr>
          <p:cNvPr id="8" name="Box 7"/>
          <p:cNvSpPr/>
          <p:nvPr/>
        </p:nvSpPr>
        <p:spPr>
          <a:xfrm>
            <a:off x="4629150" y="1664295"/>
            <a:ext cx="674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629150" y="1989336"/>
            <a:ext cx="6743700" cy="6350"/>
          </a:xfrm>
          <a:prstGeom prst="rect">
            <a:avLst/>
          </a:prstGeom>
          <a:solidFill>
            <a:srgbClr val="D3D9DF"/>
          </a:solidFill>
          <a:ln>
            <a:noFill/>
          </a:ln>
        </p:spPr>
        <p:txBody>
          <a:bodyPr rtlCol="0" anchor="ctr"/>
          <a:lstStyle/>
          <a:p>
            <a:pPr algn="ctr"/>
          </a:p>
        </p:txBody>
      </p:sp>
      <p:sp>
        <p:nvSpPr>
          <p:cNvPr id="10" name="Text 9"/>
          <p:cNvSpPr txBox="1"/>
          <p:nvPr/>
        </p:nvSpPr>
        <p:spPr>
          <a:xfrm>
            <a:off x="7289002" y="1711793"/>
            <a:ext cx="398224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تصدير الحسابات النشطة · 2 يوليو 2026 · مقتطف 5 من 221</a:t>
            </a:r>
          </a:p>
        </p:txBody>
      </p:sp>
      <p:sp>
        <p:nvSpPr>
          <p:cNvPr id="11" name="Text 10"/>
          <p:cNvSpPr txBox="1"/>
          <p:nvPr/>
        </p:nvSpPr>
        <p:spPr>
          <a:xfrm>
            <a:off x="465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629150" y="2302966"/>
            <a:ext cx="6743700" cy="6350"/>
          </a:xfrm>
          <a:prstGeom prst="rect">
            <a:avLst/>
          </a:prstGeom>
          <a:solidFill>
            <a:srgbClr val="D3D9DF"/>
          </a:solidFill>
          <a:ln>
            <a:noFill/>
          </a:ln>
        </p:spPr>
        <p:txBody>
          <a:bodyPr rtlCol="0" anchor="ctr"/>
          <a:lstStyle/>
          <a:p>
            <a:pPr algn="ctr"/>
          </a:p>
        </p:txBody>
      </p:sp>
      <p:sp>
        <p:nvSpPr>
          <p:cNvPr id="13" name="Box 12"/>
          <p:cNvSpPr/>
          <p:nvPr/>
        </p:nvSpPr>
        <p:spPr>
          <a:xfrm>
            <a:off x="11017250" y="1995686"/>
            <a:ext cx="355600" cy="307280"/>
          </a:xfrm>
          <a:prstGeom prst="rect">
            <a:avLst/>
          </a:prstGeom>
          <a:solidFill>
            <a:srgbClr val="EEF1F4"/>
          </a:solidFill>
          <a:ln>
            <a:noFill/>
          </a:ln>
        </p:spPr>
        <p:txBody>
          <a:bodyPr rtlCol="0" anchor="ctr"/>
          <a:lstStyle/>
          <a:p>
            <a:pPr algn="ctr"/>
          </a:p>
        </p:txBody>
      </p:sp>
      <p:sp>
        <p:nvSpPr>
          <p:cNvPr id="14" name="Rule 13"/>
          <p:cNvSpPr/>
          <p:nvPr/>
        </p:nvSpPr>
        <p:spPr>
          <a:xfrm>
            <a:off x="11017250" y="1995686"/>
            <a:ext cx="6350" cy="307280"/>
          </a:xfrm>
          <a:prstGeom prst="rect">
            <a:avLst/>
          </a:prstGeom>
          <a:solidFill>
            <a:srgbClr val="D3D9DF"/>
          </a:solidFill>
          <a:ln>
            <a:noFill/>
          </a:ln>
        </p:spPr>
        <p:txBody>
          <a:bodyPr rtlCol="0" anchor="ctr"/>
          <a:lstStyle/>
          <a:p>
            <a:pPr algn="ctr"/>
          </a:p>
        </p:txBody>
      </p:sp>
      <p:sp>
        <p:nvSpPr>
          <p:cNvPr id="15" name="Box 14"/>
          <p:cNvSpPr/>
          <p:nvPr/>
        </p:nvSpPr>
        <p:spPr>
          <a:xfrm>
            <a:off x="9525000" y="1995686"/>
            <a:ext cx="1492250" cy="307280"/>
          </a:xfrm>
          <a:prstGeom prst="rect">
            <a:avLst/>
          </a:prstGeom>
          <a:solidFill>
            <a:srgbClr val="EEF1F4"/>
          </a:solidFill>
          <a:ln>
            <a:noFill/>
          </a:ln>
        </p:spPr>
        <p:txBody>
          <a:bodyPr rtlCol="0" anchor="ctr"/>
          <a:lstStyle/>
          <a:p>
            <a:pPr algn="ctr"/>
          </a:p>
        </p:txBody>
      </p:sp>
      <p:sp>
        <p:nvSpPr>
          <p:cNvPr id="16" name="Rule 15"/>
          <p:cNvSpPr/>
          <p:nvPr/>
        </p:nvSpPr>
        <p:spPr>
          <a:xfrm>
            <a:off x="9525000" y="1995686"/>
            <a:ext cx="6350" cy="307280"/>
          </a:xfrm>
          <a:prstGeom prst="rect">
            <a:avLst/>
          </a:prstGeom>
          <a:solidFill>
            <a:srgbClr val="D3D9DF"/>
          </a:solidFill>
          <a:ln>
            <a:noFill/>
          </a:ln>
        </p:spPr>
        <p:txBody>
          <a:bodyPr rtlCol="0" anchor="ctr"/>
          <a:lstStyle/>
          <a:p>
            <a:pPr algn="ctr"/>
          </a:p>
        </p:txBody>
      </p:sp>
      <p:sp>
        <p:nvSpPr>
          <p:cNvPr id="17" name="Text 16"/>
          <p:cNvSpPr txBox="1"/>
          <p:nvPr/>
        </p:nvSpPr>
        <p:spPr>
          <a:xfrm>
            <a:off x="9554210" y="2026674"/>
            <a:ext cx="143764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8" name="Box 17"/>
          <p:cNvSpPr/>
          <p:nvPr/>
        </p:nvSpPr>
        <p:spPr>
          <a:xfrm>
            <a:off x="8413750" y="1995686"/>
            <a:ext cx="1111250" cy="307280"/>
          </a:xfrm>
          <a:prstGeom prst="rect">
            <a:avLst/>
          </a:prstGeom>
          <a:solidFill>
            <a:srgbClr val="EEF1F4"/>
          </a:solidFill>
          <a:ln>
            <a:noFill/>
          </a:ln>
        </p:spPr>
        <p:txBody>
          <a:bodyPr rtlCol="0" anchor="ctr"/>
          <a:lstStyle/>
          <a:p>
            <a:pPr algn="ctr"/>
          </a:p>
        </p:txBody>
      </p:sp>
      <p:sp>
        <p:nvSpPr>
          <p:cNvPr id="19" name="Rule 18"/>
          <p:cNvSpPr/>
          <p:nvPr/>
        </p:nvSpPr>
        <p:spPr>
          <a:xfrm>
            <a:off x="8413750" y="1995686"/>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8450580" y="2026674"/>
            <a:ext cx="104394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1" name="Box 20"/>
          <p:cNvSpPr/>
          <p:nvPr/>
        </p:nvSpPr>
        <p:spPr>
          <a:xfrm>
            <a:off x="7080250" y="1995686"/>
            <a:ext cx="1333500" cy="307280"/>
          </a:xfrm>
          <a:prstGeom prst="rect">
            <a:avLst/>
          </a:prstGeom>
          <a:solidFill>
            <a:srgbClr val="EEF1F4"/>
          </a:solidFill>
          <a:ln>
            <a:noFill/>
          </a:ln>
        </p:spPr>
        <p:txBody>
          <a:bodyPr rtlCol="0" anchor="ctr"/>
          <a:lstStyle/>
          <a:p>
            <a:pPr algn="ctr"/>
          </a:p>
        </p:txBody>
      </p:sp>
      <p:sp>
        <p:nvSpPr>
          <p:cNvPr id="22" name="Rule 21"/>
          <p:cNvSpPr/>
          <p:nvPr/>
        </p:nvSpPr>
        <p:spPr>
          <a:xfrm>
            <a:off x="7080250" y="1995686"/>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7115810" y="2026674"/>
            <a:ext cx="126873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4" name="Box 23"/>
          <p:cNvSpPr/>
          <p:nvPr/>
        </p:nvSpPr>
        <p:spPr>
          <a:xfrm>
            <a:off x="6369050" y="1995686"/>
            <a:ext cx="711200" cy="307280"/>
          </a:xfrm>
          <a:prstGeom prst="rect">
            <a:avLst/>
          </a:prstGeom>
          <a:solidFill>
            <a:srgbClr val="EEF1F4"/>
          </a:solidFill>
          <a:ln>
            <a:noFill/>
          </a:ln>
        </p:spPr>
        <p:txBody>
          <a:bodyPr rtlCol="0" anchor="ctr"/>
          <a:lstStyle/>
          <a:p>
            <a:pPr algn="ctr"/>
          </a:p>
        </p:txBody>
      </p:sp>
      <p:sp>
        <p:nvSpPr>
          <p:cNvPr id="25" name="Rule 24"/>
          <p:cNvSpPr/>
          <p:nvPr/>
        </p:nvSpPr>
        <p:spPr>
          <a:xfrm>
            <a:off x="6369050" y="1995686"/>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6405880" y="2026674"/>
            <a:ext cx="643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27" name="Box 26"/>
          <p:cNvSpPr/>
          <p:nvPr/>
        </p:nvSpPr>
        <p:spPr>
          <a:xfrm>
            <a:off x="4629150" y="1995686"/>
            <a:ext cx="1739900" cy="307280"/>
          </a:xfrm>
          <a:prstGeom prst="rect">
            <a:avLst/>
          </a:prstGeom>
          <a:solidFill>
            <a:srgbClr val="EEF1F4"/>
          </a:solidFill>
          <a:ln>
            <a:noFill/>
          </a:ln>
        </p:spPr>
        <p:txBody>
          <a:bodyPr rtlCol="0" anchor="ctr"/>
          <a:lstStyle/>
          <a:p>
            <a:pPr algn="ctr"/>
          </a:p>
        </p:txBody>
      </p:sp>
      <p:sp>
        <p:nvSpPr>
          <p:cNvPr id="28" name="Rule 27"/>
          <p:cNvSpPr/>
          <p:nvPr/>
        </p:nvSpPr>
        <p:spPr>
          <a:xfrm>
            <a:off x="4629150" y="1995686"/>
            <a:ext cx="6350" cy="307280"/>
          </a:xfrm>
          <a:prstGeom prst="rect">
            <a:avLst/>
          </a:prstGeom>
          <a:solidFill>
            <a:srgbClr val="D3D9DF"/>
          </a:solidFill>
          <a:ln>
            <a:noFill/>
          </a:ln>
        </p:spPr>
        <p:txBody>
          <a:bodyPr rtlCol="0" anchor="ctr"/>
          <a:lstStyle/>
          <a:p>
            <a:pPr algn="ctr"/>
          </a:p>
        </p:txBody>
      </p:sp>
      <p:sp>
        <p:nvSpPr>
          <p:cNvPr id="29" name="Text 28"/>
          <p:cNvSpPr txBox="1"/>
          <p:nvPr/>
        </p:nvSpPr>
        <p:spPr>
          <a:xfrm>
            <a:off x="4654550" y="2026674"/>
            <a:ext cx="16891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30" name="Rule 29"/>
          <p:cNvSpPr/>
          <p:nvPr/>
        </p:nvSpPr>
        <p:spPr>
          <a:xfrm>
            <a:off x="4629150" y="2685157"/>
            <a:ext cx="6743700" cy="6350"/>
          </a:xfrm>
          <a:prstGeom prst="rect">
            <a:avLst/>
          </a:prstGeom>
          <a:solidFill>
            <a:srgbClr val="D3D9DF"/>
          </a:solidFill>
          <a:ln>
            <a:noFill/>
          </a:ln>
        </p:spPr>
        <p:txBody>
          <a:bodyPr rtlCol="0" anchor="ctr"/>
          <a:lstStyle/>
          <a:p>
            <a:pPr algn="ctr"/>
          </a:p>
        </p:txBody>
      </p:sp>
      <p:sp>
        <p:nvSpPr>
          <p:cNvPr id="31" name="Box 30"/>
          <p:cNvSpPr/>
          <p:nvPr/>
        </p:nvSpPr>
        <p:spPr>
          <a:xfrm>
            <a:off x="11017250" y="2309316"/>
            <a:ext cx="355600" cy="375841"/>
          </a:xfrm>
          <a:prstGeom prst="rect">
            <a:avLst/>
          </a:prstGeom>
          <a:solidFill>
            <a:srgbClr val="EEF1F4"/>
          </a:solidFill>
          <a:ln>
            <a:noFill/>
          </a:ln>
        </p:spPr>
        <p:txBody>
          <a:bodyPr rtlCol="0" anchor="ctr"/>
          <a:lstStyle/>
          <a:p>
            <a:pPr algn="ctr"/>
          </a:p>
        </p:txBody>
      </p:sp>
      <p:sp>
        <p:nvSpPr>
          <p:cNvPr id="32" name="Rule 31"/>
          <p:cNvSpPr/>
          <p:nvPr/>
        </p:nvSpPr>
        <p:spPr>
          <a:xfrm>
            <a:off x="11017250" y="2309316"/>
            <a:ext cx="6350" cy="375841"/>
          </a:xfrm>
          <a:prstGeom prst="rect">
            <a:avLst/>
          </a:prstGeom>
          <a:solidFill>
            <a:srgbClr val="D3D9DF"/>
          </a:solidFill>
          <a:ln>
            <a:noFill/>
          </a:ln>
        </p:spPr>
        <p:txBody>
          <a:bodyPr rtlCol="0" anchor="ctr"/>
          <a:lstStyle/>
          <a:p>
            <a:pPr algn="ctr"/>
          </a:p>
        </p:txBody>
      </p:sp>
      <p:sp>
        <p:nvSpPr>
          <p:cNvPr id="33" name="Text 32"/>
          <p:cNvSpPr txBox="1"/>
          <p:nvPr/>
        </p:nvSpPr>
        <p:spPr>
          <a:xfrm>
            <a:off x="11054080" y="234030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34" name="Box 33"/>
          <p:cNvSpPr/>
          <p:nvPr/>
        </p:nvSpPr>
        <p:spPr>
          <a:xfrm>
            <a:off x="9525000" y="2309316"/>
            <a:ext cx="1492250" cy="375841"/>
          </a:xfrm>
          <a:prstGeom prst="rect">
            <a:avLst/>
          </a:prstGeom>
          <a:solidFill>
            <a:srgbClr val="F7F8FA"/>
          </a:solidFill>
          <a:ln>
            <a:noFill/>
          </a:ln>
        </p:spPr>
        <p:txBody>
          <a:bodyPr rtlCol="0" anchor="ctr"/>
          <a:lstStyle/>
          <a:p>
            <a:pPr algn="ctr"/>
          </a:p>
        </p:txBody>
      </p:sp>
      <p:sp>
        <p:nvSpPr>
          <p:cNvPr id="35" name="Rule 34"/>
          <p:cNvSpPr/>
          <p:nvPr/>
        </p:nvSpPr>
        <p:spPr>
          <a:xfrm>
            <a:off x="9525000" y="2309316"/>
            <a:ext cx="6350" cy="375841"/>
          </a:xfrm>
          <a:prstGeom prst="rect">
            <a:avLst/>
          </a:prstGeom>
          <a:solidFill>
            <a:srgbClr val="D3D9DF"/>
          </a:solidFill>
          <a:ln>
            <a:noFill/>
          </a:ln>
        </p:spPr>
        <p:txBody>
          <a:bodyPr rtlCol="0" anchor="ctr"/>
          <a:lstStyle/>
          <a:p>
            <a:pPr algn="ctr"/>
          </a:p>
        </p:txBody>
      </p:sp>
      <p:sp>
        <p:nvSpPr>
          <p:cNvPr id="36" name="Text 35"/>
          <p:cNvSpPr txBox="1"/>
          <p:nvPr/>
        </p:nvSpPr>
        <p:spPr>
          <a:xfrm>
            <a:off x="9550400" y="233370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37" name="Box 36"/>
          <p:cNvSpPr/>
          <p:nvPr/>
        </p:nvSpPr>
        <p:spPr>
          <a:xfrm>
            <a:off x="8413750" y="2309316"/>
            <a:ext cx="1111250" cy="375841"/>
          </a:xfrm>
          <a:prstGeom prst="rect">
            <a:avLst/>
          </a:prstGeom>
          <a:solidFill>
            <a:srgbClr val="F7F8FA"/>
          </a:solidFill>
          <a:ln>
            <a:noFill/>
          </a:ln>
        </p:spPr>
        <p:txBody>
          <a:bodyPr rtlCol="0" anchor="ctr"/>
          <a:lstStyle/>
          <a:p>
            <a:pPr algn="ctr"/>
          </a:p>
        </p:txBody>
      </p:sp>
      <p:sp>
        <p:nvSpPr>
          <p:cNvPr id="38" name="Rule 37"/>
          <p:cNvSpPr/>
          <p:nvPr/>
        </p:nvSpPr>
        <p:spPr>
          <a:xfrm>
            <a:off x="8413750" y="2309316"/>
            <a:ext cx="6350" cy="375841"/>
          </a:xfrm>
          <a:prstGeom prst="rect">
            <a:avLst/>
          </a:prstGeom>
          <a:solidFill>
            <a:srgbClr val="D3D9DF"/>
          </a:solidFill>
          <a:ln>
            <a:noFill/>
          </a:ln>
        </p:spPr>
        <p:txBody>
          <a:bodyPr rtlCol="0" anchor="ctr"/>
          <a:lstStyle/>
          <a:p>
            <a:pPr algn="ctr"/>
          </a:p>
        </p:txBody>
      </p:sp>
      <p:sp>
        <p:nvSpPr>
          <p:cNvPr id="39" name="Text 38"/>
          <p:cNvSpPr txBox="1"/>
          <p:nvPr/>
        </p:nvSpPr>
        <p:spPr>
          <a:xfrm>
            <a:off x="8439150" y="2333700"/>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الاسم</a:t>
            </a:r>
          </a:p>
        </p:txBody>
      </p:sp>
      <p:sp>
        <p:nvSpPr>
          <p:cNvPr id="40" name="Box 39"/>
          <p:cNvSpPr/>
          <p:nvPr/>
        </p:nvSpPr>
        <p:spPr>
          <a:xfrm>
            <a:off x="7080250" y="2309316"/>
            <a:ext cx="1333500" cy="375841"/>
          </a:xfrm>
          <a:prstGeom prst="rect">
            <a:avLst/>
          </a:prstGeom>
          <a:solidFill>
            <a:srgbClr val="F7F8FA"/>
          </a:solidFill>
          <a:ln>
            <a:noFill/>
          </a:ln>
        </p:spPr>
        <p:txBody>
          <a:bodyPr rtlCol="0" anchor="ctr"/>
          <a:lstStyle/>
          <a:p>
            <a:pPr algn="ctr"/>
          </a:p>
        </p:txBody>
      </p:sp>
      <p:sp>
        <p:nvSpPr>
          <p:cNvPr id="41" name="Rule 40"/>
          <p:cNvSpPr/>
          <p:nvPr/>
        </p:nvSpPr>
        <p:spPr>
          <a:xfrm>
            <a:off x="7080250" y="2309316"/>
            <a:ext cx="6350" cy="375841"/>
          </a:xfrm>
          <a:prstGeom prst="rect">
            <a:avLst/>
          </a:prstGeom>
          <a:solidFill>
            <a:srgbClr val="D3D9DF"/>
          </a:solidFill>
          <a:ln>
            <a:noFill/>
          </a:ln>
        </p:spPr>
        <p:txBody>
          <a:bodyPr rtlCol="0" anchor="ctr"/>
          <a:lstStyle/>
          <a:p>
            <a:pPr algn="ctr"/>
          </a:p>
        </p:txBody>
      </p:sp>
      <p:sp>
        <p:nvSpPr>
          <p:cNvPr id="42" name="Text 41"/>
          <p:cNvSpPr txBox="1"/>
          <p:nvPr/>
        </p:nvSpPr>
        <p:spPr>
          <a:xfrm>
            <a:off x="7105650" y="2333700"/>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a:t>
            </a:r>
          </a:p>
        </p:txBody>
      </p:sp>
      <p:sp>
        <p:nvSpPr>
          <p:cNvPr id="43" name="Box 42"/>
          <p:cNvSpPr/>
          <p:nvPr/>
        </p:nvSpPr>
        <p:spPr>
          <a:xfrm>
            <a:off x="6369050" y="2309316"/>
            <a:ext cx="711200" cy="375841"/>
          </a:xfrm>
          <a:prstGeom prst="rect">
            <a:avLst/>
          </a:prstGeom>
          <a:solidFill>
            <a:srgbClr val="F7F8FA"/>
          </a:solidFill>
          <a:ln>
            <a:noFill/>
          </a:ln>
        </p:spPr>
        <p:txBody>
          <a:bodyPr rtlCol="0" anchor="ctr"/>
          <a:lstStyle/>
          <a:p>
            <a:pPr algn="ctr"/>
          </a:p>
        </p:txBody>
      </p:sp>
      <p:sp>
        <p:nvSpPr>
          <p:cNvPr id="44" name="Rule 43"/>
          <p:cNvSpPr/>
          <p:nvPr/>
        </p:nvSpPr>
        <p:spPr>
          <a:xfrm>
            <a:off x="6369050" y="2309316"/>
            <a:ext cx="6350" cy="375841"/>
          </a:xfrm>
          <a:prstGeom prst="rect">
            <a:avLst/>
          </a:prstGeom>
          <a:solidFill>
            <a:srgbClr val="D3D9DF"/>
          </a:solidFill>
          <a:ln>
            <a:noFill/>
          </a:ln>
        </p:spPr>
        <p:txBody>
          <a:bodyPr rtlCol="0" anchor="ctr"/>
          <a:lstStyle/>
          <a:p>
            <a:pPr algn="ctr"/>
          </a:p>
        </p:txBody>
      </p:sp>
      <p:sp>
        <p:nvSpPr>
          <p:cNvPr id="45" name="Text 44"/>
          <p:cNvSpPr txBox="1"/>
          <p:nvPr/>
        </p:nvSpPr>
        <p:spPr>
          <a:xfrm>
            <a:off x="6394450" y="2333700"/>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46" name="Box 45"/>
          <p:cNvSpPr/>
          <p:nvPr/>
        </p:nvSpPr>
        <p:spPr>
          <a:xfrm>
            <a:off x="4629150" y="2309316"/>
            <a:ext cx="1739900" cy="375841"/>
          </a:xfrm>
          <a:prstGeom prst="rect">
            <a:avLst/>
          </a:prstGeom>
          <a:solidFill>
            <a:srgbClr val="F7F8FA"/>
          </a:solidFill>
          <a:ln>
            <a:noFill/>
          </a:ln>
        </p:spPr>
        <p:txBody>
          <a:bodyPr rtlCol="0" anchor="ctr"/>
          <a:lstStyle/>
          <a:p>
            <a:pPr algn="ctr"/>
          </a:p>
        </p:txBody>
      </p:sp>
      <p:sp>
        <p:nvSpPr>
          <p:cNvPr id="47" name="Rule 46"/>
          <p:cNvSpPr/>
          <p:nvPr/>
        </p:nvSpPr>
        <p:spPr>
          <a:xfrm>
            <a:off x="4629150" y="2309316"/>
            <a:ext cx="6350" cy="375841"/>
          </a:xfrm>
          <a:prstGeom prst="rect">
            <a:avLst/>
          </a:prstGeom>
          <a:solidFill>
            <a:srgbClr val="D3D9DF"/>
          </a:solidFill>
          <a:ln>
            <a:noFill/>
          </a:ln>
        </p:spPr>
        <p:txBody>
          <a:bodyPr rtlCol="0" anchor="ctr"/>
          <a:lstStyle/>
          <a:p>
            <a:pPr algn="ctr"/>
          </a:p>
        </p:txBody>
      </p:sp>
      <p:sp>
        <p:nvSpPr>
          <p:cNvPr id="48" name="Text 47"/>
          <p:cNvSpPr txBox="1"/>
          <p:nvPr/>
        </p:nvSpPr>
        <p:spPr>
          <a:xfrm>
            <a:off x="4654550" y="2333700"/>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دخول</a:t>
            </a:r>
          </a:p>
        </p:txBody>
      </p:sp>
      <p:sp>
        <p:nvSpPr>
          <p:cNvPr id="49" name="Rule 48"/>
          <p:cNvSpPr/>
          <p:nvPr/>
        </p:nvSpPr>
        <p:spPr>
          <a:xfrm>
            <a:off x="4629150" y="3067348"/>
            <a:ext cx="6743700" cy="6350"/>
          </a:xfrm>
          <a:prstGeom prst="rect">
            <a:avLst/>
          </a:prstGeom>
          <a:solidFill>
            <a:srgbClr val="D3D9DF"/>
          </a:solidFill>
          <a:ln>
            <a:noFill/>
          </a:ln>
        </p:spPr>
        <p:txBody>
          <a:bodyPr rtlCol="0" anchor="ctr"/>
          <a:lstStyle/>
          <a:p>
            <a:pPr algn="ctr"/>
          </a:p>
        </p:txBody>
      </p:sp>
      <p:sp>
        <p:nvSpPr>
          <p:cNvPr id="50" name="Box 49"/>
          <p:cNvSpPr/>
          <p:nvPr/>
        </p:nvSpPr>
        <p:spPr>
          <a:xfrm>
            <a:off x="11017250" y="2691507"/>
            <a:ext cx="355600" cy="375841"/>
          </a:xfrm>
          <a:prstGeom prst="rect">
            <a:avLst/>
          </a:prstGeom>
          <a:solidFill>
            <a:srgbClr val="EEF1F4"/>
          </a:solidFill>
          <a:ln>
            <a:noFill/>
          </a:ln>
        </p:spPr>
        <p:txBody>
          <a:bodyPr rtlCol="0" anchor="ctr"/>
          <a:lstStyle/>
          <a:p>
            <a:pPr algn="ctr"/>
          </a:p>
        </p:txBody>
      </p:sp>
      <p:sp>
        <p:nvSpPr>
          <p:cNvPr id="51" name="Rule 50"/>
          <p:cNvSpPr/>
          <p:nvPr/>
        </p:nvSpPr>
        <p:spPr>
          <a:xfrm>
            <a:off x="11017250" y="2691507"/>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11054080" y="272249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53" name="Box 52"/>
          <p:cNvSpPr/>
          <p:nvPr/>
        </p:nvSpPr>
        <p:spPr>
          <a:xfrm>
            <a:off x="9525000" y="2691507"/>
            <a:ext cx="1492250" cy="375841"/>
          </a:xfrm>
          <a:prstGeom prst="rect">
            <a:avLst/>
          </a:prstGeom>
          <a:solidFill>
            <a:srgbClr val="FFFFFF"/>
          </a:solidFill>
          <a:ln>
            <a:noFill/>
          </a:ln>
        </p:spPr>
        <p:txBody>
          <a:bodyPr rtlCol="0" anchor="ctr"/>
          <a:lstStyle/>
          <a:p>
            <a:pPr algn="ctr"/>
          </a:p>
        </p:txBody>
      </p:sp>
      <p:sp>
        <p:nvSpPr>
          <p:cNvPr id="54" name="Rule 53"/>
          <p:cNvSpPr/>
          <p:nvPr/>
        </p:nvSpPr>
        <p:spPr>
          <a:xfrm>
            <a:off x="9525000" y="2691507"/>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9550400" y="271589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56" name="Box 55"/>
          <p:cNvSpPr/>
          <p:nvPr/>
        </p:nvSpPr>
        <p:spPr>
          <a:xfrm>
            <a:off x="8413750" y="2691507"/>
            <a:ext cx="1111250" cy="375841"/>
          </a:xfrm>
          <a:prstGeom prst="rect">
            <a:avLst/>
          </a:prstGeom>
          <a:solidFill>
            <a:srgbClr val="FFFFFF"/>
          </a:solidFill>
          <a:ln>
            <a:noFill/>
          </a:ln>
        </p:spPr>
        <p:txBody>
          <a:bodyPr rtlCol="0" anchor="ctr"/>
          <a:lstStyle/>
          <a:p>
            <a:pPr algn="ctr"/>
          </a:p>
        </p:txBody>
      </p:sp>
      <p:sp>
        <p:nvSpPr>
          <p:cNvPr id="57" name="Rule 56"/>
          <p:cNvSpPr/>
          <p:nvPr/>
        </p:nvSpPr>
        <p:spPr>
          <a:xfrm>
            <a:off x="8413750" y="2691507"/>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8439150" y="271589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نوال الحربي</a:t>
            </a:r>
          </a:p>
        </p:txBody>
      </p:sp>
      <p:sp>
        <p:nvSpPr>
          <p:cNvPr id="59" name="Box 58"/>
          <p:cNvSpPr/>
          <p:nvPr/>
        </p:nvSpPr>
        <p:spPr>
          <a:xfrm>
            <a:off x="7080250" y="2691507"/>
            <a:ext cx="1333500" cy="375841"/>
          </a:xfrm>
          <a:prstGeom prst="rect">
            <a:avLst/>
          </a:prstGeom>
          <a:solidFill>
            <a:srgbClr val="FFFFFF"/>
          </a:solidFill>
          <a:ln>
            <a:noFill/>
          </a:ln>
        </p:spPr>
        <p:txBody>
          <a:bodyPr rtlCol="0" anchor="ctr"/>
          <a:lstStyle/>
          <a:p>
            <a:pPr algn="ctr"/>
          </a:p>
        </p:txBody>
      </p:sp>
      <p:sp>
        <p:nvSpPr>
          <p:cNvPr id="60" name="Rule 59"/>
          <p:cNvSpPr/>
          <p:nvPr/>
        </p:nvSpPr>
        <p:spPr>
          <a:xfrm>
            <a:off x="7080250" y="2691507"/>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7105650" y="271589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62" name="Box 61"/>
          <p:cNvSpPr/>
          <p:nvPr/>
        </p:nvSpPr>
        <p:spPr>
          <a:xfrm>
            <a:off x="6369050" y="2691507"/>
            <a:ext cx="711200" cy="375841"/>
          </a:xfrm>
          <a:prstGeom prst="rect">
            <a:avLst/>
          </a:prstGeom>
          <a:solidFill>
            <a:srgbClr val="FFFFFF"/>
          </a:solidFill>
          <a:ln>
            <a:noFill/>
          </a:ln>
        </p:spPr>
        <p:txBody>
          <a:bodyPr rtlCol="0" anchor="ctr"/>
          <a:lstStyle/>
          <a:p>
            <a:pPr algn="ctr"/>
          </a:p>
        </p:txBody>
      </p:sp>
      <p:sp>
        <p:nvSpPr>
          <p:cNvPr id="63" name="Rule 62"/>
          <p:cNvSpPr/>
          <p:nvPr/>
        </p:nvSpPr>
        <p:spPr>
          <a:xfrm>
            <a:off x="6369050" y="2691507"/>
            <a:ext cx="6350" cy="375841"/>
          </a:xfrm>
          <a:prstGeom prst="rect">
            <a:avLst/>
          </a:prstGeom>
          <a:solidFill>
            <a:srgbClr val="D3D9DF"/>
          </a:solidFill>
          <a:ln>
            <a:noFill/>
          </a:ln>
        </p:spPr>
        <p:txBody>
          <a:bodyPr rtlCol="0" anchor="ctr"/>
          <a:lstStyle/>
          <a:p>
            <a:pPr algn="ctr"/>
          </a:p>
        </p:txBody>
      </p:sp>
      <p:sp>
        <p:nvSpPr>
          <p:cNvPr id="64" name="Text 63"/>
          <p:cNvSpPr txBox="1"/>
          <p:nvPr/>
        </p:nvSpPr>
        <p:spPr>
          <a:xfrm>
            <a:off x="6394450" y="271589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65" name="Box 64"/>
          <p:cNvSpPr/>
          <p:nvPr/>
        </p:nvSpPr>
        <p:spPr>
          <a:xfrm>
            <a:off x="4629150" y="2691507"/>
            <a:ext cx="1739900" cy="375841"/>
          </a:xfrm>
          <a:prstGeom prst="rect">
            <a:avLst/>
          </a:prstGeom>
          <a:solidFill>
            <a:srgbClr val="FFFFFF"/>
          </a:solidFill>
          <a:ln>
            <a:noFill/>
          </a:ln>
        </p:spPr>
        <p:txBody>
          <a:bodyPr rtlCol="0" anchor="ctr"/>
          <a:lstStyle/>
          <a:p>
            <a:pPr algn="ctr"/>
          </a:p>
        </p:txBody>
      </p:sp>
      <p:sp>
        <p:nvSpPr>
          <p:cNvPr id="66" name="Rule 65"/>
          <p:cNvSpPr/>
          <p:nvPr/>
        </p:nvSpPr>
        <p:spPr>
          <a:xfrm>
            <a:off x="4629150" y="2691507"/>
            <a:ext cx="6350" cy="375841"/>
          </a:xfrm>
          <a:prstGeom prst="rect">
            <a:avLst/>
          </a:prstGeom>
          <a:solidFill>
            <a:srgbClr val="D3D9DF"/>
          </a:solidFill>
          <a:ln>
            <a:noFill/>
          </a:ln>
        </p:spPr>
        <p:txBody>
          <a:bodyPr rtlCol="0" anchor="ctr"/>
          <a:lstStyle/>
          <a:p>
            <a:pPr algn="ctr"/>
          </a:p>
        </p:txBody>
      </p:sp>
      <p:sp>
        <p:nvSpPr>
          <p:cNvPr id="67" name="Text 66"/>
          <p:cNvSpPr txBox="1"/>
          <p:nvPr/>
        </p:nvSpPr>
        <p:spPr>
          <a:xfrm>
            <a:off x="4654550" y="2715891"/>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 يوليو 2026</a:t>
            </a:r>
          </a:p>
        </p:txBody>
      </p:sp>
      <p:sp>
        <p:nvSpPr>
          <p:cNvPr id="68" name="Rule 67"/>
          <p:cNvSpPr/>
          <p:nvPr/>
        </p:nvSpPr>
        <p:spPr>
          <a:xfrm>
            <a:off x="4629150" y="3449538"/>
            <a:ext cx="6743700" cy="6350"/>
          </a:xfrm>
          <a:prstGeom prst="rect">
            <a:avLst/>
          </a:prstGeom>
          <a:solidFill>
            <a:srgbClr val="D3D9DF"/>
          </a:solidFill>
          <a:ln>
            <a:noFill/>
          </a:ln>
        </p:spPr>
        <p:txBody>
          <a:bodyPr rtlCol="0" anchor="ctr"/>
          <a:lstStyle/>
          <a:p>
            <a:pPr algn="ctr"/>
          </a:p>
        </p:txBody>
      </p:sp>
      <p:sp>
        <p:nvSpPr>
          <p:cNvPr id="69" name="Box 68"/>
          <p:cNvSpPr/>
          <p:nvPr/>
        </p:nvSpPr>
        <p:spPr>
          <a:xfrm>
            <a:off x="11017250" y="3073698"/>
            <a:ext cx="355600" cy="375841"/>
          </a:xfrm>
          <a:prstGeom prst="rect">
            <a:avLst/>
          </a:prstGeom>
          <a:solidFill>
            <a:srgbClr val="EEF1F4"/>
          </a:solidFill>
          <a:ln>
            <a:noFill/>
          </a:ln>
        </p:spPr>
        <p:txBody>
          <a:bodyPr rtlCol="0" anchor="ctr"/>
          <a:lstStyle/>
          <a:p>
            <a:pPr algn="ctr"/>
          </a:p>
        </p:txBody>
      </p:sp>
      <p:sp>
        <p:nvSpPr>
          <p:cNvPr id="70" name="Rule 69"/>
          <p:cNvSpPr/>
          <p:nvPr/>
        </p:nvSpPr>
        <p:spPr>
          <a:xfrm>
            <a:off x="11017250" y="3073698"/>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11054080" y="310468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72" name="Box 71"/>
          <p:cNvSpPr/>
          <p:nvPr/>
        </p:nvSpPr>
        <p:spPr>
          <a:xfrm>
            <a:off x="9525000" y="3073698"/>
            <a:ext cx="1492250" cy="375841"/>
          </a:xfrm>
          <a:prstGeom prst="rect">
            <a:avLst/>
          </a:prstGeom>
          <a:solidFill>
            <a:srgbClr val="FFFFFF"/>
          </a:solidFill>
          <a:ln>
            <a:noFill/>
          </a:ln>
        </p:spPr>
        <p:txBody>
          <a:bodyPr rtlCol="0" anchor="ctr"/>
          <a:lstStyle/>
          <a:p>
            <a:pPr algn="ctr"/>
          </a:p>
        </p:txBody>
      </p:sp>
      <p:sp>
        <p:nvSpPr>
          <p:cNvPr id="73" name="Rule 72"/>
          <p:cNvSpPr/>
          <p:nvPr/>
        </p:nvSpPr>
        <p:spPr>
          <a:xfrm>
            <a:off x="9525000" y="3073698"/>
            <a:ext cx="6350" cy="375841"/>
          </a:xfrm>
          <a:prstGeom prst="rect">
            <a:avLst/>
          </a:prstGeom>
          <a:solidFill>
            <a:srgbClr val="D3D9DF"/>
          </a:solidFill>
          <a:ln>
            <a:noFill/>
          </a:ln>
        </p:spPr>
        <p:txBody>
          <a:bodyPr rtlCol="0" anchor="ctr"/>
          <a:lstStyle/>
          <a:p>
            <a:pPr algn="ctr"/>
          </a:p>
        </p:txBody>
      </p:sp>
      <p:sp>
        <p:nvSpPr>
          <p:cNvPr id="74" name="Text 73"/>
          <p:cNvSpPr txBox="1"/>
          <p:nvPr/>
        </p:nvSpPr>
        <p:spPr>
          <a:xfrm>
            <a:off x="9550400" y="309808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hr.a.ghamdi</a:t>
            </a:r>
          </a:p>
        </p:txBody>
      </p:sp>
      <p:sp>
        <p:nvSpPr>
          <p:cNvPr id="75" name="Box 74"/>
          <p:cNvSpPr/>
          <p:nvPr/>
        </p:nvSpPr>
        <p:spPr>
          <a:xfrm>
            <a:off x="8413750" y="3073698"/>
            <a:ext cx="1111250" cy="375841"/>
          </a:xfrm>
          <a:prstGeom prst="rect">
            <a:avLst/>
          </a:prstGeom>
          <a:solidFill>
            <a:srgbClr val="FFFFFF"/>
          </a:solidFill>
          <a:ln>
            <a:noFill/>
          </a:ln>
        </p:spPr>
        <p:txBody>
          <a:bodyPr rtlCol="0" anchor="ctr"/>
          <a:lstStyle/>
          <a:p>
            <a:pPr algn="ctr"/>
          </a:p>
        </p:txBody>
      </p:sp>
      <p:sp>
        <p:nvSpPr>
          <p:cNvPr id="76" name="Rule 75"/>
          <p:cNvSpPr/>
          <p:nvPr/>
        </p:nvSpPr>
        <p:spPr>
          <a:xfrm>
            <a:off x="8413750" y="3073698"/>
            <a:ext cx="6350" cy="375841"/>
          </a:xfrm>
          <a:prstGeom prst="rect">
            <a:avLst/>
          </a:prstGeom>
          <a:solidFill>
            <a:srgbClr val="D3D9DF"/>
          </a:solidFill>
          <a:ln>
            <a:noFill/>
          </a:ln>
        </p:spPr>
        <p:txBody>
          <a:bodyPr rtlCol="0" anchor="ctr"/>
          <a:lstStyle/>
          <a:p>
            <a:pPr algn="ctr"/>
          </a:p>
        </p:txBody>
      </p:sp>
      <p:sp>
        <p:nvSpPr>
          <p:cNvPr id="77" name="Text 76"/>
          <p:cNvSpPr txBox="1"/>
          <p:nvPr/>
        </p:nvSpPr>
        <p:spPr>
          <a:xfrm>
            <a:off x="8439150" y="3098082"/>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أمل الغامدي</a:t>
            </a:r>
          </a:p>
        </p:txBody>
      </p:sp>
      <p:sp>
        <p:nvSpPr>
          <p:cNvPr id="78" name="Box 77"/>
          <p:cNvSpPr/>
          <p:nvPr/>
        </p:nvSpPr>
        <p:spPr>
          <a:xfrm>
            <a:off x="7080250" y="3073698"/>
            <a:ext cx="1333500" cy="375841"/>
          </a:xfrm>
          <a:prstGeom prst="rect">
            <a:avLst/>
          </a:prstGeom>
          <a:solidFill>
            <a:srgbClr val="FFFFFF"/>
          </a:solidFill>
          <a:ln>
            <a:noFill/>
          </a:ln>
        </p:spPr>
        <p:txBody>
          <a:bodyPr rtlCol="0" anchor="ctr"/>
          <a:lstStyle/>
          <a:p>
            <a:pPr algn="ctr"/>
          </a:p>
        </p:txBody>
      </p:sp>
      <p:sp>
        <p:nvSpPr>
          <p:cNvPr id="79" name="Rule 78"/>
          <p:cNvSpPr/>
          <p:nvPr/>
        </p:nvSpPr>
        <p:spPr>
          <a:xfrm>
            <a:off x="7080250" y="3073698"/>
            <a:ext cx="6350" cy="375841"/>
          </a:xfrm>
          <a:prstGeom prst="rect">
            <a:avLst/>
          </a:prstGeom>
          <a:solidFill>
            <a:srgbClr val="D3D9DF"/>
          </a:solidFill>
          <a:ln>
            <a:noFill/>
          </a:ln>
        </p:spPr>
        <p:txBody>
          <a:bodyPr rtlCol="0" anchor="ctr"/>
          <a:lstStyle/>
          <a:p>
            <a:pPr algn="ctr"/>
          </a:p>
        </p:txBody>
      </p:sp>
      <p:sp>
        <p:nvSpPr>
          <p:cNvPr id="80" name="Text 79"/>
          <p:cNvSpPr txBox="1"/>
          <p:nvPr/>
        </p:nvSpPr>
        <p:spPr>
          <a:xfrm>
            <a:off x="7105650" y="3098082"/>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81" name="Box 80"/>
          <p:cNvSpPr/>
          <p:nvPr/>
        </p:nvSpPr>
        <p:spPr>
          <a:xfrm>
            <a:off x="6369050" y="3073698"/>
            <a:ext cx="711200" cy="375841"/>
          </a:xfrm>
          <a:prstGeom prst="rect">
            <a:avLst/>
          </a:prstGeom>
          <a:solidFill>
            <a:srgbClr val="FFFFFF"/>
          </a:solidFill>
          <a:ln>
            <a:noFill/>
          </a:ln>
        </p:spPr>
        <p:txBody>
          <a:bodyPr rtlCol="0" anchor="ctr"/>
          <a:lstStyle/>
          <a:p>
            <a:pPr algn="ctr"/>
          </a:p>
        </p:txBody>
      </p:sp>
      <p:sp>
        <p:nvSpPr>
          <p:cNvPr id="82" name="Rule 81"/>
          <p:cNvSpPr/>
          <p:nvPr/>
        </p:nvSpPr>
        <p:spPr>
          <a:xfrm>
            <a:off x="6369050" y="3073698"/>
            <a:ext cx="6350" cy="375841"/>
          </a:xfrm>
          <a:prstGeom prst="rect">
            <a:avLst/>
          </a:prstGeom>
          <a:solidFill>
            <a:srgbClr val="D3D9DF"/>
          </a:solidFill>
          <a:ln>
            <a:noFill/>
          </a:ln>
        </p:spPr>
        <p:txBody>
          <a:bodyPr rtlCol="0" anchor="ctr"/>
          <a:lstStyle/>
          <a:p>
            <a:pPr algn="ctr"/>
          </a:p>
        </p:txBody>
      </p:sp>
      <p:sp>
        <p:nvSpPr>
          <p:cNvPr id="83" name="Text 82"/>
          <p:cNvSpPr txBox="1"/>
          <p:nvPr/>
        </p:nvSpPr>
        <p:spPr>
          <a:xfrm>
            <a:off x="6394450" y="309808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84" name="Box 83"/>
          <p:cNvSpPr/>
          <p:nvPr/>
        </p:nvSpPr>
        <p:spPr>
          <a:xfrm>
            <a:off x="4629150" y="3073698"/>
            <a:ext cx="1739900" cy="375841"/>
          </a:xfrm>
          <a:prstGeom prst="rect">
            <a:avLst/>
          </a:prstGeom>
          <a:solidFill>
            <a:srgbClr val="FFFFFF"/>
          </a:solidFill>
          <a:ln>
            <a:noFill/>
          </a:ln>
        </p:spPr>
        <p:txBody>
          <a:bodyPr rtlCol="0" anchor="ctr"/>
          <a:lstStyle/>
          <a:p>
            <a:pPr algn="ctr"/>
          </a:p>
        </p:txBody>
      </p:sp>
      <p:sp>
        <p:nvSpPr>
          <p:cNvPr id="85" name="Rule 84"/>
          <p:cNvSpPr/>
          <p:nvPr/>
        </p:nvSpPr>
        <p:spPr>
          <a:xfrm>
            <a:off x="4629150" y="3073698"/>
            <a:ext cx="6350" cy="375841"/>
          </a:xfrm>
          <a:prstGeom prst="rect">
            <a:avLst/>
          </a:prstGeom>
          <a:solidFill>
            <a:srgbClr val="D3D9DF"/>
          </a:solidFill>
          <a:ln>
            <a:noFill/>
          </a:ln>
        </p:spPr>
        <p:txBody>
          <a:bodyPr rtlCol="0" anchor="ctr"/>
          <a:lstStyle/>
          <a:p>
            <a:pPr algn="ctr"/>
          </a:p>
        </p:txBody>
      </p:sp>
      <p:sp>
        <p:nvSpPr>
          <p:cNvPr id="86" name="Text 85"/>
          <p:cNvSpPr txBox="1"/>
          <p:nvPr/>
        </p:nvSpPr>
        <p:spPr>
          <a:xfrm>
            <a:off x="4654550" y="3098082"/>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يونيو 2026</a:t>
            </a:r>
          </a:p>
        </p:txBody>
      </p:sp>
      <p:sp>
        <p:nvSpPr>
          <p:cNvPr id="87" name="Rule 86"/>
          <p:cNvSpPr/>
          <p:nvPr/>
        </p:nvSpPr>
        <p:spPr>
          <a:xfrm>
            <a:off x="4629150" y="4105970"/>
            <a:ext cx="6743700" cy="6350"/>
          </a:xfrm>
          <a:prstGeom prst="rect">
            <a:avLst/>
          </a:prstGeom>
          <a:solidFill>
            <a:srgbClr val="D3D9DF"/>
          </a:solidFill>
          <a:ln>
            <a:noFill/>
          </a:ln>
        </p:spPr>
        <p:txBody>
          <a:bodyPr rtlCol="0" anchor="ctr"/>
          <a:lstStyle/>
          <a:p>
            <a:pPr algn="ctr"/>
          </a:p>
        </p:txBody>
      </p:sp>
      <p:sp>
        <p:nvSpPr>
          <p:cNvPr id="88" name="Box 87"/>
          <p:cNvSpPr/>
          <p:nvPr/>
        </p:nvSpPr>
        <p:spPr>
          <a:xfrm>
            <a:off x="11017250" y="3455888"/>
            <a:ext cx="355600" cy="650081"/>
          </a:xfrm>
          <a:prstGeom prst="rect">
            <a:avLst/>
          </a:prstGeom>
          <a:solidFill>
            <a:srgbClr val="EEF1F4"/>
          </a:solidFill>
          <a:ln>
            <a:noFill/>
          </a:ln>
        </p:spPr>
        <p:txBody>
          <a:bodyPr rtlCol="0" anchor="ctr"/>
          <a:lstStyle/>
          <a:p>
            <a:pPr algn="ctr"/>
          </a:p>
        </p:txBody>
      </p:sp>
      <p:sp>
        <p:nvSpPr>
          <p:cNvPr id="89" name="Rule 88"/>
          <p:cNvSpPr/>
          <p:nvPr/>
        </p:nvSpPr>
        <p:spPr>
          <a:xfrm>
            <a:off x="11017250" y="3455888"/>
            <a:ext cx="6350" cy="650081"/>
          </a:xfrm>
          <a:prstGeom prst="rect">
            <a:avLst/>
          </a:prstGeom>
          <a:solidFill>
            <a:srgbClr val="D3D9DF"/>
          </a:solidFill>
          <a:ln>
            <a:noFill/>
          </a:ln>
        </p:spPr>
        <p:txBody>
          <a:bodyPr rtlCol="0" anchor="ctr"/>
          <a:lstStyle/>
          <a:p>
            <a:pPr algn="ctr"/>
          </a:p>
        </p:txBody>
      </p:sp>
      <p:sp>
        <p:nvSpPr>
          <p:cNvPr id="90" name="Text 89"/>
          <p:cNvSpPr txBox="1"/>
          <p:nvPr/>
        </p:nvSpPr>
        <p:spPr>
          <a:xfrm>
            <a:off x="11054080" y="348687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91" name="Box 90"/>
          <p:cNvSpPr/>
          <p:nvPr/>
        </p:nvSpPr>
        <p:spPr>
          <a:xfrm>
            <a:off x="9525000" y="3455888"/>
            <a:ext cx="1492250" cy="650081"/>
          </a:xfrm>
          <a:prstGeom prst="rect">
            <a:avLst/>
          </a:prstGeom>
          <a:solidFill>
            <a:srgbClr val="FFFFFF"/>
          </a:solidFill>
          <a:ln>
            <a:noFill/>
          </a:ln>
        </p:spPr>
        <p:txBody>
          <a:bodyPr rtlCol="0" anchor="ctr"/>
          <a:lstStyle/>
          <a:p>
            <a:pPr algn="ctr"/>
          </a:p>
        </p:txBody>
      </p:sp>
      <p:sp>
        <p:nvSpPr>
          <p:cNvPr id="92" name="Rule 91"/>
          <p:cNvSpPr/>
          <p:nvPr/>
        </p:nvSpPr>
        <p:spPr>
          <a:xfrm>
            <a:off x="9525000" y="3455888"/>
            <a:ext cx="6350" cy="650081"/>
          </a:xfrm>
          <a:prstGeom prst="rect">
            <a:avLst/>
          </a:prstGeom>
          <a:solidFill>
            <a:srgbClr val="D3D9DF"/>
          </a:solidFill>
          <a:ln>
            <a:noFill/>
          </a:ln>
        </p:spPr>
        <p:txBody>
          <a:bodyPr rtlCol="0" anchor="ctr"/>
          <a:lstStyle/>
          <a:p>
            <a:pPr algn="ctr"/>
          </a:p>
        </p:txBody>
      </p:sp>
      <p:sp>
        <p:nvSpPr>
          <p:cNvPr id="93" name="Text 92"/>
          <p:cNvSpPr txBox="1"/>
          <p:nvPr/>
        </p:nvSpPr>
        <p:spPr>
          <a:xfrm>
            <a:off x="9550400" y="348027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fin.y.qahtani</a:t>
            </a:r>
          </a:p>
        </p:txBody>
      </p:sp>
      <p:sp>
        <p:nvSpPr>
          <p:cNvPr id="94" name="Box 93"/>
          <p:cNvSpPr/>
          <p:nvPr/>
        </p:nvSpPr>
        <p:spPr>
          <a:xfrm>
            <a:off x="8413750" y="3455888"/>
            <a:ext cx="1111250" cy="650081"/>
          </a:xfrm>
          <a:prstGeom prst="rect">
            <a:avLst/>
          </a:prstGeom>
          <a:solidFill>
            <a:srgbClr val="FFFFFF"/>
          </a:solidFill>
          <a:ln>
            <a:noFill/>
          </a:ln>
        </p:spPr>
        <p:txBody>
          <a:bodyPr rtlCol="0" anchor="ctr"/>
          <a:lstStyle/>
          <a:p>
            <a:pPr algn="ctr"/>
          </a:p>
        </p:txBody>
      </p:sp>
      <p:sp>
        <p:nvSpPr>
          <p:cNvPr id="95" name="Rule 94"/>
          <p:cNvSpPr/>
          <p:nvPr/>
        </p:nvSpPr>
        <p:spPr>
          <a:xfrm>
            <a:off x="8413750" y="3455888"/>
            <a:ext cx="6350" cy="650081"/>
          </a:xfrm>
          <a:prstGeom prst="rect">
            <a:avLst/>
          </a:prstGeom>
          <a:solidFill>
            <a:srgbClr val="D3D9DF"/>
          </a:solidFill>
          <a:ln>
            <a:noFill/>
          </a:ln>
        </p:spPr>
        <p:txBody>
          <a:bodyPr rtlCol="0" anchor="ctr"/>
          <a:lstStyle/>
          <a:p>
            <a:pPr algn="ctr"/>
          </a:p>
        </p:txBody>
      </p:sp>
      <p:sp>
        <p:nvSpPr>
          <p:cNvPr id="96" name="Text 95"/>
          <p:cNvSpPr txBox="1"/>
          <p:nvPr/>
        </p:nvSpPr>
        <p:spPr>
          <a:xfrm>
            <a:off x="8445500" y="3480272"/>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97" name="Box 96"/>
          <p:cNvSpPr/>
          <p:nvPr/>
        </p:nvSpPr>
        <p:spPr>
          <a:xfrm>
            <a:off x="7080250" y="3455888"/>
            <a:ext cx="1333500" cy="650081"/>
          </a:xfrm>
          <a:prstGeom prst="rect">
            <a:avLst/>
          </a:prstGeom>
          <a:solidFill>
            <a:srgbClr val="FFFFFF"/>
          </a:solidFill>
          <a:ln>
            <a:noFill/>
          </a:ln>
        </p:spPr>
        <p:txBody>
          <a:bodyPr rtlCol="0" anchor="ctr"/>
          <a:lstStyle/>
          <a:p>
            <a:pPr algn="ctr"/>
          </a:p>
        </p:txBody>
      </p:sp>
      <p:sp>
        <p:nvSpPr>
          <p:cNvPr id="98" name="Rule 97"/>
          <p:cNvSpPr/>
          <p:nvPr/>
        </p:nvSpPr>
        <p:spPr>
          <a:xfrm>
            <a:off x="7080250" y="3455888"/>
            <a:ext cx="6350" cy="650081"/>
          </a:xfrm>
          <a:prstGeom prst="rect">
            <a:avLst/>
          </a:prstGeom>
          <a:solidFill>
            <a:srgbClr val="D3D9DF"/>
          </a:solidFill>
          <a:ln>
            <a:noFill/>
          </a:ln>
        </p:spPr>
        <p:txBody>
          <a:bodyPr rtlCol="0" anchor="ctr"/>
          <a:lstStyle/>
          <a:p>
            <a:pPr algn="ctr"/>
          </a:p>
        </p:txBody>
      </p:sp>
      <p:sp>
        <p:nvSpPr>
          <p:cNvPr id="99" name="Text 98"/>
          <p:cNvSpPr txBox="1"/>
          <p:nvPr/>
        </p:nvSpPr>
        <p:spPr>
          <a:xfrm>
            <a:off x="7112000" y="3480272"/>
            <a:ext cx="1225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100" name="Box 99"/>
          <p:cNvSpPr/>
          <p:nvPr/>
        </p:nvSpPr>
        <p:spPr>
          <a:xfrm>
            <a:off x="6369050" y="3455888"/>
            <a:ext cx="711200" cy="650081"/>
          </a:xfrm>
          <a:prstGeom prst="rect">
            <a:avLst/>
          </a:prstGeom>
          <a:solidFill>
            <a:srgbClr val="FFFFFF"/>
          </a:solidFill>
          <a:ln>
            <a:noFill/>
          </a:ln>
        </p:spPr>
        <p:txBody>
          <a:bodyPr rtlCol="0" anchor="ctr"/>
          <a:lstStyle/>
          <a:p>
            <a:pPr algn="ctr"/>
          </a:p>
        </p:txBody>
      </p:sp>
      <p:sp>
        <p:nvSpPr>
          <p:cNvPr id="101" name="Rule 100"/>
          <p:cNvSpPr/>
          <p:nvPr/>
        </p:nvSpPr>
        <p:spPr>
          <a:xfrm>
            <a:off x="6369050" y="3455888"/>
            <a:ext cx="6350" cy="650081"/>
          </a:xfrm>
          <a:prstGeom prst="rect">
            <a:avLst/>
          </a:prstGeom>
          <a:solidFill>
            <a:srgbClr val="D3D9DF"/>
          </a:solidFill>
          <a:ln>
            <a:noFill/>
          </a:ln>
        </p:spPr>
        <p:txBody>
          <a:bodyPr rtlCol="0" anchor="ctr"/>
          <a:lstStyle/>
          <a:p>
            <a:pPr algn="ctr"/>
          </a:p>
        </p:txBody>
      </p:sp>
      <p:sp>
        <p:nvSpPr>
          <p:cNvPr id="102" name="Text 101"/>
          <p:cNvSpPr txBox="1"/>
          <p:nvPr/>
        </p:nvSpPr>
        <p:spPr>
          <a:xfrm>
            <a:off x="6394450" y="348027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03" name="Box 102"/>
          <p:cNvSpPr/>
          <p:nvPr/>
        </p:nvSpPr>
        <p:spPr>
          <a:xfrm>
            <a:off x="4629150" y="3455888"/>
            <a:ext cx="1739900" cy="650081"/>
          </a:xfrm>
          <a:prstGeom prst="rect">
            <a:avLst/>
          </a:prstGeom>
          <a:solidFill>
            <a:srgbClr val="FFFFFF"/>
          </a:solidFill>
          <a:ln>
            <a:noFill/>
          </a:ln>
        </p:spPr>
        <p:txBody>
          <a:bodyPr rtlCol="0" anchor="ctr"/>
          <a:lstStyle/>
          <a:p>
            <a:pPr algn="ctr"/>
          </a:p>
        </p:txBody>
      </p:sp>
      <p:sp>
        <p:nvSpPr>
          <p:cNvPr id="104" name="Rule 103"/>
          <p:cNvSpPr/>
          <p:nvPr/>
        </p:nvSpPr>
        <p:spPr>
          <a:xfrm>
            <a:off x="4629150" y="3455888"/>
            <a:ext cx="6350" cy="650081"/>
          </a:xfrm>
          <a:prstGeom prst="rect">
            <a:avLst/>
          </a:prstGeom>
          <a:solidFill>
            <a:srgbClr val="D3D9DF"/>
          </a:solidFill>
          <a:ln>
            <a:noFill/>
          </a:ln>
        </p:spPr>
        <p:txBody>
          <a:bodyPr rtlCol="0" anchor="ctr"/>
          <a:lstStyle/>
          <a:p>
            <a:pPr algn="ctr"/>
          </a:p>
        </p:txBody>
      </p:sp>
      <p:sp>
        <p:nvSpPr>
          <p:cNvPr id="105" name="Text 104"/>
          <p:cNvSpPr txBox="1"/>
          <p:nvPr/>
        </p:nvSpPr>
        <p:spPr>
          <a:xfrm>
            <a:off x="4654550" y="3480272"/>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 مايو 2026</a:t>
            </a:r>
          </a:p>
        </p:txBody>
      </p:sp>
      <p:sp>
        <p:nvSpPr>
          <p:cNvPr id="106" name="Rule 105"/>
          <p:cNvSpPr/>
          <p:nvPr/>
        </p:nvSpPr>
        <p:spPr>
          <a:xfrm>
            <a:off x="4629150" y="4488160"/>
            <a:ext cx="6743700" cy="6350"/>
          </a:xfrm>
          <a:prstGeom prst="rect">
            <a:avLst/>
          </a:prstGeom>
          <a:solidFill>
            <a:srgbClr val="D3D9DF"/>
          </a:solidFill>
          <a:ln>
            <a:noFill/>
          </a:ln>
        </p:spPr>
        <p:txBody>
          <a:bodyPr rtlCol="0" anchor="ctr"/>
          <a:lstStyle/>
          <a:p>
            <a:pPr algn="ctr"/>
          </a:p>
        </p:txBody>
      </p:sp>
      <p:sp>
        <p:nvSpPr>
          <p:cNvPr id="107" name="Box 106"/>
          <p:cNvSpPr/>
          <p:nvPr/>
        </p:nvSpPr>
        <p:spPr>
          <a:xfrm>
            <a:off x="11017250" y="4112320"/>
            <a:ext cx="355600" cy="375841"/>
          </a:xfrm>
          <a:prstGeom prst="rect">
            <a:avLst/>
          </a:prstGeom>
          <a:solidFill>
            <a:srgbClr val="EEF1F4"/>
          </a:solidFill>
          <a:ln>
            <a:noFill/>
          </a:ln>
        </p:spPr>
        <p:txBody>
          <a:bodyPr rtlCol="0" anchor="ctr"/>
          <a:lstStyle/>
          <a:p>
            <a:pPr algn="ctr"/>
          </a:p>
        </p:txBody>
      </p:sp>
      <p:sp>
        <p:nvSpPr>
          <p:cNvPr id="108" name="Rule 107"/>
          <p:cNvSpPr/>
          <p:nvPr/>
        </p:nvSpPr>
        <p:spPr>
          <a:xfrm>
            <a:off x="11017250" y="4112320"/>
            <a:ext cx="6350" cy="375841"/>
          </a:xfrm>
          <a:prstGeom prst="rect">
            <a:avLst/>
          </a:prstGeom>
          <a:solidFill>
            <a:srgbClr val="D3D9DF"/>
          </a:solidFill>
          <a:ln>
            <a:noFill/>
          </a:ln>
        </p:spPr>
        <p:txBody>
          <a:bodyPr rtlCol="0" anchor="ctr"/>
          <a:lstStyle/>
          <a:p>
            <a:pPr algn="ctr"/>
          </a:p>
        </p:txBody>
      </p:sp>
      <p:sp>
        <p:nvSpPr>
          <p:cNvPr id="109" name="Text 108"/>
          <p:cNvSpPr txBox="1"/>
          <p:nvPr/>
        </p:nvSpPr>
        <p:spPr>
          <a:xfrm>
            <a:off x="11054080" y="414330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110" name="Box 109"/>
          <p:cNvSpPr/>
          <p:nvPr/>
        </p:nvSpPr>
        <p:spPr>
          <a:xfrm>
            <a:off x="9525000" y="4112320"/>
            <a:ext cx="1492250" cy="375841"/>
          </a:xfrm>
          <a:prstGeom prst="rect">
            <a:avLst/>
          </a:prstGeom>
          <a:solidFill>
            <a:srgbClr val="FFFFFF"/>
          </a:solidFill>
          <a:ln>
            <a:noFill/>
          </a:ln>
        </p:spPr>
        <p:txBody>
          <a:bodyPr rtlCol="0" anchor="ctr"/>
          <a:lstStyle/>
          <a:p>
            <a:pPr algn="ctr"/>
          </a:p>
        </p:txBody>
      </p:sp>
      <p:sp>
        <p:nvSpPr>
          <p:cNvPr id="111" name="Rule 110"/>
          <p:cNvSpPr/>
          <p:nvPr/>
        </p:nvSpPr>
        <p:spPr>
          <a:xfrm>
            <a:off x="9525000" y="4112320"/>
            <a:ext cx="6350" cy="375841"/>
          </a:xfrm>
          <a:prstGeom prst="rect">
            <a:avLst/>
          </a:prstGeom>
          <a:solidFill>
            <a:srgbClr val="D3D9DF"/>
          </a:solidFill>
          <a:ln>
            <a:noFill/>
          </a:ln>
        </p:spPr>
        <p:txBody>
          <a:bodyPr rtlCol="0" anchor="ctr"/>
          <a:lstStyle/>
          <a:p>
            <a:pPr algn="ctr"/>
          </a:p>
        </p:txBody>
      </p:sp>
      <p:sp>
        <p:nvSpPr>
          <p:cNvPr id="112" name="Text 111"/>
          <p:cNvSpPr txBox="1"/>
          <p:nvPr/>
        </p:nvSpPr>
        <p:spPr>
          <a:xfrm>
            <a:off x="9550400" y="41367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hr.l.shammari</a:t>
            </a:r>
          </a:p>
        </p:txBody>
      </p:sp>
      <p:sp>
        <p:nvSpPr>
          <p:cNvPr id="113" name="Box 112"/>
          <p:cNvSpPr/>
          <p:nvPr/>
        </p:nvSpPr>
        <p:spPr>
          <a:xfrm>
            <a:off x="8413750" y="4112320"/>
            <a:ext cx="1111250" cy="375841"/>
          </a:xfrm>
          <a:prstGeom prst="rect">
            <a:avLst/>
          </a:prstGeom>
          <a:solidFill>
            <a:srgbClr val="FFFFFF"/>
          </a:solidFill>
          <a:ln>
            <a:noFill/>
          </a:ln>
        </p:spPr>
        <p:txBody>
          <a:bodyPr rtlCol="0" anchor="ctr"/>
          <a:lstStyle/>
          <a:p>
            <a:pPr algn="ctr"/>
          </a:p>
        </p:txBody>
      </p:sp>
      <p:sp>
        <p:nvSpPr>
          <p:cNvPr id="114" name="Rule 113"/>
          <p:cNvSpPr/>
          <p:nvPr/>
        </p:nvSpPr>
        <p:spPr>
          <a:xfrm>
            <a:off x="8413750" y="4112320"/>
            <a:ext cx="6350" cy="375841"/>
          </a:xfrm>
          <a:prstGeom prst="rect">
            <a:avLst/>
          </a:prstGeom>
          <a:solidFill>
            <a:srgbClr val="D3D9DF"/>
          </a:solidFill>
          <a:ln>
            <a:noFill/>
          </a:ln>
        </p:spPr>
        <p:txBody>
          <a:bodyPr rtlCol="0" anchor="ctr"/>
          <a:lstStyle/>
          <a:p>
            <a:pPr algn="ctr"/>
          </a:p>
        </p:txBody>
      </p:sp>
      <p:sp>
        <p:nvSpPr>
          <p:cNvPr id="115" name="Text 114"/>
          <p:cNvSpPr txBox="1"/>
          <p:nvPr/>
        </p:nvSpPr>
        <p:spPr>
          <a:xfrm>
            <a:off x="8439150" y="4136704"/>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116" name="Box 115"/>
          <p:cNvSpPr/>
          <p:nvPr/>
        </p:nvSpPr>
        <p:spPr>
          <a:xfrm>
            <a:off x="7080250" y="4112320"/>
            <a:ext cx="1333500" cy="375841"/>
          </a:xfrm>
          <a:prstGeom prst="rect">
            <a:avLst/>
          </a:prstGeom>
          <a:solidFill>
            <a:srgbClr val="FFFFFF"/>
          </a:solidFill>
          <a:ln>
            <a:noFill/>
          </a:ln>
        </p:spPr>
        <p:txBody>
          <a:bodyPr rtlCol="0" anchor="ctr"/>
          <a:lstStyle/>
          <a:p>
            <a:pPr algn="ctr"/>
          </a:p>
        </p:txBody>
      </p:sp>
      <p:sp>
        <p:nvSpPr>
          <p:cNvPr id="117" name="Rule 116"/>
          <p:cNvSpPr/>
          <p:nvPr/>
        </p:nvSpPr>
        <p:spPr>
          <a:xfrm>
            <a:off x="7080250" y="4112320"/>
            <a:ext cx="6350" cy="375841"/>
          </a:xfrm>
          <a:prstGeom prst="rect">
            <a:avLst/>
          </a:prstGeom>
          <a:solidFill>
            <a:srgbClr val="D3D9DF"/>
          </a:solidFill>
          <a:ln>
            <a:noFill/>
          </a:ln>
        </p:spPr>
        <p:txBody>
          <a:bodyPr rtlCol="0" anchor="ctr"/>
          <a:lstStyle/>
          <a:p>
            <a:pPr algn="ctr"/>
          </a:p>
        </p:txBody>
      </p:sp>
      <p:sp>
        <p:nvSpPr>
          <p:cNvPr id="118" name="Text 117"/>
          <p:cNvSpPr txBox="1"/>
          <p:nvPr/>
        </p:nvSpPr>
        <p:spPr>
          <a:xfrm>
            <a:off x="7105650" y="413670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119" name="Box 118"/>
          <p:cNvSpPr/>
          <p:nvPr/>
        </p:nvSpPr>
        <p:spPr>
          <a:xfrm>
            <a:off x="6369050" y="4112320"/>
            <a:ext cx="711200" cy="375841"/>
          </a:xfrm>
          <a:prstGeom prst="rect">
            <a:avLst/>
          </a:prstGeom>
          <a:solidFill>
            <a:srgbClr val="FFFFFF"/>
          </a:solidFill>
          <a:ln>
            <a:noFill/>
          </a:ln>
        </p:spPr>
        <p:txBody>
          <a:bodyPr rtlCol="0" anchor="ctr"/>
          <a:lstStyle/>
          <a:p>
            <a:pPr algn="ctr"/>
          </a:p>
        </p:txBody>
      </p:sp>
      <p:sp>
        <p:nvSpPr>
          <p:cNvPr id="120" name="Rule 119"/>
          <p:cNvSpPr/>
          <p:nvPr/>
        </p:nvSpPr>
        <p:spPr>
          <a:xfrm>
            <a:off x="6369050" y="4112320"/>
            <a:ext cx="6350" cy="375841"/>
          </a:xfrm>
          <a:prstGeom prst="rect">
            <a:avLst/>
          </a:prstGeom>
          <a:solidFill>
            <a:srgbClr val="D3D9DF"/>
          </a:solidFill>
          <a:ln>
            <a:noFill/>
          </a:ln>
        </p:spPr>
        <p:txBody>
          <a:bodyPr rtlCol="0" anchor="ctr"/>
          <a:lstStyle/>
          <a:p>
            <a:pPr algn="ctr"/>
          </a:p>
        </p:txBody>
      </p:sp>
      <p:sp>
        <p:nvSpPr>
          <p:cNvPr id="121" name="Text 120"/>
          <p:cNvSpPr txBox="1"/>
          <p:nvPr/>
        </p:nvSpPr>
        <p:spPr>
          <a:xfrm>
            <a:off x="6394450" y="413670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22" name="Box 121"/>
          <p:cNvSpPr/>
          <p:nvPr/>
        </p:nvSpPr>
        <p:spPr>
          <a:xfrm>
            <a:off x="4629150" y="4112320"/>
            <a:ext cx="1739900" cy="375841"/>
          </a:xfrm>
          <a:prstGeom prst="rect">
            <a:avLst/>
          </a:prstGeom>
          <a:solidFill>
            <a:srgbClr val="FFFFFF"/>
          </a:solidFill>
          <a:ln>
            <a:noFill/>
          </a:ln>
        </p:spPr>
        <p:txBody>
          <a:bodyPr rtlCol="0" anchor="ctr"/>
          <a:lstStyle/>
          <a:p>
            <a:pPr algn="ctr"/>
          </a:p>
        </p:txBody>
      </p:sp>
      <p:sp>
        <p:nvSpPr>
          <p:cNvPr id="123" name="Rule 122"/>
          <p:cNvSpPr/>
          <p:nvPr/>
        </p:nvSpPr>
        <p:spPr>
          <a:xfrm>
            <a:off x="4629150" y="4112320"/>
            <a:ext cx="6350" cy="375841"/>
          </a:xfrm>
          <a:prstGeom prst="rect">
            <a:avLst/>
          </a:prstGeom>
          <a:solidFill>
            <a:srgbClr val="D3D9DF"/>
          </a:solidFill>
          <a:ln>
            <a:noFill/>
          </a:ln>
        </p:spPr>
        <p:txBody>
          <a:bodyPr rtlCol="0" anchor="ctr"/>
          <a:lstStyle/>
          <a:p>
            <a:pPr algn="ctr"/>
          </a:p>
        </p:txBody>
      </p:sp>
      <p:sp>
        <p:nvSpPr>
          <p:cNvPr id="124" name="Text 123"/>
          <p:cNvSpPr txBox="1"/>
          <p:nvPr/>
        </p:nvSpPr>
        <p:spPr>
          <a:xfrm>
            <a:off x="4654550" y="4136704"/>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21 مايو 2026</a:t>
            </a:r>
          </a:p>
        </p:txBody>
      </p:sp>
      <p:sp>
        <p:nvSpPr>
          <p:cNvPr id="125" name="Rule 124"/>
          <p:cNvSpPr/>
          <p:nvPr/>
        </p:nvSpPr>
        <p:spPr>
          <a:xfrm>
            <a:off x="4629150" y="5144591"/>
            <a:ext cx="6743700" cy="6350"/>
          </a:xfrm>
          <a:prstGeom prst="rect">
            <a:avLst/>
          </a:prstGeom>
          <a:solidFill>
            <a:srgbClr val="D3D9DF"/>
          </a:solidFill>
          <a:ln>
            <a:noFill/>
          </a:ln>
        </p:spPr>
        <p:txBody>
          <a:bodyPr rtlCol="0" anchor="ctr"/>
          <a:lstStyle/>
          <a:p>
            <a:pPr algn="ctr"/>
          </a:p>
        </p:txBody>
      </p:sp>
      <p:sp>
        <p:nvSpPr>
          <p:cNvPr id="126" name="Box 125"/>
          <p:cNvSpPr/>
          <p:nvPr/>
        </p:nvSpPr>
        <p:spPr>
          <a:xfrm>
            <a:off x="11017250" y="4494510"/>
            <a:ext cx="355600" cy="650081"/>
          </a:xfrm>
          <a:prstGeom prst="roundRect">
            <a:avLst>
              <a:gd name="adj" fmla="val 3125"/>
            </a:avLst>
          </a:prstGeom>
          <a:solidFill>
            <a:srgbClr val="EEF1F4"/>
          </a:solidFill>
          <a:ln>
            <a:noFill/>
          </a:ln>
        </p:spPr>
        <p:txBody>
          <a:bodyPr rtlCol="0" anchor="ctr"/>
          <a:lstStyle/>
          <a:p>
            <a:pPr algn="ctr"/>
          </a:p>
        </p:txBody>
      </p:sp>
      <p:sp>
        <p:nvSpPr>
          <p:cNvPr id="127" name="Rule 126"/>
          <p:cNvSpPr/>
          <p:nvPr/>
        </p:nvSpPr>
        <p:spPr>
          <a:xfrm>
            <a:off x="11017250" y="4494510"/>
            <a:ext cx="6350" cy="650081"/>
          </a:xfrm>
          <a:prstGeom prst="rect">
            <a:avLst/>
          </a:prstGeom>
          <a:solidFill>
            <a:srgbClr val="D3D9DF"/>
          </a:solidFill>
          <a:ln>
            <a:noFill/>
          </a:ln>
        </p:spPr>
        <p:txBody>
          <a:bodyPr rtlCol="0" anchor="ctr"/>
          <a:lstStyle/>
          <a:p>
            <a:pPr algn="ctr"/>
          </a:p>
        </p:txBody>
      </p:sp>
      <p:sp>
        <p:nvSpPr>
          <p:cNvPr id="128" name="Text 127"/>
          <p:cNvSpPr txBox="1"/>
          <p:nvPr/>
        </p:nvSpPr>
        <p:spPr>
          <a:xfrm>
            <a:off x="11054080" y="452549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6</a:t>
            </a:r>
          </a:p>
        </p:txBody>
      </p:sp>
      <p:sp>
        <p:nvSpPr>
          <p:cNvPr id="129" name="Box 128"/>
          <p:cNvSpPr/>
          <p:nvPr/>
        </p:nvSpPr>
        <p:spPr>
          <a:xfrm>
            <a:off x="9525000" y="4494510"/>
            <a:ext cx="1492250" cy="650081"/>
          </a:xfrm>
          <a:prstGeom prst="rect">
            <a:avLst/>
          </a:prstGeom>
          <a:solidFill>
            <a:srgbClr val="FFFFFF"/>
          </a:solidFill>
          <a:ln>
            <a:noFill/>
          </a:ln>
        </p:spPr>
        <p:txBody>
          <a:bodyPr rtlCol="0" anchor="ctr"/>
          <a:lstStyle/>
          <a:p>
            <a:pPr algn="ctr"/>
          </a:p>
        </p:txBody>
      </p:sp>
      <p:sp>
        <p:nvSpPr>
          <p:cNvPr id="130" name="Rule 129"/>
          <p:cNvSpPr/>
          <p:nvPr/>
        </p:nvSpPr>
        <p:spPr>
          <a:xfrm>
            <a:off x="9525000" y="4494510"/>
            <a:ext cx="6350" cy="650081"/>
          </a:xfrm>
          <a:prstGeom prst="rect">
            <a:avLst/>
          </a:prstGeom>
          <a:solidFill>
            <a:srgbClr val="D3D9DF"/>
          </a:solidFill>
          <a:ln>
            <a:noFill/>
          </a:ln>
        </p:spPr>
        <p:txBody>
          <a:bodyPr rtlCol="0" anchor="ctr"/>
          <a:lstStyle/>
          <a:p>
            <a:pPr algn="ctr"/>
          </a:p>
        </p:txBody>
      </p:sp>
      <p:sp>
        <p:nvSpPr>
          <p:cNvPr id="131" name="Text 130"/>
          <p:cNvSpPr txBox="1"/>
          <p:nvPr/>
        </p:nvSpPr>
        <p:spPr>
          <a:xfrm>
            <a:off x="9550400" y="451889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132" name="Box 131"/>
          <p:cNvSpPr/>
          <p:nvPr/>
        </p:nvSpPr>
        <p:spPr>
          <a:xfrm>
            <a:off x="8413750" y="4494510"/>
            <a:ext cx="1111250" cy="650081"/>
          </a:xfrm>
          <a:prstGeom prst="rect">
            <a:avLst/>
          </a:prstGeom>
          <a:solidFill>
            <a:srgbClr val="FFFFFF"/>
          </a:solidFill>
          <a:ln>
            <a:noFill/>
          </a:ln>
        </p:spPr>
        <p:txBody>
          <a:bodyPr rtlCol="0" anchor="ctr"/>
          <a:lstStyle/>
          <a:p>
            <a:pPr algn="ctr"/>
          </a:p>
        </p:txBody>
      </p:sp>
      <p:sp>
        <p:nvSpPr>
          <p:cNvPr id="133" name="Rule 132"/>
          <p:cNvSpPr/>
          <p:nvPr/>
        </p:nvSpPr>
        <p:spPr>
          <a:xfrm>
            <a:off x="8413750" y="4494510"/>
            <a:ext cx="6350" cy="650081"/>
          </a:xfrm>
          <a:prstGeom prst="rect">
            <a:avLst/>
          </a:prstGeom>
          <a:solidFill>
            <a:srgbClr val="D3D9DF"/>
          </a:solidFill>
          <a:ln>
            <a:noFill/>
          </a:ln>
        </p:spPr>
        <p:txBody>
          <a:bodyPr rtlCol="0" anchor="ctr"/>
          <a:lstStyle/>
          <a:p>
            <a:pPr algn="ctr"/>
          </a:p>
        </p:txBody>
      </p:sp>
      <p:sp>
        <p:nvSpPr>
          <p:cNvPr id="134" name="Text 133"/>
          <p:cNvSpPr txBox="1"/>
          <p:nvPr/>
        </p:nvSpPr>
        <p:spPr>
          <a:xfrm>
            <a:off x="8445500" y="4518894"/>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فيصل العتيبي</a:t>
            </a:r>
          </a:p>
        </p:txBody>
      </p:sp>
      <p:sp>
        <p:nvSpPr>
          <p:cNvPr id="135" name="Box 134"/>
          <p:cNvSpPr/>
          <p:nvPr/>
        </p:nvSpPr>
        <p:spPr>
          <a:xfrm>
            <a:off x="7080250" y="4494510"/>
            <a:ext cx="1333500" cy="650081"/>
          </a:xfrm>
          <a:prstGeom prst="rect">
            <a:avLst/>
          </a:prstGeom>
          <a:solidFill>
            <a:srgbClr val="FFFFFF"/>
          </a:solidFill>
          <a:ln>
            <a:noFill/>
          </a:ln>
        </p:spPr>
        <p:txBody>
          <a:bodyPr rtlCol="0" anchor="ctr"/>
          <a:lstStyle/>
          <a:p>
            <a:pPr algn="ctr"/>
          </a:p>
        </p:txBody>
      </p:sp>
      <p:sp>
        <p:nvSpPr>
          <p:cNvPr id="136" name="Rule 135"/>
          <p:cNvSpPr/>
          <p:nvPr/>
        </p:nvSpPr>
        <p:spPr>
          <a:xfrm>
            <a:off x="7080250" y="4494510"/>
            <a:ext cx="6350" cy="650081"/>
          </a:xfrm>
          <a:prstGeom prst="rect">
            <a:avLst/>
          </a:prstGeom>
          <a:solidFill>
            <a:srgbClr val="D3D9DF"/>
          </a:solidFill>
          <a:ln>
            <a:noFill/>
          </a:ln>
        </p:spPr>
        <p:txBody>
          <a:bodyPr rtlCol="0" anchor="ctr"/>
          <a:lstStyle/>
          <a:p>
            <a:pPr algn="ctr"/>
          </a:p>
        </p:txBody>
      </p:sp>
      <p:sp>
        <p:nvSpPr>
          <p:cNvPr id="137" name="Text 136"/>
          <p:cNvSpPr txBox="1"/>
          <p:nvPr/>
        </p:nvSpPr>
        <p:spPr>
          <a:xfrm>
            <a:off x="7105650" y="451889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138" name="Box 137"/>
          <p:cNvSpPr/>
          <p:nvPr/>
        </p:nvSpPr>
        <p:spPr>
          <a:xfrm>
            <a:off x="6369050" y="4494510"/>
            <a:ext cx="711200" cy="650081"/>
          </a:xfrm>
          <a:prstGeom prst="rect">
            <a:avLst/>
          </a:prstGeom>
          <a:solidFill>
            <a:srgbClr val="FFFFFF"/>
          </a:solidFill>
          <a:ln>
            <a:noFill/>
          </a:ln>
        </p:spPr>
        <p:txBody>
          <a:bodyPr rtlCol="0" anchor="ctr"/>
          <a:lstStyle/>
          <a:p>
            <a:pPr algn="ctr"/>
          </a:p>
        </p:txBody>
      </p:sp>
      <p:sp>
        <p:nvSpPr>
          <p:cNvPr id="139" name="Rule 138"/>
          <p:cNvSpPr/>
          <p:nvPr/>
        </p:nvSpPr>
        <p:spPr>
          <a:xfrm>
            <a:off x="6369050" y="4494510"/>
            <a:ext cx="6350" cy="650081"/>
          </a:xfrm>
          <a:prstGeom prst="rect">
            <a:avLst/>
          </a:prstGeom>
          <a:solidFill>
            <a:srgbClr val="D3D9DF"/>
          </a:solidFill>
          <a:ln>
            <a:noFill/>
          </a:ln>
        </p:spPr>
        <p:txBody>
          <a:bodyPr rtlCol="0" anchor="ctr"/>
          <a:lstStyle/>
          <a:p>
            <a:pPr algn="ctr"/>
          </a:p>
        </p:txBody>
      </p:sp>
      <p:sp>
        <p:nvSpPr>
          <p:cNvPr id="140" name="Text 139"/>
          <p:cNvSpPr txBox="1"/>
          <p:nvPr/>
        </p:nvSpPr>
        <p:spPr>
          <a:xfrm>
            <a:off x="6394450" y="451889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41" name="Box 140"/>
          <p:cNvSpPr/>
          <p:nvPr/>
        </p:nvSpPr>
        <p:spPr>
          <a:xfrm>
            <a:off x="4629150" y="4494510"/>
            <a:ext cx="1739900" cy="650081"/>
          </a:xfrm>
          <a:prstGeom prst="roundRect">
            <a:avLst>
              <a:gd name="adj" fmla="val 1709"/>
            </a:avLst>
          </a:prstGeom>
          <a:solidFill>
            <a:srgbClr val="FFFFFF"/>
          </a:solidFill>
          <a:ln>
            <a:noFill/>
          </a:ln>
        </p:spPr>
        <p:txBody>
          <a:bodyPr rtlCol="0" anchor="ctr"/>
          <a:lstStyle/>
          <a:p>
            <a:pPr algn="ctr"/>
          </a:p>
        </p:txBody>
      </p:sp>
      <p:sp>
        <p:nvSpPr>
          <p:cNvPr id="142" name="Rule 141"/>
          <p:cNvSpPr/>
          <p:nvPr/>
        </p:nvSpPr>
        <p:spPr>
          <a:xfrm>
            <a:off x="4629150" y="4494510"/>
            <a:ext cx="6350" cy="650081"/>
          </a:xfrm>
          <a:prstGeom prst="rect">
            <a:avLst/>
          </a:prstGeom>
          <a:solidFill>
            <a:srgbClr val="D3D9DF"/>
          </a:solidFill>
          <a:ln>
            <a:noFill/>
          </a:ln>
        </p:spPr>
        <p:txBody>
          <a:bodyPr rtlCol="0" anchor="ctr"/>
          <a:lstStyle/>
          <a:p>
            <a:pPr algn="ctr"/>
          </a:p>
        </p:txBody>
      </p:sp>
      <p:sp>
        <p:nvSpPr>
          <p:cNvPr id="143" name="Text 142"/>
          <p:cNvSpPr txBox="1"/>
          <p:nvPr/>
        </p:nvSpPr>
        <p:spPr>
          <a:xfrm>
            <a:off x="4654550" y="4518894"/>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 يوليو 2026</a:t>
            </a:r>
          </a:p>
        </p:txBody>
      </p:sp>
      <p:sp>
        <p:nvSpPr>
          <p:cNvPr id="144" name="Rule 143"/>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145" name="Icon Search 144" descr="icon054.png"/>
          <p:cNvPicPr>
            <a:picLocks noChangeAspect="1"/>
          </p:cNvPicPr>
          <p:nvPr/>
        </p:nvPicPr>
        <p:blipFill>
          <a:blip r:embed="rId2"/>
          <a:stretch>
            <a:fillRect/>
          </a:stretch>
        </p:blipFill>
        <p:spPr>
          <a:xfrm>
            <a:off x="4152900" y="1682055"/>
            <a:ext cx="215900" cy="215900"/>
          </a:xfrm>
          <a:prstGeom prst="rect">
            <a:avLst/>
          </a:prstGeom>
        </p:spPr>
      </p:pic>
      <p:sp>
        <p:nvSpPr>
          <p:cNvPr id="146" name="Text 145"/>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47" name="Text 146"/>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تصدير الحسابات النشطة في 2 يوليو، وقائمة المغادرين في مايو.</a:t>
            </a:r>
          </a:p>
        </p:txBody>
      </p:sp>
      <p:pic>
        <p:nvPicPr>
          <p:cNvPr id="148" name="Icon Book 147" descr="icon059.png"/>
          <p:cNvPicPr>
            <a:picLocks noChangeAspect="1"/>
          </p:cNvPicPr>
          <p:nvPr/>
        </p:nvPicPr>
        <p:blipFill>
          <a:blip r:embed="rId3"/>
          <a:stretch>
            <a:fillRect/>
          </a:stretch>
        </p:blipFill>
        <p:spPr>
          <a:xfrm>
            <a:off x="4140200" y="2713236"/>
            <a:ext cx="228600" cy="228600"/>
          </a:xfrm>
          <a:prstGeom prst="rect">
            <a:avLst/>
          </a:prstGeom>
        </p:spPr>
      </p:pic>
      <p:sp>
        <p:nvSpPr>
          <p:cNvPr id="149" name="Text 148"/>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150" name="Box 149"/>
          <p:cNvSpPr/>
          <p:nvPr/>
        </p:nvSpPr>
        <p:spPr>
          <a:xfrm>
            <a:off x="815975" y="3399631"/>
            <a:ext cx="3549650" cy="2064544"/>
          </a:xfrm>
          <a:prstGeom prst="roundRect">
            <a:avLst>
              <a:gd name="adj" fmla="val 2453"/>
            </a:avLst>
          </a:prstGeom>
          <a:solidFill>
            <a:srgbClr val="FFFFFF"/>
          </a:solidFill>
          <a:ln w="6350">
            <a:solidFill>
              <a:srgbClr val="C9D0D6"/>
            </a:solidFill>
          </a:ln>
        </p:spPr>
        <p:txBody>
          <a:bodyPr rtlCol="0" anchor="ctr"/>
          <a:lstStyle/>
          <a:p>
            <a:pPr algn="ctr"/>
          </a:p>
        </p:txBody>
      </p:sp>
      <p:sp>
        <p:nvSpPr>
          <p:cNvPr id="151" name="Box 150"/>
          <p:cNvSpPr/>
          <p:nvPr/>
        </p:nvSpPr>
        <p:spPr>
          <a:xfrm>
            <a:off x="819150" y="3402806"/>
            <a:ext cx="3543300" cy="529431"/>
          </a:xfrm>
          <a:prstGeom prst="round2SameRect">
            <a:avLst>
              <a:gd name="adj1" fmla="val 8395"/>
              <a:gd name="adj2" fmla="val 0"/>
            </a:avLst>
          </a:prstGeom>
          <a:solidFill>
            <a:srgbClr val="E4E8EC"/>
          </a:solidFill>
          <a:ln>
            <a:noFill/>
          </a:ln>
        </p:spPr>
        <p:txBody>
          <a:bodyPr rtlCol="0" anchor="ctr"/>
          <a:lstStyle/>
          <a:p>
            <a:pPr algn="ctr"/>
          </a:p>
        </p:txBody>
      </p:sp>
      <p:sp>
        <p:nvSpPr>
          <p:cNvPr id="152" name="Rule 151"/>
          <p:cNvSpPr/>
          <p:nvPr/>
        </p:nvSpPr>
        <p:spPr>
          <a:xfrm>
            <a:off x="819150" y="3925888"/>
            <a:ext cx="3543300" cy="6350"/>
          </a:xfrm>
          <a:prstGeom prst="rect">
            <a:avLst/>
          </a:prstGeom>
          <a:solidFill>
            <a:srgbClr val="D3D9DF"/>
          </a:solidFill>
          <a:ln>
            <a:noFill/>
          </a:ln>
        </p:spPr>
        <p:txBody>
          <a:bodyPr rtlCol="0" anchor="ctr"/>
          <a:lstStyle/>
          <a:p>
            <a:pPr algn="ctr"/>
          </a:p>
        </p:txBody>
      </p:sp>
      <p:sp>
        <p:nvSpPr>
          <p:cNvPr id="153" name="Text 152"/>
          <p:cNvSpPr txBox="1"/>
          <p:nvPr/>
        </p:nvSpPr>
        <p:spPr>
          <a:xfrm>
            <a:off x="2341009" y="3450304"/>
            <a:ext cx="1919841"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الموارد البشرية · المغادرون في مايو 2026</a:t>
            </a:r>
          </a:p>
        </p:txBody>
      </p:sp>
      <p:sp>
        <p:nvSpPr>
          <p:cNvPr id="154" name="Text 153"/>
          <p:cNvSpPr txBox="1"/>
          <p:nvPr/>
        </p:nvSpPr>
        <p:spPr>
          <a:xfrm>
            <a:off x="881037" y="3450304"/>
            <a:ext cx="1363490"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55" name="Rule 154"/>
          <p:cNvSpPr/>
          <p:nvPr/>
        </p:nvSpPr>
        <p:spPr>
          <a:xfrm>
            <a:off x="819150" y="4308078"/>
            <a:ext cx="3543300" cy="6350"/>
          </a:xfrm>
          <a:prstGeom prst="rect">
            <a:avLst/>
          </a:prstGeom>
          <a:solidFill>
            <a:srgbClr val="D3D9DF"/>
          </a:solidFill>
          <a:ln>
            <a:noFill/>
          </a:ln>
        </p:spPr>
        <p:txBody>
          <a:bodyPr rtlCol="0" anchor="ctr"/>
          <a:lstStyle/>
          <a:p>
            <a:pPr algn="ctr"/>
          </a:p>
        </p:txBody>
      </p:sp>
      <p:sp>
        <p:nvSpPr>
          <p:cNvPr id="156" name="Box 155"/>
          <p:cNvSpPr/>
          <p:nvPr/>
        </p:nvSpPr>
        <p:spPr>
          <a:xfrm>
            <a:off x="2520950" y="3932238"/>
            <a:ext cx="1841500" cy="375841"/>
          </a:xfrm>
          <a:prstGeom prst="rect">
            <a:avLst/>
          </a:prstGeom>
          <a:solidFill>
            <a:srgbClr val="F7F8FA"/>
          </a:solidFill>
          <a:ln>
            <a:noFill/>
          </a:ln>
        </p:spPr>
        <p:txBody>
          <a:bodyPr rtlCol="0" anchor="ctr"/>
          <a:lstStyle/>
          <a:p>
            <a:pPr algn="ctr"/>
          </a:p>
        </p:txBody>
      </p:sp>
      <p:sp>
        <p:nvSpPr>
          <p:cNvPr id="157" name="Rule 156"/>
          <p:cNvSpPr/>
          <p:nvPr/>
        </p:nvSpPr>
        <p:spPr>
          <a:xfrm>
            <a:off x="2520950" y="3932238"/>
            <a:ext cx="6350" cy="375841"/>
          </a:xfrm>
          <a:prstGeom prst="rect">
            <a:avLst/>
          </a:prstGeom>
          <a:solidFill>
            <a:srgbClr val="D3D9DF"/>
          </a:solidFill>
          <a:ln>
            <a:noFill/>
          </a:ln>
        </p:spPr>
        <p:txBody>
          <a:bodyPr rtlCol="0" anchor="ctr"/>
          <a:lstStyle/>
          <a:p>
            <a:pPr algn="ctr"/>
          </a:p>
        </p:txBody>
      </p:sp>
      <p:sp>
        <p:nvSpPr>
          <p:cNvPr id="158" name="Text 157"/>
          <p:cNvSpPr txBox="1"/>
          <p:nvPr/>
        </p:nvSpPr>
        <p:spPr>
          <a:xfrm>
            <a:off x="2546350" y="395662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الموظف</a:t>
            </a:r>
          </a:p>
        </p:txBody>
      </p:sp>
      <p:sp>
        <p:nvSpPr>
          <p:cNvPr id="159" name="Box 158"/>
          <p:cNvSpPr/>
          <p:nvPr/>
        </p:nvSpPr>
        <p:spPr>
          <a:xfrm>
            <a:off x="819150" y="3932238"/>
            <a:ext cx="1701800" cy="375841"/>
          </a:xfrm>
          <a:prstGeom prst="rect">
            <a:avLst/>
          </a:prstGeom>
          <a:solidFill>
            <a:srgbClr val="F7F8FA"/>
          </a:solidFill>
          <a:ln>
            <a:noFill/>
          </a:ln>
        </p:spPr>
        <p:txBody>
          <a:bodyPr rtlCol="0" anchor="ctr"/>
          <a:lstStyle/>
          <a:p>
            <a:pPr algn="ctr"/>
          </a:p>
        </p:txBody>
      </p:sp>
      <p:sp>
        <p:nvSpPr>
          <p:cNvPr id="160" name="Rule 159"/>
          <p:cNvSpPr/>
          <p:nvPr/>
        </p:nvSpPr>
        <p:spPr>
          <a:xfrm>
            <a:off x="819150" y="3932238"/>
            <a:ext cx="6350" cy="375841"/>
          </a:xfrm>
          <a:prstGeom prst="rect">
            <a:avLst/>
          </a:prstGeom>
          <a:solidFill>
            <a:srgbClr val="D3D9DF"/>
          </a:solidFill>
          <a:ln>
            <a:noFill/>
          </a:ln>
        </p:spPr>
        <p:txBody>
          <a:bodyPr rtlCol="0" anchor="ctr"/>
          <a:lstStyle/>
          <a:p>
            <a:pPr algn="ctr"/>
          </a:p>
        </p:txBody>
      </p:sp>
      <p:sp>
        <p:nvSpPr>
          <p:cNvPr id="161" name="Text 160"/>
          <p:cNvSpPr txBox="1"/>
          <p:nvPr/>
        </p:nvSpPr>
        <p:spPr>
          <a:xfrm>
            <a:off x="844550" y="3956622"/>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يوم عمل</a:t>
            </a:r>
          </a:p>
        </p:txBody>
      </p:sp>
      <p:sp>
        <p:nvSpPr>
          <p:cNvPr id="162" name="Rule 161"/>
          <p:cNvSpPr/>
          <p:nvPr/>
        </p:nvSpPr>
        <p:spPr>
          <a:xfrm>
            <a:off x="819150" y="4690269"/>
            <a:ext cx="3543300" cy="6350"/>
          </a:xfrm>
          <a:prstGeom prst="rect">
            <a:avLst/>
          </a:prstGeom>
          <a:solidFill>
            <a:srgbClr val="D3D9DF"/>
          </a:solidFill>
          <a:ln>
            <a:noFill/>
          </a:ln>
        </p:spPr>
        <p:txBody>
          <a:bodyPr rtlCol="0" anchor="ctr"/>
          <a:lstStyle/>
          <a:p>
            <a:pPr algn="ctr"/>
          </a:p>
        </p:txBody>
      </p:sp>
      <p:sp>
        <p:nvSpPr>
          <p:cNvPr id="163" name="Box 162"/>
          <p:cNvSpPr/>
          <p:nvPr/>
        </p:nvSpPr>
        <p:spPr>
          <a:xfrm>
            <a:off x="2520950" y="4314428"/>
            <a:ext cx="1841500" cy="375841"/>
          </a:xfrm>
          <a:prstGeom prst="rect">
            <a:avLst/>
          </a:prstGeom>
          <a:solidFill>
            <a:srgbClr val="FFFFFF"/>
          </a:solidFill>
          <a:ln>
            <a:noFill/>
          </a:ln>
        </p:spPr>
        <p:txBody>
          <a:bodyPr rtlCol="0" anchor="ctr"/>
          <a:lstStyle/>
          <a:p>
            <a:pPr algn="ctr"/>
          </a:p>
        </p:txBody>
      </p:sp>
      <p:sp>
        <p:nvSpPr>
          <p:cNvPr id="164" name="Rule 163"/>
          <p:cNvSpPr/>
          <p:nvPr/>
        </p:nvSpPr>
        <p:spPr>
          <a:xfrm>
            <a:off x="2520950" y="4314428"/>
            <a:ext cx="6350" cy="375841"/>
          </a:xfrm>
          <a:prstGeom prst="rect">
            <a:avLst/>
          </a:prstGeom>
          <a:solidFill>
            <a:srgbClr val="D3D9DF"/>
          </a:solidFill>
          <a:ln>
            <a:noFill/>
          </a:ln>
        </p:spPr>
        <p:txBody>
          <a:bodyPr rtlCol="0" anchor="ctr"/>
          <a:lstStyle/>
          <a:p>
            <a:pPr algn="ctr"/>
          </a:p>
        </p:txBody>
      </p:sp>
      <p:sp>
        <p:nvSpPr>
          <p:cNvPr id="165" name="Text 164"/>
          <p:cNvSpPr txBox="1"/>
          <p:nvPr/>
        </p:nvSpPr>
        <p:spPr>
          <a:xfrm>
            <a:off x="2546350" y="433881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عبدالله الزهراني</a:t>
            </a:r>
          </a:p>
        </p:txBody>
      </p:sp>
      <p:sp>
        <p:nvSpPr>
          <p:cNvPr id="166" name="Box 165"/>
          <p:cNvSpPr/>
          <p:nvPr/>
        </p:nvSpPr>
        <p:spPr>
          <a:xfrm>
            <a:off x="819150" y="4314428"/>
            <a:ext cx="1701800" cy="375841"/>
          </a:xfrm>
          <a:prstGeom prst="rect">
            <a:avLst/>
          </a:prstGeom>
          <a:solidFill>
            <a:srgbClr val="FFFFFF"/>
          </a:solidFill>
          <a:ln>
            <a:noFill/>
          </a:ln>
        </p:spPr>
        <p:txBody>
          <a:bodyPr rtlCol="0" anchor="ctr"/>
          <a:lstStyle/>
          <a:p>
            <a:pPr algn="ctr"/>
          </a:p>
        </p:txBody>
      </p:sp>
      <p:sp>
        <p:nvSpPr>
          <p:cNvPr id="167" name="Rule 166"/>
          <p:cNvSpPr/>
          <p:nvPr/>
        </p:nvSpPr>
        <p:spPr>
          <a:xfrm>
            <a:off x="819150" y="4314428"/>
            <a:ext cx="6350" cy="375841"/>
          </a:xfrm>
          <a:prstGeom prst="rect">
            <a:avLst/>
          </a:prstGeom>
          <a:solidFill>
            <a:srgbClr val="D3D9DF"/>
          </a:solidFill>
          <a:ln>
            <a:noFill/>
          </a:ln>
        </p:spPr>
        <p:txBody>
          <a:bodyPr rtlCol="0" anchor="ctr"/>
          <a:lstStyle/>
          <a:p>
            <a:pPr algn="ctr"/>
          </a:p>
        </p:txBody>
      </p:sp>
      <p:sp>
        <p:nvSpPr>
          <p:cNvPr id="168" name="Text 167"/>
          <p:cNvSpPr txBox="1"/>
          <p:nvPr/>
        </p:nvSpPr>
        <p:spPr>
          <a:xfrm>
            <a:off x="844550" y="4338812"/>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 مايو 2026</a:t>
            </a:r>
          </a:p>
        </p:txBody>
      </p:sp>
      <p:sp>
        <p:nvSpPr>
          <p:cNvPr id="169" name="Rule 168"/>
          <p:cNvSpPr/>
          <p:nvPr/>
        </p:nvSpPr>
        <p:spPr>
          <a:xfrm>
            <a:off x="819150" y="5072459"/>
            <a:ext cx="3543300" cy="6350"/>
          </a:xfrm>
          <a:prstGeom prst="rect">
            <a:avLst/>
          </a:prstGeom>
          <a:solidFill>
            <a:srgbClr val="D3D9DF"/>
          </a:solidFill>
          <a:ln>
            <a:noFill/>
          </a:ln>
        </p:spPr>
        <p:txBody>
          <a:bodyPr rtlCol="0" anchor="ctr"/>
          <a:lstStyle/>
          <a:p>
            <a:pPr algn="ctr"/>
          </a:p>
        </p:txBody>
      </p:sp>
      <p:sp>
        <p:nvSpPr>
          <p:cNvPr id="170" name="Box 169"/>
          <p:cNvSpPr/>
          <p:nvPr/>
        </p:nvSpPr>
        <p:spPr>
          <a:xfrm>
            <a:off x="2520950" y="4696619"/>
            <a:ext cx="1841500" cy="375841"/>
          </a:xfrm>
          <a:prstGeom prst="rect">
            <a:avLst/>
          </a:prstGeom>
          <a:solidFill>
            <a:srgbClr val="FFFFFF"/>
          </a:solidFill>
          <a:ln>
            <a:noFill/>
          </a:ln>
        </p:spPr>
        <p:txBody>
          <a:bodyPr rtlCol="0" anchor="ctr"/>
          <a:lstStyle/>
          <a:p>
            <a:pPr algn="ctr"/>
          </a:p>
        </p:txBody>
      </p:sp>
      <p:sp>
        <p:nvSpPr>
          <p:cNvPr id="171" name="Rule 170"/>
          <p:cNvSpPr/>
          <p:nvPr/>
        </p:nvSpPr>
        <p:spPr>
          <a:xfrm>
            <a:off x="2520950" y="4696619"/>
            <a:ext cx="6350" cy="375841"/>
          </a:xfrm>
          <a:prstGeom prst="rect">
            <a:avLst/>
          </a:prstGeom>
          <a:solidFill>
            <a:srgbClr val="D3D9DF"/>
          </a:solidFill>
          <a:ln>
            <a:noFill/>
          </a:ln>
        </p:spPr>
        <p:txBody>
          <a:bodyPr rtlCol="0" anchor="ctr"/>
          <a:lstStyle/>
          <a:p>
            <a:pPr algn="ctr"/>
          </a:p>
        </p:txBody>
      </p:sp>
      <p:sp>
        <p:nvSpPr>
          <p:cNvPr id="172" name="Text 171"/>
          <p:cNvSpPr txBox="1"/>
          <p:nvPr/>
        </p:nvSpPr>
        <p:spPr>
          <a:xfrm>
            <a:off x="2546350" y="472100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173" name="Box 172"/>
          <p:cNvSpPr/>
          <p:nvPr/>
        </p:nvSpPr>
        <p:spPr>
          <a:xfrm>
            <a:off x="819150" y="4696619"/>
            <a:ext cx="1701800" cy="375841"/>
          </a:xfrm>
          <a:prstGeom prst="rect">
            <a:avLst/>
          </a:prstGeom>
          <a:solidFill>
            <a:srgbClr val="FFFFFF"/>
          </a:solidFill>
          <a:ln>
            <a:noFill/>
          </a:ln>
        </p:spPr>
        <p:txBody>
          <a:bodyPr rtlCol="0" anchor="ctr"/>
          <a:lstStyle/>
          <a:p>
            <a:pPr algn="ctr"/>
          </a:p>
        </p:txBody>
      </p:sp>
      <p:sp>
        <p:nvSpPr>
          <p:cNvPr id="174" name="Rule 173"/>
          <p:cNvSpPr/>
          <p:nvPr/>
        </p:nvSpPr>
        <p:spPr>
          <a:xfrm>
            <a:off x="819150" y="4696619"/>
            <a:ext cx="6350" cy="375841"/>
          </a:xfrm>
          <a:prstGeom prst="rect">
            <a:avLst/>
          </a:prstGeom>
          <a:solidFill>
            <a:srgbClr val="D3D9DF"/>
          </a:solidFill>
          <a:ln>
            <a:noFill/>
          </a:ln>
        </p:spPr>
        <p:txBody>
          <a:bodyPr rtlCol="0" anchor="ctr"/>
          <a:lstStyle/>
          <a:p>
            <a:pPr algn="ctr"/>
          </a:p>
        </p:txBody>
      </p:sp>
      <p:sp>
        <p:nvSpPr>
          <p:cNvPr id="175" name="Text 174"/>
          <p:cNvSpPr txBox="1"/>
          <p:nvPr/>
        </p:nvSpPr>
        <p:spPr>
          <a:xfrm>
            <a:off x="844550" y="4721003"/>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14 مايو 2026</a:t>
            </a:r>
          </a:p>
        </p:txBody>
      </p:sp>
      <p:sp>
        <p:nvSpPr>
          <p:cNvPr id="176" name="Rule 175"/>
          <p:cNvSpPr/>
          <p:nvPr/>
        </p:nvSpPr>
        <p:spPr>
          <a:xfrm>
            <a:off x="819150" y="5454650"/>
            <a:ext cx="3543300" cy="6350"/>
          </a:xfrm>
          <a:prstGeom prst="rect">
            <a:avLst/>
          </a:prstGeom>
          <a:solidFill>
            <a:srgbClr val="D3D9DF"/>
          </a:solidFill>
          <a:ln>
            <a:noFill/>
          </a:ln>
        </p:spPr>
        <p:txBody>
          <a:bodyPr rtlCol="0" anchor="ctr"/>
          <a:lstStyle/>
          <a:p>
            <a:pPr algn="ctr"/>
          </a:p>
        </p:txBody>
      </p:sp>
      <p:sp>
        <p:nvSpPr>
          <p:cNvPr id="177" name="Box 176"/>
          <p:cNvSpPr/>
          <p:nvPr/>
        </p:nvSpPr>
        <p:spPr>
          <a:xfrm>
            <a:off x="2520950" y="5078809"/>
            <a:ext cx="1841500" cy="375841"/>
          </a:xfrm>
          <a:prstGeom prst="roundRect">
            <a:avLst>
              <a:gd name="adj" fmla="val 2956"/>
            </a:avLst>
          </a:prstGeom>
          <a:solidFill>
            <a:srgbClr val="FFFFFF"/>
          </a:solidFill>
          <a:ln>
            <a:noFill/>
          </a:ln>
        </p:spPr>
        <p:txBody>
          <a:bodyPr rtlCol="0" anchor="ctr"/>
          <a:lstStyle/>
          <a:p>
            <a:pPr algn="ctr"/>
          </a:p>
        </p:txBody>
      </p:sp>
      <p:sp>
        <p:nvSpPr>
          <p:cNvPr id="178" name="Rule 177"/>
          <p:cNvSpPr/>
          <p:nvPr/>
        </p:nvSpPr>
        <p:spPr>
          <a:xfrm>
            <a:off x="2520950" y="5078809"/>
            <a:ext cx="6350" cy="375841"/>
          </a:xfrm>
          <a:prstGeom prst="rect">
            <a:avLst/>
          </a:prstGeom>
          <a:solidFill>
            <a:srgbClr val="D3D9DF"/>
          </a:solidFill>
          <a:ln>
            <a:noFill/>
          </a:ln>
        </p:spPr>
        <p:txBody>
          <a:bodyPr rtlCol="0" anchor="ctr"/>
          <a:lstStyle/>
          <a:p>
            <a:pPr algn="ctr"/>
          </a:p>
        </p:txBody>
      </p:sp>
      <p:sp>
        <p:nvSpPr>
          <p:cNvPr id="179" name="Text 178"/>
          <p:cNvSpPr txBox="1"/>
          <p:nvPr/>
        </p:nvSpPr>
        <p:spPr>
          <a:xfrm>
            <a:off x="2546350" y="510319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180" name="Box 179"/>
          <p:cNvSpPr/>
          <p:nvPr/>
        </p:nvSpPr>
        <p:spPr>
          <a:xfrm>
            <a:off x="819150" y="5078809"/>
            <a:ext cx="1701800" cy="375841"/>
          </a:xfrm>
          <a:prstGeom prst="roundRect">
            <a:avLst>
              <a:gd name="adj" fmla="val 2956"/>
            </a:avLst>
          </a:prstGeom>
          <a:solidFill>
            <a:srgbClr val="FFFFFF"/>
          </a:solidFill>
          <a:ln>
            <a:noFill/>
          </a:ln>
        </p:spPr>
        <p:txBody>
          <a:bodyPr rtlCol="0" anchor="ctr"/>
          <a:lstStyle/>
          <a:p>
            <a:pPr algn="ctr"/>
          </a:p>
        </p:txBody>
      </p:sp>
      <p:sp>
        <p:nvSpPr>
          <p:cNvPr id="181" name="Rule 180"/>
          <p:cNvSpPr/>
          <p:nvPr/>
        </p:nvSpPr>
        <p:spPr>
          <a:xfrm>
            <a:off x="819150" y="5078809"/>
            <a:ext cx="6350" cy="375841"/>
          </a:xfrm>
          <a:prstGeom prst="rect">
            <a:avLst/>
          </a:prstGeom>
          <a:solidFill>
            <a:srgbClr val="D3D9DF"/>
          </a:solidFill>
          <a:ln>
            <a:noFill/>
          </a:ln>
        </p:spPr>
        <p:txBody>
          <a:bodyPr rtlCol="0" anchor="ctr"/>
          <a:lstStyle/>
          <a:p>
            <a:pPr algn="ctr"/>
          </a:p>
        </p:txBody>
      </p:sp>
      <p:sp>
        <p:nvSpPr>
          <p:cNvPr id="182" name="Text 181"/>
          <p:cNvSpPr txBox="1"/>
          <p:nvPr/>
        </p:nvSpPr>
        <p:spPr>
          <a:xfrm>
            <a:off x="844550" y="5103193"/>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مايو 2026</a:t>
            </a:r>
          </a:p>
        </p:txBody>
      </p:sp>
      <p:sp>
        <p:nvSpPr>
          <p:cNvPr id="183" name="Text 18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84" name="Text 18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0" y="15423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لكل دليل: ماذا يثبت؟ ثم النتيجة ومبررها، وما ستطلبه قبل الإغلاق. 20 دقيقة.</a:t>
            </a:r>
          </a:p>
        </p:txBody>
      </p:sp>
      <p:sp>
        <p:nvSpPr>
          <p:cNvPr id="8" name="Text 7"/>
          <p:cNvSpPr txBox="1"/>
          <p:nvPr/>
        </p:nvSpPr>
        <p:spPr>
          <a:xfrm>
            <a:off x="10020300" y="2012275"/>
            <a:ext cx="1358900" cy="558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9" name="Box 8"/>
          <p:cNvSpPr/>
          <p:nvPr/>
        </p:nvSpPr>
        <p:spPr>
          <a:xfrm>
            <a:off x="5797550" y="2057995"/>
            <a:ext cx="4254500" cy="546100"/>
          </a:xfrm>
          <a:prstGeom prst="roundRect">
            <a:avLst>
              <a:gd name="adj" fmla="val 13636"/>
            </a:avLst>
          </a:prstGeom>
          <a:solidFill>
            <a:srgbClr val="FFFFFF"/>
          </a:solidFill>
          <a:ln w="12700">
            <a:solidFill>
              <a:srgbClr val="C9C0AC"/>
            </a:solidFill>
            <a:prstDash val="dash"/>
          </a:ln>
        </p:spPr>
        <p:txBody>
          <a:bodyPr rtlCol="0" anchor="ctr"/>
          <a:lstStyle/>
          <a:p>
            <a:pPr algn="ctr"/>
          </a:p>
        </p:txBody>
      </p:sp>
      <p:sp>
        <p:nvSpPr>
          <p:cNvPr id="10" name="Text 9"/>
          <p:cNvSpPr txBox="1"/>
          <p:nvPr/>
        </p:nvSpPr>
        <p:spPr>
          <a:xfrm>
            <a:off x="5816600" y="21138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مطبق / جزئياً / غير مطبق / لا ينطبق</a:t>
            </a:r>
          </a:p>
        </p:txBody>
      </p:sp>
      <p:sp>
        <p:nvSpPr>
          <p:cNvPr id="11" name="Text 10"/>
          <p:cNvSpPr txBox="1"/>
          <p:nvPr/>
        </p:nvSpPr>
        <p:spPr>
          <a:xfrm>
            <a:off x="10020300" y="2647275"/>
            <a:ext cx="1358900" cy="952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المبرر</a:t>
            </a:r>
          </a:p>
        </p:txBody>
      </p:sp>
      <p:sp>
        <p:nvSpPr>
          <p:cNvPr id="12" name="Box 11"/>
          <p:cNvSpPr/>
          <p:nvPr/>
        </p:nvSpPr>
        <p:spPr>
          <a:xfrm>
            <a:off x="5797550" y="2692995"/>
            <a:ext cx="4254500" cy="939800"/>
          </a:xfrm>
          <a:prstGeom prst="roundRect">
            <a:avLst>
              <a:gd name="adj" fmla="val 8000"/>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5816600" y="27488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ثلاث جمل…</a:t>
            </a:r>
          </a:p>
        </p:txBody>
      </p:sp>
      <p:sp>
        <p:nvSpPr>
          <p:cNvPr id="14" name="Text 13"/>
          <p:cNvSpPr txBox="1"/>
          <p:nvPr/>
        </p:nvSpPr>
        <p:spPr>
          <a:xfrm>
            <a:off x="10020300" y="3675975"/>
            <a:ext cx="1358900" cy="698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أدلة إضافية</a:t>
            </a:r>
          </a:p>
        </p:txBody>
      </p:sp>
      <p:sp>
        <p:nvSpPr>
          <p:cNvPr id="15" name="Box 14"/>
          <p:cNvSpPr/>
          <p:nvPr/>
        </p:nvSpPr>
        <p:spPr>
          <a:xfrm>
            <a:off x="5797550" y="3721695"/>
            <a:ext cx="4254500" cy="685800"/>
          </a:xfrm>
          <a:prstGeom prst="roundRect">
            <a:avLst>
              <a:gd name="adj" fmla="val 10909"/>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5816600" y="37775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ماذا ستطلب؟</a:t>
            </a:r>
          </a:p>
        </p:txBody>
      </p:sp>
      <p:graphicFrame>
        <p:nvGraphicFramePr>
          <p:cNvPr id="17" name="Table 16"/>
          <p:cNvGraphicFramePr>
            <a:graphicFrameLocks noGrp="1"/>
          </p:cNvGraphicFramePr>
          <p:nvPr/>
        </p:nvGraphicFramePr>
        <p:xfrm>
          <a:off x="815975" y="2054820"/>
          <a:ext cx="4819650" cy="3689350"/>
        </p:xfrm>
        <a:graphic>
          <a:graphicData uri="http://schemas.openxmlformats.org/drawingml/2006/table">
            <a:tbl>
              <a:tblPr firstRow="0" bandRow="0" lastRow="0" firstCol="0" lastCol="0" bandCol="0">
                <a:tableStyleId>{2D5ABB26-0587-4C30-8999-92F81FD0307C}</a:tableStyleId>
              </a:tblPr>
              <a:tblGrid>
                <a:gridCol w="3855720"/>
                <a:gridCol w="96393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الدليل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8" name="Text 1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9" name="Text 1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ماذا يثبت كل دليل؟</a:t>
            </a:r>
          </a:p>
        </p:txBody>
      </p:sp>
      <p:graphicFrame>
        <p:nvGraphicFramePr>
          <p:cNvPr id="7" name="Table 6"/>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9504045"/>
                <a:gridCol w="105600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الدليل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التوثيق: المتطلب موثق ومعتمد.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التطبيق: المراجعة نُفذت واعتُمدت في موعدها للربع الأول.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الاستمرار:‏ 3 إزالات متأخرة عن مهلة 5 أيام 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الاستمرار: الربع الثاني لم يُنفذ. السبب ادعاء لم نتحقق منه بعد.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نتيجة فعلية: صلاحيات غير مبررة بقيت نشطة.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تثبت شيئاً وحدها، لكنها تكشف فجوة وعي بالمعيار.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د2 بالأسئلة الأربعة</a:t>
            </a:r>
          </a:p>
        </p:txBody>
      </p:sp>
      <p:sp>
        <p:nvSpPr>
          <p:cNvPr id="7" name="Box 6"/>
          <p:cNvSpPr/>
          <p:nvPr/>
        </p:nvSpPr>
        <p:spPr>
          <a:xfrm>
            <a:off x="4879975" y="1661120"/>
            <a:ext cx="6496050" cy="3835797"/>
          </a:xfrm>
          <a:prstGeom prst="roundRect">
            <a:avLst>
              <a:gd name="adj" fmla="val 1322"/>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6699321" y="1711793"/>
            <a:ext cx="45719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مراجعة صلاحيات نظام الرواتب · الربع الأول 2026 · مقتطف 6 من 214</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645767"/>
            <a:ext cx="6489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65008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65008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420100" y="1995686"/>
            <a:ext cx="1460500" cy="650081"/>
          </a:xfrm>
          <a:prstGeom prst="rect">
            <a:avLst/>
          </a:prstGeom>
          <a:solidFill>
            <a:srgbClr val="F7F8FA"/>
          </a:solidFill>
          <a:ln>
            <a:noFill/>
          </a:ln>
        </p:spPr>
        <p:txBody>
          <a:bodyPr rtlCol="0" anchor="ctr"/>
          <a:lstStyle/>
          <a:p>
            <a:pPr algn="ctr"/>
          </a:p>
        </p:txBody>
      </p:sp>
      <p:sp>
        <p:nvSpPr>
          <p:cNvPr id="17" name="Rule 16"/>
          <p:cNvSpPr/>
          <p:nvPr/>
        </p:nvSpPr>
        <p:spPr>
          <a:xfrm>
            <a:off x="8420100" y="1995686"/>
            <a:ext cx="6350" cy="650081"/>
          </a:xfrm>
          <a:prstGeom prst="rect">
            <a:avLst/>
          </a:prstGeom>
          <a:solidFill>
            <a:srgbClr val="D3D9DF"/>
          </a:solidFill>
          <a:ln>
            <a:noFill/>
          </a:ln>
        </p:spPr>
        <p:txBody>
          <a:bodyPr rtlCol="0" anchor="ctr"/>
          <a:lstStyle/>
          <a:p>
            <a:pPr algn="ctr"/>
          </a:p>
        </p:txBody>
      </p:sp>
      <p:sp>
        <p:nvSpPr>
          <p:cNvPr id="18" name="Text 17"/>
          <p:cNvSpPr txBox="1"/>
          <p:nvPr/>
        </p:nvSpPr>
        <p:spPr>
          <a:xfrm>
            <a:off x="8445500" y="2020070"/>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 في النظام</a:t>
            </a:r>
          </a:p>
        </p:txBody>
      </p:sp>
      <p:sp>
        <p:nvSpPr>
          <p:cNvPr id="19" name="Box 18"/>
          <p:cNvSpPr/>
          <p:nvPr/>
        </p:nvSpPr>
        <p:spPr>
          <a:xfrm>
            <a:off x="7594600" y="1995686"/>
            <a:ext cx="825500" cy="650081"/>
          </a:xfrm>
          <a:prstGeom prst="rect">
            <a:avLst/>
          </a:prstGeom>
          <a:solidFill>
            <a:srgbClr val="F7F8FA"/>
          </a:solidFill>
          <a:ln>
            <a:noFill/>
          </a:ln>
        </p:spPr>
        <p:txBody>
          <a:bodyPr rtlCol="0" anchor="ctr"/>
          <a:lstStyle/>
          <a:p>
            <a:pPr algn="ctr"/>
          </a:p>
        </p:txBody>
      </p:sp>
      <p:sp>
        <p:nvSpPr>
          <p:cNvPr id="20" name="Rule 19"/>
          <p:cNvSpPr/>
          <p:nvPr/>
        </p:nvSpPr>
        <p:spPr>
          <a:xfrm>
            <a:off x="7594600" y="1995686"/>
            <a:ext cx="6350" cy="650081"/>
          </a:xfrm>
          <a:prstGeom prst="rect">
            <a:avLst/>
          </a:prstGeom>
          <a:solidFill>
            <a:srgbClr val="D3D9DF"/>
          </a:solidFill>
          <a:ln>
            <a:noFill/>
          </a:ln>
        </p:spPr>
        <p:txBody>
          <a:bodyPr rtlCol="0" anchor="ctr"/>
          <a:lstStyle/>
          <a:p>
            <a:pPr algn="ctr"/>
          </a:p>
        </p:txBody>
      </p:sp>
      <p:sp>
        <p:nvSpPr>
          <p:cNvPr id="21" name="Text 20"/>
          <p:cNvSpPr txBox="1"/>
          <p:nvPr/>
        </p:nvSpPr>
        <p:spPr>
          <a:xfrm>
            <a:off x="7626350" y="2020070"/>
            <a:ext cx="717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قرار المدير</a:t>
            </a:r>
          </a:p>
        </p:txBody>
      </p:sp>
      <p:sp>
        <p:nvSpPr>
          <p:cNvPr id="22" name="Box 21"/>
          <p:cNvSpPr/>
          <p:nvPr/>
        </p:nvSpPr>
        <p:spPr>
          <a:xfrm>
            <a:off x="4883150" y="1995686"/>
            <a:ext cx="2711450" cy="650081"/>
          </a:xfrm>
          <a:prstGeom prst="rect">
            <a:avLst/>
          </a:prstGeom>
          <a:solidFill>
            <a:srgbClr val="F7F8FA"/>
          </a:solidFill>
          <a:ln>
            <a:noFill/>
          </a:ln>
        </p:spPr>
        <p:txBody>
          <a:bodyPr rtlCol="0" anchor="ctr"/>
          <a:lstStyle/>
          <a:p>
            <a:pPr algn="ctr"/>
          </a:p>
        </p:txBody>
      </p:sp>
      <p:sp>
        <p:nvSpPr>
          <p:cNvPr id="23" name="Rule 22"/>
          <p:cNvSpPr/>
          <p:nvPr/>
        </p:nvSpPr>
        <p:spPr>
          <a:xfrm>
            <a:off x="4883150" y="1995686"/>
            <a:ext cx="6350" cy="650081"/>
          </a:xfrm>
          <a:prstGeom prst="rect">
            <a:avLst/>
          </a:prstGeom>
          <a:solidFill>
            <a:srgbClr val="D3D9DF"/>
          </a:solidFill>
          <a:ln>
            <a:noFill/>
          </a:ln>
        </p:spPr>
        <p:txBody>
          <a:bodyPr rtlCol="0" anchor="ctr"/>
          <a:lstStyle/>
          <a:p>
            <a:pPr algn="ctr"/>
          </a:p>
        </p:txBody>
      </p:sp>
      <p:sp>
        <p:nvSpPr>
          <p:cNvPr id="24" name="Text 23"/>
          <p:cNvSpPr txBox="1"/>
          <p:nvPr/>
        </p:nvSpPr>
        <p:spPr>
          <a:xfrm>
            <a:off x="4908550" y="2020070"/>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ملاحظة</a:t>
            </a:r>
          </a:p>
        </p:txBody>
      </p:sp>
      <p:sp>
        <p:nvSpPr>
          <p:cNvPr id="25" name="Rule 24"/>
          <p:cNvSpPr/>
          <p:nvPr/>
        </p:nvSpPr>
        <p:spPr>
          <a:xfrm>
            <a:off x="4883150" y="3027958"/>
            <a:ext cx="6489700" cy="6350"/>
          </a:xfrm>
          <a:prstGeom prst="rect">
            <a:avLst/>
          </a:prstGeom>
          <a:solidFill>
            <a:srgbClr val="D3D9DF"/>
          </a:solidFill>
          <a:ln>
            <a:noFill/>
          </a:ln>
        </p:spPr>
        <p:txBody>
          <a:bodyPr rtlCol="0" anchor="ctr"/>
          <a:lstStyle/>
          <a:p>
            <a:pPr algn="ctr"/>
          </a:p>
        </p:txBody>
      </p:sp>
      <p:sp>
        <p:nvSpPr>
          <p:cNvPr id="26" name="Box 25"/>
          <p:cNvSpPr/>
          <p:nvPr/>
        </p:nvSpPr>
        <p:spPr>
          <a:xfrm>
            <a:off x="9880600" y="2652117"/>
            <a:ext cx="1492250" cy="375841"/>
          </a:xfrm>
          <a:prstGeom prst="rect">
            <a:avLst/>
          </a:prstGeom>
          <a:solidFill>
            <a:srgbClr val="FFFFFF"/>
          </a:solidFill>
          <a:ln>
            <a:noFill/>
          </a:ln>
        </p:spPr>
        <p:txBody>
          <a:bodyPr rtlCol="0" anchor="ctr"/>
          <a:lstStyle/>
          <a:p>
            <a:pPr algn="ctr"/>
          </a:p>
        </p:txBody>
      </p:sp>
      <p:sp>
        <p:nvSpPr>
          <p:cNvPr id="27" name="Rule 26"/>
          <p:cNvSpPr/>
          <p:nvPr/>
        </p:nvSpPr>
        <p:spPr>
          <a:xfrm>
            <a:off x="9880600" y="2652117"/>
            <a:ext cx="6350" cy="375841"/>
          </a:xfrm>
          <a:prstGeom prst="rect">
            <a:avLst/>
          </a:prstGeom>
          <a:solidFill>
            <a:srgbClr val="D3D9DF"/>
          </a:solidFill>
          <a:ln>
            <a:noFill/>
          </a:ln>
        </p:spPr>
        <p:txBody>
          <a:bodyPr rtlCol="0" anchor="ctr"/>
          <a:lstStyle/>
          <a:p>
            <a:pPr algn="ctr"/>
          </a:p>
        </p:txBody>
      </p:sp>
      <p:sp>
        <p:nvSpPr>
          <p:cNvPr id="28" name="Text 27"/>
          <p:cNvSpPr txBox="1"/>
          <p:nvPr/>
        </p:nvSpPr>
        <p:spPr>
          <a:xfrm>
            <a:off x="9906000" y="267650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29" name="Box 28"/>
          <p:cNvSpPr/>
          <p:nvPr/>
        </p:nvSpPr>
        <p:spPr>
          <a:xfrm>
            <a:off x="8420100" y="2652117"/>
            <a:ext cx="1460500" cy="375841"/>
          </a:xfrm>
          <a:prstGeom prst="rect">
            <a:avLst/>
          </a:prstGeom>
          <a:solidFill>
            <a:srgbClr val="FFFFFF"/>
          </a:solidFill>
          <a:ln>
            <a:noFill/>
          </a:ln>
        </p:spPr>
        <p:txBody>
          <a:bodyPr rtlCol="0" anchor="ctr"/>
          <a:lstStyle/>
          <a:p>
            <a:pPr algn="ctr"/>
          </a:p>
        </p:txBody>
      </p:sp>
      <p:sp>
        <p:nvSpPr>
          <p:cNvPr id="30" name="Rule 29"/>
          <p:cNvSpPr/>
          <p:nvPr/>
        </p:nvSpPr>
        <p:spPr>
          <a:xfrm>
            <a:off x="8420100" y="265211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8445500" y="2676501"/>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2" name="Box 31"/>
          <p:cNvSpPr/>
          <p:nvPr/>
        </p:nvSpPr>
        <p:spPr>
          <a:xfrm>
            <a:off x="7594600" y="2652117"/>
            <a:ext cx="825500" cy="375841"/>
          </a:xfrm>
          <a:prstGeom prst="rect">
            <a:avLst/>
          </a:prstGeom>
          <a:solidFill>
            <a:srgbClr val="FFFFFF"/>
          </a:solidFill>
          <a:ln>
            <a:noFill/>
          </a:ln>
        </p:spPr>
        <p:txBody>
          <a:bodyPr rtlCol="0" anchor="ctr"/>
          <a:lstStyle/>
          <a:p>
            <a:pPr algn="ctr"/>
          </a:p>
        </p:txBody>
      </p:sp>
      <p:sp>
        <p:nvSpPr>
          <p:cNvPr id="33" name="Rule 32"/>
          <p:cNvSpPr/>
          <p:nvPr/>
        </p:nvSpPr>
        <p:spPr>
          <a:xfrm>
            <a:off x="7594600" y="265211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7620000" y="2676501"/>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35" name="Box 34"/>
          <p:cNvSpPr/>
          <p:nvPr/>
        </p:nvSpPr>
        <p:spPr>
          <a:xfrm>
            <a:off x="4883150" y="2652117"/>
            <a:ext cx="2711450" cy="375841"/>
          </a:xfrm>
          <a:prstGeom prst="rect">
            <a:avLst/>
          </a:prstGeom>
          <a:solidFill>
            <a:srgbClr val="FFFFFF"/>
          </a:solidFill>
          <a:ln>
            <a:noFill/>
          </a:ln>
        </p:spPr>
        <p:txBody>
          <a:bodyPr rtlCol="0" anchor="ctr"/>
          <a:lstStyle/>
          <a:p>
            <a:pPr algn="ctr"/>
          </a:p>
        </p:txBody>
      </p:sp>
      <p:sp>
        <p:nvSpPr>
          <p:cNvPr id="36" name="Rule 35"/>
          <p:cNvSpPr/>
          <p:nvPr/>
        </p:nvSpPr>
        <p:spPr>
          <a:xfrm>
            <a:off x="4883150" y="2652117"/>
            <a:ext cx="6350" cy="375841"/>
          </a:xfrm>
          <a:prstGeom prst="rect">
            <a:avLst/>
          </a:prstGeom>
          <a:solidFill>
            <a:srgbClr val="D3D9DF"/>
          </a:solidFill>
          <a:ln>
            <a:noFill/>
          </a:ln>
        </p:spPr>
        <p:txBody>
          <a:bodyPr rtlCol="0" anchor="ctr"/>
          <a:lstStyle/>
          <a:p>
            <a:pPr algn="ctr"/>
          </a:p>
        </p:txBody>
      </p:sp>
      <p:sp>
        <p:nvSpPr>
          <p:cNvPr id="37" name="Rule 36"/>
          <p:cNvSpPr/>
          <p:nvPr/>
        </p:nvSpPr>
        <p:spPr>
          <a:xfrm>
            <a:off x="4883150" y="3684389"/>
            <a:ext cx="6489700" cy="6350"/>
          </a:xfrm>
          <a:prstGeom prst="rect">
            <a:avLst/>
          </a:prstGeom>
          <a:solidFill>
            <a:srgbClr val="D3D9DF"/>
          </a:solidFill>
          <a:ln>
            <a:noFill/>
          </a:ln>
        </p:spPr>
        <p:txBody>
          <a:bodyPr rtlCol="0" anchor="ctr"/>
          <a:lstStyle/>
          <a:p>
            <a:pPr algn="ctr"/>
          </a:p>
        </p:txBody>
      </p:sp>
      <p:sp>
        <p:nvSpPr>
          <p:cNvPr id="38" name="Box 37"/>
          <p:cNvSpPr/>
          <p:nvPr/>
        </p:nvSpPr>
        <p:spPr>
          <a:xfrm>
            <a:off x="9880600" y="3034308"/>
            <a:ext cx="1492250" cy="650081"/>
          </a:xfrm>
          <a:prstGeom prst="rect">
            <a:avLst/>
          </a:prstGeom>
          <a:solidFill>
            <a:srgbClr val="FFFFFF"/>
          </a:solidFill>
          <a:ln>
            <a:noFill/>
          </a:ln>
        </p:spPr>
        <p:txBody>
          <a:bodyPr rtlCol="0" anchor="ctr"/>
          <a:lstStyle/>
          <a:p>
            <a:pPr algn="ctr"/>
          </a:p>
        </p:txBody>
      </p:sp>
      <p:sp>
        <p:nvSpPr>
          <p:cNvPr id="39" name="Rule 38"/>
          <p:cNvSpPr/>
          <p:nvPr/>
        </p:nvSpPr>
        <p:spPr>
          <a:xfrm>
            <a:off x="9880600" y="3034308"/>
            <a:ext cx="6350" cy="650081"/>
          </a:xfrm>
          <a:prstGeom prst="rect">
            <a:avLst/>
          </a:prstGeom>
          <a:solidFill>
            <a:srgbClr val="D3D9DF"/>
          </a:solidFill>
          <a:ln>
            <a:noFill/>
          </a:ln>
        </p:spPr>
        <p:txBody>
          <a:bodyPr rtlCol="0" anchor="ctr"/>
          <a:lstStyle/>
          <a:p>
            <a:pPr algn="ctr"/>
          </a:p>
        </p:txBody>
      </p:sp>
      <p:sp>
        <p:nvSpPr>
          <p:cNvPr id="40" name="Text 39"/>
          <p:cNvSpPr txBox="1"/>
          <p:nvPr/>
        </p:nvSpPr>
        <p:spPr>
          <a:xfrm>
            <a:off x="9906000" y="305869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fin.m.salem</a:t>
            </a:r>
          </a:p>
        </p:txBody>
      </p:sp>
      <p:sp>
        <p:nvSpPr>
          <p:cNvPr id="41" name="Box 40"/>
          <p:cNvSpPr/>
          <p:nvPr/>
        </p:nvSpPr>
        <p:spPr>
          <a:xfrm>
            <a:off x="8420100" y="3034308"/>
            <a:ext cx="1460500" cy="650081"/>
          </a:xfrm>
          <a:prstGeom prst="rect">
            <a:avLst/>
          </a:prstGeom>
          <a:solidFill>
            <a:srgbClr val="FFFFFF"/>
          </a:solidFill>
          <a:ln>
            <a:noFill/>
          </a:ln>
        </p:spPr>
        <p:txBody>
          <a:bodyPr rtlCol="0" anchor="ctr"/>
          <a:lstStyle/>
          <a:p>
            <a:pPr algn="ctr"/>
          </a:p>
        </p:txBody>
      </p:sp>
      <p:sp>
        <p:nvSpPr>
          <p:cNvPr id="42" name="Rule 41"/>
          <p:cNvSpPr/>
          <p:nvPr/>
        </p:nvSpPr>
        <p:spPr>
          <a:xfrm>
            <a:off x="8420100" y="3034308"/>
            <a:ext cx="6350" cy="650081"/>
          </a:xfrm>
          <a:prstGeom prst="rect">
            <a:avLst/>
          </a:prstGeom>
          <a:solidFill>
            <a:srgbClr val="D3D9DF"/>
          </a:solidFill>
          <a:ln>
            <a:noFill/>
          </a:ln>
        </p:spPr>
        <p:txBody>
          <a:bodyPr rtlCol="0" anchor="ctr"/>
          <a:lstStyle/>
          <a:p>
            <a:pPr algn="ctr"/>
          </a:p>
        </p:txBody>
      </p:sp>
      <p:sp>
        <p:nvSpPr>
          <p:cNvPr id="43" name="Text 42"/>
          <p:cNvSpPr txBox="1"/>
          <p:nvPr/>
        </p:nvSpPr>
        <p:spPr>
          <a:xfrm>
            <a:off x="8451850" y="3058692"/>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44" name="Box 43"/>
          <p:cNvSpPr/>
          <p:nvPr/>
        </p:nvSpPr>
        <p:spPr>
          <a:xfrm>
            <a:off x="7594600" y="3034308"/>
            <a:ext cx="825500" cy="650081"/>
          </a:xfrm>
          <a:prstGeom prst="rect">
            <a:avLst/>
          </a:prstGeom>
          <a:solidFill>
            <a:srgbClr val="FFFFFF"/>
          </a:solidFill>
          <a:ln>
            <a:noFill/>
          </a:ln>
        </p:spPr>
        <p:txBody>
          <a:bodyPr rtlCol="0" anchor="ctr"/>
          <a:lstStyle/>
          <a:p>
            <a:pPr algn="ctr"/>
          </a:p>
        </p:txBody>
      </p:sp>
      <p:sp>
        <p:nvSpPr>
          <p:cNvPr id="45" name="Rule 44"/>
          <p:cNvSpPr/>
          <p:nvPr/>
        </p:nvSpPr>
        <p:spPr>
          <a:xfrm>
            <a:off x="7594600" y="3034308"/>
            <a:ext cx="6350" cy="650081"/>
          </a:xfrm>
          <a:prstGeom prst="rect">
            <a:avLst/>
          </a:prstGeom>
          <a:solidFill>
            <a:srgbClr val="D3D9DF"/>
          </a:solidFill>
          <a:ln>
            <a:noFill/>
          </a:ln>
        </p:spPr>
        <p:txBody>
          <a:bodyPr rtlCol="0" anchor="ctr"/>
          <a:lstStyle/>
          <a:p>
            <a:pPr algn="ctr"/>
          </a:p>
        </p:txBody>
      </p:sp>
      <p:sp>
        <p:nvSpPr>
          <p:cNvPr id="46" name="Text 45"/>
          <p:cNvSpPr txBox="1"/>
          <p:nvPr/>
        </p:nvSpPr>
        <p:spPr>
          <a:xfrm>
            <a:off x="7620000" y="3058692"/>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47" name="Box 46"/>
          <p:cNvSpPr/>
          <p:nvPr/>
        </p:nvSpPr>
        <p:spPr>
          <a:xfrm>
            <a:off x="4883150" y="3034308"/>
            <a:ext cx="2711450" cy="650081"/>
          </a:xfrm>
          <a:prstGeom prst="rect">
            <a:avLst/>
          </a:prstGeom>
          <a:solidFill>
            <a:srgbClr val="FFFFFF"/>
          </a:solidFill>
          <a:ln>
            <a:noFill/>
          </a:ln>
        </p:spPr>
        <p:txBody>
          <a:bodyPr rtlCol="0" anchor="ctr"/>
          <a:lstStyle/>
          <a:p>
            <a:pPr algn="ctr"/>
          </a:p>
        </p:txBody>
      </p:sp>
      <p:sp>
        <p:nvSpPr>
          <p:cNvPr id="48" name="Rule 47"/>
          <p:cNvSpPr/>
          <p:nvPr/>
        </p:nvSpPr>
        <p:spPr>
          <a:xfrm>
            <a:off x="4883150" y="3034308"/>
            <a:ext cx="6350" cy="650081"/>
          </a:xfrm>
          <a:prstGeom prst="rect">
            <a:avLst/>
          </a:prstGeom>
          <a:solidFill>
            <a:srgbClr val="D3D9DF"/>
          </a:solidFill>
          <a:ln>
            <a:noFill/>
          </a:ln>
        </p:spPr>
        <p:txBody>
          <a:bodyPr rtlCol="0" anchor="ctr"/>
          <a:lstStyle/>
          <a:p>
            <a:pPr algn="ctr"/>
          </a:p>
        </p:txBody>
      </p:sp>
      <p:sp>
        <p:nvSpPr>
          <p:cNvPr id="49" name="Rule 48"/>
          <p:cNvSpPr/>
          <p:nvPr/>
        </p:nvSpPr>
        <p:spPr>
          <a:xfrm>
            <a:off x="4883150" y="4066580"/>
            <a:ext cx="6489700" cy="6350"/>
          </a:xfrm>
          <a:prstGeom prst="rect">
            <a:avLst/>
          </a:prstGeom>
          <a:solidFill>
            <a:srgbClr val="D3D9DF"/>
          </a:solidFill>
          <a:ln>
            <a:noFill/>
          </a:ln>
        </p:spPr>
        <p:txBody>
          <a:bodyPr rtlCol="0" anchor="ctr"/>
          <a:lstStyle/>
          <a:p>
            <a:pPr algn="ctr"/>
          </a:p>
        </p:txBody>
      </p:sp>
      <p:sp>
        <p:nvSpPr>
          <p:cNvPr id="50" name="Box 49"/>
          <p:cNvSpPr/>
          <p:nvPr/>
        </p:nvSpPr>
        <p:spPr>
          <a:xfrm>
            <a:off x="9880600" y="3690739"/>
            <a:ext cx="1492250" cy="375841"/>
          </a:xfrm>
          <a:prstGeom prst="rect">
            <a:avLst/>
          </a:prstGeom>
          <a:solidFill>
            <a:srgbClr val="FFFFFF"/>
          </a:solidFill>
          <a:ln>
            <a:noFill/>
          </a:ln>
        </p:spPr>
        <p:txBody>
          <a:bodyPr rtlCol="0" anchor="ctr"/>
          <a:lstStyle/>
          <a:p>
            <a:pPr algn="ctr"/>
          </a:p>
        </p:txBody>
      </p:sp>
      <p:sp>
        <p:nvSpPr>
          <p:cNvPr id="51" name="Rule 50"/>
          <p:cNvSpPr/>
          <p:nvPr/>
        </p:nvSpPr>
        <p:spPr>
          <a:xfrm>
            <a:off x="9880600" y="3690739"/>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9906000" y="371512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hr.s.dosari</a:t>
            </a:r>
          </a:p>
        </p:txBody>
      </p:sp>
      <p:sp>
        <p:nvSpPr>
          <p:cNvPr id="53" name="Box 52"/>
          <p:cNvSpPr/>
          <p:nvPr/>
        </p:nvSpPr>
        <p:spPr>
          <a:xfrm>
            <a:off x="8420100" y="3690739"/>
            <a:ext cx="1460500" cy="375841"/>
          </a:xfrm>
          <a:prstGeom prst="rect">
            <a:avLst/>
          </a:prstGeom>
          <a:solidFill>
            <a:srgbClr val="FFFFFF"/>
          </a:solidFill>
          <a:ln>
            <a:noFill/>
          </a:ln>
        </p:spPr>
        <p:txBody>
          <a:bodyPr rtlCol="0" anchor="ctr"/>
          <a:lstStyle/>
          <a:p>
            <a:pPr algn="ctr"/>
          </a:p>
        </p:txBody>
      </p:sp>
      <p:sp>
        <p:nvSpPr>
          <p:cNvPr id="54" name="Rule 53"/>
          <p:cNvSpPr/>
          <p:nvPr/>
        </p:nvSpPr>
        <p:spPr>
          <a:xfrm>
            <a:off x="8420100" y="3690739"/>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8445500" y="3715123"/>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6" name="Box 55"/>
          <p:cNvSpPr/>
          <p:nvPr/>
        </p:nvSpPr>
        <p:spPr>
          <a:xfrm>
            <a:off x="7594600" y="3690739"/>
            <a:ext cx="825500" cy="375841"/>
          </a:xfrm>
          <a:prstGeom prst="rect">
            <a:avLst/>
          </a:prstGeom>
          <a:solidFill>
            <a:srgbClr val="FFFFFF"/>
          </a:solidFill>
          <a:ln>
            <a:noFill/>
          </a:ln>
        </p:spPr>
        <p:txBody>
          <a:bodyPr rtlCol="0" anchor="ctr"/>
          <a:lstStyle/>
          <a:p>
            <a:pPr algn="ctr"/>
          </a:p>
        </p:txBody>
      </p:sp>
      <p:sp>
        <p:nvSpPr>
          <p:cNvPr id="57" name="Rule 56"/>
          <p:cNvSpPr/>
          <p:nvPr/>
        </p:nvSpPr>
        <p:spPr>
          <a:xfrm>
            <a:off x="7594600" y="3690739"/>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7620000" y="3715123"/>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59" name="Box 58"/>
          <p:cNvSpPr/>
          <p:nvPr/>
        </p:nvSpPr>
        <p:spPr>
          <a:xfrm>
            <a:off x="4883150" y="3690739"/>
            <a:ext cx="2711450" cy="375841"/>
          </a:xfrm>
          <a:prstGeom prst="rect">
            <a:avLst/>
          </a:prstGeom>
          <a:solidFill>
            <a:srgbClr val="FFFFFF"/>
          </a:solidFill>
          <a:ln>
            <a:noFill/>
          </a:ln>
        </p:spPr>
        <p:txBody>
          <a:bodyPr rtlCol="0" anchor="ctr"/>
          <a:lstStyle/>
          <a:p>
            <a:pPr algn="ctr"/>
          </a:p>
        </p:txBody>
      </p:sp>
      <p:sp>
        <p:nvSpPr>
          <p:cNvPr id="60" name="Rule 59"/>
          <p:cNvSpPr/>
          <p:nvPr/>
        </p:nvSpPr>
        <p:spPr>
          <a:xfrm>
            <a:off x="4883150" y="3690739"/>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4908550" y="3715123"/>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انتقل إلى العمليات في فبراير</a:t>
            </a:r>
          </a:p>
        </p:txBody>
      </p:sp>
      <p:sp>
        <p:nvSpPr>
          <p:cNvPr id="62" name="Rule 61"/>
          <p:cNvSpPr/>
          <p:nvPr/>
        </p:nvSpPr>
        <p:spPr>
          <a:xfrm>
            <a:off x="4883150" y="4448770"/>
            <a:ext cx="6489700" cy="6350"/>
          </a:xfrm>
          <a:prstGeom prst="rect">
            <a:avLst/>
          </a:prstGeom>
          <a:solidFill>
            <a:srgbClr val="D3D9DF"/>
          </a:solidFill>
          <a:ln>
            <a:noFill/>
          </a:ln>
        </p:spPr>
        <p:txBody>
          <a:bodyPr rtlCol="0" anchor="ctr"/>
          <a:lstStyle/>
          <a:p>
            <a:pPr algn="ctr"/>
          </a:p>
        </p:txBody>
      </p:sp>
      <p:sp>
        <p:nvSpPr>
          <p:cNvPr id="63" name="Box 62"/>
          <p:cNvSpPr/>
          <p:nvPr/>
        </p:nvSpPr>
        <p:spPr>
          <a:xfrm>
            <a:off x="9880600" y="4072930"/>
            <a:ext cx="1492250" cy="375841"/>
          </a:xfrm>
          <a:prstGeom prst="rect">
            <a:avLst/>
          </a:prstGeom>
          <a:solidFill>
            <a:srgbClr val="FFFFFF"/>
          </a:solidFill>
          <a:ln>
            <a:noFill/>
          </a:ln>
        </p:spPr>
        <p:txBody>
          <a:bodyPr rtlCol="0" anchor="ctr"/>
          <a:lstStyle/>
          <a:p>
            <a:pPr algn="ctr"/>
          </a:p>
        </p:txBody>
      </p:sp>
      <p:sp>
        <p:nvSpPr>
          <p:cNvPr id="64" name="Rule 63"/>
          <p:cNvSpPr/>
          <p:nvPr/>
        </p:nvSpPr>
        <p:spPr>
          <a:xfrm>
            <a:off x="9880600" y="4072930"/>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906000" y="409731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66" name="Box 65"/>
          <p:cNvSpPr/>
          <p:nvPr/>
        </p:nvSpPr>
        <p:spPr>
          <a:xfrm>
            <a:off x="8420100" y="4072930"/>
            <a:ext cx="1460500" cy="375841"/>
          </a:xfrm>
          <a:prstGeom prst="rect">
            <a:avLst/>
          </a:prstGeom>
          <a:solidFill>
            <a:srgbClr val="FFFFFF"/>
          </a:solidFill>
          <a:ln>
            <a:noFill/>
          </a:ln>
        </p:spPr>
        <p:txBody>
          <a:bodyPr rtlCol="0" anchor="ctr"/>
          <a:lstStyle/>
          <a:p>
            <a:pPr algn="ctr"/>
          </a:p>
        </p:txBody>
      </p:sp>
      <p:sp>
        <p:nvSpPr>
          <p:cNvPr id="67" name="Rule 66"/>
          <p:cNvSpPr/>
          <p:nvPr/>
        </p:nvSpPr>
        <p:spPr>
          <a:xfrm>
            <a:off x="8420100" y="4072930"/>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445500" y="4097314"/>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69" name="Box 68"/>
          <p:cNvSpPr/>
          <p:nvPr/>
        </p:nvSpPr>
        <p:spPr>
          <a:xfrm>
            <a:off x="7594600" y="4072930"/>
            <a:ext cx="825500" cy="375841"/>
          </a:xfrm>
          <a:prstGeom prst="rect">
            <a:avLst/>
          </a:prstGeom>
          <a:solidFill>
            <a:srgbClr val="FFFFFF"/>
          </a:solidFill>
          <a:ln>
            <a:noFill/>
          </a:ln>
        </p:spPr>
        <p:txBody>
          <a:bodyPr rtlCol="0" anchor="ctr"/>
          <a:lstStyle/>
          <a:p>
            <a:pPr algn="ctr"/>
          </a:p>
        </p:txBody>
      </p:sp>
      <p:sp>
        <p:nvSpPr>
          <p:cNvPr id="70" name="Rule 69"/>
          <p:cNvSpPr/>
          <p:nvPr/>
        </p:nvSpPr>
        <p:spPr>
          <a:xfrm>
            <a:off x="7594600" y="4072930"/>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7620000" y="409731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72" name="Box 71"/>
          <p:cNvSpPr/>
          <p:nvPr/>
        </p:nvSpPr>
        <p:spPr>
          <a:xfrm>
            <a:off x="4883150" y="4072930"/>
            <a:ext cx="2711450" cy="375841"/>
          </a:xfrm>
          <a:prstGeom prst="rect">
            <a:avLst/>
          </a:prstGeom>
          <a:solidFill>
            <a:srgbClr val="FFFFFF"/>
          </a:solidFill>
          <a:ln>
            <a:noFill/>
          </a:ln>
        </p:spPr>
        <p:txBody>
          <a:bodyPr rtlCol="0" anchor="ctr"/>
          <a:lstStyle/>
          <a:p>
            <a:pPr algn="ctr"/>
          </a:p>
        </p:txBody>
      </p:sp>
      <p:sp>
        <p:nvSpPr>
          <p:cNvPr id="73" name="Rule 72"/>
          <p:cNvSpPr/>
          <p:nvPr/>
        </p:nvSpPr>
        <p:spPr>
          <a:xfrm>
            <a:off x="4883150" y="4072930"/>
            <a:ext cx="6350" cy="375841"/>
          </a:xfrm>
          <a:prstGeom prst="rect">
            <a:avLst/>
          </a:prstGeom>
          <a:solidFill>
            <a:srgbClr val="D3D9DF"/>
          </a:solidFill>
          <a:ln>
            <a:noFill/>
          </a:ln>
        </p:spPr>
        <p:txBody>
          <a:bodyPr rtlCol="0" anchor="ctr"/>
          <a:lstStyle/>
          <a:p>
            <a:pPr algn="ctr"/>
          </a:p>
        </p:txBody>
      </p:sp>
      <p:sp>
        <p:nvSpPr>
          <p:cNvPr id="74" name="Rule 73"/>
          <p:cNvSpPr/>
          <p:nvPr/>
        </p:nvSpPr>
        <p:spPr>
          <a:xfrm>
            <a:off x="4883150" y="5105202"/>
            <a:ext cx="6489700" cy="6350"/>
          </a:xfrm>
          <a:prstGeom prst="rect">
            <a:avLst/>
          </a:prstGeom>
          <a:solidFill>
            <a:srgbClr val="D3D9DF"/>
          </a:solidFill>
          <a:ln>
            <a:noFill/>
          </a:ln>
        </p:spPr>
        <p:txBody>
          <a:bodyPr rtlCol="0" anchor="ctr"/>
          <a:lstStyle/>
          <a:p>
            <a:pPr algn="ctr"/>
          </a:p>
        </p:txBody>
      </p:sp>
      <p:sp>
        <p:nvSpPr>
          <p:cNvPr id="75" name="Box 74"/>
          <p:cNvSpPr/>
          <p:nvPr/>
        </p:nvSpPr>
        <p:spPr>
          <a:xfrm>
            <a:off x="9880600" y="4455120"/>
            <a:ext cx="1492250" cy="650081"/>
          </a:xfrm>
          <a:prstGeom prst="rect">
            <a:avLst/>
          </a:prstGeom>
          <a:solidFill>
            <a:srgbClr val="FFFFFF"/>
          </a:solidFill>
          <a:ln>
            <a:noFill/>
          </a:ln>
        </p:spPr>
        <p:txBody>
          <a:bodyPr rtlCol="0" anchor="ctr"/>
          <a:lstStyle/>
          <a:p>
            <a:pPr algn="ctr"/>
          </a:p>
        </p:txBody>
      </p:sp>
      <p:sp>
        <p:nvSpPr>
          <p:cNvPr id="76" name="Rule 75"/>
          <p:cNvSpPr/>
          <p:nvPr/>
        </p:nvSpPr>
        <p:spPr>
          <a:xfrm>
            <a:off x="9880600" y="4455120"/>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9906000" y="44795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ops.r.shahri</a:t>
            </a:r>
          </a:p>
        </p:txBody>
      </p:sp>
      <p:sp>
        <p:nvSpPr>
          <p:cNvPr id="78" name="Box 77"/>
          <p:cNvSpPr/>
          <p:nvPr/>
        </p:nvSpPr>
        <p:spPr>
          <a:xfrm>
            <a:off x="8420100" y="4455120"/>
            <a:ext cx="1460500" cy="650081"/>
          </a:xfrm>
          <a:prstGeom prst="rect">
            <a:avLst/>
          </a:prstGeom>
          <a:solidFill>
            <a:srgbClr val="FFFFFF"/>
          </a:solidFill>
          <a:ln>
            <a:noFill/>
          </a:ln>
        </p:spPr>
        <p:txBody>
          <a:bodyPr rtlCol="0" anchor="ctr"/>
          <a:lstStyle/>
          <a:p>
            <a:pPr algn="ctr"/>
          </a:p>
        </p:txBody>
      </p:sp>
      <p:sp>
        <p:nvSpPr>
          <p:cNvPr id="79" name="Rule 78"/>
          <p:cNvSpPr/>
          <p:nvPr/>
        </p:nvSpPr>
        <p:spPr>
          <a:xfrm>
            <a:off x="8420100" y="4455120"/>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8451850" y="4479504"/>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بيانات الموظفين</a:t>
            </a:r>
          </a:p>
        </p:txBody>
      </p:sp>
      <p:sp>
        <p:nvSpPr>
          <p:cNvPr id="81" name="Box 80"/>
          <p:cNvSpPr/>
          <p:nvPr/>
        </p:nvSpPr>
        <p:spPr>
          <a:xfrm>
            <a:off x="7594600" y="4455120"/>
            <a:ext cx="825500" cy="650081"/>
          </a:xfrm>
          <a:prstGeom prst="rect">
            <a:avLst/>
          </a:prstGeom>
          <a:solidFill>
            <a:srgbClr val="FFFFFF"/>
          </a:solidFill>
          <a:ln>
            <a:noFill/>
          </a:ln>
        </p:spPr>
        <p:txBody>
          <a:bodyPr rtlCol="0" anchor="ctr"/>
          <a:lstStyle/>
          <a:p>
            <a:pPr algn="ctr"/>
          </a:p>
        </p:txBody>
      </p:sp>
      <p:sp>
        <p:nvSpPr>
          <p:cNvPr id="82" name="Rule 81"/>
          <p:cNvSpPr/>
          <p:nvPr/>
        </p:nvSpPr>
        <p:spPr>
          <a:xfrm>
            <a:off x="7594600" y="4455120"/>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7620000" y="447950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84" name="Box 83"/>
          <p:cNvSpPr/>
          <p:nvPr/>
        </p:nvSpPr>
        <p:spPr>
          <a:xfrm>
            <a:off x="4883150" y="4455120"/>
            <a:ext cx="2711450" cy="650081"/>
          </a:xfrm>
          <a:prstGeom prst="rect">
            <a:avLst/>
          </a:prstGeom>
          <a:solidFill>
            <a:srgbClr val="FFFFFF"/>
          </a:solidFill>
          <a:ln>
            <a:noFill/>
          </a:ln>
        </p:spPr>
        <p:txBody>
          <a:bodyPr rtlCol="0" anchor="ctr"/>
          <a:lstStyle/>
          <a:p>
            <a:pPr algn="ctr"/>
          </a:p>
        </p:txBody>
      </p:sp>
      <p:sp>
        <p:nvSpPr>
          <p:cNvPr id="85" name="Rule 84"/>
          <p:cNvSpPr/>
          <p:nvPr/>
        </p:nvSpPr>
        <p:spPr>
          <a:xfrm>
            <a:off x="4883150" y="4455120"/>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4908550" y="4479504"/>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تحتاجها في عملها الحالي</a:t>
            </a:r>
          </a:p>
        </p:txBody>
      </p:sp>
      <p:sp>
        <p:nvSpPr>
          <p:cNvPr id="87" name="Rule 86"/>
          <p:cNvSpPr/>
          <p:nvPr/>
        </p:nvSpPr>
        <p:spPr>
          <a:xfrm>
            <a:off x="4883150" y="5487392"/>
            <a:ext cx="6489700" cy="6350"/>
          </a:xfrm>
          <a:prstGeom prst="rect">
            <a:avLst/>
          </a:prstGeom>
          <a:solidFill>
            <a:srgbClr val="D3D9DF"/>
          </a:solidFill>
          <a:ln>
            <a:noFill/>
          </a:ln>
        </p:spPr>
        <p:txBody>
          <a:bodyPr rtlCol="0" anchor="ctr"/>
          <a:lstStyle/>
          <a:p>
            <a:pPr algn="ctr"/>
          </a:p>
        </p:txBody>
      </p:sp>
      <p:sp>
        <p:nvSpPr>
          <p:cNvPr id="88" name="Box 87"/>
          <p:cNvSpPr/>
          <p:nvPr/>
        </p:nvSpPr>
        <p:spPr>
          <a:xfrm>
            <a:off x="9880600" y="5111552"/>
            <a:ext cx="1492250" cy="375841"/>
          </a:xfrm>
          <a:prstGeom prst="roundRect">
            <a:avLst>
              <a:gd name="adj" fmla="val 2956"/>
            </a:avLst>
          </a:prstGeom>
          <a:solidFill>
            <a:srgbClr val="FFFFFF"/>
          </a:solidFill>
          <a:ln>
            <a:noFill/>
          </a:ln>
        </p:spPr>
        <p:txBody>
          <a:bodyPr rtlCol="0" anchor="ctr"/>
          <a:lstStyle/>
          <a:p>
            <a:pPr algn="ctr"/>
          </a:p>
        </p:txBody>
      </p:sp>
      <p:sp>
        <p:nvSpPr>
          <p:cNvPr id="89" name="Rule 88"/>
          <p:cNvSpPr/>
          <p:nvPr/>
        </p:nvSpPr>
        <p:spPr>
          <a:xfrm>
            <a:off x="9880600" y="5111552"/>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9906000" y="5135936"/>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hr.temp02</a:t>
            </a:r>
          </a:p>
        </p:txBody>
      </p:sp>
      <p:sp>
        <p:nvSpPr>
          <p:cNvPr id="91" name="Box 90"/>
          <p:cNvSpPr/>
          <p:nvPr/>
        </p:nvSpPr>
        <p:spPr>
          <a:xfrm>
            <a:off x="8420100" y="5111552"/>
            <a:ext cx="1460500" cy="375841"/>
          </a:xfrm>
          <a:prstGeom prst="rect">
            <a:avLst/>
          </a:prstGeom>
          <a:solidFill>
            <a:srgbClr val="FFFFFF"/>
          </a:solidFill>
          <a:ln>
            <a:noFill/>
          </a:ln>
        </p:spPr>
        <p:txBody>
          <a:bodyPr rtlCol="0" anchor="ctr"/>
          <a:lstStyle/>
          <a:p>
            <a:pPr algn="ctr"/>
          </a:p>
        </p:txBody>
      </p:sp>
      <p:sp>
        <p:nvSpPr>
          <p:cNvPr id="92" name="Rule 91"/>
          <p:cNvSpPr/>
          <p:nvPr/>
        </p:nvSpPr>
        <p:spPr>
          <a:xfrm>
            <a:off x="8420100" y="5111552"/>
            <a:ext cx="6350" cy="375841"/>
          </a:xfrm>
          <a:prstGeom prst="rect">
            <a:avLst/>
          </a:prstGeom>
          <a:solidFill>
            <a:srgbClr val="D3D9DF"/>
          </a:solidFill>
          <a:ln>
            <a:noFill/>
          </a:ln>
        </p:spPr>
        <p:txBody>
          <a:bodyPr rtlCol="0" anchor="ctr"/>
          <a:lstStyle/>
          <a:p>
            <a:pPr algn="ctr"/>
          </a:p>
        </p:txBody>
      </p:sp>
      <p:sp>
        <p:nvSpPr>
          <p:cNvPr id="93" name="Text 92"/>
          <p:cNvSpPr txBox="1"/>
          <p:nvPr/>
        </p:nvSpPr>
        <p:spPr>
          <a:xfrm>
            <a:off x="8445500" y="5135936"/>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94" name="Box 93"/>
          <p:cNvSpPr/>
          <p:nvPr/>
        </p:nvSpPr>
        <p:spPr>
          <a:xfrm>
            <a:off x="7594600" y="5111552"/>
            <a:ext cx="825500" cy="375841"/>
          </a:xfrm>
          <a:prstGeom prst="rect">
            <a:avLst/>
          </a:prstGeom>
          <a:solidFill>
            <a:srgbClr val="FFFFFF"/>
          </a:solidFill>
          <a:ln>
            <a:noFill/>
          </a:ln>
        </p:spPr>
        <p:txBody>
          <a:bodyPr rtlCol="0" anchor="ctr"/>
          <a:lstStyle/>
          <a:p>
            <a:pPr algn="ctr"/>
          </a:p>
        </p:txBody>
      </p:sp>
      <p:sp>
        <p:nvSpPr>
          <p:cNvPr id="95" name="Rule 94"/>
          <p:cNvSpPr/>
          <p:nvPr/>
        </p:nvSpPr>
        <p:spPr>
          <a:xfrm>
            <a:off x="7594600" y="5111552"/>
            <a:ext cx="6350" cy="375841"/>
          </a:xfrm>
          <a:prstGeom prst="rect">
            <a:avLst/>
          </a:prstGeom>
          <a:solidFill>
            <a:srgbClr val="D3D9DF"/>
          </a:solidFill>
          <a:ln>
            <a:noFill/>
          </a:ln>
        </p:spPr>
        <p:txBody>
          <a:bodyPr rtlCol="0" anchor="ctr"/>
          <a:lstStyle/>
          <a:p>
            <a:pPr algn="ctr"/>
          </a:p>
        </p:txBody>
      </p:sp>
      <p:sp>
        <p:nvSpPr>
          <p:cNvPr id="96" name="Text 95"/>
          <p:cNvSpPr txBox="1"/>
          <p:nvPr/>
        </p:nvSpPr>
        <p:spPr>
          <a:xfrm>
            <a:off x="7620000" y="5135936"/>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97" name="Box 96"/>
          <p:cNvSpPr/>
          <p:nvPr/>
        </p:nvSpPr>
        <p:spPr>
          <a:xfrm>
            <a:off x="4883150" y="5111552"/>
            <a:ext cx="2711450" cy="375841"/>
          </a:xfrm>
          <a:prstGeom prst="roundRect">
            <a:avLst>
              <a:gd name="adj" fmla="val 2956"/>
            </a:avLst>
          </a:prstGeom>
          <a:solidFill>
            <a:srgbClr val="FFFFFF"/>
          </a:solidFill>
          <a:ln>
            <a:noFill/>
          </a:ln>
        </p:spPr>
        <p:txBody>
          <a:bodyPr rtlCol="0" anchor="ctr"/>
          <a:lstStyle/>
          <a:p>
            <a:pPr algn="ctr"/>
          </a:p>
        </p:txBody>
      </p:sp>
      <p:sp>
        <p:nvSpPr>
          <p:cNvPr id="98" name="Rule 97"/>
          <p:cNvSpPr/>
          <p:nvPr/>
        </p:nvSpPr>
        <p:spPr>
          <a:xfrm>
            <a:off x="4883150" y="5111552"/>
            <a:ext cx="6350" cy="375841"/>
          </a:xfrm>
          <a:prstGeom prst="rect">
            <a:avLst/>
          </a:prstGeom>
          <a:solidFill>
            <a:srgbClr val="D3D9DF"/>
          </a:solidFill>
          <a:ln>
            <a:noFill/>
          </a:ln>
        </p:spPr>
        <p:txBody>
          <a:bodyPr rtlCol="0" anchor="ctr"/>
          <a:lstStyle/>
          <a:p>
            <a:pPr algn="ctr"/>
          </a:p>
        </p:txBody>
      </p:sp>
      <p:sp>
        <p:nvSpPr>
          <p:cNvPr id="99" name="Text 98"/>
          <p:cNvSpPr txBox="1"/>
          <p:nvPr/>
        </p:nvSpPr>
        <p:spPr>
          <a:xfrm>
            <a:off x="4908550" y="5135936"/>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انتهى العقد في مارس</a:t>
            </a:r>
          </a:p>
        </p:txBody>
      </p:sp>
      <p:sp>
        <p:nvSpPr>
          <p:cNvPr id="100" name="Text 99"/>
          <p:cNvSpPr txBox="1"/>
          <p:nvPr/>
        </p:nvSpPr>
        <p:spPr>
          <a:xfrm>
            <a:off x="9165352" y="5565878"/>
            <a:ext cx="221384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تاريخ التصدير:‏ 29 مارس 2026</a:t>
            </a:r>
          </a:p>
        </p:txBody>
      </p:sp>
      <p:sp>
        <p:nvSpPr>
          <p:cNvPr id="101" name="Text 100"/>
          <p:cNvSpPr txBox="1"/>
          <p:nvPr/>
        </p:nvSpPr>
        <p:spPr>
          <a:xfrm>
            <a:off x="7693843" y="5565878"/>
            <a:ext cx="147039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عدد الحسابات:‏ 214</a:t>
            </a:r>
          </a:p>
        </p:txBody>
      </p:sp>
      <p:sp>
        <p:nvSpPr>
          <p:cNvPr id="102" name="Text 101"/>
          <p:cNvSpPr txBox="1"/>
          <p:nvPr/>
        </p:nvSpPr>
        <p:spPr>
          <a:xfrm>
            <a:off x="6856095" y="5565878"/>
            <a:ext cx="78156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للإزالة:‏ 12</a:t>
            </a:r>
          </a:p>
        </p:txBody>
      </p:sp>
      <p:sp>
        <p:nvSpPr>
          <p:cNvPr id="103" name="Text 102"/>
          <p:cNvSpPr txBox="1"/>
          <p:nvPr/>
        </p:nvSpPr>
        <p:spPr>
          <a:xfrm>
            <a:off x="8201374" y="5970988"/>
            <a:ext cx="317782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الاعتماد: أ. منى، مالكة النظام · 8 أبريل 2026</a:t>
            </a:r>
          </a:p>
        </p:txBody>
      </p:sp>
      <p:sp>
        <p:nvSpPr>
          <p:cNvPr id="104" name="Rule 103"/>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05" name="Icon Search 104" descr="icon054.png"/>
          <p:cNvPicPr>
            <a:picLocks noChangeAspect="1"/>
          </p:cNvPicPr>
          <p:nvPr/>
        </p:nvPicPr>
        <p:blipFill>
          <a:blip r:embed="rId2"/>
          <a:stretch>
            <a:fillRect/>
          </a:stretch>
        </p:blipFill>
        <p:spPr>
          <a:xfrm>
            <a:off x="4406900" y="1682055"/>
            <a:ext cx="215900" cy="215900"/>
          </a:xfrm>
          <a:prstGeom prst="rect">
            <a:avLst/>
          </a:prstGeom>
        </p:spPr>
      </p:pic>
      <p:sp>
        <p:nvSpPr>
          <p:cNvPr id="106" name="Text 105"/>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07" name="Text 106"/>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قرار المدير لكل حساب، و12 للإزالة من 214، واعتماد مالكة النظام في 8 أبريل.</a:t>
            </a:r>
          </a:p>
        </p:txBody>
      </p:sp>
      <p:sp>
        <p:nvSpPr>
          <p:cNvPr id="108" name="Rule 107"/>
          <p:cNvSpPr/>
          <p:nvPr/>
        </p:nvSpPr>
        <p:spPr>
          <a:xfrm>
            <a:off x="812800" y="3609777"/>
            <a:ext cx="3810000" cy="6350"/>
          </a:xfrm>
          <a:prstGeom prst="rect">
            <a:avLst/>
          </a:prstGeom>
          <a:solidFill>
            <a:srgbClr val="DED7C8"/>
          </a:solidFill>
          <a:ln>
            <a:noFill/>
          </a:ln>
        </p:spPr>
        <p:txBody>
          <a:bodyPr rtlCol="0" anchor="ctr"/>
          <a:lstStyle/>
          <a:p>
            <a:pPr algn="ctr"/>
          </a:p>
        </p:txBody>
      </p:sp>
      <p:pic>
        <p:nvPicPr>
          <p:cNvPr id="109" name="Icon CheckCircle 108" descr="icon055.png"/>
          <p:cNvPicPr>
            <a:picLocks noChangeAspect="1"/>
          </p:cNvPicPr>
          <p:nvPr/>
        </p:nvPicPr>
        <p:blipFill>
          <a:blip r:embed="rId3"/>
          <a:stretch>
            <a:fillRect/>
          </a:stretch>
        </p:blipFill>
        <p:spPr>
          <a:xfrm>
            <a:off x="4406900" y="2699246"/>
            <a:ext cx="215900" cy="215900"/>
          </a:xfrm>
          <a:prstGeom prst="rect">
            <a:avLst/>
          </a:prstGeom>
        </p:spPr>
      </p:pic>
      <p:sp>
        <p:nvSpPr>
          <p:cNvPr id="110" name="Text 109"/>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11" name="Text 110"/>
          <p:cNvSpPr txBox="1"/>
          <p:nvPr/>
        </p:nvSpPr>
        <p:spPr>
          <a:xfrm>
            <a:off x="812800" y="293316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نُفذت المراجعة واعتُمدت في موعدها:‏ 8 أيام عمل من التصدير، والمهلة 10.</a:t>
            </a:r>
          </a:p>
        </p:txBody>
      </p:sp>
      <p:sp>
        <p:nvSpPr>
          <p:cNvPr id="112" name="Rule 111"/>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13" name="Icon Warning 112" descr="icon056.png"/>
          <p:cNvPicPr>
            <a:picLocks noChangeAspect="1"/>
          </p:cNvPicPr>
          <p:nvPr/>
        </p:nvPicPr>
        <p:blipFill>
          <a:blip r:embed="rId4"/>
          <a:stretch>
            <a:fillRect/>
          </a:stretch>
        </p:blipFill>
        <p:spPr>
          <a:xfrm>
            <a:off x="4406900" y="3716437"/>
            <a:ext cx="215900" cy="215900"/>
          </a:xfrm>
          <a:prstGeom prst="rect">
            <a:avLst/>
          </a:prstGeom>
        </p:spPr>
      </p:pic>
      <p:sp>
        <p:nvSpPr>
          <p:cNvPr id="114" name="Text 113"/>
          <p:cNvSpPr txBox="1"/>
          <p:nvPr/>
        </p:nvSpPr>
        <p:spPr>
          <a:xfrm>
            <a:off x="3200023" y="367099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15" name="Text 114"/>
          <p:cNvSpPr txBox="1"/>
          <p:nvPr/>
        </p:nvSpPr>
        <p:spPr>
          <a:xfrm>
            <a:off x="812800" y="395035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 الإزالات نُفذت. قرار الإزالة ليس إزالة.</a:t>
            </a:r>
          </a:p>
        </p:txBody>
      </p:sp>
      <p:sp>
        <p:nvSpPr>
          <p:cNvPr id="116" name="Rule 115"/>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117" name="Icon Lightbulb 116" descr="icon057.png"/>
          <p:cNvPicPr>
            <a:picLocks noChangeAspect="1"/>
          </p:cNvPicPr>
          <p:nvPr/>
        </p:nvPicPr>
        <p:blipFill>
          <a:blip r:embed="rId5"/>
          <a:stretch>
            <a:fillRect/>
          </a:stretch>
        </p:blipFill>
        <p:spPr>
          <a:xfrm>
            <a:off x="4406900" y="4449167"/>
            <a:ext cx="215900" cy="215900"/>
          </a:xfrm>
          <a:prstGeom prst="rect">
            <a:avLst/>
          </a:prstGeom>
        </p:spPr>
      </p:pic>
      <p:sp>
        <p:nvSpPr>
          <p:cNvPr id="118" name="Text 117"/>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19" name="Text 118"/>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تذاكر الإزالة.</a:t>
            </a:r>
          </a:p>
        </p:txBody>
      </p:sp>
      <p:sp>
        <p:nvSpPr>
          <p:cNvPr id="120" name="Text 1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21" name="Text 1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د3 بالأسئلة الأربعة</a:t>
            </a:r>
          </a:p>
        </p:txBody>
      </p:sp>
      <p:sp>
        <p:nvSpPr>
          <p:cNvPr id="7" name="Box 6"/>
          <p:cNvSpPr/>
          <p:nvPr/>
        </p:nvSpPr>
        <p:spPr>
          <a:xfrm>
            <a:off x="4879975" y="1661120"/>
            <a:ext cx="6496050" cy="3145234"/>
          </a:xfrm>
          <a:prstGeom prst="roundRect">
            <a:avLst>
              <a:gd name="adj" fmla="val 2014"/>
            </a:avLst>
          </a:prstGeom>
          <a:solidFill>
            <a:srgbClr val="FFFFFF"/>
          </a:solidFill>
          <a:ln w="6350">
            <a:solidFill>
              <a:srgbClr val="D6CFBF"/>
            </a:solidFill>
          </a:ln>
        </p:spPr>
        <p:txBody>
          <a:bodyPr rtlCol="0" anchor="ctr"/>
          <a:lstStyle/>
          <a:p>
            <a:pPr algn="ctr"/>
          </a:p>
        </p:txBody>
      </p:sp>
      <p:sp>
        <p:nvSpPr>
          <p:cNvPr id="8" name="Rule 7"/>
          <p:cNvSpPr/>
          <p:nvPr/>
        </p:nvSpPr>
        <p:spPr>
          <a:xfrm>
            <a:off x="4883150" y="2141736"/>
            <a:ext cx="6489700" cy="12700"/>
          </a:xfrm>
          <a:prstGeom prst="rect">
            <a:avLst/>
          </a:prstGeom>
          <a:solidFill>
            <a:srgbClr val="D6CFBF"/>
          </a:solidFill>
          <a:ln>
            <a:noFill/>
          </a:ln>
        </p:spPr>
        <p:txBody>
          <a:bodyPr rtlCol="0" anchor="ctr"/>
          <a:lstStyle/>
          <a:p>
            <a:pPr algn="ctr"/>
          </a:p>
        </p:txBody>
      </p:sp>
      <p:sp>
        <p:nvSpPr>
          <p:cNvPr id="9" name="Text 8"/>
          <p:cNvSpPr txBox="1"/>
          <p:nvPr/>
        </p:nvSpPr>
        <p:spPr>
          <a:xfrm>
            <a:off x="9679968" y="1775869"/>
            <a:ext cx="1515082"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172433"/>
                </a:solidFill>
                <a:latin typeface="Readex Pro"/>
                <a:ea typeface="Readex Pro"/>
                <a:cs typeface="Readex Pro"/>
              </a:rPr>
              <a:t>REQ-2026-0418</a:t>
            </a:r>
          </a:p>
        </p:txBody>
      </p:sp>
      <p:sp>
        <p:nvSpPr>
          <p:cNvPr id="10" name="Text box 9"/>
          <p:cNvSpPr/>
          <p:nvPr/>
        </p:nvSpPr>
        <p:spPr>
          <a:xfrm>
            <a:off x="9172972" y="1778595"/>
            <a:ext cx="530324" cy="248841"/>
          </a:xfrm>
          <a:prstGeom prst="roundRect">
            <a:avLst>
              <a:gd name="adj" fmla="val 50000"/>
            </a:avLst>
          </a:prstGeom>
          <a:solidFill>
            <a:srgbClr val="E9E4D8"/>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a:solidFill>
                  <a:srgbClr val="4E5A66"/>
                </a:solidFill>
                <a:latin typeface="IBM Plex Sans Arabic"/>
                <a:ea typeface="IBM Plex Sans Arabic"/>
                <a:cs typeface="IBM Plex Sans Arabic"/>
              </a:rPr>
              <a:t>مغلقة</a:t>
            </a:r>
          </a:p>
        </p:txBody>
      </p:sp>
      <p:sp>
        <p:nvSpPr>
          <p:cNvPr id="11" name="Text 10"/>
          <p:cNvSpPr txBox="1"/>
          <p:nvPr/>
        </p:nvSpPr>
        <p:spPr>
          <a:xfrm>
            <a:off x="4921607" y="17879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5060950" y="2619177"/>
            <a:ext cx="6134100" cy="6350"/>
          </a:xfrm>
          <a:prstGeom prst="rect">
            <a:avLst/>
          </a:prstGeom>
          <a:solidFill>
            <a:srgbClr val="E6E2D8"/>
          </a:solidFill>
          <a:ln>
            <a:noFill/>
          </a:ln>
        </p:spPr>
        <p:txBody>
          <a:bodyPr rtlCol="0" anchor="ctr"/>
          <a:lstStyle/>
          <a:p>
            <a:pPr algn="ctr"/>
          </a:p>
        </p:txBody>
      </p:sp>
      <p:sp>
        <p:nvSpPr>
          <p:cNvPr id="13" name="Text 12"/>
          <p:cNvSpPr txBox="1"/>
          <p:nvPr/>
        </p:nvSpPr>
        <p:spPr>
          <a:xfrm>
            <a:off x="9549130" y="226772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الطلب</a:t>
            </a:r>
          </a:p>
        </p:txBody>
      </p:sp>
      <p:sp>
        <p:nvSpPr>
          <p:cNvPr id="14" name="Text 13"/>
          <p:cNvSpPr txBox="1"/>
          <p:nvPr/>
        </p:nvSpPr>
        <p:spPr>
          <a:xfrm>
            <a:off x="5060950" y="2267720"/>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 صلاحية «تعديل الرواتب» من hr.s.dosari</a:t>
            </a:r>
          </a:p>
        </p:txBody>
      </p:sp>
      <p:sp>
        <p:nvSpPr>
          <p:cNvPr id="15" name="Rule 14"/>
          <p:cNvSpPr/>
          <p:nvPr/>
        </p:nvSpPr>
        <p:spPr>
          <a:xfrm>
            <a:off x="5060950" y="3026767"/>
            <a:ext cx="6134100" cy="6350"/>
          </a:xfrm>
          <a:prstGeom prst="rect">
            <a:avLst/>
          </a:prstGeom>
          <a:solidFill>
            <a:srgbClr val="E6E2D8"/>
          </a:solidFill>
          <a:ln>
            <a:noFill/>
          </a:ln>
        </p:spPr>
        <p:txBody>
          <a:bodyPr rtlCol="0" anchor="ctr"/>
          <a:lstStyle/>
          <a:p>
            <a:pPr algn="ctr"/>
          </a:p>
        </p:txBody>
      </p:sp>
      <p:sp>
        <p:nvSpPr>
          <p:cNvPr id="16" name="Text 15"/>
          <p:cNvSpPr txBox="1"/>
          <p:nvPr/>
        </p:nvSpPr>
        <p:spPr>
          <a:xfrm>
            <a:off x="9549130" y="267531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المصدر</a:t>
            </a:r>
          </a:p>
        </p:txBody>
      </p:sp>
      <p:sp>
        <p:nvSpPr>
          <p:cNvPr id="17" name="Text 16"/>
          <p:cNvSpPr txBox="1"/>
          <p:nvPr/>
        </p:nvSpPr>
        <p:spPr>
          <a:xfrm>
            <a:off x="5060950" y="2675311"/>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مراجعة الربع الأول المعتمدة</a:t>
            </a:r>
          </a:p>
        </p:txBody>
      </p:sp>
      <p:sp>
        <p:nvSpPr>
          <p:cNvPr id="18" name="Rule 17"/>
          <p:cNvSpPr/>
          <p:nvPr/>
        </p:nvSpPr>
        <p:spPr>
          <a:xfrm>
            <a:off x="5060950" y="3434358"/>
            <a:ext cx="6134100" cy="6350"/>
          </a:xfrm>
          <a:prstGeom prst="rect">
            <a:avLst/>
          </a:prstGeom>
          <a:solidFill>
            <a:srgbClr val="E6E2D8"/>
          </a:solidFill>
          <a:ln>
            <a:noFill/>
          </a:ln>
        </p:spPr>
        <p:txBody>
          <a:bodyPr rtlCol="0" anchor="ctr"/>
          <a:lstStyle/>
          <a:p>
            <a:pPr algn="ctr"/>
          </a:p>
        </p:txBody>
      </p:sp>
      <p:sp>
        <p:nvSpPr>
          <p:cNvPr id="19" name="Text 18"/>
          <p:cNvSpPr txBox="1"/>
          <p:nvPr/>
        </p:nvSpPr>
        <p:spPr>
          <a:xfrm>
            <a:off x="9549130" y="308290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المنفّذ</a:t>
            </a:r>
          </a:p>
        </p:txBody>
      </p:sp>
      <p:sp>
        <p:nvSpPr>
          <p:cNvPr id="20" name="Text 19"/>
          <p:cNvSpPr txBox="1"/>
          <p:nvPr/>
        </p:nvSpPr>
        <p:spPr>
          <a:xfrm>
            <a:off x="5060950" y="3082901"/>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تقنية المعلومات</a:t>
            </a:r>
          </a:p>
        </p:txBody>
      </p:sp>
      <p:sp>
        <p:nvSpPr>
          <p:cNvPr id="21" name="Rule 20"/>
          <p:cNvSpPr/>
          <p:nvPr/>
        </p:nvSpPr>
        <p:spPr>
          <a:xfrm>
            <a:off x="5060950" y="3841948"/>
            <a:ext cx="6134100" cy="6350"/>
          </a:xfrm>
          <a:prstGeom prst="rect">
            <a:avLst/>
          </a:prstGeom>
          <a:solidFill>
            <a:srgbClr val="E6E2D8"/>
          </a:solidFill>
          <a:ln>
            <a:noFill/>
          </a:ln>
        </p:spPr>
        <p:txBody>
          <a:bodyPr rtlCol="0" anchor="ctr"/>
          <a:lstStyle/>
          <a:p>
            <a:pPr algn="ctr"/>
          </a:p>
        </p:txBody>
      </p:sp>
      <p:sp>
        <p:nvSpPr>
          <p:cNvPr id="22" name="Text 21"/>
          <p:cNvSpPr txBox="1"/>
          <p:nvPr/>
        </p:nvSpPr>
        <p:spPr>
          <a:xfrm>
            <a:off x="9549130" y="349049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فُتح</a:t>
            </a:r>
          </a:p>
        </p:txBody>
      </p:sp>
      <p:sp>
        <p:nvSpPr>
          <p:cNvPr id="23" name="Text 22"/>
          <p:cNvSpPr txBox="1"/>
          <p:nvPr/>
        </p:nvSpPr>
        <p:spPr>
          <a:xfrm>
            <a:off x="5060950" y="3490492"/>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 أبريل 2026</a:t>
            </a:r>
          </a:p>
        </p:txBody>
      </p:sp>
      <p:sp>
        <p:nvSpPr>
          <p:cNvPr id="24" name="Rule 23"/>
          <p:cNvSpPr/>
          <p:nvPr/>
        </p:nvSpPr>
        <p:spPr>
          <a:xfrm>
            <a:off x="5060950" y="4249539"/>
            <a:ext cx="6134100" cy="6350"/>
          </a:xfrm>
          <a:prstGeom prst="rect">
            <a:avLst/>
          </a:prstGeom>
          <a:solidFill>
            <a:srgbClr val="E6E2D8"/>
          </a:solidFill>
          <a:ln>
            <a:noFill/>
          </a:ln>
        </p:spPr>
        <p:txBody>
          <a:bodyPr rtlCol="0" anchor="ctr"/>
          <a:lstStyle/>
          <a:p>
            <a:pPr algn="ctr"/>
          </a:p>
        </p:txBody>
      </p:sp>
      <p:sp>
        <p:nvSpPr>
          <p:cNvPr id="25" name="Text 24"/>
          <p:cNvSpPr txBox="1"/>
          <p:nvPr/>
        </p:nvSpPr>
        <p:spPr>
          <a:xfrm>
            <a:off x="9549130" y="3898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أُغلق</a:t>
            </a:r>
          </a:p>
        </p:txBody>
      </p:sp>
      <p:sp>
        <p:nvSpPr>
          <p:cNvPr id="26" name="Text 25"/>
          <p:cNvSpPr txBox="1"/>
          <p:nvPr/>
        </p:nvSpPr>
        <p:spPr>
          <a:xfrm>
            <a:off x="5060950" y="3898082"/>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20 مايو 2026</a:t>
            </a:r>
          </a:p>
        </p:txBody>
      </p:sp>
      <p:sp>
        <p:nvSpPr>
          <p:cNvPr id="27" name="Rule 26"/>
          <p:cNvSpPr/>
          <p:nvPr/>
        </p:nvSpPr>
        <p:spPr>
          <a:xfrm>
            <a:off x="5060950" y="4657130"/>
            <a:ext cx="6134100" cy="6350"/>
          </a:xfrm>
          <a:prstGeom prst="rect">
            <a:avLst/>
          </a:prstGeom>
          <a:solidFill>
            <a:srgbClr val="E6E2D8"/>
          </a:solidFill>
          <a:ln>
            <a:noFill/>
          </a:ln>
        </p:spPr>
        <p:txBody>
          <a:bodyPr rtlCol="0" anchor="ctr"/>
          <a:lstStyle/>
          <a:p>
            <a:pPr algn="ctr"/>
          </a:p>
        </p:txBody>
      </p:sp>
      <p:sp>
        <p:nvSpPr>
          <p:cNvPr id="28" name="Text 27"/>
          <p:cNvSpPr txBox="1"/>
          <p:nvPr/>
        </p:nvSpPr>
        <p:spPr>
          <a:xfrm>
            <a:off x="9549130" y="430567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ملاحظة الإغلاق</a:t>
            </a:r>
          </a:p>
        </p:txBody>
      </p:sp>
      <p:sp>
        <p:nvSpPr>
          <p:cNvPr id="29" name="Text 28"/>
          <p:cNvSpPr txBox="1"/>
          <p:nvPr/>
        </p:nvSpPr>
        <p:spPr>
          <a:xfrm>
            <a:off x="5060950" y="4305673"/>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تمت الإزالة.</a:t>
            </a:r>
          </a:p>
        </p:txBody>
      </p:sp>
      <p:sp>
        <p:nvSpPr>
          <p:cNvPr id="30" name="Rule 2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31" name="Icon Search 30" descr="icon054.png"/>
          <p:cNvPicPr>
            <a:picLocks noChangeAspect="1"/>
          </p:cNvPicPr>
          <p:nvPr/>
        </p:nvPicPr>
        <p:blipFill>
          <a:blip r:embed="rId2"/>
          <a:stretch>
            <a:fillRect/>
          </a:stretch>
        </p:blipFill>
        <p:spPr>
          <a:xfrm>
            <a:off x="4406900" y="1682055"/>
            <a:ext cx="215900" cy="215900"/>
          </a:xfrm>
          <a:prstGeom prst="rect">
            <a:avLst/>
          </a:prstGeom>
        </p:spPr>
      </p:pic>
      <p:sp>
        <p:nvSpPr>
          <p:cNvPr id="32" name="Text 3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طلب إزالة «تعديل الرواتب» من hr.s.dosari: فُتح 8 أبريل، وأُغلق 20 مايو.</a:t>
            </a:r>
          </a:p>
        </p:txBody>
      </p:sp>
      <p:sp>
        <p:nvSpPr>
          <p:cNvPr id="34" name="Rule 33"/>
          <p:cNvSpPr/>
          <p:nvPr/>
        </p:nvSpPr>
        <p:spPr>
          <a:xfrm>
            <a:off x="812800" y="3609777"/>
            <a:ext cx="3810000" cy="6350"/>
          </a:xfrm>
          <a:prstGeom prst="rect">
            <a:avLst/>
          </a:prstGeom>
          <a:solidFill>
            <a:srgbClr val="DED7C8"/>
          </a:solidFill>
          <a:ln>
            <a:noFill/>
          </a:ln>
        </p:spPr>
        <p:txBody>
          <a:bodyPr rtlCol="0" anchor="ctr"/>
          <a:lstStyle/>
          <a:p>
            <a:pPr algn="ctr"/>
          </a:p>
        </p:txBody>
      </p:sp>
      <p:pic>
        <p:nvPicPr>
          <p:cNvPr id="35" name="Icon CheckCircle 34" descr="icon055.png"/>
          <p:cNvPicPr>
            <a:picLocks noChangeAspect="1"/>
          </p:cNvPicPr>
          <p:nvPr/>
        </p:nvPicPr>
        <p:blipFill>
          <a:blip r:embed="rId3"/>
          <a:stretch>
            <a:fillRect/>
          </a:stretch>
        </p:blipFill>
        <p:spPr>
          <a:xfrm>
            <a:off x="4406900" y="2699246"/>
            <a:ext cx="215900" cy="215900"/>
          </a:xfrm>
          <a:prstGeom prst="rect">
            <a:avLst/>
          </a:prstGeom>
        </p:spPr>
      </p:pic>
      <p:sp>
        <p:nvSpPr>
          <p:cNvPr id="36" name="Text 3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37" name="Text 36"/>
          <p:cNvSpPr txBox="1"/>
          <p:nvPr/>
        </p:nvSpPr>
        <p:spPr>
          <a:xfrm>
            <a:off x="812800" y="293316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نُفذت الإزالة بعد نحو 6 أسابيع، والمهلة تنتهي 15 أبريل.</a:t>
            </a:r>
          </a:p>
        </p:txBody>
      </p:sp>
      <p:sp>
        <p:nvSpPr>
          <p:cNvPr id="38" name="Rule 3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39" name="Icon Warning 38" descr="icon056.png"/>
          <p:cNvPicPr>
            <a:picLocks noChangeAspect="1"/>
          </p:cNvPicPr>
          <p:nvPr/>
        </p:nvPicPr>
        <p:blipFill>
          <a:blip r:embed="rId4"/>
          <a:stretch>
            <a:fillRect/>
          </a:stretch>
        </p:blipFill>
        <p:spPr>
          <a:xfrm>
            <a:off x="4406900" y="3716437"/>
            <a:ext cx="215900" cy="215900"/>
          </a:xfrm>
          <a:prstGeom prst="rect">
            <a:avLst/>
          </a:prstGeom>
        </p:spPr>
      </p:pic>
      <p:sp>
        <p:nvSpPr>
          <p:cNvPr id="40" name="Text 39"/>
          <p:cNvSpPr txBox="1"/>
          <p:nvPr/>
        </p:nvSpPr>
        <p:spPr>
          <a:xfrm>
            <a:off x="3200023" y="367099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41" name="Text 40"/>
          <p:cNvSpPr txBox="1"/>
          <p:nvPr/>
        </p:nvSpPr>
        <p:spPr>
          <a:xfrm>
            <a:off x="812800" y="395035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التأخير. ملاحظة الإغلاق لا تذكره.</a:t>
            </a:r>
          </a:p>
        </p:txBody>
      </p:sp>
      <p:sp>
        <p:nvSpPr>
          <p:cNvPr id="42" name="Rule 41"/>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43" name="Icon Lightbulb 42" descr="icon057.png"/>
          <p:cNvPicPr>
            <a:picLocks noChangeAspect="1"/>
          </p:cNvPicPr>
          <p:nvPr/>
        </p:nvPicPr>
        <p:blipFill>
          <a:blip r:embed="rId5"/>
          <a:stretch>
            <a:fillRect/>
          </a:stretch>
        </p:blipFill>
        <p:spPr>
          <a:xfrm>
            <a:off x="4406900" y="4449167"/>
            <a:ext cx="215900" cy="215900"/>
          </a:xfrm>
          <a:prstGeom prst="rect">
            <a:avLst/>
          </a:prstGeom>
        </p:spPr>
      </p:pic>
      <p:sp>
        <p:nvSpPr>
          <p:cNvPr id="44" name="Text 4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45" name="Text 44"/>
          <p:cNvSpPr txBox="1"/>
          <p:nvPr/>
        </p:nvSpPr>
        <p:spPr>
          <a:xfrm>
            <a:off x="812800" y="468308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تأخر الإزالات الثلاث، من تذاكرها أو من تقنية المعلومات.</a:t>
            </a:r>
          </a:p>
        </p:txBody>
      </p:sp>
      <p:sp>
        <p:nvSpPr>
          <p:cNvPr id="46" name="Text 4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47" name="Text 4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د5 بالأسئلة الأربعة</a:t>
            </a:r>
          </a:p>
        </p:txBody>
      </p:sp>
      <p:sp>
        <p:nvSpPr>
          <p:cNvPr id="7" name="Box 6"/>
          <p:cNvSpPr/>
          <p:nvPr/>
        </p:nvSpPr>
        <p:spPr>
          <a:xfrm>
            <a:off x="4879975" y="1661120"/>
            <a:ext cx="6496050" cy="3179366"/>
          </a:xfrm>
          <a:prstGeom prst="roundRect">
            <a:avLst>
              <a:gd name="adj" fmla="val 1594"/>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7289002" y="1711793"/>
            <a:ext cx="398224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تصدير الحسابات النشطة · 2 يوليو 2026 · مقتطف 5 من 221</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371527"/>
            <a:ext cx="6489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37584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37584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769350" y="1995686"/>
            <a:ext cx="1111250" cy="375841"/>
          </a:xfrm>
          <a:prstGeom prst="rect">
            <a:avLst/>
          </a:prstGeom>
          <a:solidFill>
            <a:srgbClr val="F7F8FA"/>
          </a:solidFill>
          <a:ln>
            <a:noFill/>
          </a:ln>
        </p:spPr>
        <p:txBody>
          <a:bodyPr rtlCol="0" anchor="ctr"/>
          <a:lstStyle/>
          <a:p>
            <a:pPr algn="ctr"/>
          </a:p>
        </p:txBody>
      </p:sp>
      <p:sp>
        <p:nvSpPr>
          <p:cNvPr id="17" name="Rule 16"/>
          <p:cNvSpPr/>
          <p:nvPr/>
        </p:nvSpPr>
        <p:spPr>
          <a:xfrm>
            <a:off x="8769350" y="1995686"/>
            <a:ext cx="6350" cy="375841"/>
          </a:xfrm>
          <a:prstGeom prst="rect">
            <a:avLst/>
          </a:prstGeom>
          <a:solidFill>
            <a:srgbClr val="D3D9DF"/>
          </a:solidFill>
          <a:ln>
            <a:noFill/>
          </a:ln>
        </p:spPr>
        <p:txBody>
          <a:bodyPr rtlCol="0" anchor="ctr"/>
          <a:lstStyle/>
          <a:p>
            <a:pPr algn="ctr"/>
          </a:p>
        </p:txBody>
      </p:sp>
      <p:sp>
        <p:nvSpPr>
          <p:cNvPr id="18" name="Text 17"/>
          <p:cNvSpPr txBox="1"/>
          <p:nvPr/>
        </p:nvSpPr>
        <p:spPr>
          <a:xfrm>
            <a:off x="8794750" y="2020070"/>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الاسم</a:t>
            </a:r>
          </a:p>
        </p:txBody>
      </p:sp>
      <p:sp>
        <p:nvSpPr>
          <p:cNvPr id="19" name="Box 18"/>
          <p:cNvSpPr/>
          <p:nvPr/>
        </p:nvSpPr>
        <p:spPr>
          <a:xfrm>
            <a:off x="7435850" y="1995686"/>
            <a:ext cx="1333500" cy="375841"/>
          </a:xfrm>
          <a:prstGeom prst="rect">
            <a:avLst/>
          </a:prstGeom>
          <a:solidFill>
            <a:srgbClr val="F7F8FA"/>
          </a:solidFill>
          <a:ln>
            <a:noFill/>
          </a:ln>
        </p:spPr>
        <p:txBody>
          <a:bodyPr rtlCol="0" anchor="ctr"/>
          <a:lstStyle/>
          <a:p>
            <a:pPr algn="ctr"/>
          </a:p>
        </p:txBody>
      </p:sp>
      <p:sp>
        <p:nvSpPr>
          <p:cNvPr id="20" name="Rule 19"/>
          <p:cNvSpPr/>
          <p:nvPr/>
        </p:nvSpPr>
        <p:spPr>
          <a:xfrm>
            <a:off x="7435850" y="1995686"/>
            <a:ext cx="6350" cy="375841"/>
          </a:xfrm>
          <a:prstGeom prst="rect">
            <a:avLst/>
          </a:prstGeom>
          <a:solidFill>
            <a:srgbClr val="D3D9DF"/>
          </a:solidFill>
          <a:ln>
            <a:noFill/>
          </a:ln>
        </p:spPr>
        <p:txBody>
          <a:bodyPr rtlCol="0" anchor="ctr"/>
          <a:lstStyle/>
          <a:p>
            <a:pPr algn="ctr"/>
          </a:p>
        </p:txBody>
      </p:sp>
      <p:sp>
        <p:nvSpPr>
          <p:cNvPr id="21" name="Text 20"/>
          <p:cNvSpPr txBox="1"/>
          <p:nvPr/>
        </p:nvSpPr>
        <p:spPr>
          <a:xfrm>
            <a:off x="7461250" y="2020070"/>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a:t>
            </a:r>
          </a:p>
        </p:txBody>
      </p:sp>
      <p:sp>
        <p:nvSpPr>
          <p:cNvPr id="22" name="Box 21"/>
          <p:cNvSpPr/>
          <p:nvPr/>
        </p:nvSpPr>
        <p:spPr>
          <a:xfrm>
            <a:off x="6724650" y="1995686"/>
            <a:ext cx="711200" cy="375841"/>
          </a:xfrm>
          <a:prstGeom prst="rect">
            <a:avLst/>
          </a:prstGeom>
          <a:solidFill>
            <a:srgbClr val="F7F8FA"/>
          </a:solidFill>
          <a:ln>
            <a:noFill/>
          </a:ln>
        </p:spPr>
        <p:txBody>
          <a:bodyPr rtlCol="0" anchor="ctr"/>
          <a:lstStyle/>
          <a:p>
            <a:pPr algn="ctr"/>
          </a:p>
        </p:txBody>
      </p:sp>
      <p:sp>
        <p:nvSpPr>
          <p:cNvPr id="23" name="Rule 22"/>
          <p:cNvSpPr/>
          <p:nvPr/>
        </p:nvSpPr>
        <p:spPr>
          <a:xfrm>
            <a:off x="6724650" y="1995686"/>
            <a:ext cx="6350" cy="375841"/>
          </a:xfrm>
          <a:prstGeom prst="rect">
            <a:avLst/>
          </a:prstGeom>
          <a:solidFill>
            <a:srgbClr val="D3D9DF"/>
          </a:solidFill>
          <a:ln>
            <a:noFill/>
          </a:ln>
        </p:spPr>
        <p:txBody>
          <a:bodyPr rtlCol="0" anchor="ctr"/>
          <a:lstStyle/>
          <a:p>
            <a:pPr algn="ctr"/>
          </a:p>
        </p:txBody>
      </p:sp>
      <p:sp>
        <p:nvSpPr>
          <p:cNvPr id="24" name="Text 23"/>
          <p:cNvSpPr txBox="1"/>
          <p:nvPr/>
        </p:nvSpPr>
        <p:spPr>
          <a:xfrm>
            <a:off x="6750050" y="2020070"/>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4883150" y="1995686"/>
            <a:ext cx="1841500" cy="375841"/>
          </a:xfrm>
          <a:prstGeom prst="rect">
            <a:avLst/>
          </a:prstGeom>
          <a:solidFill>
            <a:srgbClr val="F7F8FA"/>
          </a:solidFill>
          <a:ln>
            <a:noFill/>
          </a:ln>
        </p:spPr>
        <p:txBody>
          <a:bodyPr rtlCol="0" anchor="ctr"/>
          <a:lstStyle/>
          <a:p>
            <a:pPr algn="ctr"/>
          </a:p>
        </p:txBody>
      </p:sp>
      <p:sp>
        <p:nvSpPr>
          <p:cNvPr id="26" name="Rule 25"/>
          <p:cNvSpPr/>
          <p:nvPr/>
        </p:nvSpPr>
        <p:spPr>
          <a:xfrm>
            <a:off x="4883150" y="1995686"/>
            <a:ext cx="6350" cy="375841"/>
          </a:xfrm>
          <a:prstGeom prst="rect">
            <a:avLst/>
          </a:prstGeom>
          <a:solidFill>
            <a:srgbClr val="D3D9DF"/>
          </a:solidFill>
          <a:ln>
            <a:noFill/>
          </a:ln>
        </p:spPr>
        <p:txBody>
          <a:bodyPr rtlCol="0" anchor="ctr"/>
          <a:lstStyle/>
          <a:p>
            <a:pPr algn="ctr"/>
          </a:p>
        </p:txBody>
      </p:sp>
      <p:sp>
        <p:nvSpPr>
          <p:cNvPr id="27" name="Text 26"/>
          <p:cNvSpPr txBox="1"/>
          <p:nvPr/>
        </p:nvSpPr>
        <p:spPr>
          <a:xfrm>
            <a:off x="4908550" y="2020070"/>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دخول</a:t>
            </a:r>
          </a:p>
        </p:txBody>
      </p:sp>
      <p:sp>
        <p:nvSpPr>
          <p:cNvPr id="28" name="Rule 27"/>
          <p:cNvSpPr/>
          <p:nvPr/>
        </p:nvSpPr>
        <p:spPr>
          <a:xfrm>
            <a:off x="4883150" y="2753717"/>
            <a:ext cx="6489700" cy="6350"/>
          </a:xfrm>
          <a:prstGeom prst="rect">
            <a:avLst/>
          </a:prstGeom>
          <a:solidFill>
            <a:srgbClr val="D3D9DF"/>
          </a:solidFill>
          <a:ln>
            <a:noFill/>
          </a:ln>
        </p:spPr>
        <p:txBody>
          <a:bodyPr rtlCol="0" anchor="ctr"/>
          <a:lstStyle/>
          <a:p>
            <a:pPr algn="ctr"/>
          </a:p>
        </p:txBody>
      </p:sp>
      <p:sp>
        <p:nvSpPr>
          <p:cNvPr id="29" name="Box 28"/>
          <p:cNvSpPr/>
          <p:nvPr/>
        </p:nvSpPr>
        <p:spPr>
          <a:xfrm>
            <a:off x="9880600" y="2377877"/>
            <a:ext cx="1492250" cy="375841"/>
          </a:xfrm>
          <a:prstGeom prst="rect">
            <a:avLst/>
          </a:prstGeom>
          <a:solidFill>
            <a:srgbClr val="FFFFFF"/>
          </a:solidFill>
          <a:ln>
            <a:noFill/>
          </a:ln>
        </p:spPr>
        <p:txBody>
          <a:bodyPr rtlCol="0" anchor="ctr"/>
          <a:lstStyle/>
          <a:p>
            <a:pPr algn="ctr"/>
          </a:p>
        </p:txBody>
      </p:sp>
      <p:sp>
        <p:nvSpPr>
          <p:cNvPr id="30" name="Rule 29"/>
          <p:cNvSpPr/>
          <p:nvPr/>
        </p:nvSpPr>
        <p:spPr>
          <a:xfrm>
            <a:off x="9880600" y="237787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9906000" y="240226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32" name="Box 31"/>
          <p:cNvSpPr/>
          <p:nvPr/>
        </p:nvSpPr>
        <p:spPr>
          <a:xfrm>
            <a:off x="8769350" y="2377877"/>
            <a:ext cx="1111250" cy="375841"/>
          </a:xfrm>
          <a:prstGeom prst="rect">
            <a:avLst/>
          </a:prstGeom>
          <a:solidFill>
            <a:srgbClr val="FFFFFF"/>
          </a:solidFill>
          <a:ln>
            <a:noFill/>
          </a:ln>
        </p:spPr>
        <p:txBody>
          <a:bodyPr rtlCol="0" anchor="ctr"/>
          <a:lstStyle/>
          <a:p>
            <a:pPr algn="ctr"/>
          </a:p>
        </p:txBody>
      </p:sp>
      <p:sp>
        <p:nvSpPr>
          <p:cNvPr id="33" name="Rule 32"/>
          <p:cNvSpPr/>
          <p:nvPr/>
        </p:nvSpPr>
        <p:spPr>
          <a:xfrm>
            <a:off x="8769350" y="237787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8794750" y="240226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نوال الحربي</a:t>
            </a:r>
          </a:p>
        </p:txBody>
      </p:sp>
      <p:sp>
        <p:nvSpPr>
          <p:cNvPr id="35" name="Box 34"/>
          <p:cNvSpPr/>
          <p:nvPr/>
        </p:nvSpPr>
        <p:spPr>
          <a:xfrm>
            <a:off x="7435850" y="2377877"/>
            <a:ext cx="1333500" cy="375841"/>
          </a:xfrm>
          <a:prstGeom prst="rect">
            <a:avLst/>
          </a:prstGeom>
          <a:solidFill>
            <a:srgbClr val="FFFFFF"/>
          </a:solidFill>
          <a:ln>
            <a:noFill/>
          </a:ln>
        </p:spPr>
        <p:txBody>
          <a:bodyPr rtlCol="0" anchor="ctr"/>
          <a:lstStyle/>
          <a:p>
            <a:pPr algn="ctr"/>
          </a:p>
        </p:txBody>
      </p:sp>
      <p:sp>
        <p:nvSpPr>
          <p:cNvPr id="36" name="Rule 35"/>
          <p:cNvSpPr/>
          <p:nvPr/>
        </p:nvSpPr>
        <p:spPr>
          <a:xfrm>
            <a:off x="7435850" y="2377877"/>
            <a:ext cx="6350" cy="375841"/>
          </a:xfrm>
          <a:prstGeom prst="rect">
            <a:avLst/>
          </a:prstGeom>
          <a:solidFill>
            <a:srgbClr val="D3D9DF"/>
          </a:solidFill>
          <a:ln>
            <a:noFill/>
          </a:ln>
        </p:spPr>
        <p:txBody>
          <a:bodyPr rtlCol="0" anchor="ctr"/>
          <a:lstStyle/>
          <a:p>
            <a:pPr algn="ctr"/>
          </a:p>
        </p:txBody>
      </p:sp>
      <p:sp>
        <p:nvSpPr>
          <p:cNvPr id="37" name="Text 36"/>
          <p:cNvSpPr txBox="1"/>
          <p:nvPr/>
        </p:nvSpPr>
        <p:spPr>
          <a:xfrm>
            <a:off x="7461250" y="240226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8" name="Box 37"/>
          <p:cNvSpPr/>
          <p:nvPr/>
        </p:nvSpPr>
        <p:spPr>
          <a:xfrm>
            <a:off x="6724650" y="2377877"/>
            <a:ext cx="711200" cy="375841"/>
          </a:xfrm>
          <a:prstGeom prst="rect">
            <a:avLst/>
          </a:prstGeom>
          <a:solidFill>
            <a:srgbClr val="FFFFFF"/>
          </a:solidFill>
          <a:ln>
            <a:noFill/>
          </a:ln>
        </p:spPr>
        <p:txBody>
          <a:bodyPr rtlCol="0" anchor="ctr"/>
          <a:lstStyle/>
          <a:p>
            <a:pPr algn="ctr"/>
          </a:p>
        </p:txBody>
      </p:sp>
      <p:sp>
        <p:nvSpPr>
          <p:cNvPr id="39" name="Rule 38"/>
          <p:cNvSpPr/>
          <p:nvPr/>
        </p:nvSpPr>
        <p:spPr>
          <a:xfrm>
            <a:off x="6724650" y="2377877"/>
            <a:ext cx="6350" cy="375841"/>
          </a:xfrm>
          <a:prstGeom prst="rect">
            <a:avLst/>
          </a:prstGeom>
          <a:solidFill>
            <a:srgbClr val="D3D9DF"/>
          </a:solidFill>
          <a:ln>
            <a:noFill/>
          </a:ln>
        </p:spPr>
        <p:txBody>
          <a:bodyPr rtlCol="0" anchor="ctr"/>
          <a:lstStyle/>
          <a:p>
            <a:pPr algn="ctr"/>
          </a:p>
        </p:txBody>
      </p:sp>
      <p:sp>
        <p:nvSpPr>
          <p:cNvPr id="40" name="Text 39"/>
          <p:cNvSpPr txBox="1"/>
          <p:nvPr/>
        </p:nvSpPr>
        <p:spPr>
          <a:xfrm>
            <a:off x="6750050" y="240226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41" name="Box 40"/>
          <p:cNvSpPr/>
          <p:nvPr/>
        </p:nvSpPr>
        <p:spPr>
          <a:xfrm>
            <a:off x="4883150" y="2377877"/>
            <a:ext cx="1841500" cy="375841"/>
          </a:xfrm>
          <a:prstGeom prst="rect">
            <a:avLst/>
          </a:prstGeom>
          <a:solidFill>
            <a:srgbClr val="FFFFFF"/>
          </a:solidFill>
          <a:ln>
            <a:noFill/>
          </a:ln>
        </p:spPr>
        <p:txBody>
          <a:bodyPr rtlCol="0" anchor="ctr"/>
          <a:lstStyle/>
          <a:p>
            <a:pPr algn="ctr"/>
          </a:p>
        </p:txBody>
      </p:sp>
      <p:sp>
        <p:nvSpPr>
          <p:cNvPr id="42" name="Rule 41"/>
          <p:cNvSpPr/>
          <p:nvPr/>
        </p:nvSpPr>
        <p:spPr>
          <a:xfrm>
            <a:off x="4883150" y="2377877"/>
            <a:ext cx="6350" cy="375841"/>
          </a:xfrm>
          <a:prstGeom prst="rect">
            <a:avLst/>
          </a:prstGeom>
          <a:solidFill>
            <a:srgbClr val="D3D9DF"/>
          </a:solidFill>
          <a:ln>
            <a:noFill/>
          </a:ln>
        </p:spPr>
        <p:txBody>
          <a:bodyPr rtlCol="0" anchor="ctr"/>
          <a:lstStyle/>
          <a:p>
            <a:pPr algn="ctr"/>
          </a:p>
        </p:txBody>
      </p:sp>
      <p:sp>
        <p:nvSpPr>
          <p:cNvPr id="43" name="Text 42"/>
          <p:cNvSpPr txBox="1"/>
          <p:nvPr/>
        </p:nvSpPr>
        <p:spPr>
          <a:xfrm>
            <a:off x="4908550" y="2402261"/>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 يوليو 2026</a:t>
            </a:r>
          </a:p>
        </p:txBody>
      </p:sp>
      <p:sp>
        <p:nvSpPr>
          <p:cNvPr id="44" name="Rule 43"/>
          <p:cNvSpPr/>
          <p:nvPr/>
        </p:nvSpPr>
        <p:spPr>
          <a:xfrm>
            <a:off x="4883150" y="3135908"/>
            <a:ext cx="6489700" cy="6350"/>
          </a:xfrm>
          <a:prstGeom prst="rect">
            <a:avLst/>
          </a:prstGeom>
          <a:solidFill>
            <a:srgbClr val="D3D9DF"/>
          </a:solidFill>
          <a:ln>
            <a:noFill/>
          </a:ln>
        </p:spPr>
        <p:txBody>
          <a:bodyPr rtlCol="0" anchor="ctr"/>
          <a:lstStyle/>
          <a:p>
            <a:pPr algn="ctr"/>
          </a:p>
        </p:txBody>
      </p:sp>
      <p:sp>
        <p:nvSpPr>
          <p:cNvPr id="45" name="Box 44"/>
          <p:cNvSpPr/>
          <p:nvPr/>
        </p:nvSpPr>
        <p:spPr>
          <a:xfrm>
            <a:off x="9880600" y="2760067"/>
            <a:ext cx="1492250" cy="375841"/>
          </a:xfrm>
          <a:prstGeom prst="rect">
            <a:avLst/>
          </a:prstGeom>
          <a:solidFill>
            <a:srgbClr val="FFFFFF"/>
          </a:solidFill>
          <a:ln>
            <a:noFill/>
          </a:ln>
        </p:spPr>
        <p:txBody>
          <a:bodyPr rtlCol="0" anchor="ctr"/>
          <a:lstStyle/>
          <a:p>
            <a:pPr algn="ctr"/>
          </a:p>
        </p:txBody>
      </p:sp>
      <p:sp>
        <p:nvSpPr>
          <p:cNvPr id="46" name="Rule 45"/>
          <p:cNvSpPr/>
          <p:nvPr/>
        </p:nvSpPr>
        <p:spPr>
          <a:xfrm>
            <a:off x="9880600" y="2760067"/>
            <a:ext cx="6350" cy="375841"/>
          </a:xfrm>
          <a:prstGeom prst="rect">
            <a:avLst/>
          </a:prstGeom>
          <a:solidFill>
            <a:srgbClr val="D3D9DF"/>
          </a:solidFill>
          <a:ln>
            <a:noFill/>
          </a:ln>
        </p:spPr>
        <p:txBody>
          <a:bodyPr rtlCol="0" anchor="ctr"/>
          <a:lstStyle/>
          <a:p>
            <a:pPr algn="ctr"/>
          </a:p>
        </p:txBody>
      </p:sp>
      <p:sp>
        <p:nvSpPr>
          <p:cNvPr id="47" name="Text 46"/>
          <p:cNvSpPr txBox="1"/>
          <p:nvPr/>
        </p:nvSpPr>
        <p:spPr>
          <a:xfrm>
            <a:off x="9906000" y="278445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hr.a.ghamdi</a:t>
            </a:r>
          </a:p>
        </p:txBody>
      </p:sp>
      <p:sp>
        <p:nvSpPr>
          <p:cNvPr id="48" name="Box 47"/>
          <p:cNvSpPr/>
          <p:nvPr/>
        </p:nvSpPr>
        <p:spPr>
          <a:xfrm>
            <a:off x="8769350" y="2760067"/>
            <a:ext cx="1111250" cy="375841"/>
          </a:xfrm>
          <a:prstGeom prst="rect">
            <a:avLst/>
          </a:prstGeom>
          <a:solidFill>
            <a:srgbClr val="FFFFFF"/>
          </a:solidFill>
          <a:ln>
            <a:noFill/>
          </a:ln>
        </p:spPr>
        <p:txBody>
          <a:bodyPr rtlCol="0" anchor="ctr"/>
          <a:lstStyle/>
          <a:p>
            <a:pPr algn="ctr"/>
          </a:p>
        </p:txBody>
      </p:sp>
      <p:sp>
        <p:nvSpPr>
          <p:cNvPr id="49" name="Rule 48"/>
          <p:cNvSpPr/>
          <p:nvPr/>
        </p:nvSpPr>
        <p:spPr>
          <a:xfrm>
            <a:off x="8769350" y="2760067"/>
            <a:ext cx="6350" cy="375841"/>
          </a:xfrm>
          <a:prstGeom prst="rect">
            <a:avLst/>
          </a:prstGeom>
          <a:solidFill>
            <a:srgbClr val="D3D9DF"/>
          </a:solidFill>
          <a:ln>
            <a:noFill/>
          </a:ln>
        </p:spPr>
        <p:txBody>
          <a:bodyPr rtlCol="0" anchor="ctr"/>
          <a:lstStyle/>
          <a:p>
            <a:pPr algn="ctr"/>
          </a:p>
        </p:txBody>
      </p:sp>
      <p:sp>
        <p:nvSpPr>
          <p:cNvPr id="50" name="Text 49"/>
          <p:cNvSpPr txBox="1"/>
          <p:nvPr/>
        </p:nvSpPr>
        <p:spPr>
          <a:xfrm>
            <a:off x="8794750" y="278445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أمل الغامدي</a:t>
            </a:r>
          </a:p>
        </p:txBody>
      </p:sp>
      <p:sp>
        <p:nvSpPr>
          <p:cNvPr id="51" name="Box 50"/>
          <p:cNvSpPr/>
          <p:nvPr/>
        </p:nvSpPr>
        <p:spPr>
          <a:xfrm>
            <a:off x="7435850" y="2760067"/>
            <a:ext cx="1333500" cy="375841"/>
          </a:xfrm>
          <a:prstGeom prst="rect">
            <a:avLst/>
          </a:prstGeom>
          <a:solidFill>
            <a:srgbClr val="FFFFFF"/>
          </a:solidFill>
          <a:ln>
            <a:noFill/>
          </a:ln>
        </p:spPr>
        <p:txBody>
          <a:bodyPr rtlCol="0" anchor="ctr"/>
          <a:lstStyle/>
          <a:p>
            <a:pPr algn="ctr"/>
          </a:p>
        </p:txBody>
      </p:sp>
      <p:sp>
        <p:nvSpPr>
          <p:cNvPr id="52" name="Rule 51"/>
          <p:cNvSpPr/>
          <p:nvPr/>
        </p:nvSpPr>
        <p:spPr>
          <a:xfrm>
            <a:off x="7435850" y="2760067"/>
            <a:ext cx="6350" cy="375841"/>
          </a:xfrm>
          <a:prstGeom prst="rect">
            <a:avLst/>
          </a:prstGeom>
          <a:solidFill>
            <a:srgbClr val="D3D9DF"/>
          </a:solidFill>
          <a:ln>
            <a:noFill/>
          </a:ln>
        </p:spPr>
        <p:txBody>
          <a:bodyPr rtlCol="0" anchor="ctr"/>
          <a:lstStyle/>
          <a:p>
            <a:pPr algn="ctr"/>
          </a:p>
        </p:txBody>
      </p:sp>
      <p:sp>
        <p:nvSpPr>
          <p:cNvPr id="53" name="Text 52"/>
          <p:cNvSpPr txBox="1"/>
          <p:nvPr/>
        </p:nvSpPr>
        <p:spPr>
          <a:xfrm>
            <a:off x="7461250" y="278445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4" name="Box 53"/>
          <p:cNvSpPr/>
          <p:nvPr/>
        </p:nvSpPr>
        <p:spPr>
          <a:xfrm>
            <a:off x="6724650" y="2760067"/>
            <a:ext cx="711200" cy="375841"/>
          </a:xfrm>
          <a:prstGeom prst="rect">
            <a:avLst/>
          </a:prstGeom>
          <a:solidFill>
            <a:srgbClr val="FFFFFF"/>
          </a:solidFill>
          <a:ln>
            <a:noFill/>
          </a:ln>
        </p:spPr>
        <p:txBody>
          <a:bodyPr rtlCol="0" anchor="ctr"/>
          <a:lstStyle/>
          <a:p>
            <a:pPr algn="ctr"/>
          </a:p>
        </p:txBody>
      </p:sp>
      <p:sp>
        <p:nvSpPr>
          <p:cNvPr id="55" name="Rule 54"/>
          <p:cNvSpPr/>
          <p:nvPr/>
        </p:nvSpPr>
        <p:spPr>
          <a:xfrm>
            <a:off x="6724650" y="2760067"/>
            <a:ext cx="6350" cy="375841"/>
          </a:xfrm>
          <a:prstGeom prst="rect">
            <a:avLst/>
          </a:prstGeom>
          <a:solidFill>
            <a:srgbClr val="D3D9DF"/>
          </a:solidFill>
          <a:ln>
            <a:noFill/>
          </a:ln>
        </p:spPr>
        <p:txBody>
          <a:bodyPr rtlCol="0" anchor="ctr"/>
          <a:lstStyle/>
          <a:p>
            <a:pPr algn="ctr"/>
          </a:p>
        </p:txBody>
      </p:sp>
      <p:sp>
        <p:nvSpPr>
          <p:cNvPr id="56" name="Text 55"/>
          <p:cNvSpPr txBox="1"/>
          <p:nvPr/>
        </p:nvSpPr>
        <p:spPr>
          <a:xfrm>
            <a:off x="6750050" y="278445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57" name="Box 56"/>
          <p:cNvSpPr/>
          <p:nvPr/>
        </p:nvSpPr>
        <p:spPr>
          <a:xfrm>
            <a:off x="4883150" y="2760067"/>
            <a:ext cx="1841500" cy="375841"/>
          </a:xfrm>
          <a:prstGeom prst="rect">
            <a:avLst/>
          </a:prstGeom>
          <a:solidFill>
            <a:srgbClr val="FFFFFF"/>
          </a:solidFill>
          <a:ln>
            <a:noFill/>
          </a:ln>
        </p:spPr>
        <p:txBody>
          <a:bodyPr rtlCol="0" anchor="ctr"/>
          <a:lstStyle/>
          <a:p>
            <a:pPr algn="ctr"/>
          </a:p>
        </p:txBody>
      </p:sp>
      <p:sp>
        <p:nvSpPr>
          <p:cNvPr id="58" name="Rule 57"/>
          <p:cNvSpPr/>
          <p:nvPr/>
        </p:nvSpPr>
        <p:spPr>
          <a:xfrm>
            <a:off x="4883150" y="2760067"/>
            <a:ext cx="6350" cy="375841"/>
          </a:xfrm>
          <a:prstGeom prst="rect">
            <a:avLst/>
          </a:prstGeom>
          <a:solidFill>
            <a:srgbClr val="D3D9DF"/>
          </a:solidFill>
          <a:ln>
            <a:noFill/>
          </a:ln>
        </p:spPr>
        <p:txBody>
          <a:bodyPr rtlCol="0" anchor="ctr"/>
          <a:lstStyle/>
          <a:p>
            <a:pPr algn="ctr"/>
          </a:p>
        </p:txBody>
      </p:sp>
      <p:sp>
        <p:nvSpPr>
          <p:cNvPr id="59" name="Text 58"/>
          <p:cNvSpPr txBox="1"/>
          <p:nvPr/>
        </p:nvSpPr>
        <p:spPr>
          <a:xfrm>
            <a:off x="4908550" y="2784451"/>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يونيو 2026</a:t>
            </a:r>
          </a:p>
        </p:txBody>
      </p:sp>
      <p:sp>
        <p:nvSpPr>
          <p:cNvPr id="60" name="Rule 59"/>
          <p:cNvSpPr/>
          <p:nvPr/>
        </p:nvSpPr>
        <p:spPr>
          <a:xfrm>
            <a:off x="4883150" y="3792339"/>
            <a:ext cx="6489700" cy="6350"/>
          </a:xfrm>
          <a:prstGeom prst="rect">
            <a:avLst/>
          </a:prstGeom>
          <a:solidFill>
            <a:srgbClr val="D3D9DF"/>
          </a:solidFill>
          <a:ln>
            <a:noFill/>
          </a:ln>
        </p:spPr>
        <p:txBody>
          <a:bodyPr rtlCol="0" anchor="ctr"/>
          <a:lstStyle/>
          <a:p>
            <a:pPr algn="ctr"/>
          </a:p>
        </p:txBody>
      </p:sp>
      <p:sp>
        <p:nvSpPr>
          <p:cNvPr id="61" name="Box 60"/>
          <p:cNvSpPr/>
          <p:nvPr/>
        </p:nvSpPr>
        <p:spPr>
          <a:xfrm>
            <a:off x="9880600" y="3142258"/>
            <a:ext cx="1492250" cy="650081"/>
          </a:xfrm>
          <a:prstGeom prst="rect">
            <a:avLst/>
          </a:prstGeom>
          <a:solidFill>
            <a:srgbClr val="FBE3DD"/>
          </a:solidFill>
          <a:ln>
            <a:noFill/>
          </a:ln>
        </p:spPr>
        <p:txBody>
          <a:bodyPr rtlCol="0" anchor="ctr"/>
          <a:lstStyle/>
          <a:p>
            <a:pPr algn="ctr"/>
          </a:p>
        </p:txBody>
      </p:sp>
      <p:sp>
        <p:nvSpPr>
          <p:cNvPr id="62" name="Rule 61"/>
          <p:cNvSpPr/>
          <p:nvPr/>
        </p:nvSpPr>
        <p:spPr>
          <a:xfrm>
            <a:off x="9880600" y="3142258"/>
            <a:ext cx="6350" cy="650081"/>
          </a:xfrm>
          <a:prstGeom prst="rect">
            <a:avLst/>
          </a:prstGeom>
          <a:solidFill>
            <a:srgbClr val="D3D9DF"/>
          </a:solidFill>
          <a:ln>
            <a:noFill/>
          </a:ln>
        </p:spPr>
        <p:txBody>
          <a:bodyPr rtlCol="0" anchor="ctr"/>
          <a:lstStyle/>
          <a:p>
            <a:pPr algn="ctr"/>
          </a:p>
        </p:txBody>
      </p:sp>
      <p:sp>
        <p:nvSpPr>
          <p:cNvPr id="63" name="Text 62"/>
          <p:cNvSpPr txBox="1"/>
          <p:nvPr/>
        </p:nvSpPr>
        <p:spPr>
          <a:xfrm>
            <a:off x="9906000" y="316664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fin.y.qahtani</a:t>
            </a:r>
          </a:p>
        </p:txBody>
      </p:sp>
      <p:sp>
        <p:nvSpPr>
          <p:cNvPr id="64" name="Box 63"/>
          <p:cNvSpPr/>
          <p:nvPr/>
        </p:nvSpPr>
        <p:spPr>
          <a:xfrm>
            <a:off x="8769350" y="3142258"/>
            <a:ext cx="1111250" cy="650081"/>
          </a:xfrm>
          <a:prstGeom prst="rect">
            <a:avLst/>
          </a:prstGeom>
          <a:solidFill>
            <a:srgbClr val="FBE3DD"/>
          </a:solidFill>
          <a:ln>
            <a:noFill/>
          </a:ln>
        </p:spPr>
        <p:txBody>
          <a:bodyPr rtlCol="0" anchor="ctr"/>
          <a:lstStyle/>
          <a:p>
            <a:pPr algn="ctr"/>
          </a:p>
        </p:txBody>
      </p:sp>
      <p:sp>
        <p:nvSpPr>
          <p:cNvPr id="65" name="Rule 64"/>
          <p:cNvSpPr/>
          <p:nvPr/>
        </p:nvSpPr>
        <p:spPr>
          <a:xfrm>
            <a:off x="8769350" y="3142258"/>
            <a:ext cx="6350" cy="650081"/>
          </a:xfrm>
          <a:prstGeom prst="rect">
            <a:avLst/>
          </a:prstGeom>
          <a:solidFill>
            <a:srgbClr val="D3D9DF"/>
          </a:solidFill>
          <a:ln>
            <a:noFill/>
          </a:ln>
        </p:spPr>
        <p:txBody>
          <a:bodyPr rtlCol="0" anchor="ctr"/>
          <a:lstStyle/>
          <a:p>
            <a:pPr algn="ctr"/>
          </a:p>
        </p:txBody>
      </p:sp>
      <p:sp>
        <p:nvSpPr>
          <p:cNvPr id="66" name="Text 65"/>
          <p:cNvSpPr txBox="1"/>
          <p:nvPr/>
        </p:nvSpPr>
        <p:spPr>
          <a:xfrm>
            <a:off x="8801100" y="3166642"/>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67" name="Box 66"/>
          <p:cNvSpPr/>
          <p:nvPr/>
        </p:nvSpPr>
        <p:spPr>
          <a:xfrm>
            <a:off x="7435850" y="3142258"/>
            <a:ext cx="1333500" cy="650081"/>
          </a:xfrm>
          <a:prstGeom prst="rect">
            <a:avLst/>
          </a:prstGeom>
          <a:solidFill>
            <a:srgbClr val="FBE3DD"/>
          </a:solidFill>
          <a:ln>
            <a:noFill/>
          </a:ln>
        </p:spPr>
        <p:txBody>
          <a:bodyPr rtlCol="0" anchor="ctr"/>
          <a:lstStyle/>
          <a:p>
            <a:pPr algn="ctr"/>
          </a:p>
        </p:txBody>
      </p:sp>
      <p:sp>
        <p:nvSpPr>
          <p:cNvPr id="68" name="Rule 67"/>
          <p:cNvSpPr/>
          <p:nvPr/>
        </p:nvSpPr>
        <p:spPr>
          <a:xfrm>
            <a:off x="7435850" y="3142258"/>
            <a:ext cx="6350" cy="650081"/>
          </a:xfrm>
          <a:prstGeom prst="rect">
            <a:avLst/>
          </a:prstGeom>
          <a:solidFill>
            <a:srgbClr val="D3D9DF"/>
          </a:solidFill>
          <a:ln>
            <a:noFill/>
          </a:ln>
        </p:spPr>
        <p:txBody>
          <a:bodyPr rtlCol="0" anchor="ctr"/>
          <a:lstStyle/>
          <a:p>
            <a:pPr algn="ctr"/>
          </a:p>
        </p:txBody>
      </p:sp>
      <p:sp>
        <p:nvSpPr>
          <p:cNvPr id="69" name="Text 68"/>
          <p:cNvSpPr txBox="1"/>
          <p:nvPr/>
        </p:nvSpPr>
        <p:spPr>
          <a:xfrm>
            <a:off x="7467600" y="3166642"/>
            <a:ext cx="1225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70" name="Box 69"/>
          <p:cNvSpPr/>
          <p:nvPr/>
        </p:nvSpPr>
        <p:spPr>
          <a:xfrm>
            <a:off x="6724650" y="3142258"/>
            <a:ext cx="711200" cy="650081"/>
          </a:xfrm>
          <a:prstGeom prst="rect">
            <a:avLst/>
          </a:prstGeom>
          <a:solidFill>
            <a:srgbClr val="FBE3DD"/>
          </a:solidFill>
          <a:ln>
            <a:noFill/>
          </a:ln>
        </p:spPr>
        <p:txBody>
          <a:bodyPr rtlCol="0" anchor="ctr"/>
          <a:lstStyle/>
          <a:p>
            <a:pPr algn="ctr"/>
          </a:p>
        </p:txBody>
      </p:sp>
      <p:sp>
        <p:nvSpPr>
          <p:cNvPr id="71" name="Rule 70"/>
          <p:cNvSpPr/>
          <p:nvPr/>
        </p:nvSpPr>
        <p:spPr>
          <a:xfrm>
            <a:off x="6724650" y="3142258"/>
            <a:ext cx="6350" cy="650081"/>
          </a:xfrm>
          <a:prstGeom prst="rect">
            <a:avLst/>
          </a:prstGeom>
          <a:solidFill>
            <a:srgbClr val="D3D9DF"/>
          </a:solidFill>
          <a:ln>
            <a:noFill/>
          </a:ln>
        </p:spPr>
        <p:txBody>
          <a:bodyPr rtlCol="0" anchor="ctr"/>
          <a:lstStyle/>
          <a:p>
            <a:pPr algn="ctr"/>
          </a:p>
        </p:txBody>
      </p:sp>
      <p:sp>
        <p:nvSpPr>
          <p:cNvPr id="72" name="Text 71"/>
          <p:cNvSpPr txBox="1"/>
          <p:nvPr/>
        </p:nvSpPr>
        <p:spPr>
          <a:xfrm>
            <a:off x="6750050" y="316664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73" name="Box 72"/>
          <p:cNvSpPr/>
          <p:nvPr/>
        </p:nvSpPr>
        <p:spPr>
          <a:xfrm>
            <a:off x="4883150" y="3142258"/>
            <a:ext cx="1841500" cy="650081"/>
          </a:xfrm>
          <a:prstGeom prst="rect">
            <a:avLst/>
          </a:prstGeom>
          <a:solidFill>
            <a:srgbClr val="FBE3DD"/>
          </a:solidFill>
          <a:ln>
            <a:noFill/>
          </a:ln>
        </p:spPr>
        <p:txBody>
          <a:bodyPr rtlCol="0" anchor="ctr"/>
          <a:lstStyle/>
          <a:p>
            <a:pPr algn="ctr"/>
          </a:p>
        </p:txBody>
      </p:sp>
      <p:sp>
        <p:nvSpPr>
          <p:cNvPr id="74" name="Rule 73"/>
          <p:cNvSpPr/>
          <p:nvPr/>
        </p:nvSpPr>
        <p:spPr>
          <a:xfrm>
            <a:off x="4883150" y="3142258"/>
            <a:ext cx="6350" cy="650081"/>
          </a:xfrm>
          <a:prstGeom prst="rect">
            <a:avLst/>
          </a:prstGeom>
          <a:solidFill>
            <a:srgbClr val="D3D9DF"/>
          </a:solidFill>
          <a:ln>
            <a:noFill/>
          </a:ln>
        </p:spPr>
        <p:txBody>
          <a:bodyPr rtlCol="0" anchor="ctr"/>
          <a:lstStyle/>
          <a:p>
            <a:pPr algn="ctr"/>
          </a:p>
        </p:txBody>
      </p:sp>
      <p:sp>
        <p:nvSpPr>
          <p:cNvPr id="75" name="Text 74"/>
          <p:cNvSpPr txBox="1"/>
          <p:nvPr/>
        </p:nvSpPr>
        <p:spPr>
          <a:xfrm>
            <a:off x="4908550" y="316664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 مايو 2026</a:t>
            </a:r>
          </a:p>
        </p:txBody>
      </p:sp>
      <p:sp>
        <p:nvSpPr>
          <p:cNvPr id="76" name="Rule 75"/>
          <p:cNvSpPr/>
          <p:nvPr/>
        </p:nvSpPr>
        <p:spPr>
          <a:xfrm>
            <a:off x="4883150" y="4174530"/>
            <a:ext cx="6489700" cy="6350"/>
          </a:xfrm>
          <a:prstGeom prst="rect">
            <a:avLst/>
          </a:prstGeom>
          <a:solidFill>
            <a:srgbClr val="D3D9DF"/>
          </a:solidFill>
          <a:ln>
            <a:noFill/>
          </a:ln>
        </p:spPr>
        <p:txBody>
          <a:bodyPr rtlCol="0" anchor="ctr"/>
          <a:lstStyle/>
          <a:p>
            <a:pPr algn="ctr"/>
          </a:p>
        </p:txBody>
      </p:sp>
      <p:sp>
        <p:nvSpPr>
          <p:cNvPr id="77" name="Box 76"/>
          <p:cNvSpPr/>
          <p:nvPr/>
        </p:nvSpPr>
        <p:spPr>
          <a:xfrm>
            <a:off x="9880600" y="3798689"/>
            <a:ext cx="1492250" cy="375841"/>
          </a:xfrm>
          <a:prstGeom prst="rect">
            <a:avLst/>
          </a:prstGeom>
          <a:solidFill>
            <a:srgbClr val="FBE3DD"/>
          </a:solidFill>
          <a:ln>
            <a:noFill/>
          </a:ln>
        </p:spPr>
        <p:txBody>
          <a:bodyPr rtlCol="0" anchor="ctr"/>
          <a:lstStyle/>
          <a:p>
            <a:pPr algn="ctr"/>
          </a:p>
        </p:txBody>
      </p:sp>
      <p:sp>
        <p:nvSpPr>
          <p:cNvPr id="78" name="Rule 77"/>
          <p:cNvSpPr/>
          <p:nvPr/>
        </p:nvSpPr>
        <p:spPr>
          <a:xfrm>
            <a:off x="9880600" y="3798689"/>
            <a:ext cx="6350" cy="375841"/>
          </a:xfrm>
          <a:prstGeom prst="rect">
            <a:avLst/>
          </a:prstGeom>
          <a:solidFill>
            <a:srgbClr val="D3D9DF"/>
          </a:solidFill>
          <a:ln>
            <a:noFill/>
          </a:ln>
        </p:spPr>
        <p:txBody>
          <a:bodyPr rtlCol="0" anchor="ctr"/>
          <a:lstStyle/>
          <a:p>
            <a:pPr algn="ctr"/>
          </a:p>
        </p:txBody>
      </p:sp>
      <p:sp>
        <p:nvSpPr>
          <p:cNvPr id="79" name="Text 78"/>
          <p:cNvSpPr txBox="1"/>
          <p:nvPr/>
        </p:nvSpPr>
        <p:spPr>
          <a:xfrm>
            <a:off x="9906000" y="382307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hr.l.shammari</a:t>
            </a:r>
          </a:p>
        </p:txBody>
      </p:sp>
      <p:sp>
        <p:nvSpPr>
          <p:cNvPr id="80" name="Box 79"/>
          <p:cNvSpPr/>
          <p:nvPr/>
        </p:nvSpPr>
        <p:spPr>
          <a:xfrm>
            <a:off x="8769350" y="3798689"/>
            <a:ext cx="1111250" cy="375841"/>
          </a:xfrm>
          <a:prstGeom prst="rect">
            <a:avLst/>
          </a:prstGeom>
          <a:solidFill>
            <a:srgbClr val="FBE3DD"/>
          </a:solidFill>
          <a:ln>
            <a:noFill/>
          </a:ln>
        </p:spPr>
        <p:txBody>
          <a:bodyPr rtlCol="0" anchor="ctr"/>
          <a:lstStyle/>
          <a:p>
            <a:pPr algn="ctr"/>
          </a:p>
        </p:txBody>
      </p:sp>
      <p:sp>
        <p:nvSpPr>
          <p:cNvPr id="81" name="Rule 80"/>
          <p:cNvSpPr/>
          <p:nvPr/>
        </p:nvSpPr>
        <p:spPr>
          <a:xfrm>
            <a:off x="8769350" y="3798689"/>
            <a:ext cx="6350" cy="375841"/>
          </a:xfrm>
          <a:prstGeom prst="rect">
            <a:avLst/>
          </a:prstGeom>
          <a:solidFill>
            <a:srgbClr val="D3D9DF"/>
          </a:solidFill>
          <a:ln>
            <a:noFill/>
          </a:ln>
        </p:spPr>
        <p:txBody>
          <a:bodyPr rtlCol="0" anchor="ctr"/>
          <a:lstStyle/>
          <a:p>
            <a:pPr algn="ctr"/>
          </a:p>
        </p:txBody>
      </p:sp>
      <p:sp>
        <p:nvSpPr>
          <p:cNvPr id="82" name="Text 81"/>
          <p:cNvSpPr txBox="1"/>
          <p:nvPr/>
        </p:nvSpPr>
        <p:spPr>
          <a:xfrm>
            <a:off x="8794750" y="3823073"/>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83" name="Box 82"/>
          <p:cNvSpPr/>
          <p:nvPr/>
        </p:nvSpPr>
        <p:spPr>
          <a:xfrm>
            <a:off x="7435850" y="3798689"/>
            <a:ext cx="1333500" cy="375841"/>
          </a:xfrm>
          <a:prstGeom prst="rect">
            <a:avLst/>
          </a:prstGeom>
          <a:solidFill>
            <a:srgbClr val="FBE3DD"/>
          </a:solidFill>
          <a:ln>
            <a:noFill/>
          </a:ln>
        </p:spPr>
        <p:txBody>
          <a:bodyPr rtlCol="0" anchor="ctr"/>
          <a:lstStyle/>
          <a:p>
            <a:pPr algn="ctr"/>
          </a:p>
        </p:txBody>
      </p:sp>
      <p:sp>
        <p:nvSpPr>
          <p:cNvPr id="84" name="Rule 83"/>
          <p:cNvSpPr/>
          <p:nvPr/>
        </p:nvSpPr>
        <p:spPr>
          <a:xfrm>
            <a:off x="7435850" y="3798689"/>
            <a:ext cx="6350" cy="375841"/>
          </a:xfrm>
          <a:prstGeom prst="rect">
            <a:avLst/>
          </a:prstGeom>
          <a:solidFill>
            <a:srgbClr val="D3D9DF"/>
          </a:solidFill>
          <a:ln>
            <a:noFill/>
          </a:ln>
        </p:spPr>
        <p:txBody>
          <a:bodyPr rtlCol="0" anchor="ctr"/>
          <a:lstStyle/>
          <a:p>
            <a:pPr algn="ctr"/>
          </a:p>
        </p:txBody>
      </p:sp>
      <p:sp>
        <p:nvSpPr>
          <p:cNvPr id="85" name="Text 84"/>
          <p:cNvSpPr txBox="1"/>
          <p:nvPr/>
        </p:nvSpPr>
        <p:spPr>
          <a:xfrm>
            <a:off x="7461250" y="3823073"/>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86" name="Box 85"/>
          <p:cNvSpPr/>
          <p:nvPr/>
        </p:nvSpPr>
        <p:spPr>
          <a:xfrm>
            <a:off x="6724650" y="3798689"/>
            <a:ext cx="711200" cy="375841"/>
          </a:xfrm>
          <a:prstGeom prst="rect">
            <a:avLst/>
          </a:prstGeom>
          <a:solidFill>
            <a:srgbClr val="FBE3DD"/>
          </a:solidFill>
          <a:ln>
            <a:noFill/>
          </a:ln>
        </p:spPr>
        <p:txBody>
          <a:bodyPr rtlCol="0" anchor="ctr"/>
          <a:lstStyle/>
          <a:p>
            <a:pPr algn="ctr"/>
          </a:p>
        </p:txBody>
      </p:sp>
      <p:sp>
        <p:nvSpPr>
          <p:cNvPr id="87" name="Rule 86"/>
          <p:cNvSpPr/>
          <p:nvPr/>
        </p:nvSpPr>
        <p:spPr>
          <a:xfrm>
            <a:off x="6724650" y="3798689"/>
            <a:ext cx="6350" cy="375841"/>
          </a:xfrm>
          <a:prstGeom prst="rect">
            <a:avLst/>
          </a:prstGeom>
          <a:solidFill>
            <a:srgbClr val="D3D9DF"/>
          </a:solidFill>
          <a:ln>
            <a:noFill/>
          </a:ln>
        </p:spPr>
        <p:txBody>
          <a:bodyPr rtlCol="0" anchor="ctr"/>
          <a:lstStyle/>
          <a:p>
            <a:pPr algn="ctr"/>
          </a:p>
        </p:txBody>
      </p:sp>
      <p:sp>
        <p:nvSpPr>
          <p:cNvPr id="88" name="Text 87"/>
          <p:cNvSpPr txBox="1"/>
          <p:nvPr/>
        </p:nvSpPr>
        <p:spPr>
          <a:xfrm>
            <a:off x="6750050" y="3823073"/>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89" name="Box 88"/>
          <p:cNvSpPr/>
          <p:nvPr/>
        </p:nvSpPr>
        <p:spPr>
          <a:xfrm>
            <a:off x="4883150" y="3798689"/>
            <a:ext cx="1841500" cy="375841"/>
          </a:xfrm>
          <a:prstGeom prst="rect">
            <a:avLst/>
          </a:prstGeom>
          <a:solidFill>
            <a:srgbClr val="FBE3DD"/>
          </a:solidFill>
          <a:ln>
            <a:noFill/>
          </a:ln>
        </p:spPr>
        <p:txBody>
          <a:bodyPr rtlCol="0" anchor="ctr"/>
          <a:lstStyle/>
          <a:p>
            <a:pPr algn="ctr"/>
          </a:p>
        </p:txBody>
      </p:sp>
      <p:sp>
        <p:nvSpPr>
          <p:cNvPr id="90" name="Rule 89"/>
          <p:cNvSpPr/>
          <p:nvPr/>
        </p:nvSpPr>
        <p:spPr>
          <a:xfrm>
            <a:off x="4883150" y="3798689"/>
            <a:ext cx="6350" cy="375841"/>
          </a:xfrm>
          <a:prstGeom prst="rect">
            <a:avLst/>
          </a:prstGeom>
          <a:solidFill>
            <a:srgbClr val="D3D9DF"/>
          </a:solidFill>
          <a:ln>
            <a:noFill/>
          </a:ln>
        </p:spPr>
        <p:txBody>
          <a:bodyPr rtlCol="0" anchor="ctr"/>
          <a:lstStyle/>
          <a:p>
            <a:pPr algn="ctr"/>
          </a:p>
        </p:txBody>
      </p:sp>
      <p:sp>
        <p:nvSpPr>
          <p:cNvPr id="91" name="Text 90"/>
          <p:cNvSpPr txBox="1"/>
          <p:nvPr/>
        </p:nvSpPr>
        <p:spPr>
          <a:xfrm>
            <a:off x="4908550" y="382307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21 مايو 2026</a:t>
            </a:r>
          </a:p>
        </p:txBody>
      </p:sp>
      <p:sp>
        <p:nvSpPr>
          <p:cNvPr id="92" name="Rule 91"/>
          <p:cNvSpPr/>
          <p:nvPr/>
        </p:nvSpPr>
        <p:spPr>
          <a:xfrm>
            <a:off x="4883150" y="4830961"/>
            <a:ext cx="6489700" cy="6350"/>
          </a:xfrm>
          <a:prstGeom prst="rect">
            <a:avLst/>
          </a:prstGeom>
          <a:solidFill>
            <a:srgbClr val="D3D9DF"/>
          </a:solidFill>
          <a:ln>
            <a:noFill/>
          </a:ln>
        </p:spPr>
        <p:txBody>
          <a:bodyPr rtlCol="0" anchor="ctr"/>
          <a:lstStyle/>
          <a:p>
            <a:pPr algn="ctr"/>
          </a:p>
        </p:txBody>
      </p:sp>
      <p:sp>
        <p:nvSpPr>
          <p:cNvPr id="93" name="Box 92"/>
          <p:cNvSpPr/>
          <p:nvPr/>
        </p:nvSpPr>
        <p:spPr>
          <a:xfrm>
            <a:off x="9880600" y="4180880"/>
            <a:ext cx="1492250" cy="650081"/>
          </a:xfrm>
          <a:prstGeom prst="roundRect">
            <a:avLst>
              <a:gd name="adj" fmla="val 1709"/>
            </a:avLst>
          </a:prstGeom>
          <a:solidFill>
            <a:srgbClr val="FFFFFF"/>
          </a:solidFill>
          <a:ln>
            <a:noFill/>
          </a:ln>
        </p:spPr>
        <p:txBody>
          <a:bodyPr rtlCol="0" anchor="ctr"/>
          <a:lstStyle/>
          <a:p>
            <a:pPr algn="ctr"/>
          </a:p>
        </p:txBody>
      </p:sp>
      <p:sp>
        <p:nvSpPr>
          <p:cNvPr id="94" name="Rule 93"/>
          <p:cNvSpPr/>
          <p:nvPr/>
        </p:nvSpPr>
        <p:spPr>
          <a:xfrm>
            <a:off x="9880600" y="4180880"/>
            <a:ext cx="6350" cy="650081"/>
          </a:xfrm>
          <a:prstGeom prst="rect">
            <a:avLst/>
          </a:prstGeom>
          <a:solidFill>
            <a:srgbClr val="D3D9DF"/>
          </a:solidFill>
          <a:ln>
            <a:noFill/>
          </a:ln>
        </p:spPr>
        <p:txBody>
          <a:bodyPr rtlCol="0" anchor="ctr"/>
          <a:lstStyle/>
          <a:p>
            <a:pPr algn="ctr"/>
          </a:p>
        </p:txBody>
      </p:sp>
      <p:sp>
        <p:nvSpPr>
          <p:cNvPr id="95" name="Text 94"/>
          <p:cNvSpPr txBox="1"/>
          <p:nvPr/>
        </p:nvSpPr>
        <p:spPr>
          <a:xfrm>
            <a:off x="9906000" y="420526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96" name="Box 95"/>
          <p:cNvSpPr/>
          <p:nvPr/>
        </p:nvSpPr>
        <p:spPr>
          <a:xfrm>
            <a:off x="8769350" y="4180880"/>
            <a:ext cx="1111250" cy="650081"/>
          </a:xfrm>
          <a:prstGeom prst="rect">
            <a:avLst/>
          </a:prstGeom>
          <a:solidFill>
            <a:srgbClr val="FFFFFF"/>
          </a:solidFill>
          <a:ln>
            <a:noFill/>
          </a:ln>
        </p:spPr>
        <p:txBody>
          <a:bodyPr rtlCol="0" anchor="ctr"/>
          <a:lstStyle/>
          <a:p>
            <a:pPr algn="ctr"/>
          </a:p>
        </p:txBody>
      </p:sp>
      <p:sp>
        <p:nvSpPr>
          <p:cNvPr id="97" name="Rule 96"/>
          <p:cNvSpPr/>
          <p:nvPr/>
        </p:nvSpPr>
        <p:spPr>
          <a:xfrm>
            <a:off x="8769350" y="4180880"/>
            <a:ext cx="6350" cy="650081"/>
          </a:xfrm>
          <a:prstGeom prst="rect">
            <a:avLst/>
          </a:prstGeom>
          <a:solidFill>
            <a:srgbClr val="D3D9DF"/>
          </a:solidFill>
          <a:ln>
            <a:noFill/>
          </a:ln>
        </p:spPr>
        <p:txBody>
          <a:bodyPr rtlCol="0" anchor="ctr"/>
          <a:lstStyle/>
          <a:p>
            <a:pPr algn="ctr"/>
          </a:p>
        </p:txBody>
      </p:sp>
      <p:sp>
        <p:nvSpPr>
          <p:cNvPr id="98" name="Text 97"/>
          <p:cNvSpPr txBox="1"/>
          <p:nvPr/>
        </p:nvSpPr>
        <p:spPr>
          <a:xfrm>
            <a:off x="8801100" y="4205264"/>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فيصل العتيبي</a:t>
            </a:r>
          </a:p>
        </p:txBody>
      </p:sp>
      <p:sp>
        <p:nvSpPr>
          <p:cNvPr id="99" name="Box 98"/>
          <p:cNvSpPr/>
          <p:nvPr/>
        </p:nvSpPr>
        <p:spPr>
          <a:xfrm>
            <a:off x="7435850" y="4180880"/>
            <a:ext cx="1333500" cy="650081"/>
          </a:xfrm>
          <a:prstGeom prst="rect">
            <a:avLst/>
          </a:prstGeom>
          <a:solidFill>
            <a:srgbClr val="FFFFFF"/>
          </a:solidFill>
          <a:ln>
            <a:noFill/>
          </a:ln>
        </p:spPr>
        <p:txBody>
          <a:bodyPr rtlCol="0" anchor="ctr"/>
          <a:lstStyle/>
          <a:p>
            <a:pPr algn="ctr"/>
          </a:p>
        </p:txBody>
      </p:sp>
      <p:sp>
        <p:nvSpPr>
          <p:cNvPr id="100" name="Rule 99"/>
          <p:cNvSpPr/>
          <p:nvPr/>
        </p:nvSpPr>
        <p:spPr>
          <a:xfrm>
            <a:off x="7435850" y="4180880"/>
            <a:ext cx="6350" cy="650081"/>
          </a:xfrm>
          <a:prstGeom prst="rect">
            <a:avLst/>
          </a:prstGeom>
          <a:solidFill>
            <a:srgbClr val="D3D9DF"/>
          </a:solidFill>
          <a:ln>
            <a:noFill/>
          </a:ln>
        </p:spPr>
        <p:txBody>
          <a:bodyPr rtlCol="0" anchor="ctr"/>
          <a:lstStyle/>
          <a:p>
            <a:pPr algn="ctr"/>
          </a:p>
        </p:txBody>
      </p:sp>
      <p:sp>
        <p:nvSpPr>
          <p:cNvPr id="101" name="Text 100"/>
          <p:cNvSpPr txBox="1"/>
          <p:nvPr/>
        </p:nvSpPr>
        <p:spPr>
          <a:xfrm>
            <a:off x="7461250" y="420526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102" name="Box 101"/>
          <p:cNvSpPr/>
          <p:nvPr/>
        </p:nvSpPr>
        <p:spPr>
          <a:xfrm>
            <a:off x="6724650" y="4180880"/>
            <a:ext cx="711200" cy="650081"/>
          </a:xfrm>
          <a:prstGeom prst="rect">
            <a:avLst/>
          </a:prstGeom>
          <a:solidFill>
            <a:srgbClr val="FFFFFF"/>
          </a:solidFill>
          <a:ln>
            <a:noFill/>
          </a:ln>
        </p:spPr>
        <p:txBody>
          <a:bodyPr rtlCol="0" anchor="ctr"/>
          <a:lstStyle/>
          <a:p>
            <a:pPr algn="ctr"/>
          </a:p>
        </p:txBody>
      </p:sp>
      <p:sp>
        <p:nvSpPr>
          <p:cNvPr id="103" name="Rule 102"/>
          <p:cNvSpPr/>
          <p:nvPr/>
        </p:nvSpPr>
        <p:spPr>
          <a:xfrm>
            <a:off x="6724650" y="4180880"/>
            <a:ext cx="6350" cy="650081"/>
          </a:xfrm>
          <a:prstGeom prst="rect">
            <a:avLst/>
          </a:prstGeom>
          <a:solidFill>
            <a:srgbClr val="D3D9DF"/>
          </a:solidFill>
          <a:ln>
            <a:noFill/>
          </a:ln>
        </p:spPr>
        <p:txBody>
          <a:bodyPr rtlCol="0" anchor="ctr"/>
          <a:lstStyle/>
          <a:p>
            <a:pPr algn="ctr"/>
          </a:p>
        </p:txBody>
      </p:sp>
      <p:sp>
        <p:nvSpPr>
          <p:cNvPr id="104" name="Text 103"/>
          <p:cNvSpPr txBox="1"/>
          <p:nvPr/>
        </p:nvSpPr>
        <p:spPr>
          <a:xfrm>
            <a:off x="6750050" y="420526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05" name="Box 104"/>
          <p:cNvSpPr/>
          <p:nvPr/>
        </p:nvSpPr>
        <p:spPr>
          <a:xfrm>
            <a:off x="4883150" y="4180880"/>
            <a:ext cx="1841500" cy="650081"/>
          </a:xfrm>
          <a:prstGeom prst="roundRect">
            <a:avLst>
              <a:gd name="adj" fmla="val 1709"/>
            </a:avLst>
          </a:prstGeom>
          <a:solidFill>
            <a:srgbClr val="FFFFFF"/>
          </a:solidFill>
          <a:ln>
            <a:noFill/>
          </a:ln>
        </p:spPr>
        <p:txBody>
          <a:bodyPr rtlCol="0" anchor="ctr"/>
          <a:lstStyle/>
          <a:p>
            <a:pPr algn="ctr"/>
          </a:p>
        </p:txBody>
      </p:sp>
      <p:sp>
        <p:nvSpPr>
          <p:cNvPr id="106" name="Rule 105"/>
          <p:cNvSpPr/>
          <p:nvPr/>
        </p:nvSpPr>
        <p:spPr>
          <a:xfrm>
            <a:off x="4883150" y="4180880"/>
            <a:ext cx="6350" cy="650081"/>
          </a:xfrm>
          <a:prstGeom prst="rect">
            <a:avLst/>
          </a:prstGeom>
          <a:solidFill>
            <a:srgbClr val="D3D9DF"/>
          </a:solidFill>
          <a:ln>
            <a:noFill/>
          </a:ln>
        </p:spPr>
        <p:txBody>
          <a:bodyPr rtlCol="0" anchor="ctr"/>
          <a:lstStyle/>
          <a:p>
            <a:pPr algn="ctr"/>
          </a:p>
        </p:txBody>
      </p:sp>
      <p:sp>
        <p:nvSpPr>
          <p:cNvPr id="107" name="Text 106"/>
          <p:cNvSpPr txBox="1"/>
          <p:nvPr/>
        </p:nvSpPr>
        <p:spPr>
          <a:xfrm>
            <a:off x="4908550" y="4205264"/>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 يوليو 2026</a:t>
            </a:r>
          </a:p>
        </p:txBody>
      </p:sp>
      <p:sp>
        <p:nvSpPr>
          <p:cNvPr id="108" name="Text 107"/>
          <p:cNvSpPr txBox="1"/>
          <p:nvPr/>
        </p:nvSpPr>
        <p:spPr>
          <a:xfrm>
            <a:off x="4681728" y="4895985"/>
            <a:ext cx="6697472"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مغادرو مايو حسب الموارد البشرية: عبدالله الزهراني (7)، ياسر القحطاني (14)، لمى الشمري (28).</a:t>
            </a:r>
          </a:p>
        </p:txBody>
      </p:sp>
      <p:sp>
        <p:nvSpPr>
          <p:cNvPr id="109" name="Rule 108"/>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10" name="Icon Search 109" descr="icon054.png"/>
          <p:cNvPicPr>
            <a:picLocks noChangeAspect="1"/>
          </p:cNvPicPr>
          <p:nvPr/>
        </p:nvPicPr>
        <p:blipFill>
          <a:blip r:embed="rId2"/>
          <a:stretch>
            <a:fillRect/>
          </a:stretch>
        </p:blipFill>
        <p:spPr>
          <a:xfrm>
            <a:off x="4406900" y="1682055"/>
            <a:ext cx="215900" cy="215900"/>
          </a:xfrm>
          <a:prstGeom prst="rect">
            <a:avLst/>
          </a:prstGeom>
        </p:spPr>
      </p:pic>
      <p:sp>
        <p:nvSpPr>
          <p:cNvPr id="111" name="Text 110"/>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12" name="Text 111"/>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ياسر القحطاني ولمى الشمري غادرا في مايو، وحساباهما نشطان في 2 يوليو.</a:t>
            </a:r>
          </a:p>
        </p:txBody>
      </p:sp>
      <p:sp>
        <p:nvSpPr>
          <p:cNvPr id="113" name="Rule 112"/>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114" name="Icon CheckCircle 113" descr="icon055.png"/>
          <p:cNvPicPr>
            <a:picLocks noChangeAspect="1"/>
          </p:cNvPicPr>
          <p:nvPr/>
        </p:nvPicPr>
        <p:blipFill>
          <a:blip r:embed="rId3"/>
          <a:stretch>
            <a:fillRect/>
          </a:stretch>
        </p:blipFill>
        <p:spPr>
          <a:xfrm>
            <a:off x="4406900" y="2699246"/>
            <a:ext cx="215900" cy="215900"/>
          </a:xfrm>
          <a:prstGeom prst="rect">
            <a:avLst/>
          </a:prstGeom>
        </p:spPr>
      </p:pic>
      <p:sp>
        <p:nvSpPr>
          <p:cNvPr id="115" name="Text 114"/>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16" name="Text 115"/>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بقاء صلاحيات غير مبررة لحسابين بعد المغادرة.</a:t>
            </a:r>
          </a:p>
        </p:txBody>
      </p:sp>
      <p:sp>
        <p:nvSpPr>
          <p:cNvPr id="117" name="Rule 116"/>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18" name="Icon Warning 117" descr="icon056.png"/>
          <p:cNvPicPr>
            <a:picLocks noChangeAspect="1"/>
          </p:cNvPicPr>
          <p:nvPr/>
        </p:nvPicPr>
        <p:blipFill>
          <a:blip r:embed="rId4"/>
          <a:stretch>
            <a:fillRect/>
          </a:stretch>
        </p:blipFill>
        <p:spPr>
          <a:xfrm>
            <a:off x="4406900" y="3431977"/>
            <a:ext cx="215900" cy="215900"/>
          </a:xfrm>
          <a:prstGeom prst="rect">
            <a:avLst/>
          </a:prstGeom>
        </p:spPr>
      </p:pic>
      <p:sp>
        <p:nvSpPr>
          <p:cNvPr id="119" name="Text 118"/>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20" name="Text 119"/>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أنهما استُخدما بعد المغادرة، ولا حالة بقية المغادرين، فالمقتطف 5 صفوف.</a:t>
            </a:r>
          </a:p>
        </p:txBody>
      </p:sp>
      <p:sp>
        <p:nvSpPr>
          <p:cNvPr id="121" name="Rule 120"/>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122" name="Icon Lightbulb 121" descr="icon057.png"/>
          <p:cNvPicPr>
            <a:picLocks noChangeAspect="1"/>
          </p:cNvPicPr>
          <p:nvPr/>
        </p:nvPicPr>
        <p:blipFill>
          <a:blip r:embed="rId5"/>
          <a:stretch>
            <a:fillRect/>
          </a:stretch>
        </p:blipFill>
        <p:spPr>
          <a:xfrm>
            <a:off x="4406900" y="4449167"/>
            <a:ext cx="215900" cy="215900"/>
          </a:xfrm>
          <a:prstGeom prst="rect">
            <a:avLst/>
          </a:prstGeom>
        </p:spPr>
      </p:pic>
      <p:sp>
        <p:nvSpPr>
          <p:cNvPr id="123" name="Text 122"/>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24" name="Text 123"/>
          <p:cNvSpPr txBox="1"/>
          <p:nvPr/>
        </p:nvSpPr>
        <p:spPr>
          <a:xfrm>
            <a:off x="812800" y="468308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مطابقة كل المغادرين بالتصدير الكامل، وسجل نشاط الحسابين، وإبلاغ مالك الضابط 1-⁠9-⁠5.</a:t>
            </a:r>
          </a:p>
        </p:txBody>
      </p:sp>
      <p:sp>
        <p:nvSpPr>
          <p:cNvPr id="125" name="Text 1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26" name="Text 1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النتيجة ومبررها</a:t>
            </a:r>
          </a:p>
        </p:txBody>
      </p:sp>
      <p:sp>
        <p:nvSpPr>
          <p:cNvPr id="7" name="Box 6"/>
          <p:cNvSpPr/>
          <p:nvPr/>
        </p:nvSpPr>
        <p:spPr>
          <a:xfrm>
            <a:off x="9093200" y="1607145"/>
            <a:ext cx="2286000" cy="1409700"/>
          </a:xfrm>
          <a:prstGeom prst="roundRect">
            <a:avLst>
              <a:gd name="adj" fmla="val 7207"/>
            </a:avLst>
          </a:prstGeom>
          <a:solidFill>
            <a:srgbClr val="C27A16"/>
          </a:solidFill>
          <a:ln>
            <a:noFill/>
          </a:ln>
        </p:spPr>
        <p:txBody>
          <a:bodyPr rtlCol="0" anchor="ctr"/>
          <a:lstStyle/>
          <a:p>
            <a:pPr algn="ctr"/>
          </a:p>
        </p:txBody>
      </p:sp>
      <p:sp>
        <p:nvSpPr>
          <p:cNvPr id="8" name="Text 7"/>
          <p:cNvSpPr txBox="1"/>
          <p:nvPr/>
        </p:nvSpPr>
        <p:spPr>
          <a:xfrm>
            <a:off x="9138920" y="1899265"/>
            <a:ext cx="219456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F3EFE6"/>
                </a:solidFill>
                <a:latin typeface="IBM Plex Sans Arabic"/>
                <a:ea typeface="IBM Plex Sans Arabic"/>
                <a:cs typeface="IBM Plex Sans Arabic"/>
              </a:rPr>
              <a:t>النتيجة</a:t>
            </a:r>
          </a:p>
        </p:txBody>
      </p:sp>
      <p:sp>
        <p:nvSpPr>
          <p:cNvPr id="9" name="Text 8"/>
          <p:cNvSpPr txBox="1"/>
          <p:nvPr/>
        </p:nvSpPr>
        <p:spPr>
          <a:xfrm>
            <a:off x="9136380" y="2262104"/>
            <a:ext cx="2199640" cy="391120"/>
          </a:xfrm>
          <a:prstGeom prst="rect">
            <a:avLst/>
          </a:prstGeom>
          <a:noFill/>
        </p:spPr>
        <p:txBody>
          <a:bodyPr wrap="square" tIns="0" rIns="0" bIns="0" lIns="0" anchor="t" rtlCol="0" anchorCtr="0">
            <a:noAutofit/>
          </a:bodyPr>
          <a:lstStyle/>
          <a:p>
            <a:pPr algn="ctr" rtl="1">
              <a:lnSpc>
                <a:spcPts val="3080"/>
              </a:lnSpc>
              <a:spcBef>
                <a:spcPts val="0"/>
              </a:spcBef>
              <a:spcAft>
                <a:spcPts val="0"/>
              </a:spcAft>
            </a:pPr>
            <a:r>
              <a:rPr sz="2200" b="1" i="0">
                <a:solidFill>
                  <a:srgbClr val="F3EFE6"/>
                </a:solidFill>
                <a:latin typeface="Readex Pro"/>
                <a:ea typeface="Readex Pro"/>
                <a:cs typeface="Readex Pro"/>
              </a:rPr>
              <a:t>مطبق جزئياً</a:t>
            </a:r>
          </a:p>
        </p:txBody>
      </p:sp>
      <p:sp>
        <p:nvSpPr>
          <p:cNvPr id="10" name="Box 9"/>
          <p:cNvSpPr/>
          <p:nvPr/>
        </p:nvSpPr>
        <p:spPr>
          <a:xfrm>
            <a:off x="815975" y="1610320"/>
            <a:ext cx="8147050" cy="1403350"/>
          </a:xfrm>
          <a:prstGeom prst="roundRect">
            <a:avLst>
              <a:gd name="adj" fmla="val 8108"/>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1688425"/>
            <a:ext cx="796925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المتطلب موثق (د1) وطُبق في الربع الأول (د2)، لكنه لم يعمل باستمرار: الربع الثاني لم يُنفذ (د4)، و3 إزالات تأخرت (د3)، وبقيت صلاحيات غير مبررة (د5). اختيار «مطبق» يتجاهل نصف الفترة، واختيار «غير مطبق» يتجاهل ما نُفذ فعلاً.</a:t>
            </a:r>
          </a:p>
        </p:txBody>
      </p:sp>
      <p:sp>
        <p:nvSpPr>
          <p:cNvPr id="12" name="Box 11"/>
          <p:cNvSpPr/>
          <p:nvPr/>
        </p:nvSpPr>
        <p:spPr>
          <a:xfrm>
            <a:off x="815975" y="3439120"/>
            <a:ext cx="10560050" cy="2216150"/>
          </a:xfrm>
          <a:prstGeom prst="roundRect">
            <a:avLst>
              <a:gd name="adj" fmla="val 5142"/>
            </a:avLst>
          </a:prstGeom>
          <a:solidFill>
            <a:srgbClr val="FFFDF8"/>
          </a:solidFill>
          <a:ln w="6350">
            <a:solidFill>
              <a:srgbClr val="E1DBCD"/>
            </a:solidFill>
          </a:ln>
        </p:spPr>
        <p:txBody>
          <a:bodyPr rtlCol="0" anchor="ctr"/>
          <a:lstStyle/>
          <a:p>
            <a:pPr algn="ctr"/>
          </a:p>
        </p:txBody>
      </p:sp>
      <p:sp>
        <p:nvSpPr>
          <p:cNvPr id="13" name="Text 12"/>
          <p:cNvSpPr txBox="1"/>
          <p:nvPr/>
        </p:nvSpPr>
        <p:spPr>
          <a:xfrm>
            <a:off x="838200" y="3559135"/>
            <a:ext cx="10369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أدلة إضافية قبل الإغلاق</a:t>
            </a:r>
          </a:p>
        </p:txBody>
      </p:sp>
      <p:pic>
        <p:nvPicPr>
          <p:cNvPr id="14" name="Icon Check 13" descr="icon060.png"/>
          <p:cNvPicPr>
            <a:picLocks noChangeAspect="1"/>
          </p:cNvPicPr>
          <p:nvPr/>
        </p:nvPicPr>
        <p:blipFill>
          <a:blip r:embed="rId2"/>
          <a:stretch>
            <a:fillRect/>
          </a:stretch>
        </p:blipFill>
        <p:spPr>
          <a:xfrm>
            <a:off x="10972800" y="3950295"/>
            <a:ext cx="234950" cy="234950"/>
          </a:xfrm>
          <a:prstGeom prst="rect">
            <a:avLst/>
          </a:prstGeom>
        </p:spPr>
      </p:pic>
      <p:sp>
        <p:nvSpPr>
          <p:cNvPr id="15" name="Text 14"/>
          <p:cNvSpPr txBox="1"/>
          <p:nvPr/>
        </p:nvSpPr>
        <p:spPr>
          <a:xfrm>
            <a:off x="838200" y="39109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تغيير ترحيل النظام لتأكيد التاريخ وهل منع المراجعة فعلاً.</a:t>
            </a:r>
          </a:p>
        </p:txBody>
      </p:sp>
      <p:pic>
        <p:nvPicPr>
          <p:cNvPr id="16" name="Icon Check 15" descr="icon060.png"/>
          <p:cNvPicPr>
            <a:picLocks noChangeAspect="1"/>
          </p:cNvPicPr>
          <p:nvPr/>
        </p:nvPicPr>
        <p:blipFill>
          <a:blip r:embed="rId2"/>
          <a:stretch>
            <a:fillRect/>
          </a:stretch>
        </p:blipFill>
        <p:spPr>
          <a:xfrm>
            <a:off x="10972800" y="4356695"/>
            <a:ext cx="234950" cy="234950"/>
          </a:xfrm>
          <a:prstGeom prst="rect">
            <a:avLst/>
          </a:prstGeom>
        </p:spPr>
      </p:pic>
      <p:sp>
        <p:nvSpPr>
          <p:cNvPr id="17" name="Text 16"/>
          <p:cNvSpPr txBox="1"/>
          <p:nvPr/>
        </p:nvSpPr>
        <p:spPr>
          <a:xfrm>
            <a:off x="838200" y="43173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اعتُمد استثناء بتأجيل المراجعة وموعد بديل؟</a:t>
            </a:r>
          </a:p>
        </p:txBody>
      </p:sp>
      <p:pic>
        <p:nvPicPr>
          <p:cNvPr id="18" name="Icon Check 17" descr="icon060.png"/>
          <p:cNvPicPr>
            <a:picLocks noChangeAspect="1"/>
          </p:cNvPicPr>
          <p:nvPr/>
        </p:nvPicPr>
        <p:blipFill>
          <a:blip r:embed="rId2"/>
          <a:stretch>
            <a:fillRect/>
          </a:stretch>
        </p:blipFill>
        <p:spPr>
          <a:xfrm>
            <a:off x="10972800" y="4763095"/>
            <a:ext cx="234950" cy="234950"/>
          </a:xfrm>
          <a:prstGeom prst="rect">
            <a:avLst/>
          </a:prstGeom>
        </p:spPr>
      </p:pic>
      <p:sp>
        <p:nvSpPr>
          <p:cNvPr id="19" name="Text 18"/>
          <p:cNvSpPr txBox="1"/>
          <p:nvPr/>
        </p:nvSpPr>
        <p:spPr>
          <a:xfrm>
            <a:off x="838200" y="47237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نُفذت مراجعة الربع الثاني لاحقاً في يوليو؟</a:t>
            </a:r>
          </a:p>
        </p:txBody>
      </p:sp>
      <p:pic>
        <p:nvPicPr>
          <p:cNvPr id="20" name="Icon Check 19" descr="icon060.png"/>
          <p:cNvPicPr>
            <a:picLocks noChangeAspect="1"/>
          </p:cNvPicPr>
          <p:nvPr/>
        </p:nvPicPr>
        <p:blipFill>
          <a:blip r:embed="rId2"/>
          <a:stretch>
            <a:fillRect/>
          </a:stretch>
        </p:blipFill>
        <p:spPr>
          <a:xfrm>
            <a:off x="10972800" y="5169495"/>
            <a:ext cx="234950" cy="234950"/>
          </a:xfrm>
          <a:prstGeom prst="rect">
            <a:avLst/>
          </a:prstGeom>
        </p:spPr>
      </p:pic>
      <p:sp>
        <p:nvSpPr>
          <p:cNvPr id="21" name="Text 20"/>
          <p:cNvSpPr txBox="1"/>
          <p:nvPr/>
        </p:nvSpPr>
        <p:spPr>
          <a:xfrm>
            <a:off x="838200" y="51301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سبب تأخر الإزالات الثلاث من تذاكرها.</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3: أخطاء شائعة</a:t>
            </a:r>
          </a:p>
        </p:txBody>
      </p:sp>
      <p:sp>
        <p:nvSpPr>
          <p:cNvPr id="7" name="Box 6"/>
          <p:cNvSpPr/>
          <p:nvPr/>
        </p:nvSpPr>
        <p:spPr>
          <a:xfrm>
            <a:off x="6188075" y="1661120"/>
            <a:ext cx="5187950" cy="3613150"/>
          </a:xfrm>
          <a:prstGeom prst="roundRect">
            <a:avLst>
              <a:gd name="adj" fmla="val 3157"/>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القاعدة التي تمنعها</a:t>
            </a:r>
          </a:p>
        </p:txBody>
      </p:sp>
      <p:pic>
        <p:nvPicPr>
          <p:cNvPr id="9" name="Icon CheckCircle 8" descr="icon039.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618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ابحث عن دليل لكل مستوى: موثق، ومطبق، ويعمل.</a:t>
            </a:r>
          </a:p>
        </p:txBody>
      </p:sp>
      <p:pic>
        <p:nvPicPr>
          <p:cNvPr id="11" name="Icon CheckCircle 10" descr="icon039.png"/>
          <p:cNvPicPr>
            <a:picLocks noChangeAspect="1"/>
          </p:cNvPicPr>
          <p:nvPr/>
        </p:nvPicPr>
        <p:blipFill>
          <a:blip r:embed="rId2"/>
          <a:stretch>
            <a:fillRect/>
          </a:stretch>
        </p:blipFill>
        <p:spPr>
          <a:xfrm>
            <a:off x="10928350" y="3048595"/>
            <a:ext cx="241300" cy="241300"/>
          </a:xfrm>
          <a:prstGeom prst="rect">
            <a:avLst/>
          </a:prstGeom>
        </p:spPr>
      </p:pic>
      <p:sp>
        <p:nvSpPr>
          <p:cNvPr id="12" name="Text 11"/>
          <p:cNvSpPr txBox="1"/>
          <p:nvPr/>
        </p:nvSpPr>
        <p:spPr>
          <a:xfrm>
            <a:off x="6210300" y="3009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النتيجة تعكس الفترة كاملة.</a:t>
            </a:r>
          </a:p>
        </p:txBody>
      </p:sp>
      <p:pic>
        <p:nvPicPr>
          <p:cNvPr id="13" name="Icon CheckCircle 12" descr="icon039.png"/>
          <p:cNvPicPr>
            <a:picLocks noChangeAspect="1"/>
          </p:cNvPicPr>
          <p:nvPr/>
        </p:nvPicPr>
        <p:blipFill>
          <a:blip r:embed="rId2"/>
          <a:stretch>
            <a:fillRect/>
          </a:stretch>
        </p:blipFill>
        <p:spPr>
          <a:xfrm>
            <a:off x="10928350" y="3493095"/>
            <a:ext cx="241300" cy="241300"/>
          </a:xfrm>
          <a:prstGeom prst="rect">
            <a:avLst/>
          </a:prstGeom>
        </p:spPr>
      </p:pic>
      <p:sp>
        <p:nvSpPr>
          <p:cNvPr id="14" name="Text 13"/>
          <p:cNvSpPr txBox="1"/>
          <p:nvPr/>
        </p:nvSpPr>
        <p:spPr>
          <a:xfrm>
            <a:off x="6210300" y="3453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المقابلة تفتح سؤالاً ولا تغلقه.</a:t>
            </a:r>
          </a:p>
        </p:txBody>
      </p:sp>
      <p:pic>
        <p:nvPicPr>
          <p:cNvPr id="15" name="Icon CheckCircle 14" descr="icon039.png"/>
          <p:cNvPicPr>
            <a:picLocks noChangeAspect="1"/>
          </p:cNvPicPr>
          <p:nvPr/>
        </p:nvPicPr>
        <p:blipFill>
          <a:blip r:embed="rId2"/>
          <a:stretch>
            <a:fillRect/>
          </a:stretch>
        </p:blipFill>
        <p:spPr>
          <a:xfrm>
            <a:off x="10928350" y="3937595"/>
            <a:ext cx="241300" cy="241300"/>
          </a:xfrm>
          <a:prstGeom prst="rect">
            <a:avLst/>
          </a:prstGeom>
        </p:spPr>
      </p:pic>
      <p:sp>
        <p:nvSpPr>
          <p:cNvPr id="16" name="Text 15"/>
          <p:cNvSpPr txBox="1"/>
          <p:nvPr/>
        </p:nvSpPr>
        <p:spPr>
          <a:xfrm>
            <a:off x="6210300" y="3898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التعميم يحتاج مبرراً.</a:t>
            </a:r>
          </a:p>
        </p:txBody>
      </p:sp>
      <p:pic>
        <p:nvPicPr>
          <p:cNvPr id="17" name="Icon CheckCircle 16" descr="icon039.png"/>
          <p:cNvPicPr>
            <a:picLocks noChangeAspect="1"/>
          </p:cNvPicPr>
          <p:nvPr/>
        </p:nvPicPr>
        <p:blipFill>
          <a:blip r:embed="rId2"/>
          <a:stretch>
            <a:fillRect/>
          </a:stretch>
        </p:blipFill>
        <p:spPr>
          <a:xfrm>
            <a:off x="10928350" y="4382095"/>
            <a:ext cx="241300" cy="241300"/>
          </a:xfrm>
          <a:prstGeom prst="rect">
            <a:avLst/>
          </a:prstGeom>
        </p:spPr>
      </p:pic>
      <p:sp>
        <p:nvSpPr>
          <p:cNvPr id="18" name="Text 17"/>
          <p:cNvSpPr txBox="1"/>
          <p:nvPr/>
        </p:nvSpPr>
        <p:spPr>
          <a:xfrm>
            <a:off x="6210300" y="4342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يُتحقق منه بدليل.</a:t>
            </a:r>
          </a:p>
        </p:txBody>
      </p:sp>
      <p:sp>
        <p:nvSpPr>
          <p:cNvPr id="19" name="Box 18"/>
          <p:cNvSpPr/>
          <p:nvPr/>
        </p:nvSpPr>
        <p:spPr>
          <a:xfrm>
            <a:off x="815975" y="1661120"/>
            <a:ext cx="5187950" cy="3613150"/>
          </a:xfrm>
          <a:prstGeom prst="roundRect">
            <a:avLst>
              <a:gd name="adj" fmla="val 3157"/>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21" name="Icon Warning 20" descr="icon040.png"/>
          <p:cNvPicPr>
            <a:picLocks noChangeAspect="1"/>
          </p:cNvPicPr>
          <p:nvPr/>
        </p:nvPicPr>
        <p:blipFill>
          <a:blip r:embed="rId3"/>
          <a:stretch>
            <a:fillRect/>
          </a:stretch>
        </p:blipFill>
        <p:spPr>
          <a:xfrm>
            <a:off x="5556250" y="2248495"/>
            <a:ext cx="241300" cy="241300"/>
          </a:xfrm>
          <a:prstGeom prst="rect">
            <a:avLst/>
          </a:prstGeom>
        </p:spPr>
      </p:pic>
      <p:sp>
        <p:nvSpPr>
          <p:cNvPr id="22" name="Text 21"/>
          <p:cNvSpPr txBox="1"/>
          <p:nvPr/>
        </p:nvSpPr>
        <p:spPr>
          <a:xfrm>
            <a:off x="8897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«مطبق» لأن المعيار موجود: الوثيقة لا تثبت التشغيل.</a:t>
            </a:r>
          </a:p>
        </p:txBody>
      </p:sp>
      <p:pic>
        <p:nvPicPr>
          <p:cNvPr id="23" name="Icon Warning 22" descr="icon040.png"/>
          <p:cNvPicPr>
            <a:picLocks noChangeAspect="1"/>
          </p:cNvPicPr>
          <p:nvPr/>
        </p:nvPicPr>
        <p:blipFill>
          <a:blip r:embed="rId3"/>
          <a:stretch>
            <a:fillRect/>
          </a:stretch>
        </p:blipFill>
        <p:spPr>
          <a:xfrm>
            <a:off x="5556250" y="3048595"/>
            <a:ext cx="241300" cy="241300"/>
          </a:xfrm>
          <a:prstGeom prst="rect">
            <a:avLst/>
          </a:prstGeom>
        </p:spPr>
      </p:pic>
      <p:sp>
        <p:nvSpPr>
          <p:cNvPr id="24" name="Text 23"/>
          <p:cNvSpPr txBox="1"/>
          <p:nvPr/>
        </p:nvSpPr>
        <p:spPr>
          <a:xfrm>
            <a:off x="838200" y="3009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«غير مطبق» مع تجاهل الربع الأول.</a:t>
            </a:r>
          </a:p>
        </p:txBody>
      </p:sp>
      <p:pic>
        <p:nvPicPr>
          <p:cNvPr id="25" name="Icon Warning 24" descr="icon040.png"/>
          <p:cNvPicPr>
            <a:picLocks noChangeAspect="1"/>
          </p:cNvPicPr>
          <p:nvPr/>
        </p:nvPicPr>
        <p:blipFill>
          <a:blip r:embed="rId3"/>
          <a:stretch>
            <a:fillRect/>
          </a:stretch>
        </p:blipFill>
        <p:spPr>
          <a:xfrm>
            <a:off x="5556250" y="3493095"/>
            <a:ext cx="241300" cy="241300"/>
          </a:xfrm>
          <a:prstGeom prst="rect">
            <a:avLst/>
          </a:prstGeom>
        </p:spPr>
      </p:pic>
      <p:sp>
        <p:nvSpPr>
          <p:cNvPr id="26" name="Text 25"/>
          <p:cNvSpPr txBox="1"/>
          <p:nvPr/>
        </p:nvSpPr>
        <p:spPr>
          <a:xfrm>
            <a:off x="838200" y="3453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الاعتماد على المقابلة وحدها دليلاً.</a:t>
            </a:r>
          </a:p>
        </p:txBody>
      </p:sp>
      <p:pic>
        <p:nvPicPr>
          <p:cNvPr id="27" name="Icon Warning 26" descr="icon040.png"/>
          <p:cNvPicPr>
            <a:picLocks noChangeAspect="1"/>
          </p:cNvPicPr>
          <p:nvPr/>
        </p:nvPicPr>
        <p:blipFill>
          <a:blip r:embed="rId3"/>
          <a:stretch>
            <a:fillRect/>
          </a:stretch>
        </p:blipFill>
        <p:spPr>
          <a:xfrm>
            <a:off x="5556250" y="3937595"/>
            <a:ext cx="241300" cy="241300"/>
          </a:xfrm>
          <a:prstGeom prst="rect">
            <a:avLst/>
          </a:prstGeom>
        </p:spPr>
      </p:pic>
      <p:sp>
        <p:nvSpPr>
          <p:cNvPr id="28" name="Text 27"/>
          <p:cNvSpPr txBox="1"/>
          <p:nvPr/>
        </p:nvSpPr>
        <p:spPr>
          <a:xfrm>
            <a:off x="889762" y="3898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تعميم: «كل الإزالات متأخرة» من 3 حالات من 12.</a:t>
            </a:r>
          </a:p>
        </p:txBody>
      </p:sp>
      <p:pic>
        <p:nvPicPr>
          <p:cNvPr id="29" name="Icon Warning 28" descr="icon040.png"/>
          <p:cNvPicPr>
            <a:picLocks noChangeAspect="1"/>
          </p:cNvPicPr>
          <p:nvPr/>
        </p:nvPicPr>
        <p:blipFill>
          <a:blip r:embed="rId3"/>
          <a:stretch>
            <a:fillRect/>
          </a:stretch>
        </p:blipFill>
        <p:spPr>
          <a:xfrm>
            <a:off x="5556250" y="4737695"/>
            <a:ext cx="241300" cy="241300"/>
          </a:xfrm>
          <a:prstGeom prst="rect">
            <a:avLst/>
          </a:prstGeom>
        </p:spPr>
      </p:pic>
      <p:sp>
        <p:nvSpPr>
          <p:cNvPr id="30" name="Text 29"/>
          <p:cNvSpPr txBox="1"/>
          <p:nvPr/>
        </p:nvSpPr>
        <p:spPr>
          <a:xfrm>
            <a:off x="838200" y="46983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اعتبار سبب البريد مؤكداً دون تحقق.</a:t>
            </a:r>
          </a:p>
        </p:txBody>
      </p:sp>
      <p:sp>
        <p:nvSpPr>
          <p:cNvPr id="31" name="Text 3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2" name="Text 3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التصميم والتنفيذ والتشغيل: ثلاث فجوات مختلفة</a:t>
            </a:r>
          </a:p>
        </p:txBody>
      </p:sp>
      <p:sp>
        <p:nvSpPr>
          <p:cNvPr id="5" name="Rule 4"/>
          <p:cNvSpPr/>
          <p:nvPr/>
        </p:nvSpPr>
        <p:spPr>
          <a:xfrm>
            <a:off x="8097540" y="16452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12294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ملاءمة التصميم</a:t>
            </a:r>
          </a:p>
        </p:txBody>
      </p:sp>
      <p:sp>
        <p:nvSpPr>
          <p:cNvPr id="8" name="Text 7"/>
          <p:cNvSpPr txBox="1"/>
          <p:nvPr/>
        </p:nvSpPr>
        <p:spPr>
          <a:xfrm>
            <a:off x="812294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a:solidFill>
                  <a:srgbClr val="172433"/>
                </a:solidFill>
                <a:latin typeface="IBM Plex Sans Arabic"/>
                <a:ea typeface="IBM Plex Sans Arabic"/>
                <a:cs typeface="IBM Plex Sans Arabic"/>
              </a:rPr>
              <a:t>هل الضابط، كما صُمّم، يغطي الخطر والنطاق المطلوبين؟</a:t>
            </a:r>
          </a:p>
        </p:txBody>
      </p:sp>
      <p:sp>
        <p:nvSpPr>
          <p:cNvPr id="9" name="Text 8"/>
          <p:cNvSpPr txBox="1"/>
          <p:nvPr/>
        </p:nvSpPr>
        <p:spPr>
          <a:xfrm>
            <a:off x="812294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الدليل: نص الإجراء أو المعيار، ونطاقه، ومقارنته بالخطر والأنظمة.</a:t>
            </a:r>
          </a:p>
        </p:txBody>
      </p:sp>
      <p:sp>
        <p:nvSpPr>
          <p:cNvPr id="10" name="Text 9"/>
          <p:cNvSpPr txBox="1"/>
          <p:nvPr/>
        </p:nvSpPr>
        <p:spPr>
          <a:xfrm>
            <a:off x="7660580"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1" name="Rule 10"/>
          <p:cNvSpPr/>
          <p:nvPr/>
        </p:nvSpPr>
        <p:spPr>
          <a:xfrm>
            <a:off x="4455120" y="1645245"/>
            <a:ext cx="3281660" cy="31750"/>
          </a:xfrm>
          <a:prstGeom prst="rect">
            <a:avLst/>
          </a:prstGeom>
          <a:solidFill>
            <a:srgbClr val="24506B"/>
          </a:solidFill>
          <a:ln>
            <a:noFill/>
          </a:ln>
        </p:spPr>
        <p:txBody>
          <a:bodyPr rtlCol="0" anchor="ctr"/>
          <a:lstStyle/>
          <a:p>
            <a:pPr algn="ctr"/>
          </a:p>
        </p:txBody>
      </p:sp>
      <p:sp>
        <p:nvSpPr>
          <p:cNvPr id="12" name="Text 11"/>
          <p:cNvSpPr txBox="1"/>
          <p:nvPr/>
        </p:nvSpPr>
        <p:spPr>
          <a:xfrm>
            <a:off x="448052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24506B"/>
                </a:solidFill>
                <a:latin typeface="Readex Pro"/>
                <a:ea typeface="Readex Pro"/>
                <a:cs typeface="Readex Pro"/>
              </a:rPr>
              <a:t>2</a:t>
            </a:r>
          </a:p>
        </p:txBody>
      </p:sp>
      <p:sp>
        <p:nvSpPr>
          <p:cNvPr id="13" name="Text 12"/>
          <p:cNvSpPr txBox="1"/>
          <p:nvPr/>
        </p:nvSpPr>
        <p:spPr>
          <a:xfrm>
            <a:off x="448052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التنفيذ</a:t>
            </a:r>
          </a:p>
        </p:txBody>
      </p:sp>
      <p:sp>
        <p:nvSpPr>
          <p:cNvPr id="14" name="Text 13"/>
          <p:cNvSpPr txBox="1"/>
          <p:nvPr/>
        </p:nvSpPr>
        <p:spPr>
          <a:xfrm>
            <a:off x="448052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a:solidFill>
                  <a:srgbClr val="172433"/>
                </a:solidFill>
                <a:latin typeface="IBM Plex Sans Arabic"/>
                <a:ea typeface="IBM Plex Sans Arabic"/>
                <a:cs typeface="IBM Plex Sans Arabic"/>
              </a:rPr>
              <a:t>هل طبقت الجهة الضابط فعلاً كما صُمّم؟</a:t>
            </a:r>
          </a:p>
        </p:txBody>
      </p:sp>
      <p:sp>
        <p:nvSpPr>
          <p:cNvPr id="15" name="Text 14"/>
          <p:cNvSpPr txBox="1"/>
          <p:nvPr/>
        </p:nvSpPr>
        <p:spPr>
          <a:xfrm>
            <a:off x="448052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الدليل: أول تشغيل: إعداد، أو ملف، أو تذكرة بتاريخ.</a:t>
            </a:r>
          </a:p>
        </p:txBody>
      </p:sp>
      <p:sp>
        <p:nvSpPr>
          <p:cNvPr id="16" name="Text 15"/>
          <p:cNvSpPr txBox="1"/>
          <p:nvPr/>
        </p:nvSpPr>
        <p:spPr>
          <a:xfrm>
            <a:off x="4018161"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Rule 16"/>
          <p:cNvSpPr/>
          <p:nvPr/>
        </p:nvSpPr>
        <p:spPr>
          <a:xfrm>
            <a:off x="812701" y="1645245"/>
            <a:ext cx="3281660" cy="31750"/>
          </a:xfrm>
          <a:prstGeom prst="rect">
            <a:avLst/>
          </a:prstGeom>
          <a:solidFill>
            <a:srgbClr val="8A4B12"/>
          </a:solidFill>
          <a:ln>
            <a:noFill/>
          </a:ln>
        </p:spPr>
        <p:txBody>
          <a:bodyPr rtlCol="0" anchor="ctr"/>
          <a:lstStyle/>
          <a:p>
            <a:pPr algn="ctr"/>
          </a:p>
        </p:txBody>
      </p:sp>
      <p:sp>
        <p:nvSpPr>
          <p:cNvPr id="18" name="Text 17"/>
          <p:cNvSpPr txBox="1"/>
          <p:nvPr/>
        </p:nvSpPr>
        <p:spPr>
          <a:xfrm>
            <a:off x="838101"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8A4B12"/>
                </a:solidFill>
                <a:latin typeface="Readex Pro"/>
                <a:ea typeface="Readex Pro"/>
                <a:cs typeface="Readex Pro"/>
              </a:rPr>
              <a:t>3</a:t>
            </a:r>
          </a:p>
        </p:txBody>
      </p:sp>
      <p:sp>
        <p:nvSpPr>
          <p:cNvPr id="19" name="Text 18"/>
          <p:cNvSpPr txBox="1"/>
          <p:nvPr/>
        </p:nvSpPr>
        <p:spPr>
          <a:xfrm>
            <a:off x="838101"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فاعلية التشغيل</a:t>
            </a:r>
          </a:p>
        </p:txBody>
      </p:sp>
      <p:sp>
        <p:nvSpPr>
          <p:cNvPr id="20" name="Text 19"/>
          <p:cNvSpPr txBox="1"/>
          <p:nvPr/>
        </p:nvSpPr>
        <p:spPr>
          <a:xfrm>
            <a:off x="838101"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a:solidFill>
                  <a:srgbClr val="172433"/>
                </a:solidFill>
                <a:latin typeface="IBM Plex Sans Arabic"/>
                <a:ea typeface="IBM Plex Sans Arabic"/>
                <a:cs typeface="IBM Plex Sans Arabic"/>
              </a:rPr>
              <a:t>هل عمل وفق تصميمه، وبالتكرار المطلوب، طوال الفترة؟</a:t>
            </a:r>
          </a:p>
        </p:txBody>
      </p:sp>
      <p:sp>
        <p:nvSpPr>
          <p:cNvPr id="21" name="Text 20"/>
          <p:cNvSpPr txBox="1"/>
          <p:nvPr/>
        </p:nvSpPr>
        <p:spPr>
          <a:xfrm>
            <a:off x="838101"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الدليل: أدلة تغطي الفترة كلها: كل دورة، وكل عينة.</a:t>
            </a:r>
          </a:p>
        </p:txBody>
      </p:sp>
      <p:sp>
        <p:nvSpPr>
          <p:cNvPr id="22" name="Box 21"/>
          <p:cNvSpPr/>
          <p:nvPr/>
        </p:nvSpPr>
        <p:spPr>
          <a:xfrm>
            <a:off x="812800" y="4280495"/>
            <a:ext cx="10566400" cy="609600"/>
          </a:xfrm>
          <a:prstGeom prst="roundRect">
            <a:avLst>
              <a:gd name="adj" fmla="val 16666"/>
            </a:avLst>
          </a:prstGeom>
          <a:solidFill>
            <a:srgbClr val="172433"/>
          </a:solidFill>
          <a:ln>
            <a:noFill/>
          </a:ln>
        </p:spPr>
        <p:txBody>
          <a:bodyPr rtlCol="0" anchor="ctr"/>
          <a:lstStyle/>
          <a:p>
            <a:pPr algn="ctr"/>
          </a:p>
        </p:txBody>
      </p:sp>
      <p:pic>
        <p:nvPicPr>
          <p:cNvPr id="23" name="Icon Lightbulb 22" descr="icon028.png"/>
          <p:cNvPicPr>
            <a:picLocks noChangeAspect="1"/>
          </p:cNvPicPr>
          <p:nvPr/>
        </p:nvPicPr>
        <p:blipFill>
          <a:blip r:embed="rId2"/>
          <a:stretch>
            <a:fillRect/>
          </a:stretch>
        </p:blipFill>
        <p:spPr>
          <a:xfrm>
            <a:off x="10922000" y="4445595"/>
            <a:ext cx="279400" cy="279400"/>
          </a:xfrm>
          <a:prstGeom prst="rect">
            <a:avLst/>
          </a:prstGeom>
        </p:spPr>
      </p:pic>
      <p:sp>
        <p:nvSpPr>
          <p:cNvPr id="24" name="Text 23"/>
          <p:cNvSpPr txBox="1"/>
          <p:nvPr/>
        </p:nvSpPr>
        <p:spPr>
          <a:xfrm>
            <a:off x="838200" y="43681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اسأل بالترتيب: لا معنى لاختبار تشغيل ضابط سيئ التصميم، أو ضابط لم يُطبق بعد.</a:t>
            </a:r>
          </a:p>
        </p:txBody>
      </p:sp>
      <p:sp>
        <p:nvSpPr>
          <p:cNvPr id="25" name="Text 24"/>
          <p:cNvSpPr txBox="1"/>
          <p:nvPr/>
        </p:nvSpPr>
        <p:spPr>
          <a:xfrm>
            <a:off x="0" y="502852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وأسئلة الشريحة 91، موثق ومطبق ويعمل باستمرار، هي هذه الأسئلة من زاوية الأدلة.</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731548"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(1 من 2): فجوة تصميم وفجوة تنفيذ</a:t>
            </a:r>
          </a:p>
        </p:txBody>
      </p:sp>
      <p:sp>
        <p:nvSpPr>
          <p:cNvPr id="6" name="Rule 5"/>
          <p:cNvSpPr/>
          <p:nvPr/>
        </p:nvSpPr>
        <p:spPr>
          <a:xfrm>
            <a:off x="812800" y="1683345"/>
            <a:ext cx="10566400" cy="31750"/>
          </a:xfrm>
          <a:prstGeom prst="rect">
            <a:avLst/>
          </a:prstGeom>
          <a:solidFill>
            <a:srgbClr val="0E7C6B"/>
          </a:solidFill>
          <a:ln>
            <a:noFill/>
          </a:ln>
        </p:spPr>
        <p:txBody>
          <a:bodyPr rtlCol="0" anchor="ctr"/>
          <a:lstStyle/>
          <a:p>
            <a:pPr algn="ctr"/>
          </a:p>
        </p:txBody>
      </p:sp>
      <p:sp>
        <p:nvSpPr>
          <p:cNvPr id="7" name="Text 6"/>
          <p:cNvSpPr txBox="1"/>
          <p:nvPr/>
        </p:nvSpPr>
        <p:spPr>
          <a:xfrm>
            <a:off x="812800" y="1789136"/>
            <a:ext cx="10566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0E7C6B"/>
                </a:solidFill>
                <a:latin typeface="Readex Pro"/>
                <a:ea typeface="Readex Pro"/>
                <a:cs typeface="Readex Pro"/>
              </a:rPr>
              <a:t>1. فجوة تصميم · البريد والملفات السحابية</a:t>
            </a:r>
          </a:p>
        </p:txBody>
      </p:sp>
      <p:sp>
        <p:nvSpPr>
          <p:cNvPr id="8" name="Text 7"/>
          <p:cNvSpPr txBox="1"/>
          <p:nvPr/>
        </p:nvSpPr>
        <p:spPr>
          <a:xfrm>
            <a:off x="7703312" y="2124396"/>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389620"/>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إجراء مراجعة صلاحيات البريد PRC-⁠AC-⁠05، أبريل 2026: «يراجع مدير كل إدارة حسابات موظفي إدارته كل ستة أشهر».</a:t>
            </a:r>
          </a:p>
        </p:txBody>
      </p:sp>
      <p:sp>
        <p:nvSpPr>
          <p:cNvPr id="10" name="Text 9"/>
          <p:cNvSpPr txBox="1"/>
          <p:nvPr/>
        </p:nvSpPr>
        <p:spPr>
          <a:xfrm>
            <a:off x="4121912" y="2124396"/>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الدليل</a:t>
            </a:r>
          </a:p>
        </p:txBody>
      </p:sp>
      <p:sp>
        <p:nvSpPr>
          <p:cNvPr id="11" name="Text 10"/>
          <p:cNvSpPr txBox="1"/>
          <p:nvPr/>
        </p:nvSpPr>
        <p:spPr>
          <a:xfrm>
            <a:off x="4292092" y="2389620"/>
            <a:ext cx="3505708"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تصدير الحسابات:‏ 203 حسابات، منها 4 حسابات إدارية لا تتبع أي إدارة: it-⁠admin01 وit-⁠admin02 وsanad-⁠mail-⁠admin وsvc-⁠backup.</a:t>
            </a:r>
          </a:p>
        </p:txBody>
      </p:sp>
      <p:sp>
        <p:nvSpPr>
          <p:cNvPr id="12" name="Text 11"/>
          <p:cNvSpPr txBox="1"/>
          <p:nvPr/>
        </p:nvSpPr>
        <p:spPr>
          <a:xfrm>
            <a:off x="812800" y="2124396"/>
            <a:ext cx="34036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389620"/>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لا مدير يراجع الحسابات الإدارية، فهي خارج المراجعة بالتصميم. ولو نُفذ الإجراء بإتقان لبقيت أخطر الحسابات بلا مراجعة.</a:t>
            </a:r>
          </a:p>
        </p:txBody>
      </p:sp>
      <p:sp>
        <p:nvSpPr>
          <p:cNvPr id="14" name="Rule 13"/>
          <p:cNvSpPr/>
          <p:nvPr/>
        </p:nvSpPr>
        <p:spPr>
          <a:xfrm>
            <a:off x="812800" y="3820418"/>
            <a:ext cx="10566400" cy="31750"/>
          </a:xfrm>
          <a:prstGeom prst="rect">
            <a:avLst/>
          </a:prstGeom>
          <a:solidFill>
            <a:srgbClr val="24506B"/>
          </a:solidFill>
          <a:ln>
            <a:noFill/>
          </a:ln>
        </p:spPr>
        <p:txBody>
          <a:bodyPr rtlCol="0" anchor="ctr"/>
          <a:lstStyle/>
          <a:p>
            <a:pPr algn="ctr"/>
          </a:p>
        </p:txBody>
      </p:sp>
      <p:sp>
        <p:nvSpPr>
          <p:cNvPr id="15" name="Text 14"/>
          <p:cNvSpPr txBox="1"/>
          <p:nvPr/>
        </p:nvSpPr>
        <p:spPr>
          <a:xfrm>
            <a:off x="812800" y="3926209"/>
            <a:ext cx="10566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24506B"/>
                </a:solidFill>
                <a:latin typeface="Readex Pro"/>
                <a:ea typeface="Readex Pro"/>
                <a:cs typeface="Readex Pro"/>
              </a:rPr>
              <a:t>2. فجوة تنفيذ · تطبيق تتبع الشحنات</a:t>
            </a:r>
          </a:p>
        </p:txBody>
      </p:sp>
      <p:sp>
        <p:nvSpPr>
          <p:cNvPr id="16" name="Text 15"/>
          <p:cNvSpPr txBox="1"/>
          <p:nvPr/>
        </p:nvSpPr>
        <p:spPr>
          <a:xfrm>
            <a:off x="7703312" y="4261469"/>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ما صُمّم ووُثّق</a:t>
            </a:r>
          </a:p>
        </p:txBody>
      </p:sp>
      <p:sp>
        <p:nvSpPr>
          <p:cNvPr id="17" name="Text 16"/>
          <p:cNvSpPr txBox="1"/>
          <p:nvPr/>
        </p:nvSpPr>
        <p:spPr>
          <a:xfrm>
            <a:off x="7873492" y="4526693"/>
            <a:ext cx="3505708"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معيار التحكم بالوصول STD-⁠AC-⁠01، الإصدار 1.1 المعتمد في 15 مارس 2026: يضيف تطبيق التتبع، ومراجعة كل 3 أشهر، وأولها قبل 30 أبريل.</a:t>
            </a:r>
          </a:p>
        </p:txBody>
      </p:sp>
      <p:sp>
        <p:nvSpPr>
          <p:cNvPr id="18" name="Text 17"/>
          <p:cNvSpPr txBox="1"/>
          <p:nvPr/>
        </p:nvSpPr>
        <p:spPr>
          <a:xfrm>
            <a:off x="4121912" y="4261469"/>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الدليل</a:t>
            </a:r>
          </a:p>
        </p:txBody>
      </p:sp>
      <p:sp>
        <p:nvSpPr>
          <p:cNvPr id="19" name="Text 18"/>
          <p:cNvSpPr txBox="1"/>
          <p:nvPr/>
        </p:nvSpPr>
        <p:spPr>
          <a:xfrm>
            <a:off x="4292092" y="4526693"/>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لا ملف مراجعة ولا تصدير لمستخدمي التطبيق. بريد من تقنية المعلومات في 2 يوليو: «لم نحدد بعد من يصدّر قائمة المستخدمين».</a:t>
            </a:r>
          </a:p>
        </p:txBody>
      </p:sp>
      <p:sp>
        <p:nvSpPr>
          <p:cNvPr id="20" name="Text 19"/>
          <p:cNvSpPr txBox="1"/>
          <p:nvPr/>
        </p:nvSpPr>
        <p:spPr>
          <a:xfrm>
            <a:off x="812800" y="4261469"/>
            <a:ext cx="34036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4E5A66"/>
                </a:solidFill>
                <a:latin typeface="IBM Plex Sans Arabic"/>
                <a:ea typeface="IBM Plex Sans Arabic"/>
                <a:cs typeface="IBM Plex Sans Arabic"/>
              </a:rPr>
              <a:t>الاستنتاج</a:t>
            </a:r>
          </a:p>
        </p:txBody>
      </p:sp>
      <p:sp>
        <p:nvSpPr>
          <p:cNvPr id="21" name="Text 20"/>
          <p:cNvSpPr txBox="1"/>
          <p:nvPr/>
        </p:nvSpPr>
        <p:spPr>
          <a:xfrm>
            <a:off x="812800" y="4526693"/>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الضابط مصمم وموثق ومعتمد، لكنه لم يُطبق مرة واحدة. لا معنى لاختبار فاعليته قبل أن يبدأ.</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731548"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(2 من 2): فجوة تشغيل، ولماذا يهمك النوع</a:t>
            </a:r>
          </a:p>
        </p:txBody>
      </p:sp>
      <p:sp>
        <p:nvSpPr>
          <p:cNvPr id="6" name="Rule 5"/>
          <p:cNvSpPr/>
          <p:nvPr/>
        </p:nvSpPr>
        <p:spPr>
          <a:xfrm>
            <a:off x="812800" y="1657945"/>
            <a:ext cx="10566400" cy="31750"/>
          </a:xfrm>
          <a:prstGeom prst="rect">
            <a:avLst/>
          </a:prstGeom>
          <a:solidFill>
            <a:srgbClr val="8A4B12"/>
          </a:solidFill>
          <a:ln>
            <a:noFill/>
          </a:ln>
        </p:spPr>
        <p:txBody>
          <a:bodyPr rtlCol="0" anchor="ctr"/>
          <a:lstStyle/>
          <a:p>
            <a:pPr algn="ctr"/>
          </a:p>
        </p:txBody>
      </p:sp>
      <p:sp>
        <p:nvSpPr>
          <p:cNvPr id="7" name="Text 6"/>
          <p:cNvSpPr txBox="1"/>
          <p:nvPr/>
        </p:nvSpPr>
        <p:spPr>
          <a:xfrm>
            <a:off x="812800" y="1763736"/>
            <a:ext cx="10566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8A4B12"/>
                </a:solidFill>
                <a:latin typeface="Readex Pro"/>
                <a:ea typeface="Readex Pro"/>
                <a:cs typeface="Readex Pro"/>
              </a:rPr>
              <a:t>3. فجوة تشغيل · نظام الموارد البشرية والرواتب</a:t>
            </a:r>
          </a:p>
        </p:txBody>
      </p:sp>
      <p:sp>
        <p:nvSpPr>
          <p:cNvPr id="8" name="Text 7"/>
          <p:cNvSpPr txBox="1"/>
          <p:nvPr/>
        </p:nvSpPr>
        <p:spPr>
          <a:xfrm>
            <a:off x="7703312" y="209505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399840"/>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المعيار نفسه، الإصدار 1.0: مراجعة كل 3 أشهر. وهو الضابط الذي فحصته في التطبيق 3.</a:t>
            </a:r>
          </a:p>
        </p:txBody>
      </p:sp>
      <p:sp>
        <p:nvSpPr>
          <p:cNvPr id="10" name="Text 9"/>
          <p:cNvSpPr txBox="1"/>
          <p:nvPr/>
        </p:nvSpPr>
        <p:spPr>
          <a:xfrm>
            <a:off x="4121912" y="209505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الدليل</a:t>
            </a:r>
          </a:p>
        </p:txBody>
      </p:sp>
      <p:sp>
        <p:nvSpPr>
          <p:cNvPr id="11" name="Text 10"/>
          <p:cNvSpPr txBox="1"/>
          <p:nvPr/>
        </p:nvSpPr>
        <p:spPr>
          <a:xfrm>
            <a:off x="4292092" y="2399840"/>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مراجعة الربع الأول منفذة ومعتمدة في 8 أبريل. لا ملف لمراجعة الربع الثاني حتى 30 يونيو.</a:t>
            </a:r>
          </a:p>
        </p:txBody>
      </p:sp>
      <p:sp>
        <p:nvSpPr>
          <p:cNvPr id="12" name="Text 11"/>
          <p:cNvSpPr txBox="1"/>
          <p:nvPr/>
        </p:nvSpPr>
        <p:spPr>
          <a:xfrm>
            <a:off x="812800" y="2095059"/>
            <a:ext cx="340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399840"/>
            <a:ext cx="34036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الضابط صُمم جيداً وطُبق فعلاً، لكنه لم يعمل بالتكرار المطلوب طوال الفترة.</a:t>
            </a:r>
          </a:p>
        </p:txBody>
      </p:sp>
      <p:graphicFrame>
        <p:nvGraphicFramePr>
          <p:cNvPr id="14" name="Table 13"/>
          <p:cNvGraphicFramePr>
            <a:graphicFrameLocks noGrp="1"/>
          </p:cNvGraphicFramePr>
          <p:nvPr/>
        </p:nvGraphicFramePr>
        <p:xfrm>
          <a:off x="815975" y="3513832"/>
          <a:ext cx="10560050" cy="1964928"/>
        </p:xfrm>
        <a:graphic>
          <a:graphicData uri="http://schemas.openxmlformats.org/drawingml/2006/table">
            <a:tbl>
              <a:tblPr firstRow="0" bandRow="0" lastRow="0" firstCol="0" lastCol="0" bandCol="0">
                <a:tableStyleId>{2D5ABB26-0587-4C30-8999-92F81FD0307C}</a:tableStyleId>
              </a:tblPr>
              <a:tblGrid>
                <a:gridCol w="4435475"/>
                <a:gridCol w="4434840"/>
                <a:gridCol w="168973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مثال من رُفاد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العلاج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نوع الفجوة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إضافة الحسابات الإدارية إلى مراجعة البريد بمراجع محدد.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الإجراء أو المعيار ليغطي الخطر والنطاق.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تصميم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تحديد من يصدّر مستخدمي تطبيق التتبع، وتنفيذ أول مراجعة.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بدء التطبيق: مالك، وأداة، وموعد أول 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تنفيذ</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مراجعة الربع الثاني، وجدول بتذكير آلي.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استعادة الدورة المفقودة، ومتابعة تمنع التكرار.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8A4B12"/>
                          </a:solidFill>
                          <a:latin typeface="IBM Plex Sans Arabic"/>
                          <a:ea typeface="IBM Plex Sans Arabic"/>
                          <a:cs typeface="IBM Plex Sans Arabic"/>
                        </a:rPr>
                        <a:t>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20300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ما نوع الفجوة؟</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8A4B12"/>
                </a:solidFill>
                <a:latin typeface="IBM Plex Sans Arabic"/>
                <a:ea typeface="IBM Plex Sans Arabic"/>
                <a:cs typeface="IBM Plex Sans Arabic"/>
              </a:rPr>
              <a:t>لكل موقف: ما نوع الفجوة: تصميم، أم تنفيذ، أم تشغيل؟ ولماذا؟ وما الدليل الذي يؤكد استنتاجك؟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112010"/>
                <a:gridCol w="2534285"/>
                <a:gridCol w="5280025"/>
                <a:gridCol w="63373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نوع الفجوة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الموقف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معيار الوصول عن بعد يفرض MFA على كل مستخدمي VPN، لكنه يسمح بـ«استثناءات مؤقتة» دون موافقة ولا مدة.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سياسة الأطراف الخارجية المعتمدة في مايو 2026 تطلب بند إبلاغ عن الحوادث في كل عقد، ولم يُعدَّل عقد سَنَد ولم يُرسل له ملحق.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معيار النسخ يطلب نسخة يومية لخادم التتبع، والمهمة مضبوطة يومياً، لكن تقرير المهام يُظهر 9 أيام فاشلة متتالية في مايو دون متابعة.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10079"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ما نوع الفجوة؟</a:t>
            </a:r>
          </a:p>
        </p:txBody>
      </p:sp>
      <p:graphicFrame>
        <p:nvGraphicFramePr>
          <p:cNvPr id="6" name="Table 5"/>
          <p:cNvGraphicFramePr>
            <a:graphicFrameLocks noGrp="1"/>
          </p:cNvGraphicFramePr>
          <p:nvPr/>
        </p:nvGraphicFramePr>
        <p:xfrm>
          <a:off x="815975" y="1635720"/>
          <a:ext cx="10560050" cy="2825154"/>
        </p:xfrm>
        <a:graphic>
          <a:graphicData uri="http://schemas.openxmlformats.org/drawingml/2006/table">
            <a:tbl>
              <a:tblPr firstRow="0" bandRow="0" lastRow="0" firstCol="0" lastCol="0" bandCol="0">
                <a:tableStyleId>{2D5ABB26-0587-4C30-8999-92F81FD0307C}</a:tableStyleId>
              </a:tblPr>
              <a:tblGrid>
                <a:gridCol w="3590290"/>
                <a:gridCol w="5280025"/>
                <a:gridCol w="168973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الدليل الذي يؤكده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النوع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نص المعيار، وقائمة الاستثناءات القائمة وتواريخها.</a:t>
                      </a:r>
                    </a:p>
                  </a:txBody>
                  <a:tcPr marT="96355" marR="137160" marB="63665" marL="3768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الضابط كما كُتب يترك باباً مفتوحاً: استثناء بلا موافقة ولا مدة. هذا ما سمح بسياسة VPN-⁠Legacy في التطبيق 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1. فجوة تصميم</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السياسة المعتمدة، وعقد سَنَد الحالي، وأي مراسلة أو خطة لتعديله.</a:t>
                      </a:r>
                    </a:p>
                  </a:txBody>
                  <a:tcPr marT="96355" marR="137160" marB="63665" marL="3768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المتطلب مكتوب ومعتمد، لكنه لم يُطبق على العقد القائم.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2. فجوة تنفيذ</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مهام النسخ للفترة كلها، وتذاكر المتابعة إن وُجدت.</a:t>
                      </a:r>
                    </a:p>
                  </a:txBody>
                  <a:tcPr marT="96355" marR="137160" marB="63665" marL="3768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الضابط مصمم ومطبق، لكنه توقف 9 أيام دون أن يلاحظ أحد.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3. فجوة تشغيل</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87925"/>
            <a:ext cx="10560050" cy="580330"/>
          </a:xfrm>
          <a:prstGeom prst="roundRect">
            <a:avLst>
              <a:gd name="adj" fmla="val 17317"/>
            </a:avLst>
          </a:prstGeom>
          <a:solidFill>
            <a:srgbClr val="FBEAE5"/>
          </a:solidFill>
          <a:ln w="6350">
            <a:solidFill>
              <a:srgbClr val="E7B8AC"/>
            </a:solidFill>
          </a:ln>
        </p:spPr>
        <p:txBody>
          <a:bodyPr rtlCol="0" anchor="ctr"/>
          <a:lstStyle/>
          <a:p>
            <a:pPr algn="ctr"/>
          </a:p>
        </p:txBody>
      </p:sp>
      <p:pic>
        <p:nvPicPr>
          <p:cNvPr id="8" name="Icon Warning 7" descr="icon061.png"/>
          <p:cNvPicPr>
            <a:picLocks noChangeAspect="1"/>
          </p:cNvPicPr>
          <p:nvPr/>
        </p:nvPicPr>
        <p:blipFill>
          <a:blip r:embed="rId2"/>
          <a:stretch>
            <a:fillRect/>
          </a:stretch>
        </p:blipFill>
        <p:spPr>
          <a:xfrm>
            <a:off x="10947400" y="5154216"/>
            <a:ext cx="247650" cy="247650"/>
          </a:xfrm>
          <a:prstGeom prst="rect">
            <a:avLst/>
          </a:prstGeom>
        </p:spPr>
      </p:pic>
      <p:sp>
        <p:nvSpPr>
          <p:cNvPr id="9" name="Text 8"/>
          <p:cNvSpPr txBox="1"/>
          <p:nvPr/>
        </p:nvSpPr>
        <p:spPr>
          <a:xfrm>
            <a:off x="838200" y="5082667"/>
            <a:ext cx="99949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خطأ شائع: تسمية كل فجوة «فجوة تشغيل». السؤال الأول دائماً: هل التصميم يغطي الخطر؟</a:t>
            </a:r>
          </a:p>
        </p:txBody>
      </p:sp>
      <p:sp>
        <p:nvSpPr>
          <p:cNvPr id="10" name="Text 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1" name="Text 1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الملاحظة: خمسة عناصر في نموذج واحد</a:t>
            </a:r>
          </a:p>
        </p:txBody>
      </p:sp>
      <p:sp>
        <p:nvSpPr>
          <p:cNvPr id="5" name="Box 4"/>
          <p:cNvSpPr/>
          <p:nvPr/>
        </p:nvSpPr>
        <p:spPr>
          <a:xfrm>
            <a:off x="4371975" y="1661120"/>
            <a:ext cx="7004050" cy="3641923"/>
          </a:xfrm>
          <a:prstGeom prst="roundRect">
            <a:avLst>
              <a:gd name="adj" fmla="val 1740"/>
            </a:avLst>
          </a:prstGeom>
          <a:solidFill>
            <a:srgbClr val="FFFFFF"/>
          </a:solidFill>
          <a:ln w="6350">
            <a:solidFill>
              <a:srgbClr val="D6CFBF"/>
            </a:solidFill>
          </a:ln>
        </p:spPr>
        <p:txBody>
          <a:bodyPr rtlCol="0" anchor="ctr"/>
          <a:lstStyle/>
          <a:p>
            <a:pPr algn="ctr"/>
          </a:p>
        </p:txBody>
      </p:sp>
      <p:sp>
        <p:nvSpPr>
          <p:cNvPr id="6" name="Rule 5"/>
          <p:cNvSpPr/>
          <p:nvPr/>
        </p:nvSpPr>
        <p:spPr>
          <a:xfrm>
            <a:off x="4375150" y="2766516"/>
            <a:ext cx="6997700" cy="12700"/>
          </a:xfrm>
          <a:prstGeom prst="rect">
            <a:avLst/>
          </a:prstGeom>
          <a:solidFill>
            <a:srgbClr val="0E7C6B"/>
          </a:solidFill>
          <a:ln>
            <a:noFill/>
          </a:ln>
        </p:spPr>
        <p:txBody>
          <a:bodyPr rtlCol="0" anchor="ctr"/>
          <a:lstStyle/>
          <a:p>
            <a:pPr algn="ctr"/>
          </a:p>
        </p:txBody>
      </p:sp>
      <p:sp>
        <p:nvSpPr>
          <p:cNvPr id="7" name="Text 6"/>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8" name="Text 7"/>
          <p:cNvSpPr txBox="1"/>
          <p:nvPr/>
        </p:nvSpPr>
        <p:spPr>
          <a:xfrm>
            <a:off x="4464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9" name="Text 8"/>
          <p:cNvSpPr txBox="1"/>
          <p:nvPr/>
        </p:nvSpPr>
        <p:spPr>
          <a:xfrm>
            <a:off x="4400550" y="2068076"/>
            <a:ext cx="6743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العنوان: الفجوة في سطر واحد، بلا لوم.</a:t>
            </a:r>
          </a:p>
        </p:txBody>
      </p:sp>
      <p:sp>
        <p:nvSpPr>
          <p:cNvPr id="10" name="Text 9"/>
          <p:cNvSpPr txBox="1"/>
          <p:nvPr/>
        </p:nvSpPr>
        <p:spPr>
          <a:xfrm>
            <a:off x="10091281" y="2426724"/>
            <a:ext cx="105296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a:t>
            </a:r>
          </a:p>
        </p:txBody>
      </p:sp>
      <p:sp>
        <p:nvSpPr>
          <p:cNvPr id="11" name="Text 10"/>
          <p:cNvSpPr txBox="1"/>
          <p:nvPr/>
        </p:nvSpPr>
        <p:spPr>
          <a:xfrm>
            <a:off x="9304476" y="2426724"/>
            <a:ext cx="700445"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a:t>
            </a:r>
          </a:p>
        </p:txBody>
      </p:sp>
      <p:sp>
        <p:nvSpPr>
          <p:cNvPr id="12" name="Text 11"/>
          <p:cNvSpPr txBox="1"/>
          <p:nvPr/>
        </p:nvSpPr>
        <p:spPr>
          <a:xfrm>
            <a:off x="8625423" y="2426724"/>
            <a:ext cx="59269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a:t>
            </a:r>
          </a:p>
        </p:txBody>
      </p:sp>
      <p:sp>
        <p:nvSpPr>
          <p:cNvPr id="13" name="Rule 12"/>
          <p:cNvSpPr/>
          <p:nvPr/>
        </p:nvSpPr>
        <p:spPr>
          <a:xfrm>
            <a:off x="4603750" y="3289697"/>
            <a:ext cx="6540500" cy="6350"/>
          </a:xfrm>
          <a:prstGeom prst="rect">
            <a:avLst/>
          </a:prstGeom>
          <a:solidFill>
            <a:srgbClr val="ECE7DC"/>
          </a:solidFill>
          <a:ln>
            <a:noFill/>
          </a:ln>
        </p:spPr>
        <p:txBody>
          <a:bodyPr rtlCol="0" anchor="ctr"/>
          <a:lstStyle/>
          <a:p>
            <a:pPr algn="ctr"/>
          </a:p>
        </p:txBody>
      </p:sp>
      <p:sp>
        <p:nvSpPr>
          <p:cNvPr id="14" name="Text 13"/>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5" name="Text 14"/>
          <p:cNvSpPr txBox="1"/>
          <p:nvPr/>
        </p:nvSpPr>
        <p:spPr>
          <a:xfrm>
            <a:off x="4603750" y="2923488"/>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 وجدته، بأرقام وتواريخ.</a:t>
            </a:r>
          </a:p>
        </p:txBody>
      </p:sp>
      <p:sp>
        <p:nvSpPr>
          <p:cNvPr id="16" name="Rule 15"/>
          <p:cNvSpPr/>
          <p:nvPr/>
        </p:nvSpPr>
        <p:spPr>
          <a:xfrm>
            <a:off x="4603750" y="3743027"/>
            <a:ext cx="6540500" cy="6350"/>
          </a:xfrm>
          <a:prstGeom prst="rect">
            <a:avLst/>
          </a:prstGeom>
          <a:solidFill>
            <a:srgbClr val="ECE7DC"/>
          </a:solidFill>
          <a:ln>
            <a:noFill/>
          </a:ln>
        </p:spPr>
        <p:txBody>
          <a:bodyPr rtlCol="0" anchor="ctr"/>
          <a:lstStyle/>
          <a:p>
            <a:pPr algn="ctr"/>
          </a:p>
        </p:txBody>
      </p:sp>
      <p:sp>
        <p:nvSpPr>
          <p:cNvPr id="17" name="Text 16"/>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18" name="Text 17"/>
          <p:cNvSpPr txBox="1"/>
          <p:nvPr/>
        </p:nvSpPr>
        <p:spPr>
          <a:xfrm>
            <a:off x="4603750" y="3376819"/>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المتطلب أو البند الذي يُقاس عليه.</a:t>
            </a:r>
          </a:p>
        </p:txBody>
      </p:sp>
      <p:sp>
        <p:nvSpPr>
          <p:cNvPr id="19" name="Rule 18"/>
          <p:cNvSpPr/>
          <p:nvPr/>
        </p:nvSpPr>
        <p:spPr>
          <a:xfrm>
            <a:off x="4603750" y="4196358"/>
            <a:ext cx="6540500" cy="6350"/>
          </a:xfrm>
          <a:prstGeom prst="rect">
            <a:avLst/>
          </a:prstGeom>
          <a:solidFill>
            <a:srgbClr val="ECE7DC"/>
          </a:solidFill>
          <a:ln>
            <a:noFill/>
          </a:ln>
        </p:spPr>
        <p:txBody>
          <a:bodyPr rtlCol="0" anchor="ctr"/>
          <a:lstStyle/>
          <a:p>
            <a:pPr algn="ctr"/>
          </a:p>
        </p:txBody>
      </p:sp>
      <p:sp>
        <p:nvSpPr>
          <p:cNvPr id="20" name="Text 19"/>
          <p:cNvSpPr txBox="1"/>
          <p:nvPr/>
        </p:nvSpPr>
        <p:spPr>
          <a:xfrm>
            <a:off x="9625330" y="382710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1" name="Text 20"/>
          <p:cNvSpPr txBox="1"/>
          <p:nvPr/>
        </p:nvSpPr>
        <p:spPr>
          <a:xfrm>
            <a:off x="4603750" y="3830149"/>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لماذا حدث، بعد التحقق. وإلا فاكتب «سبب محتمل».</a:t>
            </a:r>
          </a:p>
        </p:txBody>
      </p:sp>
      <p:sp>
        <p:nvSpPr>
          <p:cNvPr id="22" name="Rule 21"/>
          <p:cNvSpPr/>
          <p:nvPr/>
        </p:nvSpPr>
        <p:spPr>
          <a:xfrm>
            <a:off x="4603750" y="4649688"/>
            <a:ext cx="6540500" cy="6350"/>
          </a:xfrm>
          <a:prstGeom prst="rect">
            <a:avLst/>
          </a:prstGeom>
          <a:solidFill>
            <a:srgbClr val="ECE7DC"/>
          </a:solidFill>
          <a:ln>
            <a:noFill/>
          </a:ln>
        </p:spPr>
        <p:txBody>
          <a:bodyPr rtlCol="0" anchor="ctr"/>
          <a:lstStyle/>
          <a:p>
            <a:pPr algn="ctr"/>
          </a:p>
        </p:txBody>
      </p:sp>
      <p:sp>
        <p:nvSpPr>
          <p:cNvPr id="23" name="Text 22"/>
          <p:cNvSpPr txBox="1"/>
          <p:nvPr/>
        </p:nvSpPr>
        <p:spPr>
          <a:xfrm>
            <a:off x="9625330" y="428043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24" name="Text 23"/>
          <p:cNvSpPr txBox="1"/>
          <p:nvPr/>
        </p:nvSpPr>
        <p:spPr>
          <a:xfrm>
            <a:off x="4603750" y="4283480"/>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ماذا يعني للجهة، بلغة العمل.</a:t>
            </a:r>
          </a:p>
        </p:txBody>
      </p:sp>
      <p:sp>
        <p:nvSpPr>
          <p:cNvPr id="25" name="Rule 24"/>
          <p:cNvSpPr/>
          <p:nvPr/>
        </p:nvSpPr>
        <p:spPr>
          <a:xfrm>
            <a:off x="4603750" y="5103019"/>
            <a:ext cx="6540500" cy="6350"/>
          </a:xfrm>
          <a:prstGeom prst="rect">
            <a:avLst/>
          </a:prstGeom>
          <a:solidFill>
            <a:srgbClr val="ECE7DC"/>
          </a:solidFill>
          <a:ln>
            <a:noFill/>
          </a:ln>
        </p:spPr>
        <p:txBody>
          <a:bodyPr rtlCol="0" anchor="ctr"/>
          <a:lstStyle/>
          <a:p>
            <a:pPr algn="ctr"/>
          </a:p>
        </p:txBody>
      </p:sp>
      <p:sp>
        <p:nvSpPr>
          <p:cNvPr id="26" name="Text 25"/>
          <p:cNvSpPr txBox="1"/>
          <p:nvPr/>
        </p:nvSpPr>
        <p:spPr>
          <a:xfrm>
            <a:off x="9625330" y="473376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7" name="Text 26"/>
          <p:cNvSpPr txBox="1"/>
          <p:nvPr/>
        </p:nvSpPr>
        <p:spPr>
          <a:xfrm>
            <a:off x="4603750" y="4736810"/>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 يعالج السبب، لا العَرَض فقط.</a:t>
            </a:r>
          </a:p>
        </p:txBody>
      </p:sp>
      <p:sp>
        <p:nvSpPr>
          <p:cNvPr id="28" name="Text box 27"/>
          <p:cNvSpPr/>
          <p:nvPr/>
        </p:nvSpPr>
        <p:spPr>
          <a:xfrm>
            <a:off x="3835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9" name="Text 28"/>
          <p:cNvSpPr txBox="1"/>
          <p:nvPr/>
        </p:nvSpPr>
        <p:spPr>
          <a:xfrm>
            <a:off x="579120" y="1636609"/>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حقائق لا أحكام</a:t>
            </a:r>
          </a:p>
        </p:txBody>
      </p:sp>
      <p:sp>
        <p:nvSpPr>
          <p:cNvPr id="30" name="Text 29"/>
          <p:cNvSpPr txBox="1"/>
          <p:nvPr/>
        </p:nvSpPr>
        <p:spPr>
          <a:xfrm>
            <a:off x="725170" y="1898190"/>
            <a:ext cx="300863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«3 من 12 إزالة تأخرت»، لا «بعض الإزالات».</a:t>
            </a:r>
          </a:p>
        </p:txBody>
      </p:sp>
      <p:sp>
        <p:nvSpPr>
          <p:cNvPr id="31" name="Text box 30"/>
          <p:cNvSpPr/>
          <p:nvPr/>
        </p:nvSpPr>
        <p:spPr>
          <a:xfrm>
            <a:off x="3835400" y="2689027"/>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2" name="Text 31"/>
          <p:cNvSpPr txBox="1"/>
          <p:nvPr/>
        </p:nvSpPr>
        <p:spPr>
          <a:xfrm>
            <a:off x="579120" y="2667691"/>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السبب بعد التحقق</a:t>
            </a:r>
          </a:p>
        </p:txBody>
      </p:sp>
      <p:sp>
        <p:nvSpPr>
          <p:cNvPr id="33" name="Text 32"/>
          <p:cNvSpPr txBox="1"/>
          <p:nvPr/>
        </p:nvSpPr>
        <p:spPr>
          <a:xfrm>
            <a:off x="579120" y="2929271"/>
            <a:ext cx="315468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بريد أو انطباع ليس سبباً مؤكداً.</a:t>
            </a:r>
          </a:p>
        </p:txBody>
      </p:sp>
      <p:sp>
        <p:nvSpPr>
          <p:cNvPr id="34" name="Text box 33"/>
          <p:cNvSpPr/>
          <p:nvPr/>
        </p:nvSpPr>
        <p:spPr>
          <a:xfrm>
            <a:off x="3835400" y="3425527"/>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5" name="Text 34"/>
          <p:cNvSpPr txBox="1"/>
          <p:nvPr/>
        </p:nvSpPr>
        <p:spPr>
          <a:xfrm>
            <a:off x="579120" y="3404191"/>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صف العملية</a:t>
            </a:r>
          </a:p>
        </p:txBody>
      </p:sp>
      <p:sp>
        <p:nvSpPr>
          <p:cNvPr id="36" name="Text 35"/>
          <p:cNvSpPr txBox="1"/>
          <p:nvPr/>
        </p:nvSpPr>
        <p:spPr>
          <a:xfrm>
            <a:off x="579120" y="3665772"/>
            <a:ext cx="315468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لا تلُم أشخاصاً بالاسم.</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التصحيح: متتبع بإجراء ومالك وموعد ودليل</a:t>
            </a:r>
          </a:p>
        </p:txBody>
      </p:sp>
      <p:sp>
        <p:nvSpPr>
          <p:cNvPr id="5" name="Box 4"/>
          <p:cNvSpPr/>
          <p:nvPr/>
        </p:nvSpPr>
        <p:spPr>
          <a:xfrm>
            <a:off x="815975" y="1623020"/>
            <a:ext cx="10560050" cy="3006030"/>
          </a:xfrm>
          <a:prstGeom prst="roundRect">
            <a:avLst>
              <a:gd name="adj" fmla="val 1686"/>
            </a:avLst>
          </a:prstGeom>
          <a:solidFill>
            <a:srgbClr val="FFFFFF"/>
          </a:solidFill>
          <a:ln w="6350">
            <a:solidFill>
              <a:srgbClr val="C9D0D6"/>
            </a:solidFill>
          </a:ln>
        </p:spPr>
        <p:txBody>
          <a:bodyPr rtlCol="0" anchor="ctr"/>
          <a:lstStyle/>
          <a:p>
            <a:pPr algn="ctr"/>
          </a:p>
        </p:txBody>
      </p:sp>
      <p:sp>
        <p:nvSpPr>
          <p:cNvPr id="6" name="Box 5"/>
          <p:cNvSpPr/>
          <p:nvPr/>
        </p:nvSpPr>
        <p:spPr>
          <a:xfrm>
            <a:off x="819150" y="1626195"/>
            <a:ext cx="10553700" cy="397470"/>
          </a:xfrm>
          <a:prstGeom prst="round2SameRect">
            <a:avLst>
              <a:gd name="adj1" fmla="val 11183"/>
              <a:gd name="adj2" fmla="val 0"/>
            </a:avLst>
          </a:prstGeom>
          <a:solidFill>
            <a:srgbClr val="E4E8EC"/>
          </a:solidFill>
          <a:ln>
            <a:noFill/>
          </a:ln>
        </p:spPr>
        <p:txBody>
          <a:bodyPr rtlCol="0" anchor="ctr"/>
          <a:lstStyle/>
          <a:p>
            <a:pPr algn="ctr"/>
          </a:p>
        </p:txBody>
      </p:sp>
      <p:sp>
        <p:nvSpPr>
          <p:cNvPr id="7" name="Rule 6"/>
          <p:cNvSpPr/>
          <p:nvPr/>
        </p:nvSpPr>
        <p:spPr>
          <a:xfrm>
            <a:off x="819150" y="2017316"/>
            <a:ext cx="10553700" cy="6350"/>
          </a:xfrm>
          <a:prstGeom prst="rect">
            <a:avLst/>
          </a:prstGeom>
          <a:solidFill>
            <a:srgbClr val="D3D9DF"/>
          </a:solidFill>
          <a:ln>
            <a:noFill/>
          </a:ln>
        </p:spPr>
        <p:txBody>
          <a:bodyPr rtlCol="0" anchor="ctr"/>
          <a:lstStyle/>
          <a:p>
            <a:pPr algn="ctr"/>
          </a:p>
        </p:txBody>
      </p:sp>
      <p:sp>
        <p:nvSpPr>
          <p:cNvPr id="8" name="Text 7"/>
          <p:cNvSpPr txBox="1"/>
          <p:nvPr/>
        </p:nvSpPr>
        <p:spPr>
          <a:xfrm>
            <a:off x="8963854" y="1668359"/>
            <a:ext cx="230739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متتبع الإجراءات التصحيحية</a:t>
            </a:r>
          </a:p>
        </p:txBody>
      </p:sp>
      <p:sp>
        <p:nvSpPr>
          <p:cNvPr id="9" name="Text 8"/>
          <p:cNvSpPr txBox="1"/>
          <p:nvPr/>
        </p:nvSpPr>
        <p:spPr>
          <a:xfrm>
            <a:off x="844550" y="1668359"/>
            <a:ext cx="239861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5E6A75"/>
                </a:solidFill>
                <a:latin typeface="IBM Plex Sans Arabic"/>
                <a:ea typeface="IBM Plex Sans Arabic"/>
                <a:cs typeface="IBM Plex Sans Arabic"/>
              </a:rPr>
              <a:t>نموذج تعليمي · بيانات افتراضية</a:t>
            </a:r>
          </a:p>
        </p:txBody>
      </p:sp>
      <p:sp>
        <p:nvSpPr>
          <p:cNvPr id="10" name="Rule 9"/>
          <p:cNvSpPr/>
          <p:nvPr/>
        </p:nvSpPr>
        <p:spPr>
          <a:xfrm>
            <a:off x="819150" y="2493566"/>
            <a:ext cx="10553700" cy="6350"/>
          </a:xfrm>
          <a:prstGeom prst="rect">
            <a:avLst/>
          </a:prstGeom>
          <a:solidFill>
            <a:srgbClr val="D3D9DF"/>
          </a:solidFill>
          <a:ln>
            <a:noFill/>
          </a:ln>
        </p:spPr>
        <p:txBody>
          <a:bodyPr rtlCol="0" anchor="ctr"/>
          <a:lstStyle/>
          <a:p>
            <a:pPr algn="ctr"/>
          </a:p>
        </p:txBody>
      </p:sp>
      <p:sp>
        <p:nvSpPr>
          <p:cNvPr id="11" name="Box 10"/>
          <p:cNvSpPr/>
          <p:nvPr/>
        </p:nvSpPr>
        <p:spPr>
          <a:xfrm>
            <a:off x="8388350" y="2023666"/>
            <a:ext cx="2984500" cy="469900"/>
          </a:xfrm>
          <a:prstGeom prst="rect">
            <a:avLst/>
          </a:prstGeom>
          <a:solidFill>
            <a:srgbClr val="F7F8FA"/>
          </a:solidFill>
          <a:ln>
            <a:noFill/>
          </a:ln>
        </p:spPr>
        <p:txBody>
          <a:bodyPr rtlCol="0" anchor="ctr"/>
          <a:lstStyle/>
          <a:p>
            <a:pPr algn="ctr"/>
          </a:p>
        </p:txBody>
      </p:sp>
      <p:sp>
        <p:nvSpPr>
          <p:cNvPr id="12" name="Rule 11"/>
          <p:cNvSpPr/>
          <p:nvPr/>
        </p:nvSpPr>
        <p:spPr>
          <a:xfrm>
            <a:off x="8388350" y="2023666"/>
            <a:ext cx="6350" cy="469900"/>
          </a:xfrm>
          <a:prstGeom prst="rect">
            <a:avLst/>
          </a:prstGeom>
          <a:solidFill>
            <a:srgbClr val="D3D9DF"/>
          </a:solidFill>
          <a:ln>
            <a:noFill/>
          </a:ln>
        </p:spPr>
        <p:txBody>
          <a:bodyPr rtlCol="0" anchor="ctr"/>
          <a:lstStyle/>
          <a:p>
            <a:pPr algn="ctr"/>
          </a:p>
        </p:txBody>
      </p:sp>
      <p:sp>
        <p:nvSpPr>
          <p:cNvPr id="13" name="Text 12"/>
          <p:cNvSpPr txBox="1"/>
          <p:nvPr/>
        </p:nvSpPr>
        <p:spPr>
          <a:xfrm>
            <a:off x="8413750" y="2054146"/>
            <a:ext cx="2870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الإجراء</a:t>
            </a:r>
          </a:p>
        </p:txBody>
      </p:sp>
      <p:sp>
        <p:nvSpPr>
          <p:cNvPr id="14" name="Box 13"/>
          <p:cNvSpPr/>
          <p:nvPr/>
        </p:nvSpPr>
        <p:spPr>
          <a:xfrm>
            <a:off x="6483350" y="2023666"/>
            <a:ext cx="1905000" cy="469900"/>
          </a:xfrm>
          <a:prstGeom prst="rect">
            <a:avLst/>
          </a:prstGeom>
          <a:solidFill>
            <a:srgbClr val="F7F8FA"/>
          </a:solidFill>
          <a:ln>
            <a:noFill/>
          </a:ln>
        </p:spPr>
        <p:txBody>
          <a:bodyPr rtlCol="0" anchor="ctr"/>
          <a:lstStyle/>
          <a:p>
            <a:pPr algn="ctr"/>
          </a:p>
        </p:txBody>
      </p:sp>
      <p:sp>
        <p:nvSpPr>
          <p:cNvPr id="15" name="Rule 14"/>
          <p:cNvSpPr/>
          <p:nvPr/>
        </p:nvSpPr>
        <p:spPr>
          <a:xfrm>
            <a:off x="6483350" y="2023666"/>
            <a:ext cx="6350" cy="469900"/>
          </a:xfrm>
          <a:prstGeom prst="rect">
            <a:avLst/>
          </a:prstGeom>
          <a:solidFill>
            <a:srgbClr val="D3D9DF"/>
          </a:solidFill>
          <a:ln>
            <a:noFill/>
          </a:ln>
        </p:spPr>
        <p:txBody>
          <a:bodyPr rtlCol="0" anchor="ctr"/>
          <a:lstStyle/>
          <a:p>
            <a:pPr algn="ctr"/>
          </a:p>
        </p:txBody>
      </p:sp>
      <p:sp>
        <p:nvSpPr>
          <p:cNvPr id="16" name="Text 15"/>
          <p:cNvSpPr txBox="1"/>
          <p:nvPr/>
        </p:nvSpPr>
        <p:spPr>
          <a:xfrm>
            <a:off x="6508750" y="2054146"/>
            <a:ext cx="1790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المالك</a:t>
            </a:r>
          </a:p>
        </p:txBody>
      </p:sp>
      <p:sp>
        <p:nvSpPr>
          <p:cNvPr id="17" name="Box 16"/>
          <p:cNvSpPr/>
          <p:nvPr/>
        </p:nvSpPr>
        <p:spPr>
          <a:xfrm>
            <a:off x="5276850" y="2023666"/>
            <a:ext cx="1206500" cy="469900"/>
          </a:xfrm>
          <a:prstGeom prst="rect">
            <a:avLst/>
          </a:prstGeom>
          <a:solidFill>
            <a:srgbClr val="F7F8FA"/>
          </a:solidFill>
          <a:ln>
            <a:noFill/>
          </a:ln>
        </p:spPr>
        <p:txBody>
          <a:bodyPr rtlCol="0" anchor="ctr"/>
          <a:lstStyle/>
          <a:p>
            <a:pPr algn="ctr"/>
          </a:p>
        </p:txBody>
      </p:sp>
      <p:sp>
        <p:nvSpPr>
          <p:cNvPr id="18" name="Rule 17"/>
          <p:cNvSpPr/>
          <p:nvPr/>
        </p:nvSpPr>
        <p:spPr>
          <a:xfrm>
            <a:off x="5276850" y="2023666"/>
            <a:ext cx="6350" cy="469900"/>
          </a:xfrm>
          <a:prstGeom prst="rect">
            <a:avLst/>
          </a:prstGeom>
          <a:solidFill>
            <a:srgbClr val="D3D9DF"/>
          </a:solidFill>
          <a:ln>
            <a:noFill/>
          </a:ln>
        </p:spPr>
        <p:txBody>
          <a:bodyPr rtlCol="0" anchor="ctr"/>
          <a:lstStyle/>
          <a:p>
            <a:pPr algn="ctr"/>
          </a:p>
        </p:txBody>
      </p:sp>
      <p:sp>
        <p:nvSpPr>
          <p:cNvPr id="19" name="Text 18"/>
          <p:cNvSpPr txBox="1"/>
          <p:nvPr/>
        </p:nvSpPr>
        <p:spPr>
          <a:xfrm>
            <a:off x="5302250" y="2054146"/>
            <a:ext cx="1092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الموعد</a:t>
            </a:r>
          </a:p>
        </p:txBody>
      </p:sp>
      <p:sp>
        <p:nvSpPr>
          <p:cNvPr id="20" name="Box 19"/>
          <p:cNvSpPr/>
          <p:nvPr/>
        </p:nvSpPr>
        <p:spPr>
          <a:xfrm>
            <a:off x="4324350" y="2023666"/>
            <a:ext cx="952500" cy="469900"/>
          </a:xfrm>
          <a:prstGeom prst="rect">
            <a:avLst/>
          </a:prstGeom>
          <a:solidFill>
            <a:srgbClr val="F7F8FA"/>
          </a:solidFill>
          <a:ln>
            <a:noFill/>
          </a:ln>
        </p:spPr>
        <p:txBody>
          <a:bodyPr rtlCol="0" anchor="ctr"/>
          <a:lstStyle/>
          <a:p>
            <a:pPr algn="ctr"/>
          </a:p>
        </p:txBody>
      </p:sp>
      <p:sp>
        <p:nvSpPr>
          <p:cNvPr id="21" name="Rule 20"/>
          <p:cNvSpPr/>
          <p:nvPr/>
        </p:nvSpPr>
        <p:spPr>
          <a:xfrm>
            <a:off x="4324350" y="2023666"/>
            <a:ext cx="6350" cy="469900"/>
          </a:xfrm>
          <a:prstGeom prst="rect">
            <a:avLst/>
          </a:prstGeom>
          <a:solidFill>
            <a:srgbClr val="D3D9DF"/>
          </a:solidFill>
          <a:ln>
            <a:noFill/>
          </a:ln>
        </p:spPr>
        <p:txBody>
          <a:bodyPr rtlCol="0" anchor="ctr"/>
          <a:lstStyle/>
          <a:p>
            <a:pPr algn="ctr"/>
          </a:p>
        </p:txBody>
      </p:sp>
      <p:sp>
        <p:nvSpPr>
          <p:cNvPr id="22" name="Text 21"/>
          <p:cNvSpPr txBox="1"/>
          <p:nvPr/>
        </p:nvSpPr>
        <p:spPr>
          <a:xfrm>
            <a:off x="4349750" y="2054146"/>
            <a:ext cx="838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الحالة</a:t>
            </a:r>
          </a:p>
        </p:txBody>
      </p:sp>
      <p:sp>
        <p:nvSpPr>
          <p:cNvPr id="23" name="Box 22"/>
          <p:cNvSpPr/>
          <p:nvPr/>
        </p:nvSpPr>
        <p:spPr>
          <a:xfrm>
            <a:off x="819150" y="2023666"/>
            <a:ext cx="3505200" cy="469900"/>
          </a:xfrm>
          <a:prstGeom prst="rect">
            <a:avLst/>
          </a:prstGeom>
          <a:solidFill>
            <a:srgbClr val="F7F8FA"/>
          </a:solidFill>
          <a:ln>
            <a:noFill/>
          </a:ln>
        </p:spPr>
        <p:txBody>
          <a:bodyPr rtlCol="0" anchor="ctr"/>
          <a:lstStyle/>
          <a:p>
            <a:pPr algn="ctr"/>
          </a:p>
        </p:txBody>
      </p:sp>
      <p:sp>
        <p:nvSpPr>
          <p:cNvPr id="24" name="Rule 23"/>
          <p:cNvSpPr/>
          <p:nvPr/>
        </p:nvSpPr>
        <p:spPr>
          <a:xfrm>
            <a:off x="819150" y="2023666"/>
            <a:ext cx="6350" cy="469900"/>
          </a:xfrm>
          <a:prstGeom prst="rect">
            <a:avLst/>
          </a:prstGeom>
          <a:solidFill>
            <a:srgbClr val="D3D9DF"/>
          </a:solidFill>
          <a:ln>
            <a:noFill/>
          </a:ln>
        </p:spPr>
        <p:txBody>
          <a:bodyPr rtlCol="0" anchor="ctr"/>
          <a:lstStyle/>
          <a:p>
            <a:pPr algn="ctr"/>
          </a:p>
        </p:txBody>
      </p:sp>
      <p:sp>
        <p:nvSpPr>
          <p:cNvPr id="25" name="Text 24"/>
          <p:cNvSpPr txBox="1"/>
          <p:nvPr/>
        </p:nvSpPr>
        <p:spPr>
          <a:xfrm>
            <a:off x="844550" y="2054146"/>
            <a:ext cx="33909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دليل الإغلاق</a:t>
            </a:r>
          </a:p>
        </p:txBody>
      </p:sp>
      <p:sp>
        <p:nvSpPr>
          <p:cNvPr id="26" name="Box 25"/>
          <p:cNvSpPr/>
          <p:nvPr/>
        </p:nvSpPr>
        <p:spPr>
          <a:xfrm>
            <a:off x="819150" y="2499916"/>
            <a:ext cx="10553700" cy="412750"/>
          </a:xfrm>
          <a:prstGeom prst="rect">
            <a:avLst/>
          </a:prstGeom>
          <a:solidFill>
            <a:srgbClr val="FBEFD9"/>
          </a:solidFill>
          <a:ln>
            <a:noFill/>
          </a:ln>
        </p:spPr>
        <p:txBody>
          <a:bodyPr rtlCol="0" anchor="ctr"/>
          <a:lstStyle/>
          <a:p>
            <a:pPr algn="ctr"/>
          </a:p>
        </p:txBody>
      </p:sp>
      <p:sp>
        <p:nvSpPr>
          <p:cNvPr id="27" name="Rule 26"/>
          <p:cNvSpPr/>
          <p:nvPr/>
        </p:nvSpPr>
        <p:spPr>
          <a:xfrm>
            <a:off x="819150" y="2906316"/>
            <a:ext cx="10553700" cy="6350"/>
          </a:xfrm>
          <a:prstGeom prst="rect">
            <a:avLst/>
          </a:prstGeom>
          <a:solidFill>
            <a:srgbClr val="D3D9DF"/>
          </a:solidFill>
          <a:ln>
            <a:noFill/>
          </a:ln>
        </p:spPr>
        <p:txBody>
          <a:bodyPr rtlCol="0" anchor="ctr"/>
          <a:lstStyle/>
          <a:p>
            <a:pPr algn="ctr"/>
          </a:p>
        </p:txBody>
      </p:sp>
      <p:sp>
        <p:nvSpPr>
          <p:cNvPr id="28" name="Text 27"/>
          <p:cNvSpPr txBox="1"/>
          <p:nvPr/>
        </p:nvSpPr>
        <p:spPr>
          <a:xfrm>
            <a:off x="844550" y="2511346"/>
            <a:ext cx="104267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8A4B12"/>
                </a:solidFill>
                <a:latin typeface="IBM Plex Sans Arabic"/>
                <a:ea typeface="IBM Plex Sans Arabic"/>
                <a:cs typeface="IBM Plex Sans Arabic"/>
              </a:rPr>
              <a:t>معالجة الحالة: تزيل الخطر الآن</a:t>
            </a:r>
          </a:p>
        </p:txBody>
      </p:sp>
      <p:sp>
        <p:nvSpPr>
          <p:cNvPr id="29" name="Rule 28"/>
          <p:cNvSpPr/>
          <p:nvPr/>
        </p:nvSpPr>
        <p:spPr>
          <a:xfrm>
            <a:off x="819150" y="3725466"/>
            <a:ext cx="10553700" cy="6350"/>
          </a:xfrm>
          <a:prstGeom prst="rect">
            <a:avLst/>
          </a:prstGeom>
          <a:solidFill>
            <a:srgbClr val="D3D9DF"/>
          </a:solidFill>
          <a:ln>
            <a:noFill/>
          </a:ln>
        </p:spPr>
        <p:txBody>
          <a:bodyPr rtlCol="0" anchor="ctr"/>
          <a:lstStyle/>
          <a:p>
            <a:pPr algn="ctr"/>
          </a:p>
        </p:txBody>
      </p:sp>
      <p:sp>
        <p:nvSpPr>
          <p:cNvPr id="30" name="Box 29"/>
          <p:cNvSpPr/>
          <p:nvPr/>
        </p:nvSpPr>
        <p:spPr>
          <a:xfrm>
            <a:off x="8388350" y="2912666"/>
            <a:ext cx="2984500" cy="812800"/>
          </a:xfrm>
          <a:prstGeom prst="rect">
            <a:avLst/>
          </a:prstGeom>
          <a:solidFill>
            <a:srgbClr val="FFFFFF"/>
          </a:solidFill>
          <a:ln>
            <a:noFill/>
          </a:ln>
        </p:spPr>
        <p:txBody>
          <a:bodyPr rtlCol="0" anchor="ctr"/>
          <a:lstStyle/>
          <a:p>
            <a:pPr algn="ctr"/>
          </a:p>
        </p:txBody>
      </p:sp>
      <p:sp>
        <p:nvSpPr>
          <p:cNvPr id="31" name="Rule 30"/>
          <p:cNvSpPr/>
          <p:nvPr/>
        </p:nvSpPr>
        <p:spPr>
          <a:xfrm>
            <a:off x="8388350" y="2912666"/>
            <a:ext cx="6350" cy="812800"/>
          </a:xfrm>
          <a:prstGeom prst="rect">
            <a:avLst/>
          </a:prstGeom>
          <a:solidFill>
            <a:srgbClr val="D3D9DF"/>
          </a:solidFill>
          <a:ln>
            <a:noFill/>
          </a:ln>
        </p:spPr>
        <p:txBody>
          <a:bodyPr rtlCol="0" anchor="ctr"/>
          <a:lstStyle/>
          <a:p>
            <a:pPr algn="ctr"/>
          </a:p>
        </p:txBody>
      </p:sp>
      <p:sp>
        <p:nvSpPr>
          <p:cNvPr id="32" name="Text 31"/>
          <p:cNvSpPr txBox="1"/>
          <p:nvPr/>
        </p:nvSpPr>
        <p:spPr>
          <a:xfrm>
            <a:off x="8413750" y="2943146"/>
            <a:ext cx="2870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الذي سيُنفذ تحديداً؟</a:t>
            </a:r>
          </a:p>
        </p:txBody>
      </p:sp>
      <p:sp>
        <p:nvSpPr>
          <p:cNvPr id="33" name="Box 32"/>
          <p:cNvSpPr/>
          <p:nvPr/>
        </p:nvSpPr>
        <p:spPr>
          <a:xfrm>
            <a:off x="6483350" y="2912666"/>
            <a:ext cx="1905000" cy="812800"/>
          </a:xfrm>
          <a:prstGeom prst="rect">
            <a:avLst/>
          </a:prstGeom>
          <a:solidFill>
            <a:srgbClr val="FFFFFF"/>
          </a:solidFill>
          <a:ln>
            <a:noFill/>
          </a:ln>
        </p:spPr>
        <p:txBody>
          <a:bodyPr rtlCol="0" anchor="ctr"/>
          <a:lstStyle/>
          <a:p>
            <a:pPr algn="ctr"/>
          </a:p>
        </p:txBody>
      </p:sp>
      <p:sp>
        <p:nvSpPr>
          <p:cNvPr id="34" name="Rule 33"/>
          <p:cNvSpPr/>
          <p:nvPr/>
        </p:nvSpPr>
        <p:spPr>
          <a:xfrm>
            <a:off x="6483350" y="2912666"/>
            <a:ext cx="6350" cy="812800"/>
          </a:xfrm>
          <a:prstGeom prst="rect">
            <a:avLst/>
          </a:prstGeom>
          <a:solidFill>
            <a:srgbClr val="D3D9DF"/>
          </a:solidFill>
          <a:ln>
            <a:noFill/>
          </a:ln>
        </p:spPr>
        <p:txBody>
          <a:bodyPr rtlCol="0" anchor="ctr"/>
          <a:lstStyle/>
          <a:p>
            <a:pPr algn="ctr"/>
          </a:p>
        </p:txBody>
      </p:sp>
      <p:sp>
        <p:nvSpPr>
          <p:cNvPr id="35" name="Text 34"/>
          <p:cNvSpPr txBox="1"/>
          <p:nvPr/>
        </p:nvSpPr>
        <p:spPr>
          <a:xfrm>
            <a:off x="6515100" y="2943146"/>
            <a:ext cx="178435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شخص واحد بالوظيفة</a:t>
            </a:r>
          </a:p>
        </p:txBody>
      </p:sp>
      <p:sp>
        <p:nvSpPr>
          <p:cNvPr id="36" name="Box 35"/>
          <p:cNvSpPr/>
          <p:nvPr/>
        </p:nvSpPr>
        <p:spPr>
          <a:xfrm>
            <a:off x="5276850" y="2912666"/>
            <a:ext cx="1206500" cy="812800"/>
          </a:xfrm>
          <a:prstGeom prst="rect">
            <a:avLst/>
          </a:prstGeom>
          <a:solidFill>
            <a:srgbClr val="FFFFFF"/>
          </a:solidFill>
          <a:ln>
            <a:noFill/>
          </a:ln>
        </p:spPr>
        <p:txBody>
          <a:bodyPr rtlCol="0" anchor="ctr"/>
          <a:lstStyle/>
          <a:p>
            <a:pPr algn="ctr"/>
          </a:p>
        </p:txBody>
      </p:sp>
      <p:sp>
        <p:nvSpPr>
          <p:cNvPr id="37" name="Rule 36"/>
          <p:cNvSpPr/>
          <p:nvPr/>
        </p:nvSpPr>
        <p:spPr>
          <a:xfrm>
            <a:off x="5276850" y="2912666"/>
            <a:ext cx="6350" cy="812800"/>
          </a:xfrm>
          <a:prstGeom prst="rect">
            <a:avLst/>
          </a:prstGeom>
          <a:solidFill>
            <a:srgbClr val="D3D9DF"/>
          </a:solidFill>
          <a:ln>
            <a:noFill/>
          </a:ln>
        </p:spPr>
        <p:txBody>
          <a:bodyPr rtlCol="0" anchor="ctr"/>
          <a:lstStyle/>
          <a:p>
            <a:pPr algn="ctr"/>
          </a:p>
        </p:txBody>
      </p:sp>
      <p:sp>
        <p:nvSpPr>
          <p:cNvPr id="38" name="Text 37"/>
          <p:cNvSpPr txBox="1"/>
          <p:nvPr/>
        </p:nvSpPr>
        <p:spPr>
          <a:xfrm>
            <a:off x="5308600" y="2943146"/>
            <a:ext cx="108585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تاريخ، لا «قريباً»</a:t>
            </a:r>
          </a:p>
        </p:txBody>
      </p:sp>
      <p:sp>
        <p:nvSpPr>
          <p:cNvPr id="39" name="Box 38"/>
          <p:cNvSpPr/>
          <p:nvPr/>
        </p:nvSpPr>
        <p:spPr>
          <a:xfrm>
            <a:off x="4324350" y="2912666"/>
            <a:ext cx="952500" cy="812800"/>
          </a:xfrm>
          <a:prstGeom prst="rect">
            <a:avLst/>
          </a:prstGeom>
          <a:solidFill>
            <a:srgbClr val="FFFFFF"/>
          </a:solidFill>
          <a:ln>
            <a:noFill/>
          </a:ln>
        </p:spPr>
        <p:txBody>
          <a:bodyPr rtlCol="0" anchor="ctr"/>
          <a:lstStyle/>
          <a:p>
            <a:pPr algn="ctr"/>
          </a:p>
        </p:txBody>
      </p:sp>
      <p:sp>
        <p:nvSpPr>
          <p:cNvPr id="40" name="Rule 39"/>
          <p:cNvSpPr/>
          <p:nvPr/>
        </p:nvSpPr>
        <p:spPr>
          <a:xfrm>
            <a:off x="4324350" y="2912666"/>
            <a:ext cx="6350" cy="812800"/>
          </a:xfrm>
          <a:prstGeom prst="rect">
            <a:avLst/>
          </a:prstGeom>
          <a:solidFill>
            <a:srgbClr val="D3D9DF"/>
          </a:solidFill>
          <a:ln>
            <a:noFill/>
          </a:ln>
        </p:spPr>
        <p:txBody>
          <a:bodyPr rtlCol="0" anchor="ctr"/>
          <a:lstStyle/>
          <a:p>
            <a:pPr algn="ctr"/>
          </a:p>
        </p:txBody>
      </p:sp>
      <p:sp>
        <p:nvSpPr>
          <p:cNvPr id="41" name="Text box 40"/>
          <p:cNvSpPr/>
          <p:nvPr/>
        </p:nvSpPr>
        <p:spPr>
          <a:xfrm>
            <a:off x="4419600" y="2976166"/>
            <a:ext cx="768350" cy="347960"/>
          </a:xfrm>
          <a:prstGeom prst="roundRect">
            <a:avLst>
              <a:gd name="adj" fmla="val 50000"/>
            </a:avLst>
          </a:prstGeom>
          <a:solidFill>
            <a:srgbClr val="E9E4D8"/>
          </a:solidFill>
          <a:ln>
            <a:noFill/>
          </a:ln>
        </p:spPr>
        <p:txBody>
          <a:bodyPr rtlCol="0" anchor="ctr" wrap="square" tIns="0" rIns="0" bIns="48006" lIns="0" anchorCtr="0">
            <a:noAutofit/>
          </a:bodyPr>
          <a:lstStyle/>
          <a:p>
            <a:pPr algn="ctr" rtl="1">
              <a:lnSpc>
                <a:spcPts val="2340"/>
              </a:lnSpc>
              <a:spcBef>
                <a:spcPts val="0"/>
              </a:spcBef>
              <a:spcAft>
                <a:spcPts val="0"/>
              </a:spcAft>
            </a:pPr>
            <a:r>
              <a:rPr sz="1800" b="1" i="0">
                <a:solidFill>
                  <a:srgbClr val="4E5A66"/>
                </a:solidFill>
                <a:latin typeface="IBM Plex Sans Arabic"/>
                <a:ea typeface="IBM Plex Sans Arabic"/>
                <a:cs typeface="IBM Plex Sans Arabic"/>
              </a:rPr>
              <a:t>مفتوح</a:t>
            </a:r>
          </a:p>
        </p:txBody>
      </p:sp>
      <p:sp>
        <p:nvSpPr>
          <p:cNvPr id="42" name="Box 41"/>
          <p:cNvSpPr/>
          <p:nvPr/>
        </p:nvSpPr>
        <p:spPr>
          <a:xfrm>
            <a:off x="819150" y="2912666"/>
            <a:ext cx="3505200" cy="812800"/>
          </a:xfrm>
          <a:prstGeom prst="rect">
            <a:avLst/>
          </a:prstGeom>
          <a:solidFill>
            <a:srgbClr val="FFFFFF"/>
          </a:solidFill>
          <a:ln>
            <a:noFill/>
          </a:ln>
        </p:spPr>
        <p:txBody>
          <a:bodyPr rtlCol="0" anchor="ctr"/>
          <a:lstStyle/>
          <a:p>
            <a:pPr algn="ctr"/>
          </a:p>
        </p:txBody>
      </p:sp>
      <p:sp>
        <p:nvSpPr>
          <p:cNvPr id="43" name="Rule 42"/>
          <p:cNvSpPr/>
          <p:nvPr/>
        </p:nvSpPr>
        <p:spPr>
          <a:xfrm>
            <a:off x="819150" y="2912666"/>
            <a:ext cx="6350" cy="812800"/>
          </a:xfrm>
          <a:prstGeom prst="rect">
            <a:avLst/>
          </a:prstGeom>
          <a:solidFill>
            <a:srgbClr val="D3D9DF"/>
          </a:solidFill>
          <a:ln>
            <a:noFill/>
          </a:ln>
        </p:spPr>
        <p:txBody>
          <a:bodyPr rtlCol="0" anchor="ctr"/>
          <a:lstStyle/>
          <a:p>
            <a:pPr algn="ctr"/>
          </a:p>
        </p:txBody>
      </p:sp>
      <p:sp>
        <p:nvSpPr>
          <p:cNvPr id="44" name="Text 43"/>
          <p:cNvSpPr txBox="1"/>
          <p:nvPr/>
        </p:nvSpPr>
        <p:spPr>
          <a:xfrm>
            <a:off x="844550" y="2943146"/>
            <a:ext cx="33909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الذي يثبت الإنجاز؟</a:t>
            </a:r>
          </a:p>
        </p:txBody>
      </p:sp>
      <p:sp>
        <p:nvSpPr>
          <p:cNvPr id="45" name="Box 44"/>
          <p:cNvSpPr/>
          <p:nvPr/>
        </p:nvSpPr>
        <p:spPr>
          <a:xfrm>
            <a:off x="819150" y="3731816"/>
            <a:ext cx="10553700" cy="412750"/>
          </a:xfrm>
          <a:prstGeom prst="rect">
            <a:avLst/>
          </a:prstGeom>
          <a:solidFill>
            <a:srgbClr val="DDF0EA"/>
          </a:solidFill>
          <a:ln>
            <a:noFill/>
          </a:ln>
        </p:spPr>
        <p:txBody>
          <a:bodyPr rtlCol="0" anchor="ctr"/>
          <a:lstStyle/>
          <a:p>
            <a:pPr algn="ctr"/>
          </a:p>
        </p:txBody>
      </p:sp>
      <p:sp>
        <p:nvSpPr>
          <p:cNvPr id="46" name="Rule 45"/>
          <p:cNvSpPr/>
          <p:nvPr/>
        </p:nvSpPr>
        <p:spPr>
          <a:xfrm>
            <a:off x="819150" y="4138216"/>
            <a:ext cx="10553700" cy="6350"/>
          </a:xfrm>
          <a:prstGeom prst="rect">
            <a:avLst/>
          </a:prstGeom>
          <a:solidFill>
            <a:srgbClr val="D3D9DF"/>
          </a:solidFill>
          <a:ln>
            <a:noFill/>
          </a:ln>
        </p:spPr>
        <p:txBody>
          <a:bodyPr rtlCol="0" anchor="ctr"/>
          <a:lstStyle/>
          <a:p>
            <a:pPr algn="ctr"/>
          </a:p>
        </p:txBody>
      </p:sp>
      <p:sp>
        <p:nvSpPr>
          <p:cNvPr id="47" name="Text 46"/>
          <p:cNvSpPr txBox="1"/>
          <p:nvPr/>
        </p:nvSpPr>
        <p:spPr>
          <a:xfrm>
            <a:off x="844550" y="3743246"/>
            <a:ext cx="104267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0E7C6B"/>
                </a:solidFill>
                <a:latin typeface="IBM Plex Sans Arabic"/>
                <a:ea typeface="IBM Plex Sans Arabic"/>
                <a:cs typeface="IBM Plex Sans Arabic"/>
              </a:rPr>
              <a:t>منع التكرار: يعالج السبب</a:t>
            </a:r>
          </a:p>
        </p:txBody>
      </p:sp>
      <p:sp>
        <p:nvSpPr>
          <p:cNvPr id="48" name="Rule 47"/>
          <p:cNvSpPr/>
          <p:nvPr/>
        </p:nvSpPr>
        <p:spPr>
          <a:xfrm>
            <a:off x="819150" y="4619526"/>
            <a:ext cx="10553700" cy="6350"/>
          </a:xfrm>
          <a:prstGeom prst="rect">
            <a:avLst/>
          </a:prstGeom>
          <a:solidFill>
            <a:srgbClr val="D3D9DF"/>
          </a:solidFill>
          <a:ln>
            <a:noFill/>
          </a:ln>
        </p:spPr>
        <p:txBody>
          <a:bodyPr rtlCol="0" anchor="ctr"/>
          <a:lstStyle/>
          <a:p>
            <a:pPr algn="ctr"/>
          </a:p>
        </p:txBody>
      </p:sp>
      <p:sp>
        <p:nvSpPr>
          <p:cNvPr id="49" name="Box 48"/>
          <p:cNvSpPr/>
          <p:nvPr/>
        </p:nvSpPr>
        <p:spPr>
          <a:xfrm>
            <a:off x="8388350" y="4144566"/>
            <a:ext cx="2984500" cy="474960"/>
          </a:xfrm>
          <a:prstGeom prst="roundRect">
            <a:avLst>
              <a:gd name="adj" fmla="val 2339"/>
            </a:avLst>
          </a:prstGeom>
          <a:solidFill>
            <a:srgbClr val="FFFFFF"/>
          </a:solidFill>
          <a:ln>
            <a:noFill/>
          </a:ln>
        </p:spPr>
        <p:txBody>
          <a:bodyPr rtlCol="0" anchor="ctr"/>
          <a:lstStyle/>
          <a:p>
            <a:pPr algn="ctr"/>
          </a:p>
        </p:txBody>
      </p:sp>
      <p:sp>
        <p:nvSpPr>
          <p:cNvPr id="50" name="Rule 49"/>
          <p:cNvSpPr/>
          <p:nvPr/>
        </p:nvSpPr>
        <p:spPr>
          <a:xfrm>
            <a:off x="8388350" y="4144566"/>
            <a:ext cx="6350" cy="474960"/>
          </a:xfrm>
          <a:prstGeom prst="rect">
            <a:avLst/>
          </a:prstGeom>
          <a:solidFill>
            <a:srgbClr val="D3D9DF"/>
          </a:solidFill>
          <a:ln>
            <a:noFill/>
          </a:ln>
        </p:spPr>
        <p:txBody>
          <a:bodyPr rtlCol="0" anchor="ctr"/>
          <a:lstStyle/>
          <a:p>
            <a:pPr algn="ctr"/>
          </a:p>
        </p:txBody>
      </p:sp>
      <p:sp>
        <p:nvSpPr>
          <p:cNvPr id="51" name="Text 50"/>
          <p:cNvSpPr txBox="1"/>
          <p:nvPr/>
        </p:nvSpPr>
        <p:spPr>
          <a:xfrm>
            <a:off x="8413750" y="4175046"/>
            <a:ext cx="28702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2" name="Box 51"/>
          <p:cNvSpPr/>
          <p:nvPr/>
        </p:nvSpPr>
        <p:spPr>
          <a:xfrm>
            <a:off x="6483350" y="4144566"/>
            <a:ext cx="1905000" cy="474960"/>
          </a:xfrm>
          <a:prstGeom prst="rect">
            <a:avLst/>
          </a:prstGeom>
          <a:solidFill>
            <a:srgbClr val="FFFFFF"/>
          </a:solidFill>
          <a:ln>
            <a:noFill/>
          </a:ln>
        </p:spPr>
        <p:txBody>
          <a:bodyPr rtlCol="0" anchor="ctr"/>
          <a:lstStyle/>
          <a:p>
            <a:pPr algn="ctr"/>
          </a:p>
        </p:txBody>
      </p:sp>
      <p:sp>
        <p:nvSpPr>
          <p:cNvPr id="53" name="Rule 52"/>
          <p:cNvSpPr/>
          <p:nvPr/>
        </p:nvSpPr>
        <p:spPr>
          <a:xfrm>
            <a:off x="6483350" y="4144566"/>
            <a:ext cx="6350" cy="474960"/>
          </a:xfrm>
          <a:prstGeom prst="rect">
            <a:avLst/>
          </a:prstGeom>
          <a:solidFill>
            <a:srgbClr val="D3D9DF"/>
          </a:solidFill>
          <a:ln>
            <a:noFill/>
          </a:ln>
        </p:spPr>
        <p:txBody>
          <a:bodyPr rtlCol="0" anchor="ctr"/>
          <a:lstStyle/>
          <a:p>
            <a:pPr algn="ctr"/>
          </a:p>
        </p:txBody>
      </p:sp>
      <p:sp>
        <p:nvSpPr>
          <p:cNvPr id="54" name="Text 53"/>
          <p:cNvSpPr txBox="1"/>
          <p:nvPr/>
        </p:nvSpPr>
        <p:spPr>
          <a:xfrm>
            <a:off x="6508750" y="4175046"/>
            <a:ext cx="17907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5" name="Box 54"/>
          <p:cNvSpPr/>
          <p:nvPr/>
        </p:nvSpPr>
        <p:spPr>
          <a:xfrm>
            <a:off x="5276850" y="4144566"/>
            <a:ext cx="1206500" cy="474960"/>
          </a:xfrm>
          <a:prstGeom prst="rect">
            <a:avLst/>
          </a:prstGeom>
          <a:solidFill>
            <a:srgbClr val="FFFFFF"/>
          </a:solidFill>
          <a:ln>
            <a:noFill/>
          </a:ln>
        </p:spPr>
        <p:txBody>
          <a:bodyPr rtlCol="0" anchor="ctr"/>
          <a:lstStyle/>
          <a:p>
            <a:pPr algn="ctr"/>
          </a:p>
        </p:txBody>
      </p:sp>
      <p:sp>
        <p:nvSpPr>
          <p:cNvPr id="56" name="Rule 55"/>
          <p:cNvSpPr/>
          <p:nvPr/>
        </p:nvSpPr>
        <p:spPr>
          <a:xfrm>
            <a:off x="5276850" y="4144566"/>
            <a:ext cx="6350" cy="474960"/>
          </a:xfrm>
          <a:prstGeom prst="rect">
            <a:avLst/>
          </a:prstGeom>
          <a:solidFill>
            <a:srgbClr val="D3D9DF"/>
          </a:solidFill>
          <a:ln>
            <a:noFill/>
          </a:ln>
        </p:spPr>
        <p:txBody>
          <a:bodyPr rtlCol="0" anchor="ctr"/>
          <a:lstStyle/>
          <a:p>
            <a:pPr algn="ctr"/>
          </a:p>
        </p:txBody>
      </p:sp>
      <p:sp>
        <p:nvSpPr>
          <p:cNvPr id="57" name="Text 56"/>
          <p:cNvSpPr txBox="1"/>
          <p:nvPr/>
        </p:nvSpPr>
        <p:spPr>
          <a:xfrm>
            <a:off x="5302250" y="4175046"/>
            <a:ext cx="10922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8" name="Box 57"/>
          <p:cNvSpPr/>
          <p:nvPr/>
        </p:nvSpPr>
        <p:spPr>
          <a:xfrm>
            <a:off x="4324350" y="4144566"/>
            <a:ext cx="952500" cy="474960"/>
          </a:xfrm>
          <a:prstGeom prst="rect">
            <a:avLst/>
          </a:prstGeom>
          <a:solidFill>
            <a:srgbClr val="FFFFFF"/>
          </a:solidFill>
          <a:ln>
            <a:noFill/>
          </a:ln>
        </p:spPr>
        <p:txBody>
          <a:bodyPr rtlCol="0" anchor="ctr"/>
          <a:lstStyle/>
          <a:p>
            <a:pPr algn="ctr"/>
          </a:p>
        </p:txBody>
      </p:sp>
      <p:sp>
        <p:nvSpPr>
          <p:cNvPr id="59" name="Rule 58"/>
          <p:cNvSpPr/>
          <p:nvPr/>
        </p:nvSpPr>
        <p:spPr>
          <a:xfrm>
            <a:off x="4324350" y="4144566"/>
            <a:ext cx="6350" cy="474960"/>
          </a:xfrm>
          <a:prstGeom prst="rect">
            <a:avLst/>
          </a:prstGeom>
          <a:solidFill>
            <a:srgbClr val="D3D9DF"/>
          </a:solidFill>
          <a:ln>
            <a:noFill/>
          </a:ln>
        </p:spPr>
        <p:txBody>
          <a:bodyPr rtlCol="0" anchor="ctr"/>
          <a:lstStyle/>
          <a:p>
            <a:pPr algn="ctr"/>
          </a:p>
        </p:txBody>
      </p:sp>
      <p:sp>
        <p:nvSpPr>
          <p:cNvPr id="60" name="Text box 59"/>
          <p:cNvSpPr/>
          <p:nvPr/>
        </p:nvSpPr>
        <p:spPr>
          <a:xfrm>
            <a:off x="4419600" y="4208066"/>
            <a:ext cx="768350" cy="347960"/>
          </a:xfrm>
          <a:prstGeom prst="roundRect">
            <a:avLst>
              <a:gd name="adj" fmla="val 50000"/>
            </a:avLst>
          </a:prstGeom>
          <a:solidFill>
            <a:srgbClr val="E9E4D8"/>
          </a:solidFill>
          <a:ln>
            <a:noFill/>
          </a:ln>
        </p:spPr>
        <p:txBody>
          <a:bodyPr rtlCol="0" anchor="ctr" wrap="square" tIns="0" rIns="0" bIns="48006" lIns="0" anchorCtr="0">
            <a:noAutofit/>
          </a:bodyPr>
          <a:lstStyle/>
          <a:p>
            <a:pPr algn="ctr" rtl="1">
              <a:lnSpc>
                <a:spcPts val="2340"/>
              </a:lnSpc>
              <a:spcBef>
                <a:spcPts val="0"/>
              </a:spcBef>
              <a:spcAft>
                <a:spcPts val="0"/>
              </a:spcAft>
            </a:pPr>
            <a:r>
              <a:rPr sz="1800" b="1" i="0">
                <a:solidFill>
                  <a:srgbClr val="4E5A66"/>
                </a:solidFill>
                <a:latin typeface="IBM Plex Sans Arabic"/>
                <a:ea typeface="IBM Plex Sans Arabic"/>
                <a:cs typeface="IBM Plex Sans Arabic"/>
              </a:rPr>
              <a:t>مفتوح</a:t>
            </a:r>
          </a:p>
        </p:txBody>
      </p:sp>
      <p:sp>
        <p:nvSpPr>
          <p:cNvPr id="61" name="Box 60"/>
          <p:cNvSpPr/>
          <p:nvPr/>
        </p:nvSpPr>
        <p:spPr>
          <a:xfrm>
            <a:off x="819150" y="4144566"/>
            <a:ext cx="3505200" cy="474960"/>
          </a:xfrm>
          <a:prstGeom prst="roundRect">
            <a:avLst>
              <a:gd name="adj" fmla="val 2339"/>
            </a:avLst>
          </a:prstGeom>
          <a:solidFill>
            <a:srgbClr val="FFFFFF"/>
          </a:solidFill>
          <a:ln>
            <a:noFill/>
          </a:ln>
        </p:spPr>
        <p:txBody>
          <a:bodyPr rtlCol="0" anchor="ctr"/>
          <a:lstStyle/>
          <a:p>
            <a:pPr algn="ctr"/>
          </a:p>
        </p:txBody>
      </p:sp>
      <p:sp>
        <p:nvSpPr>
          <p:cNvPr id="62" name="Rule 61"/>
          <p:cNvSpPr/>
          <p:nvPr/>
        </p:nvSpPr>
        <p:spPr>
          <a:xfrm>
            <a:off x="819150" y="4144566"/>
            <a:ext cx="6350" cy="474960"/>
          </a:xfrm>
          <a:prstGeom prst="rect">
            <a:avLst/>
          </a:prstGeom>
          <a:solidFill>
            <a:srgbClr val="D3D9DF"/>
          </a:solidFill>
          <a:ln>
            <a:noFill/>
          </a:ln>
        </p:spPr>
        <p:txBody>
          <a:bodyPr rtlCol="0" anchor="ctr"/>
          <a:lstStyle/>
          <a:p>
            <a:pPr algn="ctr"/>
          </a:p>
        </p:txBody>
      </p:sp>
      <p:sp>
        <p:nvSpPr>
          <p:cNvPr id="63" name="Text 62"/>
          <p:cNvSpPr txBox="1"/>
          <p:nvPr/>
        </p:nvSpPr>
        <p:spPr>
          <a:xfrm>
            <a:off x="844550" y="4175046"/>
            <a:ext cx="33909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64" name="Box 63"/>
          <p:cNvSpPr/>
          <p:nvPr/>
        </p:nvSpPr>
        <p:spPr>
          <a:xfrm>
            <a:off x="6889948" y="4784626"/>
            <a:ext cx="4489252" cy="977900"/>
          </a:xfrm>
          <a:prstGeom prst="roundRect">
            <a:avLst>
              <a:gd name="adj" fmla="val 10389"/>
            </a:avLst>
          </a:prstGeom>
          <a:solidFill>
            <a:srgbClr val="F6ECDA"/>
          </a:solidFill>
          <a:ln>
            <a:noFill/>
          </a:ln>
        </p:spPr>
        <p:txBody>
          <a:bodyPr rtlCol="0" anchor="ctr"/>
          <a:lstStyle/>
          <a:p>
            <a:pPr algn="ctr"/>
          </a:p>
        </p:txBody>
      </p:sp>
      <p:pic>
        <p:nvPicPr>
          <p:cNvPr id="65" name="Icon Verified 64" descr="icon062.png"/>
          <p:cNvPicPr>
            <a:picLocks noChangeAspect="1"/>
          </p:cNvPicPr>
          <p:nvPr/>
        </p:nvPicPr>
        <p:blipFill>
          <a:blip r:embed="rId2"/>
          <a:stretch>
            <a:fillRect/>
          </a:stretch>
        </p:blipFill>
        <p:spPr>
          <a:xfrm>
            <a:off x="10922000" y="5127526"/>
            <a:ext cx="279400" cy="279400"/>
          </a:xfrm>
          <a:prstGeom prst="rect">
            <a:avLst/>
          </a:prstGeom>
        </p:spPr>
      </p:pic>
      <p:sp>
        <p:nvSpPr>
          <p:cNvPr id="66" name="Text 65"/>
          <p:cNvSpPr txBox="1"/>
          <p:nvPr/>
        </p:nvSpPr>
        <p:spPr>
          <a:xfrm>
            <a:off x="6955550" y="4872256"/>
            <a:ext cx="3852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تُغلق الملاحظة بوعد. تُغلق بدليل، وبعد إعادة الاختبار.</a:t>
            </a:r>
          </a:p>
        </p:txBody>
      </p:sp>
      <p:sp>
        <p:nvSpPr>
          <p:cNvPr id="67" name="Box 66"/>
          <p:cNvSpPr/>
          <p:nvPr/>
        </p:nvSpPr>
        <p:spPr>
          <a:xfrm>
            <a:off x="815975" y="4787801"/>
            <a:ext cx="5956498" cy="971550"/>
          </a:xfrm>
          <a:prstGeom prst="roundRect">
            <a:avLst>
              <a:gd name="adj" fmla="val 10389"/>
            </a:avLst>
          </a:prstGeom>
          <a:solidFill>
            <a:srgbClr val="FBEAE5"/>
          </a:solidFill>
          <a:ln w="6350">
            <a:solidFill>
              <a:srgbClr val="E7B8AC"/>
            </a:solidFill>
          </a:ln>
        </p:spPr>
        <p:txBody>
          <a:bodyPr rtlCol="0" anchor="ctr"/>
          <a:lstStyle/>
          <a:p>
            <a:pPr algn="ctr"/>
          </a:p>
        </p:txBody>
      </p:sp>
      <p:pic>
        <p:nvPicPr>
          <p:cNvPr id="68" name="Icon Warning 67" descr="icon063.png"/>
          <p:cNvPicPr>
            <a:picLocks noChangeAspect="1"/>
          </p:cNvPicPr>
          <p:nvPr/>
        </p:nvPicPr>
        <p:blipFill>
          <a:blip r:embed="rId3"/>
          <a:stretch>
            <a:fillRect/>
          </a:stretch>
        </p:blipFill>
        <p:spPr>
          <a:xfrm>
            <a:off x="6312098" y="5133876"/>
            <a:ext cx="279400" cy="279400"/>
          </a:xfrm>
          <a:prstGeom prst="rect">
            <a:avLst/>
          </a:prstGeom>
        </p:spPr>
      </p:pic>
      <p:sp>
        <p:nvSpPr>
          <p:cNvPr id="69" name="Text 68"/>
          <p:cNvSpPr txBox="1"/>
          <p:nvPr/>
        </p:nvSpPr>
        <p:spPr>
          <a:xfrm>
            <a:off x="840925" y="4878606"/>
            <a:ext cx="535687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قبول الخطر بدل التصحيح يوثقه صاحب الصلاحية، ولا يلغي أي التزام نظامي.</a:t>
            </a:r>
          </a:p>
        </p:txBody>
      </p:sp>
      <p:sp>
        <p:nvSpPr>
          <p:cNvPr id="70" name="Text 6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71" name="Text 7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الملاحظة (1 من 2): ماذا وجدنا ولماذا</a:t>
            </a:r>
          </a:p>
        </p:txBody>
      </p:sp>
      <p:sp>
        <p:nvSpPr>
          <p:cNvPr id="7" name="Box 6"/>
          <p:cNvSpPr/>
          <p:nvPr/>
        </p:nvSpPr>
        <p:spPr>
          <a:xfrm>
            <a:off x="815975" y="1661120"/>
            <a:ext cx="10560050" cy="3588742"/>
          </a:xfrm>
          <a:prstGeom prst="roundRect">
            <a:avLst>
              <a:gd name="adj" fmla="val 1766"/>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2450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2450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حسابات تتصل بالشبكة عن بعد دون تحقق متعدد العوامل</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F-⁠03</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2-⁠2-⁠3-⁠2</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860701"/>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7" name="Text 16"/>
          <p:cNvSpPr txBox="1"/>
          <p:nvPr/>
        </p:nvSpPr>
        <p:spPr>
          <a:xfrm>
            <a:off x="1047750" y="2923488"/>
            <a:ext cx="8597900" cy="865584"/>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لم يكن التحقق متعدد العوامل مفروضاً على اتصالات VPN حتى 10 مارس 2026. وبعد التفعيل، اتصلت 3 حسابات من خارج مجموعة التحقق بكلمة المرور فقط، حددتها مطابقة المعرّفات وسجل الاتصالات، منها حساب لمستشار انتهى عقده.</a:t>
            </a:r>
          </a:p>
        </p:txBody>
      </p:sp>
      <p:sp>
        <p:nvSpPr>
          <p:cNvPr id="18" name="Rule 17"/>
          <p:cNvSpPr/>
          <p:nvPr/>
        </p:nvSpPr>
        <p:spPr>
          <a:xfrm>
            <a:off x="1047750" y="4314031"/>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944775"/>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20" name="Text 19"/>
          <p:cNvSpPr txBox="1"/>
          <p:nvPr/>
        </p:nvSpPr>
        <p:spPr>
          <a:xfrm>
            <a:off x="1047750" y="3947823"/>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ECC 2-⁠2-⁠3-⁠2، ومعيار الوصول عن بعد في رُفاد (فبراير 2026).</a:t>
            </a:r>
          </a:p>
        </p:txBody>
      </p:sp>
      <p:sp>
        <p:nvSpPr>
          <p:cNvPr id="21" name="Rule 20"/>
          <p:cNvSpPr/>
          <p:nvPr/>
        </p:nvSpPr>
        <p:spPr>
          <a:xfrm>
            <a:off x="1047750" y="5049838"/>
            <a:ext cx="10096500" cy="6350"/>
          </a:xfrm>
          <a:prstGeom prst="rect">
            <a:avLst/>
          </a:prstGeom>
          <a:solidFill>
            <a:srgbClr val="ECE7DC"/>
          </a:solidFill>
          <a:ln>
            <a:noFill/>
          </a:ln>
        </p:spPr>
        <p:txBody>
          <a:bodyPr rtlCol="0" anchor="ctr"/>
          <a:lstStyle/>
          <a:p>
            <a:pPr algn="ctr"/>
          </a:p>
        </p:txBody>
      </p:sp>
      <p:sp>
        <p:nvSpPr>
          <p:cNvPr id="22" name="Text 21"/>
          <p:cNvSpPr txBox="1"/>
          <p:nvPr/>
        </p:nvSpPr>
        <p:spPr>
          <a:xfrm>
            <a:off x="9625330" y="4398105"/>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3" name="Text 22"/>
          <p:cNvSpPr txBox="1"/>
          <p:nvPr/>
        </p:nvSpPr>
        <p:spPr>
          <a:xfrm>
            <a:off x="1047750" y="4401153"/>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أُضيفت الحسابات الثلاثة يدوياً إلى سياسة استثناء «مؤقتة» عند التفعيل، دون إجراء موافقة أو مراجعة. تحققنا من ذلك بسجل التغييرات ومقابلة فريق تقنية المعلومات.</a:t>
            </a:r>
          </a:p>
        </p:txBody>
      </p:sp>
      <p:sp>
        <p:nvSpPr>
          <p:cNvPr id="24" name="Text 2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5" name="Text 2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الملاحظة (2 من 2): الأثر والتوصية</a:t>
            </a:r>
          </a:p>
        </p:txBody>
      </p:sp>
      <p:sp>
        <p:nvSpPr>
          <p:cNvPr id="7" name="Box 6"/>
          <p:cNvSpPr/>
          <p:nvPr/>
        </p:nvSpPr>
        <p:spPr>
          <a:xfrm>
            <a:off x="815975" y="1661120"/>
            <a:ext cx="10560050" cy="2846884"/>
          </a:xfrm>
          <a:prstGeom prst="roundRect">
            <a:avLst>
              <a:gd name="adj" fmla="val 2225"/>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2450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2450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حسابات تتصل بالشبكة عن بعد دون تحقق متعدد العوامل</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F-⁠03</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2-⁠2-⁠3-⁠2</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572173"/>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17" name="Text 16"/>
          <p:cNvSpPr txBox="1"/>
          <p:nvPr/>
        </p:nvSpPr>
        <p:spPr>
          <a:xfrm>
            <a:off x="1047750" y="2923488"/>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من يعرف كلمة مرور أحد الحسابات الثلاثة يستطيع دخول الشبكة الداخلية دون عامل ثانٍ، ومنها حساب لشخص لم يعد يعمل مع رُفاد.</a:t>
            </a:r>
          </a:p>
        </p:txBody>
      </p:sp>
      <p:sp>
        <p:nvSpPr>
          <p:cNvPr id="18" name="Rule 17"/>
          <p:cNvSpPr/>
          <p:nvPr/>
        </p:nvSpPr>
        <p:spPr>
          <a:xfrm>
            <a:off x="1047750" y="4307979"/>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65624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0" name="Text 19"/>
          <p:cNvSpPr txBox="1"/>
          <p:nvPr/>
        </p:nvSpPr>
        <p:spPr>
          <a:xfrm>
            <a:off x="1047750" y="3659295"/>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إزالة الاستثناءات الثلاثة، واعتماد إجراء للاستثناءات بموافقة ومدة ومراجعة، ومطابقة دورية بين مستخدمي VPN ومجموعة التحقق. التفاصيل في خطة التصحيح.</a:t>
            </a:r>
          </a:p>
        </p:txBody>
      </p:sp>
      <p:sp>
        <p:nvSpPr>
          <p:cNvPr id="21" name="Text box 20"/>
          <p:cNvSpPr/>
          <p:nvPr/>
        </p:nvSpPr>
        <p:spPr>
          <a:xfrm>
            <a:off x="11099800" y="4701679"/>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2" name="Text 21"/>
          <p:cNvSpPr txBox="1"/>
          <p:nvPr/>
        </p:nvSpPr>
        <p:spPr>
          <a:xfrm>
            <a:off x="7751100"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 بلغة العمل</a:t>
            </a:r>
          </a:p>
        </p:txBody>
      </p:sp>
      <p:sp>
        <p:nvSpPr>
          <p:cNvPr id="23" name="Text 22"/>
          <p:cNvSpPr txBox="1"/>
          <p:nvPr/>
        </p:nvSpPr>
        <p:spPr>
          <a:xfrm>
            <a:off x="7751100" y="4941923"/>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ماذا يعني لرُفاد، لا وصف تقني.</a:t>
            </a:r>
          </a:p>
        </p:txBody>
      </p:sp>
      <p:sp>
        <p:nvSpPr>
          <p:cNvPr id="24" name="Text box 23"/>
          <p:cNvSpPr/>
          <p:nvPr/>
        </p:nvSpPr>
        <p:spPr>
          <a:xfrm>
            <a:off x="7509966" y="4701679"/>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5" name="Text 24"/>
          <p:cNvSpPr txBox="1"/>
          <p:nvPr/>
        </p:nvSpPr>
        <p:spPr>
          <a:xfrm>
            <a:off x="4161266"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التوصية تعالج السبب</a:t>
            </a:r>
          </a:p>
        </p:txBody>
      </p:sp>
      <p:sp>
        <p:nvSpPr>
          <p:cNvPr id="26" name="Text 25"/>
          <p:cNvSpPr txBox="1"/>
          <p:nvPr/>
        </p:nvSpPr>
        <p:spPr>
          <a:xfrm>
            <a:off x="4312183" y="4941923"/>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استثناءات بلا موافقة، لا الحسابات الثلاثة فقط.</a:t>
            </a:r>
          </a:p>
        </p:txBody>
      </p:sp>
      <p:sp>
        <p:nvSpPr>
          <p:cNvPr id="27" name="Text box 26"/>
          <p:cNvSpPr/>
          <p:nvPr/>
        </p:nvSpPr>
        <p:spPr>
          <a:xfrm>
            <a:off x="3920133" y="4701679"/>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8" name="Text 27"/>
          <p:cNvSpPr txBox="1"/>
          <p:nvPr/>
        </p:nvSpPr>
        <p:spPr>
          <a:xfrm>
            <a:off x="571433"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التفاصيل في الخطة</a:t>
            </a:r>
          </a:p>
        </p:txBody>
      </p:sp>
      <p:sp>
        <p:nvSpPr>
          <p:cNvPr id="29" name="Text 28"/>
          <p:cNvSpPr txBox="1"/>
          <p:nvPr/>
        </p:nvSpPr>
        <p:spPr>
          <a:xfrm>
            <a:off x="722349" y="4941923"/>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المالك والموعد والدليل في الشريحة التالية.</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خطة التصحيح</a:t>
            </a:r>
          </a:p>
        </p:txBody>
      </p:sp>
      <p:sp>
        <p:nvSpPr>
          <p:cNvPr id="7" name="Box 6"/>
          <p:cNvSpPr/>
          <p:nvPr/>
        </p:nvSpPr>
        <p:spPr>
          <a:xfrm>
            <a:off x="815975" y="1661120"/>
            <a:ext cx="10560050" cy="4165997"/>
          </a:xfrm>
          <a:prstGeom prst="roundRect">
            <a:avLst>
              <a:gd name="adj" fmla="val 1217"/>
            </a:avLst>
          </a:prstGeom>
          <a:solidFill>
            <a:srgbClr val="FFFFFF"/>
          </a:solidFill>
          <a:ln w="6350">
            <a:solidFill>
              <a:srgbClr val="C9D0D6"/>
            </a:solidFill>
          </a:ln>
        </p:spPr>
        <p:txBody>
          <a:bodyPr rtlCol="0" anchor="ctr"/>
          <a:lstStyle/>
          <a:p>
            <a:pPr algn="ctr"/>
          </a:p>
        </p:txBody>
      </p:sp>
      <p:sp>
        <p:nvSpPr>
          <p:cNvPr id="8" name="Box 7"/>
          <p:cNvSpPr/>
          <p:nvPr/>
        </p:nvSpPr>
        <p:spPr>
          <a:xfrm>
            <a:off x="819150" y="16642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819150" y="1989336"/>
            <a:ext cx="10553700" cy="6350"/>
          </a:xfrm>
          <a:prstGeom prst="rect">
            <a:avLst/>
          </a:prstGeom>
          <a:solidFill>
            <a:srgbClr val="D3D9DF"/>
          </a:solidFill>
          <a:ln>
            <a:noFill/>
          </a:ln>
        </p:spPr>
        <p:txBody>
          <a:bodyPr rtlCol="0" anchor="ctr"/>
          <a:lstStyle/>
          <a:p>
            <a:pPr algn="ctr"/>
          </a:p>
        </p:txBody>
      </p:sp>
      <p:sp>
        <p:nvSpPr>
          <p:cNvPr id="10" name="Text 9"/>
          <p:cNvSpPr txBox="1"/>
          <p:nvPr/>
        </p:nvSpPr>
        <p:spPr>
          <a:xfrm>
            <a:off x="9540677" y="1711793"/>
            <a:ext cx="173057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متتبع الإجراءات التصحيحية</a:t>
            </a:r>
          </a:p>
        </p:txBody>
      </p:sp>
      <p:sp>
        <p:nvSpPr>
          <p:cNvPr id="11" name="Text 10"/>
          <p:cNvSpPr txBox="1"/>
          <p:nvPr/>
        </p:nvSpPr>
        <p:spPr>
          <a:xfrm>
            <a:off x="84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819150" y="2396927"/>
            <a:ext cx="10553700" cy="6350"/>
          </a:xfrm>
          <a:prstGeom prst="rect">
            <a:avLst/>
          </a:prstGeom>
          <a:solidFill>
            <a:srgbClr val="D3D9DF"/>
          </a:solidFill>
          <a:ln>
            <a:noFill/>
          </a:ln>
        </p:spPr>
        <p:txBody>
          <a:bodyPr rtlCol="0" anchor="ctr"/>
          <a:lstStyle/>
          <a:p>
            <a:pPr algn="ctr"/>
          </a:p>
        </p:txBody>
      </p:sp>
      <p:sp>
        <p:nvSpPr>
          <p:cNvPr id="13" name="Box 12"/>
          <p:cNvSpPr/>
          <p:nvPr/>
        </p:nvSpPr>
        <p:spPr>
          <a:xfrm>
            <a:off x="8388350" y="1995686"/>
            <a:ext cx="2984500" cy="401241"/>
          </a:xfrm>
          <a:prstGeom prst="rect">
            <a:avLst/>
          </a:prstGeom>
          <a:solidFill>
            <a:srgbClr val="F7F8FA"/>
          </a:solidFill>
          <a:ln>
            <a:noFill/>
          </a:ln>
        </p:spPr>
        <p:txBody>
          <a:bodyPr rtlCol="0" anchor="ctr"/>
          <a:lstStyle/>
          <a:p>
            <a:pPr algn="ctr"/>
          </a:p>
        </p:txBody>
      </p:sp>
      <p:sp>
        <p:nvSpPr>
          <p:cNvPr id="14" name="Rule 13"/>
          <p:cNvSpPr/>
          <p:nvPr/>
        </p:nvSpPr>
        <p:spPr>
          <a:xfrm>
            <a:off x="8388350" y="1995686"/>
            <a:ext cx="6350" cy="401241"/>
          </a:xfrm>
          <a:prstGeom prst="rect">
            <a:avLst/>
          </a:prstGeom>
          <a:solidFill>
            <a:srgbClr val="D3D9DF"/>
          </a:solidFill>
          <a:ln>
            <a:noFill/>
          </a:ln>
        </p:spPr>
        <p:txBody>
          <a:bodyPr rtlCol="0" anchor="ctr"/>
          <a:lstStyle/>
          <a:p>
            <a:pPr algn="ctr"/>
          </a:p>
        </p:txBody>
      </p:sp>
      <p:sp>
        <p:nvSpPr>
          <p:cNvPr id="15" name="Text 14"/>
          <p:cNvSpPr txBox="1"/>
          <p:nvPr/>
        </p:nvSpPr>
        <p:spPr>
          <a:xfrm>
            <a:off x="8413750" y="2032770"/>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الإجراء</a:t>
            </a:r>
          </a:p>
        </p:txBody>
      </p:sp>
      <p:sp>
        <p:nvSpPr>
          <p:cNvPr id="16" name="Box 15"/>
          <p:cNvSpPr/>
          <p:nvPr/>
        </p:nvSpPr>
        <p:spPr>
          <a:xfrm>
            <a:off x="6483350" y="1995686"/>
            <a:ext cx="1905000" cy="401241"/>
          </a:xfrm>
          <a:prstGeom prst="rect">
            <a:avLst/>
          </a:prstGeom>
          <a:solidFill>
            <a:srgbClr val="F7F8FA"/>
          </a:solidFill>
          <a:ln>
            <a:noFill/>
          </a:ln>
        </p:spPr>
        <p:txBody>
          <a:bodyPr rtlCol="0" anchor="ctr"/>
          <a:lstStyle/>
          <a:p>
            <a:pPr algn="ctr"/>
          </a:p>
        </p:txBody>
      </p:sp>
      <p:sp>
        <p:nvSpPr>
          <p:cNvPr id="17" name="Rule 16"/>
          <p:cNvSpPr/>
          <p:nvPr/>
        </p:nvSpPr>
        <p:spPr>
          <a:xfrm>
            <a:off x="6483350" y="1995686"/>
            <a:ext cx="6350" cy="401241"/>
          </a:xfrm>
          <a:prstGeom prst="rect">
            <a:avLst/>
          </a:prstGeom>
          <a:solidFill>
            <a:srgbClr val="D3D9DF"/>
          </a:solidFill>
          <a:ln>
            <a:noFill/>
          </a:ln>
        </p:spPr>
        <p:txBody>
          <a:bodyPr rtlCol="0" anchor="ctr"/>
          <a:lstStyle/>
          <a:p>
            <a:pPr algn="ctr"/>
          </a:p>
        </p:txBody>
      </p:sp>
      <p:sp>
        <p:nvSpPr>
          <p:cNvPr id="18" name="Text 17"/>
          <p:cNvSpPr txBox="1"/>
          <p:nvPr/>
        </p:nvSpPr>
        <p:spPr>
          <a:xfrm>
            <a:off x="6508750" y="2032770"/>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المالك</a:t>
            </a:r>
          </a:p>
        </p:txBody>
      </p:sp>
      <p:sp>
        <p:nvSpPr>
          <p:cNvPr id="19" name="Box 18"/>
          <p:cNvSpPr/>
          <p:nvPr/>
        </p:nvSpPr>
        <p:spPr>
          <a:xfrm>
            <a:off x="5276850" y="1995686"/>
            <a:ext cx="1206500" cy="401241"/>
          </a:xfrm>
          <a:prstGeom prst="rect">
            <a:avLst/>
          </a:prstGeom>
          <a:solidFill>
            <a:srgbClr val="F7F8FA"/>
          </a:solidFill>
          <a:ln>
            <a:noFill/>
          </a:ln>
        </p:spPr>
        <p:txBody>
          <a:bodyPr rtlCol="0" anchor="ctr"/>
          <a:lstStyle/>
          <a:p>
            <a:pPr algn="ctr"/>
          </a:p>
        </p:txBody>
      </p:sp>
      <p:sp>
        <p:nvSpPr>
          <p:cNvPr id="20" name="Rule 19"/>
          <p:cNvSpPr/>
          <p:nvPr/>
        </p:nvSpPr>
        <p:spPr>
          <a:xfrm>
            <a:off x="5276850" y="1995686"/>
            <a:ext cx="6350" cy="401241"/>
          </a:xfrm>
          <a:prstGeom prst="rect">
            <a:avLst/>
          </a:prstGeom>
          <a:solidFill>
            <a:srgbClr val="D3D9DF"/>
          </a:solidFill>
          <a:ln>
            <a:noFill/>
          </a:ln>
        </p:spPr>
        <p:txBody>
          <a:bodyPr rtlCol="0" anchor="ctr"/>
          <a:lstStyle/>
          <a:p>
            <a:pPr algn="ctr"/>
          </a:p>
        </p:txBody>
      </p:sp>
      <p:sp>
        <p:nvSpPr>
          <p:cNvPr id="21" name="Text 20"/>
          <p:cNvSpPr txBox="1"/>
          <p:nvPr/>
        </p:nvSpPr>
        <p:spPr>
          <a:xfrm>
            <a:off x="5302250" y="2032770"/>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الموعد</a:t>
            </a:r>
          </a:p>
        </p:txBody>
      </p:sp>
      <p:sp>
        <p:nvSpPr>
          <p:cNvPr id="22" name="Box 21"/>
          <p:cNvSpPr/>
          <p:nvPr/>
        </p:nvSpPr>
        <p:spPr>
          <a:xfrm>
            <a:off x="4324350" y="1995686"/>
            <a:ext cx="952500" cy="401241"/>
          </a:xfrm>
          <a:prstGeom prst="rect">
            <a:avLst/>
          </a:prstGeom>
          <a:solidFill>
            <a:srgbClr val="F7F8FA"/>
          </a:solidFill>
          <a:ln>
            <a:noFill/>
          </a:ln>
        </p:spPr>
        <p:txBody>
          <a:bodyPr rtlCol="0" anchor="ctr"/>
          <a:lstStyle/>
          <a:p>
            <a:pPr algn="ctr"/>
          </a:p>
        </p:txBody>
      </p:sp>
      <p:sp>
        <p:nvSpPr>
          <p:cNvPr id="23" name="Rule 22"/>
          <p:cNvSpPr/>
          <p:nvPr/>
        </p:nvSpPr>
        <p:spPr>
          <a:xfrm>
            <a:off x="4324350" y="1995686"/>
            <a:ext cx="6350" cy="401241"/>
          </a:xfrm>
          <a:prstGeom prst="rect">
            <a:avLst/>
          </a:prstGeom>
          <a:solidFill>
            <a:srgbClr val="D3D9DF"/>
          </a:solidFill>
          <a:ln>
            <a:noFill/>
          </a:ln>
        </p:spPr>
        <p:txBody>
          <a:bodyPr rtlCol="0" anchor="ctr"/>
          <a:lstStyle/>
          <a:p>
            <a:pPr algn="ctr"/>
          </a:p>
        </p:txBody>
      </p:sp>
      <p:sp>
        <p:nvSpPr>
          <p:cNvPr id="24" name="Text 23"/>
          <p:cNvSpPr txBox="1"/>
          <p:nvPr/>
        </p:nvSpPr>
        <p:spPr>
          <a:xfrm>
            <a:off x="4349750" y="2032770"/>
            <a:ext cx="838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819150" y="1995686"/>
            <a:ext cx="3505200" cy="401241"/>
          </a:xfrm>
          <a:prstGeom prst="rect">
            <a:avLst/>
          </a:prstGeom>
          <a:solidFill>
            <a:srgbClr val="F7F8FA"/>
          </a:solidFill>
          <a:ln>
            <a:noFill/>
          </a:ln>
        </p:spPr>
        <p:txBody>
          <a:bodyPr rtlCol="0" anchor="ctr"/>
          <a:lstStyle/>
          <a:p>
            <a:pPr algn="ctr"/>
          </a:p>
        </p:txBody>
      </p:sp>
      <p:sp>
        <p:nvSpPr>
          <p:cNvPr id="26" name="Rule 25"/>
          <p:cNvSpPr/>
          <p:nvPr/>
        </p:nvSpPr>
        <p:spPr>
          <a:xfrm>
            <a:off x="819150" y="1995686"/>
            <a:ext cx="6350" cy="401241"/>
          </a:xfrm>
          <a:prstGeom prst="rect">
            <a:avLst/>
          </a:prstGeom>
          <a:solidFill>
            <a:srgbClr val="D3D9DF"/>
          </a:solidFill>
          <a:ln>
            <a:noFill/>
          </a:ln>
        </p:spPr>
        <p:txBody>
          <a:bodyPr rtlCol="0" anchor="ctr"/>
          <a:lstStyle/>
          <a:p>
            <a:pPr algn="ctr"/>
          </a:p>
        </p:txBody>
      </p:sp>
      <p:sp>
        <p:nvSpPr>
          <p:cNvPr id="27" name="Text 26"/>
          <p:cNvSpPr txBox="1"/>
          <p:nvPr/>
        </p:nvSpPr>
        <p:spPr>
          <a:xfrm>
            <a:off x="844550" y="2032770"/>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الإغلاق</a:t>
            </a:r>
          </a:p>
        </p:txBody>
      </p:sp>
      <p:sp>
        <p:nvSpPr>
          <p:cNvPr id="28" name="Box 27"/>
          <p:cNvSpPr/>
          <p:nvPr/>
        </p:nvSpPr>
        <p:spPr>
          <a:xfrm>
            <a:off x="819150" y="2403277"/>
            <a:ext cx="10553700" cy="346670"/>
          </a:xfrm>
          <a:prstGeom prst="rect">
            <a:avLst/>
          </a:prstGeom>
          <a:solidFill>
            <a:srgbClr val="FBEFD9"/>
          </a:solidFill>
          <a:ln>
            <a:noFill/>
          </a:ln>
        </p:spPr>
        <p:txBody>
          <a:bodyPr rtlCol="0" anchor="ctr"/>
          <a:lstStyle/>
          <a:p>
            <a:pPr algn="ctr"/>
          </a:p>
        </p:txBody>
      </p:sp>
      <p:sp>
        <p:nvSpPr>
          <p:cNvPr id="29" name="Rule 28"/>
          <p:cNvSpPr/>
          <p:nvPr/>
        </p:nvSpPr>
        <p:spPr>
          <a:xfrm>
            <a:off x="819150" y="2743597"/>
            <a:ext cx="10553700" cy="6350"/>
          </a:xfrm>
          <a:prstGeom prst="rect">
            <a:avLst/>
          </a:prstGeom>
          <a:solidFill>
            <a:srgbClr val="D3D9DF"/>
          </a:solidFill>
          <a:ln>
            <a:noFill/>
          </a:ln>
        </p:spPr>
        <p:txBody>
          <a:bodyPr rtlCol="0" anchor="ctr"/>
          <a:lstStyle/>
          <a:p>
            <a:pPr algn="ctr"/>
          </a:p>
        </p:txBody>
      </p:sp>
      <p:sp>
        <p:nvSpPr>
          <p:cNvPr id="30" name="Text 29"/>
          <p:cNvSpPr txBox="1"/>
          <p:nvPr/>
        </p:nvSpPr>
        <p:spPr>
          <a:xfrm>
            <a:off x="844550" y="2420041"/>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8A4B12"/>
                </a:solidFill>
                <a:latin typeface="IBM Plex Sans Arabic"/>
                <a:ea typeface="IBM Plex Sans Arabic"/>
                <a:cs typeface="IBM Plex Sans Arabic"/>
              </a:rPr>
              <a:t>معالجة الحالة: تزيل الخطر الآن</a:t>
            </a:r>
          </a:p>
        </p:txBody>
      </p:sp>
      <p:sp>
        <p:nvSpPr>
          <p:cNvPr id="31" name="Rule 30"/>
          <p:cNvSpPr/>
          <p:nvPr/>
        </p:nvSpPr>
        <p:spPr>
          <a:xfrm>
            <a:off x="819150" y="3425428"/>
            <a:ext cx="10553700" cy="6350"/>
          </a:xfrm>
          <a:prstGeom prst="rect">
            <a:avLst/>
          </a:prstGeom>
          <a:solidFill>
            <a:srgbClr val="D3D9DF"/>
          </a:solidFill>
          <a:ln>
            <a:noFill/>
          </a:ln>
        </p:spPr>
        <p:txBody>
          <a:bodyPr rtlCol="0" anchor="ctr"/>
          <a:lstStyle/>
          <a:p>
            <a:pPr algn="ctr"/>
          </a:p>
        </p:txBody>
      </p:sp>
      <p:sp>
        <p:nvSpPr>
          <p:cNvPr id="32" name="Box 31"/>
          <p:cNvSpPr/>
          <p:nvPr/>
        </p:nvSpPr>
        <p:spPr>
          <a:xfrm>
            <a:off x="8388350" y="2749947"/>
            <a:ext cx="2984500" cy="675481"/>
          </a:xfrm>
          <a:prstGeom prst="rect">
            <a:avLst/>
          </a:prstGeom>
          <a:solidFill>
            <a:srgbClr val="FFFFFF"/>
          </a:solidFill>
          <a:ln>
            <a:noFill/>
          </a:ln>
        </p:spPr>
        <p:txBody>
          <a:bodyPr rtlCol="0" anchor="ctr"/>
          <a:lstStyle/>
          <a:p>
            <a:pPr algn="ctr"/>
          </a:p>
        </p:txBody>
      </p:sp>
      <p:sp>
        <p:nvSpPr>
          <p:cNvPr id="33" name="Rule 32"/>
          <p:cNvSpPr/>
          <p:nvPr/>
        </p:nvSpPr>
        <p:spPr>
          <a:xfrm>
            <a:off x="8388350" y="2749947"/>
            <a:ext cx="6350" cy="675481"/>
          </a:xfrm>
          <a:prstGeom prst="rect">
            <a:avLst/>
          </a:prstGeom>
          <a:solidFill>
            <a:srgbClr val="D3D9DF"/>
          </a:solidFill>
          <a:ln>
            <a:noFill/>
          </a:ln>
        </p:spPr>
        <p:txBody>
          <a:bodyPr rtlCol="0" anchor="ctr"/>
          <a:lstStyle/>
          <a:p>
            <a:pPr algn="ctr"/>
          </a:p>
        </p:txBody>
      </p:sp>
      <p:sp>
        <p:nvSpPr>
          <p:cNvPr id="34" name="Text 33"/>
          <p:cNvSpPr txBox="1"/>
          <p:nvPr/>
        </p:nvSpPr>
        <p:spPr>
          <a:xfrm>
            <a:off x="8413750" y="2787031"/>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تعطيل حساب المستشار السابق</a:t>
            </a:r>
          </a:p>
        </p:txBody>
      </p:sp>
      <p:sp>
        <p:nvSpPr>
          <p:cNvPr id="35" name="Box 34"/>
          <p:cNvSpPr/>
          <p:nvPr/>
        </p:nvSpPr>
        <p:spPr>
          <a:xfrm>
            <a:off x="6483350" y="2749947"/>
            <a:ext cx="1905000" cy="675481"/>
          </a:xfrm>
          <a:prstGeom prst="rect">
            <a:avLst/>
          </a:prstGeom>
          <a:solidFill>
            <a:srgbClr val="FFFFFF"/>
          </a:solidFill>
          <a:ln>
            <a:noFill/>
          </a:ln>
        </p:spPr>
        <p:txBody>
          <a:bodyPr rtlCol="0" anchor="ctr"/>
          <a:lstStyle/>
          <a:p>
            <a:pPr algn="ctr"/>
          </a:p>
        </p:txBody>
      </p:sp>
      <p:sp>
        <p:nvSpPr>
          <p:cNvPr id="36" name="Rule 35"/>
          <p:cNvSpPr/>
          <p:nvPr/>
        </p:nvSpPr>
        <p:spPr>
          <a:xfrm>
            <a:off x="6483350" y="2749947"/>
            <a:ext cx="6350" cy="675481"/>
          </a:xfrm>
          <a:prstGeom prst="rect">
            <a:avLst/>
          </a:prstGeom>
          <a:solidFill>
            <a:srgbClr val="D3D9DF"/>
          </a:solidFill>
          <a:ln>
            <a:noFill/>
          </a:ln>
        </p:spPr>
        <p:txBody>
          <a:bodyPr rtlCol="0" anchor="ctr"/>
          <a:lstStyle/>
          <a:p>
            <a:pPr algn="ctr"/>
          </a:p>
        </p:txBody>
      </p:sp>
      <p:sp>
        <p:nvSpPr>
          <p:cNvPr id="37" name="Text 36"/>
          <p:cNvSpPr txBox="1"/>
          <p:nvPr/>
        </p:nvSpPr>
        <p:spPr>
          <a:xfrm>
            <a:off x="6508750" y="2787031"/>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38" name="Box 37"/>
          <p:cNvSpPr/>
          <p:nvPr/>
        </p:nvSpPr>
        <p:spPr>
          <a:xfrm>
            <a:off x="5276850" y="2749947"/>
            <a:ext cx="1206500" cy="675481"/>
          </a:xfrm>
          <a:prstGeom prst="rect">
            <a:avLst/>
          </a:prstGeom>
          <a:solidFill>
            <a:srgbClr val="FFFFFF"/>
          </a:solidFill>
          <a:ln>
            <a:noFill/>
          </a:ln>
        </p:spPr>
        <p:txBody>
          <a:bodyPr rtlCol="0" anchor="ctr"/>
          <a:lstStyle/>
          <a:p>
            <a:pPr algn="ctr"/>
          </a:p>
        </p:txBody>
      </p:sp>
      <p:sp>
        <p:nvSpPr>
          <p:cNvPr id="39" name="Rule 38"/>
          <p:cNvSpPr/>
          <p:nvPr/>
        </p:nvSpPr>
        <p:spPr>
          <a:xfrm>
            <a:off x="5276850" y="2749947"/>
            <a:ext cx="6350" cy="675481"/>
          </a:xfrm>
          <a:prstGeom prst="rect">
            <a:avLst/>
          </a:prstGeom>
          <a:solidFill>
            <a:srgbClr val="D3D9DF"/>
          </a:solidFill>
          <a:ln>
            <a:noFill/>
          </a:ln>
        </p:spPr>
        <p:txBody>
          <a:bodyPr rtlCol="0" anchor="ctr"/>
          <a:lstStyle/>
          <a:p>
            <a:pPr algn="ctr"/>
          </a:p>
        </p:txBody>
      </p:sp>
      <p:sp>
        <p:nvSpPr>
          <p:cNvPr id="40" name="Text 39"/>
          <p:cNvSpPr txBox="1"/>
          <p:nvPr/>
        </p:nvSpPr>
        <p:spPr>
          <a:xfrm>
            <a:off x="5321300" y="2787031"/>
            <a:ext cx="10731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يوم عمل واحد</a:t>
            </a:r>
          </a:p>
        </p:txBody>
      </p:sp>
      <p:sp>
        <p:nvSpPr>
          <p:cNvPr id="41" name="Box 40"/>
          <p:cNvSpPr/>
          <p:nvPr/>
        </p:nvSpPr>
        <p:spPr>
          <a:xfrm>
            <a:off x="4324350" y="2749947"/>
            <a:ext cx="952500" cy="675481"/>
          </a:xfrm>
          <a:prstGeom prst="rect">
            <a:avLst/>
          </a:prstGeom>
          <a:solidFill>
            <a:srgbClr val="FFFFFF"/>
          </a:solidFill>
          <a:ln>
            <a:noFill/>
          </a:ln>
        </p:spPr>
        <p:txBody>
          <a:bodyPr rtlCol="0" anchor="ctr"/>
          <a:lstStyle/>
          <a:p>
            <a:pPr algn="ctr"/>
          </a:p>
        </p:txBody>
      </p:sp>
      <p:sp>
        <p:nvSpPr>
          <p:cNvPr id="42" name="Rule 41"/>
          <p:cNvSpPr/>
          <p:nvPr/>
        </p:nvSpPr>
        <p:spPr>
          <a:xfrm>
            <a:off x="4324350" y="2749947"/>
            <a:ext cx="6350" cy="675481"/>
          </a:xfrm>
          <a:prstGeom prst="rect">
            <a:avLst/>
          </a:prstGeom>
          <a:solidFill>
            <a:srgbClr val="D3D9DF"/>
          </a:solidFill>
          <a:ln>
            <a:noFill/>
          </a:ln>
        </p:spPr>
        <p:txBody>
          <a:bodyPr rtlCol="0" anchor="ctr"/>
          <a:lstStyle/>
          <a:p>
            <a:pPr algn="ctr"/>
          </a:p>
        </p:txBody>
      </p:sp>
      <p:sp>
        <p:nvSpPr>
          <p:cNvPr id="43" name="Text box 42"/>
          <p:cNvSpPr/>
          <p:nvPr/>
        </p:nvSpPr>
        <p:spPr>
          <a:xfrm>
            <a:off x="4419600" y="2813447"/>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44" name="Box 43"/>
          <p:cNvSpPr/>
          <p:nvPr/>
        </p:nvSpPr>
        <p:spPr>
          <a:xfrm>
            <a:off x="819150" y="2749947"/>
            <a:ext cx="3505200" cy="675481"/>
          </a:xfrm>
          <a:prstGeom prst="rect">
            <a:avLst/>
          </a:prstGeom>
          <a:solidFill>
            <a:srgbClr val="FFFFFF"/>
          </a:solidFill>
          <a:ln>
            <a:noFill/>
          </a:ln>
        </p:spPr>
        <p:txBody>
          <a:bodyPr rtlCol="0" anchor="ctr"/>
          <a:lstStyle/>
          <a:p>
            <a:pPr algn="ctr"/>
          </a:p>
        </p:txBody>
      </p:sp>
      <p:sp>
        <p:nvSpPr>
          <p:cNvPr id="45" name="Rule 44"/>
          <p:cNvSpPr/>
          <p:nvPr/>
        </p:nvSpPr>
        <p:spPr>
          <a:xfrm>
            <a:off x="819150" y="2749947"/>
            <a:ext cx="6350" cy="675481"/>
          </a:xfrm>
          <a:prstGeom prst="rect">
            <a:avLst/>
          </a:prstGeom>
          <a:solidFill>
            <a:srgbClr val="D3D9DF"/>
          </a:solidFill>
          <a:ln>
            <a:noFill/>
          </a:ln>
        </p:spPr>
        <p:txBody>
          <a:bodyPr rtlCol="0" anchor="ctr"/>
          <a:lstStyle/>
          <a:p>
            <a:pPr algn="ctr"/>
          </a:p>
        </p:txBody>
      </p:sp>
      <p:sp>
        <p:nvSpPr>
          <p:cNvPr id="46" name="Text 45"/>
          <p:cNvSpPr txBox="1"/>
          <p:nvPr/>
        </p:nvSpPr>
        <p:spPr>
          <a:xfrm>
            <a:off x="844550" y="2787031"/>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يبين الحساب معطلاً، وسجل التغيير</a:t>
            </a:r>
          </a:p>
        </p:txBody>
      </p:sp>
      <p:sp>
        <p:nvSpPr>
          <p:cNvPr id="47" name="Rule 46"/>
          <p:cNvSpPr/>
          <p:nvPr/>
        </p:nvSpPr>
        <p:spPr>
          <a:xfrm>
            <a:off x="819150" y="4107259"/>
            <a:ext cx="10553700" cy="6350"/>
          </a:xfrm>
          <a:prstGeom prst="rect">
            <a:avLst/>
          </a:prstGeom>
          <a:solidFill>
            <a:srgbClr val="D3D9DF"/>
          </a:solidFill>
          <a:ln>
            <a:noFill/>
          </a:ln>
        </p:spPr>
        <p:txBody>
          <a:bodyPr rtlCol="0" anchor="ctr"/>
          <a:lstStyle/>
          <a:p>
            <a:pPr algn="ctr"/>
          </a:p>
        </p:txBody>
      </p:sp>
      <p:sp>
        <p:nvSpPr>
          <p:cNvPr id="48" name="Box 47"/>
          <p:cNvSpPr/>
          <p:nvPr/>
        </p:nvSpPr>
        <p:spPr>
          <a:xfrm>
            <a:off x="8388350" y="3431778"/>
            <a:ext cx="2984500" cy="675481"/>
          </a:xfrm>
          <a:prstGeom prst="rect">
            <a:avLst/>
          </a:prstGeom>
          <a:solidFill>
            <a:srgbClr val="FFFFFF"/>
          </a:solidFill>
          <a:ln>
            <a:noFill/>
          </a:ln>
        </p:spPr>
        <p:txBody>
          <a:bodyPr rtlCol="0" anchor="ctr"/>
          <a:lstStyle/>
          <a:p>
            <a:pPr algn="ctr"/>
          </a:p>
        </p:txBody>
      </p:sp>
      <p:sp>
        <p:nvSpPr>
          <p:cNvPr id="49" name="Rule 48"/>
          <p:cNvSpPr/>
          <p:nvPr/>
        </p:nvSpPr>
        <p:spPr>
          <a:xfrm>
            <a:off x="8388350" y="3431778"/>
            <a:ext cx="6350" cy="675481"/>
          </a:xfrm>
          <a:prstGeom prst="rect">
            <a:avLst/>
          </a:prstGeom>
          <a:solidFill>
            <a:srgbClr val="D3D9DF"/>
          </a:solidFill>
          <a:ln>
            <a:noFill/>
          </a:ln>
        </p:spPr>
        <p:txBody>
          <a:bodyPr rtlCol="0" anchor="ctr"/>
          <a:lstStyle/>
          <a:p>
            <a:pPr algn="ctr"/>
          </a:p>
        </p:txBody>
      </p:sp>
      <p:sp>
        <p:nvSpPr>
          <p:cNvPr id="50" name="Text 49"/>
          <p:cNvSpPr txBox="1"/>
          <p:nvPr/>
        </p:nvSpPr>
        <p:spPr>
          <a:xfrm>
            <a:off x="8413750" y="3468862"/>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نقل الحسابين إلى مجموعة التحقق أو تعطيلهما</a:t>
            </a:r>
          </a:p>
        </p:txBody>
      </p:sp>
      <p:sp>
        <p:nvSpPr>
          <p:cNvPr id="51" name="Box 50"/>
          <p:cNvSpPr/>
          <p:nvPr/>
        </p:nvSpPr>
        <p:spPr>
          <a:xfrm>
            <a:off x="6483350" y="3431778"/>
            <a:ext cx="1905000" cy="675481"/>
          </a:xfrm>
          <a:prstGeom prst="rect">
            <a:avLst/>
          </a:prstGeom>
          <a:solidFill>
            <a:srgbClr val="FFFFFF"/>
          </a:solidFill>
          <a:ln>
            <a:noFill/>
          </a:ln>
        </p:spPr>
        <p:txBody>
          <a:bodyPr rtlCol="0" anchor="ctr"/>
          <a:lstStyle/>
          <a:p>
            <a:pPr algn="ctr"/>
          </a:p>
        </p:txBody>
      </p:sp>
      <p:sp>
        <p:nvSpPr>
          <p:cNvPr id="52" name="Rule 51"/>
          <p:cNvSpPr/>
          <p:nvPr/>
        </p:nvSpPr>
        <p:spPr>
          <a:xfrm>
            <a:off x="6483350" y="3431778"/>
            <a:ext cx="6350" cy="675481"/>
          </a:xfrm>
          <a:prstGeom prst="rect">
            <a:avLst/>
          </a:prstGeom>
          <a:solidFill>
            <a:srgbClr val="D3D9DF"/>
          </a:solidFill>
          <a:ln>
            <a:noFill/>
          </a:ln>
        </p:spPr>
        <p:txBody>
          <a:bodyPr rtlCol="0" anchor="ctr"/>
          <a:lstStyle/>
          <a:p>
            <a:pPr algn="ctr"/>
          </a:p>
        </p:txBody>
      </p:sp>
      <p:sp>
        <p:nvSpPr>
          <p:cNvPr id="53" name="Text 52"/>
          <p:cNvSpPr txBox="1"/>
          <p:nvPr/>
        </p:nvSpPr>
        <p:spPr>
          <a:xfrm>
            <a:off x="6508750" y="3468862"/>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54" name="Box 53"/>
          <p:cNvSpPr/>
          <p:nvPr/>
        </p:nvSpPr>
        <p:spPr>
          <a:xfrm>
            <a:off x="5276850" y="3431778"/>
            <a:ext cx="1206500" cy="675481"/>
          </a:xfrm>
          <a:prstGeom prst="rect">
            <a:avLst/>
          </a:prstGeom>
          <a:solidFill>
            <a:srgbClr val="FFFFFF"/>
          </a:solidFill>
          <a:ln>
            <a:noFill/>
          </a:ln>
        </p:spPr>
        <p:txBody>
          <a:bodyPr rtlCol="0" anchor="ctr"/>
          <a:lstStyle/>
          <a:p>
            <a:pPr algn="ctr"/>
          </a:p>
        </p:txBody>
      </p:sp>
      <p:sp>
        <p:nvSpPr>
          <p:cNvPr id="55" name="Rule 54"/>
          <p:cNvSpPr/>
          <p:nvPr/>
        </p:nvSpPr>
        <p:spPr>
          <a:xfrm>
            <a:off x="5276850" y="3431778"/>
            <a:ext cx="6350" cy="675481"/>
          </a:xfrm>
          <a:prstGeom prst="rect">
            <a:avLst/>
          </a:prstGeom>
          <a:solidFill>
            <a:srgbClr val="D3D9DF"/>
          </a:solidFill>
          <a:ln>
            <a:noFill/>
          </a:ln>
        </p:spPr>
        <p:txBody>
          <a:bodyPr rtlCol="0" anchor="ctr"/>
          <a:lstStyle/>
          <a:p>
            <a:pPr algn="ctr"/>
          </a:p>
        </p:txBody>
      </p:sp>
      <p:sp>
        <p:nvSpPr>
          <p:cNvPr id="56" name="Text 55"/>
          <p:cNvSpPr txBox="1"/>
          <p:nvPr/>
        </p:nvSpPr>
        <p:spPr>
          <a:xfrm>
            <a:off x="5302250" y="3468862"/>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 أيام عمل</a:t>
            </a:r>
          </a:p>
        </p:txBody>
      </p:sp>
      <p:sp>
        <p:nvSpPr>
          <p:cNvPr id="57" name="Box 56"/>
          <p:cNvSpPr/>
          <p:nvPr/>
        </p:nvSpPr>
        <p:spPr>
          <a:xfrm>
            <a:off x="4324350" y="3431778"/>
            <a:ext cx="952500" cy="675481"/>
          </a:xfrm>
          <a:prstGeom prst="rect">
            <a:avLst/>
          </a:prstGeom>
          <a:solidFill>
            <a:srgbClr val="FFFFFF"/>
          </a:solidFill>
          <a:ln>
            <a:noFill/>
          </a:ln>
        </p:spPr>
        <p:txBody>
          <a:bodyPr rtlCol="0" anchor="ctr"/>
          <a:lstStyle/>
          <a:p>
            <a:pPr algn="ctr"/>
          </a:p>
        </p:txBody>
      </p:sp>
      <p:sp>
        <p:nvSpPr>
          <p:cNvPr id="58" name="Rule 57"/>
          <p:cNvSpPr/>
          <p:nvPr/>
        </p:nvSpPr>
        <p:spPr>
          <a:xfrm>
            <a:off x="4324350" y="3431778"/>
            <a:ext cx="6350" cy="675481"/>
          </a:xfrm>
          <a:prstGeom prst="rect">
            <a:avLst/>
          </a:prstGeom>
          <a:solidFill>
            <a:srgbClr val="D3D9DF"/>
          </a:solidFill>
          <a:ln>
            <a:noFill/>
          </a:ln>
        </p:spPr>
        <p:txBody>
          <a:bodyPr rtlCol="0" anchor="ctr"/>
          <a:lstStyle/>
          <a:p>
            <a:pPr algn="ctr"/>
          </a:p>
        </p:txBody>
      </p:sp>
      <p:sp>
        <p:nvSpPr>
          <p:cNvPr id="59" name="Text box 58"/>
          <p:cNvSpPr/>
          <p:nvPr/>
        </p:nvSpPr>
        <p:spPr>
          <a:xfrm>
            <a:off x="4419600" y="3495278"/>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60" name="Box 59"/>
          <p:cNvSpPr/>
          <p:nvPr/>
        </p:nvSpPr>
        <p:spPr>
          <a:xfrm>
            <a:off x="819150" y="3431778"/>
            <a:ext cx="3505200" cy="675481"/>
          </a:xfrm>
          <a:prstGeom prst="rect">
            <a:avLst/>
          </a:prstGeom>
          <a:solidFill>
            <a:srgbClr val="FFFFFF"/>
          </a:solidFill>
          <a:ln>
            <a:noFill/>
          </a:ln>
        </p:spPr>
        <p:txBody>
          <a:bodyPr rtlCol="0" anchor="ctr"/>
          <a:lstStyle/>
          <a:p>
            <a:pPr algn="ctr"/>
          </a:p>
        </p:txBody>
      </p:sp>
      <p:sp>
        <p:nvSpPr>
          <p:cNvPr id="61" name="Rule 60"/>
          <p:cNvSpPr/>
          <p:nvPr/>
        </p:nvSpPr>
        <p:spPr>
          <a:xfrm>
            <a:off x="819150" y="3431778"/>
            <a:ext cx="6350" cy="675481"/>
          </a:xfrm>
          <a:prstGeom prst="rect">
            <a:avLst/>
          </a:prstGeom>
          <a:solidFill>
            <a:srgbClr val="D3D9DF"/>
          </a:solidFill>
          <a:ln>
            <a:noFill/>
          </a:ln>
        </p:spPr>
        <p:txBody>
          <a:bodyPr rtlCol="0" anchor="ctr"/>
          <a:lstStyle/>
          <a:p>
            <a:pPr algn="ctr"/>
          </a:p>
        </p:txBody>
      </p:sp>
      <p:sp>
        <p:nvSpPr>
          <p:cNvPr id="62" name="Text 61"/>
          <p:cNvSpPr txBox="1"/>
          <p:nvPr/>
        </p:nvSpPr>
        <p:spPr>
          <a:xfrm>
            <a:off x="844550" y="3468862"/>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المجموعة، وسجل VPN لأسبوع</a:t>
            </a:r>
          </a:p>
        </p:txBody>
      </p:sp>
      <p:sp>
        <p:nvSpPr>
          <p:cNvPr id="63" name="Box 62"/>
          <p:cNvSpPr/>
          <p:nvPr/>
        </p:nvSpPr>
        <p:spPr>
          <a:xfrm>
            <a:off x="819150" y="4113609"/>
            <a:ext cx="10553700" cy="346670"/>
          </a:xfrm>
          <a:prstGeom prst="rect">
            <a:avLst/>
          </a:prstGeom>
          <a:solidFill>
            <a:srgbClr val="DDF0EA"/>
          </a:solidFill>
          <a:ln>
            <a:noFill/>
          </a:ln>
        </p:spPr>
        <p:txBody>
          <a:bodyPr rtlCol="0" anchor="ctr"/>
          <a:lstStyle/>
          <a:p>
            <a:pPr algn="ctr"/>
          </a:p>
        </p:txBody>
      </p:sp>
      <p:sp>
        <p:nvSpPr>
          <p:cNvPr id="64" name="Rule 63"/>
          <p:cNvSpPr/>
          <p:nvPr/>
        </p:nvSpPr>
        <p:spPr>
          <a:xfrm>
            <a:off x="819150" y="4453930"/>
            <a:ext cx="10553700" cy="6350"/>
          </a:xfrm>
          <a:prstGeom prst="rect">
            <a:avLst/>
          </a:prstGeom>
          <a:solidFill>
            <a:srgbClr val="D3D9DF"/>
          </a:solidFill>
          <a:ln>
            <a:noFill/>
          </a:ln>
        </p:spPr>
        <p:txBody>
          <a:bodyPr rtlCol="0" anchor="ctr"/>
          <a:lstStyle/>
          <a:p>
            <a:pPr algn="ctr"/>
          </a:p>
        </p:txBody>
      </p:sp>
      <p:sp>
        <p:nvSpPr>
          <p:cNvPr id="65" name="Text 64"/>
          <p:cNvSpPr txBox="1"/>
          <p:nvPr/>
        </p:nvSpPr>
        <p:spPr>
          <a:xfrm>
            <a:off x="844550" y="4130373"/>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منع التكرار: يعالج السبب</a:t>
            </a:r>
          </a:p>
        </p:txBody>
      </p:sp>
      <p:sp>
        <p:nvSpPr>
          <p:cNvPr id="66" name="Rule 65"/>
          <p:cNvSpPr/>
          <p:nvPr/>
        </p:nvSpPr>
        <p:spPr>
          <a:xfrm>
            <a:off x="819150" y="5135761"/>
            <a:ext cx="10553700" cy="6350"/>
          </a:xfrm>
          <a:prstGeom prst="rect">
            <a:avLst/>
          </a:prstGeom>
          <a:solidFill>
            <a:srgbClr val="D3D9DF"/>
          </a:solidFill>
          <a:ln>
            <a:noFill/>
          </a:ln>
        </p:spPr>
        <p:txBody>
          <a:bodyPr rtlCol="0" anchor="ctr"/>
          <a:lstStyle/>
          <a:p>
            <a:pPr algn="ctr"/>
          </a:p>
        </p:txBody>
      </p:sp>
      <p:sp>
        <p:nvSpPr>
          <p:cNvPr id="67" name="Box 66"/>
          <p:cNvSpPr/>
          <p:nvPr/>
        </p:nvSpPr>
        <p:spPr>
          <a:xfrm>
            <a:off x="8388350" y="4460280"/>
            <a:ext cx="2984500" cy="675481"/>
          </a:xfrm>
          <a:prstGeom prst="rect">
            <a:avLst/>
          </a:prstGeom>
          <a:solidFill>
            <a:srgbClr val="FFFFFF"/>
          </a:solidFill>
          <a:ln>
            <a:noFill/>
          </a:ln>
        </p:spPr>
        <p:txBody>
          <a:bodyPr rtlCol="0" anchor="ctr"/>
          <a:lstStyle/>
          <a:p>
            <a:pPr algn="ctr"/>
          </a:p>
        </p:txBody>
      </p:sp>
      <p:sp>
        <p:nvSpPr>
          <p:cNvPr id="68" name="Rule 67"/>
          <p:cNvSpPr/>
          <p:nvPr/>
        </p:nvSpPr>
        <p:spPr>
          <a:xfrm>
            <a:off x="8388350" y="4460280"/>
            <a:ext cx="6350" cy="675481"/>
          </a:xfrm>
          <a:prstGeom prst="rect">
            <a:avLst/>
          </a:prstGeom>
          <a:solidFill>
            <a:srgbClr val="D3D9DF"/>
          </a:solidFill>
          <a:ln>
            <a:noFill/>
          </a:ln>
        </p:spPr>
        <p:txBody>
          <a:bodyPr rtlCol="0" anchor="ctr"/>
          <a:lstStyle/>
          <a:p>
            <a:pPr algn="ctr"/>
          </a:p>
        </p:txBody>
      </p:sp>
      <p:sp>
        <p:nvSpPr>
          <p:cNvPr id="69" name="Text 68"/>
          <p:cNvSpPr txBox="1"/>
          <p:nvPr/>
        </p:nvSpPr>
        <p:spPr>
          <a:xfrm>
            <a:off x="8413750" y="4497364"/>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اعتماد إجراء استثناءات بموافقة ومدة ومراجعة</a:t>
            </a:r>
          </a:p>
        </p:txBody>
      </p:sp>
      <p:sp>
        <p:nvSpPr>
          <p:cNvPr id="70" name="Box 69"/>
          <p:cNvSpPr/>
          <p:nvPr/>
        </p:nvSpPr>
        <p:spPr>
          <a:xfrm>
            <a:off x="6483350" y="4460280"/>
            <a:ext cx="1905000" cy="675481"/>
          </a:xfrm>
          <a:prstGeom prst="rect">
            <a:avLst/>
          </a:prstGeom>
          <a:solidFill>
            <a:srgbClr val="FFFFFF"/>
          </a:solidFill>
          <a:ln>
            <a:noFill/>
          </a:ln>
        </p:spPr>
        <p:txBody>
          <a:bodyPr rtlCol="0" anchor="ctr"/>
          <a:lstStyle/>
          <a:p>
            <a:pPr algn="ctr"/>
          </a:p>
        </p:txBody>
      </p:sp>
      <p:sp>
        <p:nvSpPr>
          <p:cNvPr id="71" name="Rule 70"/>
          <p:cNvSpPr/>
          <p:nvPr/>
        </p:nvSpPr>
        <p:spPr>
          <a:xfrm>
            <a:off x="6483350" y="4460280"/>
            <a:ext cx="6350" cy="675481"/>
          </a:xfrm>
          <a:prstGeom prst="rect">
            <a:avLst/>
          </a:prstGeom>
          <a:solidFill>
            <a:srgbClr val="D3D9DF"/>
          </a:solidFill>
          <a:ln>
            <a:noFill/>
          </a:ln>
        </p:spPr>
        <p:txBody>
          <a:bodyPr rtlCol="0" anchor="ctr"/>
          <a:lstStyle/>
          <a:p>
            <a:pPr algn="ctr"/>
          </a:p>
        </p:txBody>
      </p:sp>
      <p:sp>
        <p:nvSpPr>
          <p:cNvPr id="72" name="Text 71"/>
          <p:cNvSpPr txBox="1"/>
          <p:nvPr/>
        </p:nvSpPr>
        <p:spPr>
          <a:xfrm>
            <a:off x="6508750" y="4497364"/>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مسؤولة GRC</a:t>
            </a:r>
          </a:p>
        </p:txBody>
      </p:sp>
      <p:sp>
        <p:nvSpPr>
          <p:cNvPr id="73" name="Box 72"/>
          <p:cNvSpPr/>
          <p:nvPr/>
        </p:nvSpPr>
        <p:spPr>
          <a:xfrm>
            <a:off x="5276850" y="4460280"/>
            <a:ext cx="1206500" cy="675481"/>
          </a:xfrm>
          <a:prstGeom prst="rect">
            <a:avLst/>
          </a:prstGeom>
          <a:solidFill>
            <a:srgbClr val="FFFFFF"/>
          </a:solidFill>
          <a:ln>
            <a:noFill/>
          </a:ln>
        </p:spPr>
        <p:txBody>
          <a:bodyPr rtlCol="0" anchor="ctr"/>
          <a:lstStyle/>
          <a:p>
            <a:pPr algn="ctr"/>
          </a:p>
        </p:txBody>
      </p:sp>
      <p:sp>
        <p:nvSpPr>
          <p:cNvPr id="74" name="Rule 73"/>
          <p:cNvSpPr/>
          <p:nvPr/>
        </p:nvSpPr>
        <p:spPr>
          <a:xfrm>
            <a:off x="5276850" y="4460280"/>
            <a:ext cx="6350" cy="675481"/>
          </a:xfrm>
          <a:prstGeom prst="rect">
            <a:avLst/>
          </a:prstGeom>
          <a:solidFill>
            <a:srgbClr val="D3D9DF"/>
          </a:solidFill>
          <a:ln>
            <a:noFill/>
          </a:ln>
        </p:spPr>
        <p:txBody>
          <a:bodyPr rtlCol="0" anchor="ctr"/>
          <a:lstStyle/>
          <a:p>
            <a:pPr algn="ctr"/>
          </a:p>
        </p:txBody>
      </p:sp>
      <p:sp>
        <p:nvSpPr>
          <p:cNvPr id="75" name="Text 74"/>
          <p:cNvSpPr txBox="1"/>
          <p:nvPr/>
        </p:nvSpPr>
        <p:spPr>
          <a:xfrm>
            <a:off x="5302250" y="4497364"/>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 يوماً</a:t>
            </a:r>
          </a:p>
        </p:txBody>
      </p:sp>
      <p:sp>
        <p:nvSpPr>
          <p:cNvPr id="76" name="Box 75"/>
          <p:cNvSpPr/>
          <p:nvPr/>
        </p:nvSpPr>
        <p:spPr>
          <a:xfrm>
            <a:off x="4324350" y="4460280"/>
            <a:ext cx="952500" cy="675481"/>
          </a:xfrm>
          <a:prstGeom prst="rect">
            <a:avLst/>
          </a:prstGeom>
          <a:solidFill>
            <a:srgbClr val="FFFFFF"/>
          </a:solidFill>
          <a:ln>
            <a:noFill/>
          </a:ln>
        </p:spPr>
        <p:txBody>
          <a:bodyPr rtlCol="0" anchor="ctr"/>
          <a:lstStyle/>
          <a:p>
            <a:pPr algn="ctr"/>
          </a:p>
        </p:txBody>
      </p:sp>
      <p:sp>
        <p:nvSpPr>
          <p:cNvPr id="77" name="Rule 76"/>
          <p:cNvSpPr/>
          <p:nvPr/>
        </p:nvSpPr>
        <p:spPr>
          <a:xfrm>
            <a:off x="4324350" y="4460280"/>
            <a:ext cx="6350" cy="675481"/>
          </a:xfrm>
          <a:prstGeom prst="rect">
            <a:avLst/>
          </a:prstGeom>
          <a:solidFill>
            <a:srgbClr val="D3D9DF"/>
          </a:solidFill>
          <a:ln>
            <a:noFill/>
          </a:ln>
        </p:spPr>
        <p:txBody>
          <a:bodyPr rtlCol="0" anchor="ctr"/>
          <a:lstStyle/>
          <a:p>
            <a:pPr algn="ctr"/>
          </a:p>
        </p:txBody>
      </p:sp>
      <p:sp>
        <p:nvSpPr>
          <p:cNvPr id="78" name="Text box 77"/>
          <p:cNvSpPr/>
          <p:nvPr/>
        </p:nvSpPr>
        <p:spPr>
          <a:xfrm>
            <a:off x="4419600" y="4523780"/>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79" name="Box 78"/>
          <p:cNvSpPr/>
          <p:nvPr/>
        </p:nvSpPr>
        <p:spPr>
          <a:xfrm>
            <a:off x="819150" y="4460280"/>
            <a:ext cx="3505200" cy="675481"/>
          </a:xfrm>
          <a:prstGeom prst="rect">
            <a:avLst/>
          </a:prstGeom>
          <a:solidFill>
            <a:srgbClr val="FFFFFF"/>
          </a:solidFill>
          <a:ln>
            <a:noFill/>
          </a:ln>
        </p:spPr>
        <p:txBody>
          <a:bodyPr rtlCol="0" anchor="ctr"/>
          <a:lstStyle/>
          <a:p>
            <a:pPr algn="ctr"/>
          </a:p>
        </p:txBody>
      </p:sp>
      <p:sp>
        <p:nvSpPr>
          <p:cNvPr id="80" name="Rule 79"/>
          <p:cNvSpPr/>
          <p:nvPr/>
        </p:nvSpPr>
        <p:spPr>
          <a:xfrm>
            <a:off x="819150" y="4460280"/>
            <a:ext cx="6350" cy="675481"/>
          </a:xfrm>
          <a:prstGeom prst="rect">
            <a:avLst/>
          </a:prstGeom>
          <a:solidFill>
            <a:srgbClr val="D3D9DF"/>
          </a:solidFill>
          <a:ln>
            <a:noFill/>
          </a:ln>
        </p:spPr>
        <p:txBody>
          <a:bodyPr rtlCol="0" anchor="ctr"/>
          <a:lstStyle/>
          <a:p>
            <a:pPr algn="ctr"/>
          </a:p>
        </p:txBody>
      </p:sp>
      <p:sp>
        <p:nvSpPr>
          <p:cNvPr id="81" name="Text 80"/>
          <p:cNvSpPr txBox="1"/>
          <p:nvPr/>
        </p:nvSpPr>
        <p:spPr>
          <a:xfrm>
            <a:off x="844550" y="4497364"/>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الإجراء المعتمد، وسجل الاستثناءات</a:t>
            </a:r>
          </a:p>
        </p:txBody>
      </p:sp>
      <p:sp>
        <p:nvSpPr>
          <p:cNvPr id="82" name="Rule 81"/>
          <p:cNvSpPr/>
          <p:nvPr/>
        </p:nvSpPr>
        <p:spPr>
          <a:xfrm>
            <a:off x="819150" y="5817592"/>
            <a:ext cx="10553700" cy="6350"/>
          </a:xfrm>
          <a:prstGeom prst="rect">
            <a:avLst/>
          </a:prstGeom>
          <a:solidFill>
            <a:srgbClr val="D3D9DF"/>
          </a:solidFill>
          <a:ln>
            <a:noFill/>
          </a:ln>
        </p:spPr>
        <p:txBody>
          <a:bodyPr rtlCol="0" anchor="ctr"/>
          <a:lstStyle/>
          <a:p>
            <a:pPr algn="ctr"/>
          </a:p>
        </p:txBody>
      </p:sp>
      <p:sp>
        <p:nvSpPr>
          <p:cNvPr id="83" name="Box 82"/>
          <p:cNvSpPr/>
          <p:nvPr/>
        </p:nvSpPr>
        <p:spPr>
          <a:xfrm>
            <a:off x="8388350" y="5142111"/>
            <a:ext cx="2984500" cy="675481"/>
          </a:xfrm>
          <a:prstGeom prst="roundRect">
            <a:avLst>
              <a:gd name="adj" fmla="val 1645"/>
            </a:avLst>
          </a:prstGeom>
          <a:solidFill>
            <a:srgbClr val="FFFFFF"/>
          </a:solidFill>
          <a:ln>
            <a:noFill/>
          </a:ln>
        </p:spPr>
        <p:txBody>
          <a:bodyPr rtlCol="0" anchor="ctr"/>
          <a:lstStyle/>
          <a:p>
            <a:pPr algn="ctr"/>
          </a:p>
        </p:txBody>
      </p:sp>
      <p:sp>
        <p:nvSpPr>
          <p:cNvPr id="84" name="Rule 83"/>
          <p:cNvSpPr/>
          <p:nvPr/>
        </p:nvSpPr>
        <p:spPr>
          <a:xfrm>
            <a:off x="8388350" y="5142111"/>
            <a:ext cx="6350" cy="675481"/>
          </a:xfrm>
          <a:prstGeom prst="rect">
            <a:avLst/>
          </a:prstGeom>
          <a:solidFill>
            <a:srgbClr val="D3D9DF"/>
          </a:solidFill>
          <a:ln>
            <a:noFill/>
          </a:ln>
        </p:spPr>
        <p:txBody>
          <a:bodyPr rtlCol="0" anchor="ctr"/>
          <a:lstStyle/>
          <a:p>
            <a:pPr algn="ctr"/>
          </a:p>
        </p:txBody>
      </p:sp>
      <p:sp>
        <p:nvSpPr>
          <p:cNvPr id="85" name="Text 84"/>
          <p:cNvSpPr txBox="1"/>
          <p:nvPr/>
        </p:nvSpPr>
        <p:spPr>
          <a:xfrm>
            <a:off x="8413750" y="5179195"/>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شهرية: مستخدمو VPN مقابل المجموعة</a:t>
            </a:r>
          </a:p>
        </p:txBody>
      </p:sp>
      <p:sp>
        <p:nvSpPr>
          <p:cNvPr id="86" name="Box 85"/>
          <p:cNvSpPr/>
          <p:nvPr/>
        </p:nvSpPr>
        <p:spPr>
          <a:xfrm>
            <a:off x="6483350" y="5142111"/>
            <a:ext cx="1905000" cy="675481"/>
          </a:xfrm>
          <a:prstGeom prst="rect">
            <a:avLst/>
          </a:prstGeom>
          <a:solidFill>
            <a:srgbClr val="FFFFFF"/>
          </a:solidFill>
          <a:ln>
            <a:noFill/>
          </a:ln>
        </p:spPr>
        <p:txBody>
          <a:bodyPr rtlCol="0" anchor="ctr"/>
          <a:lstStyle/>
          <a:p>
            <a:pPr algn="ctr"/>
          </a:p>
        </p:txBody>
      </p:sp>
      <p:sp>
        <p:nvSpPr>
          <p:cNvPr id="87" name="Rule 86"/>
          <p:cNvSpPr/>
          <p:nvPr/>
        </p:nvSpPr>
        <p:spPr>
          <a:xfrm>
            <a:off x="6483350" y="5142111"/>
            <a:ext cx="6350" cy="675481"/>
          </a:xfrm>
          <a:prstGeom prst="rect">
            <a:avLst/>
          </a:prstGeom>
          <a:solidFill>
            <a:srgbClr val="D3D9DF"/>
          </a:solidFill>
          <a:ln>
            <a:noFill/>
          </a:ln>
        </p:spPr>
        <p:txBody>
          <a:bodyPr rtlCol="0" anchor="ctr"/>
          <a:lstStyle/>
          <a:p>
            <a:pPr algn="ctr"/>
          </a:p>
        </p:txBody>
      </p:sp>
      <p:sp>
        <p:nvSpPr>
          <p:cNvPr id="88" name="Text 87"/>
          <p:cNvSpPr txBox="1"/>
          <p:nvPr/>
        </p:nvSpPr>
        <p:spPr>
          <a:xfrm>
            <a:off x="6508750" y="5179195"/>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89" name="Box 88"/>
          <p:cNvSpPr/>
          <p:nvPr/>
        </p:nvSpPr>
        <p:spPr>
          <a:xfrm>
            <a:off x="5276850" y="5142111"/>
            <a:ext cx="1206500" cy="675481"/>
          </a:xfrm>
          <a:prstGeom prst="rect">
            <a:avLst/>
          </a:prstGeom>
          <a:solidFill>
            <a:srgbClr val="FFFFFF"/>
          </a:solidFill>
          <a:ln>
            <a:noFill/>
          </a:ln>
        </p:spPr>
        <p:txBody>
          <a:bodyPr rtlCol="0" anchor="ctr"/>
          <a:lstStyle/>
          <a:p>
            <a:pPr algn="ctr"/>
          </a:p>
        </p:txBody>
      </p:sp>
      <p:sp>
        <p:nvSpPr>
          <p:cNvPr id="90" name="Rule 89"/>
          <p:cNvSpPr/>
          <p:nvPr/>
        </p:nvSpPr>
        <p:spPr>
          <a:xfrm>
            <a:off x="5276850" y="5142111"/>
            <a:ext cx="6350" cy="675481"/>
          </a:xfrm>
          <a:prstGeom prst="rect">
            <a:avLst/>
          </a:prstGeom>
          <a:solidFill>
            <a:srgbClr val="D3D9DF"/>
          </a:solidFill>
          <a:ln>
            <a:noFill/>
          </a:ln>
        </p:spPr>
        <p:txBody>
          <a:bodyPr rtlCol="0" anchor="ctr"/>
          <a:lstStyle/>
          <a:p>
            <a:pPr algn="ctr"/>
          </a:p>
        </p:txBody>
      </p:sp>
      <p:sp>
        <p:nvSpPr>
          <p:cNvPr id="91" name="Text 90"/>
          <p:cNvSpPr txBox="1"/>
          <p:nvPr/>
        </p:nvSpPr>
        <p:spPr>
          <a:xfrm>
            <a:off x="5321300" y="5179195"/>
            <a:ext cx="10731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بدءاً من الشهر القادم</a:t>
            </a:r>
          </a:p>
        </p:txBody>
      </p:sp>
      <p:sp>
        <p:nvSpPr>
          <p:cNvPr id="92" name="Box 91"/>
          <p:cNvSpPr/>
          <p:nvPr/>
        </p:nvSpPr>
        <p:spPr>
          <a:xfrm>
            <a:off x="4324350" y="5142111"/>
            <a:ext cx="952500" cy="675481"/>
          </a:xfrm>
          <a:prstGeom prst="rect">
            <a:avLst/>
          </a:prstGeom>
          <a:solidFill>
            <a:srgbClr val="FFFFFF"/>
          </a:solidFill>
          <a:ln>
            <a:noFill/>
          </a:ln>
        </p:spPr>
        <p:txBody>
          <a:bodyPr rtlCol="0" anchor="ctr"/>
          <a:lstStyle/>
          <a:p>
            <a:pPr algn="ctr"/>
          </a:p>
        </p:txBody>
      </p:sp>
      <p:sp>
        <p:nvSpPr>
          <p:cNvPr id="93" name="Rule 92"/>
          <p:cNvSpPr/>
          <p:nvPr/>
        </p:nvSpPr>
        <p:spPr>
          <a:xfrm>
            <a:off x="4324350" y="5142111"/>
            <a:ext cx="6350" cy="675481"/>
          </a:xfrm>
          <a:prstGeom prst="rect">
            <a:avLst/>
          </a:prstGeom>
          <a:solidFill>
            <a:srgbClr val="D3D9DF"/>
          </a:solidFill>
          <a:ln>
            <a:noFill/>
          </a:ln>
        </p:spPr>
        <p:txBody>
          <a:bodyPr rtlCol="0" anchor="ctr"/>
          <a:lstStyle/>
          <a:p>
            <a:pPr algn="ctr"/>
          </a:p>
        </p:txBody>
      </p:sp>
      <p:sp>
        <p:nvSpPr>
          <p:cNvPr id="94" name="Text box 93"/>
          <p:cNvSpPr/>
          <p:nvPr/>
        </p:nvSpPr>
        <p:spPr>
          <a:xfrm>
            <a:off x="4419600" y="5205611"/>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95" name="Box 94"/>
          <p:cNvSpPr/>
          <p:nvPr/>
        </p:nvSpPr>
        <p:spPr>
          <a:xfrm>
            <a:off x="819150" y="5142111"/>
            <a:ext cx="3505200" cy="675481"/>
          </a:xfrm>
          <a:prstGeom prst="roundRect">
            <a:avLst>
              <a:gd name="adj" fmla="val 1645"/>
            </a:avLst>
          </a:prstGeom>
          <a:solidFill>
            <a:srgbClr val="FFFFFF"/>
          </a:solidFill>
          <a:ln>
            <a:noFill/>
          </a:ln>
        </p:spPr>
        <p:txBody>
          <a:bodyPr rtlCol="0" anchor="ctr"/>
          <a:lstStyle/>
          <a:p>
            <a:pPr algn="ctr"/>
          </a:p>
        </p:txBody>
      </p:sp>
      <p:sp>
        <p:nvSpPr>
          <p:cNvPr id="96" name="Rule 95"/>
          <p:cNvSpPr/>
          <p:nvPr/>
        </p:nvSpPr>
        <p:spPr>
          <a:xfrm>
            <a:off x="819150" y="5142111"/>
            <a:ext cx="6350" cy="675481"/>
          </a:xfrm>
          <a:prstGeom prst="rect">
            <a:avLst/>
          </a:prstGeom>
          <a:solidFill>
            <a:srgbClr val="D3D9DF"/>
          </a:solidFill>
          <a:ln>
            <a:noFill/>
          </a:ln>
        </p:spPr>
        <p:txBody>
          <a:bodyPr rtlCol="0" anchor="ctr"/>
          <a:lstStyle/>
          <a:p>
            <a:pPr algn="ctr"/>
          </a:p>
        </p:txBody>
      </p:sp>
      <p:sp>
        <p:nvSpPr>
          <p:cNvPr id="97" name="Text 96"/>
          <p:cNvSpPr txBox="1"/>
          <p:nvPr/>
        </p:nvSpPr>
        <p:spPr>
          <a:xfrm>
            <a:off x="844550" y="5179195"/>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تقارير 3 أشهر متتالية</a:t>
            </a:r>
          </a:p>
        </p:txBody>
      </p:sp>
      <p:sp>
        <p:nvSpPr>
          <p:cNvPr id="98" name="Text 9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99" name="Text 9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ملاحظة وخطة تصحيح لنظام الرواتب</a:t>
            </a:r>
          </a:p>
        </p:txBody>
      </p:sp>
      <p:sp>
        <p:nvSpPr>
          <p:cNvPr id="7" name="Text 6"/>
          <p:cNvSpPr txBox="1"/>
          <p:nvPr/>
        </p:nvSpPr>
        <p:spPr>
          <a:xfrm>
            <a:off x="10998200" y="15779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8" name="Text 7"/>
          <p:cNvSpPr txBox="1"/>
          <p:nvPr/>
        </p:nvSpPr>
        <p:spPr>
          <a:xfrm>
            <a:off x="0" y="15677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ملاحظة بعناصرها الخمسة لنتيجة التطبيق 3 (مراجعة صلاحيات نظام الرواتب).</a:t>
            </a:r>
          </a:p>
        </p:txBody>
      </p:sp>
      <p:sp>
        <p:nvSpPr>
          <p:cNvPr id="9" name="Text 8"/>
          <p:cNvSpPr txBox="1"/>
          <p:nvPr/>
        </p:nvSpPr>
        <p:spPr>
          <a:xfrm>
            <a:off x="10998200" y="20097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10" name="Text 9"/>
          <p:cNvSpPr txBox="1"/>
          <p:nvPr/>
        </p:nvSpPr>
        <p:spPr>
          <a:xfrm>
            <a:off x="0" y="19995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افترض أنك تحققت من سجل الترحيل ووجدت أنه لم يُعتمد أي استثناء لتأجيل المراجعة.</a:t>
            </a:r>
          </a:p>
        </p:txBody>
      </p:sp>
      <p:sp>
        <p:nvSpPr>
          <p:cNvPr id="11" name="Text 10"/>
          <p:cNvSpPr txBox="1"/>
          <p:nvPr/>
        </p:nvSpPr>
        <p:spPr>
          <a:xfrm>
            <a:off x="10998200" y="24415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12" name="Text 11"/>
          <p:cNvSpPr txBox="1"/>
          <p:nvPr/>
        </p:nvSpPr>
        <p:spPr>
          <a:xfrm>
            <a:off x="0" y="24313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خطة تصحيح من 4 إجراءات: المالك، والموعد، ودليل الإغلاق.</a:t>
            </a:r>
          </a:p>
        </p:txBody>
      </p:sp>
      <p:sp>
        <p:nvSpPr>
          <p:cNvPr id="13" name="Box 12"/>
          <p:cNvSpPr/>
          <p:nvPr/>
        </p:nvSpPr>
        <p:spPr>
          <a:xfrm>
            <a:off x="812800" y="3315295"/>
            <a:ext cx="10566400" cy="2362200"/>
          </a:xfrm>
          <a:prstGeom prst="roundRect">
            <a:avLst>
              <a:gd name="adj" fmla="val 4838"/>
            </a:avLst>
          </a:prstGeom>
          <a:solidFill>
            <a:srgbClr val="FFFDF8"/>
          </a:solidFill>
          <a:ln>
            <a:noFill/>
          </a:ln>
        </p:spPr>
        <p:txBody>
          <a:bodyPr rtlCol="0" anchor="ctr"/>
          <a:lstStyle/>
          <a:p>
            <a:pPr algn="ctr"/>
          </a:p>
        </p:txBody>
      </p:sp>
      <p:sp>
        <p:nvSpPr>
          <p:cNvPr id="14" name="Rule 13"/>
          <p:cNvSpPr/>
          <p:nvPr/>
        </p:nvSpPr>
        <p:spPr>
          <a:xfrm>
            <a:off x="812800" y="3315295"/>
            <a:ext cx="10566400" cy="50800"/>
          </a:xfrm>
          <a:prstGeom prst="rect">
            <a:avLst/>
          </a:prstGeom>
          <a:solidFill>
            <a:srgbClr val="C27A16"/>
          </a:solidFill>
          <a:ln>
            <a:noFill/>
          </a:ln>
        </p:spPr>
        <p:txBody>
          <a:bodyPr rtlCol="0" anchor="ctr"/>
          <a:lstStyle/>
          <a:p>
            <a:pPr algn="ctr"/>
          </a:p>
        </p:txBody>
      </p:sp>
      <p:sp>
        <p:nvSpPr>
          <p:cNvPr id="15" name="Text 14"/>
          <p:cNvSpPr txBox="1"/>
          <p:nvPr/>
        </p:nvSpPr>
        <p:spPr>
          <a:xfrm>
            <a:off x="838200" y="3508335"/>
            <a:ext cx="10363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نتيجتك في التطبيق 3: مطبق جزئياً</a:t>
            </a:r>
          </a:p>
        </p:txBody>
      </p:sp>
      <p:pic>
        <p:nvPicPr>
          <p:cNvPr id="16" name="Icon Check 15" descr="icon064.png"/>
          <p:cNvPicPr>
            <a:picLocks noChangeAspect="1"/>
          </p:cNvPicPr>
          <p:nvPr/>
        </p:nvPicPr>
        <p:blipFill>
          <a:blip r:embed="rId2"/>
          <a:stretch>
            <a:fillRect/>
          </a:stretch>
        </p:blipFill>
        <p:spPr>
          <a:xfrm>
            <a:off x="10941050" y="3912195"/>
            <a:ext cx="260350" cy="260350"/>
          </a:xfrm>
          <a:prstGeom prst="rect">
            <a:avLst/>
          </a:prstGeom>
        </p:spPr>
      </p:pic>
      <p:sp>
        <p:nvSpPr>
          <p:cNvPr id="17" name="Text 16"/>
          <p:cNvSpPr txBox="1"/>
          <p:nvPr/>
        </p:nvSpPr>
        <p:spPr>
          <a:xfrm>
            <a:off x="838200" y="38728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الربع الأول نُفذ واعتُمد في موعده.</a:t>
            </a:r>
          </a:p>
        </p:txBody>
      </p:sp>
      <p:pic>
        <p:nvPicPr>
          <p:cNvPr id="18" name="Icon Check 17" descr="icon064.png"/>
          <p:cNvPicPr>
            <a:picLocks noChangeAspect="1"/>
          </p:cNvPicPr>
          <p:nvPr/>
        </p:nvPicPr>
        <p:blipFill>
          <a:blip r:embed="rId2"/>
          <a:stretch>
            <a:fillRect/>
          </a:stretch>
        </p:blipFill>
        <p:spPr>
          <a:xfrm>
            <a:off x="10941050" y="4331295"/>
            <a:ext cx="260350" cy="260350"/>
          </a:xfrm>
          <a:prstGeom prst="rect">
            <a:avLst/>
          </a:prstGeom>
        </p:spPr>
      </p:pic>
      <p:sp>
        <p:nvSpPr>
          <p:cNvPr id="19" name="Text 18"/>
          <p:cNvSpPr txBox="1"/>
          <p:nvPr/>
        </p:nvSpPr>
        <p:spPr>
          <a:xfrm>
            <a:off x="838200" y="42919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الربع الثاني لم يُنفذ حتى 30 يونيو.</a:t>
            </a:r>
          </a:p>
        </p:txBody>
      </p:sp>
      <p:pic>
        <p:nvPicPr>
          <p:cNvPr id="20" name="Icon Check 19" descr="icon064.png"/>
          <p:cNvPicPr>
            <a:picLocks noChangeAspect="1"/>
          </p:cNvPicPr>
          <p:nvPr/>
        </p:nvPicPr>
        <p:blipFill>
          <a:blip r:embed="rId2"/>
          <a:stretch>
            <a:fillRect/>
          </a:stretch>
        </p:blipFill>
        <p:spPr>
          <a:xfrm>
            <a:off x="10941050" y="4750395"/>
            <a:ext cx="260350" cy="260350"/>
          </a:xfrm>
          <a:prstGeom prst="rect">
            <a:avLst/>
          </a:prstGeom>
        </p:spPr>
      </p:pic>
      <p:sp>
        <p:nvSpPr>
          <p:cNvPr id="21" name="Text 20"/>
          <p:cNvSpPr txBox="1"/>
          <p:nvPr/>
        </p:nvSpPr>
        <p:spPr>
          <a:xfrm>
            <a:off x="838200" y="47110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من 12 إزالة تأخرت عن مهلة 5 أيام عمل.</a:t>
            </a:r>
          </a:p>
        </p:txBody>
      </p:sp>
      <p:pic>
        <p:nvPicPr>
          <p:cNvPr id="22" name="Icon Check 21" descr="icon064.png"/>
          <p:cNvPicPr>
            <a:picLocks noChangeAspect="1"/>
          </p:cNvPicPr>
          <p:nvPr/>
        </p:nvPicPr>
        <p:blipFill>
          <a:blip r:embed="rId2"/>
          <a:stretch>
            <a:fillRect/>
          </a:stretch>
        </p:blipFill>
        <p:spPr>
          <a:xfrm>
            <a:off x="10941050" y="5169495"/>
            <a:ext cx="260350" cy="260350"/>
          </a:xfrm>
          <a:prstGeom prst="rect">
            <a:avLst/>
          </a:prstGeom>
        </p:spPr>
      </p:pic>
      <p:sp>
        <p:nvSpPr>
          <p:cNvPr id="23" name="Text 22"/>
          <p:cNvSpPr txBox="1"/>
          <p:nvPr/>
        </p:nvSpPr>
        <p:spPr>
          <a:xfrm>
            <a:off x="838200" y="51301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2 يوليو: حسابان لمغادرين في مايو ما زالا نشطين.</a:t>
            </a:r>
          </a:p>
        </p:txBody>
      </p:sp>
      <p:sp>
        <p:nvSpPr>
          <p:cNvPr id="24" name="Text 2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5" name="Text 2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النموذج</a:t>
            </a:r>
          </a:p>
        </p:txBody>
      </p:sp>
      <p:sp>
        <p:nvSpPr>
          <p:cNvPr id="7" name="Text 6"/>
          <p:cNvSpPr txBox="1"/>
          <p:nvPr/>
        </p:nvSpPr>
        <p:spPr>
          <a:xfrm>
            <a:off x="9781540" y="1559012"/>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العنوان</a:t>
            </a:r>
          </a:p>
        </p:txBody>
      </p:sp>
      <p:sp>
        <p:nvSpPr>
          <p:cNvPr id="8" name="Box 7"/>
          <p:cNvSpPr/>
          <p:nvPr/>
        </p:nvSpPr>
        <p:spPr>
          <a:xfrm>
            <a:off x="819150" y="1600795"/>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781540" y="2105112"/>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الوضع القائم</a:t>
            </a:r>
          </a:p>
        </p:txBody>
      </p:sp>
      <p:sp>
        <p:nvSpPr>
          <p:cNvPr id="10" name="Box 9"/>
          <p:cNvSpPr/>
          <p:nvPr/>
        </p:nvSpPr>
        <p:spPr>
          <a:xfrm>
            <a:off x="819150" y="2146895"/>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206712"/>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أرقام وتواريخ…</a:t>
            </a:r>
          </a:p>
        </p:txBody>
      </p:sp>
      <p:sp>
        <p:nvSpPr>
          <p:cNvPr id="12" name="Text 11"/>
          <p:cNvSpPr txBox="1"/>
          <p:nvPr/>
        </p:nvSpPr>
        <p:spPr>
          <a:xfrm>
            <a:off x="9781540" y="2704493"/>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المعيار</a:t>
            </a:r>
          </a:p>
        </p:txBody>
      </p:sp>
      <p:sp>
        <p:nvSpPr>
          <p:cNvPr id="13" name="Box 12"/>
          <p:cNvSpPr/>
          <p:nvPr/>
        </p:nvSpPr>
        <p:spPr>
          <a:xfrm>
            <a:off x="819150" y="2746276"/>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4" name="Text 13"/>
          <p:cNvSpPr txBox="1"/>
          <p:nvPr/>
        </p:nvSpPr>
        <p:spPr>
          <a:xfrm>
            <a:off x="9781540" y="3250593"/>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السبب</a:t>
            </a:r>
          </a:p>
        </p:txBody>
      </p:sp>
      <p:sp>
        <p:nvSpPr>
          <p:cNvPr id="15" name="Box 14"/>
          <p:cNvSpPr/>
          <p:nvPr/>
        </p:nvSpPr>
        <p:spPr>
          <a:xfrm>
            <a:off x="819150" y="3292376"/>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838200" y="3352193"/>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ما تحققت منه…</a:t>
            </a:r>
          </a:p>
        </p:txBody>
      </p:sp>
      <p:sp>
        <p:nvSpPr>
          <p:cNvPr id="17" name="Text 16"/>
          <p:cNvSpPr txBox="1"/>
          <p:nvPr/>
        </p:nvSpPr>
        <p:spPr>
          <a:xfrm>
            <a:off x="9781540" y="3849973"/>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الأثر</a:t>
            </a:r>
          </a:p>
        </p:txBody>
      </p:sp>
      <p:sp>
        <p:nvSpPr>
          <p:cNvPr id="18" name="Box 17"/>
          <p:cNvSpPr/>
          <p:nvPr/>
        </p:nvSpPr>
        <p:spPr>
          <a:xfrm>
            <a:off x="819150" y="3891756"/>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9781540" y="4396073"/>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التوصية</a:t>
            </a:r>
          </a:p>
        </p:txBody>
      </p:sp>
      <p:sp>
        <p:nvSpPr>
          <p:cNvPr id="20" name="Box 19"/>
          <p:cNvSpPr/>
          <p:nvPr/>
        </p:nvSpPr>
        <p:spPr>
          <a:xfrm>
            <a:off x="819150" y="4437856"/>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21" name="Text 20"/>
          <p:cNvSpPr txBox="1"/>
          <p:nvPr/>
        </p:nvSpPr>
        <p:spPr>
          <a:xfrm>
            <a:off x="838200" y="4497673"/>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ما يعالج السبب</a:t>
            </a:r>
          </a:p>
        </p:txBody>
      </p:sp>
      <p:sp>
        <p:nvSpPr>
          <p:cNvPr id="22" name="Text 21"/>
          <p:cNvSpPr txBox="1"/>
          <p:nvPr/>
        </p:nvSpPr>
        <p:spPr>
          <a:xfrm>
            <a:off x="0" y="5046254"/>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وجدول خطة التصحيح في الكراسة: الإجراء، والمالك، والموعد، ودليل الإغلاق. 20 دقيقة.</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الملاحظة (1 من 2)</a:t>
            </a:r>
          </a:p>
        </p:txBody>
      </p:sp>
      <p:sp>
        <p:nvSpPr>
          <p:cNvPr id="7" name="Box 6"/>
          <p:cNvSpPr/>
          <p:nvPr/>
        </p:nvSpPr>
        <p:spPr>
          <a:xfrm>
            <a:off x="815975" y="1661120"/>
            <a:ext cx="10560050" cy="3300214"/>
          </a:xfrm>
          <a:prstGeom prst="roundRect">
            <a:avLst>
              <a:gd name="adj" fmla="val 1920"/>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0E7C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عدم انتظام المراجعة الدورية لصلاحيات نظام الموارد البشرية والرواتب</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F-⁠04</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2-⁠2-⁠3-⁠5</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572173"/>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7" name="Text 16"/>
          <p:cNvSpPr txBox="1"/>
          <p:nvPr/>
        </p:nvSpPr>
        <p:spPr>
          <a:xfrm>
            <a:off x="1047750" y="2923488"/>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نُفذت مراجعة الربع الأول واعتُمدت في موعدها، لكن 3 من 12 إزالة نُفذت بعد 6 أسابيع، ولم تُنفذ مراجعة الربع الثاني حتى 30 يونيو 2026. وفي 2 يوليو كان حسابان لموظفين غادروا في مايو ما زالا نشطين.</a:t>
            </a:r>
          </a:p>
        </p:txBody>
      </p:sp>
      <p:sp>
        <p:nvSpPr>
          <p:cNvPr id="18" name="Rule 17"/>
          <p:cNvSpPr/>
          <p:nvPr/>
        </p:nvSpPr>
        <p:spPr>
          <a:xfrm>
            <a:off x="1047750" y="4025503"/>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65624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20" name="Text 19"/>
          <p:cNvSpPr txBox="1"/>
          <p:nvPr/>
        </p:nvSpPr>
        <p:spPr>
          <a:xfrm>
            <a:off x="1047750" y="3659295"/>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ECC 2-⁠2-⁠3-⁠5، ومعيار التحكم بالوصول (يناير 2026): مراجعة كل 3 أشهر، وإزالة خلال 5 أيام عمل.</a:t>
            </a:r>
          </a:p>
        </p:txBody>
      </p:sp>
      <p:sp>
        <p:nvSpPr>
          <p:cNvPr id="21" name="Rule 20"/>
          <p:cNvSpPr/>
          <p:nvPr/>
        </p:nvSpPr>
        <p:spPr>
          <a:xfrm>
            <a:off x="1047750" y="4761309"/>
            <a:ext cx="10096500" cy="6350"/>
          </a:xfrm>
          <a:prstGeom prst="rect">
            <a:avLst/>
          </a:prstGeom>
          <a:solidFill>
            <a:srgbClr val="ECE7DC"/>
          </a:solidFill>
          <a:ln>
            <a:noFill/>
          </a:ln>
        </p:spPr>
        <p:txBody>
          <a:bodyPr rtlCol="0" anchor="ctr"/>
          <a:lstStyle/>
          <a:p>
            <a:pPr algn="ctr"/>
          </a:p>
        </p:txBody>
      </p:sp>
      <p:sp>
        <p:nvSpPr>
          <p:cNvPr id="22" name="Text 21"/>
          <p:cNvSpPr txBox="1"/>
          <p:nvPr/>
        </p:nvSpPr>
        <p:spPr>
          <a:xfrm>
            <a:off x="9625330" y="410957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3" name="Text 22"/>
          <p:cNvSpPr txBox="1"/>
          <p:nvPr/>
        </p:nvSpPr>
        <p:spPr>
          <a:xfrm>
            <a:off x="1047750" y="4112625"/>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أُجّلت مراجعة الربع الثاني بسبب ترحيل النظام دون استثناء معتمد أو موعد بديل، ولا توجد متابعة لتذاكر الإزالة المتأخرة. تحققنا من ذلك بسجل الترحيل وتذاكر الإزالة.</a:t>
            </a:r>
          </a:p>
        </p:txBody>
      </p:sp>
      <p:sp>
        <p:nvSpPr>
          <p:cNvPr id="24" name="Text 2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25" name="Text 2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الملاحظة (2 من 2)</a:t>
            </a:r>
          </a:p>
        </p:txBody>
      </p:sp>
      <p:sp>
        <p:nvSpPr>
          <p:cNvPr id="7" name="Box 6"/>
          <p:cNvSpPr/>
          <p:nvPr/>
        </p:nvSpPr>
        <p:spPr>
          <a:xfrm>
            <a:off x="815975" y="1661120"/>
            <a:ext cx="10560050" cy="2564408"/>
          </a:xfrm>
          <a:prstGeom prst="roundRect">
            <a:avLst>
              <a:gd name="adj" fmla="val 2470"/>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0E7C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عدم انتظام المراجعة الدورية لصلاحيات نظام الموارد البشرية والرواتب</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F-⁠04</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2-⁠2-⁠3-⁠5</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289697"/>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17" name="Text 16"/>
          <p:cNvSpPr txBox="1"/>
          <p:nvPr/>
        </p:nvSpPr>
        <p:spPr>
          <a:xfrm>
            <a:off x="1047750" y="2923488"/>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بقاء صلاحيات غير مبررة على رواتب الموظفين وحساباتهم البنكية، منها حسابان لمغادرين.</a:t>
            </a:r>
          </a:p>
        </p:txBody>
      </p:sp>
      <p:sp>
        <p:nvSpPr>
          <p:cNvPr id="18" name="Rule 17"/>
          <p:cNvSpPr/>
          <p:nvPr/>
        </p:nvSpPr>
        <p:spPr>
          <a:xfrm>
            <a:off x="1047750" y="4025503"/>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0" name="Text 19"/>
          <p:cNvSpPr txBox="1"/>
          <p:nvPr/>
        </p:nvSpPr>
        <p:spPr>
          <a:xfrm>
            <a:off x="1047750" y="3376819"/>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تعطيل حسابي المغادرين فوراً، وإكمال مراجعة الربع الثاني، واعتماد جدول مراجعات ببديل معتمد عند التعارض، ومتابعة تذاكر الإزالة. التفاصيل في خطة التصحيح.</a:t>
            </a:r>
          </a:p>
        </p:txBody>
      </p:sp>
      <p:sp>
        <p:nvSpPr>
          <p:cNvPr id="21" name="Text box 20"/>
          <p:cNvSpPr/>
          <p:nvPr/>
        </p:nvSpPr>
        <p:spPr>
          <a:xfrm>
            <a:off x="11099800" y="4419203"/>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2" name="Text 21"/>
          <p:cNvSpPr txBox="1"/>
          <p:nvPr/>
        </p:nvSpPr>
        <p:spPr>
          <a:xfrm>
            <a:off x="7751100"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23" name="Text 22"/>
          <p:cNvSpPr txBox="1"/>
          <p:nvPr/>
        </p:nvSpPr>
        <p:spPr>
          <a:xfrm>
            <a:off x="7751100" y="4659447"/>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رواتب الموظفين وحساباتهم البنكية.</a:t>
            </a:r>
          </a:p>
        </p:txBody>
      </p:sp>
      <p:sp>
        <p:nvSpPr>
          <p:cNvPr id="24" name="Text box 23"/>
          <p:cNvSpPr/>
          <p:nvPr/>
        </p:nvSpPr>
        <p:spPr>
          <a:xfrm>
            <a:off x="7509966" y="4419203"/>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5" name="Text 24"/>
          <p:cNvSpPr txBox="1"/>
          <p:nvPr/>
        </p:nvSpPr>
        <p:spPr>
          <a:xfrm>
            <a:off x="4161266"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6" name="Text 25"/>
          <p:cNvSpPr txBox="1"/>
          <p:nvPr/>
        </p:nvSpPr>
        <p:spPr>
          <a:xfrm>
            <a:off x="4161266" y="4659447"/>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إجراء فوري، ثم ما يمنع التكرار.</a:t>
            </a:r>
          </a:p>
        </p:txBody>
      </p:sp>
      <p:sp>
        <p:nvSpPr>
          <p:cNvPr id="27" name="Text box 26"/>
          <p:cNvSpPr/>
          <p:nvPr/>
        </p:nvSpPr>
        <p:spPr>
          <a:xfrm>
            <a:off x="3920133" y="4419203"/>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8" name="Text 27"/>
          <p:cNvSpPr txBox="1"/>
          <p:nvPr/>
        </p:nvSpPr>
        <p:spPr>
          <a:xfrm>
            <a:off x="571433"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بلا لوم</a:t>
            </a:r>
          </a:p>
        </p:txBody>
      </p:sp>
      <p:sp>
        <p:nvSpPr>
          <p:cNvPr id="29" name="Text 28"/>
          <p:cNvSpPr txBox="1"/>
          <p:nvPr/>
        </p:nvSpPr>
        <p:spPr>
          <a:xfrm>
            <a:off x="722349" y="4659447"/>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العملية هي التي فشلت، لا شخص بالاسم.</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خطة التصحيح وإعادة الاختبار</a:t>
            </a:r>
          </a:p>
        </p:txBody>
      </p:sp>
      <p:sp>
        <p:nvSpPr>
          <p:cNvPr id="7" name="Box 6"/>
          <p:cNvSpPr/>
          <p:nvPr/>
        </p:nvSpPr>
        <p:spPr>
          <a:xfrm>
            <a:off x="815975" y="1661120"/>
            <a:ext cx="10560050" cy="3632795"/>
          </a:xfrm>
          <a:prstGeom prst="roundRect">
            <a:avLst>
              <a:gd name="adj" fmla="val 1395"/>
            </a:avLst>
          </a:prstGeom>
          <a:solidFill>
            <a:srgbClr val="FFFFFF"/>
          </a:solidFill>
          <a:ln w="6350">
            <a:solidFill>
              <a:srgbClr val="C9D0D6"/>
            </a:solidFill>
          </a:ln>
        </p:spPr>
        <p:txBody>
          <a:bodyPr rtlCol="0" anchor="ctr"/>
          <a:lstStyle/>
          <a:p>
            <a:pPr algn="ctr"/>
          </a:p>
        </p:txBody>
      </p:sp>
      <p:sp>
        <p:nvSpPr>
          <p:cNvPr id="8" name="Box 7"/>
          <p:cNvSpPr/>
          <p:nvPr/>
        </p:nvSpPr>
        <p:spPr>
          <a:xfrm>
            <a:off x="819150" y="16642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819150" y="1989336"/>
            <a:ext cx="10553700" cy="6350"/>
          </a:xfrm>
          <a:prstGeom prst="rect">
            <a:avLst/>
          </a:prstGeom>
          <a:solidFill>
            <a:srgbClr val="D3D9DF"/>
          </a:solidFill>
          <a:ln>
            <a:noFill/>
          </a:ln>
        </p:spPr>
        <p:txBody>
          <a:bodyPr rtlCol="0" anchor="ctr"/>
          <a:lstStyle/>
          <a:p>
            <a:pPr algn="ctr"/>
          </a:p>
        </p:txBody>
      </p:sp>
      <p:sp>
        <p:nvSpPr>
          <p:cNvPr id="10" name="Text 9"/>
          <p:cNvSpPr txBox="1"/>
          <p:nvPr/>
        </p:nvSpPr>
        <p:spPr>
          <a:xfrm>
            <a:off x="9540677" y="1711793"/>
            <a:ext cx="173057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متتبع الإجراءات التصحيحية</a:t>
            </a:r>
          </a:p>
        </p:txBody>
      </p:sp>
      <p:sp>
        <p:nvSpPr>
          <p:cNvPr id="11" name="Text 10"/>
          <p:cNvSpPr txBox="1"/>
          <p:nvPr/>
        </p:nvSpPr>
        <p:spPr>
          <a:xfrm>
            <a:off x="84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819150" y="2396927"/>
            <a:ext cx="10553700" cy="6350"/>
          </a:xfrm>
          <a:prstGeom prst="rect">
            <a:avLst/>
          </a:prstGeom>
          <a:solidFill>
            <a:srgbClr val="D3D9DF"/>
          </a:solidFill>
          <a:ln>
            <a:noFill/>
          </a:ln>
        </p:spPr>
        <p:txBody>
          <a:bodyPr rtlCol="0" anchor="ctr"/>
          <a:lstStyle/>
          <a:p>
            <a:pPr algn="ctr"/>
          </a:p>
        </p:txBody>
      </p:sp>
      <p:sp>
        <p:nvSpPr>
          <p:cNvPr id="13" name="Box 12"/>
          <p:cNvSpPr/>
          <p:nvPr/>
        </p:nvSpPr>
        <p:spPr>
          <a:xfrm>
            <a:off x="8388350" y="1995686"/>
            <a:ext cx="2984500" cy="401241"/>
          </a:xfrm>
          <a:prstGeom prst="rect">
            <a:avLst/>
          </a:prstGeom>
          <a:solidFill>
            <a:srgbClr val="F7F8FA"/>
          </a:solidFill>
          <a:ln>
            <a:noFill/>
          </a:ln>
        </p:spPr>
        <p:txBody>
          <a:bodyPr rtlCol="0" anchor="ctr"/>
          <a:lstStyle/>
          <a:p>
            <a:pPr algn="ctr"/>
          </a:p>
        </p:txBody>
      </p:sp>
      <p:sp>
        <p:nvSpPr>
          <p:cNvPr id="14" name="Rule 13"/>
          <p:cNvSpPr/>
          <p:nvPr/>
        </p:nvSpPr>
        <p:spPr>
          <a:xfrm>
            <a:off x="8388350" y="1995686"/>
            <a:ext cx="6350" cy="401241"/>
          </a:xfrm>
          <a:prstGeom prst="rect">
            <a:avLst/>
          </a:prstGeom>
          <a:solidFill>
            <a:srgbClr val="D3D9DF"/>
          </a:solidFill>
          <a:ln>
            <a:noFill/>
          </a:ln>
        </p:spPr>
        <p:txBody>
          <a:bodyPr rtlCol="0" anchor="ctr"/>
          <a:lstStyle/>
          <a:p>
            <a:pPr algn="ctr"/>
          </a:p>
        </p:txBody>
      </p:sp>
      <p:sp>
        <p:nvSpPr>
          <p:cNvPr id="15" name="Text 14"/>
          <p:cNvSpPr txBox="1"/>
          <p:nvPr/>
        </p:nvSpPr>
        <p:spPr>
          <a:xfrm>
            <a:off x="8413750" y="2032770"/>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الإجراء</a:t>
            </a:r>
          </a:p>
        </p:txBody>
      </p:sp>
      <p:sp>
        <p:nvSpPr>
          <p:cNvPr id="16" name="Box 15"/>
          <p:cNvSpPr/>
          <p:nvPr/>
        </p:nvSpPr>
        <p:spPr>
          <a:xfrm>
            <a:off x="6483350" y="1995686"/>
            <a:ext cx="1905000" cy="401241"/>
          </a:xfrm>
          <a:prstGeom prst="rect">
            <a:avLst/>
          </a:prstGeom>
          <a:solidFill>
            <a:srgbClr val="F7F8FA"/>
          </a:solidFill>
          <a:ln>
            <a:noFill/>
          </a:ln>
        </p:spPr>
        <p:txBody>
          <a:bodyPr rtlCol="0" anchor="ctr"/>
          <a:lstStyle/>
          <a:p>
            <a:pPr algn="ctr"/>
          </a:p>
        </p:txBody>
      </p:sp>
      <p:sp>
        <p:nvSpPr>
          <p:cNvPr id="17" name="Rule 16"/>
          <p:cNvSpPr/>
          <p:nvPr/>
        </p:nvSpPr>
        <p:spPr>
          <a:xfrm>
            <a:off x="6483350" y="1995686"/>
            <a:ext cx="6350" cy="401241"/>
          </a:xfrm>
          <a:prstGeom prst="rect">
            <a:avLst/>
          </a:prstGeom>
          <a:solidFill>
            <a:srgbClr val="D3D9DF"/>
          </a:solidFill>
          <a:ln>
            <a:noFill/>
          </a:ln>
        </p:spPr>
        <p:txBody>
          <a:bodyPr rtlCol="0" anchor="ctr"/>
          <a:lstStyle/>
          <a:p>
            <a:pPr algn="ctr"/>
          </a:p>
        </p:txBody>
      </p:sp>
      <p:sp>
        <p:nvSpPr>
          <p:cNvPr id="18" name="Text 17"/>
          <p:cNvSpPr txBox="1"/>
          <p:nvPr/>
        </p:nvSpPr>
        <p:spPr>
          <a:xfrm>
            <a:off x="6508750" y="2032770"/>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المالك</a:t>
            </a:r>
          </a:p>
        </p:txBody>
      </p:sp>
      <p:sp>
        <p:nvSpPr>
          <p:cNvPr id="19" name="Box 18"/>
          <p:cNvSpPr/>
          <p:nvPr/>
        </p:nvSpPr>
        <p:spPr>
          <a:xfrm>
            <a:off x="5276850" y="1995686"/>
            <a:ext cx="1206500" cy="401241"/>
          </a:xfrm>
          <a:prstGeom prst="rect">
            <a:avLst/>
          </a:prstGeom>
          <a:solidFill>
            <a:srgbClr val="F7F8FA"/>
          </a:solidFill>
          <a:ln>
            <a:noFill/>
          </a:ln>
        </p:spPr>
        <p:txBody>
          <a:bodyPr rtlCol="0" anchor="ctr"/>
          <a:lstStyle/>
          <a:p>
            <a:pPr algn="ctr"/>
          </a:p>
        </p:txBody>
      </p:sp>
      <p:sp>
        <p:nvSpPr>
          <p:cNvPr id="20" name="Rule 19"/>
          <p:cNvSpPr/>
          <p:nvPr/>
        </p:nvSpPr>
        <p:spPr>
          <a:xfrm>
            <a:off x="5276850" y="1995686"/>
            <a:ext cx="6350" cy="401241"/>
          </a:xfrm>
          <a:prstGeom prst="rect">
            <a:avLst/>
          </a:prstGeom>
          <a:solidFill>
            <a:srgbClr val="D3D9DF"/>
          </a:solidFill>
          <a:ln>
            <a:noFill/>
          </a:ln>
        </p:spPr>
        <p:txBody>
          <a:bodyPr rtlCol="0" anchor="ctr"/>
          <a:lstStyle/>
          <a:p>
            <a:pPr algn="ctr"/>
          </a:p>
        </p:txBody>
      </p:sp>
      <p:sp>
        <p:nvSpPr>
          <p:cNvPr id="21" name="Text 20"/>
          <p:cNvSpPr txBox="1"/>
          <p:nvPr/>
        </p:nvSpPr>
        <p:spPr>
          <a:xfrm>
            <a:off x="5302250" y="2032770"/>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الموعد</a:t>
            </a:r>
          </a:p>
        </p:txBody>
      </p:sp>
      <p:sp>
        <p:nvSpPr>
          <p:cNvPr id="22" name="Box 21"/>
          <p:cNvSpPr/>
          <p:nvPr/>
        </p:nvSpPr>
        <p:spPr>
          <a:xfrm>
            <a:off x="4324350" y="1995686"/>
            <a:ext cx="952500" cy="401241"/>
          </a:xfrm>
          <a:prstGeom prst="rect">
            <a:avLst/>
          </a:prstGeom>
          <a:solidFill>
            <a:srgbClr val="F7F8FA"/>
          </a:solidFill>
          <a:ln>
            <a:noFill/>
          </a:ln>
        </p:spPr>
        <p:txBody>
          <a:bodyPr rtlCol="0" anchor="ctr"/>
          <a:lstStyle/>
          <a:p>
            <a:pPr algn="ctr"/>
          </a:p>
        </p:txBody>
      </p:sp>
      <p:sp>
        <p:nvSpPr>
          <p:cNvPr id="23" name="Rule 22"/>
          <p:cNvSpPr/>
          <p:nvPr/>
        </p:nvSpPr>
        <p:spPr>
          <a:xfrm>
            <a:off x="4324350" y="1995686"/>
            <a:ext cx="6350" cy="401241"/>
          </a:xfrm>
          <a:prstGeom prst="rect">
            <a:avLst/>
          </a:prstGeom>
          <a:solidFill>
            <a:srgbClr val="D3D9DF"/>
          </a:solidFill>
          <a:ln>
            <a:noFill/>
          </a:ln>
        </p:spPr>
        <p:txBody>
          <a:bodyPr rtlCol="0" anchor="ctr"/>
          <a:lstStyle/>
          <a:p>
            <a:pPr algn="ctr"/>
          </a:p>
        </p:txBody>
      </p:sp>
      <p:sp>
        <p:nvSpPr>
          <p:cNvPr id="24" name="Text 23"/>
          <p:cNvSpPr txBox="1"/>
          <p:nvPr/>
        </p:nvSpPr>
        <p:spPr>
          <a:xfrm>
            <a:off x="4349750" y="2032770"/>
            <a:ext cx="838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819150" y="1995686"/>
            <a:ext cx="3505200" cy="401241"/>
          </a:xfrm>
          <a:prstGeom prst="rect">
            <a:avLst/>
          </a:prstGeom>
          <a:solidFill>
            <a:srgbClr val="F7F8FA"/>
          </a:solidFill>
          <a:ln>
            <a:noFill/>
          </a:ln>
        </p:spPr>
        <p:txBody>
          <a:bodyPr rtlCol="0" anchor="ctr"/>
          <a:lstStyle/>
          <a:p>
            <a:pPr algn="ctr"/>
          </a:p>
        </p:txBody>
      </p:sp>
      <p:sp>
        <p:nvSpPr>
          <p:cNvPr id="26" name="Rule 25"/>
          <p:cNvSpPr/>
          <p:nvPr/>
        </p:nvSpPr>
        <p:spPr>
          <a:xfrm>
            <a:off x="819150" y="1995686"/>
            <a:ext cx="6350" cy="401241"/>
          </a:xfrm>
          <a:prstGeom prst="rect">
            <a:avLst/>
          </a:prstGeom>
          <a:solidFill>
            <a:srgbClr val="D3D9DF"/>
          </a:solidFill>
          <a:ln>
            <a:noFill/>
          </a:ln>
        </p:spPr>
        <p:txBody>
          <a:bodyPr rtlCol="0" anchor="ctr"/>
          <a:lstStyle/>
          <a:p>
            <a:pPr algn="ctr"/>
          </a:p>
        </p:txBody>
      </p:sp>
      <p:sp>
        <p:nvSpPr>
          <p:cNvPr id="27" name="Text 26"/>
          <p:cNvSpPr txBox="1"/>
          <p:nvPr/>
        </p:nvSpPr>
        <p:spPr>
          <a:xfrm>
            <a:off x="844550" y="2032770"/>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الإغلاق</a:t>
            </a:r>
          </a:p>
        </p:txBody>
      </p:sp>
      <p:sp>
        <p:nvSpPr>
          <p:cNvPr id="28" name="Box 27"/>
          <p:cNvSpPr/>
          <p:nvPr/>
        </p:nvSpPr>
        <p:spPr>
          <a:xfrm>
            <a:off x="819150" y="2403277"/>
            <a:ext cx="10553700" cy="346670"/>
          </a:xfrm>
          <a:prstGeom prst="rect">
            <a:avLst/>
          </a:prstGeom>
          <a:solidFill>
            <a:srgbClr val="FBEFD9"/>
          </a:solidFill>
          <a:ln>
            <a:noFill/>
          </a:ln>
        </p:spPr>
        <p:txBody>
          <a:bodyPr rtlCol="0" anchor="ctr"/>
          <a:lstStyle/>
          <a:p>
            <a:pPr algn="ctr"/>
          </a:p>
        </p:txBody>
      </p:sp>
      <p:sp>
        <p:nvSpPr>
          <p:cNvPr id="29" name="Rule 28"/>
          <p:cNvSpPr/>
          <p:nvPr/>
        </p:nvSpPr>
        <p:spPr>
          <a:xfrm>
            <a:off x="819150" y="2743597"/>
            <a:ext cx="10553700" cy="6350"/>
          </a:xfrm>
          <a:prstGeom prst="rect">
            <a:avLst/>
          </a:prstGeom>
          <a:solidFill>
            <a:srgbClr val="D3D9DF"/>
          </a:solidFill>
          <a:ln>
            <a:noFill/>
          </a:ln>
        </p:spPr>
        <p:txBody>
          <a:bodyPr rtlCol="0" anchor="ctr"/>
          <a:lstStyle/>
          <a:p>
            <a:pPr algn="ctr"/>
          </a:p>
        </p:txBody>
      </p:sp>
      <p:sp>
        <p:nvSpPr>
          <p:cNvPr id="30" name="Text 29"/>
          <p:cNvSpPr txBox="1"/>
          <p:nvPr/>
        </p:nvSpPr>
        <p:spPr>
          <a:xfrm>
            <a:off x="844550" y="2420041"/>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8A4B12"/>
                </a:solidFill>
                <a:latin typeface="IBM Plex Sans Arabic"/>
                <a:ea typeface="IBM Plex Sans Arabic"/>
                <a:cs typeface="IBM Plex Sans Arabic"/>
              </a:rPr>
              <a:t>معالجة الحالة: تزيل الخطر الآن</a:t>
            </a:r>
          </a:p>
        </p:txBody>
      </p:sp>
      <p:sp>
        <p:nvSpPr>
          <p:cNvPr id="31" name="Rule 30"/>
          <p:cNvSpPr/>
          <p:nvPr/>
        </p:nvSpPr>
        <p:spPr>
          <a:xfrm>
            <a:off x="819150" y="3425428"/>
            <a:ext cx="10553700" cy="6350"/>
          </a:xfrm>
          <a:prstGeom prst="rect">
            <a:avLst/>
          </a:prstGeom>
          <a:solidFill>
            <a:srgbClr val="D3D9DF"/>
          </a:solidFill>
          <a:ln>
            <a:noFill/>
          </a:ln>
        </p:spPr>
        <p:txBody>
          <a:bodyPr rtlCol="0" anchor="ctr"/>
          <a:lstStyle/>
          <a:p>
            <a:pPr algn="ctr"/>
          </a:p>
        </p:txBody>
      </p:sp>
      <p:sp>
        <p:nvSpPr>
          <p:cNvPr id="32" name="Box 31"/>
          <p:cNvSpPr/>
          <p:nvPr/>
        </p:nvSpPr>
        <p:spPr>
          <a:xfrm>
            <a:off x="8388350" y="2749947"/>
            <a:ext cx="2984500" cy="675481"/>
          </a:xfrm>
          <a:prstGeom prst="rect">
            <a:avLst/>
          </a:prstGeom>
          <a:solidFill>
            <a:srgbClr val="FFFFFF"/>
          </a:solidFill>
          <a:ln>
            <a:noFill/>
          </a:ln>
        </p:spPr>
        <p:txBody>
          <a:bodyPr rtlCol="0" anchor="ctr"/>
          <a:lstStyle/>
          <a:p>
            <a:pPr algn="ctr"/>
          </a:p>
        </p:txBody>
      </p:sp>
      <p:sp>
        <p:nvSpPr>
          <p:cNvPr id="33" name="Rule 32"/>
          <p:cNvSpPr/>
          <p:nvPr/>
        </p:nvSpPr>
        <p:spPr>
          <a:xfrm>
            <a:off x="8388350" y="2749947"/>
            <a:ext cx="6350" cy="675481"/>
          </a:xfrm>
          <a:prstGeom prst="rect">
            <a:avLst/>
          </a:prstGeom>
          <a:solidFill>
            <a:srgbClr val="D3D9DF"/>
          </a:solidFill>
          <a:ln>
            <a:noFill/>
          </a:ln>
        </p:spPr>
        <p:txBody>
          <a:bodyPr rtlCol="0" anchor="ctr"/>
          <a:lstStyle/>
          <a:p>
            <a:pPr algn="ctr"/>
          </a:p>
        </p:txBody>
      </p:sp>
      <p:sp>
        <p:nvSpPr>
          <p:cNvPr id="34" name="Text 33"/>
          <p:cNvSpPr txBox="1"/>
          <p:nvPr/>
        </p:nvSpPr>
        <p:spPr>
          <a:xfrm>
            <a:off x="8413750" y="2787031"/>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تعطيل حسابي المغادرين ومراجعة نشاطهما بعد المغادرة</a:t>
            </a:r>
          </a:p>
        </p:txBody>
      </p:sp>
      <p:sp>
        <p:nvSpPr>
          <p:cNvPr id="35" name="Box 34"/>
          <p:cNvSpPr/>
          <p:nvPr/>
        </p:nvSpPr>
        <p:spPr>
          <a:xfrm>
            <a:off x="6483350" y="2749947"/>
            <a:ext cx="1905000" cy="675481"/>
          </a:xfrm>
          <a:prstGeom prst="rect">
            <a:avLst/>
          </a:prstGeom>
          <a:solidFill>
            <a:srgbClr val="FFFFFF"/>
          </a:solidFill>
          <a:ln>
            <a:noFill/>
          </a:ln>
        </p:spPr>
        <p:txBody>
          <a:bodyPr rtlCol="0" anchor="ctr"/>
          <a:lstStyle/>
          <a:p>
            <a:pPr algn="ctr"/>
          </a:p>
        </p:txBody>
      </p:sp>
      <p:sp>
        <p:nvSpPr>
          <p:cNvPr id="36" name="Rule 35"/>
          <p:cNvSpPr/>
          <p:nvPr/>
        </p:nvSpPr>
        <p:spPr>
          <a:xfrm>
            <a:off x="6483350" y="2749947"/>
            <a:ext cx="6350" cy="675481"/>
          </a:xfrm>
          <a:prstGeom prst="rect">
            <a:avLst/>
          </a:prstGeom>
          <a:solidFill>
            <a:srgbClr val="D3D9DF"/>
          </a:solidFill>
          <a:ln>
            <a:noFill/>
          </a:ln>
        </p:spPr>
        <p:txBody>
          <a:bodyPr rtlCol="0" anchor="ctr"/>
          <a:lstStyle/>
          <a:p>
            <a:pPr algn="ctr"/>
          </a:p>
        </p:txBody>
      </p:sp>
      <p:sp>
        <p:nvSpPr>
          <p:cNvPr id="37" name="Text 36"/>
          <p:cNvSpPr txBox="1"/>
          <p:nvPr/>
        </p:nvSpPr>
        <p:spPr>
          <a:xfrm>
            <a:off x="6508750" y="2787031"/>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38" name="Box 37"/>
          <p:cNvSpPr/>
          <p:nvPr/>
        </p:nvSpPr>
        <p:spPr>
          <a:xfrm>
            <a:off x="5276850" y="2749947"/>
            <a:ext cx="1206500" cy="675481"/>
          </a:xfrm>
          <a:prstGeom prst="rect">
            <a:avLst/>
          </a:prstGeom>
          <a:solidFill>
            <a:srgbClr val="FFFFFF"/>
          </a:solidFill>
          <a:ln>
            <a:noFill/>
          </a:ln>
        </p:spPr>
        <p:txBody>
          <a:bodyPr rtlCol="0" anchor="ctr"/>
          <a:lstStyle/>
          <a:p>
            <a:pPr algn="ctr"/>
          </a:p>
        </p:txBody>
      </p:sp>
      <p:sp>
        <p:nvSpPr>
          <p:cNvPr id="39" name="Rule 38"/>
          <p:cNvSpPr/>
          <p:nvPr/>
        </p:nvSpPr>
        <p:spPr>
          <a:xfrm>
            <a:off x="5276850" y="2749947"/>
            <a:ext cx="6350" cy="675481"/>
          </a:xfrm>
          <a:prstGeom prst="rect">
            <a:avLst/>
          </a:prstGeom>
          <a:solidFill>
            <a:srgbClr val="D3D9DF"/>
          </a:solidFill>
          <a:ln>
            <a:noFill/>
          </a:ln>
        </p:spPr>
        <p:txBody>
          <a:bodyPr rtlCol="0" anchor="ctr"/>
          <a:lstStyle/>
          <a:p>
            <a:pPr algn="ctr"/>
          </a:p>
        </p:txBody>
      </p:sp>
      <p:sp>
        <p:nvSpPr>
          <p:cNvPr id="40" name="Text 39"/>
          <p:cNvSpPr txBox="1"/>
          <p:nvPr/>
        </p:nvSpPr>
        <p:spPr>
          <a:xfrm>
            <a:off x="5302250" y="2787031"/>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يوما عمل</a:t>
            </a:r>
          </a:p>
        </p:txBody>
      </p:sp>
      <p:sp>
        <p:nvSpPr>
          <p:cNvPr id="41" name="Box 40"/>
          <p:cNvSpPr/>
          <p:nvPr/>
        </p:nvSpPr>
        <p:spPr>
          <a:xfrm>
            <a:off x="4324350" y="2749947"/>
            <a:ext cx="952500" cy="675481"/>
          </a:xfrm>
          <a:prstGeom prst="rect">
            <a:avLst/>
          </a:prstGeom>
          <a:solidFill>
            <a:srgbClr val="FFFFFF"/>
          </a:solidFill>
          <a:ln>
            <a:noFill/>
          </a:ln>
        </p:spPr>
        <p:txBody>
          <a:bodyPr rtlCol="0" anchor="ctr"/>
          <a:lstStyle/>
          <a:p>
            <a:pPr algn="ctr"/>
          </a:p>
        </p:txBody>
      </p:sp>
      <p:sp>
        <p:nvSpPr>
          <p:cNvPr id="42" name="Rule 41"/>
          <p:cNvSpPr/>
          <p:nvPr/>
        </p:nvSpPr>
        <p:spPr>
          <a:xfrm>
            <a:off x="4324350" y="2749947"/>
            <a:ext cx="6350" cy="675481"/>
          </a:xfrm>
          <a:prstGeom prst="rect">
            <a:avLst/>
          </a:prstGeom>
          <a:solidFill>
            <a:srgbClr val="D3D9DF"/>
          </a:solidFill>
          <a:ln>
            <a:noFill/>
          </a:ln>
        </p:spPr>
        <p:txBody>
          <a:bodyPr rtlCol="0" anchor="ctr"/>
          <a:lstStyle/>
          <a:p>
            <a:pPr algn="ctr"/>
          </a:p>
        </p:txBody>
      </p:sp>
      <p:sp>
        <p:nvSpPr>
          <p:cNvPr id="43" name="Text box 42"/>
          <p:cNvSpPr/>
          <p:nvPr/>
        </p:nvSpPr>
        <p:spPr>
          <a:xfrm>
            <a:off x="4419600" y="2813447"/>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44" name="Box 43"/>
          <p:cNvSpPr/>
          <p:nvPr/>
        </p:nvSpPr>
        <p:spPr>
          <a:xfrm>
            <a:off x="819150" y="2749947"/>
            <a:ext cx="3505200" cy="675481"/>
          </a:xfrm>
          <a:prstGeom prst="rect">
            <a:avLst/>
          </a:prstGeom>
          <a:solidFill>
            <a:srgbClr val="FFFFFF"/>
          </a:solidFill>
          <a:ln>
            <a:noFill/>
          </a:ln>
        </p:spPr>
        <p:txBody>
          <a:bodyPr rtlCol="0" anchor="ctr"/>
          <a:lstStyle/>
          <a:p>
            <a:pPr algn="ctr"/>
          </a:p>
        </p:txBody>
      </p:sp>
      <p:sp>
        <p:nvSpPr>
          <p:cNvPr id="45" name="Rule 44"/>
          <p:cNvSpPr/>
          <p:nvPr/>
        </p:nvSpPr>
        <p:spPr>
          <a:xfrm>
            <a:off x="819150" y="2749947"/>
            <a:ext cx="6350" cy="675481"/>
          </a:xfrm>
          <a:prstGeom prst="rect">
            <a:avLst/>
          </a:prstGeom>
          <a:solidFill>
            <a:srgbClr val="D3D9DF"/>
          </a:solidFill>
          <a:ln>
            <a:noFill/>
          </a:ln>
        </p:spPr>
        <p:txBody>
          <a:bodyPr rtlCol="0" anchor="ctr"/>
          <a:lstStyle/>
          <a:p>
            <a:pPr algn="ctr"/>
          </a:p>
        </p:txBody>
      </p:sp>
      <p:sp>
        <p:nvSpPr>
          <p:cNvPr id="46" name="Text 45"/>
          <p:cNvSpPr txBox="1"/>
          <p:nvPr/>
        </p:nvSpPr>
        <p:spPr>
          <a:xfrm>
            <a:off x="844550" y="2787031"/>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الحسابات، ونتيجة مراجعة السجل</a:t>
            </a:r>
          </a:p>
        </p:txBody>
      </p:sp>
      <p:sp>
        <p:nvSpPr>
          <p:cNvPr id="47" name="Rule 46"/>
          <p:cNvSpPr/>
          <p:nvPr/>
        </p:nvSpPr>
        <p:spPr>
          <a:xfrm>
            <a:off x="819150" y="3840659"/>
            <a:ext cx="10553700" cy="6350"/>
          </a:xfrm>
          <a:prstGeom prst="rect">
            <a:avLst/>
          </a:prstGeom>
          <a:solidFill>
            <a:srgbClr val="D3D9DF"/>
          </a:solidFill>
          <a:ln>
            <a:noFill/>
          </a:ln>
        </p:spPr>
        <p:txBody>
          <a:bodyPr rtlCol="0" anchor="ctr"/>
          <a:lstStyle/>
          <a:p>
            <a:pPr algn="ctr"/>
          </a:p>
        </p:txBody>
      </p:sp>
      <p:sp>
        <p:nvSpPr>
          <p:cNvPr id="48" name="Box 47"/>
          <p:cNvSpPr/>
          <p:nvPr/>
        </p:nvSpPr>
        <p:spPr>
          <a:xfrm>
            <a:off x="8388350" y="3431778"/>
            <a:ext cx="2984500" cy="408880"/>
          </a:xfrm>
          <a:prstGeom prst="rect">
            <a:avLst/>
          </a:prstGeom>
          <a:solidFill>
            <a:srgbClr val="FFFFFF"/>
          </a:solidFill>
          <a:ln>
            <a:noFill/>
          </a:ln>
        </p:spPr>
        <p:txBody>
          <a:bodyPr rtlCol="0" anchor="ctr"/>
          <a:lstStyle/>
          <a:p>
            <a:pPr algn="ctr"/>
          </a:p>
        </p:txBody>
      </p:sp>
      <p:sp>
        <p:nvSpPr>
          <p:cNvPr id="49" name="Rule 48"/>
          <p:cNvSpPr/>
          <p:nvPr/>
        </p:nvSpPr>
        <p:spPr>
          <a:xfrm>
            <a:off x="8388350" y="3431778"/>
            <a:ext cx="6350" cy="408880"/>
          </a:xfrm>
          <a:prstGeom prst="rect">
            <a:avLst/>
          </a:prstGeom>
          <a:solidFill>
            <a:srgbClr val="D3D9DF"/>
          </a:solidFill>
          <a:ln>
            <a:noFill/>
          </a:ln>
        </p:spPr>
        <p:txBody>
          <a:bodyPr rtlCol="0" anchor="ctr"/>
          <a:lstStyle/>
          <a:p>
            <a:pPr algn="ctr"/>
          </a:p>
        </p:txBody>
      </p:sp>
      <p:sp>
        <p:nvSpPr>
          <p:cNvPr id="50" name="Text 49"/>
          <p:cNvSpPr txBox="1"/>
          <p:nvPr/>
        </p:nvSpPr>
        <p:spPr>
          <a:xfrm>
            <a:off x="8413750" y="3468862"/>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تنفيذ مراجعة الربع الثاني واعتمادها</a:t>
            </a:r>
          </a:p>
        </p:txBody>
      </p:sp>
      <p:sp>
        <p:nvSpPr>
          <p:cNvPr id="51" name="Box 50"/>
          <p:cNvSpPr/>
          <p:nvPr/>
        </p:nvSpPr>
        <p:spPr>
          <a:xfrm>
            <a:off x="6483350" y="3431778"/>
            <a:ext cx="1905000" cy="408880"/>
          </a:xfrm>
          <a:prstGeom prst="rect">
            <a:avLst/>
          </a:prstGeom>
          <a:solidFill>
            <a:srgbClr val="FFFFFF"/>
          </a:solidFill>
          <a:ln>
            <a:noFill/>
          </a:ln>
        </p:spPr>
        <p:txBody>
          <a:bodyPr rtlCol="0" anchor="ctr"/>
          <a:lstStyle/>
          <a:p>
            <a:pPr algn="ctr"/>
          </a:p>
        </p:txBody>
      </p:sp>
      <p:sp>
        <p:nvSpPr>
          <p:cNvPr id="52" name="Rule 51"/>
          <p:cNvSpPr/>
          <p:nvPr/>
        </p:nvSpPr>
        <p:spPr>
          <a:xfrm>
            <a:off x="6483350" y="3431778"/>
            <a:ext cx="6350" cy="408880"/>
          </a:xfrm>
          <a:prstGeom prst="rect">
            <a:avLst/>
          </a:prstGeom>
          <a:solidFill>
            <a:srgbClr val="D3D9DF"/>
          </a:solidFill>
          <a:ln>
            <a:noFill/>
          </a:ln>
        </p:spPr>
        <p:txBody>
          <a:bodyPr rtlCol="0" anchor="ctr"/>
          <a:lstStyle/>
          <a:p>
            <a:pPr algn="ctr"/>
          </a:p>
        </p:txBody>
      </p:sp>
      <p:sp>
        <p:nvSpPr>
          <p:cNvPr id="53" name="Text 52"/>
          <p:cNvSpPr txBox="1"/>
          <p:nvPr/>
        </p:nvSpPr>
        <p:spPr>
          <a:xfrm>
            <a:off x="6508750" y="3468862"/>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a:t>
            </a:r>
          </a:p>
        </p:txBody>
      </p:sp>
      <p:sp>
        <p:nvSpPr>
          <p:cNvPr id="54" name="Box 53"/>
          <p:cNvSpPr/>
          <p:nvPr/>
        </p:nvSpPr>
        <p:spPr>
          <a:xfrm>
            <a:off x="5276850" y="3431778"/>
            <a:ext cx="1206500" cy="408880"/>
          </a:xfrm>
          <a:prstGeom prst="rect">
            <a:avLst/>
          </a:prstGeom>
          <a:solidFill>
            <a:srgbClr val="FFFFFF"/>
          </a:solidFill>
          <a:ln>
            <a:noFill/>
          </a:ln>
        </p:spPr>
        <p:txBody>
          <a:bodyPr rtlCol="0" anchor="ctr"/>
          <a:lstStyle/>
          <a:p>
            <a:pPr algn="ctr"/>
          </a:p>
        </p:txBody>
      </p:sp>
      <p:sp>
        <p:nvSpPr>
          <p:cNvPr id="55" name="Rule 54"/>
          <p:cNvSpPr/>
          <p:nvPr/>
        </p:nvSpPr>
        <p:spPr>
          <a:xfrm>
            <a:off x="5276850" y="3431778"/>
            <a:ext cx="6350" cy="408880"/>
          </a:xfrm>
          <a:prstGeom prst="rect">
            <a:avLst/>
          </a:prstGeom>
          <a:solidFill>
            <a:srgbClr val="D3D9DF"/>
          </a:solidFill>
          <a:ln>
            <a:noFill/>
          </a:ln>
        </p:spPr>
        <p:txBody>
          <a:bodyPr rtlCol="0" anchor="ctr"/>
          <a:lstStyle/>
          <a:p>
            <a:pPr algn="ctr"/>
          </a:p>
        </p:txBody>
      </p:sp>
      <p:sp>
        <p:nvSpPr>
          <p:cNvPr id="56" name="Text 55"/>
          <p:cNvSpPr txBox="1"/>
          <p:nvPr/>
        </p:nvSpPr>
        <p:spPr>
          <a:xfrm>
            <a:off x="5302250" y="3468862"/>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 يوم عمل</a:t>
            </a:r>
          </a:p>
        </p:txBody>
      </p:sp>
      <p:sp>
        <p:nvSpPr>
          <p:cNvPr id="57" name="Box 56"/>
          <p:cNvSpPr/>
          <p:nvPr/>
        </p:nvSpPr>
        <p:spPr>
          <a:xfrm>
            <a:off x="4324350" y="3431778"/>
            <a:ext cx="952500" cy="408880"/>
          </a:xfrm>
          <a:prstGeom prst="rect">
            <a:avLst/>
          </a:prstGeom>
          <a:solidFill>
            <a:srgbClr val="FFFFFF"/>
          </a:solidFill>
          <a:ln>
            <a:noFill/>
          </a:ln>
        </p:spPr>
        <p:txBody>
          <a:bodyPr rtlCol="0" anchor="ctr"/>
          <a:lstStyle/>
          <a:p>
            <a:pPr algn="ctr"/>
          </a:p>
        </p:txBody>
      </p:sp>
      <p:sp>
        <p:nvSpPr>
          <p:cNvPr id="58" name="Rule 57"/>
          <p:cNvSpPr/>
          <p:nvPr/>
        </p:nvSpPr>
        <p:spPr>
          <a:xfrm>
            <a:off x="4324350" y="3431778"/>
            <a:ext cx="6350" cy="408880"/>
          </a:xfrm>
          <a:prstGeom prst="rect">
            <a:avLst/>
          </a:prstGeom>
          <a:solidFill>
            <a:srgbClr val="D3D9DF"/>
          </a:solidFill>
          <a:ln>
            <a:noFill/>
          </a:ln>
        </p:spPr>
        <p:txBody>
          <a:bodyPr rtlCol="0" anchor="ctr"/>
          <a:lstStyle/>
          <a:p>
            <a:pPr algn="ctr"/>
          </a:p>
        </p:txBody>
      </p:sp>
      <p:sp>
        <p:nvSpPr>
          <p:cNvPr id="59" name="Text box 58"/>
          <p:cNvSpPr/>
          <p:nvPr/>
        </p:nvSpPr>
        <p:spPr>
          <a:xfrm>
            <a:off x="4419600" y="3495278"/>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60" name="Box 59"/>
          <p:cNvSpPr/>
          <p:nvPr/>
        </p:nvSpPr>
        <p:spPr>
          <a:xfrm>
            <a:off x="819150" y="3431778"/>
            <a:ext cx="3505200" cy="408880"/>
          </a:xfrm>
          <a:prstGeom prst="rect">
            <a:avLst/>
          </a:prstGeom>
          <a:solidFill>
            <a:srgbClr val="FFFFFF"/>
          </a:solidFill>
          <a:ln>
            <a:noFill/>
          </a:ln>
        </p:spPr>
        <p:txBody>
          <a:bodyPr rtlCol="0" anchor="ctr"/>
          <a:lstStyle/>
          <a:p>
            <a:pPr algn="ctr"/>
          </a:p>
        </p:txBody>
      </p:sp>
      <p:sp>
        <p:nvSpPr>
          <p:cNvPr id="61" name="Rule 60"/>
          <p:cNvSpPr/>
          <p:nvPr/>
        </p:nvSpPr>
        <p:spPr>
          <a:xfrm>
            <a:off x="819150" y="3431778"/>
            <a:ext cx="6350" cy="408880"/>
          </a:xfrm>
          <a:prstGeom prst="rect">
            <a:avLst/>
          </a:prstGeom>
          <a:solidFill>
            <a:srgbClr val="D3D9DF"/>
          </a:solidFill>
          <a:ln>
            <a:noFill/>
          </a:ln>
        </p:spPr>
        <p:txBody>
          <a:bodyPr rtlCol="0" anchor="ctr"/>
          <a:lstStyle/>
          <a:p>
            <a:pPr algn="ctr"/>
          </a:p>
        </p:txBody>
      </p:sp>
      <p:sp>
        <p:nvSpPr>
          <p:cNvPr id="62" name="Text 61"/>
          <p:cNvSpPr txBox="1"/>
          <p:nvPr/>
        </p:nvSpPr>
        <p:spPr>
          <a:xfrm>
            <a:off x="844550" y="3468862"/>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ملف المراجعة المعتمد، وتذاكر الإزالة</a:t>
            </a:r>
          </a:p>
        </p:txBody>
      </p:sp>
      <p:sp>
        <p:nvSpPr>
          <p:cNvPr id="63" name="Box 62"/>
          <p:cNvSpPr/>
          <p:nvPr/>
        </p:nvSpPr>
        <p:spPr>
          <a:xfrm>
            <a:off x="819150" y="3847009"/>
            <a:ext cx="10553700" cy="346670"/>
          </a:xfrm>
          <a:prstGeom prst="rect">
            <a:avLst/>
          </a:prstGeom>
          <a:solidFill>
            <a:srgbClr val="DDF0EA"/>
          </a:solidFill>
          <a:ln>
            <a:noFill/>
          </a:ln>
        </p:spPr>
        <p:txBody>
          <a:bodyPr rtlCol="0" anchor="ctr"/>
          <a:lstStyle/>
          <a:p>
            <a:pPr algn="ctr"/>
          </a:p>
        </p:txBody>
      </p:sp>
      <p:sp>
        <p:nvSpPr>
          <p:cNvPr id="64" name="Rule 63"/>
          <p:cNvSpPr/>
          <p:nvPr/>
        </p:nvSpPr>
        <p:spPr>
          <a:xfrm>
            <a:off x="819150" y="4187329"/>
            <a:ext cx="10553700" cy="6350"/>
          </a:xfrm>
          <a:prstGeom prst="rect">
            <a:avLst/>
          </a:prstGeom>
          <a:solidFill>
            <a:srgbClr val="D3D9DF"/>
          </a:solidFill>
          <a:ln>
            <a:noFill/>
          </a:ln>
        </p:spPr>
        <p:txBody>
          <a:bodyPr rtlCol="0" anchor="ctr"/>
          <a:lstStyle/>
          <a:p>
            <a:pPr algn="ctr"/>
          </a:p>
        </p:txBody>
      </p:sp>
      <p:sp>
        <p:nvSpPr>
          <p:cNvPr id="65" name="Text 64"/>
          <p:cNvSpPr txBox="1"/>
          <p:nvPr/>
        </p:nvSpPr>
        <p:spPr>
          <a:xfrm>
            <a:off x="844550" y="3863773"/>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منع التكرار: يعالج السبب</a:t>
            </a:r>
          </a:p>
        </p:txBody>
      </p:sp>
      <p:sp>
        <p:nvSpPr>
          <p:cNvPr id="66" name="Rule 65"/>
          <p:cNvSpPr/>
          <p:nvPr/>
        </p:nvSpPr>
        <p:spPr>
          <a:xfrm>
            <a:off x="819150" y="4869160"/>
            <a:ext cx="10553700" cy="6350"/>
          </a:xfrm>
          <a:prstGeom prst="rect">
            <a:avLst/>
          </a:prstGeom>
          <a:solidFill>
            <a:srgbClr val="D3D9DF"/>
          </a:solidFill>
          <a:ln>
            <a:noFill/>
          </a:ln>
        </p:spPr>
        <p:txBody>
          <a:bodyPr rtlCol="0" anchor="ctr"/>
          <a:lstStyle/>
          <a:p>
            <a:pPr algn="ctr"/>
          </a:p>
        </p:txBody>
      </p:sp>
      <p:sp>
        <p:nvSpPr>
          <p:cNvPr id="67" name="Box 66"/>
          <p:cNvSpPr/>
          <p:nvPr/>
        </p:nvSpPr>
        <p:spPr>
          <a:xfrm>
            <a:off x="8388350" y="4193679"/>
            <a:ext cx="2984500" cy="675481"/>
          </a:xfrm>
          <a:prstGeom prst="rect">
            <a:avLst/>
          </a:prstGeom>
          <a:solidFill>
            <a:srgbClr val="FFFFFF"/>
          </a:solidFill>
          <a:ln>
            <a:noFill/>
          </a:ln>
        </p:spPr>
        <p:txBody>
          <a:bodyPr rtlCol="0" anchor="ctr"/>
          <a:lstStyle/>
          <a:p>
            <a:pPr algn="ctr"/>
          </a:p>
        </p:txBody>
      </p:sp>
      <p:sp>
        <p:nvSpPr>
          <p:cNvPr id="68" name="Rule 67"/>
          <p:cNvSpPr/>
          <p:nvPr/>
        </p:nvSpPr>
        <p:spPr>
          <a:xfrm>
            <a:off x="8388350" y="4193679"/>
            <a:ext cx="6350" cy="675481"/>
          </a:xfrm>
          <a:prstGeom prst="rect">
            <a:avLst/>
          </a:prstGeom>
          <a:solidFill>
            <a:srgbClr val="D3D9DF"/>
          </a:solidFill>
          <a:ln>
            <a:noFill/>
          </a:ln>
        </p:spPr>
        <p:txBody>
          <a:bodyPr rtlCol="0" anchor="ctr"/>
          <a:lstStyle/>
          <a:p>
            <a:pPr algn="ctr"/>
          </a:p>
        </p:txBody>
      </p:sp>
      <p:sp>
        <p:nvSpPr>
          <p:cNvPr id="69" name="Text 68"/>
          <p:cNvSpPr txBox="1"/>
          <p:nvPr/>
        </p:nvSpPr>
        <p:spPr>
          <a:xfrm>
            <a:off x="8413750" y="4230763"/>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جدول مراجعات سنوي بتذكير آلي وبديل معتمد عند التعارض</a:t>
            </a:r>
          </a:p>
        </p:txBody>
      </p:sp>
      <p:sp>
        <p:nvSpPr>
          <p:cNvPr id="70" name="Box 69"/>
          <p:cNvSpPr/>
          <p:nvPr/>
        </p:nvSpPr>
        <p:spPr>
          <a:xfrm>
            <a:off x="6483350" y="4193679"/>
            <a:ext cx="1905000" cy="675481"/>
          </a:xfrm>
          <a:prstGeom prst="rect">
            <a:avLst/>
          </a:prstGeom>
          <a:solidFill>
            <a:srgbClr val="FFFFFF"/>
          </a:solidFill>
          <a:ln>
            <a:noFill/>
          </a:ln>
        </p:spPr>
        <p:txBody>
          <a:bodyPr rtlCol="0" anchor="ctr"/>
          <a:lstStyle/>
          <a:p>
            <a:pPr algn="ctr"/>
          </a:p>
        </p:txBody>
      </p:sp>
      <p:sp>
        <p:nvSpPr>
          <p:cNvPr id="71" name="Rule 70"/>
          <p:cNvSpPr/>
          <p:nvPr/>
        </p:nvSpPr>
        <p:spPr>
          <a:xfrm>
            <a:off x="6483350" y="4193679"/>
            <a:ext cx="6350" cy="675481"/>
          </a:xfrm>
          <a:prstGeom prst="rect">
            <a:avLst/>
          </a:prstGeom>
          <a:solidFill>
            <a:srgbClr val="D3D9DF"/>
          </a:solidFill>
          <a:ln>
            <a:noFill/>
          </a:ln>
        </p:spPr>
        <p:txBody>
          <a:bodyPr rtlCol="0" anchor="ctr"/>
          <a:lstStyle/>
          <a:p>
            <a:pPr algn="ctr"/>
          </a:p>
        </p:txBody>
      </p:sp>
      <p:sp>
        <p:nvSpPr>
          <p:cNvPr id="72" name="Text 71"/>
          <p:cNvSpPr txBox="1"/>
          <p:nvPr/>
        </p:nvSpPr>
        <p:spPr>
          <a:xfrm>
            <a:off x="6508750" y="4230763"/>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a:t>
            </a:r>
          </a:p>
        </p:txBody>
      </p:sp>
      <p:sp>
        <p:nvSpPr>
          <p:cNvPr id="73" name="Box 72"/>
          <p:cNvSpPr/>
          <p:nvPr/>
        </p:nvSpPr>
        <p:spPr>
          <a:xfrm>
            <a:off x="5276850" y="4193679"/>
            <a:ext cx="1206500" cy="675481"/>
          </a:xfrm>
          <a:prstGeom prst="rect">
            <a:avLst/>
          </a:prstGeom>
          <a:solidFill>
            <a:srgbClr val="FFFFFF"/>
          </a:solidFill>
          <a:ln>
            <a:noFill/>
          </a:ln>
        </p:spPr>
        <p:txBody>
          <a:bodyPr rtlCol="0" anchor="ctr"/>
          <a:lstStyle/>
          <a:p>
            <a:pPr algn="ctr"/>
          </a:p>
        </p:txBody>
      </p:sp>
      <p:sp>
        <p:nvSpPr>
          <p:cNvPr id="74" name="Rule 73"/>
          <p:cNvSpPr/>
          <p:nvPr/>
        </p:nvSpPr>
        <p:spPr>
          <a:xfrm>
            <a:off x="5276850" y="4193679"/>
            <a:ext cx="6350" cy="675481"/>
          </a:xfrm>
          <a:prstGeom prst="rect">
            <a:avLst/>
          </a:prstGeom>
          <a:solidFill>
            <a:srgbClr val="D3D9DF"/>
          </a:solidFill>
          <a:ln>
            <a:noFill/>
          </a:ln>
        </p:spPr>
        <p:txBody>
          <a:bodyPr rtlCol="0" anchor="ctr"/>
          <a:lstStyle/>
          <a:p>
            <a:pPr algn="ctr"/>
          </a:p>
        </p:txBody>
      </p:sp>
      <p:sp>
        <p:nvSpPr>
          <p:cNvPr id="75" name="Text 74"/>
          <p:cNvSpPr txBox="1"/>
          <p:nvPr/>
        </p:nvSpPr>
        <p:spPr>
          <a:xfrm>
            <a:off x="5302250" y="4230763"/>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 يوماً</a:t>
            </a:r>
          </a:p>
        </p:txBody>
      </p:sp>
      <p:sp>
        <p:nvSpPr>
          <p:cNvPr id="76" name="Box 75"/>
          <p:cNvSpPr/>
          <p:nvPr/>
        </p:nvSpPr>
        <p:spPr>
          <a:xfrm>
            <a:off x="4324350" y="4193679"/>
            <a:ext cx="952500" cy="675481"/>
          </a:xfrm>
          <a:prstGeom prst="rect">
            <a:avLst/>
          </a:prstGeom>
          <a:solidFill>
            <a:srgbClr val="FFFFFF"/>
          </a:solidFill>
          <a:ln>
            <a:noFill/>
          </a:ln>
        </p:spPr>
        <p:txBody>
          <a:bodyPr rtlCol="0" anchor="ctr"/>
          <a:lstStyle/>
          <a:p>
            <a:pPr algn="ctr"/>
          </a:p>
        </p:txBody>
      </p:sp>
      <p:sp>
        <p:nvSpPr>
          <p:cNvPr id="77" name="Rule 76"/>
          <p:cNvSpPr/>
          <p:nvPr/>
        </p:nvSpPr>
        <p:spPr>
          <a:xfrm>
            <a:off x="4324350" y="4193679"/>
            <a:ext cx="6350" cy="675481"/>
          </a:xfrm>
          <a:prstGeom prst="rect">
            <a:avLst/>
          </a:prstGeom>
          <a:solidFill>
            <a:srgbClr val="D3D9DF"/>
          </a:solidFill>
          <a:ln>
            <a:noFill/>
          </a:ln>
        </p:spPr>
        <p:txBody>
          <a:bodyPr rtlCol="0" anchor="ctr"/>
          <a:lstStyle/>
          <a:p>
            <a:pPr algn="ctr"/>
          </a:p>
        </p:txBody>
      </p:sp>
      <p:sp>
        <p:nvSpPr>
          <p:cNvPr id="78" name="Text box 77"/>
          <p:cNvSpPr/>
          <p:nvPr/>
        </p:nvSpPr>
        <p:spPr>
          <a:xfrm>
            <a:off x="4419600" y="4257179"/>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79" name="Box 78"/>
          <p:cNvSpPr/>
          <p:nvPr/>
        </p:nvSpPr>
        <p:spPr>
          <a:xfrm>
            <a:off x="819150" y="4193679"/>
            <a:ext cx="3505200" cy="675481"/>
          </a:xfrm>
          <a:prstGeom prst="rect">
            <a:avLst/>
          </a:prstGeom>
          <a:solidFill>
            <a:srgbClr val="FFFFFF"/>
          </a:solidFill>
          <a:ln>
            <a:noFill/>
          </a:ln>
        </p:spPr>
        <p:txBody>
          <a:bodyPr rtlCol="0" anchor="ctr"/>
          <a:lstStyle/>
          <a:p>
            <a:pPr algn="ctr"/>
          </a:p>
        </p:txBody>
      </p:sp>
      <p:sp>
        <p:nvSpPr>
          <p:cNvPr id="80" name="Rule 79"/>
          <p:cNvSpPr/>
          <p:nvPr/>
        </p:nvSpPr>
        <p:spPr>
          <a:xfrm>
            <a:off x="819150" y="4193679"/>
            <a:ext cx="6350" cy="675481"/>
          </a:xfrm>
          <a:prstGeom prst="rect">
            <a:avLst/>
          </a:prstGeom>
          <a:solidFill>
            <a:srgbClr val="D3D9DF"/>
          </a:solidFill>
          <a:ln>
            <a:noFill/>
          </a:ln>
        </p:spPr>
        <p:txBody>
          <a:bodyPr rtlCol="0" anchor="ctr"/>
          <a:lstStyle/>
          <a:p>
            <a:pPr algn="ctr"/>
          </a:p>
        </p:txBody>
      </p:sp>
      <p:sp>
        <p:nvSpPr>
          <p:cNvPr id="81" name="Text 80"/>
          <p:cNvSpPr txBox="1"/>
          <p:nvPr/>
        </p:nvSpPr>
        <p:spPr>
          <a:xfrm>
            <a:off x="844550" y="4230763"/>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الجدول المعتمد، وإعداد التذكير</a:t>
            </a:r>
          </a:p>
        </p:txBody>
      </p:sp>
      <p:sp>
        <p:nvSpPr>
          <p:cNvPr id="82" name="Rule 81"/>
          <p:cNvSpPr/>
          <p:nvPr/>
        </p:nvSpPr>
        <p:spPr>
          <a:xfrm>
            <a:off x="819150" y="5284391"/>
            <a:ext cx="10553700" cy="6350"/>
          </a:xfrm>
          <a:prstGeom prst="rect">
            <a:avLst/>
          </a:prstGeom>
          <a:solidFill>
            <a:srgbClr val="D3D9DF"/>
          </a:solidFill>
          <a:ln>
            <a:noFill/>
          </a:ln>
        </p:spPr>
        <p:txBody>
          <a:bodyPr rtlCol="0" anchor="ctr"/>
          <a:lstStyle/>
          <a:p>
            <a:pPr algn="ctr"/>
          </a:p>
        </p:txBody>
      </p:sp>
      <p:sp>
        <p:nvSpPr>
          <p:cNvPr id="83" name="Box 82"/>
          <p:cNvSpPr/>
          <p:nvPr/>
        </p:nvSpPr>
        <p:spPr>
          <a:xfrm>
            <a:off x="8388350" y="4875510"/>
            <a:ext cx="2984500" cy="408880"/>
          </a:xfrm>
          <a:prstGeom prst="roundRect">
            <a:avLst>
              <a:gd name="adj" fmla="val 2717"/>
            </a:avLst>
          </a:prstGeom>
          <a:solidFill>
            <a:srgbClr val="FFFFFF"/>
          </a:solidFill>
          <a:ln>
            <a:noFill/>
          </a:ln>
        </p:spPr>
        <p:txBody>
          <a:bodyPr rtlCol="0" anchor="ctr"/>
          <a:lstStyle/>
          <a:p>
            <a:pPr algn="ctr"/>
          </a:p>
        </p:txBody>
      </p:sp>
      <p:sp>
        <p:nvSpPr>
          <p:cNvPr id="84" name="Rule 83"/>
          <p:cNvSpPr/>
          <p:nvPr/>
        </p:nvSpPr>
        <p:spPr>
          <a:xfrm>
            <a:off x="8388350" y="4875510"/>
            <a:ext cx="6350" cy="408880"/>
          </a:xfrm>
          <a:prstGeom prst="rect">
            <a:avLst/>
          </a:prstGeom>
          <a:solidFill>
            <a:srgbClr val="D3D9DF"/>
          </a:solidFill>
          <a:ln>
            <a:noFill/>
          </a:ln>
        </p:spPr>
        <p:txBody>
          <a:bodyPr rtlCol="0" anchor="ctr"/>
          <a:lstStyle/>
          <a:p>
            <a:pPr algn="ctr"/>
          </a:p>
        </p:txBody>
      </p:sp>
      <p:sp>
        <p:nvSpPr>
          <p:cNvPr id="85" name="Text 84"/>
          <p:cNvSpPr txBox="1"/>
          <p:nvPr/>
        </p:nvSpPr>
        <p:spPr>
          <a:xfrm>
            <a:off x="8413750" y="4912594"/>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متابعة أسبوعية لتذاكر الإزالة المفتوحة</a:t>
            </a:r>
          </a:p>
        </p:txBody>
      </p:sp>
      <p:sp>
        <p:nvSpPr>
          <p:cNvPr id="86" name="Box 85"/>
          <p:cNvSpPr/>
          <p:nvPr/>
        </p:nvSpPr>
        <p:spPr>
          <a:xfrm>
            <a:off x="6483350" y="4875510"/>
            <a:ext cx="1905000" cy="408880"/>
          </a:xfrm>
          <a:prstGeom prst="rect">
            <a:avLst/>
          </a:prstGeom>
          <a:solidFill>
            <a:srgbClr val="FFFFFF"/>
          </a:solidFill>
          <a:ln>
            <a:noFill/>
          </a:ln>
        </p:spPr>
        <p:txBody>
          <a:bodyPr rtlCol="0" anchor="ctr"/>
          <a:lstStyle/>
          <a:p>
            <a:pPr algn="ctr"/>
          </a:p>
        </p:txBody>
      </p:sp>
      <p:sp>
        <p:nvSpPr>
          <p:cNvPr id="87" name="Rule 86"/>
          <p:cNvSpPr/>
          <p:nvPr/>
        </p:nvSpPr>
        <p:spPr>
          <a:xfrm>
            <a:off x="6483350" y="4875510"/>
            <a:ext cx="6350" cy="408880"/>
          </a:xfrm>
          <a:prstGeom prst="rect">
            <a:avLst/>
          </a:prstGeom>
          <a:solidFill>
            <a:srgbClr val="D3D9DF"/>
          </a:solidFill>
          <a:ln>
            <a:noFill/>
          </a:ln>
        </p:spPr>
        <p:txBody>
          <a:bodyPr rtlCol="0" anchor="ctr"/>
          <a:lstStyle/>
          <a:p>
            <a:pPr algn="ctr"/>
          </a:p>
        </p:txBody>
      </p:sp>
      <p:sp>
        <p:nvSpPr>
          <p:cNvPr id="88" name="Text 87"/>
          <p:cNvSpPr txBox="1"/>
          <p:nvPr/>
        </p:nvSpPr>
        <p:spPr>
          <a:xfrm>
            <a:off x="6508750" y="4912594"/>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89" name="Box 88"/>
          <p:cNvSpPr/>
          <p:nvPr/>
        </p:nvSpPr>
        <p:spPr>
          <a:xfrm>
            <a:off x="5276850" y="4875510"/>
            <a:ext cx="1206500" cy="408880"/>
          </a:xfrm>
          <a:prstGeom prst="rect">
            <a:avLst/>
          </a:prstGeom>
          <a:solidFill>
            <a:srgbClr val="FFFFFF"/>
          </a:solidFill>
          <a:ln>
            <a:noFill/>
          </a:ln>
        </p:spPr>
        <p:txBody>
          <a:bodyPr rtlCol="0" anchor="ctr"/>
          <a:lstStyle/>
          <a:p>
            <a:pPr algn="ctr"/>
          </a:p>
        </p:txBody>
      </p:sp>
      <p:sp>
        <p:nvSpPr>
          <p:cNvPr id="90" name="Rule 89"/>
          <p:cNvSpPr/>
          <p:nvPr/>
        </p:nvSpPr>
        <p:spPr>
          <a:xfrm>
            <a:off x="5276850" y="4875510"/>
            <a:ext cx="6350" cy="408880"/>
          </a:xfrm>
          <a:prstGeom prst="rect">
            <a:avLst/>
          </a:prstGeom>
          <a:solidFill>
            <a:srgbClr val="D3D9DF"/>
          </a:solidFill>
          <a:ln>
            <a:noFill/>
          </a:ln>
        </p:spPr>
        <p:txBody>
          <a:bodyPr rtlCol="0" anchor="ctr"/>
          <a:lstStyle/>
          <a:p>
            <a:pPr algn="ctr"/>
          </a:p>
        </p:txBody>
      </p:sp>
      <p:sp>
        <p:nvSpPr>
          <p:cNvPr id="91" name="Text 90"/>
          <p:cNvSpPr txBox="1"/>
          <p:nvPr/>
        </p:nvSpPr>
        <p:spPr>
          <a:xfrm>
            <a:off x="5302250" y="4912594"/>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فوراً</a:t>
            </a:r>
          </a:p>
        </p:txBody>
      </p:sp>
      <p:sp>
        <p:nvSpPr>
          <p:cNvPr id="92" name="Box 91"/>
          <p:cNvSpPr/>
          <p:nvPr/>
        </p:nvSpPr>
        <p:spPr>
          <a:xfrm>
            <a:off x="4324350" y="4875510"/>
            <a:ext cx="952500" cy="408880"/>
          </a:xfrm>
          <a:prstGeom prst="rect">
            <a:avLst/>
          </a:prstGeom>
          <a:solidFill>
            <a:srgbClr val="FFFFFF"/>
          </a:solidFill>
          <a:ln>
            <a:noFill/>
          </a:ln>
        </p:spPr>
        <p:txBody>
          <a:bodyPr rtlCol="0" anchor="ctr"/>
          <a:lstStyle/>
          <a:p>
            <a:pPr algn="ctr"/>
          </a:p>
        </p:txBody>
      </p:sp>
      <p:sp>
        <p:nvSpPr>
          <p:cNvPr id="93" name="Rule 92"/>
          <p:cNvSpPr/>
          <p:nvPr/>
        </p:nvSpPr>
        <p:spPr>
          <a:xfrm>
            <a:off x="4324350" y="4875510"/>
            <a:ext cx="6350" cy="408880"/>
          </a:xfrm>
          <a:prstGeom prst="rect">
            <a:avLst/>
          </a:prstGeom>
          <a:solidFill>
            <a:srgbClr val="D3D9DF"/>
          </a:solidFill>
          <a:ln>
            <a:noFill/>
          </a:ln>
        </p:spPr>
        <p:txBody>
          <a:bodyPr rtlCol="0" anchor="ctr"/>
          <a:lstStyle/>
          <a:p>
            <a:pPr algn="ctr"/>
          </a:p>
        </p:txBody>
      </p:sp>
      <p:sp>
        <p:nvSpPr>
          <p:cNvPr id="94" name="Text box 93"/>
          <p:cNvSpPr/>
          <p:nvPr/>
        </p:nvSpPr>
        <p:spPr>
          <a:xfrm>
            <a:off x="4419600" y="4939010"/>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95" name="Box 94"/>
          <p:cNvSpPr/>
          <p:nvPr/>
        </p:nvSpPr>
        <p:spPr>
          <a:xfrm>
            <a:off x="819150" y="4875510"/>
            <a:ext cx="3505200" cy="408880"/>
          </a:xfrm>
          <a:prstGeom prst="roundRect">
            <a:avLst>
              <a:gd name="adj" fmla="val 2717"/>
            </a:avLst>
          </a:prstGeom>
          <a:solidFill>
            <a:srgbClr val="FFFFFF"/>
          </a:solidFill>
          <a:ln>
            <a:noFill/>
          </a:ln>
        </p:spPr>
        <p:txBody>
          <a:bodyPr rtlCol="0" anchor="ctr"/>
          <a:lstStyle/>
          <a:p>
            <a:pPr algn="ctr"/>
          </a:p>
        </p:txBody>
      </p:sp>
      <p:sp>
        <p:nvSpPr>
          <p:cNvPr id="96" name="Rule 95"/>
          <p:cNvSpPr/>
          <p:nvPr/>
        </p:nvSpPr>
        <p:spPr>
          <a:xfrm>
            <a:off x="819150" y="4875510"/>
            <a:ext cx="6350" cy="408880"/>
          </a:xfrm>
          <a:prstGeom prst="rect">
            <a:avLst/>
          </a:prstGeom>
          <a:solidFill>
            <a:srgbClr val="D3D9DF"/>
          </a:solidFill>
          <a:ln>
            <a:noFill/>
          </a:ln>
        </p:spPr>
        <p:txBody>
          <a:bodyPr rtlCol="0" anchor="ctr"/>
          <a:lstStyle/>
          <a:p>
            <a:pPr algn="ctr"/>
          </a:p>
        </p:txBody>
      </p:sp>
      <p:sp>
        <p:nvSpPr>
          <p:cNvPr id="97" name="Text 96"/>
          <p:cNvSpPr txBox="1"/>
          <p:nvPr/>
        </p:nvSpPr>
        <p:spPr>
          <a:xfrm>
            <a:off x="844550" y="4912594"/>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التذاكر الأسبوعي</a:t>
            </a:r>
          </a:p>
        </p:txBody>
      </p:sp>
      <p:pic>
        <p:nvPicPr>
          <p:cNvPr id="98" name="Icon Verified 97" descr="icon065.png"/>
          <p:cNvPicPr>
            <a:picLocks noChangeAspect="1"/>
          </p:cNvPicPr>
          <p:nvPr/>
        </p:nvPicPr>
        <p:blipFill>
          <a:blip r:embed="rId2"/>
          <a:stretch>
            <a:fillRect/>
          </a:stretch>
        </p:blipFill>
        <p:spPr>
          <a:xfrm>
            <a:off x="11150600" y="5515471"/>
            <a:ext cx="228600" cy="228600"/>
          </a:xfrm>
          <a:prstGeom prst="rect">
            <a:avLst/>
          </a:prstGeom>
        </p:spPr>
      </p:pic>
      <p:sp>
        <p:nvSpPr>
          <p:cNvPr id="99" name="Text 98"/>
          <p:cNvSpPr txBox="1"/>
          <p:nvPr/>
        </p:nvSpPr>
        <p:spPr>
          <a:xfrm>
            <a:off x="0" y="5456095"/>
            <a:ext cx="110744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0E7C6B"/>
                </a:solidFill>
                <a:latin typeface="IBM Plex Sans Arabic"/>
                <a:ea typeface="IBM Plex Sans Arabic"/>
                <a:cs typeface="IBM Plex Sans Arabic"/>
              </a:rPr>
              <a:t>تعيد GRC الاختبار بعد مراجعة الربع الثالث، ولا تُغلق الملاحظة إلا بأدلة الإغلاق.</a:t>
            </a:r>
          </a:p>
        </p:txBody>
      </p:sp>
      <p:sp>
        <p:nvSpPr>
          <p:cNvPr id="100" name="Text 9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101" name="Text 10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4: أخطاء شائعة</a:t>
            </a:r>
          </a:p>
        </p:txBody>
      </p:sp>
      <p:sp>
        <p:nvSpPr>
          <p:cNvPr id="7" name="Box 6"/>
          <p:cNvSpPr/>
          <p:nvPr/>
        </p:nvSpPr>
        <p:spPr>
          <a:xfrm>
            <a:off x="6188075" y="1661120"/>
            <a:ext cx="5187950" cy="3168650"/>
          </a:xfrm>
          <a:prstGeom prst="roundRect">
            <a:avLst>
              <a:gd name="adj" fmla="val 3599"/>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يجعل الإجابة قوية</a:t>
            </a:r>
          </a:p>
        </p:txBody>
      </p:sp>
      <p:pic>
        <p:nvPicPr>
          <p:cNvPr id="9" name="Icon CheckCircle 8" descr="icon039.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103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الوضع القائم أرقام وتواريخ، لا أحكام عامة.</a:t>
            </a:r>
          </a:p>
        </p:txBody>
      </p:sp>
      <p:pic>
        <p:nvPicPr>
          <p:cNvPr id="11" name="Icon CheckCircle 10" descr="icon039.png"/>
          <p:cNvPicPr>
            <a:picLocks noChangeAspect="1"/>
          </p:cNvPicPr>
          <p:nvPr/>
        </p:nvPicPr>
        <p:blipFill>
          <a:blip r:embed="rId2"/>
          <a:stretch>
            <a:fillRect/>
          </a:stretch>
        </p:blipFill>
        <p:spPr>
          <a:xfrm>
            <a:off x="10928350" y="2692995"/>
            <a:ext cx="241300" cy="241300"/>
          </a:xfrm>
          <a:prstGeom prst="rect">
            <a:avLst/>
          </a:prstGeom>
        </p:spPr>
      </p:pic>
      <p:sp>
        <p:nvSpPr>
          <p:cNvPr id="12" name="Text 11"/>
          <p:cNvSpPr txBox="1"/>
          <p:nvPr/>
        </p:nvSpPr>
        <p:spPr>
          <a:xfrm>
            <a:off x="6261862" y="26536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مُتحقق منه، ويعالج العملية لا الأشخاص.</a:t>
            </a:r>
          </a:p>
        </p:txBody>
      </p:sp>
      <p:pic>
        <p:nvPicPr>
          <p:cNvPr id="13" name="Icon CheckCircle 12" descr="icon039.png"/>
          <p:cNvPicPr>
            <a:picLocks noChangeAspect="1"/>
          </p:cNvPicPr>
          <p:nvPr/>
        </p:nvPicPr>
        <p:blipFill>
          <a:blip r:embed="rId2"/>
          <a:stretch>
            <a:fillRect/>
          </a:stretch>
        </p:blipFill>
        <p:spPr>
          <a:xfrm>
            <a:off x="10928350" y="3493095"/>
            <a:ext cx="241300" cy="241300"/>
          </a:xfrm>
          <a:prstGeom prst="rect">
            <a:avLst/>
          </a:prstGeom>
        </p:spPr>
      </p:pic>
      <p:sp>
        <p:nvSpPr>
          <p:cNvPr id="14" name="Text 13"/>
          <p:cNvSpPr txBox="1"/>
          <p:nvPr/>
        </p:nvSpPr>
        <p:spPr>
          <a:xfrm>
            <a:off x="6261862" y="34537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 إجراء له مالك واحد باسم الوظيفة، وموعد، ودليل إغلاق.</a:t>
            </a:r>
          </a:p>
        </p:txBody>
      </p:sp>
      <p:pic>
        <p:nvPicPr>
          <p:cNvPr id="15" name="Icon CheckCircle 14" descr="icon039.png"/>
          <p:cNvPicPr>
            <a:picLocks noChangeAspect="1"/>
          </p:cNvPicPr>
          <p:nvPr/>
        </p:nvPicPr>
        <p:blipFill>
          <a:blip r:embed="rId2"/>
          <a:stretch>
            <a:fillRect/>
          </a:stretch>
        </p:blipFill>
        <p:spPr>
          <a:xfrm>
            <a:off x="10928350" y="4293195"/>
            <a:ext cx="241300" cy="241300"/>
          </a:xfrm>
          <a:prstGeom prst="rect">
            <a:avLst/>
          </a:prstGeom>
        </p:spPr>
      </p:pic>
      <p:sp>
        <p:nvSpPr>
          <p:cNvPr id="16" name="Text 15"/>
          <p:cNvSpPr txBox="1"/>
          <p:nvPr/>
        </p:nvSpPr>
        <p:spPr>
          <a:xfrm>
            <a:off x="6210300" y="42538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 فوري لإزالة الخطر، وإجراءات تمنع التكرار.</a:t>
            </a:r>
          </a:p>
        </p:txBody>
      </p:sp>
      <p:sp>
        <p:nvSpPr>
          <p:cNvPr id="17" name="Box 16"/>
          <p:cNvSpPr/>
          <p:nvPr/>
        </p:nvSpPr>
        <p:spPr>
          <a:xfrm>
            <a:off x="815975" y="1661120"/>
            <a:ext cx="5187950" cy="3168650"/>
          </a:xfrm>
          <a:prstGeom prst="roundRect">
            <a:avLst>
              <a:gd name="adj" fmla="val 3599"/>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9" name="Icon Warning 18" descr="icon040.png"/>
          <p:cNvPicPr>
            <a:picLocks noChangeAspect="1"/>
          </p:cNvPicPr>
          <p:nvPr/>
        </p:nvPicPr>
        <p:blipFill>
          <a:blip r:embed="rId3"/>
          <a:stretch>
            <a:fillRect/>
          </a:stretch>
        </p:blipFill>
        <p:spPr>
          <a:xfrm>
            <a:off x="5556250" y="2248495"/>
            <a:ext cx="241300" cy="241300"/>
          </a:xfrm>
          <a:prstGeom prst="rect">
            <a:avLst/>
          </a:prstGeom>
        </p:spPr>
      </p:pic>
      <p:sp>
        <p:nvSpPr>
          <p:cNvPr id="20" name="Text 19"/>
          <p:cNvSpPr txBox="1"/>
          <p:nvPr/>
        </p:nvSpPr>
        <p:spPr>
          <a:xfrm>
            <a:off x="8382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لوم شخص بالاسم بدل العملية.</a:t>
            </a:r>
          </a:p>
        </p:txBody>
      </p:sp>
      <p:pic>
        <p:nvPicPr>
          <p:cNvPr id="21" name="Icon Warning 20" descr="icon040.png"/>
          <p:cNvPicPr>
            <a:picLocks noChangeAspect="1"/>
          </p:cNvPicPr>
          <p:nvPr/>
        </p:nvPicPr>
        <p:blipFill>
          <a:blip r:embed="rId3"/>
          <a:stretch>
            <a:fillRect/>
          </a:stretch>
        </p:blipFill>
        <p:spPr>
          <a:xfrm>
            <a:off x="5556250" y="2692995"/>
            <a:ext cx="241300" cy="241300"/>
          </a:xfrm>
          <a:prstGeom prst="rect">
            <a:avLst/>
          </a:prstGeom>
        </p:spPr>
      </p:pic>
      <p:sp>
        <p:nvSpPr>
          <p:cNvPr id="22" name="Text 21"/>
          <p:cNvSpPr txBox="1"/>
          <p:nvPr/>
        </p:nvSpPr>
        <p:spPr>
          <a:xfrm>
            <a:off x="838200" y="2653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مالك عام: «تقنية المعلومات» أو «الجميع».</a:t>
            </a:r>
          </a:p>
        </p:txBody>
      </p:sp>
      <p:pic>
        <p:nvPicPr>
          <p:cNvPr id="23" name="Icon Warning 22" descr="icon040.png"/>
          <p:cNvPicPr>
            <a:picLocks noChangeAspect="1"/>
          </p:cNvPicPr>
          <p:nvPr/>
        </p:nvPicPr>
        <p:blipFill>
          <a:blip r:embed="rId3"/>
          <a:stretch>
            <a:fillRect/>
          </a:stretch>
        </p:blipFill>
        <p:spPr>
          <a:xfrm>
            <a:off x="5556250" y="3137495"/>
            <a:ext cx="241300" cy="241300"/>
          </a:xfrm>
          <a:prstGeom prst="rect">
            <a:avLst/>
          </a:prstGeom>
        </p:spPr>
      </p:pic>
      <p:sp>
        <p:nvSpPr>
          <p:cNvPr id="24" name="Text 23"/>
          <p:cNvSpPr txBox="1"/>
          <p:nvPr/>
        </p:nvSpPr>
        <p:spPr>
          <a:xfrm>
            <a:off x="838200" y="3098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 بلا موعد أو دليل إغلاق.</a:t>
            </a:r>
          </a:p>
        </p:txBody>
      </p:sp>
      <p:pic>
        <p:nvPicPr>
          <p:cNvPr id="25" name="Icon Warning 24" descr="icon040.png"/>
          <p:cNvPicPr>
            <a:picLocks noChangeAspect="1"/>
          </p:cNvPicPr>
          <p:nvPr/>
        </p:nvPicPr>
        <p:blipFill>
          <a:blip r:embed="rId3"/>
          <a:stretch>
            <a:fillRect/>
          </a:stretch>
        </p:blipFill>
        <p:spPr>
          <a:xfrm>
            <a:off x="5556250" y="3581995"/>
            <a:ext cx="241300" cy="241300"/>
          </a:xfrm>
          <a:prstGeom prst="rect">
            <a:avLst/>
          </a:prstGeom>
        </p:spPr>
      </p:pic>
      <p:sp>
        <p:nvSpPr>
          <p:cNvPr id="26" name="Text 25"/>
          <p:cNvSpPr txBox="1"/>
          <p:nvPr/>
        </p:nvSpPr>
        <p:spPr>
          <a:xfrm>
            <a:off x="838200" y="3542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الاكتفاء بتوصية «تدريب الموظفين».</a:t>
            </a:r>
          </a:p>
        </p:txBody>
      </p:sp>
      <p:pic>
        <p:nvPicPr>
          <p:cNvPr id="27" name="Icon Warning 26" descr="icon040.png"/>
          <p:cNvPicPr>
            <a:picLocks noChangeAspect="1"/>
          </p:cNvPicPr>
          <p:nvPr/>
        </p:nvPicPr>
        <p:blipFill>
          <a:blip r:embed="rId3"/>
          <a:stretch>
            <a:fillRect/>
          </a:stretch>
        </p:blipFill>
        <p:spPr>
          <a:xfrm>
            <a:off x="5556250" y="4026495"/>
            <a:ext cx="241300" cy="241300"/>
          </a:xfrm>
          <a:prstGeom prst="rect">
            <a:avLst/>
          </a:prstGeom>
        </p:spPr>
      </p:pic>
      <p:sp>
        <p:nvSpPr>
          <p:cNvPr id="28" name="Text 27"/>
          <p:cNvSpPr txBox="1"/>
          <p:nvPr/>
        </p:nvSpPr>
        <p:spPr>
          <a:xfrm>
            <a:off x="838200" y="3987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إغلاق الملاحظة بوعد بدل دليل.</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الامتثال</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المؤشرات: KGI وKPI وKRI وKCI</a:t>
            </a:r>
          </a:p>
        </p:txBody>
      </p:sp>
      <p:sp>
        <p:nvSpPr>
          <p:cNvPr id="5" name="Rule 4"/>
          <p:cNvSpPr/>
          <p:nvPr/>
        </p:nvSpPr>
        <p:spPr>
          <a:xfrm>
            <a:off x="8851900" y="1657945"/>
            <a:ext cx="2527300" cy="31750"/>
          </a:xfrm>
          <a:prstGeom prst="rect">
            <a:avLst/>
          </a:prstGeom>
          <a:solidFill>
            <a:srgbClr val="0E7C6B"/>
          </a:solidFill>
          <a:ln>
            <a:noFill/>
          </a:ln>
        </p:spPr>
        <p:txBody>
          <a:bodyPr rtlCol="0" anchor="ctr"/>
          <a:lstStyle/>
          <a:p>
            <a:pPr algn="ctr"/>
          </a:p>
        </p:txBody>
      </p:sp>
      <p:sp>
        <p:nvSpPr>
          <p:cNvPr id="6" name="Text 5"/>
          <p:cNvSpPr txBox="1"/>
          <p:nvPr/>
        </p:nvSpPr>
        <p:spPr>
          <a:xfrm>
            <a:off x="88773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KGI</a:t>
            </a:r>
          </a:p>
        </p:txBody>
      </p:sp>
      <p:sp>
        <p:nvSpPr>
          <p:cNvPr id="7" name="Text 6"/>
          <p:cNvSpPr txBox="1"/>
          <p:nvPr/>
        </p:nvSpPr>
        <p:spPr>
          <a:xfrm>
            <a:off x="88773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تحقق الهدف</a:t>
            </a:r>
          </a:p>
        </p:txBody>
      </p:sp>
      <p:sp>
        <p:nvSpPr>
          <p:cNvPr id="8" name="Text 7"/>
          <p:cNvSpPr txBox="1"/>
          <p:nvPr/>
        </p:nvSpPr>
        <p:spPr>
          <a:xfrm>
            <a:off x="88773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هل تحقق هدف العمل؟</a:t>
            </a:r>
          </a:p>
        </p:txBody>
      </p:sp>
      <p:sp>
        <p:nvSpPr>
          <p:cNvPr id="9" name="Text 8"/>
          <p:cNvSpPr txBox="1"/>
          <p:nvPr/>
        </p:nvSpPr>
        <p:spPr>
          <a:xfrm>
            <a:off x="88773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في رُفاد: نسبة إتاحة تطبيق التتبع الشهرية، والالتزام 99%.</a:t>
            </a:r>
          </a:p>
        </p:txBody>
      </p:sp>
      <p:sp>
        <p:nvSpPr>
          <p:cNvPr id="10" name="Rule 9"/>
          <p:cNvSpPr/>
          <p:nvPr/>
        </p:nvSpPr>
        <p:spPr>
          <a:xfrm>
            <a:off x="6172200" y="1657945"/>
            <a:ext cx="2527300" cy="31750"/>
          </a:xfrm>
          <a:prstGeom prst="rect">
            <a:avLst/>
          </a:prstGeom>
          <a:solidFill>
            <a:srgbClr val="24506B"/>
          </a:solidFill>
          <a:ln>
            <a:noFill/>
          </a:ln>
        </p:spPr>
        <p:txBody>
          <a:bodyPr rtlCol="0" anchor="ctr"/>
          <a:lstStyle/>
          <a:p>
            <a:pPr algn="ctr"/>
          </a:p>
        </p:txBody>
      </p:sp>
      <p:sp>
        <p:nvSpPr>
          <p:cNvPr id="11" name="Text 10"/>
          <p:cNvSpPr txBox="1"/>
          <p:nvPr/>
        </p:nvSpPr>
        <p:spPr>
          <a:xfrm>
            <a:off x="61976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24506B"/>
                </a:solidFill>
                <a:latin typeface="Readex Pro"/>
                <a:ea typeface="Readex Pro"/>
                <a:cs typeface="Readex Pro"/>
              </a:rPr>
              <a:t>KPI</a:t>
            </a:r>
          </a:p>
        </p:txBody>
      </p:sp>
      <p:sp>
        <p:nvSpPr>
          <p:cNvPr id="12" name="Text 11"/>
          <p:cNvSpPr txBox="1"/>
          <p:nvPr/>
        </p:nvSpPr>
        <p:spPr>
          <a:xfrm>
            <a:off x="61976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الأداء</a:t>
            </a:r>
          </a:p>
        </p:txBody>
      </p:sp>
      <p:sp>
        <p:nvSpPr>
          <p:cNvPr id="13" name="Text 12"/>
          <p:cNvSpPr txBox="1"/>
          <p:nvPr/>
        </p:nvSpPr>
        <p:spPr>
          <a:xfrm>
            <a:off x="61976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هل تُنفَّذ العملية جيداً؟</a:t>
            </a:r>
          </a:p>
        </p:txBody>
      </p:sp>
      <p:sp>
        <p:nvSpPr>
          <p:cNvPr id="14" name="Text 13"/>
          <p:cNvSpPr txBox="1"/>
          <p:nvPr/>
        </p:nvSpPr>
        <p:spPr>
          <a:xfrm>
            <a:off x="61976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في رُفاد: متوسط أيام العمل لإغلاق تذاكر إزالة الصلاحيات، والمعيار 5.</a:t>
            </a:r>
          </a:p>
        </p:txBody>
      </p:sp>
      <p:sp>
        <p:nvSpPr>
          <p:cNvPr id="15" name="Rule 14"/>
          <p:cNvSpPr/>
          <p:nvPr/>
        </p:nvSpPr>
        <p:spPr>
          <a:xfrm>
            <a:off x="3492500" y="1657945"/>
            <a:ext cx="2527300" cy="31750"/>
          </a:xfrm>
          <a:prstGeom prst="rect">
            <a:avLst/>
          </a:prstGeom>
          <a:solidFill>
            <a:srgbClr val="B4412C"/>
          </a:solidFill>
          <a:ln>
            <a:noFill/>
          </a:ln>
        </p:spPr>
        <p:txBody>
          <a:bodyPr rtlCol="0" anchor="ctr"/>
          <a:lstStyle/>
          <a:p>
            <a:pPr algn="ctr"/>
          </a:p>
        </p:txBody>
      </p:sp>
      <p:sp>
        <p:nvSpPr>
          <p:cNvPr id="16" name="Text 15"/>
          <p:cNvSpPr txBox="1"/>
          <p:nvPr/>
        </p:nvSpPr>
        <p:spPr>
          <a:xfrm>
            <a:off x="35179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B4412C"/>
                </a:solidFill>
                <a:latin typeface="Readex Pro"/>
                <a:ea typeface="Readex Pro"/>
                <a:cs typeface="Readex Pro"/>
              </a:rPr>
              <a:t>KRI</a:t>
            </a:r>
          </a:p>
        </p:txBody>
      </p:sp>
      <p:sp>
        <p:nvSpPr>
          <p:cNvPr id="17" name="Text 16"/>
          <p:cNvSpPr txBox="1"/>
          <p:nvPr/>
        </p:nvSpPr>
        <p:spPr>
          <a:xfrm>
            <a:off x="35179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الخطر</a:t>
            </a:r>
          </a:p>
        </p:txBody>
      </p:sp>
      <p:sp>
        <p:nvSpPr>
          <p:cNvPr id="18" name="Text 17"/>
          <p:cNvSpPr txBox="1"/>
          <p:nvPr/>
        </p:nvSpPr>
        <p:spPr>
          <a:xfrm>
            <a:off x="35179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B4412C"/>
                </a:solidFill>
                <a:latin typeface="IBM Plex Sans Arabic"/>
                <a:ea typeface="IBM Plex Sans Arabic"/>
                <a:cs typeface="IBM Plex Sans Arabic"/>
              </a:rPr>
              <a:t>هل يرتفع التعرض للخطر؟</a:t>
            </a:r>
          </a:p>
        </p:txBody>
      </p:sp>
      <p:sp>
        <p:nvSpPr>
          <p:cNvPr id="19" name="Text 18"/>
          <p:cNvSpPr txBox="1"/>
          <p:nvPr/>
        </p:nvSpPr>
        <p:spPr>
          <a:xfrm>
            <a:off x="35179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في رُفاد: عدد الثغرات الحرجة المفتوحة أكثر من 14 يوماً في خادم التتبع.</a:t>
            </a:r>
          </a:p>
        </p:txBody>
      </p:sp>
      <p:sp>
        <p:nvSpPr>
          <p:cNvPr id="20" name="Rule 19"/>
          <p:cNvSpPr/>
          <p:nvPr/>
        </p:nvSpPr>
        <p:spPr>
          <a:xfrm>
            <a:off x="812800" y="1657945"/>
            <a:ext cx="2527300" cy="31750"/>
          </a:xfrm>
          <a:prstGeom prst="rect">
            <a:avLst/>
          </a:prstGeom>
          <a:solidFill>
            <a:srgbClr val="5A3F87"/>
          </a:solidFill>
          <a:ln>
            <a:noFill/>
          </a:ln>
        </p:spPr>
        <p:txBody>
          <a:bodyPr rtlCol="0" anchor="ctr"/>
          <a:lstStyle/>
          <a:p>
            <a:pPr algn="ctr"/>
          </a:p>
        </p:txBody>
      </p:sp>
      <p:sp>
        <p:nvSpPr>
          <p:cNvPr id="21" name="Text 20"/>
          <p:cNvSpPr txBox="1"/>
          <p:nvPr/>
        </p:nvSpPr>
        <p:spPr>
          <a:xfrm>
            <a:off x="8382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5A3F87"/>
                </a:solidFill>
                <a:latin typeface="Readex Pro"/>
                <a:ea typeface="Readex Pro"/>
                <a:cs typeface="Readex Pro"/>
              </a:rPr>
              <a:t>KCI</a:t>
            </a:r>
          </a:p>
        </p:txBody>
      </p:sp>
      <p:sp>
        <p:nvSpPr>
          <p:cNvPr id="22" name="Text 21"/>
          <p:cNvSpPr txBox="1"/>
          <p:nvPr/>
        </p:nvSpPr>
        <p:spPr>
          <a:xfrm>
            <a:off x="8382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الضابط</a:t>
            </a:r>
          </a:p>
        </p:txBody>
      </p:sp>
      <p:sp>
        <p:nvSpPr>
          <p:cNvPr id="23" name="Text 22"/>
          <p:cNvSpPr txBox="1"/>
          <p:nvPr/>
        </p:nvSpPr>
        <p:spPr>
          <a:xfrm>
            <a:off x="8382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هل يعمل الضابط كما صُمّم؟</a:t>
            </a:r>
          </a:p>
        </p:txBody>
      </p:sp>
      <p:sp>
        <p:nvSpPr>
          <p:cNvPr id="24" name="Text 23"/>
          <p:cNvSpPr txBox="1"/>
          <p:nvPr/>
        </p:nvSpPr>
        <p:spPr>
          <a:xfrm>
            <a:off x="8382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في رُفاد: نسبة مراجعات الصلاحيات المعتمدة في موعدها.</a:t>
            </a:r>
          </a:p>
        </p:txBody>
      </p:sp>
      <p:sp>
        <p:nvSpPr>
          <p:cNvPr id="25" name="Box 24"/>
          <p:cNvSpPr/>
          <p:nvPr/>
        </p:nvSpPr>
        <p:spPr>
          <a:xfrm>
            <a:off x="812800" y="4801195"/>
            <a:ext cx="10566400" cy="965200"/>
          </a:xfrm>
          <a:prstGeom prst="roundRect">
            <a:avLst>
              <a:gd name="adj" fmla="val 10526"/>
            </a:avLst>
          </a:prstGeom>
          <a:solidFill>
            <a:srgbClr val="F6ECDA"/>
          </a:solidFill>
          <a:ln>
            <a:noFill/>
          </a:ln>
        </p:spPr>
        <p:txBody>
          <a:bodyPr rtlCol="0" anchor="ctr"/>
          <a:lstStyle/>
          <a:p>
            <a:pPr algn="ctr"/>
          </a:p>
        </p:txBody>
      </p:sp>
      <p:pic>
        <p:nvPicPr>
          <p:cNvPr id="26" name="Icon Warning 25" descr="icon066.png"/>
          <p:cNvPicPr>
            <a:picLocks noChangeAspect="1"/>
          </p:cNvPicPr>
          <p:nvPr/>
        </p:nvPicPr>
        <p:blipFill>
          <a:blip r:embed="rId2"/>
          <a:stretch>
            <a:fillRect/>
          </a:stretch>
        </p:blipFill>
        <p:spPr>
          <a:xfrm>
            <a:off x="10934700" y="5150445"/>
            <a:ext cx="266700" cy="266700"/>
          </a:xfrm>
          <a:prstGeom prst="rect">
            <a:avLst/>
          </a:prstGeom>
        </p:spPr>
      </p:pic>
      <p:sp>
        <p:nvSpPr>
          <p:cNvPr id="27" name="Text 26"/>
          <p:cNvSpPr txBox="1"/>
          <p:nvPr/>
        </p:nvSpPr>
        <p:spPr>
          <a:xfrm>
            <a:off x="838200" y="488882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التصنيف بالغرض، لا بالرقم: المؤشر نفسه قد يكون KPI في جهة وKCI في أخرى. اكتب في تعريفه ماذا يقيس، ولماذا.</a:t>
            </a:r>
          </a:p>
        </p:txBody>
      </p:sp>
      <p:sp>
        <p:nvSpPr>
          <p:cNvPr id="28" name="Text 2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29" name="Text 2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تعريف المؤشر: ستة أسئلة قبل أي رقم</a:t>
            </a:r>
          </a:p>
        </p:txBody>
      </p:sp>
      <p:graphicFrame>
        <p:nvGraphicFramePr>
          <p:cNvPr id="5" name="Table 4"/>
          <p:cNvGraphicFramePr>
            <a:graphicFrameLocks noGrp="1"/>
          </p:cNvGraphicFramePr>
          <p:nvPr/>
        </p:nvGraphicFramePr>
        <p:xfrm>
          <a:off x="815975" y="1661120"/>
          <a:ext cx="10560050" cy="3632992"/>
        </p:xfrm>
        <a:graphic>
          <a:graphicData uri="http://schemas.openxmlformats.org/drawingml/2006/table">
            <a:tbl>
              <a:tblPr firstRow="0" bandRow="0" lastRow="0" firstCol="0" lastCol="0" bandCol="0">
                <a:tableStyleId>{2D5ABB26-0587-4C30-8999-92F81FD0307C}</a:tableStyleId>
              </a:tblPr>
              <a:tblGrid>
                <a:gridCol w="2270125"/>
                <a:gridCol w="2270760"/>
                <a:gridCol w="2270125"/>
                <a:gridCol w="2270125"/>
                <a:gridCol w="1478915"/>
              </a:tblGrid>
              <a:tr h="69691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KCI · مراجعات الصلاحيات</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KRI · الثغرات الحرجة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KPI · إغلاق تذاكر الإزالة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KGI · إتاحة التتبع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المعتمدة في موعدها ÷ المجدولة × 100.</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عدد الحرجة المفتوحة أكثر من 14 يوماً.</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متوسط أيام العمل من الاعتماد إلى الإغلاق.</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ساعات الإتاحة ÷ ساعات الشهر × 100.</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الحساب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ملفات المراجعة وجدولها.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فحص الثغرات.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نظام التذاكر.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المراقبة الشهري من سَنَد.</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المصدر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 منى، وتجمعه أ. ريم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 سلمان، وسَنَد ينفذ</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 سلمان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 سلمان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المالك</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ربع سنوي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شهري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شهري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شهري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الدورية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أقل من 100%.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أكبر من صفر. ويُصعَّد للجنة إن تجاوز عمرها 30 يوماً.</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أكثر من 5 أيام عمل.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أقل من 99%: سبب وخطة خلال أسبوع.</a:t>
                      </a:r>
                    </a:p>
                  </a:txBody>
                  <a:tcPr marT="85649" marR="121920" marB="56591" marL="6112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يستدعي إجراءً</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456293"/>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وماذا يقيس كل مؤشر؟ في الشريحة السابقة. والقيم تدريبية.</a:t>
            </a:r>
          </a:p>
        </p:txBody>
      </p:sp>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box 3"/>
          <p:cNvSpPr/>
          <p:nvPr/>
        </p:nvSpPr>
        <p:spPr>
          <a:xfrm>
            <a:off x="81605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تقرير الإدارة (1 من 2): المخاطر والمؤشرات</a:t>
            </a:r>
          </a:p>
        </p:txBody>
      </p:sp>
      <p:sp>
        <p:nvSpPr>
          <p:cNvPr id="6" name="Box 5"/>
          <p:cNvSpPr/>
          <p:nvPr/>
        </p:nvSpPr>
        <p:spPr>
          <a:xfrm>
            <a:off x="815975" y="1661120"/>
            <a:ext cx="10560050" cy="4590058"/>
          </a:xfrm>
          <a:prstGeom prst="roundRect">
            <a:avLst>
              <a:gd name="adj" fmla="val 1381"/>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2822" y="1741638"/>
            <a:ext cx="268222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172433"/>
                </a:solidFill>
                <a:latin typeface="Readex Pro"/>
                <a:ea typeface="Readex Pro"/>
                <a:cs typeface="Readex Pro"/>
              </a:rPr>
              <a:t>تقرير ربع سنوي للجنة · 1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لجنة الأمن السيبراني · الربع الثالث 2026 · 30 سبتمبر 2026 · أ. ريم، مسؤولة GRC</a:t>
            </a:r>
          </a:p>
        </p:txBody>
      </p:sp>
      <p:sp>
        <p:nvSpPr>
          <p:cNvPr id="11" name="Text 10"/>
          <p:cNvSpPr txBox="1"/>
          <p:nvPr/>
        </p:nvSpPr>
        <p:spPr>
          <a:xfrm>
            <a:off x="838200" y="23215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1. أهم المخاطر</a:t>
            </a:r>
          </a:p>
        </p:txBody>
      </p:sp>
      <p:graphicFrame>
        <p:nvGraphicFramePr>
          <p:cNvPr id="12" name="Table 11"/>
          <p:cNvGraphicFramePr>
            <a:graphicFrameLocks noGrp="1"/>
          </p:cNvGraphicFramePr>
          <p:nvPr/>
        </p:nvGraphicFramePr>
        <p:xfrm>
          <a:off x="1000125" y="2627412"/>
          <a:ext cx="10191750" cy="1430931"/>
        </p:xfrm>
        <a:graphic>
          <a:graphicData uri="http://schemas.openxmlformats.org/drawingml/2006/table">
            <a:tbl>
              <a:tblPr firstRow="0" bandRow="0" lastRow="0" firstCol="0" lastCol="0" bandCol="0">
                <a:tableStyleId>{2D5ABB26-0587-4C30-8999-92F81FD0307C}</a:tableStyleId>
              </a:tblPr>
              <a:tblGrid>
                <a:gridCol w="1426845"/>
                <a:gridCol w="3566795"/>
                <a:gridCol w="1529080"/>
                <a:gridCol w="3669030"/>
              </a:tblGrid>
              <a:tr h="318591">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المالك</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المستوى</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الخطر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م. سلمان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معالجة إلزامية: ينتظر قرار الكلفة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تأخر ترقيع ثغرات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م. سلمان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3 من 5 إجراءات منجزة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حساب المورد المشترك على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أ. منى</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عولج: الجهاز مشفر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6 · منخفض</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ملفات الرواتب على حاسوب الأخصائي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Text 12"/>
          <p:cNvSpPr txBox="1"/>
          <p:nvPr/>
        </p:nvSpPr>
        <p:spPr>
          <a:xfrm>
            <a:off x="838200" y="4073712"/>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2. المؤشرات</a:t>
            </a:r>
          </a:p>
        </p:txBody>
      </p:sp>
      <p:graphicFrame>
        <p:nvGraphicFramePr>
          <p:cNvPr id="14" name="Table 13"/>
          <p:cNvGraphicFramePr>
            <a:graphicFrameLocks noGrp="1"/>
          </p:cNvGraphicFramePr>
          <p:nvPr/>
        </p:nvGraphicFramePr>
        <p:xfrm>
          <a:off x="1000125" y="4379615"/>
          <a:ext cx="10191750" cy="1801711"/>
        </p:xfrm>
        <a:graphic>
          <a:graphicData uri="http://schemas.openxmlformats.org/drawingml/2006/table">
            <a:tbl>
              <a:tblPr firstRow="0" bandRow="0" lastRow="0" firstCol="0" lastCol="0" bandCol="0">
                <a:tableStyleId>{2D5ABB26-0587-4C30-8999-92F81FD0307C}</a:tableStyleId>
              </a:tblPr>
              <a:tblGrid>
                <a:gridCol w="2038350"/>
                <a:gridCol w="2038350"/>
                <a:gridCol w="1834515"/>
                <a:gridCol w="4280535"/>
              </a:tblGrid>
              <a:tr h="318591">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المرجع</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القيمة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a:solidFill>
                            <a:srgbClr val="F3EFE6"/>
                          </a:solidFill>
                          <a:latin typeface="IBM Plex Sans Arabic"/>
                          <a:ea typeface="IBM Plex Sans Arabic"/>
                          <a:cs typeface="IBM Plex Sans Arabic"/>
                        </a:rPr>
                        <a:t>المؤشر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الهدف 99%</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99.4%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KGI · إتاحة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المعيار 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3.2 يوم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KPI · إغلاق تذاكر الإزالة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1" i="0">
                          <a:solidFill>
                            <a:srgbClr val="B4412C"/>
                          </a:solidFill>
                          <a:latin typeface="IBM Plex Sans Arabic"/>
                          <a:ea typeface="IBM Plex Sans Arabic"/>
                          <a:cs typeface="IBM Plex Sans Arabic"/>
                        </a:rPr>
                        <a:t>يتجاوز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الحد صفر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KRI · ثغرات حرجة أكثر من 14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الربع الثالث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100%</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KCI · مراجعات الصلاحيات 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box 3"/>
          <p:cNvSpPr/>
          <p:nvPr/>
        </p:nvSpPr>
        <p:spPr>
          <a:xfrm>
            <a:off x="81605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تقرير الإدارة (2 من 2): الملاحظات والإجراءات والقرارات</a:t>
            </a:r>
          </a:p>
        </p:txBody>
      </p:sp>
      <p:sp>
        <p:nvSpPr>
          <p:cNvPr id="6" name="Box 5"/>
          <p:cNvSpPr/>
          <p:nvPr/>
        </p:nvSpPr>
        <p:spPr>
          <a:xfrm>
            <a:off x="815975" y="1661120"/>
            <a:ext cx="10560050" cy="4096345"/>
          </a:xfrm>
          <a:prstGeom prst="roundRect">
            <a:avLst>
              <a:gd name="adj" fmla="val 1547"/>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5608" y="1741638"/>
            <a:ext cx="267944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172433"/>
                </a:solidFill>
                <a:latin typeface="Readex Pro"/>
                <a:ea typeface="Readex Pro"/>
                <a:cs typeface="Readex Pro"/>
              </a:rPr>
              <a:t>تقرير ربع سنوي للجنة · 2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لجنة الأمن السيبراني · الربع الثالث 2026 · 30 سبتمبر 2026 · أ. ريم، مسؤولة GRC</a:t>
            </a:r>
          </a:p>
        </p:txBody>
      </p:sp>
      <p:sp>
        <p:nvSpPr>
          <p:cNvPr id="11" name="Text 10"/>
          <p:cNvSpPr txBox="1"/>
          <p:nvPr/>
        </p:nvSpPr>
        <p:spPr>
          <a:xfrm>
            <a:off x="838200" y="23469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3. الملاحظات المتأخرة والمفتوحة</a:t>
            </a:r>
          </a:p>
        </p:txBody>
      </p:sp>
      <p:graphicFrame>
        <p:nvGraphicFramePr>
          <p:cNvPr id="12" name="Table 11"/>
          <p:cNvGraphicFramePr>
            <a:graphicFrameLocks noGrp="1"/>
          </p:cNvGraphicFramePr>
          <p:nvPr/>
        </p:nvGraphicFramePr>
        <p:xfrm>
          <a:off x="1000125" y="2678212"/>
          <a:ext cx="10191750" cy="1112340"/>
        </p:xfrm>
        <a:graphic>
          <a:graphicData uri="http://schemas.openxmlformats.org/drawingml/2006/table">
            <a:tbl>
              <a:tblPr firstRow="0" bandRow="0" lastRow="0" firstCol="0" lastCol="0" bandCol="0">
                <a:tableStyleId>{2D5ABB26-0587-4C30-8999-92F81FD0307C}</a:tableStyleId>
              </a:tblPr>
              <a:tblGrid>
                <a:gridCol w="2038350"/>
                <a:gridCol w="5095875"/>
                <a:gridCol w="3057525"/>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الموعد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الوضع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الملاحظة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3 من 4 إجراءات منجزة. المطابقة الشهرية بدأت في أغسطس.</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F-⁠03 · VPN دون MFA</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a:solidFill>
                            <a:srgbClr val="B4412C"/>
                          </a:solidFill>
                          <a:latin typeface="IBM Plex Sans Arabic"/>
                          <a:ea typeface="IBM Plex Sans Arabic"/>
                          <a:cs typeface="IBM Plex Sans Arabic"/>
                        </a:rPr>
                        <a:t>متأخر 20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جدول المراجعات السنوي لم يُعتمد بعد.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F-⁠04 · مراجعة صلاحيات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3" name="Text 12"/>
          <p:cNvSpPr txBox="1"/>
          <p:nvPr/>
        </p:nvSpPr>
        <p:spPr>
          <a:xfrm>
            <a:off x="838200" y="3831320"/>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4. حالة إجراءات التصحيح</a:t>
            </a:r>
          </a:p>
        </p:txBody>
      </p:sp>
      <p:sp>
        <p:nvSpPr>
          <p:cNvPr id="14" name="Text 13"/>
          <p:cNvSpPr txBox="1"/>
          <p:nvPr/>
        </p:nvSpPr>
        <p:spPr>
          <a:xfrm>
            <a:off x="77477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0E7C6B"/>
                </a:solidFill>
                <a:latin typeface="Readex Pro"/>
                <a:ea typeface="Readex Pro"/>
                <a:cs typeface="Readex Pro"/>
              </a:rPr>
              <a:t>5</a:t>
            </a:r>
          </a:p>
        </p:txBody>
      </p:sp>
      <p:sp>
        <p:nvSpPr>
          <p:cNvPr id="15" name="Text 14"/>
          <p:cNvSpPr txBox="1"/>
          <p:nvPr/>
        </p:nvSpPr>
        <p:spPr>
          <a:xfrm>
            <a:off x="77477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a:solidFill>
                  <a:srgbClr val="4E5A66"/>
                </a:solidFill>
                <a:latin typeface="IBM Plex Sans Arabic"/>
                <a:ea typeface="IBM Plex Sans Arabic"/>
                <a:cs typeface="IBM Plex Sans Arabic"/>
              </a:rPr>
              <a:t>منجزة</a:t>
            </a:r>
          </a:p>
        </p:txBody>
      </p:sp>
      <p:sp>
        <p:nvSpPr>
          <p:cNvPr id="16" name="Text 15"/>
          <p:cNvSpPr txBox="1"/>
          <p:nvPr/>
        </p:nvSpPr>
        <p:spPr>
          <a:xfrm>
            <a:off x="43060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24506B"/>
                </a:solidFill>
                <a:latin typeface="Readex Pro"/>
                <a:ea typeface="Readex Pro"/>
                <a:cs typeface="Readex Pro"/>
              </a:rPr>
              <a:t>2</a:t>
            </a:r>
          </a:p>
        </p:txBody>
      </p:sp>
      <p:sp>
        <p:nvSpPr>
          <p:cNvPr id="17" name="Text 16"/>
          <p:cNvSpPr txBox="1"/>
          <p:nvPr/>
        </p:nvSpPr>
        <p:spPr>
          <a:xfrm>
            <a:off x="43060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a:solidFill>
                  <a:srgbClr val="4E5A66"/>
                </a:solidFill>
                <a:latin typeface="IBM Plex Sans Arabic"/>
                <a:ea typeface="IBM Plex Sans Arabic"/>
                <a:cs typeface="IBM Plex Sans Arabic"/>
              </a:rPr>
              <a:t>جارية في موعدها</a:t>
            </a:r>
          </a:p>
        </p:txBody>
      </p:sp>
      <p:sp>
        <p:nvSpPr>
          <p:cNvPr id="18" name="Text 17"/>
          <p:cNvSpPr txBox="1"/>
          <p:nvPr/>
        </p:nvSpPr>
        <p:spPr>
          <a:xfrm>
            <a:off x="8643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B4412C"/>
                </a:solidFill>
                <a:latin typeface="Readex Pro"/>
                <a:ea typeface="Readex Pro"/>
                <a:cs typeface="Readex Pro"/>
              </a:rPr>
              <a:t>1</a:t>
            </a:r>
          </a:p>
        </p:txBody>
      </p:sp>
      <p:sp>
        <p:nvSpPr>
          <p:cNvPr id="19" name="Text 18"/>
          <p:cNvSpPr txBox="1"/>
          <p:nvPr/>
        </p:nvSpPr>
        <p:spPr>
          <a:xfrm>
            <a:off x="8643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a:solidFill>
                  <a:srgbClr val="4E5A66"/>
                </a:solidFill>
                <a:latin typeface="IBM Plex Sans Arabic"/>
                <a:ea typeface="IBM Plex Sans Arabic"/>
                <a:cs typeface="IBM Plex Sans Arabic"/>
              </a:rPr>
              <a:t>متأخرة</a:t>
            </a:r>
          </a:p>
        </p:txBody>
      </p:sp>
      <p:sp>
        <p:nvSpPr>
          <p:cNvPr id="20" name="Text 19"/>
          <p:cNvSpPr txBox="1"/>
          <p:nvPr/>
        </p:nvSpPr>
        <p:spPr>
          <a:xfrm>
            <a:off x="838200" y="4788781"/>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5. القرارات المطلوبة من اللجنة</a:t>
            </a:r>
          </a:p>
        </p:txBody>
      </p:sp>
      <p:sp>
        <p:nvSpPr>
          <p:cNvPr id="21" name="Text 20"/>
          <p:cNvSpPr txBox="1"/>
          <p:nvPr/>
        </p:nvSpPr>
        <p:spPr>
          <a:xfrm>
            <a:off x="10836910" y="5096462"/>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1</a:t>
            </a:r>
          </a:p>
        </p:txBody>
      </p:sp>
      <p:sp>
        <p:nvSpPr>
          <p:cNvPr id="22" name="Text 21"/>
          <p:cNvSpPr txBox="1"/>
          <p:nvPr/>
        </p:nvSpPr>
        <p:spPr>
          <a:xfrm>
            <a:off x="838200" y="5089350"/>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اعتماد كلفة ترقيع عاجل لخادم التتبع من سَنَد خارج العقد الحالي.</a:t>
            </a:r>
          </a:p>
        </p:txBody>
      </p:sp>
      <p:sp>
        <p:nvSpPr>
          <p:cNvPr id="23" name="Text 22"/>
          <p:cNvSpPr txBox="1"/>
          <p:nvPr/>
        </p:nvSpPr>
        <p:spPr>
          <a:xfrm>
            <a:off x="10836910" y="5383403"/>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2</a:t>
            </a:r>
          </a:p>
        </p:txBody>
      </p:sp>
      <p:sp>
        <p:nvSpPr>
          <p:cNvPr id="24" name="Text 23"/>
          <p:cNvSpPr txBox="1"/>
          <p:nvPr/>
        </p:nvSpPr>
        <p:spPr>
          <a:xfrm>
            <a:off x="838200" y="5376291"/>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تكليف المدير المالي بإضافة مهلة الترقيع وبند الإبلاغ عن الحوادث إلى عقد سَنَد عند تجديده.</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box 3"/>
          <p:cNvSpPr/>
          <p:nvPr/>
        </p:nvSpPr>
        <p:spPr>
          <a:xfrm>
            <a:off x="763200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صنّف المؤشرات وعرّف واحداً</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صنّف كل مؤشر واذكر غرضه، ثم اكتب تعريفاً كاملاً للمؤشر الثاني بالأسئلة الستة. 12 دقيقة.</a:t>
            </a:r>
          </a:p>
        </p:txBody>
      </p:sp>
      <p:graphicFrame>
        <p:nvGraphicFramePr>
          <p:cNvPr id="7" name="Table 6"/>
          <p:cNvGraphicFramePr>
            <a:graphicFrameLocks noGrp="1"/>
          </p:cNvGraphicFramePr>
          <p:nvPr/>
        </p:nvGraphicFramePr>
        <p:xfrm>
          <a:off x="815975" y="2562820"/>
          <a:ext cx="10560050" cy="2635250"/>
        </p:xfrm>
        <a:graphic>
          <a:graphicData uri="http://schemas.openxmlformats.org/drawingml/2006/table">
            <a:tbl>
              <a:tblPr firstRow="0" bandRow="0" lastRow="0" firstCol="0" lastCol="0" bandCol="0">
                <a:tableStyleId>{2D5ABB26-0587-4C30-8999-92F81FD0307C}</a:tableStyleId>
              </a:tblPr>
              <a:tblGrid>
                <a:gridCol w="3590290"/>
                <a:gridCol w="6336030"/>
                <a:gridCol w="63373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نوعه وغرضه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المؤشر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700"/>
                        </a:lnSpc>
                        <a:spcBef>
                          <a:spcPts val="0"/>
                        </a:spcBef>
                        <a:spcAft>
                          <a:spcPts val="0"/>
                        </a:spcAft>
                      </a:pPr>
                      <a:r>
                        <a:rPr sz="2000" b="1" i="0">
                          <a:solidFill>
                            <a:srgbClr val="F3EFE6"/>
                          </a:solidFill>
                          <a:latin typeface="IBM Plex Sans Arabic"/>
                          <a:ea typeface="IBM Plex Sans Arabic"/>
                          <a:cs typeface="IBM Plex Sans Arabic"/>
                        </a:rPr>
                        <a:t>#</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نسبة الطلبات المسلّمة في موعدها.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عدد الحسابات النشطة لموظفين غادروا، في نظام الرواتب.</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نسبة اتصالات VPN التي تمت بعامل ثانٍ.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نسبة الموظفين الجدد الذين أكملوا التوعية في أسبوعهم الأول.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box 3"/>
          <p:cNvSpPr/>
          <p:nvPr/>
        </p:nvSpPr>
        <p:spPr>
          <a:xfrm>
            <a:off x="783907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الأنواع، وتعريف مؤشر الخطر</a:t>
            </a:r>
          </a:p>
        </p:txBody>
      </p:sp>
      <p:graphicFrame>
        <p:nvGraphicFramePr>
          <p:cNvPr id="6" name="Table 5"/>
          <p:cNvGraphicFramePr>
            <a:graphicFrameLocks noGrp="1"/>
          </p:cNvGraphicFramePr>
          <p:nvPr/>
        </p:nvGraphicFramePr>
        <p:xfrm>
          <a:off x="815975" y="1623020"/>
          <a:ext cx="10560050" cy="2093911"/>
        </p:xfrm>
        <a:graphic>
          <a:graphicData uri="http://schemas.openxmlformats.org/drawingml/2006/table">
            <a:tbl>
              <a:tblPr firstRow="0" bandRow="0" lastRow="0" firstCol="0" lastCol="0" bandCol="0">
                <a:tableStyleId>{2D5ABB26-0587-4C30-8999-92F81FD0307C}</a:tableStyleId>
              </a:tblPr>
              <a:tblGrid>
                <a:gridCol w="8236585"/>
                <a:gridCol w="1689735"/>
                <a:gridCol w="633730"/>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لماذا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النوع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1889"/>
                        </a:lnSpc>
                        <a:spcBef>
                          <a:spcPts val="0"/>
                        </a:spcBef>
                        <a:spcAft>
                          <a:spcPts val="0"/>
                        </a:spcAft>
                      </a:pPr>
                      <a:r>
                        <a:rPr sz="1400" b="1" i="0">
                          <a:solidFill>
                            <a:srgbClr val="F3EFE6"/>
                          </a:solidFill>
                          <a:latin typeface="IBM Plex Sans Arabic"/>
                          <a:ea typeface="IBM Plex Sans Arabic"/>
                          <a:cs typeface="IBM Plex Sans Arabic"/>
                        </a:rPr>
                        <a:t>#</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يقيس تحقق هدف عمل: التوصيل في الموعد.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0E7C6B"/>
                          </a:solidFill>
                          <a:latin typeface="IBM Plex Sans Arabic"/>
                          <a:ea typeface="IBM Plex Sans Arabic"/>
                          <a:cs typeface="IBM Plex Sans Arabic"/>
                        </a:rPr>
                        <a:t>KGI</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يقيس تعرضاً للخطر: كل حساب منها باب مفتوح لشخص خارج الشركة.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0E7C6B"/>
                          </a:solidFill>
                          <a:latin typeface="IBM Plex Sans Arabic"/>
                          <a:ea typeface="IBM Plex Sans Arabic"/>
                          <a:cs typeface="IBM Plex Sans Arabic"/>
                        </a:rPr>
                        <a:t>KRI</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يقيس هل يعمل ضابط MFA على كل الاتصالات، كما رأيت في التطبيق 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0E7C6B"/>
                          </a:solidFill>
                          <a:latin typeface="IBM Plex Sans Arabic"/>
                          <a:ea typeface="IBM Plex Sans Arabic"/>
                          <a:cs typeface="IBM Plex Sans Arabic"/>
                        </a:rPr>
                        <a:t>KCI</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يعتمد على الغرض: إن كان لمتابعة عملية التهيئة فهو KPI، وإن كان لإثبات أن ضابط التوعية يعمل فهو KCI. اكتب الغرض في تعريفه.</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0E7C6B"/>
                          </a:solidFill>
                          <a:latin typeface="IBM Plex Sans Arabic"/>
                          <a:ea typeface="IBM Plex Sans Arabic"/>
                          <a:cs typeface="IBM Plex Sans Arabic"/>
                        </a:rPr>
                        <a:t>KPI أو KCI</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3844949"/>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B4412C"/>
                </a:solidFill>
                <a:latin typeface="IBM Plex Sans Arabic"/>
                <a:ea typeface="IBM Plex Sans Arabic"/>
                <a:cs typeface="IBM Plex Sans Arabic"/>
              </a:rPr>
              <a:t>تعريف المؤشر الثاني (KRI):</a:t>
            </a:r>
          </a:p>
        </p:txBody>
      </p:sp>
      <p:sp>
        <p:nvSpPr>
          <p:cNvPr id="8" name="Text box 7"/>
          <p:cNvSpPr/>
          <p:nvPr/>
        </p:nvSpPr>
        <p:spPr>
          <a:xfrm>
            <a:off x="9671050" y="4172148"/>
            <a:ext cx="1708150" cy="1364853"/>
          </a:xfrm>
          <a:prstGeom prst="rect">
            <a:avLst/>
          </a:prstGeom>
          <a:noFill/>
          <a:ln>
            <a:noFill/>
          </a:ln>
        </p:spPr>
        <p:txBody>
          <a:bodyPr rtlCol="0" anchor="t" wrap="square" tIns="42291" rIns="63500" bIns="78359" lIns="1606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ماذا يقيس؟: من غادر وما زال حسابه نشطاً في نظام الرواتب.</a:t>
            </a:r>
          </a:p>
        </p:txBody>
      </p:sp>
      <p:sp>
        <p:nvSpPr>
          <p:cNvPr id="9" name="Rule 8"/>
          <p:cNvSpPr/>
          <p:nvPr/>
        </p:nvSpPr>
        <p:spPr>
          <a:xfrm>
            <a:off x="9671050" y="4172148"/>
            <a:ext cx="1708150" cy="19050"/>
          </a:xfrm>
          <a:prstGeom prst="rect">
            <a:avLst/>
          </a:prstGeom>
          <a:solidFill>
            <a:srgbClr val="B4412C"/>
          </a:solidFill>
          <a:ln>
            <a:noFill/>
          </a:ln>
        </p:spPr>
        <p:txBody>
          <a:bodyPr rtlCol="0" anchor="ctr"/>
          <a:lstStyle/>
          <a:p>
            <a:pPr algn="ctr"/>
          </a:p>
        </p:txBody>
      </p:sp>
      <p:sp>
        <p:nvSpPr>
          <p:cNvPr id="10" name="Text box 9"/>
          <p:cNvSpPr/>
          <p:nvPr/>
        </p:nvSpPr>
        <p:spPr>
          <a:xfrm>
            <a:off x="7899400" y="4172148"/>
            <a:ext cx="1708150" cy="1364853"/>
          </a:xfrm>
          <a:prstGeom prst="rect">
            <a:avLst/>
          </a:prstGeom>
          <a:noFill/>
          <a:ln>
            <a:noFill/>
          </a:ln>
        </p:spPr>
        <p:txBody>
          <a:bodyPr rtlCol="0" anchor="t" wrap="square" tIns="42291" rIns="63500" bIns="78359" lIns="1606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طريقة الحساب: عدد الحسابات النشطة لأصحابها في قائمة المغادرين.</a:t>
            </a:r>
          </a:p>
        </p:txBody>
      </p:sp>
      <p:sp>
        <p:nvSpPr>
          <p:cNvPr id="11" name="Rule 10"/>
          <p:cNvSpPr/>
          <p:nvPr/>
        </p:nvSpPr>
        <p:spPr>
          <a:xfrm>
            <a:off x="7899400" y="4172148"/>
            <a:ext cx="1708150" cy="19050"/>
          </a:xfrm>
          <a:prstGeom prst="rect">
            <a:avLst/>
          </a:prstGeom>
          <a:solidFill>
            <a:srgbClr val="B4412C"/>
          </a:solidFill>
          <a:ln>
            <a:noFill/>
          </a:ln>
        </p:spPr>
        <p:txBody>
          <a:bodyPr rtlCol="0" anchor="ctr"/>
          <a:lstStyle/>
          <a:p>
            <a:pPr algn="ctr"/>
          </a:p>
        </p:txBody>
      </p:sp>
      <p:sp>
        <p:nvSpPr>
          <p:cNvPr id="12" name="Text box 11"/>
          <p:cNvSpPr/>
          <p:nvPr/>
        </p:nvSpPr>
        <p:spPr>
          <a:xfrm>
            <a:off x="6127750" y="4172148"/>
            <a:ext cx="1708150" cy="1364853"/>
          </a:xfrm>
          <a:prstGeom prst="rect">
            <a:avLst/>
          </a:prstGeom>
          <a:noFill/>
          <a:ln>
            <a:noFill/>
          </a:ln>
        </p:spPr>
        <p:txBody>
          <a:bodyPr rtlCol="0" anchor="t" wrap="square" tIns="42291" rIns="63500" bIns="78359" lIns="1606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المصدر: قائمة المغادرين من الموارد البشرية، وتصدير الحسابات النشطة.</a:t>
            </a:r>
          </a:p>
        </p:txBody>
      </p:sp>
      <p:sp>
        <p:nvSpPr>
          <p:cNvPr id="13" name="Rule 12"/>
          <p:cNvSpPr/>
          <p:nvPr/>
        </p:nvSpPr>
        <p:spPr>
          <a:xfrm>
            <a:off x="6127750" y="4172148"/>
            <a:ext cx="1708150" cy="19050"/>
          </a:xfrm>
          <a:prstGeom prst="rect">
            <a:avLst/>
          </a:prstGeom>
          <a:solidFill>
            <a:srgbClr val="B4412C"/>
          </a:solidFill>
          <a:ln>
            <a:noFill/>
          </a:ln>
        </p:spPr>
        <p:txBody>
          <a:bodyPr rtlCol="0" anchor="ctr"/>
          <a:lstStyle/>
          <a:p>
            <a:pPr algn="ctr"/>
          </a:p>
        </p:txBody>
      </p:sp>
      <p:sp>
        <p:nvSpPr>
          <p:cNvPr id="14" name="Text box 13"/>
          <p:cNvSpPr/>
          <p:nvPr/>
        </p:nvSpPr>
        <p:spPr>
          <a:xfrm>
            <a:off x="4356100" y="4172148"/>
            <a:ext cx="1708150" cy="1364853"/>
          </a:xfrm>
          <a:prstGeom prst="rect">
            <a:avLst/>
          </a:prstGeom>
          <a:noFill/>
          <a:ln>
            <a:noFill/>
          </a:ln>
        </p:spPr>
        <p:txBody>
          <a:bodyPr rtlCol="0" anchor="t" wrap="square" tIns="42291" rIns="63500" bIns="78359" lIns="1606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المالك: أ. منى، وتقنية المعلومات تعطّل.</a:t>
            </a:r>
          </a:p>
        </p:txBody>
      </p:sp>
      <p:sp>
        <p:nvSpPr>
          <p:cNvPr id="15" name="Rule 14"/>
          <p:cNvSpPr/>
          <p:nvPr/>
        </p:nvSpPr>
        <p:spPr>
          <a:xfrm>
            <a:off x="4356100" y="4172148"/>
            <a:ext cx="1708150" cy="19050"/>
          </a:xfrm>
          <a:prstGeom prst="rect">
            <a:avLst/>
          </a:prstGeom>
          <a:solidFill>
            <a:srgbClr val="B4412C"/>
          </a:solidFill>
          <a:ln>
            <a:noFill/>
          </a:ln>
        </p:spPr>
        <p:txBody>
          <a:bodyPr rtlCol="0" anchor="ctr"/>
          <a:lstStyle/>
          <a:p>
            <a:pPr algn="ctr"/>
          </a:p>
        </p:txBody>
      </p:sp>
      <p:sp>
        <p:nvSpPr>
          <p:cNvPr id="16" name="Text box 15"/>
          <p:cNvSpPr/>
          <p:nvPr/>
        </p:nvSpPr>
        <p:spPr>
          <a:xfrm>
            <a:off x="2584450" y="4172148"/>
            <a:ext cx="1708150" cy="1364853"/>
          </a:xfrm>
          <a:prstGeom prst="rect">
            <a:avLst/>
          </a:prstGeom>
          <a:noFill/>
          <a:ln>
            <a:noFill/>
          </a:ln>
        </p:spPr>
        <p:txBody>
          <a:bodyPr rtlCol="0" anchor="t" wrap="square" tIns="42291" rIns="63500" bIns="78359" lIns="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الدورية: شهري</a:t>
            </a:r>
          </a:p>
        </p:txBody>
      </p:sp>
      <p:sp>
        <p:nvSpPr>
          <p:cNvPr id="17" name="Rule 16"/>
          <p:cNvSpPr/>
          <p:nvPr/>
        </p:nvSpPr>
        <p:spPr>
          <a:xfrm>
            <a:off x="2584450" y="4172148"/>
            <a:ext cx="1708150" cy="19050"/>
          </a:xfrm>
          <a:prstGeom prst="rect">
            <a:avLst/>
          </a:prstGeom>
          <a:solidFill>
            <a:srgbClr val="B4412C"/>
          </a:solidFill>
          <a:ln>
            <a:noFill/>
          </a:ln>
        </p:spPr>
        <p:txBody>
          <a:bodyPr rtlCol="0" anchor="ctr"/>
          <a:lstStyle/>
          <a:p>
            <a:pPr algn="ctr"/>
          </a:p>
        </p:txBody>
      </p:sp>
      <p:sp>
        <p:nvSpPr>
          <p:cNvPr id="18" name="Text box 17"/>
          <p:cNvSpPr/>
          <p:nvPr/>
        </p:nvSpPr>
        <p:spPr>
          <a:xfrm>
            <a:off x="812800" y="4172148"/>
            <a:ext cx="1708150" cy="1364853"/>
          </a:xfrm>
          <a:prstGeom prst="rect">
            <a:avLst/>
          </a:prstGeom>
          <a:noFill/>
          <a:ln>
            <a:noFill/>
          </a:ln>
        </p:spPr>
        <p:txBody>
          <a:bodyPr rtlCol="0" anchor="ctr" wrap="square" tIns="42291" rIns="63500" bIns="78359" lIns="16066"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ما يستدعي إجراءً: أي رقم أكبر من صفر: تعطيل خلال يوم عمل، وإبلاغ مالك ضابط المغادرين.</a:t>
            </a:r>
          </a:p>
        </p:txBody>
      </p:sp>
      <p:sp>
        <p:nvSpPr>
          <p:cNvPr id="19" name="Rule 18"/>
          <p:cNvSpPr/>
          <p:nvPr/>
        </p:nvSpPr>
        <p:spPr>
          <a:xfrm>
            <a:off x="812800" y="4172148"/>
            <a:ext cx="1708150" cy="19050"/>
          </a:xfrm>
          <a:prstGeom prst="rect">
            <a:avLst/>
          </a:prstGeom>
          <a:solidFill>
            <a:srgbClr val="B4412C"/>
          </a:solidFill>
          <a:ln>
            <a:noFill/>
          </a:ln>
        </p:spPr>
        <p:txBody>
          <a:bodyPr rtlCol="0" anchor="ctr"/>
          <a:lstStyle/>
          <a:p>
            <a:pPr algn="ct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62467" y="609600"/>
            <a:ext cx="21167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المتابعة والتقارير</a:t>
            </a:r>
          </a:p>
        </p:txBody>
      </p:sp>
      <p:sp>
        <p:nvSpPr>
          <p:cNvPr id="4" name="Text box 3"/>
          <p:cNvSpPr/>
          <p:nvPr/>
        </p:nvSpPr>
        <p:spPr>
          <a:xfrm>
            <a:off x="81605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أداة GRC: كيف ترتبط المتطلبات والضوابط والأدلة والمخاطر</a:t>
            </a:r>
          </a:p>
        </p:txBody>
      </p:sp>
      <p:sp>
        <p:nvSpPr>
          <p:cNvPr id="6" name="Box 5"/>
          <p:cNvSpPr/>
          <p:nvPr/>
        </p:nvSpPr>
        <p:spPr>
          <a:xfrm>
            <a:off x="815975" y="1673820"/>
            <a:ext cx="10560050" cy="2654995"/>
          </a:xfrm>
          <a:prstGeom prst="roundRect">
            <a:avLst>
              <a:gd name="adj" fmla="val 1908"/>
            </a:avLst>
          </a:prstGeom>
          <a:solidFill>
            <a:srgbClr val="FFFFFF"/>
          </a:solidFill>
          <a:ln w="6350">
            <a:solidFill>
              <a:srgbClr val="C9D0D6"/>
            </a:solidFill>
          </a:ln>
        </p:spPr>
        <p:txBody>
          <a:bodyPr rtlCol="0" anchor="ctr"/>
          <a:lstStyle/>
          <a:p>
            <a:pPr algn="ctr"/>
          </a:p>
        </p:txBody>
      </p:sp>
      <p:sp>
        <p:nvSpPr>
          <p:cNvPr id="7" name="Box 6"/>
          <p:cNvSpPr/>
          <p:nvPr/>
        </p:nvSpPr>
        <p:spPr>
          <a:xfrm>
            <a:off x="819150" y="16769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20020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9345652" y="1724493"/>
            <a:ext cx="192559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GRC · رُفاد · ورقة الربط</a:t>
            </a:r>
          </a:p>
        </p:txBody>
      </p:sp>
      <p:sp>
        <p:nvSpPr>
          <p:cNvPr id="10" name="Text 9"/>
          <p:cNvSpPr txBox="1"/>
          <p:nvPr/>
        </p:nvSpPr>
        <p:spPr>
          <a:xfrm>
            <a:off x="844550" y="17244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Rule 10"/>
          <p:cNvSpPr/>
          <p:nvPr/>
        </p:nvSpPr>
        <p:spPr>
          <a:xfrm>
            <a:off x="819150" y="2349996"/>
            <a:ext cx="10553700" cy="6350"/>
          </a:xfrm>
          <a:prstGeom prst="rect">
            <a:avLst/>
          </a:prstGeom>
          <a:solidFill>
            <a:srgbClr val="D3D9DF"/>
          </a:solidFill>
          <a:ln>
            <a:noFill/>
          </a:ln>
        </p:spPr>
        <p:txBody>
          <a:bodyPr rtlCol="0" anchor="ctr"/>
          <a:lstStyle/>
          <a:p>
            <a:pPr algn="ctr"/>
          </a:p>
        </p:txBody>
      </p:sp>
      <p:sp>
        <p:nvSpPr>
          <p:cNvPr id="12" name="Box 11"/>
          <p:cNvSpPr/>
          <p:nvPr/>
        </p:nvSpPr>
        <p:spPr>
          <a:xfrm>
            <a:off x="9975850" y="2008386"/>
            <a:ext cx="1397000" cy="341610"/>
          </a:xfrm>
          <a:prstGeom prst="rect">
            <a:avLst/>
          </a:prstGeom>
          <a:solidFill>
            <a:srgbClr val="F7F8FA"/>
          </a:solidFill>
          <a:ln>
            <a:noFill/>
          </a:ln>
        </p:spPr>
        <p:txBody>
          <a:bodyPr rtlCol="0" anchor="ctr"/>
          <a:lstStyle/>
          <a:p>
            <a:pPr algn="ctr"/>
          </a:p>
        </p:txBody>
      </p:sp>
      <p:sp>
        <p:nvSpPr>
          <p:cNvPr id="13" name="Rule 12"/>
          <p:cNvSpPr/>
          <p:nvPr/>
        </p:nvSpPr>
        <p:spPr>
          <a:xfrm>
            <a:off x="9975850" y="2008386"/>
            <a:ext cx="6350" cy="341610"/>
          </a:xfrm>
          <a:prstGeom prst="rect">
            <a:avLst/>
          </a:prstGeom>
          <a:solidFill>
            <a:srgbClr val="D3D9DF"/>
          </a:solidFill>
          <a:ln>
            <a:noFill/>
          </a:ln>
        </p:spPr>
        <p:txBody>
          <a:bodyPr rtlCol="0" anchor="ctr"/>
          <a:lstStyle/>
          <a:p>
            <a:pPr algn="ctr"/>
          </a:p>
        </p:txBody>
      </p:sp>
      <p:sp>
        <p:nvSpPr>
          <p:cNvPr id="14" name="Text 13"/>
          <p:cNvSpPr txBox="1"/>
          <p:nvPr/>
        </p:nvSpPr>
        <p:spPr>
          <a:xfrm>
            <a:off x="10001250" y="2036072"/>
            <a:ext cx="1295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المتطلب</a:t>
            </a:r>
          </a:p>
        </p:txBody>
      </p:sp>
      <p:sp>
        <p:nvSpPr>
          <p:cNvPr id="15" name="Box 14"/>
          <p:cNvSpPr/>
          <p:nvPr/>
        </p:nvSpPr>
        <p:spPr>
          <a:xfrm>
            <a:off x="7880350" y="2008386"/>
            <a:ext cx="2095500" cy="341610"/>
          </a:xfrm>
          <a:prstGeom prst="rect">
            <a:avLst/>
          </a:prstGeom>
          <a:solidFill>
            <a:srgbClr val="F7F8FA"/>
          </a:solidFill>
          <a:ln>
            <a:noFill/>
          </a:ln>
        </p:spPr>
        <p:txBody>
          <a:bodyPr rtlCol="0" anchor="ctr"/>
          <a:lstStyle/>
          <a:p>
            <a:pPr algn="ctr"/>
          </a:p>
        </p:txBody>
      </p:sp>
      <p:sp>
        <p:nvSpPr>
          <p:cNvPr id="16" name="Rule 15"/>
          <p:cNvSpPr/>
          <p:nvPr/>
        </p:nvSpPr>
        <p:spPr>
          <a:xfrm>
            <a:off x="7880350" y="2008386"/>
            <a:ext cx="6350" cy="341610"/>
          </a:xfrm>
          <a:prstGeom prst="rect">
            <a:avLst/>
          </a:prstGeom>
          <a:solidFill>
            <a:srgbClr val="D3D9DF"/>
          </a:solidFill>
          <a:ln>
            <a:noFill/>
          </a:ln>
        </p:spPr>
        <p:txBody>
          <a:bodyPr rtlCol="0" anchor="ctr"/>
          <a:lstStyle/>
          <a:p>
            <a:pPr algn="ctr"/>
          </a:p>
        </p:txBody>
      </p:sp>
      <p:sp>
        <p:nvSpPr>
          <p:cNvPr id="17" name="Text 16"/>
          <p:cNvSpPr txBox="1"/>
          <p:nvPr/>
        </p:nvSpPr>
        <p:spPr>
          <a:xfrm>
            <a:off x="7905750" y="2036072"/>
            <a:ext cx="1993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الضابط</a:t>
            </a:r>
          </a:p>
        </p:txBody>
      </p:sp>
      <p:sp>
        <p:nvSpPr>
          <p:cNvPr id="18" name="Box 17"/>
          <p:cNvSpPr/>
          <p:nvPr/>
        </p:nvSpPr>
        <p:spPr>
          <a:xfrm>
            <a:off x="5657850" y="2008386"/>
            <a:ext cx="2222500" cy="341610"/>
          </a:xfrm>
          <a:prstGeom prst="rect">
            <a:avLst/>
          </a:prstGeom>
          <a:solidFill>
            <a:srgbClr val="F7F8FA"/>
          </a:solidFill>
          <a:ln>
            <a:noFill/>
          </a:ln>
        </p:spPr>
        <p:txBody>
          <a:bodyPr rtlCol="0" anchor="ctr"/>
          <a:lstStyle/>
          <a:p>
            <a:pPr algn="ctr"/>
          </a:p>
        </p:txBody>
      </p:sp>
      <p:sp>
        <p:nvSpPr>
          <p:cNvPr id="19" name="Rule 18"/>
          <p:cNvSpPr/>
          <p:nvPr/>
        </p:nvSpPr>
        <p:spPr>
          <a:xfrm>
            <a:off x="5657850" y="2008386"/>
            <a:ext cx="6350" cy="341610"/>
          </a:xfrm>
          <a:prstGeom prst="rect">
            <a:avLst/>
          </a:prstGeom>
          <a:solidFill>
            <a:srgbClr val="D3D9DF"/>
          </a:solidFill>
          <a:ln>
            <a:noFill/>
          </a:ln>
        </p:spPr>
        <p:txBody>
          <a:bodyPr rtlCol="0" anchor="ctr"/>
          <a:lstStyle/>
          <a:p>
            <a:pPr algn="ctr"/>
          </a:p>
        </p:txBody>
      </p:sp>
      <p:sp>
        <p:nvSpPr>
          <p:cNvPr id="20" name="Text 19"/>
          <p:cNvSpPr txBox="1"/>
          <p:nvPr/>
        </p:nvSpPr>
        <p:spPr>
          <a:xfrm>
            <a:off x="5683250" y="2036072"/>
            <a:ext cx="2120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الدليل</a:t>
            </a:r>
          </a:p>
        </p:txBody>
      </p:sp>
      <p:sp>
        <p:nvSpPr>
          <p:cNvPr id="21" name="Box 20"/>
          <p:cNvSpPr/>
          <p:nvPr/>
        </p:nvSpPr>
        <p:spPr>
          <a:xfrm>
            <a:off x="3625850" y="2008386"/>
            <a:ext cx="2032000" cy="341610"/>
          </a:xfrm>
          <a:prstGeom prst="rect">
            <a:avLst/>
          </a:prstGeom>
          <a:solidFill>
            <a:srgbClr val="F7F8FA"/>
          </a:solidFill>
          <a:ln>
            <a:noFill/>
          </a:ln>
        </p:spPr>
        <p:txBody>
          <a:bodyPr rtlCol="0" anchor="ctr"/>
          <a:lstStyle/>
          <a:p>
            <a:pPr algn="ctr"/>
          </a:p>
        </p:txBody>
      </p:sp>
      <p:sp>
        <p:nvSpPr>
          <p:cNvPr id="22" name="Rule 21"/>
          <p:cNvSpPr/>
          <p:nvPr/>
        </p:nvSpPr>
        <p:spPr>
          <a:xfrm>
            <a:off x="3625850" y="2008386"/>
            <a:ext cx="6350" cy="341610"/>
          </a:xfrm>
          <a:prstGeom prst="rect">
            <a:avLst/>
          </a:prstGeom>
          <a:solidFill>
            <a:srgbClr val="D3D9DF"/>
          </a:solidFill>
          <a:ln>
            <a:noFill/>
          </a:ln>
        </p:spPr>
        <p:txBody>
          <a:bodyPr rtlCol="0" anchor="ctr"/>
          <a:lstStyle/>
          <a:p>
            <a:pPr algn="ctr"/>
          </a:p>
        </p:txBody>
      </p:sp>
      <p:sp>
        <p:nvSpPr>
          <p:cNvPr id="23" name="Text 22"/>
          <p:cNvSpPr txBox="1"/>
          <p:nvPr/>
        </p:nvSpPr>
        <p:spPr>
          <a:xfrm>
            <a:off x="3651250" y="2036072"/>
            <a:ext cx="1930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الخطر</a:t>
            </a:r>
          </a:p>
        </p:txBody>
      </p:sp>
      <p:sp>
        <p:nvSpPr>
          <p:cNvPr id="24" name="Box 23"/>
          <p:cNvSpPr/>
          <p:nvPr/>
        </p:nvSpPr>
        <p:spPr>
          <a:xfrm>
            <a:off x="2609850" y="2008386"/>
            <a:ext cx="1016000" cy="341610"/>
          </a:xfrm>
          <a:prstGeom prst="rect">
            <a:avLst/>
          </a:prstGeom>
          <a:solidFill>
            <a:srgbClr val="F7F8FA"/>
          </a:solidFill>
          <a:ln>
            <a:noFill/>
          </a:ln>
        </p:spPr>
        <p:txBody>
          <a:bodyPr rtlCol="0" anchor="ctr"/>
          <a:lstStyle/>
          <a:p>
            <a:pPr algn="ctr"/>
          </a:p>
        </p:txBody>
      </p:sp>
      <p:sp>
        <p:nvSpPr>
          <p:cNvPr id="25" name="Rule 24"/>
          <p:cNvSpPr/>
          <p:nvPr/>
        </p:nvSpPr>
        <p:spPr>
          <a:xfrm>
            <a:off x="2609850" y="2008386"/>
            <a:ext cx="6350" cy="341610"/>
          </a:xfrm>
          <a:prstGeom prst="rect">
            <a:avLst/>
          </a:prstGeom>
          <a:solidFill>
            <a:srgbClr val="D3D9DF"/>
          </a:solidFill>
          <a:ln>
            <a:noFill/>
          </a:ln>
        </p:spPr>
        <p:txBody>
          <a:bodyPr rtlCol="0" anchor="ctr"/>
          <a:lstStyle/>
          <a:p>
            <a:pPr algn="ctr"/>
          </a:p>
        </p:txBody>
      </p:sp>
      <p:sp>
        <p:nvSpPr>
          <p:cNvPr id="26" name="Text 25"/>
          <p:cNvSpPr txBox="1"/>
          <p:nvPr/>
        </p:nvSpPr>
        <p:spPr>
          <a:xfrm>
            <a:off x="2635250" y="2036072"/>
            <a:ext cx="914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الملاحظة</a:t>
            </a:r>
          </a:p>
        </p:txBody>
      </p:sp>
      <p:sp>
        <p:nvSpPr>
          <p:cNvPr id="27" name="Box 26"/>
          <p:cNvSpPr/>
          <p:nvPr/>
        </p:nvSpPr>
        <p:spPr>
          <a:xfrm>
            <a:off x="819150" y="2008386"/>
            <a:ext cx="1790700" cy="341610"/>
          </a:xfrm>
          <a:prstGeom prst="rect">
            <a:avLst/>
          </a:prstGeom>
          <a:solidFill>
            <a:srgbClr val="F7F8FA"/>
          </a:solidFill>
          <a:ln>
            <a:noFill/>
          </a:ln>
        </p:spPr>
        <p:txBody>
          <a:bodyPr rtlCol="0" anchor="ctr"/>
          <a:lstStyle/>
          <a:p>
            <a:pPr algn="ctr"/>
          </a:p>
        </p:txBody>
      </p:sp>
      <p:sp>
        <p:nvSpPr>
          <p:cNvPr id="28" name="Rule 27"/>
          <p:cNvSpPr/>
          <p:nvPr/>
        </p:nvSpPr>
        <p:spPr>
          <a:xfrm>
            <a:off x="819150" y="2008386"/>
            <a:ext cx="6350" cy="341610"/>
          </a:xfrm>
          <a:prstGeom prst="rect">
            <a:avLst/>
          </a:prstGeom>
          <a:solidFill>
            <a:srgbClr val="D3D9DF"/>
          </a:solidFill>
          <a:ln>
            <a:noFill/>
          </a:ln>
        </p:spPr>
        <p:txBody>
          <a:bodyPr rtlCol="0" anchor="ctr"/>
          <a:lstStyle/>
          <a:p>
            <a:pPr algn="ctr"/>
          </a:p>
        </p:txBody>
      </p:sp>
      <p:sp>
        <p:nvSpPr>
          <p:cNvPr id="29" name="Text 28"/>
          <p:cNvSpPr txBox="1"/>
          <p:nvPr/>
        </p:nvSpPr>
        <p:spPr>
          <a:xfrm>
            <a:off x="844550" y="2036072"/>
            <a:ext cx="16891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الإجراء</a:t>
            </a:r>
          </a:p>
        </p:txBody>
      </p:sp>
      <p:sp>
        <p:nvSpPr>
          <p:cNvPr id="30" name="Rule 29"/>
          <p:cNvSpPr/>
          <p:nvPr/>
        </p:nvSpPr>
        <p:spPr>
          <a:xfrm>
            <a:off x="819150" y="3006427"/>
            <a:ext cx="10553700" cy="6350"/>
          </a:xfrm>
          <a:prstGeom prst="rect">
            <a:avLst/>
          </a:prstGeom>
          <a:solidFill>
            <a:srgbClr val="D3D9DF"/>
          </a:solidFill>
          <a:ln>
            <a:noFill/>
          </a:ln>
        </p:spPr>
        <p:txBody>
          <a:bodyPr rtlCol="0" anchor="ctr"/>
          <a:lstStyle/>
          <a:p>
            <a:pPr algn="ctr"/>
          </a:p>
        </p:txBody>
      </p:sp>
      <p:sp>
        <p:nvSpPr>
          <p:cNvPr id="31" name="Box 30"/>
          <p:cNvSpPr/>
          <p:nvPr/>
        </p:nvSpPr>
        <p:spPr>
          <a:xfrm>
            <a:off x="9975850" y="2356346"/>
            <a:ext cx="1397000" cy="650081"/>
          </a:xfrm>
          <a:prstGeom prst="rect">
            <a:avLst/>
          </a:prstGeom>
          <a:solidFill>
            <a:srgbClr val="FFFFFF"/>
          </a:solidFill>
          <a:ln>
            <a:noFill/>
          </a:ln>
        </p:spPr>
        <p:txBody>
          <a:bodyPr rtlCol="0" anchor="ctr"/>
          <a:lstStyle/>
          <a:p>
            <a:pPr algn="ctr"/>
          </a:p>
        </p:txBody>
      </p:sp>
      <p:sp>
        <p:nvSpPr>
          <p:cNvPr id="32" name="Rule 31"/>
          <p:cNvSpPr/>
          <p:nvPr/>
        </p:nvSpPr>
        <p:spPr>
          <a:xfrm>
            <a:off x="9975850" y="2356346"/>
            <a:ext cx="6350" cy="650081"/>
          </a:xfrm>
          <a:prstGeom prst="rect">
            <a:avLst/>
          </a:prstGeom>
          <a:solidFill>
            <a:srgbClr val="D3D9DF"/>
          </a:solidFill>
          <a:ln>
            <a:noFill/>
          </a:ln>
        </p:spPr>
        <p:txBody>
          <a:bodyPr rtlCol="0" anchor="ctr"/>
          <a:lstStyle/>
          <a:p>
            <a:pPr algn="ctr"/>
          </a:p>
        </p:txBody>
      </p:sp>
      <p:sp>
        <p:nvSpPr>
          <p:cNvPr id="33" name="Text 32"/>
          <p:cNvSpPr txBox="1"/>
          <p:nvPr/>
        </p:nvSpPr>
        <p:spPr>
          <a:xfrm>
            <a:off x="10001250" y="2380730"/>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2-2-3-5</a:t>
            </a:r>
          </a:p>
        </p:txBody>
      </p:sp>
      <p:sp>
        <p:nvSpPr>
          <p:cNvPr id="34" name="Box 33"/>
          <p:cNvSpPr/>
          <p:nvPr/>
        </p:nvSpPr>
        <p:spPr>
          <a:xfrm>
            <a:off x="7880350" y="2356346"/>
            <a:ext cx="2095500" cy="650081"/>
          </a:xfrm>
          <a:prstGeom prst="rect">
            <a:avLst/>
          </a:prstGeom>
          <a:solidFill>
            <a:srgbClr val="FFFFFF"/>
          </a:solidFill>
          <a:ln>
            <a:noFill/>
          </a:ln>
        </p:spPr>
        <p:txBody>
          <a:bodyPr rtlCol="0" anchor="ctr"/>
          <a:lstStyle/>
          <a:p>
            <a:pPr algn="ctr"/>
          </a:p>
        </p:txBody>
      </p:sp>
      <p:sp>
        <p:nvSpPr>
          <p:cNvPr id="35" name="Rule 34"/>
          <p:cNvSpPr/>
          <p:nvPr/>
        </p:nvSpPr>
        <p:spPr>
          <a:xfrm>
            <a:off x="7880350" y="2356346"/>
            <a:ext cx="6350" cy="650081"/>
          </a:xfrm>
          <a:prstGeom prst="rect">
            <a:avLst/>
          </a:prstGeom>
          <a:solidFill>
            <a:srgbClr val="D3D9DF"/>
          </a:solidFill>
          <a:ln>
            <a:noFill/>
          </a:ln>
        </p:spPr>
        <p:txBody>
          <a:bodyPr rtlCol="0" anchor="ctr"/>
          <a:lstStyle/>
          <a:p>
            <a:pPr algn="ctr"/>
          </a:p>
        </p:txBody>
      </p:sp>
      <p:sp>
        <p:nvSpPr>
          <p:cNvPr id="36" name="Text 35"/>
          <p:cNvSpPr txBox="1"/>
          <p:nvPr/>
        </p:nvSpPr>
        <p:spPr>
          <a:xfrm>
            <a:off x="7905750" y="2380730"/>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CTL-⁠AC-⁠03 مراجعة الرواتب الفصلية</a:t>
            </a:r>
          </a:p>
        </p:txBody>
      </p:sp>
      <p:sp>
        <p:nvSpPr>
          <p:cNvPr id="37" name="Box 36"/>
          <p:cNvSpPr/>
          <p:nvPr/>
        </p:nvSpPr>
        <p:spPr>
          <a:xfrm>
            <a:off x="5657850" y="2356346"/>
            <a:ext cx="2222500" cy="650081"/>
          </a:xfrm>
          <a:prstGeom prst="rect">
            <a:avLst/>
          </a:prstGeom>
          <a:solidFill>
            <a:srgbClr val="FFFFFF"/>
          </a:solidFill>
          <a:ln>
            <a:noFill/>
          </a:ln>
        </p:spPr>
        <p:txBody>
          <a:bodyPr rtlCol="0" anchor="ctr"/>
          <a:lstStyle/>
          <a:p>
            <a:pPr algn="ctr"/>
          </a:p>
        </p:txBody>
      </p:sp>
      <p:sp>
        <p:nvSpPr>
          <p:cNvPr id="38" name="Rule 37"/>
          <p:cNvSpPr/>
          <p:nvPr/>
        </p:nvSpPr>
        <p:spPr>
          <a:xfrm>
            <a:off x="5657850" y="2356346"/>
            <a:ext cx="6350" cy="650081"/>
          </a:xfrm>
          <a:prstGeom prst="rect">
            <a:avLst/>
          </a:prstGeom>
          <a:solidFill>
            <a:srgbClr val="D3D9DF"/>
          </a:solidFill>
          <a:ln>
            <a:noFill/>
          </a:ln>
        </p:spPr>
        <p:txBody>
          <a:bodyPr rtlCol="0" anchor="ctr"/>
          <a:lstStyle/>
          <a:p>
            <a:pPr algn="ctr"/>
          </a:p>
        </p:txBody>
      </p:sp>
      <p:sp>
        <p:nvSpPr>
          <p:cNvPr id="39" name="Text 38"/>
          <p:cNvSpPr txBox="1"/>
          <p:nvPr/>
        </p:nvSpPr>
        <p:spPr>
          <a:xfrm>
            <a:off x="5683250" y="2380730"/>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EV-⁠21 ملف المراجعة · EV-⁠22 التذاكر</a:t>
            </a:r>
          </a:p>
        </p:txBody>
      </p:sp>
      <p:sp>
        <p:nvSpPr>
          <p:cNvPr id="40" name="Box 39"/>
          <p:cNvSpPr/>
          <p:nvPr/>
        </p:nvSpPr>
        <p:spPr>
          <a:xfrm>
            <a:off x="3625850" y="2356346"/>
            <a:ext cx="2032000" cy="650081"/>
          </a:xfrm>
          <a:prstGeom prst="rect">
            <a:avLst/>
          </a:prstGeom>
          <a:solidFill>
            <a:srgbClr val="FFFFFF"/>
          </a:solidFill>
          <a:ln>
            <a:noFill/>
          </a:ln>
        </p:spPr>
        <p:txBody>
          <a:bodyPr rtlCol="0" anchor="ctr"/>
          <a:lstStyle/>
          <a:p>
            <a:pPr algn="ctr"/>
          </a:p>
        </p:txBody>
      </p:sp>
      <p:sp>
        <p:nvSpPr>
          <p:cNvPr id="41" name="Rule 40"/>
          <p:cNvSpPr/>
          <p:nvPr/>
        </p:nvSpPr>
        <p:spPr>
          <a:xfrm>
            <a:off x="3625850" y="2356346"/>
            <a:ext cx="6350" cy="650081"/>
          </a:xfrm>
          <a:prstGeom prst="rect">
            <a:avLst/>
          </a:prstGeom>
          <a:solidFill>
            <a:srgbClr val="D3D9DF"/>
          </a:solidFill>
          <a:ln>
            <a:noFill/>
          </a:ln>
        </p:spPr>
        <p:txBody>
          <a:bodyPr rtlCol="0" anchor="ctr"/>
          <a:lstStyle/>
          <a:p>
            <a:pPr algn="ctr"/>
          </a:p>
        </p:txBody>
      </p:sp>
      <p:sp>
        <p:nvSpPr>
          <p:cNvPr id="42" name="Text 41"/>
          <p:cNvSpPr txBox="1"/>
          <p:nvPr/>
        </p:nvSpPr>
        <p:spPr>
          <a:xfrm>
            <a:off x="3652202" y="2380730"/>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R-⁠12 صلاحيات غير مبررة</a:t>
            </a:r>
          </a:p>
        </p:txBody>
      </p:sp>
      <p:sp>
        <p:nvSpPr>
          <p:cNvPr id="43" name="Box 42"/>
          <p:cNvSpPr/>
          <p:nvPr/>
        </p:nvSpPr>
        <p:spPr>
          <a:xfrm>
            <a:off x="2609850" y="2356346"/>
            <a:ext cx="1016000" cy="650081"/>
          </a:xfrm>
          <a:prstGeom prst="rect">
            <a:avLst/>
          </a:prstGeom>
          <a:solidFill>
            <a:srgbClr val="FFFFFF"/>
          </a:solidFill>
          <a:ln>
            <a:noFill/>
          </a:ln>
        </p:spPr>
        <p:txBody>
          <a:bodyPr rtlCol="0" anchor="ctr"/>
          <a:lstStyle/>
          <a:p>
            <a:pPr algn="ctr"/>
          </a:p>
        </p:txBody>
      </p:sp>
      <p:sp>
        <p:nvSpPr>
          <p:cNvPr id="44" name="Rule 43"/>
          <p:cNvSpPr/>
          <p:nvPr/>
        </p:nvSpPr>
        <p:spPr>
          <a:xfrm>
            <a:off x="2609850" y="2356346"/>
            <a:ext cx="6350" cy="650081"/>
          </a:xfrm>
          <a:prstGeom prst="rect">
            <a:avLst/>
          </a:prstGeom>
          <a:solidFill>
            <a:srgbClr val="D3D9DF"/>
          </a:solidFill>
          <a:ln>
            <a:noFill/>
          </a:ln>
        </p:spPr>
        <p:txBody>
          <a:bodyPr rtlCol="0" anchor="ctr"/>
          <a:lstStyle/>
          <a:p>
            <a:pPr algn="ctr"/>
          </a:p>
        </p:txBody>
      </p:sp>
      <p:sp>
        <p:nvSpPr>
          <p:cNvPr id="45" name="Text 44"/>
          <p:cNvSpPr txBox="1"/>
          <p:nvPr/>
        </p:nvSpPr>
        <p:spPr>
          <a:xfrm>
            <a:off x="2635250" y="2380730"/>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F-04</a:t>
            </a:r>
          </a:p>
        </p:txBody>
      </p:sp>
      <p:sp>
        <p:nvSpPr>
          <p:cNvPr id="46" name="Box 45"/>
          <p:cNvSpPr/>
          <p:nvPr/>
        </p:nvSpPr>
        <p:spPr>
          <a:xfrm>
            <a:off x="819150" y="2356346"/>
            <a:ext cx="1790700" cy="650081"/>
          </a:xfrm>
          <a:prstGeom prst="rect">
            <a:avLst/>
          </a:prstGeom>
          <a:solidFill>
            <a:srgbClr val="FFFFFF"/>
          </a:solidFill>
          <a:ln>
            <a:noFill/>
          </a:ln>
        </p:spPr>
        <p:txBody>
          <a:bodyPr rtlCol="0" anchor="ctr"/>
          <a:lstStyle/>
          <a:p>
            <a:pPr algn="ctr"/>
          </a:p>
        </p:txBody>
      </p:sp>
      <p:sp>
        <p:nvSpPr>
          <p:cNvPr id="47" name="Rule 46"/>
          <p:cNvSpPr/>
          <p:nvPr/>
        </p:nvSpPr>
        <p:spPr>
          <a:xfrm>
            <a:off x="819150" y="2356346"/>
            <a:ext cx="6350" cy="650081"/>
          </a:xfrm>
          <a:prstGeom prst="rect">
            <a:avLst/>
          </a:prstGeom>
          <a:solidFill>
            <a:srgbClr val="D3D9DF"/>
          </a:solidFill>
          <a:ln>
            <a:noFill/>
          </a:ln>
        </p:spPr>
        <p:txBody>
          <a:bodyPr rtlCol="0" anchor="ctr"/>
          <a:lstStyle/>
          <a:p>
            <a:pPr algn="ctr"/>
          </a:p>
        </p:txBody>
      </p:sp>
      <p:sp>
        <p:nvSpPr>
          <p:cNvPr id="48" name="Text 47"/>
          <p:cNvSpPr txBox="1"/>
          <p:nvPr/>
        </p:nvSpPr>
        <p:spPr>
          <a:xfrm>
            <a:off x="844550" y="2380730"/>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CAP-⁠04-⁠1 إلى 4</a:t>
            </a:r>
          </a:p>
        </p:txBody>
      </p:sp>
      <p:sp>
        <p:nvSpPr>
          <p:cNvPr id="49" name="Rule 48"/>
          <p:cNvSpPr/>
          <p:nvPr/>
        </p:nvSpPr>
        <p:spPr>
          <a:xfrm>
            <a:off x="819150" y="3662859"/>
            <a:ext cx="10553700" cy="6350"/>
          </a:xfrm>
          <a:prstGeom prst="rect">
            <a:avLst/>
          </a:prstGeom>
          <a:solidFill>
            <a:srgbClr val="D3D9DF"/>
          </a:solidFill>
          <a:ln>
            <a:noFill/>
          </a:ln>
        </p:spPr>
        <p:txBody>
          <a:bodyPr rtlCol="0" anchor="ctr"/>
          <a:lstStyle/>
          <a:p>
            <a:pPr algn="ctr"/>
          </a:p>
        </p:txBody>
      </p:sp>
      <p:sp>
        <p:nvSpPr>
          <p:cNvPr id="50" name="Box 49"/>
          <p:cNvSpPr/>
          <p:nvPr/>
        </p:nvSpPr>
        <p:spPr>
          <a:xfrm>
            <a:off x="9975850" y="3012777"/>
            <a:ext cx="1397000" cy="650081"/>
          </a:xfrm>
          <a:prstGeom prst="rect">
            <a:avLst/>
          </a:prstGeom>
          <a:solidFill>
            <a:srgbClr val="FBEFD9"/>
          </a:solidFill>
          <a:ln>
            <a:noFill/>
          </a:ln>
        </p:spPr>
        <p:txBody>
          <a:bodyPr rtlCol="0" anchor="ctr"/>
          <a:lstStyle/>
          <a:p>
            <a:pPr algn="ctr"/>
          </a:p>
        </p:txBody>
      </p:sp>
      <p:sp>
        <p:nvSpPr>
          <p:cNvPr id="51" name="Rule 50"/>
          <p:cNvSpPr/>
          <p:nvPr/>
        </p:nvSpPr>
        <p:spPr>
          <a:xfrm>
            <a:off x="9975850" y="3012777"/>
            <a:ext cx="6350" cy="650081"/>
          </a:xfrm>
          <a:prstGeom prst="rect">
            <a:avLst/>
          </a:prstGeom>
          <a:solidFill>
            <a:srgbClr val="D3D9DF"/>
          </a:solidFill>
          <a:ln>
            <a:noFill/>
          </a:ln>
        </p:spPr>
        <p:txBody>
          <a:bodyPr rtlCol="0" anchor="ctr"/>
          <a:lstStyle/>
          <a:p>
            <a:pPr algn="ctr"/>
          </a:p>
        </p:txBody>
      </p:sp>
      <p:sp>
        <p:nvSpPr>
          <p:cNvPr id="52" name="Text 51"/>
          <p:cNvSpPr txBox="1"/>
          <p:nvPr/>
        </p:nvSpPr>
        <p:spPr>
          <a:xfrm>
            <a:off x="10001250" y="3037161"/>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2-2-3-2</a:t>
            </a:r>
          </a:p>
        </p:txBody>
      </p:sp>
      <p:sp>
        <p:nvSpPr>
          <p:cNvPr id="53" name="Box 52"/>
          <p:cNvSpPr/>
          <p:nvPr/>
        </p:nvSpPr>
        <p:spPr>
          <a:xfrm>
            <a:off x="7880350" y="3012777"/>
            <a:ext cx="2095500" cy="650081"/>
          </a:xfrm>
          <a:prstGeom prst="rect">
            <a:avLst/>
          </a:prstGeom>
          <a:solidFill>
            <a:srgbClr val="FBEFD9"/>
          </a:solidFill>
          <a:ln>
            <a:noFill/>
          </a:ln>
        </p:spPr>
        <p:txBody>
          <a:bodyPr rtlCol="0" anchor="ctr"/>
          <a:lstStyle/>
          <a:p>
            <a:pPr algn="ctr"/>
          </a:p>
        </p:txBody>
      </p:sp>
      <p:sp>
        <p:nvSpPr>
          <p:cNvPr id="54" name="Rule 53"/>
          <p:cNvSpPr/>
          <p:nvPr/>
        </p:nvSpPr>
        <p:spPr>
          <a:xfrm>
            <a:off x="7880350" y="3012777"/>
            <a:ext cx="6350" cy="650081"/>
          </a:xfrm>
          <a:prstGeom prst="rect">
            <a:avLst/>
          </a:prstGeom>
          <a:solidFill>
            <a:srgbClr val="D3D9DF"/>
          </a:solidFill>
          <a:ln>
            <a:noFill/>
          </a:ln>
        </p:spPr>
        <p:txBody>
          <a:bodyPr rtlCol="0" anchor="ctr"/>
          <a:lstStyle/>
          <a:p>
            <a:pPr algn="ctr"/>
          </a:p>
        </p:txBody>
      </p:sp>
      <p:sp>
        <p:nvSpPr>
          <p:cNvPr id="55" name="Text 54"/>
          <p:cNvSpPr txBox="1"/>
          <p:nvPr/>
        </p:nvSpPr>
        <p:spPr>
          <a:xfrm>
            <a:off x="7905750" y="3037161"/>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CTL-⁠RA-⁠01 MFA على VPN</a:t>
            </a:r>
          </a:p>
        </p:txBody>
      </p:sp>
      <p:sp>
        <p:nvSpPr>
          <p:cNvPr id="56" name="Box 55"/>
          <p:cNvSpPr/>
          <p:nvPr/>
        </p:nvSpPr>
        <p:spPr>
          <a:xfrm>
            <a:off x="5657850" y="3012777"/>
            <a:ext cx="2222500" cy="650081"/>
          </a:xfrm>
          <a:prstGeom prst="rect">
            <a:avLst/>
          </a:prstGeom>
          <a:solidFill>
            <a:srgbClr val="FBEFD9"/>
          </a:solidFill>
          <a:ln>
            <a:noFill/>
          </a:ln>
        </p:spPr>
        <p:txBody>
          <a:bodyPr rtlCol="0" anchor="ctr"/>
          <a:lstStyle/>
          <a:p>
            <a:pPr algn="ctr"/>
          </a:p>
        </p:txBody>
      </p:sp>
      <p:sp>
        <p:nvSpPr>
          <p:cNvPr id="57" name="Rule 56"/>
          <p:cNvSpPr/>
          <p:nvPr/>
        </p:nvSpPr>
        <p:spPr>
          <a:xfrm>
            <a:off x="5657850" y="3012777"/>
            <a:ext cx="6350" cy="650081"/>
          </a:xfrm>
          <a:prstGeom prst="rect">
            <a:avLst/>
          </a:prstGeom>
          <a:solidFill>
            <a:srgbClr val="D3D9DF"/>
          </a:solidFill>
          <a:ln>
            <a:noFill/>
          </a:ln>
        </p:spPr>
        <p:txBody>
          <a:bodyPr rtlCol="0" anchor="ctr"/>
          <a:lstStyle/>
          <a:p>
            <a:pPr algn="ctr"/>
          </a:p>
        </p:txBody>
      </p:sp>
      <p:sp>
        <p:nvSpPr>
          <p:cNvPr id="58" name="Text 57"/>
          <p:cNvSpPr txBox="1"/>
          <p:nvPr/>
        </p:nvSpPr>
        <p:spPr>
          <a:xfrm>
            <a:off x="5683250" y="3037161"/>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EV-⁠11 الإعداد · EV-⁠13 المطابقة</a:t>
            </a:r>
          </a:p>
        </p:txBody>
      </p:sp>
      <p:sp>
        <p:nvSpPr>
          <p:cNvPr id="59" name="Box 58"/>
          <p:cNvSpPr/>
          <p:nvPr/>
        </p:nvSpPr>
        <p:spPr>
          <a:xfrm>
            <a:off x="3625850" y="3012777"/>
            <a:ext cx="2032000" cy="650081"/>
          </a:xfrm>
          <a:prstGeom prst="rect">
            <a:avLst/>
          </a:prstGeom>
          <a:solidFill>
            <a:srgbClr val="FBEFD9"/>
          </a:solidFill>
          <a:ln>
            <a:noFill/>
          </a:ln>
        </p:spPr>
        <p:txBody>
          <a:bodyPr rtlCol="0" anchor="ctr"/>
          <a:lstStyle/>
          <a:p>
            <a:pPr algn="ctr"/>
          </a:p>
        </p:txBody>
      </p:sp>
      <p:sp>
        <p:nvSpPr>
          <p:cNvPr id="60" name="Rule 59"/>
          <p:cNvSpPr/>
          <p:nvPr/>
        </p:nvSpPr>
        <p:spPr>
          <a:xfrm>
            <a:off x="3625850" y="3012777"/>
            <a:ext cx="6350" cy="650081"/>
          </a:xfrm>
          <a:prstGeom prst="rect">
            <a:avLst/>
          </a:prstGeom>
          <a:solidFill>
            <a:srgbClr val="D3D9DF"/>
          </a:solidFill>
          <a:ln>
            <a:noFill/>
          </a:ln>
        </p:spPr>
        <p:txBody>
          <a:bodyPr rtlCol="0" anchor="ctr"/>
          <a:lstStyle/>
          <a:p>
            <a:pPr algn="ctr"/>
          </a:p>
        </p:txBody>
      </p:sp>
      <p:sp>
        <p:nvSpPr>
          <p:cNvPr id="61" name="Text 60"/>
          <p:cNvSpPr txBox="1"/>
          <p:nvPr/>
        </p:nvSpPr>
        <p:spPr>
          <a:xfrm>
            <a:off x="3652202" y="3037161"/>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R-⁠09 دخول بكلمة مرور فقط</a:t>
            </a:r>
          </a:p>
        </p:txBody>
      </p:sp>
      <p:sp>
        <p:nvSpPr>
          <p:cNvPr id="62" name="Box 61"/>
          <p:cNvSpPr/>
          <p:nvPr/>
        </p:nvSpPr>
        <p:spPr>
          <a:xfrm>
            <a:off x="2609850" y="3012777"/>
            <a:ext cx="1016000" cy="650081"/>
          </a:xfrm>
          <a:prstGeom prst="rect">
            <a:avLst/>
          </a:prstGeom>
          <a:solidFill>
            <a:srgbClr val="FBEFD9"/>
          </a:solidFill>
          <a:ln>
            <a:noFill/>
          </a:ln>
        </p:spPr>
        <p:txBody>
          <a:bodyPr rtlCol="0" anchor="ctr"/>
          <a:lstStyle/>
          <a:p>
            <a:pPr algn="ctr"/>
          </a:p>
        </p:txBody>
      </p:sp>
      <p:sp>
        <p:nvSpPr>
          <p:cNvPr id="63" name="Rule 62"/>
          <p:cNvSpPr/>
          <p:nvPr/>
        </p:nvSpPr>
        <p:spPr>
          <a:xfrm>
            <a:off x="2609850" y="3012777"/>
            <a:ext cx="6350" cy="650081"/>
          </a:xfrm>
          <a:prstGeom prst="rect">
            <a:avLst/>
          </a:prstGeom>
          <a:solidFill>
            <a:srgbClr val="D3D9DF"/>
          </a:solidFill>
          <a:ln>
            <a:noFill/>
          </a:ln>
        </p:spPr>
        <p:txBody>
          <a:bodyPr rtlCol="0" anchor="ctr"/>
          <a:lstStyle/>
          <a:p>
            <a:pPr algn="ctr"/>
          </a:p>
        </p:txBody>
      </p:sp>
      <p:sp>
        <p:nvSpPr>
          <p:cNvPr id="64" name="Text 63"/>
          <p:cNvSpPr txBox="1"/>
          <p:nvPr/>
        </p:nvSpPr>
        <p:spPr>
          <a:xfrm>
            <a:off x="2635250" y="3037161"/>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F-03</a:t>
            </a:r>
          </a:p>
        </p:txBody>
      </p:sp>
      <p:sp>
        <p:nvSpPr>
          <p:cNvPr id="65" name="Box 64"/>
          <p:cNvSpPr/>
          <p:nvPr/>
        </p:nvSpPr>
        <p:spPr>
          <a:xfrm>
            <a:off x="819150" y="3012777"/>
            <a:ext cx="1790700" cy="650081"/>
          </a:xfrm>
          <a:prstGeom prst="rect">
            <a:avLst/>
          </a:prstGeom>
          <a:solidFill>
            <a:srgbClr val="FBEFD9"/>
          </a:solidFill>
          <a:ln>
            <a:noFill/>
          </a:ln>
        </p:spPr>
        <p:txBody>
          <a:bodyPr rtlCol="0" anchor="ctr"/>
          <a:lstStyle/>
          <a:p>
            <a:pPr algn="ctr"/>
          </a:p>
        </p:txBody>
      </p:sp>
      <p:sp>
        <p:nvSpPr>
          <p:cNvPr id="66" name="Rule 65"/>
          <p:cNvSpPr/>
          <p:nvPr/>
        </p:nvSpPr>
        <p:spPr>
          <a:xfrm>
            <a:off x="819150" y="3012777"/>
            <a:ext cx="6350" cy="650081"/>
          </a:xfrm>
          <a:prstGeom prst="rect">
            <a:avLst/>
          </a:prstGeom>
          <a:solidFill>
            <a:srgbClr val="D3D9DF"/>
          </a:solidFill>
          <a:ln>
            <a:noFill/>
          </a:ln>
        </p:spPr>
        <p:txBody>
          <a:bodyPr rtlCol="0" anchor="ctr"/>
          <a:lstStyle/>
          <a:p>
            <a:pPr algn="ctr"/>
          </a:p>
        </p:txBody>
      </p:sp>
      <p:sp>
        <p:nvSpPr>
          <p:cNvPr id="67" name="Text 66"/>
          <p:cNvSpPr txBox="1"/>
          <p:nvPr/>
        </p:nvSpPr>
        <p:spPr>
          <a:xfrm>
            <a:off x="844550" y="3037161"/>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CAP-⁠03-⁠1 إلى 4</a:t>
            </a:r>
          </a:p>
        </p:txBody>
      </p:sp>
      <p:sp>
        <p:nvSpPr>
          <p:cNvPr id="68" name="Rule 67"/>
          <p:cNvSpPr/>
          <p:nvPr/>
        </p:nvSpPr>
        <p:spPr>
          <a:xfrm>
            <a:off x="819150" y="4319290"/>
            <a:ext cx="10553700" cy="6350"/>
          </a:xfrm>
          <a:prstGeom prst="rect">
            <a:avLst/>
          </a:prstGeom>
          <a:solidFill>
            <a:srgbClr val="D3D9DF"/>
          </a:solidFill>
          <a:ln>
            <a:noFill/>
          </a:ln>
        </p:spPr>
        <p:txBody>
          <a:bodyPr rtlCol="0" anchor="ctr"/>
          <a:lstStyle/>
          <a:p>
            <a:pPr algn="ctr"/>
          </a:p>
        </p:txBody>
      </p:sp>
      <p:sp>
        <p:nvSpPr>
          <p:cNvPr id="69" name="Box 68"/>
          <p:cNvSpPr/>
          <p:nvPr/>
        </p:nvSpPr>
        <p:spPr>
          <a:xfrm>
            <a:off x="9975850" y="3669209"/>
            <a:ext cx="1397000" cy="650081"/>
          </a:xfrm>
          <a:prstGeom prst="roundRect">
            <a:avLst>
              <a:gd name="adj" fmla="val 1709"/>
            </a:avLst>
          </a:prstGeom>
          <a:solidFill>
            <a:srgbClr val="FFFFFF"/>
          </a:solidFill>
          <a:ln>
            <a:noFill/>
          </a:ln>
        </p:spPr>
        <p:txBody>
          <a:bodyPr rtlCol="0" anchor="ctr"/>
          <a:lstStyle/>
          <a:p>
            <a:pPr algn="ctr"/>
          </a:p>
        </p:txBody>
      </p:sp>
      <p:sp>
        <p:nvSpPr>
          <p:cNvPr id="70" name="Rule 69"/>
          <p:cNvSpPr/>
          <p:nvPr/>
        </p:nvSpPr>
        <p:spPr>
          <a:xfrm>
            <a:off x="9975850" y="3669209"/>
            <a:ext cx="6350" cy="650081"/>
          </a:xfrm>
          <a:prstGeom prst="rect">
            <a:avLst/>
          </a:prstGeom>
          <a:solidFill>
            <a:srgbClr val="D3D9DF"/>
          </a:solidFill>
          <a:ln>
            <a:noFill/>
          </a:ln>
        </p:spPr>
        <p:txBody>
          <a:bodyPr rtlCol="0" anchor="ctr"/>
          <a:lstStyle/>
          <a:p>
            <a:pPr algn="ctr"/>
          </a:p>
        </p:txBody>
      </p:sp>
      <p:sp>
        <p:nvSpPr>
          <p:cNvPr id="71" name="Text 70"/>
          <p:cNvSpPr txBox="1"/>
          <p:nvPr/>
        </p:nvSpPr>
        <p:spPr>
          <a:xfrm>
            <a:off x="10001250" y="3693593"/>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4-1-2</a:t>
            </a:r>
          </a:p>
        </p:txBody>
      </p:sp>
      <p:sp>
        <p:nvSpPr>
          <p:cNvPr id="72" name="Box 71"/>
          <p:cNvSpPr/>
          <p:nvPr/>
        </p:nvSpPr>
        <p:spPr>
          <a:xfrm>
            <a:off x="7880350" y="3669209"/>
            <a:ext cx="2095500" cy="650081"/>
          </a:xfrm>
          <a:prstGeom prst="rect">
            <a:avLst/>
          </a:prstGeom>
          <a:solidFill>
            <a:srgbClr val="FFFFFF"/>
          </a:solidFill>
          <a:ln>
            <a:noFill/>
          </a:ln>
        </p:spPr>
        <p:txBody>
          <a:bodyPr rtlCol="0" anchor="ctr"/>
          <a:lstStyle/>
          <a:p>
            <a:pPr algn="ctr"/>
          </a:p>
        </p:txBody>
      </p:sp>
      <p:sp>
        <p:nvSpPr>
          <p:cNvPr id="73" name="Rule 72"/>
          <p:cNvSpPr/>
          <p:nvPr/>
        </p:nvSpPr>
        <p:spPr>
          <a:xfrm>
            <a:off x="7880350" y="3669209"/>
            <a:ext cx="6350" cy="650081"/>
          </a:xfrm>
          <a:prstGeom prst="rect">
            <a:avLst/>
          </a:prstGeom>
          <a:solidFill>
            <a:srgbClr val="D3D9DF"/>
          </a:solidFill>
          <a:ln>
            <a:noFill/>
          </a:ln>
        </p:spPr>
        <p:txBody>
          <a:bodyPr rtlCol="0" anchor="ctr"/>
          <a:lstStyle/>
          <a:p>
            <a:pPr algn="ctr"/>
          </a:p>
        </p:txBody>
      </p:sp>
      <p:sp>
        <p:nvSpPr>
          <p:cNvPr id="74" name="Text 73"/>
          <p:cNvSpPr txBox="1"/>
          <p:nvPr/>
        </p:nvSpPr>
        <p:spPr>
          <a:xfrm>
            <a:off x="7905750" y="3693593"/>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CTL-⁠TP-⁠02 بنود عقود الموردين</a:t>
            </a:r>
          </a:p>
        </p:txBody>
      </p:sp>
      <p:sp>
        <p:nvSpPr>
          <p:cNvPr id="75" name="Box 74"/>
          <p:cNvSpPr/>
          <p:nvPr/>
        </p:nvSpPr>
        <p:spPr>
          <a:xfrm>
            <a:off x="5657850" y="3669209"/>
            <a:ext cx="2222500" cy="650081"/>
          </a:xfrm>
          <a:prstGeom prst="rect">
            <a:avLst/>
          </a:prstGeom>
          <a:solidFill>
            <a:srgbClr val="FFFFFF"/>
          </a:solidFill>
          <a:ln>
            <a:noFill/>
          </a:ln>
        </p:spPr>
        <p:txBody>
          <a:bodyPr rtlCol="0" anchor="ctr"/>
          <a:lstStyle/>
          <a:p>
            <a:pPr algn="ctr"/>
          </a:p>
        </p:txBody>
      </p:sp>
      <p:sp>
        <p:nvSpPr>
          <p:cNvPr id="76" name="Rule 75"/>
          <p:cNvSpPr/>
          <p:nvPr/>
        </p:nvSpPr>
        <p:spPr>
          <a:xfrm>
            <a:off x="5657850" y="3669209"/>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5683250" y="3693593"/>
            <a:ext cx="212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EV-⁠31 عقد سَنَد</a:t>
            </a:r>
          </a:p>
        </p:txBody>
      </p:sp>
      <p:sp>
        <p:nvSpPr>
          <p:cNvPr id="78" name="Box 77"/>
          <p:cNvSpPr/>
          <p:nvPr/>
        </p:nvSpPr>
        <p:spPr>
          <a:xfrm>
            <a:off x="3625850" y="3669209"/>
            <a:ext cx="2032000" cy="650081"/>
          </a:xfrm>
          <a:prstGeom prst="rect">
            <a:avLst/>
          </a:prstGeom>
          <a:solidFill>
            <a:srgbClr val="FFFFFF"/>
          </a:solidFill>
          <a:ln>
            <a:noFill/>
          </a:ln>
        </p:spPr>
        <p:txBody>
          <a:bodyPr rtlCol="0" anchor="ctr"/>
          <a:lstStyle/>
          <a:p>
            <a:pPr algn="ctr"/>
          </a:p>
        </p:txBody>
      </p:sp>
      <p:sp>
        <p:nvSpPr>
          <p:cNvPr id="79" name="Rule 78"/>
          <p:cNvSpPr/>
          <p:nvPr/>
        </p:nvSpPr>
        <p:spPr>
          <a:xfrm>
            <a:off x="3625850" y="3669209"/>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3652202" y="3693593"/>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R-⁠15 حساب المورد المشترك</a:t>
            </a:r>
          </a:p>
        </p:txBody>
      </p:sp>
      <p:sp>
        <p:nvSpPr>
          <p:cNvPr id="81" name="Box 80"/>
          <p:cNvSpPr/>
          <p:nvPr/>
        </p:nvSpPr>
        <p:spPr>
          <a:xfrm>
            <a:off x="2609850" y="3669209"/>
            <a:ext cx="1016000" cy="650081"/>
          </a:xfrm>
          <a:prstGeom prst="rect">
            <a:avLst/>
          </a:prstGeom>
          <a:solidFill>
            <a:srgbClr val="FFFFFF"/>
          </a:solidFill>
          <a:ln>
            <a:noFill/>
          </a:ln>
        </p:spPr>
        <p:txBody>
          <a:bodyPr rtlCol="0" anchor="ctr"/>
          <a:lstStyle/>
          <a:p>
            <a:pPr algn="ctr"/>
          </a:p>
        </p:txBody>
      </p:sp>
      <p:sp>
        <p:nvSpPr>
          <p:cNvPr id="82" name="Rule 81"/>
          <p:cNvSpPr/>
          <p:nvPr/>
        </p:nvSpPr>
        <p:spPr>
          <a:xfrm>
            <a:off x="2609850" y="3669209"/>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2635250" y="3693593"/>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a:t>
            </a:r>
          </a:p>
        </p:txBody>
      </p:sp>
      <p:sp>
        <p:nvSpPr>
          <p:cNvPr id="84" name="Box 83"/>
          <p:cNvSpPr/>
          <p:nvPr/>
        </p:nvSpPr>
        <p:spPr>
          <a:xfrm>
            <a:off x="819150" y="3669209"/>
            <a:ext cx="1790700" cy="650081"/>
          </a:xfrm>
          <a:prstGeom prst="roundRect">
            <a:avLst>
              <a:gd name="adj" fmla="val 1709"/>
            </a:avLst>
          </a:prstGeom>
          <a:solidFill>
            <a:srgbClr val="FFFFFF"/>
          </a:solidFill>
          <a:ln>
            <a:noFill/>
          </a:ln>
        </p:spPr>
        <p:txBody>
          <a:bodyPr rtlCol="0" anchor="ctr"/>
          <a:lstStyle/>
          <a:p>
            <a:pPr algn="ctr"/>
          </a:p>
        </p:txBody>
      </p:sp>
      <p:sp>
        <p:nvSpPr>
          <p:cNvPr id="85" name="Rule 84"/>
          <p:cNvSpPr/>
          <p:nvPr/>
        </p:nvSpPr>
        <p:spPr>
          <a:xfrm>
            <a:off x="819150" y="3669209"/>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844550" y="3693593"/>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خطة المعالجة</a:t>
            </a:r>
          </a:p>
        </p:txBody>
      </p:sp>
      <p:pic>
        <p:nvPicPr>
          <p:cNvPr id="87" name="Icon Search 86" descr="icon038.png"/>
          <p:cNvPicPr>
            <a:picLocks noChangeAspect="1"/>
          </p:cNvPicPr>
          <p:nvPr/>
        </p:nvPicPr>
        <p:blipFill>
          <a:blip r:embed="rId2"/>
          <a:stretch>
            <a:fillRect/>
          </a:stretch>
        </p:blipFill>
        <p:spPr>
          <a:xfrm>
            <a:off x="11125200" y="5058370"/>
            <a:ext cx="254000" cy="254000"/>
          </a:xfrm>
          <a:prstGeom prst="rect">
            <a:avLst/>
          </a:prstGeom>
        </p:spPr>
      </p:pic>
      <p:sp>
        <p:nvSpPr>
          <p:cNvPr id="88" name="Text 87"/>
          <p:cNvSpPr txBox="1"/>
          <p:nvPr/>
        </p:nvSpPr>
        <p:spPr>
          <a:xfrm>
            <a:off x="506476" y="4854214"/>
            <a:ext cx="1051712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رقم واحد يربط كل شيء: من الملاحظة F-⁠04 تصل إلى المتطلب والضابط والدليل والخطر والإجراءات. المنصات المتخصصة تفعل الشيء نفسه بجداول مرتبطة.</a:t>
            </a:r>
          </a:p>
        </p:txBody>
      </p:sp>
      <p:sp>
        <p:nvSpPr>
          <p:cNvPr id="89" name="Text 8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المتابعة والتقارير</a:t>
            </a:r>
          </a:p>
        </p:txBody>
      </p:sp>
      <p:sp>
        <p:nvSpPr>
          <p:cNvPr id="90" name="Text 8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035951" y="609600"/>
            <a:ext cx="234324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المفاهيم وتطبيقاتها</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الصورة كاملة: كيف ترتبط الحلقات في رُفاد</a:t>
            </a:r>
          </a:p>
        </p:txBody>
      </p:sp>
      <p:sp>
        <p:nvSpPr>
          <p:cNvPr id="5" name="Box 4"/>
          <p:cNvSpPr/>
          <p:nvPr/>
        </p:nvSpPr>
        <p:spPr>
          <a:xfrm>
            <a:off x="899229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6" name="Text 5"/>
          <p:cNvSpPr txBox="1"/>
          <p:nvPr/>
        </p:nvSpPr>
        <p:spPr>
          <a:xfrm>
            <a:off x="901452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قرار</a:t>
            </a:r>
          </a:p>
        </p:txBody>
      </p:sp>
      <p:sp>
        <p:nvSpPr>
          <p:cNvPr id="7" name="Text 6"/>
          <p:cNvSpPr txBox="1"/>
          <p:nvPr/>
        </p:nvSpPr>
        <p:spPr>
          <a:xfrm>
            <a:off x="9071670" y="2107525"/>
            <a:ext cx="216148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إلزامي</a:t>
            </a:r>
          </a:p>
        </p:txBody>
      </p:sp>
      <p:sp>
        <p:nvSpPr>
          <p:cNvPr id="8" name="Text 7"/>
          <p:cNvSpPr txBox="1"/>
          <p:nvPr/>
        </p:nvSpPr>
        <p:spPr>
          <a:xfrm>
            <a:off x="9014520" y="28646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34</a:t>
            </a:r>
          </a:p>
        </p:txBody>
      </p:sp>
      <p:sp>
        <p:nvSpPr>
          <p:cNvPr id="9" name="Text 8"/>
          <p:cNvSpPr txBox="1"/>
          <p:nvPr/>
        </p:nvSpPr>
        <p:spPr>
          <a:xfrm>
            <a:off x="856486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Box 9"/>
          <p:cNvSpPr/>
          <p:nvPr/>
        </p:nvSpPr>
        <p:spPr>
          <a:xfrm>
            <a:off x="626685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28908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سياسة</a:t>
            </a:r>
          </a:p>
        </p:txBody>
      </p:sp>
      <p:sp>
        <p:nvSpPr>
          <p:cNvPr id="12" name="Text 11"/>
          <p:cNvSpPr txBox="1"/>
          <p:nvPr/>
        </p:nvSpPr>
        <p:spPr>
          <a:xfrm>
            <a:off x="6289080" y="2107525"/>
            <a:ext cx="22186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بند المراجعة الدورية</a:t>
            </a:r>
          </a:p>
        </p:txBody>
      </p:sp>
      <p:sp>
        <p:nvSpPr>
          <p:cNvPr id="13" name="Text 12"/>
          <p:cNvSpPr txBox="1"/>
          <p:nvPr/>
        </p:nvSpPr>
        <p:spPr>
          <a:xfrm>
            <a:off x="6289080" y="25090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48</a:t>
            </a:r>
          </a:p>
        </p:txBody>
      </p:sp>
      <p:sp>
        <p:nvSpPr>
          <p:cNvPr id="14" name="Text 13"/>
          <p:cNvSpPr txBox="1"/>
          <p:nvPr/>
        </p:nvSpPr>
        <p:spPr>
          <a:xfrm>
            <a:off x="583942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Box 14"/>
          <p:cNvSpPr/>
          <p:nvPr/>
        </p:nvSpPr>
        <p:spPr>
          <a:xfrm>
            <a:off x="354141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6364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خطر</a:t>
            </a:r>
          </a:p>
        </p:txBody>
      </p:sp>
      <p:sp>
        <p:nvSpPr>
          <p:cNvPr id="17" name="Text 16"/>
          <p:cNvSpPr txBox="1"/>
          <p:nvPr/>
        </p:nvSpPr>
        <p:spPr>
          <a:xfrm>
            <a:off x="3620790" y="2107525"/>
            <a:ext cx="216148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حساب المورد المشترك</a:t>
            </a:r>
          </a:p>
        </p:txBody>
      </p:sp>
      <p:sp>
        <p:nvSpPr>
          <p:cNvPr id="18" name="Text 17"/>
          <p:cNvSpPr txBox="1"/>
          <p:nvPr/>
        </p:nvSpPr>
        <p:spPr>
          <a:xfrm>
            <a:off x="3563640" y="28646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80</a:t>
            </a:r>
          </a:p>
        </p:txBody>
      </p:sp>
      <p:sp>
        <p:nvSpPr>
          <p:cNvPr id="19" name="Text 18"/>
          <p:cNvSpPr txBox="1"/>
          <p:nvPr/>
        </p:nvSpPr>
        <p:spPr>
          <a:xfrm>
            <a:off x="311398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Box 19"/>
          <p:cNvSpPr/>
          <p:nvPr/>
        </p:nvSpPr>
        <p:spPr>
          <a:xfrm>
            <a:off x="81597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20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ضابط</a:t>
            </a:r>
          </a:p>
        </p:txBody>
      </p:sp>
      <p:sp>
        <p:nvSpPr>
          <p:cNvPr id="22" name="Text 21"/>
          <p:cNvSpPr txBox="1"/>
          <p:nvPr/>
        </p:nvSpPr>
        <p:spPr>
          <a:xfrm>
            <a:off x="838200" y="2107525"/>
            <a:ext cx="22186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مراجعة ربع سنوية</a:t>
            </a:r>
          </a:p>
        </p:txBody>
      </p:sp>
      <p:sp>
        <p:nvSpPr>
          <p:cNvPr id="23" name="Text 22"/>
          <p:cNvSpPr txBox="1"/>
          <p:nvPr/>
        </p:nvSpPr>
        <p:spPr>
          <a:xfrm>
            <a:off x="838200" y="25090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89</a:t>
            </a:r>
          </a:p>
        </p:txBody>
      </p:sp>
      <p:sp>
        <p:nvSpPr>
          <p:cNvPr id="24" name="Box 23"/>
          <p:cNvSpPr/>
          <p:nvPr/>
        </p:nvSpPr>
        <p:spPr>
          <a:xfrm>
            <a:off x="8083848"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106073"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دليل</a:t>
            </a:r>
          </a:p>
        </p:txBody>
      </p:sp>
      <p:sp>
        <p:nvSpPr>
          <p:cNvPr id="26" name="Text 25"/>
          <p:cNvSpPr txBox="1"/>
          <p:nvPr/>
        </p:nvSpPr>
        <p:spPr>
          <a:xfrm>
            <a:off x="8106073"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ملفات المراجعة والتذاكر</a:t>
            </a:r>
          </a:p>
        </p:txBody>
      </p:sp>
      <p:sp>
        <p:nvSpPr>
          <p:cNvPr id="27" name="Text 26"/>
          <p:cNvSpPr txBox="1"/>
          <p:nvPr/>
        </p:nvSpPr>
        <p:spPr>
          <a:xfrm>
            <a:off x="8106073"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104</a:t>
            </a:r>
          </a:p>
        </p:txBody>
      </p:sp>
      <p:sp>
        <p:nvSpPr>
          <p:cNvPr id="28" name="Text 27"/>
          <p:cNvSpPr txBox="1"/>
          <p:nvPr/>
        </p:nvSpPr>
        <p:spPr>
          <a:xfrm>
            <a:off x="7656413" y="403911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9" name="Box 28"/>
          <p:cNvSpPr/>
          <p:nvPr/>
        </p:nvSpPr>
        <p:spPr>
          <a:xfrm>
            <a:off x="4449961"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30" name="Text 29"/>
          <p:cNvSpPr txBox="1"/>
          <p:nvPr/>
        </p:nvSpPr>
        <p:spPr>
          <a:xfrm>
            <a:off x="4472186"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ملاحظة</a:t>
            </a:r>
          </a:p>
        </p:txBody>
      </p:sp>
      <p:sp>
        <p:nvSpPr>
          <p:cNvPr id="31" name="Text 30"/>
          <p:cNvSpPr txBox="1"/>
          <p:nvPr/>
        </p:nvSpPr>
        <p:spPr>
          <a:xfrm>
            <a:off x="4472186"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مراجعة غير منتظمة</a:t>
            </a:r>
          </a:p>
        </p:txBody>
      </p:sp>
      <p:sp>
        <p:nvSpPr>
          <p:cNvPr id="32" name="Text 31"/>
          <p:cNvSpPr txBox="1"/>
          <p:nvPr/>
        </p:nvSpPr>
        <p:spPr>
          <a:xfrm>
            <a:off x="4472186"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127</a:t>
            </a:r>
          </a:p>
        </p:txBody>
      </p:sp>
      <p:sp>
        <p:nvSpPr>
          <p:cNvPr id="33" name="Text 32"/>
          <p:cNvSpPr txBox="1"/>
          <p:nvPr/>
        </p:nvSpPr>
        <p:spPr>
          <a:xfrm>
            <a:off x="4022527" y="403911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34" name="Box 33"/>
          <p:cNvSpPr/>
          <p:nvPr/>
        </p:nvSpPr>
        <p:spPr>
          <a:xfrm>
            <a:off x="816074"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838299"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تصحيح</a:t>
            </a:r>
          </a:p>
        </p:txBody>
      </p:sp>
      <p:sp>
        <p:nvSpPr>
          <p:cNvPr id="36" name="Text 35"/>
          <p:cNvSpPr txBox="1"/>
          <p:nvPr/>
        </p:nvSpPr>
        <p:spPr>
          <a:xfrm>
            <a:off x="838299"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إجراءات بمالك وموعد</a:t>
            </a:r>
          </a:p>
        </p:txBody>
      </p:sp>
      <p:sp>
        <p:nvSpPr>
          <p:cNvPr id="37" name="Text 36"/>
          <p:cNvSpPr txBox="1"/>
          <p:nvPr/>
        </p:nvSpPr>
        <p:spPr>
          <a:xfrm>
            <a:off x="838299"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129</a:t>
            </a:r>
          </a:p>
        </p:txBody>
      </p:sp>
      <p:sp>
        <p:nvSpPr>
          <p:cNvPr id="38" name="Box 37"/>
          <p:cNvSpPr/>
          <p:nvPr/>
        </p:nvSpPr>
        <p:spPr>
          <a:xfrm>
            <a:off x="812800" y="4995466"/>
            <a:ext cx="10566400" cy="609600"/>
          </a:xfrm>
          <a:prstGeom prst="roundRect">
            <a:avLst>
              <a:gd name="adj" fmla="val 16666"/>
            </a:avLst>
          </a:prstGeom>
          <a:solidFill>
            <a:srgbClr val="172433"/>
          </a:solidFill>
          <a:ln>
            <a:noFill/>
          </a:ln>
        </p:spPr>
        <p:txBody>
          <a:bodyPr rtlCol="0" anchor="ctr"/>
          <a:lstStyle/>
          <a:p>
            <a:pPr algn="ctr"/>
          </a:p>
        </p:txBody>
      </p:sp>
      <p:pic>
        <p:nvPicPr>
          <p:cNvPr id="39" name="Icon Lightbulb 38" descr="icon009.png"/>
          <p:cNvPicPr>
            <a:picLocks noChangeAspect="1"/>
          </p:cNvPicPr>
          <p:nvPr/>
        </p:nvPicPr>
        <p:blipFill>
          <a:blip r:embed="rId2"/>
          <a:stretch>
            <a:fillRect/>
          </a:stretch>
        </p:blipFill>
        <p:spPr>
          <a:xfrm>
            <a:off x="10928350" y="5163741"/>
            <a:ext cx="273050" cy="273050"/>
          </a:xfrm>
          <a:prstGeom prst="rect">
            <a:avLst/>
          </a:prstGeom>
        </p:spPr>
      </p:pic>
      <p:sp>
        <p:nvSpPr>
          <p:cNvPr id="40" name="Text 39"/>
          <p:cNvSpPr txBox="1"/>
          <p:nvPr/>
        </p:nvSpPr>
        <p:spPr>
          <a:xfrm>
            <a:off x="838200" y="5083096"/>
            <a:ext cx="9975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هذه هي GRC في جهة واحدة: كل حلقة تعتمد على التي قبلها. والتطبيقات الأربعة غطت الحلقات كلها.</a:t>
            </a:r>
          </a:p>
        </p:txBody>
      </p:sp>
      <p:sp>
        <p:nvSpPr>
          <p:cNvPr id="41" name="Text 4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المفاهيم وتطبيقاتها</a:t>
            </a:r>
          </a:p>
        </p:txBody>
      </p:sp>
      <p:sp>
        <p:nvSpPr>
          <p:cNvPr id="42" name="Text 4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035951" y="609600"/>
            <a:ext cx="234324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المفاهيم وتطبيقاتها</a:t>
            </a:r>
          </a:p>
        </p:txBody>
      </p:sp>
      <p:sp>
        <p:nvSpPr>
          <p:cNvPr id="4" name="Text box 3"/>
          <p:cNvSpPr/>
          <p:nvPr/>
        </p:nvSpPr>
        <p:spPr>
          <a:xfrm>
            <a:off x="740548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03</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5</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10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الأدوار وRACI وصياغة الخطر.</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الخطر المتأصل والمتبقي.</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فجوات التصميم والتنفيذ والتشغيل، والمؤشرات.</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03».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المفاهيم وتطبيقاتها</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8924230" y="1233190"/>
            <a:ext cx="245497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04</a:t>
            </a:r>
          </a:p>
        </p:txBody>
      </p:sp>
      <p:sp>
        <p:nvSpPr>
          <p:cNvPr id="4" name="Text 3"/>
          <p:cNvSpPr txBox="1"/>
          <p:nvPr/>
        </p:nvSpPr>
        <p:spPr>
          <a:xfrm>
            <a:off x="4917936" y="1654655"/>
            <a:ext cx="446349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الأطر والانطباق</a:t>
            </a:r>
          </a:p>
        </p:txBody>
      </p:sp>
      <p:sp>
        <p:nvSpPr>
          <p:cNvPr id="5" name="Text 4"/>
          <p:cNvSpPr txBox="1"/>
          <p:nvPr/>
        </p:nvSpPr>
        <p:spPr>
          <a:xfrm>
            <a:off x="527050" y="259717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لا تحتاج أن تحفظ كل الأطر. تحتاج أن تعرف ماذا يفعل كل منها، ولمن هو، وكيف تحدد ما ينطبق على الجهة.</a:t>
            </a:r>
          </a:p>
        </p:txBody>
      </p:sp>
      <p:sp>
        <p:nvSpPr>
          <p:cNvPr id="6" name="Box 5"/>
          <p:cNvSpPr/>
          <p:nvPr/>
        </p:nvSpPr>
        <p:spPr>
          <a:xfrm>
            <a:off x="812800" y="36652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8115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216400"/>
            <a:ext cx="228600" cy="228600"/>
          </a:xfrm>
          <a:prstGeom prst="rect">
            <a:avLst/>
          </a:prstGeom>
        </p:spPr>
      </p:pic>
      <p:sp>
        <p:nvSpPr>
          <p:cNvPr id="9" name="Text 8"/>
          <p:cNvSpPr txBox="1"/>
          <p:nvPr/>
        </p:nvSpPr>
        <p:spPr>
          <a:xfrm>
            <a:off x="838200" y="41829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النظام والضابط والإطار والمعيار، وبين الملزم والاختياري.</a:t>
            </a:r>
          </a:p>
        </p:txBody>
      </p:sp>
      <p:pic>
        <p:nvPicPr>
          <p:cNvPr id="10" name="Icon CheckCircle 9" descr="icon007.png"/>
          <p:cNvPicPr>
            <a:picLocks noChangeAspect="1"/>
          </p:cNvPicPr>
          <p:nvPr/>
        </p:nvPicPr>
        <p:blipFill>
          <a:blip r:embed="rId2"/>
          <a:stretch>
            <a:fillRect/>
          </a:stretch>
        </p:blipFill>
        <p:spPr>
          <a:xfrm>
            <a:off x="9880600" y="4607520"/>
            <a:ext cx="228600" cy="228600"/>
          </a:xfrm>
          <a:prstGeom prst="rect">
            <a:avLst/>
          </a:prstGeom>
        </p:spPr>
      </p:pic>
      <p:sp>
        <p:nvSpPr>
          <p:cNvPr id="11" name="Text 10"/>
          <p:cNvSpPr txBox="1"/>
          <p:nvPr/>
        </p:nvSpPr>
        <p:spPr>
          <a:xfrm>
            <a:off x="838200" y="45740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المراجع الرئيسية بعمق، ومراجع القطاع والبيانات بمقدمة.</a:t>
            </a:r>
          </a:p>
        </p:txBody>
      </p:sp>
      <p:pic>
        <p:nvPicPr>
          <p:cNvPr id="12" name="Icon CheckCircle 11" descr="icon007.png"/>
          <p:cNvPicPr>
            <a:picLocks noChangeAspect="1"/>
          </p:cNvPicPr>
          <p:nvPr/>
        </p:nvPicPr>
        <p:blipFill>
          <a:blip r:embed="rId2"/>
          <a:stretch>
            <a:fillRect/>
          </a:stretch>
        </p:blipFill>
        <p:spPr>
          <a:xfrm>
            <a:off x="9880600" y="4998641"/>
            <a:ext cx="228600" cy="228600"/>
          </a:xfrm>
          <a:prstGeom prst="rect">
            <a:avLst/>
          </a:prstGeom>
        </p:spPr>
      </p:pic>
      <p:sp>
        <p:nvSpPr>
          <p:cNvPr id="13" name="Text 12"/>
          <p:cNvSpPr txBox="1"/>
          <p:nvPr/>
        </p:nvSpPr>
        <p:spPr>
          <a:xfrm>
            <a:off x="838200" y="49651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ما ينطبق على جهة، وتربط ضابطاً داخلياً بمرجعين وتحكم على التغطية.</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04 · الأطر والانطباق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نظام، وضوابط، وإطار، ومعيار: ما الفرق؟</a:t>
            </a:r>
          </a:p>
        </p:txBody>
      </p:sp>
      <p:graphicFrame>
        <p:nvGraphicFramePr>
          <p:cNvPr id="5" name="Table 4"/>
          <p:cNvGraphicFramePr>
            <a:graphicFrameLocks noGrp="1"/>
          </p:cNvGraphicFramePr>
          <p:nvPr/>
        </p:nvGraphicFramePr>
        <p:xfrm>
          <a:off x="815975" y="1661120"/>
          <a:ext cx="10560050" cy="3157736"/>
        </p:xfrm>
        <a:graphic>
          <a:graphicData uri="http://schemas.openxmlformats.org/drawingml/2006/table">
            <a:tbl>
              <a:tblPr firstRow="0" bandRow="0" lastRow="0" firstCol="0" lastCol="0" bandCol="0">
                <a:tableStyleId>{2D5ABB26-0587-4C30-8999-92F81FD0307C}</a:tableStyleId>
              </a:tblPr>
              <a:tblGrid>
                <a:gridCol w="3168015"/>
                <a:gridCol w="4646295"/>
                <a:gridCol w="274574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مثال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هل هو ملزم؟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النوع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نظام حماية البيانات الشخصية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 بقوة القانون لمن يقع في نطاقه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نظام أو تشريع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ECC-⁠‎2:2024‎ للجهات المشمولة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ملزمة للجهات التي يحددها نطاقها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ضوابط تنظيمية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NIST CSF 2.0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يرشد ويرتب العمل، وغالباً طوعي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إطار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ISO/IEC 27001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طوعي، تُمنح عليه شهادة من جهة مانحة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معيار قابل للشهادة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PCI DSS عبر العقود مع شبكات البطاقات</a:t>
                      </a:r>
                    </a:p>
                  </a:txBody>
                  <a:tcPr marT="96355" marR="137160" marB="63665" marL="5035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 بالعقد لا بالقانون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التزام تعاقدي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012531"/>
            <a:ext cx="10566400" cy="573980"/>
          </a:xfrm>
          <a:prstGeom prst="roundRect">
            <a:avLst>
              <a:gd name="adj" fmla="val 17700"/>
            </a:avLst>
          </a:prstGeom>
          <a:solidFill>
            <a:srgbClr val="172433"/>
          </a:solidFill>
          <a:ln>
            <a:noFill/>
          </a:ln>
        </p:spPr>
        <p:txBody>
          <a:bodyPr rtlCol="0" anchor="ctr"/>
          <a:lstStyle/>
          <a:p>
            <a:pPr algn="ctr"/>
          </a:p>
        </p:txBody>
      </p:sp>
      <p:pic>
        <p:nvPicPr>
          <p:cNvPr id="7" name="Icon Lightbulb 6" descr="icon067.png"/>
          <p:cNvPicPr>
            <a:picLocks noChangeAspect="1"/>
          </p:cNvPicPr>
          <p:nvPr/>
        </p:nvPicPr>
        <p:blipFill>
          <a:blip r:embed="rId2"/>
          <a:stretch>
            <a:fillRect/>
          </a:stretch>
        </p:blipFill>
        <p:spPr>
          <a:xfrm>
            <a:off x="10953750" y="5175647"/>
            <a:ext cx="247650" cy="247650"/>
          </a:xfrm>
          <a:prstGeom prst="rect">
            <a:avLst/>
          </a:prstGeom>
        </p:spPr>
      </p:pic>
      <p:sp>
        <p:nvSpPr>
          <p:cNvPr id="8" name="Text 7"/>
          <p:cNvSpPr txBox="1"/>
          <p:nvPr/>
        </p:nvSpPr>
        <p:spPr>
          <a:xfrm>
            <a:off x="838200" y="5104098"/>
            <a:ext cx="100012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السؤال الأول دائماً: هل هذا المرجع ملزم لهذه الجهة تحديداً، أم اختارته طوعاً؟</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141</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ليست كل المراجع بالعمق نفسه</a:t>
            </a:r>
          </a:p>
        </p:txBody>
      </p:sp>
      <p:sp>
        <p:nvSpPr>
          <p:cNvPr id="5" name="Rule 4"/>
          <p:cNvSpPr/>
          <p:nvPr/>
        </p:nvSpPr>
        <p:spPr>
          <a:xfrm>
            <a:off x="7975600" y="1632545"/>
            <a:ext cx="3403600" cy="31750"/>
          </a:xfrm>
          <a:prstGeom prst="rect">
            <a:avLst/>
          </a:prstGeom>
          <a:solidFill>
            <a:srgbClr val="0E7C6B"/>
          </a:solidFill>
          <a:ln>
            <a:noFill/>
          </a:ln>
        </p:spPr>
        <p:txBody>
          <a:bodyPr rtlCol="0" anchor="ctr"/>
          <a:lstStyle/>
          <a:p>
            <a:pPr algn="ctr"/>
          </a:p>
        </p:txBody>
      </p:sp>
      <p:sp>
        <p:nvSpPr>
          <p:cNvPr id="6" name="Text 5"/>
          <p:cNvSpPr txBox="1"/>
          <p:nvPr/>
        </p:nvSpPr>
        <p:spPr>
          <a:xfrm>
            <a:off x="8001000" y="1793835"/>
            <a:ext cx="33401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رئيسي في الكورس</a:t>
            </a:r>
          </a:p>
        </p:txBody>
      </p:sp>
      <p:sp>
        <p:nvSpPr>
          <p:cNvPr id="7" name="Text 6"/>
          <p:cNvSpPr txBox="1"/>
          <p:nvPr/>
        </p:nvSpPr>
        <p:spPr>
          <a:xfrm>
            <a:off x="8001000" y="2128099"/>
            <a:ext cx="33401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تفهم بنيته وتطبق منه.</a:t>
            </a:r>
          </a:p>
        </p:txBody>
      </p:sp>
      <p:sp>
        <p:nvSpPr>
          <p:cNvPr id="8" name="Text box 7"/>
          <p:cNvSpPr/>
          <p:nvPr/>
        </p:nvSpPr>
        <p:spPr>
          <a:xfrm>
            <a:off x="8013700" y="2482155"/>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ECC-2:2024</a:t>
            </a:r>
          </a:p>
        </p:txBody>
      </p:sp>
      <p:sp>
        <p:nvSpPr>
          <p:cNvPr id="9" name="Rule 8"/>
          <p:cNvSpPr/>
          <p:nvPr/>
        </p:nvSpPr>
        <p:spPr>
          <a:xfrm>
            <a:off x="8013700" y="2482155"/>
            <a:ext cx="3327400" cy="6350"/>
          </a:xfrm>
          <a:prstGeom prst="rect">
            <a:avLst/>
          </a:prstGeom>
          <a:solidFill>
            <a:srgbClr val="E1DBCD"/>
          </a:solidFill>
          <a:ln>
            <a:noFill/>
          </a:ln>
        </p:spPr>
        <p:txBody>
          <a:bodyPr rtlCol="0" anchor="ctr"/>
          <a:lstStyle/>
          <a:p>
            <a:pPr algn="ctr"/>
          </a:p>
        </p:txBody>
      </p:sp>
      <p:sp>
        <p:nvSpPr>
          <p:cNvPr id="10" name="Text box 9"/>
          <p:cNvSpPr/>
          <p:nvPr/>
        </p:nvSpPr>
        <p:spPr>
          <a:xfrm>
            <a:off x="8013700" y="2936776"/>
            <a:ext cx="3327400" cy="725091"/>
          </a:xfrm>
          <a:prstGeom prst="rect">
            <a:avLst/>
          </a:prstGeom>
          <a:noFill/>
          <a:ln>
            <a:noFill/>
          </a:ln>
        </p:spPr>
        <p:txBody>
          <a:bodyPr rtlCol="0" anchor="ctr" wrap="square" tIns="27432" rIns="0" bIns="80518" lIns="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الإطار الوطني لإدارة المخاطر NFCRM-⁠‎1:2025‎</a:t>
            </a:r>
          </a:p>
        </p:txBody>
      </p:sp>
      <p:sp>
        <p:nvSpPr>
          <p:cNvPr id="11" name="Rule 10"/>
          <p:cNvSpPr/>
          <p:nvPr/>
        </p:nvSpPr>
        <p:spPr>
          <a:xfrm>
            <a:off x="8013700" y="2936776"/>
            <a:ext cx="3327400" cy="6350"/>
          </a:xfrm>
          <a:prstGeom prst="rect">
            <a:avLst/>
          </a:prstGeom>
          <a:solidFill>
            <a:srgbClr val="E1DBCD"/>
          </a:solidFill>
          <a:ln>
            <a:noFill/>
          </a:ln>
        </p:spPr>
        <p:txBody>
          <a:bodyPr rtlCol="0" anchor="ctr"/>
          <a:lstStyle/>
          <a:p>
            <a:pPr algn="ctr"/>
          </a:p>
        </p:txBody>
      </p:sp>
      <p:sp>
        <p:nvSpPr>
          <p:cNvPr id="12" name="Text box 11"/>
          <p:cNvSpPr/>
          <p:nvPr/>
        </p:nvSpPr>
        <p:spPr>
          <a:xfrm>
            <a:off x="8013700" y="369996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ISO/IEC 27001:2022</a:t>
            </a:r>
          </a:p>
        </p:txBody>
      </p:sp>
      <p:sp>
        <p:nvSpPr>
          <p:cNvPr id="13" name="Rule 12"/>
          <p:cNvSpPr/>
          <p:nvPr/>
        </p:nvSpPr>
        <p:spPr>
          <a:xfrm>
            <a:off x="8013700" y="3699966"/>
            <a:ext cx="3327400" cy="6350"/>
          </a:xfrm>
          <a:prstGeom prst="rect">
            <a:avLst/>
          </a:prstGeom>
          <a:solidFill>
            <a:srgbClr val="E1DBCD"/>
          </a:solidFill>
          <a:ln>
            <a:noFill/>
          </a:ln>
        </p:spPr>
        <p:txBody>
          <a:bodyPr rtlCol="0" anchor="ctr"/>
          <a:lstStyle/>
          <a:p>
            <a:pPr algn="ctr"/>
          </a:p>
        </p:txBody>
      </p:sp>
      <p:sp>
        <p:nvSpPr>
          <p:cNvPr id="14" name="Text box 13"/>
          <p:cNvSpPr/>
          <p:nvPr/>
        </p:nvSpPr>
        <p:spPr>
          <a:xfrm>
            <a:off x="8013700" y="4154587"/>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NIST CSF 2.0</a:t>
            </a:r>
          </a:p>
        </p:txBody>
      </p:sp>
      <p:sp>
        <p:nvSpPr>
          <p:cNvPr id="15" name="Rule 14"/>
          <p:cNvSpPr/>
          <p:nvPr/>
        </p:nvSpPr>
        <p:spPr>
          <a:xfrm>
            <a:off x="8013700" y="4154587"/>
            <a:ext cx="3327400" cy="6350"/>
          </a:xfrm>
          <a:prstGeom prst="rect">
            <a:avLst/>
          </a:prstGeom>
          <a:solidFill>
            <a:srgbClr val="E1DBCD"/>
          </a:solidFill>
          <a:ln>
            <a:noFill/>
          </a:ln>
        </p:spPr>
        <p:txBody>
          <a:bodyPr rtlCol="0" anchor="ctr"/>
          <a:lstStyle/>
          <a:p>
            <a:pPr algn="ctr"/>
          </a:p>
        </p:txBody>
      </p:sp>
      <p:sp>
        <p:nvSpPr>
          <p:cNvPr id="16" name="Rule 15"/>
          <p:cNvSpPr/>
          <p:nvPr/>
        </p:nvSpPr>
        <p:spPr>
          <a:xfrm>
            <a:off x="4394200" y="1632545"/>
            <a:ext cx="3403600" cy="31750"/>
          </a:xfrm>
          <a:prstGeom prst="rect">
            <a:avLst/>
          </a:prstGeom>
          <a:solidFill>
            <a:srgbClr val="24506B"/>
          </a:solidFill>
          <a:ln>
            <a:noFill/>
          </a:ln>
        </p:spPr>
        <p:txBody>
          <a:bodyPr rtlCol="0" anchor="ctr"/>
          <a:lstStyle/>
          <a:p>
            <a:pPr algn="ctr"/>
          </a:p>
        </p:txBody>
      </p:sp>
      <p:sp>
        <p:nvSpPr>
          <p:cNvPr id="17" name="Text 16"/>
          <p:cNvSpPr txBox="1"/>
          <p:nvPr/>
        </p:nvSpPr>
        <p:spPr>
          <a:xfrm>
            <a:off x="4419600" y="1793835"/>
            <a:ext cx="3340100" cy="6350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مقدمة حسب القطاع والبيانات</a:t>
            </a:r>
          </a:p>
        </p:txBody>
      </p:sp>
      <p:sp>
        <p:nvSpPr>
          <p:cNvPr id="18" name="Text 17"/>
          <p:cNvSpPr txBox="1"/>
          <p:nvPr/>
        </p:nvSpPr>
        <p:spPr>
          <a:xfrm>
            <a:off x="4419600" y="2445599"/>
            <a:ext cx="33401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تعرف لمن ينطبق، ولماذا.</a:t>
            </a:r>
          </a:p>
        </p:txBody>
      </p:sp>
      <p:sp>
        <p:nvSpPr>
          <p:cNvPr id="19" name="Text box 18"/>
          <p:cNvSpPr/>
          <p:nvPr/>
        </p:nvSpPr>
        <p:spPr>
          <a:xfrm>
            <a:off x="4432300" y="2799655"/>
            <a:ext cx="3327400" cy="416520"/>
          </a:xfrm>
          <a:prstGeom prst="rect">
            <a:avLst/>
          </a:prstGeom>
          <a:noFill/>
          <a:ln>
            <a:noFill/>
          </a:ln>
        </p:spPr>
        <p:txBody>
          <a:bodyPr rtlCol="0" anchor="ctr" wrap="square" tIns="27432" rIns="0" bIns="80518" lIns="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إطار ساما للأمن السيبراني</a:t>
            </a:r>
          </a:p>
        </p:txBody>
      </p:sp>
      <p:sp>
        <p:nvSpPr>
          <p:cNvPr id="20" name="Rule 19"/>
          <p:cNvSpPr/>
          <p:nvPr/>
        </p:nvSpPr>
        <p:spPr>
          <a:xfrm>
            <a:off x="4432300" y="2799655"/>
            <a:ext cx="3327400" cy="6350"/>
          </a:xfrm>
          <a:prstGeom prst="rect">
            <a:avLst/>
          </a:prstGeom>
          <a:solidFill>
            <a:srgbClr val="E1DBCD"/>
          </a:solidFill>
          <a:ln>
            <a:noFill/>
          </a:ln>
        </p:spPr>
        <p:txBody>
          <a:bodyPr rtlCol="0" anchor="ctr"/>
          <a:lstStyle/>
          <a:p>
            <a:pPr algn="ctr"/>
          </a:p>
        </p:txBody>
      </p:sp>
      <p:sp>
        <p:nvSpPr>
          <p:cNvPr id="21" name="Text box 20"/>
          <p:cNvSpPr/>
          <p:nvPr/>
        </p:nvSpPr>
        <p:spPr>
          <a:xfrm>
            <a:off x="4432300" y="3254276"/>
            <a:ext cx="3327400" cy="416520"/>
          </a:xfrm>
          <a:prstGeom prst="rect">
            <a:avLst/>
          </a:prstGeom>
          <a:noFill/>
          <a:ln>
            <a:noFill/>
          </a:ln>
        </p:spPr>
        <p:txBody>
          <a:bodyPr rtlCol="0" anchor="ctr" wrap="square" tIns="27432" rIns="0" bIns="80518" lIns="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نظام حماية البيانات الشخصية</a:t>
            </a:r>
          </a:p>
        </p:txBody>
      </p:sp>
      <p:sp>
        <p:nvSpPr>
          <p:cNvPr id="22" name="Rule 21"/>
          <p:cNvSpPr/>
          <p:nvPr/>
        </p:nvSpPr>
        <p:spPr>
          <a:xfrm>
            <a:off x="4432300" y="3254276"/>
            <a:ext cx="3327400" cy="6350"/>
          </a:xfrm>
          <a:prstGeom prst="rect">
            <a:avLst/>
          </a:prstGeom>
          <a:solidFill>
            <a:srgbClr val="E1DBCD"/>
          </a:solidFill>
          <a:ln>
            <a:noFill/>
          </a:ln>
        </p:spPr>
        <p:txBody>
          <a:bodyPr rtlCol="0" anchor="ctr"/>
          <a:lstStyle/>
          <a:p>
            <a:pPr algn="ctr"/>
          </a:p>
        </p:txBody>
      </p:sp>
      <p:sp>
        <p:nvSpPr>
          <p:cNvPr id="23" name="Text box 22"/>
          <p:cNvSpPr/>
          <p:nvPr/>
        </p:nvSpPr>
        <p:spPr>
          <a:xfrm>
            <a:off x="4432300" y="370889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PCI DSS v4.0.1</a:t>
            </a:r>
          </a:p>
        </p:txBody>
      </p:sp>
      <p:sp>
        <p:nvSpPr>
          <p:cNvPr id="24" name="Rule 23"/>
          <p:cNvSpPr/>
          <p:nvPr/>
        </p:nvSpPr>
        <p:spPr>
          <a:xfrm>
            <a:off x="4432300" y="3708896"/>
            <a:ext cx="3327400" cy="6350"/>
          </a:xfrm>
          <a:prstGeom prst="rect">
            <a:avLst/>
          </a:prstGeom>
          <a:solidFill>
            <a:srgbClr val="E1DBCD"/>
          </a:solidFill>
          <a:ln>
            <a:noFill/>
          </a:ln>
        </p:spPr>
        <p:txBody>
          <a:bodyPr rtlCol="0" anchor="ctr"/>
          <a:lstStyle/>
          <a:p>
            <a:pPr algn="ctr"/>
          </a:p>
        </p:txBody>
      </p:sp>
      <p:sp>
        <p:nvSpPr>
          <p:cNvPr id="25" name="Text box 24"/>
          <p:cNvSpPr/>
          <p:nvPr/>
        </p:nvSpPr>
        <p:spPr>
          <a:xfrm>
            <a:off x="4432300" y="416351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GDPR</a:t>
            </a:r>
          </a:p>
        </p:txBody>
      </p:sp>
      <p:sp>
        <p:nvSpPr>
          <p:cNvPr id="26" name="Rule 25"/>
          <p:cNvSpPr/>
          <p:nvPr/>
        </p:nvSpPr>
        <p:spPr>
          <a:xfrm>
            <a:off x="4432300" y="4163516"/>
            <a:ext cx="3327400" cy="6350"/>
          </a:xfrm>
          <a:prstGeom prst="rect">
            <a:avLst/>
          </a:prstGeom>
          <a:solidFill>
            <a:srgbClr val="E1DBCD"/>
          </a:solidFill>
          <a:ln>
            <a:noFill/>
          </a:ln>
        </p:spPr>
        <p:txBody>
          <a:bodyPr rtlCol="0" anchor="ctr"/>
          <a:lstStyle/>
          <a:p>
            <a:pPr algn="ctr"/>
          </a:p>
        </p:txBody>
      </p:sp>
      <p:sp>
        <p:nvSpPr>
          <p:cNvPr id="27" name="Rule 26"/>
          <p:cNvSpPr/>
          <p:nvPr/>
        </p:nvSpPr>
        <p:spPr>
          <a:xfrm>
            <a:off x="812800" y="1632545"/>
            <a:ext cx="3403600" cy="31750"/>
          </a:xfrm>
          <a:prstGeom prst="rect">
            <a:avLst/>
          </a:prstGeom>
          <a:solidFill>
            <a:srgbClr val="8A4B12"/>
          </a:solidFill>
          <a:ln>
            <a:noFill/>
          </a:ln>
        </p:spPr>
        <p:txBody>
          <a:bodyPr rtlCol="0" anchor="ctr"/>
          <a:lstStyle/>
          <a:p>
            <a:pPr algn="ctr"/>
          </a:p>
        </p:txBody>
      </p:sp>
      <p:sp>
        <p:nvSpPr>
          <p:cNvPr id="28" name="Text 27"/>
          <p:cNvSpPr txBox="1"/>
          <p:nvPr/>
        </p:nvSpPr>
        <p:spPr>
          <a:xfrm>
            <a:off x="838200" y="1793835"/>
            <a:ext cx="33401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تعريف ومقارنة</a:t>
            </a:r>
          </a:p>
        </p:txBody>
      </p:sp>
      <p:sp>
        <p:nvSpPr>
          <p:cNvPr id="29" name="Text 28"/>
          <p:cNvSpPr txBox="1"/>
          <p:nvPr/>
        </p:nvSpPr>
        <p:spPr>
          <a:xfrm>
            <a:off x="838200" y="2128099"/>
            <a:ext cx="33401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تعرف نوعه وموقعه.</a:t>
            </a:r>
          </a:p>
        </p:txBody>
      </p:sp>
      <p:sp>
        <p:nvSpPr>
          <p:cNvPr id="30" name="Text box 29"/>
          <p:cNvSpPr/>
          <p:nvPr/>
        </p:nvSpPr>
        <p:spPr>
          <a:xfrm>
            <a:off x="850900" y="2482155"/>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COBIT 2019</a:t>
            </a:r>
          </a:p>
        </p:txBody>
      </p:sp>
      <p:sp>
        <p:nvSpPr>
          <p:cNvPr id="31" name="Rule 30"/>
          <p:cNvSpPr/>
          <p:nvPr/>
        </p:nvSpPr>
        <p:spPr>
          <a:xfrm>
            <a:off x="850900" y="2482155"/>
            <a:ext cx="3327400" cy="6350"/>
          </a:xfrm>
          <a:prstGeom prst="rect">
            <a:avLst/>
          </a:prstGeom>
          <a:solidFill>
            <a:srgbClr val="E1DBCD"/>
          </a:solidFill>
          <a:ln>
            <a:noFill/>
          </a:ln>
        </p:spPr>
        <p:txBody>
          <a:bodyPr rtlCol="0" anchor="ctr"/>
          <a:lstStyle/>
          <a:p>
            <a:pPr algn="ctr"/>
          </a:p>
        </p:txBody>
      </p:sp>
      <p:sp>
        <p:nvSpPr>
          <p:cNvPr id="32" name="Text box 31"/>
          <p:cNvSpPr/>
          <p:nvPr/>
        </p:nvSpPr>
        <p:spPr>
          <a:xfrm>
            <a:off x="850900" y="293677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 Controls v8.1</a:t>
            </a:r>
          </a:p>
        </p:txBody>
      </p:sp>
      <p:sp>
        <p:nvSpPr>
          <p:cNvPr id="33" name="Rule 32"/>
          <p:cNvSpPr/>
          <p:nvPr/>
        </p:nvSpPr>
        <p:spPr>
          <a:xfrm>
            <a:off x="850900" y="2936776"/>
            <a:ext cx="3327400" cy="6350"/>
          </a:xfrm>
          <a:prstGeom prst="rect">
            <a:avLst/>
          </a:prstGeom>
          <a:solidFill>
            <a:srgbClr val="E1DBCD"/>
          </a:solidFill>
          <a:ln>
            <a:noFill/>
          </a:ln>
        </p:spPr>
        <p:txBody>
          <a:bodyPr rtlCol="0" anchor="ctr"/>
          <a:lstStyle/>
          <a:p>
            <a:pPr algn="ctr"/>
          </a:p>
        </p:txBody>
      </p:sp>
      <p:sp>
        <p:nvSpPr>
          <p:cNvPr id="34" name="Text box 33"/>
          <p:cNvSpPr/>
          <p:nvPr/>
        </p:nvSpPr>
        <p:spPr>
          <a:xfrm>
            <a:off x="850900" y="339139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NIST RMF</a:t>
            </a:r>
          </a:p>
        </p:txBody>
      </p:sp>
      <p:sp>
        <p:nvSpPr>
          <p:cNvPr id="35" name="Rule 34"/>
          <p:cNvSpPr/>
          <p:nvPr/>
        </p:nvSpPr>
        <p:spPr>
          <a:xfrm>
            <a:off x="850900" y="3391396"/>
            <a:ext cx="3327400" cy="6350"/>
          </a:xfrm>
          <a:prstGeom prst="rect">
            <a:avLst/>
          </a:prstGeom>
          <a:solidFill>
            <a:srgbClr val="E1DBCD"/>
          </a:solidFill>
          <a:ln>
            <a:noFill/>
          </a:ln>
        </p:spPr>
        <p:txBody>
          <a:bodyPr rtlCol="0" anchor="ctr"/>
          <a:lstStyle/>
          <a:p>
            <a:pPr algn="ctr"/>
          </a:p>
        </p:txBody>
      </p:sp>
      <p:sp>
        <p:nvSpPr>
          <p:cNvPr id="36" name="Text box 35"/>
          <p:cNvSpPr/>
          <p:nvPr/>
        </p:nvSpPr>
        <p:spPr>
          <a:xfrm>
            <a:off x="850900" y="3846016"/>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HIPAA</a:t>
            </a:r>
          </a:p>
        </p:txBody>
      </p:sp>
      <p:sp>
        <p:nvSpPr>
          <p:cNvPr id="37" name="Rule 36"/>
          <p:cNvSpPr/>
          <p:nvPr/>
        </p:nvSpPr>
        <p:spPr>
          <a:xfrm>
            <a:off x="850900" y="3846016"/>
            <a:ext cx="3327400" cy="6350"/>
          </a:xfrm>
          <a:prstGeom prst="rect">
            <a:avLst/>
          </a:prstGeom>
          <a:solidFill>
            <a:srgbClr val="E1DBCD"/>
          </a:solidFill>
          <a:ln>
            <a:noFill/>
          </a:ln>
        </p:spPr>
        <p:txBody>
          <a:bodyPr rtlCol="0" anchor="ctr"/>
          <a:lstStyle/>
          <a:p>
            <a:pPr algn="ctr"/>
          </a:p>
        </p:txBody>
      </p:sp>
      <p:sp>
        <p:nvSpPr>
          <p:cNvPr id="38" name="Text box 37"/>
          <p:cNvSpPr/>
          <p:nvPr/>
        </p:nvSpPr>
        <p:spPr>
          <a:xfrm>
            <a:off x="850900" y="4300637"/>
            <a:ext cx="3327400" cy="416520"/>
          </a:xfrm>
          <a:prstGeom prst="rect">
            <a:avLst/>
          </a:prstGeom>
          <a:noFill/>
          <a:ln>
            <a:noFill/>
          </a:ln>
        </p:spPr>
        <p:txBody>
          <a:bodyPr rtlCol="0" anchor="ctr" wrap="square" tIns="27432" rIns="0" bIns="80518" lIns="0" anchorCtr="0">
            <a:noAutofit/>
          </a:bodyPr>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SOX</a:t>
            </a:r>
          </a:p>
        </p:txBody>
      </p:sp>
      <p:sp>
        <p:nvSpPr>
          <p:cNvPr id="39" name="Rule 38"/>
          <p:cNvSpPr/>
          <p:nvPr/>
        </p:nvSpPr>
        <p:spPr>
          <a:xfrm>
            <a:off x="850900" y="4300637"/>
            <a:ext cx="3327400" cy="6350"/>
          </a:xfrm>
          <a:prstGeom prst="rect">
            <a:avLst/>
          </a:prstGeom>
          <a:solidFill>
            <a:srgbClr val="E1DBCD"/>
          </a:solidFill>
          <a:ln>
            <a:noFill/>
          </a:ln>
        </p:spPr>
        <p:txBody>
          <a:bodyPr rtlCol="0" anchor="ctr"/>
          <a:lstStyle/>
          <a:p>
            <a:pPr algn="ctr"/>
          </a:p>
        </p:txBody>
      </p:sp>
      <p:sp>
        <p:nvSpPr>
          <p:cNvPr id="40" name="Text 39"/>
          <p:cNvSpPr txBox="1"/>
          <p:nvPr/>
        </p:nvSpPr>
        <p:spPr>
          <a:xfrm>
            <a:off x="495808" y="4871081"/>
            <a:ext cx="10883392"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وستقابل أيضاً ISO 22301 للاستمرارية، و‎ISO/IEC‎ 27701 للخصوصية، وNIST SP 800-⁠53، وCOSO، وتقارير SOC 2. لا تحفظ قوائم الضوابط؛ اعرف النوع والغرض والنطاق.</a:t>
            </a:r>
          </a:p>
        </p:txBody>
      </p:sp>
      <p:sp>
        <p:nvSpPr>
          <p:cNvPr id="41" name="Text 4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42" name="Text 4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مراجع القطاع والبيانات: لمن تنطبق؟</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3484880"/>
                <a:gridCol w="2006600"/>
                <a:gridCol w="253428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ملزم لهم، ويُطلب من مزوديهم أحياناً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الخاضعون لإشراف البنك المركزي: البنوك، والتأمين، والتمويل، ومكاتب الائتمان، وغيرها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الأمن السيبراني في القطاع المالي</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إطار ساما (2017)</a:t>
                      </a:r>
                      <a:r>
                        <a:rPr sz="1600" b="0" i="0">
                          <a:solidFill>
                            <a:srgbClr val="172433"/>
                          </a:solidFill>
                          <a:latin typeface="IBM Plex Sans Arabic"/>
                          <a:ea typeface="IBM Plex Sans Arabic"/>
                          <a:cs typeface="IBM Plex Sans Arabic"/>
                        </a:rPr>
                        <a:t>: إطار تنظيمي قطاعي</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ملزم لمن يقع في نطاقه، ومنهم رُفاد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معالجة البيانات الشخصية المتعلقة بأفراد في المملكة، ومنها المعالجة من خارجها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حقوق صاحب البيانات وضوابط معالجتها</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نظام حماية البيانات الشخصية</a:t>
                      </a:r>
                      <a:r>
                        <a:rPr sz="1600" b="0" i="0">
                          <a:solidFill>
                            <a:srgbClr val="172433"/>
                          </a:solidFill>
                          <a:latin typeface="IBM Plex Sans Arabic"/>
                          <a:ea typeface="IBM Plex Sans Arabic"/>
                          <a:cs typeface="IBM Plex Sans Arabic"/>
                        </a:rPr>
                        <a:t>: نظام (قانون)</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تفرضه شبكات البطاقات والبنوك المستحوذة بالعقود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 يخزن بيانات البطاقات أو يعالجها أو ينقلها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حماية بيانات البطاقات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PCI DSS v4.0.1</a:t>
                      </a:r>
                      <a:r>
                        <a:rPr sz="1600" b="0" i="0">
                          <a:solidFill>
                            <a:srgbClr val="172433"/>
                          </a:solidFill>
                          <a:latin typeface="IBM Plex Sans Arabic"/>
                          <a:ea typeface="IBM Plex Sans Arabic"/>
                          <a:cs typeface="IBM Plex Sans Arabic"/>
                        </a:rPr>
                        <a:t>: معيار تعاقدي من مجلس PCI SSC</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سعودية تخدم عملاء في أوروبا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منشأة في الاتحاد الأوروبي، أو من يعرض سلعاً وخدمات لأفراد فيه أو يراقب سلوكهم</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حماية البيانات الشخصية</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GDPR</a:t>
                      </a:r>
                      <a:r>
                        <a:rPr sz="1600" b="0" i="0">
                          <a:solidFill>
                            <a:srgbClr val="172433"/>
                          </a:solidFill>
                          <a:latin typeface="IBM Plex Sans Arabic"/>
                          <a:ea typeface="IBM Plex Sans Arabic"/>
                          <a:cs typeface="IBM Plex Sans Arabic"/>
                        </a:rPr>
                        <a:t>: لائحة أوروبية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7" name="Text 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مراجع للتعريف والمقارنة</a:t>
            </a:r>
          </a:p>
        </p:txBody>
      </p:sp>
      <p:graphicFrame>
        <p:nvGraphicFramePr>
          <p:cNvPr id="5" name="Table 4"/>
          <p:cNvGraphicFramePr>
            <a:graphicFrameLocks noGrp="1"/>
          </p:cNvGraphicFramePr>
          <p:nvPr/>
        </p:nvGraphicFramePr>
        <p:xfrm>
          <a:off x="815975" y="1661120"/>
          <a:ext cx="10560050" cy="4181473"/>
        </p:xfrm>
        <a:graphic>
          <a:graphicData uri="http://schemas.openxmlformats.org/drawingml/2006/table">
            <a:tbl>
              <a:tblPr firstRow="0" bandRow="0" lastRow="0" firstCol="0" lastCol="0" bandCol="0">
                <a:tableStyleId>{2D5ABB26-0587-4C30-8999-92F81FD0307C}</a:tableStyleId>
              </a:tblPr>
              <a:tblGrid>
                <a:gridCol w="2428875"/>
                <a:gridCol w="2745740"/>
                <a:gridCol w="2639695"/>
                <a:gridCol w="274574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لحوكمة التقنية وتدقيقها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ربط التقنية بأهداف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COBIT 2019</a:t>
                      </a:r>
                      <a:r>
                        <a:rPr sz="1600" b="0" i="0">
                          <a:solidFill>
                            <a:srgbClr val="172433"/>
                          </a:solidFill>
                          <a:latin typeface="IBM Plex Sans Arabic"/>
                          <a:ea typeface="IBM Plex Sans Arabic"/>
                          <a:cs typeface="IBM Plex Sans Arabic"/>
                        </a:rPr>
                        <a:t>: إطار حوكمة وإدارة للتقنية من ISACA</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بداية عملية: IG1 «النظافة السيبرانية الأساسية»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18 ضابطاً و153 إجراءً، ومجموعات تنفيذ IG1 إلى IG3</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CIS Controls v8.1</a:t>
                      </a:r>
                      <a:r>
                        <a:rPr sz="1600" b="0" i="0">
                          <a:solidFill>
                            <a:srgbClr val="172433"/>
                          </a:solidFill>
                          <a:latin typeface="IBM Plex Sans Arabic"/>
                          <a:ea typeface="IBM Plex Sans Arabic"/>
                          <a:cs typeface="IBM Plex Sans Arabic"/>
                        </a:rPr>
                        <a:t>: ضوابط مرتبة بالأولوية من CIS</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منهجية لإدارة مخاطر نظام عبر دورة حياته</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مصممة للأنظمة الفيدرالية الأمريكية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سبع خطوات من التهيئة إلى المراقبة</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NIST RMF</a:t>
                      </a:r>
                      <a:r>
                        <a:rPr sz="1600" b="0" i="0">
                          <a:solidFill>
                            <a:srgbClr val="172433"/>
                          </a:solidFill>
                          <a:latin typeface="IBM Plex Sans Arabic"/>
                          <a:ea typeface="IBM Plex Sans Arabic"/>
                          <a:cs typeface="IBM Plex Sans Arabic"/>
                        </a:rPr>
                        <a:t>: عملية لإدارة مخاطر الأنظمة من NIST</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جهة تعالج بيانات صحية لصالح جهة أمريكية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خطط التأمين الصحي ومقدمو الرعاية المشمولون وشركاؤهم</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حماية المعلومات الصحية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HIPAA</a:t>
                      </a:r>
                      <a:r>
                        <a:rPr sz="1600" b="0" i="0">
                          <a:solidFill>
                            <a:srgbClr val="172433"/>
                          </a:solidFill>
                          <a:latin typeface="IBM Plex Sans Arabic"/>
                          <a:ea typeface="IBM Plex Sans Arabic"/>
                          <a:cs typeface="IBM Plex Sans Arabic"/>
                        </a:rPr>
                        <a:t>: قانون أمريكي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ضوابط التقنية التي تمس التقارير المالية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الشركات المدرجة في الولايات المتحدة؛ القسم 404 للرقابة الداخلية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موثوقية التقارير المالية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SOX</a:t>
                      </a:r>
                      <a:r>
                        <a:rPr sz="1600" b="0" i="0">
                          <a:solidFill>
                            <a:srgbClr val="172433"/>
                          </a:solidFill>
                          <a:latin typeface="IBM Plex Sans Arabic"/>
                          <a:ea typeface="IBM Plex Sans Arabic"/>
                          <a:cs typeface="IBM Plex Sans Arabic"/>
                        </a:rPr>
                        <a:t>: قانون أمريكي (2002)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7" name="Text 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‎27001:2022‎: البنود الإلزامية</a:t>
            </a:r>
          </a:p>
        </p:txBody>
      </p:sp>
      <p:sp>
        <p:nvSpPr>
          <p:cNvPr id="5" name="Rule 4"/>
          <p:cNvSpPr/>
          <p:nvPr/>
        </p:nvSpPr>
        <p:spPr>
          <a:xfrm>
            <a:off x="6724551" y="1657945"/>
            <a:ext cx="4654649" cy="38100"/>
          </a:xfrm>
          <a:prstGeom prst="rect">
            <a:avLst/>
          </a:prstGeom>
          <a:solidFill>
            <a:srgbClr val="0E7C6B"/>
          </a:solidFill>
          <a:ln>
            <a:noFill/>
          </a:ln>
        </p:spPr>
        <p:txBody>
          <a:bodyPr rtlCol="0" anchor="ctr"/>
          <a:lstStyle/>
          <a:p>
            <a:pPr algn="ctr"/>
          </a:p>
        </p:txBody>
      </p:sp>
      <p:sp>
        <p:nvSpPr>
          <p:cNvPr id="6" name="Text 5"/>
          <p:cNvSpPr txBox="1"/>
          <p:nvPr/>
        </p:nvSpPr>
        <p:spPr>
          <a:xfrm>
            <a:off x="10592792" y="1806535"/>
            <a:ext cx="786408"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0E7C6B"/>
                </a:solidFill>
                <a:latin typeface="Readex Pro"/>
                <a:ea typeface="Readex Pro"/>
                <a:cs typeface="Readex Pro"/>
              </a:rPr>
              <a:t>خطّط</a:t>
            </a:r>
          </a:p>
        </p:txBody>
      </p:sp>
      <p:sp>
        <p:nvSpPr>
          <p:cNvPr id="7" name="Text 6"/>
          <p:cNvSpPr txBox="1"/>
          <p:nvPr/>
        </p:nvSpPr>
        <p:spPr>
          <a:xfrm>
            <a:off x="10079196" y="1813052"/>
            <a:ext cx="589796"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Plan</a:t>
            </a:r>
          </a:p>
        </p:txBody>
      </p:sp>
      <p:sp>
        <p:nvSpPr>
          <p:cNvPr id="8" name="Text 7"/>
          <p:cNvSpPr txBox="1"/>
          <p:nvPr/>
        </p:nvSpPr>
        <p:spPr>
          <a:xfrm>
            <a:off x="10871200" y="22192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4</a:t>
            </a:r>
          </a:p>
        </p:txBody>
      </p:sp>
      <p:sp>
        <p:nvSpPr>
          <p:cNvPr id="9" name="Text 8"/>
          <p:cNvSpPr txBox="1"/>
          <p:nvPr/>
        </p:nvSpPr>
        <p:spPr>
          <a:xfrm>
            <a:off x="6724551" y="21710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السياق والنطاق</a:t>
            </a:r>
          </a:p>
        </p:txBody>
      </p:sp>
      <p:sp>
        <p:nvSpPr>
          <p:cNvPr id="10" name="Text 9"/>
          <p:cNvSpPr txBox="1"/>
          <p:nvPr/>
        </p:nvSpPr>
        <p:spPr>
          <a:xfrm>
            <a:off x="10871200" y="26510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5</a:t>
            </a:r>
          </a:p>
        </p:txBody>
      </p:sp>
      <p:sp>
        <p:nvSpPr>
          <p:cNvPr id="11" name="Text 10"/>
          <p:cNvSpPr txBox="1"/>
          <p:nvPr/>
        </p:nvSpPr>
        <p:spPr>
          <a:xfrm>
            <a:off x="6724551" y="26028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القيادة والسياسة</a:t>
            </a:r>
          </a:p>
        </p:txBody>
      </p:sp>
      <p:sp>
        <p:nvSpPr>
          <p:cNvPr id="12" name="Text 11"/>
          <p:cNvSpPr txBox="1"/>
          <p:nvPr/>
        </p:nvSpPr>
        <p:spPr>
          <a:xfrm>
            <a:off x="10871200" y="30828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6</a:t>
            </a:r>
          </a:p>
        </p:txBody>
      </p:sp>
      <p:sp>
        <p:nvSpPr>
          <p:cNvPr id="13" name="Text 12"/>
          <p:cNvSpPr txBox="1"/>
          <p:nvPr/>
        </p:nvSpPr>
        <p:spPr>
          <a:xfrm>
            <a:off x="6724551" y="30346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التخطيط وتقييم المخاطر</a:t>
            </a:r>
          </a:p>
        </p:txBody>
      </p:sp>
      <p:sp>
        <p:nvSpPr>
          <p:cNvPr id="14" name="Text 13"/>
          <p:cNvSpPr txBox="1"/>
          <p:nvPr/>
        </p:nvSpPr>
        <p:spPr>
          <a:xfrm>
            <a:off x="10871200" y="35146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7</a:t>
            </a:r>
          </a:p>
        </p:txBody>
      </p:sp>
      <p:sp>
        <p:nvSpPr>
          <p:cNvPr id="15" name="Text 14"/>
          <p:cNvSpPr txBox="1"/>
          <p:nvPr/>
        </p:nvSpPr>
        <p:spPr>
          <a:xfrm>
            <a:off x="6724551" y="34664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الدعم والموارد</a:t>
            </a:r>
          </a:p>
        </p:txBody>
      </p:sp>
      <p:sp>
        <p:nvSpPr>
          <p:cNvPr id="16" name="Text 15"/>
          <p:cNvSpPr txBox="1"/>
          <p:nvPr/>
        </p:nvSpPr>
        <p:spPr>
          <a:xfrm>
            <a:off x="6213415"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7" name="Rule 16"/>
          <p:cNvSpPr/>
          <p:nvPr/>
        </p:nvSpPr>
        <p:spPr>
          <a:xfrm>
            <a:off x="4753967" y="1657945"/>
            <a:ext cx="1512788" cy="38100"/>
          </a:xfrm>
          <a:prstGeom prst="rect">
            <a:avLst/>
          </a:prstGeom>
          <a:solidFill>
            <a:srgbClr val="24506B"/>
          </a:solidFill>
          <a:ln>
            <a:noFill/>
          </a:ln>
        </p:spPr>
        <p:txBody>
          <a:bodyPr rtlCol="0" anchor="ctr"/>
          <a:lstStyle/>
          <a:p>
            <a:pPr algn="ctr"/>
          </a:p>
        </p:txBody>
      </p:sp>
      <p:sp>
        <p:nvSpPr>
          <p:cNvPr id="18" name="Text 17"/>
          <p:cNvSpPr txBox="1"/>
          <p:nvPr/>
        </p:nvSpPr>
        <p:spPr>
          <a:xfrm>
            <a:off x="5721648" y="1806535"/>
            <a:ext cx="545108"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24506B"/>
                </a:solidFill>
                <a:latin typeface="Readex Pro"/>
                <a:ea typeface="Readex Pro"/>
                <a:cs typeface="Readex Pro"/>
              </a:rPr>
              <a:t>نفّذ</a:t>
            </a:r>
          </a:p>
        </p:txBody>
      </p:sp>
      <p:sp>
        <p:nvSpPr>
          <p:cNvPr id="19" name="Text 18"/>
          <p:cNvSpPr txBox="1"/>
          <p:nvPr/>
        </p:nvSpPr>
        <p:spPr>
          <a:xfrm>
            <a:off x="5379204" y="1813052"/>
            <a:ext cx="4186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Do</a:t>
            </a:r>
          </a:p>
        </p:txBody>
      </p:sp>
      <p:sp>
        <p:nvSpPr>
          <p:cNvPr id="20" name="Text 19"/>
          <p:cNvSpPr txBox="1"/>
          <p:nvPr/>
        </p:nvSpPr>
        <p:spPr>
          <a:xfrm>
            <a:off x="5758755" y="25621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24506B"/>
                </a:solidFill>
                <a:latin typeface="Readex Pro"/>
                <a:ea typeface="Readex Pro"/>
                <a:cs typeface="Readex Pro"/>
              </a:rPr>
              <a:t>8</a:t>
            </a:r>
          </a:p>
        </p:txBody>
      </p:sp>
      <p:sp>
        <p:nvSpPr>
          <p:cNvPr id="21" name="Text 20"/>
          <p:cNvSpPr txBox="1"/>
          <p:nvPr/>
        </p:nvSpPr>
        <p:spPr>
          <a:xfrm>
            <a:off x="4753967" y="2171025"/>
            <a:ext cx="1093688"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التشغيل ومعالجة المخاطر</a:t>
            </a:r>
          </a:p>
        </p:txBody>
      </p:sp>
      <p:sp>
        <p:nvSpPr>
          <p:cNvPr id="22" name="Text 21"/>
          <p:cNvSpPr txBox="1"/>
          <p:nvPr/>
        </p:nvSpPr>
        <p:spPr>
          <a:xfrm>
            <a:off x="4242832"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3" name="Rule 22"/>
          <p:cNvSpPr/>
          <p:nvPr/>
        </p:nvSpPr>
        <p:spPr>
          <a:xfrm>
            <a:off x="2783384" y="1657945"/>
            <a:ext cx="1512788" cy="38100"/>
          </a:xfrm>
          <a:prstGeom prst="rect">
            <a:avLst/>
          </a:prstGeom>
          <a:solidFill>
            <a:srgbClr val="8A4B12"/>
          </a:solidFill>
          <a:ln>
            <a:noFill/>
          </a:ln>
        </p:spPr>
        <p:txBody>
          <a:bodyPr rtlCol="0" anchor="ctr"/>
          <a:lstStyle/>
          <a:p>
            <a:pPr algn="ctr"/>
          </a:p>
        </p:txBody>
      </p:sp>
      <p:sp>
        <p:nvSpPr>
          <p:cNvPr id="24" name="Text 23"/>
          <p:cNvSpPr txBox="1"/>
          <p:nvPr/>
        </p:nvSpPr>
        <p:spPr>
          <a:xfrm>
            <a:off x="3496270" y="1806535"/>
            <a:ext cx="799902"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8A4B12"/>
                </a:solidFill>
                <a:latin typeface="Readex Pro"/>
                <a:ea typeface="Readex Pro"/>
                <a:cs typeface="Readex Pro"/>
              </a:rPr>
              <a:t>تحقّق</a:t>
            </a:r>
          </a:p>
        </p:txBody>
      </p:sp>
      <p:sp>
        <p:nvSpPr>
          <p:cNvPr id="25" name="Text 24"/>
          <p:cNvSpPr txBox="1"/>
          <p:nvPr/>
        </p:nvSpPr>
        <p:spPr>
          <a:xfrm>
            <a:off x="2808784" y="1813052"/>
            <a:ext cx="763687"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Check</a:t>
            </a:r>
          </a:p>
        </p:txBody>
      </p:sp>
      <p:sp>
        <p:nvSpPr>
          <p:cNvPr id="26" name="Text 25"/>
          <p:cNvSpPr txBox="1"/>
          <p:nvPr/>
        </p:nvSpPr>
        <p:spPr>
          <a:xfrm>
            <a:off x="3788172" y="25621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8A4B12"/>
                </a:solidFill>
                <a:latin typeface="Readex Pro"/>
                <a:ea typeface="Readex Pro"/>
                <a:cs typeface="Readex Pro"/>
              </a:rPr>
              <a:t>9</a:t>
            </a:r>
          </a:p>
        </p:txBody>
      </p:sp>
      <p:sp>
        <p:nvSpPr>
          <p:cNvPr id="27" name="Text 26"/>
          <p:cNvSpPr txBox="1"/>
          <p:nvPr/>
        </p:nvSpPr>
        <p:spPr>
          <a:xfrm>
            <a:off x="2783384" y="2171025"/>
            <a:ext cx="1093688"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تقييم الأداء والتدقيق الداخلي</a:t>
            </a:r>
          </a:p>
        </p:txBody>
      </p:sp>
      <p:sp>
        <p:nvSpPr>
          <p:cNvPr id="28" name="Text 27"/>
          <p:cNvSpPr txBox="1"/>
          <p:nvPr/>
        </p:nvSpPr>
        <p:spPr>
          <a:xfrm>
            <a:off x="2272248"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9" name="Rule 28"/>
          <p:cNvSpPr/>
          <p:nvPr/>
        </p:nvSpPr>
        <p:spPr>
          <a:xfrm>
            <a:off x="812800" y="1657945"/>
            <a:ext cx="1512788" cy="38100"/>
          </a:xfrm>
          <a:prstGeom prst="rect">
            <a:avLst/>
          </a:prstGeom>
          <a:solidFill>
            <a:srgbClr val="5A3F87"/>
          </a:solidFill>
          <a:ln>
            <a:noFill/>
          </a:ln>
        </p:spPr>
        <p:txBody>
          <a:bodyPr rtlCol="0" anchor="ctr"/>
          <a:lstStyle/>
          <a:p>
            <a:pPr algn="ctr"/>
          </a:p>
        </p:txBody>
      </p:sp>
      <p:sp>
        <p:nvSpPr>
          <p:cNvPr id="30" name="Text 29"/>
          <p:cNvSpPr txBox="1"/>
          <p:nvPr/>
        </p:nvSpPr>
        <p:spPr>
          <a:xfrm>
            <a:off x="1554361" y="1806535"/>
            <a:ext cx="771227"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5A3F87"/>
                </a:solidFill>
                <a:latin typeface="Readex Pro"/>
                <a:ea typeface="Readex Pro"/>
                <a:cs typeface="Readex Pro"/>
              </a:rPr>
              <a:t>حسّن</a:t>
            </a:r>
          </a:p>
        </p:txBody>
      </p:sp>
      <p:sp>
        <p:nvSpPr>
          <p:cNvPr id="31" name="Text 30"/>
          <p:cNvSpPr txBox="1"/>
          <p:nvPr/>
        </p:nvSpPr>
        <p:spPr>
          <a:xfrm>
            <a:off x="1151592" y="1813052"/>
            <a:ext cx="478969"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Act</a:t>
            </a:r>
          </a:p>
        </p:txBody>
      </p:sp>
      <p:sp>
        <p:nvSpPr>
          <p:cNvPr id="32" name="Text 31"/>
          <p:cNvSpPr txBox="1"/>
          <p:nvPr/>
        </p:nvSpPr>
        <p:spPr>
          <a:xfrm>
            <a:off x="1817588" y="239073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5A3F87"/>
                </a:solidFill>
                <a:latin typeface="Readex Pro"/>
                <a:ea typeface="Readex Pro"/>
                <a:cs typeface="Readex Pro"/>
              </a:rPr>
              <a:t>10</a:t>
            </a:r>
          </a:p>
        </p:txBody>
      </p:sp>
      <p:sp>
        <p:nvSpPr>
          <p:cNvPr id="33" name="Text 32"/>
          <p:cNvSpPr txBox="1"/>
          <p:nvPr/>
        </p:nvSpPr>
        <p:spPr>
          <a:xfrm>
            <a:off x="812800" y="2171025"/>
            <a:ext cx="1093688"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التحسين المستمر</a:t>
            </a:r>
          </a:p>
        </p:txBody>
      </p:sp>
      <p:sp>
        <p:nvSpPr>
          <p:cNvPr id="34" name="Text 33"/>
          <p:cNvSpPr txBox="1"/>
          <p:nvPr/>
        </p:nvSpPr>
        <p:spPr>
          <a:xfrm>
            <a:off x="0" y="39934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ثم تعود الدورة: التحسين يغذي التخطيط في الدورة التالية.</a:t>
            </a:r>
          </a:p>
        </p:txBody>
      </p:sp>
      <p:sp>
        <p:nvSpPr>
          <p:cNvPr id="35" name="Box 34"/>
          <p:cNvSpPr/>
          <p:nvPr/>
        </p:nvSpPr>
        <p:spPr>
          <a:xfrm>
            <a:off x="812800" y="4578945"/>
            <a:ext cx="10566400" cy="965200"/>
          </a:xfrm>
          <a:prstGeom prst="roundRect">
            <a:avLst>
              <a:gd name="adj" fmla="val 10526"/>
            </a:avLst>
          </a:prstGeom>
          <a:solidFill>
            <a:srgbClr val="172433"/>
          </a:solidFill>
          <a:ln>
            <a:noFill/>
          </a:ln>
        </p:spPr>
        <p:txBody>
          <a:bodyPr rtlCol="0" anchor="ctr"/>
          <a:lstStyle/>
          <a:p>
            <a:pPr algn="ctr"/>
          </a:p>
        </p:txBody>
      </p:sp>
      <p:sp>
        <p:nvSpPr>
          <p:cNvPr id="36" name="Text 35"/>
          <p:cNvSpPr txBox="1"/>
          <p:nvPr/>
        </p:nvSpPr>
        <p:spPr>
          <a:xfrm>
            <a:off x="9694069" y="4844375"/>
            <a:ext cx="150733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F2C46D"/>
                </a:solidFill>
                <a:latin typeface="IBM Plex Sans Arabic"/>
                <a:ea typeface="IBM Plex Sans Arabic"/>
                <a:cs typeface="IBM Plex Sans Arabic"/>
              </a:rPr>
              <a:t>مسار الشهادة</a:t>
            </a:r>
          </a:p>
        </p:txBody>
      </p:sp>
      <p:sp>
        <p:nvSpPr>
          <p:cNvPr id="37" name="Text 36"/>
          <p:cNvSpPr txBox="1"/>
          <p:nvPr/>
        </p:nvSpPr>
        <p:spPr>
          <a:xfrm>
            <a:off x="838200" y="4666575"/>
            <a:ext cx="889396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تدقيق المرحلة 1 للوثائق، ثم المرحلة 2 للتطبيق، ثم شهادة لثلاث سنوات مع تدقيق متابعة سنوي.</a:t>
            </a:r>
          </a:p>
        </p:txBody>
      </p:sp>
      <p:sp>
        <p:nvSpPr>
          <p:cNvPr id="38" name="Text 3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39" name="Text 3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 الملحق A وبيان قابلية التطبيق</a:t>
            </a:r>
          </a:p>
        </p:txBody>
      </p:sp>
      <p:sp>
        <p:nvSpPr>
          <p:cNvPr id="5" name="Rule 4"/>
          <p:cNvSpPr/>
          <p:nvPr/>
        </p:nvSpPr>
        <p:spPr>
          <a:xfrm>
            <a:off x="5309691" y="1657945"/>
            <a:ext cx="6069509" cy="31750"/>
          </a:xfrm>
          <a:prstGeom prst="rect">
            <a:avLst/>
          </a:prstGeom>
          <a:solidFill>
            <a:srgbClr val="C9C0AC"/>
          </a:solidFill>
          <a:ln>
            <a:noFill/>
          </a:ln>
        </p:spPr>
        <p:txBody>
          <a:bodyPr rtlCol="0" anchor="ctr"/>
          <a:lstStyle/>
          <a:p>
            <a:pPr algn="ctr"/>
          </a:p>
        </p:txBody>
      </p:sp>
      <p:sp>
        <p:nvSpPr>
          <p:cNvPr id="6" name="Text 5"/>
          <p:cNvSpPr txBox="1"/>
          <p:nvPr/>
        </p:nvSpPr>
        <p:spPr>
          <a:xfrm>
            <a:off x="5335091" y="1819235"/>
            <a:ext cx="600600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الملحق A:‏ 93 ضابطاً في 4 محاور</a:t>
            </a:r>
          </a:p>
        </p:txBody>
      </p:sp>
      <p:sp>
        <p:nvSpPr>
          <p:cNvPr id="7" name="Text 6"/>
          <p:cNvSpPr txBox="1"/>
          <p:nvPr/>
        </p:nvSpPr>
        <p:spPr>
          <a:xfrm>
            <a:off x="9840813" y="2209125"/>
            <a:ext cx="1500287"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تنظيمية (A.5)</a:t>
            </a:r>
          </a:p>
        </p:txBody>
      </p:sp>
      <p:sp>
        <p:nvSpPr>
          <p:cNvPr id="8" name="Text 7"/>
          <p:cNvSpPr txBox="1"/>
          <p:nvPr/>
        </p:nvSpPr>
        <p:spPr>
          <a:xfrm>
            <a:off x="5347791" y="2219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37</a:t>
            </a:r>
          </a:p>
        </p:txBody>
      </p:sp>
      <p:sp>
        <p:nvSpPr>
          <p:cNvPr id="9" name="Box 8"/>
          <p:cNvSpPr/>
          <p:nvPr/>
        </p:nvSpPr>
        <p:spPr>
          <a:xfrm>
            <a:off x="5626100" y="2604095"/>
            <a:ext cx="5715000" cy="177800"/>
          </a:xfrm>
          <a:prstGeom prst="roundRect">
            <a:avLst>
              <a:gd name="adj" fmla="val 28571"/>
            </a:avLst>
          </a:prstGeom>
          <a:solidFill>
            <a:srgbClr val="0E7C6B"/>
          </a:solidFill>
          <a:ln>
            <a:noFill/>
          </a:ln>
        </p:spPr>
        <p:txBody>
          <a:bodyPr rtlCol="0" anchor="ctr"/>
          <a:lstStyle/>
          <a:p>
            <a:pPr algn="ctr"/>
          </a:p>
        </p:txBody>
      </p:sp>
      <p:sp>
        <p:nvSpPr>
          <p:cNvPr id="10" name="Text 9"/>
          <p:cNvSpPr txBox="1"/>
          <p:nvPr/>
        </p:nvSpPr>
        <p:spPr>
          <a:xfrm>
            <a:off x="10037167" y="2844125"/>
            <a:ext cx="1303933"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بشرية (A.6)</a:t>
            </a:r>
          </a:p>
        </p:txBody>
      </p:sp>
      <p:sp>
        <p:nvSpPr>
          <p:cNvPr id="11" name="Text 10"/>
          <p:cNvSpPr txBox="1"/>
          <p:nvPr/>
        </p:nvSpPr>
        <p:spPr>
          <a:xfrm>
            <a:off x="5347791" y="2854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8</a:t>
            </a:r>
          </a:p>
        </p:txBody>
      </p:sp>
      <p:sp>
        <p:nvSpPr>
          <p:cNvPr id="12" name="Box 11"/>
          <p:cNvSpPr/>
          <p:nvPr/>
        </p:nvSpPr>
        <p:spPr>
          <a:xfrm>
            <a:off x="10109200" y="3239095"/>
            <a:ext cx="1231900" cy="177800"/>
          </a:xfrm>
          <a:prstGeom prst="roundRect">
            <a:avLst>
              <a:gd name="adj" fmla="val 28571"/>
            </a:avLst>
          </a:prstGeom>
          <a:solidFill>
            <a:srgbClr val="24506B"/>
          </a:solidFill>
          <a:ln>
            <a:noFill/>
          </a:ln>
        </p:spPr>
        <p:txBody>
          <a:bodyPr rtlCol="0" anchor="ctr"/>
          <a:lstStyle/>
          <a:p>
            <a:pPr algn="ctr"/>
          </a:p>
        </p:txBody>
      </p:sp>
      <p:sp>
        <p:nvSpPr>
          <p:cNvPr id="13" name="Text 12"/>
          <p:cNvSpPr txBox="1"/>
          <p:nvPr/>
        </p:nvSpPr>
        <p:spPr>
          <a:xfrm>
            <a:off x="10075069" y="3479125"/>
            <a:ext cx="126603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مادية (A.7)</a:t>
            </a:r>
          </a:p>
        </p:txBody>
      </p:sp>
      <p:sp>
        <p:nvSpPr>
          <p:cNvPr id="14" name="Text 13"/>
          <p:cNvSpPr txBox="1"/>
          <p:nvPr/>
        </p:nvSpPr>
        <p:spPr>
          <a:xfrm>
            <a:off x="5347791" y="3489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14</a:t>
            </a:r>
          </a:p>
        </p:txBody>
      </p:sp>
      <p:sp>
        <p:nvSpPr>
          <p:cNvPr id="15" name="Box 14"/>
          <p:cNvSpPr/>
          <p:nvPr/>
        </p:nvSpPr>
        <p:spPr>
          <a:xfrm>
            <a:off x="9182100" y="3874095"/>
            <a:ext cx="2159000" cy="177800"/>
          </a:xfrm>
          <a:prstGeom prst="roundRect">
            <a:avLst>
              <a:gd name="adj" fmla="val 28571"/>
            </a:avLst>
          </a:prstGeom>
          <a:solidFill>
            <a:srgbClr val="C27A16"/>
          </a:solidFill>
          <a:ln>
            <a:noFill/>
          </a:ln>
        </p:spPr>
        <p:txBody>
          <a:bodyPr rtlCol="0" anchor="ctr"/>
          <a:lstStyle/>
          <a:p>
            <a:pPr algn="ctr"/>
          </a:p>
        </p:txBody>
      </p:sp>
      <p:sp>
        <p:nvSpPr>
          <p:cNvPr id="16" name="Text 15"/>
          <p:cNvSpPr txBox="1"/>
          <p:nvPr/>
        </p:nvSpPr>
        <p:spPr>
          <a:xfrm>
            <a:off x="10115451" y="4114125"/>
            <a:ext cx="122564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تقنية (A.8)</a:t>
            </a:r>
          </a:p>
        </p:txBody>
      </p:sp>
      <p:sp>
        <p:nvSpPr>
          <p:cNvPr id="17" name="Text 16"/>
          <p:cNvSpPr txBox="1"/>
          <p:nvPr/>
        </p:nvSpPr>
        <p:spPr>
          <a:xfrm>
            <a:off x="5347791" y="4124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34</a:t>
            </a:r>
          </a:p>
        </p:txBody>
      </p:sp>
      <p:sp>
        <p:nvSpPr>
          <p:cNvPr id="18" name="Box 17"/>
          <p:cNvSpPr/>
          <p:nvPr/>
        </p:nvSpPr>
        <p:spPr>
          <a:xfrm>
            <a:off x="6089650" y="4509095"/>
            <a:ext cx="5251450" cy="177800"/>
          </a:xfrm>
          <a:prstGeom prst="roundRect">
            <a:avLst>
              <a:gd name="adj" fmla="val 28571"/>
            </a:avLst>
          </a:prstGeom>
          <a:solidFill>
            <a:srgbClr val="5A3F87"/>
          </a:solidFill>
          <a:ln>
            <a:noFill/>
          </a:ln>
        </p:spPr>
        <p:txBody>
          <a:bodyPr rtlCol="0" anchor="ctr"/>
          <a:lstStyle/>
          <a:p>
            <a:pPr algn="ctr"/>
          </a:p>
        </p:txBody>
      </p:sp>
      <p:sp>
        <p:nvSpPr>
          <p:cNvPr id="19" name="Rule 18"/>
          <p:cNvSpPr/>
          <p:nvPr/>
        </p:nvSpPr>
        <p:spPr>
          <a:xfrm>
            <a:off x="812800" y="1657945"/>
            <a:ext cx="4357191" cy="31750"/>
          </a:xfrm>
          <a:prstGeom prst="rect">
            <a:avLst/>
          </a:prstGeom>
          <a:solidFill>
            <a:srgbClr val="C9C0AC"/>
          </a:solidFill>
          <a:ln>
            <a:noFill/>
          </a:ln>
        </p:spPr>
        <p:txBody>
          <a:bodyPr rtlCol="0" anchor="ctr"/>
          <a:lstStyle/>
          <a:p>
            <a:pPr algn="ctr"/>
          </a:p>
        </p:txBody>
      </p:sp>
      <p:sp>
        <p:nvSpPr>
          <p:cNvPr id="20" name="Text 19"/>
          <p:cNvSpPr txBox="1"/>
          <p:nvPr/>
        </p:nvSpPr>
        <p:spPr>
          <a:xfrm>
            <a:off x="838200" y="1819235"/>
            <a:ext cx="4293691"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بيان قابلية التطبيق (SoA)</a:t>
            </a:r>
          </a:p>
        </p:txBody>
      </p:sp>
      <p:sp>
        <p:nvSpPr>
          <p:cNvPr id="21" name="Text 20"/>
          <p:cNvSpPr txBox="1"/>
          <p:nvPr/>
        </p:nvSpPr>
        <p:spPr>
          <a:xfrm>
            <a:off x="838200" y="2183725"/>
            <a:ext cx="4293691"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لا تطبق كل الضوابط تلقائياً. تختار ما يلزم من تقييم المخاطر، وتوثق المطبق والمستبعد ومبرر كل منهما.</a:t>
            </a:r>
          </a:p>
        </p:txBody>
      </p:sp>
      <p:sp>
        <p:nvSpPr>
          <p:cNvPr id="22" name="Text 21"/>
          <p:cNvSpPr txBox="1"/>
          <p:nvPr/>
        </p:nvSpPr>
        <p:spPr>
          <a:xfrm>
            <a:off x="838200" y="3421975"/>
            <a:ext cx="4293691"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المعيار المرافق ‎ISO/IEC‎ 27002 يشرح كل ضابط بالتفصيل.</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2.0: ست وظائف، والحوكمة في المركز</a:t>
            </a:r>
          </a:p>
        </p:txBody>
      </p:sp>
      <p:sp>
        <p:nvSpPr>
          <p:cNvPr id="5" name="Box 4"/>
          <p:cNvSpPr/>
          <p:nvPr/>
        </p:nvSpPr>
        <p:spPr>
          <a:xfrm>
            <a:off x="812800" y="1657945"/>
            <a:ext cx="10566400" cy="1041400"/>
          </a:xfrm>
          <a:prstGeom prst="roundRect">
            <a:avLst>
              <a:gd name="adj" fmla="val 9756"/>
            </a:avLst>
          </a:prstGeom>
          <a:solidFill>
            <a:srgbClr val="172433"/>
          </a:solidFill>
          <a:ln>
            <a:noFill/>
          </a:ln>
        </p:spPr>
        <p:txBody>
          <a:bodyPr rtlCol="0" anchor="ctr"/>
          <a:lstStyle/>
          <a:p>
            <a:pPr algn="ctr"/>
          </a:p>
        </p:txBody>
      </p:sp>
      <p:sp>
        <p:nvSpPr>
          <p:cNvPr id="6" name="Box 5"/>
          <p:cNvSpPr/>
          <p:nvPr/>
        </p:nvSpPr>
        <p:spPr>
          <a:xfrm>
            <a:off x="10426700" y="1797645"/>
            <a:ext cx="762000" cy="762000"/>
          </a:xfrm>
          <a:prstGeom prst="roundRect">
            <a:avLst>
              <a:gd name="adj" fmla="val 50000"/>
            </a:avLst>
          </a:prstGeom>
          <a:solidFill>
            <a:srgbClr val="F2C46D"/>
          </a:solidFill>
          <a:ln>
            <a:noFill/>
          </a:ln>
        </p:spPr>
        <p:txBody>
          <a:bodyPr rtlCol="0" anchor="ctr"/>
          <a:lstStyle/>
          <a:p>
            <a:pPr algn="ctr"/>
          </a:p>
        </p:txBody>
      </p:sp>
      <p:sp>
        <p:nvSpPr>
          <p:cNvPr id="7" name="Text 6"/>
          <p:cNvSpPr txBox="1"/>
          <p:nvPr/>
        </p:nvSpPr>
        <p:spPr>
          <a:xfrm>
            <a:off x="10543282" y="2073235"/>
            <a:ext cx="528836"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1" i="0">
                <a:solidFill>
                  <a:srgbClr val="172433"/>
                </a:solidFill>
                <a:latin typeface="Readex Pro"/>
                <a:ea typeface="Readex Pro"/>
                <a:cs typeface="Readex Pro"/>
              </a:rPr>
              <a:t>GV</a:t>
            </a:r>
          </a:p>
        </p:txBody>
      </p:sp>
      <p:sp>
        <p:nvSpPr>
          <p:cNvPr id="8" name="Text 7"/>
          <p:cNvSpPr txBox="1"/>
          <p:nvPr/>
        </p:nvSpPr>
        <p:spPr>
          <a:xfrm>
            <a:off x="838200" y="1793835"/>
            <a:ext cx="94361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F3EFE6"/>
                </a:solidFill>
                <a:latin typeface="Readex Pro"/>
                <a:ea typeface="Readex Pro"/>
                <a:cs typeface="Readex Pro"/>
              </a:rPr>
              <a:t>الحوكمة · Govern · جديدة في 2.0</a:t>
            </a:r>
          </a:p>
        </p:txBody>
      </p:sp>
      <p:sp>
        <p:nvSpPr>
          <p:cNvPr id="9" name="Text 8"/>
          <p:cNvSpPr txBox="1"/>
          <p:nvPr/>
        </p:nvSpPr>
        <p:spPr>
          <a:xfrm>
            <a:off x="838200" y="2132925"/>
            <a:ext cx="9436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D9E2E6"/>
                </a:solidFill>
                <a:latin typeface="IBM Plex Sans Arabic"/>
                <a:ea typeface="IBM Plex Sans Arabic"/>
                <a:cs typeface="IBM Plex Sans Arabic"/>
              </a:rPr>
              <a:t>الاستراتيجية، والأدوار، والسياسات، ومخاطر سلسلة الإمداد. هنا يعمل GRC مباشرة.</a:t>
            </a:r>
          </a:p>
        </p:txBody>
      </p:sp>
      <p:sp>
        <p:nvSpPr>
          <p:cNvPr id="10" name="Rule 9"/>
          <p:cNvSpPr/>
          <p:nvPr/>
        </p:nvSpPr>
        <p:spPr>
          <a:xfrm>
            <a:off x="9337080" y="3245445"/>
            <a:ext cx="2042120" cy="31750"/>
          </a:xfrm>
          <a:prstGeom prst="rect">
            <a:avLst/>
          </a:prstGeom>
          <a:solidFill>
            <a:srgbClr val="24506B"/>
          </a:solidFill>
          <a:ln>
            <a:noFill/>
          </a:ln>
        </p:spPr>
        <p:txBody>
          <a:bodyPr rtlCol="0" anchor="ctr"/>
          <a:lstStyle/>
          <a:p>
            <a:pPr algn="ctr"/>
          </a:p>
        </p:txBody>
      </p:sp>
      <p:sp>
        <p:nvSpPr>
          <p:cNvPr id="11" name="Text 10"/>
          <p:cNvSpPr txBox="1"/>
          <p:nvPr/>
        </p:nvSpPr>
        <p:spPr>
          <a:xfrm>
            <a:off x="9362480"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24506B"/>
                </a:solidFill>
                <a:latin typeface="Readex Pro"/>
                <a:ea typeface="Readex Pro"/>
                <a:cs typeface="Readex Pro"/>
              </a:rPr>
              <a:t>ID</a:t>
            </a:r>
          </a:p>
        </p:txBody>
      </p:sp>
      <p:sp>
        <p:nvSpPr>
          <p:cNvPr id="12" name="Text 11"/>
          <p:cNvSpPr txBox="1"/>
          <p:nvPr/>
        </p:nvSpPr>
        <p:spPr>
          <a:xfrm>
            <a:off x="9362480"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التحديد</a:t>
            </a:r>
          </a:p>
        </p:txBody>
      </p:sp>
      <p:sp>
        <p:nvSpPr>
          <p:cNvPr id="13" name="Text 12"/>
          <p:cNvSpPr txBox="1"/>
          <p:nvPr/>
        </p:nvSpPr>
        <p:spPr>
          <a:xfrm>
            <a:off x="9362480"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الأصول والمخاطر</a:t>
            </a:r>
          </a:p>
        </p:txBody>
      </p:sp>
      <p:sp>
        <p:nvSpPr>
          <p:cNvPr id="14" name="Rule 13"/>
          <p:cNvSpPr/>
          <p:nvPr/>
        </p:nvSpPr>
        <p:spPr>
          <a:xfrm>
            <a:off x="7206059" y="3245445"/>
            <a:ext cx="2042120" cy="31750"/>
          </a:xfrm>
          <a:prstGeom prst="rect">
            <a:avLst/>
          </a:prstGeom>
          <a:solidFill>
            <a:srgbClr val="5A3F87"/>
          </a:solidFill>
          <a:ln>
            <a:noFill/>
          </a:ln>
        </p:spPr>
        <p:txBody>
          <a:bodyPr rtlCol="0" anchor="ctr"/>
          <a:lstStyle/>
          <a:p>
            <a:pPr algn="ctr"/>
          </a:p>
        </p:txBody>
      </p:sp>
      <p:sp>
        <p:nvSpPr>
          <p:cNvPr id="15" name="Text 14"/>
          <p:cNvSpPr txBox="1"/>
          <p:nvPr/>
        </p:nvSpPr>
        <p:spPr>
          <a:xfrm>
            <a:off x="723145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5A3F87"/>
                </a:solidFill>
                <a:latin typeface="Readex Pro"/>
                <a:ea typeface="Readex Pro"/>
                <a:cs typeface="Readex Pro"/>
              </a:rPr>
              <a:t>PR</a:t>
            </a:r>
          </a:p>
        </p:txBody>
      </p:sp>
      <p:sp>
        <p:nvSpPr>
          <p:cNvPr id="16" name="Text 15"/>
          <p:cNvSpPr txBox="1"/>
          <p:nvPr/>
        </p:nvSpPr>
        <p:spPr>
          <a:xfrm>
            <a:off x="723145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الحماية</a:t>
            </a:r>
          </a:p>
        </p:txBody>
      </p:sp>
      <p:sp>
        <p:nvSpPr>
          <p:cNvPr id="17" name="Text 16"/>
          <p:cNvSpPr txBox="1"/>
          <p:nvPr/>
        </p:nvSpPr>
        <p:spPr>
          <a:xfrm>
            <a:off x="7231459" y="4088725"/>
            <a:ext cx="197862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الهويات والبيانات والمنصات</a:t>
            </a:r>
          </a:p>
        </p:txBody>
      </p:sp>
      <p:sp>
        <p:nvSpPr>
          <p:cNvPr id="18" name="Rule 17"/>
          <p:cNvSpPr/>
          <p:nvPr/>
        </p:nvSpPr>
        <p:spPr>
          <a:xfrm>
            <a:off x="5075039" y="3245445"/>
            <a:ext cx="2042120" cy="31750"/>
          </a:xfrm>
          <a:prstGeom prst="rect">
            <a:avLst/>
          </a:prstGeom>
          <a:solidFill>
            <a:srgbClr val="8A4B12"/>
          </a:solidFill>
          <a:ln>
            <a:noFill/>
          </a:ln>
        </p:spPr>
        <p:txBody>
          <a:bodyPr rtlCol="0" anchor="ctr"/>
          <a:lstStyle/>
          <a:p>
            <a:pPr algn="ctr"/>
          </a:p>
        </p:txBody>
      </p:sp>
      <p:sp>
        <p:nvSpPr>
          <p:cNvPr id="19" name="Text 18"/>
          <p:cNvSpPr txBox="1"/>
          <p:nvPr/>
        </p:nvSpPr>
        <p:spPr>
          <a:xfrm>
            <a:off x="510043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DE</a:t>
            </a:r>
          </a:p>
        </p:txBody>
      </p:sp>
      <p:sp>
        <p:nvSpPr>
          <p:cNvPr id="20" name="Text 19"/>
          <p:cNvSpPr txBox="1"/>
          <p:nvPr/>
        </p:nvSpPr>
        <p:spPr>
          <a:xfrm>
            <a:off x="510043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الاكتشاف</a:t>
            </a:r>
          </a:p>
        </p:txBody>
      </p:sp>
      <p:sp>
        <p:nvSpPr>
          <p:cNvPr id="21" name="Text 20"/>
          <p:cNvSpPr txBox="1"/>
          <p:nvPr/>
        </p:nvSpPr>
        <p:spPr>
          <a:xfrm>
            <a:off x="5100439" y="4088725"/>
            <a:ext cx="197862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المراقبة وتحليل الأحداث</a:t>
            </a:r>
          </a:p>
        </p:txBody>
      </p:sp>
      <p:sp>
        <p:nvSpPr>
          <p:cNvPr id="22" name="Rule 21"/>
          <p:cNvSpPr/>
          <p:nvPr/>
        </p:nvSpPr>
        <p:spPr>
          <a:xfrm>
            <a:off x="2944019" y="3245445"/>
            <a:ext cx="2042120" cy="31750"/>
          </a:xfrm>
          <a:prstGeom prst="rect">
            <a:avLst/>
          </a:prstGeom>
          <a:solidFill>
            <a:srgbClr val="B4412C"/>
          </a:solidFill>
          <a:ln>
            <a:noFill/>
          </a:ln>
        </p:spPr>
        <p:txBody>
          <a:bodyPr rtlCol="0" anchor="ctr"/>
          <a:lstStyle/>
          <a:p>
            <a:pPr algn="ctr"/>
          </a:p>
        </p:txBody>
      </p:sp>
      <p:sp>
        <p:nvSpPr>
          <p:cNvPr id="23" name="Text 22"/>
          <p:cNvSpPr txBox="1"/>
          <p:nvPr/>
        </p:nvSpPr>
        <p:spPr>
          <a:xfrm>
            <a:off x="296941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B4412C"/>
                </a:solidFill>
                <a:latin typeface="Readex Pro"/>
                <a:ea typeface="Readex Pro"/>
                <a:cs typeface="Readex Pro"/>
              </a:rPr>
              <a:t>RS</a:t>
            </a:r>
          </a:p>
        </p:txBody>
      </p:sp>
      <p:sp>
        <p:nvSpPr>
          <p:cNvPr id="24" name="Text 23"/>
          <p:cNvSpPr txBox="1"/>
          <p:nvPr/>
        </p:nvSpPr>
        <p:spPr>
          <a:xfrm>
            <a:off x="296941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الاستجابة</a:t>
            </a:r>
          </a:p>
        </p:txBody>
      </p:sp>
      <p:sp>
        <p:nvSpPr>
          <p:cNvPr id="25" name="Text 24"/>
          <p:cNvSpPr txBox="1"/>
          <p:nvPr/>
        </p:nvSpPr>
        <p:spPr>
          <a:xfrm>
            <a:off x="2969419"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إدارة الحادثة</a:t>
            </a:r>
          </a:p>
        </p:txBody>
      </p:sp>
      <p:sp>
        <p:nvSpPr>
          <p:cNvPr id="26" name="Rule 25"/>
          <p:cNvSpPr/>
          <p:nvPr/>
        </p:nvSpPr>
        <p:spPr>
          <a:xfrm>
            <a:off x="812998" y="3245445"/>
            <a:ext cx="2042120" cy="31750"/>
          </a:xfrm>
          <a:prstGeom prst="rect">
            <a:avLst/>
          </a:prstGeom>
          <a:solidFill>
            <a:srgbClr val="0E7C6B"/>
          </a:solidFill>
          <a:ln>
            <a:noFill/>
          </a:ln>
        </p:spPr>
        <p:txBody>
          <a:bodyPr rtlCol="0" anchor="ctr"/>
          <a:lstStyle/>
          <a:p>
            <a:pPr algn="ctr"/>
          </a:p>
        </p:txBody>
      </p:sp>
      <p:sp>
        <p:nvSpPr>
          <p:cNvPr id="27" name="Text 26"/>
          <p:cNvSpPr txBox="1"/>
          <p:nvPr/>
        </p:nvSpPr>
        <p:spPr>
          <a:xfrm>
            <a:off x="838398"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RC</a:t>
            </a:r>
          </a:p>
        </p:txBody>
      </p:sp>
      <p:sp>
        <p:nvSpPr>
          <p:cNvPr id="28" name="Text 27"/>
          <p:cNvSpPr txBox="1"/>
          <p:nvPr/>
        </p:nvSpPr>
        <p:spPr>
          <a:xfrm>
            <a:off x="838398"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التعافي</a:t>
            </a:r>
          </a:p>
        </p:txBody>
      </p:sp>
      <p:sp>
        <p:nvSpPr>
          <p:cNvPr id="29" name="Text 28"/>
          <p:cNvSpPr txBox="1"/>
          <p:nvPr/>
        </p:nvSpPr>
        <p:spPr>
          <a:xfrm>
            <a:off x="838398"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استعادة العمليات</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المستويات والملفات التعريفية</a:t>
            </a:r>
          </a:p>
        </p:txBody>
      </p:sp>
      <p:sp>
        <p:nvSpPr>
          <p:cNvPr id="5" name="Text 4"/>
          <p:cNvSpPr txBox="1"/>
          <p:nvPr/>
        </p:nvSpPr>
        <p:spPr>
          <a:xfrm>
            <a:off x="495808" y="1555075"/>
            <a:ext cx="10883392"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المستويات تصف مدى صرامة ممارسات الجهة في حوكمة مخاطر الأمن السيبراني وإدارتها، من استجابة غير رسمية إلى نهج متكيف ومستمر التحسين.</a:t>
            </a:r>
          </a:p>
        </p:txBody>
      </p:sp>
      <p:sp>
        <p:nvSpPr>
          <p:cNvPr id="6" name="Rule 5"/>
          <p:cNvSpPr/>
          <p:nvPr/>
        </p:nvSpPr>
        <p:spPr>
          <a:xfrm>
            <a:off x="8804275" y="2508845"/>
            <a:ext cx="2574925" cy="31750"/>
          </a:xfrm>
          <a:prstGeom prst="rect">
            <a:avLst/>
          </a:prstGeom>
          <a:solidFill>
            <a:srgbClr val="C9C0AC"/>
          </a:solidFill>
          <a:ln>
            <a:noFill/>
          </a:ln>
        </p:spPr>
        <p:txBody>
          <a:bodyPr rtlCol="0" anchor="ctr"/>
          <a:lstStyle/>
          <a:p>
            <a:pPr algn="ctr"/>
          </a:p>
        </p:txBody>
      </p:sp>
      <p:sp>
        <p:nvSpPr>
          <p:cNvPr id="7" name="Text 6"/>
          <p:cNvSpPr txBox="1"/>
          <p:nvPr/>
        </p:nvSpPr>
        <p:spPr>
          <a:xfrm>
            <a:off x="8829675"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8" name="Text 7"/>
          <p:cNvSpPr txBox="1"/>
          <p:nvPr/>
        </p:nvSpPr>
        <p:spPr>
          <a:xfrm>
            <a:off x="8829675"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جزئي</a:t>
            </a:r>
          </a:p>
        </p:txBody>
      </p:sp>
      <p:sp>
        <p:nvSpPr>
          <p:cNvPr id="9" name="Text 8"/>
          <p:cNvSpPr txBox="1"/>
          <p:nvPr/>
        </p:nvSpPr>
        <p:spPr>
          <a:xfrm>
            <a:off x="8829675"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Partial</a:t>
            </a:r>
          </a:p>
        </p:txBody>
      </p:sp>
      <p:sp>
        <p:nvSpPr>
          <p:cNvPr id="10" name="Rule 9"/>
          <p:cNvSpPr/>
          <p:nvPr/>
        </p:nvSpPr>
        <p:spPr>
          <a:xfrm>
            <a:off x="6140450" y="2508845"/>
            <a:ext cx="2574925" cy="31750"/>
          </a:xfrm>
          <a:prstGeom prst="rect">
            <a:avLst/>
          </a:prstGeom>
          <a:solidFill>
            <a:srgbClr val="C9C0AC"/>
          </a:solidFill>
          <a:ln>
            <a:noFill/>
          </a:ln>
        </p:spPr>
        <p:txBody>
          <a:bodyPr rtlCol="0" anchor="ctr"/>
          <a:lstStyle/>
          <a:p>
            <a:pPr algn="ctr"/>
          </a:p>
        </p:txBody>
      </p:sp>
      <p:sp>
        <p:nvSpPr>
          <p:cNvPr id="11" name="Text 10"/>
          <p:cNvSpPr txBox="1"/>
          <p:nvPr/>
        </p:nvSpPr>
        <p:spPr>
          <a:xfrm>
            <a:off x="6165850"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165850"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مطلع على المخاطر</a:t>
            </a:r>
          </a:p>
        </p:txBody>
      </p:sp>
      <p:sp>
        <p:nvSpPr>
          <p:cNvPr id="13" name="Text 12"/>
          <p:cNvSpPr txBox="1"/>
          <p:nvPr/>
        </p:nvSpPr>
        <p:spPr>
          <a:xfrm>
            <a:off x="6165850"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Risk Informed</a:t>
            </a:r>
          </a:p>
        </p:txBody>
      </p:sp>
      <p:sp>
        <p:nvSpPr>
          <p:cNvPr id="14" name="Rule 13"/>
          <p:cNvSpPr/>
          <p:nvPr/>
        </p:nvSpPr>
        <p:spPr>
          <a:xfrm>
            <a:off x="3476625" y="2508845"/>
            <a:ext cx="2574925" cy="31750"/>
          </a:xfrm>
          <a:prstGeom prst="rect">
            <a:avLst/>
          </a:prstGeom>
          <a:solidFill>
            <a:srgbClr val="C9C0AC"/>
          </a:solidFill>
          <a:ln>
            <a:noFill/>
          </a:ln>
        </p:spPr>
        <p:txBody>
          <a:bodyPr rtlCol="0" anchor="ctr"/>
          <a:lstStyle/>
          <a:p>
            <a:pPr algn="ctr"/>
          </a:p>
        </p:txBody>
      </p:sp>
      <p:sp>
        <p:nvSpPr>
          <p:cNvPr id="15" name="Text 14"/>
          <p:cNvSpPr txBox="1"/>
          <p:nvPr/>
        </p:nvSpPr>
        <p:spPr>
          <a:xfrm>
            <a:off x="3502025"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6" name="Text 15"/>
          <p:cNvSpPr txBox="1"/>
          <p:nvPr/>
        </p:nvSpPr>
        <p:spPr>
          <a:xfrm>
            <a:off x="3502025"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قابل للتكرار</a:t>
            </a:r>
          </a:p>
        </p:txBody>
      </p:sp>
      <p:sp>
        <p:nvSpPr>
          <p:cNvPr id="17" name="Text 16"/>
          <p:cNvSpPr txBox="1"/>
          <p:nvPr/>
        </p:nvSpPr>
        <p:spPr>
          <a:xfrm>
            <a:off x="3502025"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Repeatable</a:t>
            </a:r>
          </a:p>
        </p:txBody>
      </p:sp>
      <p:sp>
        <p:nvSpPr>
          <p:cNvPr id="18" name="Rule 17"/>
          <p:cNvSpPr/>
          <p:nvPr/>
        </p:nvSpPr>
        <p:spPr>
          <a:xfrm>
            <a:off x="812800" y="2508845"/>
            <a:ext cx="2574925" cy="31750"/>
          </a:xfrm>
          <a:prstGeom prst="rect">
            <a:avLst/>
          </a:prstGeom>
          <a:solidFill>
            <a:srgbClr val="C9C0AC"/>
          </a:solidFill>
          <a:ln>
            <a:noFill/>
          </a:ln>
        </p:spPr>
        <p:txBody>
          <a:bodyPr rtlCol="0" anchor="ctr"/>
          <a:lstStyle/>
          <a:p>
            <a:pPr algn="ctr"/>
          </a:p>
        </p:txBody>
      </p:sp>
      <p:sp>
        <p:nvSpPr>
          <p:cNvPr id="19" name="Text 18"/>
          <p:cNvSpPr txBox="1"/>
          <p:nvPr/>
        </p:nvSpPr>
        <p:spPr>
          <a:xfrm>
            <a:off x="838200"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0" name="Text 19"/>
          <p:cNvSpPr txBox="1"/>
          <p:nvPr/>
        </p:nvSpPr>
        <p:spPr>
          <a:xfrm>
            <a:off x="838200"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متكيف</a:t>
            </a:r>
          </a:p>
        </p:txBody>
      </p:sp>
      <p:sp>
        <p:nvSpPr>
          <p:cNvPr id="21" name="Text 20"/>
          <p:cNvSpPr txBox="1"/>
          <p:nvPr/>
        </p:nvSpPr>
        <p:spPr>
          <a:xfrm>
            <a:off x="838200"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Adaptive</a:t>
            </a:r>
          </a:p>
        </p:txBody>
      </p:sp>
      <p:sp>
        <p:nvSpPr>
          <p:cNvPr id="22" name="Rule 21"/>
          <p:cNvSpPr/>
          <p:nvPr/>
        </p:nvSpPr>
        <p:spPr>
          <a:xfrm>
            <a:off x="6153150" y="3815655"/>
            <a:ext cx="5226050" cy="31750"/>
          </a:xfrm>
          <a:prstGeom prst="rect">
            <a:avLst/>
          </a:prstGeom>
          <a:solidFill>
            <a:srgbClr val="C9C0AC"/>
          </a:solidFill>
          <a:ln>
            <a:noFill/>
          </a:ln>
        </p:spPr>
        <p:txBody>
          <a:bodyPr rtlCol="0" anchor="ctr"/>
          <a:lstStyle/>
          <a:p>
            <a:pPr algn="ctr"/>
          </a:p>
        </p:txBody>
      </p:sp>
      <p:sp>
        <p:nvSpPr>
          <p:cNvPr id="23" name="Text 22"/>
          <p:cNvSpPr txBox="1"/>
          <p:nvPr/>
        </p:nvSpPr>
        <p:spPr>
          <a:xfrm>
            <a:off x="6178550" y="397694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كيف تُستخدم</a:t>
            </a:r>
          </a:p>
        </p:txBody>
      </p:sp>
      <p:pic>
        <p:nvPicPr>
          <p:cNvPr id="24" name="Icon Check 23" descr="icon068.png"/>
          <p:cNvPicPr>
            <a:picLocks noChangeAspect="1"/>
          </p:cNvPicPr>
          <p:nvPr/>
        </p:nvPicPr>
        <p:blipFill>
          <a:blip r:embed="rId2"/>
          <a:stretch>
            <a:fillRect/>
          </a:stretch>
        </p:blipFill>
        <p:spPr>
          <a:xfrm>
            <a:off x="11125200" y="4368105"/>
            <a:ext cx="215900" cy="215900"/>
          </a:xfrm>
          <a:prstGeom prst="rect">
            <a:avLst/>
          </a:prstGeom>
        </p:spPr>
      </p:pic>
      <p:sp>
        <p:nvSpPr>
          <p:cNvPr id="25" name="Text 24"/>
          <p:cNvSpPr txBox="1"/>
          <p:nvPr/>
        </p:nvSpPr>
        <p:spPr>
          <a:xfrm>
            <a:off x="6178550" y="433267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تختارها القيادة للجهة كلها، أو لوظيفة أو فئة.</a:t>
            </a:r>
          </a:p>
        </p:txBody>
      </p:sp>
      <p:pic>
        <p:nvPicPr>
          <p:cNvPr id="26" name="Icon Check 25" descr="icon068.png"/>
          <p:cNvPicPr>
            <a:picLocks noChangeAspect="1"/>
          </p:cNvPicPr>
          <p:nvPr/>
        </p:nvPicPr>
        <p:blipFill>
          <a:blip r:embed="rId2"/>
          <a:stretch>
            <a:fillRect/>
          </a:stretch>
        </p:blipFill>
        <p:spPr>
          <a:xfrm>
            <a:off x="11125200" y="4738886"/>
            <a:ext cx="215900" cy="215900"/>
          </a:xfrm>
          <a:prstGeom prst="rect">
            <a:avLst/>
          </a:prstGeom>
        </p:spPr>
      </p:pic>
      <p:sp>
        <p:nvSpPr>
          <p:cNvPr id="27" name="Text 26"/>
          <p:cNvSpPr txBox="1"/>
          <p:nvPr/>
        </p:nvSpPr>
        <p:spPr>
          <a:xfrm>
            <a:off x="6178550" y="470345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توجه الملفين الحالي والمستهدف.</a:t>
            </a:r>
          </a:p>
        </p:txBody>
      </p:sp>
      <p:pic>
        <p:nvPicPr>
          <p:cNvPr id="28" name="Icon Check 27" descr="icon068.png"/>
          <p:cNvPicPr>
            <a:picLocks noChangeAspect="1"/>
          </p:cNvPicPr>
          <p:nvPr/>
        </p:nvPicPr>
        <p:blipFill>
          <a:blip r:embed="rId2"/>
          <a:stretch>
            <a:fillRect/>
          </a:stretch>
        </p:blipFill>
        <p:spPr>
          <a:xfrm>
            <a:off x="11125200" y="5109666"/>
            <a:ext cx="215900" cy="215900"/>
          </a:xfrm>
          <a:prstGeom prst="rect">
            <a:avLst/>
          </a:prstGeom>
        </p:spPr>
      </p:pic>
      <p:sp>
        <p:nvSpPr>
          <p:cNvPr id="29" name="Text 28"/>
          <p:cNvSpPr txBox="1"/>
          <p:nvPr/>
        </p:nvSpPr>
        <p:spPr>
          <a:xfrm>
            <a:off x="6178550" y="507423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الانتقال لمستوى أعلى عند حاجة المخاطر أو الالتزامات.</a:t>
            </a:r>
          </a:p>
        </p:txBody>
      </p:sp>
      <p:sp>
        <p:nvSpPr>
          <p:cNvPr id="30" name="Rule 29"/>
          <p:cNvSpPr/>
          <p:nvPr/>
        </p:nvSpPr>
        <p:spPr>
          <a:xfrm>
            <a:off x="812800" y="3815655"/>
            <a:ext cx="5226050" cy="31750"/>
          </a:xfrm>
          <a:prstGeom prst="rect">
            <a:avLst/>
          </a:prstGeom>
          <a:solidFill>
            <a:srgbClr val="C9C0AC"/>
          </a:solidFill>
          <a:ln>
            <a:noFill/>
          </a:ln>
        </p:spPr>
        <p:txBody>
          <a:bodyPr rtlCol="0" anchor="ctr"/>
          <a:lstStyle/>
          <a:p>
            <a:pPr algn="ctr"/>
          </a:p>
        </p:txBody>
      </p:sp>
      <p:sp>
        <p:nvSpPr>
          <p:cNvPr id="31" name="Text 30"/>
          <p:cNvSpPr txBox="1"/>
          <p:nvPr/>
        </p:nvSpPr>
        <p:spPr>
          <a:xfrm>
            <a:off x="838200" y="397694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ليست عليه</a:t>
            </a:r>
          </a:p>
        </p:txBody>
      </p:sp>
      <p:pic>
        <p:nvPicPr>
          <p:cNvPr id="32" name="Icon Warning 31" descr="icon056.png"/>
          <p:cNvPicPr>
            <a:picLocks noChangeAspect="1"/>
          </p:cNvPicPr>
          <p:nvPr/>
        </p:nvPicPr>
        <p:blipFill>
          <a:blip r:embed="rId3"/>
          <a:stretch>
            <a:fillRect/>
          </a:stretch>
        </p:blipFill>
        <p:spPr>
          <a:xfrm>
            <a:off x="5784850" y="4368105"/>
            <a:ext cx="215900" cy="215900"/>
          </a:xfrm>
          <a:prstGeom prst="rect">
            <a:avLst/>
          </a:prstGeom>
        </p:spPr>
      </p:pic>
      <p:sp>
        <p:nvSpPr>
          <p:cNvPr id="33" name="Text 32"/>
          <p:cNvSpPr txBox="1"/>
          <p:nvPr/>
        </p:nvSpPr>
        <p:spPr>
          <a:xfrm>
            <a:off x="838200" y="433267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ليست درجة نضج لكل ضابط.</a:t>
            </a:r>
          </a:p>
        </p:txBody>
      </p:sp>
      <p:pic>
        <p:nvPicPr>
          <p:cNvPr id="34" name="Icon Warning 33" descr="icon056.png"/>
          <p:cNvPicPr>
            <a:picLocks noChangeAspect="1"/>
          </p:cNvPicPr>
          <p:nvPr/>
        </p:nvPicPr>
        <p:blipFill>
          <a:blip r:embed="rId3"/>
          <a:stretch>
            <a:fillRect/>
          </a:stretch>
        </p:blipFill>
        <p:spPr>
          <a:xfrm>
            <a:off x="5784850" y="4738886"/>
            <a:ext cx="215900" cy="215900"/>
          </a:xfrm>
          <a:prstGeom prst="rect">
            <a:avLst/>
          </a:prstGeom>
        </p:spPr>
      </p:pic>
      <p:sp>
        <p:nvSpPr>
          <p:cNvPr id="35" name="Text 34"/>
          <p:cNvSpPr txBox="1"/>
          <p:nvPr/>
        </p:nvSpPr>
        <p:spPr>
          <a:xfrm>
            <a:off x="838200" y="470345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لا تحل محل منهجية إدارة المخاطر.</a:t>
            </a:r>
          </a:p>
        </p:txBody>
      </p:sp>
      <p:pic>
        <p:nvPicPr>
          <p:cNvPr id="36" name="Icon Warning 35" descr="icon056.png"/>
          <p:cNvPicPr>
            <a:picLocks noChangeAspect="1"/>
          </p:cNvPicPr>
          <p:nvPr/>
        </p:nvPicPr>
        <p:blipFill>
          <a:blip r:embed="rId3"/>
          <a:stretch>
            <a:fillRect/>
          </a:stretch>
        </p:blipFill>
        <p:spPr>
          <a:xfrm>
            <a:off x="5784850" y="5109666"/>
            <a:ext cx="215900" cy="215900"/>
          </a:xfrm>
          <a:prstGeom prst="rect">
            <a:avLst/>
          </a:prstGeom>
        </p:spPr>
      </p:pic>
      <p:sp>
        <p:nvSpPr>
          <p:cNvPr id="37" name="Text 36"/>
          <p:cNvSpPr txBox="1"/>
          <p:nvPr/>
        </p:nvSpPr>
        <p:spPr>
          <a:xfrm>
            <a:off x="838200" y="507423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لا يُشترط أن تكون كل جهة في المستوى 4.</a:t>
            </a:r>
          </a:p>
        </p:txBody>
      </p:sp>
      <p:sp>
        <p:nvSpPr>
          <p:cNvPr id="38" name="Text 3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39" name="Text 3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مقارنتان تخلطهما المقابلات</a:t>
            </a:r>
          </a:p>
        </p:txBody>
      </p:sp>
      <p:sp>
        <p:nvSpPr>
          <p:cNvPr id="5" name="Text 4"/>
          <p:cNvSpPr txBox="1"/>
          <p:nvPr/>
        </p:nvSpPr>
        <p:spPr>
          <a:xfrm>
            <a:off x="5796788" y="1593556"/>
            <a:ext cx="558241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24506B"/>
                </a:solidFill>
                <a:latin typeface="Readex Pro"/>
                <a:ea typeface="Readex Pro"/>
                <a:cs typeface="Readex Pro"/>
              </a:rPr>
              <a:t>NIST CSF أم NIST RMF؟</a:t>
            </a:r>
          </a:p>
        </p:txBody>
      </p:sp>
      <p:graphicFrame>
        <p:nvGraphicFramePr>
          <p:cNvPr id="6" name="Table 5"/>
          <p:cNvGraphicFramePr>
            <a:graphicFrameLocks noGrp="1"/>
          </p:cNvGraphicFramePr>
          <p:nvPr/>
        </p:nvGraphicFramePr>
        <p:xfrm>
          <a:off x="6213475" y="2006501"/>
          <a:ext cx="5162550" cy="223916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42267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RMF</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CSF 2.0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عملية من سبع خطوات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إطار نتائج لإدارة مخاطر الأمن السيبراني</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النوع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نظام واحد عبر دورة حياته</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الجهة كلها: ملفات ومستويات</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المستوى</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SP 800-37 Rev. 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CSWP 29 · 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المرجع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99288" y="1593556"/>
            <a:ext cx="558241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Readex Pro"/>
                <a:ea typeface="Readex Pro"/>
                <a:cs typeface="Readex Pro"/>
              </a:rPr>
              <a:t>تقييم الفجوات أم النضج؟</a:t>
            </a:r>
          </a:p>
        </p:txBody>
      </p:sp>
      <p:graphicFrame>
        <p:nvGraphicFramePr>
          <p:cNvPr id="8" name="Table 7"/>
          <p:cNvGraphicFramePr>
            <a:graphicFrameLocks noGrp="1"/>
          </p:cNvGraphicFramePr>
          <p:nvPr/>
        </p:nvGraphicFramePr>
        <p:xfrm>
          <a:off x="815975" y="2006501"/>
          <a:ext cx="5162550" cy="278764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Maturity Assessment</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Gap Assessment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إلى أي مستوى وصلت ممارسات الجهة؟</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ما الفرق بين الوضع القائم ومتطلب محدد؟</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السؤال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مستوى على مقياس نضج</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قائمة فجوات: مطبق، جزئي، غير مطبق</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النتيجة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يُجرَ بعد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تقييم النصف الأول 2026</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4E5A66"/>
                          </a:solidFill>
                          <a:latin typeface="IBM Plex Sans Arabic"/>
                          <a:ea typeface="IBM Plex Sans Arabic"/>
                          <a:cs typeface="IBM Plex Sans Arabic"/>
                        </a:rPr>
                        <a:t>في رُفاد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9" name="Text 8"/>
          <p:cNvSpPr txBox="1"/>
          <p:nvPr/>
        </p:nvSpPr>
        <p:spPr>
          <a:xfrm>
            <a:off x="0" y="4918230"/>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خطوات RMF السبع: Prepare · Categorize · Select · Implement · Assess · Authorize · Monitor</a:t>
            </a:r>
          </a:p>
        </p:txBody>
      </p:sp>
      <p:sp>
        <p:nvSpPr>
          <p:cNvPr id="10" name="Text 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1" name="Text 1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ضوابط الهيئة الوطنية للأمن السيبراني</a:t>
            </a:r>
          </a:p>
        </p:txBody>
      </p:sp>
      <p:graphicFrame>
        <p:nvGraphicFramePr>
          <p:cNvPr id="5" name="Table 4"/>
          <p:cNvGraphicFramePr>
            <a:graphicFrameLocks noGrp="1"/>
          </p:cNvGraphicFramePr>
          <p:nvPr/>
        </p:nvGraphicFramePr>
        <p:xfrm>
          <a:off x="815975" y="1661120"/>
          <a:ext cx="10560050" cy="3381376"/>
        </p:xfrm>
        <a:graphic>
          <a:graphicData uri="http://schemas.openxmlformats.org/drawingml/2006/table">
            <a:tbl>
              <a:tblPr firstRow="0" bandRow="0" lastRow="0" firstCol="0" lastCol="0" bandCol="0">
                <a:tableStyleId>{2D5ABB26-0587-4C30-8999-92F81FD0307C}</a:tableStyleId>
              </a:tblPr>
              <a:tblGrid>
                <a:gridCol w="8025765"/>
                <a:gridCol w="253428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موضوعها ونطاقها المختصر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الضوابط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الضوابط الأساسية:‏ 108 ضوابط للجهات الحكومية والتابعة لها وجهات البنية التحتية الوطنية الحساسة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ECC-2:2024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الحوسبة السحابية: لمقدمي الخدمات السحابية والمستفيدين منها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CCC-2:2024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البيانات: حمايتها في دورة حياتها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DCC-1:2022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الأنظمة الحساسة الوطنية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CSCC-1:2019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أنظمة التقنية التشغيلية والتحكم الصناعي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OTCC-1:2022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العمل عن بعد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TCC-1:2021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حسابات التواصل الاجتماعي للجهات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OSMACC-1:2021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20873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الضوابط الأخرى امتداد لـ ECC في سياقات محددة. النطاق الدقيق في النص الرسمي لكل منها.</a:t>
            </a:r>
          </a:p>
        </p:txBody>
      </p:sp>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مراجع أخرى تهمك</a:t>
            </a:r>
          </a:p>
        </p:txBody>
      </p:sp>
      <p:graphicFrame>
        <p:nvGraphicFramePr>
          <p:cNvPr id="5" name="Table 4"/>
          <p:cNvGraphicFramePr>
            <a:graphicFrameLocks noGrp="1"/>
          </p:cNvGraphicFramePr>
          <p:nvPr/>
        </p:nvGraphicFramePr>
        <p:xfrm>
          <a:off x="815975" y="1661120"/>
          <a:ext cx="10560050" cy="2810272"/>
        </p:xfrm>
        <a:graphic>
          <a:graphicData uri="http://schemas.openxmlformats.org/drawingml/2006/table">
            <a:tbl>
              <a:tblPr firstRow="0" bandRow="0" lastRow="0" firstCol="0" lastCol="0" bandCol="0">
                <a:tableStyleId>{2D5ABB26-0587-4C30-8999-92F81FD0307C}</a:tableStyleId>
              </a:tblPr>
              <a:tblGrid>
                <a:gridCol w="2639695"/>
                <a:gridCol w="2640330"/>
                <a:gridCol w="528002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المرجع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نطاق ECC نفسه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الهيئة الوطنية للأمن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الإطار الوطني لإدارة مخاطر الأمن السيبراني NFCRM-⁠‎1:2025‎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الجهات المالية الخاضعة لإشرافه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البنك المركزي السعودي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إطار ساما للأمن السيبراني، الإصدار 1.0 (2017)</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 يعالج بيانات شخصية في المملكة</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سدايا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نظام حماية البيانات الشخصية ولوائحه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الجهات العامة وشركاؤها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مكتب إدارة البيانات الوطنية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معايير إدارة البيانات وحماية البيانات الشخصية v1.5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الأدوار الوظيفية ومهامها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الهيئة الوطنية للأمن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الإطار السعودي لكوادر الأمن السيبراني SCyWF-⁠‎1.5:2026‎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020667"/>
            <a:ext cx="10566400" cy="573980"/>
          </a:xfrm>
          <a:prstGeom prst="roundRect">
            <a:avLst>
              <a:gd name="adj" fmla="val 17700"/>
            </a:avLst>
          </a:prstGeom>
          <a:solidFill>
            <a:srgbClr val="E3F1ED"/>
          </a:solidFill>
          <a:ln>
            <a:noFill/>
          </a:ln>
        </p:spPr>
        <p:txBody>
          <a:bodyPr rtlCol="0" anchor="ctr"/>
          <a:lstStyle/>
          <a:p>
            <a:pPr algn="ctr"/>
          </a:p>
        </p:txBody>
      </p:sp>
      <p:pic>
        <p:nvPicPr>
          <p:cNvPr id="7" name="Icon Users 6" descr="icon069.png"/>
          <p:cNvPicPr>
            <a:picLocks noChangeAspect="1"/>
          </p:cNvPicPr>
          <p:nvPr/>
        </p:nvPicPr>
        <p:blipFill>
          <a:blip r:embed="rId2"/>
          <a:stretch>
            <a:fillRect/>
          </a:stretch>
        </p:blipFill>
        <p:spPr>
          <a:xfrm>
            <a:off x="10966450" y="5190133"/>
            <a:ext cx="234950" cy="234950"/>
          </a:xfrm>
          <a:prstGeom prst="rect">
            <a:avLst/>
          </a:prstGeom>
        </p:spPr>
      </p:pic>
      <p:sp>
        <p:nvSpPr>
          <p:cNvPr id="8" name="Text 7"/>
          <p:cNvSpPr txBox="1"/>
          <p:nvPr/>
        </p:nvSpPr>
        <p:spPr>
          <a:xfrm>
            <a:off x="838200" y="5112234"/>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للمسار المهني: SCyWF فيه فئة «الحوكمة والمخاطر والامتثال والأنظمة» بأدوارها. استخدم أسماءها في سيرتك.</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82797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تحدد ما ينطبق على الجهة؟ أربعة أسئلة</a:t>
            </a:r>
          </a:p>
        </p:txBody>
      </p:sp>
      <p:sp>
        <p:nvSpPr>
          <p:cNvPr id="6" name="Rule 5"/>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7" name="Text 6"/>
          <p:cNvSpPr txBox="1"/>
          <p:nvPr/>
        </p:nvSpPr>
        <p:spPr>
          <a:xfrm>
            <a:off x="10809307" y="1868257"/>
            <a:ext cx="531793"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8" name="Text 7"/>
          <p:cNvSpPr txBox="1"/>
          <p:nvPr/>
        </p:nvSpPr>
        <p:spPr>
          <a:xfrm>
            <a:off x="6178550" y="1876385"/>
            <a:ext cx="4803477"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نوع الجهة</a:t>
            </a:r>
          </a:p>
        </p:txBody>
      </p:sp>
      <p:sp>
        <p:nvSpPr>
          <p:cNvPr id="9" name="Text 8"/>
          <p:cNvSpPr txBox="1"/>
          <p:nvPr/>
        </p:nvSpPr>
        <p:spPr>
          <a:xfrm>
            <a:off x="6178550" y="2304375"/>
            <a:ext cx="51625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حكومية، أم تابعة لجهة حكومية، أم تملك بنية حساسة، أم خاصة؟</a:t>
            </a:r>
          </a:p>
        </p:txBody>
      </p:sp>
      <p:sp>
        <p:nvSpPr>
          <p:cNvPr id="10" name="Rule 9"/>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1" name="Text 10"/>
          <p:cNvSpPr txBox="1"/>
          <p:nvPr/>
        </p:nvSpPr>
        <p:spPr>
          <a:xfrm>
            <a:off x="5475803" y="1868257"/>
            <a:ext cx="524947"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2" name="Text 11"/>
          <p:cNvSpPr txBox="1"/>
          <p:nvPr/>
        </p:nvSpPr>
        <p:spPr>
          <a:xfrm>
            <a:off x="838200" y="1876385"/>
            <a:ext cx="4810323"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القطاع والمنظم</a:t>
            </a:r>
          </a:p>
        </p:txBody>
      </p:sp>
      <p:sp>
        <p:nvSpPr>
          <p:cNvPr id="13" name="Text 12"/>
          <p:cNvSpPr txBox="1"/>
          <p:nvPr/>
        </p:nvSpPr>
        <p:spPr>
          <a:xfrm>
            <a:off x="838200" y="230437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هل تخضع لجهة رقابية قطاعية، مثل البنك المركزي؟</a:t>
            </a:r>
          </a:p>
        </p:txBody>
      </p:sp>
      <p:sp>
        <p:nvSpPr>
          <p:cNvPr id="14" name="Rule 13"/>
          <p:cNvSpPr/>
          <p:nvPr/>
        </p:nvSpPr>
        <p:spPr>
          <a:xfrm>
            <a:off x="6153150" y="3531195"/>
            <a:ext cx="5226050" cy="31750"/>
          </a:xfrm>
          <a:prstGeom prst="rect">
            <a:avLst/>
          </a:prstGeom>
          <a:solidFill>
            <a:srgbClr val="C9C0AC"/>
          </a:solidFill>
          <a:ln>
            <a:noFill/>
          </a:ln>
        </p:spPr>
        <p:txBody>
          <a:bodyPr rtlCol="0" anchor="ctr"/>
          <a:lstStyle/>
          <a:p>
            <a:pPr algn="ctr"/>
          </a:p>
        </p:txBody>
      </p:sp>
      <p:sp>
        <p:nvSpPr>
          <p:cNvPr id="15" name="Text 14"/>
          <p:cNvSpPr txBox="1"/>
          <p:nvPr/>
        </p:nvSpPr>
        <p:spPr>
          <a:xfrm>
            <a:off x="10797401" y="3741507"/>
            <a:ext cx="543699"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6" name="Text 15"/>
          <p:cNvSpPr txBox="1"/>
          <p:nvPr/>
        </p:nvSpPr>
        <p:spPr>
          <a:xfrm>
            <a:off x="6178550" y="3749635"/>
            <a:ext cx="479157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نوع البيانات</a:t>
            </a:r>
          </a:p>
        </p:txBody>
      </p:sp>
      <p:sp>
        <p:nvSpPr>
          <p:cNvPr id="17" name="Text 16"/>
          <p:cNvSpPr txBox="1"/>
          <p:nvPr/>
        </p:nvSpPr>
        <p:spPr>
          <a:xfrm>
            <a:off x="6178550" y="417762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بيانات شخصية؟ بيانات بطاقات؟ بيانات حكومية؟</a:t>
            </a:r>
          </a:p>
        </p:txBody>
      </p:sp>
      <p:sp>
        <p:nvSpPr>
          <p:cNvPr id="18" name="Rule 17"/>
          <p:cNvSpPr/>
          <p:nvPr/>
        </p:nvSpPr>
        <p:spPr>
          <a:xfrm>
            <a:off x="812800" y="3531195"/>
            <a:ext cx="5226050" cy="31750"/>
          </a:xfrm>
          <a:prstGeom prst="rect">
            <a:avLst/>
          </a:prstGeom>
          <a:solidFill>
            <a:srgbClr val="C9C0AC"/>
          </a:solidFill>
          <a:ln>
            <a:noFill/>
          </a:ln>
        </p:spPr>
        <p:txBody>
          <a:bodyPr rtlCol="0" anchor="ctr"/>
          <a:lstStyle/>
          <a:p>
            <a:pPr algn="ctr"/>
          </a:p>
        </p:txBody>
      </p:sp>
      <p:sp>
        <p:nvSpPr>
          <p:cNvPr id="19" name="Text 18"/>
          <p:cNvSpPr txBox="1"/>
          <p:nvPr/>
        </p:nvSpPr>
        <p:spPr>
          <a:xfrm>
            <a:off x="5424210" y="3741507"/>
            <a:ext cx="57654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4</a:t>
            </a:r>
          </a:p>
        </p:txBody>
      </p:sp>
      <p:sp>
        <p:nvSpPr>
          <p:cNvPr id="20" name="Text 19"/>
          <p:cNvSpPr txBox="1"/>
          <p:nvPr/>
        </p:nvSpPr>
        <p:spPr>
          <a:xfrm>
            <a:off x="838200" y="3749635"/>
            <a:ext cx="47587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العقود والعملاء</a:t>
            </a:r>
          </a:p>
        </p:txBody>
      </p:sp>
      <p:sp>
        <p:nvSpPr>
          <p:cNvPr id="21" name="Text 20"/>
          <p:cNvSpPr txBox="1"/>
          <p:nvPr/>
        </p:nvSpPr>
        <p:spPr>
          <a:xfrm>
            <a:off x="838200" y="417762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هل تفرض العقود متطلبات أمن على الجهة؟</a:t>
            </a:r>
          </a:p>
        </p:txBody>
      </p:sp>
      <p:sp>
        <p:nvSpPr>
          <p:cNvPr id="22" name="Box 21"/>
          <p:cNvSpPr/>
          <p:nvPr/>
        </p:nvSpPr>
        <p:spPr>
          <a:xfrm>
            <a:off x="812800" y="5036145"/>
            <a:ext cx="10566400" cy="609600"/>
          </a:xfrm>
          <a:prstGeom prst="roundRect">
            <a:avLst>
              <a:gd name="adj" fmla="val 16666"/>
            </a:avLst>
          </a:prstGeom>
          <a:solidFill>
            <a:srgbClr val="172433"/>
          </a:solidFill>
          <a:ln>
            <a:noFill/>
          </a:ln>
        </p:spPr>
        <p:txBody>
          <a:bodyPr rtlCol="0" anchor="ctr"/>
          <a:lstStyle/>
          <a:p>
            <a:pPr algn="ctr"/>
          </a:p>
        </p:txBody>
      </p:sp>
      <p:pic>
        <p:nvPicPr>
          <p:cNvPr id="23" name="Icon Lightbulb 22" descr="icon008.png"/>
          <p:cNvPicPr>
            <a:picLocks noChangeAspect="1"/>
          </p:cNvPicPr>
          <p:nvPr/>
        </p:nvPicPr>
        <p:blipFill>
          <a:blip r:embed="rId2"/>
          <a:stretch>
            <a:fillRect/>
          </a:stretch>
        </p:blipFill>
        <p:spPr>
          <a:xfrm>
            <a:off x="10915650" y="5198070"/>
            <a:ext cx="285750" cy="285750"/>
          </a:xfrm>
          <a:prstGeom prst="rect">
            <a:avLst/>
          </a:prstGeom>
        </p:spPr>
      </p:pic>
      <p:sp>
        <p:nvSpPr>
          <p:cNvPr id="24" name="Text 23"/>
          <p:cNvSpPr txBox="1"/>
          <p:nvPr/>
        </p:nvSpPr>
        <p:spPr>
          <a:xfrm>
            <a:off x="838200" y="512377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ثم تحقق من نص «نطاق التطبيق» في المرجع الرسمي نفسه. لا تحكم من اسم الإطار.</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751167"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ما الذي ينطبق على كل جهة؟</a:t>
            </a:r>
          </a:p>
        </p:txBody>
      </p:sp>
      <p:sp>
        <p:nvSpPr>
          <p:cNvPr id="6" name="Text 5"/>
          <p:cNvSpPr txBox="1"/>
          <p:nvPr/>
        </p:nvSpPr>
        <p:spPr>
          <a:xfrm>
            <a:off x="9664700" y="1550249"/>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رُفاد</a:t>
            </a:r>
          </a:p>
        </p:txBody>
      </p:sp>
      <p:sp>
        <p:nvSpPr>
          <p:cNvPr id="7" name="Text 6"/>
          <p:cNvSpPr txBox="1"/>
          <p:nvPr/>
        </p:nvSpPr>
        <p:spPr>
          <a:xfrm>
            <a:off x="103632" y="1550249"/>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خاصة للتوصيل، تعالج بيانات موظفين ومستلمين، لا تعالج بيانات بطاقات بنفسها.</a:t>
            </a:r>
          </a:p>
        </p:txBody>
      </p:sp>
      <p:sp>
        <p:nvSpPr>
          <p:cNvPr id="8" name="Text 7"/>
          <p:cNvSpPr txBox="1"/>
          <p:nvPr/>
        </p:nvSpPr>
        <p:spPr>
          <a:xfrm>
            <a:off x="9740900" y="1898209"/>
            <a:ext cx="16383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شركة «مدى التقنية»</a:t>
            </a:r>
          </a:p>
        </p:txBody>
      </p:sp>
      <p:sp>
        <p:nvSpPr>
          <p:cNvPr id="9" name="Text 8"/>
          <p:cNvSpPr txBox="1"/>
          <p:nvPr/>
        </p:nvSpPr>
        <p:spPr>
          <a:xfrm>
            <a:off x="103632" y="1898209"/>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افتراضية تابعة لوزارة، تقدم خدمات تقنية للوزارة.</a:t>
            </a:r>
          </a:p>
        </p:txBody>
      </p:sp>
      <p:sp>
        <p:nvSpPr>
          <p:cNvPr id="10" name="Text 9"/>
          <p:cNvSpPr txBox="1"/>
          <p:nvPr/>
        </p:nvSpPr>
        <p:spPr>
          <a:xfrm>
            <a:off x="9664700" y="2530630"/>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شركة «دفع سريع»</a:t>
            </a:r>
          </a:p>
        </p:txBody>
      </p:sp>
      <p:sp>
        <p:nvSpPr>
          <p:cNvPr id="11" name="Text 10"/>
          <p:cNvSpPr txBox="1"/>
          <p:nvPr/>
        </p:nvSpPr>
        <p:spPr>
          <a:xfrm>
            <a:off x="103632" y="2530630"/>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تقنية مالية افتراضية مرخصة من البنك المركزي السعودي، تعالج مدفوعات بالبطاقات.</a:t>
            </a:r>
          </a:p>
        </p:txBody>
      </p:sp>
      <p:graphicFrame>
        <p:nvGraphicFramePr>
          <p:cNvPr id="12" name="Table 11"/>
          <p:cNvGraphicFramePr>
            <a:graphicFrameLocks noGrp="1"/>
          </p:cNvGraphicFramePr>
          <p:nvPr/>
        </p:nvGraphicFramePr>
        <p:xfrm>
          <a:off x="815975" y="2964061"/>
          <a:ext cx="10560050" cy="1964928"/>
        </p:xfrm>
        <a:graphic>
          <a:graphicData uri="http://schemas.openxmlformats.org/drawingml/2006/table">
            <a:tbl>
              <a:tblPr firstRow="0" bandRow="0" lastRow="0" firstCol="0" lastCol="0" bandCol="0">
                <a:tableStyleId>{2D5ABB26-0587-4C30-8999-92F81FD0307C}</a:tableStyleId>
              </a:tblPr>
              <a:tblGrid>
                <a:gridCol w="1900555"/>
                <a:gridCol w="2112010"/>
                <a:gridCol w="2323465"/>
                <a:gridCol w="2112010"/>
                <a:gridCol w="21120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PCI DSS</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إطار ساما للأمن السيبراني</a:t>
                      </a:r>
                    </a:p>
                  </a:txBody>
                  <a:tcPr marT="85649" marR="121920" marB="56591" marL="65876"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نظام حماية البيانات الشخصية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ECC-2:2024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رُفاد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«مدى التقنية»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«دفع سريع»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Box 12"/>
          <p:cNvSpPr/>
          <p:nvPr/>
        </p:nvSpPr>
        <p:spPr>
          <a:xfrm>
            <a:off x="812800" y="5046464"/>
            <a:ext cx="10566400" cy="538460"/>
          </a:xfrm>
          <a:prstGeom prst="roundRect">
            <a:avLst>
              <a:gd name="adj" fmla="val 18868"/>
            </a:avLst>
          </a:prstGeom>
          <a:solidFill>
            <a:srgbClr val="F6ECDA"/>
          </a:solidFill>
          <a:ln>
            <a:noFill/>
          </a:ln>
        </p:spPr>
        <p:txBody>
          <a:bodyPr rtlCol="0" anchor="ctr"/>
          <a:lstStyle/>
          <a:p>
            <a:pPr algn="ctr"/>
          </a:p>
        </p:txBody>
      </p:sp>
      <p:pic>
        <p:nvPicPr>
          <p:cNvPr id="14" name="Icon Clock 13" descr="icon011.png"/>
          <p:cNvPicPr>
            <a:picLocks noChangeAspect="1"/>
          </p:cNvPicPr>
          <p:nvPr/>
        </p:nvPicPr>
        <p:blipFill>
          <a:blip r:embed="rId2"/>
          <a:stretch>
            <a:fillRect/>
          </a:stretch>
        </p:blipFill>
        <p:spPr>
          <a:xfrm>
            <a:off x="10991850" y="5210870"/>
            <a:ext cx="209550" cy="209550"/>
          </a:xfrm>
          <a:prstGeom prst="rect">
            <a:avLst/>
          </a:prstGeom>
        </p:spPr>
      </p:pic>
      <p:sp>
        <p:nvSpPr>
          <p:cNvPr id="15" name="Text 14"/>
          <p:cNvSpPr txBox="1"/>
          <p:nvPr/>
        </p:nvSpPr>
        <p:spPr>
          <a:xfrm>
            <a:off x="838200" y="5141968"/>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لكل خانة: نعم، أو لا، أو يعتمد، مع سبب قصير. 10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95823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الانطباق على الجهات الثلاث</a:t>
            </a:r>
          </a:p>
        </p:txBody>
      </p:sp>
      <p:graphicFrame>
        <p:nvGraphicFramePr>
          <p:cNvPr id="6" name="Table 5"/>
          <p:cNvGraphicFramePr>
            <a:graphicFrameLocks noGrp="1"/>
          </p:cNvGraphicFramePr>
          <p:nvPr/>
        </p:nvGraphicFramePr>
        <p:xfrm>
          <a:off x="815975" y="1597620"/>
          <a:ext cx="10560050" cy="3442295"/>
        </p:xfrm>
        <a:graphic>
          <a:graphicData uri="http://schemas.openxmlformats.org/drawingml/2006/table">
            <a:tbl>
              <a:tblPr firstRow="0" bandRow="0" lastRow="0" firstCol="0" lastCol="0" bandCol="0">
                <a:tableStyleId>{2D5ABB26-0587-4C30-8999-92F81FD0307C}</a:tableStyleId>
              </a:tblPr>
              <a:tblGrid>
                <a:gridCol w="2323465"/>
                <a:gridCol w="2534285"/>
                <a:gridCol w="1900555"/>
                <a:gridCol w="2323465"/>
                <a:gridCol w="1478280"/>
              </a:tblGrid>
              <a:tr h="783431">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PCI DSS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إطار ساما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نظام حماية البيانات الشخصية</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ECC-2:2024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ما دامت لا تخزن بيانات البطاقات أو تعالجها أو تنقلها</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غير ملزم؛ تبنته طوعاً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حسب معالجتها للبطاقات</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إن عالجت بيانات شخصية</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تابعة لجهة حكومية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مدى التقنية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تعالج بيانات البطاقات</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غالباً نعم: تحقق من نطاق الإطار في دليل ساما</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ما لم تكن حكومية أو بنية تحتية حساسة</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دفع سريع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890272"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قاعدة الانطباق والأخطاء الشائعة</a:t>
            </a:r>
          </a:p>
        </p:txBody>
      </p:sp>
      <p:sp>
        <p:nvSpPr>
          <p:cNvPr id="6" name="Box 5"/>
          <p:cNvSpPr/>
          <p:nvPr/>
        </p:nvSpPr>
        <p:spPr>
          <a:xfrm>
            <a:off x="6188075" y="1661120"/>
            <a:ext cx="5187950" cy="3079750"/>
          </a:xfrm>
          <a:prstGeom prst="roundRect">
            <a:avLst>
              <a:gd name="adj" fmla="val 3703"/>
            </a:avLst>
          </a:prstGeom>
          <a:solidFill>
            <a:srgbClr val="E3F1ED"/>
          </a:solidFill>
          <a:ln w="6350">
            <a:solidFill>
              <a:srgbClr val="9FD1C5"/>
            </a:solidFill>
          </a:ln>
        </p:spPr>
        <p:txBody>
          <a:bodyPr rtlCol="0" anchor="ctr"/>
          <a:lstStyle/>
          <a:p>
            <a:pPr algn="ctr"/>
          </a:p>
        </p:txBody>
      </p:sp>
      <p:sp>
        <p:nvSpPr>
          <p:cNvPr id="7" name="Text 6"/>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يجعل الإجابة قوية</a:t>
            </a:r>
          </a:p>
        </p:txBody>
      </p:sp>
      <p:pic>
        <p:nvPicPr>
          <p:cNvPr id="8" name="Icon CheckCircle 7" descr="icon070.png"/>
          <p:cNvPicPr>
            <a:picLocks noChangeAspect="1"/>
          </p:cNvPicPr>
          <p:nvPr/>
        </p:nvPicPr>
        <p:blipFill>
          <a:blip r:embed="rId2"/>
          <a:stretch>
            <a:fillRect/>
          </a:stretch>
        </p:blipFill>
        <p:spPr>
          <a:xfrm>
            <a:off x="10902950" y="2248495"/>
            <a:ext cx="266700" cy="266700"/>
          </a:xfrm>
          <a:prstGeom prst="rect">
            <a:avLst/>
          </a:prstGeom>
        </p:spPr>
      </p:pic>
      <p:sp>
        <p:nvSpPr>
          <p:cNvPr id="9" name="Text 8"/>
          <p:cNvSpPr txBox="1"/>
          <p:nvPr/>
        </p:nvSpPr>
        <p:spPr>
          <a:xfrm>
            <a:off x="6262624" y="22091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الانطباق يُحدَّد من النص الرسمي لنطاق كل إطار، لا من اسمه.</a:t>
            </a:r>
          </a:p>
        </p:txBody>
      </p:sp>
      <p:pic>
        <p:nvPicPr>
          <p:cNvPr id="10" name="Icon CheckCircle 9" descr="icon070.png"/>
          <p:cNvPicPr>
            <a:picLocks noChangeAspect="1"/>
          </p:cNvPicPr>
          <p:nvPr/>
        </p:nvPicPr>
        <p:blipFill>
          <a:blip r:embed="rId2"/>
          <a:stretch>
            <a:fillRect/>
          </a:stretch>
        </p:blipFill>
        <p:spPr>
          <a:xfrm>
            <a:off x="10902950" y="3048595"/>
            <a:ext cx="266700" cy="266700"/>
          </a:xfrm>
          <a:prstGeom prst="rect">
            <a:avLst/>
          </a:prstGeom>
        </p:spPr>
      </p:pic>
      <p:sp>
        <p:nvSpPr>
          <p:cNvPr id="11" name="Text 10"/>
          <p:cNvSpPr txBox="1"/>
          <p:nvPr/>
        </p:nvSpPr>
        <p:spPr>
          <a:xfrm>
            <a:off x="6262624" y="30092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النوع (حكومي أو خاص)، والقطاع، ونوع البيانات، والعقود: أربعة أسئلة تكفي للبداية.</a:t>
            </a:r>
          </a:p>
        </p:txBody>
      </p:sp>
      <p:pic>
        <p:nvPicPr>
          <p:cNvPr id="12" name="Icon CheckCircle 11" descr="icon070.png"/>
          <p:cNvPicPr>
            <a:picLocks noChangeAspect="1"/>
          </p:cNvPicPr>
          <p:nvPr/>
        </p:nvPicPr>
        <p:blipFill>
          <a:blip r:embed="rId2"/>
          <a:stretch>
            <a:fillRect/>
          </a:stretch>
        </p:blipFill>
        <p:spPr>
          <a:xfrm>
            <a:off x="10902950" y="3848695"/>
            <a:ext cx="266700" cy="266700"/>
          </a:xfrm>
          <a:prstGeom prst="rect">
            <a:avLst/>
          </a:prstGeom>
        </p:spPr>
      </p:pic>
      <p:sp>
        <p:nvSpPr>
          <p:cNvPr id="13" name="Text 12"/>
          <p:cNvSpPr txBox="1"/>
          <p:nvPr/>
        </p:nvSpPr>
        <p:spPr>
          <a:xfrm>
            <a:off x="6262624" y="38093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الإطار غير الملزم يمكن تبنيه طوعاً، لكن لا تصف الجهة بأنها «ملتزمة نظاماً» به.</a:t>
            </a:r>
          </a:p>
        </p:txBody>
      </p:sp>
      <p:sp>
        <p:nvSpPr>
          <p:cNvPr id="14" name="Box 13"/>
          <p:cNvSpPr/>
          <p:nvPr/>
        </p:nvSpPr>
        <p:spPr>
          <a:xfrm>
            <a:off x="815975" y="1661120"/>
            <a:ext cx="5187950" cy="3079750"/>
          </a:xfrm>
          <a:prstGeom prst="roundRect">
            <a:avLst>
              <a:gd name="adj" fmla="val 3703"/>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6" name="Icon Warning 15" descr="icon071.png"/>
          <p:cNvPicPr>
            <a:picLocks noChangeAspect="1"/>
          </p:cNvPicPr>
          <p:nvPr/>
        </p:nvPicPr>
        <p:blipFill>
          <a:blip r:embed="rId3"/>
          <a:stretch>
            <a:fillRect/>
          </a:stretch>
        </p:blipFill>
        <p:spPr>
          <a:xfrm>
            <a:off x="5530850" y="2248495"/>
            <a:ext cx="266700" cy="266700"/>
          </a:xfrm>
          <a:prstGeom prst="rect">
            <a:avLst/>
          </a:prstGeom>
        </p:spPr>
      </p:pic>
      <p:sp>
        <p:nvSpPr>
          <p:cNvPr id="17" name="Text 16"/>
          <p:cNvSpPr txBox="1"/>
          <p:nvPr/>
        </p:nvSpPr>
        <p:spPr>
          <a:xfrm>
            <a:off x="838200" y="2209125"/>
            <a:ext cx="45783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افتراض أن ECC تلزم كل شركة سعودية.</a:t>
            </a:r>
          </a:p>
        </p:txBody>
      </p:sp>
      <p:pic>
        <p:nvPicPr>
          <p:cNvPr id="18" name="Icon Warning 17" descr="icon071.png"/>
          <p:cNvPicPr>
            <a:picLocks noChangeAspect="1"/>
          </p:cNvPicPr>
          <p:nvPr/>
        </p:nvPicPr>
        <p:blipFill>
          <a:blip r:embed="rId3"/>
          <a:stretch>
            <a:fillRect/>
          </a:stretch>
        </p:blipFill>
        <p:spPr>
          <a:xfrm>
            <a:off x="5530850" y="2692995"/>
            <a:ext cx="266700" cy="266700"/>
          </a:xfrm>
          <a:prstGeom prst="rect">
            <a:avLst/>
          </a:prstGeom>
        </p:spPr>
      </p:pic>
      <p:sp>
        <p:nvSpPr>
          <p:cNvPr id="19" name="Text 18"/>
          <p:cNvSpPr txBox="1"/>
          <p:nvPr/>
        </p:nvSpPr>
        <p:spPr>
          <a:xfrm>
            <a:off x="890524" y="26536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نسيان نظام حماية البيانات الشخصية لأن الجهة ليست تقنية.</a:t>
            </a:r>
          </a:p>
        </p:txBody>
      </p:sp>
      <p:pic>
        <p:nvPicPr>
          <p:cNvPr id="20" name="Icon Warning 19" descr="icon071.png"/>
          <p:cNvPicPr>
            <a:picLocks noChangeAspect="1"/>
          </p:cNvPicPr>
          <p:nvPr/>
        </p:nvPicPr>
        <p:blipFill>
          <a:blip r:embed="rId3"/>
          <a:stretch>
            <a:fillRect/>
          </a:stretch>
        </p:blipFill>
        <p:spPr>
          <a:xfrm>
            <a:off x="5530850" y="3493095"/>
            <a:ext cx="266700" cy="266700"/>
          </a:xfrm>
          <a:prstGeom prst="rect">
            <a:avLst/>
          </a:prstGeom>
        </p:spPr>
      </p:pic>
      <p:sp>
        <p:nvSpPr>
          <p:cNvPr id="21" name="Text 20"/>
          <p:cNvSpPr txBox="1"/>
          <p:nvPr/>
        </p:nvSpPr>
        <p:spPr>
          <a:xfrm>
            <a:off x="838200" y="3453725"/>
            <a:ext cx="45783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الجزم بالانطباق دون الرجوع إلى نص النطاق.</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82797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مواءمة ضابط واحد مع مرجعين</a:t>
            </a:r>
          </a:p>
        </p:txBody>
      </p:sp>
      <p:pic>
        <p:nvPicPr>
          <p:cNvPr id="6" name="Icon Lock 5" descr="icon044.png"/>
          <p:cNvPicPr>
            <a:picLocks noChangeAspect="1"/>
          </p:cNvPicPr>
          <p:nvPr/>
        </p:nvPicPr>
        <p:blipFill>
          <a:blip r:embed="rId2"/>
          <a:stretch>
            <a:fillRect/>
          </a:stretch>
        </p:blipFill>
        <p:spPr>
          <a:xfrm>
            <a:off x="11099800" y="1798836"/>
            <a:ext cx="279400" cy="279400"/>
          </a:xfrm>
          <a:prstGeom prst="rect">
            <a:avLst/>
          </a:prstGeom>
        </p:spPr>
      </p:pic>
      <p:sp>
        <p:nvSpPr>
          <p:cNvPr id="7" name="Text 6"/>
          <p:cNvSpPr txBox="1"/>
          <p:nvPr/>
        </p:nvSpPr>
        <p:spPr>
          <a:xfrm>
            <a:off x="506857" y="1565997"/>
            <a:ext cx="10504043"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1" i="0">
                <a:solidFill>
                  <a:srgbClr val="172433"/>
                </a:solidFill>
                <a:latin typeface="IBM Plex Sans Arabic"/>
                <a:ea typeface="IBM Plex Sans Arabic"/>
                <a:cs typeface="IBM Plex Sans Arabic"/>
              </a:rPr>
              <a:t>الضابط الداخلي: CTL-⁠RA-⁠01: التحقق متعدد العوامل إلزامي لكل مستخدمي VPN (معيار الوصول عن بعد، فبراير 2026).</a:t>
            </a:r>
          </a:p>
        </p:txBody>
      </p:sp>
      <p:graphicFrame>
        <p:nvGraphicFramePr>
          <p:cNvPr id="8" name="Table 7"/>
          <p:cNvGraphicFramePr>
            <a:graphicFrameLocks noGrp="1"/>
          </p:cNvGraphicFramePr>
          <p:nvPr/>
        </p:nvGraphicFramePr>
        <p:xfrm>
          <a:off x="815975" y="2412802"/>
          <a:ext cx="10560050" cy="2350294"/>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التغطية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ماذا يغطي ضابط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ماذا يطلب، بإيجاز</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المرجع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جزئي: الحسابات الهامة لها ضابط آخر يجب ربطه.</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يغطي الدخول عن بعد عبر VPN فقط.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تحقق متعدد العوامل للدخول عن بعد وللحسابات ذات الصلاحيات الهامة، بعوامل يحددها تقييم الأثر.</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ECC 2-2-3-2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جزئي: يخدم جزءاً من الضابط.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جزء منها: MFA على VPN.</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المصادقة الآمنة: تقنيات وإجراءات مصادقة آمنة وفق قيود الوصول.</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ISO/IEC 27001 A.8.5</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pic>
        <p:nvPicPr>
          <p:cNvPr id="9" name="Icon Search 8" descr="icon072.png"/>
          <p:cNvPicPr>
            <a:picLocks noChangeAspect="1"/>
          </p:cNvPicPr>
          <p:nvPr/>
        </p:nvPicPr>
        <p:blipFill>
          <a:blip r:embed="rId3"/>
          <a:stretch>
            <a:fillRect/>
          </a:stretch>
        </p:blipFill>
        <p:spPr>
          <a:xfrm>
            <a:off x="11099800" y="4913511"/>
            <a:ext cx="279400" cy="279400"/>
          </a:xfrm>
          <a:prstGeom prst="rect">
            <a:avLst/>
          </a:prstGeom>
        </p:spPr>
      </p:pic>
      <p:sp>
        <p:nvSpPr>
          <p:cNvPr id="10" name="Text 9"/>
          <p:cNvSpPr txBox="1"/>
          <p:nvPr/>
        </p:nvSpPr>
        <p:spPr>
          <a:xfrm>
            <a:off x="0" y="4869394"/>
            <a:ext cx="110109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الأدلة: إعداد سياسة البوابة، وسجل التغييرات، وسجل الاتصالات بطريقة التحقق: الأدلة نفسها تخدم المرجعين.</a:t>
            </a:r>
          </a:p>
        </p:txBody>
      </p:sp>
      <p:sp>
        <p:nvSpPr>
          <p:cNvPr id="11" name="Box 10"/>
          <p:cNvSpPr/>
          <p:nvPr/>
        </p:nvSpPr>
        <p:spPr>
          <a:xfrm>
            <a:off x="812800" y="5340251"/>
            <a:ext cx="10566400" cy="573980"/>
          </a:xfrm>
          <a:prstGeom prst="roundRect">
            <a:avLst>
              <a:gd name="adj" fmla="val 17700"/>
            </a:avLst>
          </a:prstGeom>
          <a:solidFill>
            <a:srgbClr val="172433"/>
          </a:solidFill>
          <a:ln>
            <a:noFill/>
          </a:ln>
        </p:spPr>
        <p:txBody>
          <a:bodyPr rtlCol="0" anchor="ctr"/>
          <a:lstStyle/>
          <a:p>
            <a:pPr algn="ctr"/>
          </a:p>
        </p:txBody>
      </p:sp>
      <p:pic>
        <p:nvPicPr>
          <p:cNvPr id="12" name="Icon Lightbulb 11" descr="icon073.png"/>
          <p:cNvPicPr>
            <a:picLocks noChangeAspect="1"/>
          </p:cNvPicPr>
          <p:nvPr/>
        </p:nvPicPr>
        <p:blipFill>
          <a:blip r:embed="rId4"/>
          <a:stretch>
            <a:fillRect/>
          </a:stretch>
        </p:blipFill>
        <p:spPr>
          <a:xfrm>
            <a:off x="10979150" y="5516066"/>
            <a:ext cx="222250" cy="222250"/>
          </a:xfrm>
          <a:prstGeom prst="rect">
            <a:avLst/>
          </a:prstGeom>
        </p:spPr>
      </p:pic>
      <p:sp>
        <p:nvSpPr>
          <p:cNvPr id="13" name="Text 12"/>
          <p:cNvSpPr txBox="1"/>
          <p:nvPr/>
        </p:nvSpPr>
        <p:spPr>
          <a:xfrm>
            <a:off x="838200" y="5431818"/>
            <a:ext cx="100266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المواءمة توفر الجهد، لكنها لا تثبت الالتزام: نتيجة التطبيق 3 «مطبق جزئياً» تنطبق على المرجعين معاً.</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751167"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مواءمة مراجعة الصلاحيات</a:t>
            </a:r>
          </a:p>
        </p:txBody>
      </p:sp>
      <p:pic>
        <p:nvPicPr>
          <p:cNvPr id="6" name="Icon Lock 5" descr="icon074.png"/>
          <p:cNvPicPr>
            <a:picLocks noChangeAspect="1"/>
          </p:cNvPicPr>
          <p:nvPr/>
        </p:nvPicPr>
        <p:blipFill>
          <a:blip r:embed="rId2"/>
          <a:stretch>
            <a:fillRect/>
          </a:stretch>
        </p:blipFill>
        <p:spPr>
          <a:xfrm>
            <a:off x="11049000" y="1823045"/>
            <a:ext cx="330200" cy="330200"/>
          </a:xfrm>
          <a:prstGeom prst="rect">
            <a:avLst/>
          </a:prstGeom>
        </p:spPr>
      </p:pic>
      <p:sp>
        <p:nvSpPr>
          <p:cNvPr id="7" name="Text 6"/>
          <p:cNvSpPr txBox="1"/>
          <p:nvPr/>
        </p:nvSpPr>
        <p:spPr>
          <a:xfrm>
            <a:off x="508381" y="1574125"/>
            <a:ext cx="10451719"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a:solidFill>
                  <a:srgbClr val="172433"/>
                </a:solidFill>
                <a:latin typeface="IBM Plex Sans Arabic"/>
                <a:ea typeface="IBM Plex Sans Arabic"/>
                <a:cs typeface="IBM Plex Sans Arabic"/>
              </a:rPr>
              <a:t>الضابط الداخلي: CTL-⁠AC-⁠03: مراجعة صلاحيات نظام الرواتب كل 3 أشهر، وإزالة غير المبرر خلال 5 أيام عمل (STD-⁠AC-⁠01).</a:t>
            </a:r>
          </a:p>
        </p:txBody>
      </p:sp>
      <p:graphicFrame>
        <p:nvGraphicFramePr>
          <p:cNvPr id="8" name="Table 7"/>
          <p:cNvGraphicFramePr>
            <a:graphicFrameLocks noGrp="1"/>
          </p:cNvGraphicFramePr>
          <p:nvPr/>
        </p:nvGraphicFramePr>
        <p:xfrm>
          <a:off x="815975" y="2512020"/>
          <a:ext cx="10560050" cy="2609850"/>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التغطية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يغطي ضابط رُفاد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يطلب، بإيجاز</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المرجع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المراجعة الدورية لهويات الدخول والصلاحيات.</a:t>
                      </a:r>
                    </a:p>
                  </a:txBody>
                  <a:tcPr marT="107061" marR="152400" marB="70739" marL="5383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ECC 2-2-3-5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صلاحيات الوصول: منحها ومراجعتها وتعديلها وإزالتها.</a:t>
                      </a:r>
                    </a:p>
                  </a:txBody>
                  <a:tcPr marT="107061" marR="152400" marB="70739" marL="5383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ISO/IEC 27001 A.5.18</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9" name="Text 8"/>
          <p:cNvSpPr txBox="1"/>
          <p:nvPr/>
        </p:nvSpPr>
        <p:spPr>
          <a:xfrm>
            <a:off x="0" y="52380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أكمل: ماذا يغطي الضابط من كل مرجع؟ كلي أم جزئي، ولماذا؟ وما الأدلة التي تخدم الاثنين؟ 10 دقائق.</a:t>
            </a:r>
          </a:p>
        </p:txBody>
      </p:sp>
      <p:sp>
        <p:nvSpPr>
          <p:cNvPr id="10" name="Text 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1" name="Text 1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95823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مواءمتان جزئيتان</a:t>
            </a:r>
          </a:p>
        </p:txBody>
      </p:sp>
      <p:graphicFrame>
        <p:nvGraphicFramePr>
          <p:cNvPr id="6" name="Table 5"/>
          <p:cNvGraphicFramePr>
            <a:graphicFrameLocks noGrp="1"/>
          </p:cNvGraphicFramePr>
          <p:nvPr/>
        </p:nvGraphicFramePr>
        <p:xfrm>
          <a:off x="815975" y="1635720"/>
          <a:ext cx="10560050" cy="2794000"/>
        </p:xfrm>
        <a:graphic>
          <a:graphicData uri="http://schemas.openxmlformats.org/drawingml/2006/table">
            <a:tbl>
              <a:tblPr firstRow="0" bandRow="0" lastRow="0" firstCol="0" lastCol="0" bandCol="0">
                <a:tableStyleId>{2D5ABB26-0587-4C30-8999-92F81FD0307C}</a:tableStyleId>
              </a:tblPr>
              <a:tblGrid>
                <a:gridCol w="7180580"/>
                <a:gridCol w="1478915"/>
                <a:gridCol w="190055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التغطية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المرجع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الضابط يغطي نظام الرواتب، ثم تطبيق التتبع من الإصدار 1.1. البريد يغطيه إجراء آخر بفجوة في الحسابات الإدارية، وVPN بلا مراجعة.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ECC 2-2-3-5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الضابط يخدم المراجعة والإزالة، ولا يغطي منح الصلاحيات وتعديلها.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ISO A.5.18</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ملف المراجعة واعتماده يخدمان المراجعة في المرجعين، وتذاكر الإزالة تخدم الإزالة في ISO.</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8A4B12"/>
                          </a:solidFill>
                          <a:latin typeface="IBM Plex Sans Arabic"/>
                          <a:ea typeface="IBM Plex Sans Arabic"/>
                          <a:cs typeface="IBM Plex Sans Arabic"/>
                        </a:rPr>
                        <a:t>مشتركة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24506B"/>
                          </a:solidFill>
                          <a:latin typeface="IBM Plex Sans Arabic"/>
                          <a:ea typeface="IBM Plex Sans Arabic"/>
                          <a:cs typeface="IBM Plex Sans Arabic"/>
                        </a:rPr>
                        <a:t>الأدلة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567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8" name="Icon Warning 7" descr="icon075.png"/>
          <p:cNvPicPr>
            <a:picLocks noChangeAspect="1"/>
          </p:cNvPicPr>
          <p:nvPr/>
        </p:nvPicPr>
        <p:blipFill>
          <a:blip r:embed="rId2"/>
          <a:stretch>
            <a:fillRect/>
          </a:stretch>
        </p:blipFill>
        <p:spPr>
          <a:xfrm>
            <a:off x="10941050" y="5137745"/>
            <a:ext cx="254000" cy="254000"/>
          </a:xfrm>
          <a:prstGeom prst="rect">
            <a:avLst/>
          </a:prstGeom>
        </p:spPr>
      </p:pic>
      <p:sp>
        <p:nvSpPr>
          <p:cNvPr id="9" name="Text 8"/>
          <p:cNvSpPr txBox="1"/>
          <p:nvPr/>
        </p:nvSpPr>
        <p:spPr>
          <a:xfrm>
            <a:off x="838200" y="504757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تكتب «متوافق» لأن العنوانين متشابهان. اكتب ما يغطيه الضابط، وما ينقص، وأي دليل يثبت ماذا.</a:t>
            </a:r>
          </a:p>
        </p:txBody>
      </p:sp>
      <p:sp>
        <p:nvSpPr>
          <p:cNvPr id="10" name="Text 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1" name="Text 1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بأي إطار تبدأ؟ وكيف تقرؤه؟</a:t>
            </a:r>
          </a:p>
        </p:txBody>
      </p:sp>
      <p:sp>
        <p:nvSpPr>
          <p:cNvPr id="5" name="Rule 4"/>
          <p:cNvSpPr/>
          <p:nvPr/>
        </p:nvSpPr>
        <p:spPr>
          <a:xfrm>
            <a:off x="7933234" y="1657945"/>
            <a:ext cx="3445966" cy="31750"/>
          </a:xfrm>
          <a:prstGeom prst="rect">
            <a:avLst/>
          </a:prstGeom>
          <a:solidFill>
            <a:srgbClr val="C9C0AC"/>
          </a:solidFill>
          <a:ln>
            <a:noFill/>
          </a:ln>
        </p:spPr>
        <p:txBody>
          <a:bodyPr rtlCol="0" anchor="ctr"/>
          <a:lstStyle/>
          <a:p>
            <a:pPr algn="ctr"/>
          </a:p>
        </p:txBody>
      </p:sp>
      <p:sp>
        <p:nvSpPr>
          <p:cNvPr id="6" name="Text 5"/>
          <p:cNvSpPr txBox="1"/>
          <p:nvPr/>
        </p:nvSpPr>
        <p:spPr>
          <a:xfrm>
            <a:off x="7958634" y="1861780"/>
            <a:ext cx="3382466"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7" name="Text 6"/>
          <p:cNvSpPr txBox="1"/>
          <p:nvPr/>
        </p:nvSpPr>
        <p:spPr>
          <a:xfrm>
            <a:off x="7958634" y="2263735"/>
            <a:ext cx="3382466"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000" b="1" i="0">
                <a:solidFill>
                  <a:srgbClr val="172433"/>
                </a:solidFill>
                <a:latin typeface="Readex Pro"/>
                <a:ea typeface="Readex Pro"/>
                <a:cs typeface="Readex Pro"/>
              </a:rPr>
              <a:t>NIST CSF 2.0</a:t>
            </a:r>
          </a:p>
        </p:txBody>
      </p:sp>
      <p:sp>
        <p:nvSpPr>
          <p:cNvPr id="8" name="Text 7"/>
          <p:cNvSpPr txBox="1"/>
          <p:nvPr/>
        </p:nvSpPr>
        <p:spPr>
          <a:xfrm>
            <a:off x="7958634" y="2613747"/>
            <a:ext cx="33824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مجاني، ويعطيك الصورة الكاملة.</a:t>
            </a:r>
          </a:p>
        </p:txBody>
      </p:sp>
      <p:sp>
        <p:nvSpPr>
          <p:cNvPr id="9" name="Rule 8"/>
          <p:cNvSpPr/>
          <p:nvPr/>
        </p:nvSpPr>
        <p:spPr>
          <a:xfrm>
            <a:off x="4372967" y="1657945"/>
            <a:ext cx="3445966" cy="31750"/>
          </a:xfrm>
          <a:prstGeom prst="rect">
            <a:avLst/>
          </a:prstGeom>
          <a:solidFill>
            <a:srgbClr val="C9C0AC"/>
          </a:solidFill>
          <a:ln>
            <a:noFill/>
          </a:ln>
        </p:spPr>
        <p:txBody>
          <a:bodyPr rtlCol="0" anchor="ctr"/>
          <a:lstStyle/>
          <a:p>
            <a:pPr algn="ctr"/>
          </a:p>
        </p:txBody>
      </p:sp>
      <p:sp>
        <p:nvSpPr>
          <p:cNvPr id="10" name="Text 9"/>
          <p:cNvSpPr txBox="1"/>
          <p:nvPr/>
        </p:nvSpPr>
        <p:spPr>
          <a:xfrm>
            <a:off x="4398367" y="1861780"/>
            <a:ext cx="3382466"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1" name="Text 10"/>
          <p:cNvSpPr txBox="1"/>
          <p:nvPr/>
        </p:nvSpPr>
        <p:spPr>
          <a:xfrm>
            <a:off x="4398367" y="2263735"/>
            <a:ext cx="3382466"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000" b="1" i="0">
                <a:solidFill>
                  <a:srgbClr val="172433"/>
                </a:solidFill>
                <a:latin typeface="Readex Pro"/>
                <a:ea typeface="Readex Pro"/>
                <a:cs typeface="Readex Pro"/>
              </a:rPr>
              <a:t>ISO/IEC 27001</a:t>
            </a:r>
          </a:p>
        </p:txBody>
      </p:sp>
      <p:sp>
        <p:nvSpPr>
          <p:cNvPr id="12" name="Text 11"/>
          <p:cNvSpPr txBox="1"/>
          <p:nvPr/>
        </p:nvSpPr>
        <p:spPr>
          <a:xfrm>
            <a:off x="4398367" y="2613747"/>
            <a:ext cx="33824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منطق نظام الإدارة، وكثير الطلب.</a:t>
            </a:r>
          </a:p>
        </p:txBody>
      </p:sp>
      <p:sp>
        <p:nvSpPr>
          <p:cNvPr id="13" name="Rule 12"/>
          <p:cNvSpPr/>
          <p:nvPr/>
        </p:nvSpPr>
        <p:spPr>
          <a:xfrm>
            <a:off x="812701" y="1657945"/>
            <a:ext cx="3445966" cy="31750"/>
          </a:xfrm>
          <a:prstGeom prst="rect">
            <a:avLst/>
          </a:prstGeom>
          <a:solidFill>
            <a:srgbClr val="C9C0AC"/>
          </a:solidFill>
          <a:ln>
            <a:noFill/>
          </a:ln>
        </p:spPr>
        <p:txBody>
          <a:bodyPr rtlCol="0" anchor="ctr"/>
          <a:lstStyle/>
          <a:p>
            <a:pPr algn="ctr"/>
          </a:p>
        </p:txBody>
      </p:sp>
      <p:sp>
        <p:nvSpPr>
          <p:cNvPr id="14" name="Text 13"/>
          <p:cNvSpPr txBox="1"/>
          <p:nvPr/>
        </p:nvSpPr>
        <p:spPr>
          <a:xfrm>
            <a:off x="838101" y="1861780"/>
            <a:ext cx="3382466"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15" name="Text 14"/>
          <p:cNvSpPr txBox="1"/>
          <p:nvPr/>
        </p:nvSpPr>
        <p:spPr>
          <a:xfrm>
            <a:off x="838101" y="2263735"/>
            <a:ext cx="338246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إطار قطاعك</a:t>
            </a:r>
          </a:p>
        </p:txBody>
      </p:sp>
      <p:sp>
        <p:nvSpPr>
          <p:cNvPr id="16" name="Text 15"/>
          <p:cNvSpPr txBox="1"/>
          <p:nvPr/>
        </p:nvSpPr>
        <p:spPr>
          <a:xfrm>
            <a:off x="838101" y="2613747"/>
            <a:ext cx="33824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حكومي: ECC. بنوك: SAMA CSF. مدفوعات: PCI DSS.</a:t>
            </a:r>
          </a:p>
        </p:txBody>
      </p:sp>
      <p:sp>
        <p:nvSpPr>
          <p:cNvPr id="17" name="Rule 16"/>
          <p:cNvSpPr/>
          <p:nvPr/>
        </p:nvSpPr>
        <p:spPr>
          <a:xfrm>
            <a:off x="812800" y="3692327"/>
            <a:ext cx="105664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3853617"/>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مع كل ضابط تقرؤه، اسأل:</a:t>
            </a:r>
          </a:p>
        </p:txBody>
      </p:sp>
      <p:sp>
        <p:nvSpPr>
          <p:cNvPr id="19" name="Text 18"/>
          <p:cNvSpPr txBox="1"/>
          <p:nvPr/>
        </p:nvSpPr>
        <p:spPr>
          <a:xfrm>
            <a:off x="10967720" y="4231188"/>
            <a:ext cx="3860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1</a:t>
            </a:r>
          </a:p>
        </p:txBody>
      </p:sp>
      <p:sp>
        <p:nvSpPr>
          <p:cNvPr id="20" name="Text 19"/>
          <p:cNvSpPr txBox="1"/>
          <p:nvPr/>
        </p:nvSpPr>
        <p:spPr>
          <a:xfrm>
            <a:off x="838200" y="4222044"/>
            <a:ext cx="1010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الخطر الذي يعالجه؟</a:t>
            </a:r>
          </a:p>
        </p:txBody>
      </p:sp>
      <p:sp>
        <p:nvSpPr>
          <p:cNvPr id="21" name="Text 20"/>
          <p:cNvSpPr txBox="1"/>
          <p:nvPr/>
        </p:nvSpPr>
        <p:spPr>
          <a:xfrm>
            <a:off x="10967720" y="4601968"/>
            <a:ext cx="3860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2</a:t>
            </a:r>
          </a:p>
        </p:txBody>
      </p:sp>
      <p:sp>
        <p:nvSpPr>
          <p:cNvPr id="22" name="Text 21"/>
          <p:cNvSpPr txBox="1"/>
          <p:nvPr/>
        </p:nvSpPr>
        <p:spPr>
          <a:xfrm>
            <a:off x="838200" y="4592824"/>
            <a:ext cx="1010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كيف يبدو تطبيقه في جهة حقيقية؟</a:t>
            </a:r>
          </a:p>
        </p:txBody>
      </p:sp>
      <p:sp>
        <p:nvSpPr>
          <p:cNvPr id="23" name="Text 22"/>
          <p:cNvSpPr txBox="1"/>
          <p:nvPr/>
        </p:nvSpPr>
        <p:spPr>
          <a:xfrm>
            <a:off x="10967720" y="4972748"/>
            <a:ext cx="3860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3</a:t>
            </a:r>
          </a:p>
        </p:txBody>
      </p:sp>
      <p:sp>
        <p:nvSpPr>
          <p:cNvPr id="24" name="Text 23"/>
          <p:cNvSpPr txBox="1"/>
          <p:nvPr/>
        </p:nvSpPr>
        <p:spPr>
          <a:xfrm>
            <a:off x="838200" y="4963604"/>
            <a:ext cx="1010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الدليل الذي يثبت تطبيقه؟</a:t>
            </a:r>
          </a:p>
        </p:txBody>
      </p:sp>
      <p:sp>
        <p:nvSpPr>
          <p:cNvPr id="25" name="Text 24"/>
          <p:cNvSpPr txBox="1"/>
          <p:nvPr/>
        </p:nvSpPr>
        <p:spPr>
          <a:xfrm>
            <a:off x="10967720" y="5343529"/>
            <a:ext cx="3860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4</a:t>
            </a:r>
          </a:p>
        </p:txBody>
      </p:sp>
      <p:sp>
        <p:nvSpPr>
          <p:cNvPr id="26" name="Text 25"/>
          <p:cNvSpPr txBox="1"/>
          <p:nvPr/>
        </p:nvSpPr>
        <p:spPr>
          <a:xfrm>
            <a:off x="838200" y="5334385"/>
            <a:ext cx="1010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الذي يقابله في إطار آخر؟</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الأطر والانطباق</a:t>
            </a:r>
          </a:p>
        </p:txBody>
      </p:sp>
      <p:sp>
        <p:nvSpPr>
          <p:cNvPr id="4" name="Text box 3"/>
          <p:cNvSpPr/>
          <p:nvPr/>
        </p:nvSpPr>
        <p:spPr>
          <a:xfrm>
            <a:off x="7751167"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04</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4</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8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الإلزام والانطباق.</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المواءمة الكلية والجزئية.</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CSF مقابل RMF، والفجوات مقابل النضج.</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04».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الأطر والانطباق</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8070" y="1423690"/>
            <a:ext cx="23711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05</a:t>
            </a:r>
          </a:p>
        </p:txBody>
      </p:sp>
      <p:sp>
        <p:nvSpPr>
          <p:cNvPr id="4" name="Text 3"/>
          <p:cNvSpPr txBox="1"/>
          <p:nvPr/>
        </p:nvSpPr>
        <p:spPr>
          <a:xfrm>
            <a:off x="6515358" y="1845155"/>
            <a:ext cx="294991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الشهادات</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أي شهادة تناسب هدفك ومرحلتك؟ ماذا تعلّمك، وهل تشترط خبرة، ومتى تدرسها؟</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الشهادات الأهم في GRC والأمن والخصوصية، ولمن تناسب كل منها.</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شهادة التدريب، والنجاح في الاختبار، واللقب المهني.</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تختار مسارك حسب الوظيفة المستهدفة، وتعرف كيف تذاكر.</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05 · الشهادات</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الشهادات: ثلاث مراحل</a:t>
            </a:r>
          </a:p>
        </p:txBody>
      </p:sp>
      <p:sp>
        <p:nvSpPr>
          <p:cNvPr id="5" name="Rule 4"/>
          <p:cNvSpPr/>
          <p:nvPr/>
        </p:nvSpPr>
        <p:spPr>
          <a:xfrm>
            <a:off x="7941766" y="1657945"/>
            <a:ext cx="3437434" cy="31750"/>
          </a:xfrm>
          <a:prstGeom prst="rect">
            <a:avLst/>
          </a:prstGeom>
          <a:solidFill>
            <a:srgbClr val="0E7C6B"/>
          </a:solidFill>
          <a:ln>
            <a:noFill/>
          </a:ln>
        </p:spPr>
        <p:txBody>
          <a:bodyPr rtlCol="0" anchor="ctr"/>
          <a:lstStyle/>
          <a:p>
            <a:pPr algn="ctr"/>
          </a:p>
        </p:txBody>
      </p:sp>
      <p:sp>
        <p:nvSpPr>
          <p:cNvPr id="6" name="Text 5"/>
          <p:cNvSpPr txBox="1"/>
          <p:nvPr/>
        </p:nvSpPr>
        <p:spPr>
          <a:xfrm>
            <a:off x="7967166"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البداية</a:t>
            </a:r>
          </a:p>
        </p:txBody>
      </p:sp>
      <p:sp>
        <p:nvSpPr>
          <p:cNvPr id="7" name="Text 6"/>
          <p:cNvSpPr txBox="1"/>
          <p:nvPr/>
        </p:nvSpPr>
        <p:spPr>
          <a:xfrm>
            <a:off x="7967166"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بلا خبرة: تثبت الأساسيات.</a:t>
            </a:r>
          </a:p>
        </p:txBody>
      </p:sp>
      <p:sp>
        <p:nvSpPr>
          <p:cNvPr id="8" name="Box 7"/>
          <p:cNvSpPr/>
          <p:nvPr/>
        </p:nvSpPr>
        <p:spPr>
          <a:xfrm>
            <a:off x="7979866" y="2686645"/>
            <a:ext cx="3361234" cy="457200"/>
          </a:xfrm>
          <a:prstGeom prst="roundRect">
            <a:avLst>
              <a:gd name="adj" fmla="val 13888"/>
            </a:avLst>
          </a:prstGeom>
          <a:solidFill>
            <a:srgbClr val="E3F1ED"/>
          </a:solidFill>
          <a:ln>
            <a:noFill/>
          </a:ln>
        </p:spPr>
        <p:txBody>
          <a:bodyPr rtlCol="0" anchor="ctr"/>
          <a:lstStyle/>
          <a:p>
            <a:pPr algn="ctr"/>
          </a:p>
        </p:txBody>
      </p:sp>
      <p:sp>
        <p:nvSpPr>
          <p:cNvPr id="9" name="Text 8"/>
          <p:cNvSpPr txBox="1"/>
          <p:nvPr/>
        </p:nvSpPr>
        <p:spPr>
          <a:xfrm>
            <a:off x="10734973" y="2733635"/>
            <a:ext cx="504527"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CC</a:t>
            </a:r>
          </a:p>
        </p:txBody>
      </p:sp>
      <p:sp>
        <p:nvSpPr>
          <p:cNvPr id="10" name="Text 9"/>
          <p:cNvSpPr txBox="1"/>
          <p:nvPr/>
        </p:nvSpPr>
        <p:spPr>
          <a:xfrm>
            <a:off x="8005266" y="2719772"/>
            <a:ext cx="579636"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ISC2</a:t>
            </a:r>
          </a:p>
        </p:txBody>
      </p:sp>
      <p:sp>
        <p:nvSpPr>
          <p:cNvPr id="11" name="Box 10"/>
          <p:cNvSpPr/>
          <p:nvPr/>
        </p:nvSpPr>
        <p:spPr>
          <a:xfrm>
            <a:off x="7979866" y="3220045"/>
            <a:ext cx="3361234" cy="457200"/>
          </a:xfrm>
          <a:prstGeom prst="roundRect">
            <a:avLst>
              <a:gd name="adj" fmla="val 13888"/>
            </a:avLst>
          </a:prstGeom>
          <a:solidFill>
            <a:srgbClr val="E3F1ED"/>
          </a:solidFill>
          <a:ln>
            <a:noFill/>
          </a:ln>
        </p:spPr>
        <p:txBody>
          <a:bodyPr rtlCol="0" anchor="ctr"/>
          <a:lstStyle/>
          <a:p>
            <a:pPr algn="ctr"/>
          </a:p>
        </p:txBody>
      </p:sp>
      <p:sp>
        <p:nvSpPr>
          <p:cNvPr id="12" name="Text 11"/>
          <p:cNvSpPr txBox="1"/>
          <p:nvPr/>
        </p:nvSpPr>
        <p:spPr>
          <a:xfrm>
            <a:off x="9866809" y="3267035"/>
            <a:ext cx="1372691"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Security+</a:t>
            </a:r>
          </a:p>
        </p:txBody>
      </p:sp>
      <p:sp>
        <p:nvSpPr>
          <p:cNvPr id="13" name="Text 12"/>
          <p:cNvSpPr txBox="1"/>
          <p:nvPr/>
        </p:nvSpPr>
        <p:spPr>
          <a:xfrm>
            <a:off x="8005266" y="3253172"/>
            <a:ext cx="10294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CompTIA</a:t>
            </a:r>
          </a:p>
        </p:txBody>
      </p:sp>
      <p:sp>
        <p:nvSpPr>
          <p:cNvPr id="14" name="Box 13"/>
          <p:cNvSpPr/>
          <p:nvPr/>
        </p:nvSpPr>
        <p:spPr>
          <a:xfrm>
            <a:off x="7979866" y="3753445"/>
            <a:ext cx="3361234" cy="457200"/>
          </a:xfrm>
          <a:prstGeom prst="roundRect">
            <a:avLst>
              <a:gd name="adj" fmla="val 13888"/>
            </a:avLst>
          </a:prstGeom>
          <a:solidFill>
            <a:srgbClr val="E3F1ED"/>
          </a:solidFill>
          <a:ln>
            <a:noFill/>
          </a:ln>
        </p:spPr>
        <p:txBody>
          <a:bodyPr rtlCol="0" anchor="ctr"/>
          <a:lstStyle/>
          <a:p>
            <a:pPr algn="ctr"/>
          </a:p>
        </p:txBody>
      </p:sp>
      <p:sp>
        <p:nvSpPr>
          <p:cNvPr id="15" name="Text 14"/>
          <p:cNvSpPr txBox="1"/>
          <p:nvPr/>
        </p:nvSpPr>
        <p:spPr>
          <a:xfrm>
            <a:off x="9363174" y="3800435"/>
            <a:ext cx="187632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IT Risk Fund.</a:t>
            </a:r>
          </a:p>
        </p:txBody>
      </p:sp>
      <p:sp>
        <p:nvSpPr>
          <p:cNvPr id="16" name="Text 15"/>
          <p:cNvSpPr txBox="1"/>
          <p:nvPr/>
        </p:nvSpPr>
        <p:spPr>
          <a:xfrm>
            <a:off x="8005266" y="37865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17" name="Rule 16"/>
          <p:cNvSpPr/>
          <p:nvPr/>
        </p:nvSpPr>
        <p:spPr>
          <a:xfrm>
            <a:off x="4377333" y="1657945"/>
            <a:ext cx="3437434" cy="31750"/>
          </a:xfrm>
          <a:prstGeom prst="rect">
            <a:avLst/>
          </a:prstGeom>
          <a:solidFill>
            <a:srgbClr val="24506B"/>
          </a:solidFill>
          <a:ln>
            <a:noFill/>
          </a:ln>
        </p:spPr>
        <p:txBody>
          <a:bodyPr rtlCol="0" anchor="ctr"/>
          <a:lstStyle/>
          <a:p>
            <a:pPr algn="ctr"/>
          </a:p>
        </p:txBody>
      </p:sp>
      <p:sp>
        <p:nvSpPr>
          <p:cNvPr id="18" name="Text 17"/>
          <p:cNvSpPr txBox="1"/>
          <p:nvPr/>
        </p:nvSpPr>
        <p:spPr>
          <a:xfrm>
            <a:off x="4402733"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التخصص</a:t>
            </a:r>
          </a:p>
        </p:txBody>
      </p:sp>
      <p:sp>
        <p:nvSpPr>
          <p:cNvPr id="19" name="Text 18"/>
          <p:cNvSpPr txBox="1"/>
          <p:nvPr/>
        </p:nvSpPr>
        <p:spPr>
          <a:xfrm>
            <a:off x="4402733"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مهارة محددة في GRC أو معيار.</a:t>
            </a:r>
          </a:p>
        </p:txBody>
      </p:sp>
      <p:sp>
        <p:nvSpPr>
          <p:cNvPr id="20" name="Box 19"/>
          <p:cNvSpPr/>
          <p:nvPr/>
        </p:nvSpPr>
        <p:spPr>
          <a:xfrm>
            <a:off x="4415433" y="2686645"/>
            <a:ext cx="3361234" cy="787400"/>
          </a:xfrm>
          <a:prstGeom prst="roundRect">
            <a:avLst>
              <a:gd name="adj" fmla="val 8064"/>
            </a:avLst>
          </a:prstGeom>
          <a:solidFill>
            <a:srgbClr val="E6EDF4"/>
          </a:solidFill>
          <a:ln>
            <a:noFill/>
          </a:ln>
        </p:spPr>
        <p:txBody>
          <a:bodyPr rtlCol="0" anchor="ctr"/>
          <a:lstStyle/>
          <a:p>
            <a:pPr algn="ctr"/>
          </a:p>
        </p:txBody>
      </p:sp>
      <p:sp>
        <p:nvSpPr>
          <p:cNvPr id="21" name="Text 20"/>
          <p:cNvSpPr txBox="1"/>
          <p:nvPr/>
        </p:nvSpPr>
        <p:spPr>
          <a:xfrm>
            <a:off x="5566767" y="2733635"/>
            <a:ext cx="2108299" cy="6604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ISO 27001 LI/LA</a:t>
            </a:r>
          </a:p>
        </p:txBody>
      </p:sp>
      <p:sp>
        <p:nvSpPr>
          <p:cNvPr id="22" name="Text 21"/>
          <p:cNvSpPr txBox="1"/>
          <p:nvPr/>
        </p:nvSpPr>
        <p:spPr>
          <a:xfrm>
            <a:off x="4440833" y="2884872"/>
            <a:ext cx="11259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جهات مانحة</a:t>
            </a:r>
          </a:p>
        </p:txBody>
      </p:sp>
      <p:sp>
        <p:nvSpPr>
          <p:cNvPr id="23" name="Box 22"/>
          <p:cNvSpPr/>
          <p:nvPr/>
        </p:nvSpPr>
        <p:spPr>
          <a:xfrm>
            <a:off x="4415433" y="3550245"/>
            <a:ext cx="3361234" cy="457200"/>
          </a:xfrm>
          <a:prstGeom prst="roundRect">
            <a:avLst>
              <a:gd name="adj" fmla="val 13888"/>
            </a:avLst>
          </a:prstGeom>
          <a:solidFill>
            <a:srgbClr val="E6EDF4"/>
          </a:solidFill>
          <a:ln>
            <a:noFill/>
          </a:ln>
        </p:spPr>
        <p:txBody>
          <a:bodyPr rtlCol="0" anchor="ctr"/>
          <a:lstStyle/>
          <a:p>
            <a:pPr algn="ctr"/>
          </a:p>
        </p:txBody>
      </p:sp>
      <p:sp>
        <p:nvSpPr>
          <p:cNvPr id="24" name="Text 23"/>
          <p:cNvSpPr txBox="1"/>
          <p:nvPr/>
        </p:nvSpPr>
        <p:spPr>
          <a:xfrm>
            <a:off x="6803827" y="3597235"/>
            <a:ext cx="87124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GRCP</a:t>
            </a:r>
          </a:p>
        </p:txBody>
      </p:sp>
      <p:sp>
        <p:nvSpPr>
          <p:cNvPr id="25" name="Text 24"/>
          <p:cNvSpPr txBox="1"/>
          <p:nvPr/>
        </p:nvSpPr>
        <p:spPr>
          <a:xfrm>
            <a:off x="4440833" y="3583372"/>
            <a:ext cx="672207"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OCEG</a:t>
            </a:r>
          </a:p>
        </p:txBody>
      </p:sp>
      <p:sp>
        <p:nvSpPr>
          <p:cNvPr id="26" name="Box 25"/>
          <p:cNvSpPr/>
          <p:nvPr/>
        </p:nvSpPr>
        <p:spPr>
          <a:xfrm>
            <a:off x="4415433" y="4083645"/>
            <a:ext cx="3361234" cy="457200"/>
          </a:xfrm>
          <a:prstGeom prst="roundRect">
            <a:avLst>
              <a:gd name="adj" fmla="val 13888"/>
            </a:avLst>
          </a:prstGeom>
          <a:solidFill>
            <a:srgbClr val="E6EDF4"/>
          </a:solidFill>
          <a:ln>
            <a:noFill/>
          </a:ln>
        </p:spPr>
        <p:txBody>
          <a:bodyPr rtlCol="0" anchor="ctr"/>
          <a:lstStyle/>
          <a:p>
            <a:pPr algn="ctr"/>
          </a:p>
        </p:txBody>
      </p:sp>
      <p:sp>
        <p:nvSpPr>
          <p:cNvPr id="27" name="Text 26"/>
          <p:cNvSpPr txBox="1"/>
          <p:nvPr/>
        </p:nvSpPr>
        <p:spPr>
          <a:xfrm>
            <a:off x="5639991" y="4130635"/>
            <a:ext cx="203507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CIPP/E · CIPM</a:t>
            </a:r>
          </a:p>
        </p:txBody>
      </p:sp>
      <p:sp>
        <p:nvSpPr>
          <p:cNvPr id="28" name="Text 27"/>
          <p:cNvSpPr txBox="1"/>
          <p:nvPr/>
        </p:nvSpPr>
        <p:spPr>
          <a:xfrm>
            <a:off x="4440833" y="4116772"/>
            <a:ext cx="59124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IAPP</a:t>
            </a:r>
          </a:p>
        </p:txBody>
      </p:sp>
      <p:sp>
        <p:nvSpPr>
          <p:cNvPr id="29" name="Rule 28"/>
          <p:cNvSpPr/>
          <p:nvPr/>
        </p:nvSpPr>
        <p:spPr>
          <a:xfrm>
            <a:off x="812899" y="1657945"/>
            <a:ext cx="3437434" cy="31750"/>
          </a:xfrm>
          <a:prstGeom prst="rect">
            <a:avLst/>
          </a:prstGeom>
          <a:solidFill>
            <a:srgbClr val="8A4B12"/>
          </a:solidFill>
          <a:ln>
            <a:noFill/>
          </a:ln>
        </p:spPr>
        <p:txBody>
          <a:bodyPr rtlCol="0" anchor="ctr"/>
          <a:lstStyle/>
          <a:p>
            <a:pPr algn="ctr"/>
          </a:p>
        </p:txBody>
      </p:sp>
      <p:sp>
        <p:nvSpPr>
          <p:cNvPr id="30" name="Text 29"/>
          <p:cNvSpPr txBox="1"/>
          <p:nvPr/>
        </p:nvSpPr>
        <p:spPr>
          <a:xfrm>
            <a:off x="838299"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بعد اكتمال الخبرة</a:t>
            </a:r>
          </a:p>
        </p:txBody>
      </p:sp>
      <p:sp>
        <p:nvSpPr>
          <p:cNvPr id="31" name="Text 30"/>
          <p:cNvSpPr txBox="1"/>
          <p:nvPr/>
        </p:nvSpPr>
        <p:spPr>
          <a:xfrm>
            <a:off x="838299"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تُمنح بعد سنوات خبرة موثقة.</a:t>
            </a:r>
          </a:p>
        </p:txBody>
      </p:sp>
      <p:sp>
        <p:nvSpPr>
          <p:cNvPr id="32" name="Box 31"/>
          <p:cNvSpPr/>
          <p:nvPr/>
        </p:nvSpPr>
        <p:spPr>
          <a:xfrm>
            <a:off x="850999" y="2686645"/>
            <a:ext cx="3361234" cy="457200"/>
          </a:xfrm>
          <a:prstGeom prst="roundRect">
            <a:avLst>
              <a:gd name="adj" fmla="val 13888"/>
            </a:avLst>
          </a:prstGeom>
          <a:solidFill>
            <a:srgbClr val="F6ECDA"/>
          </a:solidFill>
          <a:ln>
            <a:noFill/>
          </a:ln>
        </p:spPr>
        <p:txBody>
          <a:bodyPr rtlCol="0" anchor="ctr"/>
          <a:lstStyle/>
          <a:p>
            <a:pPr algn="ctr"/>
          </a:p>
        </p:txBody>
      </p:sp>
      <p:sp>
        <p:nvSpPr>
          <p:cNvPr id="33" name="Text 32"/>
          <p:cNvSpPr txBox="1"/>
          <p:nvPr/>
        </p:nvSpPr>
        <p:spPr>
          <a:xfrm>
            <a:off x="2374503" y="2733635"/>
            <a:ext cx="173613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CISA · CISM</a:t>
            </a:r>
          </a:p>
        </p:txBody>
      </p:sp>
      <p:sp>
        <p:nvSpPr>
          <p:cNvPr id="34" name="Text 33"/>
          <p:cNvSpPr txBox="1"/>
          <p:nvPr/>
        </p:nvSpPr>
        <p:spPr>
          <a:xfrm>
            <a:off x="876399" y="27197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35" name="Box 34"/>
          <p:cNvSpPr/>
          <p:nvPr/>
        </p:nvSpPr>
        <p:spPr>
          <a:xfrm>
            <a:off x="850999" y="3220045"/>
            <a:ext cx="3361234" cy="457200"/>
          </a:xfrm>
          <a:prstGeom prst="roundRect">
            <a:avLst>
              <a:gd name="adj" fmla="val 13888"/>
            </a:avLst>
          </a:prstGeom>
          <a:solidFill>
            <a:srgbClr val="F6ECDA"/>
          </a:solidFill>
          <a:ln>
            <a:noFill/>
          </a:ln>
        </p:spPr>
        <p:txBody>
          <a:bodyPr rtlCol="0" anchor="ctr"/>
          <a:lstStyle/>
          <a:p>
            <a:pPr algn="ctr"/>
          </a:p>
        </p:txBody>
      </p:sp>
      <p:sp>
        <p:nvSpPr>
          <p:cNvPr id="36" name="Text 35"/>
          <p:cNvSpPr txBox="1"/>
          <p:nvPr/>
        </p:nvSpPr>
        <p:spPr>
          <a:xfrm>
            <a:off x="2052376" y="3267035"/>
            <a:ext cx="2058257"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CRISC · CGEIT</a:t>
            </a:r>
          </a:p>
        </p:txBody>
      </p:sp>
      <p:sp>
        <p:nvSpPr>
          <p:cNvPr id="37" name="Text 36"/>
          <p:cNvSpPr txBox="1"/>
          <p:nvPr/>
        </p:nvSpPr>
        <p:spPr>
          <a:xfrm>
            <a:off x="876399" y="32531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38" name="Box 37"/>
          <p:cNvSpPr/>
          <p:nvPr/>
        </p:nvSpPr>
        <p:spPr>
          <a:xfrm>
            <a:off x="850999" y="3753445"/>
            <a:ext cx="3361234" cy="457200"/>
          </a:xfrm>
          <a:prstGeom prst="roundRect">
            <a:avLst>
              <a:gd name="adj" fmla="val 13888"/>
            </a:avLst>
          </a:prstGeom>
          <a:solidFill>
            <a:srgbClr val="F6ECDA"/>
          </a:solidFill>
          <a:ln>
            <a:noFill/>
          </a:ln>
        </p:spPr>
        <p:txBody>
          <a:bodyPr rtlCol="0" anchor="ctr"/>
          <a:lstStyle/>
          <a:p>
            <a:pPr algn="ctr"/>
          </a:p>
        </p:txBody>
      </p:sp>
      <p:sp>
        <p:nvSpPr>
          <p:cNvPr id="39" name="Text 38"/>
          <p:cNvSpPr txBox="1"/>
          <p:nvPr/>
        </p:nvSpPr>
        <p:spPr>
          <a:xfrm>
            <a:off x="2196703" y="3800435"/>
            <a:ext cx="191393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CGRC · CISSP</a:t>
            </a:r>
          </a:p>
        </p:txBody>
      </p:sp>
      <p:sp>
        <p:nvSpPr>
          <p:cNvPr id="40" name="Text 39"/>
          <p:cNvSpPr txBox="1"/>
          <p:nvPr/>
        </p:nvSpPr>
        <p:spPr>
          <a:xfrm>
            <a:off x="876399" y="3786572"/>
            <a:ext cx="579636"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ISC2</a:t>
            </a:r>
          </a:p>
        </p:txBody>
      </p:sp>
      <p:sp>
        <p:nvSpPr>
          <p:cNvPr id="41" name="Box 40"/>
          <p:cNvSpPr/>
          <p:nvPr/>
        </p:nvSpPr>
        <p:spPr>
          <a:xfrm>
            <a:off x="850999" y="4286845"/>
            <a:ext cx="3361234" cy="457200"/>
          </a:xfrm>
          <a:prstGeom prst="roundRect">
            <a:avLst>
              <a:gd name="adj" fmla="val 13888"/>
            </a:avLst>
          </a:prstGeom>
          <a:solidFill>
            <a:srgbClr val="F6ECDA"/>
          </a:solidFill>
          <a:ln>
            <a:noFill/>
          </a:ln>
        </p:spPr>
        <p:txBody>
          <a:bodyPr rtlCol="0" anchor="ctr"/>
          <a:lstStyle/>
          <a:p>
            <a:pPr algn="ctr"/>
          </a:p>
        </p:txBody>
      </p:sp>
      <p:sp>
        <p:nvSpPr>
          <p:cNvPr id="42" name="Text 41"/>
          <p:cNvSpPr txBox="1"/>
          <p:nvPr/>
        </p:nvSpPr>
        <p:spPr>
          <a:xfrm>
            <a:off x="3092847" y="4333835"/>
            <a:ext cx="101778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CDPSE</a:t>
            </a:r>
          </a:p>
        </p:txBody>
      </p:sp>
      <p:sp>
        <p:nvSpPr>
          <p:cNvPr id="43" name="Text 42"/>
          <p:cNvSpPr txBox="1"/>
          <p:nvPr/>
        </p:nvSpPr>
        <p:spPr>
          <a:xfrm>
            <a:off x="876399" y="43199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44" name="Text 4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45" name="Text 4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162</a:t>
            </a:r>
          </a:p>
        </p:txBody>
      </p:sp>
    </p:spTree>
  </p:cSld>
  <p:clrMapOvr>
    <a:masterClrMapping/>
  </p:clrMapOvr>
  <p:transition spd="med">
    <p:fade/>
  </p:transition>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البداية: CC وSecurity+‎</a:t>
            </a:r>
          </a:p>
        </p:txBody>
      </p:sp>
      <p:sp>
        <p:nvSpPr>
          <p:cNvPr id="5" name="Rule 4"/>
          <p:cNvSpPr/>
          <p:nvPr/>
        </p:nvSpPr>
        <p:spPr>
          <a:xfrm>
            <a:off x="6159500" y="1657945"/>
            <a:ext cx="5219700" cy="31750"/>
          </a:xfrm>
          <a:prstGeom prst="rect">
            <a:avLst/>
          </a:prstGeom>
          <a:solidFill>
            <a:srgbClr val="24506B"/>
          </a:solidFill>
          <a:ln>
            <a:noFill/>
          </a:ln>
        </p:spPr>
        <p:txBody>
          <a:bodyPr rtlCol="0" anchor="ctr"/>
          <a:lstStyle/>
          <a:p>
            <a:pPr algn="ctr"/>
          </a:p>
        </p:txBody>
      </p:sp>
      <p:sp>
        <p:nvSpPr>
          <p:cNvPr id="6" name="Text 5"/>
          <p:cNvSpPr txBox="1"/>
          <p:nvPr/>
        </p:nvSpPr>
        <p:spPr>
          <a:xfrm>
            <a:off x="10786209" y="1832189"/>
            <a:ext cx="554891"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CC</a:t>
            </a:r>
          </a:p>
        </p:txBody>
      </p:sp>
      <p:sp>
        <p:nvSpPr>
          <p:cNvPr id="7" name="Text 6"/>
          <p:cNvSpPr txBox="1"/>
          <p:nvPr/>
        </p:nvSpPr>
        <p:spPr>
          <a:xfrm>
            <a:off x="10280471"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8" name="Text 7"/>
          <p:cNvSpPr txBox="1"/>
          <p:nvPr/>
        </p:nvSpPr>
        <p:spPr>
          <a:xfrm>
            <a:off x="61849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Certified in Cybersecurity</a:t>
            </a:r>
          </a:p>
        </p:txBody>
      </p:sp>
      <p:sp>
        <p:nvSpPr>
          <p:cNvPr id="9" name="Text 8"/>
          <p:cNvSpPr txBox="1"/>
          <p:nvPr/>
        </p:nvSpPr>
        <p:spPr>
          <a:xfrm>
            <a:off x="98869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10" name="Text 9"/>
          <p:cNvSpPr txBox="1"/>
          <p:nvPr/>
        </p:nvSpPr>
        <p:spPr>
          <a:xfrm>
            <a:off x="61849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خريج أو متحول بلا خبرة.</a:t>
            </a:r>
          </a:p>
        </p:txBody>
      </p:sp>
      <p:sp>
        <p:nvSpPr>
          <p:cNvPr id="11" name="Text 10"/>
          <p:cNvSpPr txBox="1"/>
          <p:nvPr/>
        </p:nvSpPr>
        <p:spPr>
          <a:xfrm>
            <a:off x="98869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12" name="Text 11"/>
          <p:cNvSpPr txBox="1"/>
          <p:nvPr/>
        </p:nvSpPr>
        <p:spPr>
          <a:xfrm>
            <a:off x="6184900" y="2896116"/>
            <a:ext cx="374015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مبادئ الأمن، والحوكمة الأمنية، والهويات، والشبكات والسحابة، والعمليات.</a:t>
            </a:r>
          </a:p>
        </p:txBody>
      </p:sp>
      <p:sp>
        <p:nvSpPr>
          <p:cNvPr id="13" name="Text 12"/>
          <p:cNvSpPr txBox="1"/>
          <p:nvPr/>
        </p:nvSpPr>
        <p:spPr>
          <a:xfrm>
            <a:off x="9886950" y="40264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14" name="Text 13"/>
          <p:cNvSpPr txBox="1"/>
          <p:nvPr/>
        </p:nvSpPr>
        <p:spPr>
          <a:xfrm>
            <a:off x="6184900" y="40264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تشترط خبرة.</a:t>
            </a:r>
          </a:p>
        </p:txBody>
      </p:sp>
      <p:sp>
        <p:nvSpPr>
          <p:cNvPr id="15" name="Text 14"/>
          <p:cNvSpPr txBox="1"/>
          <p:nvPr/>
        </p:nvSpPr>
        <p:spPr>
          <a:xfrm>
            <a:off x="98869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16" name="Text 15"/>
          <p:cNvSpPr txBox="1"/>
          <p:nvPr/>
        </p:nvSpPr>
        <p:spPr>
          <a:xfrm>
            <a:off x="6184900" y="44455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 أول شهادة.</a:t>
            </a:r>
          </a:p>
        </p:txBody>
      </p:sp>
      <p:sp>
        <p:nvSpPr>
          <p:cNvPr id="17" name="Rule 16"/>
          <p:cNvSpPr/>
          <p:nvPr/>
        </p:nvSpPr>
        <p:spPr>
          <a:xfrm>
            <a:off x="812800" y="1657945"/>
            <a:ext cx="5219700" cy="31750"/>
          </a:xfrm>
          <a:prstGeom prst="rect">
            <a:avLst/>
          </a:prstGeom>
          <a:solidFill>
            <a:srgbClr val="8A4B12"/>
          </a:solidFill>
          <a:ln>
            <a:noFill/>
          </a:ln>
        </p:spPr>
        <p:txBody>
          <a:bodyPr rtlCol="0" anchor="ctr"/>
          <a:lstStyle/>
          <a:p>
            <a:pPr algn="ctr"/>
          </a:p>
        </p:txBody>
      </p:sp>
      <p:sp>
        <p:nvSpPr>
          <p:cNvPr id="18" name="Text 17"/>
          <p:cNvSpPr txBox="1"/>
          <p:nvPr/>
        </p:nvSpPr>
        <p:spPr>
          <a:xfrm>
            <a:off x="4484430" y="1832189"/>
            <a:ext cx="1509970"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8A4B12"/>
                </a:solidFill>
                <a:latin typeface="Readex Pro"/>
                <a:ea typeface="Readex Pro"/>
                <a:cs typeface="Readex Pro"/>
              </a:rPr>
              <a:t>Security+</a:t>
            </a:r>
          </a:p>
        </p:txBody>
      </p:sp>
      <p:sp>
        <p:nvSpPr>
          <p:cNvPr id="19" name="Text 18"/>
          <p:cNvSpPr txBox="1"/>
          <p:nvPr/>
        </p:nvSpPr>
        <p:spPr>
          <a:xfrm>
            <a:off x="3568025" y="1816255"/>
            <a:ext cx="995144"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CompTIA</a:t>
            </a:r>
          </a:p>
        </p:txBody>
      </p:sp>
      <p:sp>
        <p:nvSpPr>
          <p:cNvPr id="20" name="Text 19"/>
          <p:cNvSpPr txBox="1"/>
          <p:nvPr/>
        </p:nvSpPr>
        <p:spPr>
          <a:xfrm>
            <a:off x="8382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CompTIA Security+</a:t>
            </a:r>
          </a:p>
        </p:txBody>
      </p:sp>
      <p:sp>
        <p:nvSpPr>
          <p:cNvPr id="21" name="Text 20"/>
          <p:cNvSpPr txBox="1"/>
          <p:nvPr/>
        </p:nvSpPr>
        <p:spPr>
          <a:xfrm>
            <a:off x="45402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لمن؟</a:t>
            </a:r>
          </a:p>
        </p:txBody>
      </p:sp>
      <p:sp>
        <p:nvSpPr>
          <p:cNvPr id="22" name="Text 21"/>
          <p:cNvSpPr txBox="1"/>
          <p:nvPr/>
        </p:nvSpPr>
        <p:spPr>
          <a:xfrm>
            <a:off x="8382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يريد أساساً تقنياً أعمق.</a:t>
            </a:r>
          </a:p>
        </p:txBody>
      </p:sp>
      <p:sp>
        <p:nvSpPr>
          <p:cNvPr id="23" name="Text 22"/>
          <p:cNvSpPr txBox="1"/>
          <p:nvPr/>
        </p:nvSpPr>
        <p:spPr>
          <a:xfrm>
            <a:off x="45402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ماذا تعلّم؟</a:t>
            </a:r>
          </a:p>
        </p:txBody>
      </p:sp>
      <p:sp>
        <p:nvSpPr>
          <p:cNvPr id="24" name="Text 23"/>
          <p:cNvSpPr txBox="1"/>
          <p:nvPr/>
        </p:nvSpPr>
        <p:spPr>
          <a:xfrm>
            <a:off x="8382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التهديدات، والمعمارية، والعمليات، وإدارة البرنامج الأمني.</a:t>
            </a:r>
          </a:p>
        </p:txBody>
      </p:sp>
      <p:sp>
        <p:nvSpPr>
          <p:cNvPr id="25" name="Text 24"/>
          <p:cNvSpPr txBox="1"/>
          <p:nvPr/>
        </p:nvSpPr>
        <p:spPr>
          <a:xfrm>
            <a:off x="45402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الخبرة</a:t>
            </a:r>
          </a:p>
        </p:txBody>
      </p:sp>
      <p:sp>
        <p:nvSpPr>
          <p:cNvPr id="26" name="Text 25"/>
          <p:cNvSpPr txBox="1"/>
          <p:nvPr/>
        </p:nvSpPr>
        <p:spPr>
          <a:xfrm>
            <a:off x="838200" y="36708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رسمي؛ يُنصح بخبرة سنتين.</a:t>
            </a:r>
          </a:p>
        </p:txBody>
      </p:sp>
      <p:sp>
        <p:nvSpPr>
          <p:cNvPr id="27" name="Text 26"/>
          <p:cNvSpPr txBox="1"/>
          <p:nvPr/>
        </p:nvSpPr>
        <p:spPr>
          <a:xfrm>
            <a:off x="4540250" y="40899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متى؟</a:t>
            </a:r>
          </a:p>
        </p:txBody>
      </p:sp>
      <p:sp>
        <p:nvSpPr>
          <p:cNvPr id="28" name="Text 27"/>
          <p:cNvSpPr txBox="1"/>
          <p:nvPr/>
        </p:nvSpPr>
        <p:spPr>
          <a:xfrm>
            <a:off x="838200" y="40899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 أو بعد CC، حسب خلفيتك.</a:t>
            </a:r>
          </a:p>
        </p:txBody>
      </p:sp>
      <p:sp>
        <p:nvSpPr>
          <p:cNvPr id="29" name="Box 28"/>
          <p:cNvSpPr/>
          <p:nvPr/>
        </p:nvSpPr>
        <p:spPr>
          <a:xfrm>
            <a:off x="812800" y="5056386"/>
            <a:ext cx="10566400" cy="573980"/>
          </a:xfrm>
          <a:prstGeom prst="roundRect">
            <a:avLst>
              <a:gd name="adj" fmla="val 17700"/>
            </a:avLst>
          </a:prstGeom>
          <a:solidFill>
            <a:srgbClr val="F6ECDA"/>
          </a:solidFill>
          <a:ln>
            <a:noFill/>
          </a:ln>
        </p:spPr>
        <p:txBody>
          <a:bodyPr rtlCol="0" anchor="ctr"/>
          <a:lstStyle/>
          <a:p>
            <a:pPr algn="ctr"/>
          </a:p>
        </p:txBody>
      </p:sp>
      <p:pic>
        <p:nvPicPr>
          <p:cNvPr id="30" name="Icon Warning 29" descr="icon046.png"/>
          <p:cNvPicPr>
            <a:picLocks noChangeAspect="1"/>
          </p:cNvPicPr>
          <p:nvPr/>
        </p:nvPicPr>
        <p:blipFill>
          <a:blip r:embed="rId2"/>
          <a:stretch>
            <a:fillRect/>
          </a:stretch>
        </p:blipFill>
        <p:spPr>
          <a:xfrm>
            <a:off x="10966450" y="5225852"/>
            <a:ext cx="234950" cy="234950"/>
          </a:xfrm>
          <a:prstGeom prst="rect">
            <a:avLst/>
          </a:prstGeom>
        </p:spPr>
      </p:pic>
      <p:sp>
        <p:nvSpPr>
          <p:cNvPr id="31" name="Text 30"/>
          <p:cNvSpPr txBox="1"/>
          <p:nvPr/>
        </p:nvSpPr>
        <p:spPr>
          <a:xfrm>
            <a:off x="838200" y="5147953"/>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انتهى عرض اختبار CC المجاني من ISC2: أُغلق التسجيل فيه في 20 مايو 2026.</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مدخل إلى GRC والمخاطر: GRCP وIT Risk Fundamentals</a:t>
            </a:r>
          </a:p>
        </p:txBody>
      </p:sp>
      <p:sp>
        <p:nvSpPr>
          <p:cNvPr id="5" name="Rule 4"/>
          <p:cNvSpPr/>
          <p:nvPr/>
        </p:nvSpPr>
        <p:spPr>
          <a:xfrm>
            <a:off x="6159500" y="1657945"/>
            <a:ext cx="5219700" cy="31750"/>
          </a:xfrm>
          <a:prstGeom prst="rect">
            <a:avLst/>
          </a:prstGeom>
          <a:solidFill>
            <a:srgbClr val="2F5C92"/>
          </a:solidFill>
          <a:ln>
            <a:noFill/>
          </a:ln>
        </p:spPr>
        <p:txBody>
          <a:bodyPr rtlCol="0" anchor="ctr"/>
          <a:lstStyle/>
          <a:p>
            <a:pPr algn="ctr"/>
          </a:p>
        </p:txBody>
      </p:sp>
      <p:sp>
        <p:nvSpPr>
          <p:cNvPr id="6" name="Text 5"/>
          <p:cNvSpPr txBox="1"/>
          <p:nvPr/>
        </p:nvSpPr>
        <p:spPr>
          <a:xfrm>
            <a:off x="10382687" y="1832189"/>
            <a:ext cx="958413"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F5C92"/>
                </a:solidFill>
                <a:latin typeface="Readex Pro"/>
                <a:ea typeface="Readex Pro"/>
                <a:cs typeface="Readex Pro"/>
              </a:rPr>
              <a:t>GRCP</a:t>
            </a:r>
          </a:p>
        </p:txBody>
      </p:sp>
      <p:sp>
        <p:nvSpPr>
          <p:cNvPr id="7" name="Text 6"/>
          <p:cNvSpPr txBox="1"/>
          <p:nvPr/>
        </p:nvSpPr>
        <p:spPr>
          <a:xfrm>
            <a:off x="9714766" y="1794558"/>
            <a:ext cx="74666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OCEG</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GRC Professional</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يريد أساساً في GRC نفسه.</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ماذا تعلّم؟</a:t>
            </a:r>
          </a:p>
        </p:txBody>
      </p:sp>
      <p:sp>
        <p:nvSpPr>
          <p:cNvPr id="12" name="Text 11"/>
          <p:cNvSpPr txBox="1"/>
          <p:nvPr/>
        </p:nvSpPr>
        <p:spPr>
          <a:xfrm>
            <a:off x="6184900" y="29291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مفاهيم GRC ونموذج OCEG للقدرات.</a:t>
            </a:r>
          </a:p>
        </p:txBody>
      </p:sp>
      <p:sp>
        <p:nvSpPr>
          <p:cNvPr id="13" name="Text 12"/>
          <p:cNvSpPr txBox="1"/>
          <p:nvPr/>
        </p:nvSpPr>
        <p:spPr>
          <a:xfrm>
            <a:off x="9886950" y="33482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الخبرة</a:t>
            </a:r>
          </a:p>
        </p:txBody>
      </p:sp>
      <p:sp>
        <p:nvSpPr>
          <p:cNvPr id="14" name="Text 13"/>
          <p:cNvSpPr txBox="1"/>
          <p:nvPr/>
        </p:nvSpPr>
        <p:spPr>
          <a:xfrm>
            <a:off x="6184900" y="33482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تشترط خبرة.</a:t>
            </a:r>
          </a:p>
        </p:txBody>
      </p:sp>
      <p:sp>
        <p:nvSpPr>
          <p:cNvPr id="15" name="Text 14"/>
          <p:cNvSpPr txBox="1"/>
          <p:nvPr/>
        </p:nvSpPr>
        <p:spPr>
          <a:xfrm>
            <a:off x="9886950" y="37673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متى؟</a:t>
            </a:r>
          </a:p>
        </p:txBody>
      </p:sp>
      <p:sp>
        <p:nvSpPr>
          <p:cNvPr id="16" name="Text 15"/>
          <p:cNvSpPr txBox="1"/>
          <p:nvPr/>
        </p:nvSpPr>
        <p:spPr>
          <a:xfrm>
            <a:off x="6184900" y="37673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مبكراً، بعد الأساسيات.</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2965629" y="1845826"/>
            <a:ext cx="3028771"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0E6B5C"/>
                </a:solidFill>
                <a:latin typeface="Readex Pro"/>
                <a:ea typeface="Readex Pro"/>
                <a:cs typeface="Readex Pro"/>
              </a:rPr>
              <a:t>IT Risk Fundamentals</a:t>
            </a:r>
          </a:p>
        </p:txBody>
      </p:sp>
      <p:sp>
        <p:nvSpPr>
          <p:cNvPr id="19" name="Text 18"/>
          <p:cNvSpPr txBox="1"/>
          <p:nvPr/>
        </p:nvSpPr>
        <p:spPr>
          <a:xfrm>
            <a:off x="2280801" y="1793962"/>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721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IT Risk Fundamentals Certificate</a:t>
            </a:r>
          </a:p>
        </p:txBody>
      </p:sp>
      <p:sp>
        <p:nvSpPr>
          <p:cNvPr id="21" name="Text 20"/>
          <p:cNvSpPr txBox="1"/>
          <p:nvPr/>
        </p:nvSpPr>
        <p:spPr>
          <a:xfrm>
            <a:off x="4540250" y="25087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087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مبتدئ يتجه إلى مخاطر التقنية.</a:t>
            </a:r>
          </a:p>
        </p:txBody>
      </p:sp>
      <p:sp>
        <p:nvSpPr>
          <p:cNvPr id="23" name="Text 22"/>
          <p:cNvSpPr txBox="1"/>
          <p:nvPr/>
        </p:nvSpPr>
        <p:spPr>
          <a:xfrm>
            <a:off x="4540250" y="29278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78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أساسيات مخاطر تقنية المعلومات.</a:t>
            </a:r>
          </a:p>
        </p:txBody>
      </p:sp>
      <p:sp>
        <p:nvSpPr>
          <p:cNvPr id="25" name="Text 24"/>
          <p:cNvSpPr txBox="1"/>
          <p:nvPr/>
        </p:nvSpPr>
        <p:spPr>
          <a:xfrm>
            <a:off x="4540250" y="33469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3469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شهادة إتمام، لا اعتماد مهني.</a:t>
            </a:r>
          </a:p>
        </p:txBody>
      </p:sp>
      <p:sp>
        <p:nvSpPr>
          <p:cNvPr id="27" name="Text 26"/>
          <p:cNvSpPr txBox="1"/>
          <p:nvPr/>
        </p:nvSpPr>
        <p:spPr>
          <a:xfrm>
            <a:off x="4540250" y="37660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37660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 27001: منفذ رئيسي أم مدقق رئيسي؟</a:t>
            </a:r>
          </a:p>
        </p:txBody>
      </p:sp>
      <p:sp>
        <p:nvSpPr>
          <p:cNvPr id="5" name="Rule 4"/>
          <p:cNvSpPr/>
          <p:nvPr/>
        </p:nvSpPr>
        <p:spPr>
          <a:xfrm>
            <a:off x="6159500" y="1657945"/>
            <a:ext cx="5219700" cy="31750"/>
          </a:xfrm>
          <a:prstGeom prst="rect">
            <a:avLst/>
          </a:prstGeom>
          <a:solidFill>
            <a:srgbClr val="7A4A0E"/>
          </a:solidFill>
          <a:ln>
            <a:noFill/>
          </a:ln>
        </p:spPr>
        <p:txBody>
          <a:bodyPr rtlCol="0" anchor="ctr"/>
          <a:lstStyle/>
          <a:p>
            <a:pPr algn="ctr"/>
          </a:p>
        </p:txBody>
      </p:sp>
      <p:sp>
        <p:nvSpPr>
          <p:cNvPr id="6" name="Text 5"/>
          <p:cNvSpPr txBox="1"/>
          <p:nvPr/>
        </p:nvSpPr>
        <p:spPr>
          <a:xfrm>
            <a:off x="8764099" y="1831935"/>
            <a:ext cx="2577001"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7A4A0E"/>
                </a:solidFill>
                <a:latin typeface="Readex Pro"/>
                <a:ea typeface="Readex Pro"/>
                <a:cs typeface="Readex Pro"/>
              </a:rPr>
              <a:t>Lead Implementer</a:t>
            </a:r>
          </a:p>
        </p:txBody>
      </p:sp>
      <p:sp>
        <p:nvSpPr>
          <p:cNvPr id="7" name="Text 6"/>
          <p:cNvSpPr txBox="1"/>
          <p:nvPr/>
        </p:nvSpPr>
        <p:spPr>
          <a:xfrm>
            <a:off x="7145802" y="1801670"/>
            <a:ext cx="17202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PECB وجهات أخرى</a:t>
            </a:r>
          </a:p>
        </p:txBody>
      </p:sp>
      <p:sp>
        <p:nvSpPr>
          <p:cNvPr id="8" name="Text 7"/>
          <p:cNvSpPr txBox="1"/>
          <p:nvPr/>
        </p:nvSpPr>
        <p:spPr>
          <a:xfrm>
            <a:off x="6184900" y="2120987"/>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ISO/IEC 27001 Lead Implementer</a:t>
            </a:r>
          </a:p>
        </p:txBody>
      </p:sp>
      <p:sp>
        <p:nvSpPr>
          <p:cNvPr id="9" name="Text 8"/>
          <p:cNvSpPr txBox="1"/>
          <p:nvPr/>
        </p:nvSpPr>
        <p:spPr>
          <a:xfrm>
            <a:off x="9886950" y="24478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لمن؟</a:t>
            </a:r>
          </a:p>
        </p:txBody>
      </p:sp>
      <p:sp>
        <p:nvSpPr>
          <p:cNvPr id="10" name="Text 9"/>
          <p:cNvSpPr txBox="1"/>
          <p:nvPr/>
        </p:nvSpPr>
        <p:spPr>
          <a:xfrm>
            <a:off x="6184900" y="24478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سيبني نظام إدارة أمن المعلومات أو يستشير فيه.</a:t>
            </a:r>
          </a:p>
        </p:txBody>
      </p:sp>
      <p:sp>
        <p:nvSpPr>
          <p:cNvPr id="11" name="Text 10"/>
          <p:cNvSpPr txBox="1"/>
          <p:nvPr/>
        </p:nvSpPr>
        <p:spPr>
          <a:xfrm>
            <a:off x="9886950" y="32225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ماذا تعلّم؟</a:t>
            </a:r>
          </a:p>
        </p:txBody>
      </p:sp>
      <p:sp>
        <p:nvSpPr>
          <p:cNvPr id="12" name="Text 11"/>
          <p:cNvSpPr txBox="1"/>
          <p:nvPr/>
        </p:nvSpPr>
        <p:spPr>
          <a:xfrm>
            <a:off x="6184900" y="32225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تخطيط النظام وتطبيقه ومتابعته وفق البنود 4 إلى 10.</a:t>
            </a:r>
          </a:p>
        </p:txBody>
      </p:sp>
      <p:sp>
        <p:nvSpPr>
          <p:cNvPr id="13" name="Text 12"/>
          <p:cNvSpPr txBox="1"/>
          <p:nvPr/>
        </p:nvSpPr>
        <p:spPr>
          <a:xfrm>
            <a:off x="9886950" y="39972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الخبرة</a:t>
            </a:r>
          </a:p>
        </p:txBody>
      </p:sp>
      <p:sp>
        <p:nvSpPr>
          <p:cNvPr id="14" name="Text 13"/>
          <p:cNvSpPr txBox="1"/>
          <p:nvPr/>
        </p:nvSpPr>
        <p:spPr>
          <a:xfrm>
            <a:off x="6184900" y="39972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الاختبار بلا خبرة، واللقب يحتاج خبرة.</a:t>
            </a:r>
          </a:p>
        </p:txBody>
      </p:sp>
      <p:sp>
        <p:nvSpPr>
          <p:cNvPr id="15" name="Text 14"/>
          <p:cNvSpPr txBox="1"/>
          <p:nvPr/>
        </p:nvSpPr>
        <p:spPr>
          <a:xfrm>
            <a:off x="9886950" y="44163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متى؟</a:t>
            </a:r>
          </a:p>
        </p:txBody>
      </p:sp>
      <p:sp>
        <p:nvSpPr>
          <p:cNvPr id="16" name="Text 15"/>
          <p:cNvSpPr txBox="1"/>
          <p:nvPr/>
        </p:nvSpPr>
        <p:spPr>
          <a:xfrm>
            <a:off x="6184900" y="44163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اتجهت للتطبيق والاستشارات.</a:t>
            </a:r>
          </a:p>
        </p:txBody>
      </p:sp>
      <p:sp>
        <p:nvSpPr>
          <p:cNvPr id="17" name="Rule 16"/>
          <p:cNvSpPr/>
          <p:nvPr/>
        </p:nvSpPr>
        <p:spPr>
          <a:xfrm>
            <a:off x="812800" y="1657945"/>
            <a:ext cx="5219700" cy="31750"/>
          </a:xfrm>
          <a:prstGeom prst="rect">
            <a:avLst/>
          </a:prstGeom>
          <a:solidFill>
            <a:srgbClr val="7A4A0E"/>
          </a:solidFill>
          <a:ln>
            <a:noFill/>
          </a:ln>
        </p:spPr>
        <p:txBody>
          <a:bodyPr rtlCol="0" anchor="ctr"/>
          <a:lstStyle/>
          <a:p>
            <a:pPr algn="ctr"/>
          </a:p>
        </p:txBody>
      </p:sp>
      <p:sp>
        <p:nvSpPr>
          <p:cNvPr id="18" name="Text 17"/>
          <p:cNvSpPr txBox="1"/>
          <p:nvPr/>
        </p:nvSpPr>
        <p:spPr>
          <a:xfrm>
            <a:off x="4188123" y="1831935"/>
            <a:ext cx="1806277"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7A4A0E"/>
                </a:solidFill>
                <a:latin typeface="Readex Pro"/>
                <a:ea typeface="Readex Pro"/>
                <a:cs typeface="Readex Pro"/>
              </a:rPr>
              <a:t>Lead Auditor</a:t>
            </a:r>
          </a:p>
        </p:txBody>
      </p:sp>
      <p:sp>
        <p:nvSpPr>
          <p:cNvPr id="19" name="Text 18"/>
          <p:cNvSpPr txBox="1"/>
          <p:nvPr/>
        </p:nvSpPr>
        <p:spPr>
          <a:xfrm>
            <a:off x="2531336" y="1801670"/>
            <a:ext cx="17202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PECB وجهات أخرى</a:t>
            </a:r>
          </a:p>
        </p:txBody>
      </p:sp>
      <p:sp>
        <p:nvSpPr>
          <p:cNvPr id="20" name="Text 19"/>
          <p:cNvSpPr txBox="1"/>
          <p:nvPr/>
        </p:nvSpPr>
        <p:spPr>
          <a:xfrm>
            <a:off x="838200" y="2120987"/>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ISO/IEC 27001 Lead Auditor</a:t>
            </a:r>
          </a:p>
        </p:txBody>
      </p:sp>
      <p:sp>
        <p:nvSpPr>
          <p:cNvPr id="21" name="Text 20"/>
          <p:cNvSpPr txBox="1"/>
          <p:nvPr/>
        </p:nvSpPr>
        <p:spPr>
          <a:xfrm>
            <a:off x="4540250" y="24478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لمن؟</a:t>
            </a:r>
          </a:p>
        </p:txBody>
      </p:sp>
      <p:sp>
        <p:nvSpPr>
          <p:cNvPr id="22" name="Text 21"/>
          <p:cNvSpPr txBox="1"/>
          <p:nvPr/>
        </p:nvSpPr>
        <p:spPr>
          <a:xfrm>
            <a:off x="838200" y="24478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سيدقق أنظمة الإدارة داخلياً أو لدى جهة مانحة.</a:t>
            </a:r>
          </a:p>
        </p:txBody>
      </p:sp>
      <p:sp>
        <p:nvSpPr>
          <p:cNvPr id="23" name="Text 22"/>
          <p:cNvSpPr txBox="1"/>
          <p:nvPr/>
        </p:nvSpPr>
        <p:spPr>
          <a:xfrm>
            <a:off x="4540250" y="32225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ماذا تعلّم؟</a:t>
            </a:r>
          </a:p>
        </p:txBody>
      </p:sp>
      <p:sp>
        <p:nvSpPr>
          <p:cNvPr id="24" name="Text 23"/>
          <p:cNvSpPr txBox="1"/>
          <p:nvPr/>
        </p:nvSpPr>
        <p:spPr>
          <a:xfrm>
            <a:off x="838200" y="32225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تخطيط التدقيق وتنفيذه، وكتابة الملاحظات وإعداد التقرير.</a:t>
            </a:r>
          </a:p>
        </p:txBody>
      </p:sp>
      <p:sp>
        <p:nvSpPr>
          <p:cNvPr id="25" name="Text 24"/>
          <p:cNvSpPr txBox="1"/>
          <p:nvPr/>
        </p:nvSpPr>
        <p:spPr>
          <a:xfrm>
            <a:off x="4540250" y="39972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الخبرة</a:t>
            </a:r>
          </a:p>
        </p:txBody>
      </p:sp>
      <p:sp>
        <p:nvSpPr>
          <p:cNvPr id="26" name="Text 25"/>
          <p:cNvSpPr txBox="1"/>
          <p:nvPr/>
        </p:nvSpPr>
        <p:spPr>
          <a:xfrm>
            <a:off x="838200" y="39972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الاختبار بلا خبرة، واللقب يحتاج خبرة تدقيق.</a:t>
            </a:r>
          </a:p>
        </p:txBody>
      </p:sp>
      <p:sp>
        <p:nvSpPr>
          <p:cNvPr id="27" name="Text 26"/>
          <p:cNvSpPr txBox="1"/>
          <p:nvPr/>
        </p:nvSpPr>
        <p:spPr>
          <a:xfrm>
            <a:off x="4540250" y="47719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متى؟</a:t>
            </a:r>
          </a:p>
        </p:txBody>
      </p:sp>
      <p:sp>
        <p:nvSpPr>
          <p:cNvPr id="28" name="Text 27"/>
          <p:cNvSpPr txBox="1"/>
          <p:nvPr/>
        </p:nvSpPr>
        <p:spPr>
          <a:xfrm>
            <a:off x="838200" y="47719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اتجهت للتدقيق.</a:t>
            </a:r>
          </a:p>
        </p:txBody>
      </p:sp>
      <p:sp>
        <p:nvSpPr>
          <p:cNvPr id="29" name="Box 28"/>
          <p:cNvSpPr/>
          <p:nvPr/>
        </p:nvSpPr>
        <p:spPr>
          <a:xfrm>
            <a:off x="812800" y="5382816"/>
            <a:ext cx="10566400" cy="573980"/>
          </a:xfrm>
          <a:prstGeom prst="roundRect">
            <a:avLst>
              <a:gd name="adj" fmla="val 17700"/>
            </a:avLst>
          </a:prstGeom>
          <a:solidFill>
            <a:srgbClr val="172433"/>
          </a:solidFill>
          <a:ln>
            <a:noFill/>
          </a:ln>
        </p:spPr>
        <p:txBody>
          <a:bodyPr rtlCol="0" anchor="ctr"/>
          <a:lstStyle/>
          <a:p>
            <a:pPr algn="ctr"/>
          </a:p>
        </p:txBody>
      </p:sp>
      <p:pic>
        <p:nvPicPr>
          <p:cNvPr id="30" name="Icon Lightbulb 29" descr="icon067.png"/>
          <p:cNvPicPr>
            <a:picLocks noChangeAspect="1"/>
          </p:cNvPicPr>
          <p:nvPr/>
        </p:nvPicPr>
        <p:blipFill>
          <a:blip r:embed="rId2"/>
          <a:stretch>
            <a:fillRect/>
          </a:stretch>
        </p:blipFill>
        <p:spPr>
          <a:xfrm>
            <a:off x="10953750" y="5545931"/>
            <a:ext cx="247650" cy="247650"/>
          </a:xfrm>
          <a:prstGeom prst="rect">
            <a:avLst/>
          </a:prstGeom>
        </p:spPr>
      </p:pic>
      <p:sp>
        <p:nvSpPr>
          <p:cNvPr id="31" name="Text 30"/>
          <p:cNvSpPr txBox="1"/>
          <p:nvPr/>
        </p:nvSpPr>
        <p:spPr>
          <a:xfrm>
            <a:off x="838200" y="5474383"/>
            <a:ext cx="100012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لا تصدرها ISO نفسها، بل جهات تدريب واعتماد مثل PECB وBSI. شروط كل جهة تختلف.</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التدريب ليس الاختبار، والاختبار ليس اللقب</a:t>
            </a:r>
          </a:p>
        </p:txBody>
      </p:sp>
      <p:sp>
        <p:nvSpPr>
          <p:cNvPr id="5" name="Rule 4"/>
          <p:cNvSpPr/>
          <p:nvPr/>
        </p:nvSpPr>
        <p:spPr>
          <a:xfrm>
            <a:off x="9008170" y="16325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7" name="Text 6"/>
          <p:cNvSpPr txBox="1"/>
          <p:nvPr/>
        </p:nvSpPr>
        <p:spPr>
          <a:xfrm>
            <a:off x="903357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إتمام التدريب</a:t>
            </a:r>
          </a:p>
        </p:txBody>
      </p:sp>
      <p:sp>
        <p:nvSpPr>
          <p:cNvPr id="8" name="Text 7"/>
          <p:cNvSpPr txBox="1"/>
          <p:nvPr/>
        </p:nvSpPr>
        <p:spPr>
          <a:xfrm>
            <a:off x="903357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شهادة حضور أو إتمام. عند PECB:‏ 31 ساعة تطوير مهني.</a:t>
            </a:r>
          </a:p>
        </p:txBody>
      </p:sp>
      <p:sp>
        <p:nvSpPr>
          <p:cNvPr id="9" name="Text 8"/>
          <p:cNvSpPr txBox="1"/>
          <p:nvPr/>
        </p:nvSpPr>
        <p:spPr>
          <a:xfrm>
            <a:off x="857121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325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2" name="Text 11"/>
          <p:cNvSpPr txBox="1"/>
          <p:nvPr/>
        </p:nvSpPr>
        <p:spPr>
          <a:xfrm>
            <a:off x="630178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النجاح في الاختبار</a:t>
            </a:r>
          </a:p>
        </p:txBody>
      </p:sp>
      <p:sp>
        <p:nvSpPr>
          <p:cNvPr id="13" name="Text 12"/>
          <p:cNvSpPr txBox="1"/>
          <p:nvPr/>
        </p:nvSpPr>
        <p:spPr>
          <a:xfrm>
            <a:off x="630178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عند PECB:‏ 80 سؤالاً بكتاب مفتوح، والنجاح 70%.</a:t>
            </a:r>
          </a:p>
        </p:txBody>
      </p:sp>
      <p:sp>
        <p:nvSpPr>
          <p:cNvPr id="14" name="Text 13"/>
          <p:cNvSpPr txBox="1"/>
          <p:nvPr/>
        </p:nvSpPr>
        <p:spPr>
          <a:xfrm>
            <a:off x="583942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325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7" name="Text 16"/>
          <p:cNvSpPr txBox="1"/>
          <p:nvPr/>
        </p:nvSpPr>
        <p:spPr>
          <a:xfrm>
            <a:off x="356999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استحقاق اللقب</a:t>
            </a:r>
          </a:p>
        </p:txBody>
      </p:sp>
      <p:sp>
        <p:nvSpPr>
          <p:cNvPr id="18" name="Text 17"/>
          <p:cNvSpPr txBox="1"/>
          <p:nvPr/>
        </p:nvSpPr>
        <p:spPr>
          <a:xfrm>
            <a:off x="3569990" y="2679025"/>
            <a:ext cx="2307530" cy="14224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Provisional بلا خبرة، ثم Implementer، ثم Lead، ثم Senior Lead.</a:t>
            </a:r>
          </a:p>
        </p:txBody>
      </p:sp>
      <p:sp>
        <p:nvSpPr>
          <p:cNvPr id="19" name="Text 18"/>
          <p:cNvSpPr txBox="1"/>
          <p:nvPr/>
        </p:nvSpPr>
        <p:spPr>
          <a:xfrm>
            <a:off x="310763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325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4</a:t>
            </a:r>
          </a:p>
        </p:txBody>
      </p:sp>
      <p:sp>
        <p:nvSpPr>
          <p:cNvPr id="22" name="Text 21"/>
          <p:cNvSpPr txBox="1"/>
          <p:nvPr/>
        </p:nvSpPr>
        <p:spPr>
          <a:xfrm>
            <a:off x="83820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متطلبات الجهة</a:t>
            </a:r>
          </a:p>
        </p:txBody>
      </p:sp>
      <p:sp>
        <p:nvSpPr>
          <p:cNvPr id="23" name="Text 22"/>
          <p:cNvSpPr txBox="1"/>
          <p:nvPr/>
        </p:nvSpPr>
        <p:spPr>
          <a:xfrm>
            <a:off x="83820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كل جهة مانحة لها شروطها. شهادة PECB تختلف عن غيرها.</a:t>
            </a:r>
          </a:p>
        </p:txBody>
      </p:sp>
      <p:sp>
        <p:nvSpPr>
          <p:cNvPr id="24" name="Box 23"/>
          <p:cNvSpPr/>
          <p:nvPr/>
        </p:nvSpPr>
        <p:spPr>
          <a:xfrm>
            <a:off x="812800" y="4686895"/>
            <a:ext cx="10566400" cy="609600"/>
          </a:xfrm>
          <a:prstGeom prst="roundRect">
            <a:avLst>
              <a:gd name="adj" fmla="val 16666"/>
            </a:avLst>
          </a:prstGeom>
          <a:solidFill>
            <a:srgbClr val="F6ECDA"/>
          </a:solidFill>
          <a:ln>
            <a:noFill/>
          </a:ln>
        </p:spPr>
        <p:txBody>
          <a:bodyPr rtlCol="0" anchor="ctr"/>
          <a:lstStyle/>
          <a:p>
            <a:pPr algn="ctr"/>
          </a:p>
        </p:txBody>
      </p:sp>
      <p:pic>
        <p:nvPicPr>
          <p:cNvPr id="25" name="Icon Globe 24" descr="icon076.png"/>
          <p:cNvPicPr>
            <a:picLocks noChangeAspect="1"/>
          </p:cNvPicPr>
          <p:nvPr/>
        </p:nvPicPr>
        <p:blipFill>
          <a:blip r:embed="rId2"/>
          <a:stretch>
            <a:fillRect/>
          </a:stretch>
        </p:blipFill>
        <p:spPr>
          <a:xfrm>
            <a:off x="10922000" y="4851995"/>
            <a:ext cx="279400" cy="279400"/>
          </a:xfrm>
          <a:prstGeom prst="rect">
            <a:avLst/>
          </a:prstGeom>
        </p:spPr>
      </p:pic>
      <p:sp>
        <p:nvSpPr>
          <p:cNvPr id="26" name="Text 25"/>
          <p:cNvSpPr txBox="1"/>
          <p:nvPr/>
        </p:nvSpPr>
        <p:spPr>
          <a:xfrm>
            <a:off x="838200" y="47745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قد تجد دورات تُشرح بالعربية، لكن لغة الاختبار شيء آخر. تحقق منها في قائمة اختبارات الجهة.</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من الاختبار إلى اللقب المهني</a:t>
            </a:r>
          </a:p>
        </p:txBody>
      </p:sp>
      <p:graphicFrame>
        <p:nvGraphicFramePr>
          <p:cNvPr id="5" name="Table 4"/>
          <p:cNvGraphicFramePr>
            <a:graphicFrameLocks noGrp="1"/>
          </p:cNvGraphicFramePr>
          <p:nvPr/>
        </p:nvGraphicFramePr>
        <p:xfrm>
          <a:off x="815975" y="1635720"/>
          <a:ext cx="10560050" cy="2978150"/>
        </p:xfrm>
        <a:graphic>
          <a:graphicData uri="http://schemas.openxmlformats.org/drawingml/2006/table">
            <a:tbl>
              <a:tblPr firstRow="0" bandRow="0" lastRow="0" firstCol="0" lastCol="0" bandCol="0">
                <a:tableStyleId>{2D5ABB26-0587-4C30-8999-92F81FD0307C}</a:tableStyleId>
              </a:tblPr>
              <a:tblGrid>
                <a:gridCol w="1900555"/>
                <a:gridCol w="5069205"/>
                <a:gridCol w="3590290"/>
              </a:tblGrid>
              <a:tr h="8699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ساعات المشاريع</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الخبرة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اللقب عند PECB</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شيء</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شيء</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Provisional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200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سنتان، منها سنة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300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5 سنوات، منها سنتان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Lead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1000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10 سنوات، منها 7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Senior Lead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06472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7" name="Icon Warning 6" descr="icon063.png"/>
          <p:cNvPicPr>
            <a:picLocks noChangeAspect="1"/>
          </p:cNvPicPr>
          <p:nvPr/>
        </p:nvPicPr>
        <p:blipFill>
          <a:blip r:embed="rId2"/>
          <a:stretch>
            <a:fillRect/>
          </a:stretch>
        </p:blipFill>
        <p:spPr>
          <a:xfrm>
            <a:off x="10915650" y="5232995"/>
            <a:ext cx="279400" cy="279400"/>
          </a:xfrm>
          <a:prstGeom prst="rect">
            <a:avLst/>
          </a:prstGeom>
        </p:spPr>
      </p:pic>
      <p:sp>
        <p:nvSpPr>
          <p:cNvPr id="8" name="Text 7"/>
          <p:cNvSpPr txBox="1"/>
          <p:nvPr/>
        </p:nvSpPr>
        <p:spPr>
          <a:xfrm>
            <a:off x="838200" y="51555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كتبت في سيرتك Lead Implementer، فتأكد أنك تستحق اللقب، لا أنك حضرت الدورة فقط.</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(1 من 2): التدقيق والمخاطر</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452537" y="1832189"/>
            <a:ext cx="888563"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CISA</a:t>
            </a:r>
          </a:p>
        </p:txBody>
      </p:sp>
      <p:sp>
        <p:nvSpPr>
          <p:cNvPr id="7" name="Text 6"/>
          <p:cNvSpPr txBox="1"/>
          <p:nvPr/>
        </p:nvSpPr>
        <p:spPr>
          <a:xfrm>
            <a:off x="971099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Systems Auditor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تدقيق تقنية المعلومات: الخط الثالث.</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عملية التدقيق، وحوكمة التقنية، وتشغيل الأنظمة وحمايتها.</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وإعفاء حتى 3.</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خبرة تدقيق. تستطيع الاختبار مبكراً.</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4910276" y="1832189"/>
            <a:ext cx="108412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CRISC</a:t>
            </a:r>
          </a:p>
        </p:txBody>
      </p:sp>
      <p:sp>
        <p:nvSpPr>
          <p:cNvPr id="19" name="Text 18"/>
          <p:cNvSpPr txBox="1"/>
          <p:nvPr/>
        </p:nvSpPr>
        <p:spPr>
          <a:xfrm>
            <a:off x="416873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Risk and Information Systems Control</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مخاطر التقنية: الخط الثاني.</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الحوكمة، وتقييم المخاطر، والاستجابة والتقارير، والتقنية.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سنوات في مجالين من 4، بلا إعفاء.</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سنتين أو ثلاث في المخاطر.</a:t>
            </a:r>
          </a:p>
        </p:txBody>
      </p:sp>
      <p:sp>
        <p:nvSpPr>
          <p:cNvPr id="29" name="Box 28"/>
          <p:cNvSpPr/>
          <p:nvPr/>
        </p:nvSpPr>
        <p:spPr>
          <a:xfrm>
            <a:off x="812800" y="5044976"/>
            <a:ext cx="10566400" cy="609600"/>
          </a:xfrm>
          <a:prstGeom prst="roundRect">
            <a:avLst>
              <a:gd name="adj" fmla="val 16666"/>
            </a:avLst>
          </a:prstGeom>
          <a:solidFill>
            <a:srgbClr val="E3F1ED"/>
          </a:solidFill>
          <a:ln>
            <a:noFill/>
          </a:ln>
        </p:spPr>
        <p:txBody>
          <a:bodyPr rtlCol="0" anchor="ctr"/>
          <a:lstStyle/>
          <a:p>
            <a:pPr algn="ctr"/>
          </a:p>
        </p:txBody>
      </p:sp>
      <p:pic>
        <p:nvPicPr>
          <p:cNvPr id="30" name="Icon Lightbulb 29" descr="icon035.png"/>
          <p:cNvPicPr>
            <a:picLocks noChangeAspect="1"/>
          </p:cNvPicPr>
          <p:nvPr/>
        </p:nvPicPr>
        <p:blipFill>
          <a:blip r:embed="rId2"/>
          <a:stretch>
            <a:fillRect/>
          </a:stretch>
        </p:blipFill>
        <p:spPr>
          <a:xfrm>
            <a:off x="10934700" y="5216426"/>
            <a:ext cx="266700" cy="266700"/>
          </a:xfrm>
          <a:prstGeom prst="rect">
            <a:avLst/>
          </a:prstGeom>
        </p:spPr>
      </p:pic>
      <p:sp>
        <p:nvSpPr>
          <p:cNvPr id="31" name="Text 30"/>
          <p:cNvSpPr txBox="1"/>
          <p:nvPr/>
        </p:nvSpPr>
        <p:spPr>
          <a:xfrm>
            <a:off x="838200" y="5132606"/>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ISACA تستطيع الاختبار أولاً، ثم تقديم طلب الشهادة خلال 5 سنوات من النجاح حين تكتمل الخبرة.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(2 من 2): الإدارة والحوكمة</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402034" y="1832189"/>
            <a:ext cx="93906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CISM</a:t>
            </a:r>
          </a:p>
        </p:txBody>
      </p:sp>
      <p:sp>
        <p:nvSpPr>
          <p:cNvPr id="7" name="Text 6"/>
          <p:cNvSpPr txBox="1"/>
          <p:nvPr/>
        </p:nvSpPr>
        <p:spPr>
          <a:xfrm>
            <a:off x="9660493"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Security Manager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يتجه لإدارة برنامج الأمن.</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3 نوفمبر 2026: الحوكمة 18%، والمخاطر 20%، والبرنامج 33%، والحوادث 29%.</a:t>
            </a:r>
          </a:p>
        </p:txBody>
      </p:sp>
      <p:sp>
        <p:nvSpPr>
          <p:cNvPr id="13" name="Text 12"/>
          <p:cNvSpPr txBox="1"/>
          <p:nvPr/>
        </p:nvSpPr>
        <p:spPr>
          <a:xfrm>
            <a:off x="9886950" y="40594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40594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في 3 مجالات من 4، وإعفاء حتى سنتين.</a:t>
            </a:r>
          </a:p>
        </p:txBody>
      </p:sp>
      <p:sp>
        <p:nvSpPr>
          <p:cNvPr id="15" name="Text 14"/>
          <p:cNvSpPr txBox="1"/>
          <p:nvPr/>
        </p:nvSpPr>
        <p:spPr>
          <a:xfrm>
            <a:off x="9886950" y="4834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8341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حين تتجه للإدارة.</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4896584" y="1832189"/>
            <a:ext cx="109781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CGEIT</a:t>
            </a:r>
          </a:p>
        </p:txBody>
      </p:sp>
      <p:sp>
        <p:nvSpPr>
          <p:cNvPr id="19" name="Text 18"/>
          <p:cNvSpPr txBox="1"/>
          <p:nvPr/>
        </p:nvSpPr>
        <p:spPr>
          <a:xfrm>
            <a:off x="4155043"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Governance of Enterprise IT</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قيادات حوكمة التقنية.</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حوكمة تقنية المعلومات على مستوى الجهة.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بلا إعفاء.</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مرحلة متقدمة.</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ISC2: الحوكمة والمخاطر، ثم القيادة</a:t>
            </a:r>
          </a:p>
        </p:txBody>
      </p:sp>
      <p:sp>
        <p:nvSpPr>
          <p:cNvPr id="5" name="Rule 4"/>
          <p:cNvSpPr/>
          <p:nvPr/>
        </p:nvSpPr>
        <p:spPr>
          <a:xfrm>
            <a:off x="6159500" y="1657945"/>
            <a:ext cx="5219700" cy="31750"/>
          </a:xfrm>
          <a:prstGeom prst="rect">
            <a:avLst/>
          </a:prstGeom>
          <a:solidFill>
            <a:srgbClr val="24506B"/>
          </a:solidFill>
          <a:ln>
            <a:noFill/>
          </a:ln>
        </p:spPr>
        <p:txBody>
          <a:bodyPr rtlCol="0" anchor="ctr"/>
          <a:lstStyle/>
          <a:p>
            <a:pPr algn="ctr"/>
          </a:p>
        </p:txBody>
      </p:sp>
      <p:sp>
        <p:nvSpPr>
          <p:cNvPr id="6" name="Text 5"/>
          <p:cNvSpPr txBox="1"/>
          <p:nvPr/>
        </p:nvSpPr>
        <p:spPr>
          <a:xfrm>
            <a:off x="10374055" y="1832189"/>
            <a:ext cx="967045"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CGRC</a:t>
            </a:r>
          </a:p>
        </p:txBody>
      </p:sp>
      <p:sp>
        <p:nvSpPr>
          <p:cNvPr id="7" name="Text 6"/>
          <p:cNvSpPr txBox="1"/>
          <p:nvPr/>
        </p:nvSpPr>
        <p:spPr>
          <a:xfrm>
            <a:off x="9868317"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8" name="Text 7"/>
          <p:cNvSpPr txBox="1"/>
          <p:nvPr/>
        </p:nvSpPr>
        <p:spPr>
          <a:xfrm>
            <a:off x="61849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Governance, Risk and Compliance</a:t>
            </a:r>
          </a:p>
        </p:txBody>
      </p:sp>
      <p:sp>
        <p:nvSpPr>
          <p:cNvPr id="9" name="Text 8"/>
          <p:cNvSpPr txBox="1"/>
          <p:nvPr/>
        </p:nvSpPr>
        <p:spPr>
          <a:xfrm>
            <a:off x="98869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10" name="Text 9"/>
          <p:cNvSpPr txBox="1"/>
          <p:nvPr/>
        </p:nvSpPr>
        <p:spPr>
          <a:xfrm>
            <a:off x="61849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محللو GRC ومديروه.</a:t>
            </a:r>
          </a:p>
        </p:txBody>
      </p:sp>
      <p:sp>
        <p:nvSpPr>
          <p:cNvPr id="11" name="Text 10"/>
          <p:cNvSpPr txBox="1"/>
          <p:nvPr/>
        </p:nvSpPr>
        <p:spPr>
          <a:xfrm>
            <a:off x="98869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12" name="Text 11"/>
          <p:cNvSpPr txBox="1"/>
          <p:nvPr/>
        </p:nvSpPr>
        <p:spPr>
          <a:xfrm>
            <a:off x="61849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7 مجالات في GRC وإدارة مخاطر الأنظمة.</a:t>
            </a:r>
          </a:p>
        </p:txBody>
      </p:sp>
      <p:sp>
        <p:nvSpPr>
          <p:cNvPr id="13" name="Text 12"/>
          <p:cNvSpPr txBox="1"/>
          <p:nvPr/>
        </p:nvSpPr>
        <p:spPr>
          <a:xfrm>
            <a:off x="98869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14" name="Text 13"/>
          <p:cNvSpPr txBox="1"/>
          <p:nvPr/>
        </p:nvSpPr>
        <p:spPr>
          <a:xfrm>
            <a:off x="6184900" y="36708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سنتان في مجال واحد من 7. بلا خبرة: Associate ومهلة 3 سنوات.</a:t>
            </a:r>
          </a:p>
        </p:txBody>
      </p:sp>
      <p:sp>
        <p:nvSpPr>
          <p:cNvPr id="15" name="Text 14"/>
          <p:cNvSpPr txBox="1"/>
          <p:nvPr/>
        </p:nvSpPr>
        <p:spPr>
          <a:xfrm>
            <a:off x="98869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16" name="Text 15"/>
          <p:cNvSpPr txBox="1"/>
          <p:nvPr/>
        </p:nvSpPr>
        <p:spPr>
          <a:xfrm>
            <a:off x="6184900" y="44455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سنة أو سنتين في GRC.</a:t>
            </a:r>
          </a:p>
        </p:txBody>
      </p:sp>
      <p:sp>
        <p:nvSpPr>
          <p:cNvPr id="17" name="Rule 16"/>
          <p:cNvSpPr/>
          <p:nvPr/>
        </p:nvSpPr>
        <p:spPr>
          <a:xfrm>
            <a:off x="812800" y="1657945"/>
            <a:ext cx="5219700" cy="31750"/>
          </a:xfrm>
          <a:prstGeom prst="rect">
            <a:avLst/>
          </a:prstGeom>
          <a:solidFill>
            <a:srgbClr val="24506B"/>
          </a:solidFill>
          <a:ln>
            <a:noFill/>
          </a:ln>
        </p:spPr>
        <p:txBody>
          <a:bodyPr rtlCol="0" anchor="ctr"/>
          <a:lstStyle/>
          <a:p>
            <a:pPr algn="ctr"/>
          </a:p>
        </p:txBody>
      </p:sp>
      <p:sp>
        <p:nvSpPr>
          <p:cNvPr id="18" name="Text 17"/>
          <p:cNvSpPr txBox="1"/>
          <p:nvPr/>
        </p:nvSpPr>
        <p:spPr>
          <a:xfrm>
            <a:off x="4938256" y="1832189"/>
            <a:ext cx="105614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CISSP</a:t>
            </a:r>
          </a:p>
        </p:txBody>
      </p:sp>
      <p:sp>
        <p:nvSpPr>
          <p:cNvPr id="19" name="Text 18"/>
          <p:cNvSpPr txBox="1"/>
          <p:nvPr/>
        </p:nvSpPr>
        <p:spPr>
          <a:xfrm>
            <a:off x="4432518"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20" name="Text 19"/>
          <p:cNvSpPr txBox="1"/>
          <p:nvPr/>
        </p:nvSpPr>
        <p:spPr>
          <a:xfrm>
            <a:off x="8382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Systems Security Professional</a:t>
            </a:r>
          </a:p>
        </p:txBody>
      </p:sp>
      <p:sp>
        <p:nvSpPr>
          <p:cNvPr id="21" name="Text 20"/>
          <p:cNvSpPr txBox="1"/>
          <p:nvPr/>
        </p:nvSpPr>
        <p:spPr>
          <a:xfrm>
            <a:off x="45402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22" name="Text 21"/>
          <p:cNvSpPr txBox="1"/>
          <p:nvPr/>
        </p:nvSpPr>
        <p:spPr>
          <a:xfrm>
            <a:off x="8382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قيادة الأمن.</a:t>
            </a:r>
          </a:p>
        </p:txBody>
      </p:sp>
      <p:sp>
        <p:nvSpPr>
          <p:cNvPr id="23" name="Text 22"/>
          <p:cNvSpPr txBox="1"/>
          <p:nvPr/>
        </p:nvSpPr>
        <p:spPr>
          <a:xfrm>
            <a:off x="45402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24" name="Text 23"/>
          <p:cNvSpPr txBox="1"/>
          <p:nvPr/>
        </p:nvSpPr>
        <p:spPr>
          <a:xfrm>
            <a:off x="8382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8 مجالات واسعة، منها الأمن وإدارة المخاطر بنسبة 16%.</a:t>
            </a:r>
          </a:p>
        </p:txBody>
      </p:sp>
      <p:sp>
        <p:nvSpPr>
          <p:cNvPr id="25" name="Text 24"/>
          <p:cNvSpPr txBox="1"/>
          <p:nvPr/>
        </p:nvSpPr>
        <p:spPr>
          <a:xfrm>
            <a:off x="45402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26" name="Text 25"/>
          <p:cNvSpPr txBox="1"/>
          <p:nvPr/>
        </p:nvSpPr>
        <p:spPr>
          <a:xfrm>
            <a:off x="838200" y="36708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في مجالين من 8. بلا خبرة: Associate ومهلة 6 سنوات.</a:t>
            </a:r>
          </a:p>
        </p:txBody>
      </p:sp>
      <p:sp>
        <p:nvSpPr>
          <p:cNvPr id="27" name="Text 26"/>
          <p:cNvSpPr txBox="1"/>
          <p:nvPr/>
        </p:nvSpPr>
        <p:spPr>
          <a:xfrm>
            <a:off x="45402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28" name="Text 27"/>
          <p:cNvSpPr txBox="1"/>
          <p:nvPr/>
        </p:nvSpPr>
        <p:spPr>
          <a:xfrm>
            <a:off x="838200" y="44455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سنوات. ليست شهادة GRC خالصة.</a:t>
            </a:r>
          </a:p>
        </p:txBody>
      </p:sp>
      <p:sp>
        <p:nvSpPr>
          <p:cNvPr id="29" name="Box 28"/>
          <p:cNvSpPr/>
          <p:nvPr/>
        </p:nvSpPr>
        <p:spPr>
          <a:xfrm>
            <a:off x="812800" y="5411986"/>
            <a:ext cx="10566400" cy="573980"/>
          </a:xfrm>
          <a:prstGeom prst="roundRect">
            <a:avLst>
              <a:gd name="adj" fmla="val 17700"/>
            </a:avLst>
          </a:prstGeom>
          <a:solidFill>
            <a:srgbClr val="E3F1ED"/>
          </a:solidFill>
          <a:ln>
            <a:noFill/>
          </a:ln>
        </p:spPr>
        <p:txBody>
          <a:bodyPr rtlCol="0" anchor="ctr"/>
          <a:lstStyle/>
          <a:p>
            <a:pPr algn="ctr"/>
          </a:p>
        </p:txBody>
      </p:sp>
      <p:pic>
        <p:nvPicPr>
          <p:cNvPr id="30" name="Icon Lightbulb 29" descr="icon077.png"/>
          <p:cNvPicPr>
            <a:picLocks noChangeAspect="1"/>
          </p:cNvPicPr>
          <p:nvPr/>
        </p:nvPicPr>
        <p:blipFill>
          <a:blip r:embed="rId2"/>
          <a:stretch>
            <a:fillRect/>
          </a:stretch>
        </p:blipFill>
        <p:spPr>
          <a:xfrm>
            <a:off x="10960100" y="5578277"/>
            <a:ext cx="241300" cy="241300"/>
          </a:xfrm>
          <a:prstGeom prst="rect">
            <a:avLst/>
          </a:prstGeom>
        </p:spPr>
      </p:pic>
      <p:sp>
        <p:nvSpPr>
          <p:cNvPr id="31" name="Text 30"/>
          <p:cNvSpPr txBox="1"/>
          <p:nvPr/>
        </p:nvSpPr>
        <p:spPr>
          <a:xfrm>
            <a:off x="838200" y="5503553"/>
            <a:ext cx="100076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Associate of ISC2: تنجح قبل اكتمال الخبرة، ثم تُمنح الشهادة حين تكتمل خلال المهلة.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(1 من 2): شهادتا IAPP</a:t>
            </a:r>
          </a:p>
        </p:txBody>
      </p:sp>
      <p:sp>
        <p:nvSpPr>
          <p:cNvPr id="5" name="Rule 4"/>
          <p:cNvSpPr/>
          <p:nvPr/>
        </p:nvSpPr>
        <p:spPr>
          <a:xfrm>
            <a:off x="6159500" y="1657945"/>
            <a:ext cx="5219700" cy="31750"/>
          </a:xfrm>
          <a:prstGeom prst="rect">
            <a:avLst/>
          </a:prstGeom>
          <a:solidFill>
            <a:srgbClr val="5A3F87"/>
          </a:solidFill>
          <a:ln>
            <a:noFill/>
          </a:ln>
        </p:spPr>
        <p:txBody>
          <a:bodyPr rtlCol="0" anchor="ctr"/>
          <a:lstStyle/>
          <a:p>
            <a:pPr algn="ctr"/>
          </a:p>
        </p:txBody>
      </p:sp>
      <p:sp>
        <p:nvSpPr>
          <p:cNvPr id="6" name="Text 5"/>
          <p:cNvSpPr txBox="1"/>
          <p:nvPr/>
        </p:nvSpPr>
        <p:spPr>
          <a:xfrm>
            <a:off x="10131266" y="1832189"/>
            <a:ext cx="120983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5A3F87"/>
                </a:solidFill>
                <a:latin typeface="Readex Pro"/>
                <a:ea typeface="Readex Pro"/>
                <a:cs typeface="Readex Pro"/>
              </a:rPr>
              <a:t>CIPP/E</a:t>
            </a:r>
          </a:p>
        </p:txBody>
      </p:sp>
      <p:sp>
        <p:nvSpPr>
          <p:cNvPr id="7" name="Text 6"/>
          <p:cNvSpPr txBox="1"/>
          <p:nvPr/>
        </p:nvSpPr>
        <p:spPr>
          <a:xfrm>
            <a:off x="9529425" y="1794558"/>
            <a:ext cx="6805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IAPP</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Information Privacy Professional/Europe</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لمن؟</a:t>
            </a:r>
          </a:p>
        </p:txBody>
      </p:sp>
      <p:sp>
        <p:nvSpPr>
          <p:cNvPr id="10" name="Text 9"/>
          <p:cNvSpPr txBox="1"/>
          <p:nvPr/>
        </p:nvSpPr>
        <p:spPr>
          <a:xfrm>
            <a:off x="6184900" y="25100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قانونيون ومختصو حماية بيانات مرتبطون بأوروبا.</a:t>
            </a:r>
          </a:p>
        </p:txBody>
      </p:sp>
      <p:sp>
        <p:nvSpPr>
          <p:cNvPr id="11" name="Text 10"/>
          <p:cNvSpPr txBox="1"/>
          <p:nvPr/>
        </p:nvSpPr>
        <p:spPr>
          <a:xfrm>
            <a:off x="9886950" y="32847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ماذا تعلّم؟</a:t>
            </a:r>
          </a:p>
        </p:txBody>
      </p:sp>
      <p:sp>
        <p:nvSpPr>
          <p:cNvPr id="12" name="Text 11"/>
          <p:cNvSpPr txBox="1"/>
          <p:nvPr/>
        </p:nvSpPr>
        <p:spPr>
          <a:xfrm>
            <a:off x="6184900" y="32847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قانون حماية البيانات في أوروبا.</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مذكور.</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متى؟</a:t>
            </a:r>
          </a:p>
        </p:txBody>
      </p:sp>
      <p:sp>
        <p:nvSpPr>
          <p:cNvPr id="16" name="Text 15"/>
          <p:cNvSpPr txBox="1"/>
          <p:nvPr/>
        </p:nvSpPr>
        <p:spPr>
          <a:xfrm>
            <a:off x="6184900" y="41229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ارتبط عملك بأوروبا، أو أردت أساساً قانونياً.</a:t>
            </a:r>
          </a:p>
        </p:txBody>
      </p:sp>
      <p:sp>
        <p:nvSpPr>
          <p:cNvPr id="17" name="Rule 16"/>
          <p:cNvSpPr/>
          <p:nvPr/>
        </p:nvSpPr>
        <p:spPr>
          <a:xfrm>
            <a:off x="812800" y="1657945"/>
            <a:ext cx="5219700" cy="31750"/>
          </a:xfrm>
          <a:prstGeom prst="rect">
            <a:avLst/>
          </a:prstGeom>
          <a:solidFill>
            <a:srgbClr val="5A3F87"/>
          </a:solidFill>
          <a:ln>
            <a:noFill/>
          </a:ln>
        </p:spPr>
        <p:txBody>
          <a:bodyPr rtlCol="0" anchor="ctr"/>
          <a:lstStyle/>
          <a:p>
            <a:pPr algn="ctr"/>
          </a:p>
        </p:txBody>
      </p:sp>
      <p:sp>
        <p:nvSpPr>
          <p:cNvPr id="18" name="Text 17"/>
          <p:cNvSpPr txBox="1"/>
          <p:nvPr/>
        </p:nvSpPr>
        <p:spPr>
          <a:xfrm>
            <a:off x="5047794" y="1832189"/>
            <a:ext cx="94660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5A3F87"/>
                </a:solidFill>
                <a:latin typeface="Readex Pro"/>
                <a:ea typeface="Readex Pro"/>
                <a:cs typeface="Readex Pro"/>
              </a:rPr>
              <a:t>CIPM</a:t>
            </a:r>
          </a:p>
        </p:txBody>
      </p:sp>
      <p:sp>
        <p:nvSpPr>
          <p:cNvPr id="19" name="Text 18"/>
          <p:cNvSpPr txBox="1"/>
          <p:nvPr/>
        </p:nvSpPr>
        <p:spPr>
          <a:xfrm>
            <a:off x="4445952" y="1794558"/>
            <a:ext cx="6805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IAPP</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Privacy Manager</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يدير برنامج الخصوصية في جهة.</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بناء برنامج الخصوصية وتشغيله، غير مرتبطة بقانون دولة واحدة.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مذكور.</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مناسبة للعمل على الخصوصية عملياً.</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(2 من 2): CDPSE، وكيف تختار</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221456" y="1832189"/>
            <a:ext cx="111964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CDPSE</a:t>
            </a:r>
          </a:p>
        </p:txBody>
      </p:sp>
      <p:sp>
        <p:nvSpPr>
          <p:cNvPr id="7" name="Text 6"/>
          <p:cNvSpPr txBox="1"/>
          <p:nvPr/>
        </p:nvSpPr>
        <p:spPr>
          <a:xfrm>
            <a:off x="947991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Data Privacy Solutions Engineer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الجانب التقني للخصوصية.</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هندسة الخصوصية في الأنظمة ودورة حياة البيانات.</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سنوات، بلا إعفاء.</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خبرة في الخصوصية.</a:t>
            </a:r>
          </a:p>
        </p:txBody>
      </p:sp>
      <p:sp>
        <p:nvSpPr>
          <p:cNvPr id="17" name="Rule 16"/>
          <p:cNvSpPr/>
          <p:nvPr/>
        </p:nvSpPr>
        <p:spPr>
          <a:xfrm>
            <a:off x="812800" y="1657945"/>
            <a:ext cx="52197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5A3F87"/>
                </a:solidFill>
                <a:latin typeface="Readex Pro"/>
                <a:ea typeface="Readex Pro"/>
                <a:cs typeface="Readex Pro"/>
              </a:rPr>
              <a:t>قبل أن تختار</a:t>
            </a:r>
          </a:p>
        </p:txBody>
      </p:sp>
      <p:pic>
        <p:nvPicPr>
          <p:cNvPr id="19" name="Icon Lock 18" descr="icon078.png"/>
          <p:cNvPicPr>
            <a:picLocks noChangeAspect="1"/>
          </p:cNvPicPr>
          <p:nvPr/>
        </p:nvPicPr>
        <p:blipFill>
          <a:blip r:embed="rId2"/>
          <a:stretch>
            <a:fillRect/>
          </a:stretch>
        </p:blipFill>
        <p:spPr>
          <a:xfrm>
            <a:off x="5753100" y="2235795"/>
            <a:ext cx="241300" cy="241300"/>
          </a:xfrm>
          <a:prstGeom prst="rect">
            <a:avLst/>
          </a:prstGeom>
        </p:spPr>
      </p:pic>
      <p:sp>
        <p:nvSpPr>
          <p:cNvPr id="20" name="Text 19"/>
          <p:cNvSpPr txBox="1"/>
          <p:nvPr/>
        </p:nvSpPr>
        <p:spPr>
          <a:xfrm>
            <a:off x="838200" y="2196425"/>
            <a:ext cx="48006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لـ CIPP ستة تركيزات إقليمية: آسيا، وأستراليا، وكندا، والصين، وأوروبا، والولايات المتحدة.</a:t>
            </a:r>
          </a:p>
        </p:txBody>
      </p:sp>
      <p:pic>
        <p:nvPicPr>
          <p:cNvPr id="21" name="Icon Lock 20" descr="icon078.png"/>
          <p:cNvPicPr>
            <a:picLocks noChangeAspect="1"/>
          </p:cNvPicPr>
          <p:nvPr/>
        </p:nvPicPr>
        <p:blipFill>
          <a:blip r:embed="rId2"/>
          <a:stretch>
            <a:fillRect/>
          </a:stretch>
        </p:blipFill>
        <p:spPr>
          <a:xfrm>
            <a:off x="5753100" y="3023195"/>
            <a:ext cx="241300" cy="241300"/>
          </a:xfrm>
          <a:prstGeom prst="rect">
            <a:avLst/>
          </a:prstGeom>
        </p:spPr>
      </p:pic>
      <p:sp>
        <p:nvSpPr>
          <p:cNvPr id="22" name="Text 21"/>
          <p:cNvSpPr txBox="1"/>
          <p:nvPr/>
        </p:nvSpPr>
        <p:spPr>
          <a:xfrm>
            <a:off x="838200" y="298382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توجد بينها شهادة خاصة بالنظام السعودي.</a:t>
            </a:r>
          </a:p>
        </p:txBody>
      </p:sp>
      <p:pic>
        <p:nvPicPr>
          <p:cNvPr id="23" name="Icon Lock 22" descr="icon078.png"/>
          <p:cNvPicPr>
            <a:picLocks noChangeAspect="1"/>
          </p:cNvPicPr>
          <p:nvPr/>
        </p:nvPicPr>
        <p:blipFill>
          <a:blip r:embed="rId2"/>
          <a:stretch>
            <a:fillRect/>
          </a:stretch>
        </p:blipFill>
        <p:spPr>
          <a:xfrm>
            <a:off x="5753100" y="3454995"/>
            <a:ext cx="241300" cy="241300"/>
          </a:xfrm>
          <a:prstGeom prst="rect">
            <a:avLst/>
          </a:prstGeom>
        </p:spPr>
      </p:pic>
      <p:sp>
        <p:nvSpPr>
          <p:cNvPr id="24" name="Text 23"/>
          <p:cNvSpPr txBox="1"/>
          <p:nvPr/>
        </p:nvSpPr>
        <p:spPr>
          <a:xfrm>
            <a:off x="838200" y="3415625"/>
            <a:ext cx="48006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السعودية الأساس نظام حماية البيانات الشخصية ولوائحه. الشهادة الدولية تبني عليه ولا تغني عنه.</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المقارنة: كم سنة خبرة تحتاج؟</a:t>
            </a:r>
          </a:p>
        </p:txBody>
      </p:sp>
      <p:sp>
        <p:nvSpPr>
          <p:cNvPr id="5" name="Rule 4"/>
          <p:cNvSpPr/>
          <p:nvPr/>
        </p:nvSpPr>
        <p:spPr>
          <a:xfrm>
            <a:off x="8813800" y="1657945"/>
            <a:ext cx="2565400" cy="31750"/>
          </a:xfrm>
          <a:prstGeom prst="rect">
            <a:avLst/>
          </a:prstGeom>
          <a:solidFill>
            <a:srgbClr val="0E7C6B"/>
          </a:solidFill>
          <a:ln>
            <a:noFill/>
          </a:ln>
        </p:spPr>
        <p:txBody>
          <a:bodyPr rtlCol="0" anchor="ctr"/>
          <a:lstStyle/>
          <a:p>
            <a:pPr algn="ctr"/>
          </a:p>
        </p:txBody>
      </p:sp>
      <p:sp>
        <p:nvSpPr>
          <p:cNvPr id="6" name="Text 5"/>
          <p:cNvSpPr txBox="1"/>
          <p:nvPr/>
        </p:nvSpPr>
        <p:spPr>
          <a:xfrm>
            <a:off x="10856416" y="1861780"/>
            <a:ext cx="484684"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a:t>
            </a:r>
          </a:p>
        </p:txBody>
      </p:sp>
      <p:sp>
        <p:nvSpPr>
          <p:cNvPr id="7" name="Text 6"/>
          <p:cNvSpPr txBox="1"/>
          <p:nvPr/>
        </p:nvSpPr>
        <p:spPr>
          <a:xfrm>
            <a:off x="10218698" y="1854982"/>
            <a:ext cx="790119"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بلا خبرة</a:t>
            </a:r>
          </a:p>
        </p:txBody>
      </p:sp>
      <p:sp>
        <p:nvSpPr>
          <p:cNvPr id="8" name="Text box 7"/>
          <p:cNvSpPr/>
          <p:nvPr/>
        </p:nvSpPr>
        <p:spPr>
          <a:xfrm>
            <a:off x="8851900" y="2273895"/>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CC</a:t>
            </a:r>
          </a:p>
        </p:txBody>
      </p:sp>
      <p:sp>
        <p:nvSpPr>
          <p:cNvPr id="9" name="Text box 8"/>
          <p:cNvSpPr/>
          <p:nvPr/>
        </p:nvSpPr>
        <p:spPr>
          <a:xfrm>
            <a:off x="8851900" y="2736155"/>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Security+</a:t>
            </a:r>
          </a:p>
        </p:txBody>
      </p:sp>
      <p:sp>
        <p:nvSpPr>
          <p:cNvPr id="10" name="Text box 9"/>
          <p:cNvSpPr/>
          <p:nvPr/>
        </p:nvSpPr>
        <p:spPr>
          <a:xfrm>
            <a:off x="8851900" y="319841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IT Risk Fund.</a:t>
            </a:r>
          </a:p>
        </p:txBody>
      </p:sp>
      <p:sp>
        <p:nvSpPr>
          <p:cNvPr id="11" name="Text box 10"/>
          <p:cNvSpPr/>
          <p:nvPr/>
        </p:nvSpPr>
        <p:spPr>
          <a:xfrm>
            <a:off x="8851900" y="366067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GRCP</a:t>
            </a:r>
          </a:p>
        </p:txBody>
      </p:sp>
      <p:sp>
        <p:nvSpPr>
          <p:cNvPr id="12" name="Text box 11"/>
          <p:cNvSpPr/>
          <p:nvPr/>
        </p:nvSpPr>
        <p:spPr>
          <a:xfrm>
            <a:off x="8851900" y="412293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CIPP/E · CIPM</a:t>
            </a:r>
          </a:p>
        </p:txBody>
      </p:sp>
      <p:sp>
        <p:nvSpPr>
          <p:cNvPr id="13" name="Text box 12"/>
          <p:cNvSpPr/>
          <p:nvPr/>
        </p:nvSpPr>
        <p:spPr>
          <a:xfrm>
            <a:off x="8851900" y="458519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Provisional</a:t>
            </a:r>
          </a:p>
        </p:txBody>
      </p:sp>
      <p:sp>
        <p:nvSpPr>
          <p:cNvPr id="14" name="Rule 13"/>
          <p:cNvSpPr/>
          <p:nvPr/>
        </p:nvSpPr>
        <p:spPr>
          <a:xfrm>
            <a:off x="6146800" y="1657945"/>
            <a:ext cx="2565400" cy="31750"/>
          </a:xfrm>
          <a:prstGeom prst="rect">
            <a:avLst/>
          </a:prstGeom>
          <a:solidFill>
            <a:srgbClr val="24506B"/>
          </a:solidFill>
          <a:ln>
            <a:noFill/>
          </a:ln>
        </p:spPr>
        <p:txBody>
          <a:bodyPr rtlCol="0" anchor="ctr"/>
          <a:lstStyle/>
          <a:p>
            <a:pPr algn="ctr"/>
          </a:p>
        </p:txBody>
      </p:sp>
      <p:sp>
        <p:nvSpPr>
          <p:cNvPr id="15" name="Text 14"/>
          <p:cNvSpPr txBox="1"/>
          <p:nvPr/>
        </p:nvSpPr>
        <p:spPr>
          <a:xfrm>
            <a:off x="8236645" y="1861780"/>
            <a:ext cx="43745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24506B"/>
                </a:solidFill>
                <a:latin typeface="Readex Pro"/>
                <a:ea typeface="Readex Pro"/>
                <a:cs typeface="Readex Pro"/>
              </a:rPr>
              <a:t>2</a:t>
            </a:r>
          </a:p>
        </p:txBody>
      </p:sp>
      <p:sp>
        <p:nvSpPr>
          <p:cNvPr id="16" name="Text 15"/>
          <p:cNvSpPr txBox="1"/>
          <p:nvPr/>
        </p:nvSpPr>
        <p:spPr>
          <a:xfrm>
            <a:off x="7711440" y="1854982"/>
            <a:ext cx="677605"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سنتان</a:t>
            </a:r>
          </a:p>
        </p:txBody>
      </p:sp>
      <p:sp>
        <p:nvSpPr>
          <p:cNvPr id="17" name="Text box 16"/>
          <p:cNvSpPr/>
          <p:nvPr/>
        </p:nvSpPr>
        <p:spPr>
          <a:xfrm>
            <a:off x="6184900" y="2273895"/>
            <a:ext cx="2489200" cy="398760"/>
          </a:xfrm>
          <a:prstGeom prst="roundRect">
            <a:avLst>
              <a:gd name="adj" fmla="val 15924"/>
            </a:avLst>
          </a:prstGeom>
          <a:solidFill>
            <a:srgbClr val="E6ED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CGRC</a:t>
            </a:r>
          </a:p>
        </p:txBody>
      </p:sp>
      <p:sp>
        <p:nvSpPr>
          <p:cNvPr id="18" name="Text box 17"/>
          <p:cNvSpPr/>
          <p:nvPr/>
        </p:nvSpPr>
        <p:spPr>
          <a:xfrm>
            <a:off x="6184900" y="2736155"/>
            <a:ext cx="2489200" cy="398760"/>
          </a:xfrm>
          <a:prstGeom prst="roundRect">
            <a:avLst>
              <a:gd name="adj" fmla="val 15924"/>
            </a:avLst>
          </a:prstGeom>
          <a:solidFill>
            <a:srgbClr val="E6ED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Implementer</a:t>
            </a:r>
          </a:p>
        </p:txBody>
      </p:sp>
      <p:sp>
        <p:nvSpPr>
          <p:cNvPr id="19" name="Rule 18"/>
          <p:cNvSpPr/>
          <p:nvPr/>
        </p:nvSpPr>
        <p:spPr>
          <a:xfrm>
            <a:off x="3479800" y="1657945"/>
            <a:ext cx="2565400" cy="31750"/>
          </a:xfrm>
          <a:prstGeom prst="rect">
            <a:avLst/>
          </a:prstGeom>
          <a:solidFill>
            <a:srgbClr val="5A3F87"/>
          </a:solidFill>
          <a:ln>
            <a:noFill/>
          </a:ln>
        </p:spPr>
        <p:txBody>
          <a:bodyPr rtlCol="0" anchor="ctr"/>
          <a:lstStyle/>
          <a:p>
            <a:pPr algn="ctr"/>
          </a:p>
        </p:txBody>
      </p:sp>
      <p:sp>
        <p:nvSpPr>
          <p:cNvPr id="20" name="Text 19"/>
          <p:cNvSpPr txBox="1"/>
          <p:nvPr/>
        </p:nvSpPr>
        <p:spPr>
          <a:xfrm>
            <a:off x="5554067" y="1861780"/>
            <a:ext cx="453033"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5A3F87"/>
                </a:solidFill>
                <a:latin typeface="Readex Pro"/>
                <a:ea typeface="Readex Pro"/>
                <a:cs typeface="Readex Pro"/>
              </a:rPr>
              <a:t>3</a:t>
            </a:r>
          </a:p>
        </p:txBody>
      </p:sp>
      <p:sp>
        <p:nvSpPr>
          <p:cNvPr id="21" name="Text 20"/>
          <p:cNvSpPr txBox="1"/>
          <p:nvPr/>
        </p:nvSpPr>
        <p:spPr>
          <a:xfrm>
            <a:off x="4960501" y="1854982"/>
            <a:ext cx="745966"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سنوات</a:t>
            </a:r>
          </a:p>
        </p:txBody>
      </p:sp>
      <p:sp>
        <p:nvSpPr>
          <p:cNvPr id="22" name="Text box 21"/>
          <p:cNvSpPr/>
          <p:nvPr/>
        </p:nvSpPr>
        <p:spPr>
          <a:xfrm>
            <a:off x="3517900" y="2273895"/>
            <a:ext cx="2489200" cy="398760"/>
          </a:xfrm>
          <a:prstGeom prst="roundRect">
            <a:avLst>
              <a:gd name="adj" fmla="val 15924"/>
            </a:avLst>
          </a:prstGeom>
          <a:solidFill>
            <a:srgbClr val="ECE6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CRISC</a:t>
            </a:r>
          </a:p>
        </p:txBody>
      </p:sp>
      <p:sp>
        <p:nvSpPr>
          <p:cNvPr id="23" name="Text box 22"/>
          <p:cNvSpPr/>
          <p:nvPr/>
        </p:nvSpPr>
        <p:spPr>
          <a:xfrm>
            <a:off x="3517900" y="2736155"/>
            <a:ext cx="2489200" cy="398760"/>
          </a:xfrm>
          <a:prstGeom prst="roundRect">
            <a:avLst>
              <a:gd name="adj" fmla="val 15924"/>
            </a:avLst>
          </a:prstGeom>
          <a:solidFill>
            <a:srgbClr val="ECE6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CDPSE</a:t>
            </a:r>
          </a:p>
        </p:txBody>
      </p:sp>
      <p:sp>
        <p:nvSpPr>
          <p:cNvPr id="24" name="Rule 23"/>
          <p:cNvSpPr/>
          <p:nvPr/>
        </p:nvSpPr>
        <p:spPr>
          <a:xfrm>
            <a:off x="812800" y="1657945"/>
            <a:ext cx="2565400" cy="31750"/>
          </a:xfrm>
          <a:prstGeom prst="rect">
            <a:avLst/>
          </a:prstGeom>
          <a:solidFill>
            <a:srgbClr val="8A4B12"/>
          </a:solidFill>
          <a:ln>
            <a:noFill/>
          </a:ln>
        </p:spPr>
        <p:txBody>
          <a:bodyPr rtlCol="0" anchor="ctr"/>
          <a:lstStyle/>
          <a:p>
            <a:pPr algn="ctr"/>
          </a:p>
        </p:txBody>
      </p:sp>
      <p:sp>
        <p:nvSpPr>
          <p:cNvPr id="25" name="Text 24"/>
          <p:cNvSpPr txBox="1"/>
          <p:nvPr/>
        </p:nvSpPr>
        <p:spPr>
          <a:xfrm>
            <a:off x="2884785" y="1861780"/>
            <a:ext cx="45531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8A4B12"/>
                </a:solidFill>
                <a:latin typeface="Readex Pro"/>
                <a:ea typeface="Readex Pro"/>
                <a:cs typeface="Readex Pro"/>
              </a:rPr>
              <a:t>5</a:t>
            </a:r>
          </a:p>
        </p:txBody>
      </p:sp>
      <p:sp>
        <p:nvSpPr>
          <p:cNvPr id="26" name="Text 25"/>
          <p:cNvSpPr txBox="1"/>
          <p:nvPr/>
        </p:nvSpPr>
        <p:spPr>
          <a:xfrm>
            <a:off x="2291219" y="1854982"/>
            <a:ext cx="745966"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سنوات</a:t>
            </a:r>
          </a:p>
        </p:txBody>
      </p:sp>
      <p:sp>
        <p:nvSpPr>
          <p:cNvPr id="27" name="Text box 26"/>
          <p:cNvSpPr/>
          <p:nvPr/>
        </p:nvSpPr>
        <p:spPr>
          <a:xfrm>
            <a:off x="850900" y="2273895"/>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CISA</a:t>
            </a:r>
          </a:p>
        </p:txBody>
      </p:sp>
      <p:sp>
        <p:nvSpPr>
          <p:cNvPr id="28" name="Text box 27"/>
          <p:cNvSpPr/>
          <p:nvPr/>
        </p:nvSpPr>
        <p:spPr>
          <a:xfrm>
            <a:off x="850900" y="2736155"/>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CISM</a:t>
            </a:r>
          </a:p>
        </p:txBody>
      </p:sp>
      <p:sp>
        <p:nvSpPr>
          <p:cNvPr id="29" name="Text box 28"/>
          <p:cNvSpPr/>
          <p:nvPr/>
        </p:nvSpPr>
        <p:spPr>
          <a:xfrm>
            <a:off x="850900" y="319841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CGEIT</a:t>
            </a:r>
          </a:p>
        </p:txBody>
      </p:sp>
      <p:sp>
        <p:nvSpPr>
          <p:cNvPr id="30" name="Text box 29"/>
          <p:cNvSpPr/>
          <p:nvPr/>
        </p:nvSpPr>
        <p:spPr>
          <a:xfrm>
            <a:off x="850900" y="366067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CISSP</a:t>
            </a:r>
          </a:p>
        </p:txBody>
      </p:sp>
      <p:sp>
        <p:nvSpPr>
          <p:cNvPr id="31" name="Text box 30"/>
          <p:cNvSpPr/>
          <p:nvPr/>
        </p:nvSpPr>
        <p:spPr>
          <a:xfrm>
            <a:off x="850900" y="412293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Lead</a:t>
            </a:r>
          </a:p>
        </p:txBody>
      </p:sp>
      <p:sp>
        <p:nvSpPr>
          <p:cNvPr id="32" name="Text 31"/>
          <p:cNvSpPr txBox="1"/>
          <p:nvPr/>
        </p:nvSpPr>
        <p:spPr>
          <a:xfrm>
            <a:off x="0" y="5172424"/>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الخبرة المطلوبة قبل منح الشهادة، مع الإعفاءات المتاحة. الرسوم والتجديد في الملحق: الشريحة 221.</a:t>
            </a:r>
          </a:p>
        </p:txBody>
      </p:sp>
      <p:sp>
        <p:nvSpPr>
          <p:cNvPr id="33" name="Text 3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4" name="Text 3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تختار: ابدأ من الوظيفة، لا من الشهادة</a:t>
            </a:r>
          </a:p>
        </p:txBody>
      </p:sp>
      <p:sp>
        <p:nvSpPr>
          <p:cNvPr id="5" name="Text 4"/>
          <p:cNvSpPr txBox="1"/>
          <p:nvPr/>
        </p:nvSpPr>
        <p:spPr>
          <a:xfrm>
            <a:off x="8773160" y="1630386"/>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5E6A75"/>
                </a:solidFill>
                <a:latin typeface="IBM Plex Sans Arabic"/>
                <a:ea typeface="IBM Plex Sans Arabic"/>
                <a:cs typeface="IBM Plex Sans Arabic"/>
              </a:rPr>
              <a:t>الوظيفة المستهدفة</a:t>
            </a:r>
          </a:p>
        </p:txBody>
      </p:sp>
      <p:sp>
        <p:nvSpPr>
          <p:cNvPr id="6" name="Text 5"/>
          <p:cNvSpPr txBox="1"/>
          <p:nvPr/>
        </p:nvSpPr>
        <p:spPr>
          <a:xfrm>
            <a:off x="60380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0E7C6B"/>
                </a:solidFill>
                <a:latin typeface="IBM Plex Sans Arabic"/>
                <a:ea typeface="IBM Plex Sans Arabic"/>
                <a:cs typeface="IBM Plex Sans Arabic"/>
              </a:rPr>
              <a:t>مدخل</a:t>
            </a:r>
          </a:p>
        </p:txBody>
      </p:sp>
      <p:sp>
        <p:nvSpPr>
          <p:cNvPr id="7" name="Text 6"/>
          <p:cNvSpPr txBox="1"/>
          <p:nvPr/>
        </p:nvSpPr>
        <p:spPr>
          <a:xfrm>
            <a:off x="33202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24506B"/>
                </a:solidFill>
                <a:latin typeface="IBM Plex Sans Arabic"/>
                <a:ea typeface="IBM Plex Sans Arabic"/>
                <a:cs typeface="IBM Plex Sans Arabic"/>
              </a:rPr>
              <a:t>تخصص</a:t>
            </a:r>
          </a:p>
        </p:txBody>
      </p:sp>
      <p:sp>
        <p:nvSpPr>
          <p:cNvPr id="8" name="Text 7"/>
          <p:cNvSpPr txBox="1"/>
          <p:nvPr/>
        </p:nvSpPr>
        <p:spPr>
          <a:xfrm>
            <a:off x="6024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8A4B12"/>
                </a:solidFill>
                <a:latin typeface="IBM Plex Sans Arabic"/>
                <a:ea typeface="IBM Plex Sans Arabic"/>
                <a:cs typeface="IBM Plex Sans Arabic"/>
              </a:rPr>
              <a:t>بعد اكتمال الخبرة</a:t>
            </a:r>
          </a:p>
        </p:txBody>
      </p:sp>
      <p:sp>
        <p:nvSpPr>
          <p:cNvPr id="9" name="Box 8"/>
          <p:cNvSpPr/>
          <p:nvPr/>
        </p:nvSpPr>
        <p:spPr>
          <a:xfrm>
            <a:off x="815975" y="1986161"/>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10" name="Text 9"/>
          <p:cNvSpPr txBox="1"/>
          <p:nvPr/>
        </p:nvSpPr>
        <p:spPr>
          <a:xfrm>
            <a:off x="8652510" y="2056900"/>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محلل GRC وامتثال</a:t>
            </a:r>
          </a:p>
        </p:txBody>
      </p:sp>
      <p:sp>
        <p:nvSpPr>
          <p:cNvPr id="11" name="Text 10"/>
          <p:cNvSpPr txBox="1"/>
          <p:nvPr/>
        </p:nvSpPr>
        <p:spPr>
          <a:xfrm>
            <a:off x="8652510" y="2327497"/>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الخط الثاني</a:t>
            </a:r>
          </a:p>
        </p:txBody>
      </p:sp>
      <p:sp>
        <p:nvSpPr>
          <p:cNvPr id="12" name="Text box 11"/>
          <p:cNvSpPr/>
          <p:nvPr/>
        </p:nvSpPr>
        <p:spPr>
          <a:xfrm>
            <a:off x="6208216" y="2153146"/>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CC أو Security+‎</a:t>
            </a:r>
          </a:p>
        </p:txBody>
      </p:sp>
      <p:sp>
        <p:nvSpPr>
          <p:cNvPr id="13" name="Text box 12"/>
          <p:cNvSpPr/>
          <p:nvPr/>
        </p:nvSpPr>
        <p:spPr>
          <a:xfrm>
            <a:off x="3570883" y="2153146"/>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ISO 27001 LI أو GRCP</a:t>
            </a:r>
          </a:p>
        </p:txBody>
      </p:sp>
      <p:sp>
        <p:nvSpPr>
          <p:cNvPr id="14" name="Text box 13"/>
          <p:cNvSpPr/>
          <p:nvPr/>
        </p:nvSpPr>
        <p:spPr>
          <a:xfrm>
            <a:off x="933549" y="2153146"/>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CRISC أو CGRC</a:t>
            </a:r>
          </a:p>
        </p:txBody>
      </p:sp>
      <p:sp>
        <p:nvSpPr>
          <p:cNvPr id="15" name="Box 14"/>
          <p:cNvSpPr/>
          <p:nvPr/>
        </p:nvSpPr>
        <p:spPr>
          <a:xfrm>
            <a:off x="815975" y="2778522"/>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16" name="Text 15"/>
          <p:cNvSpPr txBox="1"/>
          <p:nvPr/>
        </p:nvSpPr>
        <p:spPr>
          <a:xfrm>
            <a:off x="8652510" y="2849261"/>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مدقق تقنية معلومات</a:t>
            </a:r>
          </a:p>
        </p:txBody>
      </p:sp>
      <p:sp>
        <p:nvSpPr>
          <p:cNvPr id="17" name="Text 16"/>
          <p:cNvSpPr txBox="1"/>
          <p:nvPr/>
        </p:nvSpPr>
        <p:spPr>
          <a:xfrm>
            <a:off x="8652510" y="3119858"/>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الخط الثالث</a:t>
            </a:r>
          </a:p>
        </p:txBody>
      </p:sp>
      <p:sp>
        <p:nvSpPr>
          <p:cNvPr id="18" name="Text box 17"/>
          <p:cNvSpPr/>
          <p:nvPr/>
        </p:nvSpPr>
        <p:spPr>
          <a:xfrm>
            <a:off x="6208216" y="2945507"/>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CC أو IT Audit Fund.‎</a:t>
            </a:r>
          </a:p>
        </p:txBody>
      </p:sp>
      <p:sp>
        <p:nvSpPr>
          <p:cNvPr id="19" name="Text box 18"/>
          <p:cNvSpPr/>
          <p:nvPr/>
        </p:nvSpPr>
        <p:spPr>
          <a:xfrm>
            <a:off x="3570883" y="2945507"/>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ISO 27001 LA</a:t>
            </a:r>
          </a:p>
        </p:txBody>
      </p:sp>
      <p:sp>
        <p:nvSpPr>
          <p:cNvPr id="20" name="Text box 19"/>
          <p:cNvSpPr/>
          <p:nvPr/>
        </p:nvSpPr>
        <p:spPr>
          <a:xfrm>
            <a:off x="933549" y="2945507"/>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CISA</a:t>
            </a:r>
          </a:p>
        </p:txBody>
      </p:sp>
      <p:sp>
        <p:nvSpPr>
          <p:cNvPr id="21" name="Box 20"/>
          <p:cNvSpPr/>
          <p:nvPr/>
        </p:nvSpPr>
        <p:spPr>
          <a:xfrm>
            <a:off x="815975" y="3570883"/>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652510" y="3641622"/>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الخصوصية وحماية البيانات</a:t>
            </a:r>
          </a:p>
        </p:txBody>
      </p:sp>
      <p:sp>
        <p:nvSpPr>
          <p:cNvPr id="23" name="Text 22"/>
          <p:cNvSpPr txBox="1"/>
          <p:nvPr/>
        </p:nvSpPr>
        <p:spPr>
          <a:xfrm>
            <a:off x="8652510" y="3912219"/>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مثل مسؤول حماية البيانات</a:t>
            </a:r>
          </a:p>
        </p:txBody>
      </p:sp>
      <p:sp>
        <p:nvSpPr>
          <p:cNvPr id="24" name="Text box 23"/>
          <p:cNvSpPr/>
          <p:nvPr/>
        </p:nvSpPr>
        <p:spPr>
          <a:xfrm>
            <a:off x="6208216" y="3737868"/>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CC</a:t>
            </a:r>
          </a:p>
        </p:txBody>
      </p:sp>
      <p:sp>
        <p:nvSpPr>
          <p:cNvPr id="25" name="Text box 24"/>
          <p:cNvSpPr/>
          <p:nvPr/>
        </p:nvSpPr>
        <p:spPr>
          <a:xfrm>
            <a:off x="3570883" y="3737868"/>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CIPM أو ‎CIPP/E‎</a:t>
            </a:r>
          </a:p>
        </p:txBody>
      </p:sp>
      <p:sp>
        <p:nvSpPr>
          <p:cNvPr id="26" name="Text box 25"/>
          <p:cNvSpPr/>
          <p:nvPr/>
        </p:nvSpPr>
        <p:spPr>
          <a:xfrm>
            <a:off x="933549" y="3737868"/>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CDPSE</a:t>
            </a:r>
          </a:p>
        </p:txBody>
      </p:sp>
      <p:sp>
        <p:nvSpPr>
          <p:cNvPr id="27" name="Box 26"/>
          <p:cNvSpPr/>
          <p:nvPr/>
        </p:nvSpPr>
        <p:spPr>
          <a:xfrm>
            <a:off x="815975" y="4363244"/>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28" name="Text 27"/>
          <p:cNvSpPr txBox="1"/>
          <p:nvPr/>
        </p:nvSpPr>
        <p:spPr>
          <a:xfrm>
            <a:off x="8652510" y="4433983"/>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قيادة الأمن والحوكمة</a:t>
            </a:r>
          </a:p>
        </p:txBody>
      </p:sp>
      <p:sp>
        <p:nvSpPr>
          <p:cNvPr id="29" name="Text 28"/>
          <p:cNvSpPr txBox="1"/>
          <p:nvPr/>
        </p:nvSpPr>
        <p:spPr>
          <a:xfrm>
            <a:off x="8652510" y="4704580"/>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هدف بعيد</a:t>
            </a:r>
          </a:p>
        </p:txBody>
      </p:sp>
      <p:sp>
        <p:nvSpPr>
          <p:cNvPr id="30" name="Text box 29"/>
          <p:cNvSpPr/>
          <p:nvPr/>
        </p:nvSpPr>
        <p:spPr>
          <a:xfrm>
            <a:off x="6208216" y="4530229"/>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أي مسار مما سبق</a:t>
            </a:r>
          </a:p>
        </p:txBody>
      </p:sp>
      <p:sp>
        <p:nvSpPr>
          <p:cNvPr id="31" name="Text box 30"/>
          <p:cNvSpPr/>
          <p:nvPr/>
        </p:nvSpPr>
        <p:spPr>
          <a:xfrm>
            <a:off x="3570883" y="4530229"/>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CISM أو CISSP</a:t>
            </a:r>
          </a:p>
        </p:txBody>
      </p:sp>
      <p:sp>
        <p:nvSpPr>
          <p:cNvPr id="32" name="Text box 31"/>
          <p:cNvSpPr/>
          <p:nvPr/>
        </p:nvSpPr>
        <p:spPr>
          <a:xfrm>
            <a:off x="933549" y="4530229"/>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CGEIT</a:t>
            </a:r>
          </a:p>
        </p:txBody>
      </p:sp>
      <p:sp>
        <p:nvSpPr>
          <p:cNvPr id="33" name="Box 32"/>
          <p:cNvSpPr/>
          <p:nvPr/>
        </p:nvSpPr>
        <p:spPr>
          <a:xfrm>
            <a:off x="812800" y="5266730"/>
            <a:ext cx="10566400" cy="538460"/>
          </a:xfrm>
          <a:prstGeom prst="roundRect">
            <a:avLst>
              <a:gd name="adj" fmla="val 18868"/>
            </a:avLst>
          </a:prstGeom>
          <a:solidFill>
            <a:srgbClr val="172433"/>
          </a:solidFill>
          <a:ln>
            <a:noFill/>
          </a:ln>
        </p:spPr>
        <p:txBody>
          <a:bodyPr rtlCol="0" anchor="ctr"/>
          <a:lstStyle/>
          <a:p>
            <a:pPr algn="ctr"/>
          </a:p>
        </p:txBody>
      </p:sp>
      <p:pic>
        <p:nvPicPr>
          <p:cNvPr id="34" name="Icon Star 33" descr="icon079.png"/>
          <p:cNvPicPr>
            <a:picLocks noChangeAspect="1"/>
          </p:cNvPicPr>
          <p:nvPr/>
        </p:nvPicPr>
        <p:blipFill>
          <a:blip r:embed="rId2"/>
          <a:stretch>
            <a:fillRect/>
          </a:stretch>
        </p:blipFill>
        <p:spPr>
          <a:xfrm>
            <a:off x="10991850" y="5431135"/>
            <a:ext cx="209550" cy="209550"/>
          </a:xfrm>
          <a:prstGeom prst="rect">
            <a:avLst/>
          </a:prstGeom>
        </p:spPr>
      </p:pic>
      <p:sp>
        <p:nvSpPr>
          <p:cNvPr id="35" name="Text 34"/>
          <p:cNvSpPr txBox="1"/>
          <p:nvPr/>
        </p:nvSpPr>
        <p:spPr>
          <a:xfrm>
            <a:off x="838200" y="5362234"/>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F3EFE6"/>
                </a:solidFill>
                <a:latin typeface="IBM Plex Sans Arabic"/>
                <a:ea typeface="IBM Plex Sans Arabic"/>
                <a:cs typeface="IBM Plex Sans Arabic"/>
              </a:rPr>
              <a:t>شهادة واحدة لكل مرحلة. ما بين المراحل خبرة ومشاريع، لا شهادة إضافية.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لغة التدريب ولغة الاختبار</a:t>
            </a:r>
          </a:p>
        </p:txBody>
      </p:sp>
      <p:sp>
        <p:nvSpPr>
          <p:cNvPr id="5" name="Rule 4"/>
          <p:cNvSpPr/>
          <p:nvPr/>
        </p:nvSpPr>
        <p:spPr>
          <a:xfrm>
            <a:off x="6592491" y="1657945"/>
            <a:ext cx="4786709" cy="31750"/>
          </a:xfrm>
          <a:prstGeom prst="rect">
            <a:avLst/>
          </a:prstGeom>
          <a:solidFill>
            <a:srgbClr val="C9C0AC"/>
          </a:solidFill>
          <a:ln>
            <a:noFill/>
          </a:ln>
        </p:spPr>
        <p:txBody>
          <a:bodyPr rtlCol="0" anchor="ctr"/>
          <a:lstStyle/>
          <a:p>
            <a:pPr algn="ctr"/>
          </a:p>
        </p:txBody>
      </p:sp>
      <p:sp>
        <p:nvSpPr>
          <p:cNvPr id="6" name="Text 5"/>
          <p:cNvSpPr txBox="1"/>
          <p:nvPr/>
        </p:nvSpPr>
        <p:spPr>
          <a:xfrm>
            <a:off x="6617891" y="1819235"/>
            <a:ext cx="472320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لغة التدريب ليست لغة الاختبار</a:t>
            </a:r>
          </a:p>
        </p:txBody>
      </p:sp>
      <p:pic>
        <p:nvPicPr>
          <p:cNvPr id="7" name="Icon Check 6" descr="icon060.png"/>
          <p:cNvPicPr>
            <a:picLocks noChangeAspect="1"/>
          </p:cNvPicPr>
          <p:nvPr/>
        </p:nvPicPr>
        <p:blipFill>
          <a:blip r:embed="rId2"/>
          <a:stretch>
            <a:fillRect/>
          </a:stretch>
        </p:blipFill>
        <p:spPr>
          <a:xfrm>
            <a:off x="11106150" y="2223095"/>
            <a:ext cx="234950" cy="234950"/>
          </a:xfrm>
          <a:prstGeom prst="rect">
            <a:avLst/>
          </a:prstGeom>
        </p:spPr>
      </p:pic>
      <p:sp>
        <p:nvSpPr>
          <p:cNvPr id="8" name="Text 7"/>
          <p:cNvSpPr txBox="1"/>
          <p:nvPr/>
        </p:nvSpPr>
        <p:spPr>
          <a:xfrm>
            <a:off x="6617891" y="21837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قد تجد دورة تُشرح بالعربية، والاختبار بالإنجليزية.</a:t>
            </a:r>
          </a:p>
        </p:txBody>
      </p:sp>
      <p:pic>
        <p:nvPicPr>
          <p:cNvPr id="9" name="Icon Check 8" descr="icon060.png"/>
          <p:cNvPicPr>
            <a:picLocks noChangeAspect="1"/>
          </p:cNvPicPr>
          <p:nvPr/>
        </p:nvPicPr>
        <p:blipFill>
          <a:blip r:embed="rId2"/>
          <a:stretch>
            <a:fillRect/>
          </a:stretch>
        </p:blipFill>
        <p:spPr>
          <a:xfrm>
            <a:off x="11106150" y="2997795"/>
            <a:ext cx="234950" cy="234950"/>
          </a:xfrm>
          <a:prstGeom prst="rect">
            <a:avLst/>
          </a:prstGeom>
        </p:spPr>
      </p:pic>
      <p:sp>
        <p:nvSpPr>
          <p:cNvPr id="10" name="Text 9"/>
          <p:cNvSpPr txBox="1"/>
          <p:nvPr/>
        </p:nvSpPr>
        <p:spPr>
          <a:xfrm>
            <a:off x="6617891" y="29584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تحقق من لغة الاختبار في صفحة الجهة المانحة قبل الحجز.</a:t>
            </a:r>
          </a:p>
        </p:txBody>
      </p:sp>
      <p:pic>
        <p:nvPicPr>
          <p:cNvPr id="11" name="Icon Check 10" descr="icon060.png"/>
          <p:cNvPicPr>
            <a:picLocks noChangeAspect="1"/>
          </p:cNvPicPr>
          <p:nvPr/>
        </p:nvPicPr>
        <p:blipFill>
          <a:blip r:embed="rId2"/>
          <a:stretch>
            <a:fillRect/>
          </a:stretch>
        </p:blipFill>
        <p:spPr>
          <a:xfrm>
            <a:off x="11106150" y="3772495"/>
            <a:ext cx="234950" cy="234950"/>
          </a:xfrm>
          <a:prstGeom prst="rect">
            <a:avLst/>
          </a:prstGeom>
        </p:spPr>
      </p:pic>
      <p:sp>
        <p:nvSpPr>
          <p:cNvPr id="12" name="Text 11"/>
          <p:cNvSpPr txBox="1"/>
          <p:nvPr/>
        </p:nvSpPr>
        <p:spPr>
          <a:xfrm>
            <a:off x="6617891" y="37331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بعض الجهات تمنح وقتاً إضافياً لمن يختبر بغير لغته الأم.</a:t>
            </a:r>
          </a:p>
        </p:txBody>
      </p:sp>
      <p:graphicFrame>
        <p:nvGraphicFramePr>
          <p:cNvPr id="13" name="Table 12"/>
          <p:cNvGraphicFramePr>
            <a:graphicFrameLocks noGrp="1"/>
          </p:cNvGraphicFramePr>
          <p:nvPr/>
        </p:nvGraphicFramePr>
        <p:xfrm>
          <a:off x="815975" y="1661120"/>
          <a:ext cx="5646341" cy="3466306"/>
        </p:xfrm>
        <a:graphic>
          <a:graphicData uri="http://schemas.openxmlformats.org/drawingml/2006/table">
            <a:tbl>
              <a:tblPr firstRow="0" bandRow="0" lastRow="0" firstCol="0" lastCol="0" bandCol="0">
                <a:tableStyleId>{2D5ABB26-0587-4C30-8999-92F81FD0307C}</a:tableStyleId>
              </a:tblPr>
              <a:tblGrid>
                <a:gridCol w="3049270"/>
                <a:gridCol w="2597071"/>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CGRC: 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ISC2: CC وCISSP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اللغات تختلف لكل شهادة</a:t>
                      </a:r>
                    </a:p>
                  </a:txBody>
                  <a:tcPr marT="96355" marR="137160" marB="63665" marL="539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ISACA: الشهادات الخمس</a:t>
                      </a:r>
                    </a:p>
                  </a:txBody>
                  <a:tcPr marT="96355" marR="137160" marB="63665" marL="6746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في الإصدار الحالي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CompTIA Security+</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IAPP: ‎CIPP/E‎ وCIPM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لم نتحقق. راجع صفحة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PECB وOCEG وIT Risk Fund.‎</a:t>
                      </a:r>
                    </a:p>
                  </a:txBody>
                  <a:tcPr marT="96355" marR="137160" marB="63665" marL="6746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4" name="Text 13"/>
          <p:cNvSpPr txBox="1"/>
          <p:nvPr/>
        </p:nvSpPr>
        <p:spPr>
          <a:xfrm>
            <a:off x="0" y="5293670"/>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القائمة الكاملة للغات كل اختبار في الملحق: الشريحتان 224 و225.</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تذاكر لأي شهادة: أربع خطوات</a:t>
            </a:r>
          </a:p>
        </p:txBody>
      </p:sp>
      <p:sp>
        <p:nvSpPr>
          <p:cNvPr id="5" name="Rule 4"/>
          <p:cNvSpPr/>
          <p:nvPr/>
        </p:nvSpPr>
        <p:spPr>
          <a:xfrm>
            <a:off x="9008170" y="16579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03357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مخطط الاختبار</a:t>
            </a:r>
          </a:p>
        </p:txBody>
      </p:sp>
      <p:sp>
        <p:nvSpPr>
          <p:cNvPr id="8" name="Text 7"/>
          <p:cNvSpPr txBox="1"/>
          <p:nvPr/>
        </p:nvSpPr>
        <p:spPr>
          <a:xfrm>
            <a:off x="9033570" y="25266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Exam Outline مجاني. المجالات وأوزانها خطتك.</a:t>
            </a:r>
          </a:p>
        </p:txBody>
      </p:sp>
      <p:sp>
        <p:nvSpPr>
          <p:cNvPr id="9" name="Text 8"/>
          <p:cNvSpPr txBox="1"/>
          <p:nvPr/>
        </p:nvSpPr>
        <p:spPr>
          <a:xfrm>
            <a:off x="857121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579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30178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مصدر أساسي واحد</a:t>
            </a:r>
          </a:p>
        </p:txBody>
      </p:sp>
      <p:sp>
        <p:nvSpPr>
          <p:cNvPr id="13" name="Text 12"/>
          <p:cNvSpPr txBox="1"/>
          <p:nvPr/>
        </p:nvSpPr>
        <p:spPr>
          <a:xfrm>
            <a:off x="6301780" y="25266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الدليل الرسمي أو دورة معتمدة.</a:t>
            </a:r>
          </a:p>
        </p:txBody>
      </p:sp>
      <p:sp>
        <p:nvSpPr>
          <p:cNvPr id="14" name="Text 13"/>
          <p:cNvSpPr txBox="1"/>
          <p:nvPr/>
        </p:nvSpPr>
        <p:spPr>
          <a:xfrm>
            <a:off x="583942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579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7" name="Text 16"/>
          <p:cNvSpPr txBox="1"/>
          <p:nvPr/>
        </p:nvSpPr>
        <p:spPr>
          <a:xfrm>
            <a:off x="356999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بنك أسئلة بفهم</a:t>
            </a:r>
          </a:p>
        </p:txBody>
      </p:sp>
      <p:sp>
        <p:nvSpPr>
          <p:cNvPr id="18" name="Text 17"/>
          <p:cNvSpPr txBox="1"/>
          <p:nvPr/>
        </p:nvSpPr>
        <p:spPr>
          <a:xfrm>
            <a:off x="3569990" y="25266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لماذا الصحيح صحيح، والباقي خطأ.</a:t>
            </a:r>
          </a:p>
        </p:txBody>
      </p:sp>
      <p:sp>
        <p:nvSpPr>
          <p:cNvPr id="19" name="Text 18"/>
          <p:cNvSpPr txBox="1"/>
          <p:nvPr/>
        </p:nvSpPr>
        <p:spPr>
          <a:xfrm>
            <a:off x="310763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579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2" name="Text 21"/>
          <p:cNvSpPr txBox="1"/>
          <p:nvPr/>
        </p:nvSpPr>
        <p:spPr>
          <a:xfrm>
            <a:off x="838200" y="2155785"/>
            <a:ext cx="230753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احجز حين تثبت درجاتك</a:t>
            </a:r>
          </a:p>
        </p:txBody>
      </p:sp>
      <p:sp>
        <p:nvSpPr>
          <p:cNvPr id="23" name="Text 22"/>
          <p:cNvSpPr txBox="1"/>
          <p:nvPr/>
        </p:nvSpPr>
        <p:spPr>
          <a:xfrm>
            <a:off x="838200" y="28568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تتجاوز حد النجاح مرة بعد مرة.</a:t>
            </a:r>
          </a:p>
        </p:txBody>
      </p:sp>
      <p:sp>
        <p:nvSpPr>
          <p:cNvPr id="24" name="Box 23"/>
          <p:cNvSpPr/>
          <p:nvPr/>
        </p:nvSpPr>
        <p:spPr>
          <a:xfrm>
            <a:off x="6477595" y="4204295"/>
            <a:ext cx="4901605" cy="965200"/>
          </a:xfrm>
          <a:prstGeom prst="roundRect">
            <a:avLst>
              <a:gd name="adj" fmla="val 10526"/>
            </a:avLst>
          </a:prstGeom>
          <a:solidFill>
            <a:srgbClr val="172433"/>
          </a:solidFill>
          <a:ln>
            <a:noFill/>
          </a:ln>
        </p:spPr>
        <p:txBody>
          <a:bodyPr rtlCol="0" anchor="ctr"/>
          <a:lstStyle/>
          <a:p>
            <a:pPr algn="ctr"/>
          </a:p>
        </p:txBody>
      </p:sp>
      <p:pic>
        <p:nvPicPr>
          <p:cNvPr id="25" name="Icon Users 24" descr="icon080.png"/>
          <p:cNvPicPr>
            <a:picLocks noChangeAspect="1"/>
          </p:cNvPicPr>
          <p:nvPr/>
        </p:nvPicPr>
        <p:blipFill>
          <a:blip r:embed="rId2"/>
          <a:stretch>
            <a:fillRect/>
          </a:stretch>
        </p:blipFill>
        <p:spPr>
          <a:xfrm>
            <a:off x="10947400" y="4559895"/>
            <a:ext cx="254000" cy="254000"/>
          </a:xfrm>
          <a:prstGeom prst="rect">
            <a:avLst/>
          </a:prstGeom>
        </p:spPr>
      </p:pic>
      <p:sp>
        <p:nvSpPr>
          <p:cNvPr id="26" name="Text 25"/>
          <p:cNvSpPr txBox="1"/>
          <p:nvPr/>
        </p:nvSpPr>
        <p:spPr>
          <a:xfrm>
            <a:off x="6530064" y="4291925"/>
            <a:ext cx="430303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فكّر كمدير: أسئلة ISACA وISC2 تسأل عن «الأفضل» أو «الأول» من منظور المخاطر.</a:t>
            </a:r>
          </a:p>
        </p:txBody>
      </p:sp>
      <p:sp>
        <p:nvSpPr>
          <p:cNvPr id="27" name="Box 26"/>
          <p:cNvSpPr/>
          <p:nvPr/>
        </p:nvSpPr>
        <p:spPr>
          <a:xfrm>
            <a:off x="812800" y="4204295"/>
            <a:ext cx="5563195" cy="965200"/>
          </a:xfrm>
          <a:prstGeom prst="roundRect">
            <a:avLst>
              <a:gd name="adj" fmla="val 10526"/>
            </a:avLst>
          </a:prstGeom>
          <a:solidFill>
            <a:srgbClr val="F6ECDA"/>
          </a:solidFill>
          <a:ln>
            <a:noFill/>
          </a:ln>
        </p:spPr>
        <p:txBody>
          <a:bodyPr rtlCol="0" anchor="ctr"/>
          <a:lstStyle/>
          <a:p>
            <a:pPr algn="ctr"/>
          </a:p>
        </p:txBody>
      </p:sp>
      <p:pic>
        <p:nvPicPr>
          <p:cNvPr id="28" name="Icon Clock 27" descr="icon081.png"/>
          <p:cNvPicPr>
            <a:picLocks noChangeAspect="1"/>
          </p:cNvPicPr>
          <p:nvPr/>
        </p:nvPicPr>
        <p:blipFill>
          <a:blip r:embed="rId3"/>
          <a:stretch>
            <a:fillRect/>
          </a:stretch>
        </p:blipFill>
        <p:spPr>
          <a:xfrm>
            <a:off x="5944195" y="4559895"/>
            <a:ext cx="254000" cy="254000"/>
          </a:xfrm>
          <a:prstGeom prst="rect">
            <a:avLst/>
          </a:prstGeom>
        </p:spPr>
      </p:pic>
      <p:sp>
        <p:nvSpPr>
          <p:cNvPr id="29" name="Text 28"/>
          <p:cNvSpPr txBox="1"/>
          <p:nvPr/>
        </p:nvSpPr>
        <p:spPr>
          <a:xfrm>
            <a:off x="845421" y="4291925"/>
            <a:ext cx="498447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طابق مادتك مع مخطط يوم اختبارك: CC وCISM وSecurity+‎ وCISSP تتغير بين 2026 و2027.</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box 3"/>
          <p:cNvSpPr/>
          <p:nvPr/>
        </p:nvSpPr>
        <p:spPr>
          <a:xfrm>
            <a:off x="805795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اختر الشهادة المناسبة</a:t>
            </a:r>
          </a:p>
        </p:txBody>
      </p:sp>
      <p:sp>
        <p:nvSpPr>
          <p:cNvPr id="6" name="Text 5"/>
          <p:cNvSpPr txBox="1"/>
          <p:nvPr/>
        </p:nvSpPr>
        <p:spPr>
          <a:xfrm>
            <a:off x="9987280" y="1626449"/>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سارة</a:t>
            </a:r>
          </a:p>
        </p:txBody>
      </p:sp>
      <p:sp>
        <p:nvSpPr>
          <p:cNvPr id="7" name="Text 6"/>
          <p:cNvSpPr txBox="1"/>
          <p:nvPr/>
        </p:nvSpPr>
        <p:spPr>
          <a:xfrm>
            <a:off x="78232" y="1626449"/>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خريجة نظم معلومات، بلا خبرة، تريد وظيفة محللة امتثال خلال سنة.</a:t>
            </a:r>
          </a:p>
        </p:txBody>
      </p:sp>
      <p:sp>
        <p:nvSpPr>
          <p:cNvPr id="8" name="Text 7"/>
          <p:cNvSpPr txBox="1"/>
          <p:nvPr/>
        </p:nvSpPr>
        <p:spPr>
          <a:xfrm>
            <a:off x="9987280" y="2025209"/>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عبدالله</a:t>
            </a:r>
          </a:p>
        </p:txBody>
      </p:sp>
      <p:sp>
        <p:nvSpPr>
          <p:cNvPr id="9" name="Text 8"/>
          <p:cNvSpPr txBox="1"/>
          <p:nvPr/>
        </p:nvSpPr>
        <p:spPr>
          <a:xfrm>
            <a:off x="78232" y="2025209"/>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محاسب بخبرة 4 سنوات في المراجعة الداخلية، يريد التحول إلى تدقيق تقنية المعلومات.</a:t>
            </a:r>
          </a:p>
        </p:txBody>
      </p:sp>
      <p:sp>
        <p:nvSpPr>
          <p:cNvPr id="10" name="Text 9"/>
          <p:cNvSpPr txBox="1"/>
          <p:nvPr/>
        </p:nvSpPr>
        <p:spPr>
          <a:xfrm>
            <a:off x="9987280" y="2423970"/>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نورة</a:t>
            </a:r>
          </a:p>
        </p:txBody>
      </p:sp>
      <p:sp>
        <p:nvSpPr>
          <p:cNvPr id="11" name="Text 10"/>
          <p:cNvSpPr txBox="1"/>
          <p:nvPr/>
        </p:nvSpPr>
        <p:spPr>
          <a:xfrm>
            <a:off x="78232" y="2423970"/>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محامية بخبرة سنتين، مهتمة بحماية البيانات الشخصية.</a:t>
            </a:r>
          </a:p>
        </p:txBody>
      </p:sp>
      <p:graphicFrame>
        <p:nvGraphicFramePr>
          <p:cNvPr id="12" name="Table 11"/>
          <p:cNvGraphicFramePr>
            <a:graphicFrameLocks noGrp="1"/>
          </p:cNvGraphicFramePr>
          <p:nvPr/>
        </p:nvGraphicFramePr>
        <p:xfrm>
          <a:off x="815975" y="3289201"/>
          <a:ext cx="10560050" cy="1483120"/>
        </p:xfrm>
        <a:graphic>
          <a:graphicData uri="http://schemas.openxmlformats.org/drawingml/2006/table">
            <a:tbl>
              <a:tblPr firstRow="0" bandRow="0" lastRow="0" firstCol="0" lastCol="0" bandCol="0">
                <a:tableStyleId>{2D5ABB26-0587-4C30-8999-92F81FD0307C}</a:tableStyleId>
              </a:tblPr>
              <a:tblGrid>
                <a:gridCol w="4435475"/>
                <a:gridCol w="2322830"/>
                <a:gridCol w="2323465"/>
                <a:gridCol w="1478280"/>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السبب في جملتين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شهادة لاحقاً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شهادة الآن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الشخص</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سارة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عبدالله</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نورة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Box 12"/>
          <p:cNvSpPr/>
          <p:nvPr/>
        </p:nvSpPr>
        <p:spPr>
          <a:xfrm>
            <a:off x="812800" y="5321598"/>
            <a:ext cx="10566400" cy="502841"/>
          </a:xfrm>
          <a:prstGeom prst="roundRect">
            <a:avLst>
              <a:gd name="adj" fmla="val 20205"/>
            </a:avLst>
          </a:prstGeom>
          <a:solidFill>
            <a:srgbClr val="F6ECDA"/>
          </a:solidFill>
          <a:ln>
            <a:noFill/>
          </a:ln>
        </p:spPr>
        <p:txBody>
          <a:bodyPr rtlCol="0" anchor="ctr"/>
          <a:lstStyle/>
          <a:p>
            <a:pPr algn="ctr"/>
          </a:p>
        </p:txBody>
      </p:sp>
      <p:pic>
        <p:nvPicPr>
          <p:cNvPr id="14" name="Icon Clock 13" descr="icon082.png"/>
          <p:cNvPicPr>
            <a:picLocks noChangeAspect="1"/>
          </p:cNvPicPr>
          <p:nvPr/>
        </p:nvPicPr>
        <p:blipFill>
          <a:blip r:embed="rId2"/>
          <a:stretch>
            <a:fillRect/>
          </a:stretch>
        </p:blipFill>
        <p:spPr>
          <a:xfrm>
            <a:off x="11010900" y="5477768"/>
            <a:ext cx="190500" cy="190500"/>
          </a:xfrm>
          <a:prstGeom prst="rect">
            <a:avLst/>
          </a:prstGeom>
        </p:spPr>
      </p:pic>
      <p:sp>
        <p:nvSpPr>
          <p:cNvPr id="15" name="Text 14"/>
          <p:cNvSpPr txBox="1"/>
          <p:nvPr/>
        </p:nvSpPr>
        <p:spPr>
          <a:xfrm>
            <a:off x="838200" y="5421039"/>
            <a:ext cx="1005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اكتب في الكراسة. 8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box 3"/>
          <p:cNvSpPr/>
          <p:nvPr/>
        </p:nvSpPr>
        <p:spPr>
          <a:xfrm>
            <a:off x="826502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اقتراحات للأشخاص الثلاثة</a:t>
            </a:r>
          </a:p>
        </p:txBody>
      </p:sp>
      <p:graphicFrame>
        <p:nvGraphicFramePr>
          <p:cNvPr id="6" name="Table 5"/>
          <p:cNvGraphicFramePr>
            <a:graphicFrameLocks noGrp="1"/>
          </p:cNvGraphicFramePr>
          <p:nvPr/>
        </p:nvGraphicFramePr>
        <p:xfrm>
          <a:off x="815975" y="1661120"/>
          <a:ext cx="10560050" cy="4165600"/>
        </p:xfrm>
        <a:graphic>
          <a:graphicData uri="http://schemas.openxmlformats.org/drawingml/2006/table">
            <a:tbl>
              <a:tblPr firstRow="0" bandRow="0" lastRow="0" firstCol="0" lastCol="0" bandCol="0">
                <a:tableStyleId>{2D5ABB26-0587-4C30-8999-92F81FD0307C}</a:tableStyleId>
              </a:tblPr>
              <a:tblGrid>
                <a:gridCol w="4540885"/>
                <a:gridCol w="4540885"/>
                <a:gridCol w="147828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الاقتراح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الشخص</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شهادة مدخل بلا شرط خبرة، ثم مهارة تطبيقية مطلوبة في الإعلانات.</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CC أو Security+‎ الآن، ثم ISO 27001 Lead Implementer أو GRCP. CRISC أو CGRC لاحقاً بعد اكتمال الخبرة.</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سارة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خبرته في المراجعة قد تُحتسب لشرط CISA بحسب قواعد ISACA، فتحقق منها. Lead Auditor يبني على مهارة التدقيق لديه.</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ISO 27001 Lead Auditor أو IT Audit Fundamentals الآن، وCISA هدفاً قريباً.</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عبدالله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خلفيتها القانونية تناسب ‎CIPP/E‎، وCIPM يضيف إدارة برنامج الخصوصية. لا تحتاج شهادة تقنية أولاً.</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‎CIPP/E‎ أو CIPM الآن، مع قراءة نظام حماية البيانات الشخصية ولوائحه.</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نورة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الشهادات</a:t>
            </a:r>
          </a:p>
        </p:txBody>
      </p:sp>
      <p:sp>
        <p:nvSpPr>
          <p:cNvPr id="4" name="Text box 3"/>
          <p:cNvSpPr/>
          <p:nvPr/>
        </p:nvSpPr>
        <p:spPr>
          <a:xfrm>
            <a:off x="805795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05</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3</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6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الشهادة المناسبة لمرحلتك.</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منفذ رئيسي أم مدقق رئيسي.</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لغة التدريب ولغة الاختبار.</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05».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الشهادات</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0891" y="1423690"/>
            <a:ext cx="234830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06</a:t>
            </a:r>
          </a:p>
        </p:txBody>
      </p:sp>
      <p:sp>
        <p:nvSpPr>
          <p:cNvPr id="4" name="Text 3"/>
          <p:cNvSpPr txBox="1"/>
          <p:nvPr/>
        </p:nvSpPr>
        <p:spPr>
          <a:xfrm>
            <a:off x="1679829" y="1845155"/>
            <a:ext cx="780826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خطة البداية وملف الأعمال</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الخبرة أكبر عائق للمبتدئ. هنا تحول تطبيقات الكورس إلى دليل على قدرتك قبل أول وظيفة.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تحول التطبيقات الأربعة إلى مشاريع منشورة.</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خطة 90 يوماً واقعية.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صفحة تعريفية لكل مشروع.</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06 · خطة البداية وملف الأعمال</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180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90 يوماً: من الصفر إلى أول طلب توظيف</a:t>
            </a:r>
          </a:p>
        </p:txBody>
      </p:sp>
      <p:sp>
        <p:nvSpPr>
          <p:cNvPr id="5" name="Text 4"/>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على أساس 8 إلى 10 ساعات أسبوعياً تقريباً. عدّلها حسب وقتك.</a:t>
            </a:r>
          </a:p>
        </p:txBody>
      </p:sp>
      <p:sp>
        <p:nvSpPr>
          <p:cNvPr id="6" name="Rule 5"/>
          <p:cNvSpPr/>
          <p:nvPr/>
        </p:nvSpPr>
        <p:spPr>
          <a:xfrm>
            <a:off x="7933234" y="2204045"/>
            <a:ext cx="3445966" cy="31750"/>
          </a:xfrm>
          <a:prstGeom prst="rect">
            <a:avLst/>
          </a:prstGeom>
          <a:solidFill>
            <a:srgbClr val="C9C0AC"/>
          </a:solidFill>
          <a:ln>
            <a:noFill/>
          </a:ln>
        </p:spPr>
        <p:txBody>
          <a:bodyPr rtlCol="0" anchor="ctr"/>
          <a:lstStyle/>
          <a:p>
            <a:pPr algn="ctr"/>
          </a:p>
        </p:txBody>
      </p:sp>
      <p:sp>
        <p:nvSpPr>
          <p:cNvPr id="7" name="Text 6"/>
          <p:cNvSpPr txBox="1"/>
          <p:nvPr/>
        </p:nvSpPr>
        <p:spPr>
          <a:xfrm>
            <a:off x="10311805" y="2391926"/>
            <a:ext cx="102929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الأساس</a:t>
            </a:r>
          </a:p>
        </p:txBody>
      </p:sp>
      <p:sp>
        <p:nvSpPr>
          <p:cNvPr id="8" name="Text box 7"/>
          <p:cNvSpPr/>
          <p:nvPr/>
        </p:nvSpPr>
        <p:spPr>
          <a:xfrm>
            <a:off x="7971334" y="2375495"/>
            <a:ext cx="1417439" cy="370780"/>
          </a:xfrm>
          <a:prstGeom prst="roundRect">
            <a:avLst>
              <a:gd name="adj" fmla="val 50000"/>
            </a:avLst>
          </a:prstGeom>
          <a:solidFill>
            <a:srgbClr val="DCEFEA"/>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الأيام 1 إلى 30</a:t>
            </a:r>
          </a:p>
        </p:txBody>
      </p:sp>
      <p:pic>
        <p:nvPicPr>
          <p:cNvPr id="9" name="Icon Check 8" descr="icon060.png"/>
          <p:cNvPicPr>
            <a:picLocks noChangeAspect="1"/>
          </p:cNvPicPr>
          <p:nvPr/>
        </p:nvPicPr>
        <p:blipFill>
          <a:blip r:embed="rId2"/>
          <a:stretch>
            <a:fillRect/>
          </a:stretch>
        </p:blipFill>
        <p:spPr>
          <a:xfrm>
            <a:off x="11106150" y="2822476"/>
            <a:ext cx="234950" cy="234950"/>
          </a:xfrm>
          <a:prstGeom prst="rect">
            <a:avLst/>
          </a:prstGeom>
        </p:spPr>
      </p:pic>
      <p:sp>
        <p:nvSpPr>
          <p:cNvPr id="10" name="Text 9"/>
          <p:cNvSpPr txBox="1"/>
          <p:nvPr/>
        </p:nvSpPr>
        <p:spPr>
          <a:xfrm>
            <a:off x="7958634" y="2783106"/>
            <a:ext cx="303321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الوحدات 1 إلى 4 والتطبيقات الأربعة</a:t>
            </a:r>
          </a:p>
        </p:txBody>
      </p:sp>
      <p:pic>
        <p:nvPicPr>
          <p:cNvPr id="11" name="Icon Check 10" descr="icon060.png"/>
          <p:cNvPicPr>
            <a:picLocks noChangeAspect="1"/>
          </p:cNvPicPr>
          <p:nvPr/>
        </p:nvPicPr>
        <p:blipFill>
          <a:blip r:embed="rId2"/>
          <a:stretch>
            <a:fillRect/>
          </a:stretch>
        </p:blipFill>
        <p:spPr>
          <a:xfrm>
            <a:off x="11106150" y="3584476"/>
            <a:ext cx="234950" cy="234950"/>
          </a:xfrm>
          <a:prstGeom prst="rect">
            <a:avLst/>
          </a:prstGeom>
        </p:spPr>
      </p:pic>
      <p:sp>
        <p:nvSpPr>
          <p:cNvPr id="12" name="Text 11"/>
          <p:cNvSpPr txBox="1"/>
          <p:nvPr/>
        </p:nvSpPr>
        <p:spPr>
          <a:xfrm>
            <a:off x="7958634" y="3545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NIST CSF 2.0</a:t>
            </a:r>
          </a:p>
        </p:txBody>
      </p:sp>
      <p:pic>
        <p:nvPicPr>
          <p:cNvPr id="13" name="Icon Check 12" descr="icon060.png"/>
          <p:cNvPicPr>
            <a:picLocks noChangeAspect="1"/>
          </p:cNvPicPr>
          <p:nvPr/>
        </p:nvPicPr>
        <p:blipFill>
          <a:blip r:embed="rId2"/>
          <a:stretch>
            <a:fillRect/>
          </a:stretch>
        </p:blipFill>
        <p:spPr>
          <a:xfrm>
            <a:off x="11106150" y="3990876"/>
            <a:ext cx="234950" cy="234950"/>
          </a:xfrm>
          <a:prstGeom prst="rect">
            <a:avLst/>
          </a:prstGeom>
        </p:spPr>
      </p:pic>
      <p:sp>
        <p:nvSpPr>
          <p:cNvPr id="14" name="Text 13"/>
          <p:cNvSpPr txBox="1"/>
          <p:nvPr/>
        </p:nvSpPr>
        <p:spPr>
          <a:xfrm>
            <a:off x="7958634" y="3951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بدء مذاكرة شهادة مدخل</a:t>
            </a:r>
          </a:p>
        </p:txBody>
      </p:sp>
      <p:sp>
        <p:nvSpPr>
          <p:cNvPr id="15" name="Text box 14"/>
          <p:cNvSpPr/>
          <p:nvPr/>
        </p:nvSpPr>
        <p:spPr>
          <a:xfrm>
            <a:off x="7971334" y="4422676"/>
            <a:ext cx="3369766" cy="863600"/>
          </a:xfrm>
          <a:prstGeom prst="roundRect">
            <a:avLst>
              <a:gd name="adj" fmla="val 8823"/>
            </a:avLst>
          </a:prstGeom>
          <a:solidFill>
            <a:srgbClr val="DCEFEA"/>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تطبيقات مصححة في الكراسة.</a:t>
            </a:r>
          </a:p>
        </p:txBody>
      </p:sp>
      <p:sp>
        <p:nvSpPr>
          <p:cNvPr id="16" name="Rule 15"/>
          <p:cNvSpPr/>
          <p:nvPr/>
        </p:nvSpPr>
        <p:spPr>
          <a:xfrm>
            <a:off x="4372967" y="2204045"/>
            <a:ext cx="3445966" cy="31750"/>
          </a:xfrm>
          <a:prstGeom prst="rect">
            <a:avLst/>
          </a:prstGeom>
          <a:solidFill>
            <a:srgbClr val="C9C0AC"/>
          </a:solidFill>
          <a:ln>
            <a:noFill/>
          </a:ln>
        </p:spPr>
        <p:txBody>
          <a:bodyPr rtlCol="0" anchor="ctr"/>
          <a:lstStyle/>
          <a:p>
            <a:pPr algn="ctr"/>
          </a:p>
        </p:txBody>
      </p:sp>
      <p:sp>
        <p:nvSpPr>
          <p:cNvPr id="17" name="Text 16"/>
          <p:cNvSpPr txBox="1"/>
          <p:nvPr/>
        </p:nvSpPr>
        <p:spPr>
          <a:xfrm>
            <a:off x="6716316" y="2391926"/>
            <a:ext cx="106451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التطبيق</a:t>
            </a:r>
          </a:p>
        </p:txBody>
      </p:sp>
      <p:sp>
        <p:nvSpPr>
          <p:cNvPr id="18" name="Text box 17"/>
          <p:cNvSpPr/>
          <p:nvPr/>
        </p:nvSpPr>
        <p:spPr>
          <a:xfrm>
            <a:off x="4411067" y="2375495"/>
            <a:ext cx="1554559" cy="370780"/>
          </a:xfrm>
          <a:prstGeom prst="roundRect">
            <a:avLst>
              <a:gd name="adj" fmla="val 50000"/>
            </a:avLst>
          </a:prstGeom>
          <a:solidFill>
            <a:srgbClr val="E6EDF4"/>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24506B"/>
                </a:solidFill>
                <a:latin typeface="IBM Plex Sans Arabic"/>
                <a:ea typeface="IBM Plex Sans Arabic"/>
                <a:cs typeface="IBM Plex Sans Arabic"/>
              </a:rPr>
              <a:t>الأيام 31 إلى 60</a:t>
            </a:r>
          </a:p>
        </p:txBody>
      </p:sp>
      <p:pic>
        <p:nvPicPr>
          <p:cNvPr id="19" name="Icon Check 18" descr="icon083.png"/>
          <p:cNvPicPr>
            <a:picLocks noChangeAspect="1"/>
          </p:cNvPicPr>
          <p:nvPr/>
        </p:nvPicPr>
        <p:blipFill>
          <a:blip r:embed="rId3"/>
          <a:stretch>
            <a:fillRect/>
          </a:stretch>
        </p:blipFill>
        <p:spPr>
          <a:xfrm>
            <a:off x="7545884" y="2822476"/>
            <a:ext cx="234950" cy="234950"/>
          </a:xfrm>
          <a:prstGeom prst="rect">
            <a:avLst/>
          </a:prstGeom>
        </p:spPr>
      </p:pic>
      <p:sp>
        <p:nvSpPr>
          <p:cNvPr id="20" name="Text 19"/>
          <p:cNvSpPr txBox="1"/>
          <p:nvPr/>
        </p:nvSpPr>
        <p:spPr>
          <a:xfrm>
            <a:off x="4398367" y="2783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 الشريحة التالية</a:t>
            </a:r>
          </a:p>
        </p:txBody>
      </p:sp>
      <p:pic>
        <p:nvPicPr>
          <p:cNvPr id="21" name="Icon Check 20" descr="icon083.png"/>
          <p:cNvPicPr>
            <a:picLocks noChangeAspect="1"/>
          </p:cNvPicPr>
          <p:nvPr/>
        </p:nvPicPr>
        <p:blipFill>
          <a:blip r:embed="rId3"/>
          <a:stretch>
            <a:fillRect/>
          </a:stretch>
        </p:blipFill>
        <p:spPr>
          <a:xfrm>
            <a:off x="7545884" y="3228876"/>
            <a:ext cx="234950" cy="234950"/>
          </a:xfrm>
          <a:prstGeom prst="rect">
            <a:avLst/>
          </a:prstGeom>
        </p:spPr>
      </p:pic>
      <p:sp>
        <p:nvSpPr>
          <p:cNvPr id="22" name="Text 21"/>
          <p:cNvSpPr txBox="1"/>
          <p:nvPr/>
        </p:nvSpPr>
        <p:spPr>
          <a:xfrm>
            <a:off x="4398367" y="3189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إطار قطاعك</a:t>
            </a:r>
          </a:p>
        </p:txBody>
      </p:sp>
      <p:pic>
        <p:nvPicPr>
          <p:cNvPr id="23" name="Icon Check 22" descr="icon083.png"/>
          <p:cNvPicPr>
            <a:picLocks noChangeAspect="1"/>
          </p:cNvPicPr>
          <p:nvPr/>
        </p:nvPicPr>
        <p:blipFill>
          <a:blip r:embed="rId3"/>
          <a:stretch>
            <a:fillRect/>
          </a:stretch>
        </p:blipFill>
        <p:spPr>
          <a:xfrm>
            <a:off x="7545884" y="3635276"/>
            <a:ext cx="234950" cy="234950"/>
          </a:xfrm>
          <a:prstGeom prst="rect">
            <a:avLst/>
          </a:prstGeom>
        </p:spPr>
      </p:pic>
      <p:sp>
        <p:nvSpPr>
          <p:cNvPr id="24" name="Text 23"/>
          <p:cNvSpPr txBox="1"/>
          <p:nvPr/>
        </p:nvSpPr>
        <p:spPr>
          <a:xfrm>
            <a:off x="4398367" y="35959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حجز اختبار الشهادة</a:t>
            </a:r>
          </a:p>
        </p:txBody>
      </p:sp>
      <p:sp>
        <p:nvSpPr>
          <p:cNvPr id="25" name="Text box 24"/>
          <p:cNvSpPr/>
          <p:nvPr/>
        </p:nvSpPr>
        <p:spPr>
          <a:xfrm>
            <a:off x="4411067" y="4067076"/>
            <a:ext cx="3369766" cy="863600"/>
          </a:xfrm>
          <a:prstGeom prst="roundRect">
            <a:avLst>
              <a:gd name="adj" fmla="val 8823"/>
            </a:avLst>
          </a:prstGeom>
          <a:solidFill>
            <a:srgbClr val="E6EDF4"/>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مشروعان منشوران بصفحتين تعريفيتين.</a:t>
            </a:r>
          </a:p>
        </p:txBody>
      </p:sp>
      <p:sp>
        <p:nvSpPr>
          <p:cNvPr id="26" name="Rule 25"/>
          <p:cNvSpPr/>
          <p:nvPr/>
        </p:nvSpPr>
        <p:spPr>
          <a:xfrm>
            <a:off x="812701" y="2204045"/>
            <a:ext cx="3445966" cy="31750"/>
          </a:xfrm>
          <a:prstGeom prst="rect">
            <a:avLst/>
          </a:prstGeom>
          <a:solidFill>
            <a:srgbClr val="C9C0AC"/>
          </a:solidFill>
          <a:ln>
            <a:noFill/>
          </a:ln>
        </p:spPr>
        <p:txBody>
          <a:bodyPr rtlCol="0" anchor="ctr"/>
          <a:lstStyle/>
          <a:p>
            <a:pPr algn="ctr"/>
          </a:p>
        </p:txBody>
      </p:sp>
      <p:sp>
        <p:nvSpPr>
          <p:cNvPr id="27" name="Text 26"/>
          <p:cNvSpPr txBox="1"/>
          <p:nvPr/>
        </p:nvSpPr>
        <p:spPr>
          <a:xfrm>
            <a:off x="3317577" y="2391926"/>
            <a:ext cx="90299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السوق</a:t>
            </a:r>
          </a:p>
        </p:txBody>
      </p:sp>
      <p:sp>
        <p:nvSpPr>
          <p:cNvPr id="28" name="Text box 27"/>
          <p:cNvSpPr/>
          <p:nvPr/>
        </p:nvSpPr>
        <p:spPr>
          <a:xfrm>
            <a:off x="850801" y="2375495"/>
            <a:ext cx="1554559" cy="370780"/>
          </a:xfrm>
          <a:prstGeom prst="roundRect">
            <a:avLst>
              <a:gd name="adj" fmla="val 50000"/>
            </a:avLst>
          </a:prstGeom>
          <a:solidFill>
            <a:srgbClr val="F6ECDA"/>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8A4B12"/>
                </a:solidFill>
                <a:latin typeface="IBM Plex Sans Arabic"/>
                <a:ea typeface="IBM Plex Sans Arabic"/>
                <a:cs typeface="IBM Plex Sans Arabic"/>
              </a:rPr>
              <a:t>الأيام 61 إلى 90</a:t>
            </a:r>
          </a:p>
        </p:txBody>
      </p:sp>
      <p:pic>
        <p:nvPicPr>
          <p:cNvPr id="29" name="Icon Check 28" descr="icon084.png"/>
          <p:cNvPicPr>
            <a:picLocks noChangeAspect="1"/>
          </p:cNvPicPr>
          <p:nvPr/>
        </p:nvPicPr>
        <p:blipFill>
          <a:blip r:embed="rId4"/>
          <a:stretch>
            <a:fillRect/>
          </a:stretch>
        </p:blipFill>
        <p:spPr>
          <a:xfrm>
            <a:off x="3985617" y="2822476"/>
            <a:ext cx="234950" cy="234950"/>
          </a:xfrm>
          <a:prstGeom prst="rect">
            <a:avLst/>
          </a:prstGeom>
        </p:spPr>
      </p:pic>
      <p:sp>
        <p:nvSpPr>
          <p:cNvPr id="30" name="Text 29"/>
          <p:cNvSpPr txBox="1"/>
          <p:nvPr/>
        </p:nvSpPr>
        <p:spPr>
          <a:xfrm>
            <a:off x="838101" y="2783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السيرة ولينكدإن</a:t>
            </a:r>
          </a:p>
        </p:txBody>
      </p:sp>
      <p:pic>
        <p:nvPicPr>
          <p:cNvPr id="31" name="Icon Check 30" descr="icon084.png"/>
          <p:cNvPicPr>
            <a:picLocks noChangeAspect="1"/>
          </p:cNvPicPr>
          <p:nvPr/>
        </p:nvPicPr>
        <p:blipFill>
          <a:blip r:embed="rId4"/>
          <a:stretch>
            <a:fillRect/>
          </a:stretch>
        </p:blipFill>
        <p:spPr>
          <a:xfrm>
            <a:off x="3985617" y="3228876"/>
            <a:ext cx="234950" cy="234950"/>
          </a:xfrm>
          <a:prstGeom prst="rect">
            <a:avLst/>
          </a:prstGeom>
        </p:spPr>
      </p:pic>
      <p:sp>
        <p:nvSpPr>
          <p:cNvPr id="32" name="Text 31"/>
          <p:cNvSpPr txBox="1"/>
          <p:nvPr/>
        </p:nvSpPr>
        <p:spPr>
          <a:xfrm>
            <a:off x="838101" y="3189506"/>
            <a:ext cx="303321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أسبوعية ومحادثات تعريفية</a:t>
            </a:r>
          </a:p>
        </p:txBody>
      </p:sp>
      <p:pic>
        <p:nvPicPr>
          <p:cNvPr id="33" name="Icon Check 32" descr="icon084.png"/>
          <p:cNvPicPr>
            <a:picLocks noChangeAspect="1"/>
          </p:cNvPicPr>
          <p:nvPr/>
        </p:nvPicPr>
        <p:blipFill>
          <a:blip r:embed="rId4"/>
          <a:stretch>
            <a:fillRect/>
          </a:stretch>
        </p:blipFill>
        <p:spPr>
          <a:xfrm>
            <a:off x="3985617" y="3990876"/>
            <a:ext cx="234950" cy="234950"/>
          </a:xfrm>
          <a:prstGeom prst="rect">
            <a:avLst/>
          </a:prstGeom>
        </p:spPr>
      </p:pic>
      <p:sp>
        <p:nvSpPr>
          <p:cNvPr id="34" name="Text 33"/>
          <p:cNvSpPr txBox="1"/>
          <p:nvPr/>
        </p:nvSpPr>
        <p:spPr>
          <a:xfrm>
            <a:off x="838101" y="3951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خمس قصص STAR</a:t>
            </a:r>
          </a:p>
        </p:txBody>
      </p:sp>
      <p:sp>
        <p:nvSpPr>
          <p:cNvPr id="35" name="Text box 34"/>
          <p:cNvSpPr/>
          <p:nvPr/>
        </p:nvSpPr>
        <p:spPr>
          <a:xfrm>
            <a:off x="850801" y="4422676"/>
            <a:ext cx="3369766" cy="863600"/>
          </a:xfrm>
          <a:prstGeom prst="roundRect">
            <a:avLst>
              <a:gd name="adj" fmla="val 8823"/>
            </a:avLst>
          </a:prstGeom>
          <a:solidFill>
            <a:srgbClr val="F6ECDA"/>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طلبات مقدمة واستعداد للمقابلة.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181</a:t>
            </a:r>
          </a:p>
        </p:txBody>
      </p:sp>
    </p:spTree>
  </p:cSld>
  <p:clrMapOvr>
    <a:masterClrMapping/>
  </p:clrMapOvr>
  <p:transition spd="med">
    <p:fade/>
  </p:transition>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تطبيق صغير إلى مشروع في ملف أعمالك</a:t>
            </a:r>
          </a:p>
        </p:txBody>
      </p:sp>
      <p:graphicFrame>
        <p:nvGraphicFramePr>
          <p:cNvPr id="5" name="Table 4"/>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6124575"/>
                <a:gridCol w="44354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المشروع الأكبر لملف أعمالك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 نفذته في الكورس</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حزمة: سياسة ومعيار وإجراء لموضوع واحد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1. مسؤوليات وبند سياسة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سجل مخاطر من 10 مخاطر، ثم 20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2. خطر واحد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تقييم مكوّن فرعي كامل من ECC، مثل 2-⁠2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3. تقييم ضابط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تدقيق مصغر من 3 ملاحظات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4. ملاحظة وخطة تصحيح</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استبيان تقييم مورد وتحليل ردوده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مخاطر الأطراف الخارجية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مصفوفة مواءمة: ECC مقابل ISO 27001 وNIST CSF</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الأطر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181997"/>
            <a:ext cx="10560050" cy="544810"/>
          </a:xfrm>
          <a:prstGeom prst="roundRect">
            <a:avLst>
              <a:gd name="adj" fmla="val 18433"/>
            </a:avLst>
          </a:prstGeom>
          <a:solidFill>
            <a:srgbClr val="FBEAE5"/>
          </a:solidFill>
          <a:ln w="6350">
            <a:solidFill>
              <a:srgbClr val="E7B8AC"/>
            </a:solidFill>
          </a:ln>
        </p:spPr>
        <p:txBody>
          <a:bodyPr rtlCol="0" anchor="ctr"/>
          <a:lstStyle/>
          <a:p>
            <a:pPr algn="ctr"/>
          </a:p>
        </p:txBody>
      </p:sp>
      <p:pic>
        <p:nvPicPr>
          <p:cNvPr id="7" name="Icon Warning 6" descr="icon085.png"/>
          <p:cNvPicPr>
            <a:picLocks noChangeAspect="1"/>
          </p:cNvPicPr>
          <p:nvPr/>
        </p:nvPicPr>
        <p:blipFill>
          <a:blip r:embed="rId2"/>
          <a:stretch>
            <a:fillRect/>
          </a:stretch>
        </p:blipFill>
        <p:spPr>
          <a:xfrm>
            <a:off x="10972800" y="5343227"/>
            <a:ext cx="222250" cy="222250"/>
          </a:xfrm>
          <a:prstGeom prst="rect">
            <a:avLst/>
          </a:prstGeom>
        </p:spPr>
      </p:pic>
      <p:sp>
        <p:nvSpPr>
          <p:cNvPr id="8" name="Text 7"/>
          <p:cNvSpPr txBox="1"/>
          <p:nvPr/>
        </p:nvSpPr>
        <p:spPr>
          <a:xfrm>
            <a:off x="838200" y="5280676"/>
            <a:ext cx="100203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رُفاد، أو جهة افتراضية مثلها، دائماً. لا تنشر وثائق أو بيانات من جهة حقيقية، حتى لو تدربت فيها.</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box 3"/>
          <p:cNvSpPr/>
          <p:nvPr/>
        </p:nvSpPr>
        <p:spPr>
          <a:xfrm>
            <a:off x="7518301"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صفحة تعريفية لكل مشروع</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صفحة واحدة في بداية كل مشروع: يقرؤها مسؤول التوظيف في دقيقة.</a:t>
            </a:r>
          </a:p>
        </p:txBody>
      </p:sp>
      <p:sp>
        <p:nvSpPr>
          <p:cNvPr id="7" name="Rule 6"/>
          <p:cNvSpPr/>
          <p:nvPr/>
        </p:nvSpPr>
        <p:spPr>
          <a:xfrm>
            <a:off x="812800" y="2546945"/>
            <a:ext cx="10566400" cy="31750"/>
          </a:xfrm>
          <a:prstGeom prst="rect">
            <a:avLst/>
          </a:prstGeom>
          <a:solidFill>
            <a:srgbClr val="C9C0AC"/>
          </a:solidFill>
          <a:ln>
            <a:noFill/>
          </a:ln>
        </p:spPr>
        <p:txBody>
          <a:bodyPr rtlCol="0" anchor="ctr"/>
          <a:lstStyle/>
          <a:p>
            <a:pPr algn="ctr"/>
          </a:p>
        </p:txBody>
      </p:sp>
      <p:sp>
        <p:nvSpPr>
          <p:cNvPr id="8" name="Text 7"/>
          <p:cNvSpPr txBox="1"/>
          <p:nvPr/>
        </p:nvSpPr>
        <p:spPr>
          <a:xfrm>
            <a:off x="9817100" y="2679025"/>
            <a:ext cx="1524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عنوان المشروع</a:t>
            </a:r>
          </a:p>
        </p:txBody>
      </p:sp>
      <p:sp>
        <p:nvSpPr>
          <p:cNvPr id="9" name="Text 8"/>
          <p:cNvSpPr txBox="1"/>
          <p:nvPr/>
        </p:nvSpPr>
        <p:spPr>
          <a:xfrm>
            <a:off x="838200" y="26790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مخاطر مصغر لشركة لوجستية افتراضية</a:t>
            </a:r>
          </a:p>
        </p:txBody>
      </p:sp>
      <p:sp>
        <p:nvSpPr>
          <p:cNvPr id="10" name="Text 9"/>
          <p:cNvSpPr txBox="1"/>
          <p:nvPr/>
        </p:nvSpPr>
        <p:spPr>
          <a:xfrm>
            <a:off x="9728200" y="34537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المشكلة</a:t>
            </a:r>
          </a:p>
        </p:txBody>
      </p:sp>
      <p:sp>
        <p:nvSpPr>
          <p:cNvPr id="11" name="Text 10"/>
          <p:cNvSpPr txBox="1"/>
          <p:nvPr/>
        </p:nvSpPr>
        <p:spPr>
          <a:xfrm>
            <a:off x="838200" y="34537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يوجد سجل مخاطر، والإدارة لا تعرف أين تبدأ.</a:t>
            </a:r>
          </a:p>
        </p:txBody>
      </p:sp>
      <p:sp>
        <p:nvSpPr>
          <p:cNvPr id="12" name="Text 11"/>
          <p:cNvSpPr txBox="1"/>
          <p:nvPr/>
        </p:nvSpPr>
        <p:spPr>
          <a:xfrm>
            <a:off x="9728200" y="38728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 فعلته</a:t>
            </a:r>
          </a:p>
        </p:txBody>
      </p:sp>
      <p:sp>
        <p:nvSpPr>
          <p:cNvPr id="13" name="Text 12"/>
          <p:cNvSpPr txBox="1"/>
          <p:nvPr/>
        </p:nvSpPr>
        <p:spPr>
          <a:xfrm>
            <a:off x="838200" y="38728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حددت 10 مخاطر، وقيمتها بمصفوفة NFCRM، واقترحت معالجة لكل خطر عالٍ.</a:t>
            </a:r>
          </a:p>
        </p:txBody>
      </p:sp>
      <p:sp>
        <p:nvSpPr>
          <p:cNvPr id="14" name="Text 13"/>
          <p:cNvSpPr txBox="1"/>
          <p:nvPr/>
        </p:nvSpPr>
        <p:spPr>
          <a:xfrm>
            <a:off x="9728200" y="42919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النتيجة</a:t>
            </a:r>
          </a:p>
        </p:txBody>
      </p:sp>
      <p:sp>
        <p:nvSpPr>
          <p:cNvPr id="15" name="Text 14"/>
          <p:cNvSpPr txBox="1"/>
          <p:nvPr/>
        </p:nvSpPr>
        <p:spPr>
          <a:xfrm>
            <a:off x="838200" y="42919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مخاطر عالية بخطط ومالكين ومواعيد.</a:t>
            </a:r>
          </a:p>
        </p:txBody>
      </p:sp>
      <p:sp>
        <p:nvSpPr>
          <p:cNvPr id="16" name="Text 15"/>
          <p:cNvSpPr txBox="1"/>
          <p:nvPr/>
        </p:nvSpPr>
        <p:spPr>
          <a:xfrm>
            <a:off x="9728200" y="47110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 تعلمته</a:t>
            </a:r>
          </a:p>
        </p:txBody>
      </p:sp>
      <p:sp>
        <p:nvSpPr>
          <p:cNvPr id="17" name="Text 16"/>
          <p:cNvSpPr txBox="1"/>
          <p:nvPr/>
        </p:nvSpPr>
        <p:spPr>
          <a:xfrm>
            <a:off x="838200" y="47110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يغير الاحتمال أو الأثر، لا الاثنين دائماً.</a:t>
            </a:r>
          </a:p>
        </p:txBody>
      </p:sp>
      <p:sp>
        <p:nvSpPr>
          <p:cNvPr id="18" name="Text 17"/>
          <p:cNvSpPr txBox="1"/>
          <p:nvPr/>
        </p:nvSpPr>
        <p:spPr>
          <a:xfrm>
            <a:off x="9728200" y="51301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الملفات</a:t>
            </a:r>
          </a:p>
        </p:txBody>
      </p:sp>
      <p:sp>
        <p:nvSpPr>
          <p:cNvPr id="19" name="Text 18"/>
          <p:cNvSpPr txBox="1"/>
          <p:nvPr/>
        </p:nvSpPr>
        <p:spPr>
          <a:xfrm>
            <a:off x="838200" y="51301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السجل، وصفحة المنهجية. بيانات افتراضية.</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المهارات المطلوبة، وكيف تتدرب عليها</a:t>
            </a:r>
          </a:p>
        </p:txBody>
      </p:sp>
      <p:sp>
        <p:nvSpPr>
          <p:cNvPr id="5" name="Rule 4"/>
          <p:cNvSpPr/>
          <p:nvPr/>
        </p:nvSpPr>
        <p:spPr>
          <a:xfrm>
            <a:off x="6159500" y="1657945"/>
            <a:ext cx="5219700" cy="31750"/>
          </a:xfrm>
          <a:prstGeom prst="rect">
            <a:avLst/>
          </a:prstGeom>
          <a:solidFill>
            <a:srgbClr val="C9C0AC"/>
          </a:solidFill>
          <a:ln>
            <a:noFill/>
          </a:ln>
        </p:spPr>
        <p:txBody>
          <a:bodyPr rtlCol="0" anchor="ctr"/>
          <a:lstStyle/>
          <a:p>
            <a:pPr algn="ctr"/>
          </a:p>
        </p:txBody>
      </p:sp>
      <p:sp>
        <p:nvSpPr>
          <p:cNvPr id="6" name="Text 5"/>
          <p:cNvSpPr txBox="1"/>
          <p:nvPr/>
        </p:nvSpPr>
        <p:spPr>
          <a:xfrm>
            <a:off x="61849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مهارات المجال</a:t>
            </a:r>
          </a:p>
        </p:txBody>
      </p:sp>
      <p:sp>
        <p:nvSpPr>
          <p:cNvPr id="7" name="Text 6"/>
          <p:cNvSpPr txBox="1"/>
          <p:nvPr/>
        </p:nvSpPr>
        <p:spPr>
          <a:xfrm>
            <a:off x="9474200" y="21710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قراءة الأطر</a:t>
            </a:r>
          </a:p>
        </p:txBody>
      </p:sp>
      <p:sp>
        <p:nvSpPr>
          <p:cNvPr id="8" name="Text 7"/>
          <p:cNvSpPr txBox="1"/>
          <p:nvPr/>
        </p:nvSpPr>
        <p:spPr>
          <a:xfrm>
            <a:off x="6184900" y="21710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الأسئلة الأربعة مع كل ضابط</a:t>
            </a:r>
          </a:p>
        </p:txBody>
      </p:sp>
      <p:sp>
        <p:nvSpPr>
          <p:cNvPr id="9" name="Text 8"/>
          <p:cNvSpPr txBox="1"/>
          <p:nvPr/>
        </p:nvSpPr>
        <p:spPr>
          <a:xfrm>
            <a:off x="9474200" y="25774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تقييم المخاطر</a:t>
            </a:r>
          </a:p>
        </p:txBody>
      </p:sp>
      <p:sp>
        <p:nvSpPr>
          <p:cNvPr id="10" name="Text 9"/>
          <p:cNvSpPr txBox="1"/>
          <p:nvPr/>
        </p:nvSpPr>
        <p:spPr>
          <a:xfrm>
            <a:off x="6184900" y="25774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2 ثم مشروع السجل</a:t>
            </a:r>
          </a:p>
        </p:txBody>
      </p:sp>
      <p:sp>
        <p:nvSpPr>
          <p:cNvPr id="11" name="Text 10"/>
          <p:cNvSpPr txBox="1"/>
          <p:nvPr/>
        </p:nvSpPr>
        <p:spPr>
          <a:xfrm>
            <a:off x="9474200" y="29838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فحص الأدلة</a:t>
            </a:r>
          </a:p>
        </p:txBody>
      </p:sp>
      <p:sp>
        <p:nvSpPr>
          <p:cNvPr id="12" name="Text 11"/>
          <p:cNvSpPr txBox="1"/>
          <p:nvPr/>
        </p:nvSpPr>
        <p:spPr>
          <a:xfrm>
            <a:off x="6184900" y="29838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3</a:t>
            </a:r>
          </a:p>
        </p:txBody>
      </p:sp>
      <p:sp>
        <p:nvSpPr>
          <p:cNvPr id="13" name="Text 12"/>
          <p:cNvSpPr txBox="1"/>
          <p:nvPr/>
        </p:nvSpPr>
        <p:spPr>
          <a:xfrm>
            <a:off x="9474200" y="33902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أساسيات تقنية</a:t>
            </a:r>
          </a:p>
        </p:txBody>
      </p:sp>
      <p:sp>
        <p:nvSpPr>
          <p:cNvPr id="14" name="Text 13"/>
          <p:cNvSpPr txBox="1"/>
          <p:nvPr/>
        </p:nvSpPr>
        <p:spPr>
          <a:xfrm>
            <a:off x="6184900" y="33902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الهويات والشبكات والسحابة</a:t>
            </a:r>
          </a:p>
        </p:txBody>
      </p:sp>
      <p:sp>
        <p:nvSpPr>
          <p:cNvPr id="15" name="Text 14"/>
          <p:cNvSpPr txBox="1"/>
          <p:nvPr/>
        </p:nvSpPr>
        <p:spPr>
          <a:xfrm>
            <a:off x="9474200" y="3796625"/>
            <a:ext cx="18669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5E6A75"/>
                </a:solidFill>
                <a:latin typeface="IBM Plex Sans Arabic"/>
                <a:ea typeface="IBM Plex Sans Arabic"/>
                <a:cs typeface="IBM Plex Sans Arabic"/>
              </a:rPr>
              <a:t>Excel</a:t>
            </a:r>
          </a:p>
        </p:txBody>
      </p:sp>
      <p:sp>
        <p:nvSpPr>
          <p:cNvPr id="16" name="Text 15"/>
          <p:cNvSpPr txBox="1"/>
          <p:nvPr/>
        </p:nvSpPr>
        <p:spPr>
          <a:xfrm>
            <a:off x="6184900" y="3796625"/>
            <a:ext cx="33274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الجداول المحورية والتنسيق الشرطي</a:t>
            </a:r>
          </a:p>
        </p:txBody>
      </p:sp>
      <p:sp>
        <p:nvSpPr>
          <p:cNvPr id="17" name="Rule 16"/>
          <p:cNvSpPr/>
          <p:nvPr/>
        </p:nvSpPr>
        <p:spPr>
          <a:xfrm>
            <a:off x="812800" y="1657945"/>
            <a:ext cx="52197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مهارات شخصية، وغالباً هي الفارق</a:t>
            </a:r>
          </a:p>
        </p:txBody>
      </p:sp>
      <p:sp>
        <p:nvSpPr>
          <p:cNvPr id="19" name="Text 18"/>
          <p:cNvSpPr txBox="1"/>
          <p:nvPr/>
        </p:nvSpPr>
        <p:spPr>
          <a:xfrm>
            <a:off x="3937000" y="21710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الكتابة الواضحة</a:t>
            </a:r>
          </a:p>
        </p:txBody>
      </p:sp>
      <p:sp>
        <p:nvSpPr>
          <p:cNvPr id="20" name="Text 19"/>
          <p:cNvSpPr txBox="1"/>
          <p:nvPr/>
        </p:nvSpPr>
        <p:spPr>
          <a:xfrm>
            <a:off x="838200" y="21710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ملاحظة في 3 أسطر بدل 10</a:t>
            </a:r>
          </a:p>
        </p:txBody>
      </p:sp>
      <p:sp>
        <p:nvSpPr>
          <p:cNvPr id="21" name="Text 20"/>
          <p:cNvSpPr txBox="1"/>
          <p:nvPr/>
        </p:nvSpPr>
        <p:spPr>
          <a:xfrm>
            <a:off x="4025900" y="2577425"/>
            <a:ext cx="19685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شرح التقني لغير التقني</a:t>
            </a:r>
          </a:p>
        </p:txBody>
      </p:sp>
      <p:sp>
        <p:nvSpPr>
          <p:cNvPr id="22" name="Text 21"/>
          <p:cNvSpPr txBox="1"/>
          <p:nvPr/>
        </p:nvSpPr>
        <p:spPr>
          <a:xfrm>
            <a:off x="838200" y="25774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خطر في دقيقة لصديق</a:t>
            </a:r>
          </a:p>
        </p:txBody>
      </p:sp>
      <p:sp>
        <p:nvSpPr>
          <p:cNvPr id="23" name="Text 22"/>
          <p:cNvSpPr txBox="1"/>
          <p:nvPr/>
        </p:nvSpPr>
        <p:spPr>
          <a:xfrm>
            <a:off x="3937000" y="33394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الإقناع</a:t>
            </a:r>
          </a:p>
        </p:txBody>
      </p:sp>
      <p:sp>
        <p:nvSpPr>
          <p:cNvPr id="24" name="Text 23"/>
          <p:cNvSpPr txBox="1"/>
          <p:nvPr/>
        </p:nvSpPr>
        <p:spPr>
          <a:xfrm>
            <a:off x="838200" y="33394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اربط التوصية بأثر على العمل</a:t>
            </a:r>
          </a:p>
        </p:txBody>
      </p:sp>
      <p:sp>
        <p:nvSpPr>
          <p:cNvPr id="25" name="Text 24"/>
          <p:cNvSpPr txBox="1"/>
          <p:nvPr/>
        </p:nvSpPr>
        <p:spPr>
          <a:xfrm>
            <a:off x="3937000" y="37458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المتابعة</a:t>
            </a:r>
          </a:p>
        </p:txBody>
      </p:sp>
      <p:sp>
        <p:nvSpPr>
          <p:cNvPr id="26" name="Text 25"/>
          <p:cNvSpPr txBox="1"/>
          <p:nvPr/>
        </p:nvSpPr>
        <p:spPr>
          <a:xfrm>
            <a:off x="838200" y="37458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مالك وموعد لكل شيء</a:t>
            </a:r>
          </a:p>
        </p:txBody>
      </p:sp>
      <p:sp>
        <p:nvSpPr>
          <p:cNvPr id="27" name="Text 26"/>
          <p:cNvSpPr txBox="1"/>
          <p:nvPr/>
        </p:nvSpPr>
        <p:spPr>
          <a:xfrm>
            <a:off x="3937000" y="41522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النزاهة والسرية</a:t>
            </a:r>
          </a:p>
        </p:txBody>
      </p:sp>
      <p:sp>
        <p:nvSpPr>
          <p:cNvPr id="28" name="Text 27"/>
          <p:cNvSpPr txBox="1"/>
          <p:nvPr/>
        </p:nvSpPr>
        <p:spPr>
          <a:xfrm>
            <a:off x="838200" y="41522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مجاملة، ولا إفشاء</a:t>
            </a:r>
          </a:p>
        </p:txBody>
      </p:sp>
      <p:sp>
        <p:nvSpPr>
          <p:cNvPr id="29" name="Box 28"/>
          <p:cNvSpPr/>
          <p:nvPr/>
        </p:nvSpPr>
        <p:spPr>
          <a:xfrm>
            <a:off x="812800" y="5042495"/>
            <a:ext cx="10566400" cy="609600"/>
          </a:xfrm>
          <a:prstGeom prst="roundRect">
            <a:avLst>
              <a:gd name="adj" fmla="val 16666"/>
            </a:avLst>
          </a:prstGeom>
          <a:solidFill>
            <a:srgbClr val="172433"/>
          </a:solidFill>
          <a:ln>
            <a:noFill/>
          </a:ln>
        </p:spPr>
        <p:txBody>
          <a:bodyPr rtlCol="0" anchor="ctr"/>
          <a:lstStyle/>
          <a:p>
            <a:pPr algn="ctr"/>
          </a:p>
        </p:txBody>
      </p:sp>
      <p:pic>
        <p:nvPicPr>
          <p:cNvPr id="30" name="Icon Globe 29" descr="icon086.png"/>
          <p:cNvPicPr>
            <a:picLocks noChangeAspect="1"/>
          </p:cNvPicPr>
          <p:nvPr/>
        </p:nvPicPr>
        <p:blipFill>
          <a:blip r:embed="rId2"/>
          <a:stretch>
            <a:fillRect/>
          </a:stretch>
        </p:blipFill>
        <p:spPr>
          <a:xfrm>
            <a:off x="10934700" y="5213945"/>
            <a:ext cx="266700" cy="266700"/>
          </a:xfrm>
          <a:prstGeom prst="rect">
            <a:avLst/>
          </a:prstGeom>
        </p:spPr>
      </p:pic>
      <p:sp>
        <p:nvSpPr>
          <p:cNvPr id="31" name="Text 30"/>
          <p:cNvSpPr txBox="1"/>
          <p:nvPr/>
        </p:nvSpPr>
        <p:spPr>
          <a:xfrm>
            <a:off x="838200" y="513012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والإنجليزية: أغلب المعايير والاختبارات بها. اقرأ يومياً ولو صفحة.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box 3"/>
          <p:cNvSpPr/>
          <p:nvPr/>
        </p:nvSpPr>
        <p:spPr>
          <a:xfrm>
            <a:off x="69897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صفحة مشروع تقييم الصلاحيات</a:t>
            </a:r>
          </a:p>
        </p:txBody>
      </p:sp>
      <p:sp>
        <p:nvSpPr>
          <p:cNvPr id="6" name="Text 5"/>
          <p:cNvSpPr txBox="1"/>
          <p:nvPr/>
        </p:nvSpPr>
        <p:spPr>
          <a:xfrm>
            <a:off x="0" y="1626449"/>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اكتب صفحة تعريفية لمشروعك من التطبيقين 3 و4: تقييم مراجعة الصلاحيات في رُفاد.</a:t>
            </a:r>
          </a:p>
        </p:txBody>
      </p:sp>
      <p:sp>
        <p:nvSpPr>
          <p:cNvPr id="7" name="Text 6"/>
          <p:cNvSpPr txBox="1"/>
          <p:nvPr/>
        </p:nvSpPr>
        <p:spPr>
          <a:xfrm>
            <a:off x="9596120" y="2105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عنوان المشروع</a:t>
            </a:r>
          </a:p>
        </p:txBody>
      </p:sp>
      <p:sp>
        <p:nvSpPr>
          <p:cNvPr id="8" name="Box 7"/>
          <p:cNvSpPr/>
          <p:nvPr/>
        </p:nvSpPr>
        <p:spPr>
          <a:xfrm>
            <a:off x="819150" y="2139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596120" y="2613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المشكلة</a:t>
            </a:r>
          </a:p>
        </p:txBody>
      </p:sp>
      <p:sp>
        <p:nvSpPr>
          <p:cNvPr id="10" name="Box 9"/>
          <p:cNvSpPr/>
          <p:nvPr/>
        </p:nvSpPr>
        <p:spPr>
          <a:xfrm>
            <a:off x="819150" y="2647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596120" y="3121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ما فعلته</a:t>
            </a:r>
          </a:p>
        </p:txBody>
      </p:sp>
      <p:sp>
        <p:nvSpPr>
          <p:cNvPr id="12" name="Box 11"/>
          <p:cNvSpPr/>
          <p:nvPr/>
        </p:nvSpPr>
        <p:spPr>
          <a:xfrm>
            <a:off x="819150" y="3155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596120" y="3629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النتيجة</a:t>
            </a:r>
          </a:p>
        </p:txBody>
      </p:sp>
      <p:sp>
        <p:nvSpPr>
          <p:cNvPr id="14" name="Box 13"/>
          <p:cNvSpPr/>
          <p:nvPr/>
        </p:nvSpPr>
        <p:spPr>
          <a:xfrm>
            <a:off x="819150" y="3663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9596120" y="4137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ما تعلمته</a:t>
            </a:r>
          </a:p>
        </p:txBody>
      </p:sp>
      <p:sp>
        <p:nvSpPr>
          <p:cNvPr id="16" name="Box 15"/>
          <p:cNvSpPr/>
          <p:nvPr/>
        </p:nvSpPr>
        <p:spPr>
          <a:xfrm>
            <a:off x="819150" y="4171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7" name="Text 16"/>
          <p:cNvSpPr txBox="1"/>
          <p:nvPr/>
        </p:nvSpPr>
        <p:spPr>
          <a:xfrm>
            <a:off x="9596120" y="4645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الملفات المرفقة</a:t>
            </a:r>
          </a:p>
        </p:txBody>
      </p:sp>
      <p:sp>
        <p:nvSpPr>
          <p:cNvPr id="18" name="Box 17"/>
          <p:cNvSpPr/>
          <p:nvPr/>
        </p:nvSpPr>
        <p:spPr>
          <a:xfrm>
            <a:off x="819150" y="4679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0" y="528034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10 دقائق.</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box 3"/>
          <p:cNvSpPr/>
          <p:nvPr/>
        </p:nvSpPr>
        <p:spPr>
          <a:xfrm>
            <a:off x="719683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صفحة المشروع</a:t>
            </a:r>
          </a:p>
        </p:txBody>
      </p:sp>
      <p:sp>
        <p:nvSpPr>
          <p:cNvPr id="6" name="Rule 5"/>
          <p:cNvSpPr/>
          <p:nvPr/>
        </p:nvSpPr>
        <p:spPr>
          <a:xfrm>
            <a:off x="812800" y="1657945"/>
            <a:ext cx="10566400" cy="31750"/>
          </a:xfrm>
          <a:prstGeom prst="rect">
            <a:avLst/>
          </a:prstGeom>
          <a:solidFill>
            <a:srgbClr val="C9C0AC"/>
          </a:solidFill>
          <a:ln>
            <a:noFill/>
          </a:ln>
        </p:spPr>
        <p:txBody>
          <a:bodyPr rtlCol="0" anchor="ctr"/>
          <a:lstStyle/>
          <a:p>
            <a:pPr algn="ctr"/>
          </a:p>
        </p:txBody>
      </p:sp>
      <p:sp>
        <p:nvSpPr>
          <p:cNvPr id="7" name="Text 6"/>
          <p:cNvSpPr txBox="1"/>
          <p:nvPr/>
        </p:nvSpPr>
        <p:spPr>
          <a:xfrm>
            <a:off x="9601200" y="17900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عنوان المشروع</a:t>
            </a:r>
          </a:p>
        </p:txBody>
      </p:sp>
      <p:sp>
        <p:nvSpPr>
          <p:cNvPr id="8" name="Text 7"/>
          <p:cNvSpPr txBox="1"/>
          <p:nvPr/>
        </p:nvSpPr>
        <p:spPr>
          <a:xfrm>
            <a:off x="838200" y="17900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تقييم مراجعة الصلاحيات في نظام الرواتب، شركة افتراضية</a:t>
            </a:r>
          </a:p>
        </p:txBody>
      </p:sp>
      <p:sp>
        <p:nvSpPr>
          <p:cNvPr id="9" name="Text 8"/>
          <p:cNvSpPr txBox="1"/>
          <p:nvPr/>
        </p:nvSpPr>
        <p:spPr>
          <a:xfrm>
            <a:off x="9601200" y="22091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المشكلة</a:t>
            </a:r>
          </a:p>
        </p:txBody>
      </p:sp>
      <p:sp>
        <p:nvSpPr>
          <p:cNvPr id="10" name="Text 9"/>
          <p:cNvSpPr txBox="1"/>
          <p:nvPr/>
        </p:nvSpPr>
        <p:spPr>
          <a:xfrm>
            <a:off x="838200" y="22091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معيار يطلب مراجعة ربع سنوية، ولا نعرف هل تُنفذ فعلاً.</a:t>
            </a:r>
          </a:p>
        </p:txBody>
      </p:sp>
      <p:sp>
        <p:nvSpPr>
          <p:cNvPr id="11" name="Text 10"/>
          <p:cNvSpPr txBox="1"/>
          <p:nvPr/>
        </p:nvSpPr>
        <p:spPr>
          <a:xfrm>
            <a:off x="9601200" y="26282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ما فعلته</a:t>
            </a:r>
          </a:p>
        </p:txBody>
      </p:sp>
      <p:sp>
        <p:nvSpPr>
          <p:cNvPr id="12" name="Text 11"/>
          <p:cNvSpPr txBox="1"/>
          <p:nvPr/>
        </p:nvSpPr>
        <p:spPr>
          <a:xfrm>
            <a:off x="838200" y="26282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حللت 6 أدلة، وحددت نتيجة «مطبق جزئياً»، وكتبت ملاحظة وخطة تصحيح بأربعة إجراءات.</a:t>
            </a:r>
          </a:p>
        </p:txBody>
      </p:sp>
      <p:sp>
        <p:nvSpPr>
          <p:cNvPr id="13" name="Text 12"/>
          <p:cNvSpPr txBox="1"/>
          <p:nvPr/>
        </p:nvSpPr>
        <p:spPr>
          <a:xfrm>
            <a:off x="9601200" y="30473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النتيجة</a:t>
            </a:r>
          </a:p>
        </p:txBody>
      </p:sp>
      <p:sp>
        <p:nvSpPr>
          <p:cNvPr id="14" name="Text 13"/>
          <p:cNvSpPr txBox="1"/>
          <p:nvPr/>
        </p:nvSpPr>
        <p:spPr>
          <a:xfrm>
            <a:off x="838200" y="30473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ملاحظة واحدة بمالكين ومواعيد وأدلة إغلاق، و4 أسئلة متابعة قبل الإغلاق.</a:t>
            </a:r>
          </a:p>
        </p:txBody>
      </p:sp>
      <p:sp>
        <p:nvSpPr>
          <p:cNvPr id="15" name="Text 14"/>
          <p:cNvSpPr txBox="1"/>
          <p:nvPr/>
        </p:nvSpPr>
        <p:spPr>
          <a:xfrm>
            <a:off x="9601200" y="34664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ما تعلمته</a:t>
            </a:r>
          </a:p>
        </p:txBody>
      </p:sp>
      <p:sp>
        <p:nvSpPr>
          <p:cNvPr id="16" name="Text 15"/>
          <p:cNvSpPr txBox="1"/>
          <p:nvPr/>
        </p:nvSpPr>
        <p:spPr>
          <a:xfrm>
            <a:off x="838200" y="34664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وجود المعيار لا يثبت التشغيل، والسبب يحتاج تحققاً قبل كتابته.</a:t>
            </a:r>
          </a:p>
        </p:txBody>
      </p:sp>
      <p:sp>
        <p:nvSpPr>
          <p:cNvPr id="17" name="Text 16"/>
          <p:cNvSpPr txBox="1"/>
          <p:nvPr/>
        </p:nvSpPr>
        <p:spPr>
          <a:xfrm>
            <a:off x="9690100" y="3885525"/>
            <a:ext cx="1651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الملفات المرفقة</a:t>
            </a:r>
          </a:p>
        </p:txBody>
      </p:sp>
      <p:sp>
        <p:nvSpPr>
          <p:cNvPr id="18" name="Text 17"/>
          <p:cNvSpPr txBox="1"/>
          <p:nvPr/>
        </p:nvSpPr>
        <p:spPr>
          <a:xfrm>
            <a:off x="838200" y="38855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ورقة التقييم، ونص الملاحظة، وخطة التصحيح. كلها ببيانات افتراضية.</a:t>
            </a:r>
          </a:p>
        </p:txBody>
      </p:sp>
      <p:sp>
        <p:nvSpPr>
          <p:cNvPr id="19" name="Text 1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20" name="Text 1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خطة البداية وملف الأعمال</a:t>
            </a:r>
          </a:p>
        </p:txBody>
      </p:sp>
      <p:sp>
        <p:nvSpPr>
          <p:cNvPr id="4" name="Text box 3"/>
          <p:cNvSpPr/>
          <p:nvPr/>
        </p:nvSpPr>
        <p:spPr>
          <a:xfrm>
            <a:off x="69897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06</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3</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6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 تنشره في ملف أعمالك وما لا تنشره.</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صفحة المشروع.</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الصدق في وصف المشروع التدريبي.</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06».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خطة البداية وملف الأعمال</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58870" y="1423690"/>
            <a:ext cx="23203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07</a:t>
            </a:r>
          </a:p>
        </p:txBody>
      </p:sp>
      <p:sp>
        <p:nvSpPr>
          <p:cNvPr id="4" name="Text 3"/>
          <p:cNvSpPr txBox="1"/>
          <p:nvPr/>
        </p:nvSpPr>
        <p:spPr>
          <a:xfrm>
            <a:off x="5350629" y="1845155"/>
            <a:ext cx="416544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السيرة الذاتية</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سيرة تقرؤها الأنظمة والبشر، وتقول «أستطيع أن أفعل» لا «أنا مهتم».</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سيرة من صفحة واحدة بالترتيب المناسب للمبتدئ.</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إنجازات بالمعادلة: فعل، ثم ماذا، ثم كيف، ثم النتيجة.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تتجنب الأخطاء الشائعة، وتصوغ خبرتك السابقة بلغة GRC.</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07 · السيرة الذاتية</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188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(1 من 2): الرأس والملخص والمهارات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7" name="Text 6"/>
          <p:cNvSpPr txBox="1"/>
          <p:nvPr/>
        </p:nvSpPr>
        <p:spPr>
          <a:xfrm>
            <a:off x="7705344" y="1588349"/>
            <a:ext cx="330555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العنوان: مسمى الوظيفة التي تستهدفها.</a:t>
            </a:r>
          </a:p>
        </p:txBody>
      </p:sp>
      <p:sp>
        <p:nvSpPr>
          <p:cNvPr id="8" name="Text box 7"/>
          <p:cNvSpPr/>
          <p:nvPr/>
        </p:nvSpPr>
        <p:spPr>
          <a:xfrm>
            <a:off x="11099800" y="203130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9" name="Text 8"/>
          <p:cNvSpPr txBox="1"/>
          <p:nvPr/>
        </p:nvSpPr>
        <p:spPr>
          <a:xfrm>
            <a:off x="7705344" y="1999809"/>
            <a:ext cx="330555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ملخص في سطرين: من أنت، وماذا تجيد.</a:t>
            </a:r>
          </a:p>
        </p:txBody>
      </p:sp>
      <p:sp>
        <p:nvSpPr>
          <p:cNvPr id="10" name="Text box 9"/>
          <p:cNvSpPr/>
          <p:nvPr/>
        </p:nvSpPr>
        <p:spPr>
          <a:xfrm>
            <a:off x="11099800" y="244276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11" name="Text 10"/>
          <p:cNvSpPr txBox="1"/>
          <p:nvPr/>
        </p:nvSpPr>
        <p:spPr>
          <a:xfrm>
            <a:off x="7858379" y="2411270"/>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المهارات بكلمات الإعلان نفسها، إن كانت صادقة عنك.</a:t>
            </a:r>
          </a:p>
        </p:txBody>
      </p:sp>
      <p:sp>
        <p:nvSpPr>
          <p:cNvPr id="12" name="Box 11"/>
          <p:cNvSpPr/>
          <p:nvPr/>
        </p:nvSpPr>
        <p:spPr>
          <a:xfrm>
            <a:off x="815975" y="1623020"/>
            <a:ext cx="6902450" cy="3399532"/>
          </a:xfrm>
          <a:prstGeom prst="roundRect">
            <a:avLst>
              <a:gd name="adj" fmla="val 1491"/>
            </a:avLst>
          </a:prstGeom>
          <a:solidFill>
            <a:srgbClr val="FFFFFF"/>
          </a:solidFill>
          <a:ln w="6350">
            <a:solidFill>
              <a:srgbClr val="D9D2C2"/>
            </a:solidFill>
          </a:ln>
        </p:spPr>
        <p:txBody>
          <a:bodyPr rtlCol="0" anchor="ctr"/>
          <a:lstStyle/>
          <a:p>
            <a:pPr algn="ctr"/>
          </a:p>
        </p:txBody>
      </p:sp>
      <p:sp>
        <p:nvSpPr>
          <p:cNvPr id="13" name="Rule 12"/>
          <p:cNvSpPr/>
          <p:nvPr/>
        </p:nvSpPr>
        <p:spPr>
          <a:xfrm>
            <a:off x="1047750" y="2934196"/>
            <a:ext cx="6438900" cy="12700"/>
          </a:xfrm>
          <a:prstGeom prst="rect">
            <a:avLst/>
          </a:prstGeom>
          <a:solidFill>
            <a:srgbClr val="172433"/>
          </a:solidFill>
          <a:ln>
            <a:noFill/>
          </a:ln>
        </p:spPr>
        <p:txBody>
          <a:bodyPr rtlCol="0" anchor="ctr"/>
          <a:lstStyle/>
          <a:p>
            <a:pPr algn="ctr"/>
          </a:p>
        </p:txBody>
      </p:sp>
      <p:sp>
        <p:nvSpPr>
          <p:cNvPr id="14" name="Text 13"/>
          <p:cNvSpPr txBox="1"/>
          <p:nvPr/>
        </p:nvSpPr>
        <p:spPr>
          <a:xfrm>
            <a:off x="1047750" y="1799042"/>
            <a:ext cx="6438900" cy="396180"/>
          </a:xfrm>
          <a:prstGeom prst="rect">
            <a:avLst/>
          </a:prstGeom>
          <a:noFill/>
        </p:spPr>
        <p:txBody>
          <a:bodyPr wrap="square" tIns="0" rIns="0" bIns="0" lIns="0" anchor="t" rtlCol="0" anchorCtr="0">
            <a:noAutofit/>
          </a:bodyPr>
          <a:lstStyle/>
          <a:p>
            <a:pPr algn="l">
              <a:lnSpc>
                <a:spcPts val="3120"/>
              </a:lnSpc>
              <a:spcBef>
                <a:spcPts val="0"/>
              </a:spcBef>
              <a:spcAft>
                <a:spcPts val="0"/>
              </a:spcAft>
            </a:pPr>
            <a:r>
              <a:rPr sz="2600" b="1" i="0">
                <a:solidFill>
                  <a:srgbClr val="172433"/>
                </a:solidFill>
                <a:latin typeface="Readex Pro"/>
                <a:ea typeface="Readex Pro"/>
                <a:cs typeface="Readex Pro"/>
              </a:rPr>
              <a:t>Sara Ahmed</a:t>
            </a:r>
          </a:p>
        </p:txBody>
      </p:sp>
      <p:sp>
        <p:nvSpPr>
          <p:cNvPr id="15" name="Text 14"/>
          <p:cNvSpPr txBox="1"/>
          <p:nvPr/>
        </p:nvSpPr>
        <p:spPr>
          <a:xfrm>
            <a:off x="1047750" y="2206780"/>
            <a:ext cx="4815816"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Entry-Level GRC Analyst | Risk · Control Testing</a:t>
            </a:r>
          </a:p>
        </p:txBody>
      </p:sp>
      <p:sp>
        <p:nvSpPr>
          <p:cNvPr id="16" name="Text box 15"/>
          <p:cNvSpPr/>
          <p:nvPr/>
        </p:nvSpPr>
        <p:spPr>
          <a:xfrm>
            <a:off x="5583039" y="2253456"/>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17" name="Text 16"/>
          <p:cNvSpPr txBox="1"/>
          <p:nvPr/>
        </p:nvSpPr>
        <p:spPr>
          <a:xfrm>
            <a:off x="1047750" y="2529340"/>
            <a:ext cx="64389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5E6A75"/>
                </a:solidFill>
                <a:latin typeface="IBM Plex Sans Arabic"/>
                <a:ea typeface="IBM Plex Sans Arabic"/>
                <a:cs typeface="IBM Plex Sans Arabic"/>
              </a:rPr>
              <a:t>Riyadh · sara.ahmed@email.com · linkedin.com/in/sara-ahmed-grc</a:t>
            </a:r>
          </a:p>
        </p:txBody>
      </p:sp>
      <p:sp>
        <p:nvSpPr>
          <p:cNvPr id="18" name="Text 17"/>
          <p:cNvSpPr txBox="1"/>
          <p:nvPr/>
        </p:nvSpPr>
        <p:spPr>
          <a:xfrm>
            <a:off x="1047750" y="3014460"/>
            <a:ext cx="1166991"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SUMMARY</a:t>
            </a:r>
          </a:p>
        </p:txBody>
      </p:sp>
      <p:sp>
        <p:nvSpPr>
          <p:cNvPr id="19" name="Text box 18"/>
          <p:cNvSpPr/>
          <p:nvPr/>
        </p:nvSpPr>
        <p:spPr>
          <a:xfrm>
            <a:off x="2169021" y="3040856"/>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20" name="Text 19"/>
          <p:cNvSpPr txBox="1"/>
          <p:nvPr/>
        </p:nvSpPr>
        <p:spPr>
          <a:xfrm>
            <a:off x="1047750" y="329382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Entry-level GRC analyst with hands-on risk assessment and control testing projects. ISC2 CC.</a:t>
            </a:r>
          </a:p>
        </p:txBody>
      </p:sp>
      <p:sp>
        <p:nvSpPr>
          <p:cNvPr id="21" name="Text 20"/>
          <p:cNvSpPr txBox="1"/>
          <p:nvPr/>
        </p:nvSpPr>
        <p:spPr>
          <a:xfrm>
            <a:off x="1047750" y="3961801"/>
            <a:ext cx="85822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SKILLS</a:t>
            </a:r>
          </a:p>
        </p:txBody>
      </p:sp>
      <p:sp>
        <p:nvSpPr>
          <p:cNvPr id="22" name="Text box 21"/>
          <p:cNvSpPr/>
          <p:nvPr/>
        </p:nvSpPr>
        <p:spPr>
          <a:xfrm>
            <a:off x="1860252" y="3988197"/>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23" name="Text 22"/>
          <p:cNvSpPr txBox="1"/>
          <p:nvPr/>
        </p:nvSpPr>
        <p:spPr>
          <a:xfrm>
            <a:off x="1047750" y="4241161"/>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Risk Assessment · Control Testing · ISO 27001 · NIST CSF · NCA ECC · Excel</a:t>
            </a:r>
          </a:p>
        </p:txBody>
      </p:sp>
      <p:sp>
        <p:nvSpPr>
          <p:cNvPr id="24" name="Text 23"/>
          <p:cNvSpPr txBox="1"/>
          <p:nvPr/>
        </p:nvSpPr>
        <p:spPr>
          <a:xfrm>
            <a:off x="260096" y="5061668"/>
            <a:ext cx="7461504"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نموذج تعليمي: الجزء الأعلى من سيرة من صفحة واحدة، والاسم والبيانات افتراضية.</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189</a:t>
            </a:r>
          </a:p>
        </p:txBody>
      </p:sp>
    </p:spTree>
  </p:cSld>
  <p:clrMapOvr>
    <a:masterClrMapping/>
  </p:clrMapOvr>
  <p:transition spd="med">
    <p:fade/>
  </p:transition>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(2 من 2): المشاريع والتعليم والشهادات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7" name="Text 6"/>
          <p:cNvSpPr txBox="1"/>
          <p:nvPr/>
        </p:nvSpPr>
        <p:spPr>
          <a:xfrm>
            <a:off x="7858379" y="1588349"/>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المشاريع قبل التعليم إن لم تكن لديك خبرة.</a:t>
            </a:r>
          </a:p>
        </p:txBody>
      </p:sp>
      <p:sp>
        <p:nvSpPr>
          <p:cNvPr id="8" name="Text box 7"/>
          <p:cNvSpPr/>
          <p:nvPr/>
        </p:nvSpPr>
        <p:spPr>
          <a:xfrm>
            <a:off x="11099800" y="231576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9" name="Text 8"/>
          <p:cNvSpPr txBox="1"/>
          <p:nvPr/>
        </p:nvSpPr>
        <p:spPr>
          <a:xfrm>
            <a:off x="7858379" y="2284270"/>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الشهادات باسمها والسنة. «قيد الدراسة» مع موعد مقبولة.</a:t>
            </a:r>
          </a:p>
        </p:txBody>
      </p:sp>
      <p:sp>
        <p:nvSpPr>
          <p:cNvPr id="10" name="Box 9"/>
          <p:cNvSpPr/>
          <p:nvPr/>
        </p:nvSpPr>
        <p:spPr>
          <a:xfrm>
            <a:off x="7950200" y="3011686"/>
            <a:ext cx="3429000" cy="1107380"/>
          </a:xfrm>
          <a:prstGeom prst="roundRect">
            <a:avLst>
              <a:gd name="adj" fmla="val 9174"/>
            </a:avLst>
          </a:prstGeom>
          <a:solidFill>
            <a:srgbClr val="172433"/>
          </a:solidFill>
          <a:ln>
            <a:noFill/>
          </a:ln>
        </p:spPr>
        <p:txBody>
          <a:bodyPr rtlCol="0" anchor="ctr"/>
          <a:lstStyle/>
          <a:p>
            <a:pPr algn="ctr"/>
          </a:p>
        </p:txBody>
      </p:sp>
      <p:pic>
        <p:nvPicPr>
          <p:cNvPr id="11" name="Icon Book 10" descr="icon087.png"/>
          <p:cNvPicPr>
            <a:picLocks noChangeAspect="1"/>
          </p:cNvPicPr>
          <p:nvPr/>
        </p:nvPicPr>
        <p:blipFill>
          <a:blip r:embed="rId2"/>
          <a:stretch>
            <a:fillRect/>
          </a:stretch>
        </p:blipFill>
        <p:spPr>
          <a:xfrm>
            <a:off x="10998200" y="3463727"/>
            <a:ext cx="203200" cy="203200"/>
          </a:xfrm>
          <a:prstGeom prst="rect">
            <a:avLst/>
          </a:prstGeom>
        </p:spPr>
      </p:pic>
      <p:sp>
        <p:nvSpPr>
          <p:cNvPr id="12" name="Text 11"/>
          <p:cNvSpPr txBox="1"/>
          <p:nvPr/>
        </p:nvSpPr>
        <p:spPr>
          <a:xfrm>
            <a:off x="8045323" y="3107190"/>
            <a:ext cx="2838577" cy="85338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F3EFE6"/>
                </a:solidFill>
                <a:latin typeface="IBM Plex Sans Arabic"/>
                <a:ea typeface="IBM Plex Sans Arabic"/>
                <a:cs typeface="IBM Plex Sans Arabic"/>
              </a:rPr>
              <a:t>صفحة واحدة للمبتدئ. بلا صورة ولا عمر ولا حالة اجتماعية، إلا إن طلبها الإعلان.</a:t>
            </a:r>
          </a:p>
        </p:txBody>
      </p:sp>
      <p:sp>
        <p:nvSpPr>
          <p:cNvPr id="13" name="Box 12"/>
          <p:cNvSpPr/>
          <p:nvPr/>
        </p:nvSpPr>
        <p:spPr>
          <a:xfrm>
            <a:off x="815975" y="1623020"/>
            <a:ext cx="6902450" cy="3160812"/>
          </a:xfrm>
          <a:prstGeom prst="roundRect">
            <a:avLst>
              <a:gd name="adj" fmla="val 1603"/>
            </a:avLst>
          </a:prstGeom>
          <a:solidFill>
            <a:srgbClr val="FFFFFF"/>
          </a:solidFill>
          <a:ln w="6350">
            <a:solidFill>
              <a:srgbClr val="D9D2C2"/>
            </a:solidFill>
          </a:ln>
        </p:spPr>
        <p:txBody>
          <a:bodyPr rtlCol="0" anchor="ctr"/>
          <a:lstStyle/>
          <a:p>
            <a:pPr algn="ctr"/>
          </a:p>
        </p:txBody>
      </p:sp>
      <p:sp>
        <p:nvSpPr>
          <p:cNvPr id="14" name="Text 13"/>
          <p:cNvSpPr txBox="1"/>
          <p:nvPr/>
        </p:nvSpPr>
        <p:spPr>
          <a:xfrm>
            <a:off x="1047750" y="1782659"/>
            <a:ext cx="1192193"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PROJECTS</a:t>
            </a:r>
          </a:p>
        </p:txBody>
      </p:sp>
      <p:sp>
        <p:nvSpPr>
          <p:cNvPr id="15" name="Text box 14"/>
          <p:cNvSpPr/>
          <p:nvPr/>
        </p:nvSpPr>
        <p:spPr>
          <a:xfrm>
            <a:off x="2194223" y="1809055"/>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16" name="Text 15"/>
          <p:cNvSpPr txBox="1"/>
          <p:nvPr/>
        </p:nvSpPr>
        <p:spPr>
          <a:xfrm>
            <a:off x="1047750" y="2062020"/>
            <a:ext cx="66484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Vendor Access Risk · Fictional 200-staff company</a:t>
            </a:r>
          </a:p>
        </p:txBody>
      </p:sp>
      <p:sp>
        <p:nvSpPr>
          <p:cNvPr id="17" name="Text 16"/>
          <p:cNvSpPr txBox="1"/>
          <p:nvPr/>
        </p:nvSpPr>
        <p:spPr>
          <a:xfrm>
            <a:off x="1047750" y="237188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 Rated a vendor remote-access risk High (16); proposed 5 actions with owners.</a:t>
            </a:r>
          </a:p>
        </p:txBody>
      </p:sp>
      <p:sp>
        <p:nvSpPr>
          <p:cNvPr id="18" name="Text 17"/>
          <p:cNvSpPr txBox="1"/>
          <p:nvPr/>
        </p:nvSpPr>
        <p:spPr>
          <a:xfrm>
            <a:off x="1047750" y="2966200"/>
            <a:ext cx="66484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Access Review Assessment · Same company</a:t>
            </a:r>
          </a:p>
        </p:txBody>
      </p:sp>
      <p:sp>
        <p:nvSpPr>
          <p:cNvPr id="19" name="Text 18"/>
          <p:cNvSpPr txBox="1"/>
          <p:nvPr/>
        </p:nvSpPr>
        <p:spPr>
          <a:xfrm>
            <a:off x="1047750" y="327606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 Tested 6 evidence items; wrote a finding with a 4-step corrective plan.</a:t>
            </a:r>
          </a:p>
        </p:txBody>
      </p:sp>
      <p:sp>
        <p:nvSpPr>
          <p:cNvPr id="20" name="Text 19"/>
          <p:cNvSpPr txBox="1"/>
          <p:nvPr/>
        </p:nvSpPr>
        <p:spPr>
          <a:xfrm>
            <a:off x="1047750" y="4007541"/>
            <a:ext cx="133963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EDUCATION</a:t>
            </a:r>
          </a:p>
        </p:txBody>
      </p:sp>
      <p:sp>
        <p:nvSpPr>
          <p:cNvPr id="21" name="Text 20"/>
          <p:cNvSpPr txBox="1"/>
          <p:nvPr/>
        </p:nvSpPr>
        <p:spPr>
          <a:xfrm>
            <a:off x="1047750" y="4286901"/>
            <a:ext cx="3380994"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B.Sc. Information Systems, 2025</a:t>
            </a:r>
          </a:p>
        </p:txBody>
      </p:sp>
      <p:sp>
        <p:nvSpPr>
          <p:cNvPr id="22" name="Text 21"/>
          <p:cNvSpPr txBox="1"/>
          <p:nvPr/>
        </p:nvSpPr>
        <p:spPr>
          <a:xfrm>
            <a:off x="4356100" y="4007541"/>
            <a:ext cx="191188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CERTIFICATIONS</a:t>
            </a:r>
          </a:p>
        </p:txBody>
      </p:sp>
      <p:sp>
        <p:nvSpPr>
          <p:cNvPr id="23" name="Text box 22"/>
          <p:cNvSpPr/>
          <p:nvPr/>
        </p:nvSpPr>
        <p:spPr>
          <a:xfrm>
            <a:off x="6202561" y="4033937"/>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24" name="Text 23"/>
          <p:cNvSpPr txBox="1"/>
          <p:nvPr/>
        </p:nvSpPr>
        <p:spPr>
          <a:xfrm>
            <a:off x="4356100" y="4286901"/>
            <a:ext cx="33401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ISC2 CC, 2026</a:t>
            </a:r>
          </a:p>
        </p:txBody>
      </p:sp>
      <p:sp>
        <p:nvSpPr>
          <p:cNvPr id="25" name="Text 24"/>
          <p:cNvSpPr txBox="1"/>
          <p:nvPr/>
        </p:nvSpPr>
        <p:spPr>
          <a:xfrm>
            <a:off x="260096" y="4822948"/>
            <a:ext cx="7461504"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بقية الصفحة نفسها. نموذج تعليمي ببيانات افتراضية.</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أنظمة الفرز (ATS): البسيط أضمن</a:t>
            </a:r>
          </a:p>
        </p:txBody>
      </p:sp>
      <p:sp>
        <p:nvSpPr>
          <p:cNvPr id="5" name="Rule 4"/>
          <p:cNvSpPr/>
          <p:nvPr/>
        </p:nvSpPr>
        <p:spPr>
          <a:xfrm>
            <a:off x="9554567" y="1657945"/>
            <a:ext cx="1824633" cy="31750"/>
          </a:xfrm>
          <a:prstGeom prst="rect">
            <a:avLst/>
          </a:prstGeom>
          <a:solidFill>
            <a:srgbClr val="0E7C6B"/>
          </a:solidFill>
          <a:ln>
            <a:noFill/>
          </a:ln>
        </p:spPr>
        <p:txBody>
          <a:bodyPr rtlCol="0" anchor="ctr"/>
          <a:lstStyle/>
          <a:p>
            <a:pPr algn="ctr"/>
          </a:p>
        </p:txBody>
      </p:sp>
      <p:sp>
        <p:nvSpPr>
          <p:cNvPr id="6" name="Text 5"/>
          <p:cNvSpPr txBox="1"/>
          <p:nvPr/>
        </p:nvSpPr>
        <p:spPr>
          <a:xfrm>
            <a:off x="9579967"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1</a:t>
            </a:r>
          </a:p>
        </p:txBody>
      </p:sp>
      <p:sp>
        <p:nvSpPr>
          <p:cNvPr id="7" name="Text 6"/>
          <p:cNvSpPr txBox="1"/>
          <p:nvPr/>
        </p:nvSpPr>
        <p:spPr>
          <a:xfrm>
            <a:off x="9579967"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ترسل السيرة</a:t>
            </a:r>
          </a:p>
        </p:txBody>
      </p:sp>
      <p:sp>
        <p:nvSpPr>
          <p:cNvPr id="8" name="Text 7"/>
          <p:cNvSpPr txBox="1"/>
          <p:nvPr/>
        </p:nvSpPr>
        <p:spPr>
          <a:xfrm>
            <a:off x="9117608"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Rule 8"/>
          <p:cNvSpPr/>
          <p:nvPr/>
        </p:nvSpPr>
        <p:spPr>
          <a:xfrm>
            <a:off x="7369175" y="1657945"/>
            <a:ext cx="1824633" cy="31750"/>
          </a:xfrm>
          <a:prstGeom prst="rect">
            <a:avLst/>
          </a:prstGeom>
          <a:solidFill>
            <a:srgbClr val="0E7C6B"/>
          </a:solidFill>
          <a:ln>
            <a:noFill/>
          </a:ln>
        </p:spPr>
        <p:txBody>
          <a:bodyPr rtlCol="0" anchor="ctr"/>
          <a:lstStyle/>
          <a:p>
            <a:pPr algn="ctr"/>
          </a:p>
        </p:txBody>
      </p:sp>
      <p:sp>
        <p:nvSpPr>
          <p:cNvPr id="10" name="Text 9"/>
          <p:cNvSpPr txBox="1"/>
          <p:nvPr/>
        </p:nvSpPr>
        <p:spPr>
          <a:xfrm>
            <a:off x="7394575"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2</a:t>
            </a:r>
          </a:p>
        </p:txBody>
      </p:sp>
      <p:sp>
        <p:nvSpPr>
          <p:cNvPr id="11" name="Text 10"/>
          <p:cNvSpPr txBox="1"/>
          <p:nvPr/>
        </p:nvSpPr>
        <p:spPr>
          <a:xfrm>
            <a:off x="7394575" y="2132036"/>
            <a:ext cx="1761133"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يستخرج النظام النص</a:t>
            </a:r>
          </a:p>
        </p:txBody>
      </p:sp>
      <p:sp>
        <p:nvSpPr>
          <p:cNvPr id="12" name="Text 11"/>
          <p:cNvSpPr txBox="1"/>
          <p:nvPr/>
        </p:nvSpPr>
        <p:spPr>
          <a:xfrm>
            <a:off x="6932216"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Rule 12"/>
          <p:cNvSpPr/>
          <p:nvPr/>
        </p:nvSpPr>
        <p:spPr>
          <a:xfrm>
            <a:off x="5183783" y="1657945"/>
            <a:ext cx="1824633" cy="31750"/>
          </a:xfrm>
          <a:prstGeom prst="rect">
            <a:avLst/>
          </a:prstGeom>
          <a:solidFill>
            <a:srgbClr val="0E7C6B"/>
          </a:solidFill>
          <a:ln>
            <a:noFill/>
          </a:ln>
        </p:spPr>
        <p:txBody>
          <a:bodyPr rtlCol="0" anchor="ctr"/>
          <a:lstStyle/>
          <a:p>
            <a:pPr algn="ctr"/>
          </a:p>
        </p:txBody>
      </p:sp>
      <p:sp>
        <p:nvSpPr>
          <p:cNvPr id="14" name="Text 13"/>
          <p:cNvSpPr txBox="1"/>
          <p:nvPr/>
        </p:nvSpPr>
        <p:spPr>
          <a:xfrm>
            <a:off x="5209183"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3</a:t>
            </a:r>
          </a:p>
        </p:txBody>
      </p:sp>
      <p:sp>
        <p:nvSpPr>
          <p:cNvPr id="15" name="Text 14"/>
          <p:cNvSpPr txBox="1"/>
          <p:nvPr/>
        </p:nvSpPr>
        <p:spPr>
          <a:xfrm>
            <a:off x="5209183"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يقارن بالإعلان</a:t>
            </a:r>
          </a:p>
        </p:txBody>
      </p:sp>
      <p:sp>
        <p:nvSpPr>
          <p:cNvPr id="16" name="Text 15"/>
          <p:cNvSpPr txBox="1"/>
          <p:nvPr/>
        </p:nvSpPr>
        <p:spPr>
          <a:xfrm>
            <a:off x="4746823"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Rule 16"/>
          <p:cNvSpPr/>
          <p:nvPr/>
        </p:nvSpPr>
        <p:spPr>
          <a:xfrm>
            <a:off x="2998391" y="1657945"/>
            <a:ext cx="1824633" cy="31750"/>
          </a:xfrm>
          <a:prstGeom prst="rect">
            <a:avLst/>
          </a:prstGeom>
          <a:solidFill>
            <a:srgbClr val="0E7C6B"/>
          </a:solidFill>
          <a:ln>
            <a:noFill/>
          </a:ln>
        </p:spPr>
        <p:txBody>
          <a:bodyPr rtlCol="0" anchor="ctr"/>
          <a:lstStyle/>
          <a:p>
            <a:pPr algn="ctr"/>
          </a:p>
        </p:txBody>
      </p:sp>
      <p:sp>
        <p:nvSpPr>
          <p:cNvPr id="18" name="Text 17"/>
          <p:cNvSpPr txBox="1"/>
          <p:nvPr/>
        </p:nvSpPr>
        <p:spPr>
          <a:xfrm>
            <a:off x="3023791"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4</a:t>
            </a:r>
          </a:p>
        </p:txBody>
      </p:sp>
      <p:sp>
        <p:nvSpPr>
          <p:cNvPr id="19" name="Text 18"/>
          <p:cNvSpPr txBox="1"/>
          <p:nvPr/>
        </p:nvSpPr>
        <p:spPr>
          <a:xfrm>
            <a:off x="3023791"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يرتب أو يصفّي</a:t>
            </a:r>
          </a:p>
        </p:txBody>
      </p:sp>
      <p:sp>
        <p:nvSpPr>
          <p:cNvPr id="20" name="Text 19"/>
          <p:cNvSpPr txBox="1"/>
          <p:nvPr/>
        </p:nvSpPr>
        <p:spPr>
          <a:xfrm>
            <a:off x="2561431"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812998" y="1657945"/>
            <a:ext cx="1824633" cy="31750"/>
          </a:xfrm>
          <a:prstGeom prst="rect">
            <a:avLst/>
          </a:prstGeom>
          <a:solidFill>
            <a:srgbClr val="0E7C6B"/>
          </a:solidFill>
          <a:ln>
            <a:noFill/>
          </a:ln>
        </p:spPr>
        <p:txBody>
          <a:bodyPr rtlCol="0" anchor="ctr"/>
          <a:lstStyle/>
          <a:p>
            <a:pPr algn="ctr"/>
          </a:p>
        </p:txBody>
      </p:sp>
      <p:sp>
        <p:nvSpPr>
          <p:cNvPr id="22" name="Text 21"/>
          <p:cNvSpPr txBox="1"/>
          <p:nvPr/>
        </p:nvSpPr>
        <p:spPr>
          <a:xfrm>
            <a:off x="838398"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5</a:t>
            </a:r>
          </a:p>
        </p:txBody>
      </p:sp>
      <p:sp>
        <p:nvSpPr>
          <p:cNvPr id="23" name="Text 22"/>
          <p:cNvSpPr txBox="1"/>
          <p:nvPr/>
        </p:nvSpPr>
        <p:spPr>
          <a:xfrm>
            <a:off x="838398"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يقرأ إنسان</a:t>
            </a:r>
          </a:p>
        </p:txBody>
      </p:sp>
      <p:sp>
        <p:nvSpPr>
          <p:cNvPr id="24" name="Rule 23"/>
          <p:cNvSpPr/>
          <p:nvPr/>
        </p:nvSpPr>
        <p:spPr>
          <a:xfrm>
            <a:off x="6153150" y="2957116"/>
            <a:ext cx="5226050" cy="31750"/>
          </a:xfrm>
          <a:prstGeom prst="rect">
            <a:avLst/>
          </a:prstGeom>
          <a:solidFill>
            <a:srgbClr val="C9C0AC"/>
          </a:solidFill>
          <a:ln>
            <a:noFill/>
          </a:ln>
        </p:spPr>
        <p:txBody>
          <a:bodyPr rtlCol="0" anchor="ctr"/>
          <a:lstStyle/>
          <a:p>
            <a:pPr algn="ctr"/>
          </a:p>
        </p:txBody>
      </p:sp>
      <p:sp>
        <p:nvSpPr>
          <p:cNvPr id="25" name="Text 24"/>
          <p:cNvSpPr txBox="1"/>
          <p:nvPr/>
        </p:nvSpPr>
        <p:spPr>
          <a:xfrm>
            <a:off x="6178550" y="3118406"/>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يقلل احتمال الخطأ</a:t>
            </a:r>
          </a:p>
        </p:txBody>
      </p:sp>
      <p:pic>
        <p:nvPicPr>
          <p:cNvPr id="26" name="Icon Check 25" descr="icon088.png"/>
          <p:cNvPicPr>
            <a:picLocks noChangeAspect="1"/>
          </p:cNvPicPr>
          <p:nvPr/>
        </p:nvPicPr>
        <p:blipFill>
          <a:blip r:embed="rId2"/>
          <a:stretch>
            <a:fillRect/>
          </a:stretch>
        </p:blipFill>
        <p:spPr>
          <a:xfrm>
            <a:off x="11131550" y="3509566"/>
            <a:ext cx="209550" cy="209550"/>
          </a:xfrm>
          <a:prstGeom prst="rect">
            <a:avLst/>
          </a:prstGeom>
        </p:spPr>
      </p:pic>
      <p:sp>
        <p:nvSpPr>
          <p:cNvPr id="27" name="Text 26"/>
          <p:cNvSpPr txBox="1"/>
          <p:nvPr/>
        </p:nvSpPr>
        <p:spPr>
          <a:xfrm>
            <a:off x="6178550" y="347413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ملف نصي، لا صورة ممسوحة</a:t>
            </a:r>
          </a:p>
        </p:txBody>
      </p:sp>
      <p:pic>
        <p:nvPicPr>
          <p:cNvPr id="28" name="Icon Check 27" descr="icon088.png"/>
          <p:cNvPicPr>
            <a:picLocks noChangeAspect="1"/>
          </p:cNvPicPr>
          <p:nvPr/>
        </p:nvPicPr>
        <p:blipFill>
          <a:blip r:embed="rId2"/>
          <a:stretch>
            <a:fillRect/>
          </a:stretch>
        </p:blipFill>
        <p:spPr>
          <a:xfrm>
            <a:off x="11131550" y="3880346"/>
            <a:ext cx="209550" cy="209550"/>
          </a:xfrm>
          <a:prstGeom prst="rect">
            <a:avLst/>
          </a:prstGeom>
        </p:spPr>
      </p:pic>
      <p:sp>
        <p:nvSpPr>
          <p:cNvPr id="29" name="Text 28"/>
          <p:cNvSpPr txBox="1"/>
          <p:nvPr/>
        </p:nvSpPr>
        <p:spPr>
          <a:xfrm>
            <a:off x="6178550" y="384491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عناوين قياسية: Experience وSkills</a:t>
            </a:r>
          </a:p>
        </p:txBody>
      </p:sp>
      <p:pic>
        <p:nvPicPr>
          <p:cNvPr id="30" name="Icon Check 29" descr="icon088.png"/>
          <p:cNvPicPr>
            <a:picLocks noChangeAspect="1"/>
          </p:cNvPicPr>
          <p:nvPr/>
        </p:nvPicPr>
        <p:blipFill>
          <a:blip r:embed="rId2"/>
          <a:stretch>
            <a:fillRect/>
          </a:stretch>
        </p:blipFill>
        <p:spPr>
          <a:xfrm>
            <a:off x="11131550" y="4251127"/>
            <a:ext cx="209550" cy="209550"/>
          </a:xfrm>
          <a:prstGeom prst="rect">
            <a:avLst/>
          </a:prstGeom>
        </p:spPr>
      </p:pic>
      <p:sp>
        <p:nvSpPr>
          <p:cNvPr id="31" name="Text 30"/>
          <p:cNvSpPr txBox="1"/>
          <p:nvPr/>
        </p:nvSpPr>
        <p:spPr>
          <a:xfrm>
            <a:off x="6178550" y="421569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مصطلحات الإعلان إن كانت صادقة عنك</a:t>
            </a:r>
          </a:p>
        </p:txBody>
      </p:sp>
      <p:pic>
        <p:nvPicPr>
          <p:cNvPr id="32" name="Icon Check 31" descr="icon088.png"/>
          <p:cNvPicPr>
            <a:picLocks noChangeAspect="1"/>
          </p:cNvPicPr>
          <p:nvPr/>
        </p:nvPicPr>
        <p:blipFill>
          <a:blip r:embed="rId2"/>
          <a:stretch>
            <a:fillRect/>
          </a:stretch>
        </p:blipFill>
        <p:spPr>
          <a:xfrm>
            <a:off x="11131550" y="4621907"/>
            <a:ext cx="209550" cy="209550"/>
          </a:xfrm>
          <a:prstGeom prst="rect">
            <a:avLst/>
          </a:prstGeom>
        </p:spPr>
      </p:pic>
      <p:sp>
        <p:nvSpPr>
          <p:cNvPr id="33" name="Text 32"/>
          <p:cNvSpPr txBox="1"/>
          <p:nvPr/>
        </p:nvSpPr>
        <p:spPr>
          <a:xfrm>
            <a:off x="6178550" y="458647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عمود واحد ومعلومات الاتصال في المتن</a:t>
            </a:r>
          </a:p>
        </p:txBody>
      </p:sp>
      <p:sp>
        <p:nvSpPr>
          <p:cNvPr id="34" name="Rule 33"/>
          <p:cNvSpPr/>
          <p:nvPr/>
        </p:nvSpPr>
        <p:spPr>
          <a:xfrm>
            <a:off x="812800" y="2957116"/>
            <a:ext cx="5226050" cy="31750"/>
          </a:xfrm>
          <a:prstGeom prst="rect">
            <a:avLst/>
          </a:prstGeom>
          <a:solidFill>
            <a:srgbClr val="C9C0AC"/>
          </a:solidFill>
          <a:ln>
            <a:noFill/>
          </a:ln>
        </p:spPr>
        <p:txBody>
          <a:bodyPr rtlCol="0" anchor="ctr"/>
          <a:lstStyle/>
          <a:p>
            <a:pPr algn="ctr"/>
          </a:p>
        </p:txBody>
      </p:sp>
      <p:sp>
        <p:nvSpPr>
          <p:cNvPr id="35" name="Text 34"/>
          <p:cNvSpPr txBox="1"/>
          <p:nvPr/>
        </p:nvSpPr>
        <p:spPr>
          <a:xfrm>
            <a:off x="838200" y="3118406"/>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قد يسبب مشكلة في بعض الأنظمة</a:t>
            </a:r>
          </a:p>
        </p:txBody>
      </p:sp>
      <p:pic>
        <p:nvPicPr>
          <p:cNvPr id="36" name="Icon Warning 35" descr="icon089.png"/>
          <p:cNvPicPr>
            <a:picLocks noChangeAspect="1"/>
          </p:cNvPicPr>
          <p:nvPr/>
        </p:nvPicPr>
        <p:blipFill>
          <a:blip r:embed="rId3"/>
          <a:stretch>
            <a:fillRect/>
          </a:stretch>
        </p:blipFill>
        <p:spPr>
          <a:xfrm>
            <a:off x="5791200" y="3509566"/>
            <a:ext cx="209550" cy="209550"/>
          </a:xfrm>
          <a:prstGeom prst="rect">
            <a:avLst/>
          </a:prstGeom>
        </p:spPr>
      </p:pic>
      <p:sp>
        <p:nvSpPr>
          <p:cNvPr id="37" name="Text 36"/>
          <p:cNvSpPr txBox="1"/>
          <p:nvPr/>
        </p:nvSpPr>
        <p:spPr>
          <a:xfrm>
            <a:off x="838200" y="347413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نصوص داخل صور أو مربعات نص</a:t>
            </a:r>
          </a:p>
        </p:txBody>
      </p:sp>
      <p:pic>
        <p:nvPicPr>
          <p:cNvPr id="38" name="Icon Warning 37" descr="icon089.png"/>
          <p:cNvPicPr>
            <a:picLocks noChangeAspect="1"/>
          </p:cNvPicPr>
          <p:nvPr/>
        </p:nvPicPr>
        <p:blipFill>
          <a:blip r:embed="rId3"/>
          <a:stretch>
            <a:fillRect/>
          </a:stretch>
        </p:blipFill>
        <p:spPr>
          <a:xfrm>
            <a:off x="5791200" y="3880346"/>
            <a:ext cx="209550" cy="209550"/>
          </a:xfrm>
          <a:prstGeom prst="rect">
            <a:avLst/>
          </a:prstGeom>
        </p:spPr>
      </p:pic>
      <p:sp>
        <p:nvSpPr>
          <p:cNvPr id="39" name="Text 38"/>
          <p:cNvSpPr txBox="1"/>
          <p:nvPr/>
        </p:nvSpPr>
        <p:spPr>
          <a:xfrm>
            <a:off x="838200" y="384491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جداول وأعمدة معقدة</a:t>
            </a:r>
          </a:p>
        </p:txBody>
      </p:sp>
      <p:pic>
        <p:nvPicPr>
          <p:cNvPr id="40" name="Icon Warning 39" descr="icon089.png"/>
          <p:cNvPicPr>
            <a:picLocks noChangeAspect="1"/>
          </p:cNvPicPr>
          <p:nvPr/>
        </p:nvPicPr>
        <p:blipFill>
          <a:blip r:embed="rId3"/>
          <a:stretch>
            <a:fillRect/>
          </a:stretch>
        </p:blipFill>
        <p:spPr>
          <a:xfrm>
            <a:off x="5791200" y="4251127"/>
            <a:ext cx="209550" cy="209550"/>
          </a:xfrm>
          <a:prstGeom prst="rect">
            <a:avLst/>
          </a:prstGeom>
        </p:spPr>
      </p:pic>
      <p:sp>
        <p:nvSpPr>
          <p:cNvPr id="41" name="Text 40"/>
          <p:cNvSpPr txBox="1"/>
          <p:nvPr/>
        </p:nvSpPr>
        <p:spPr>
          <a:xfrm>
            <a:off x="838200" y="421569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أشرطة تقييم المهارات</a:t>
            </a:r>
          </a:p>
        </p:txBody>
      </p:sp>
      <p:pic>
        <p:nvPicPr>
          <p:cNvPr id="42" name="Icon Warning 41" descr="icon089.png"/>
          <p:cNvPicPr>
            <a:picLocks noChangeAspect="1"/>
          </p:cNvPicPr>
          <p:nvPr/>
        </p:nvPicPr>
        <p:blipFill>
          <a:blip r:embed="rId3"/>
          <a:stretch>
            <a:fillRect/>
          </a:stretch>
        </p:blipFill>
        <p:spPr>
          <a:xfrm>
            <a:off x="5791200" y="4621907"/>
            <a:ext cx="209550" cy="209550"/>
          </a:xfrm>
          <a:prstGeom prst="rect">
            <a:avLst/>
          </a:prstGeom>
        </p:spPr>
      </p:pic>
      <p:sp>
        <p:nvSpPr>
          <p:cNvPr id="43" name="Text 42"/>
          <p:cNvSpPr txBox="1"/>
          <p:nvPr/>
        </p:nvSpPr>
        <p:spPr>
          <a:xfrm>
            <a:off x="838200" y="458647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حشو كلمات لا تعرفها</a:t>
            </a:r>
          </a:p>
        </p:txBody>
      </p:sp>
      <p:sp>
        <p:nvSpPr>
          <p:cNvPr id="44" name="Text 43"/>
          <p:cNvSpPr txBox="1"/>
          <p:nvPr/>
        </p:nvSpPr>
        <p:spPr>
          <a:xfrm>
            <a:off x="0" y="5122354"/>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الأنظمة تختلف كثيراً، وبعضها يقرأ التنسيقات المعقدة جيداً. البسيط أضمن، لا أكثر.</a:t>
            </a:r>
          </a:p>
        </p:txBody>
      </p:sp>
      <p:sp>
        <p:nvSpPr>
          <p:cNvPr id="45" name="Text 4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46" name="Text 4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صياغة الإنجاز: قبل وبعد</a:t>
            </a:r>
          </a:p>
        </p:txBody>
      </p:sp>
      <p:sp>
        <p:nvSpPr>
          <p:cNvPr id="6" name="Box 5"/>
          <p:cNvSpPr/>
          <p:nvPr/>
        </p:nvSpPr>
        <p:spPr>
          <a:xfrm>
            <a:off x="812800" y="1657945"/>
            <a:ext cx="10566400" cy="647700"/>
          </a:xfrm>
          <a:prstGeom prst="roundRect">
            <a:avLst>
              <a:gd name="adj" fmla="val 13725"/>
            </a:avLst>
          </a:prstGeom>
          <a:solidFill>
            <a:srgbClr val="172433"/>
          </a:solidFill>
          <a:ln>
            <a:noFill/>
          </a:ln>
        </p:spPr>
        <p:txBody>
          <a:bodyPr rtlCol="0" anchor="ctr"/>
          <a:lstStyle/>
          <a:p>
            <a:pPr algn="ctr"/>
          </a:p>
        </p:txBody>
      </p:sp>
      <p:sp>
        <p:nvSpPr>
          <p:cNvPr id="7" name="Text box 6"/>
          <p:cNvSpPr/>
          <p:nvPr/>
        </p:nvSpPr>
        <p:spPr>
          <a:xfrm>
            <a:off x="10045402" y="1759545"/>
            <a:ext cx="1181398"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فعل قوي</a:t>
            </a:r>
          </a:p>
        </p:txBody>
      </p:sp>
      <p:sp>
        <p:nvSpPr>
          <p:cNvPr id="8" name="Text 7"/>
          <p:cNvSpPr txBox="1"/>
          <p:nvPr/>
        </p:nvSpPr>
        <p:spPr>
          <a:xfrm>
            <a:off x="9664402"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Text box 8"/>
          <p:cNvSpPr/>
          <p:nvPr/>
        </p:nvSpPr>
        <p:spPr>
          <a:xfrm>
            <a:off x="8468816" y="1759545"/>
            <a:ext cx="1271786"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فعلت</a:t>
            </a:r>
          </a:p>
        </p:txBody>
      </p:sp>
      <p:sp>
        <p:nvSpPr>
          <p:cNvPr id="10" name="Text 9"/>
          <p:cNvSpPr txBox="1"/>
          <p:nvPr/>
        </p:nvSpPr>
        <p:spPr>
          <a:xfrm>
            <a:off x="8087816"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1" name="Text box 10"/>
          <p:cNvSpPr/>
          <p:nvPr/>
        </p:nvSpPr>
        <p:spPr>
          <a:xfrm>
            <a:off x="6903839" y="1759545"/>
            <a:ext cx="1260177"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بأي طريقة</a:t>
            </a:r>
          </a:p>
        </p:txBody>
      </p:sp>
      <p:sp>
        <p:nvSpPr>
          <p:cNvPr id="12" name="Text 11"/>
          <p:cNvSpPr txBox="1"/>
          <p:nvPr/>
        </p:nvSpPr>
        <p:spPr>
          <a:xfrm>
            <a:off x="6522839"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Text box 12"/>
          <p:cNvSpPr/>
          <p:nvPr/>
        </p:nvSpPr>
        <p:spPr>
          <a:xfrm>
            <a:off x="4848423" y="1759545"/>
            <a:ext cx="1750616" cy="444500"/>
          </a:xfrm>
          <a:prstGeom prst="roundRect">
            <a:avLst>
              <a:gd name="adj" fmla="val 50000"/>
            </a:avLst>
          </a:prstGeom>
          <a:solidFill>
            <a:srgbClr val="F2C46D"/>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النتيجة أو الرقم</a:t>
            </a:r>
          </a:p>
        </p:txBody>
      </p:sp>
      <p:sp>
        <p:nvSpPr>
          <p:cNvPr id="14" name="Box 13"/>
          <p:cNvSpPr/>
          <p:nvPr/>
        </p:nvSpPr>
        <p:spPr>
          <a:xfrm>
            <a:off x="8080375" y="2499320"/>
            <a:ext cx="3295650" cy="1159371"/>
          </a:xfrm>
          <a:prstGeom prst="roundRect">
            <a:avLst>
              <a:gd name="adj" fmla="val 6536"/>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210550" y="2572599"/>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16" name="Text 15"/>
          <p:cNvSpPr txBox="1"/>
          <p:nvPr/>
        </p:nvSpPr>
        <p:spPr>
          <a:xfrm>
            <a:off x="8210550" y="2878522"/>
            <a:ext cx="3126359"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Responsible for the RACI matrix.</a:t>
            </a:r>
          </a:p>
        </p:txBody>
      </p:sp>
      <p:sp>
        <p:nvSpPr>
          <p:cNvPr id="17" name="Box 16"/>
          <p:cNvSpPr/>
          <p:nvPr/>
        </p:nvSpPr>
        <p:spPr>
          <a:xfrm>
            <a:off x="815975" y="2499320"/>
            <a:ext cx="7156450" cy="1159371"/>
          </a:xfrm>
          <a:prstGeom prst="roundRect">
            <a:avLst>
              <a:gd name="adj" fmla="val 6536"/>
            </a:avLst>
          </a:prstGeom>
          <a:solidFill>
            <a:srgbClr val="E3F1ED"/>
          </a:solidFill>
          <a:ln w="6350">
            <a:solidFill>
              <a:srgbClr val="9FD1C5"/>
            </a:solidFill>
          </a:ln>
        </p:spPr>
        <p:txBody>
          <a:bodyPr rtlCol="0" anchor="ctr"/>
          <a:lstStyle/>
          <a:p>
            <a:pPr algn="ctr"/>
          </a:p>
        </p:txBody>
      </p:sp>
      <p:sp>
        <p:nvSpPr>
          <p:cNvPr id="18" name="Text 17"/>
          <p:cNvSpPr txBox="1"/>
          <p:nvPr/>
        </p:nvSpPr>
        <p:spPr>
          <a:xfrm>
            <a:off x="946150" y="2572599"/>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19" name="Text 18"/>
          <p:cNvSpPr txBox="1"/>
          <p:nvPr/>
        </p:nvSpPr>
        <p:spPr>
          <a:xfrm>
            <a:off x="946150" y="2878522"/>
            <a:ext cx="7004050"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Built a 5-activity RACI for leaver access revocation and wrote a policy clause with owner, deadline and evidence.</a:t>
            </a:r>
          </a:p>
        </p:txBody>
      </p:sp>
      <p:sp>
        <p:nvSpPr>
          <p:cNvPr id="20" name="Box 19"/>
          <p:cNvSpPr/>
          <p:nvPr/>
        </p:nvSpPr>
        <p:spPr>
          <a:xfrm>
            <a:off x="8080375" y="3753941"/>
            <a:ext cx="3295650" cy="1159371"/>
          </a:xfrm>
          <a:prstGeom prst="roundRect">
            <a:avLst>
              <a:gd name="adj" fmla="val 6536"/>
            </a:avLst>
          </a:prstGeom>
          <a:solidFill>
            <a:srgbClr val="FBEAE5"/>
          </a:solidFill>
          <a:ln w="6350">
            <a:solidFill>
              <a:srgbClr val="E7B8AC"/>
            </a:solidFill>
          </a:ln>
        </p:spPr>
        <p:txBody>
          <a:bodyPr rtlCol="0" anchor="ctr"/>
          <a:lstStyle/>
          <a:p>
            <a:pPr algn="ctr"/>
          </a:p>
        </p:txBody>
      </p:sp>
      <p:sp>
        <p:nvSpPr>
          <p:cNvPr id="21" name="Text 20"/>
          <p:cNvSpPr txBox="1"/>
          <p:nvPr/>
        </p:nvSpPr>
        <p:spPr>
          <a:xfrm>
            <a:off x="8210550" y="3827220"/>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22" name="Text 21"/>
          <p:cNvSpPr txBox="1"/>
          <p:nvPr/>
        </p:nvSpPr>
        <p:spPr>
          <a:xfrm>
            <a:off x="8210550" y="4133144"/>
            <a:ext cx="31432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Did risk assessment.</a:t>
            </a:r>
          </a:p>
        </p:txBody>
      </p:sp>
      <p:sp>
        <p:nvSpPr>
          <p:cNvPr id="23" name="Box 22"/>
          <p:cNvSpPr/>
          <p:nvPr/>
        </p:nvSpPr>
        <p:spPr>
          <a:xfrm>
            <a:off x="815975" y="3753941"/>
            <a:ext cx="7156450" cy="1159371"/>
          </a:xfrm>
          <a:prstGeom prst="roundRect">
            <a:avLst>
              <a:gd name="adj" fmla="val 6536"/>
            </a:avLst>
          </a:prstGeom>
          <a:solidFill>
            <a:srgbClr val="E3F1ED"/>
          </a:solidFill>
          <a:ln w="6350">
            <a:solidFill>
              <a:srgbClr val="9FD1C5"/>
            </a:solidFill>
          </a:ln>
        </p:spPr>
        <p:txBody>
          <a:bodyPr rtlCol="0" anchor="ctr"/>
          <a:lstStyle/>
          <a:p>
            <a:pPr algn="ctr"/>
          </a:p>
        </p:txBody>
      </p:sp>
      <p:sp>
        <p:nvSpPr>
          <p:cNvPr id="24" name="Text 23"/>
          <p:cNvSpPr txBox="1"/>
          <p:nvPr/>
        </p:nvSpPr>
        <p:spPr>
          <a:xfrm>
            <a:off x="946150" y="3827220"/>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25" name="Text 24"/>
          <p:cNvSpPr txBox="1"/>
          <p:nvPr/>
        </p:nvSpPr>
        <p:spPr>
          <a:xfrm>
            <a:off x="946150" y="4133144"/>
            <a:ext cx="7004050"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Wrote and scored a payroll-laptop risk on the NCA 5×5 matrix (12, Medium) and planned encryption with a 30-day due date.</a:t>
            </a:r>
          </a:p>
        </p:txBody>
      </p:sp>
      <p:sp>
        <p:nvSpPr>
          <p:cNvPr id="26" name="Text 25"/>
          <p:cNvSpPr txBox="1"/>
          <p:nvPr/>
        </p:nvSpPr>
        <p:spPr>
          <a:xfrm>
            <a:off x="0" y="5067618"/>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الأرقام في سيرتك يجب أن تكون حقيقية: ستُسأل عن كل رقم.</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بلا خبرة في GRC؟ خبرتك أقرب مما تظن</a:t>
            </a:r>
          </a:p>
        </p:txBody>
      </p:sp>
      <p:sp>
        <p:nvSpPr>
          <p:cNvPr id="5" name="Rule 4"/>
          <p:cNvSpPr/>
          <p:nvPr/>
        </p:nvSpPr>
        <p:spPr>
          <a:xfrm>
            <a:off x="5130800" y="1657945"/>
            <a:ext cx="6248400" cy="31750"/>
          </a:xfrm>
          <a:prstGeom prst="rect">
            <a:avLst/>
          </a:prstGeom>
          <a:solidFill>
            <a:srgbClr val="C9C0AC"/>
          </a:solidFill>
          <a:ln>
            <a:noFill/>
          </a:ln>
        </p:spPr>
        <p:txBody>
          <a:bodyPr rtlCol="0" anchor="ctr"/>
          <a:lstStyle/>
          <a:p>
            <a:pPr algn="ctr"/>
          </a:p>
        </p:txBody>
      </p:sp>
      <p:sp>
        <p:nvSpPr>
          <p:cNvPr id="6" name="Text 5"/>
          <p:cNvSpPr txBox="1"/>
          <p:nvPr/>
        </p:nvSpPr>
        <p:spPr>
          <a:xfrm>
            <a:off x="5156200" y="1819235"/>
            <a:ext cx="6184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ترجم خلفيتك إلى لغة GRC</a:t>
            </a:r>
          </a:p>
        </p:txBody>
      </p:sp>
      <p:sp>
        <p:nvSpPr>
          <p:cNvPr id="7" name="Text 6"/>
          <p:cNvSpPr txBox="1"/>
          <p:nvPr/>
        </p:nvSpPr>
        <p:spPr>
          <a:xfrm>
            <a:off x="9347200" y="21837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الدعم الفني</a:t>
            </a:r>
          </a:p>
        </p:txBody>
      </p:sp>
      <p:sp>
        <p:nvSpPr>
          <p:cNvPr id="8" name="Text 7"/>
          <p:cNvSpPr txBox="1"/>
          <p:nvPr/>
        </p:nvSpPr>
        <p:spPr>
          <a:xfrm>
            <a:off x="5156200" y="2183725"/>
            <a:ext cx="42291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الصلاحيات، وسير الموافقات، والبلاغات</a:t>
            </a:r>
          </a:p>
        </p:txBody>
      </p:sp>
      <p:sp>
        <p:nvSpPr>
          <p:cNvPr id="9" name="Text 8"/>
          <p:cNvSpPr txBox="1"/>
          <p:nvPr/>
        </p:nvSpPr>
        <p:spPr>
          <a:xfrm>
            <a:off x="9436100" y="2958425"/>
            <a:ext cx="1905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المحاسبة والتدقيق</a:t>
            </a:r>
          </a:p>
        </p:txBody>
      </p:sp>
      <p:sp>
        <p:nvSpPr>
          <p:cNvPr id="10" name="Text 9"/>
          <p:cNvSpPr txBox="1"/>
          <p:nvPr/>
        </p:nvSpPr>
        <p:spPr>
          <a:xfrm>
            <a:off x="5156200" y="29584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الرقابة الداخلية، والأدلة، والعينات</a:t>
            </a:r>
          </a:p>
        </p:txBody>
      </p:sp>
      <p:sp>
        <p:nvSpPr>
          <p:cNvPr id="11" name="Text 10"/>
          <p:cNvSpPr txBox="1"/>
          <p:nvPr/>
        </p:nvSpPr>
        <p:spPr>
          <a:xfrm>
            <a:off x="9347200" y="37331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القانون</a:t>
            </a:r>
          </a:p>
        </p:txBody>
      </p:sp>
      <p:sp>
        <p:nvSpPr>
          <p:cNvPr id="12" name="Text 11"/>
          <p:cNvSpPr txBox="1"/>
          <p:nvPr/>
        </p:nvSpPr>
        <p:spPr>
          <a:xfrm>
            <a:off x="5156200" y="37331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الأنظمة واللوائح، والعقود، والخصوصية</a:t>
            </a:r>
          </a:p>
        </p:txBody>
      </p:sp>
      <p:sp>
        <p:nvSpPr>
          <p:cNvPr id="13" name="Text 12"/>
          <p:cNvSpPr txBox="1"/>
          <p:nvPr/>
        </p:nvSpPr>
        <p:spPr>
          <a:xfrm>
            <a:off x="9347200" y="41522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الجودة</a:t>
            </a:r>
          </a:p>
        </p:txBody>
      </p:sp>
      <p:sp>
        <p:nvSpPr>
          <p:cNvPr id="14" name="Text 13"/>
          <p:cNvSpPr txBox="1"/>
          <p:nvPr/>
        </p:nvSpPr>
        <p:spPr>
          <a:xfrm>
            <a:off x="5156200" y="41522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أنظمة الإدارة، والتدقيق الداخلي، والإجراءات</a:t>
            </a:r>
          </a:p>
        </p:txBody>
      </p:sp>
      <p:sp>
        <p:nvSpPr>
          <p:cNvPr id="15" name="Text 14"/>
          <p:cNvSpPr txBox="1"/>
          <p:nvPr/>
        </p:nvSpPr>
        <p:spPr>
          <a:xfrm>
            <a:off x="9347200" y="45713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المشاريع</a:t>
            </a:r>
          </a:p>
        </p:txBody>
      </p:sp>
      <p:sp>
        <p:nvSpPr>
          <p:cNvPr id="16" name="Text 15"/>
          <p:cNvSpPr txBox="1"/>
          <p:nvPr/>
        </p:nvSpPr>
        <p:spPr>
          <a:xfrm>
            <a:off x="5156200" y="45713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متابعة المعالجة بمالك وموعد، وتقارير الحالة</a:t>
            </a:r>
          </a:p>
        </p:txBody>
      </p:sp>
      <p:sp>
        <p:nvSpPr>
          <p:cNvPr id="17" name="Rule 16"/>
          <p:cNvSpPr/>
          <p:nvPr/>
        </p:nvSpPr>
        <p:spPr>
          <a:xfrm>
            <a:off x="812800" y="1657945"/>
            <a:ext cx="41910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4127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أقسام تملأ مكان الخبرة</a:t>
            </a:r>
          </a:p>
        </p:txBody>
      </p:sp>
      <p:pic>
        <p:nvPicPr>
          <p:cNvPr id="19" name="Icon Check 18" descr="icon060.png"/>
          <p:cNvPicPr>
            <a:picLocks noChangeAspect="1"/>
          </p:cNvPicPr>
          <p:nvPr/>
        </p:nvPicPr>
        <p:blipFill>
          <a:blip r:embed="rId2"/>
          <a:stretch>
            <a:fillRect/>
          </a:stretch>
        </p:blipFill>
        <p:spPr>
          <a:xfrm>
            <a:off x="4730750" y="2223095"/>
            <a:ext cx="234950" cy="234950"/>
          </a:xfrm>
          <a:prstGeom prst="rect">
            <a:avLst/>
          </a:prstGeom>
        </p:spPr>
      </p:pic>
      <p:sp>
        <p:nvSpPr>
          <p:cNvPr id="20" name="Text 19"/>
          <p:cNvSpPr txBox="1"/>
          <p:nvPr/>
        </p:nvSpPr>
        <p:spPr>
          <a:xfrm>
            <a:off x="838200" y="21837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Projects: مشاريع الوحدة 5</a:t>
            </a:r>
          </a:p>
        </p:txBody>
      </p:sp>
      <p:pic>
        <p:nvPicPr>
          <p:cNvPr id="21" name="Icon Check 20" descr="icon060.png"/>
          <p:cNvPicPr>
            <a:picLocks noChangeAspect="1"/>
          </p:cNvPicPr>
          <p:nvPr/>
        </p:nvPicPr>
        <p:blipFill>
          <a:blip r:embed="rId2"/>
          <a:stretch>
            <a:fillRect/>
          </a:stretch>
        </p:blipFill>
        <p:spPr>
          <a:xfrm>
            <a:off x="4730750" y="2629495"/>
            <a:ext cx="234950" cy="234950"/>
          </a:xfrm>
          <a:prstGeom prst="rect">
            <a:avLst/>
          </a:prstGeom>
        </p:spPr>
      </p:pic>
      <p:sp>
        <p:nvSpPr>
          <p:cNvPr id="22" name="Text 21"/>
          <p:cNvSpPr txBox="1"/>
          <p:nvPr/>
        </p:nvSpPr>
        <p:spPr>
          <a:xfrm>
            <a:off x="838200" y="25901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Internship: التدريب التعاوني</a:t>
            </a:r>
          </a:p>
        </p:txBody>
      </p:sp>
      <p:pic>
        <p:nvPicPr>
          <p:cNvPr id="23" name="Icon Check 22" descr="icon060.png"/>
          <p:cNvPicPr>
            <a:picLocks noChangeAspect="1"/>
          </p:cNvPicPr>
          <p:nvPr/>
        </p:nvPicPr>
        <p:blipFill>
          <a:blip r:embed="rId2"/>
          <a:stretch>
            <a:fillRect/>
          </a:stretch>
        </p:blipFill>
        <p:spPr>
          <a:xfrm>
            <a:off x="4730750" y="3035895"/>
            <a:ext cx="234950" cy="234950"/>
          </a:xfrm>
          <a:prstGeom prst="rect">
            <a:avLst/>
          </a:prstGeom>
        </p:spPr>
      </p:pic>
      <p:sp>
        <p:nvSpPr>
          <p:cNvPr id="24" name="Text 23"/>
          <p:cNvSpPr txBox="1"/>
          <p:nvPr/>
        </p:nvSpPr>
        <p:spPr>
          <a:xfrm>
            <a:off x="838200" y="29965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Volunteering: سياسة لجمعية</a:t>
            </a:r>
          </a:p>
        </p:txBody>
      </p:sp>
      <p:pic>
        <p:nvPicPr>
          <p:cNvPr id="25" name="Icon Check 24" descr="icon060.png"/>
          <p:cNvPicPr>
            <a:picLocks noChangeAspect="1"/>
          </p:cNvPicPr>
          <p:nvPr/>
        </p:nvPicPr>
        <p:blipFill>
          <a:blip r:embed="rId2"/>
          <a:stretch>
            <a:fillRect/>
          </a:stretch>
        </p:blipFill>
        <p:spPr>
          <a:xfrm>
            <a:off x="4730750" y="3442295"/>
            <a:ext cx="234950" cy="234950"/>
          </a:xfrm>
          <a:prstGeom prst="rect">
            <a:avLst/>
          </a:prstGeom>
        </p:spPr>
      </p:pic>
      <p:sp>
        <p:nvSpPr>
          <p:cNvPr id="26" name="Text 25"/>
          <p:cNvSpPr txBox="1"/>
          <p:nvPr/>
        </p:nvSpPr>
        <p:spPr>
          <a:xfrm>
            <a:off x="838200" y="34029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Capstone: مشروع التخرج</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أخطاء شائعة، وتصحيح كل منها</a:t>
            </a:r>
          </a:p>
        </p:txBody>
      </p:sp>
      <p:graphicFrame>
        <p:nvGraphicFramePr>
          <p:cNvPr id="5" name="Table 4"/>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5280025"/>
                <a:gridCol w="528002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التصحيح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الخطأ</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صفحة واحدة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سيرة من ثلاث صفحات لمبتدئ</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فعل، ثم ماذا، ثم كيف، ثم النتيجة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«Responsible for…» في كل سطر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مدقق إملائي، ثم قراءة شخص آخر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أخطاء إملائية في وظيفة تقوم على الدقة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عدّل الملخص والمهارات للإعلان المهم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نسخة واحدة لكل الإعلانات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حصلت عليه، أو «قيد الدراسة» مع موعد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شهادة لم تحصل عليها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الاسم والمدينة ووسائل التواصل تكفي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رقم الهوية أو الجواز في السيرة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7" name="Text 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783093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أعد صياغة ثلاثة أسطر</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أعد صياغة كل سطر بالمعادلة، مستخدماً ما نفذته في التطبيقات 2 و3 و1.</a:t>
            </a:r>
          </a:p>
        </p:txBody>
      </p:sp>
      <p:graphicFrame>
        <p:nvGraphicFramePr>
          <p:cNvPr id="7" name="Table 6"/>
          <p:cNvGraphicFramePr>
            <a:graphicFrameLocks noGrp="1"/>
          </p:cNvGraphicFramePr>
          <p:nvPr/>
        </p:nvGraphicFramePr>
        <p:xfrm>
          <a:off x="815975" y="2207220"/>
          <a:ext cx="10560050" cy="2451100"/>
        </p:xfrm>
        <a:graphic>
          <a:graphicData uri="http://schemas.openxmlformats.org/drawingml/2006/table">
            <a:tbl>
              <a:tblPr firstRow="0" bandRow="0" lastRow="0" firstCol="0" lastCol="0" bandCol="0">
                <a:tableStyleId>{2D5ABB26-0587-4C30-8999-92F81FD0307C}</a:tableStyleId>
              </a:tblPr>
              <a:tblGrid>
                <a:gridCol w="6546850"/>
                <a:gridCol w="401320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صياغتك</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السطر الضعيف</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Responsible for risk assessment.</a:t>
                      </a:r>
                    </a:p>
                  </a:txBody>
                  <a:tcPr marT="107061" marR="152400" marB="70739" marL="4115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Helped with access review.</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Familiar with NCA ECC.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Box 7"/>
          <p:cNvSpPr/>
          <p:nvPr/>
        </p:nvSpPr>
        <p:spPr>
          <a:xfrm>
            <a:off x="812800" y="4851995"/>
            <a:ext cx="10566400" cy="609600"/>
          </a:xfrm>
          <a:prstGeom prst="roundRect">
            <a:avLst>
              <a:gd name="adj" fmla="val 16666"/>
            </a:avLst>
          </a:prstGeom>
          <a:solidFill>
            <a:srgbClr val="F6ECDA"/>
          </a:solidFill>
          <a:ln>
            <a:noFill/>
          </a:ln>
        </p:spPr>
        <p:txBody>
          <a:bodyPr rtlCol="0" anchor="ctr"/>
          <a:lstStyle/>
          <a:p>
            <a:pPr algn="ctr"/>
          </a:p>
        </p:txBody>
      </p:sp>
      <p:pic>
        <p:nvPicPr>
          <p:cNvPr id="9" name="Icon Clock 8" descr="icon090.png"/>
          <p:cNvPicPr>
            <a:picLocks noChangeAspect="1"/>
          </p:cNvPicPr>
          <p:nvPr/>
        </p:nvPicPr>
        <p:blipFill>
          <a:blip r:embed="rId2"/>
          <a:stretch>
            <a:fillRect/>
          </a:stretch>
        </p:blipFill>
        <p:spPr>
          <a:xfrm>
            <a:off x="10941050" y="5026620"/>
            <a:ext cx="260350" cy="260350"/>
          </a:xfrm>
          <a:prstGeom prst="rect">
            <a:avLst/>
          </a:prstGeom>
        </p:spPr>
      </p:pic>
      <p:sp>
        <p:nvSpPr>
          <p:cNvPr id="10" name="Text 9"/>
          <p:cNvSpPr txBox="1"/>
          <p:nvPr/>
        </p:nvSpPr>
        <p:spPr>
          <a:xfrm>
            <a:off x="838200" y="49396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بالإنجليزية، وبأرقام حقيقية من تطبيقاتك. 8 دقائق.</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8038009"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ثلاثة أسطر بعد إعادة الصياغة</a:t>
            </a:r>
          </a:p>
        </p:txBody>
      </p:sp>
      <p:graphicFrame>
        <p:nvGraphicFramePr>
          <p:cNvPr id="6" name="Table 5"/>
          <p:cNvGraphicFramePr>
            <a:graphicFrameLocks noGrp="1"/>
          </p:cNvGraphicFramePr>
          <p:nvPr/>
        </p:nvGraphicFramePr>
        <p:xfrm>
          <a:off x="815975" y="1661120"/>
          <a:ext cx="10560050" cy="3133725"/>
        </p:xfrm>
        <a:graphic>
          <a:graphicData uri="http://schemas.openxmlformats.org/drawingml/2006/table">
            <a:tbl>
              <a:tblPr firstRow="0" bandRow="0" lastRow="0" firstCol="0" lastCol="0" bandCol="0">
                <a:tableStyleId>{2D5ABB26-0587-4C30-8999-92F81FD0307C}</a:tableStyleId>
              </a:tblPr>
              <a:tblGrid>
                <a:gridCol w="7603490"/>
                <a:gridCol w="295656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بعد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قبل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Assessed a vendor remote-access risk for a fictional 200-staff company; rated it High (16) and proposed 5 actions with owners and dates.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Responsible for risk assessment.</a:t>
                      </a:r>
                    </a:p>
                  </a:txBody>
                  <a:tcPr marT="96355" marR="137160" marB="63665" marL="5668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Tested a quarterly access review against 6 evidence items; rated it partially implemented and wrote a finding with a 4-step corrective plan.</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Helped with access review.</a:t>
                      </a:r>
                    </a:p>
                  </a:txBody>
                  <a:tcPr marT="96355" marR="137160" marB="63665" marL="5668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Mapped ECC-2:2024 controls 2-2-3-2 and 2-2-3-5 to evidence requests and test steps for a training case.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Familiar with NCA ECC.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4949150"/>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كل سطر يبدأ بفعل، ويذكر الطريقة، وينتهي بنتيجة أو رقم من عملك الفعلي على حالة تدريبية.</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196</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السيرة الذاتية</a:t>
            </a:r>
          </a:p>
        </p:txBody>
      </p:sp>
      <p:sp>
        <p:nvSpPr>
          <p:cNvPr id="4" name="Text box 3"/>
          <p:cNvSpPr/>
          <p:nvPr/>
        </p:nvSpPr>
        <p:spPr>
          <a:xfrm>
            <a:off x="783093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07</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3</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6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معادلة سطر الإنجاز.</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أنظمة الفرز ATS.</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المبالغة في الوصف.</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07».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السيرة الذاتية</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4201" y="1423690"/>
            <a:ext cx="23749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08</a:t>
            </a:r>
          </a:p>
        </p:txBody>
      </p:sp>
      <p:sp>
        <p:nvSpPr>
          <p:cNvPr id="4" name="Text 3"/>
          <p:cNvSpPr txBox="1"/>
          <p:nvPr/>
        </p:nvSpPr>
        <p:spPr>
          <a:xfrm>
            <a:off x="4577814" y="1845155"/>
            <a:ext cx="4883587"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لينكدإن والفرص</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ملفك يعمل وأنت نائم: يجده مسؤول التوظيف حين يبحث، ويقرؤه قبل أن يتصل بك.</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تكمل ملفك: الصورة، والعنوان، والنبذة، وقسم Featured.</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شبكة وتنشر بطريقة آمنة ومهنية.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تستخدم Open to Work والبحث بأكثر من مسمى.</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08 · لينكدإن والفرص</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198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ملف لينكدإن (1 من 2): الرأس والعنوان</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7" name="Text 6"/>
          <p:cNvSpPr txBox="1"/>
          <p:nvPr/>
        </p:nvSpPr>
        <p:spPr>
          <a:xfrm>
            <a:off x="7727569" y="1588349"/>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الصورة: من 400×400 بكسل، حتى 8 ميغابايت، JPG أو PNG.</a:t>
            </a:r>
          </a:p>
        </p:txBody>
      </p:sp>
      <p:sp>
        <p:nvSpPr>
          <p:cNvPr id="8" name="Text box 7"/>
          <p:cNvSpPr/>
          <p:nvPr/>
        </p:nvSpPr>
        <p:spPr>
          <a:xfrm>
            <a:off x="11099800" y="234116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9" name="Text 8"/>
          <p:cNvSpPr txBox="1"/>
          <p:nvPr/>
        </p:nvSpPr>
        <p:spPr>
          <a:xfrm>
            <a:off x="7727569" y="230967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الخلفية: المقاس الموصى به 1584×396 بكسل.</a:t>
            </a:r>
          </a:p>
        </p:txBody>
      </p:sp>
      <p:sp>
        <p:nvSpPr>
          <p:cNvPr id="10" name="Text box 9"/>
          <p:cNvSpPr/>
          <p:nvPr/>
        </p:nvSpPr>
        <p:spPr>
          <a:xfrm>
            <a:off x="11099800" y="306248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11" name="Text 10"/>
          <p:cNvSpPr txBox="1"/>
          <p:nvPr/>
        </p:nvSpPr>
        <p:spPr>
          <a:xfrm>
            <a:off x="7727569" y="303099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العنوان المهني: الوظيفة المستهدفة وكلماتها.</a:t>
            </a:r>
          </a:p>
        </p:txBody>
      </p:sp>
      <p:sp>
        <p:nvSpPr>
          <p:cNvPr id="12" name="Text box 11"/>
          <p:cNvSpPr/>
          <p:nvPr/>
        </p:nvSpPr>
        <p:spPr>
          <a:xfrm>
            <a:off x="11099800" y="378380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13" name="Text 12"/>
          <p:cNvSpPr txBox="1"/>
          <p:nvPr/>
        </p:nvSpPr>
        <p:spPr>
          <a:xfrm>
            <a:off x="7727569" y="375231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رابط مخصص: من 3 إلى 100 حرف، بلا مسافات أو رموز.</a:t>
            </a:r>
          </a:p>
        </p:txBody>
      </p:sp>
      <p:sp>
        <p:nvSpPr>
          <p:cNvPr id="14" name="Box 13"/>
          <p:cNvSpPr/>
          <p:nvPr/>
        </p:nvSpPr>
        <p:spPr>
          <a:xfrm>
            <a:off x="815975" y="1623020"/>
            <a:ext cx="6775450" cy="3207841"/>
          </a:xfrm>
          <a:prstGeom prst="roundRect">
            <a:avLst>
              <a:gd name="adj" fmla="val 2765"/>
            </a:avLst>
          </a:prstGeom>
          <a:solidFill>
            <a:srgbClr val="FFFFFF"/>
          </a:solidFill>
          <a:ln w="6350">
            <a:solidFill>
              <a:srgbClr val="D9D2C2"/>
            </a:solidFill>
          </a:ln>
        </p:spPr>
        <p:txBody>
          <a:bodyPr rtlCol="0" anchor="ctr"/>
          <a:lstStyle/>
          <a:p>
            <a:pPr algn="ctr"/>
          </a:p>
        </p:txBody>
      </p:sp>
      <p:sp>
        <p:nvSpPr>
          <p:cNvPr id="15" name="Text 14"/>
          <p:cNvSpPr txBox="1"/>
          <p:nvPr/>
        </p:nvSpPr>
        <p:spPr>
          <a:xfrm>
            <a:off x="3173591" y="2043116"/>
            <a:ext cx="384315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F3EFE6"/>
                </a:solidFill>
                <a:latin typeface="Readex Pro"/>
                <a:ea typeface="Readex Pro"/>
                <a:cs typeface="Readex Pro"/>
              </a:rPr>
              <a:t>Governance · Risk · Compliance</a:t>
            </a:r>
          </a:p>
        </p:txBody>
      </p:sp>
      <p:sp>
        <p:nvSpPr>
          <p:cNvPr id="16" name="Text box 15"/>
          <p:cNvSpPr/>
          <p:nvPr/>
        </p:nvSpPr>
        <p:spPr>
          <a:xfrm>
            <a:off x="7105650" y="210244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17" name="Box 16"/>
          <p:cNvSpPr/>
          <p:nvPr/>
        </p:nvSpPr>
        <p:spPr>
          <a:xfrm>
            <a:off x="1095375" y="2258020"/>
            <a:ext cx="1073150" cy="1073150"/>
          </a:xfrm>
          <a:prstGeom prst="roundRect">
            <a:avLst>
              <a:gd name="adj" fmla="val 50000"/>
            </a:avLst>
          </a:prstGeom>
          <a:solidFill>
            <a:srgbClr val="DCEFEA"/>
          </a:solidFill>
          <a:ln w="44450">
            <a:solidFill>
              <a:srgbClr val="FFFFFF"/>
            </a:solidFill>
          </a:ln>
        </p:spPr>
        <p:txBody>
          <a:bodyPr rtlCol="0" anchor="ctr"/>
          <a:lstStyle/>
          <a:p>
            <a:pPr algn="ctr"/>
          </a:p>
        </p:txBody>
      </p:sp>
      <p:sp>
        <p:nvSpPr>
          <p:cNvPr id="18" name="Text 17"/>
          <p:cNvSpPr txBox="1"/>
          <p:nvPr/>
        </p:nvSpPr>
        <p:spPr>
          <a:xfrm>
            <a:off x="1312922" y="2525443"/>
            <a:ext cx="637957" cy="462260"/>
          </a:xfrm>
          <a:prstGeom prst="rect">
            <a:avLst/>
          </a:prstGeom>
          <a:noFill/>
        </p:spPr>
        <p:txBody>
          <a:bodyPr wrap="square" tIns="0" rIns="0" bIns="0" lIns="0" anchor="t" rtlCol="0" anchorCtr="0">
            <a:noAutofit/>
          </a:bodyPr>
          <a:lstStyle/>
          <a:p>
            <a:pPr algn="ctr">
              <a:lnSpc>
                <a:spcPts val="3640"/>
              </a:lnSpc>
              <a:spcBef>
                <a:spcPts val="0"/>
              </a:spcBef>
              <a:spcAft>
                <a:spcPts val="0"/>
              </a:spcAft>
            </a:pPr>
            <a:r>
              <a:rPr sz="2600" b="1" i="0">
                <a:solidFill>
                  <a:srgbClr val="0E7C6B"/>
                </a:solidFill>
                <a:latin typeface="Readex Pro"/>
                <a:ea typeface="Readex Pro"/>
                <a:cs typeface="Readex Pro"/>
              </a:rPr>
              <a:t>SA</a:t>
            </a:r>
          </a:p>
        </p:txBody>
      </p:sp>
      <p:sp>
        <p:nvSpPr>
          <p:cNvPr id="19" name="Text box 18"/>
          <p:cNvSpPr/>
          <p:nvPr/>
        </p:nvSpPr>
        <p:spPr>
          <a:xfrm>
            <a:off x="1987550" y="306129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20" name="Text 19"/>
          <p:cNvSpPr txBox="1"/>
          <p:nvPr/>
        </p:nvSpPr>
        <p:spPr>
          <a:xfrm>
            <a:off x="1073150" y="3488142"/>
            <a:ext cx="6496050" cy="396180"/>
          </a:xfrm>
          <a:prstGeom prst="rect">
            <a:avLst/>
          </a:prstGeom>
          <a:noFill/>
        </p:spPr>
        <p:txBody>
          <a:bodyPr wrap="square" tIns="0" rIns="0" bIns="0" lIns="0" anchor="t" rtlCol="0" anchorCtr="0">
            <a:noAutofit/>
          </a:bodyPr>
          <a:lstStyle/>
          <a:p>
            <a:pPr algn="l">
              <a:lnSpc>
                <a:spcPts val="3120"/>
              </a:lnSpc>
              <a:spcBef>
                <a:spcPts val="0"/>
              </a:spcBef>
              <a:spcAft>
                <a:spcPts val="0"/>
              </a:spcAft>
            </a:pPr>
            <a:r>
              <a:rPr sz="2600" b="1" i="0">
                <a:solidFill>
                  <a:srgbClr val="172433"/>
                </a:solidFill>
                <a:latin typeface="Readex Pro"/>
                <a:ea typeface="Readex Pro"/>
                <a:cs typeface="Readex Pro"/>
              </a:rPr>
              <a:t>Sara Ahmed</a:t>
            </a:r>
          </a:p>
        </p:txBody>
      </p:sp>
      <p:sp>
        <p:nvSpPr>
          <p:cNvPr id="21" name="Text 20"/>
          <p:cNvSpPr txBox="1"/>
          <p:nvPr/>
        </p:nvSpPr>
        <p:spPr>
          <a:xfrm>
            <a:off x="1073150" y="3923058"/>
            <a:ext cx="6399157" cy="308570"/>
          </a:xfrm>
          <a:prstGeom prst="rect">
            <a:avLst/>
          </a:prstGeom>
          <a:noFill/>
        </p:spPr>
        <p:txBody>
          <a:bodyPr wrap="square" tIns="0" rIns="0" bIns="0" lIns="0" anchor="t" rtlCol="0" anchorCtr="0">
            <a:noAutofit/>
          </a:bodyPr>
          <a:lstStyle/>
          <a:p>
            <a:pPr algn="l">
              <a:lnSpc>
                <a:spcPts val="2430"/>
              </a:lnSpc>
              <a:spcBef>
                <a:spcPts val="0"/>
              </a:spcBef>
              <a:spcAft>
                <a:spcPts val="0"/>
              </a:spcAft>
            </a:pPr>
            <a:r>
              <a:rPr sz="1800" b="0" i="0">
                <a:solidFill>
                  <a:srgbClr val="172433"/>
                </a:solidFill>
                <a:latin typeface="IBM Plex Sans Arabic"/>
                <a:ea typeface="IBM Plex Sans Arabic"/>
                <a:cs typeface="IBM Plex Sans Arabic"/>
              </a:rPr>
              <a:t>Entry-Level GRC Analyst | Risk · Control Testing · NCA ECC</a:t>
            </a:r>
          </a:p>
        </p:txBody>
      </p:sp>
      <p:sp>
        <p:nvSpPr>
          <p:cNvPr id="22" name="Text box 21"/>
          <p:cNvSpPr/>
          <p:nvPr/>
        </p:nvSpPr>
        <p:spPr>
          <a:xfrm>
            <a:off x="7074495" y="3980061"/>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23" name="Text 22"/>
          <p:cNvSpPr txBox="1"/>
          <p:nvPr/>
        </p:nvSpPr>
        <p:spPr>
          <a:xfrm>
            <a:off x="1073150" y="4298430"/>
            <a:ext cx="4034969" cy="274241"/>
          </a:xfrm>
          <a:prstGeom prst="rect">
            <a:avLst/>
          </a:prstGeom>
          <a:noFill/>
        </p:spPr>
        <p:txBody>
          <a:bodyPr wrap="square" tIns="0" rIns="0" bIns="0" lIns="0" anchor="t" rtlCol="0" anchorCtr="0">
            <a:noAutofit/>
          </a:bodyPr>
          <a:lstStyle/>
          <a:p>
            <a:pPr algn="l">
              <a:lnSpc>
                <a:spcPts val="2160"/>
              </a:lnSpc>
              <a:spcBef>
                <a:spcPts val="0"/>
              </a:spcBef>
              <a:spcAft>
                <a:spcPts val="0"/>
              </a:spcAft>
            </a:pPr>
            <a:r>
              <a:rPr sz="1600" b="0" i="0">
                <a:solidFill>
                  <a:srgbClr val="5E6A75"/>
                </a:solidFill>
                <a:latin typeface="IBM Plex Sans Arabic"/>
                <a:ea typeface="IBM Plex Sans Arabic"/>
                <a:cs typeface="IBM Plex Sans Arabic"/>
              </a:rPr>
              <a:t>Riyadh · linkedin.com/in/sara-ahmed-grc</a:t>
            </a:r>
          </a:p>
        </p:txBody>
      </p:sp>
      <p:sp>
        <p:nvSpPr>
          <p:cNvPr id="24" name="Text box 23"/>
          <p:cNvSpPr/>
          <p:nvPr/>
        </p:nvSpPr>
        <p:spPr>
          <a:xfrm>
            <a:off x="4885432" y="4334966"/>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25" name="Text 24"/>
          <p:cNvSpPr txBox="1"/>
          <p:nvPr/>
        </p:nvSpPr>
        <p:spPr>
          <a:xfrm>
            <a:off x="270256" y="4873915"/>
            <a:ext cx="732434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4E5A66"/>
                </a:solidFill>
                <a:latin typeface="IBM Plex Sans Arabic"/>
                <a:ea typeface="IBM Plex Sans Arabic"/>
                <a:cs typeface="IBM Plex Sans Arabic"/>
              </a:rPr>
              <a:t>رسم توضيحي مبسط ببيانات افتراضية، ليس لقطة من لينكدإن.</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199</a:t>
            </a:r>
          </a:p>
        </p:txBody>
      </p:sp>
    </p:spTree>
  </p:cSld>
  <p:clrMapOvr>
    <a:masterClrMapping/>
  </p:clrMapOvr>
  <p:transition spd="med">
    <p:fade/>
  </p:transition>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ملف لينكدإن (2 من 2): المشاريع والمهارات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7" name="Text 6"/>
          <p:cNvSpPr txBox="1"/>
          <p:nvPr/>
        </p:nvSpPr>
        <p:spPr>
          <a:xfrm>
            <a:off x="7727569" y="1588349"/>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Featured: مشاريعك أعلى الملف. لا يظهر إن كان فارغاً.</a:t>
            </a:r>
          </a:p>
        </p:txBody>
      </p:sp>
      <p:sp>
        <p:nvSpPr>
          <p:cNvPr id="8" name="Text box 7"/>
          <p:cNvSpPr/>
          <p:nvPr/>
        </p:nvSpPr>
        <p:spPr>
          <a:xfrm>
            <a:off x="11099800" y="234116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6</a:t>
            </a:r>
          </a:p>
        </p:txBody>
      </p:sp>
      <p:sp>
        <p:nvSpPr>
          <p:cNvPr id="9" name="Text 8"/>
          <p:cNvSpPr txBox="1"/>
          <p:nvPr/>
        </p:nvSpPr>
        <p:spPr>
          <a:xfrm>
            <a:off x="7568184" y="2309670"/>
            <a:ext cx="344271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المهارات: حتى 100 مهارة. أهمها في الأعلى.</a:t>
            </a:r>
          </a:p>
        </p:txBody>
      </p:sp>
      <p:sp>
        <p:nvSpPr>
          <p:cNvPr id="10" name="Box 9"/>
          <p:cNvSpPr/>
          <p:nvPr/>
        </p:nvSpPr>
        <p:spPr>
          <a:xfrm>
            <a:off x="815975" y="1623020"/>
            <a:ext cx="6775450" cy="2944912"/>
          </a:xfrm>
          <a:prstGeom prst="roundRect">
            <a:avLst>
              <a:gd name="adj" fmla="val 3012"/>
            </a:avLst>
          </a:prstGeom>
          <a:solidFill>
            <a:srgbClr val="FFFFFF"/>
          </a:solidFill>
          <a:ln w="6350">
            <a:solidFill>
              <a:srgbClr val="D9D2C2"/>
            </a:solidFill>
          </a:ln>
        </p:spPr>
        <p:txBody>
          <a:bodyPr rtlCol="0" anchor="ctr"/>
          <a:lstStyle/>
          <a:p>
            <a:pPr algn="ctr"/>
          </a:p>
        </p:txBody>
      </p:sp>
      <p:sp>
        <p:nvSpPr>
          <p:cNvPr id="11" name="Text 10"/>
          <p:cNvSpPr txBox="1"/>
          <p:nvPr/>
        </p:nvSpPr>
        <p:spPr>
          <a:xfrm>
            <a:off x="1073150" y="1790025"/>
            <a:ext cx="1225848"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IBM Plex Sans Arabic"/>
                <a:ea typeface="IBM Plex Sans Arabic"/>
                <a:cs typeface="IBM Plex Sans Arabic"/>
              </a:rPr>
              <a:t>Featured</a:t>
            </a:r>
          </a:p>
        </p:txBody>
      </p:sp>
      <p:sp>
        <p:nvSpPr>
          <p:cNvPr id="12" name="Text box 11"/>
          <p:cNvSpPr/>
          <p:nvPr/>
        </p:nvSpPr>
        <p:spPr>
          <a:xfrm>
            <a:off x="2222798" y="188019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3" name="Box 12"/>
          <p:cNvSpPr/>
          <p:nvPr/>
        </p:nvSpPr>
        <p:spPr>
          <a:xfrm>
            <a:off x="1073150" y="2299295"/>
            <a:ext cx="3079750" cy="1071662"/>
          </a:xfrm>
          <a:prstGeom prst="roundRect">
            <a:avLst>
              <a:gd name="adj" fmla="val 7110"/>
            </a:avLst>
          </a:prstGeom>
          <a:solidFill>
            <a:srgbClr val="F1ECE1"/>
          </a:solidFill>
          <a:ln>
            <a:noFill/>
          </a:ln>
        </p:spPr>
        <p:txBody>
          <a:bodyPr rtlCol="0" anchor="ctr"/>
          <a:lstStyle/>
          <a:p>
            <a:pPr algn="ctr"/>
          </a:p>
        </p:txBody>
      </p:sp>
      <p:sp>
        <p:nvSpPr>
          <p:cNvPr id="14" name="Text 13"/>
          <p:cNvSpPr txBox="1"/>
          <p:nvPr/>
        </p:nvSpPr>
        <p:spPr>
          <a:xfrm>
            <a:off x="1212850" y="2378162"/>
            <a:ext cx="29146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1" i="0">
                <a:solidFill>
                  <a:srgbClr val="172433"/>
                </a:solidFill>
                <a:latin typeface="IBM Plex Sans Arabic"/>
                <a:ea typeface="IBM Plex Sans Arabic"/>
                <a:cs typeface="IBM Plex Sans Arabic"/>
              </a:rPr>
              <a:t>Vendor Access Risk</a:t>
            </a:r>
          </a:p>
        </p:txBody>
      </p:sp>
      <p:sp>
        <p:nvSpPr>
          <p:cNvPr id="15" name="Text 14"/>
          <p:cNvSpPr txBox="1"/>
          <p:nvPr/>
        </p:nvSpPr>
        <p:spPr>
          <a:xfrm>
            <a:off x="1212850" y="2731417"/>
            <a:ext cx="2884360" cy="497681"/>
          </a:xfrm>
          <a:prstGeom prst="rect">
            <a:avLst/>
          </a:prstGeom>
          <a:noFill/>
        </p:spPr>
        <p:txBody>
          <a:bodyPr wrap="square" tIns="0" rIns="0" bIns="0" lIns="0" anchor="t" rtlCol="0" anchorCtr="0">
            <a:noAutofit/>
          </a:bodyPr>
          <a:lstStyle/>
          <a:p>
            <a:pPr algn="l">
              <a:lnSpc>
                <a:spcPts val="1960"/>
              </a:lnSpc>
              <a:spcBef>
                <a:spcPts val="0"/>
              </a:spcBef>
              <a:spcAft>
                <a:spcPts val="0"/>
              </a:spcAft>
            </a:pPr>
            <a:r>
              <a:rPr sz="1400" b="0" i="0">
                <a:solidFill>
                  <a:srgbClr val="5E6A75"/>
                </a:solidFill>
                <a:latin typeface="IBM Plex Sans Arabic"/>
                <a:ea typeface="IBM Plex Sans Arabic"/>
                <a:cs typeface="IBM Plex Sans Arabic"/>
              </a:rPr>
              <a:t>Risk rated 16 · 5 actions · fictional company</a:t>
            </a:r>
          </a:p>
        </p:txBody>
      </p:sp>
      <p:sp>
        <p:nvSpPr>
          <p:cNvPr id="16" name="Box 15"/>
          <p:cNvSpPr/>
          <p:nvPr/>
        </p:nvSpPr>
        <p:spPr>
          <a:xfrm>
            <a:off x="4254500" y="2299295"/>
            <a:ext cx="3079750" cy="1071662"/>
          </a:xfrm>
          <a:prstGeom prst="roundRect">
            <a:avLst>
              <a:gd name="adj" fmla="val 7110"/>
            </a:avLst>
          </a:prstGeom>
          <a:solidFill>
            <a:srgbClr val="F1ECE1"/>
          </a:solidFill>
          <a:ln>
            <a:noFill/>
          </a:ln>
        </p:spPr>
        <p:txBody>
          <a:bodyPr rtlCol="0" anchor="ctr"/>
          <a:lstStyle/>
          <a:p>
            <a:pPr algn="ctr"/>
          </a:p>
        </p:txBody>
      </p:sp>
      <p:sp>
        <p:nvSpPr>
          <p:cNvPr id="17" name="Text 16"/>
          <p:cNvSpPr txBox="1"/>
          <p:nvPr/>
        </p:nvSpPr>
        <p:spPr>
          <a:xfrm>
            <a:off x="4394200" y="2378162"/>
            <a:ext cx="29146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1" i="0">
                <a:solidFill>
                  <a:srgbClr val="172433"/>
                </a:solidFill>
                <a:latin typeface="IBM Plex Sans Arabic"/>
                <a:ea typeface="IBM Plex Sans Arabic"/>
                <a:cs typeface="IBM Plex Sans Arabic"/>
              </a:rPr>
              <a:t>Access Review Test</a:t>
            </a:r>
          </a:p>
        </p:txBody>
      </p:sp>
      <p:sp>
        <p:nvSpPr>
          <p:cNvPr id="18" name="Text 17"/>
          <p:cNvSpPr txBox="1"/>
          <p:nvPr/>
        </p:nvSpPr>
        <p:spPr>
          <a:xfrm>
            <a:off x="4394200" y="2731417"/>
            <a:ext cx="2914650" cy="248841"/>
          </a:xfrm>
          <a:prstGeom prst="rect">
            <a:avLst/>
          </a:prstGeom>
          <a:noFill/>
        </p:spPr>
        <p:txBody>
          <a:bodyPr wrap="square" tIns="0" rIns="0" bIns="0" lIns="0" anchor="t" rtlCol="0" anchorCtr="0">
            <a:noAutofit/>
          </a:bodyPr>
          <a:lstStyle/>
          <a:p>
            <a:pPr algn="l">
              <a:lnSpc>
                <a:spcPts val="1960"/>
              </a:lnSpc>
              <a:spcBef>
                <a:spcPts val="0"/>
              </a:spcBef>
              <a:spcAft>
                <a:spcPts val="0"/>
              </a:spcAft>
            </a:pPr>
            <a:r>
              <a:rPr sz="1400" b="0" i="0">
                <a:solidFill>
                  <a:srgbClr val="5E6A75"/>
                </a:solidFill>
                <a:latin typeface="IBM Plex Sans Arabic"/>
                <a:ea typeface="IBM Plex Sans Arabic"/>
                <a:cs typeface="IBM Plex Sans Arabic"/>
              </a:rPr>
              <a:t>Finding + corrective plan</a:t>
            </a:r>
          </a:p>
        </p:txBody>
      </p:sp>
      <p:sp>
        <p:nvSpPr>
          <p:cNvPr id="19" name="Text 18"/>
          <p:cNvSpPr txBox="1"/>
          <p:nvPr/>
        </p:nvSpPr>
        <p:spPr>
          <a:xfrm>
            <a:off x="1073150" y="3522087"/>
            <a:ext cx="810022"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IBM Plex Sans Arabic"/>
                <a:ea typeface="IBM Plex Sans Arabic"/>
                <a:cs typeface="IBM Plex Sans Arabic"/>
              </a:rPr>
              <a:t>Skills</a:t>
            </a:r>
          </a:p>
        </p:txBody>
      </p:sp>
      <p:sp>
        <p:nvSpPr>
          <p:cNvPr id="20" name="Text box 19"/>
          <p:cNvSpPr/>
          <p:nvPr/>
        </p:nvSpPr>
        <p:spPr>
          <a:xfrm>
            <a:off x="1806972" y="3612257"/>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6</a:t>
            </a:r>
          </a:p>
        </p:txBody>
      </p:sp>
      <p:sp>
        <p:nvSpPr>
          <p:cNvPr id="21" name="Text 20"/>
          <p:cNvSpPr txBox="1"/>
          <p:nvPr/>
        </p:nvSpPr>
        <p:spPr>
          <a:xfrm>
            <a:off x="1073150" y="3989701"/>
            <a:ext cx="6496050" cy="304800"/>
          </a:xfrm>
          <a:prstGeom prst="rect">
            <a:avLst/>
          </a:prstGeom>
          <a:noFill/>
        </p:spPr>
        <p:txBody>
          <a:bodyPr wrap="square" tIns="0" rIns="0" bIns="0" lIns="0" anchor="t" rtlCol="0" anchorCtr="0">
            <a:noAutofit/>
          </a:bodyPr>
          <a:lstStyle/>
          <a:p>
            <a:pPr algn="l">
              <a:lnSpc>
                <a:spcPts val="2400"/>
              </a:lnSpc>
              <a:spcBef>
                <a:spcPts val="0"/>
              </a:spcBef>
              <a:spcAft>
                <a:spcPts val="0"/>
              </a:spcAft>
            </a:pPr>
            <a:r>
              <a:rPr sz="1600" b="0" i="0">
                <a:solidFill>
                  <a:srgbClr val="172433"/>
                </a:solidFill>
                <a:latin typeface="IBM Plex Sans Arabic"/>
                <a:ea typeface="IBM Plex Sans Arabic"/>
                <a:cs typeface="IBM Plex Sans Arabic"/>
              </a:rPr>
              <a:t>Risk Assessment · Control Testing · ISO 27001 · NIST CSF · NCA ECC</a:t>
            </a:r>
          </a:p>
        </p:txBody>
      </p:sp>
      <p:sp>
        <p:nvSpPr>
          <p:cNvPr id="22" name="Text 21"/>
          <p:cNvSpPr txBox="1"/>
          <p:nvPr/>
        </p:nvSpPr>
        <p:spPr>
          <a:xfrm>
            <a:off x="270256" y="4610985"/>
            <a:ext cx="732434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4E5A66"/>
                </a:solidFill>
                <a:latin typeface="IBM Plex Sans Arabic"/>
                <a:ea typeface="IBM Plex Sans Arabic"/>
                <a:cs typeface="IBM Plex Sans Arabic"/>
              </a:rPr>
              <a:t>رسم توضيحي مبسط ببيانات افتراضية، ليس لقطة من لينكدإن.</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200</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العنوان المهني: أهم سطر في ملفك</a:t>
            </a:r>
          </a:p>
        </p:txBody>
      </p:sp>
      <p:sp>
        <p:nvSpPr>
          <p:cNvPr id="6" name="Box 5"/>
          <p:cNvSpPr/>
          <p:nvPr/>
        </p:nvSpPr>
        <p:spPr>
          <a:xfrm>
            <a:off x="812800" y="1657945"/>
            <a:ext cx="10566400" cy="579041"/>
          </a:xfrm>
          <a:prstGeom prst="roundRect">
            <a:avLst>
              <a:gd name="adj" fmla="val 15352"/>
            </a:avLst>
          </a:prstGeom>
          <a:solidFill>
            <a:srgbClr val="172433"/>
          </a:solidFill>
          <a:ln>
            <a:noFill/>
          </a:ln>
        </p:spPr>
        <p:txBody>
          <a:bodyPr rtlCol="0" anchor="ctr"/>
          <a:lstStyle/>
          <a:p>
            <a:pPr algn="ctr"/>
          </a:p>
        </p:txBody>
      </p:sp>
      <p:sp>
        <p:nvSpPr>
          <p:cNvPr id="7" name="Text box 6"/>
          <p:cNvSpPr/>
          <p:nvPr/>
        </p:nvSpPr>
        <p:spPr>
          <a:xfrm>
            <a:off x="9433917" y="1759545"/>
            <a:ext cx="1792883"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الوظيفة المستهدفة</a:t>
            </a:r>
          </a:p>
        </p:txBody>
      </p:sp>
      <p:sp>
        <p:nvSpPr>
          <p:cNvPr id="8" name="Text 7"/>
          <p:cNvSpPr txBox="1"/>
          <p:nvPr/>
        </p:nvSpPr>
        <p:spPr>
          <a:xfrm>
            <a:off x="9148723" y="1751993"/>
            <a:ext cx="2089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93A3B1"/>
                </a:solidFill>
                <a:latin typeface="IBM Plex Sans Arabic"/>
                <a:ea typeface="IBM Plex Sans Arabic"/>
                <a:cs typeface="IBM Plex Sans Arabic"/>
              </a:rPr>
              <a:t>|</a:t>
            </a:r>
          </a:p>
        </p:txBody>
      </p:sp>
      <p:sp>
        <p:nvSpPr>
          <p:cNvPr id="9" name="Text box 8"/>
          <p:cNvSpPr/>
          <p:nvPr/>
        </p:nvSpPr>
        <p:spPr>
          <a:xfrm>
            <a:off x="7828657" y="1759545"/>
            <a:ext cx="1381026"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مجالان أو ثلاثة</a:t>
            </a:r>
          </a:p>
        </p:txBody>
      </p:sp>
      <p:sp>
        <p:nvSpPr>
          <p:cNvPr id="10" name="Text 9"/>
          <p:cNvSpPr txBox="1"/>
          <p:nvPr/>
        </p:nvSpPr>
        <p:spPr>
          <a:xfrm>
            <a:off x="7543463" y="1751993"/>
            <a:ext cx="2089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93A3B1"/>
                </a:solidFill>
                <a:latin typeface="IBM Plex Sans Arabic"/>
                <a:ea typeface="IBM Plex Sans Arabic"/>
                <a:cs typeface="IBM Plex Sans Arabic"/>
              </a:rPr>
              <a:t>|</a:t>
            </a:r>
          </a:p>
        </p:txBody>
      </p:sp>
      <p:sp>
        <p:nvSpPr>
          <p:cNvPr id="11" name="Text box 10"/>
          <p:cNvSpPr/>
          <p:nvPr/>
        </p:nvSpPr>
        <p:spPr>
          <a:xfrm>
            <a:off x="5563394" y="1759545"/>
            <a:ext cx="2041029" cy="375841"/>
          </a:xfrm>
          <a:prstGeom prst="roundRect">
            <a:avLst>
              <a:gd name="adj" fmla="val 50000"/>
            </a:avLst>
          </a:prstGeom>
          <a:solidFill>
            <a:srgbClr val="F2C46D"/>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شهادة أو مشروع</a:t>
            </a:r>
          </a:p>
        </p:txBody>
      </p:sp>
      <p:sp>
        <p:nvSpPr>
          <p:cNvPr id="12" name="Rule 11"/>
          <p:cNvSpPr/>
          <p:nvPr/>
        </p:nvSpPr>
        <p:spPr>
          <a:xfrm>
            <a:off x="4964708" y="2427486"/>
            <a:ext cx="6414492" cy="31750"/>
          </a:xfrm>
          <a:prstGeom prst="rect">
            <a:avLst/>
          </a:prstGeom>
          <a:solidFill>
            <a:srgbClr val="C9C0AC"/>
          </a:solidFill>
          <a:ln>
            <a:noFill/>
          </a:ln>
        </p:spPr>
        <p:txBody>
          <a:bodyPr rtlCol="0" anchor="ctr"/>
          <a:lstStyle/>
          <a:p>
            <a:pPr algn="ctr"/>
          </a:p>
        </p:txBody>
      </p:sp>
      <p:sp>
        <p:nvSpPr>
          <p:cNvPr id="13" name="Text 12"/>
          <p:cNvSpPr txBox="1"/>
          <p:nvPr/>
        </p:nvSpPr>
        <p:spPr>
          <a:xfrm>
            <a:off x="4990108" y="2588776"/>
            <a:ext cx="6350992"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قوي</a:t>
            </a:r>
          </a:p>
        </p:txBody>
      </p:sp>
      <p:sp>
        <p:nvSpPr>
          <p:cNvPr id="14" name="Text box 13"/>
          <p:cNvSpPr/>
          <p:nvPr/>
        </p:nvSpPr>
        <p:spPr>
          <a:xfrm>
            <a:off x="5002808" y="2979936"/>
            <a:ext cx="6338292" cy="766961"/>
          </a:xfrm>
          <a:prstGeom prst="roundRect">
            <a:avLst>
              <a:gd name="adj" fmla="val 8279"/>
            </a:avLst>
          </a:prstGeom>
          <a:solidFill>
            <a:srgbClr val="E3F1ED"/>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Entry-Level GRC Analyst | Risk Assessment · ISO 27001 · NCA ECC | ISC2 CC</a:t>
            </a:r>
          </a:p>
        </p:txBody>
      </p:sp>
      <p:sp>
        <p:nvSpPr>
          <p:cNvPr id="15" name="Text box 14"/>
          <p:cNvSpPr/>
          <p:nvPr/>
        </p:nvSpPr>
        <p:spPr>
          <a:xfrm>
            <a:off x="5002808" y="3810397"/>
            <a:ext cx="6338292" cy="766961"/>
          </a:xfrm>
          <a:prstGeom prst="roundRect">
            <a:avLst>
              <a:gd name="adj" fmla="val 8279"/>
            </a:avLst>
          </a:prstGeom>
          <a:solidFill>
            <a:srgbClr val="E3F1ED"/>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IT Support → GRC | Access Management · NIST CSF 2.0 | Security+</a:t>
            </a:r>
          </a:p>
        </p:txBody>
      </p:sp>
      <p:sp>
        <p:nvSpPr>
          <p:cNvPr id="16" name="Text box 15"/>
          <p:cNvSpPr/>
          <p:nvPr/>
        </p:nvSpPr>
        <p:spPr>
          <a:xfrm>
            <a:off x="5002808" y="4640858"/>
            <a:ext cx="6338292" cy="446980"/>
          </a:xfrm>
          <a:prstGeom prst="roundRect">
            <a:avLst>
              <a:gd name="adj" fmla="val 14206"/>
            </a:avLst>
          </a:prstGeom>
          <a:solidFill>
            <a:srgbClr val="E3F1ED"/>
          </a:solidFill>
          <a:ln>
            <a:noFill/>
          </a:ln>
        </p:spPr>
        <p:txBody>
          <a:bodyPr rtlCol="0" anchor="ctr" wrap="square" tIns="9468" rIns="83001" bIns="80334" lIns="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محلل حوكمة ومخاطر وامتثال | ECC · ISO 27001 | مشروعا تقييم</a:t>
            </a:r>
          </a:p>
        </p:txBody>
      </p:sp>
      <p:sp>
        <p:nvSpPr>
          <p:cNvPr id="17" name="Rule 16"/>
          <p:cNvSpPr/>
          <p:nvPr/>
        </p:nvSpPr>
        <p:spPr>
          <a:xfrm>
            <a:off x="812800" y="2427486"/>
            <a:ext cx="4037608"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2588776"/>
            <a:ext cx="397410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ضعيف</a:t>
            </a:r>
          </a:p>
        </p:txBody>
      </p:sp>
      <p:sp>
        <p:nvSpPr>
          <p:cNvPr id="19" name="Text box 18"/>
          <p:cNvSpPr/>
          <p:nvPr/>
        </p:nvSpPr>
        <p:spPr>
          <a:xfrm>
            <a:off x="850900" y="2979936"/>
            <a:ext cx="3961408" cy="446980"/>
          </a:xfrm>
          <a:prstGeom prst="roundRect">
            <a:avLst>
              <a:gd name="adj" fmla="val 14206"/>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Computer Science Student</a:t>
            </a:r>
          </a:p>
        </p:txBody>
      </p:sp>
      <p:sp>
        <p:nvSpPr>
          <p:cNvPr id="20" name="Text box 19"/>
          <p:cNvSpPr/>
          <p:nvPr/>
        </p:nvSpPr>
        <p:spPr>
          <a:xfrm>
            <a:off x="850900" y="3490416"/>
            <a:ext cx="3961408" cy="446980"/>
          </a:xfrm>
          <a:prstGeom prst="roundRect">
            <a:avLst>
              <a:gd name="adj" fmla="val 14206"/>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Looking for opportunities</a:t>
            </a:r>
          </a:p>
        </p:txBody>
      </p:sp>
      <p:sp>
        <p:nvSpPr>
          <p:cNvPr id="21" name="Text box 20"/>
          <p:cNvSpPr/>
          <p:nvPr/>
        </p:nvSpPr>
        <p:spPr>
          <a:xfrm>
            <a:off x="850900" y="4000897"/>
            <a:ext cx="3961408" cy="766961"/>
          </a:xfrm>
          <a:prstGeom prst="roundRect">
            <a:avLst>
              <a:gd name="adj" fmla="val 8279"/>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Cybersecurity enthusiast | Hard worker</a:t>
            </a:r>
          </a:p>
        </p:txBody>
      </p:sp>
      <p:sp>
        <p:nvSpPr>
          <p:cNvPr id="22" name="Text 21"/>
          <p:cNvSpPr txBox="1"/>
          <p:nvPr/>
        </p:nvSpPr>
        <p:spPr>
          <a:xfrm>
            <a:off x="0" y="5276306"/>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لم نجد حداً رسمياً لعدد الحروف في صفحات المساعدة. ضع أهم الكلمات في البداية.</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201</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نبذة About: أربعة أجزاء في فقرات قصيرة</a:t>
            </a:r>
          </a:p>
        </p:txBody>
      </p:sp>
      <p:sp>
        <p:nvSpPr>
          <p:cNvPr id="6" name="Box 5"/>
          <p:cNvSpPr/>
          <p:nvPr/>
        </p:nvSpPr>
        <p:spPr>
          <a:xfrm>
            <a:off x="11315700" y="1657945"/>
            <a:ext cx="63500" cy="525661"/>
          </a:xfrm>
          <a:prstGeom prst="roundRect">
            <a:avLst>
              <a:gd name="adj" fmla="val 50000"/>
            </a:avLst>
          </a:prstGeom>
          <a:solidFill>
            <a:srgbClr val="0E7C6B"/>
          </a:solidFill>
          <a:ln>
            <a:noFill/>
          </a:ln>
        </p:spPr>
        <p:txBody>
          <a:bodyPr rtlCol="0" anchor="ctr"/>
          <a:lstStyle/>
          <a:p>
            <a:pPr algn="ctr"/>
          </a:p>
        </p:txBody>
      </p:sp>
      <p:sp>
        <p:nvSpPr>
          <p:cNvPr id="7" name="Text 6"/>
          <p:cNvSpPr txBox="1"/>
          <p:nvPr/>
        </p:nvSpPr>
        <p:spPr>
          <a:xfrm>
            <a:off x="7825232" y="1636609"/>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1. الافتتاح</a:t>
            </a:r>
          </a:p>
        </p:txBody>
      </p:sp>
      <p:sp>
        <p:nvSpPr>
          <p:cNvPr id="8" name="Text 7"/>
          <p:cNvSpPr txBox="1"/>
          <p:nvPr/>
        </p:nvSpPr>
        <p:spPr>
          <a:xfrm>
            <a:off x="7825232" y="1907207"/>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من أنت، وما تركيزك.</a:t>
            </a:r>
          </a:p>
        </p:txBody>
      </p:sp>
      <p:sp>
        <p:nvSpPr>
          <p:cNvPr id="9" name="Box 8"/>
          <p:cNvSpPr/>
          <p:nvPr/>
        </p:nvSpPr>
        <p:spPr>
          <a:xfrm>
            <a:off x="11315700" y="2285206"/>
            <a:ext cx="63500" cy="525661"/>
          </a:xfrm>
          <a:prstGeom prst="roundRect">
            <a:avLst>
              <a:gd name="adj" fmla="val 50000"/>
            </a:avLst>
          </a:prstGeom>
          <a:solidFill>
            <a:srgbClr val="24506B"/>
          </a:solidFill>
          <a:ln>
            <a:noFill/>
          </a:ln>
        </p:spPr>
        <p:txBody>
          <a:bodyPr rtlCol="0" anchor="ctr"/>
          <a:lstStyle/>
          <a:p>
            <a:pPr algn="ctr"/>
          </a:p>
        </p:txBody>
      </p:sp>
      <p:sp>
        <p:nvSpPr>
          <p:cNvPr id="10" name="Text 9"/>
          <p:cNvSpPr txBox="1"/>
          <p:nvPr/>
        </p:nvSpPr>
        <p:spPr>
          <a:xfrm>
            <a:off x="7825232" y="2263870"/>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2. الدليل</a:t>
            </a:r>
          </a:p>
        </p:txBody>
      </p:sp>
      <p:sp>
        <p:nvSpPr>
          <p:cNvPr id="11" name="Text 10"/>
          <p:cNvSpPr txBox="1"/>
          <p:nvPr/>
        </p:nvSpPr>
        <p:spPr>
          <a:xfrm>
            <a:off x="7825232" y="2534468"/>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مشروعان بنتائج محددة.</a:t>
            </a:r>
          </a:p>
        </p:txBody>
      </p:sp>
      <p:sp>
        <p:nvSpPr>
          <p:cNvPr id="12" name="Box 11"/>
          <p:cNvSpPr/>
          <p:nvPr/>
        </p:nvSpPr>
        <p:spPr>
          <a:xfrm>
            <a:off x="11315700" y="2912467"/>
            <a:ext cx="63500" cy="525661"/>
          </a:xfrm>
          <a:prstGeom prst="roundRect">
            <a:avLst>
              <a:gd name="adj" fmla="val 50000"/>
            </a:avLst>
          </a:prstGeom>
          <a:solidFill>
            <a:srgbClr val="5A3F87"/>
          </a:solidFill>
          <a:ln>
            <a:noFill/>
          </a:ln>
        </p:spPr>
        <p:txBody>
          <a:bodyPr rtlCol="0" anchor="ctr"/>
          <a:lstStyle/>
          <a:p>
            <a:pPr algn="ctr"/>
          </a:p>
        </p:txBody>
      </p:sp>
      <p:sp>
        <p:nvSpPr>
          <p:cNvPr id="13" name="Text 12"/>
          <p:cNvSpPr txBox="1"/>
          <p:nvPr/>
        </p:nvSpPr>
        <p:spPr>
          <a:xfrm>
            <a:off x="7825232" y="2891131"/>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3. المجالات والأطر</a:t>
            </a:r>
          </a:p>
        </p:txBody>
      </p:sp>
      <p:sp>
        <p:nvSpPr>
          <p:cNvPr id="14" name="Text 13"/>
          <p:cNvSpPr txBox="1"/>
          <p:nvPr/>
        </p:nvSpPr>
        <p:spPr>
          <a:xfrm>
            <a:off x="7825232" y="3161728"/>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كلمات البحث.</a:t>
            </a:r>
          </a:p>
        </p:txBody>
      </p:sp>
      <p:sp>
        <p:nvSpPr>
          <p:cNvPr id="15" name="Box 14"/>
          <p:cNvSpPr/>
          <p:nvPr/>
        </p:nvSpPr>
        <p:spPr>
          <a:xfrm>
            <a:off x="11315700" y="3539728"/>
            <a:ext cx="63500" cy="525661"/>
          </a:xfrm>
          <a:prstGeom prst="roundRect">
            <a:avLst>
              <a:gd name="adj" fmla="val 50000"/>
            </a:avLst>
          </a:prstGeom>
          <a:solidFill>
            <a:srgbClr val="8A4B12"/>
          </a:solidFill>
          <a:ln>
            <a:noFill/>
          </a:ln>
        </p:spPr>
        <p:txBody>
          <a:bodyPr rtlCol="0" anchor="ctr"/>
          <a:lstStyle/>
          <a:p>
            <a:pPr algn="ctr"/>
          </a:p>
        </p:txBody>
      </p:sp>
      <p:sp>
        <p:nvSpPr>
          <p:cNvPr id="16" name="Text 15"/>
          <p:cNvSpPr txBox="1"/>
          <p:nvPr/>
        </p:nvSpPr>
        <p:spPr>
          <a:xfrm>
            <a:off x="7825232" y="3518392"/>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4. الدعوة</a:t>
            </a:r>
          </a:p>
        </p:txBody>
      </p:sp>
      <p:sp>
        <p:nvSpPr>
          <p:cNvPr id="17" name="Text 16"/>
          <p:cNvSpPr txBox="1"/>
          <p:nvPr/>
        </p:nvSpPr>
        <p:spPr>
          <a:xfrm>
            <a:off x="7825232" y="3788989"/>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ماذا تبحث عنه، وكيف يتواصلون معك.</a:t>
            </a:r>
          </a:p>
        </p:txBody>
      </p:sp>
      <p:sp>
        <p:nvSpPr>
          <p:cNvPr id="18" name="Box 17"/>
          <p:cNvSpPr/>
          <p:nvPr/>
        </p:nvSpPr>
        <p:spPr>
          <a:xfrm>
            <a:off x="8077200" y="4166989"/>
            <a:ext cx="3302000" cy="751681"/>
          </a:xfrm>
          <a:prstGeom prst="roundRect">
            <a:avLst>
              <a:gd name="adj" fmla="val 13516"/>
            </a:avLst>
          </a:prstGeom>
          <a:solidFill>
            <a:srgbClr val="172433"/>
          </a:solidFill>
          <a:ln>
            <a:noFill/>
          </a:ln>
        </p:spPr>
        <p:txBody>
          <a:bodyPr rtlCol="0" anchor="ctr"/>
          <a:lstStyle/>
          <a:p>
            <a:pPr algn="ctr"/>
          </a:p>
        </p:txBody>
      </p:sp>
      <p:pic>
        <p:nvPicPr>
          <p:cNvPr id="19" name="Icon Book 18" descr="icon091.png"/>
          <p:cNvPicPr>
            <a:picLocks noChangeAspect="1"/>
          </p:cNvPicPr>
          <p:nvPr/>
        </p:nvPicPr>
        <p:blipFill>
          <a:blip r:embed="rId2"/>
          <a:stretch>
            <a:fillRect/>
          </a:stretch>
        </p:blipFill>
        <p:spPr>
          <a:xfrm>
            <a:off x="11010900" y="4447580"/>
            <a:ext cx="190500" cy="190500"/>
          </a:xfrm>
          <a:prstGeom prst="rect">
            <a:avLst/>
          </a:prstGeom>
        </p:spPr>
      </p:pic>
      <p:sp>
        <p:nvSpPr>
          <p:cNvPr id="20" name="Text 19"/>
          <p:cNvSpPr txBox="1"/>
          <p:nvPr/>
        </p:nvSpPr>
        <p:spPr>
          <a:xfrm>
            <a:off x="8175752" y="4266430"/>
            <a:ext cx="2720848"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F3EFE6"/>
                </a:solidFill>
                <a:latin typeface="IBM Plex Sans Arabic"/>
                <a:ea typeface="IBM Plex Sans Arabic"/>
                <a:cs typeface="IBM Plex Sans Arabic"/>
              </a:rPr>
              <a:t>الحد 2,600 حرف، لكن 150 إلى 250 كلمة تكفي غالباً.</a:t>
            </a:r>
          </a:p>
        </p:txBody>
      </p:sp>
      <p:sp>
        <p:nvSpPr>
          <p:cNvPr id="21" name="Box 20"/>
          <p:cNvSpPr/>
          <p:nvPr/>
        </p:nvSpPr>
        <p:spPr>
          <a:xfrm>
            <a:off x="815975" y="1661120"/>
            <a:ext cx="7080250" cy="3622774"/>
          </a:xfrm>
          <a:prstGeom prst="roundRect">
            <a:avLst>
              <a:gd name="adj" fmla="val 3149"/>
            </a:avLst>
          </a:prstGeom>
          <a:solidFill>
            <a:srgbClr val="FFFFFF"/>
          </a:solidFill>
          <a:ln w="6350">
            <a:solidFill>
              <a:srgbClr val="E1DBCD"/>
            </a:solidFill>
          </a:ln>
        </p:spPr>
        <p:txBody>
          <a:bodyPr rtlCol="0" anchor="ctr"/>
          <a:lstStyle/>
          <a:p>
            <a:pPr algn="ctr"/>
          </a:p>
        </p:txBody>
      </p:sp>
      <p:sp>
        <p:nvSpPr>
          <p:cNvPr id="22" name="Text 21"/>
          <p:cNvSpPr txBox="1"/>
          <p:nvPr/>
        </p:nvSpPr>
        <p:spPr>
          <a:xfrm>
            <a:off x="1009650" y="1787485"/>
            <a:ext cx="6864350"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Readex Pro"/>
                <a:ea typeface="Readex Pro"/>
                <a:cs typeface="Readex Pro"/>
              </a:rPr>
              <a:t>About</a:t>
            </a:r>
          </a:p>
        </p:txBody>
      </p:sp>
      <p:sp>
        <p:nvSpPr>
          <p:cNvPr id="23" name="Text box 22"/>
          <p:cNvSpPr/>
          <p:nvPr/>
        </p:nvSpPr>
        <p:spPr>
          <a:xfrm>
            <a:off x="1009650" y="2248495"/>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Entry-level GRC analyst focused on turning requirements into clear, testable controls.</a:t>
            </a:r>
          </a:p>
        </p:txBody>
      </p:sp>
      <p:sp>
        <p:nvSpPr>
          <p:cNvPr id="24" name="Rule 23"/>
          <p:cNvSpPr/>
          <p:nvPr/>
        </p:nvSpPr>
        <p:spPr>
          <a:xfrm>
            <a:off x="1009650" y="2248495"/>
            <a:ext cx="38100" cy="589161"/>
          </a:xfrm>
          <a:prstGeom prst="rect">
            <a:avLst/>
          </a:prstGeom>
          <a:solidFill>
            <a:srgbClr val="0E7C6B"/>
          </a:solidFill>
          <a:ln>
            <a:noFill/>
          </a:ln>
        </p:spPr>
        <p:txBody>
          <a:bodyPr rtlCol="0" anchor="ctr"/>
          <a:lstStyle/>
          <a:p>
            <a:pPr algn="ctr"/>
          </a:p>
        </p:txBody>
      </p:sp>
      <p:sp>
        <p:nvSpPr>
          <p:cNvPr id="25" name="Text box 24"/>
          <p:cNvSpPr/>
          <p:nvPr/>
        </p:nvSpPr>
        <p:spPr>
          <a:xfrm>
            <a:off x="1009650" y="2913856"/>
            <a:ext cx="6692900" cy="88374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In a training case for a 200-staff company, I rated a vendor access risk and tested a quarterly access review, then wrote a finding with a corrective plan.</a:t>
            </a:r>
          </a:p>
        </p:txBody>
      </p:sp>
      <p:sp>
        <p:nvSpPr>
          <p:cNvPr id="26" name="Rule 25"/>
          <p:cNvSpPr/>
          <p:nvPr/>
        </p:nvSpPr>
        <p:spPr>
          <a:xfrm>
            <a:off x="1009650" y="2913856"/>
            <a:ext cx="38100" cy="883741"/>
          </a:xfrm>
          <a:prstGeom prst="rect">
            <a:avLst/>
          </a:prstGeom>
          <a:solidFill>
            <a:srgbClr val="24506B"/>
          </a:solidFill>
          <a:ln>
            <a:noFill/>
          </a:ln>
        </p:spPr>
        <p:txBody>
          <a:bodyPr rtlCol="0" anchor="ctr"/>
          <a:lstStyle/>
          <a:p>
            <a:pPr algn="ctr"/>
          </a:p>
        </p:txBody>
      </p:sp>
      <p:sp>
        <p:nvSpPr>
          <p:cNvPr id="27" name="Text box 26"/>
          <p:cNvSpPr/>
          <p:nvPr/>
        </p:nvSpPr>
        <p:spPr>
          <a:xfrm>
            <a:off x="1009650" y="3873798"/>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Focus: risk assessment · control testing · ISO/IEC 27001 · NIST CSF 2.0 · NCA ECC · ISC2 CC.</a:t>
            </a:r>
          </a:p>
        </p:txBody>
      </p:sp>
      <p:sp>
        <p:nvSpPr>
          <p:cNvPr id="28" name="Rule 27"/>
          <p:cNvSpPr/>
          <p:nvPr/>
        </p:nvSpPr>
        <p:spPr>
          <a:xfrm>
            <a:off x="1009650" y="3873798"/>
            <a:ext cx="38100" cy="589161"/>
          </a:xfrm>
          <a:prstGeom prst="rect">
            <a:avLst/>
          </a:prstGeom>
          <a:solidFill>
            <a:srgbClr val="5A3F87"/>
          </a:solidFill>
          <a:ln>
            <a:noFill/>
          </a:ln>
        </p:spPr>
        <p:txBody>
          <a:bodyPr rtlCol="0" anchor="ctr"/>
          <a:lstStyle/>
          <a:p>
            <a:pPr algn="ctr"/>
          </a:p>
        </p:txBody>
      </p:sp>
      <p:sp>
        <p:nvSpPr>
          <p:cNvPr id="29" name="Text box 28"/>
          <p:cNvSpPr/>
          <p:nvPr/>
        </p:nvSpPr>
        <p:spPr>
          <a:xfrm>
            <a:off x="1009650" y="4539159"/>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Open to entry-level GRC and compliance roles in Riyadh. See my projects in Featured.</a:t>
            </a:r>
          </a:p>
        </p:txBody>
      </p:sp>
      <p:sp>
        <p:nvSpPr>
          <p:cNvPr id="30" name="Rule 29"/>
          <p:cNvSpPr/>
          <p:nvPr/>
        </p:nvSpPr>
        <p:spPr>
          <a:xfrm>
            <a:off x="1009650" y="4539159"/>
            <a:ext cx="38100" cy="589161"/>
          </a:xfrm>
          <a:prstGeom prst="rect">
            <a:avLst/>
          </a:prstGeom>
          <a:solidFill>
            <a:srgbClr val="8A4B12"/>
          </a:solidFill>
          <a:ln>
            <a:noFill/>
          </a:ln>
        </p:spPr>
        <p:txBody>
          <a:bodyPr rtlCol="0" anchor="ctr"/>
          <a:lstStyle/>
          <a:p>
            <a:pPr algn="ctr"/>
          </a:p>
        </p:txBody>
      </p:sp>
      <p:sp>
        <p:nvSpPr>
          <p:cNvPr id="31" name="Text 3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32" name="Text 3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الشبكة والنشر: كن مرئياً في مجالك</a:t>
            </a:r>
          </a:p>
        </p:txBody>
      </p:sp>
      <p:sp>
        <p:nvSpPr>
          <p:cNvPr id="5" name="Rule 4"/>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6" name="Text 5"/>
          <p:cNvSpPr txBox="1"/>
          <p:nvPr/>
        </p:nvSpPr>
        <p:spPr>
          <a:xfrm>
            <a:off x="617855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من تضيف، وكيف</a:t>
            </a:r>
          </a:p>
        </p:txBody>
      </p:sp>
      <p:pic>
        <p:nvPicPr>
          <p:cNvPr id="7" name="Icon Users 6" descr="icon069.png"/>
          <p:cNvPicPr>
            <a:picLocks noChangeAspect="1"/>
          </p:cNvPicPr>
          <p:nvPr/>
        </p:nvPicPr>
        <p:blipFill>
          <a:blip r:embed="rId2"/>
          <a:stretch>
            <a:fillRect/>
          </a:stretch>
        </p:blipFill>
        <p:spPr>
          <a:xfrm>
            <a:off x="11106150" y="2223095"/>
            <a:ext cx="234950" cy="234950"/>
          </a:xfrm>
          <a:prstGeom prst="rect">
            <a:avLst/>
          </a:prstGeom>
        </p:spPr>
      </p:pic>
      <p:sp>
        <p:nvSpPr>
          <p:cNvPr id="8" name="Text 7"/>
          <p:cNvSpPr txBox="1"/>
          <p:nvPr/>
        </p:nvSpPr>
        <p:spPr>
          <a:xfrm>
            <a:off x="6178550" y="21837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مختصو GRC في الجهات التي تستهدفها</a:t>
            </a:r>
          </a:p>
        </p:txBody>
      </p:sp>
      <p:pic>
        <p:nvPicPr>
          <p:cNvPr id="9" name="Icon Users 8" descr="icon069.png"/>
          <p:cNvPicPr>
            <a:picLocks noChangeAspect="1"/>
          </p:cNvPicPr>
          <p:nvPr/>
        </p:nvPicPr>
        <p:blipFill>
          <a:blip r:embed="rId2"/>
          <a:stretch>
            <a:fillRect/>
          </a:stretch>
        </p:blipFill>
        <p:spPr>
          <a:xfrm>
            <a:off x="11106150" y="2629495"/>
            <a:ext cx="234950" cy="234950"/>
          </a:xfrm>
          <a:prstGeom prst="rect">
            <a:avLst/>
          </a:prstGeom>
        </p:spPr>
      </p:pic>
      <p:sp>
        <p:nvSpPr>
          <p:cNvPr id="10" name="Text 9"/>
          <p:cNvSpPr txBox="1"/>
          <p:nvPr/>
        </p:nvSpPr>
        <p:spPr>
          <a:xfrm>
            <a:off x="6178550" y="25901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مسؤولو التوظيف في الأمن السيبراني</a:t>
            </a:r>
          </a:p>
        </p:txBody>
      </p:sp>
      <p:pic>
        <p:nvPicPr>
          <p:cNvPr id="11" name="Icon Users 10" descr="icon069.png"/>
          <p:cNvPicPr>
            <a:picLocks noChangeAspect="1"/>
          </p:cNvPicPr>
          <p:nvPr/>
        </p:nvPicPr>
        <p:blipFill>
          <a:blip r:embed="rId2"/>
          <a:stretch>
            <a:fillRect/>
          </a:stretch>
        </p:blipFill>
        <p:spPr>
          <a:xfrm>
            <a:off x="11106150" y="3035895"/>
            <a:ext cx="234950" cy="234950"/>
          </a:xfrm>
          <a:prstGeom prst="rect">
            <a:avLst/>
          </a:prstGeom>
        </p:spPr>
      </p:pic>
      <p:sp>
        <p:nvSpPr>
          <p:cNvPr id="12" name="Text 11"/>
          <p:cNvSpPr txBox="1"/>
          <p:nvPr/>
        </p:nvSpPr>
        <p:spPr>
          <a:xfrm>
            <a:off x="6178550" y="29965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زملاء الدراسة والدورات والفعاليات</a:t>
            </a:r>
          </a:p>
        </p:txBody>
      </p:sp>
      <p:sp>
        <p:nvSpPr>
          <p:cNvPr id="13" name="Box 12"/>
          <p:cNvSpPr/>
          <p:nvPr/>
        </p:nvSpPr>
        <p:spPr>
          <a:xfrm>
            <a:off x="6191250" y="3467695"/>
            <a:ext cx="5149850" cy="939800"/>
          </a:xfrm>
          <a:prstGeom prst="roundRect">
            <a:avLst>
              <a:gd name="adj" fmla="val 9459"/>
            </a:avLst>
          </a:prstGeom>
          <a:solidFill>
            <a:srgbClr val="FFFFFF"/>
          </a:solidFill>
          <a:ln>
            <a:noFill/>
          </a:ln>
        </p:spPr>
        <p:txBody>
          <a:bodyPr rtlCol="0" anchor="ctr"/>
          <a:lstStyle/>
          <a:p>
            <a:pPr algn="ctr"/>
          </a:p>
        </p:txBody>
      </p:sp>
      <p:sp>
        <p:nvSpPr>
          <p:cNvPr id="14" name="Rule 13"/>
          <p:cNvSpPr/>
          <p:nvPr/>
        </p:nvSpPr>
        <p:spPr>
          <a:xfrm>
            <a:off x="11290300" y="3467695"/>
            <a:ext cx="50800" cy="939800"/>
          </a:xfrm>
          <a:prstGeom prst="rect">
            <a:avLst/>
          </a:prstGeom>
          <a:solidFill>
            <a:srgbClr val="0E7C6B"/>
          </a:solidFill>
          <a:ln>
            <a:noFill/>
          </a:ln>
        </p:spPr>
        <p:txBody>
          <a:bodyPr rtlCol="0" anchor="ctr"/>
          <a:lstStyle/>
          <a:p>
            <a:pPr algn="ctr"/>
          </a:p>
        </p:txBody>
      </p:sp>
      <p:sp>
        <p:nvSpPr>
          <p:cNvPr id="15" name="Text 14"/>
          <p:cNvSpPr txBox="1"/>
          <p:nvPr/>
        </p:nvSpPr>
        <p:spPr>
          <a:xfrm>
            <a:off x="6226746" y="3547832"/>
            <a:ext cx="4885754"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«أ. نورة، استفدت من منشورك عن تقييم الموردين. أنا في بداية مساري في GRC، ويسعدني التواصل.»</a:t>
            </a:r>
          </a:p>
        </p:txBody>
      </p:sp>
      <p:sp>
        <p:nvSpPr>
          <p:cNvPr id="16" name="Rule 15"/>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7" name="Text 16"/>
          <p:cNvSpPr txBox="1"/>
          <p:nvPr/>
        </p:nvSpPr>
        <p:spPr>
          <a:xfrm>
            <a:off x="83820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ماذا تنشر</a:t>
            </a:r>
          </a:p>
        </p:txBody>
      </p:sp>
      <p:sp>
        <p:nvSpPr>
          <p:cNvPr id="18" name="Text 17"/>
          <p:cNvSpPr txBox="1"/>
          <p:nvPr/>
        </p:nvSpPr>
        <p:spPr>
          <a:xfrm>
            <a:off x="5619750" y="21938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19" name="Text 18"/>
          <p:cNvSpPr txBox="1"/>
          <p:nvPr/>
        </p:nvSpPr>
        <p:spPr>
          <a:xfrm>
            <a:off x="838200" y="21837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ضابط واحد بمثال من الواقع</a:t>
            </a:r>
          </a:p>
        </p:txBody>
      </p:sp>
      <p:sp>
        <p:nvSpPr>
          <p:cNvPr id="20" name="Text 19"/>
          <p:cNvSpPr txBox="1"/>
          <p:nvPr/>
        </p:nvSpPr>
        <p:spPr>
          <a:xfrm>
            <a:off x="5619750" y="26002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1" name="Text 20"/>
          <p:cNvSpPr txBox="1"/>
          <p:nvPr/>
        </p:nvSpPr>
        <p:spPr>
          <a:xfrm>
            <a:off x="838200" y="25901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 من ملف أعمالك وما تعلمته</a:t>
            </a:r>
          </a:p>
        </p:txBody>
      </p:sp>
      <p:sp>
        <p:nvSpPr>
          <p:cNvPr id="22" name="Text 21"/>
          <p:cNvSpPr txBox="1"/>
          <p:nvPr/>
        </p:nvSpPr>
        <p:spPr>
          <a:xfrm>
            <a:off x="5619750" y="30066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23" name="Text 22"/>
          <p:cNvSpPr txBox="1"/>
          <p:nvPr/>
        </p:nvSpPr>
        <p:spPr>
          <a:xfrm>
            <a:off x="838200" y="29965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خلاصة فعالية حضرتها</a:t>
            </a:r>
          </a:p>
        </p:txBody>
      </p:sp>
      <p:sp>
        <p:nvSpPr>
          <p:cNvPr id="24" name="Text 23"/>
          <p:cNvSpPr txBox="1"/>
          <p:nvPr/>
        </p:nvSpPr>
        <p:spPr>
          <a:xfrm>
            <a:off x="5619750" y="34130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4</a:t>
            </a:r>
          </a:p>
        </p:txBody>
      </p:sp>
      <p:sp>
        <p:nvSpPr>
          <p:cNvPr id="25" name="Text 24"/>
          <p:cNvSpPr txBox="1"/>
          <p:nvPr/>
        </p:nvSpPr>
        <p:spPr>
          <a:xfrm>
            <a:off x="838200" y="34029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تعليق مفيد على منشور مختص</a:t>
            </a:r>
          </a:p>
        </p:txBody>
      </p:sp>
      <p:sp>
        <p:nvSpPr>
          <p:cNvPr id="26" name="Box 25"/>
          <p:cNvSpPr/>
          <p:nvPr/>
        </p:nvSpPr>
        <p:spPr>
          <a:xfrm>
            <a:off x="815975" y="49821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7" name="Icon Warning 26" descr="icon027.png"/>
          <p:cNvPicPr>
            <a:picLocks noChangeAspect="1"/>
          </p:cNvPicPr>
          <p:nvPr/>
        </p:nvPicPr>
        <p:blipFill>
          <a:blip r:embed="rId3"/>
          <a:stretch>
            <a:fillRect/>
          </a:stretch>
        </p:blipFill>
        <p:spPr>
          <a:xfrm>
            <a:off x="10934700" y="5159970"/>
            <a:ext cx="260350" cy="260350"/>
          </a:xfrm>
          <a:prstGeom prst="rect">
            <a:avLst/>
          </a:prstGeom>
        </p:spPr>
      </p:pic>
      <p:sp>
        <p:nvSpPr>
          <p:cNvPr id="28" name="Text 27"/>
          <p:cNvSpPr txBox="1"/>
          <p:nvPr/>
        </p:nvSpPr>
        <p:spPr>
          <a:xfrm>
            <a:off x="838200" y="50729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تنشر أي تفصيل عن ضوابط أو ثغرات جهة عملت أو تدربت فيها.</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البحث عن الفرص: Open to Work والمسميات</a:t>
            </a:r>
          </a:p>
        </p:txBody>
      </p:sp>
      <p:sp>
        <p:nvSpPr>
          <p:cNvPr id="5" name="Rule 4"/>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6" name="Text 5"/>
          <p:cNvSpPr txBox="1"/>
          <p:nvPr/>
        </p:nvSpPr>
        <p:spPr>
          <a:xfrm>
            <a:off x="617855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فعّل Open to Work</a:t>
            </a:r>
          </a:p>
        </p:txBody>
      </p:sp>
      <p:sp>
        <p:nvSpPr>
          <p:cNvPr id="7" name="Text 6"/>
          <p:cNvSpPr txBox="1"/>
          <p:nvPr/>
        </p:nvSpPr>
        <p:spPr>
          <a:xfrm>
            <a:off x="6191250" y="2187662"/>
            <a:ext cx="51625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4E5A66"/>
                </a:solidFill>
                <a:latin typeface="IBM Plex Sans Arabic"/>
                <a:ea typeface="IBM Plex Sans Arabic"/>
                <a:cs typeface="IBM Plex Sans Arabic"/>
              </a:rPr>
              <a:t>Me → View profile → Open to → Finding a new job</a:t>
            </a:r>
          </a:p>
        </p:txBody>
      </p:sp>
      <p:sp>
        <p:nvSpPr>
          <p:cNvPr id="8" name="Text 7"/>
          <p:cNvSpPr txBox="1"/>
          <p:nvPr/>
        </p:nvSpPr>
        <p:spPr>
          <a:xfrm>
            <a:off x="9601200" y="2579906"/>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كل الأعضاء</a:t>
            </a:r>
          </a:p>
        </p:txBody>
      </p:sp>
      <p:sp>
        <p:nvSpPr>
          <p:cNvPr id="9" name="Text 8"/>
          <p:cNvSpPr txBox="1"/>
          <p:nvPr/>
        </p:nvSpPr>
        <p:spPr>
          <a:xfrm>
            <a:off x="6178550" y="2579906"/>
            <a:ext cx="34607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يراه الجميع، ويضيف إطار #OpenToWork.</a:t>
            </a:r>
          </a:p>
        </p:txBody>
      </p:sp>
      <p:sp>
        <p:nvSpPr>
          <p:cNvPr id="10" name="Text 9"/>
          <p:cNvSpPr txBox="1"/>
          <p:nvPr/>
        </p:nvSpPr>
        <p:spPr>
          <a:xfrm>
            <a:off x="9690100" y="3354606"/>
            <a:ext cx="1651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مسؤولو التوظيف فقط</a:t>
            </a:r>
          </a:p>
        </p:txBody>
      </p:sp>
      <p:sp>
        <p:nvSpPr>
          <p:cNvPr id="11" name="Text 10"/>
          <p:cNvSpPr txBox="1"/>
          <p:nvPr/>
        </p:nvSpPr>
        <p:spPr>
          <a:xfrm>
            <a:off x="6178550" y="3354606"/>
            <a:ext cx="34607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تضمن LinkedIn إخفاءه تماماً عن جهتك الحالية.</a:t>
            </a:r>
          </a:p>
        </p:txBody>
      </p:sp>
      <p:sp>
        <p:nvSpPr>
          <p:cNvPr id="12" name="Rule 11"/>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3" name="Text 12"/>
          <p:cNvSpPr txBox="1"/>
          <p:nvPr/>
        </p:nvSpPr>
        <p:spPr>
          <a:xfrm>
            <a:off x="83820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ابحث بأكثر من مسمى</a:t>
            </a:r>
          </a:p>
        </p:txBody>
      </p:sp>
      <p:sp>
        <p:nvSpPr>
          <p:cNvPr id="14" name="Text 13"/>
          <p:cNvSpPr txBox="1"/>
          <p:nvPr/>
        </p:nvSpPr>
        <p:spPr>
          <a:xfrm>
            <a:off x="3288411" y="2190075"/>
            <a:ext cx="2712339"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GRC Analyst</a:t>
            </a:r>
          </a:p>
        </p:txBody>
      </p:sp>
      <p:sp>
        <p:nvSpPr>
          <p:cNvPr id="15" name="Text 14"/>
          <p:cNvSpPr txBox="1"/>
          <p:nvPr/>
        </p:nvSpPr>
        <p:spPr>
          <a:xfrm>
            <a:off x="3413982" y="2571075"/>
            <a:ext cx="2586768"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Cybersecurity Compliance</a:t>
            </a:r>
          </a:p>
        </p:txBody>
      </p:sp>
      <p:sp>
        <p:nvSpPr>
          <p:cNvPr id="16" name="Text 15"/>
          <p:cNvSpPr txBox="1"/>
          <p:nvPr/>
        </p:nvSpPr>
        <p:spPr>
          <a:xfrm>
            <a:off x="3288411" y="3294975"/>
            <a:ext cx="2712339"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IT Risk Analyst</a:t>
            </a:r>
          </a:p>
        </p:txBody>
      </p:sp>
      <p:sp>
        <p:nvSpPr>
          <p:cNvPr id="17" name="Text 16"/>
          <p:cNvSpPr txBox="1"/>
          <p:nvPr/>
        </p:nvSpPr>
        <p:spPr>
          <a:xfrm>
            <a:off x="838200" y="2190075"/>
            <a:ext cx="2524125"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IT Auditor</a:t>
            </a:r>
          </a:p>
        </p:txBody>
      </p:sp>
      <p:sp>
        <p:nvSpPr>
          <p:cNvPr id="18" name="Text 17"/>
          <p:cNvSpPr txBox="1"/>
          <p:nvPr/>
        </p:nvSpPr>
        <p:spPr>
          <a:xfrm>
            <a:off x="838200" y="2571075"/>
            <a:ext cx="2524125"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Security Controls Assessor</a:t>
            </a:r>
          </a:p>
        </p:txBody>
      </p:sp>
      <p:sp>
        <p:nvSpPr>
          <p:cNvPr id="19" name="Text 18"/>
          <p:cNvSpPr txBox="1"/>
          <p:nvPr/>
        </p:nvSpPr>
        <p:spPr>
          <a:xfrm>
            <a:off x="838200" y="3294975"/>
            <a:ext cx="2524125"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Cybersecurity Policy Officer</a:t>
            </a:r>
          </a:p>
        </p:txBody>
      </p:sp>
      <p:sp>
        <p:nvSpPr>
          <p:cNvPr id="20" name="Text 19"/>
          <p:cNvSpPr txBox="1"/>
          <p:nvPr/>
        </p:nvSpPr>
        <p:spPr>
          <a:xfrm>
            <a:off x="838200" y="40506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وبالعربية: محلل حوكمة ومخاطر</a:t>
            </a:r>
          </a:p>
        </p:txBody>
      </p:sp>
      <p:pic>
        <p:nvPicPr>
          <p:cNvPr id="21" name="Icon Clock 20" descr="icon092.png"/>
          <p:cNvPicPr>
            <a:picLocks noChangeAspect="1"/>
          </p:cNvPicPr>
          <p:nvPr/>
        </p:nvPicPr>
        <p:blipFill>
          <a:blip r:embed="rId2"/>
          <a:stretch>
            <a:fillRect/>
          </a:stretch>
        </p:blipFill>
        <p:spPr>
          <a:xfrm>
            <a:off x="5784850" y="4521795"/>
            <a:ext cx="215900" cy="215900"/>
          </a:xfrm>
          <a:prstGeom prst="rect">
            <a:avLst/>
          </a:prstGeom>
        </p:spPr>
      </p:pic>
      <p:sp>
        <p:nvSpPr>
          <p:cNvPr id="22" name="Text 21"/>
          <p:cNvSpPr txBox="1"/>
          <p:nvPr/>
        </p:nvSpPr>
        <p:spPr>
          <a:xfrm>
            <a:off x="838200" y="448636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تنبيه وظائف لكل مسمى، وقدّم مبكراً.</a:t>
            </a:r>
          </a:p>
        </p:txBody>
      </p:sp>
      <p:pic>
        <p:nvPicPr>
          <p:cNvPr id="23" name="Icon Clock 22" descr="icon092.png"/>
          <p:cNvPicPr>
            <a:picLocks noChangeAspect="1"/>
          </p:cNvPicPr>
          <p:nvPr/>
        </p:nvPicPr>
        <p:blipFill>
          <a:blip r:embed="rId2"/>
          <a:stretch>
            <a:fillRect/>
          </a:stretch>
        </p:blipFill>
        <p:spPr>
          <a:xfrm>
            <a:off x="5784850" y="4892576"/>
            <a:ext cx="215900" cy="215900"/>
          </a:xfrm>
          <a:prstGeom prst="rect">
            <a:avLst/>
          </a:prstGeom>
        </p:spPr>
      </p:pic>
      <p:sp>
        <p:nvSpPr>
          <p:cNvPr id="24" name="Text 23"/>
          <p:cNvSpPr txBox="1"/>
          <p:nvPr/>
        </p:nvSpPr>
        <p:spPr>
          <a:xfrm>
            <a:off x="838200" y="485714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قدّم أيضاً من مواقع الجهات مباشرة.</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204</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764470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عنوانك وافتتاح نبذتك</a:t>
            </a:r>
          </a:p>
        </p:txBody>
      </p:sp>
      <p:sp>
        <p:nvSpPr>
          <p:cNvPr id="6" name="Text 5"/>
          <p:cNvSpPr txBox="1"/>
          <p:nvPr/>
        </p:nvSpPr>
        <p:spPr>
          <a:xfrm>
            <a:off x="9321800" y="1618575"/>
            <a:ext cx="2057400" cy="825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العنوان المهني</a:t>
            </a:r>
          </a:p>
        </p:txBody>
      </p:sp>
      <p:sp>
        <p:nvSpPr>
          <p:cNvPr id="7" name="Box 6"/>
          <p:cNvSpPr/>
          <p:nvPr/>
        </p:nvSpPr>
        <p:spPr>
          <a:xfrm>
            <a:off x="819150" y="1664295"/>
            <a:ext cx="8534400" cy="812800"/>
          </a:xfrm>
          <a:prstGeom prst="roundRect">
            <a:avLst>
              <a:gd name="adj" fmla="val 9230"/>
            </a:avLst>
          </a:prstGeom>
          <a:solidFill>
            <a:srgbClr val="FFFFFF"/>
          </a:solidFill>
          <a:ln w="12700">
            <a:solidFill>
              <a:srgbClr val="C9C0AC"/>
            </a:solidFill>
            <a:prstDash val="dash"/>
          </a:ln>
        </p:spPr>
        <p:txBody>
          <a:bodyPr rtlCol="0" anchor="ctr"/>
          <a:lstStyle/>
          <a:p>
            <a:pPr algn="ctr"/>
          </a:p>
        </p:txBody>
      </p:sp>
      <p:sp>
        <p:nvSpPr>
          <p:cNvPr id="8" name="Text 7"/>
          <p:cNvSpPr txBox="1"/>
          <p:nvPr/>
        </p:nvSpPr>
        <p:spPr>
          <a:xfrm>
            <a:off x="838200" y="1720175"/>
            <a:ext cx="83820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الوظيفة | مجالان أو ثلاثة | دليل</a:t>
            </a:r>
          </a:p>
        </p:txBody>
      </p:sp>
      <p:sp>
        <p:nvSpPr>
          <p:cNvPr id="9" name="Text 8"/>
          <p:cNvSpPr txBox="1"/>
          <p:nvPr/>
        </p:nvSpPr>
        <p:spPr>
          <a:xfrm>
            <a:off x="9321800" y="2621875"/>
            <a:ext cx="2057400" cy="1460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افتتاح النبذة</a:t>
            </a:r>
          </a:p>
        </p:txBody>
      </p:sp>
      <p:sp>
        <p:nvSpPr>
          <p:cNvPr id="10" name="Box 9"/>
          <p:cNvSpPr/>
          <p:nvPr/>
        </p:nvSpPr>
        <p:spPr>
          <a:xfrm>
            <a:off x="819150" y="2667595"/>
            <a:ext cx="8534400" cy="1447800"/>
          </a:xfrm>
          <a:prstGeom prst="roundRect">
            <a:avLst>
              <a:gd name="adj" fmla="val 5217"/>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723475"/>
            <a:ext cx="83820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جملتان: من أنت، وأقوى دليل من مشاريعك</a:t>
            </a:r>
          </a:p>
        </p:txBody>
      </p:sp>
      <p:sp>
        <p:nvSpPr>
          <p:cNvPr id="12" name="Box 11"/>
          <p:cNvSpPr/>
          <p:nvPr/>
        </p:nvSpPr>
        <p:spPr>
          <a:xfrm>
            <a:off x="812800" y="4667845"/>
            <a:ext cx="10566400" cy="609600"/>
          </a:xfrm>
          <a:prstGeom prst="roundRect">
            <a:avLst>
              <a:gd name="adj" fmla="val 16666"/>
            </a:avLst>
          </a:prstGeom>
          <a:solidFill>
            <a:srgbClr val="F6ECDA"/>
          </a:solidFill>
          <a:ln>
            <a:noFill/>
          </a:ln>
        </p:spPr>
        <p:txBody>
          <a:bodyPr rtlCol="0" anchor="ctr"/>
          <a:lstStyle/>
          <a:p>
            <a:pPr algn="ctr"/>
          </a:p>
        </p:txBody>
      </p:sp>
      <p:pic>
        <p:nvPicPr>
          <p:cNvPr id="13" name="Icon Clock 12" descr="icon093.png"/>
          <p:cNvPicPr>
            <a:picLocks noChangeAspect="1"/>
          </p:cNvPicPr>
          <p:nvPr/>
        </p:nvPicPr>
        <p:blipFill>
          <a:blip r:embed="rId2"/>
          <a:stretch>
            <a:fillRect/>
          </a:stretch>
        </p:blipFill>
        <p:spPr>
          <a:xfrm>
            <a:off x="10934700" y="4839295"/>
            <a:ext cx="266700" cy="266700"/>
          </a:xfrm>
          <a:prstGeom prst="rect">
            <a:avLst/>
          </a:prstGeom>
        </p:spPr>
      </p:pic>
      <p:sp>
        <p:nvSpPr>
          <p:cNvPr id="14" name="Text 13"/>
          <p:cNvSpPr txBox="1"/>
          <p:nvPr/>
        </p:nvSpPr>
        <p:spPr>
          <a:xfrm>
            <a:off x="838200" y="47554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بالإنجليزية، ومن مشاريعك الفعلية. 8 دقائق.</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205</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785177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عنوان وافتتاح نموذجيان</a:t>
            </a:r>
          </a:p>
        </p:txBody>
      </p:sp>
      <p:sp>
        <p:nvSpPr>
          <p:cNvPr id="6" name="Text 5"/>
          <p:cNvSpPr txBox="1"/>
          <p:nvPr/>
        </p:nvSpPr>
        <p:spPr>
          <a:xfrm>
            <a:off x="9893300" y="1618575"/>
            <a:ext cx="1485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العنوان</a:t>
            </a:r>
          </a:p>
        </p:txBody>
      </p:sp>
      <p:sp>
        <p:nvSpPr>
          <p:cNvPr id="7" name="Text 6"/>
          <p:cNvSpPr txBox="1"/>
          <p:nvPr/>
        </p:nvSpPr>
        <p:spPr>
          <a:xfrm>
            <a:off x="539242" y="1618575"/>
            <a:ext cx="9392158" cy="7112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172433"/>
                </a:solidFill>
                <a:latin typeface="IBM Plex Sans Arabic"/>
                <a:ea typeface="IBM Plex Sans Arabic"/>
                <a:cs typeface="IBM Plex Sans Arabic"/>
              </a:rPr>
              <a:t>Entry-Level GRC Analyst | Risk Assessment · Control Testing · NCA ECC | ISC2 CC</a:t>
            </a:r>
          </a:p>
        </p:txBody>
      </p:sp>
      <p:sp>
        <p:nvSpPr>
          <p:cNvPr id="8" name="Text 7"/>
          <p:cNvSpPr txBox="1"/>
          <p:nvPr/>
        </p:nvSpPr>
        <p:spPr>
          <a:xfrm>
            <a:off x="9893300" y="2456775"/>
            <a:ext cx="1485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الافتتاح</a:t>
            </a:r>
          </a:p>
        </p:txBody>
      </p:sp>
      <p:sp>
        <p:nvSpPr>
          <p:cNvPr id="9" name="Text 8"/>
          <p:cNvSpPr txBox="1"/>
          <p:nvPr/>
        </p:nvSpPr>
        <p:spPr>
          <a:xfrm>
            <a:off x="539242" y="2456775"/>
            <a:ext cx="9392158" cy="10668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172433"/>
                </a:solidFill>
                <a:latin typeface="IBM Plex Sans Arabic"/>
                <a:ea typeface="IBM Plex Sans Arabic"/>
                <a:cs typeface="IBM Plex Sans Arabic"/>
              </a:rPr>
              <a:t>Entry-level GRC analyst who turns requirements into clear, testable controls. In a training case for a 200-staff company, I rated a vendor access risk, tested an access review, and wrote a finding with a corrective plan.</a:t>
            </a:r>
          </a:p>
        </p:txBody>
      </p:sp>
      <p:sp>
        <p:nvSpPr>
          <p:cNvPr id="10" name="Box 9"/>
          <p:cNvSpPr/>
          <p:nvPr/>
        </p:nvSpPr>
        <p:spPr>
          <a:xfrm>
            <a:off x="812800" y="4109045"/>
            <a:ext cx="10566400" cy="609600"/>
          </a:xfrm>
          <a:prstGeom prst="roundRect">
            <a:avLst>
              <a:gd name="adj" fmla="val 16666"/>
            </a:avLst>
          </a:prstGeom>
          <a:solidFill>
            <a:srgbClr val="E3F1ED"/>
          </a:solidFill>
          <a:ln>
            <a:noFill/>
          </a:ln>
        </p:spPr>
        <p:txBody>
          <a:bodyPr rtlCol="0" anchor="ctr"/>
          <a:lstStyle/>
          <a:p>
            <a:pPr algn="ctr"/>
          </a:p>
        </p:txBody>
      </p:sp>
      <p:pic>
        <p:nvPicPr>
          <p:cNvPr id="11" name="Icon Lightbulb 10" descr="icon035.png"/>
          <p:cNvPicPr>
            <a:picLocks noChangeAspect="1"/>
          </p:cNvPicPr>
          <p:nvPr/>
        </p:nvPicPr>
        <p:blipFill>
          <a:blip r:embed="rId2"/>
          <a:stretch>
            <a:fillRect/>
          </a:stretch>
        </p:blipFill>
        <p:spPr>
          <a:xfrm>
            <a:off x="10934700" y="4280495"/>
            <a:ext cx="266700" cy="266700"/>
          </a:xfrm>
          <a:prstGeom prst="rect">
            <a:avLst/>
          </a:prstGeom>
        </p:spPr>
      </p:pic>
      <p:sp>
        <p:nvSpPr>
          <p:cNvPr id="12" name="Text 11"/>
          <p:cNvSpPr txBox="1"/>
          <p:nvPr/>
        </p:nvSpPr>
        <p:spPr>
          <a:xfrm>
            <a:off x="838200" y="41966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كلمات البحث في البداية، ودليل حقيقي، ولا مبالغة: «training case» تقول الحقيقة وتحميك في المقابلة.</a:t>
            </a:r>
          </a:p>
        </p:txBody>
      </p:sp>
      <p:sp>
        <p:nvSpPr>
          <p:cNvPr id="13" name="Text 1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14" name="Text 1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206</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لينكدإن والفرص</a:t>
            </a:r>
          </a:p>
        </p:txBody>
      </p:sp>
      <p:sp>
        <p:nvSpPr>
          <p:cNvPr id="4" name="Text box 3"/>
          <p:cNvSpPr/>
          <p:nvPr/>
        </p:nvSpPr>
        <p:spPr>
          <a:xfrm>
            <a:off x="764470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08</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3</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6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العنوان المهني.</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خيار Open to Work وحدوده.</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البحث بأكثر من مسمى.</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08».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لينكدإن والفرص</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207</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2180" y="1423690"/>
            <a:ext cx="234702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09</a:t>
            </a:r>
          </a:p>
        </p:txBody>
      </p:sp>
      <p:sp>
        <p:nvSpPr>
          <p:cNvPr id="4" name="Text 3"/>
          <p:cNvSpPr txBox="1"/>
          <p:nvPr/>
        </p:nvSpPr>
        <p:spPr>
          <a:xfrm>
            <a:off x="4248047" y="1845155"/>
            <a:ext cx="524133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المقابلة والانطلاق</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كل ما تعلمته يُختبر في ساعة واحدة. استعد لها كما تستعد لاختبار الشهادة.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تجيب عن الأسئلة المتوقعة بأمثلة من رُفاد.</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تحكي قصصك بطريقة STAR.</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تنطلق بخطة واضحة لما بعد الكورس.</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09 · المقابلة والانطلاق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208</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ثمانية أسئلة متوقعة، وأين جوابها</a:t>
            </a:r>
          </a:p>
        </p:txBody>
      </p:sp>
      <p:sp>
        <p:nvSpPr>
          <p:cNvPr id="5" name="Rule 4"/>
          <p:cNvSpPr/>
          <p:nvPr/>
        </p:nvSpPr>
        <p:spPr>
          <a:xfrm>
            <a:off x="6153150" y="1657945"/>
            <a:ext cx="5226050" cy="31750"/>
          </a:xfrm>
          <a:prstGeom prst="rect">
            <a:avLst/>
          </a:prstGeom>
          <a:solidFill>
            <a:srgbClr val="0E7C6B"/>
          </a:solidFill>
          <a:ln>
            <a:noFill/>
          </a:ln>
        </p:spPr>
        <p:txBody>
          <a:bodyPr rtlCol="0" anchor="ctr"/>
          <a:lstStyle/>
          <a:p>
            <a:pPr algn="ctr"/>
          </a:p>
        </p:txBody>
      </p:sp>
      <p:sp>
        <p:nvSpPr>
          <p:cNvPr id="6" name="Text 5"/>
          <p:cNvSpPr txBox="1"/>
          <p:nvPr/>
        </p:nvSpPr>
        <p:spPr>
          <a:xfrm>
            <a:off x="6178550" y="17900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التهديد والثغرة والخطر؟»</a:t>
            </a:r>
          </a:p>
        </p:txBody>
      </p:sp>
      <p:sp>
        <p:nvSpPr>
          <p:cNvPr id="7" name="Text 6"/>
          <p:cNvSpPr txBox="1"/>
          <p:nvPr/>
        </p:nvSpPr>
        <p:spPr>
          <a:xfrm>
            <a:off x="7301738" y="2187662"/>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المفاهيم</a:t>
            </a:r>
          </a:p>
        </p:txBody>
      </p:sp>
      <p:sp>
        <p:nvSpPr>
          <p:cNvPr id="8" name="Text 7"/>
          <p:cNvSpPr txBox="1"/>
          <p:nvPr/>
        </p:nvSpPr>
        <p:spPr>
          <a:xfrm>
            <a:off x="6178550" y="2187662"/>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59</a:t>
            </a:r>
          </a:p>
        </p:txBody>
      </p:sp>
      <p:sp>
        <p:nvSpPr>
          <p:cNvPr id="9" name="Rule 8"/>
          <p:cNvSpPr/>
          <p:nvPr/>
        </p:nvSpPr>
        <p:spPr>
          <a:xfrm>
            <a:off x="6153150" y="2644676"/>
            <a:ext cx="5226050" cy="31750"/>
          </a:xfrm>
          <a:prstGeom prst="rect">
            <a:avLst/>
          </a:prstGeom>
          <a:solidFill>
            <a:srgbClr val="0E7C6B"/>
          </a:solidFill>
          <a:ln>
            <a:noFill/>
          </a:ln>
        </p:spPr>
        <p:txBody>
          <a:bodyPr rtlCol="0" anchor="ctr"/>
          <a:lstStyle/>
          <a:p>
            <a:pPr algn="ctr"/>
          </a:p>
        </p:txBody>
      </p:sp>
      <p:sp>
        <p:nvSpPr>
          <p:cNvPr id="10" name="Text 9"/>
          <p:cNvSpPr txBox="1"/>
          <p:nvPr/>
        </p:nvSpPr>
        <p:spPr>
          <a:xfrm>
            <a:off x="6178550" y="277675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تقيّم خطراً وترتبه؟»</a:t>
            </a:r>
          </a:p>
        </p:txBody>
      </p:sp>
      <p:sp>
        <p:nvSpPr>
          <p:cNvPr id="11" name="Text 10"/>
          <p:cNvSpPr txBox="1"/>
          <p:nvPr/>
        </p:nvSpPr>
        <p:spPr>
          <a:xfrm>
            <a:off x="7301738" y="317439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المصفوفة والمبرر</a:t>
            </a:r>
          </a:p>
        </p:txBody>
      </p:sp>
      <p:sp>
        <p:nvSpPr>
          <p:cNvPr id="12" name="Text 11"/>
          <p:cNvSpPr txBox="1"/>
          <p:nvPr/>
        </p:nvSpPr>
        <p:spPr>
          <a:xfrm>
            <a:off x="6178550" y="317439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64</a:t>
            </a:r>
          </a:p>
        </p:txBody>
      </p:sp>
      <p:sp>
        <p:nvSpPr>
          <p:cNvPr id="13" name="Rule 12"/>
          <p:cNvSpPr/>
          <p:nvPr/>
        </p:nvSpPr>
        <p:spPr>
          <a:xfrm>
            <a:off x="6153150" y="3631406"/>
            <a:ext cx="5226050" cy="31750"/>
          </a:xfrm>
          <a:prstGeom prst="rect">
            <a:avLst/>
          </a:prstGeom>
          <a:solidFill>
            <a:srgbClr val="0E7C6B"/>
          </a:solidFill>
          <a:ln>
            <a:noFill/>
          </a:ln>
        </p:spPr>
        <p:txBody>
          <a:bodyPr rtlCol="0" anchor="ctr"/>
          <a:lstStyle/>
          <a:p>
            <a:pPr algn="ctr"/>
          </a:p>
        </p:txBody>
      </p:sp>
      <p:sp>
        <p:nvSpPr>
          <p:cNvPr id="14" name="Text 13"/>
          <p:cNvSpPr txBox="1"/>
          <p:nvPr/>
        </p:nvSpPr>
        <p:spPr>
          <a:xfrm>
            <a:off x="6178550" y="376348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السياسة والمعيار والإجراء؟»</a:t>
            </a:r>
          </a:p>
        </p:txBody>
      </p:sp>
      <p:sp>
        <p:nvSpPr>
          <p:cNvPr id="15" name="Text 14"/>
          <p:cNvSpPr txBox="1"/>
          <p:nvPr/>
        </p:nvSpPr>
        <p:spPr>
          <a:xfrm>
            <a:off x="7301738" y="416112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هرم الوثائق</a:t>
            </a:r>
          </a:p>
        </p:txBody>
      </p:sp>
      <p:sp>
        <p:nvSpPr>
          <p:cNvPr id="16" name="Text 15"/>
          <p:cNvSpPr txBox="1"/>
          <p:nvPr/>
        </p:nvSpPr>
        <p:spPr>
          <a:xfrm>
            <a:off x="6178550" y="416112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40</a:t>
            </a:r>
          </a:p>
        </p:txBody>
      </p:sp>
      <p:sp>
        <p:nvSpPr>
          <p:cNvPr id="17" name="Rule 16"/>
          <p:cNvSpPr/>
          <p:nvPr/>
        </p:nvSpPr>
        <p:spPr>
          <a:xfrm>
            <a:off x="6153150" y="4618137"/>
            <a:ext cx="5226050" cy="31750"/>
          </a:xfrm>
          <a:prstGeom prst="rect">
            <a:avLst/>
          </a:prstGeom>
          <a:solidFill>
            <a:srgbClr val="0E7C6B"/>
          </a:solidFill>
          <a:ln>
            <a:noFill/>
          </a:ln>
        </p:spPr>
        <p:txBody>
          <a:bodyPr rtlCol="0" anchor="ctr"/>
          <a:lstStyle/>
          <a:p>
            <a:pPr algn="ctr"/>
          </a:p>
        </p:txBody>
      </p:sp>
      <p:sp>
        <p:nvSpPr>
          <p:cNvPr id="18" name="Text 17"/>
          <p:cNvSpPr txBox="1"/>
          <p:nvPr/>
        </p:nvSpPr>
        <p:spPr>
          <a:xfrm>
            <a:off x="6178550" y="4750217"/>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تتأكد أن ضابطاً مطبق فعلاً؟»</a:t>
            </a:r>
          </a:p>
        </p:txBody>
      </p:sp>
      <p:sp>
        <p:nvSpPr>
          <p:cNvPr id="19" name="Text 18"/>
          <p:cNvSpPr txBox="1"/>
          <p:nvPr/>
        </p:nvSpPr>
        <p:spPr>
          <a:xfrm>
            <a:off x="7301738" y="5147854"/>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الأدلة والفترة</a:t>
            </a:r>
          </a:p>
        </p:txBody>
      </p:sp>
      <p:sp>
        <p:nvSpPr>
          <p:cNvPr id="20" name="Text 19"/>
          <p:cNvSpPr txBox="1"/>
          <p:nvPr/>
        </p:nvSpPr>
        <p:spPr>
          <a:xfrm>
            <a:off x="6178550" y="5147854"/>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91</a:t>
            </a:r>
          </a:p>
        </p:txBody>
      </p:sp>
      <p:sp>
        <p:nvSpPr>
          <p:cNvPr id="21" name="Rule 20"/>
          <p:cNvSpPr/>
          <p:nvPr/>
        </p:nvSpPr>
        <p:spPr>
          <a:xfrm>
            <a:off x="812800" y="1657945"/>
            <a:ext cx="5226050" cy="31750"/>
          </a:xfrm>
          <a:prstGeom prst="rect">
            <a:avLst/>
          </a:prstGeom>
          <a:solidFill>
            <a:srgbClr val="0E7C6B"/>
          </a:solidFill>
          <a:ln>
            <a:noFill/>
          </a:ln>
        </p:spPr>
        <p:txBody>
          <a:bodyPr rtlCol="0" anchor="ctr"/>
          <a:lstStyle/>
          <a:p>
            <a:pPr algn="ctr"/>
          </a:p>
        </p:txBody>
      </p:sp>
      <p:sp>
        <p:nvSpPr>
          <p:cNvPr id="22" name="Text 21"/>
          <p:cNvSpPr txBox="1"/>
          <p:nvPr/>
        </p:nvSpPr>
        <p:spPr>
          <a:xfrm>
            <a:off x="838200" y="17900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«مالك نظام يرفض تطبيق ضابط. ماذا تفعل؟»</a:t>
            </a:r>
          </a:p>
        </p:txBody>
      </p:sp>
      <p:sp>
        <p:nvSpPr>
          <p:cNvPr id="23" name="Text 22"/>
          <p:cNvSpPr txBox="1"/>
          <p:nvPr/>
        </p:nvSpPr>
        <p:spPr>
          <a:xfrm>
            <a:off x="1961388" y="2187662"/>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الإقناع والبدائل</a:t>
            </a:r>
          </a:p>
        </p:txBody>
      </p:sp>
      <p:sp>
        <p:nvSpPr>
          <p:cNvPr id="24" name="Text 23"/>
          <p:cNvSpPr txBox="1"/>
          <p:nvPr/>
        </p:nvSpPr>
        <p:spPr>
          <a:xfrm>
            <a:off x="838200" y="2187662"/>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210</a:t>
            </a:r>
          </a:p>
        </p:txBody>
      </p:sp>
      <p:sp>
        <p:nvSpPr>
          <p:cNvPr id="25" name="Rule 24"/>
          <p:cNvSpPr/>
          <p:nvPr/>
        </p:nvSpPr>
        <p:spPr>
          <a:xfrm>
            <a:off x="812800" y="2644676"/>
            <a:ext cx="5226050" cy="31750"/>
          </a:xfrm>
          <a:prstGeom prst="rect">
            <a:avLst/>
          </a:prstGeom>
          <a:solidFill>
            <a:srgbClr val="0E7C6B"/>
          </a:solidFill>
          <a:ln>
            <a:noFill/>
          </a:ln>
        </p:spPr>
        <p:txBody>
          <a:bodyPr rtlCol="0" anchor="ctr"/>
          <a:lstStyle/>
          <a:p>
            <a:pPr algn="ctr"/>
          </a:p>
        </p:txBody>
      </p:sp>
      <p:sp>
        <p:nvSpPr>
          <p:cNvPr id="26" name="Text 25"/>
          <p:cNvSpPr txBox="1"/>
          <p:nvPr/>
        </p:nvSpPr>
        <p:spPr>
          <a:xfrm>
            <a:off x="838200" y="277675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الامتثال والمراجعة الداخلية؟»</a:t>
            </a:r>
          </a:p>
        </p:txBody>
      </p:sp>
      <p:sp>
        <p:nvSpPr>
          <p:cNvPr id="27" name="Text 26"/>
          <p:cNvSpPr txBox="1"/>
          <p:nvPr/>
        </p:nvSpPr>
        <p:spPr>
          <a:xfrm>
            <a:off x="1961388" y="317439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الخطوط الثلاثة</a:t>
            </a:r>
          </a:p>
        </p:txBody>
      </p:sp>
      <p:sp>
        <p:nvSpPr>
          <p:cNvPr id="28" name="Text 27"/>
          <p:cNvSpPr txBox="1"/>
          <p:nvPr/>
        </p:nvSpPr>
        <p:spPr>
          <a:xfrm>
            <a:off x="838200" y="317439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39</a:t>
            </a:r>
          </a:p>
        </p:txBody>
      </p:sp>
      <p:sp>
        <p:nvSpPr>
          <p:cNvPr id="29" name="Rule 28"/>
          <p:cNvSpPr/>
          <p:nvPr/>
        </p:nvSpPr>
        <p:spPr>
          <a:xfrm>
            <a:off x="812800" y="3631406"/>
            <a:ext cx="5226050" cy="31750"/>
          </a:xfrm>
          <a:prstGeom prst="rect">
            <a:avLst/>
          </a:prstGeom>
          <a:solidFill>
            <a:srgbClr val="0E7C6B"/>
          </a:solidFill>
          <a:ln>
            <a:noFill/>
          </a:ln>
        </p:spPr>
        <p:txBody>
          <a:bodyPr rtlCol="0" anchor="ctr"/>
          <a:lstStyle/>
          <a:p>
            <a:pPr algn="ctr"/>
          </a:p>
        </p:txBody>
      </p:sp>
      <p:sp>
        <p:nvSpPr>
          <p:cNvPr id="30" name="Text 29"/>
          <p:cNvSpPr txBox="1"/>
          <p:nvPr/>
        </p:nvSpPr>
        <p:spPr>
          <a:xfrm>
            <a:off x="838200" y="376348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«اشرح ECC أو ISO 27001 لمدير غير تقني»</a:t>
            </a:r>
          </a:p>
        </p:txBody>
      </p:sp>
      <p:sp>
        <p:nvSpPr>
          <p:cNvPr id="31" name="Text 30"/>
          <p:cNvSpPr txBox="1"/>
          <p:nvPr/>
        </p:nvSpPr>
        <p:spPr>
          <a:xfrm>
            <a:off x="1961388" y="416112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التبسيط</a:t>
            </a:r>
          </a:p>
        </p:txBody>
      </p:sp>
      <p:sp>
        <p:nvSpPr>
          <p:cNvPr id="32" name="Text 31"/>
          <p:cNvSpPr txBox="1"/>
          <p:nvPr/>
        </p:nvSpPr>
        <p:spPr>
          <a:xfrm>
            <a:off x="838200" y="416112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150</a:t>
            </a:r>
          </a:p>
        </p:txBody>
      </p:sp>
      <p:sp>
        <p:nvSpPr>
          <p:cNvPr id="33" name="Rule 32"/>
          <p:cNvSpPr/>
          <p:nvPr/>
        </p:nvSpPr>
        <p:spPr>
          <a:xfrm>
            <a:off x="812800" y="4618137"/>
            <a:ext cx="5226050" cy="31750"/>
          </a:xfrm>
          <a:prstGeom prst="rect">
            <a:avLst/>
          </a:prstGeom>
          <a:solidFill>
            <a:srgbClr val="0E7C6B"/>
          </a:solidFill>
          <a:ln>
            <a:noFill/>
          </a:ln>
        </p:spPr>
        <p:txBody>
          <a:bodyPr rtlCol="0" anchor="ctr"/>
          <a:lstStyle/>
          <a:p>
            <a:pPr algn="ctr"/>
          </a:p>
        </p:txBody>
      </p:sp>
      <p:sp>
        <p:nvSpPr>
          <p:cNvPr id="34" name="Text 33"/>
          <p:cNvSpPr txBox="1"/>
          <p:nvPr/>
        </p:nvSpPr>
        <p:spPr>
          <a:xfrm>
            <a:off x="838200" y="4750217"/>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«لماذا GRC؟ ولماذا جهتنا؟»</a:t>
            </a:r>
          </a:p>
        </p:txBody>
      </p:sp>
      <p:sp>
        <p:nvSpPr>
          <p:cNvPr id="35" name="Text 34"/>
          <p:cNvSpPr txBox="1"/>
          <p:nvPr/>
        </p:nvSpPr>
        <p:spPr>
          <a:xfrm>
            <a:off x="1961388" y="5147854"/>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دافعك وبحثك</a:t>
            </a:r>
          </a:p>
        </p:txBody>
      </p:sp>
      <p:sp>
        <p:nvSpPr>
          <p:cNvPr id="36" name="Text 35"/>
          <p:cNvSpPr txBox="1"/>
          <p:nvPr/>
        </p:nvSpPr>
        <p:spPr>
          <a:xfrm>
            <a:off x="838200" y="5147854"/>
            <a:ext cx="1414780"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1" i="0">
                <a:solidFill>
                  <a:srgbClr val="0E7C6B"/>
                </a:solidFill>
                <a:latin typeface="IBM Plex Sans Arabic"/>
                <a:ea typeface="IBM Plex Sans Arabic"/>
                <a:cs typeface="IBM Plex Sans Arabic"/>
              </a:rPr>
              <a:t>جهّزه بنفسك</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209</a:t>
            </a:r>
          </a:p>
        </p:txBody>
      </p:sp>
    </p:spTree>
  </p:cSld>
  <p:clrMapOvr>
    <a:masterClrMapping/>
  </p:clrMapOvr>
  <p:transition spd="med">
    <p:fade/>
  </p:transition>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إجابة نموذجية: مالك نظام يرفض الضابط</a:t>
            </a:r>
          </a:p>
        </p:txBody>
      </p:sp>
      <p:sp>
        <p:nvSpPr>
          <p:cNvPr id="6" name="Text 5"/>
          <p:cNvSpPr txBox="1"/>
          <p:nvPr/>
        </p:nvSpPr>
        <p:spPr>
          <a:xfrm>
            <a:off x="495808" y="1618575"/>
            <a:ext cx="10883392"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السؤال: «مالك نظام يرفض تطبيق ضابط. ماذا تفعل؟» مثال من رُفاد: سلمان يرفض فرض التحقق على حساب المورد خوفاً من تعطل الدعم.</a:t>
            </a:r>
          </a:p>
        </p:txBody>
      </p:sp>
      <p:sp>
        <p:nvSpPr>
          <p:cNvPr id="7" name="Text 6"/>
          <p:cNvSpPr txBox="1"/>
          <p:nvPr/>
        </p:nvSpPr>
        <p:spPr>
          <a:xfrm>
            <a:off x="10998200" y="25304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1</a:t>
            </a:r>
          </a:p>
        </p:txBody>
      </p:sp>
      <p:sp>
        <p:nvSpPr>
          <p:cNvPr id="8" name="Text 7"/>
          <p:cNvSpPr txBox="1"/>
          <p:nvPr/>
        </p:nvSpPr>
        <p:spPr>
          <a:xfrm>
            <a:off x="0" y="25202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افهم السبب:</a:t>
            </a:r>
            <a:r>
              <a:rPr sz="2000" b="0" i="0">
                <a:solidFill>
                  <a:srgbClr val="172433"/>
                </a:solidFill>
                <a:latin typeface="IBM Plex Sans Arabic"/>
                <a:ea typeface="IBM Plex Sans Arabic"/>
                <a:cs typeface="IBM Plex Sans Arabic"/>
              </a:rPr>
              <a:t> «ما الذي يمنع التطبيق؟ تكلفة، أم تعطّل عمل، أم سوء فهم؟»</a:t>
            </a:r>
          </a:p>
        </p:txBody>
      </p:sp>
      <p:sp>
        <p:nvSpPr>
          <p:cNvPr id="9" name="Text 8"/>
          <p:cNvSpPr txBox="1"/>
          <p:nvPr/>
        </p:nvSpPr>
        <p:spPr>
          <a:xfrm>
            <a:off x="10998200" y="29622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2</a:t>
            </a:r>
          </a:p>
        </p:txBody>
      </p:sp>
      <p:sp>
        <p:nvSpPr>
          <p:cNvPr id="10" name="Text 9"/>
          <p:cNvSpPr txBox="1"/>
          <p:nvPr/>
        </p:nvSpPr>
        <p:spPr>
          <a:xfrm>
            <a:off x="0" y="29520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اشرح الخطر بلغة العمل:</a:t>
            </a:r>
            <a:r>
              <a:rPr sz="2000" b="0" i="0">
                <a:solidFill>
                  <a:srgbClr val="172433"/>
                </a:solidFill>
                <a:latin typeface="IBM Plex Sans Arabic"/>
                <a:ea typeface="IBM Plex Sans Arabic"/>
                <a:cs typeface="IBM Plex Sans Arabic"/>
              </a:rPr>
              <a:t> «حساب مشترك بلا تحقق قد يكشف بيانات 50 ألف مستلم.»</a:t>
            </a:r>
          </a:p>
        </p:txBody>
      </p:sp>
      <p:sp>
        <p:nvSpPr>
          <p:cNvPr id="11" name="Text 10"/>
          <p:cNvSpPr txBox="1"/>
          <p:nvPr/>
        </p:nvSpPr>
        <p:spPr>
          <a:xfrm>
            <a:off x="10998200" y="33940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3</a:t>
            </a:r>
          </a:p>
        </p:txBody>
      </p:sp>
      <p:sp>
        <p:nvSpPr>
          <p:cNvPr id="12" name="Text 11"/>
          <p:cNvSpPr txBox="1"/>
          <p:nvPr/>
        </p:nvSpPr>
        <p:spPr>
          <a:xfrm>
            <a:off x="0" y="33838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اقترح بديلاً:</a:t>
            </a:r>
            <a:r>
              <a:rPr sz="2000" b="0" i="0">
                <a:solidFill>
                  <a:srgbClr val="172433"/>
                </a:solidFill>
                <a:latin typeface="IBM Plex Sans Arabic"/>
                <a:ea typeface="IBM Plex Sans Arabic"/>
                <a:cs typeface="IBM Plex Sans Arabic"/>
              </a:rPr>
              <a:t> ضابط تعويضي، أو تطبيق مرحلي بموعد.</a:t>
            </a:r>
          </a:p>
        </p:txBody>
      </p:sp>
      <p:sp>
        <p:nvSpPr>
          <p:cNvPr id="13" name="Text 12"/>
          <p:cNvSpPr txBox="1"/>
          <p:nvPr/>
        </p:nvSpPr>
        <p:spPr>
          <a:xfrm>
            <a:off x="10998200" y="38258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4</a:t>
            </a:r>
          </a:p>
        </p:txBody>
      </p:sp>
      <p:sp>
        <p:nvSpPr>
          <p:cNvPr id="14" name="Text 13"/>
          <p:cNvSpPr txBox="1"/>
          <p:nvPr/>
        </p:nvSpPr>
        <p:spPr>
          <a:xfrm>
            <a:off x="0" y="38156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إن تعذر: استثناء موثق:</a:t>
            </a:r>
            <a:r>
              <a:rPr sz="2000" b="0" i="0">
                <a:solidFill>
                  <a:srgbClr val="172433"/>
                </a:solidFill>
                <a:latin typeface="IBM Plex Sans Arabic"/>
                <a:ea typeface="IBM Plex Sans Arabic"/>
                <a:cs typeface="IBM Plex Sans Arabic"/>
              </a:rPr>
              <a:t> مؤقت، بموافقة صاحب الصلاحية، ومراجعة دورية.</a:t>
            </a:r>
          </a:p>
        </p:txBody>
      </p:sp>
      <p:sp>
        <p:nvSpPr>
          <p:cNvPr id="15" name="Text 14"/>
          <p:cNvSpPr txBox="1"/>
          <p:nvPr/>
        </p:nvSpPr>
        <p:spPr>
          <a:xfrm>
            <a:off x="10998200" y="42576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5</a:t>
            </a:r>
          </a:p>
        </p:txBody>
      </p:sp>
      <p:sp>
        <p:nvSpPr>
          <p:cNvPr id="16" name="Text 15"/>
          <p:cNvSpPr txBox="1"/>
          <p:nvPr/>
        </p:nvSpPr>
        <p:spPr>
          <a:xfrm>
            <a:off x="0" y="42474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التصعيد آخر خطوة:</a:t>
            </a:r>
            <a:r>
              <a:rPr sz="2000" b="0" i="0">
                <a:solidFill>
                  <a:srgbClr val="172433"/>
                </a:solidFill>
                <a:latin typeface="IBM Plex Sans Arabic"/>
                <a:ea typeface="IBM Plex Sans Arabic"/>
                <a:cs typeface="IBM Plex Sans Arabic"/>
              </a:rPr>
              <a:t> للجنة، بالحقائق لا بالشكوى.</a:t>
            </a:r>
          </a:p>
        </p:txBody>
      </p:sp>
      <p:sp>
        <p:nvSpPr>
          <p:cNvPr id="17" name="Box 16"/>
          <p:cNvSpPr/>
          <p:nvPr/>
        </p:nvSpPr>
        <p:spPr>
          <a:xfrm>
            <a:off x="812800" y="4832945"/>
            <a:ext cx="10566400" cy="609600"/>
          </a:xfrm>
          <a:prstGeom prst="roundRect">
            <a:avLst>
              <a:gd name="adj" fmla="val 16666"/>
            </a:avLst>
          </a:prstGeom>
          <a:solidFill>
            <a:srgbClr val="172433"/>
          </a:solidFill>
          <a:ln>
            <a:noFill/>
          </a:ln>
        </p:spPr>
        <p:txBody>
          <a:bodyPr rtlCol="0" anchor="ctr"/>
          <a:lstStyle/>
          <a:p>
            <a:pPr algn="ctr"/>
          </a:p>
        </p:txBody>
      </p:sp>
      <p:pic>
        <p:nvPicPr>
          <p:cNvPr id="18" name="Icon Lightbulb 17" descr="icon047.png"/>
          <p:cNvPicPr>
            <a:picLocks noChangeAspect="1"/>
          </p:cNvPicPr>
          <p:nvPr/>
        </p:nvPicPr>
        <p:blipFill>
          <a:blip r:embed="rId2"/>
          <a:stretch>
            <a:fillRect/>
          </a:stretch>
        </p:blipFill>
        <p:spPr>
          <a:xfrm>
            <a:off x="10941050" y="5007570"/>
            <a:ext cx="260350" cy="260350"/>
          </a:xfrm>
          <a:prstGeom prst="rect">
            <a:avLst/>
          </a:prstGeom>
        </p:spPr>
      </p:pic>
      <p:sp>
        <p:nvSpPr>
          <p:cNvPr id="19" name="Text 18"/>
          <p:cNvSpPr txBox="1"/>
          <p:nvPr/>
        </p:nvSpPr>
        <p:spPr>
          <a:xfrm>
            <a:off x="838200" y="492057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ما يقيسه السؤال: هل تعالج الخلاف بفهم المخاطر والعلاقة، لا بالمادة والنص فقط؟</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210</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طريقة STAR: قصة قصيرة بنتيجة واضحة</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السؤال: «حدثنا عن مرة حللت فيها مشكلة معقدة.» مثال محلول من التطبيق 2.</a:t>
            </a:r>
          </a:p>
        </p:txBody>
      </p:sp>
      <p:sp>
        <p:nvSpPr>
          <p:cNvPr id="7" name="Rule 6"/>
          <p:cNvSpPr/>
          <p:nvPr/>
        </p:nvSpPr>
        <p:spPr>
          <a:xfrm>
            <a:off x="8804275" y="2432645"/>
            <a:ext cx="2574925" cy="31750"/>
          </a:xfrm>
          <a:prstGeom prst="rect">
            <a:avLst/>
          </a:prstGeom>
          <a:solidFill>
            <a:srgbClr val="24506B"/>
          </a:solidFill>
          <a:ln>
            <a:noFill/>
          </a:ln>
        </p:spPr>
        <p:txBody>
          <a:bodyPr rtlCol="0" anchor="ctr"/>
          <a:lstStyle/>
          <a:p>
            <a:pPr algn="ctr"/>
          </a:p>
        </p:txBody>
      </p:sp>
      <p:sp>
        <p:nvSpPr>
          <p:cNvPr id="8" name="Text 7"/>
          <p:cNvSpPr txBox="1"/>
          <p:nvPr/>
        </p:nvSpPr>
        <p:spPr>
          <a:xfrm>
            <a:off x="10776367" y="2642957"/>
            <a:ext cx="564733"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24506B"/>
                </a:solidFill>
                <a:latin typeface="Readex Pro"/>
                <a:ea typeface="Readex Pro"/>
                <a:cs typeface="Readex Pro"/>
              </a:rPr>
              <a:t>S</a:t>
            </a:r>
          </a:p>
        </p:txBody>
      </p:sp>
      <p:sp>
        <p:nvSpPr>
          <p:cNvPr id="9" name="Text 8"/>
          <p:cNvSpPr txBox="1"/>
          <p:nvPr/>
        </p:nvSpPr>
        <p:spPr>
          <a:xfrm>
            <a:off x="10019605" y="2615525"/>
            <a:ext cx="95488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الموقف</a:t>
            </a:r>
          </a:p>
        </p:txBody>
      </p:sp>
      <p:sp>
        <p:nvSpPr>
          <p:cNvPr id="10" name="Text 9"/>
          <p:cNvSpPr txBox="1"/>
          <p:nvPr/>
        </p:nvSpPr>
        <p:spPr>
          <a:xfrm>
            <a:off x="8829675" y="3079075"/>
            <a:ext cx="2511425"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مشروع تدريبي، كان لمورد الدعم حساب إداري مشترك على أداة مكشوفة.</a:t>
            </a:r>
          </a:p>
        </p:txBody>
      </p:sp>
      <p:sp>
        <p:nvSpPr>
          <p:cNvPr id="11" name="Rule 10"/>
          <p:cNvSpPr/>
          <p:nvPr/>
        </p:nvSpPr>
        <p:spPr>
          <a:xfrm>
            <a:off x="6140450" y="2432645"/>
            <a:ext cx="2574925" cy="31750"/>
          </a:xfrm>
          <a:prstGeom prst="rect">
            <a:avLst/>
          </a:prstGeom>
          <a:solidFill>
            <a:srgbClr val="5A3F87"/>
          </a:solidFill>
          <a:ln>
            <a:noFill/>
          </a:ln>
        </p:spPr>
        <p:txBody>
          <a:bodyPr rtlCol="0" anchor="ctr"/>
          <a:lstStyle/>
          <a:p>
            <a:pPr algn="ctr"/>
          </a:p>
        </p:txBody>
      </p:sp>
      <p:sp>
        <p:nvSpPr>
          <p:cNvPr id="12" name="Text 11"/>
          <p:cNvSpPr txBox="1"/>
          <p:nvPr/>
        </p:nvSpPr>
        <p:spPr>
          <a:xfrm>
            <a:off x="8103414" y="2642957"/>
            <a:ext cx="573861"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5A3F87"/>
                </a:solidFill>
                <a:latin typeface="Readex Pro"/>
                <a:ea typeface="Readex Pro"/>
                <a:cs typeface="Readex Pro"/>
              </a:rPr>
              <a:t>T</a:t>
            </a:r>
          </a:p>
        </p:txBody>
      </p:sp>
      <p:sp>
        <p:nvSpPr>
          <p:cNvPr id="13" name="Text 12"/>
          <p:cNvSpPr txBox="1"/>
          <p:nvPr/>
        </p:nvSpPr>
        <p:spPr>
          <a:xfrm>
            <a:off x="7441704" y="2615525"/>
            <a:ext cx="8598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المهمة</a:t>
            </a:r>
          </a:p>
        </p:txBody>
      </p:sp>
      <p:sp>
        <p:nvSpPr>
          <p:cNvPr id="14" name="Text 13"/>
          <p:cNvSpPr txBox="1"/>
          <p:nvPr/>
        </p:nvSpPr>
        <p:spPr>
          <a:xfrm>
            <a:off x="6165850" y="3079075"/>
            <a:ext cx="251142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تقييم الخطر واقتراح معالجة.</a:t>
            </a:r>
          </a:p>
        </p:txBody>
      </p:sp>
      <p:sp>
        <p:nvSpPr>
          <p:cNvPr id="15" name="Rule 14"/>
          <p:cNvSpPr/>
          <p:nvPr/>
        </p:nvSpPr>
        <p:spPr>
          <a:xfrm>
            <a:off x="3476625" y="2432645"/>
            <a:ext cx="2574925" cy="31750"/>
          </a:xfrm>
          <a:prstGeom prst="rect">
            <a:avLst/>
          </a:prstGeom>
          <a:solidFill>
            <a:srgbClr val="0E7C6B"/>
          </a:solidFill>
          <a:ln>
            <a:noFill/>
          </a:ln>
        </p:spPr>
        <p:txBody>
          <a:bodyPr rtlCol="0" anchor="ctr"/>
          <a:lstStyle/>
          <a:p>
            <a:pPr algn="ctr"/>
          </a:p>
        </p:txBody>
      </p:sp>
      <p:sp>
        <p:nvSpPr>
          <p:cNvPr id="16" name="Text 15"/>
          <p:cNvSpPr txBox="1"/>
          <p:nvPr/>
        </p:nvSpPr>
        <p:spPr>
          <a:xfrm>
            <a:off x="5420439" y="2642957"/>
            <a:ext cx="593011"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A</a:t>
            </a:r>
          </a:p>
        </p:txBody>
      </p:sp>
      <p:sp>
        <p:nvSpPr>
          <p:cNvPr id="17" name="Text 16"/>
          <p:cNvSpPr txBox="1"/>
          <p:nvPr/>
        </p:nvSpPr>
        <p:spPr>
          <a:xfrm>
            <a:off x="4375448" y="2615525"/>
            <a:ext cx="12431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فعلته أنا</a:t>
            </a:r>
          </a:p>
        </p:txBody>
      </p:sp>
      <p:sp>
        <p:nvSpPr>
          <p:cNvPr id="18" name="Text 17"/>
          <p:cNvSpPr txBox="1"/>
          <p:nvPr/>
        </p:nvSpPr>
        <p:spPr>
          <a:xfrm>
            <a:off x="3502025" y="3079075"/>
            <a:ext cx="2511425" cy="14732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كتبت الخطر، وقيمته بمصفوفة الهيئة مع مبرر كل درجة، واقترحت 5 إجراءات بمالكين ومواعيد.</a:t>
            </a:r>
          </a:p>
        </p:txBody>
      </p:sp>
      <p:sp>
        <p:nvSpPr>
          <p:cNvPr id="19" name="Rule 18"/>
          <p:cNvSpPr/>
          <p:nvPr/>
        </p:nvSpPr>
        <p:spPr>
          <a:xfrm>
            <a:off x="812800" y="2432645"/>
            <a:ext cx="2574925" cy="31750"/>
          </a:xfrm>
          <a:prstGeom prst="rect">
            <a:avLst/>
          </a:prstGeom>
          <a:solidFill>
            <a:srgbClr val="8A4B12"/>
          </a:solidFill>
          <a:ln>
            <a:noFill/>
          </a:ln>
        </p:spPr>
        <p:txBody>
          <a:bodyPr rtlCol="0" anchor="ctr"/>
          <a:lstStyle/>
          <a:p>
            <a:pPr algn="ctr"/>
          </a:p>
        </p:txBody>
      </p:sp>
      <p:sp>
        <p:nvSpPr>
          <p:cNvPr id="20" name="Text 19"/>
          <p:cNvSpPr txBox="1"/>
          <p:nvPr/>
        </p:nvSpPr>
        <p:spPr>
          <a:xfrm>
            <a:off x="2753340" y="2642957"/>
            <a:ext cx="59628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8A4B12"/>
                </a:solidFill>
                <a:latin typeface="Readex Pro"/>
                <a:ea typeface="Readex Pro"/>
                <a:cs typeface="Readex Pro"/>
              </a:rPr>
              <a:t>R</a:t>
            </a:r>
          </a:p>
        </p:txBody>
      </p:sp>
      <p:sp>
        <p:nvSpPr>
          <p:cNvPr id="21" name="Text 20"/>
          <p:cNvSpPr txBox="1"/>
          <p:nvPr/>
        </p:nvSpPr>
        <p:spPr>
          <a:xfrm>
            <a:off x="2108398" y="2615525"/>
            <a:ext cx="84306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22" name="Text 21"/>
          <p:cNvSpPr txBox="1"/>
          <p:nvPr/>
        </p:nvSpPr>
        <p:spPr>
          <a:xfrm>
            <a:off x="838200" y="3079075"/>
            <a:ext cx="2511425"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خطر عالٍ (16) بخطة تنزله إلى متوسط، وقرار مطلوب من الإدارة للباقي.</a:t>
            </a:r>
          </a:p>
        </p:txBody>
      </p:sp>
      <p:sp>
        <p:nvSpPr>
          <p:cNvPr id="23" name="Box 22"/>
          <p:cNvSpPr/>
          <p:nvPr/>
        </p:nvSpPr>
        <p:spPr>
          <a:xfrm>
            <a:off x="8999141" y="5042495"/>
            <a:ext cx="2380059" cy="609600"/>
          </a:xfrm>
          <a:prstGeom prst="roundRect">
            <a:avLst>
              <a:gd name="adj" fmla="val 16666"/>
            </a:avLst>
          </a:prstGeom>
          <a:solidFill>
            <a:srgbClr val="172433"/>
          </a:solidFill>
          <a:ln>
            <a:noFill/>
          </a:ln>
        </p:spPr>
        <p:txBody>
          <a:bodyPr rtlCol="0" anchor="ctr"/>
          <a:lstStyle/>
          <a:p>
            <a:pPr algn="ctr"/>
          </a:p>
        </p:txBody>
      </p:sp>
      <p:pic>
        <p:nvPicPr>
          <p:cNvPr id="24" name="Icon Clock 23" descr="icon094.png"/>
          <p:cNvPicPr>
            <a:picLocks noChangeAspect="1"/>
          </p:cNvPicPr>
          <p:nvPr/>
        </p:nvPicPr>
        <p:blipFill>
          <a:blip r:embed="rId2"/>
          <a:stretch>
            <a:fillRect/>
          </a:stretch>
        </p:blipFill>
        <p:spPr>
          <a:xfrm>
            <a:off x="10947400" y="5220295"/>
            <a:ext cx="254000" cy="254000"/>
          </a:xfrm>
          <a:prstGeom prst="rect">
            <a:avLst/>
          </a:prstGeom>
        </p:spPr>
      </p:pic>
      <p:sp>
        <p:nvSpPr>
          <p:cNvPr id="25" name="Text 24"/>
          <p:cNvSpPr txBox="1"/>
          <p:nvPr/>
        </p:nvSpPr>
        <p:spPr>
          <a:xfrm>
            <a:off x="9024541" y="5130125"/>
            <a:ext cx="1808559"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دقيقة إلى دقيقتين</a:t>
            </a:r>
          </a:p>
        </p:txBody>
      </p:sp>
      <p:sp>
        <p:nvSpPr>
          <p:cNvPr id="26" name="Box 25"/>
          <p:cNvSpPr/>
          <p:nvPr/>
        </p:nvSpPr>
        <p:spPr>
          <a:xfrm>
            <a:off x="5850533" y="5042495"/>
            <a:ext cx="3059708" cy="609600"/>
          </a:xfrm>
          <a:prstGeom prst="roundRect">
            <a:avLst>
              <a:gd name="adj" fmla="val 16666"/>
            </a:avLst>
          </a:prstGeom>
          <a:solidFill>
            <a:srgbClr val="172433"/>
          </a:solidFill>
          <a:ln>
            <a:noFill/>
          </a:ln>
        </p:spPr>
        <p:txBody>
          <a:bodyPr rtlCol="0" anchor="ctr"/>
          <a:lstStyle/>
          <a:p>
            <a:pPr algn="ctr"/>
          </a:p>
        </p:txBody>
      </p:sp>
      <p:pic>
        <p:nvPicPr>
          <p:cNvPr id="27" name="Icon Users 26" descr="icon080.png"/>
          <p:cNvPicPr>
            <a:picLocks noChangeAspect="1"/>
          </p:cNvPicPr>
          <p:nvPr/>
        </p:nvPicPr>
        <p:blipFill>
          <a:blip r:embed="rId3"/>
          <a:stretch>
            <a:fillRect/>
          </a:stretch>
        </p:blipFill>
        <p:spPr>
          <a:xfrm>
            <a:off x="8478441" y="5220295"/>
            <a:ext cx="254000" cy="254000"/>
          </a:xfrm>
          <a:prstGeom prst="rect">
            <a:avLst/>
          </a:prstGeom>
        </p:spPr>
      </p:pic>
      <p:sp>
        <p:nvSpPr>
          <p:cNvPr id="28" name="Text 27"/>
          <p:cNvSpPr txBox="1"/>
          <p:nvPr/>
        </p:nvSpPr>
        <p:spPr>
          <a:xfrm>
            <a:off x="5875933" y="5130125"/>
            <a:ext cx="248820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«أنا» في الإجراء، لا «نحن»</a:t>
            </a:r>
          </a:p>
        </p:txBody>
      </p:sp>
      <p:sp>
        <p:nvSpPr>
          <p:cNvPr id="29" name="Box 28"/>
          <p:cNvSpPr/>
          <p:nvPr/>
        </p:nvSpPr>
        <p:spPr>
          <a:xfrm>
            <a:off x="3099891" y="5042495"/>
            <a:ext cx="2661741" cy="609600"/>
          </a:xfrm>
          <a:prstGeom prst="roundRect">
            <a:avLst>
              <a:gd name="adj" fmla="val 16666"/>
            </a:avLst>
          </a:prstGeom>
          <a:solidFill>
            <a:srgbClr val="172433"/>
          </a:solidFill>
          <a:ln>
            <a:noFill/>
          </a:ln>
        </p:spPr>
        <p:txBody>
          <a:bodyPr rtlCol="0" anchor="ctr"/>
          <a:lstStyle/>
          <a:p>
            <a:pPr algn="ctr"/>
          </a:p>
        </p:txBody>
      </p:sp>
      <p:pic>
        <p:nvPicPr>
          <p:cNvPr id="30" name="Icon Book 29" descr="icon095.png"/>
          <p:cNvPicPr>
            <a:picLocks noChangeAspect="1"/>
          </p:cNvPicPr>
          <p:nvPr/>
        </p:nvPicPr>
        <p:blipFill>
          <a:blip r:embed="rId4"/>
          <a:stretch>
            <a:fillRect/>
          </a:stretch>
        </p:blipFill>
        <p:spPr>
          <a:xfrm>
            <a:off x="5329833" y="5220295"/>
            <a:ext cx="254000" cy="254000"/>
          </a:xfrm>
          <a:prstGeom prst="rect">
            <a:avLst/>
          </a:prstGeom>
        </p:spPr>
      </p:pic>
      <p:sp>
        <p:nvSpPr>
          <p:cNvPr id="31" name="Text 30"/>
          <p:cNvSpPr txBox="1"/>
          <p:nvPr/>
        </p:nvSpPr>
        <p:spPr>
          <a:xfrm>
            <a:off x="3125291" y="5130125"/>
            <a:ext cx="209024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جهّز 5 قصص مسبقاً</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211</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755421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قصتك بطريقة STAR</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السؤال: «حدثنا عن مرة اكتشفت فيها مشكلة في ضابط ولم يكن الدليل واضحاً.»</a:t>
            </a:r>
          </a:p>
        </p:txBody>
      </p:sp>
      <p:sp>
        <p:nvSpPr>
          <p:cNvPr id="7" name="Text 6"/>
          <p:cNvSpPr txBox="1"/>
          <p:nvPr/>
        </p:nvSpPr>
        <p:spPr>
          <a:xfrm>
            <a:off x="9639300" y="25202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S الموقف</a:t>
            </a:r>
          </a:p>
        </p:txBody>
      </p:sp>
      <p:sp>
        <p:nvSpPr>
          <p:cNvPr id="8" name="Box 7"/>
          <p:cNvSpPr/>
          <p:nvPr/>
        </p:nvSpPr>
        <p:spPr>
          <a:xfrm>
            <a:off x="819150" y="25659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639300" y="30536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T المهمة</a:t>
            </a:r>
          </a:p>
        </p:txBody>
      </p:sp>
      <p:sp>
        <p:nvSpPr>
          <p:cNvPr id="10" name="Box 9"/>
          <p:cNvSpPr/>
          <p:nvPr/>
        </p:nvSpPr>
        <p:spPr>
          <a:xfrm>
            <a:off x="819150" y="30993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639300" y="35870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A ما فعلته أنا</a:t>
            </a:r>
          </a:p>
        </p:txBody>
      </p:sp>
      <p:sp>
        <p:nvSpPr>
          <p:cNvPr id="12" name="Box 11"/>
          <p:cNvSpPr/>
          <p:nvPr/>
        </p:nvSpPr>
        <p:spPr>
          <a:xfrm>
            <a:off x="819150" y="36327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639300" y="41204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R النتيجة</a:t>
            </a:r>
          </a:p>
        </p:txBody>
      </p:sp>
      <p:sp>
        <p:nvSpPr>
          <p:cNvPr id="14" name="Box 13"/>
          <p:cNvSpPr/>
          <p:nvPr/>
        </p:nvSpPr>
        <p:spPr>
          <a:xfrm>
            <a:off x="819150" y="41661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استخدم التطبيقين 3 و4. 8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212</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776128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قصة STAR نموذجية</a:t>
            </a:r>
          </a:p>
        </p:txBody>
      </p:sp>
      <p:sp>
        <p:nvSpPr>
          <p:cNvPr id="6" name="Box 5"/>
          <p:cNvSpPr/>
          <p:nvPr/>
        </p:nvSpPr>
        <p:spPr>
          <a:xfrm>
            <a:off x="815975" y="16611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7" name="Text 6"/>
          <p:cNvSpPr txBox="1"/>
          <p:nvPr/>
        </p:nvSpPr>
        <p:spPr>
          <a:xfrm>
            <a:off x="10697210" y="17896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S</a:t>
            </a:r>
          </a:p>
        </p:txBody>
      </p:sp>
      <p:sp>
        <p:nvSpPr>
          <p:cNvPr id="8" name="Text 7"/>
          <p:cNvSpPr txBox="1"/>
          <p:nvPr/>
        </p:nvSpPr>
        <p:spPr>
          <a:xfrm>
            <a:off x="9353550" y="17265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الموقف</a:t>
            </a:r>
          </a:p>
        </p:txBody>
      </p:sp>
      <p:sp>
        <p:nvSpPr>
          <p:cNvPr id="9" name="Text 8"/>
          <p:cNvSpPr txBox="1"/>
          <p:nvPr/>
        </p:nvSpPr>
        <p:spPr>
          <a:xfrm>
            <a:off x="838200" y="17201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مشروع تدريبي لشركة افتراضية، كان المطلوب تقييم مراجعة الصلاحيات الفصلية في نظام الرواتب.</a:t>
            </a:r>
          </a:p>
        </p:txBody>
      </p:sp>
      <p:sp>
        <p:nvSpPr>
          <p:cNvPr id="10" name="Box 9"/>
          <p:cNvSpPr/>
          <p:nvPr/>
        </p:nvSpPr>
        <p:spPr>
          <a:xfrm>
            <a:off x="815975" y="2689820"/>
            <a:ext cx="10560050" cy="577850"/>
          </a:xfrm>
          <a:prstGeom prst="roundRect">
            <a:avLst>
              <a:gd name="adj" fmla="val 1521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10697210" y="28183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T</a:t>
            </a:r>
          </a:p>
        </p:txBody>
      </p:sp>
      <p:sp>
        <p:nvSpPr>
          <p:cNvPr id="12" name="Text 11"/>
          <p:cNvSpPr txBox="1"/>
          <p:nvPr/>
        </p:nvSpPr>
        <p:spPr>
          <a:xfrm>
            <a:off x="9353550" y="27552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المهمة</a:t>
            </a:r>
          </a:p>
        </p:txBody>
      </p:sp>
      <p:sp>
        <p:nvSpPr>
          <p:cNvPr id="13" name="Text 12"/>
          <p:cNvSpPr txBox="1"/>
          <p:nvPr/>
        </p:nvSpPr>
        <p:spPr>
          <a:xfrm>
            <a:off x="838200" y="2748875"/>
            <a:ext cx="85788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تحديد نتيجة التقييم من 6 أدلة متفاوتة.</a:t>
            </a:r>
          </a:p>
        </p:txBody>
      </p:sp>
      <p:sp>
        <p:nvSpPr>
          <p:cNvPr id="14" name="Box 13"/>
          <p:cNvSpPr/>
          <p:nvPr/>
        </p:nvSpPr>
        <p:spPr>
          <a:xfrm>
            <a:off x="815975" y="33502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10697210" y="34787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A</a:t>
            </a:r>
          </a:p>
        </p:txBody>
      </p:sp>
      <p:sp>
        <p:nvSpPr>
          <p:cNvPr id="16" name="Text 15"/>
          <p:cNvSpPr txBox="1"/>
          <p:nvPr/>
        </p:nvSpPr>
        <p:spPr>
          <a:xfrm>
            <a:off x="9353550" y="34156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فعلته أنا</a:t>
            </a:r>
          </a:p>
        </p:txBody>
      </p:sp>
      <p:sp>
        <p:nvSpPr>
          <p:cNvPr id="17" name="Text 16"/>
          <p:cNvSpPr txBox="1"/>
          <p:nvPr/>
        </p:nvSpPr>
        <p:spPr>
          <a:xfrm>
            <a:off x="838200" y="34092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ربطت كل دليل بما يثبته، فوجدت أن الربع الثاني لم يُنفذ وأن حسابين لمغادرين بقيا نشطين، ثم طلبت سجل الترحيل للتحقق من السبب بدل الاعتماد على البريد.</a:t>
            </a:r>
          </a:p>
        </p:txBody>
      </p:sp>
      <p:sp>
        <p:nvSpPr>
          <p:cNvPr id="18" name="Box 17"/>
          <p:cNvSpPr/>
          <p:nvPr/>
        </p:nvSpPr>
        <p:spPr>
          <a:xfrm>
            <a:off x="815975" y="43789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10697210" y="45074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R</a:t>
            </a:r>
          </a:p>
        </p:txBody>
      </p:sp>
      <p:sp>
        <p:nvSpPr>
          <p:cNvPr id="20" name="Text 19"/>
          <p:cNvSpPr txBox="1"/>
          <p:nvPr/>
        </p:nvSpPr>
        <p:spPr>
          <a:xfrm>
            <a:off x="9353550" y="44443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21" name="Text 20"/>
          <p:cNvSpPr txBox="1"/>
          <p:nvPr/>
        </p:nvSpPr>
        <p:spPr>
          <a:xfrm>
            <a:off x="838200" y="44379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قيّمت الضابط «مطبقاً جزئياً» وكتبت ملاحظة بخطة تصحيح من 4 إجراءات، ونشرت المشروع في ملف أعمالي.</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755421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اختبار قصير: الوحدة 09</a:t>
            </a:r>
          </a:p>
        </p:txBody>
      </p:sp>
      <p:sp>
        <p:nvSpPr>
          <p:cNvPr id="6" name="Text 5"/>
          <p:cNvSpPr txBox="1"/>
          <p:nvPr/>
        </p:nvSpPr>
        <p:spPr>
          <a:xfrm>
            <a:off x="8691245" y="1978208"/>
            <a:ext cx="3089910" cy="1339850"/>
          </a:xfrm>
          <a:prstGeom prst="rect">
            <a:avLst/>
          </a:prstGeom>
          <a:noFill/>
        </p:spPr>
        <p:txBody>
          <a:bodyPr wrap="square" tIns="0" rIns="0" bIns="0" lIns="0" anchor="t" rtlCol="0" anchorCtr="0">
            <a:noAutofit/>
          </a:bodyPr>
          <a:lstStyle/>
          <a:p>
            <a:pPr algn="ctr">
              <a:lnSpc>
                <a:spcPts val="10550"/>
              </a:lnSpc>
              <a:spcBef>
                <a:spcPts val="0"/>
              </a:spcBef>
              <a:spcAft>
                <a:spcPts val="0"/>
              </a:spcAft>
            </a:pPr>
            <a:r>
              <a:rPr sz="10550" b="1" i="0">
                <a:solidFill>
                  <a:srgbClr val="8A4B12"/>
                </a:solidFill>
                <a:latin typeface="Readex Pro"/>
                <a:ea typeface="Readex Pro"/>
                <a:cs typeface="Readex Pro"/>
              </a:rPr>
              <a:t>3</a:t>
            </a:r>
          </a:p>
        </p:txBody>
      </p:sp>
      <p:sp>
        <p:nvSpPr>
          <p:cNvPr id="7" name="Text 6"/>
          <p:cNvSpPr txBox="1"/>
          <p:nvPr/>
        </p:nvSpPr>
        <p:spPr>
          <a:xfrm>
            <a:off x="9001760" y="32029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8A4B12"/>
                </a:solidFill>
                <a:latin typeface="IBM Plex Sans Arabic"/>
                <a:ea typeface="IBM Plex Sans Arabic"/>
                <a:cs typeface="IBM Plex Sans Arabic"/>
              </a:rPr>
              <a:t>أسئلة قصيرة</a:t>
            </a:r>
          </a:p>
        </p:txBody>
      </p:sp>
      <p:sp>
        <p:nvSpPr>
          <p:cNvPr id="8" name="Text 7"/>
          <p:cNvSpPr txBox="1"/>
          <p:nvPr/>
        </p:nvSpPr>
        <p:spPr>
          <a:xfrm>
            <a:off x="9001760" y="3596600"/>
            <a:ext cx="246888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4E5A66"/>
                </a:solidFill>
                <a:latin typeface="IBM Plex Sans Arabic"/>
                <a:ea typeface="IBM Plex Sans Arabic"/>
                <a:cs typeface="IBM Plex Sans Arabic"/>
              </a:rPr>
              <a:t>6 دقائق</a:t>
            </a:r>
          </a:p>
        </p:txBody>
      </p:sp>
      <p:sp>
        <p:nvSpPr>
          <p:cNvPr id="9" name="Text 8"/>
          <p:cNvSpPr txBox="1"/>
          <p:nvPr/>
        </p:nvSpPr>
        <p:spPr>
          <a:xfrm>
            <a:off x="178816" y="1618575"/>
            <a:ext cx="85587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يغطيه الاختبار:</a:t>
            </a:r>
          </a:p>
        </p:txBody>
      </p:sp>
      <p:pic>
        <p:nvPicPr>
          <p:cNvPr id="10" name="Icon Check 9" descr="icon013.png"/>
          <p:cNvPicPr>
            <a:picLocks noChangeAspect="1"/>
          </p:cNvPicPr>
          <p:nvPr/>
        </p:nvPicPr>
        <p:blipFill>
          <a:blip r:embed="rId2"/>
          <a:stretch>
            <a:fillRect/>
          </a:stretch>
        </p:blipFill>
        <p:spPr>
          <a:xfrm>
            <a:off x="8470900" y="2115145"/>
            <a:ext cx="266700" cy="266700"/>
          </a:xfrm>
          <a:prstGeom prst="rect">
            <a:avLst/>
          </a:prstGeom>
        </p:spPr>
      </p:pic>
      <p:sp>
        <p:nvSpPr>
          <p:cNvPr id="11" name="Text 10"/>
          <p:cNvSpPr txBox="1"/>
          <p:nvPr/>
        </p:nvSpPr>
        <p:spPr>
          <a:xfrm>
            <a:off x="209296" y="20757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قصة STAR.</a:t>
            </a:r>
          </a:p>
        </p:txBody>
      </p:sp>
      <p:pic>
        <p:nvPicPr>
          <p:cNvPr id="12" name="Icon Check 11" descr="icon013.png"/>
          <p:cNvPicPr>
            <a:picLocks noChangeAspect="1"/>
          </p:cNvPicPr>
          <p:nvPr/>
        </p:nvPicPr>
        <p:blipFill>
          <a:blip r:embed="rId2"/>
          <a:stretch>
            <a:fillRect/>
          </a:stretch>
        </p:blipFill>
        <p:spPr>
          <a:xfrm>
            <a:off x="8470900" y="2546945"/>
            <a:ext cx="266700" cy="266700"/>
          </a:xfrm>
          <a:prstGeom prst="rect">
            <a:avLst/>
          </a:prstGeom>
        </p:spPr>
      </p:pic>
      <p:sp>
        <p:nvSpPr>
          <p:cNvPr id="13" name="Text 12"/>
          <p:cNvSpPr txBox="1"/>
          <p:nvPr/>
        </p:nvSpPr>
        <p:spPr>
          <a:xfrm>
            <a:off x="209296" y="25075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التعامل مع مالك نظام يرفض ضابطاً.</a:t>
            </a:r>
          </a:p>
        </p:txBody>
      </p:sp>
      <p:pic>
        <p:nvPicPr>
          <p:cNvPr id="14" name="Icon Check 13" descr="icon013.png"/>
          <p:cNvPicPr>
            <a:picLocks noChangeAspect="1"/>
          </p:cNvPicPr>
          <p:nvPr/>
        </p:nvPicPr>
        <p:blipFill>
          <a:blip r:embed="rId2"/>
          <a:stretch>
            <a:fillRect/>
          </a:stretch>
        </p:blipFill>
        <p:spPr>
          <a:xfrm>
            <a:off x="8470900" y="2978745"/>
            <a:ext cx="266700" cy="266700"/>
          </a:xfrm>
          <a:prstGeom prst="rect">
            <a:avLst/>
          </a:prstGeom>
        </p:spPr>
      </p:pic>
      <p:sp>
        <p:nvSpPr>
          <p:cNvPr id="15" name="Text 14"/>
          <p:cNvSpPr txBox="1"/>
          <p:nvPr/>
        </p:nvSpPr>
        <p:spPr>
          <a:xfrm>
            <a:off x="209296" y="2939375"/>
            <a:ext cx="814730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الحديث عن مشروع تدريبي.</a:t>
            </a:r>
          </a:p>
        </p:txBody>
      </p:sp>
      <p:sp>
        <p:nvSpPr>
          <p:cNvPr id="16" name="Text 15"/>
          <p:cNvSpPr txBox="1"/>
          <p:nvPr/>
        </p:nvSpPr>
        <p:spPr>
          <a:xfrm>
            <a:off x="575056" y="3383875"/>
            <a:ext cx="816254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أوقف الفيديو، وأجب في الكراسة في قسم «اختبار الوحدة 09». ثم قارن بالإجابات المفسرة، وانتبه لسبب خطأ كل بديل.</a:t>
            </a:r>
          </a:p>
        </p:txBody>
      </p:sp>
      <p:sp>
        <p:nvSpPr>
          <p:cNvPr id="17" name="Text 1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18" name="Text 1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214</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box 3"/>
          <p:cNvSpPr/>
          <p:nvPr/>
        </p:nvSpPr>
        <p:spPr>
          <a:xfrm>
            <a:off x="755421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التقييم الختامي: النسخ الاحتياطي للرواتب</a:t>
            </a:r>
          </a:p>
        </p:txBody>
      </p:sp>
      <p:sp>
        <p:nvSpPr>
          <p:cNvPr id="6" name="Text 5"/>
          <p:cNvSpPr txBox="1"/>
          <p:nvPr/>
        </p:nvSpPr>
        <p:spPr>
          <a:xfrm>
            <a:off x="495808" y="1534882"/>
            <a:ext cx="10883392"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نظام الرواتب خدمة سحابية SaaS. المزود ينسخ البيانات، ورُفاد تصدّر نسخة إضافية بنفسها. تبنّت رُفاد طوعاً متطلبات ECC 2-⁠9-⁠3: نطاق النسخ، والاستعادة السريعة، والفحص الدوري لفعالية الاستعادة. الفترة:‏ 1 يناير إلى 30 يونيو 2026.</a:t>
            </a:r>
          </a:p>
        </p:txBody>
      </p:sp>
      <p:sp>
        <p:nvSpPr>
          <p:cNvPr id="7" name="Text 6"/>
          <p:cNvSpPr txBox="1"/>
          <p:nvPr/>
        </p:nvSpPr>
        <p:spPr>
          <a:xfrm>
            <a:off x="0" y="23464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4E5A66"/>
                </a:solidFill>
                <a:latin typeface="IBM Plex Sans Arabic"/>
                <a:ea typeface="IBM Plex Sans Arabic"/>
                <a:cs typeface="IBM Plex Sans Arabic"/>
              </a:rPr>
              <a:t>الأدلة الأربعة كاملة في الكراسة:</a:t>
            </a:r>
          </a:p>
        </p:txBody>
      </p:sp>
      <p:sp>
        <p:nvSpPr>
          <p:cNvPr id="8" name="Text box 7"/>
          <p:cNvSpPr/>
          <p:nvPr/>
        </p:nvSpPr>
        <p:spPr>
          <a:xfrm>
            <a:off x="8794750" y="2752626"/>
            <a:ext cx="2584450" cy="472380"/>
          </a:xfrm>
          <a:prstGeom prst="rect">
            <a:avLst/>
          </a:prstGeom>
          <a:noFill/>
          <a:ln>
            <a:noFill/>
          </a:ln>
        </p:spPr>
        <p:txBody>
          <a:bodyPr rtlCol="0" anchor="ctr" wrap="square" tIns="53467" rIns="0" bIns="98933" lIns="0" anchorCtr="0">
            <a:noAutofit/>
          </a:bodyPr>
          <a:lstStyle/>
          <a:p>
            <a:pPr algn="ctr" rtl="1">
              <a:lnSpc>
                <a:spcPts val="2520"/>
              </a:lnSpc>
              <a:spcBef>
                <a:spcPts val="0"/>
              </a:spcBef>
              <a:spcAft>
                <a:spcPts val="0"/>
              </a:spcAft>
            </a:pPr>
            <a:r>
              <a:rPr sz="1800" b="1" i="0">
                <a:solidFill>
                  <a:srgbClr val="8A4B12"/>
                </a:solidFill>
                <a:latin typeface="IBM Plex Sans Arabic"/>
                <a:ea typeface="IBM Plex Sans Arabic"/>
                <a:cs typeface="IBM Plex Sans Arabic"/>
              </a:rPr>
              <a:t>د1 تحليل أثر الأعمال</a:t>
            </a:r>
          </a:p>
        </p:txBody>
      </p:sp>
      <p:sp>
        <p:nvSpPr>
          <p:cNvPr id="9" name="Rule 8"/>
          <p:cNvSpPr/>
          <p:nvPr/>
        </p:nvSpPr>
        <p:spPr>
          <a:xfrm>
            <a:off x="8794750" y="2752626"/>
            <a:ext cx="2584450" cy="25400"/>
          </a:xfrm>
          <a:prstGeom prst="rect">
            <a:avLst/>
          </a:prstGeom>
          <a:solidFill>
            <a:srgbClr val="C27A16"/>
          </a:solidFill>
          <a:ln>
            <a:noFill/>
          </a:ln>
        </p:spPr>
        <p:txBody>
          <a:bodyPr rtlCol="0" anchor="ctr"/>
          <a:lstStyle/>
          <a:p>
            <a:pPr algn="ctr"/>
          </a:p>
        </p:txBody>
      </p:sp>
      <p:sp>
        <p:nvSpPr>
          <p:cNvPr id="10" name="Text box 9"/>
          <p:cNvSpPr/>
          <p:nvPr/>
        </p:nvSpPr>
        <p:spPr>
          <a:xfrm>
            <a:off x="6134100" y="2752626"/>
            <a:ext cx="2584450" cy="472380"/>
          </a:xfrm>
          <a:prstGeom prst="rect">
            <a:avLst/>
          </a:prstGeom>
          <a:noFill/>
          <a:ln>
            <a:noFill/>
          </a:ln>
        </p:spPr>
        <p:txBody>
          <a:bodyPr rtlCol="0" anchor="ctr" wrap="square" tIns="53467" rIns="0" bIns="98933" lIns="0" anchorCtr="0">
            <a:noAutofit/>
          </a:bodyPr>
          <a:lstStyle/>
          <a:p>
            <a:pPr algn="ctr" rtl="1">
              <a:lnSpc>
                <a:spcPts val="2520"/>
              </a:lnSpc>
              <a:spcBef>
                <a:spcPts val="0"/>
              </a:spcBef>
              <a:spcAft>
                <a:spcPts val="0"/>
              </a:spcAft>
            </a:pPr>
            <a:r>
              <a:rPr sz="1800" b="1" i="0">
                <a:solidFill>
                  <a:srgbClr val="8A4B12"/>
                </a:solidFill>
                <a:latin typeface="IBM Plex Sans Arabic"/>
                <a:ea typeface="IBM Plex Sans Arabic"/>
                <a:cs typeface="IBM Plex Sans Arabic"/>
              </a:rPr>
              <a:t>د2 وصف خدمة المزود</a:t>
            </a:r>
          </a:p>
        </p:txBody>
      </p:sp>
      <p:sp>
        <p:nvSpPr>
          <p:cNvPr id="11" name="Rule 10"/>
          <p:cNvSpPr/>
          <p:nvPr/>
        </p:nvSpPr>
        <p:spPr>
          <a:xfrm>
            <a:off x="6134100" y="2752626"/>
            <a:ext cx="2584450" cy="25400"/>
          </a:xfrm>
          <a:prstGeom prst="rect">
            <a:avLst/>
          </a:prstGeom>
          <a:solidFill>
            <a:srgbClr val="C27A16"/>
          </a:solidFill>
          <a:ln>
            <a:noFill/>
          </a:ln>
        </p:spPr>
        <p:txBody>
          <a:bodyPr rtlCol="0" anchor="ctr"/>
          <a:lstStyle/>
          <a:p>
            <a:pPr algn="ctr"/>
          </a:p>
        </p:txBody>
      </p:sp>
      <p:sp>
        <p:nvSpPr>
          <p:cNvPr id="12" name="Text box 11"/>
          <p:cNvSpPr/>
          <p:nvPr/>
        </p:nvSpPr>
        <p:spPr>
          <a:xfrm>
            <a:off x="3473450" y="2752626"/>
            <a:ext cx="2584450" cy="472380"/>
          </a:xfrm>
          <a:prstGeom prst="rect">
            <a:avLst/>
          </a:prstGeom>
          <a:noFill/>
          <a:ln>
            <a:noFill/>
          </a:ln>
        </p:spPr>
        <p:txBody>
          <a:bodyPr rtlCol="0" anchor="ctr" wrap="square" tIns="53467" rIns="0" bIns="98933" lIns="0" anchorCtr="0">
            <a:noAutofit/>
          </a:bodyPr>
          <a:lstStyle/>
          <a:p>
            <a:pPr algn="ctr" rtl="1">
              <a:lnSpc>
                <a:spcPts val="2520"/>
              </a:lnSpc>
              <a:spcBef>
                <a:spcPts val="0"/>
              </a:spcBef>
              <a:spcAft>
                <a:spcPts val="0"/>
              </a:spcAft>
            </a:pPr>
            <a:r>
              <a:rPr sz="1800" b="1" i="0">
                <a:solidFill>
                  <a:srgbClr val="8A4B12"/>
                </a:solidFill>
                <a:latin typeface="IBM Plex Sans Arabic"/>
                <a:ea typeface="IBM Plex Sans Arabic"/>
                <a:cs typeface="IBM Plex Sans Arabic"/>
              </a:rPr>
              <a:t>د3 تقرير التصدير</a:t>
            </a:r>
          </a:p>
        </p:txBody>
      </p:sp>
      <p:sp>
        <p:nvSpPr>
          <p:cNvPr id="13" name="Rule 12"/>
          <p:cNvSpPr/>
          <p:nvPr/>
        </p:nvSpPr>
        <p:spPr>
          <a:xfrm>
            <a:off x="3473450" y="2752626"/>
            <a:ext cx="2584450" cy="25400"/>
          </a:xfrm>
          <a:prstGeom prst="rect">
            <a:avLst/>
          </a:prstGeom>
          <a:solidFill>
            <a:srgbClr val="C27A16"/>
          </a:solidFill>
          <a:ln>
            <a:noFill/>
          </a:ln>
        </p:spPr>
        <p:txBody>
          <a:bodyPr rtlCol="0" anchor="ctr"/>
          <a:lstStyle/>
          <a:p>
            <a:pPr algn="ctr"/>
          </a:p>
        </p:txBody>
      </p:sp>
      <p:sp>
        <p:nvSpPr>
          <p:cNvPr id="14" name="Text box 13"/>
          <p:cNvSpPr/>
          <p:nvPr/>
        </p:nvSpPr>
        <p:spPr>
          <a:xfrm>
            <a:off x="812800" y="2752626"/>
            <a:ext cx="2584450" cy="472380"/>
          </a:xfrm>
          <a:prstGeom prst="rect">
            <a:avLst/>
          </a:prstGeom>
          <a:noFill/>
          <a:ln>
            <a:noFill/>
          </a:ln>
        </p:spPr>
        <p:txBody>
          <a:bodyPr rtlCol="0" anchor="ctr" wrap="square" tIns="53467" rIns="0" bIns="98933" lIns="0" anchorCtr="0">
            <a:noAutofit/>
          </a:bodyPr>
          <a:lstStyle/>
          <a:p>
            <a:pPr algn="ctr" rtl="1">
              <a:lnSpc>
                <a:spcPts val="2520"/>
              </a:lnSpc>
              <a:spcBef>
                <a:spcPts val="0"/>
              </a:spcBef>
              <a:spcAft>
                <a:spcPts val="0"/>
              </a:spcAft>
            </a:pPr>
            <a:r>
              <a:rPr sz="1800" b="1" i="0">
                <a:solidFill>
                  <a:srgbClr val="8A4B12"/>
                </a:solidFill>
                <a:latin typeface="IBM Plex Sans Arabic"/>
                <a:ea typeface="IBM Plex Sans Arabic"/>
                <a:cs typeface="IBM Plex Sans Arabic"/>
              </a:rPr>
              <a:t>د4 لا اختبار استعادة</a:t>
            </a:r>
          </a:p>
        </p:txBody>
      </p:sp>
      <p:sp>
        <p:nvSpPr>
          <p:cNvPr id="15" name="Rule 14"/>
          <p:cNvSpPr/>
          <p:nvPr/>
        </p:nvSpPr>
        <p:spPr>
          <a:xfrm>
            <a:off x="812800" y="2752626"/>
            <a:ext cx="2584450" cy="25400"/>
          </a:xfrm>
          <a:prstGeom prst="rect">
            <a:avLst/>
          </a:prstGeom>
          <a:solidFill>
            <a:srgbClr val="C27A16"/>
          </a:solidFill>
          <a:ln>
            <a:noFill/>
          </a:ln>
        </p:spPr>
        <p:txBody>
          <a:bodyPr rtlCol="0" anchor="ctr"/>
          <a:lstStyle/>
          <a:p>
            <a:pPr algn="ctr"/>
          </a:p>
        </p:txBody>
      </p:sp>
      <p:sp>
        <p:nvSpPr>
          <p:cNvPr id="16" name="Text 15"/>
          <p:cNvSpPr txBox="1"/>
          <p:nvPr/>
        </p:nvSpPr>
        <p:spPr>
          <a:xfrm>
            <a:off x="0" y="3299936"/>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المطلوب: ساعة واحدة</a:t>
            </a:r>
          </a:p>
        </p:txBody>
      </p:sp>
      <p:sp>
        <p:nvSpPr>
          <p:cNvPr id="17" name="Text 16"/>
          <p:cNvSpPr txBox="1"/>
          <p:nvPr/>
        </p:nvSpPr>
        <p:spPr>
          <a:xfrm>
            <a:off x="10998200" y="3729196"/>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18" name="Text 17"/>
          <p:cNvSpPr txBox="1"/>
          <p:nvPr/>
        </p:nvSpPr>
        <p:spPr>
          <a:xfrm>
            <a:off x="0" y="3719036"/>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حدّد الخطر: اكتبه بصيغة بسبب… قد… مما يؤدي إلى…، وقيّمه بالمصفوفة مع مبرر لكل درجة.</a:t>
            </a:r>
          </a:p>
        </p:txBody>
      </p:sp>
      <p:sp>
        <p:nvSpPr>
          <p:cNvPr id="19" name="Text 18"/>
          <p:cNvSpPr txBox="1"/>
          <p:nvPr/>
        </p:nvSpPr>
        <p:spPr>
          <a:xfrm>
            <a:off x="10998200" y="4173696"/>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0" name="Text 19"/>
          <p:cNvSpPr txBox="1"/>
          <p:nvPr/>
        </p:nvSpPr>
        <p:spPr>
          <a:xfrm>
            <a:off x="0" y="4163536"/>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اختر ضابطين على الأقل يعالجان الخطر، ولكل منهما مالك.</a:t>
            </a:r>
          </a:p>
        </p:txBody>
      </p:sp>
      <p:sp>
        <p:nvSpPr>
          <p:cNvPr id="21" name="Text 20"/>
          <p:cNvSpPr txBox="1"/>
          <p:nvPr/>
        </p:nvSpPr>
        <p:spPr>
          <a:xfrm>
            <a:off x="10998200" y="4618196"/>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22" name="Text 21"/>
          <p:cNvSpPr txBox="1"/>
          <p:nvPr/>
        </p:nvSpPr>
        <p:spPr>
          <a:xfrm>
            <a:off x="0" y="4608036"/>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قيّم الأدلة الأربعة: ماذا يثبت كل منها وماذا لا يثبت؟ وما نوع كل فجوة: تصميم، أم تنفيذ، أم تشغيل؟</a:t>
            </a:r>
          </a:p>
        </p:txBody>
      </p:sp>
      <p:sp>
        <p:nvSpPr>
          <p:cNvPr id="23" name="Text 22"/>
          <p:cNvSpPr txBox="1"/>
          <p:nvPr/>
        </p:nvSpPr>
        <p:spPr>
          <a:xfrm>
            <a:off x="10998200" y="5062696"/>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4</a:t>
            </a:r>
          </a:p>
        </p:txBody>
      </p:sp>
      <p:sp>
        <p:nvSpPr>
          <p:cNvPr id="24" name="Text 23"/>
          <p:cNvSpPr txBox="1"/>
          <p:nvPr/>
        </p:nvSpPr>
        <p:spPr>
          <a:xfrm>
            <a:off x="0" y="5052536"/>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ملاحظة بعناصرها الخمسة، وخطة تصحيح من 4 إجراءات بمالك وموعد ودليل إغلاق.</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215</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قائمة المراجعة: هل أنت جاهز للتقديم؟</a:t>
            </a:r>
          </a:p>
        </p:txBody>
      </p:sp>
      <p:sp>
        <p:nvSpPr>
          <p:cNvPr id="5" name="Rule 4"/>
          <p:cNvSpPr/>
          <p:nvPr/>
        </p:nvSpPr>
        <p:spPr>
          <a:xfrm>
            <a:off x="8804275" y="1657945"/>
            <a:ext cx="2574925" cy="31750"/>
          </a:xfrm>
          <a:prstGeom prst="rect">
            <a:avLst/>
          </a:prstGeom>
          <a:solidFill>
            <a:srgbClr val="0E7C6B"/>
          </a:solidFill>
          <a:ln>
            <a:noFill/>
          </a:ln>
        </p:spPr>
        <p:txBody>
          <a:bodyPr rtlCol="0" anchor="ctr"/>
          <a:lstStyle/>
          <a:p>
            <a:pPr algn="ctr"/>
          </a:p>
        </p:txBody>
      </p:sp>
      <p:sp>
        <p:nvSpPr>
          <p:cNvPr id="6" name="Text 5"/>
          <p:cNvSpPr txBox="1"/>
          <p:nvPr/>
        </p:nvSpPr>
        <p:spPr>
          <a:xfrm>
            <a:off x="8829675"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المعرفة</a:t>
            </a:r>
          </a:p>
        </p:txBody>
      </p:sp>
      <p:sp>
        <p:nvSpPr>
          <p:cNvPr id="7" name="Box 6"/>
          <p:cNvSpPr/>
          <p:nvPr/>
        </p:nvSpPr>
        <p:spPr>
          <a:xfrm>
            <a:off x="11160125" y="2245320"/>
            <a:ext cx="171450" cy="171450"/>
          </a:xfrm>
          <a:prstGeom prst="roundRect">
            <a:avLst>
              <a:gd name="adj" fmla="val 20000"/>
            </a:avLst>
          </a:prstGeom>
          <a:noFill/>
          <a:ln w="19050">
            <a:solidFill>
              <a:srgbClr val="0E7C6B"/>
            </a:solidFill>
          </a:ln>
        </p:spPr>
        <p:txBody>
          <a:bodyPr rtlCol="0" anchor="ctr"/>
          <a:lstStyle/>
          <a:p>
            <a:pPr algn="ctr"/>
          </a:p>
        </p:txBody>
      </p:sp>
      <p:sp>
        <p:nvSpPr>
          <p:cNvPr id="8" name="Text 7"/>
          <p:cNvSpPr txBox="1"/>
          <p:nvPr/>
        </p:nvSpPr>
        <p:spPr>
          <a:xfrm>
            <a:off x="8829675"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أشرح مصطلحات المخاطر بمثال</a:t>
            </a:r>
          </a:p>
        </p:txBody>
      </p:sp>
      <p:sp>
        <p:nvSpPr>
          <p:cNvPr id="9" name="Box 8"/>
          <p:cNvSpPr/>
          <p:nvPr/>
        </p:nvSpPr>
        <p:spPr>
          <a:xfrm>
            <a:off x="11160125" y="3045420"/>
            <a:ext cx="171450" cy="171450"/>
          </a:xfrm>
          <a:prstGeom prst="roundRect">
            <a:avLst>
              <a:gd name="adj" fmla="val 20000"/>
            </a:avLst>
          </a:prstGeom>
          <a:noFill/>
          <a:ln w="19050">
            <a:solidFill>
              <a:srgbClr val="0E7C6B"/>
            </a:solidFill>
          </a:ln>
        </p:spPr>
        <p:txBody>
          <a:bodyPr rtlCol="0" anchor="ctr"/>
          <a:lstStyle/>
          <a:p>
            <a:pPr algn="ctr"/>
          </a:p>
        </p:txBody>
      </p:sp>
      <p:sp>
        <p:nvSpPr>
          <p:cNvPr id="10" name="Text 9"/>
          <p:cNvSpPr txBox="1"/>
          <p:nvPr/>
        </p:nvSpPr>
        <p:spPr>
          <a:xfrm>
            <a:off x="8829675"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أفرق بين السياسة والمعيار والإجراء</a:t>
            </a:r>
          </a:p>
        </p:txBody>
      </p:sp>
      <p:sp>
        <p:nvSpPr>
          <p:cNvPr id="11" name="Box 10"/>
          <p:cNvSpPr/>
          <p:nvPr/>
        </p:nvSpPr>
        <p:spPr>
          <a:xfrm>
            <a:off x="11160125" y="3845520"/>
            <a:ext cx="171450" cy="171450"/>
          </a:xfrm>
          <a:prstGeom prst="roundRect">
            <a:avLst>
              <a:gd name="adj" fmla="val 20000"/>
            </a:avLst>
          </a:prstGeom>
          <a:noFill/>
          <a:ln w="19050">
            <a:solidFill>
              <a:srgbClr val="0E7C6B"/>
            </a:solidFill>
          </a:ln>
        </p:spPr>
        <p:txBody>
          <a:bodyPr rtlCol="0" anchor="ctr"/>
          <a:lstStyle/>
          <a:p>
            <a:pPr algn="ctr"/>
          </a:p>
        </p:txBody>
      </p:sp>
      <p:sp>
        <p:nvSpPr>
          <p:cNvPr id="12" name="Text 11"/>
          <p:cNvSpPr txBox="1"/>
          <p:nvPr/>
        </p:nvSpPr>
        <p:spPr>
          <a:xfrm>
            <a:off x="8829675" y="37966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أعرف ما ينطبق على قطاعي</a:t>
            </a:r>
          </a:p>
        </p:txBody>
      </p:sp>
      <p:sp>
        <p:nvSpPr>
          <p:cNvPr id="13" name="Rule 12"/>
          <p:cNvSpPr/>
          <p:nvPr/>
        </p:nvSpPr>
        <p:spPr>
          <a:xfrm>
            <a:off x="6140450" y="1657945"/>
            <a:ext cx="2574925" cy="31750"/>
          </a:xfrm>
          <a:prstGeom prst="rect">
            <a:avLst/>
          </a:prstGeom>
          <a:solidFill>
            <a:srgbClr val="24506B"/>
          </a:solidFill>
          <a:ln>
            <a:noFill/>
          </a:ln>
        </p:spPr>
        <p:txBody>
          <a:bodyPr rtlCol="0" anchor="ctr"/>
          <a:lstStyle/>
          <a:p>
            <a:pPr algn="ctr"/>
          </a:p>
        </p:txBody>
      </p:sp>
      <p:sp>
        <p:nvSpPr>
          <p:cNvPr id="14" name="Text 13"/>
          <p:cNvSpPr txBox="1"/>
          <p:nvPr/>
        </p:nvSpPr>
        <p:spPr>
          <a:xfrm>
            <a:off x="6165850"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التطبيق</a:t>
            </a:r>
          </a:p>
        </p:txBody>
      </p:sp>
      <p:sp>
        <p:nvSpPr>
          <p:cNvPr id="15" name="Box 14"/>
          <p:cNvSpPr/>
          <p:nvPr/>
        </p:nvSpPr>
        <p:spPr>
          <a:xfrm>
            <a:off x="8496300" y="2245320"/>
            <a:ext cx="171450" cy="171450"/>
          </a:xfrm>
          <a:prstGeom prst="roundRect">
            <a:avLst>
              <a:gd name="adj" fmla="val 20000"/>
            </a:avLst>
          </a:prstGeom>
          <a:noFill/>
          <a:ln w="19050">
            <a:solidFill>
              <a:srgbClr val="24506B"/>
            </a:solidFill>
          </a:ln>
        </p:spPr>
        <p:txBody>
          <a:bodyPr rtlCol="0" anchor="ctr"/>
          <a:lstStyle/>
          <a:p>
            <a:pPr algn="ctr"/>
          </a:p>
        </p:txBody>
      </p:sp>
      <p:sp>
        <p:nvSpPr>
          <p:cNvPr id="16" name="Text 15"/>
          <p:cNvSpPr txBox="1"/>
          <p:nvPr/>
        </p:nvSpPr>
        <p:spPr>
          <a:xfrm>
            <a:off x="6165850"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أنهيت التطبيقات الأربعة وصححتها</a:t>
            </a:r>
          </a:p>
        </p:txBody>
      </p:sp>
      <p:sp>
        <p:nvSpPr>
          <p:cNvPr id="17" name="Box 16"/>
          <p:cNvSpPr/>
          <p:nvPr/>
        </p:nvSpPr>
        <p:spPr>
          <a:xfrm>
            <a:off x="8496300" y="3045420"/>
            <a:ext cx="171450" cy="171450"/>
          </a:xfrm>
          <a:prstGeom prst="roundRect">
            <a:avLst>
              <a:gd name="adj" fmla="val 20000"/>
            </a:avLst>
          </a:prstGeom>
          <a:noFill/>
          <a:ln w="19050">
            <a:solidFill>
              <a:srgbClr val="24506B"/>
            </a:solidFill>
          </a:ln>
        </p:spPr>
        <p:txBody>
          <a:bodyPr rtlCol="0" anchor="ctr"/>
          <a:lstStyle/>
          <a:p>
            <a:pPr algn="ctr"/>
          </a:p>
        </p:txBody>
      </p:sp>
      <p:sp>
        <p:nvSpPr>
          <p:cNvPr id="18" name="Text 17"/>
          <p:cNvSpPr txBox="1"/>
          <p:nvPr/>
        </p:nvSpPr>
        <p:spPr>
          <a:xfrm>
            <a:off x="6165850"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منشوران بصفحتين</a:t>
            </a:r>
          </a:p>
        </p:txBody>
      </p:sp>
      <p:sp>
        <p:nvSpPr>
          <p:cNvPr id="19" name="Box 18"/>
          <p:cNvSpPr/>
          <p:nvPr/>
        </p:nvSpPr>
        <p:spPr>
          <a:xfrm>
            <a:off x="8496300" y="3845520"/>
            <a:ext cx="171450" cy="171450"/>
          </a:xfrm>
          <a:prstGeom prst="roundRect">
            <a:avLst>
              <a:gd name="adj" fmla="val 20000"/>
            </a:avLst>
          </a:prstGeom>
          <a:noFill/>
          <a:ln w="19050">
            <a:solidFill>
              <a:srgbClr val="24506B"/>
            </a:solidFill>
          </a:ln>
        </p:spPr>
        <p:txBody>
          <a:bodyPr rtlCol="0" anchor="ctr"/>
          <a:lstStyle/>
          <a:p>
            <a:pPr algn="ctr"/>
          </a:p>
        </p:txBody>
      </p:sp>
      <p:sp>
        <p:nvSpPr>
          <p:cNvPr id="20" name="Text 19"/>
          <p:cNvSpPr txBox="1"/>
          <p:nvPr/>
        </p:nvSpPr>
        <p:spPr>
          <a:xfrm>
            <a:off x="6165850" y="37966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بيانات لجهة حقيقية</a:t>
            </a:r>
          </a:p>
        </p:txBody>
      </p:sp>
      <p:sp>
        <p:nvSpPr>
          <p:cNvPr id="21" name="Rule 20"/>
          <p:cNvSpPr/>
          <p:nvPr/>
        </p:nvSpPr>
        <p:spPr>
          <a:xfrm>
            <a:off x="3476625" y="1657945"/>
            <a:ext cx="2574925" cy="31750"/>
          </a:xfrm>
          <a:prstGeom prst="rect">
            <a:avLst/>
          </a:prstGeom>
          <a:solidFill>
            <a:srgbClr val="5A3F87"/>
          </a:solidFill>
          <a:ln>
            <a:noFill/>
          </a:ln>
        </p:spPr>
        <p:txBody>
          <a:bodyPr rtlCol="0" anchor="ctr"/>
          <a:lstStyle/>
          <a:p>
            <a:pPr algn="ctr"/>
          </a:p>
        </p:txBody>
      </p:sp>
      <p:sp>
        <p:nvSpPr>
          <p:cNvPr id="22" name="Text 21"/>
          <p:cNvSpPr txBox="1"/>
          <p:nvPr/>
        </p:nvSpPr>
        <p:spPr>
          <a:xfrm>
            <a:off x="3502025"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5A3F87"/>
                </a:solidFill>
                <a:latin typeface="Readex Pro"/>
                <a:ea typeface="Readex Pro"/>
                <a:cs typeface="Readex Pro"/>
              </a:rPr>
              <a:t>الشهادة</a:t>
            </a:r>
          </a:p>
        </p:txBody>
      </p:sp>
      <p:sp>
        <p:nvSpPr>
          <p:cNvPr id="23" name="Box 22"/>
          <p:cNvSpPr/>
          <p:nvPr/>
        </p:nvSpPr>
        <p:spPr>
          <a:xfrm>
            <a:off x="5832475" y="2245320"/>
            <a:ext cx="171450" cy="171450"/>
          </a:xfrm>
          <a:prstGeom prst="roundRect">
            <a:avLst>
              <a:gd name="adj" fmla="val 20000"/>
            </a:avLst>
          </a:prstGeom>
          <a:noFill/>
          <a:ln w="19050">
            <a:solidFill>
              <a:srgbClr val="5A3F87"/>
            </a:solidFill>
          </a:ln>
        </p:spPr>
        <p:txBody>
          <a:bodyPr rtlCol="0" anchor="ctr"/>
          <a:lstStyle/>
          <a:p>
            <a:pPr algn="ctr"/>
          </a:p>
        </p:txBody>
      </p:sp>
      <p:sp>
        <p:nvSpPr>
          <p:cNvPr id="24" name="Text 23"/>
          <p:cNvSpPr txBox="1"/>
          <p:nvPr/>
        </p:nvSpPr>
        <p:spPr>
          <a:xfrm>
            <a:off x="3502025"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اخترت شهادة مدخل واحدة</a:t>
            </a:r>
          </a:p>
        </p:txBody>
      </p:sp>
      <p:sp>
        <p:nvSpPr>
          <p:cNvPr id="25" name="Box 24"/>
          <p:cNvSpPr/>
          <p:nvPr/>
        </p:nvSpPr>
        <p:spPr>
          <a:xfrm>
            <a:off x="5832475" y="3045420"/>
            <a:ext cx="171450" cy="171450"/>
          </a:xfrm>
          <a:prstGeom prst="roundRect">
            <a:avLst>
              <a:gd name="adj" fmla="val 20000"/>
            </a:avLst>
          </a:prstGeom>
          <a:noFill/>
          <a:ln w="19050">
            <a:solidFill>
              <a:srgbClr val="5A3F87"/>
            </a:solidFill>
          </a:ln>
        </p:spPr>
        <p:txBody>
          <a:bodyPr rtlCol="0" anchor="ctr"/>
          <a:lstStyle/>
          <a:p>
            <a:pPr algn="ctr"/>
          </a:p>
        </p:txBody>
      </p:sp>
      <p:sp>
        <p:nvSpPr>
          <p:cNvPr id="26" name="Text 25"/>
          <p:cNvSpPr txBox="1"/>
          <p:nvPr/>
        </p:nvSpPr>
        <p:spPr>
          <a:xfrm>
            <a:off x="3502025"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قرأت مخطط اختبارها الحالي</a:t>
            </a:r>
          </a:p>
        </p:txBody>
      </p:sp>
      <p:sp>
        <p:nvSpPr>
          <p:cNvPr id="27" name="Box 26"/>
          <p:cNvSpPr/>
          <p:nvPr/>
        </p:nvSpPr>
        <p:spPr>
          <a:xfrm>
            <a:off x="5832475" y="3845520"/>
            <a:ext cx="171450" cy="171450"/>
          </a:xfrm>
          <a:prstGeom prst="roundRect">
            <a:avLst>
              <a:gd name="adj" fmla="val 20000"/>
            </a:avLst>
          </a:prstGeom>
          <a:noFill/>
          <a:ln w="19050">
            <a:solidFill>
              <a:srgbClr val="5A3F87"/>
            </a:solidFill>
          </a:ln>
        </p:spPr>
        <p:txBody>
          <a:bodyPr rtlCol="0" anchor="ctr"/>
          <a:lstStyle/>
          <a:p>
            <a:pPr algn="ctr"/>
          </a:p>
        </p:txBody>
      </p:sp>
      <p:sp>
        <p:nvSpPr>
          <p:cNvPr id="28" name="Text 27"/>
          <p:cNvSpPr txBox="1"/>
          <p:nvPr/>
        </p:nvSpPr>
        <p:spPr>
          <a:xfrm>
            <a:off x="3502025" y="37966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تحققت من الرسوم واللغة</a:t>
            </a:r>
          </a:p>
        </p:txBody>
      </p:sp>
      <p:sp>
        <p:nvSpPr>
          <p:cNvPr id="29" name="Rule 28"/>
          <p:cNvSpPr/>
          <p:nvPr/>
        </p:nvSpPr>
        <p:spPr>
          <a:xfrm>
            <a:off x="812800" y="1657945"/>
            <a:ext cx="2574925" cy="31750"/>
          </a:xfrm>
          <a:prstGeom prst="rect">
            <a:avLst/>
          </a:prstGeom>
          <a:solidFill>
            <a:srgbClr val="8A4B12"/>
          </a:solidFill>
          <a:ln>
            <a:noFill/>
          </a:ln>
        </p:spPr>
        <p:txBody>
          <a:bodyPr rtlCol="0" anchor="ctr"/>
          <a:lstStyle/>
          <a:p>
            <a:pPr algn="ctr"/>
          </a:p>
        </p:txBody>
      </p:sp>
      <p:sp>
        <p:nvSpPr>
          <p:cNvPr id="30" name="Text 29"/>
          <p:cNvSpPr txBox="1"/>
          <p:nvPr/>
        </p:nvSpPr>
        <p:spPr>
          <a:xfrm>
            <a:off x="838200"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السوق</a:t>
            </a:r>
          </a:p>
        </p:txBody>
      </p:sp>
      <p:sp>
        <p:nvSpPr>
          <p:cNvPr id="31" name="Box 30"/>
          <p:cNvSpPr/>
          <p:nvPr/>
        </p:nvSpPr>
        <p:spPr>
          <a:xfrm>
            <a:off x="3168650" y="2245320"/>
            <a:ext cx="171450" cy="171450"/>
          </a:xfrm>
          <a:prstGeom prst="roundRect">
            <a:avLst>
              <a:gd name="adj" fmla="val 20000"/>
            </a:avLst>
          </a:prstGeom>
          <a:noFill/>
          <a:ln w="19050">
            <a:solidFill>
              <a:srgbClr val="8A4B12"/>
            </a:solidFill>
          </a:ln>
        </p:spPr>
        <p:txBody>
          <a:bodyPr rtlCol="0" anchor="ctr"/>
          <a:lstStyle/>
          <a:p>
            <a:pPr algn="ctr"/>
          </a:p>
        </p:txBody>
      </p:sp>
      <p:sp>
        <p:nvSpPr>
          <p:cNvPr id="32" name="Text 31"/>
          <p:cNvSpPr txBox="1"/>
          <p:nvPr/>
        </p:nvSpPr>
        <p:spPr>
          <a:xfrm>
            <a:off x="838200"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سيرة صفحة واحدة بإنجازات</a:t>
            </a:r>
          </a:p>
        </p:txBody>
      </p:sp>
      <p:sp>
        <p:nvSpPr>
          <p:cNvPr id="33" name="Box 32"/>
          <p:cNvSpPr/>
          <p:nvPr/>
        </p:nvSpPr>
        <p:spPr>
          <a:xfrm>
            <a:off x="3168650" y="3045420"/>
            <a:ext cx="171450" cy="171450"/>
          </a:xfrm>
          <a:prstGeom prst="roundRect">
            <a:avLst>
              <a:gd name="adj" fmla="val 20000"/>
            </a:avLst>
          </a:prstGeom>
          <a:noFill/>
          <a:ln w="19050">
            <a:solidFill>
              <a:srgbClr val="8A4B12"/>
            </a:solidFill>
          </a:ln>
        </p:spPr>
        <p:txBody>
          <a:bodyPr rtlCol="0" anchor="ctr"/>
          <a:lstStyle/>
          <a:p>
            <a:pPr algn="ctr"/>
          </a:p>
        </p:txBody>
      </p:sp>
      <p:sp>
        <p:nvSpPr>
          <p:cNvPr id="34" name="Text 33"/>
          <p:cNvSpPr txBox="1"/>
          <p:nvPr/>
        </p:nvSpPr>
        <p:spPr>
          <a:xfrm>
            <a:off x="838200" y="29965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ملف لينكدإن مكتمل</a:t>
            </a:r>
          </a:p>
        </p:txBody>
      </p:sp>
      <p:sp>
        <p:nvSpPr>
          <p:cNvPr id="35" name="Box 34"/>
          <p:cNvSpPr/>
          <p:nvPr/>
        </p:nvSpPr>
        <p:spPr>
          <a:xfrm>
            <a:off x="3168650" y="3489920"/>
            <a:ext cx="171450" cy="171450"/>
          </a:xfrm>
          <a:prstGeom prst="roundRect">
            <a:avLst>
              <a:gd name="adj" fmla="val 20000"/>
            </a:avLst>
          </a:prstGeom>
          <a:noFill/>
          <a:ln w="19050">
            <a:solidFill>
              <a:srgbClr val="8A4B12"/>
            </a:solidFill>
          </a:ln>
        </p:spPr>
        <p:txBody>
          <a:bodyPr rtlCol="0" anchor="ctr"/>
          <a:lstStyle/>
          <a:p>
            <a:pPr algn="ctr"/>
          </a:p>
        </p:txBody>
      </p:sp>
      <p:sp>
        <p:nvSpPr>
          <p:cNvPr id="36" name="Text 35"/>
          <p:cNvSpPr txBox="1"/>
          <p:nvPr/>
        </p:nvSpPr>
        <p:spPr>
          <a:xfrm>
            <a:off x="838200" y="34410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قصص STAR جاهزة</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09 · المقابلة والانطلاق</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216</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836668" y="1952284"/>
            <a:ext cx="654253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نهاية الكورس، وبداية المسار</a:t>
            </a:r>
          </a:p>
        </p:txBody>
      </p:sp>
      <p:sp>
        <p:nvSpPr>
          <p:cNvPr id="4" name="Text 3"/>
          <p:cNvSpPr txBox="1"/>
          <p:nvPr/>
        </p:nvSpPr>
        <p:spPr>
          <a:xfrm>
            <a:off x="5139563" y="2465090"/>
            <a:ext cx="6239637" cy="1460500"/>
          </a:xfrm>
          <a:prstGeom prst="rect">
            <a:avLst/>
          </a:prstGeom>
          <a:noFill/>
        </p:spPr>
        <p:txBody>
          <a:bodyPr wrap="square" tIns="0" rIns="0" bIns="0" lIns="0" anchor="t" rtlCol="0" anchorCtr="0">
            <a:noAutofit/>
          </a:bodyPr>
          <a:lstStyle/>
          <a:p>
            <a:pPr algn="r" rtl="1">
              <a:lnSpc>
                <a:spcPts val="5750"/>
              </a:lnSpc>
              <a:spcBef>
                <a:spcPts val="0"/>
              </a:spcBef>
              <a:spcAft>
                <a:spcPts val="0"/>
              </a:spcAft>
            </a:pPr>
            <a:r>
              <a:rPr sz="5000" b="1" i="0">
                <a:solidFill>
                  <a:srgbClr val="F3EFE6"/>
                </a:solidFill>
                <a:latin typeface="Readex Pro"/>
                <a:ea typeface="Readex Pro"/>
                <a:cs typeface="Readex Pro"/>
              </a:rPr>
              <a:t>ابدأ هذا الأسبوع بثلاث خطوات</a:t>
            </a:r>
          </a:p>
        </p:txBody>
      </p:sp>
      <p:sp>
        <p:nvSpPr>
          <p:cNvPr id="5" name="Text 4"/>
          <p:cNvSpPr txBox="1"/>
          <p:nvPr/>
        </p:nvSpPr>
        <p:spPr>
          <a:xfrm>
            <a:off x="4836668" y="4062877"/>
            <a:ext cx="6542532"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D9E2E6"/>
                </a:solidFill>
                <a:latin typeface="IBM Plex Sans Arabic"/>
                <a:ea typeface="IBM Plex Sans Arabic"/>
                <a:cs typeface="IBM Plex Sans Arabic"/>
              </a:rPr>
              <a:t>لا تنتظر أن تكتمل الصورة. خطوة كل أسبوع، ودليل تراه أنت وغيرك.</a:t>
            </a:r>
          </a:p>
        </p:txBody>
      </p:sp>
      <p:sp>
        <p:nvSpPr>
          <p:cNvPr id="6" name="Text 5"/>
          <p:cNvSpPr txBox="1"/>
          <p:nvPr/>
        </p:nvSpPr>
        <p:spPr>
          <a:xfrm>
            <a:off x="4836668" y="4617549"/>
            <a:ext cx="654253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0" i="0">
                <a:solidFill>
                  <a:srgbClr val="93A3B1"/>
                </a:solidFill>
                <a:latin typeface="IBM Plex Sans Arabic"/>
                <a:ea typeface="IBM Plex Sans Arabic"/>
                <a:cs typeface="IBM Plex Sans Arabic"/>
              </a:rPr>
              <a:t>الأسعار والشروط والإصدارات كما في 27 أكتوبر 2026. تحقق منها قبل التسجيل.</a:t>
            </a:r>
          </a:p>
        </p:txBody>
      </p:sp>
      <p:sp>
        <p:nvSpPr>
          <p:cNvPr id="7" name="Box 6"/>
          <p:cNvSpPr/>
          <p:nvPr/>
        </p:nvSpPr>
        <p:spPr>
          <a:xfrm>
            <a:off x="812800" y="1884859"/>
            <a:ext cx="3937000" cy="944761"/>
          </a:xfrm>
          <a:prstGeom prst="roundRect">
            <a:avLst>
              <a:gd name="adj" fmla="val 13442"/>
            </a:avLst>
          </a:prstGeom>
          <a:solidFill>
            <a:srgbClr val="22344A"/>
          </a:solidFill>
          <a:ln>
            <a:noFill/>
          </a:ln>
        </p:spPr>
        <p:txBody>
          <a:bodyPr rtlCol="0" anchor="ctr"/>
          <a:lstStyle/>
          <a:p>
            <a:pPr algn="ctr"/>
          </a:p>
        </p:txBody>
      </p:sp>
      <p:sp>
        <p:nvSpPr>
          <p:cNvPr id="8" name="Rule 7"/>
          <p:cNvSpPr/>
          <p:nvPr/>
        </p:nvSpPr>
        <p:spPr>
          <a:xfrm>
            <a:off x="4699000" y="1884859"/>
            <a:ext cx="50800" cy="944761"/>
          </a:xfrm>
          <a:prstGeom prst="rect">
            <a:avLst/>
          </a:prstGeom>
          <a:solidFill>
            <a:srgbClr val="0E7C6B"/>
          </a:solidFill>
          <a:ln>
            <a:noFill/>
          </a:ln>
        </p:spPr>
        <p:txBody>
          <a:bodyPr rtlCol="0" anchor="ctr"/>
          <a:lstStyle/>
          <a:p>
            <a:pPr algn="ctr"/>
          </a:p>
        </p:txBody>
      </p:sp>
      <p:sp>
        <p:nvSpPr>
          <p:cNvPr id="9" name="Text 8"/>
          <p:cNvSpPr txBox="1"/>
          <p:nvPr/>
        </p:nvSpPr>
        <p:spPr>
          <a:xfrm>
            <a:off x="3929380" y="2188583"/>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1</a:t>
            </a:r>
          </a:p>
        </p:txBody>
      </p:sp>
      <p:sp>
        <p:nvSpPr>
          <p:cNvPr id="10" name="Text 9"/>
          <p:cNvSpPr txBox="1"/>
          <p:nvPr/>
        </p:nvSpPr>
        <p:spPr>
          <a:xfrm>
            <a:off x="838200" y="2034274"/>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اختر شهادة المدخل</a:t>
            </a:r>
          </a:p>
        </p:txBody>
      </p:sp>
      <p:sp>
        <p:nvSpPr>
          <p:cNvPr id="11" name="Text 10"/>
          <p:cNvSpPr txBox="1"/>
          <p:nvPr/>
        </p:nvSpPr>
        <p:spPr>
          <a:xfrm>
            <a:off x="838200" y="2358477"/>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واقرأ مخطط اختبارها الرسمي</a:t>
            </a:r>
          </a:p>
        </p:txBody>
      </p:sp>
      <p:sp>
        <p:nvSpPr>
          <p:cNvPr id="12" name="Box 11"/>
          <p:cNvSpPr/>
          <p:nvPr/>
        </p:nvSpPr>
        <p:spPr>
          <a:xfrm>
            <a:off x="812800" y="2956620"/>
            <a:ext cx="3937000" cy="944761"/>
          </a:xfrm>
          <a:prstGeom prst="roundRect">
            <a:avLst>
              <a:gd name="adj" fmla="val 13442"/>
            </a:avLst>
          </a:prstGeom>
          <a:solidFill>
            <a:srgbClr val="22344A"/>
          </a:solidFill>
          <a:ln>
            <a:noFill/>
          </a:ln>
        </p:spPr>
        <p:txBody>
          <a:bodyPr rtlCol="0" anchor="ctr"/>
          <a:lstStyle/>
          <a:p>
            <a:pPr algn="ctr"/>
          </a:p>
        </p:txBody>
      </p:sp>
      <p:sp>
        <p:nvSpPr>
          <p:cNvPr id="13" name="Rule 12"/>
          <p:cNvSpPr/>
          <p:nvPr/>
        </p:nvSpPr>
        <p:spPr>
          <a:xfrm>
            <a:off x="4699000" y="2956620"/>
            <a:ext cx="50800" cy="944761"/>
          </a:xfrm>
          <a:prstGeom prst="rect">
            <a:avLst/>
          </a:prstGeom>
          <a:solidFill>
            <a:srgbClr val="E0A33A"/>
          </a:solidFill>
          <a:ln>
            <a:noFill/>
          </a:ln>
        </p:spPr>
        <p:txBody>
          <a:bodyPr rtlCol="0" anchor="ctr"/>
          <a:lstStyle/>
          <a:p>
            <a:pPr algn="ctr"/>
          </a:p>
        </p:txBody>
      </p:sp>
      <p:sp>
        <p:nvSpPr>
          <p:cNvPr id="14" name="Text 13"/>
          <p:cNvSpPr txBox="1"/>
          <p:nvPr/>
        </p:nvSpPr>
        <p:spPr>
          <a:xfrm>
            <a:off x="3929380" y="326034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2</a:t>
            </a:r>
          </a:p>
        </p:txBody>
      </p:sp>
      <p:sp>
        <p:nvSpPr>
          <p:cNvPr id="15" name="Text 14"/>
          <p:cNvSpPr txBox="1"/>
          <p:nvPr/>
        </p:nvSpPr>
        <p:spPr>
          <a:xfrm>
            <a:off x="838200" y="3106035"/>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وسّع التطبيق 2</a:t>
            </a:r>
          </a:p>
        </p:txBody>
      </p:sp>
      <p:sp>
        <p:nvSpPr>
          <p:cNvPr id="16" name="Text 15"/>
          <p:cNvSpPr txBox="1"/>
          <p:nvPr/>
        </p:nvSpPr>
        <p:spPr>
          <a:xfrm>
            <a:off x="838200" y="3430238"/>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إلى سجل من 10 مخاطر</a:t>
            </a:r>
          </a:p>
        </p:txBody>
      </p:sp>
      <p:sp>
        <p:nvSpPr>
          <p:cNvPr id="17" name="Box 16"/>
          <p:cNvSpPr/>
          <p:nvPr/>
        </p:nvSpPr>
        <p:spPr>
          <a:xfrm>
            <a:off x="812800" y="4028380"/>
            <a:ext cx="3937000" cy="944761"/>
          </a:xfrm>
          <a:prstGeom prst="roundRect">
            <a:avLst>
              <a:gd name="adj" fmla="val 13442"/>
            </a:avLst>
          </a:prstGeom>
          <a:solidFill>
            <a:srgbClr val="22344A"/>
          </a:solidFill>
          <a:ln>
            <a:noFill/>
          </a:ln>
        </p:spPr>
        <p:txBody>
          <a:bodyPr rtlCol="0" anchor="ctr"/>
          <a:lstStyle/>
          <a:p>
            <a:pPr algn="ctr"/>
          </a:p>
        </p:txBody>
      </p:sp>
      <p:sp>
        <p:nvSpPr>
          <p:cNvPr id="18" name="Rule 17"/>
          <p:cNvSpPr/>
          <p:nvPr/>
        </p:nvSpPr>
        <p:spPr>
          <a:xfrm>
            <a:off x="4699000" y="4028380"/>
            <a:ext cx="50800" cy="944761"/>
          </a:xfrm>
          <a:prstGeom prst="rect">
            <a:avLst/>
          </a:prstGeom>
          <a:solidFill>
            <a:srgbClr val="6E9BD1"/>
          </a:solidFill>
          <a:ln>
            <a:noFill/>
          </a:ln>
        </p:spPr>
        <p:txBody>
          <a:bodyPr rtlCol="0" anchor="ctr"/>
          <a:lstStyle/>
          <a:p>
            <a:pPr algn="ctr"/>
          </a:p>
        </p:txBody>
      </p:sp>
      <p:sp>
        <p:nvSpPr>
          <p:cNvPr id="19" name="Text 18"/>
          <p:cNvSpPr txBox="1"/>
          <p:nvPr/>
        </p:nvSpPr>
        <p:spPr>
          <a:xfrm>
            <a:off x="3929380" y="433210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3</a:t>
            </a:r>
          </a:p>
        </p:txBody>
      </p:sp>
      <p:sp>
        <p:nvSpPr>
          <p:cNvPr id="20" name="Text 19"/>
          <p:cNvSpPr txBox="1"/>
          <p:nvPr/>
        </p:nvSpPr>
        <p:spPr>
          <a:xfrm>
            <a:off x="838200" y="4177796"/>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حدّث عنوانك في لينكدإن</a:t>
            </a:r>
          </a:p>
        </p:txBody>
      </p:sp>
      <p:sp>
        <p:nvSpPr>
          <p:cNvPr id="21" name="Text 20"/>
          <p:cNvSpPr txBox="1"/>
          <p:nvPr/>
        </p:nvSpPr>
        <p:spPr>
          <a:xfrm>
            <a:off x="838200" y="4501999"/>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بالمعادلة من الشريحة 201</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0" y="2419136"/>
            <a:ext cx="113792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الملحق المرجعي</a:t>
            </a:r>
          </a:p>
        </p:txBody>
      </p:sp>
      <p:sp>
        <p:nvSpPr>
          <p:cNvPr id="4" name="Text 3"/>
          <p:cNvSpPr txBox="1"/>
          <p:nvPr/>
        </p:nvSpPr>
        <p:spPr>
          <a:xfrm>
            <a:off x="527050" y="336165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جداول وأرقام تتغير، فصلناها عن الدروس لتحدّثها بسهولة: القاموس، ورسوم الشهادات، وصيغ الاختبارات ولغاتها، والمراجع السعودية، والروابط.</a:t>
            </a:r>
          </a:p>
        </p:txBody>
      </p:sp>
      <p:sp>
        <p:nvSpPr>
          <p:cNvPr id="5" name="Text 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الملحق المرجعي</a:t>
            </a:r>
          </a:p>
        </p:txBody>
      </p:sp>
      <p:sp>
        <p:nvSpPr>
          <p:cNvPr id="6" name="Text 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218</a:t>
            </a:r>
          </a:p>
        </p:txBody>
      </p:sp>
    </p:spTree>
  </p:cSld>
  <p:clrMapOvr>
    <a:masterClrMapping/>
  </p:clrMapOvr>
  <p:transition spd="med">
    <p:fade/>
  </p:transition>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(1 من 2)</a:t>
            </a:r>
          </a:p>
        </p:txBody>
      </p:sp>
      <p:sp>
        <p:nvSpPr>
          <p:cNvPr id="6" name="Box 5"/>
          <p:cNvSpPr/>
          <p:nvPr/>
        </p:nvSpPr>
        <p:spPr>
          <a:xfrm>
            <a:off x="7919541"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7" name="Text 6"/>
          <p:cNvSpPr txBox="1"/>
          <p:nvPr/>
        </p:nvSpPr>
        <p:spPr>
          <a:xfrm>
            <a:off x="9689306" y="1739225"/>
            <a:ext cx="155654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سجل المخاطر</a:t>
            </a:r>
          </a:p>
        </p:txBody>
      </p:sp>
      <p:sp>
        <p:nvSpPr>
          <p:cNvPr id="8" name="Text 7"/>
          <p:cNvSpPr txBox="1"/>
          <p:nvPr/>
        </p:nvSpPr>
        <p:spPr>
          <a:xfrm>
            <a:off x="7941766" y="1744666"/>
            <a:ext cx="155505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Register</a:t>
            </a:r>
          </a:p>
        </p:txBody>
      </p:sp>
      <p:sp>
        <p:nvSpPr>
          <p:cNvPr id="9" name="Text 8"/>
          <p:cNvSpPr txBox="1"/>
          <p:nvPr/>
        </p:nvSpPr>
        <p:spPr>
          <a:xfrm>
            <a:off x="7953832" y="2098762"/>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قائمة المخاطر بالمالك والدرجة والمعالجة</a:t>
            </a:r>
          </a:p>
        </p:txBody>
      </p:sp>
      <p:sp>
        <p:nvSpPr>
          <p:cNvPr id="10" name="Box 9"/>
          <p:cNvSpPr/>
          <p:nvPr/>
        </p:nvSpPr>
        <p:spPr>
          <a:xfrm>
            <a:off x="4367808"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144716" y="1739225"/>
            <a:ext cx="1549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شهية المخاطر</a:t>
            </a:r>
          </a:p>
        </p:txBody>
      </p:sp>
      <p:sp>
        <p:nvSpPr>
          <p:cNvPr id="12" name="Text 11"/>
          <p:cNvSpPr txBox="1"/>
          <p:nvPr/>
        </p:nvSpPr>
        <p:spPr>
          <a:xfrm>
            <a:off x="4390033" y="1744666"/>
            <a:ext cx="158819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Appetite</a:t>
            </a:r>
          </a:p>
        </p:txBody>
      </p:sp>
      <p:sp>
        <p:nvSpPr>
          <p:cNvPr id="13" name="Text 12"/>
          <p:cNvSpPr txBox="1"/>
          <p:nvPr/>
        </p:nvSpPr>
        <p:spPr>
          <a:xfrm>
            <a:off x="4390033"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حجم الخطر الذي تقبله الجهة عموماً</a:t>
            </a:r>
          </a:p>
        </p:txBody>
      </p:sp>
      <p:sp>
        <p:nvSpPr>
          <p:cNvPr id="14" name="Box 13"/>
          <p:cNvSpPr/>
          <p:nvPr/>
        </p:nvSpPr>
        <p:spPr>
          <a:xfrm>
            <a:off x="816074"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627015" y="1739225"/>
            <a:ext cx="151536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حدود التحمل</a:t>
            </a:r>
          </a:p>
        </p:txBody>
      </p:sp>
      <p:sp>
        <p:nvSpPr>
          <p:cNvPr id="16" name="Text 15"/>
          <p:cNvSpPr txBox="1"/>
          <p:nvPr/>
        </p:nvSpPr>
        <p:spPr>
          <a:xfrm>
            <a:off x="838299" y="1744666"/>
            <a:ext cx="167372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Tolerance</a:t>
            </a:r>
          </a:p>
        </p:txBody>
      </p:sp>
      <p:sp>
        <p:nvSpPr>
          <p:cNvPr id="17" name="Text 16"/>
          <p:cNvSpPr txBox="1"/>
          <p:nvPr/>
        </p:nvSpPr>
        <p:spPr>
          <a:xfrm>
            <a:off x="838299"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حدود قابلة للقياس لخطر أو مؤشر</a:t>
            </a:r>
          </a:p>
        </p:txBody>
      </p:sp>
      <p:sp>
        <p:nvSpPr>
          <p:cNvPr id="18" name="Box 17"/>
          <p:cNvSpPr/>
          <p:nvPr/>
        </p:nvSpPr>
        <p:spPr>
          <a:xfrm>
            <a:off x="7919541"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600902" y="3052286"/>
            <a:ext cx="164494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الخطر المتأصل</a:t>
            </a:r>
          </a:p>
        </p:txBody>
      </p:sp>
      <p:sp>
        <p:nvSpPr>
          <p:cNvPr id="20" name="Text 19"/>
          <p:cNvSpPr txBox="1"/>
          <p:nvPr/>
        </p:nvSpPr>
        <p:spPr>
          <a:xfrm>
            <a:off x="7941766" y="3057727"/>
            <a:ext cx="159394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Inherent Risk</a:t>
            </a:r>
          </a:p>
        </p:txBody>
      </p:sp>
      <p:sp>
        <p:nvSpPr>
          <p:cNvPr id="21" name="Text 20"/>
          <p:cNvSpPr txBox="1"/>
          <p:nvPr/>
        </p:nvSpPr>
        <p:spPr>
          <a:xfrm>
            <a:off x="7941766"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قبل تنفيذ خطط المعالجة</a:t>
            </a:r>
          </a:p>
        </p:txBody>
      </p:sp>
      <p:sp>
        <p:nvSpPr>
          <p:cNvPr id="22" name="Box 21"/>
          <p:cNvSpPr/>
          <p:nvPr/>
        </p:nvSpPr>
        <p:spPr>
          <a:xfrm>
            <a:off x="4367808"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38366" y="3052286"/>
            <a:ext cx="155575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الخطر المتبقي</a:t>
            </a:r>
          </a:p>
        </p:txBody>
      </p:sp>
      <p:sp>
        <p:nvSpPr>
          <p:cNvPr id="24" name="Text 23"/>
          <p:cNvSpPr txBox="1"/>
          <p:nvPr/>
        </p:nvSpPr>
        <p:spPr>
          <a:xfrm>
            <a:off x="4390033" y="3057727"/>
            <a:ext cx="156140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Residual Risk</a:t>
            </a:r>
          </a:p>
        </p:txBody>
      </p:sp>
      <p:sp>
        <p:nvSpPr>
          <p:cNvPr id="25" name="Text 24"/>
          <p:cNvSpPr txBox="1"/>
          <p:nvPr/>
        </p:nvSpPr>
        <p:spPr>
          <a:xfrm>
            <a:off x="4390033"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بعد احتساب خطط المعالجة</a:t>
            </a:r>
          </a:p>
        </p:txBody>
      </p:sp>
      <p:sp>
        <p:nvSpPr>
          <p:cNvPr id="26" name="Box 25"/>
          <p:cNvSpPr/>
          <p:nvPr/>
        </p:nvSpPr>
        <p:spPr>
          <a:xfrm>
            <a:off x="816074"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27" name="Text 26"/>
          <p:cNvSpPr txBox="1"/>
          <p:nvPr/>
        </p:nvSpPr>
        <p:spPr>
          <a:xfrm>
            <a:off x="1776587" y="3052286"/>
            <a:ext cx="23657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المخاطر الرئيسي</a:t>
            </a:r>
          </a:p>
        </p:txBody>
      </p:sp>
      <p:sp>
        <p:nvSpPr>
          <p:cNvPr id="28" name="Text 27"/>
          <p:cNvSpPr txBox="1"/>
          <p:nvPr/>
        </p:nvSpPr>
        <p:spPr>
          <a:xfrm>
            <a:off x="838299" y="3057727"/>
            <a:ext cx="54352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KRI</a:t>
            </a:r>
          </a:p>
        </p:txBody>
      </p:sp>
      <p:sp>
        <p:nvSpPr>
          <p:cNvPr id="29" name="Text 28"/>
          <p:cNvSpPr txBox="1"/>
          <p:nvPr/>
        </p:nvSpPr>
        <p:spPr>
          <a:xfrm>
            <a:off x="838299"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رقم ينبه مبكراً إلى ارتفاع خطر</a:t>
            </a:r>
          </a:p>
        </p:txBody>
      </p:sp>
      <p:sp>
        <p:nvSpPr>
          <p:cNvPr id="30" name="Box 29"/>
          <p:cNvSpPr/>
          <p:nvPr/>
        </p:nvSpPr>
        <p:spPr>
          <a:xfrm>
            <a:off x="7919541"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1" name="Text 30"/>
          <p:cNvSpPr txBox="1"/>
          <p:nvPr/>
        </p:nvSpPr>
        <p:spPr>
          <a:xfrm>
            <a:off x="9790906" y="4045367"/>
            <a:ext cx="1454944"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تقييم الفجوات</a:t>
            </a:r>
          </a:p>
        </p:txBody>
      </p:sp>
      <p:sp>
        <p:nvSpPr>
          <p:cNvPr id="32" name="Text 31"/>
          <p:cNvSpPr txBox="1"/>
          <p:nvPr/>
        </p:nvSpPr>
        <p:spPr>
          <a:xfrm>
            <a:off x="7992566" y="4055967"/>
            <a:ext cx="1798340" cy="639961"/>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Gap Assessment</a:t>
            </a:r>
          </a:p>
        </p:txBody>
      </p:sp>
      <p:sp>
        <p:nvSpPr>
          <p:cNvPr id="33" name="Text 32"/>
          <p:cNvSpPr txBox="1"/>
          <p:nvPr/>
        </p:nvSpPr>
        <p:spPr>
          <a:xfrm>
            <a:off x="7941766" y="4735104"/>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مقارنة الوضع القائم بمتطلبات مرجع</a:t>
            </a:r>
          </a:p>
        </p:txBody>
      </p:sp>
      <p:sp>
        <p:nvSpPr>
          <p:cNvPr id="34" name="Box 33"/>
          <p:cNvSpPr/>
          <p:nvPr/>
        </p:nvSpPr>
        <p:spPr>
          <a:xfrm>
            <a:off x="4367808"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5679380" y="4045367"/>
            <a:ext cx="201473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بيان قابلية التطبيق</a:t>
            </a:r>
          </a:p>
        </p:txBody>
      </p:sp>
      <p:sp>
        <p:nvSpPr>
          <p:cNvPr id="36" name="Text 35"/>
          <p:cNvSpPr txBox="1"/>
          <p:nvPr/>
        </p:nvSpPr>
        <p:spPr>
          <a:xfrm>
            <a:off x="4390033" y="4050808"/>
            <a:ext cx="55125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SoA</a:t>
            </a:r>
          </a:p>
        </p:txBody>
      </p:sp>
      <p:sp>
        <p:nvSpPr>
          <p:cNvPr id="37" name="Text 36"/>
          <p:cNvSpPr txBox="1"/>
          <p:nvPr/>
        </p:nvSpPr>
        <p:spPr>
          <a:xfrm>
            <a:off x="4402099" y="4404904"/>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ضوابط ISO 27001 المطبقة والمستبعدة ولماذا</a:t>
            </a:r>
          </a:p>
        </p:txBody>
      </p:sp>
      <p:sp>
        <p:nvSpPr>
          <p:cNvPr id="38" name="Box 37"/>
          <p:cNvSpPr/>
          <p:nvPr/>
        </p:nvSpPr>
        <p:spPr>
          <a:xfrm>
            <a:off x="816074"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688729" y="4045367"/>
            <a:ext cx="145365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مالك الضابط</a:t>
            </a:r>
          </a:p>
        </p:txBody>
      </p:sp>
      <p:sp>
        <p:nvSpPr>
          <p:cNvPr id="40" name="Text 39"/>
          <p:cNvSpPr txBox="1"/>
          <p:nvPr/>
        </p:nvSpPr>
        <p:spPr>
          <a:xfrm>
            <a:off x="838299" y="4050808"/>
            <a:ext cx="170041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Control Owner</a:t>
            </a:r>
          </a:p>
        </p:txBody>
      </p:sp>
      <p:sp>
        <p:nvSpPr>
          <p:cNvPr id="41" name="Text 40"/>
          <p:cNvSpPr txBox="1"/>
          <p:nvPr/>
        </p:nvSpPr>
        <p:spPr>
          <a:xfrm>
            <a:off x="838299" y="4404904"/>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من يطبق الضابط ويحتفظ بأدلته</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219</a:t>
            </a:r>
          </a:p>
        </p:txBody>
      </p:sp>
    </p:spTree>
  </p:cSld>
  <p:clrMapOvr>
    <a:masterClrMapping/>
  </p:clrMapOvr>
  <p:transition spd="med">
    <p:fade/>
  </p:transition>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(2 من 2)</a:t>
            </a:r>
          </a:p>
        </p:txBody>
      </p:sp>
      <p:sp>
        <p:nvSpPr>
          <p:cNvPr id="6" name="Box 5"/>
          <p:cNvSpPr/>
          <p:nvPr/>
        </p:nvSpPr>
        <p:spPr>
          <a:xfrm>
            <a:off x="7919541"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7" name="Text 6"/>
          <p:cNvSpPr txBox="1"/>
          <p:nvPr/>
        </p:nvSpPr>
        <p:spPr>
          <a:xfrm>
            <a:off x="9938742" y="1739225"/>
            <a:ext cx="1307108"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ضابط تعويضي</a:t>
            </a:r>
          </a:p>
        </p:txBody>
      </p:sp>
      <p:sp>
        <p:nvSpPr>
          <p:cNvPr id="8" name="Text 7"/>
          <p:cNvSpPr txBox="1"/>
          <p:nvPr/>
        </p:nvSpPr>
        <p:spPr>
          <a:xfrm>
            <a:off x="7993046" y="1788267"/>
            <a:ext cx="1945697"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Compensating Control</a:t>
            </a:r>
          </a:p>
        </p:txBody>
      </p:sp>
      <p:sp>
        <p:nvSpPr>
          <p:cNvPr id="9" name="Text 8"/>
          <p:cNvSpPr txBox="1"/>
          <p:nvPr/>
        </p:nvSpPr>
        <p:spPr>
          <a:xfrm>
            <a:off x="7941766" y="24289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بديل يحقق الهدف حين يتعذر الأصلي</a:t>
            </a:r>
          </a:p>
        </p:txBody>
      </p:sp>
      <p:sp>
        <p:nvSpPr>
          <p:cNvPr id="10" name="Box 9"/>
          <p:cNvSpPr/>
          <p:nvPr/>
        </p:nvSpPr>
        <p:spPr>
          <a:xfrm>
            <a:off x="4367808"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848475" y="1739225"/>
            <a:ext cx="84564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استثناء</a:t>
            </a:r>
          </a:p>
        </p:txBody>
      </p:sp>
      <p:sp>
        <p:nvSpPr>
          <p:cNvPr id="12" name="Text 11"/>
          <p:cNvSpPr txBox="1"/>
          <p:nvPr/>
        </p:nvSpPr>
        <p:spPr>
          <a:xfrm>
            <a:off x="4390033" y="1765348"/>
            <a:ext cx="1717179"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Policy Exception</a:t>
            </a:r>
          </a:p>
        </p:txBody>
      </p:sp>
      <p:sp>
        <p:nvSpPr>
          <p:cNvPr id="13" name="Text 12"/>
          <p:cNvSpPr txBox="1"/>
          <p:nvPr/>
        </p:nvSpPr>
        <p:spPr>
          <a:xfrm>
            <a:off x="4390033"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إعفاء داخلي موثق ومؤقت من متطلب</a:t>
            </a:r>
          </a:p>
        </p:txBody>
      </p:sp>
      <p:sp>
        <p:nvSpPr>
          <p:cNvPr id="14" name="Box 13"/>
          <p:cNvSpPr/>
          <p:nvPr/>
        </p:nvSpPr>
        <p:spPr>
          <a:xfrm>
            <a:off x="816074"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739727" y="1739225"/>
            <a:ext cx="14026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فصل المهام</a:t>
            </a:r>
          </a:p>
        </p:txBody>
      </p:sp>
      <p:sp>
        <p:nvSpPr>
          <p:cNvPr id="16" name="Text 15"/>
          <p:cNvSpPr txBox="1"/>
          <p:nvPr/>
        </p:nvSpPr>
        <p:spPr>
          <a:xfrm>
            <a:off x="838299" y="1765348"/>
            <a:ext cx="51177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SoD</a:t>
            </a:r>
          </a:p>
        </p:txBody>
      </p:sp>
      <p:sp>
        <p:nvSpPr>
          <p:cNvPr id="17" name="Text 16"/>
          <p:cNvSpPr txBox="1"/>
          <p:nvPr/>
        </p:nvSpPr>
        <p:spPr>
          <a:xfrm>
            <a:off x="838299"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لا ينفذ شخص واحد العملية ويعتمدها</a:t>
            </a:r>
          </a:p>
        </p:txBody>
      </p:sp>
      <p:sp>
        <p:nvSpPr>
          <p:cNvPr id="18" name="Box 17"/>
          <p:cNvSpPr/>
          <p:nvPr/>
        </p:nvSpPr>
        <p:spPr>
          <a:xfrm>
            <a:off x="7919541"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885362" y="3062506"/>
            <a:ext cx="136048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أقل صلاحية</a:t>
            </a:r>
          </a:p>
        </p:txBody>
      </p:sp>
      <p:sp>
        <p:nvSpPr>
          <p:cNvPr id="20" name="Text 19"/>
          <p:cNvSpPr txBox="1"/>
          <p:nvPr/>
        </p:nvSpPr>
        <p:spPr>
          <a:xfrm>
            <a:off x="7941766" y="3088628"/>
            <a:ext cx="154364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Least Privilege</a:t>
            </a:r>
          </a:p>
        </p:txBody>
      </p:sp>
      <p:sp>
        <p:nvSpPr>
          <p:cNvPr id="21" name="Text 20"/>
          <p:cNvSpPr txBox="1"/>
          <p:nvPr/>
        </p:nvSpPr>
        <p:spPr>
          <a:xfrm>
            <a:off x="7941766" y="34220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صلاحيات بقدر حاجة العمل فقط</a:t>
            </a:r>
          </a:p>
        </p:txBody>
      </p:sp>
      <p:sp>
        <p:nvSpPr>
          <p:cNvPr id="22" name="Box 21"/>
          <p:cNvSpPr/>
          <p:nvPr/>
        </p:nvSpPr>
        <p:spPr>
          <a:xfrm>
            <a:off x="4367808"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45709" y="3062506"/>
            <a:ext cx="154840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العناية الواجبة</a:t>
            </a:r>
          </a:p>
        </p:txBody>
      </p:sp>
      <p:sp>
        <p:nvSpPr>
          <p:cNvPr id="24" name="Text 23"/>
          <p:cNvSpPr txBox="1"/>
          <p:nvPr/>
        </p:nvSpPr>
        <p:spPr>
          <a:xfrm>
            <a:off x="4390033" y="3088628"/>
            <a:ext cx="147449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Due Diligence</a:t>
            </a:r>
          </a:p>
        </p:txBody>
      </p:sp>
      <p:sp>
        <p:nvSpPr>
          <p:cNvPr id="25" name="Text 24"/>
          <p:cNvSpPr txBox="1"/>
          <p:nvPr/>
        </p:nvSpPr>
        <p:spPr>
          <a:xfrm>
            <a:off x="4390033" y="34220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التحقق من المورد قبل التعاقد</a:t>
            </a:r>
          </a:p>
        </p:txBody>
      </p:sp>
      <p:sp>
        <p:nvSpPr>
          <p:cNvPr id="26" name="Box 25"/>
          <p:cNvSpPr/>
          <p:nvPr/>
        </p:nvSpPr>
        <p:spPr>
          <a:xfrm>
            <a:off x="816074"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27" name="Text 26"/>
          <p:cNvSpPr txBox="1"/>
          <p:nvPr/>
        </p:nvSpPr>
        <p:spPr>
          <a:xfrm>
            <a:off x="2679402" y="3062506"/>
            <a:ext cx="146298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المجتمع والعينة</a:t>
            </a:r>
          </a:p>
        </p:txBody>
      </p:sp>
      <p:sp>
        <p:nvSpPr>
          <p:cNvPr id="28" name="Text 27"/>
          <p:cNvSpPr txBox="1"/>
          <p:nvPr/>
        </p:nvSpPr>
        <p:spPr>
          <a:xfrm>
            <a:off x="894255" y="3111548"/>
            <a:ext cx="1785148"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Population / Sample</a:t>
            </a:r>
          </a:p>
        </p:txBody>
      </p:sp>
      <p:sp>
        <p:nvSpPr>
          <p:cNvPr id="29" name="Text 28"/>
          <p:cNvSpPr txBox="1"/>
          <p:nvPr/>
        </p:nvSpPr>
        <p:spPr>
          <a:xfrm>
            <a:off x="838299" y="37522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كل الحالات، وجزء مختار منها</a:t>
            </a:r>
          </a:p>
        </p:txBody>
      </p:sp>
      <p:sp>
        <p:nvSpPr>
          <p:cNvPr id="30" name="Box 29"/>
          <p:cNvSpPr/>
          <p:nvPr/>
        </p:nvSpPr>
        <p:spPr>
          <a:xfrm>
            <a:off x="7919541"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1" name="Text 30"/>
          <p:cNvSpPr txBox="1"/>
          <p:nvPr/>
        </p:nvSpPr>
        <p:spPr>
          <a:xfrm>
            <a:off x="10153848" y="4385786"/>
            <a:ext cx="1092002"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الملاحظة</a:t>
            </a:r>
          </a:p>
        </p:txBody>
      </p:sp>
      <p:sp>
        <p:nvSpPr>
          <p:cNvPr id="32" name="Text 31"/>
          <p:cNvSpPr txBox="1"/>
          <p:nvPr/>
        </p:nvSpPr>
        <p:spPr>
          <a:xfrm>
            <a:off x="7941766" y="4411909"/>
            <a:ext cx="84584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Finding</a:t>
            </a:r>
          </a:p>
        </p:txBody>
      </p:sp>
      <p:sp>
        <p:nvSpPr>
          <p:cNvPr id="33" name="Text 32"/>
          <p:cNvSpPr txBox="1"/>
          <p:nvPr/>
        </p:nvSpPr>
        <p:spPr>
          <a:xfrm>
            <a:off x="7941766" y="47453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فجوة بين الوضع القائم والمعيار</a:t>
            </a:r>
          </a:p>
        </p:txBody>
      </p:sp>
      <p:sp>
        <p:nvSpPr>
          <p:cNvPr id="34" name="Box 33"/>
          <p:cNvSpPr/>
          <p:nvPr/>
        </p:nvSpPr>
        <p:spPr>
          <a:xfrm>
            <a:off x="4367808"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6388497" y="4385786"/>
            <a:ext cx="130562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خطة التصحيح</a:t>
            </a:r>
          </a:p>
        </p:txBody>
      </p:sp>
      <p:sp>
        <p:nvSpPr>
          <p:cNvPr id="36" name="Text 35"/>
          <p:cNvSpPr txBox="1"/>
          <p:nvPr/>
        </p:nvSpPr>
        <p:spPr>
          <a:xfrm>
            <a:off x="4441267" y="4434828"/>
            <a:ext cx="1947229"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Corrective Action Plan</a:t>
            </a:r>
          </a:p>
        </p:txBody>
      </p:sp>
      <p:sp>
        <p:nvSpPr>
          <p:cNvPr id="37" name="Text 36"/>
          <p:cNvSpPr txBox="1"/>
          <p:nvPr/>
        </p:nvSpPr>
        <p:spPr>
          <a:xfrm>
            <a:off x="4390033" y="50755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إجراء ومالك وموعد ودليل إغلاق</a:t>
            </a:r>
          </a:p>
        </p:txBody>
      </p:sp>
      <p:sp>
        <p:nvSpPr>
          <p:cNvPr id="38" name="Box 37"/>
          <p:cNvSpPr/>
          <p:nvPr/>
        </p:nvSpPr>
        <p:spPr>
          <a:xfrm>
            <a:off x="816074"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306638" y="4385786"/>
            <a:ext cx="183574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تحليل أثر الأعمال</a:t>
            </a:r>
          </a:p>
        </p:txBody>
      </p:sp>
      <p:sp>
        <p:nvSpPr>
          <p:cNvPr id="40" name="Text 39"/>
          <p:cNvSpPr txBox="1"/>
          <p:nvPr/>
        </p:nvSpPr>
        <p:spPr>
          <a:xfrm>
            <a:off x="838299" y="4411909"/>
            <a:ext cx="48577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BIA</a:t>
            </a:r>
          </a:p>
        </p:txBody>
      </p:sp>
      <p:sp>
        <p:nvSpPr>
          <p:cNvPr id="41" name="Text 40"/>
          <p:cNvSpPr txBox="1"/>
          <p:nvPr/>
        </p:nvSpPr>
        <p:spPr>
          <a:xfrm>
            <a:off x="850365" y="4745323"/>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أهم الخدمات وكم تتحمل الجهة توقفها</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220</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(1 من 2)</a:t>
            </a:r>
          </a:p>
        </p:txBody>
      </p:sp>
      <p:graphicFrame>
        <p:nvGraphicFramePr>
          <p:cNvPr id="6" name="Table 5"/>
          <p:cNvGraphicFramePr>
            <a:graphicFrameLocks noGrp="1"/>
          </p:cNvGraphicFramePr>
          <p:nvPr/>
        </p:nvGraphicFramePr>
        <p:xfrm>
          <a:off x="815975" y="1661120"/>
          <a:ext cx="10560050" cy="3507184"/>
        </p:xfrm>
        <a:graphic>
          <a:graphicData uri="http://schemas.openxmlformats.org/drawingml/2006/table">
            <a:tbl>
              <a:tblPr firstRow="0" bandRow="0" lastRow="0" firstCol="0" lastCol="0" bandCol="0">
                <a:tableStyleId>{2D5ABB26-0587-4C30-8999-92F81FD0307C}</a:tableStyleId>
              </a:tblPr>
              <a:tblGrid>
                <a:gridCol w="3590290"/>
                <a:gridCol w="3168015"/>
                <a:gridCol w="380174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المحافظة والتجديد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رسم الاختبار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سنوياً، و45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199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و60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599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و120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749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 أو 85 سنوياً، و120 ساعة CPE كل 3 سنوات</a:t>
                      </a:r>
                    </a:p>
                  </a:txBody>
                  <a:tcPr marT="85649" marR="121920" marB="56591" marL="2152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575 للأعضاء، 760 لغيرهم، و50 للطلب</a:t>
                      </a:r>
                    </a:p>
                  </a:txBody>
                  <a:tcPr marT="85649" marR="121920" marB="56591" marL="3419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 · CRISC · CGEIT · 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تذكره الصفحة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175 للأعضاء، 225 لغيرهم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 Audit Fundamentals · ISACA</a:t>
                      </a:r>
                    </a:p>
                  </a:txBody>
                  <a:tcPr marT="85649" marR="121920" marB="56591" marL="1518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وحدة CEU و150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نتحقق: يُعرض حسب الدولة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 · CompTIA</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33454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 المصادر في الملاحظات.</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(2 من 2)</a:t>
            </a:r>
          </a:p>
        </p:txBody>
      </p:sp>
      <p:graphicFrame>
        <p:nvGraphicFramePr>
          <p:cNvPr id="6" name="Table 5"/>
          <p:cNvGraphicFramePr>
            <a:graphicFrameLocks noGrp="1"/>
          </p:cNvGraphicFramePr>
          <p:nvPr/>
        </p:nvGraphicFramePr>
        <p:xfrm>
          <a:off x="815975" y="1661120"/>
          <a:ext cx="10560050" cy="2825154"/>
        </p:xfrm>
        <a:graphic>
          <a:graphicData uri="http://schemas.openxmlformats.org/drawingml/2006/table">
            <a:tbl>
              <a:tblPr firstRow="0" bandRow="0" lastRow="0" firstCol="0" lastCol="0" bandCol="0">
                <a:tableStyleId>{2D5ABB26-0587-4C30-8999-92F81FD0307C}</a:tableStyleId>
              </a:tblPr>
              <a:tblGrid>
                <a:gridCol w="4012565"/>
                <a:gridCol w="3801745"/>
                <a:gridCol w="274574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المحافظة والتجديد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رسم الاختبار (دولار)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الشهادة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250 كل سنتين و20 ساعة CPE، أو عضوية 295 سنوياً</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550 للأعضاء وغيرهم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CIPP/E · CIPM · IAPP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 الاشتراك. الصفحة تذكر قاعدتين متعارضتين</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ضمن اشتراك 499 أول سنة، ثم 399</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OCEG</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3 سنوات بساعات CPD ورسم سنوي لم نتحقق من قيمته</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حسب مقدم التدريب. بلا تدريب:‏ 1,000 للاختبار و500 للطلب</a:t>
                      </a:r>
                    </a:p>
                  </a:txBody>
                  <a:tcPr marT="96355" marR="137160" marB="63665" marL="313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ISO 27001 LI/LA · PECB</a:t>
                      </a:r>
                    </a:p>
                  </a:txBody>
                  <a:tcPr marT="96355" marR="137160" marB="63665" marL="6301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4679950"/>
            <a:ext cx="10566400" cy="573980"/>
          </a:xfrm>
          <a:prstGeom prst="roundRect">
            <a:avLst>
              <a:gd name="adj" fmla="val 17700"/>
            </a:avLst>
          </a:prstGeom>
          <a:solidFill>
            <a:srgbClr val="F6ECDA"/>
          </a:solidFill>
          <a:ln>
            <a:noFill/>
          </a:ln>
        </p:spPr>
        <p:txBody>
          <a:bodyPr rtlCol="0" anchor="ctr"/>
          <a:lstStyle/>
          <a:p>
            <a:pPr algn="ctr"/>
          </a:p>
        </p:txBody>
      </p:sp>
      <p:pic>
        <p:nvPicPr>
          <p:cNvPr id="8" name="Icon Warning 7" descr="icon046.png"/>
          <p:cNvPicPr>
            <a:picLocks noChangeAspect="1"/>
          </p:cNvPicPr>
          <p:nvPr/>
        </p:nvPicPr>
        <p:blipFill>
          <a:blip r:embed="rId2"/>
          <a:stretch>
            <a:fillRect/>
          </a:stretch>
        </p:blipFill>
        <p:spPr>
          <a:xfrm>
            <a:off x="10966450" y="4849416"/>
            <a:ext cx="234950" cy="234950"/>
          </a:xfrm>
          <a:prstGeom prst="rect">
            <a:avLst/>
          </a:prstGeom>
        </p:spPr>
      </p:pic>
      <p:sp>
        <p:nvSpPr>
          <p:cNvPr id="9" name="Text 8"/>
          <p:cNvSpPr txBox="1"/>
          <p:nvPr/>
        </p:nvSpPr>
        <p:spPr>
          <a:xfrm>
            <a:off x="838200" y="4771517"/>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سعر إعادة اختبار IAPP كان 375 دولاراً في دليل 2022، ولم نتحقق من السعر الحالي.</a:t>
            </a:r>
          </a:p>
        </p:txBody>
      </p:sp>
      <p:sp>
        <p:nvSpPr>
          <p:cNvPr id="10" name="Text 9"/>
          <p:cNvSpPr txBox="1"/>
          <p:nvPr/>
        </p:nvSpPr>
        <p:spPr>
          <a:xfrm>
            <a:off x="0" y="541699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222</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صيغ الاختبارات: الأسئلة والمدة والنجاح</a:t>
            </a:r>
          </a:p>
        </p:txBody>
      </p:sp>
      <p:graphicFrame>
        <p:nvGraphicFramePr>
          <p:cNvPr id="6" name="Table 5"/>
          <p:cNvGraphicFramePr>
            <a:graphicFrameLocks noGrp="1"/>
          </p:cNvGraphicFramePr>
          <p:nvPr/>
        </p:nvGraphicFramePr>
        <p:xfrm>
          <a:off x="6156325" y="1661120"/>
          <a:ext cx="5219700" cy="3781424"/>
        </p:xfrm>
        <a:graphic>
          <a:graphicData uri="http://schemas.openxmlformats.org/drawingml/2006/table">
            <a:tbl>
              <a:tblPr firstRow="0" bandRow="0" lastRow="0" firstCol="0" lastCol="0" bandCol="0">
                <a:tableStyleId>{2D5ABB26-0587-4C30-8999-92F81FD0307C}</a:tableStyleId>
              </a:tblPr>
              <a:tblGrid>
                <a:gridCol w="1461770"/>
                <a:gridCol w="2400935"/>
                <a:gridCol w="13569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125 · ساعتان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125 · 3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150 · 3 ساعات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750 من 900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حتى 90 · 90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65%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غير مذكور · ساعتان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Fund.</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 سؤالاً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محتسبة · 120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GRCP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graphicFrame>
        <p:nvGraphicFramePr>
          <p:cNvPr id="7" name="Table 6"/>
          <p:cNvGraphicFramePr>
            <a:graphicFrameLocks noGrp="1"/>
          </p:cNvGraphicFramePr>
          <p:nvPr/>
        </p:nvGraphicFramePr>
        <p:xfrm>
          <a:off x="815975" y="1661120"/>
          <a:ext cx="5219700" cy="3358752"/>
        </p:xfrm>
        <a:graphic>
          <a:graphicData uri="http://schemas.openxmlformats.org/drawingml/2006/table">
            <a:tbl>
              <a:tblPr firstRow="0" bandRow="0" lastRow="0" firstCol="0" lastCol="0" bandCol="0">
                <a:tableStyleId>{2D5ABB26-0587-4C30-8999-92F81FD0307C}</a:tableStyleId>
              </a:tblPr>
              <a:tblGrid>
                <a:gridCol w="1565910"/>
                <a:gridCol w="2087880"/>
                <a:gridCol w="156591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CRISC · CGEIT</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120 · 3.5 ساعة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300 من 500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90 · ساعتان ونصف</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CIPP/E · CIPM</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80 · كتاب مفتوح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PECB ISO 27001</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560878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(1 من 2): ISC2 وCompTIA وIAPP</a:t>
            </a:r>
          </a:p>
        </p:txBody>
      </p:sp>
      <p:graphicFrame>
        <p:nvGraphicFramePr>
          <p:cNvPr id="6" name="Table 5"/>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7603490"/>
                <a:gridCol w="295656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لغات الاختبار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الاختبار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الصينية، اليابانية، الألمانية، الإسبانية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الصينية، الألمانية، اليابانية، الإسبانية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CISSP</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CGRC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اليابانية، البرتغالية، الإسبانية، التايلندية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Security+ SY0-701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الفرنسية، الألمانية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CIPP/E</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الفرنسية، الألمانية، البرتغالية البرازيلية، الصينية المبسطة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CIPM</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51671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لغة الاختبار تختلف عن لغة التدريب.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224</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(2 من 2): ISACA وغيرها</a:t>
            </a:r>
          </a:p>
        </p:txBody>
      </p:sp>
      <p:graphicFrame>
        <p:nvGraphicFramePr>
          <p:cNvPr id="6" name="Table 5"/>
          <p:cNvGraphicFramePr>
            <a:graphicFrameLocks noGrp="1"/>
          </p:cNvGraphicFramePr>
          <p:nvPr/>
        </p:nvGraphicFramePr>
        <p:xfrm>
          <a:off x="815975" y="1661120"/>
          <a:ext cx="10560050" cy="3632597"/>
        </p:xfrm>
        <a:graphic>
          <a:graphicData uri="http://schemas.openxmlformats.org/drawingml/2006/table">
            <a:tbl>
              <a:tblPr firstRow="0" bandRow="0" lastRow="0" firstCol="0" lastCol="0" bandCol="0">
                <a:tableStyleId>{2D5ABB26-0587-4C30-8999-92F81FD0307C}</a:tableStyleId>
              </a:tblPr>
              <a:tblGrid>
                <a:gridCol w="7392035"/>
                <a:gridCol w="31680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لغات 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الفرنسية، الألمانية، الكورية،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اليابانية، الفرنسية، الألمانية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CRISC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الصينية المبسطة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CGEIT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CDPSE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غير مذكورة في الصفحات التي راجعناها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IT Risk Fund. · PECB</a:t>
                      </a:r>
                    </a:p>
                  </a:txBody>
                  <a:tcPr marT="96355" marR="137160" marB="63665" marL="5034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459960"/>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لم نجد العربية في أي من الاختبارات التي تحققنا منها.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225</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(1 من 2): ضوابط الهيئة وإطار المخاطر</a:t>
            </a:r>
          </a:p>
        </p:txBody>
      </p:sp>
      <p:graphicFrame>
        <p:nvGraphicFramePr>
          <p:cNvPr id="6" name="Table 5"/>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النطاق المختصر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المرجع والإصدار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الجهات الحكومية والتابعة، والبنية التحتية الوطنية الحساسة</a:t>
                      </a:r>
                    </a:p>
                  </a:txBody>
                  <a:tcPr marT="96355" marR="137160" marB="63665" marL="4084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ECC-2:2024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نطاق ECC نفسه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NFCRM-1:2025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CCC-2:2024 · DCC-1:2022 · CSCC-1:2019</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OTCC-1:2022 · TCC-1:2021 · OSMACC-1:2021</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127379"/>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226</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(2 من 2): الكوادر وساما وحماية البيانات</a:t>
            </a:r>
          </a:p>
        </p:txBody>
      </p:sp>
      <p:graphicFrame>
        <p:nvGraphicFramePr>
          <p:cNvPr id="6" name="Table 5"/>
          <p:cNvGraphicFramePr>
            <a:graphicFrameLocks noGrp="1"/>
          </p:cNvGraphicFramePr>
          <p:nvPr/>
        </p:nvGraphicFramePr>
        <p:xfrm>
          <a:off x="815975" y="1661120"/>
          <a:ext cx="10560050" cy="2451100"/>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النطاق المختصر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الجهة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المرجع والإصدار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الأدوار الوظيفية ومهامها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الهيئة الوطنية للأمن السيبراني</a:t>
                      </a:r>
                    </a:p>
                  </a:txBody>
                  <a:tcPr marT="107061" marR="152400" marB="70739" marL="7601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SCyWF-1.5:2026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الجهات الخاضعة لإشرافه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البنك المركزي السعودي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SAMA CSF 1.0 (2017)</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نافذ منذ 14 سبتمبر 2023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سدايا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نظام حماية البيانات الشخصية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463406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227</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الأطر والمراجع</a:t>
            </a:r>
          </a:p>
        </p:txBody>
      </p:sp>
      <p:sp>
        <p:nvSpPr>
          <p:cNvPr id="6" name="Text 5"/>
          <p:cNvSpPr txBox="1"/>
          <p:nvPr/>
        </p:nvSpPr>
        <p:spPr>
          <a:xfrm>
            <a:off x="6578600" y="16185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الهيئة الوطنية للأمن السيبراني</a:t>
            </a:r>
          </a:p>
        </p:txBody>
      </p:sp>
      <p:sp>
        <p:nvSpPr>
          <p:cNvPr id="7" name="Text 6"/>
          <p:cNvSpPr txBox="1"/>
          <p:nvPr/>
        </p:nvSpPr>
        <p:spPr>
          <a:xfrm>
            <a:off x="332232" y="16185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nca.gov.sa</a:t>
            </a:r>
          </a:p>
        </p:txBody>
      </p:sp>
      <p:sp>
        <p:nvSpPr>
          <p:cNvPr id="8" name="Text 7"/>
          <p:cNvSpPr txBox="1"/>
          <p:nvPr/>
        </p:nvSpPr>
        <p:spPr>
          <a:xfrm>
            <a:off x="6578600" y="20884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الإطار الوطني لإدارة المخاطر NFCRM</a:t>
            </a:r>
          </a:p>
        </p:txBody>
      </p:sp>
      <p:sp>
        <p:nvSpPr>
          <p:cNvPr id="9" name="Text 8"/>
          <p:cNvSpPr txBox="1"/>
          <p:nvPr/>
        </p:nvSpPr>
        <p:spPr>
          <a:xfrm>
            <a:off x="332232" y="20884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صفحة الإطار</a:t>
            </a:r>
          </a:p>
        </p:txBody>
      </p:sp>
      <p:sp>
        <p:nvSpPr>
          <p:cNvPr id="10" name="Text 9"/>
          <p:cNvSpPr txBox="1"/>
          <p:nvPr/>
        </p:nvSpPr>
        <p:spPr>
          <a:xfrm>
            <a:off x="6578600" y="25583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الضوابط الأساسية ECC</a:t>
            </a:r>
          </a:p>
        </p:txBody>
      </p:sp>
      <p:sp>
        <p:nvSpPr>
          <p:cNvPr id="11" name="Text 10"/>
          <p:cNvSpPr txBox="1"/>
          <p:nvPr/>
        </p:nvSpPr>
        <p:spPr>
          <a:xfrm>
            <a:off x="332232" y="25583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صفحة الضوابط</a:t>
            </a:r>
          </a:p>
        </p:txBody>
      </p:sp>
      <p:sp>
        <p:nvSpPr>
          <p:cNvPr id="12" name="Text 11"/>
          <p:cNvSpPr txBox="1"/>
          <p:nvPr/>
        </p:nvSpPr>
        <p:spPr>
          <a:xfrm>
            <a:off x="6578600" y="30282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الإطار السعودي لكوادر الأمن السيبراني</a:t>
            </a:r>
          </a:p>
        </p:txBody>
      </p:sp>
      <p:sp>
        <p:nvSpPr>
          <p:cNvPr id="13" name="Text 12"/>
          <p:cNvSpPr txBox="1"/>
          <p:nvPr/>
        </p:nvSpPr>
        <p:spPr>
          <a:xfrm>
            <a:off x="332232" y="30282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صفحة إطار الكوادر</a:t>
            </a:r>
          </a:p>
        </p:txBody>
      </p:sp>
      <p:sp>
        <p:nvSpPr>
          <p:cNvPr id="14" name="Text 13"/>
          <p:cNvSpPr txBox="1"/>
          <p:nvPr/>
        </p:nvSpPr>
        <p:spPr>
          <a:xfrm>
            <a:off x="6578600" y="34981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إطار ساما للأمن السيبراني</a:t>
            </a:r>
          </a:p>
        </p:txBody>
      </p:sp>
      <p:sp>
        <p:nvSpPr>
          <p:cNvPr id="15" name="Text 14"/>
          <p:cNvSpPr txBox="1"/>
          <p:nvPr/>
        </p:nvSpPr>
        <p:spPr>
          <a:xfrm>
            <a:off x="332232" y="34981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rulebook.sama.gov.sa</a:t>
            </a:r>
          </a:p>
        </p:txBody>
      </p:sp>
      <p:sp>
        <p:nvSpPr>
          <p:cNvPr id="16" name="Text 15"/>
          <p:cNvSpPr txBox="1"/>
          <p:nvPr/>
        </p:nvSpPr>
        <p:spPr>
          <a:xfrm>
            <a:off x="6578600" y="39680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NIST CSF 2.0</a:t>
            </a:r>
          </a:p>
        </p:txBody>
      </p:sp>
      <p:sp>
        <p:nvSpPr>
          <p:cNvPr id="17" name="Text 16"/>
          <p:cNvSpPr txBox="1"/>
          <p:nvPr/>
        </p:nvSpPr>
        <p:spPr>
          <a:xfrm>
            <a:off x="332232" y="39680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nist.gov/cyberframework</a:t>
            </a:r>
          </a:p>
        </p:txBody>
      </p:sp>
      <p:sp>
        <p:nvSpPr>
          <p:cNvPr id="18" name="Text 17"/>
          <p:cNvSpPr txBox="1"/>
          <p:nvPr/>
        </p:nvSpPr>
        <p:spPr>
          <a:xfrm>
            <a:off x="6578600" y="44379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دليل NIST لاستخدام Tiers</a:t>
            </a:r>
          </a:p>
        </p:txBody>
      </p:sp>
      <p:sp>
        <p:nvSpPr>
          <p:cNvPr id="19" name="Text 18"/>
          <p:cNvSpPr txBox="1"/>
          <p:nvPr/>
        </p:nvSpPr>
        <p:spPr>
          <a:xfrm>
            <a:off x="332232" y="44379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8"/>
              </a:rPr>
              <a:t>SP 1302</a:t>
            </a:r>
          </a:p>
        </p:txBody>
      </p:sp>
      <p:sp>
        <p:nvSpPr>
          <p:cNvPr id="20" name="Text 19"/>
          <p:cNvSpPr txBox="1"/>
          <p:nvPr/>
        </p:nvSpPr>
        <p:spPr>
          <a:xfrm>
            <a:off x="6578600" y="49078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ISO/IEC 27001</a:t>
            </a:r>
          </a:p>
        </p:txBody>
      </p:sp>
      <p:sp>
        <p:nvSpPr>
          <p:cNvPr id="21" name="Text 20"/>
          <p:cNvSpPr txBox="1"/>
          <p:nvPr/>
        </p:nvSpPr>
        <p:spPr>
          <a:xfrm>
            <a:off x="332232" y="49078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9"/>
              </a:rPr>
              <a:t>iso.org</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228</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الشهادات</a:t>
            </a:r>
          </a:p>
        </p:txBody>
      </p:sp>
      <p:sp>
        <p:nvSpPr>
          <p:cNvPr id="6" name="Text 5"/>
          <p:cNvSpPr txBox="1"/>
          <p:nvPr/>
        </p:nvSpPr>
        <p:spPr>
          <a:xfrm>
            <a:off x="6578600" y="16185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ISC2: الشهادات</a:t>
            </a:r>
          </a:p>
        </p:txBody>
      </p:sp>
      <p:sp>
        <p:nvSpPr>
          <p:cNvPr id="7" name="Text 6"/>
          <p:cNvSpPr txBox="1"/>
          <p:nvPr/>
        </p:nvSpPr>
        <p:spPr>
          <a:xfrm>
            <a:off x="332232" y="16185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isc2.org/certifications</a:t>
            </a:r>
          </a:p>
        </p:txBody>
      </p:sp>
      <p:sp>
        <p:nvSpPr>
          <p:cNvPr id="8" name="Text 7"/>
          <p:cNvSpPr txBox="1"/>
          <p:nvPr/>
        </p:nvSpPr>
        <p:spPr>
          <a:xfrm>
            <a:off x="6578600" y="20884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ISC2: أسعار الاختبارات</a:t>
            </a:r>
          </a:p>
        </p:txBody>
      </p:sp>
      <p:sp>
        <p:nvSpPr>
          <p:cNvPr id="9" name="Text 8"/>
          <p:cNvSpPr txBox="1"/>
          <p:nvPr/>
        </p:nvSpPr>
        <p:spPr>
          <a:xfrm>
            <a:off x="332232" y="20884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صفحة الأسعار</a:t>
            </a:r>
          </a:p>
        </p:txBody>
      </p:sp>
      <p:sp>
        <p:nvSpPr>
          <p:cNvPr id="10" name="Text 9"/>
          <p:cNvSpPr txBox="1"/>
          <p:nvPr/>
        </p:nvSpPr>
        <p:spPr>
          <a:xfrm>
            <a:off x="6578600" y="25583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ISACA: الشهادات</a:t>
            </a:r>
          </a:p>
        </p:txBody>
      </p:sp>
      <p:sp>
        <p:nvSpPr>
          <p:cNvPr id="11" name="Text 10"/>
          <p:cNvSpPr txBox="1"/>
          <p:nvPr/>
        </p:nvSpPr>
        <p:spPr>
          <a:xfrm>
            <a:off x="332232" y="25583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isaca.org/credentialing</a:t>
            </a:r>
          </a:p>
        </p:txBody>
      </p:sp>
      <p:sp>
        <p:nvSpPr>
          <p:cNvPr id="12" name="Text 11"/>
          <p:cNvSpPr txBox="1"/>
          <p:nvPr/>
        </p:nvSpPr>
        <p:spPr>
          <a:xfrm>
            <a:off x="6578600" y="30282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ISACA: تحديث مخطط CISM</a:t>
            </a:r>
          </a:p>
        </p:txBody>
      </p:sp>
      <p:sp>
        <p:nvSpPr>
          <p:cNvPr id="13" name="Text 12"/>
          <p:cNvSpPr txBox="1"/>
          <p:nvPr/>
        </p:nvSpPr>
        <p:spPr>
          <a:xfrm>
            <a:off x="332232" y="30282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البيان الصحفي</a:t>
            </a:r>
          </a:p>
        </p:txBody>
      </p:sp>
      <p:sp>
        <p:nvSpPr>
          <p:cNvPr id="14" name="Text 13"/>
          <p:cNvSpPr txBox="1"/>
          <p:nvPr/>
        </p:nvSpPr>
        <p:spPr>
          <a:xfrm>
            <a:off x="6578600" y="34981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CompTIA Security+</a:t>
            </a:r>
          </a:p>
        </p:txBody>
      </p:sp>
      <p:sp>
        <p:nvSpPr>
          <p:cNvPr id="15" name="Text 14"/>
          <p:cNvSpPr txBox="1"/>
          <p:nvPr/>
        </p:nvSpPr>
        <p:spPr>
          <a:xfrm>
            <a:off x="332232" y="34981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comptia.org</a:t>
            </a:r>
          </a:p>
        </p:txBody>
      </p:sp>
      <p:sp>
        <p:nvSpPr>
          <p:cNvPr id="16" name="Text 15"/>
          <p:cNvSpPr txBox="1"/>
          <p:nvPr/>
        </p:nvSpPr>
        <p:spPr>
          <a:xfrm>
            <a:off x="6578600" y="39680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IAPP</a:t>
            </a:r>
          </a:p>
        </p:txBody>
      </p:sp>
      <p:sp>
        <p:nvSpPr>
          <p:cNvPr id="17" name="Text 16"/>
          <p:cNvSpPr txBox="1"/>
          <p:nvPr/>
        </p:nvSpPr>
        <p:spPr>
          <a:xfrm>
            <a:off x="332232" y="39680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iapp.org/certify</a:t>
            </a:r>
          </a:p>
        </p:txBody>
      </p:sp>
      <p:sp>
        <p:nvSpPr>
          <p:cNvPr id="18" name="Text 17"/>
          <p:cNvSpPr txBox="1"/>
          <p:nvPr/>
        </p:nvSpPr>
        <p:spPr>
          <a:xfrm>
            <a:off x="6578600" y="44379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OCEG GRCP</a:t>
            </a:r>
          </a:p>
        </p:txBody>
      </p:sp>
      <p:sp>
        <p:nvSpPr>
          <p:cNvPr id="19" name="Text 18"/>
          <p:cNvSpPr txBox="1"/>
          <p:nvPr/>
        </p:nvSpPr>
        <p:spPr>
          <a:xfrm>
            <a:off x="332232" y="44379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8"/>
              </a:rPr>
              <a:t>oceg.org</a:t>
            </a:r>
          </a:p>
        </p:txBody>
      </p:sp>
      <p:sp>
        <p:nvSpPr>
          <p:cNvPr id="20" name="Text 19"/>
          <p:cNvSpPr txBox="1"/>
          <p:nvPr/>
        </p:nvSpPr>
        <p:spPr>
          <a:xfrm>
            <a:off x="6578600" y="49078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PECB</a:t>
            </a:r>
          </a:p>
        </p:txBody>
      </p:sp>
      <p:sp>
        <p:nvSpPr>
          <p:cNvPr id="21" name="Text 20"/>
          <p:cNvSpPr txBox="1"/>
          <p:nvPr/>
        </p:nvSpPr>
        <p:spPr>
          <a:xfrm>
            <a:off x="332232" y="49078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9"/>
              </a:rPr>
              <a:t>pecb.com</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229</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الخصوصية والقطاعات ولينكدإن</a:t>
            </a:r>
          </a:p>
        </p:txBody>
      </p:sp>
      <p:sp>
        <p:nvSpPr>
          <p:cNvPr id="6" name="Text 5"/>
          <p:cNvSpPr txBox="1"/>
          <p:nvPr/>
        </p:nvSpPr>
        <p:spPr>
          <a:xfrm>
            <a:off x="6167120" y="16185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دليل سدايا لنظام حماية البيانات الشخصية</a:t>
            </a:r>
          </a:p>
        </p:txBody>
      </p:sp>
      <p:sp>
        <p:nvSpPr>
          <p:cNvPr id="7" name="Text 6"/>
          <p:cNvSpPr txBox="1"/>
          <p:nvPr/>
        </p:nvSpPr>
        <p:spPr>
          <a:xfrm>
            <a:off x="362712" y="16185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dgp.sdaia.gov.sa</a:t>
            </a:r>
          </a:p>
        </p:txBody>
      </p:sp>
      <p:sp>
        <p:nvSpPr>
          <p:cNvPr id="8" name="Text 7"/>
          <p:cNvSpPr txBox="1"/>
          <p:nvPr/>
        </p:nvSpPr>
        <p:spPr>
          <a:xfrm>
            <a:off x="6167120" y="21138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PCI DSS: مكتبة الوثائق</a:t>
            </a:r>
          </a:p>
        </p:txBody>
      </p:sp>
      <p:sp>
        <p:nvSpPr>
          <p:cNvPr id="9" name="Text 8"/>
          <p:cNvSpPr txBox="1"/>
          <p:nvPr/>
        </p:nvSpPr>
        <p:spPr>
          <a:xfrm>
            <a:off x="362712" y="21138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pcisecuritystandards.org</a:t>
            </a:r>
          </a:p>
        </p:txBody>
      </p:sp>
      <p:sp>
        <p:nvSpPr>
          <p:cNvPr id="10" name="Text 9"/>
          <p:cNvSpPr txBox="1"/>
          <p:nvPr/>
        </p:nvSpPr>
        <p:spPr>
          <a:xfrm>
            <a:off x="6167120" y="2609175"/>
            <a:ext cx="521208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COBIT</a:t>
            </a:r>
          </a:p>
        </p:txBody>
      </p:sp>
      <p:sp>
        <p:nvSpPr>
          <p:cNvPr id="11" name="Text 10"/>
          <p:cNvSpPr txBox="1"/>
          <p:nvPr/>
        </p:nvSpPr>
        <p:spPr>
          <a:xfrm>
            <a:off x="362712" y="26091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isaca.org/resources/cobit</a:t>
            </a:r>
          </a:p>
        </p:txBody>
      </p:sp>
      <p:sp>
        <p:nvSpPr>
          <p:cNvPr id="12" name="Text 11"/>
          <p:cNvSpPr txBox="1"/>
          <p:nvPr/>
        </p:nvSpPr>
        <p:spPr>
          <a:xfrm>
            <a:off x="6167120" y="3104475"/>
            <a:ext cx="521208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LinkedIn: Open to Work</a:t>
            </a:r>
          </a:p>
        </p:txBody>
      </p:sp>
      <p:sp>
        <p:nvSpPr>
          <p:cNvPr id="13" name="Text 12"/>
          <p:cNvSpPr txBox="1"/>
          <p:nvPr/>
        </p:nvSpPr>
        <p:spPr>
          <a:xfrm>
            <a:off x="362712" y="31044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صفحة المساعدة</a:t>
            </a:r>
          </a:p>
        </p:txBody>
      </p:sp>
      <p:sp>
        <p:nvSpPr>
          <p:cNvPr id="14" name="Text 13"/>
          <p:cNvSpPr txBox="1"/>
          <p:nvPr/>
        </p:nvSpPr>
        <p:spPr>
          <a:xfrm>
            <a:off x="6167120" y="35997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LinkedIn: الرابط المخصص</a:t>
            </a:r>
          </a:p>
        </p:txBody>
      </p:sp>
      <p:sp>
        <p:nvSpPr>
          <p:cNvPr id="15" name="Text 14"/>
          <p:cNvSpPr txBox="1"/>
          <p:nvPr/>
        </p:nvSpPr>
        <p:spPr>
          <a:xfrm>
            <a:off x="362712" y="35997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صفحة المساعدة</a:t>
            </a:r>
          </a:p>
        </p:txBody>
      </p:sp>
      <p:sp>
        <p:nvSpPr>
          <p:cNvPr id="16" name="Text 15"/>
          <p:cNvSpPr txBox="1"/>
          <p:nvPr/>
        </p:nvSpPr>
        <p:spPr>
          <a:xfrm>
            <a:off x="6167120" y="40950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LinkedIn: المهارات</a:t>
            </a:r>
          </a:p>
        </p:txBody>
      </p:sp>
      <p:sp>
        <p:nvSpPr>
          <p:cNvPr id="17" name="Text 16"/>
          <p:cNvSpPr txBox="1"/>
          <p:nvPr/>
        </p:nvSpPr>
        <p:spPr>
          <a:xfrm>
            <a:off x="362712" y="40950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صفحة المساعدة</a:t>
            </a:r>
          </a:p>
        </p:txBody>
      </p:sp>
      <p:sp>
        <p:nvSpPr>
          <p:cNvPr id="18" name="Text 1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9" name="Text 1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230</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 يحتاج تحديثاً دورياً</a:t>
            </a:r>
          </a:p>
        </p:txBody>
      </p:sp>
      <p:graphicFrame>
        <p:nvGraphicFramePr>
          <p:cNvPr id="6" name="Table 5"/>
          <p:cNvGraphicFramePr>
            <a:graphicFrameLocks noGrp="1"/>
          </p:cNvGraphicFramePr>
          <p:nvPr/>
        </p:nvGraphicFramePr>
        <p:xfrm>
          <a:off x="815975" y="1661120"/>
          <a:ext cx="10560050" cy="2966240"/>
        </p:xfrm>
        <a:graphic>
          <a:graphicData uri="http://schemas.openxmlformats.org/drawingml/2006/table">
            <a:tbl>
              <a:tblPr firstRow="0" bandRow="0" lastRow="0" firstCol="0" lastCol="0" bandCol="0">
                <a:tableStyleId>{2D5ABB26-0587-4C30-8999-92F81FD0307C}</a:tableStyleId>
              </a:tblPr>
              <a:tblGrid>
                <a:gridCol w="3168015"/>
                <a:gridCol w="2956560"/>
                <a:gridCol w="4435475"/>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الشرائح</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متى تراجعها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المعلومة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الشريحتان 221 و222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كل 6 أشهر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رسوم الشهادات وتجديدها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169 و176 و223 إلى 225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كل 6 أشهر، وقبل كل تسجيل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مخططات الاختبارات ولغاتها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150 و151 و226 و227</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كل 6 أشهر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إصدارات الضوابط والأطر السعودية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61 إلى 64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عند أي تحديث من الهيئة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الإطار الوطني لإدارة المخاطر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142 إلى 149</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سنوياً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إصدارات ISO وNIST وPCI DSS</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199 و204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سنوياً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حدود لينكدإن ومساراته</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87</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كل 6 أشهر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172433"/>
                          </a:solidFill>
                          <a:latin typeface="IBM Plex Sans Arabic"/>
                          <a:ea typeface="IBM Plex Sans Arabic"/>
                          <a:cs typeface="IBM Plex Sans Arabic"/>
                        </a:rPr>
                        <a:t>نظام حماية البيانات وجهة الإشراف</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Readex Pro"/>
        <a:ea typeface=""/>
        <a:cs typeface="Readex Pro"/>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كيف تبدأ في GRC</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