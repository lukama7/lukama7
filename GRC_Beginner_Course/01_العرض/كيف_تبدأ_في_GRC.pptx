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مرحباً بك. هذا كورس تأسيسي لمن يريد أن يبدأ في الحوكمة والمخاطر والامتثال، أو ما يُختصر بـ GRC، حتى لو لم يعمل في الأمن السيبراني من قبل. سنفهم أولاً طبيعة العمل، ثم نطبق كل مفهوم على شركة افتراضية واحدة اسمها رُفاد، فتشاهد كيف ترتبط القرارات والسياسات والمخاطر والضوابط والأدلة داخل جهة واحدة. وفي النصف الثاني نحول ما تعلمته إلى ملف أعمال وسيرة ذاتية وملف لينكدإن واستعداد للمقابلة. الحروف الثلاثة على اليسار هي الفكرة كلها: الحوكمة تسأل من يقرر وبأي قواعد، والمخاطر تسأل ما الذي قد يحدث وماذا نفعل، والامتثال يسأل هل نلتزم وكيف نثبت. جهّز كراسة التمارين بجانبك من الآن، فستحتاجها في كل وحدة.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نبدأ، اتفاق واضح على ما ستخرج به. على اليمين خمس قدرات عملية، لا معلومات فقط: أن تفهم العمل، وأن تميز بين أجزائه الثلاثة، وأن تنفذ بنفسك أربع مهام صغيرة يقوم بها المحلل المبتدئ فعلاً، وأن تختار شهادتك بوعي، وأن تدخل السوق بملف جاهز. وعلى اليسار ما لا يعدك به الكورس، وهذا مهم لتوقعاتك: هذا ليس برنامجاً يؤهلك لإدارة GRC في جهة كاملة، ولا يعلمك تطبيق الضوابط الأساسية للأمن السيبراني بكل تفاصيلها. هو أساس صحيح ومنظم، تبني عليه بالخبرة والتعلم المستمر. إن كان لديك كورس ECC المرافق، فهو الخطوة الطبيعية بعد هذا الكورس لمن يريد التعمق في تطبيق الضوابط.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موضوع في هذا الكورس يسير بأربع خطوات ثابتة. نشرح الفكرة باختصار، ثم نطبقها أمامك على شركة رُفاد في مثال محلول كامل، ثم نعطيك حالة مشابهة لتحلها بنفسك، ثم نعرض الإجابة النموذجية ونشرح لماذا هي صحيحة وما الأخطاء الشائعة. ستعرف نوع الشريحة من العلامة الملونة أعلاها: الأزرق مثال محلول، والبرتقالي تمرين، والأخضر إجابة نموذجية. وأهم قاعدة: حين ترى «توقف وطبّق» أوقف الفيديو فعلاً، واكتب إجابتك في الكراسة. قراءة الإجابة النموذجية قبل المحاولة تعطيك شعوراً بالفهم، لكنها لا تبني المهارة. المحاولة الخاطئة ثم المقارنة هي ما يثبت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الكورس مصمم لثلاث فئات. الخريج الجديد من أي تخصص، فـ GRC من أكثر مسارات الأمن السيبراني ترحيباً بالتخصصات المختلفة. وموظف التقنية الذي يعرف الأنظمة ويريد مساراً أقرب إلى الإدارة والتحليل. ومختص التدقيق أو القانون أو الجودة، الذي يملك أصلاً مهارة قراءة النصوص والأدلة والعمليات، ويحتاج فقط لغة الأمن السيبراني ومفاهيمه. إن كنت من أي فئة منها، فأنت في المكان الصحيح. وإن لم تكن، فالكورس مفيد أيضاً لكل من يتعامل مع فرق GRC ويريد أن يفهم عملها.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خريطة الكورس. الوحدات الأربع الأولى معرفة وتطبيق: ما هو GRC، ثم المفاهيم الأساسية مع أربعة تطبيقات عملية على رُفاد، ثم الأطر وكيف نحدد ما ينطبق على الجهة، ثم الشهادات وكيف تختار. والوحدات الأربع الأخيرة للوصول إلى الوظيفة: خطة البداية وملف الأعمال، والسيرة الذاتية، ولينكدإن، والمقابلة. الوحدة الثانية أطول وحدة وأهمها، لأنها تحتوي التطبيقات الأربعة. وفي آخر الكورس ملحق مرجعي فيه الرسوم والجداول والروابط، لأنها معلومات تتغير وتحتاج تحديثاً دورياً.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تعرّف على رُفاد، الشركة التي سترافقك في الكورس كله. شركة متوسطة في الرياض بنحو مئتي موظف، تقدم التوصيل والتخزين للمتاجر الإلكترونية. عندها ثلاثة أنظمة تهمنا: نظام الموارد البشرية والرواتب، وفيه بيانات حساسة عن كل موظف؛ والبريد والملفات السحابية؛ وتطبيق تتبع الشحنات، وفيه بيانات المستلمين الشخصية. وعندها مورد اسمه سَنَد يدير خوادمها عن بعد. تنبيهان مهمان. الأول: كل ما في رُفاد افتراضي، من الاسم إلى الأشخاص والأدلة، وأي تشابه غير مقصود. الثاني: الضوابط الأساسية للأمن السيبراني ‎ECC-2:2024‎ ملزمة للجهات الحكومية والجهات التابعة لها وجهات البنية التحتية الوطنية الحساسة. رُفاد ليست منها، فالضوابط غير ملزمة لها؛ لكنها في حالتنا التدريبية تبنتها طوعاً مرجعاً داخلياً. لا تفترض أن ECC ملزم لكل شركة خاصة، وسنتعلم في الوحدة الثالثة كيف نحدد ما ينطبق على كل جهة.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هؤلاء الأشخاص سيتكررون في كل الأمثلة. الرئيس التنفيذي خالد هو صاحب الصلاحية: يعتمد السياسات ويقبل المخاطر. ولجنة الأمن السيبراني يرأسها، وتجتمع كل ربع سنة لتتابع. ريم مسؤولة GRC، وتعمل في الخط الثاني: تضع المنهجية وتتابع وتكتب التقارير. وأنت محلل متدرب مع ريم: في كل تطبيق تقرأ وتحلل وتكتب، ثم تقارن بالإجابة النموذجية. سلمان مدير تقنية المعلومات، يملك الأنظمة التقنية ويشرف على المورد سَنَد. ومنى مديرة الموارد البشرية، وهي مالكة نظام الرواتب. وفهد المدير المالي، ومعه العقود والمشتريات. لاحظ من الآن أن ريم لا تملك الأنظمة ولا تنفذ الضوابط، وسنرى لماذا في الجزء الخاص بالحوكمة.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الأولى قصيرة، وهدفها أن تعرف بالضبط ما الذي ستعمل فيه. سنشرح GRC بثلاثة أسئلة بسيطة، ونرى لماذا تحتاجه الجهات، وكيف يختلف عن مركز العمليات واختبار الاختراق، وكيف يبدو يوم عمل محلل مبتدئ في رُفاد. وفي آخرها تمرين قصير تصنف فيه مهام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احفظ هذه الأسئلة الثلاثة، فهي أسهل طريقة لشرح GRC في مقابلة. الحوكمة: من يقرر، وبأي قواعد، وكيف نتابع؟ وفي رُفاد مثالها أن يعتمد الرئيس التنفيذي سياسة الأمن السيبراني. المخاطر: ما الذي قد يضرنا، وما احتماله وأثره، وماذا نفعل؟ ومثالها تقييم خطر حساب المورد المشترك، وسنحله معاً في التطبيق الثاني. الامتثال: هل نلتزم بما يجب، وكيف نثبت؟ ومثاله فحص أدلة مراجعة الصلاحيات، وهو التطبيق الثالث. والجملة في الأسفل تربط الثلاثة: الحوكمة تضع القواعد، والمخاطر تحدد أين نبدأ، والامتثال يثبت أن القواعد طُبقت فعلاً. السياسة بلا تقييم مخاطر قد تحمي ما لا يهم، والامتثال بلا حوكمة يتحول إلى تعبئة نماذج.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تحتاج الجهات من يعمل في GRC، حتى حين تتغير التقنيات؟ ثلاثة أسباب. الأول الأنظمة والعقود: نصوص ملزمة لا تطبق نفسها، وأحد يجب أن يقرأها ويحولها إلى خطة وأدلة. الثاني الموارد: الميزانية محدودة دائماً، وتقييم المخاطر يجيب عن سؤال الإدارة: أين نصرف أولاً؟ الثالث الثقة: حين تتعاقد جهة مع مورد، أو تخضع لتقييم، يُطلب الدليل لا الوعد. وفي رُفاد ترى السببين الأول والثالث معاً: نظام حماية البيانات الشخصية ينطبق عليها لأنها تعالج بيانات أفراد في المملكة، والمتاجر التي تتعامل معها تسأل كيف تحمي بيانات عملائها. لاحظ أننا لا نذكر أرقاماً عن الرواتب أو حجم السوق؛ هذه تتغير بسرعة، فابحث عنها في مصادر حديثة إن احتجتها.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تساعدك أن تختار بوعي. GRC يسأل: هل نحمي ما يهم، وهل نلتزم ونثبت؟ ومركز العمليات يسأل: هل يحدث هجوم الآن؟ واختبار الاختراق يسأل: كيف يمكن اختراقنا؟ وهندسة الأمن تسأل: كيف نبني الحماية؟ إن كنت تحب الكتابة والتحليل والعمل مع إدارات مختلفة، فـ GRC مناسب لك. لكن انتبه للملاحظة في الأسفل: أضعف مختصي GRC من لا يفهمون التقنية إطلاقاً، فيقبلون أي لقطة شاشة دليلاً. لا تحتاج أن تكون مهندساً، لكن تحتاج أن تعرف ما هو التحقق متعدد العوامل، وما هو سجل الأحداث، ولماذا تُفصل الشبكات. والأدوار ليست جزراً معزولة: كثيرون بدؤوا في الدعم الفني أو مركز العمليات ثم انتقلوا إلى GRC، والعكس.</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حين تبحث عن وظيفة لن تجد دائماً كلمة GRC. هذه مسميات شائعة للمبتدئين. محلل GRC أو محلل الامتثال يعمل على تقييم الفجوات ومتابعة الأدلة والخطط. ومحلل المخاطر يدير سجل المخاطر وتقييمها. ومسؤول السياسات يكتب السياسات ويراجعها. ومقيّم الضوابط يختبر الضوابط ويجمع الأدلة. ومدقق تقنية المعلومات يعمل في المراجعة الداخلية باستقلالية. والعمود الأخير يربطها بنموذج الخطوط الثلاثة الذي سنشرحه في الوحدة الثانية. وبعض هذه المسميات مأخوذة من الإطار السعودي لكوادر الأمن السيبراني، وإصداره الحالي 1.5 لعام 2026، وفيه فئة الحوكمة والمخاطر والامتثال والأنظمة. المصدر: صفحة الإطار على موقع الهيئة الوطنية للأمن السيبراني nca.gov.sa،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يوم مركب من مهام شائعة لمحلل مبتدئ، وقد وضعناه في رُفاد. لاحظ ثلاثة أشياء. الأول: أغلب العمل تواصل ومتابعة؛ الأدلة لا تصل وحدها، والخطط لا تُنفذ دون من يتابعها. الثاني: هناك لحظة حكم مهني، مثل الساعة الثانية عشرة: هل لقطة الشاشة تكفي دليلاً، أم نحتاج سجل التغييرات؟ سنتعلم الإجابة في التطبيق الثالث. الثالث: الكتابة حاضرة في كل شيء: إجراء، وتقرير، وشرائح للجنة. والأدوات بسيطة غالباً: جداول البيانات والمستندات ونظام التذاكر، وفي الجهات الكبيرة منصات GRC متخصصة.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 خرافات تؤخر كثيراً من المبتدئين. الأولى أن GRC أوراق فقط؛ والحقيقة أن السياسة بداية العمل، والجزء الأكبر التحقق من تطبيقها. الثانية أنه لا يحتاج معرفة تقنية؛ تحتاج أساسيات تكفي لتفهم الدليل. الثالثة أنه للخبراء فقط؛ توجد وظائف مبتدئة، وأحياناً بمسميات لا تحمل كلمة GRC، والمشاريع العملية التي ستبنيها في الوحدة الخامسة تعوض جزءاً من الخبرة. والرابعة أن شهادة واحدة تكفي؛ الشهادة تفتح الباب، لكن ما يقنع المقابل أن تشرح مثالاً عملياً بلغتك، وهذا ما تبنيه التطبيقات الأربعة في الوحدة الثانية.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حان دورك. أمامك ست مهام من رُفاد. لكل مهمة، اكتب في الكراسة الحرف المناسب: G للحوكمة، أو R للمخاطر، أو C للامتثال، ومعه سبب في جملة واحدة. استخدم الأسئلة الثلاثة: من يقرر؟ ماذا قد يحدث؟ هل نلتزم وكيف نثبت؟ أوقف الفيديو الآن، وخذ أربع دقائق، ثم عد إلى الإجابة النموذجية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السياسة وتشكيل اللجنة حوكمة، لأنهما قرار وهيكل إشراف. تقدير احتمال سرقة الحاسوب واختيار خطة معالجة خطر المورد مخاطر، لأنهما يتعاملان مع ما قد يحدث وماذا نفعل. وجمع أدلة مراجعة الصلاحيات ومطابقة العقد مع بنود ECC امتثال، لأنهما يقارنان الواقع بمتطلب مكتوب ويثبتان ذلك بالأدلة. إن اختلفت إجابتك في مهمة أو اثنتين فلا بأس، المهم سببك. لاحظ الملاحظة في الأسفل: اعتماد خطة المعالجة قرار حوكمة أيضاً، والمجالات الثلاثة متداخلة في الواقع. الهدف أن تعرف السؤال الأساسي الذي تخدمه كل مهمة.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الوحدة قلب الكورس. قسمناها ثلاثة أجزاء: الحوكمة، ثم المخاطر، ثم الامتثال. وفي كل جزء نشرح المفاهيم، ثم نحل مثالاً كاملاً على رُفاد، ثم تنفذ أنت تطبيقاً مشابهاً، ثم نراجع الإجابة النموذجية. في نهاية الوحدة ستكون نفذت أربع مهام يقوم بها المحلل المبتدئ فعلاً: تحديد المسؤوليات وكتابة بند سياسة، وكتابة خطر وتقييمه، وفحص أدلة ضابط، وكتابة ملاحظة بخطة تصحيح. وهذه المهام نفسها ستصبح لاحقاً مشاريع في ملف أعمالك، وأمثلة في سيرتك ومقابلتك. خذ وقتك هنا، ولا تتجاوز التمارين.</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الأول عن الحوكمة. السؤال هنا: من يقرر، وبأي قواعد، ومن المسؤول عن ماذا؟ سنبدأ بالفرق بين الحوكمة والإدارة والتشغيل، ثم الأدوار في رُفاد، ثم نموذج الخطوط الثلاثة، ثم الوثائق وكيف تعيش السياسة من فكرة إلى مراجعة دورية، ثم أداة بسيطة جداً اسمها RACI. وننهي الجزء بالتطبيق الأول: تحديد المسؤوليات وكتابة بند سياسة من متطلب واضح.</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أول خلط شائع عند المبتدئين: اعتبار كل ما تفعله الإدارة العليا حوكمة. الحوكمة تحدد ماذا نريد ولماذا ومن يحاسب، والإدارة تحول القرار إلى خطة وموارد وجدول، والتشغيل ينفذ العمل اليومي. خذ مثالاً واحداً من رُفاد: قرر الرئيس التنفيذي، بتوصية من اللجنة، أن يكون التحقق متعدد العوامل إلزامياً للدخول عن بعد. هذا قرار حوكمة. ثم وضع سلمان مدير تقنية المعلومات خطة نشر لستة أسابيع بميزانية ومسؤولين، وهذه إدارة. ثم سجّل فريق الدعم والمورد أجهزة الموظفين في تطبيق التحقق، وهذا تشغيل. والحوكمة لا تنتهي عند القرار: تعود اللجنة لتسأل هل تحقق ما قررناه؟ وما نسبة الحسابات التي فُعّل عليها التحقق؟ هذه المتابعة جزء من 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قصير قبل أن نكمل. أمامك أربعة أنشطة من مشروع التحقق متعدد العوامل في رُفاد. صنّف كل نشاط: حوكمة، أم إدارة، أم تشغيل؟ واكتب سبباً قصيراً. انتبه للنشاط الرابع تحديداً. أوقف الفيديو الآن، وخذ ثلاث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القرار حوكمة. وخطة النشر وميزانيتها إدارة. وتسجيل الأجهزة تشغيل. والنشاط الرابع، التقرير ربع السنوي للجنة عن نسبة الحسابات المفعل عليها التحقق، حوكمة: هو متابعة وإشراف من الجهة الأعلى لتعرف هل تحقق القرار. إعداد التقرير نفسه عمل يقوم به شخص، لكن الغرض منه المساءلة والإشراف. إن أخطأت فيه فأنت في صحبة كثيرين، والمهم أن تتذكر أن الحوكمة تشمل المتابعة لا القرار وحده.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الأدوار ستتكرر في كل وثيقة وكل تقييم، فاعرف الفرق بينها. صاحب الصلاحية هو من يملك قرار الاعتماد وقبول المخاطر، وفي الضوابط الأساسية هو رئيس الجهة أو من يفوضه؛ وفي رُفاد الرئيس التنفيذي. واللجنة تشرف وتتابع وتوصي، لكنها لا تنفذ. وGRC يضع المنهجية ويراقب ويبلغ. ومالك النظام مسؤول عن النظام وبياناته وصلاحياته، مثل منى لنظام الرواتب. ومالك الضابط من يطبق الضابط ويحتفظ بأدلته، مثل سلمان للتحقق متعدد العوامل. ومالك الخطر من يقرر كيف يُعالج الخطر، وهو عادة من يتأثر عمله بالخطر أكثر، لا GRC. قد يجمع شخص واحد أكثر من دور، لكن يجب أن يكون كل دور واضحاً ومكتوباً.</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من أهم الأفكار للمبتدئ، لأن كثيرين يتوقعون أن GRC «مسؤول عن الأمن السيبراني» كله. GRC لا ينفذ كل الضوابط بنفسه، ولا يملك مخاطر الإدارات، ولا يعتمد السياسات بدل صاحب الصلاحية. دوره أن يضع المنهجية والنماذج، ويساعد الإدارات على فهم المتطلبات، ويتحقق من التطبيق بالأدلة، ويرفع الصورة للإدارة بوضوح. لماذا هذا مهم؟ لأن من ينفذ الضابط لا يستطيع أن يتحقق منه باستقلالية. في رُفاد، لو كانت ريم تعطّل الحسابات بنفسها، فمن سيتحقق أن التعطيل حدث في موعده؟ لذلك سلمان ينفذ، وريم تتحقق.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الخطوط الثلاثة من معهد المدققين الداخليين، وتستخدمه جهات كثيرة لتوزيع المسؤوليات. الخط الأول هو الإدارات التي تملك المخاطر فعلاً وتطبق الضوابط: في رُفاد سلمان ومنى، والمورد سَنَد يعمل تحت إشرافهما. الخط الثاني يضع الإطار والمنهجيات، ويدعم الخط الأول، ويراقب ويتحدى: هل الضابط مطبق فعلاً؟ وهنا تعمل ريم، وأغلب وظائف GRC المبتدئة. والخط الثالث يعطي تأكيداً مستقلاً لجهة الحوكمة؛ ولأن رُفاد شركة متوسطة، فقد تعاقدت مع مراجع خارجي يقوم بهذا الدور سنوياً، وهذا افتراض في حالتنا. لماذا يهمك النموذج؟ لأنه يحدد أين ستعمل: محلل الامتثال خط ثانٍ غالباً، ومدقق تقنية المعلومات خط ثالث، ولكل منهما مسار شهادات مختلف قليلاً كما سنرى في الوحدة الرابعة.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عمل GRC كتابة ومراجعة لهذه الوثائق، فاعرف الفرق بينها بمثال واحد من رُفاد: مراجعة الصلاحيات. السياسة قصيرة وعامة: تُراجع الصلاحيات دورياً في كل الأنظمة، ويعتمدها صاحب الصلاحية. المعيار يحول السياسة إلى قيم قابلة للقياس: نظام الرواتب كل ثلاثة أشهر، والإزالة خلال خمسة أيام عمل. الإجراء يحول المعيار إلى خطوات بمسؤول وتوقيت. والإرشاد توصيات تساعد ولا تلزم. الخطأ الشائع: سياسة طولها عشرون صفحة فيها كل التفاصيل التقنية، فتحتاج اعتماداً من الرئيس التنفيذي كلما تغير رقم. لاحظ أيضاً أن بعض الجهات تضع المدد في السياسة نفسها، وهذا مقبول إن كان موثقاً ومعتمداً؛ المهم أن تعرف أين تبحث عن كل مستوى.</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السياسة ليست وثيقة تُكتب مرة وتُنسى. تمر بسبع مراحل. تبدأ بحاجة ومتطلبات: نظام ملزم، أو ضابط تبنته الجهة، أو خطر ظهر في التقييم، أو حادثة. ثم الصياغة بلغة واضحة يمكن تدقيقها، ثم مراجعة الإدارات المعنية والقانونية وGRC، ثم الاعتماد من صاحب الصلاحية بتاريخ ورقم إصدار، ثم النشر لمن تنطبق عليهم مع توعية، ثم التطبيق بإجراءات وضوابط تنتج أدلة، ثم المراجعة الدورية سنوياً أو عند أي تغيير مهم، فتعود الدورة. في التقييم ستسألك الجهات عن كل مرحلة: أين محضر الاعتماد؟ متى نُشرت؟ متى رُوجعت آخر مرة؟ فاحتفظ بأدلة كل مرحلة.</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نستخدم المصفوفة، لنفهم حروفها. R المنفذ: من يقوم بالعمل فعلاً، وقد يكونون أكثر من شخص. A المساءَل: من يحاسَب على النتيجة ويعتمدها، وهو شخص واحد فقط لكل نشاط؛ إن وضعت شخصين فلن يحاسَب أحد. C المستشار: يؤخذ رأيه قبل التنفيذ، والتواصل معه في الاتجاهين. I المُبلَّغ: يُخبر بالنتيجة بعد التنفيذ، في اتجاه واحد. والفرق بين C وI يسأل عنه كثيرون: C قبل القرار، I بعده. وقد يجمع شخص A وR معاً، فنكتبها ‎A/R‎، مثل مالكة النظام حين تعتمد نتيجة المراجعة بنفسها.</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تحول متطلباً إلى بند سياسة؟ أربع خطوات. اقرأ المتطلب بدقة: ماذا يطلب، وماذا لا يطلب. ثم حدد قرار الجهة: الضوابط غالباً تقول «دورياً» أو «بحد أدنى»، والجهة هي التي تحدد النطاق والمدة والمسؤول بناءً على مخاطرها. ثم اكتب البند بصيغة إلزامية واضحة. ثم اختبره: لو جاء مدقق غداً، هل يستطيع أن يطلب دليلاً على هذا البند؟ وعلى اليسار معايير البند الجيد. احفظها، فستقيّم بها بندك في التطبيق الأول. وأكثر خطأ نراه: نسخ نص الضابط كما هو. نص الضابط يقول ماذا يجب؛ وبند السياسة يقول كيف ستلتزم به الجهة ومن المسؤول.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الآن نطبق كل ما سبق على مثال محلول. المتطلب من الضوابط الأساسية ‎ECC-2:2024‎، الضابط الفرعي ‎2-2-3-5‎: يجب أن تغطي متطلبات إدارة الهويات والصلاحيات المراجعة الدورية لهويات الدخول والصلاحيات. الوضع في رُفاد: نظام الرواتب فيه 214 حساباً ولا توجد مراجعة. القرار: مراجعة كل ثلاثة أشهر لهذا النظام بالذات، لأنه يحتوي رواتب الموظفين وحساباتهم البنكية. انتبه للملاحظة في الأسفل: الضابط يقول «دورية» ولا يحدد المدة. كثيرون يكتبون «الضابط يشترط ربع سنوي»، وهذا غير صحيح. المدة قرار الجهة، وتبرره بالمخاطر، وتوثقه في المعيار أو السياسة.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نحدد الأنشطة أولاً، ثم نوزع الحروف. خمسة أنشطة: تصدير القائمة، وتأكيد حاجة كل موظف، واعتماد النتيجة، وإزالة غير المبرر، ومتابعة الإنجاز وحفظ الأدلة. مالكة النظام منى مساءلة عن أغلب الأنشطة لأن النظام نظامها. تقنية المعلومات تنفذ التصدير والإزالة، وهي A وR في الإزالة لأنها تملك التنفيذ التقني وتشرف على المورد. مدير الموظف ينفذ تأكيد الحاجة لأنه أعرف بعمل موظفيه. وGRC هنا منفذ لنشاط واحد فقط: المتابعة وحفظ الأدلة، لكن المساءلة عنه عند مالكة النظام. لاحظ: في كل صف A واحد بالضبط.</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النهائي. اقرأه وطابقه مع معايير البند الجيد. النطاق محدد: نظام الموارد البشرية والرواتب. التكرار محدد: كل ثلاثة أشهر على الأقل. المسؤول محدد بالوظيفة: مالكة النظام. المدد محددة: اعتماد خلال عشرة أيام عمل، وإزالة خلال خمسة. والدليل محدد: ملف المراجعة وأدلة الإزالة لمدة سنتين. لو جاء مدقق، يستطيع أن يطلب ملفات المراجعة لكل ربع، ويحسب المدد، ويتأكد من حفظ الأدلة. هذا ما نعنيه بقابلية التدقيق. وهذا البند نفسه سنعود إليه في التطبيق الثالث، حين نفحص هل التزمت رُفاد به فعلاً.</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الآن، في حالة مشابهة. المتطلب من ‎ECC-2:2024‎، الضابط ‎1-9-5‎: يجب مراجعة وإلغاء الصلاحيات للعامل مباشرة بعد انتهاء أو إنهاء العلاقة الوظيفية. وهذا ما وجدته في رُفاد: الموارد البشرية تسجل الاستقالات في نظامها، لكن تقنية المعلومات تعرف بالمغادرين برسائل غير رسمية، والمورد يعطل البريد فقط حين يُطلب منه، ولا أحد يتحقق من بقية الأنظمة. والنتيجة: الشهر الماضي بقي حسابان من أربعة مغادرين نشطين بعد ثلاثة أسابيع. اقرأ الحقائق جيداً، ثم انتقل إلى الشريحة التالية لترى المطلوب والنموذج الذي ستعبئه.</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أولاً، اكتب خمسة أنشطة لعملية إلغاء صلاحيات المغادرين، من لحظة معرفة آخر يوم عمل إلى التحقق أن كل شيء أُلغي. ثانياً، املأ مصفوفة RACI للأدوار الأربعة: الموارد البشرية، ومدير الموظف، وتقنية المعلومات، وGRC؛ وتذكر قاعدة A واحد لكل نشاط. ثالثاً، اكتب بند سياسة من جملتين أو ثلاث يحقق معايير البند الجيد. النموذج الكامل في كراسة التمارين، في التطبيق الأول. أوقف الفيديو الآن، وخذ خمس عشرة دقيقة. لا تنتقل إلى الإجابة قبل أن تكتب محاولتك كاملة.</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الإجابة النموذجية للمصفوفة. الموارد البشرية مساءلة ومنفذة للإشعار، لأنها مصدر الحقيقة عن انتهاء العلاقة الوظيفية. وتقنية المعلومات مساءلة ومنفذة لإلغاء الحسابات وتوثيقه وللمطابقة الشهرية، والمورد سَنَد ينفذ جزءاً من العمل تحت إشرافها. لاحظ أن المطابقة الشهرية ضابط كشفي يلتقط ما فات، وهو عند الخط الأول لا عند GRC. أما GRC فمساءلة ومنفذة لنشاط واحد: مراقبة فاعلية الإجراء وإبلاغ اللجنة. إن كانت أنشطتك مختلفة قليلاً فلا بأس، المهم أن تغطي الإشعار والإلغاء والتوثيق والكشف والمتابعة، وأن يكون في كل صف A واحد.</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النموذجي. يحدد النطاق: كل الأنظمة بما فيها الوصول عن بعد. ويحدد الموعد: نهاية آخر يوم عمل، وهذا يحقق كلمة «مباشرة» في الضابط. ويحدد المسؤولين: الموارد البشرية للإشعار، وتقنية المعلومات للتنفيذ والتوثيق. ويحدد الدليل: التذكرة. ويضيف ضابطاً كشفياً: المطابقة الشهرية. قارن بندك بهذه العناصر. إن نقص عنصر، أضفه الآن في الكراسة.</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نراها كثيراً في هذا التطبيق. الأول وضع GRC منفذاً لتعطيل الحسابات، وقد عرفنا لماذا هذا خطأ. الثاني أكثر من A في الصف. الثالث بند غامض مثل «تُلغى الصلاحيات في الوقت المناسب»: ما الوقت المناسب؟ لا يمكن تدقيقه. الرابع نسيان حسابات الوصول عن بعد وتطبيق التتبع ونظام الرواتب، والتركيز على البريد فقط. والخامس نسخ نص الضابط كما هو. إن وقعت في واحد منها فهذا طبيعي في أول محاولة؛ صححه في الكراسة، فهذا الجزء الأهم من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عن المخاطر. سنأخذ مثالاً واحداً ونحمله من البداية إلى النهاية: حاسوب أخصائي الرواتب في رُفاد. نعرّف المصطلحات عليه، ونكتب الخطر بصيغة صحيحة، ونقيمه بمصفوفة الإطار الوطني لإدارة مخاطر الأمن السيبراني، ونحدد معالجته، ونكتب صفاً كاملاً في سجل المخاطر. ثم تنفذ أنت التطبيق الثاني على خطر مختلف: حساب المورد المشترك.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السرية والسلامة والتوافر، وتُختصر بالإنجليزية CIA، هي أول سؤال في كثير من المقابلات المبتدئة. أجب بمثال لا بتعريف، ومن رُفاد: السرية تُمس حين يتسرب ملف الرواتب. والسلامة تُمس حين يغير أحدهم رقم الحساب البنكي لموظف في نظام الرواتب، فيذهب راتبه إلى حساب آخر؛ وهذا نمط احتيال معروف، ويحميه فصل المهام وسجلات التغيير. والتوافر يُمس حين يتوقف تطبيق التتبع في يوم ذروة. ولاحظ أن الإطار الوطني لإدارة مخاطر الأمن السيبراني يصف مستويات الأثر بالضبط على هذه الأركان الثلاثة، كما سنرى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ستة مصطلحات بمثال واحد. الأصل: ما له قيمة للجهة، وهنا الحاسوب وملفات الرواتب عليه. التهديد: ما قد يسبب الضرر، مثل سرقة الحاسوب من السيارة. الثغرة: الضعف الذي يسهّل الضرر، والقرص هنا غير مشفر. الاحتمال: فرصة الحدوث خلال فترة زمنية. والأثر: حجم الضرر إن حدث. والخطر يجمعها: تهديد يستغل ثغرة في أصل، باحتمال وأثر. أهم تمييز هنا بين الثغرة والخطر: «القرص غير مشفر» ثغرة، وليست خطراً كاملاً. الخطر يقول ماذا قد يحدث بسببها وما نتيجته. وهذا ما سنتدرب عليه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نكتب الخطر؟ صيغة بسيطة من ثلاثة أجزاء: بسبب الثغرة أو السبب، قد يقع الحدث، مما يؤدي إلى الأثر. هذا مثالنا مكتوباً كاملاً: بسبب حفظ ملفات تصدير الرواتب على حاسوب محمول غير مشفر، قد يؤدي فقدانه أو سرقته إلى اطلاع غير مصرح به على رواتب مئتي موظف وحساباتهم البنكية، مما يضر الموظفين ويعرض رُفاد لمخالفة نظام حماية البيانات الشخصية ولضرر في سمعتها. قارنه بالصياغتين الضعيفتين: «لا يوجد تشفير» ثغرة فقط، و«خطر أمني على الحاسوب» بلا حدث ولا أثر، فلا يعرف أحد ماذا يقرر. ومن أين نكتشف المخاطر أصلاً؟ من سجل الأصول، والحوادث السابقة، وتقارير الثغرات، وملاحظات التدقيق، والتغييرات والمشاريع، والموردين. وهذه المصادر نفسها تذكرها مرحلة التحديد في الإطار الوطني.</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نقيّم خطرنا، تعرف على المرجع الوطني. أصدرت الهيئة الوطنية للأمن السيبراني الإطار الوطني لإدارة مخاطر الأمن السيبراني، ورمزه ‎NFCRM-1:2025‎، في 23 يوليو 2025. ينطبق على الجهات الحكومية والجهات التابعة لها داخل المملكة وخارجها، وعلى جهات القطاع الخاص التي تملك أو تشغل أو تستضيف بنية تحتية وطنية حساسة، وتشجع الهيئة بقية الجهات على الاستفادة منه. منهجيته أربع مراحل: التحديد، ثم التقييم بمصفوفة الاحتمال والأثر، ثم المعالجة، ثم المتابعة. رُفاد ليست ضمن نطاقه، لكنها في حالتنا تبنت مصفوفته طوعاً، فنتعلم عليها كما وردت. وتنبيه مهم: الجهات المشمولة به عليها التزامات إضافية، منها تعيين ضابط اتصال، والإبلاغ الفوري عن المخاطر العالية والحرجة عبر منصة حصين. هذا مدخل تأسيسي فقط؛ اقرأ النص الرسمي كاملاً قبل أي استخدام عملي.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مستويات الاحتمال الخمسة كما يصفها الإطار الوطني، باختصار. لكل مستوى وصفان، ويكفي أحدهما: إطار زمني، أو سهولة استغلال الثغرة. شبه مؤكد يتكرر عدة مرات في السنة، أو تستغل ثغرته بأداة جاهزة. ومحتمل يحدث مرة في السنة تقريباً، أو يحتاج مهاجماً متقدماً بأدوات خاصة. وغير مرجح قد يحدث مرة كل سنتين إلى ثلاث، أو يحتاج شروطاً محددة. ثم نادر، ونادر جداً. الفائدة: حين تقول «الاحتمال 3» يجب أن تستطيع أن تقول لماذا، بالرجوع إلى هذه الأوصاف، لا بالانطباع.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مستويات الأثر الخمسة. يصفها الإطار لكل ركن من الثلاثية منفصلاً: السرية والسلامة والتوافر، وجمعناها هنا في وصف مختصر. الفرق بين المستويات في حجم الأثر على الجهة: لا أثر، ثم طفيف، ثم ملموس، ثم كبير، ثم كبير لا تحتمله الجهة أو يمتد إلى المستوى الوطني. في مثالنا: تسرب رواتب مئتي موظف وحساباتهم البنكية أثر كبير على رُفاد، فنختار عالٍ، أي 4. ولم نختر حرجاً لأن الأثر لا يصل إلى مستوى لا تحتمله الجهة ولا إلى المستوى الوطني.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مصفوفة تقييم المخاطر كما وردت في الإطار الوطني: المستوى يساوي الأثر في الاحتمال. والنتيجة تقع في خمسة مستويات: منخفض جداً من 1 إلى 2، ومنخفض من 3 إلى 7، ومتوسط من 8 إلى 14، وعالٍ من 15 إلى 19، وحرج من 20 إلى 25. مثالنا: الاحتمال 3 والأثر 4، والنتيجة 12، فهو «متوسط». انتبه: مصفوفات الجهات تختلف؛ بعضها يسمي 12 عالياً. لا تنقل حدود مصفوفة جهة إلى أخرى. هنا نستخدم مصفوفة الإطار الوطني بالضبط، لأن رُفاد تبنتها. وحسب قاعدة القبول في رُفاد، الخطر المتوسط يحتاج خطة معالجة، أو قبولاً موثقاً من الرئيس التنفيذي.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الدرجة بلا مبرر رأي شخصي. لماذا اخترنا الاحتمال 3؟ لأن الموظف يتنقل يومياً بالحاسوب، وسُجلت في رُفاد سرقة حاسوب واحدة خلال ثلاث سنوات، وهذا يطابق وصف «غير مرجح»: قد يقع مرة كل سنتين إلى ثلاث. ولماذا الأثر 4؟ لأنها بيانات حساسة لكل الموظفين، والتسرب أثره كبير على الجهة. والجزء الأسفل مهم: الدرجة ليست ثابتة. لو تكررت السرقات يرتفع الاحتمال. ولو كانت الملفات تحتوي أسماء فقط ينخفض الأثر. لذلك نكتب المبرر بجانب الدرجة في السجل، فيراجعه مالك الخطر ويعترض عليه إن رأى غير ذلك.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الخطر المتأصل والمتبقي. نتبع هنا تعريف الإطار الوطني: المتأصل هو الخطر قبل تنفيذ خطط المعالجة وضوابطها، والمتبقي ما يبقى بعد احتساب خطط المعالجة. بعض المراجع تعرّف المتأصل بأنه قبل أي ضابط على الإطلاق، فاعرف التعريف الذي تتبناه جهتك. خطرنا المتأصل 12، متوسط. بعد خطة التشفير نتوقع 6، منخفض. لكن انظر كيف انخفض: الاحتمال بقي 3، لأن التشفير لا يمنع سرقة الحاسوب. الذي انخفض هو الأثر، من 4 إلى 2، لأن الملفات لن تُقرأ. وهذا الانخفاض ليس تلقائياً؛ له شروط على اليسار: التشفير مفعّل ومتحقق منه على كل الأجهزة لا بعضها، وكلمة المرور قوية، ولا نسخ خارج المجلد المقيد. إن كان التشفير على سبعين بالمئة من الأجهزة فقط، أو سُرق الحاسوب وهو مفتوح، فالأثر لم ينخفض فعلياً. لذلك الخطر المتبقي «متوقع» حتى نتحقق.</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خيارات لمعالجة الخطر، وهي نفسها في الإطار الوطني: القبول، والمشاركة، والتخفيف، والتجنب. التخفيف الأكثر استخداماً: ضوابط تقلل الاحتمال أو الأثر. والتجنب إيقاف النشاط نفسه، مثل منع حفظ ملفات الرواتب على الأجهزة. والمشاركة تحميل جزء من الأثر المالي لطرف آخر، بتأمين أو عقد؛ لكن المسؤولية والسمعة لا تنتقلان. والقبول قرار موثق ممن يملك الصلاحية، ويُفضل أن يكون مؤقتاً بموعد مراجعة. والتحذير في الأسفل مهم جداً: إن كانت الجهة ملزمة بنظام أو ضابط، فقبولها الداخلي للخطر لا يلغي الالتزام، ولا يعني أن الجهة التنظيمية أعفتها. القبول يوثق قرار الإدارة الداخلي فقط، والإعفاء التنظيمي إن وُجد له طريق رسمي مختلف عند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شهية المخاطر وحدود التحمل مصطلحان يخلط بينهما كثيرون، فلنبسطهما. الشهية عامة: حجم الخطر الذي تقبله الجهة لتحقق أهدافها، ويقرها المجلس أو صاحب الصلاحية، مثل: لا نقبل مخاطر عالية على بيانات الموظفين والعملاء. وحدود التحمل تحول الشهية إلى أرقام قابلة للقياس لخطر أو مؤشر محدد، مثل: لا يبقى خطر عالٍ بلا خطة أكثر من ثلاثين يوماً، أو توقف الرواتب لا يتجاوز يوم عمل. والجدول في الأسفل قاعدة القبول في رُفاد: من يقرر عند كل مستوى. وهو قريب من تعريف الإطار الوطني لمستوى الخطر المقبول: المستوى الذي يمكن أن يقبله مسؤول مخول. القيم هنا مثال تدريبي؛ كل جهة تحدد قيمها.</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الضابط هو أي إجراء أو آلية تقلل الخطر، ويصنف بطريقتين. الطبيعة: إداري مثل السياسات والتوعية، وتقني مثل التحقق متعدد العوامل والتشفير، ومادي مثل الأقفال والكاميرات. والوظيفة: وقائي يمنع، وكشفي يكتشف، وتصحيحي يعالج بعد الوقوع. في المقابلة اذكر البعدين معاً. والفكرة العملية: لا تعتمد على نوع واحد. جهة عندها وقاية ممتازة بلا كشف لن تعرف متى فشلت الوقاية. ولاحظ أن الإطار الوطني يعرّف الضوابط بأنها إجراءات حماية متوافقة مع ضوابط الهيئة. والضابط التعويضي مهم في الامتثال: بديل يحقق الهدف نفسه حين يتعذر الضابط الأصلي، ويحتاج توثيقاً واعتماداً.</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صف كامل في سجل المخاطر، وهو خلاصة المثال المحلول. الوصف بالصيغة الثلاثية. الضوابط الحالية: كلمة مرور للجهاز وسياسة الاستخدام، بلا تشفير. التقييم 3 في 4 يساوي 12، متوسط. مالكة الخطر منى، لأن بيانات الرواتب بياناتها. المعالجة تخفيف: تشفير ومجلد مقيد. مالك الإجراء سلمان، لأنه ينفذ التقنية. الموعد ثلاثون يوماً. المتبقي المتوقع 6، منخفض، بالشروط التي ذكرناها. والمتابعة: تتحقق ريم من تقرير التشفير بعد ثلاثين يوماً وتحدّث السجل. لاحظ أن مالك الخطر ومالك الإجراء شخصان مختلفان، وهذا طبيعي. وGRC ليس مالكاً لأي منهما؛ هو من يدير السجل ويتابع.</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الثاني. الخطر هذه المرة عند المورد سَنَد. اقرأ الحقائق جيداً: أداة دعم عن بعد مكشوفة على الإنترنت، وحساب إداري واحد يستخدمه خمسة فنيين، وكلمة مرور لم تتغير منذ 2023 بلا تحقق متعدد العوامل، ووصول مفتوح على مدار الساعة، وسجلات لا يراجعها أحد، وعقد فيه بند سرية فقط. والخادم يحفظ بيانات نحو خمسين ألف مستلم شهرياً. هذه كل البيانات التي تحتاجها. انتقل إلى الشريحة التالية لترى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خمسة أشياء. اكتب الخطر بالصيغة الثلاثية: بسبب، قد، مما يؤدي إلى. اذكر الضوابط الحالية. قدّر الاحتمال والأثر بأوصاف المصفوفة، وبرر كل درجة، ثم احسب المستوى. اقترح معالجة: خياراً من الأربعة، وثلاثة إجراءات على الأقل، لكل إجراء مالك وموعد. ثم قدّر الخطر المتبقي المتوقع، واذكر افتراضاتك. استعن بشريحة المصفوفة وبأوصاف الاحتمال والأثر.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الوصف يربط الثغرة بالحدث والأثر: حساب مشترك على أداة مكشوفة بلا عامل ثانٍ، قد يستخدمه مهاجم بكلمة مرور مسربة أو مخمنة، فتتسرب بيانات المستلمين أو تتعطل الخدمة. الاحتمال 4، محتمل: الاستغلال سهل متى عُرفت كلمة المرور، وهي مشتركة ولم تتغير منذ سنوات. ولم نختر 5 لأن المهاجم يحتاج كلمة المرور أولاً، ولا توجد ثغرة منشورة تتجاوزها. وإن اخترت 5 بمبرر مقنع فإجابتك مقبولة؛ المهم المبرر. الأثر 4، عالٍ: بيانات شخصية لعشرات الآلاف مع احتمال توقف الخدمة. والنتيجة 16، عالٍ؛ وحسب قاعدة رُفاد: معالجة إلزامية وعرض على اللجنة. ملاحظة للمعرفة: لو كانت رُفاد ضمن نطاق الإطار الوطني، لوجب إبلاغ الهيئة فوراً عن المخاطر العالية والحرجة.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المعالجة: تخفيف بخمسة إجراءات. حسابات فردية لكل فني وإلغاء الحساب المشترك، وتفعيل التحقق متعدد العوامل، وهذا ما يطلبه الضابط ‎2-2-3-2‎ للدخول عن بعد، وإيقاف الوصول الدائم ليصبح عند الطلب بموافقة، ومراجعة أسبوعية للسجلات، وإضافة بنود ضوابط الأطراف الخارجية ‎4-1-2‎ عند تجديد العقد. طلبنا منك ثلاثة إجراءات على الأقل، وأهم ثلاثة هي الأولى: الحسابات الفردية، والتحقق متعدد العوامل، والوصول عند الطلب. ولاحظ أن مالك كل إجراء من الخط الأول، وأن المورد لا يملك الخطر ولا 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والمهم في الخطر المتبقي: بعد هذه الإجراءات يصبح الاحتمال نادراً، 2، لأن كلمة المرور وحدها لم تعد تكفي. لكن الأثر يبقى 4، لأن البيانات نفسها ما زالت على الخادم؛ التحقق متعدد العوامل يقلل الاحتمال ولا يغير الأثر. النتيجة 8، متوسط. إذن الإجراءات لم تُنزل الخطر إلى منخفض، وهذا ليس تلقائياً: يعتمد على تطبيق الإجراءات فعلاً وعلى فاعليتها. والمتوسط في قاعدة رُفاد يحتاج قراراً: قبول موثق من الرئيس التنفيذي، أو إجراء إضافي مثل حصر الوصول بعناوين المورد المعتمدة.</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إجابتك على هذه الأخطاء. الأشهر كتابة الثغرة وحدها خطراً: «لا يوجد تحقق متعدد العوامل». ثم الدرجات بلا تبرير، أو خلط الاحتمال بالأثر. ثم افتراض أن أي ضابط يُنزل الخطر إلى منخفض جداً تلقائياً؛ وقد رأينا أن التحقق متعدد العوامل يقلل الاحتمال ولا يمس الأثر. ثم اختيار «النقل إلى المورد» معالجة، والمسؤولية لا تنتقل. وأخيراً إجراءات بلا مالك أو موعد، أو مالكها GRC. صحح ما يلزم في الكراسة الآن.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إدارة مخاطر الأطراف الخارجية من أسرع مجالات GRC نمواً، لأن الجهات تعتمد على السحابة والدعم الخارجي. الدورة خمس مراحل: التخطيط، والتقييم قبل التعاقد، والعقد، والمتابعة، والإنهاء. والأهم المرحلتان الثانية والثالثة، لأن قدرة الجهة على فرض الشروط تضعف بعد التوقيع. وفي الضوابط الأساسية، الضابط ‎4-1-2‎ يطلب في العقود بنوداً للسرية والحذف الآمن للبيانات عند انتهاء الخدمة، وإجراءات التواصل عند الحوادث، وإلزام الطرف الخارجي بمتطلبات الجهة وسياساتها. والضابط ‎4-1-3‎ يطلب لعقود خدمات التقنية والأمن المُسندة تقييم المخاطر قبل التوقيع. وعقد سَنَد في رُفاد فيه بند سرية فقط، وهذا ما ظهر في التطبيق الثاني.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استمرارية الأعمال مجال قريب من GRC، وكثير من الوظائف تجمعهما. تحليل أثر الأعمال يجيب لكل خدمة مهمة عن سؤالين. RTO أقصى مدة توقف مقبولة حتى تعود الخدمة. وRPO أقصى كمية بيانات مقبول خسارتها، وتقاس بالوقت إلى الوراء حتى آخر نسخة. في رُفاد قررت الإدارة لنظام الرواتب يوم عمل واحداً للتوقف، وأربع ساعات للبيانات. فإن كانت النسخة الاحتياطية يومية، فقد نخسر حتى أربع وعشرين ساعة، وهذا يتجاوز الحد: فجوة تُكتب ملاحظة. لاحظ أن هذه القيم قرار إدارة بناءً على الأثر، وليست أرقاماً تقنية يختارها فريق النسخ الاحتياطي. والقيم هنا مثال تدريبي.</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الخصوصية المجال القريب الثاني. في المملكة نظام حماية البيانات الشخصية، والجهة المختصة الهيئة السعودية للبيانات والذكاء الاصطناعي، سدايا. صدر بالمرسوم الملكي م/19 بتاريخ ‎9/2/1443‎هـ، ودخل حيز النفاذ في 14 سبتمبر 2023، مع مهلة سنة للالتزام انتهت في 14 سبتمبر 2024، بحسب دليل سدايا الرسمي للنظام. النقاط الأربع مبادئ عامة مختصرة. ومدد الإبلاغ والتفاصيل في اللوائح التنفيذية، وقد تتغير، فارجع دائماً إلى النص الرسمي في موقع سدايا. وفي رُفاد النظام ينطبق لأنها تعالج بيانات شخصية في المملكة: بيانات الموظفين، وبيانات المستلمين. ولم نتمكن وقت التحقق من تأكيد ما إذا انتقل الإشراف من سدايا إلى مكتب إدارة البيانات الوطنية، فتحقق من ذلك في الموقع الرسمي.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الثالث عن الامتثال، وهو أكثر ما سيقضي فيه المحلل المبتدئ وقته. سنفرق أولاً بين المتطلب والضابط والدليل ونتيجة التقييم، ثم نحدد النطاق قبل طلب أي دليل، ثم نميز بين وجود سياسة، وضبط إعداد، واستمرار التشغيل. بعدها الأدلة والعينات، ثم تقييم ضابط كامل. وفيه تطبيقان: الثالث تفحص فيه أدلة ضابط وتحدد النتيجة، والرابع تكتب فيه ملاحظة وخطة تصحيح.</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مصطلحات يخلط بينها المبتدئون كثيراً. المتطلب ما يجب تحقيقه، ويأتي من نظام أو ضابط أو عقد أو سياسة داخلية؛ مثاله الضابط ‎2-2-3-5‎: مراجعة دورية للصلاحيات. والضابط هو ما تفعله الجهة لتحقق المتطلب؛ في رُفاد: مراجعة ربع سنوية لنظام الرواتب وفق معيار معتمد. والدليل ما يثبت أن الضابط موجود ويعمل: ملف المراجعة، والاعتماد، وتذاكر الإزالة. ونتيجة التقييم حكمك على مدى تحقق المتطلب، من مقياس محدد. والفكرة المهمة في الأسفل: المتطلب واحد، لكن الجهات قد تحققه بضوابط مختلفة. لذلك لا تسأل «هل عندكم الضابط الفلاني؟» بل «كيف تحققون هذا المتطلب؟ وما الدليل؟».</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أكثر ما يضيع وقت المبتدئ: طلب أدلة قبل الاتفاق على النطاق. خمسة أسئلة تكفي. ما المتطلبات المنطبقة؟ ما الأنظمة ضمن النطاق؟ ما الفترة؟ من مالك كل ضابط؟ وما المستثنى ولماذا؟ في رُفاد: التقييم الداخلي للنصف الأول من 2026، يغطي ضوابط الهويات وضابط المغادرين، لأربعة أنظمة. والخادم التجريبي المعزول بلا بيانات حقيقية مستثنى، ونكتب «لا ينطبق» مع المبرر. والقاعدة في الأسفل: الدليل الذي يقع خارج الفترة أو النطاق لا يُحتسب؛ لقطة إعداد من يوليو لا تثبت ما حدث في مارس. هذا بالضبط ما سنراه في المثال المحلول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ثلاثة مستويات للتحقق، وكل مستوى يحتاج دليلاً مختلفاً. الأول: هل المتطلب موثق؟ ودليله سياسة أو معيار معتمد. الثاني: هل هو مطبق فعلاً؟ ودليله تصدير إعداد من النظام بتاريخه، أو إجراء يُنفذ. الثالث: هل يعمل باستمرار طوال الفترة ولكل النطاق؟ ودليله سجلات أو ملفات تغطي الفترة كاملة. أكثر خطأ شائع أن يتوقف المقيّم عند المستوى الأول: وجد السياسة فكتب «مطبق». والخطأ الثاني أن يتوقف عند لقطة إعداد من يوم التقييم. تذكر الجملة في الأسفل، وستحتاجها في التطبيق الثالث.</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للأدلة أنواع: وثائق معتمدة، وتصدير من النظام، وسجلات وتقارير، ومقابلات وملاحظة مباشرة، وإعادة التنفيذ، أي أن تجرب الضابط بنفسك، مثل محاولة الدخول بكلمة مرور فقط. ولا يوجد ترتيب ثابت يقول إن نوعاً أقوى دائماً من غيره. المقابلة تساعدك على فهم العملية، لكنها وحدها لا تثبت التشغيل. والسجل قد يكون ناقصاً أو معدلاً. لذلك اسأل أربعة أسئلة عن كل دليل: هل هو مرتبط بهدف الفحص؟ هل هو موثوق، وما مصدره: تصدير مباشر من النظام أم ملف عدّله أحد؟ هل هو كافٍ ويغطي الفترة والمجتمع؟ وهل هو مؤرخ داخل الفترة؟ الإجابات تحدد كم تثق به، لا نوعه.</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العينات. المجتمع كل الحالات في الفترة: مثلاً كل الحسابات التي اتصلت بالشبكة عن بعد، وهي 41 في رُفاد. إن استطعت تصدير المجتمع كاملاً وفحصه، فهذا أفضل من أي عينة. وإن كان كبيراً، تختار عينة بطريقة معروفة: عشوائياً، أو بمعيار تبرره. والجهة الأخرى حدود الاستنتاج: نتيجة العينة تخص ما فحصته، والتعميم على الكل يحتاج مبرراً مثل عينة عشوائية كافية الحجم. إن وجدت استثناءين في العينة وكلاهما من حساب واحد، فلا تكتب أن كل الحسابات بلا تحقق. والسبب الجذري لا تستنتجه من بريد أو من انطباعك؛ تحقق منه بدليل، أو اكتبه «سبباً محتملاً بانتظار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عناصر تقييم ضابط كامل، وهي ورقة العمل التي ستعبئها في التطبيق الثالث. المتطلب بنصه ورقمه، ثم تفسيره في الجهة: ماذا يعني عملياً، وما النطاق. ثم المالك، ثم الأدلة التي طلبتها وما وصل منها، ثم طريقة الفحص لكل دليل، ثم النتيجة من مقياس محدد، ثم الملاحظة إن وجدت فجوة، ثم خطة التصحيح. والنتيجة تحتاج مقياساً متفقاً عليه، وهو موضوع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مقياس النتيجة الذي تستخدمه رُفاد داخلياً في الحالة: مطبق، ومطبق جزئياً، وغير مطبق، ولا ينطبق. انتبه لتعريف «مطبق»: موثق، ومطبق، ويعمل باستمرار طوال الفترة. فإن ثبت جزء وغاب جزء، أو عمل الضابط في جزء من الفترة فقط، فالنتيجة «مطبق جزئياً». و«لا ينطبق» تحتاج مبرراً موثقاً، لا مجرد قول إن الضابط لا يعنينا. والمقاييس تختلف بين الجهات والجهات المنظمة، فاستخدم دائماً مقياس الجهة التي تقيمها.</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كامل. نقيّم في رُفاد الضابط ‎2-2-3-2‎: التحقق متعدد العوامل للدخول عن بعد وللحسابات ذات الصلاحيات الهامة. قبل أي دليل حددنا النطاق: دخول الموظفين عبر الشبكة الافتراضية VPN، والفترة من 1 يناير إلى 30 يونيو 2026، والحسابات ذات الصلاحيات الهامة تُقيّم في فحص منفصل. والمالك سلمان، مدير تقنية المعلومات. الآن نرى الأدلة التي وصلت.</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وصلتنا خمسة أدلة: المعيار المعتمد في فبراير، ولقطة إعداد من بوابة VPN بتاريخ 5 يوليو، وسجل تغييرات يقول إن الإلزام فُعّل في 10 مارس، وأعداد الحسابات: 38 في مجموعة التحقق مقابل 41 اتصلت فعلاً، وعينة من 25 اتصالاً. قبل أن ننتقل، فكر: ماذا يثبت كل دليل؟ وهل لقطة 5 يوليو تكفي وحدها؟</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الفحص بثلاثة أسئلة. هل المتطلب موثق؟ نعم، المعيار يغطيه. هل الإعداد مطبق، ومنذ متى؟ نعم منذ 10 مارس بحسب سجل التغييرات. ولاحظ: لقطة 5 يوليو بعد نهاية الفترة، فلا تثبت وحدها ما حدث قبلها؛ لذلك طلبنا سجل التغييرات. هل يعمل طوال الفترة ولكل المستخدمين؟ لا: لم يكن مفروضاً في أول شهرين، وثلاثة حسابات اتصلت من خارج مجموعة التحقق. النتيجة: مطبق جزئياً. وانتبه للملاحظة عن العينة: الاتصالان الضعيفان في العينة من حساب واحد، فلا نعمم. والذي حدد الحسابات الثلاثة بدقة هو مقارنة المجتمع كاملاً: 41 حساباً اتصلت مقابل 38 في المجموعة.</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الضابط هذه المرة ‎2-2-3-5‎: المراجعة الدورية للصلاحيات، في نظام الرواتب، للفترة نفسها. وهو الضابط الذي كتبنا بنده في التطبيق الأول؛ والآن نفحص هل التزمت به رُفاد فعلاً. المعيار المعتمد يطلب مراجعة كل ثلاثة أشهر، واعتماداً خلال عشرة أيام عمل، وإزالة خلال خمسة.</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وصلتك ستة أدلة: المعيار، وملف مراجعة الربع الأول، وتذاكر الإزالة، وبريد عن تأجيل الربع الثاني، وتصدير الحسابات النشطة في 2 يوليو، ومقابلة مع مالكة النظام. اقرأها بدقة، واحسب المدد بنفسك: متى صُدّرت القائمة؟ متى اعتُمدت؟ متى أزيلت الحسابات؟ ثم انتقل إلى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لكل دليل من الستة، حدد ماذا يثبت: التوثيق، أم التطبيق، أم الاستمرار خلال الفترة؟ وبعضها قد لا يثبت شيئاً وحده. ثم حدد النتيجة من مقياس رُفاد الرباعي، وبرر اختيارك في ثلاث جمل. ثم اكتب ما الأدلة الإضافية التي ستطلبها قبل إغلاق التقييم. أوقف الفيديو الآن، وخذ عشرين دقيقة. وتذكر الدرس من المثال: المعيار وحده لا يكفي، وانتبه للفترة.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لكل دليل. الأول يثبت التوثيق. والثاني يثبت التطبيق في الربع الأول: المراجعة نُفذت واعتُمدت في موعدها. والثالث يتعلق بالاستمرار: ثلاث إزالات تأخرت عن مهلة خمسة أيام عمل. والرابع يثبت أن الربع الثاني لم يُنفذ، أما السبب المذكور في البريد فادعاء لم نتحقق منه بعد. والخامس نتيجة فعلية مهمة: صلاحيات غير مبررة بقيت نشطة، منها حسابان لمغادرين. والسادس، المقابلة، لا يثبت شيئاً وحده، لكنه يكشف أن مالكة النظام لا تعرف المعيار جيداً، وهذه معلومة مفيدة للسبب.</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النتيجة: مطبق جزئياً. المتطلب موثق، وطُبق في الربع الأول، لكنه لم يعمل باستمرار: الربع الثاني لم يُنفذ، وثلاث إزالات تأخرت، وبقيت صلاحيات غير مبررة. لماذا ليس «مطبقاً»؟ لأن ذلك يتجاهل نصف الفترة. ولماذا ليس «غير مطبق»؟ لأن الربع الأول نُفذ فعلاً. وقبل إغلاق التقييم نطلب أربعة أدلة إضافية: سجل تغيير الترحيل لنتأكد من تاريخه وهل منع المراجعة فعلاً، وهل اعتُمد استثناء بالتأجيل، وهل نُفذت المراجعة لاحقاً في يوليو، وسبب تأخر الإزالات الثلاث. إن اختلفت نتيجتك، فالمهم مبررك: هل استند إلى الأدلة والفترة؟</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في هذا التطبيق. «مطبق» لأن المعيار موجود: الوثيقة لا تثبت التشغيل. «غير مطبق» مع تجاهل الربع الأول. الاعتماد على المقابلة وحدها. التعميم: كتابة أن كل الإزالات متأخرة، وهي ثلاث من اثنتي عشرة. واعتبار سبب البريد مؤكداً دون تحقق. وعلى اليمين القاعدة التي تمنع كل خطأ. صحح إجابتك في الكراسة، لأنها مدخل التطبيق الرابع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الملاحظة المكتوبة لها خمسة عناصر. الوضع القائم: ما وجدته فعلاً، بأرقام وتواريخ. والمعيار: المتطلب أو البند الذي تقيس عليه. والسبب: لماذا حدث، بعد التحقق، وإن لم تتحقق بعد فاكتب «سبب محتمل». والأثر: ماذا يعني للجهة بلغة يفهمها مدير غير تقني. والتوصية: ما يعالج السبب، لا العرض فقط. وقاعدتان في الأسفل: اكتب الحقائق لا الأحكام، فلا تقل «بعض الحسابات» بل «3 من 41»، ولا تلُم أشخاصاً بالاسم؛ صف العملية التي فشلت.</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التصحيح أربعة أعمدة: الإجراء، والمالك، والموعد، ودليل الإغلاق. الإجراء محدد بما سيُنفذ. والمالك شخص واحد بالوظيفة، لا «تقنية المعلومات» عامة. والموعد تاريخ لا كلمة «قريباً». ودليل الإغلاق ما ستطلبه لتتأكد. وفي الخطة الجيدة نوعان من الإجراءات: فوري يزيل الخطر الآن، ودائم يمنع التكرار. والملاحظة لا تُغلق بوعد؛ تُغلق بدليل وبعد إعادة الاختبار. وأخيراً، قد تقرر الإدارة قبول الخطر بدل التصحيح، وهذا حقها إن وثقه صاحب الصلاحية، لكنه قرار داخلي لا يلغي التزاماً نظامياً ولا يعني إعفاءً من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للتطبيق الرابع، مبني على نتيجة المثال في التطبيق الثالث. العنوان يصف الفجوة في سطر. الوضع القائم بأرقام وتواريخ: الإلزام لم يكن مفروضاً حتى 10 مارس، وبعدها اتصلت ثلاثة حسابات من 41 من خارج مجموعة التحقق، منها حساب لمستشار انتهى عقده. المعيار: الضابط ومعيار رُفاد. والسبب بعد التحقق: أُضيفت الحسابات الثلاثة استثناءً مؤقتاً دون إجراء موافقة أو مراجعة، وتحققنا من ذلك بسجل التغييرات ومقابلة الفريق. والأثر بلغة العمل: من يعرف كلمة مرور أحدها يدخل الشبكة دون عامل ثانٍ، ومنها حساب شخص لم يعد يعمل مع رُفاد. والتوصية تعالج السبب لا العرض: إزالة الاستثناءات، وإجراء معتمد للاستثناءات، ومطابقة دورية. وتفاصيلها في خطة التصحيح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للملاحظة نفسها. الإجراء الأول فوري: تعطيل حساب المستشار السابق خلال يوم عمل. والثاني: ضم الحسابين المتبقيين إلى مجموعة التحقق أو تعطيلهما. والثالث يعالج السبب: إجراء استثناءات معتمد بموافقة ومدة ومراجعة، ومالكته ريم لأنه وثيقة حوكمة. والرابع ضابط كشفي يمنع التكرار: مطابقة شهرية. ولاحظ عمود دليل الإغلاق: لكل إجراء ما سنطلبه لنتأكد، مثل تصدير المجموعة وسجل VPN لأسبوع.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الرابع. ستبني على نتيجتك في التطبيق الثالث: مراجعة صلاحيات نظام الرواتب «مطبق جزئياً». الربع الأول نُفذ في موعده، والربع الثاني لم يُنفذ، وثلاث إزالات من اثنتي عشرة تأخرت، وحسابان لمغادرين بقيا نشطين. المطلوب: ملاحظة بعناصرها الخمسة. وللسبب، افترض أنك تحققت من سجل الترحيل ووجدت أنه لم يُعتمد أي استثناء بتأجيل المراجعة. ثم خطة تصحيح من أربعة إجراءات، لكل إجراء مالك وموعد ودليل إغلاق. انتقل إلى الشريحة التالية لترى النموذج.</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نموذج الملاحظة، وفي الكراسة جدول خطة التصحيح. ابدأ بالعنوان في سطر، ثم الوضع القائم بالأرقام والتواريخ من الأدلة، ثم المعيار، ثم السبب الذي تحققت منه، ثم الأثر بلغة العمل، ثم التوصية التي تعالج السبب.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للملاحظة. الوضع القائم بالأرقام: الربع الأول نُفذ في موعده، لكن ثلاث إزالات من اثنتي عشرة تأخرت ستة أسابيع، والربع الثاني لم يُنفذ، وفي 2 يوليو كان حسابان لمغادرين نشطين. المعيار: الضابط ومعيار رُفاد. السبب بعد التحقق: التأجيل بسبب الترحيل دون استثناء معتمد أو موعد بديل، ولا متابعة لتذاكر الإزالة. والأثر: صلاحيات غير مبررة على رواتب الموظفين وحساباتهم البنكية. والتوصية تعالج السبب: جدول ببديل معتمد، ومتابعة للتذاكر، مع إجراء فوري لحسابي المغادرين. قارن عناصرك بهذه، وتأكد أنك لم تلم شخصاً بالاسم.</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النموذجية. الأول فوري: تعطيل حسابي المغادرين خلال يومي عمل، ومراجعة نشاطهما بعد المغادرة، لأننا يجب أن نعرف هل استُخدما. والثاني: تنفيذ مراجعة الربع الثاني واعتمادها، ومالكتها منى لأنها مالكة النظام. والثالث يعالج السبب: جدول سنوي بتذكير آلي، وبديل معتمد عند التعارض مع المشاريع. والرابع: متابعة أسبوعية لتذاكر الإزالة. ثم تعيد ريم الاختبار بعد مراجعة الربع الثالث، ولا تُغلق الملاحظة إلا بأدلة الإغلاق.</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أخطاء شائعة في كتابة الملاحظات: لوم شخص بالاسم، ومالك عام مثل «تقنية المعلومات» أو «الجميع»، وإجراء بلا موعد أو دليل إغلاق، والاكتفاء بتوصية «تدريب الموظفين» وكأنها تعالج كل شيء، وإغلاق الملاحظة بوعد. وعلى اليمين ما يجعل الإجابة قوية. بهذا تكون أنهيت التطبيقات الأربعة. احتفظ بإجاباتك المصححة، فهي نواة ملف أعمالك في الوحدة الخامسة.</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نغادر الوحدة الثانية، انظر إلى الصورة كاملة في رُفاد. قرار من الإدارة بالتحقق متعدد العوامل، ثم سياسة تحدد كيف تلتزم الجهة، ثم خطر قيّمناه عند المورد، ثم ضابط يطبق السياسة، ثم أدلة تثبت تشغيله، ثم ملاحظة حين وجدنا فجوة، ثم خطة تصحيح. كل حلقة تعتمد على التي قبلها: لا تقييم بلا ضابط محدد، ولا ضابط مفهوم بلا سياسة، ولا أولوية بلا تقييم مخاطر. وتحت كل حلقة رقم الشريحة التي شرحناها فيها، إن أردت المراجعة. هذه الصورة نفسها ستشرحها في المقابلة حين يُسأل: ماذا يفعل محلل GRC؟</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الأطر كثيرة، ومن يحاول حفظها كلها يتوه. هدف هذه الوحدة أن تعرف ماذا يفعل كل إطار، ولمن هو، والأهم: كيف تحدد ما ينطبق على جهة معينة. سنبدأ بالفرق بين أنواع المراجع، ثم خريطة عالمية، ثم ISO 27001 وNIST CSF، ثم الأطر السعودية، ثم تمرين على الانطباق بثلاث جهات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الأطر، صنف المراجع. النظام أو التشريع ملزم بقوة القانون لمن يقع في نطاقه، مثل نظام حماية البيانات الشخصية. والضوابط التنظيمية ملزمة للجهات التي يحددها نطاقها، مثل الضوابط الأساسية للأمن السيبراني للجهات المشمولة. والإطار يرشد ويرتب العمل، وغالباً طوعي، مثل NIST CSF. والمعيار القابل للشهادة طوعي، وتمنح عليه جهة مانحة شهادة، مثل ISO 27001. والالتزام التعاقدي ملزم بالعقد لا بالقانون، مثل PCI DSS الذي تفرضه شبكات البطاقات عبر العقود. والسؤال الذي تبدأ به دائماً: هل هذا المرجع ملزم لهذه الجهة تحديداً، أم اختارته طوعاً؟ تذكر رُفاد: ECC غير ملزم لها، وتبنته طوعاً.</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خريطة عالمية في شريحتين، مصنفة حسب السؤال الذي يجيب عنه كل إطار. الأولى: أنظمة الإدارة من ISO، وتُمنح عليها شهادات من جهات مانحة معتمدة: ISO 27001 لأمن المعلومات، وISO 22301 لاستمرارية الأعمال، وISO 27701 لإدارة الخصوصية. والثانية: أطر تساعد على اختيار الضوابط وترتيبها: NIST CSF لغة عامة لإدارة المخاطر، وNIST SP ‎800-53‎ قائمة ضوابط مفصلة جداً، وضوابط CIS قائمة عملية مرتبة بالأولوية. أرقام الإصدارات تتغير، وما ذكرناه تحققنا منه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الشريحة الثانية من الخريطة. حوكمة التقنية: COBIT 2019 من ISACA، وهو أساس شهادة CGEIT، وCOSO للرقابة الداخلية، وتراه في التدقيق المالي. والمتطلبات القطاعية والتعاقدية: PCI DSS وإصداره الحالي 4.0.1، على من يعالج بيانات البطاقات؛ وتقرير SOC 2 يطلبه العملاء من مزودي الخدمات، خاصة في السوق الأمريكي؛ واللائحة الأوروبية GDPR. وفي الواقع تعمل الجهة بعدة أطر معاً، فتبني مصفوفة مواءمة تربط كل ضابط داخلي بكل متطلب يحققه، فلا يتكرر العمل. المصادر: صفحة COBIT على isaca.org، ومكتبة وثائق PCI SSC.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‎ISO/IEC‎ 27001 أشهر معيار لأمن المعلومات، وهو قابل للشهادة. البنود من 4 إلى 10 هي متطلبات نظام الإدارة نفسه، وكلها إلزامية لمن يريد الشهادة: حدد السياق والنطاق، والتزام القيادة والسياسة، وخطط وقيّم المخاطر، ووفر الموارد، وشغّل وعالج المخاطر، وقِس ودقق داخلياً، وحسّن. ومسار الشهادة: تدقيق مرحلة أولى للوثائق، ثم مرحلة ثانية للتطبيق، ثم شهادة لثلاث سنوات مع تدقيق متابعة سنوي. الإصدار الحالي 2022، ومعه تعديل صغير في 2024 يخص تغير المناخ، وانتهت الفترة الانتقالية من إصدار 2013 في 31 أكتوبر 2025. ونسخة المعيار مدفوعة من موقع ISO.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الملحق A في إصدار 2022 يضم 93 ضابطاً في أربعة محاور: 37 تنظيمية، و8 بشرية، و14 مادية، و34 تقنية. والأهم من الأرقام: الجهة لا تطبق كل الضوابط تلقائياً. تختار ما يعالج مخاطرها من تقييم المخاطر، وتوثق في بيان قابلية التطبيق ما طبقته وما استبعدته ومبرر كل قرار. هذه الوثيقة يُسأل عنها كثيراً في المقابلات. والمعيار المرافق ‎ISO/IEC‎ 27002 يشرح كل ضابط بالتفصيل، وهو مفيد للمذاكرة.</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إطار الأمن السيبراني من المعهد الوطني الأمريكي للمعايير والتقنية، NIST، طوعي ويستخدم عالمياً لغة مشتركة. صدر الإصدار 2.0 في 26 فبراير 2024، وأهم تغيير فيه إضافة وظيفة سادسة هي الحوكمة، وتوضع في المركز لأنها توجه الوظائف الخمس الأخرى: التحديد، والحماية، والاكتشاف، والاستجابة، والتعافي. والإطار وكل وثائقه مجانية على ‎nist.gov/cyberframework‎، ولهذا نقترحه أول إطار تقرؤه كاملاً.</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المستويات، أو Tiers، يُساء فهمها كثيراً. بحسب دليل NIST الخاص بها، SP 1302 الصادر في أكتوبر 2024، تصف المستويات مدى صرامة ممارسات الجهة في حوكمة مخاطر الأمن السيبراني وإدارتها، وتتدرج من استجابات غير رسمية إلى نهج متكيف يتحسن باستمرار: جزئي، ومطلع على المخاطر، وقابل للتكرار، ومتكيف. وتختارها قيادة الجهة، للجهة كلها أو لوظيفة أو فئة؛ ويقول الدليل إن اختيارها على هذا المستوى يعطي صورة أفضل من اختيارها للفئات الفرعية. وتُستخدم لتوجيه الملفين الحالي والمستهدف، والانتقال لمستوى أعلى يُشجع حين تتطلبه المخاطر أو الالتزامات. وما ليست عليه: ليست درجة نضج تعطيها لكل ضابط، ولا تحل محل منهجية إدارة المخاطر، فالدليل يقول إنها توجه المنهجية ولا تأخذ مكانها. المصادر: ‎csrc.nist.gov/pubs/sp/1302/final‎، و‎nist.gov/cyberframework‎.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الهيئة الوطنية للأمن السيبراني تصدر مجموعة ضوابط، أساسها الضوابط الأساسية ‎ECC-2:2024‎، وفيها 108 ضوابط أساسية، وتنطبق على الجهات الحكومية والجهات التابعة لها داخل المملكة وخارجها، وجهات القطاع الخاص التي تملك أو تشغل أو تستضيف بنية تحتية وطنية حساسة. وبقية الضوابط امتداد لها في سياقات محددة: السحابة، والبيانات، والأنظمة الحساسة، والتقنية التشغيلية، والعمل عن بعد، وحسابات التواصل الاجتماعي. الإصدارات في الجدول تحققنا منها من موقع الهيئة nca.gov.sa في 27 أكتوبر 2026. والنطاق في الجدول مختصر؛ النص الرسمي لكل ضابط يحدد نطاقه بدقة، فارجع إليه قبل أي حكم بالانطباق. وإن أردت التعمق في ECC، فالكورس المرافق يشرحه ضابطاً ضابطاً.</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مراجع سعودية أخرى تهم GRC. الإطار الوطني لإدارة مخاطر الأمن السيبراني الذي استخدمنا مصفوفته، ونطاقه مثل نطاق ECC. وإطار ساما للأمن السيبراني، الإصدار 1.0 لعام 2017، للجهات المالية الخاضعة لإشراف البنك المركزي. ونظام حماية البيانات الشخصية ولوائحه عند سدايا. ومعايير إدارة البيانات وحماية البيانات الشخصية من مكتب إدارة البيانات الوطنية، الإصدار 1.5، للجهات العامة وشركائها. والإطار السعودي لكوادر الأمن السيبراني، وإصداره الحالي 1.5 لعام 2026، ويصف الأدوار ومهامها، وفيه فئة للحوكمة والمخاطر والامتثال. المصادر: nca.gov.sa، وrulebook.sama.gov.sa، ودليل سدايا للنظام على dgp.sdaia.gov.sa، ونسخة من معايير المكتب.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تحدد ما ينطبق على جهة؟ أربعة أسئلة تكفي للبداية. نوع الجهة: حكومية، أم تابعة لجهة حكومية، أم تملك بنية تحتية حساسة، أم خاصة؟ والقطاع والمنظم: هل تخضع لجهة رقابية قطاعية مثل البنك المركزي؟ ونوع البيانات: شخصية، أو بطاقات، أو حكومية؟ والعقود والعملاء: هل تفرض العقود متطلبات أمن؟ ثم الخطوة الحاسمة: اقرأ نص نطاق التطبيق في المرجع الرسمي نفسه. لا تحكم من اسم الإطار ولا من منشور على الإنترنت. وفي الشريحة التالية تطبق هذه الأسئلة على ثلاث جهات.</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على الانطباق. ثلاث جهات افتراضية: رُفاد، وشركة تابعة لوزارة تقدم لها خدمات تقنية، وشركة تقنية مالية مرخصة من البنك المركزي تعالج مدفوعات بالبطاقات. وأربعة مراجع: الضوابط الأساسية، ونظام حماية البيانات الشخصية، وإطار ساما، وPCI DSS. لكل خانة اكتب: نعم، أو لا، أو يعتمد، مع سبب قصير من الأسئلة الأربعة. أوقف الفيديو الآن،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رُفاد: ECC غير ملزم لأنها خاصة وليست تابعة لجهة حكومية ولا تملك بنية حساسة، لكنها تبنته طوعاً. ونظام حماية البيانات ينطبق لأنها تعالج بيانات شخصية. وإطار ساما لا ينطبق لأنها ليست جهة مالية خاضعة لإشرافه. وPCI DSS لا ينطبق ما دامت لا تخزن بيانات البطاقات أو تعالجها أو تنقلها بنفسها. الشركة التابعة للوزارة: ECC ينطبق، لأن نطاقه يشمل الجهات التابعة للجهات الحكومية. والتقنية المالية: إطار ساما ينطبق غالباً، وتحقق من نطاقه في دليل ساما، وPCI DSS ينطبق لأنها تعالج بيانات البطاقات، ونظام حماية البيانات ينطبق. هذا تمرين تعليمي، وليس رأياً نظامياً في جهة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هذه الإجابة؟ القاعدة الأولى: الانطباق يُحدد من نص النطاق الرسمي لكل إطار، لا من اسمه أو شهرته. والثانية: أربعة أسئلة تكفي للبداية: هل الجهة حكومية أو تابعة أو خاصة؟ وما قطاعها ومن ينظمها؟ وما نوع بياناتها؟ وما عقودها؟ والثالثة: الإطار غير الملزم يمكن تبنيه طوعاً، كما فعلت رُفاد مع ECC، لكن لا تصف الجهة بأنها ملتزمة به نظاماً. وعلى اليسار أكثر الأخطاء: افتراض أن ECC تلزم كل شركة سعودية، ونسيان نظام حماية البيانات الشخصية، والجزم دون قراءة النطاق.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بأي إطار تبدأ؟ ترتيب مقترح، وليس قاعدة. NIST CSF أولاً لأنه مجاني ومتاح كاملاً، ويعطيك خريطة ذهنية. ثم ISO 27001 لأنه يعلمك منطق نظام الإدارة، وهو كثير الطلب في الإعلانات. ثم إطار القطاع الذي تريد العمل فيه. وإن كنت تستهدف الجهات الحكومية في السعودية، فلا مانع أن تبدأ بـ ECC مباشرة. وأهم من الترتيب طريقة القراءة: الأسئلة الأربعة. لاحظ أنها نفسها ما فعلناه في التطبيقات: الخطر، والتطبيق، والدليل، والمواءمة.</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الشهادات، ثلاث حقائق. الأولى: الشهادة لا تعوض الفهم، والمقابلة تكشف الفرق خلال دقائق. الثانية: بعض الشهادات الكبيرة تشترط سنوات خبرة قبل أن تُمنح، فلا تبدأ بها. الثالثة: الرسوم والشروط تتغير، لذلك نقلنا الأرقام الدقيقة إلى ملحق مرجعي في آخر الكورس، مع روابطها وتاريخ التحقق، وركزنا هنا على ما يهمك للاختيار. وملاحظة: نعرض أسماء الشهادات نصاً، لا شعاراتها، لأن الجهات المانحة تقيد استخدام شعاراتها، وهذا الكورس ليس تدريباً معتمداً من أي منها.</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الخريطة كلها في شريحة. المرحلة الأولى لمن لا خبرة له: شهادة واحدة تكفي غالباً، CC أو Security+، أو شهادة الإتمام IT Risk Fundamentals من ISACA. المرحلة الثانية مهارة محددة: ISO 27001 منفذ رئيسي أو مدقق رئيسي، أو GRCP، أو شهادات الخصوصية من IAPP. والمرحلة الثالثة شهادات قوية، لكنها تشترط سنوات خبرة موثقة قبل منحها، حتى لو نجحت في الاختبار. التفاصيل لكل شهادة في الشرائح التالية.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 البداية الأشهر. CC من ISC2 مصممة للمبتدئين تماماً، ولا تشترط خبرة، ومخططها الجديد منذ 1 سبتمبر 2026 فيه مجال للحوكمة الأمنية، وهذا مناسب لمن يتجه إلى GRC. Security+ من CompTIA أوسع تقنياً، ولا شرط رسمي لها، لكن CompTIA تنصح بخبرة سنتين وبشهادة Network+؛ وإصدارها الجديد ‎SY0-801‎ يبدأ نحو 17 نوفمبر 2026. اختر واحدة: CC إن كنت بلا خلفية تقنية وتتجه إلى GRC، وSecurity+ إن أردت أساساً تقنياً أعمق. وتنبيه: برنامج ISC2 للاختبار المجاني انتهى؛ أعلنت ISC2 ذلك في 22 أبريل 2026 وأوقفت التسجيل في 20 مايو 2026. المصادر: ‎isc2.org/certifications/cc‎، وcomptia.org.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خياران آخران بلا شرط خبرة، أقرب إلى GRC. GRCP من OCEG من الشهادات القليلة المصممة لـ GRC نفسه، ومبنية على نموذج OCEG للقدرات، وتُشترى ضمن اشتراك OCEG السنوي لا منفصلة. وIT Risk Fundamentals من ISACA شهادة إتمام للمبتدئين، أي certificate لا certification، وحلت مع IT Audit Fundamentals محل شهادة ITCA التي أوقفتها ISACA. المصادر: ‎oceg.org/certifications/grc-professional-certification‎، و‎isaca.org/credentialing/it-risk-fundamentals-certificate‎.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شهادات ISO 27001 للمهنيين نوعان رئيسيان. المنفذ الرئيسي، Lead Implementer، لمن سيبني نظام إدارة أمن المعلومات في جهة أو يستشير فيه، ويتعلم تخطيط النظام وتطبيقه ومتابعته. والمدقق الرئيسي، Lead Auditor، لمن سيدقق أنظمة الإدارة، داخلياً أو لدى جهة مانحة للشهادات، ويتعلم تخطيط التدقيق وتنفيذه وكتابة الملاحظات. ولا تصدرها ISO نفسها، بل جهات تدريب واعتماد مثل PECB وBSI وغيرهما، ولكل جهة شروطها. وفي الشريحة التالية نفرق بين شهادة التدريب والاختبار واللقب المهني.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أشياء يخلطها كثيرون في شهادات ISO. إتمام التدريب يعطيك شهادة حضور أو إتمام؛ عند PECB شهادة بإحدى وثلاثين ساعة تطوير مهني، وهذه ليست الشهادة المهنية. ثم النجاح في الاختبار: عند PECB ثمانون سؤالاً بكتاب مفتوح، والنجاح سبعون بالمئة. ثم استحقاق اللقب المهني، وهو موضوع الشريحة التالية. ورابعاً: كل جهة مانحة لها شروطها، فلا تفترض أن شهادة جهة تساوي شهادة أخرى. وعن اللغة: قد تجد دورات تُشرح بالعربية، لكن لغة الاختبار شيء آخر؛ لم نتحقق من توفر اختبار PECB بالعربية، فراجع قائمة اختبارات PECB على pecb.com.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استحقاق اللقب المهني عند PECB مثالاً. النجاح في الاختبار وحده يعطيك لقب Provisional Implementer. أما Implementer فيحتاج سنتي خبرة، منها سنة في إدارة أمن المعلومات، ومئتي ساعة مشاريع. وLead Implementer خمس سنوات، منها سنتان، وثلاثمئة ساعة. وSenior Lead عشر سنوات، منها سبع، وألف ساعة. ويلزم أيضاً توقيع مدونة الأخلاقيات. وجهات أخرى لها شروط مختلفة. والنتيجة العملية: لا تكتب في سيرتك لقباً لم تستحقه بعد؛ اكتب ما حصلت عليه فعلاً، مثل إتمام الدورة أو النجاح في الاختبار.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ISACA شهادتان قريبتان من GRC. CISA للتدقيق، وهي الأشهر لوظائف المراجعة الداخلية لتقنية المعلومات، أي الخط الثالث، وتشترط خمس سنوات مع إعفاء حتى ثلاث. وCRISC للمخاطر، وهي الأقرب لعمل محلل GRC في الخط الثاني، وتشترط ثلاث سنوات في مجالين من أربعة، بلا إعفاء. والقاعدة المهمة للمبتدئ: ISACA تسمح بالاختبار قبل اكتمال الخبرة، ثم تقديم الطلب خلال خمس سنوات من النجاح. لكن لا تبدأ بها؛ ابدأ بشهادة مدخل وخبرة. المصدر: ‎isaca.org/credentialing‎.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CISM لمن يتجه إلى إدارة برنامج أمن المعلومات. أعلنت ISACA في 10 سبتمبر 2026 مخطط اختبار جديداً يبدأ في 3 نوفمبر 2026، بالمجالات الأربعة نفسها مع أوزان جديدة: حوكمة أمن المعلومات 18%، وإدارة المخاطر 20%، وبرنامج أمن المعلومات 33%، وإدارة الحوادث 29%، مع تركيز أكبر على الاستراتيجية وتطوير البرنامج، وإضافة معمارية المؤسسة ومعمارية أمن المعلومات. وأوصت باستخدام مواد المذاكرة المحدثة لمن يختبر بعد هذا التاريخ. أما CGEIT فلقيادات حوكمة التقنية على مستوى الجهة، وترتبط بإطار COBIT، وتشترط خمس سنوات بلا إعفاء. المصدر: بيان ISACA الصحفي بتحديث مخطط CISM على isaca.org، وصفحتا الشهادتين.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ISC2: CGRC هي الشهادة الوحيدة هنا التي تحمل GRC في اسمها، وكانت تسمى CAP حتى 15 فبراير 2023، وتشترط سنتين في مجال واحد على الأقل من سبعة. وCISSP أوسع بكثير: ثماني مجالات، ومجال الأمن وإدارة المخاطر 16% فقط، فهي ليست شهادة GRC خالصة، لكنها مطلوبة للمناصب القيادية. وفي ISC2 مسار مفيد: إن نجحت قبل اكتمال الخبرة تصبح Associate of ISC2، ثم تُمنح الشهادة عند اكتمال الخبرة خلال ثلاث سنوات في CGRC وست في CISSP، مع تزكية من عضو معتمد خلال تسعة أشهر من النجاح. ومخطط CISSP الجديد يبدأ في 15 أبريل 2027. المصدر: ‎isc2.org/certifications‎.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شهادتان من IAPP بتركيز مختلف، فلا تعمم. ‎CIPP/E‎ هي التركيز الأوروبي من شهادة CIPP، وتعنى بقانون حماية البيانات في أوروبا. أما CIPM فعن إدارة برنامج الخصوصية وتشغيله داخل الجهة، وهي غير مرتبطة بقانون دولة واحدة، لذلك تناسب من يعمل على تطبيق نظام سعودي عملياً. لم نجد في صفحات IAPP شرط خبرة لأي منهما. المصدر: ‎iapp.org/certify‎.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CDPSE من ISACA للجانب التقني من الخصوصية: كيف تُصمم الأنظمة لتحمي البيانات في دورة حياتها، وتشترط ثلاث سنوات بلا إعفاء. وقبل أن تختار شهادة خصوصية: لشهادة CIPP من IAPP ستة تركيزات إقليمية: آسيا، وأستراليا، وكندا، والصين، وأوروبا، والولايات المتحدة، ولا يوجد بينها تركيز خاص بالنظام السعودي. وفي السعودية الأساس نظام حماية البيانات الشخصية ولوائحه؛ أي شهادة دولية تبني عليه ولا تغني عنه. المصادر: ‎iapp.org/certify‎، و‎isaca.org/credentialing/cdpse‎.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الأساسية: كم سنة خبرة تحتاج قبل أن تُمنح كل شهادة؟ العمود الأول بلا خبرة، وفيه شهادات البداية وشهادات IAPP ولقب Provisional من PECB. ثم سنتان: CGRC ولقب Implementer. ثم ثلاث: CRISC وCDPSE. ثم خمس: CISA وCISM وCGEIT وCISSP ولقب Lead. وتذكر أن بعض الجهات تقبل إعفاءات، مثل CISA حتى ثلاث سنوات، وCISSP سنة بدرجة أو شهادة معتمدة. أما الرسوم ورسوم التجديد فنقلناها إلى الملحق، لأنها تتغير، ومعها روابط المصادر وتاريخ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تختار؟ ابدأ من الوظيفة، لا من الشهادة. هذه مسارات نقترحها نحن، وليست شروطاً من أي جهة. محلل الامتثال في الخط الثاني: شهادة مدخل، ثم ISO 27001 منفذ رئيسي أو GRCP، ثم CRISC أو CGRC حين تكتمل الخبرة. ومدقق تقنية المعلومات: مدخل أو IT Audit Fundamentals، ثم مدقق رئيسي ISO 27001، وهدفه CISA. ومن يميل إلى الخصوصية: CIPM أو ‎CIPP/E‎ ثم CDPSE. والقيادة هدف بعيد لكل المسارات. والقاعدة في الأسفل: كثير من المبتدئين يجمعون أربع شهادات مدخل بلا مشروع واحد. شهادة واحدة ومشروعان أقوى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اللغة نقطة يغفل عنها كثيرون. أولاً، لغة التدريب ليست لغة الاختبار: قد تجد دورة ISO 27001 تُشرح بالعربية، بينما الاختبار نفسه بلغة أخرى. ثانياً، تحققنا من لغات كل اختبار منفصلاً، ولم نعمم. شهادات ISC2 وISACA وCompTIA وIAPP التي تحققنا منها لا تُقدم اختباراتها بالعربية وقت التحقق، واللغات المتاحة تختلف من شهادة لأخرى، فمثلاً CGRC بالإنجليزية فقط، وCISA بسبع لغات. أما PECB وOCEG وIT Risk Fundamentals فلم نتمكن من تأكيد لغات اختباراتها، فراجع صفحاتها قبل الحجز. القائمة الكاملة في الملحق. وهذا يعني عملياً: ذاكر المصطلحات بالإنجليزية من اليوم الأول.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طريقة عامة تصلح لأي شهادة. ابدأ بمخطط الاختبار الرسمي، فهو مجاني ويحدد المجالات ونسبة كل مجال؛ وزع وقتك بالنسبة نفسها. ثم مصدر أساسي واحد، وبنك أسئلة واحد. والخطأ الأشهر: حفظ إجابات البنك؛ الاختبار يصوغ الأسئلة بطريقة مختلفة، فافهم السبب. واحجز حين تتجاوز حد النجاح في الاختبارات التجريبية مرة بعد مرة. وفي شهادات ISACA وISC2 تحديداً، كثير من الأسئلة تطلب أفضل إجراء أو أول إجراء، والإجابة الصحيحة غالباً تبدأ بفهم المخاطر أو إشراك الإدارة. وانتبه للتواريخ: مخطط CC الجديد منذ 1 سبتمبر 2026، وCISM من 3 نوفمبر 2026، وSecurity+ ‎SY0-801‎ نحو 17 نوفمبر 2026، وCISSP من 15 أبريل 2027.</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اختيار. ثلاثة أشخاص افتراضيين: سارة خريجة نظم معلومات بلا خبرة تريد وظيفة امتثال خلال سنة. وعبدالله محاسب بخبرة أربع سنوات في المراجعة الداخلية يريد التحول إلى تدقيق تقنية المعلومات. ونورة محامية بخبرة سنتين مهتمة بحماية البيانات. لكل شخص اقترح شهادة الآن، وشهادة لاحقاً، وسبباً من جملتين.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مقترحة، وقد تختلف إجابتك وتبقى صحيحة إن كان مبررك سليماً. سارة: شهادة مدخل بلا شرط خبرة، ثم مهارة تطبيقية مثل ISO 27001 منفذ رئيسي أو GRCP، وCRISC أو CGRC لاحقاً. عبدالله: خبرته في المراجعة قد تُحتسب لشرط CISA بحسب قواعد ISACA، فيتحقق منها؛ ومدقق رئيسي ISO 27001 يبني على مهارته. نورة: خلفيتها القانونية تناسب ‎CIPP/E‎، وCIPM يضيف إدارة برنامج الخصوصية؛ ولا تحتاج شهادة تقنية أولاً، مع قراءة نظام حماية البيانات الشخصية ولوائحه.</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الإعلانات تطلب خبرة، وكل مبتدئ يسأل: كيف أحصل على خبرة بلا وظيفة؟ الجواب في هذه الوحدة: لقد بدأت فعلاً. التطبيقات الأربعة التي نفذتها على رُفاد هي نواة ملف أعمال، وسنحولها إلى مشاريع أكبر قليلاً، ونكتب لكل منها صفحة تعريفية، ونضعها في خطة تسعين يوماً.</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مقترحة لمن يبدأ من الصفر، وليست وعداً بوظيفة خلال تسعين يوماً؛ مدة البحث تختلف كثيراً حسب السوق والمدينة. كل مرحلة تنتهي بمخرَج ملموس. الشهر الأول: الأساس، وفيه الوحدات الثلاث الأولى والتطبيقات الأربعة مصححة، وقراءة NIST CSF، وبدء مذاكرة شهادة مدخل. الشهر الثاني: تحويل التطبيقات إلى مشروعين منشورين، وقراءة إطار قطاعك، وحجز الاختبار. الشهر الثالث: السوق: السيرة، ولينكدإن، والطلبات، والمحادثات التعريفية، والاستعداد للمقابلة. ولا تؤجل التقديم حتى تحصل على الشهادة؛ قدّم بالتوازي.</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تطبيق نفذته يتوسع إلى مشروع. التطبيق الأول يصبح حزمة سياسة ومعيار وإجراء لموضوع واحد. والثاني يصبح سجل مخاطر من عشرة مخاطر ثم عشرين، بعد أن أتقنت كتابة خطر واحد وتقييمه. والثالث يصبح تقييماً لمكوّن فرعي كامل من الضوابط الأساسية. والرابع يصبح تقرير تدقيق مصغراً من ثلاث ملاحظات. وأضفنا مشروعين اختياريين: تقييم مورد، ومصفوفة مواءمة بين الأطر. لا تحتاجها كلها؛ مشروعان أو ثلاثة جيدة أفضل من ستة متسرعة. والتحذير مهم: استخدم جهة افتراضية دائماً، ولا تنشر أي وثيقة من جهة حقيقية؛ هذا يخالف السرية، وهي أول قيمة في المهنة.</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مشروع يحتاج صفحة تعريفية في بدايته، لأن مسؤول التوظيف لن يفتح ملف Excel من عشرين صفاً. ستة حقول: العنوان، والمشكلة، وما فعلته، والنتيجة، وما تعلمته، والملفات. هذا مثال محلول لمشروع سجل المخاطر. لاحظ أن «ما فعلته» أفعال محددة بأرقام، و«ما تعلمته» درس مهني حقيقي، لا جملة عامة. وفي آخر الصفحة تنبيه بأن البيانات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المهارات في عمودين. مهارات المجال تتعلمها من الكورس والتطبيقات ومذاكرة الشهادة. والمهارات الشخصية غالباً ما تميز محلل GRC الجيد: نصف العمل إقناع أشخاص لا يتبعون لك أن يغيروا طريقة عملهم. ومنصات GRC التجارية كثيرة ومكلفة؛ يكفي أن تعرف ما تفعله: سجلات، وتقييمات، وسير عمل، ولوحات. وإن ذكرتها في المقابلة فقل بصدق إنك تعرف المفهوم.</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الصفحة التعريفية لمشروعك من التطبيقين الثالث والرابع، تقييم مراجعة الصلاحيات في رُفاد. املأ الحقول الستة، واجعل «ما فعلته» أفعالاً بأرقام. أوقف الفيديو مؤقتاً،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العنوان يصف المشروع والجهة الافتراضية. المشكلة سؤال واضح: معيار يطلب مراجعة ربع سنوية، ولا نعرف هل تُنفذ. وما فعلته: حللت ستة أدلة، وحددت النتيجة، وكتبت ملاحظة وخطة. والنتيجة ملموسة. وما تعلمته درسان مهنيان. والملفات مع تنبيه البيانات الافتراضية. قارن صفحتك بها، وانشرها مع ملفات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الذاتية وثيقة تسويقية، هدفها الوحيد أن تحصل على مقابلة. في هذه الوحدة نرى نموذج سيرة لمبتدئة افتراضية، ثم كيف تتعامل مع أنظمة الفرز الآلي، ثم كيف تكتب الإنجازات من مشاريعك على رُفاد، ثم ماذا تكتب إن لم تكن لديك خبرة، والأخطاء الشائعة. والنماذج بالإنجليزية لأن أغلب الإعلانات في المنطقة تطلبها كذلك.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الجزء الأعلى من نموذج سيرة لمبتدئة افتراضية، والاسم والبيانات مثال. أولاً الاسم، وتحته العنوان المهني: مسمى الوظيفة التي تستهدفها، لا «طالب» ولا «باحث عن عمل». ثم ملخص في سطرين: من أنت، وماذا تجيد، وأقوى دليل لديك. ثم المهارات بكلمات الإعلان نفسها، بشرط أن تكون صادقة عنك؛ فالمقابلة ستسألك عن كل كلمة. وفي الشريحة التالية بقية الصفحة: المشاريع، والتعليم، والشهادات.</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بقية الصفحة. المشاريع هنا هي مشاريعك من رُفاد: تقييم خطر المورد، وتقييم مراجعة الصلاحيات، مع ذكر أنها لشركة افتراضية. المبتدئ يقدم المشاريع على التعليم لأنها أقوى دليل عنده. وإن كانت لديك خبرة عمل، ولو في مجال قريب، فضع الخبرة قبل المشاريع. ثم التعليم والشهادات. والقاعدة المهمة: لا تضع شهادة لم تحصل عليها؛ اكتب «قيد الدراسة» مع موعد الاختبار المتوقع. وصفحة واحدة تكفي للمبتدئ، بلا صورة ولا عمر ولا حالة اجتماعية، إلا إن طلبها الإعلان.</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الجهات تستخدم نظام تتبع المتقدمين، ATS، يستخرج النص من سيرتك وقد يقارنه بالإعلان قبل أن يراه إنسان. لكن الأنظمة تختلف كثيراً: بعضها يقرأ التنسيقات المعقدة جيداً، وبعضها يخطئ، وبعض الجهات لا تصفّي آلياً أصلاً. لذلك لا نقول إن تنسيقاً معيناً يُرفض حتماً؛ نقول إن البسيط يقلل احتمال الخطأ. القاعدة العملية: إن نسخت نص سيرتك ولصقته في ملف نصي فظهر مرتباً، فالنظام غالباً سيقرؤه. واستخدم مصطلحات الإعلان بالصيغة نفسها إن كانت صادقة عنك، ولا تحشو كلمات لا تعرفها؛ المقابلة ستكشفها.</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الجملة على اليمين تصف مهمة، والجملة على اليسار تثبت قدرة. المعادلة: فعل قوي، ثم ماذا فعلت، ثم بأي طريقة، ثم النتيجة. والمثالان من التطبيقين الأول والثاني في رُفاد: بدل «مسؤول عن مصفوفة RACI» نكتب: بنيت مصفوفة من خمسة أنشطة لإلغاء صلاحيات المغادرين، وكتبت بند سياسة بمالك وموعد ودليل. وبدل «قمت بتقييم المخاطر» نكتب: كتبت خطراً وقيمته على مصفوفة الهيئة الخماسية، وخططت لمعالجته بموعد. والأرقام يجب أن تكون حقيقية من عملك، فكل رقم قد تُسأل عنه.</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العاملين في GRC جاؤوا من مجالات أخرى، فلا تكتب «لا خبرة» وأنت عملت في مجال قريب. موظف الدعم الفني تعامل مع طلبات صلاحيات وموافقات، وهذه ضوابط وصول. والمحاسب يعرف الرقابة الداخلية والعينات والأدلة. والقانوني قريب من الامتثال والخصوصية. وإن لم تكن لديك أي خبرة عمل، فاستخدم أقساماً بديلة: المشاريع، والتدريب التعاوني، والتطوع، ومشروع التخرج. وكل ما تكتبه يجب أن يكون حقيقياً وتستطيع شرحه.</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سيرتك على هذه القائمة قبل الإرسال. اثنان منها مهمان في GRC بالذات: الأخطاء الإملائية، لأن عملك مراجعة الوثائق واكتشاف الأخطاء؛ والمعلومات الحساسة، فمختص حماية البيانات الذي يضع رقم هويته في ملف يرسله لعشرات الجهات يناقض ما يعمل عليه. والخطأ الذي لا يُغتفر: شهادة لم تحصل عليها؛ كثير من الجهات المانحة تتيح التحقق من حاملي شهاداتها.</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ثلاثة أسطر ضعيفة. أعد صياغة كل منها بالمعادلة، مستخدماً ما نفذته فعلاً في التطبيقات: خطر المورد، وتقييم مراجعة الصلاحيات، والضابطين اللذين قرأتهما. اكتب بالإنجليزية، وبأرقام حقيقية من تطبيقاتك.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إجابات نموذجية. كل سطر يبدأ بفعل قوي: Assessed، وTested، وMapped. ويذكر الطريقة: مصفوفة، وأدلة، وضوابط محددة. وينتهي بنتيجة: درجة الخطر وعدد الإجراءات، ونتيجة التقييم والملاحظة. ولاحظ أننا نوضح أنها حالة تدريبية لشركة افتراضية؛ الصدق هنا يحميك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ترسلها أنت، أما لينكدإن فيجدك من خلاله الآخرون. مسؤولو التوظيف يبحثون بكلمات مثل GRC Analyst وISO 27001 وNCA ECC، فإن لم تكن في ملفك فلن تظهر لهم. الحدود والمقاسات في هذه الوحدة من صفحات مساعدة لينكدإن، وتحققنا منها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نموذج مبسط لملف مكتمل، رسمناه للتوضيح وليس لقطة من لينكدإن. الأرقام من صفحات المساعدة: الصورة الشخصية بين 400 في 400 و7680 في 4320 بكسل، وحتى ثمانية ميغابايت، بصيغة JPG أو PNG. والخلفية مقاسها الموصى به 1584 في 396. والرابط المخصص من 3 إلى 100 حرف بلا مسافات أو رموز، ولا يحتوي كلمة LinkedIn، ويمكن تغييره حتى خمس مرات في ستة أشهر. وحتى مئة مهارة. وقسم Featured يعرض منشوراتك وملفاتك وروابطك أعلى الملف، ولا يظهر إن كان فارغاً؛ ضع فيه مشروعيك من رُفاد.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العنوان المهني يظهر تحت اسمك في كل مكان: البحث، والتعليقات، وطلبات التواصل. الأمثلة الضعيفة لا تحتوي كلمة يبحث بها مسؤول التوظيف. والقوية تتبع المعادلة: الوظيفة المستهدفة، ثم مجالان أو ثلاثة، ثم دليل. وكلمة ‎Entry-Level‎ صادقة وتوضح مستواك. وعن الطول: لم نجد في صفحات مساعدة لينكدإن حداً رسمياً لعدد الحروف؛ مواقع غير رسمية تذكر 220 حرفاً، ولم نتحقق منه. فضع أهم الكلمات في البداية.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النبذة أربعة أجزاء في فقرات قصيرة: افتتاح يقول من أنت، ودليل من مشاريعك، ومجالات وأطر بكلمات البحث، ودعوة للتواصل. والنموذج على اليسار، والألوان تبين كل جزء. الحد الأقصى 2,600 حرف بحسب مدونة لينكدإن الرسمية للتوظيف في أبريل 2024، وليس في صفحات المساعدة. ونقترح 150 إلى 250 كلمة لأنها تُقرأ كاملة، وهذا اقتراح منا لا قاعدة. وإن كنت تستهدف جهات محلية، أضف فقرة عربية قصيرة.</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الشبكة ليست عدداً، بل أشخاص في المجال يعرفون اسمك. أضف من يعمل فيما تريد، واكتب رسالة قصيرة بسبب حقيقي، والاسم في المثال افتراضي. ولا تطلب وظيفة في الرسالة الأولى. والنشر يجعلك مرئياً: اكتب ما تعلمته، ومشاريعك من رُفاد. اقتراحنا، لا قاعدة: منشور أسبوعياً وتعليقات مفيدة. والتحذير مهم في مجالنا: لا تكشف ضوابط جهة أو ثغراتها.</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Open to Work يخبر مسؤولي التوظيف أنك متاح. المسار بحسب صفحة المساعدة: Me، ثم View profile، ثم Open to، ثم Finding a new job، وتحدد المسميات والمواقع ونوع العمل. وللظهور خياران: كل الأعضاء، ويضيف إطاراً على صورتك ويراه الجميع؛ أو مسؤولو التوظيف فقط، وتحاول لينكدإن إخفاءه عن مسؤولي التوظيف في جهتك الحالية لكنها تقول صراحة إنها لا تضمن ذلك تماماً. وفي البحث لا تكتف بمسمى واحد؛ بعض المسميات هنا من الإطار السعودي لكوادر الأمن السيبراني.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عنوانك المهني بالمعادلة، وافتتاح نبذتك في جملتين تذكر فيهما أقوى دليل من مشاريعك على رُفاد. اكتب بالإنجليزية.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العنوان: ‎Entry-Level‎ يوضح المستوى، ثم ثلاث مهارات بكلمات البحث، ثم شهادة. والافتتاح: جملة تعريف، ثم دليل من المشاريع، مع ذكر أنها حالة تدريبية لشركة افتراضية. هذا الصدق يحميك حين يُسأل عن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الأخيرة قصيرة وعملية. نبدأ بالأسئلة الأكثر تكراراً في مقابلات GRC للمبتدئين، ونرى إجابة نموذجية كاملة لسؤال تطبيقي، ثم طريقة STAR، ثم قائمة المراجعة، والخطوة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أسئلة شائعة في مقابلات GRC للمبتدئين، وليست قائمة رسمية. وبجانب كل سؤال رقم الشريحة التي فيها جوابه. أغلبها أسئلة معرفة، وجوابها الجيد مثال من رُفاد لا تعريف محفوظ. وأهمها الأسئلة التطبيقية، مثل مالك النظام الذي يرفض الضابط، وسنحلها الآن كاملة. وسؤال «لماذا جهتنا» لا جواب له في الكورس: اقرأ عن الجهة قبل المقابلة، وما الأطر التي تنطبق عليها.</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لسؤال تطبيقي شائع، بمثال من رُفاد: سلمان يرفض فرض التحقق متعدد العوامل على حساب المورد خوفاً من تعطل الدعم. الإجابة الجيدة لا تبدأ بالتصعيد. أولاً افهم السبب: تكلفة، أم تعطل عمل، أم سوء فهم؟ ثانياً اشرح الخطر بلغة العمل لا بأرقام الضوابط. ثالثاً اقترح بديلاً: ضابطاً تعويضياً، أو تطبيقاً مرحلياً بموعد. رابعاً، إن تعذر كل ذلك: استثناء موثق مؤقت بموافقة صاحب الصلاحية ومراجعة دورية، مع تذكر أن الاستثناء الداخلي لا يلغي التزاماً نظامياً. وأخيراً التصعيد للجنة، بالحقائق. المقابل يقيس هنا طريقة تفكيرك وتعاملك مع الناس، لا حفظك للضوابط.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الأسئلة السلوكية تبدأ عادة بـ «حدثنا عن مرة…». أجب بطريقة STAR: الموقف باختصار، ثم المهمة، ثم ما فعلته أنت تحديداً، ثم النتيجة. والمثال من التطبيق الثاني: حساب المورد المشترك. لاحظ أن الإجراء هو الجزء الأطول، وأن النتيجة رقم وقرار. وثلاث نصائح: دقيقة إلى دقيقتين، واستخدم «أنا» في الإجراء، وجهز خمس قصص مسبقاً. ومن لا خبرة عمل له يأخذ قصصه من مشاريعه، بشرط أن يقول بصدق إنها مشاريع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جهز قصة STAR لهذا السؤال من التطبيقين الثالث والرابع: تقييم مراجعة الصلاحيات. اكتب الأجزاء الأربعة في الكراسة، ثم قلها بصوت مرتفع واحسب وقتها.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قصة نموذجية. الموقف قصير. والمهمة محددة. والإجراء أطول جزء، ويذكر ما فعلته أنت: ربطت كل دليل بما يثبته، ولم تعتمد على البريد في السبب بل طلبت سجل الترحيل. والنتيجة: تقييم، وملاحظة بخطة، ومشروع منشور. قارن قصتك بها، وتدرب على قولها في أقل من دقيقتين.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الكورس كله في شريحة واحدة. ضع علامة على كل بند تنجزه. لا تحتاج أن تكتمل كلها قبل أول طلب توظيف؛ إن أنجزت المعرفة والتطبيق، وكانت سيرتك وملفك جاهزين، فابدأ التقديم، والشهادة تأتي بالتوازي. ولاحظ بند «لا بيانات لجهة حقيقية»: هذا أهم من أي شهادة، لأنه يثبت أنك تفهم السرية.</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وصلنا إلى النهاية. ثلاث خطوات لهذا الأسبوع فقط: اختر شهادة مدخل واحدة واقرأ مخططها، ووسّع التطبيق الثاني إلى سجل من عشرة مخاطر، وحدّث عنوانك في لينكدإن. بعدها اتبع خطة التسعين يوماً. وإن أردت التعمق في الضوابط الأساسية للأمن السيبراني، فالكورس المرافق عن ‎ECC-2:2024‎ يأخذك من الفهم إلى التطبيق. وتذكير أخير: الرسوم والشروط والإصدارات في هذا الكورس تحققنا منها في 27 أكتوبر 2026، وهي تتغير، فراجعها قبل أن تدفع أو تسجل. والملحق بعد هذه الشريحة فيه الجداول والروابط. بالتوفيق.</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الملحق مرجع، لا درس. فيه قاموس المصطلحات، ورسوم الشهادات وتجديدها، وصيغ الاختبارات ولغاتها، والمراجع السعودية، وصفحة روابط قابلة للنقر، وقائمة بما يحتاج تحديثاً دورياً. كل رقم فيه تحققنا منه في 27 أكتوبر 2026 من الصفحة الرسمية المذكورة، وما لم نستطع تأكيده كتبنا ذلك صراحة.</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رسوم الشهادات، الجزء الأول. ISC2: صفحة أسعار الاختبارات ‎isc2.org/register-for-exam/isc2-exam-pricing‎، وسياسات الأعضاء للرسم السنوي. ISACA: ‎isaca.org/credentialing‎، ودليل المرشح، وصفحة IT Risk Fundamentals. CompTIA: صفحة Security+ على comptia.org، وصفحة رسوم التجديد؛ سعر الاختبار يُعرض ديناميكياً حسب الدولة ولم نتمكن من قراءته، ومواقع غير رسمية تذكر نحو 425 دولاراً، ولم نتحقق منه.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IAPP: store.iapp.org وصفحات الشهادات على ‎iapp.org/certify‎. OCEG: ‎oceg.org/certifications/grc-professional-certification‎ وصفحة العضوية. PECB: صفحات الدورات على pecb.com وأدلة المرشحين لعام 2026؛ مدة الاختبار ثلاث ساعات وردت في كتيب 2024 ولم تُذكر في أدلة 2026.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صيغ الاختبارات كما في الصفحات الرسمية وأدلة المرشحين. ISC2: مخطط CC الجديد منذ 1 سبتمبر 2026 تكيفي من 100 إلى 125 سؤالاً، وCISSP تكيفي. ISACA: 150 سؤالاً في أربع ساعات للشهادات الأربع، و120 لـ CDPSE، والنجاح 450 على مقياس من 200 إلى 800. IAPP: 90 سؤالاً والنجاح 300 على مقياس 100 إلى 500. GRCP: مئة سؤال محتسب وحتى 15 غير محتسبة، بكتاب مفتوح. PECB: 80 سؤالاً بكتاب مفتوح والنجاح 70%.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لغات كل اختبار منفصلة كما وردت في الصفحات الرسمية وأدلة المرشحين وقت التحقق. هذا الجزء لاختبارات ISC2 وCompTIA وIAPP. والإصدار الجديد من Security+، ‎SY0-801‎، يبدأ بالإنجليزية فقط.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اختبارات ISACA، ثم اختبارات لم تذكر صفحاتها التي راجعناها لغة الاختبار: GRCP وIT Risk Fundamentals واختبارات PECB؛ راجع قائمة اختبارات PECB على pecb.com، أو اسأل الجهة. ولم نجد العربية في أي من الاختبارات التي تحققنا منها، وهذا حكم على كل اختبار راجعناه، لا تعميم على كل الاختبارات.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مرجع سريع لضوابط الهيئة الوطنية للأمن السيبراني وإطارها لإدارة المخاطر، بإصداراتها. المصدر: صفحات الضوابط والأطر على nca.gov.sa. النطاق في الجدول مختصر جداً؛ النص الرسمي لكل مرجع هو الأساس.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الإطار السعودي لكوادر الأمن السيبراني من الهيئة، وإطار ساما للأمن السيبراني، ونظام حماية البيانات الشخصية. المصادر: nca.gov.sa، ودليل ساما rulebook.sama.gov.sa، ودليل سدايا لنظام حماية البيانات الشخصية على dgp.sdaia.gov.sa.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الأطر والمراجع. الروابط قابلة للنقر في ملف PowerPoint وفي العرض.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الجهات المانحة للشهادات. تحقق دائماً من الرسوم والشروط في هذه الصفحات قبل التسجيل.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الخصوصية والمتطلبات القطاعية ولينكدإن.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ما يحتاج تحديثاً دورياً، مع الشرائح التي تحتويه. اقتراحنا مراجعة الرسوم ومخططات الاختبارات كل ستة أشهر، وإصدارات الأطر سنوياً أو عند أي إعلان رسمي. وحين تحدث رقماً، حدّث معه تاريخ التحقق في الملاحظات وفي الملحق.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3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7.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47.png"/><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1.png"/><Relationship Id="rId4"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63.png"/><Relationship Id="rId4" Type="http://schemas.openxmlformats.org/officeDocument/2006/relationships/image" Target="../media/image78.png"/><Relationship Id="rId5"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a.gov.sa/" TargetMode="External"/><Relationship Id="rId3" Type="http://schemas.openxmlformats.org/officeDocument/2006/relationships/hyperlink" Target="https://nca.gov.sa/en/regulatory-documents/frameworks-and-standard-list/nfcrm/" TargetMode="External"/><Relationship Id="rId4" Type="http://schemas.openxmlformats.org/officeDocument/2006/relationships/hyperlink" Target="https://nca.gov.sa/en/regulatory-documents/controls-list/ecc/" TargetMode="External"/><Relationship Id="rId5" Type="http://schemas.openxmlformats.org/officeDocument/2006/relationships/hyperlink" Target="https://nca.gov.sa/en/regulatory-documents/frameworks-and-standard-list/scywf/" TargetMode="External"/><Relationship Id="rId6" Type="http://schemas.openxmlformats.org/officeDocument/2006/relationships/hyperlink" Target="https://rulebook.sama.gov.sa/en/cyber-security-framework-2" TargetMode="External"/><Relationship Id="rId7" Type="http://schemas.openxmlformats.org/officeDocument/2006/relationships/hyperlink" Target="https://www.nist.gov/cyberframework" TargetMode="External"/><Relationship Id="rId8" Type="http://schemas.openxmlformats.org/officeDocument/2006/relationships/hyperlink" Target="https://csrc.nist.gov/pubs/sp/1302/final" TargetMode="External"/><Relationship Id="rId9" Type="http://schemas.openxmlformats.org/officeDocument/2006/relationships/hyperlink" Target="https://www.iso.org/standard/27001" TargetMode="External"/><Relationship Id="rId10"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sc2.org/certifications" TargetMode="External"/><Relationship Id="rId3" Type="http://schemas.openxmlformats.org/officeDocument/2006/relationships/hyperlink" Target="https://www.isc2.org/register-for-exam/isc2-exam-pricing" TargetMode="External"/><Relationship Id="rId4" Type="http://schemas.openxmlformats.org/officeDocument/2006/relationships/hyperlink" Target="https://www.isaca.org/credentialing" TargetMode="External"/><Relationship Id="rId5" Type="http://schemas.openxmlformats.org/officeDocument/2006/relationships/hyperlink" Target="https://www.isaca.org/about-us/newsroom/press-releases/2026/isaca-updates-cism-exam-content-outline-factoring-in-todays-technologies-security-responsibilities" TargetMode="External"/><Relationship Id="rId6" Type="http://schemas.openxmlformats.org/officeDocument/2006/relationships/hyperlink" Target="https://www.comptia.org/en-us/certifications/security/" TargetMode="External"/><Relationship Id="rId7" Type="http://schemas.openxmlformats.org/officeDocument/2006/relationships/hyperlink" Target="https://iapp.org/certify" TargetMode="External"/><Relationship Id="rId8" Type="http://schemas.openxmlformats.org/officeDocument/2006/relationships/hyperlink" Target="https://www.oceg.org/certifications/grc-professional-certification/" TargetMode="External"/><Relationship Id="rId9" Type="http://schemas.openxmlformats.org/officeDocument/2006/relationships/hyperlink" Target="https://pecb.com/" TargetMode="External"/><Relationship Id="rId10"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gp.sdaia.gov.sa/wps/wcm/connect/f579bc32-fda8-47bd-bc6f-66b8cb77985c/ENG-Guide+to+the+saudi+PDP+law+for+controllersprocessors.pdf?MOD=AJPERES" TargetMode="External"/><Relationship Id="rId3" Type="http://schemas.openxmlformats.org/officeDocument/2006/relationships/hyperlink" Target="https://www.pcisecuritystandards.org/document_library/" TargetMode="External"/><Relationship Id="rId4" Type="http://schemas.openxmlformats.org/officeDocument/2006/relationships/hyperlink" Target="https://www.isaca.org/resources/cobit" TargetMode="External"/><Relationship Id="rId5" Type="http://schemas.openxmlformats.org/officeDocument/2006/relationships/hyperlink" Target="https://www.linkedin.com/help/linkedin/answer/a507508" TargetMode="External"/><Relationship Id="rId6" Type="http://schemas.openxmlformats.org/officeDocument/2006/relationships/hyperlink" Target="https://www.linkedin.com/help/linkedin/answer/a542685" TargetMode="External"/><Relationship Id="rId7" Type="http://schemas.openxmlformats.org/officeDocument/2006/relationships/hyperlink" Target="https://www.linkedin.com/help/linkedin/answer/a549047" TargetMode="Externa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699508" y="1554119"/>
            <a:ext cx="667969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كورس تأسيسي عملي للمبتدئين والخريجين</a:t>
            </a:r>
          </a:p>
        </p:txBody>
      </p:sp>
      <p:sp>
        <p:nvSpPr>
          <p:cNvPr id="4" name="Text 3"/>
          <p:cNvSpPr txBox="1"/>
          <p:nvPr/>
        </p:nvSpPr>
        <p:spPr>
          <a:xfrm>
            <a:off x="5003800" y="2112645"/>
            <a:ext cx="6375400" cy="1676400"/>
          </a:xfrm>
          <a:prstGeom prst="rect">
            <a:avLst/>
          </a:prstGeom>
          <a:noFill/>
        </p:spPr>
        <p:txBody>
          <a:bodyPr wrap="square" tIns="0" rIns="0" bIns="0" lIns="0" anchor="t" rtlCol="0" anchorCtr="0">
            <a:noAutofit/>
          </a:bodyPr>
          <a:lstStyle/>
          <a:p>
            <a:pPr algn="r" rtl="1">
              <a:lnSpc>
                <a:spcPts val="6600"/>
              </a:lnSpc>
              <a:spcBef>
                <a:spcPts val="0"/>
              </a:spcBef>
              <a:spcAft>
                <a:spcPts val="0"/>
              </a:spcAft>
            </a:pPr>
            <a:r>
              <a:rPr sz="6000" b="1" i="0">
                <a:solidFill>
                  <a:srgbClr val="F3EFE6"/>
                </a:solidFill>
                <a:latin typeface="Readex Pro"/>
                <a:ea typeface="Readex Pro"/>
                <a:cs typeface="Readex Pro"/>
              </a:rPr>
              <a:t>كيف تبدأ في GRC</a:t>
            </a:r>
          </a:p>
        </p:txBody>
      </p:sp>
      <p:sp>
        <p:nvSpPr>
          <p:cNvPr id="5" name="Text 4"/>
          <p:cNvSpPr txBox="1"/>
          <p:nvPr/>
        </p:nvSpPr>
        <p:spPr>
          <a:xfrm>
            <a:off x="5008753" y="3928808"/>
            <a:ext cx="6370447" cy="723900"/>
          </a:xfrm>
          <a:prstGeom prst="rect">
            <a:avLst/>
          </a:prstGeom>
          <a:noFill/>
        </p:spPr>
        <p:txBody>
          <a:bodyPr wrap="square" tIns="0" rIns="0" bIns="0" lIns="0" anchor="t" rtlCol="0" anchorCtr="0">
            <a:noAutofit/>
          </a:bodyPr>
          <a:lstStyle/>
          <a:p>
            <a:pPr algn="r" rtl="1">
              <a:lnSpc>
                <a:spcPts val="2850"/>
              </a:lnSpc>
              <a:spcBef>
                <a:spcPts val="0"/>
              </a:spcBef>
              <a:spcAft>
                <a:spcPts val="0"/>
              </a:spcAft>
            </a:pPr>
            <a:r>
              <a:rPr sz="1900" b="0" i="0">
                <a:solidFill>
                  <a:srgbClr val="D9E2E6"/>
                </a:solidFill>
                <a:latin typeface="IBM Plex Sans Arabic"/>
                <a:ea typeface="IBM Plex Sans Arabic"/>
                <a:cs typeface="IBM Plex Sans Arabic"/>
              </a:rPr>
              <a:t>الحوكمة والمخاطر والامتثال من الصفر: تفهم العمل، وتطبّقه على شركة واحدة، ثم تجهز ملفك للوظيفة الأولى.</a:t>
            </a:r>
          </a:p>
        </p:txBody>
      </p:sp>
      <p:sp>
        <p:nvSpPr>
          <p:cNvPr id="6" name="Text box 5"/>
          <p:cNvSpPr/>
          <p:nvPr/>
        </p:nvSpPr>
        <p:spPr>
          <a:xfrm>
            <a:off x="10464502" y="4921250"/>
            <a:ext cx="911523"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8 وحدات</a:t>
            </a:r>
          </a:p>
        </p:txBody>
      </p:sp>
      <p:sp>
        <p:nvSpPr>
          <p:cNvPr id="7" name="Text box 6"/>
          <p:cNvSpPr/>
          <p:nvPr/>
        </p:nvSpPr>
        <p:spPr>
          <a:xfrm>
            <a:off x="8924925" y="4921250"/>
            <a:ext cx="1444327"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حالة عملية واحدة</a:t>
            </a:r>
          </a:p>
        </p:txBody>
      </p:sp>
      <p:sp>
        <p:nvSpPr>
          <p:cNvPr id="8" name="Text box 7"/>
          <p:cNvSpPr/>
          <p:nvPr/>
        </p:nvSpPr>
        <p:spPr>
          <a:xfrm>
            <a:off x="7353201" y="4921250"/>
            <a:ext cx="1476474"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4 تطبيقات موجهة</a:t>
            </a:r>
          </a:p>
        </p:txBody>
      </p:sp>
      <p:sp>
        <p:nvSpPr>
          <p:cNvPr id="9" name="Text box 8"/>
          <p:cNvSpPr/>
          <p:nvPr/>
        </p:nvSpPr>
        <p:spPr>
          <a:xfrm>
            <a:off x="5570041" y="4921250"/>
            <a:ext cx="1687909"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كراسة تمارين وإجابات</a:t>
            </a:r>
          </a:p>
        </p:txBody>
      </p:sp>
      <p:sp>
        <p:nvSpPr>
          <p:cNvPr id="10" name="Box 9"/>
          <p:cNvSpPr/>
          <p:nvPr/>
        </p:nvSpPr>
        <p:spPr>
          <a:xfrm>
            <a:off x="812800" y="1855788"/>
            <a:ext cx="3810000" cy="955675"/>
          </a:xfrm>
          <a:prstGeom prst="roundRect">
            <a:avLst>
              <a:gd name="adj" fmla="val 13289"/>
            </a:avLst>
          </a:prstGeom>
          <a:solidFill>
            <a:srgbClr val="22344A"/>
          </a:solidFill>
          <a:ln>
            <a:noFill/>
          </a:ln>
        </p:spPr>
        <p:txBody>
          <a:bodyPr rtlCol="0" anchor="ctr"/>
          <a:lstStyle/>
          <a:p>
            <a:pPr algn="ctr"/>
          </a:p>
        </p:txBody>
      </p:sp>
      <p:sp>
        <p:nvSpPr>
          <p:cNvPr id="11" name="Rule 10"/>
          <p:cNvSpPr/>
          <p:nvPr/>
        </p:nvSpPr>
        <p:spPr>
          <a:xfrm>
            <a:off x="4572000" y="1855788"/>
            <a:ext cx="50800" cy="955675"/>
          </a:xfrm>
          <a:prstGeom prst="rect">
            <a:avLst/>
          </a:prstGeom>
          <a:solidFill>
            <a:srgbClr val="0E7C6B"/>
          </a:solidFill>
          <a:ln>
            <a:noFill/>
          </a:ln>
        </p:spPr>
        <p:txBody>
          <a:bodyPr rtlCol="0" anchor="ctr"/>
          <a:lstStyle/>
          <a:p>
            <a:pPr algn="ctr"/>
          </a:p>
        </p:txBody>
      </p:sp>
      <p:sp>
        <p:nvSpPr>
          <p:cNvPr id="12" name="Text 11"/>
          <p:cNvSpPr txBox="1"/>
          <p:nvPr/>
        </p:nvSpPr>
        <p:spPr>
          <a:xfrm>
            <a:off x="3723640" y="214388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7FD3C3"/>
                </a:solidFill>
                <a:latin typeface="Readex Pro"/>
                <a:ea typeface="Readex Pro"/>
                <a:cs typeface="Readex Pro"/>
              </a:rPr>
              <a:t>G</a:t>
            </a:r>
          </a:p>
        </p:txBody>
      </p:sp>
      <p:sp>
        <p:nvSpPr>
          <p:cNvPr id="13" name="Text 12"/>
          <p:cNvSpPr txBox="1"/>
          <p:nvPr/>
        </p:nvSpPr>
        <p:spPr>
          <a:xfrm>
            <a:off x="838200" y="2023427"/>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الحوكمة</a:t>
            </a:r>
          </a:p>
        </p:txBody>
      </p:sp>
      <p:sp>
        <p:nvSpPr>
          <p:cNvPr id="14" name="Text 13"/>
          <p:cNvSpPr txBox="1"/>
          <p:nvPr/>
        </p:nvSpPr>
        <p:spPr>
          <a:xfrm>
            <a:off x="838200" y="235172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من يقرر، وبأي قواعد</a:t>
            </a:r>
          </a:p>
        </p:txBody>
      </p:sp>
      <p:sp>
        <p:nvSpPr>
          <p:cNvPr id="15" name="Box 14"/>
          <p:cNvSpPr/>
          <p:nvPr/>
        </p:nvSpPr>
        <p:spPr>
          <a:xfrm>
            <a:off x="812800" y="2951162"/>
            <a:ext cx="3810000" cy="955675"/>
          </a:xfrm>
          <a:prstGeom prst="roundRect">
            <a:avLst>
              <a:gd name="adj" fmla="val 13289"/>
            </a:avLst>
          </a:prstGeom>
          <a:solidFill>
            <a:srgbClr val="22344A"/>
          </a:solidFill>
          <a:ln>
            <a:noFill/>
          </a:ln>
        </p:spPr>
        <p:txBody>
          <a:bodyPr rtlCol="0" anchor="ctr"/>
          <a:lstStyle/>
          <a:p>
            <a:pPr algn="ctr"/>
          </a:p>
        </p:txBody>
      </p:sp>
      <p:sp>
        <p:nvSpPr>
          <p:cNvPr id="16" name="Rule 15"/>
          <p:cNvSpPr/>
          <p:nvPr/>
        </p:nvSpPr>
        <p:spPr>
          <a:xfrm>
            <a:off x="4572000" y="2951162"/>
            <a:ext cx="50800" cy="955675"/>
          </a:xfrm>
          <a:prstGeom prst="rect">
            <a:avLst/>
          </a:prstGeom>
          <a:solidFill>
            <a:srgbClr val="E0A33A"/>
          </a:solidFill>
          <a:ln>
            <a:noFill/>
          </a:ln>
        </p:spPr>
        <p:txBody>
          <a:bodyPr rtlCol="0" anchor="ctr"/>
          <a:lstStyle/>
          <a:p>
            <a:pPr algn="ctr"/>
          </a:p>
        </p:txBody>
      </p:sp>
      <p:sp>
        <p:nvSpPr>
          <p:cNvPr id="17" name="Text 16"/>
          <p:cNvSpPr txBox="1"/>
          <p:nvPr/>
        </p:nvSpPr>
        <p:spPr>
          <a:xfrm>
            <a:off x="3723640" y="3239262"/>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F2C46D"/>
                </a:solidFill>
                <a:latin typeface="Readex Pro"/>
                <a:ea typeface="Readex Pro"/>
                <a:cs typeface="Readex Pro"/>
              </a:rPr>
              <a:t>R</a:t>
            </a:r>
          </a:p>
        </p:txBody>
      </p:sp>
      <p:sp>
        <p:nvSpPr>
          <p:cNvPr id="18" name="Text 17"/>
          <p:cNvSpPr txBox="1"/>
          <p:nvPr/>
        </p:nvSpPr>
        <p:spPr>
          <a:xfrm>
            <a:off x="838200" y="3118802"/>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المخاطر</a:t>
            </a:r>
          </a:p>
        </p:txBody>
      </p:sp>
      <p:sp>
        <p:nvSpPr>
          <p:cNvPr id="19" name="Text 18"/>
          <p:cNvSpPr txBox="1"/>
          <p:nvPr/>
        </p:nvSpPr>
        <p:spPr>
          <a:xfrm>
            <a:off x="838200" y="3447098"/>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ما الذي قد يحدث، وماذا نفعل</a:t>
            </a:r>
          </a:p>
        </p:txBody>
      </p:sp>
      <p:sp>
        <p:nvSpPr>
          <p:cNvPr id="20" name="Box 19"/>
          <p:cNvSpPr/>
          <p:nvPr/>
        </p:nvSpPr>
        <p:spPr>
          <a:xfrm>
            <a:off x="812800" y="4046538"/>
            <a:ext cx="3810000" cy="955675"/>
          </a:xfrm>
          <a:prstGeom prst="roundRect">
            <a:avLst>
              <a:gd name="adj" fmla="val 13289"/>
            </a:avLst>
          </a:prstGeom>
          <a:solidFill>
            <a:srgbClr val="22344A"/>
          </a:solidFill>
          <a:ln>
            <a:noFill/>
          </a:ln>
        </p:spPr>
        <p:txBody>
          <a:bodyPr rtlCol="0" anchor="ctr"/>
          <a:lstStyle/>
          <a:p>
            <a:pPr algn="ctr"/>
          </a:p>
        </p:txBody>
      </p:sp>
      <p:sp>
        <p:nvSpPr>
          <p:cNvPr id="21" name="Rule 20"/>
          <p:cNvSpPr/>
          <p:nvPr/>
        </p:nvSpPr>
        <p:spPr>
          <a:xfrm>
            <a:off x="4572000" y="4046538"/>
            <a:ext cx="50800" cy="955675"/>
          </a:xfrm>
          <a:prstGeom prst="rect">
            <a:avLst/>
          </a:prstGeom>
          <a:solidFill>
            <a:srgbClr val="6E9BD1"/>
          </a:solidFill>
          <a:ln>
            <a:noFill/>
          </a:ln>
        </p:spPr>
        <p:txBody>
          <a:bodyPr rtlCol="0" anchor="ctr"/>
          <a:lstStyle/>
          <a:p>
            <a:pPr algn="ctr"/>
          </a:p>
        </p:txBody>
      </p:sp>
      <p:sp>
        <p:nvSpPr>
          <p:cNvPr id="22" name="Text 21"/>
          <p:cNvSpPr txBox="1"/>
          <p:nvPr/>
        </p:nvSpPr>
        <p:spPr>
          <a:xfrm>
            <a:off x="3723640" y="433463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A9C6EA"/>
                </a:solidFill>
                <a:latin typeface="Readex Pro"/>
                <a:ea typeface="Readex Pro"/>
                <a:cs typeface="Readex Pro"/>
              </a:rPr>
              <a:t>C</a:t>
            </a:r>
          </a:p>
        </p:txBody>
      </p:sp>
      <p:sp>
        <p:nvSpPr>
          <p:cNvPr id="23" name="Text 22"/>
          <p:cNvSpPr txBox="1"/>
          <p:nvPr/>
        </p:nvSpPr>
        <p:spPr>
          <a:xfrm>
            <a:off x="838200" y="4214178"/>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الامتثال</a:t>
            </a:r>
          </a:p>
        </p:txBody>
      </p:sp>
      <p:sp>
        <p:nvSpPr>
          <p:cNvPr id="24" name="Text 23"/>
          <p:cNvSpPr txBox="1"/>
          <p:nvPr/>
        </p:nvSpPr>
        <p:spPr>
          <a:xfrm>
            <a:off x="838200" y="454247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هل نلتزم، وكيف نثبت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ماذا ستستطيع أن تفعل بعد هذا الكورس؟</a:t>
            </a:r>
          </a:p>
        </p:txBody>
      </p:sp>
      <p:sp>
        <p:nvSpPr>
          <p:cNvPr id="5" name="Box 4"/>
          <p:cNvSpPr/>
          <p:nvPr/>
        </p:nvSpPr>
        <p:spPr>
          <a:xfrm>
            <a:off x="5081488" y="1657945"/>
            <a:ext cx="6297712" cy="4133850"/>
          </a:xfrm>
          <a:prstGeom prst="roundRect">
            <a:avLst>
              <a:gd name="adj" fmla="val 2764"/>
            </a:avLst>
          </a:prstGeom>
          <a:solidFill>
            <a:srgbClr val="FFFDF8"/>
          </a:solidFill>
          <a:ln>
            <a:noFill/>
          </a:ln>
        </p:spPr>
        <p:txBody>
          <a:bodyPr rtlCol="0" anchor="ctr"/>
          <a:lstStyle/>
          <a:p>
            <a:pPr algn="ctr"/>
          </a:p>
        </p:txBody>
      </p:sp>
      <p:sp>
        <p:nvSpPr>
          <p:cNvPr id="6" name="Rule 5"/>
          <p:cNvSpPr/>
          <p:nvPr/>
        </p:nvSpPr>
        <p:spPr>
          <a:xfrm>
            <a:off x="5081488" y="1657945"/>
            <a:ext cx="6297712" cy="6350"/>
          </a:xfrm>
          <a:prstGeom prst="rect">
            <a:avLst/>
          </a:prstGeom>
          <a:solidFill>
            <a:srgbClr val="E1DBCD"/>
          </a:solidFill>
          <a:ln>
            <a:noFill/>
          </a:ln>
        </p:spPr>
        <p:txBody>
          <a:bodyPr rtlCol="0" anchor="ctr"/>
          <a:lstStyle/>
          <a:p>
            <a:pPr algn="ctr"/>
          </a:p>
        </p:txBody>
      </p:sp>
      <p:sp>
        <p:nvSpPr>
          <p:cNvPr id="7" name="Rule 6"/>
          <p:cNvSpPr/>
          <p:nvPr/>
        </p:nvSpPr>
        <p:spPr>
          <a:xfrm>
            <a:off x="11328400" y="1657945"/>
            <a:ext cx="50800" cy="4133850"/>
          </a:xfrm>
          <a:prstGeom prst="rect">
            <a:avLst/>
          </a:prstGeom>
          <a:solidFill>
            <a:srgbClr val="0E7C6B"/>
          </a:solidFill>
          <a:ln>
            <a:noFill/>
          </a:ln>
        </p:spPr>
        <p:txBody>
          <a:bodyPr rtlCol="0" anchor="ctr"/>
          <a:lstStyle/>
          <a:p>
            <a:pPr algn="ctr"/>
          </a:p>
        </p:txBody>
      </p:sp>
      <p:sp>
        <p:nvSpPr>
          <p:cNvPr id="8" name="Rule 7"/>
          <p:cNvSpPr/>
          <p:nvPr/>
        </p:nvSpPr>
        <p:spPr>
          <a:xfrm>
            <a:off x="5081488" y="5785445"/>
            <a:ext cx="6297712" cy="6350"/>
          </a:xfrm>
          <a:prstGeom prst="rect">
            <a:avLst/>
          </a:prstGeom>
          <a:solidFill>
            <a:srgbClr val="E1DBCD"/>
          </a:solidFill>
          <a:ln>
            <a:noFill/>
          </a:ln>
        </p:spPr>
        <p:txBody>
          <a:bodyPr rtlCol="0" anchor="ctr"/>
          <a:lstStyle/>
          <a:p>
            <a:pPr algn="ctr"/>
          </a:p>
        </p:txBody>
      </p:sp>
      <p:sp>
        <p:nvSpPr>
          <p:cNvPr id="9" name="Rule 8"/>
          <p:cNvSpPr/>
          <p:nvPr/>
        </p:nvSpPr>
        <p:spPr>
          <a:xfrm>
            <a:off x="5081488" y="1657945"/>
            <a:ext cx="6350" cy="4133850"/>
          </a:xfrm>
          <a:prstGeom prst="rect">
            <a:avLst/>
          </a:prstGeom>
          <a:solidFill>
            <a:srgbClr val="E1DBCD"/>
          </a:solidFill>
          <a:ln>
            <a:noFill/>
          </a:ln>
        </p:spPr>
        <p:txBody>
          <a:bodyPr rtlCol="0" anchor="ctr"/>
          <a:lstStyle/>
          <a:p>
            <a:pPr algn="ctr"/>
          </a:p>
        </p:txBody>
      </p:sp>
      <p:sp>
        <p:nvSpPr>
          <p:cNvPr id="10" name="Text 9"/>
          <p:cNvSpPr txBox="1"/>
          <p:nvPr/>
        </p:nvSpPr>
        <p:spPr>
          <a:xfrm>
            <a:off x="5106888" y="1829903"/>
            <a:ext cx="6018312"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بعد الكورس ستستطيع أن:</a:t>
            </a:r>
          </a:p>
        </p:txBody>
      </p:sp>
      <p:sp>
        <p:nvSpPr>
          <p:cNvPr id="11" name="Text 10"/>
          <p:cNvSpPr txBox="1"/>
          <p:nvPr/>
        </p:nvSpPr>
        <p:spPr>
          <a:xfrm>
            <a:off x="10734675" y="226643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0E7C6B"/>
                </a:solidFill>
                <a:latin typeface="Readex Pro"/>
                <a:ea typeface="Readex Pro"/>
                <a:cs typeface="Readex Pro"/>
              </a:rPr>
              <a:t>1</a:t>
            </a:r>
          </a:p>
        </p:txBody>
      </p:sp>
      <p:sp>
        <p:nvSpPr>
          <p:cNvPr id="12" name="Text 11"/>
          <p:cNvSpPr txBox="1"/>
          <p:nvPr/>
        </p:nvSpPr>
        <p:spPr>
          <a:xfrm>
            <a:off x="5106888" y="2255004"/>
            <a:ext cx="5624612"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تفهم طبيعة العمل في GRC وأدواره اليومية.</a:t>
            </a:r>
          </a:p>
        </p:txBody>
      </p:sp>
      <p:sp>
        <p:nvSpPr>
          <p:cNvPr id="13" name="Text 12"/>
          <p:cNvSpPr txBox="1"/>
          <p:nvPr/>
        </p:nvSpPr>
        <p:spPr>
          <a:xfrm>
            <a:off x="10734675" y="279348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0E7C6B"/>
                </a:solidFill>
                <a:latin typeface="Readex Pro"/>
                <a:ea typeface="Readex Pro"/>
                <a:cs typeface="Readex Pro"/>
              </a:rPr>
              <a:t>2</a:t>
            </a:r>
          </a:p>
        </p:txBody>
      </p:sp>
      <p:sp>
        <p:nvSpPr>
          <p:cNvPr id="14" name="Text 13"/>
          <p:cNvSpPr txBox="1"/>
          <p:nvPr/>
        </p:nvSpPr>
        <p:spPr>
          <a:xfrm>
            <a:off x="5106888" y="2782054"/>
            <a:ext cx="5624612"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تميّز بين الحوكمة والمخاطر والامتثال بمثال.</a:t>
            </a:r>
          </a:p>
        </p:txBody>
      </p:sp>
      <p:sp>
        <p:nvSpPr>
          <p:cNvPr id="15" name="Text 14"/>
          <p:cNvSpPr txBox="1"/>
          <p:nvPr/>
        </p:nvSpPr>
        <p:spPr>
          <a:xfrm>
            <a:off x="10734675" y="332053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0E7C6B"/>
                </a:solidFill>
                <a:latin typeface="Readex Pro"/>
                <a:ea typeface="Readex Pro"/>
                <a:cs typeface="Readex Pro"/>
              </a:rPr>
              <a:t>3</a:t>
            </a:r>
          </a:p>
        </p:txBody>
      </p:sp>
      <p:sp>
        <p:nvSpPr>
          <p:cNvPr id="16" name="Text 15"/>
          <p:cNvSpPr txBox="1"/>
          <p:nvPr/>
        </p:nvSpPr>
        <p:spPr>
          <a:xfrm>
            <a:off x="5127824" y="3309104"/>
            <a:ext cx="560367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تنفّذ مهام تأسيسية صغيرة: مسؤوليات، وخطر، وتقييم ضابط، وملاحظة.</a:t>
            </a:r>
          </a:p>
        </p:txBody>
      </p:sp>
      <p:sp>
        <p:nvSpPr>
          <p:cNvPr id="17" name="Text 16"/>
          <p:cNvSpPr txBox="1"/>
          <p:nvPr/>
        </p:nvSpPr>
        <p:spPr>
          <a:xfrm>
            <a:off x="10734675" y="424763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0E7C6B"/>
                </a:solidFill>
                <a:latin typeface="Readex Pro"/>
                <a:ea typeface="Readex Pro"/>
                <a:cs typeface="Readex Pro"/>
              </a:rPr>
              <a:t>4</a:t>
            </a:r>
          </a:p>
        </p:txBody>
      </p:sp>
      <p:sp>
        <p:nvSpPr>
          <p:cNvPr id="18" name="Text 17"/>
          <p:cNvSpPr txBox="1"/>
          <p:nvPr/>
        </p:nvSpPr>
        <p:spPr>
          <a:xfrm>
            <a:off x="5127824" y="4236204"/>
            <a:ext cx="560367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تختار شهادتك ومسارك التعليمي حسب هدفك ومرحلتك.</a:t>
            </a:r>
          </a:p>
        </p:txBody>
      </p:sp>
      <p:sp>
        <p:nvSpPr>
          <p:cNvPr id="19" name="Text 18"/>
          <p:cNvSpPr txBox="1"/>
          <p:nvPr/>
        </p:nvSpPr>
        <p:spPr>
          <a:xfrm>
            <a:off x="10734675" y="517473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0E7C6B"/>
                </a:solidFill>
                <a:latin typeface="Readex Pro"/>
                <a:ea typeface="Readex Pro"/>
                <a:cs typeface="Readex Pro"/>
              </a:rPr>
              <a:t>5</a:t>
            </a:r>
          </a:p>
        </p:txBody>
      </p:sp>
      <p:sp>
        <p:nvSpPr>
          <p:cNvPr id="20" name="Text 19"/>
          <p:cNvSpPr txBox="1"/>
          <p:nvPr/>
        </p:nvSpPr>
        <p:spPr>
          <a:xfrm>
            <a:off x="5106888" y="5163304"/>
            <a:ext cx="5624612"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تجهز ملف أعمال وسيرة ولينكدإن، وتستعد للمقابلة.</a:t>
            </a:r>
          </a:p>
        </p:txBody>
      </p:sp>
      <p:sp>
        <p:nvSpPr>
          <p:cNvPr id="21" name="Box 20"/>
          <p:cNvSpPr/>
          <p:nvPr/>
        </p:nvSpPr>
        <p:spPr>
          <a:xfrm>
            <a:off x="815975" y="1661120"/>
            <a:ext cx="4059138" cy="4127500"/>
          </a:xfrm>
          <a:prstGeom prst="roundRect">
            <a:avLst>
              <a:gd name="adj" fmla="val 2811"/>
            </a:avLst>
          </a:prstGeom>
          <a:solidFill>
            <a:srgbClr val="FBEAE5"/>
          </a:solidFill>
          <a:ln w="6350">
            <a:solidFill>
              <a:srgbClr val="E7B8AC"/>
            </a:solidFill>
          </a:ln>
        </p:spPr>
        <p:txBody>
          <a:bodyPr rtlCol="0" anchor="ctr"/>
          <a:lstStyle/>
          <a:p>
            <a:pPr algn="ctr"/>
          </a:p>
        </p:txBody>
      </p:sp>
      <p:sp>
        <p:nvSpPr>
          <p:cNvPr id="22" name="Text 21"/>
          <p:cNvSpPr txBox="1"/>
          <p:nvPr/>
        </p:nvSpPr>
        <p:spPr>
          <a:xfrm>
            <a:off x="838200" y="1831173"/>
            <a:ext cx="3830538" cy="341312"/>
          </a:xfrm>
          <a:prstGeom prst="rect">
            <a:avLst/>
          </a:prstGeom>
          <a:noFill/>
        </p:spPr>
        <p:txBody>
          <a:bodyPr wrap="square" tIns="0" rIns="0" bIns="0" lIns="0" anchor="t" rtlCol="0" anchorCtr="0">
            <a:noAutofit/>
          </a:bodyPr>
          <a:lstStyle/>
          <a:p>
            <a:pPr algn="r" rtl="1">
              <a:lnSpc>
                <a:spcPts val="2688"/>
              </a:lnSpc>
              <a:spcBef>
                <a:spcPts val="0"/>
              </a:spcBef>
              <a:spcAft>
                <a:spcPts val="0"/>
              </a:spcAft>
            </a:pPr>
            <a:r>
              <a:rPr sz="2150" b="1" i="0">
                <a:solidFill>
                  <a:srgbClr val="B4412C"/>
                </a:solidFill>
                <a:latin typeface="Readex Pro"/>
                <a:ea typeface="Readex Pro"/>
                <a:cs typeface="Readex Pro"/>
              </a:rPr>
              <a:t>ما لا يقدمه الكورس</a:t>
            </a:r>
          </a:p>
        </p:txBody>
      </p:sp>
      <p:pic>
        <p:nvPicPr>
          <p:cNvPr id="23" name="Icon Warning 22" descr="icon001.png"/>
          <p:cNvPicPr>
            <a:picLocks noChangeAspect="1"/>
          </p:cNvPicPr>
          <p:nvPr/>
        </p:nvPicPr>
        <p:blipFill>
          <a:blip r:embed="rId2"/>
          <a:stretch>
            <a:fillRect/>
          </a:stretch>
        </p:blipFill>
        <p:spPr>
          <a:xfrm>
            <a:off x="4408388" y="2297708"/>
            <a:ext cx="260350" cy="260350"/>
          </a:xfrm>
          <a:prstGeom prst="rect">
            <a:avLst/>
          </a:prstGeom>
        </p:spPr>
      </p:pic>
      <p:sp>
        <p:nvSpPr>
          <p:cNvPr id="24" name="Text 23"/>
          <p:cNvSpPr txBox="1"/>
          <p:nvPr/>
        </p:nvSpPr>
        <p:spPr>
          <a:xfrm>
            <a:off x="838200" y="2255385"/>
            <a:ext cx="3455888"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تأهيلاً كاملاً لإدارة برنامج GRC.</a:t>
            </a:r>
          </a:p>
        </p:txBody>
      </p:sp>
      <p:pic>
        <p:nvPicPr>
          <p:cNvPr id="25" name="Icon Warning 24" descr="icon001.png"/>
          <p:cNvPicPr>
            <a:picLocks noChangeAspect="1"/>
          </p:cNvPicPr>
          <p:nvPr/>
        </p:nvPicPr>
        <p:blipFill>
          <a:blip r:embed="rId2"/>
          <a:stretch>
            <a:fillRect/>
          </a:stretch>
        </p:blipFill>
        <p:spPr>
          <a:xfrm>
            <a:off x="4408388" y="2806898"/>
            <a:ext cx="260350" cy="260350"/>
          </a:xfrm>
          <a:prstGeom prst="rect">
            <a:avLst/>
          </a:prstGeom>
        </p:spPr>
      </p:pic>
      <p:sp>
        <p:nvSpPr>
          <p:cNvPr id="26" name="Text 25"/>
          <p:cNvSpPr txBox="1"/>
          <p:nvPr/>
        </p:nvSpPr>
        <p:spPr>
          <a:xfrm>
            <a:off x="924198" y="2764576"/>
            <a:ext cx="3369890" cy="76438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تطبيق ECC كاملاً في جهة حقيقية.</a:t>
            </a:r>
          </a:p>
        </p:txBody>
      </p:sp>
      <p:pic>
        <p:nvPicPr>
          <p:cNvPr id="27" name="Icon Warning 26" descr="icon001.png"/>
          <p:cNvPicPr>
            <a:picLocks noChangeAspect="1"/>
          </p:cNvPicPr>
          <p:nvPr/>
        </p:nvPicPr>
        <p:blipFill>
          <a:blip r:embed="rId2"/>
          <a:stretch>
            <a:fillRect/>
          </a:stretch>
        </p:blipFill>
        <p:spPr>
          <a:xfrm>
            <a:off x="4408388" y="3698280"/>
            <a:ext cx="260350" cy="260350"/>
          </a:xfrm>
          <a:prstGeom prst="rect">
            <a:avLst/>
          </a:prstGeom>
        </p:spPr>
      </p:pic>
      <p:sp>
        <p:nvSpPr>
          <p:cNvPr id="28" name="Text 27"/>
          <p:cNvSpPr txBox="1"/>
          <p:nvPr/>
        </p:nvSpPr>
        <p:spPr>
          <a:xfrm>
            <a:off x="924198" y="3655957"/>
            <a:ext cx="3369890" cy="76438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بديلاً عن الخبرة أو الشهادات المهنية.</a:t>
            </a:r>
          </a:p>
        </p:txBody>
      </p:sp>
      <p:sp>
        <p:nvSpPr>
          <p:cNvPr id="29" name="Text 28"/>
          <p:cNvSpPr txBox="1"/>
          <p:nvPr/>
        </p:nvSpPr>
        <p:spPr>
          <a:xfrm>
            <a:off x="838200" y="4536607"/>
            <a:ext cx="3830538"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هو بداية منظمة وصحيحة، تبني عليها.</a:t>
            </a:r>
          </a:p>
        </p:txBody>
      </p:sp>
      <p:sp>
        <p:nvSpPr>
          <p:cNvPr id="30" name="Text 29"/>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31" name="Text 30"/>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يسير كل موضوع في الكورس</a:t>
            </a:r>
          </a:p>
        </p:txBody>
      </p:sp>
      <p:sp>
        <p:nvSpPr>
          <p:cNvPr id="5" name="Box 4"/>
          <p:cNvSpPr/>
          <p:nvPr/>
        </p:nvSpPr>
        <p:spPr>
          <a:xfrm>
            <a:off x="9030791" y="1724620"/>
            <a:ext cx="2345234" cy="2110680"/>
          </a:xfrm>
          <a:prstGeom prst="roundRect">
            <a:avLst>
              <a:gd name="adj" fmla="val 5399"/>
            </a:avLst>
          </a:prstGeom>
          <a:solidFill>
            <a:srgbClr val="FFFDF8"/>
          </a:solidFill>
          <a:ln w="6350">
            <a:solidFill>
              <a:srgbClr val="E1DBCD"/>
            </a:solidFill>
          </a:ln>
        </p:spPr>
        <p:txBody>
          <a:bodyPr rtlCol="0" anchor="ctr"/>
          <a:lstStyle/>
          <a:p>
            <a:pPr algn="ctr"/>
          </a:p>
        </p:txBody>
      </p:sp>
      <p:sp>
        <p:nvSpPr>
          <p:cNvPr id="6" name="Text 5"/>
          <p:cNvSpPr txBox="1"/>
          <p:nvPr/>
        </p:nvSpPr>
        <p:spPr>
          <a:xfrm>
            <a:off x="9053016" y="1919057"/>
            <a:ext cx="21547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7" name="Text 6"/>
          <p:cNvSpPr txBox="1"/>
          <p:nvPr/>
        </p:nvSpPr>
        <p:spPr>
          <a:xfrm>
            <a:off x="9053016" y="2379845"/>
            <a:ext cx="2154734" cy="420985"/>
          </a:xfrm>
          <a:prstGeom prst="rect">
            <a:avLst/>
          </a:prstGeom>
          <a:noFill/>
        </p:spPr>
        <p:txBody>
          <a:bodyPr wrap="square" tIns="0" rIns="0" bIns="0" lIns="0" anchor="t" rtlCol="0" anchorCtr="0">
            <a:noAutofit/>
          </a:bodyPr>
          <a:lstStyle/>
          <a:p>
            <a:pPr algn="r" rtl="1">
              <a:lnSpc>
                <a:spcPts val="3315"/>
              </a:lnSpc>
              <a:spcBef>
                <a:spcPts val="0"/>
              </a:spcBef>
              <a:spcAft>
                <a:spcPts val="0"/>
              </a:spcAft>
            </a:pPr>
            <a:r>
              <a:rPr sz="2550" b="1" i="0">
                <a:solidFill>
                  <a:srgbClr val="172433"/>
                </a:solidFill>
                <a:latin typeface="Readex Pro"/>
                <a:ea typeface="Readex Pro"/>
                <a:cs typeface="Readex Pro"/>
              </a:rPr>
              <a:t>شرح مبسط</a:t>
            </a:r>
          </a:p>
        </p:txBody>
      </p:sp>
      <p:sp>
        <p:nvSpPr>
          <p:cNvPr id="8" name="Text 7"/>
          <p:cNvSpPr txBox="1"/>
          <p:nvPr/>
        </p:nvSpPr>
        <p:spPr>
          <a:xfrm>
            <a:off x="9053016" y="2844042"/>
            <a:ext cx="2154734"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الفكرة بلغة واضحة.</a:t>
            </a:r>
          </a:p>
        </p:txBody>
      </p:sp>
      <p:sp>
        <p:nvSpPr>
          <p:cNvPr id="9" name="Text 8"/>
          <p:cNvSpPr txBox="1"/>
          <p:nvPr/>
        </p:nvSpPr>
        <p:spPr>
          <a:xfrm>
            <a:off x="8545612" y="2649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10" name="Box 9"/>
          <p:cNvSpPr/>
          <p:nvPr/>
        </p:nvSpPr>
        <p:spPr>
          <a:xfrm>
            <a:off x="6292453" y="1724620"/>
            <a:ext cx="2345234" cy="2110680"/>
          </a:xfrm>
          <a:prstGeom prst="roundRect">
            <a:avLst>
              <a:gd name="adj" fmla="val 5399"/>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314678" y="1919057"/>
            <a:ext cx="21547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2" name="Text 11"/>
          <p:cNvSpPr txBox="1"/>
          <p:nvPr/>
        </p:nvSpPr>
        <p:spPr>
          <a:xfrm>
            <a:off x="6314678" y="2379845"/>
            <a:ext cx="2154734" cy="420985"/>
          </a:xfrm>
          <a:prstGeom prst="rect">
            <a:avLst/>
          </a:prstGeom>
          <a:noFill/>
        </p:spPr>
        <p:txBody>
          <a:bodyPr wrap="square" tIns="0" rIns="0" bIns="0" lIns="0" anchor="t" rtlCol="0" anchorCtr="0">
            <a:noAutofit/>
          </a:bodyPr>
          <a:lstStyle/>
          <a:p>
            <a:pPr algn="r" rtl="1">
              <a:lnSpc>
                <a:spcPts val="3315"/>
              </a:lnSpc>
              <a:spcBef>
                <a:spcPts val="0"/>
              </a:spcBef>
              <a:spcAft>
                <a:spcPts val="0"/>
              </a:spcAft>
            </a:pPr>
            <a:r>
              <a:rPr sz="2550" b="1" i="0">
                <a:solidFill>
                  <a:srgbClr val="172433"/>
                </a:solidFill>
                <a:latin typeface="Readex Pro"/>
                <a:ea typeface="Readex Pro"/>
                <a:cs typeface="Readex Pro"/>
              </a:rPr>
              <a:t>مثال محلول</a:t>
            </a:r>
          </a:p>
        </p:txBody>
      </p:sp>
      <p:sp>
        <p:nvSpPr>
          <p:cNvPr id="13" name="Text 12"/>
          <p:cNvSpPr txBox="1"/>
          <p:nvPr/>
        </p:nvSpPr>
        <p:spPr>
          <a:xfrm>
            <a:off x="6394053" y="2844042"/>
            <a:ext cx="2075359"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نطبقها أمامك على رُفاد.</a:t>
            </a:r>
          </a:p>
        </p:txBody>
      </p:sp>
      <p:sp>
        <p:nvSpPr>
          <p:cNvPr id="14" name="Text 13"/>
          <p:cNvSpPr txBox="1"/>
          <p:nvPr/>
        </p:nvSpPr>
        <p:spPr>
          <a:xfrm>
            <a:off x="5807273" y="2649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15" name="Box 14"/>
          <p:cNvSpPr/>
          <p:nvPr/>
        </p:nvSpPr>
        <p:spPr>
          <a:xfrm>
            <a:off x="3554115" y="1724620"/>
            <a:ext cx="2345234" cy="2110680"/>
          </a:xfrm>
          <a:prstGeom prst="roundRect">
            <a:avLst>
              <a:gd name="adj" fmla="val 5399"/>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76340" y="1919057"/>
            <a:ext cx="21547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7" name="Text 16"/>
          <p:cNvSpPr txBox="1"/>
          <p:nvPr/>
        </p:nvSpPr>
        <p:spPr>
          <a:xfrm>
            <a:off x="3576340" y="2379845"/>
            <a:ext cx="2154734" cy="420985"/>
          </a:xfrm>
          <a:prstGeom prst="rect">
            <a:avLst/>
          </a:prstGeom>
          <a:noFill/>
        </p:spPr>
        <p:txBody>
          <a:bodyPr wrap="square" tIns="0" rIns="0" bIns="0" lIns="0" anchor="t" rtlCol="0" anchorCtr="0">
            <a:noAutofit/>
          </a:bodyPr>
          <a:lstStyle/>
          <a:p>
            <a:pPr algn="r" rtl="1">
              <a:lnSpc>
                <a:spcPts val="3315"/>
              </a:lnSpc>
              <a:spcBef>
                <a:spcPts val="0"/>
              </a:spcBef>
              <a:spcAft>
                <a:spcPts val="0"/>
              </a:spcAft>
            </a:pPr>
            <a:r>
              <a:rPr sz="2550" b="1" i="0">
                <a:solidFill>
                  <a:srgbClr val="172433"/>
                </a:solidFill>
                <a:latin typeface="Readex Pro"/>
                <a:ea typeface="Readex Pro"/>
                <a:cs typeface="Readex Pro"/>
              </a:rPr>
              <a:t>تمرين قصير</a:t>
            </a:r>
          </a:p>
        </p:txBody>
      </p:sp>
      <p:sp>
        <p:nvSpPr>
          <p:cNvPr id="18" name="Text 17"/>
          <p:cNvSpPr txBox="1"/>
          <p:nvPr/>
        </p:nvSpPr>
        <p:spPr>
          <a:xfrm>
            <a:off x="3655715" y="2844042"/>
            <a:ext cx="2075359"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تحاول بنفسك في الكراسة.</a:t>
            </a:r>
          </a:p>
        </p:txBody>
      </p:sp>
      <p:sp>
        <p:nvSpPr>
          <p:cNvPr id="19" name="Text 18"/>
          <p:cNvSpPr txBox="1"/>
          <p:nvPr/>
        </p:nvSpPr>
        <p:spPr>
          <a:xfrm>
            <a:off x="3068935" y="2649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20" name="Box 19"/>
          <p:cNvSpPr/>
          <p:nvPr/>
        </p:nvSpPr>
        <p:spPr>
          <a:xfrm>
            <a:off x="815777" y="1724620"/>
            <a:ext cx="2345234" cy="2110680"/>
          </a:xfrm>
          <a:prstGeom prst="roundRect">
            <a:avLst>
              <a:gd name="adj" fmla="val 5399"/>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002" y="1919057"/>
            <a:ext cx="21547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4</a:t>
            </a:r>
          </a:p>
        </p:txBody>
      </p:sp>
      <p:sp>
        <p:nvSpPr>
          <p:cNvPr id="22" name="Text 21"/>
          <p:cNvSpPr txBox="1"/>
          <p:nvPr/>
        </p:nvSpPr>
        <p:spPr>
          <a:xfrm>
            <a:off x="903089" y="2379845"/>
            <a:ext cx="2089646" cy="841970"/>
          </a:xfrm>
          <a:prstGeom prst="rect">
            <a:avLst/>
          </a:prstGeom>
          <a:noFill/>
        </p:spPr>
        <p:txBody>
          <a:bodyPr wrap="square" tIns="0" rIns="0" bIns="0" lIns="0" anchor="t" rtlCol="0" anchorCtr="0">
            <a:noAutofit/>
          </a:bodyPr>
          <a:lstStyle/>
          <a:p>
            <a:pPr algn="r" rtl="1">
              <a:lnSpc>
                <a:spcPts val="3315"/>
              </a:lnSpc>
              <a:spcBef>
                <a:spcPts val="0"/>
              </a:spcBef>
              <a:spcAft>
                <a:spcPts val="0"/>
              </a:spcAft>
            </a:pPr>
            <a:r>
              <a:rPr sz="2550" b="1" i="0">
                <a:solidFill>
                  <a:srgbClr val="172433"/>
                </a:solidFill>
                <a:latin typeface="Readex Pro"/>
                <a:ea typeface="Readex Pro"/>
                <a:cs typeface="Readex Pro"/>
              </a:rPr>
              <a:t>إجابة نموذجية</a:t>
            </a:r>
          </a:p>
        </p:txBody>
      </p:sp>
      <p:sp>
        <p:nvSpPr>
          <p:cNvPr id="23" name="Text 22"/>
          <p:cNvSpPr txBox="1"/>
          <p:nvPr/>
        </p:nvSpPr>
        <p:spPr>
          <a:xfrm>
            <a:off x="838002" y="3265027"/>
            <a:ext cx="2154734"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نقارن ونشرح لماذا.</a:t>
            </a:r>
          </a:p>
        </p:txBody>
      </p:sp>
      <p:sp>
        <p:nvSpPr>
          <p:cNvPr id="24" name="Text box 23"/>
          <p:cNvSpPr/>
          <p:nvPr/>
        </p:nvSpPr>
        <p:spPr>
          <a:xfrm>
            <a:off x="9946481" y="4092476"/>
            <a:ext cx="1432719" cy="427335"/>
          </a:xfrm>
          <a:prstGeom prst="roundRect">
            <a:avLst>
              <a:gd name="adj" fmla="val 50000"/>
            </a:avLst>
          </a:prstGeom>
          <a:solidFill>
            <a:srgbClr val="E6EDF4"/>
          </a:solidFill>
          <a:ln>
            <a:noFill/>
          </a:ln>
        </p:spPr>
        <p:txBody>
          <a:bodyPr rtlCol="0" anchor="ctr" wrap="square" tIns="0" rIns="89819" bIns="62738" lIns="0" anchorCtr="0">
            <a:noAutofit/>
          </a:bodyPr>
          <a:lstStyle/>
          <a:p>
            <a:pPr algn="r" rtl="1">
              <a:lnSpc>
                <a:spcPts val="2565"/>
              </a:lnSpc>
              <a:spcBef>
                <a:spcPts val="0"/>
              </a:spcBef>
              <a:spcAft>
                <a:spcPts val="0"/>
              </a:spcAft>
            </a:pPr>
            <a:r>
              <a:rPr sz="1900" b="1" i="0">
                <a:solidFill>
                  <a:srgbClr val="24506B"/>
                </a:solidFill>
                <a:latin typeface="IBM Plex Sans Arabic"/>
                <a:ea typeface="IBM Plex Sans Arabic"/>
                <a:cs typeface="IBM Plex Sans Arabic"/>
              </a:rPr>
              <a:t>مثال محلول</a:t>
            </a:r>
          </a:p>
        </p:txBody>
      </p:sp>
      <p:sp>
        <p:nvSpPr>
          <p:cNvPr id="25" name="Text box 24"/>
          <p:cNvSpPr/>
          <p:nvPr/>
        </p:nvSpPr>
        <p:spPr>
          <a:xfrm>
            <a:off x="7639745" y="4092476"/>
            <a:ext cx="2205137" cy="427335"/>
          </a:xfrm>
          <a:prstGeom prst="roundRect">
            <a:avLst>
              <a:gd name="adj" fmla="val 50000"/>
            </a:avLst>
          </a:prstGeom>
          <a:solidFill>
            <a:srgbClr val="F6ECDA"/>
          </a:solidFill>
          <a:ln>
            <a:noFill/>
          </a:ln>
        </p:spPr>
        <p:txBody>
          <a:bodyPr rtlCol="0" anchor="ctr" wrap="square" tIns="0" rIns="89819" bIns="62738" lIns="0" anchorCtr="0">
            <a:noAutofit/>
          </a:bodyPr>
          <a:lstStyle/>
          <a:p>
            <a:pPr algn="r" rtl="1">
              <a:lnSpc>
                <a:spcPts val="2565"/>
              </a:lnSpc>
              <a:spcBef>
                <a:spcPts val="0"/>
              </a:spcBef>
              <a:spcAft>
                <a:spcPts val="0"/>
              </a:spcAft>
            </a:pPr>
            <a:r>
              <a:rPr sz="1900" b="1" i="0">
                <a:solidFill>
                  <a:srgbClr val="8A4B12"/>
                </a:solidFill>
                <a:latin typeface="IBM Plex Sans Arabic"/>
                <a:ea typeface="IBM Plex Sans Arabic"/>
                <a:cs typeface="IBM Plex Sans Arabic"/>
              </a:rPr>
              <a:t>تمرين · توقف وطبّق</a:t>
            </a:r>
          </a:p>
        </p:txBody>
      </p:sp>
      <p:sp>
        <p:nvSpPr>
          <p:cNvPr id="26" name="Text box 25"/>
          <p:cNvSpPr/>
          <p:nvPr/>
        </p:nvSpPr>
        <p:spPr>
          <a:xfrm>
            <a:off x="5635625" y="4092476"/>
            <a:ext cx="1902520" cy="427335"/>
          </a:xfrm>
          <a:prstGeom prst="roundRect">
            <a:avLst>
              <a:gd name="adj" fmla="val 50000"/>
            </a:avLst>
          </a:prstGeom>
          <a:solidFill>
            <a:srgbClr val="DCEFEA"/>
          </a:solidFill>
          <a:ln>
            <a:noFill/>
          </a:ln>
        </p:spPr>
        <p:txBody>
          <a:bodyPr rtlCol="0" anchor="ctr" wrap="square" tIns="0" rIns="89819" bIns="62738" lIns="0" anchorCtr="0">
            <a:noAutofit/>
          </a:bodyPr>
          <a:lstStyle/>
          <a:p>
            <a:pPr algn="r" rtl="1">
              <a:lnSpc>
                <a:spcPts val="2565"/>
              </a:lnSpc>
              <a:spcBef>
                <a:spcPts val="0"/>
              </a:spcBef>
              <a:spcAft>
                <a:spcPts val="0"/>
              </a:spcAft>
            </a:pPr>
            <a:r>
              <a:rPr sz="1900" b="1" i="0">
                <a:solidFill>
                  <a:srgbClr val="0E7C6B"/>
                </a:solidFill>
                <a:latin typeface="IBM Plex Sans Arabic"/>
                <a:ea typeface="IBM Plex Sans Arabic"/>
                <a:cs typeface="IBM Plex Sans Arabic"/>
              </a:rPr>
              <a:t>الإجابة النموذجية</a:t>
            </a:r>
          </a:p>
        </p:txBody>
      </p:sp>
      <p:sp>
        <p:nvSpPr>
          <p:cNvPr id="27" name="Text 26"/>
          <p:cNvSpPr txBox="1"/>
          <p:nvPr/>
        </p:nvSpPr>
        <p:spPr>
          <a:xfrm>
            <a:off x="1943862" y="4099822"/>
            <a:ext cx="3590163"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ابحث عن هذه العلامات أعلى الشرائح.</a:t>
            </a:r>
          </a:p>
        </p:txBody>
      </p:sp>
      <p:sp>
        <p:nvSpPr>
          <p:cNvPr id="28" name="Box 27"/>
          <p:cNvSpPr/>
          <p:nvPr/>
        </p:nvSpPr>
        <p:spPr>
          <a:xfrm>
            <a:off x="812800" y="4773811"/>
            <a:ext cx="10566400" cy="1000720"/>
          </a:xfrm>
          <a:prstGeom prst="roundRect">
            <a:avLst>
              <a:gd name="adj" fmla="val 10152"/>
            </a:avLst>
          </a:prstGeom>
          <a:solidFill>
            <a:srgbClr val="F6ECDA"/>
          </a:solidFill>
          <a:ln>
            <a:noFill/>
          </a:ln>
        </p:spPr>
        <p:txBody>
          <a:bodyPr rtlCol="0" anchor="ctr"/>
          <a:lstStyle/>
          <a:p>
            <a:pPr algn="ctr"/>
          </a:p>
        </p:txBody>
      </p:sp>
      <p:pic>
        <p:nvPicPr>
          <p:cNvPr id="29" name="Icon Clock 28" descr="icon002.png"/>
          <p:cNvPicPr>
            <a:picLocks noChangeAspect="1"/>
          </p:cNvPicPr>
          <p:nvPr/>
        </p:nvPicPr>
        <p:blipFill>
          <a:blip r:embed="rId2"/>
          <a:stretch>
            <a:fillRect/>
          </a:stretch>
        </p:blipFill>
        <p:spPr>
          <a:xfrm>
            <a:off x="10922000" y="5134471"/>
            <a:ext cx="279400" cy="279400"/>
          </a:xfrm>
          <a:prstGeom prst="rect">
            <a:avLst/>
          </a:prstGeom>
        </p:spPr>
      </p:pic>
      <p:sp>
        <p:nvSpPr>
          <p:cNvPr id="30" name="Text 29"/>
          <p:cNvSpPr txBox="1"/>
          <p:nvPr/>
        </p:nvSpPr>
        <p:spPr>
          <a:xfrm>
            <a:off x="838200" y="4859472"/>
            <a:ext cx="9969500"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حين ترى «توقف وطبّق»: أوقف الفيديو مؤقتاً، واكتب إجابتك في الكراسة قبل أن تنتقل إلى الإجابة النموذجية.</a:t>
            </a:r>
          </a:p>
        </p:txBody>
      </p:sp>
      <p:sp>
        <p:nvSpPr>
          <p:cNvPr id="31" name="Text 30"/>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32" name="Text 31"/>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لمن هذا الكورس؟</a:t>
            </a:r>
          </a:p>
        </p:txBody>
      </p:sp>
      <p:sp>
        <p:nvSpPr>
          <p:cNvPr id="5" name="Box 4"/>
          <p:cNvSpPr/>
          <p:nvPr/>
        </p:nvSpPr>
        <p:spPr>
          <a:xfrm>
            <a:off x="7978775" y="1724620"/>
            <a:ext cx="3397250" cy="3263900"/>
          </a:xfrm>
          <a:prstGeom prst="roundRect">
            <a:avLst>
              <a:gd name="adj" fmla="val 3495"/>
            </a:avLst>
          </a:prstGeom>
          <a:solidFill>
            <a:srgbClr val="FFFDF8"/>
          </a:solidFill>
          <a:ln w="6350">
            <a:solidFill>
              <a:srgbClr val="E1DBCD"/>
            </a:solidFill>
          </a:ln>
        </p:spPr>
        <p:txBody>
          <a:bodyPr rtlCol="0" anchor="ctr"/>
          <a:lstStyle/>
          <a:p>
            <a:pPr algn="ctr"/>
          </a:p>
        </p:txBody>
      </p:sp>
      <p:pic>
        <p:nvPicPr>
          <p:cNvPr id="6" name="Icon GraduationCap 5" descr="icon003.png"/>
          <p:cNvPicPr>
            <a:picLocks noChangeAspect="1"/>
          </p:cNvPicPr>
          <p:nvPr/>
        </p:nvPicPr>
        <p:blipFill>
          <a:blip r:embed="rId2"/>
          <a:stretch>
            <a:fillRect/>
          </a:stretch>
        </p:blipFill>
        <p:spPr>
          <a:xfrm>
            <a:off x="8210550" y="1981795"/>
            <a:ext cx="501650" cy="501650"/>
          </a:xfrm>
          <a:prstGeom prst="rect">
            <a:avLst/>
          </a:prstGeom>
        </p:spPr>
      </p:pic>
      <p:sp>
        <p:nvSpPr>
          <p:cNvPr id="7" name="Text 6"/>
          <p:cNvSpPr txBox="1"/>
          <p:nvPr/>
        </p:nvSpPr>
        <p:spPr>
          <a:xfrm>
            <a:off x="8001000" y="2597745"/>
            <a:ext cx="31432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خريج بلا خبرة</a:t>
            </a:r>
          </a:p>
        </p:txBody>
      </p:sp>
      <p:sp>
        <p:nvSpPr>
          <p:cNvPr id="8" name="Text 7"/>
          <p:cNvSpPr txBox="1"/>
          <p:nvPr/>
        </p:nvSpPr>
        <p:spPr>
          <a:xfrm>
            <a:off x="8122539" y="3079647"/>
            <a:ext cx="3021711" cy="12001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100" b="0" i="0">
                <a:solidFill>
                  <a:srgbClr val="4E5A66"/>
                </a:solidFill>
                <a:latin typeface="IBM Plex Sans Arabic"/>
                <a:ea typeface="IBM Plex Sans Arabic"/>
                <a:cs typeface="IBM Plex Sans Arabic"/>
              </a:rPr>
              <a:t>من أي تخصص: حاسب، أو نظم، أو إدارة، أو قانون، أو محاسبة.</a:t>
            </a:r>
          </a:p>
        </p:txBody>
      </p:sp>
      <p:sp>
        <p:nvSpPr>
          <p:cNvPr id="9" name="Box 8"/>
          <p:cNvSpPr/>
          <p:nvPr/>
        </p:nvSpPr>
        <p:spPr>
          <a:xfrm>
            <a:off x="4397375" y="1724620"/>
            <a:ext cx="3397250" cy="3263900"/>
          </a:xfrm>
          <a:prstGeom prst="roundRect">
            <a:avLst>
              <a:gd name="adj" fmla="val 3495"/>
            </a:avLst>
          </a:prstGeom>
          <a:solidFill>
            <a:srgbClr val="FFFDF8"/>
          </a:solidFill>
          <a:ln w="6350">
            <a:solidFill>
              <a:srgbClr val="E1DBCD"/>
            </a:solidFill>
          </a:ln>
        </p:spPr>
        <p:txBody>
          <a:bodyPr rtlCol="0" anchor="ctr"/>
          <a:lstStyle/>
          <a:p>
            <a:pPr algn="ctr"/>
          </a:p>
        </p:txBody>
      </p:sp>
      <p:pic>
        <p:nvPicPr>
          <p:cNvPr id="10" name="Icon Settings 9" descr="icon004.png"/>
          <p:cNvPicPr>
            <a:picLocks noChangeAspect="1"/>
          </p:cNvPicPr>
          <p:nvPr/>
        </p:nvPicPr>
        <p:blipFill>
          <a:blip r:embed="rId3"/>
          <a:stretch>
            <a:fillRect/>
          </a:stretch>
        </p:blipFill>
        <p:spPr>
          <a:xfrm>
            <a:off x="4629150" y="1981795"/>
            <a:ext cx="501650" cy="501650"/>
          </a:xfrm>
          <a:prstGeom prst="rect">
            <a:avLst/>
          </a:prstGeom>
        </p:spPr>
      </p:pic>
      <p:sp>
        <p:nvSpPr>
          <p:cNvPr id="11" name="Text 10"/>
          <p:cNvSpPr txBox="1"/>
          <p:nvPr/>
        </p:nvSpPr>
        <p:spPr>
          <a:xfrm>
            <a:off x="4541139" y="2597745"/>
            <a:ext cx="3021711" cy="793750"/>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موظف تقنية يريد التحول</a:t>
            </a:r>
          </a:p>
        </p:txBody>
      </p:sp>
      <p:sp>
        <p:nvSpPr>
          <p:cNvPr id="12" name="Text 11"/>
          <p:cNvSpPr txBox="1"/>
          <p:nvPr/>
        </p:nvSpPr>
        <p:spPr>
          <a:xfrm>
            <a:off x="4541139" y="3476522"/>
            <a:ext cx="3021711" cy="12001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100" b="0" i="0">
                <a:solidFill>
                  <a:srgbClr val="4E5A66"/>
                </a:solidFill>
                <a:latin typeface="IBM Plex Sans Arabic"/>
                <a:ea typeface="IBM Plex Sans Arabic"/>
                <a:cs typeface="IBM Plex Sans Arabic"/>
              </a:rPr>
              <a:t>دعم فني، أو شبكات، أو تطوير، ويريد مساراً يجمع التقنية بالإدارة.</a:t>
            </a:r>
          </a:p>
        </p:txBody>
      </p:sp>
      <p:sp>
        <p:nvSpPr>
          <p:cNvPr id="13" name="Box 12"/>
          <p:cNvSpPr/>
          <p:nvPr/>
        </p:nvSpPr>
        <p:spPr>
          <a:xfrm>
            <a:off x="815975" y="1724620"/>
            <a:ext cx="3397250" cy="3263900"/>
          </a:xfrm>
          <a:prstGeom prst="roundRect">
            <a:avLst>
              <a:gd name="adj" fmla="val 3495"/>
            </a:avLst>
          </a:prstGeom>
          <a:solidFill>
            <a:srgbClr val="FFFDF8"/>
          </a:solidFill>
          <a:ln w="6350">
            <a:solidFill>
              <a:srgbClr val="E1DBCD"/>
            </a:solidFill>
          </a:ln>
        </p:spPr>
        <p:txBody>
          <a:bodyPr rtlCol="0" anchor="ctr"/>
          <a:lstStyle/>
          <a:p>
            <a:pPr algn="ctr"/>
          </a:p>
        </p:txBody>
      </p:sp>
      <p:pic>
        <p:nvPicPr>
          <p:cNvPr id="14" name="Icon Book 13" descr="icon005.png"/>
          <p:cNvPicPr>
            <a:picLocks noChangeAspect="1"/>
          </p:cNvPicPr>
          <p:nvPr/>
        </p:nvPicPr>
        <p:blipFill>
          <a:blip r:embed="rId4"/>
          <a:stretch>
            <a:fillRect/>
          </a:stretch>
        </p:blipFill>
        <p:spPr>
          <a:xfrm>
            <a:off x="1047750" y="1981795"/>
            <a:ext cx="501650" cy="501650"/>
          </a:xfrm>
          <a:prstGeom prst="rect">
            <a:avLst/>
          </a:prstGeom>
        </p:spPr>
      </p:pic>
      <p:sp>
        <p:nvSpPr>
          <p:cNvPr id="15" name="Text 14"/>
          <p:cNvSpPr txBox="1"/>
          <p:nvPr/>
        </p:nvSpPr>
        <p:spPr>
          <a:xfrm>
            <a:off x="959739" y="2597745"/>
            <a:ext cx="3021711" cy="793750"/>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مختص تدقيق أو قانون أو جودة</a:t>
            </a:r>
          </a:p>
        </p:txBody>
      </p:sp>
      <p:sp>
        <p:nvSpPr>
          <p:cNvPr id="16" name="Text 15"/>
          <p:cNvSpPr txBox="1"/>
          <p:nvPr/>
        </p:nvSpPr>
        <p:spPr>
          <a:xfrm>
            <a:off x="959739" y="3476522"/>
            <a:ext cx="3021711"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100" b="0" i="0">
                <a:solidFill>
                  <a:srgbClr val="4E5A66"/>
                </a:solidFill>
                <a:latin typeface="IBM Plex Sans Arabic"/>
                <a:ea typeface="IBM Plex Sans Arabic"/>
                <a:cs typeface="IBM Plex Sans Arabic"/>
              </a:rPr>
              <a:t>يملك نصف المهارة، ويحتاج لغة الأمن السيبراني.</a:t>
            </a:r>
          </a:p>
        </p:txBody>
      </p:sp>
      <p:sp>
        <p:nvSpPr>
          <p:cNvPr id="17" name="Box 16"/>
          <p:cNvSpPr/>
          <p:nvPr/>
        </p:nvSpPr>
        <p:spPr>
          <a:xfrm>
            <a:off x="812800" y="5245695"/>
            <a:ext cx="10566400" cy="627360"/>
          </a:xfrm>
          <a:prstGeom prst="roundRect">
            <a:avLst>
              <a:gd name="adj" fmla="val 16194"/>
            </a:avLst>
          </a:prstGeom>
          <a:solidFill>
            <a:srgbClr val="E3F1ED"/>
          </a:solidFill>
          <a:ln>
            <a:noFill/>
          </a:ln>
        </p:spPr>
        <p:txBody>
          <a:bodyPr rtlCol="0" anchor="ctr"/>
          <a:lstStyle/>
          <a:p>
            <a:pPr algn="ctr"/>
          </a:p>
        </p:txBody>
      </p:sp>
      <p:pic>
        <p:nvPicPr>
          <p:cNvPr id="18" name="Icon Lightbulb 17" descr="icon006.png"/>
          <p:cNvPicPr>
            <a:picLocks noChangeAspect="1"/>
          </p:cNvPicPr>
          <p:nvPr/>
        </p:nvPicPr>
        <p:blipFill>
          <a:blip r:embed="rId5"/>
          <a:stretch>
            <a:fillRect/>
          </a:stretch>
        </p:blipFill>
        <p:spPr>
          <a:xfrm>
            <a:off x="10928350" y="5422801"/>
            <a:ext cx="273050" cy="273050"/>
          </a:xfrm>
          <a:prstGeom prst="rect">
            <a:avLst/>
          </a:prstGeom>
        </p:spPr>
      </p:pic>
      <p:sp>
        <p:nvSpPr>
          <p:cNvPr id="19" name="Text 18"/>
          <p:cNvSpPr txBox="1"/>
          <p:nvPr/>
        </p:nvSpPr>
        <p:spPr>
          <a:xfrm>
            <a:off x="838200" y="5331357"/>
            <a:ext cx="997585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لا تحتاج خلفية في الأمن السيبراني. تحتاج فضولاً، وكتابة واضحة، واستعداداً للتطبيق.</a:t>
            </a:r>
          </a:p>
        </p:txBody>
      </p:sp>
      <p:sp>
        <p:nvSpPr>
          <p:cNvPr id="20" name="Text 19"/>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1" name="Text 20"/>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الكورس: ثماني وحدات من الفكرة إلى الوظيفة</a:t>
            </a:r>
          </a:p>
        </p:txBody>
      </p:sp>
      <p:sp>
        <p:nvSpPr>
          <p:cNvPr id="5" name="Text 4"/>
          <p:cNvSpPr txBox="1"/>
          <p:nvPr/>
        </p:nvSpPr>
        <p:spPr>
          <a:xfrm>
            <a:off x="0" y="1600065"/>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1" i="0">
                <a:solidFill>
                  <a:srgbClr val="0E7C6B"/>
                </a:solidFill>
                <a:latin typeface="IBM Plex Sans Arabic"/>
                <a:ea typeface="IBM Plex Sans Arabic"/>
                <a:cs typeface="IBM Plex Sans Arabic"/>
              </a:rPr>
              <a:t>المعرفة والتطبيق: الوحدات 1 إلى 4</a:t>
            </a:r>
          </a:p>
        </p:txBody>
      </p:sp>
      <p:sp>
        <p:nvSpPr>
          <p:cNvPr id="6" name="Box 5"/>
          <p:cNvSpPr/>
          <p:nvPr/>
        </p:nvSpPr>
        <p:spPr>
          <a:xfrm>
            <a:off x="8823325" y="2014736"/>
            <a:ext cx="2555875" cy="1810941"/>
          </a:xfrm>
          <a:prstGeom prst="roundRect">
            <a:avLst>
              <a:gd name="adj" fmla="val 6311"/>
            </a:avLst>
          </a:prstGeom>
          <a:solidFill>
            <a:srgbClr val="FFFDF8"/>
          </a:solidFill>
          <a:ln>
            <a:noFill/>
          </a:ln>
        </p:spPr>
        <p:txBody>
          <a:bodyPr rtlCol="0" anchor="ctr"/>
          <a:lstStyle/>
          <a:p>
            <a:pPr algn="ctr"/>
          </a:p>
        </p:txBody>
      </p:sp>
      <p:sp>
        <p:nvSpPr>
          <p:cNvPr id="7" name="Rule 6"/>
          <p:cNvSpPr/>
          <p:nvPr/>
        </p:nvSpPr>
        <p:spPr>
          <a:xfrm>
            <a:off x="8823325" y="2014736"/>
            <a:ext cx="2555875" cy="50800"/>
          </a:xfrm>
          <a:prstGeom prst="rect">
            <a:avLst/>
          </a:prstGeom>
          <a:solidFill>
            <a:srgbClr val="0E7C6B"/>
          </a:solidFill>
          <a:ln>
            <a:noFill/>
          </a:ln>
        </p:spPr>
        <p:txBody>
          <a:bodyPr rtlCol="0" anchor="ctr"/>
          <a:lstStyle/>
          <a:p>
            <a:pPr algn="ctr"/>
          </a:p>
        </p:txBody>
      </p:sp>
      <p:sp>
        <p:nvSpPr>
          <p:cNvPr id="8" name="Rule 7"/>
          <p:cNvSpPr/>
          <p:nvPr/>
        </p:nvSpPr>
        <p:spPr>
          <a:xfrm>
            <a:off x="11372850" y="2014736"/>
            <a:ext cx="6350" cy="1810941"/>
          </a:xfrm>
          <a:prstGeom prst="rect">
            <a:avLst/>
          </a:prstGeom>
          <a:solidFill>
            <a:srgbClr val="E1DBCD"/>
          </a:solidFill>
          <a:ln>
            <a:noFill/>
          </a:ln>
        </p:spPr>
        <p:txBody>
          <a:bodyPr rtlCol="0" anchor="ctr"/>
          <a:lstStyle/>
          <a:p>
            <a:pPr algn="ctr"/>
          </a:p>
        </p:txBody>
      </p:sp>
      <p:sp>
        <p:nvSpPr>
          <p:cNvPr id="9" name="Rule 8"/>
          <p:cNvSpPr/>
          <p:nvPr/>
        </p:nvSpPr>
        <p:spPr>
          <a:xfrm>
            <a:off x="8823325" y="3819327"/>
            <a:ext cx="2555875" cy="6350"/>
          </a:xfrm>
          <a:prstGeom prst="rect">
            <a:avLst/>
          </a:prstGeom>
          <a:solidFill>
            <a:srgbClr val="E1DBCD"/>
          </a:solidFill>
          <a:ln>
            <a:noFill/>
          </a:ln>
        </p:spPr>
        <p:txBody>
          <a:bodyPr rtlCol="0" anchor="ctr"/>
          <a:lstStyle/>
          <a:p>
            <a:pPr algn="ctr"/>
          </a:p>
        </p:txBody>
      </p:sp>
      <p:sp>
        <p:nvSpPr>
          <p:cNvPr id="10" name="Rule 9"/>
          <p:cNvSpPr/>
          <p:nvPr/>
        </p:nvSpPr>
        <p:spPr>
          <a:xfrm>
            <a:off x="8823325" y="2014736"/>
            <a:ext cx="6350" cy="1810941"/>
          </a:xfrm>
          <a:prstGeom prst="rect">
            <a:avLst/>
          </a:prstGeom>
          <a:solidFill>
            <a:srgbClr val="E1DBCD"/>
          </a:solidFill>
          <a:ln>
            <a:noFill/>
          </a:ln>
        </p:spPr>
        <p:txBody>
          <a:bodyPr rtlCol="0" anchor="ctr"/>
          <a:lstStyle/>
          <a:p>
            <a:pPr algn="ctr"/>
          </a:p>
        </p:txBody>
      </p:sp>
      <p:sp>
        <p:nvSpPr>
          <p:cNvPr id="11" name="Text 10"/>
          <p:cNvSpPr txBox="1"/>
          <p:nvPr/>
        </p:nvSpPr>
        <p:spPr>
          <a:xfrm>
            <a:off x="8848725" y="2249241"/>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01</a:t>
            </a:r>
          </a:p>
        </p:txBody>
      </p:sp>
      <p:sp>
        <p:nvSpPr>
          <p:cNvPr id="12" name="Text 11"/>
          <p:cNvSpPr txBox="1"/>
          <p:nvPr/>
        </p:nvSpPr>
        <p:spPr>
          <a:xfrm>
            <a:off x="8848725" y="2633226"/>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ما هو GRC؟</a:t>
            </a:r>
          </a:p>
        </p:txBody>
      </p:sp>
      <p:sp>
        <p:nvSpPr>
          <p:cNvPr id="13" name="Text 12"/>
          <p:cNvSpPr txBox="1"/>
          <p:nvPr/>
        </p:nvSpPr>
        <p:spPr>
          <a:xfrm>
            <a:off x="8848725" y="3010956"/>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الفكرة، والأدوار، ويوم العمل</a:t>
            </a:r>
          </a:p>
        </p:txBody>
      </p:sp>
      <p:sp>
        <p:nvSpPr>
          <p:cNvPr id="14" name="Box 13"/>
          <p:cNvSpPr/>
          <p:nvPr/>
        </p:nvSpPr>
        <p:spPr>
          <a:xfrm>
            <a:off x="6153150" y="2014736"/>
            <a:ext cx="2555875" cy="1810941"/>
          </a:xfrm>
          <a:prstGeom prst="roundRect">
            <a:avLst>
              <a:gd name="adj" fmla="val 6311"/>
            </a:avLst>
          </a:prstGeom>
          <a:solidFill>
            <a:srgbClr val="FFFDF8"/>
          </a:solidFill>
          <a:ln>
            <a:noFill/>
          </a:ln>
        </p:spPr>
        <p:txBody>
          <a:bodyPr rtlCol="0" anchor="ctr"/>
          <a:lstStyle/>
          <a:p>
            <a:pPr algn="ctr"/>
          </a:p>
        </p:txBody>
      </p:sp>
      <p:sp>
        <p:nvSpPr>
          <p:cNvPr id="15" name="Rule 14"/>
          <p:cNvSpPr/>
          <p:nvPr/>
        </p:nvSpPr>
        <p:spPr>
          <a:xfrm>
            <a:off x="6153150" y="2014736"/>
            <a:ext cx="2555875" cy="50800"/>
          </a:xfrm>
          <a:prstGeom prst="rect">
            <a:avLst/>
          </a:prstGeom>
          <a:solidFill>
            <a:srgbClr val="0E7C6B"/>
          </a:solidFill>
          <a:ln>
            <a:noFill/>
          </a:ln>
        </p:spPr>
        <p:txBody>
          <a:bodyPr rtlCol="0" anchor="ctr"/>
          <a:lstStyle/>
          <a:p>
            <a:pPr algn="ctr"/>
          </a:p>
        </p:txBody>
      </p:sp>
      <p:sp>
        <p:nvSpPr>
          <p:cNvPr id="16" name="Rule 15"/>
          <p:cNvSpPr/>
          <p:nvPr/>
        </p:nvSpPr>
        <p:spPr>
          <a:xfrm>
            <a:off x="8702675" y="2014736"/>
            <a:ext cx="6350" cy="1810941"/>
          </a:xfrm>
          <a:prstGeom prst="rect">
            <a:avLst/>
          </a:prstGeom>
          <a:solidFill>
            <a:srgbClr val="E1DBCD"/>
          </a:solidFill>
          <a:ln>
            <a:noFill/>
          </a:ln>
        </p:spPr>
        <p:txBody>
          <a:bodyPr rtlCol="0" anchor="ctr"/>
          <a:lstStyle/>
          <a:p>
            <a:pPr algn="ctr"/>
          </a:p>
        </p:txBody>
      </p:sp>
      <p:sp>
        <p:nvSpPr>
          <p:cNvPr id="17" name="Rule 16"/>
          <p:cNvSpPr/>
          <p:nvPr/>
        </p:nvSpPr>
        <p:spPr>
          <a:xfrm>
            <a:off x="6153150" y="3819327"/>
            <a:ext cx="2555875" cy="6350"/>
          </a:xfrm>
          <a:prstGeom prst="rect">
            <a:avLst/>
          </a:prstGeom>
          <a:solidFill>
            <a:srgbClr val="E1DBCD"/>
          </a:solidFill>
          <a:ln>
            <a:noFill/>
          </a:ln>
        </p:spPr>
        <p:txBody>
          <a:bodyPr rtlCol="0" anchor="ctr"/>
          <a:lstStyle/>
          <a:p>
            <a:pPr algn="ctr"/>
          </a:p>
        </p:txBody>
      </p:sp>
      <p:sp>
        <p:nvSpPr>
          <p:cNvPr id="18" name="Rule 17"/>
          <p:cNvSpPr/>
          <p:nvPr/>
        </p:nvSpPr>
        <p:spPr>
          <a:xfrm>
            <a:off x="6153150" y="2014736"/>
            <a:ext cx="6350" cy="1810941"/>
          </a:xfrm>
          <a:prstGeom prst="rect">
            <a:avLst/>
          </a:prstGeom>
          <a:solidFill>
            <a:srgbClr val="E1DBCD"/>
          </a:solidFill>
          <a:ln>
            <a:noFill/>
          </a:ln>
        </p:spPr>
        <p:txBody>
          <a:bodyPr rtlCol="0" anchor="ctr"/>
          <a:lstStyle/>
          <a:p>
            <a:pPr algn="ctr"/>
          </a:p>
        </p:txBody>
      </p:sp>
      <p:sp>
        <p:nvSpPr>
          <p:cNvPr id="19" name="Text 18"/>
          <p:cNvSpPr txBox="1"/>
          <p:nvPr/>
        </p:nvSpPr>
        <p:spPr>
          <a:xfrm>
            <a:off x="6178550" y="2249241"/>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02</a:t>
            </a:r>
          </a:p>
        </p:txBody>
      </p:sp>
      <p:sp>
        <p:nvSpPr>
          <p:cNvPr id="20" name="Text 19"/>
          <p:cNvSpPr txBox="1"/>
          <p:nvPr/>
        </p:nvSpPr>
        <p:spPr>
          <a:xfrm>
            <a:off x="6258211" y="2633226"/>
            <a:ext cx="2279364"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المفاهيم وتطبيقاتها</a:t>
            </a:r>
          </a:p>
        </p:txBody>
      </p:sp>
      <p:sp>
        <p:nvSpPr>
          <p:cNvPr id="21" name="Text 20"/>
          <p:cNvSpPr txBox="1"/>
          <p:nvPr/>
        </p:nvSpPr>
        <p:spPr>
          <a:xfrm>
            <a:off x="6178550" y="3341156"/>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حوكمة، ومخاطر، وامتثال</a:t>
            </a:r>
          </a:p>
        </p:txBody>
      </p:sp>
      <p:sp>
        <p:nvSpPr>
          <p:cNvPr id="22" name="Box 21"/>
          <p:cNvSpPr/>
          <p:nvPr/>
        </p:nvSpPr>
        <p:spPr>
          <a:xfrm>
            <a:off x="3482975" y="2014736"/>
            <a:ext cx="2555875" cy="1810941"/>
          </a:xfrm>
          <a:prstGeom prst="roundRect">
            <a:avLst>
              <a:gd name="adj" fmla="val 6311"/>
            </a:avLst>
          </a:prstGeom>
          <a:solidFill>
            <a:srgbClr val="FFFDF8"/>
          </a:solidFill>
          <a:ln>
            <a:noFill/>
          </a:ln>
        </p:spPr>
        <p:txBody>
          <a:bodyPr rtlCol="0" anchor="ctr"/>
          <a:lstStyle/>
          <a:p>
            <a:pPr algn="ctr"/>
          </a:p>
        </p:txBody>
      </p:sp>
      <p:sp>
        <p:nvSpPr>
          <p:cNvPr id="23" name="Rule 22"/>
          <p:cNvSpPr/>
          <p:nvPr/>
        </p:nvSpPr>
        <p:spPr>
          <a:xfrm>
            <a:off x="3482975" y="2014736"/>
            <a:ext cx="2555875" cy="50800"/>
          </a:xfrm>
          <a:prstGeom prst="rect">
            <a:avLst/>
          </a:prstGeom>
          <a:solidFill>
            <a:srgbClr val="0E7C6B"/>
          </a:solidFill>
          <a:ln>
            <a:noFill/>
          </a:ln>
        </p:spPr>
        <p:txBody>
          <a:bodyPr rtlCol="0" anchor="ctr"/>
          <a:lstStyle/>
          <a:p>
            <a:pPr algn="ctr"/>
          </a:p>
        </p:txBody>
      </p:sp>
      <p:sp>
        <p:nvSpPr>
          <p:cNvPr id="24" name="Rule 23"/>
          <p:cNvSpPr/>
          <p:nvPr/>
        </p:nvSpPr>
        <p:spPr>
          <a:xfrm>
            <a:off x="6032500" y="2014736"/>
            <a:ext cx="6350" cy="1810941"/>
          </a:xfrm>
          <a:prstGeom prst="rect">
            <a:avLst/>
          </a:prstGeom>
          <a:solidFill>
            <a:srgbClr val="E1DBCD"/>
          </a:solidFill>
          <a:ln>
            <a:noFill/>
          </a:ln>
        </p:spPr>
        <p:txBody>
          <a:bodyPr rtlCol="0" anchor="ctr"/>
          <a:lstStyle/>
          <a:p>
            <a:pPr algn="ctr"/>
          </a:p>
        </p:txBody>
      </p:sp>
      <p:sp>
        <p:nvSpPr>
          <p:cNvPr id="25" name="Rule 24"/>
          <p:cNvSpPr/>
          <p:nvPr/>
        </p:nvSpPr>
        <p:spPr>
          <a:xfrm>
            <a:off x="3482975" y="3819327"/>
            <a:ext cx="2555875" cy="6350"/>
          </a:xfrm>
          <a:prstGeom prst="rect">
            <a:avLst/>
          </a:prstGeom>
          <a:solidFill>
            <a:srgbClr val="E1DBCD"/>
          </a:solidFill>
          <a:ln>
            <a:noFill/>
          </a:ln>
        </p:spPr>
        <p:txBody>
          <a:bodyPr rtlCol="0" anchor="ctr"/>
          <a:lstStyle/>
          <a:p>
            <a:pPr algn="ctr"/>
          </a:p>
        </p:txBody>
      </p:sp>
      <p:sp>
        <p:nvSpPr>
          <p:cNvPr id="26" name="Rule 25"/>
          <p:cNvSpPr/>
          <p:nvPr/>
        </p:nvSpPr>
        <p:spPr>
          <a:xfrm>
            <a:off x="3482975" y="2014736"/>
            <a:ext cx="6350" cy="1810941"/>
          </a:xfrm>
          <a:prstGeom prst="rect">
            <a:avLst/>
          </a:prstGeom>
          <a:solidFill>
            <a:srgbClr val="E1DBCD"/>
          </a:solidFill>
          <a:ln>
            <a:noFill/>
          </a:ln>
        </p:spPr>
        <p:txBody>
          <a:bodyPr rtlCol="0" anchor="ctr"/>
          <a:lstStyle/>
          <a:p>
            <a:pPr algn="ctr"/>
          </a:p>
        </p:txBody>
      </p:sp>
      <p:sp>
        <p:nvSpPr>
          <p:cNvPr id="27" name="Text 26"/>
          <p:cNvSpPr txBox="1"/>
          <p:nvPr/>
        </p:nvSpPr>
        <p:spPr>
          <a:xfrm>
            <a:off x="3508375" y="2249241"/>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03</a:t>
            </a:r>
          </a:p>
        </p:txBody>
      </p:sp>
      <p:sp>
        <p:nvSpPr>
          <p:cNvPr id="28" name="Text 27"/>
          <p:cNvSpPr txBox="1"/>
          <p:nvPr/>
        </p:nvSpPr>
        <p:spPr>
          <a:xfrm>
            <a:off x="3508375" y="2633226"/>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الأطر والانطباق</a:t>
            </a:r>
          </a:p>
        </p:txBody>
      </p:sp>
      <p:sp>
        <p:nvSpPr>
          <p:cNvPr id="29" name="Text 28"/>
          <p:cNvSpPr txBox="1"/>
          <p:nvPr/>
        </p:nvSpPr>
        <p:spPr>
          <a:xfrm>
            <a:off x="3508375" y="3010956"/>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ما الذي ينطبق على الجهة؟</a:t>
            </a:r>
          </a:p>
        </p:txBody>
      </p:sp>
      <p:sp>
        <p:nvSpPr>
          <p:cNvPr id="30" name="Box 29"/>
          <p:cNvSpPr/>
          <p:nvPr/>
        </p:nvSpPr>
        <p:spPr>
          <a:xfrm>
            <a:off x="812800" y="2014736"/>
            <a:ext cx="2555875" cy="1810941"/>
          </a:xfrm>
          <a:prstGeom prst="roundRect">
            <a:avLst>
              <a:gd name="adj" fmla="val 6311"/>
            </a:avLst>
          </a:prstGeom>
          <a:solidFill>
            <a:srgbClr val="FFFDF8"/>
          </a:solidFill>
          <a:ln>
            <a:noFill/>
          </a:ln>
        </p:spPr>
        <p:txBody>
          <a:bodyPr rtlCol="0" anchor="ctr"/>
          <a:lstStyle/>
          <a:p>
            <a:pPr algn="ctr"/>
          </a:p>
        </p:txBody>
      </p:sp>
      <p:sp>
        <p:nvSpPr>
          <p:cNvPr id="31" name="Rule 30"/>
          <p:cNvSpPr/>
          <p:nvPr/>
        </p:nvSpPr>
        <p:spPr>
          <a:xfrm>
            <a:off x="812800" y="2014736"/>
            <a:ext cx="2555875" cy="50800"/>
          </a:xfrm>
          <a:prstGeom prst="rect">
            <a:avLst/>
          </a:prstGeom>
          <a:solidFill>
            <a:srgbClr val="0E7C6B"/>
          </a:solidFill>
          <a:ln>
            <a:noFill/>
          </a:ln>
        </p:spPr>
        <p:txBody>
          <a:bodyPr rtlCol="0" anchor="ctr"/>
          <a:lstStyle/>
          <a:p>
            <a:pPr algn="ctr"/>
          </a:p>
        </p:txBody>
      </p:sp>
      <p:sp>
        <p:nvSpPr>
          <p:cNvPr id="32" name="Rule 31"/>
          <p:cNvSpPr/>
          <p:nvPr/>
        </p:nvSpPr>
        <p:spPr>
          <a:xfrm>
            <a:off x="3362325" y="2014736"/>
            <a:ext cx="6350" cy="1810941"/>
          </a:xfrm>
          <a:prstGeom prst="rect">
            <a:avLst/>
          </a:prstGeom>
          <a:solidFill>
            <a:srgbClr val="E1DBCD"/>
          </a:solidFill>
          <a:ln>
            <a:noFill/>
          </a:ln>
        </p:spPr>
        <p:txBody>
          <a:bodyPr rtlCol="0" anchor="ctr"/>
          <a:lstStyle/>
          <a:p>
            <a:pPr algn="ctr"/>
          </a:p>
        </p:txBody>
      </p:sp>
      <p:sp>
        <p:nvSpPr>
          <p:cNvPr id="33" name="Rule 32"/>
          <p:cNvSpPr/>
          <p:nvPr/>
        </p:nvSpPr>
        <p:spPr>
          <a:xfrm>
            <a:off x="812800" y="3819327"/>
            <a:ext cx="2555875" cy="6350"/>
          </a:xfrm>
          <a:prstGeom prst="rect">
            <a:avLst/>
          </a:prstGeom>
          <a:solidFill>
            <a:srgbClr val="E1DBCD"/>
          </a:solidFill>
          <a:ln>
            <a:noFill/>
          </a:ln>
        </p:spPr>
        <p:txBody>
          <a:bodyPr rtlCol="0" anchor="ctr"/>
          <a:lstStyle/>
          <a:p>
            <a:pPr algn="ctr"/>
          </a:p>
        </p:txBody>
      </p:sp>
      <p:sp>
        <p:nvSpPr>
          <p:cNvPr id="34" name="Rule 33"/>
          <p:cNvSpPr/>
          <p:nvPr/>
        </p:nvSpPr>
        <p:spPr>
          <a:xfrm>
            <a:off x="812800" y="2014736"/>
            <a:ext cx="6350" cy="1810941"/>
          </a:xfrm>
          <a:prstGeom prst="rect">
            <a:avLst/>
          </a:prstGeom>
          <a:solidFill>
            <a:srgbClr val="E1DBCD"/>
          </a:solidFill>
          <a:ln>
            <a:noFill/>
          </a:ln>
        </p:spPr>
        <p:txBody>
          <a:bodyPr rtlCol="0" anchor="ctr"/>
          <a:lstStyle/>
          <a:p>
            <a:pPr algn="ctr"/>
          </a:p>
        </p:txBody>
      </p:sp>
      <p:sp>
        <p:nvSpPr>
          <p:cNvPr id="35" name="Text 34"/>
          <p:cNvSpPr txBox="1"/>
          <p:nvPr/>
        </p:nvSpPr>
        <p:spPr>
          <a:xfrm>
            <a:off x="838200" y="2249241"/>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04</a:t>
            </a:r>
          </a:p>
        </p:txBody>
      </p:sp>
      <p:sp>
        <p:nvSpPr>
          <p:cNvPr id="36" name="Text 35"/>
          <p:cNvSpPr txBox="1"/>
          <p:nvPr/>
        </p:nvSpPr>
        <p:spPr>
          <a:xfrm>
            <a:off x="838200" y="2633226"/>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الشهادات</a:t>
            </a:r>
          </a:p>
        </p:txBody>
      </p:sp>
      <p:sp>
        <p:nvSpPr>
          <p:cNvPr id="37" name="Text 36"/>
          <p:cNvSpPr txBox="1"/>
          <p:nvPr/>
        </p:nvSpPr>
        <p:spPr>
          <a:xfrm>
            <a:off x="838200" y="3010956"/>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لمن، ومتى، وكيف تختار</a:t>
            </a:r>
          </a:p>
        </p:txBody>
      </p:sp>
      <p:sp>
        <p:nvSpPr>
          <p:cNvPr id="38" name="Text 37"/>
          <p:cNvSpPr txBox="1"/>
          <p:nvPr/>
        </p:nvSpPr>
        <p:spPr>
          <a:xfrm>
            <a:off x="0" y="3882096"/>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1" i="0">
                <a:solidFill>
                  <a:srgbClr val="8A4B12"/>
                </a:solidFill>
                <a:latin typeface="IBM Plex Sans Arabic"/>
                <a:ea typeface="IBM Plex Sans Arabic"/>
                <a:cs typeface="IBM Plex Sans Arabic"/>
              </a:rPr>
              <a:t>الوصول إلى الوظيفة: الوحدات 5 إلى 8</a:t>
            </a:r>
          </a:p>
        </p:txBody>
      </p:sp>
      <p:sp>
        <p:nvSpPr>
          <p:cNvPr id="39" name="Box 38"/>
          <p:cNvSpPr/>
          <p:nvPr/>
        </p:nvSpPr>
        <p:spPr>
          <a:xfrm>
            <a:off x="8823325" y="4296767"/>
            <a:ext cx="2555875" cy="1480741"/>
          </a:xfrm>
          <a:prstGeom prst="roundRect">
            <a:avLst>
              <a:gd name="adj" fmla="val 7719"/>
            </a:avLst>
          </a:prstGeom>
          <a:solidFill>
            <a:srgbClr val="FFFDF8"/>
          </a:solidFill>
          <a:ln>
            <a:noFill/>
          </a:ln>
        </p:spPr>
        <p:txBody>
          <a:bodyPr rtlCol="0" anchor="ctr"/>
          <a:lstStyle/>
          <a:p>
            <a:pPr algn="ctr"/>
          </a:p>
        </p:txBody>
      </p:sp>
      <p:sp>
        <p:nvSpPr>
          <p:cNvPr id="40" name="Rule 39"/>
          <p:cNvSpPr/>
          <p:nvPr/>
        </p:nvSpPr>
        <p:spPr>
          <a:xfrm>
            <a:off x="8823325" y="4296767"/>
            <a:ext cx="2555875" cy="50800"/>
          </a:xfrm>
          <a:prstGeom prst="rect">
            <a:avLst/>
          </a:prstGeom>
          <a:solidFill>
            <a:srgbClr val="C27A16"/>
          </a:solidFill>
          <a:ln>
            <a:noFill/>
          </a:ln>
        </p:spPr>
        <p:txBody>
          <a:bodyPr rtlCol="0" anchor="ctr"/>
          <a:lstStyle/>
          <a:p>
            <a:pPr algn="ctr"/>
          </a:p>
        </p:txBody>
      </p:sp>
      <p:sp>
        <p:nvSpPr>
          <p:cNvPr id="41" name="Rule 40"/>
          <p:cNvSpPr/>
          <p:nvPr/>
        </p:nvSpPr>
        <p:spPr>
          <a:xfrm>
            <a:off x="11372850" y="4296767"/>
            <a:ext cx="6350" cy="1480741"/>
          </a:xfrm>
          <a:prstGeom prst="rect">
            <a:avLst/>
          </a:prstGeom>
          <a:solidFill>
            <a:srgbClr val="E1DBCD"/>
          </a:solidFill>
          <a:ln>
            <a:noFill/>
          </a:ln>
        </p:spPr>
        <p:txBody>
          <a:bodyPr rtlCol="0" anchor="ctr"/>
          <a:lstStyle/>
          <a:p>
            <a:pPr algn="ctr"/>
          </a:p>
        </p:txBody>
      </p:sp>
      <p:sp>
        <p:nvSpPr>
          <p:cNvPr id="42" name="Rule 41"/>
          <p:cNvSpPr/>
          <p:nvPr/>
        </p:nvSpPr>
        <p:spPr>
          <a:xfrm>
            <a:off x="8823325" y="5771158"/>
            <a:ext cx="2555875" cy="6350"/>
          </a:xfrm>
          <a:prstGeom prst="rect">
            <a:avLst/>
          </a:prstGeom>
          <a:solidFill>
            <a:srgbClr val="E1DBCD"/>
          </a:solidFill>
          <a:ln>
            <a:noFill/>
          </a:ln>
        </p:spPr>
        <p:txBody>
          <a:bodyPr rtlCol="0" anchor="ctr"/>
          <a:lstStyle/>
          <a:p>
            <a:pPr algn="ctr"/>
          </a:p>
        </p:txBody>
      </p:sp>
      <p:sp>
        <p:nvSpPr>
          <p:cNvPr id="43" name="Rule 42"/>
          <p:cNvSpPr/>
          <p:nvPr/>
        </p:nvSpPr>
        <p:spPr>
          <a:xfrm>
            <a:off x="8823325" y="4296767"/>
            <a:ext cx="6350" cy="1480741"/>
          </a:xfrm>
          <a:prstGeom prst="rect">
            <a:avLst/>
          </a:prstGeom>
          <a:solidFill>
            <a:srgbClr val="E1DBCD"/>
          </a:solidFill>
          <a:ln>
            <a:noFill/>
          </a:ln>
        </p:spPr>
        <p:txBody>
          <a:bodyPr rtlCol="0" anchor="ctr"/>
          <a:lstStyle/>
          <a:p>
            <a:pPr algn="ctr"/>
          </a:p>
        </p:txBody>
      </p:sp>
      <p:sp>
        <p:nvSpPr>
          <p:cNvPr id="44" name="Text 43"/>
          <p:cNvSpPr txBox="1"/>
          <p:nvPr/>
        </p:nvSpPr>
        <p:spPr>
          <a:xfrm>
            <a:off x="8848725" y="4531273"/>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C27A16"/>
                </a:solidFill>
                <a:latin typeface="Readex Pro"/>
                <a:ea typeface="Readex Pro"/>
                <a:cs typeface="Readex Pro"/>
              </a:rPr>
              <a:t>05</a:t>
            </a:r>
          </a:p>
        </p:txBody>
      </p:sp>
      <p:sp>
        <p:nvSpPr>
          <p:cNvPr id="45" name="Text 44"/>
          <p:cNvSpPr txBox="1"/>
          <p:nvPr/>
        </p:nvSpPr>
        <p:spPr>
          <a:xfrm>
            <a:off x="8848725" y="4915257"/>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خطة البداية</a:t>
            </a:r>
          </a:p>
        </p:txBody>
      </p:sp>
      <p:sp>
        <p:nvSpPr>
          <p:cNvPr id="46" name="Text 45"/>
          <p:cNvSpPr txBox="1"/>
          <p:nvPr/>
        </p:nvSpPr>
        <p:spPr>
          <a:xfrm>
            <a:off x="8848725" y="5292987"/>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مشاريع وملف أعمال</a:t>
            </a:r>
          </a:p>
        </p:txBody>
      </p:sp>
      <p:sp>
        <p:nvSpPr>
          <p:cNvPr id="47" name="Box 46"/>
          <p:cNvSpPr/>
          <p:nvPr/>
        </p:nvSpPr>
        <p:spPr>
          <a:xfrm>
            <a:off x="6153150" y="4296767"/>
            <a:ext cx="2555875" cy="1480741"/>
          </a:xfrm>
          <a:prstGeom prst="roundRect">
            <a:avLst>
              <a:gd name="adj" fmla="val 7719"/>
            </a:avLst>
          </a:prstGeom>
          <a:solidFill>
            <a:srgbClr val="FFFDF8"/>
          </a:solidFill>
          <a:ln>
            <a:noFill/>
          </a:ln>
        </p:spPr>
        <p:txBody>
          <a:bodyPr rtlCol="0" anchor="ctr"/>
          <a:lstStyle/>
          <a:p>
            <a:pPr algn="ctr"/>
          </a:p>
        </p:txBody>
      </p:sp>
      <p:sp>
        <p:nvSpPr>
          <p:cNvPr id="48" name="Rule 47"/>
          <p:cNvSpPr/>
          <p:nvPr/>
        </p:nvSpPr>
        <p:spPr>
          <a:xfrm>
            <a:off x="6153150" y="4296767"/>
            <a:ext cx="2555875" cy="50800"/>
          </a:xfrm>
          <a:prstGeom prst="rect">
            <a:avLst/>
          </a:prstGeom>
          <a:solidFill>
            <a:srgbClr val="C27A16"/>
          </a:solidFill>
          <a:ln>
            <a:noFill/>
          </a:ln>
        </p:spPr>
        <p:txBody>
          <a:bodyPr rtlCol="0" anchor="ctr"/>
          <a:lstStyle/>
          <a:p>
            <a:pPr algn="ctr"/>
          </a:p>
        </p:txBody>
      </p:sp>
      <p:sp>
        <p:nvSpPr>
          <p:cNvPr id="49" name="Rule 48"/>
          <p:cNvSpPr/>
          <p:nvPr/>
        </p:nvSpPr>
        <p:spPr>
          <a:xfrm>
            <a:off x="8702675" y="4296767"/>
            <a:ext cx="6350" cy="1480741"/>
          </a:xfrm>
          <a:prstGeom prst="rect">
            <a:avLst/>
          </a:prstGeom>
          <a:solidFill>
            <a:srgbClr val="E1DBCD"/>
          </a:solidFill>
          <a:ln>
            <a:noFill/>
          </a:ln>
        </p:spPr>
        <p:txBody>
          <a:bodyPr rtlCol="0" anchor="ctr"/>
          <a:lstStyle/>
          <a:p>
            <a:pPr algn="ctr"/>
          </a:p>
        </p:txBody>
      </p:sp>
      <p:sp>
        <p:nvSpPr>
          <p:cNvPr id="50" name="Rule 49"/>
          <p:cNvSpPr/>
          <p:nvPr/>
        </p:nvSpPr>
        <p:spPr>
          <a:xfrm>
            <a:off x="6153150" y="5771158"/>
            <a:ext cx="2555875" cy="6350"/>
          </a:xfrm>
          <a:prstGeom prst="rect">
            <a:avLst/>
          </a:prstGeom>
          <a:solidFill>
            <a:srgbClr val="E1DBCD"/>
          </a:solidFill>
          <a:ln>
            <a:noFill/>
          </a:ln>
        </p:spPr>
        <p:txBody>
          <a:bodyPr rtlCol="0" anchor="ctr"/>
          <a:lstStyle/>
          <a:p>
            <a:pPr algn="ctr"/>
          </a:p>
        </p:txBody>
      </p:sp>
      <p:sp>
        <p:nvSpPr>
          <p:cNvPr id="51" name="Rule 50"/>
          <p:cNvSpPr/>
          <p:nvPr/>
        </p:nvSpPr>
        <p:spPr>
          <a:xfrm>
            <a:off x="6153150" y="4296767"/>
            <a:ext cx="6350" cy="1480741"/>
          </a:xfrm>
          <a:prstGeom prst="rect">
            <a:avLst/>
          </a:prstGeom>
          <a:solidFill>
            <a:srgbClr val="E1DBCD"/>
          </a:solidFill>
          <a:ln>
            <a:noFill/>
          </a:ln>
        </p:spPr>
        <p:txBody>
          <a:bodyPr rtlCol="0" anchor="ctr"/>
          <a:lstStyle/>
          <a:p>
            <a:pPr algn="ctr"/>
          </a:p>
        </p:txBody>
      </p:sp>
      <p:sp>
        <p:nvSpPr>
          <p:cNvPr id="52" name="Text 51"/>
          <p:cNvSpPr txBox="1"/>
          <p:nvPr/>
        </p:nvSpPr>
        <p:spPr>
          <a:xfrm>
            <a:off x="6178550" y="4531273"/>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C27A16"/>
                </a:solidFill>
                <a:latin typeface="Readex Pro"/>
                <a:ea typeface="Readex Pro"/>
                <a:cs typeface="Readex Pro"/>
              </a:rPr>
              <a:t>06</a:t>
            </a:r>
          </a:p>
        </p:txBody>
      </p:sp>
      <p:sp>
        <p:nvSpPr>
          <p:cNvPr id="53" name="Text 52"/>
          <p:cNvSpPr txBox="1"/>
          <p:nvPr/>
        </p:nvSpPr>
        <p:spPr>
          <a:xfrm>
            <a:off x="6178550" y="4915257"/>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السيرة الذاتية</a:t>
            </a:r>
          </a:p>
        </p:txBody>
      </p:sp>
      <p:sp>
        <p:nvSpPr>
          <p:cNvPr id="54" name="Text 53"/>
          <p:cNvSpPr txBox="1"/>
          <p:nvPr/>
        </p:nvSpPr>
        <p:spPr>
          <a:xfrm>
            <a:off x="6178550" y="5292987"/>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إنجازات تُقرأ</a:t>
            </a:r>
          </a:p>
        </p:txBody>
      </p:sp>
      <p:sp>
        <p:nvSpPr>
          <p:cNvPr id="55" name="Box 54"/>
          <p:cNvSpPr/>
          <p:nvPr/>
        </p:nvSpPr>
        <p:spPr>
          <a:xfrm>
            <a:off x="3482975" y="4296767"/>
            <a:ext cx="2555875" cy="1480741"/>
          </a:xfrm>
          <a:prstGeom prst="roundRect">
            <a:avLst>
              <a:gd name="adj" fmla="val 7719"/>
            </a:avLst>
          </a:prstGeom>
          <a:solidFill>
            <a:srgbClr val="FFFDF8"/>
          </a:solidFill>
          <a:ln>
            <a:noFill/>
          </a:ln>
        </p:spPr>
        <p:txBody>
          <a:bodyPr rtlCol="0" anchor="ctr"/>
          <a:lstStyle/>
          <a:p>
            <a:pPr algn="ctr"/>
          </a:p>
        </p:txBody>
      </p:sp>
      <p:sp>
        <p:nvSpPr>
          <p:cNvPr id="56" name="Rule 55"/>
          <p:cNvSpPr/>
          <p:nvPr/>
        </p:nvSpPr>
        <p:spPr>
          <a:xfrm>
            <a:off x="3482975" y="4296767"/>
            <a:ext cx="2555875" cy="50800"/>
          </a:xfrm>
          <a:prstGeom prst="rect">
            <a:avLst/>
          </a:prstGeom>
          <a:solidFill>
            <a:srgbClr val="C27A16"/>
          </a:solidFill>
          <a:ln>
            <a:noFill/>
          </a:ln>
        </p:spPr>
        <p:txBody>
          <a:bodyPr rtlCol="0" anchor="ctr"/>
          <a:lstStyle/>
          <a:p>
            <a:pPr algn="ctr"/>
          </a:p>
        </p:txBody>
      </p:sp>
      <p:sp>
        <p:nvSpPr>
          <p:cNvPr id="57" name="Rule 56"/>
          <p:cNvSpPr/>
          <p:nvPr/>
        </p:nvSpPr>
        <p:spPr>
          <a:xfrm>
            <a:off x="6032500" y="4296767"/>
            <a:ext cx="6350" cy="1480741"/>
          </a:xfrm>
          <a:prstGeom prst="rect">
            <a:avLst/>
          </a:prstGeom>
          <a:solidFill>
            <a:srgbClr val="E1DBCD"/>
          </a:solidFill>
          <a:ln>
            <a:noFill/>
          </a:ln>
        </p:spPr>
        <p:txBody>
          <a:bodyPr rtlCol="0" anchor="ctr"/>
          <a:lstStyle/>
          <a:p>
            <a:pPr algn="ctr"/>
          </a:p>
        </p:txBody>
      </p:sp>
      <p:sp>
        <p:nvSpPr>
          <p:cNvPr id="58" name="Rule 57"/>
          <p:cNvSpPr/>
          <p:nvPr/>
        </p:nvSpPr>
        <p:spPr>
          <a:xfrm>
            <a:off x="3482975" y="5771158"/>
            <a:ext cx="2555875" cy="6350"/>
          </a:xfrm>
          <a:prstGeom prst="rect">
            <a:avLst/>
          </a:prstGeom>
          <a:solidFill>
            <a:srgbClr val="E1DBCD"/>
          </a:solidFill>
          <a:ln>
            <a:noFill/>
          </a:ln>
        </p:spPr>
        <p:txBody>
          <a:bodyPr rtlCol="0" anchor="ctr"/>
          <a:lstStyle/>
          <a:p>
            <a:pPr algn="ctr"/>
          </a:p>
        </p:txBody>
      </p:sp>
      <p:sp>
        <p:nvSpPr>
          <p:cNvPr id="59" name="Rule 58"/>
          <p:cNvSpPr/>
          <p:nvPr/>
        </p:nvSpPr>
        <p:spPr>
          <a:xfrm>
            <a:off x="3482975" y="4296767"/>
            <a:ext cx="6350" cy="1480741"/>
          </a:xfrm>
          <a:prstGeom prst="rect">
            <a:avLst/>
          </a:prstGeom>
          <a:solidFill>
            <a:srgbClr val="E1DBCD"/>
          </a:solidFill>
          <a:ln>
            <a:noFill/>
          </a:ln>
        </p:spPr>
        <p:txBody>
          <a:bodyPr rtlCol="0" anchor="ctr"/>
          <a:lstStyle/>
          <a:p>
            <a:pPr algn="ctr"/>
          </a:p>
        </p:txBody>
      </p:sp>
      <p:sp>
        <p:nvSpPr>
          <p:cNvPr id="60" name="Text 59"/>
          <p:cNvSpPr txBox="1"/>
          <p:nvPr/>
        </p:nvSpPr>
        <p:spPr>
          <a:xfrm>
            <a:off x="3508375" y="4531273"/>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C27A16"/>
                </a:solidFill>
                <a:latin typeface="Readex Pro"/>
                <a:ea typeface="Readex Pro"/>
                <a:cs typeface="Readex Pro"/>
              </a:rPr>
              <a:t>07</a:t>
            </a:r>
          </a:p>
        </p:txBody>
      </p:sp>
      <p:sp>
        <p:nvSpPr>
          <p:cNvPr id="61" name="Text 60"/>
          <p:cNvSpPr txBox="1"/>
          <p:nvPr/>
        </p:nvSpPr>
        <p:spPr>
          <a:xfrm>
            <a:off x="3508375" y="4915257"/>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لينكدإن والفرص</a:t>
            </a:r>
          </a:p>
        </p:txBody>
      </p:sp>
      <p:sp>
        <p:nvSpPr>
          <p:cNvPr id="62" name="Text 61"/>
          <p:cNvSpPr txBox="1"/>
          <p:nvPr/>
        </p:nvSpPr>
        <p:spPr>
          <a:xfrm>
            <a:off x="3508375" y="5292987"/>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ملف يجده الباحث</a:t>
            </a:r>
          </a:p>
        </p:txBody>
      </p:sp>
      <p:sp>
        <p:nvSpPr>
          <p:cNvPr id="63" name="Box 62"/>
          <p:cNvSpPr/>
          <p:nvPr/>
        </p:nvSpPr>
        <p:spPr>
          <a:xfrm>
            <a:off x="812800" y="4296767"/>
            <a:ext cx="2555875" cy="1480741"/>
          </a:xfrm>
          <a:prstGeom prst="roundRect">
            <a:avLst>
              <a:gd name="adj" fmla="val 7719"/>
            </a:avLst>
          </a:prstGeom>
          <a:solidFill>
            <a:srgbClr val="FFFDF8"/>
          </a:solidFill>
          <a:ln>
            <a:noFill/>
          </a:ln>
        </p:spPr>
        <p:txBody>
          <a:bodyPr rtlCol="0" anchor="ctr"/>
          <a:lstStyle/>
          <a:p>
            <a:pPr algn="ctr"/>
          </a:p>
        </p:txBody>
      </p:sp>
      <p:sp>
        <p:nvSpPr>
          <p:cNvPr id="64" name="Rule 63"/>
          <p:cNvSpPr/>
          <p:nvPr/>
        </p:nvSpPr>
        <p:spPr>
          <a:xfrm>
            <a:off x="812800" y="4296767"/>
            <a:ext cx="2555875" cy="50800"/>
          </a:xfrm>
          <a:prstGeom prst="rect">
            <a:avLst/>
          </a:prstGeom>
          <a:solidFill>
            <a:srgbClr val="C27A16"/>
          </a:solidFill>
          <a:ln>
            <a:noFill/>
          </a:ln>
        </p:spPr>
        <p:txBody>
          <a:bodyPr rtlCol="0" anchor="ctr"/>
          <a:lstStyle/>
          <a:p>
            <a:pPr algn="ctr"/>
          </a:p>
        </p:txBody>
      </p:sp>
      <p:sp>
        <p:nvSpPr>
          <p:cNvPr id="65" name="Rule 64"/>
          <p:cNvSpPr/>
          <p:nvPr/>
        </p:nvSpPr>
        <p:spPr>
          <a:xfrm>
            <a:off x="3362325" y="4296767"/>
            <a:ext cx="6350" cy="1480741"/>
          </a:xfrm>
          <a:prstGeom prst="rect">
            <a:avLst/>
          </a:prstGeom>
          <a:solidFill>
            <a:srgbClr val="E1DBCD"/>
          </a:solidFill>
          <a:ln>
            <a:noFill/>
          </a:ln>
        </p:spPr>
        <p:txBody>
          <a:bodyPr rtlCol="0" anchor="ctr"/>
          <a:lstStyle/>
          <a:p>
            <a:pPr algn="ctr"/>
          </a:p>
        </p:txBody>
      </p:sp>
      <p:sp>
        <p:nvSpPr>
          <p:cNvPr id="66" name="Rule 65"/>
          <p:cNvSpPr/>
          <p:nvPr/>
        </p:nvSpPr>
        <p:spPr>
          <a:xfrm>
            <a:off x="812800" y="5771158"/>
            <a:ext cx="2555875" cy="6350"/>
          </a:xfrm>
          <a:prstGeom prst="rect">
            <a:avLst/>
          </a:prstGeom>
          <a:solidFill>
            <a:srgbClr val="E1DBCD"/>
          </a:solidFill>
          <a:ln>
            <a:noFill/>
          </a:ln>
        </p:spPr>
        <p:txBody>
          <a:bodyPr rtlCol="0" anchor="ctr"/>
          <a:lstStyle/>
          <a:p>
            <a:pPr algn="ctr"/>
          </a:p>
        </p:txBody>
      </p:sp>
      <p:sp>
        <p:nvSpPr>
          <p:cNvPr id="67" name="Rule 66"/>
          <p:cNvSpPr/>
          <p:nvPr/>
        </p:nvSpPr>
        <p:spPr>
          <a:xfrm>
            <a:off x="812800" y="4296767"/>
            <a:ext cx="6350" cy="1480741"/>
          </a:xfrm>
          <a:prstGeom prst="rect">
            <a:avLst/>
          </a:prstGeom>
          <a:solidFill>
            <a:srgbClr val="E1DBCD"/>
          </a:solidFill>
          <a:ln>
            <a:noFill/>
          </a:ln>
        </p:spPr>
        <p:txBody>
          <a:bodyPr rtlCol="0" anchor="ctr"/>
          <a:lstStyle/>
          <a:p>
            <a:pPr algn="ctr"/>
          </a:p>
        </p:txBody>
      </p:sp>
      <p:sp>
        <p:nvSpPr>
          <p:cNvPr id="68" name="Text 67"/>
          <p:cNvSpPr txBox="1"/>
          <p:nvPr/>
        </p:nvSpPr>
        <p:spPr>
          <a:xfrm>
            <a:off x="838200" y="4531273"/>
            <a:ext cx="235902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C27A16"/>
                </a:solidFill>
                <a:latin typeface="Readex Pro"/>
                <a:ea typeface="Readex Pro"/>
                <a:cs typeface="Readex Pro"/>
              </a:rPr>
              <a:t>08</a:t>
            </a:r>
          </a:p>
        </p:txBody>
      </p:sp>
      <p:sp>
        <p:nvSpPr>
          <p:cNvPr id="69" name="Text 68"/>
          <p:cNvSpPr txBox="1"/>
          <p:nvPr/>
        </p:nvSpPr>
        <p:spPr>
          <a:xfrm>
            <a:off x="838200" y="4915257"/>
            <a:ext cx="23590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المقابلة والانطلاق</a:t>
            </a:r>
          </a:p>
        </p:txBody>
      </p:sp>
      <p:sp>
        <p:nvSpPr>
          <p:cNvPr id="70" name="Text 69"/>
          <p:cNvSpPr txBox="1"/>
          <p:nvPr/>
        </p:nvSpPr>
        <p:spPr>
          <a:xfrm>
            <a:off x="838200" y="5292987"/>
            <a:ext cx="2359025"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إجابات وخطة</a:t>
            </a:r>
          </a:p>
        </p:txBody>
      </p:sp>
      <p:sp>
        <p:nvSpPr>
          <p:cNvPr id="71" name="Text 70"/>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72" name="Text 71"/>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الحالة العملية: شركة رُفاد</a:t>
            </a:r>
          </a:p>
        </p:txBody>
      </p:sp>
      <p:sp>
        <p:nvSpPr>
          <p:cNvPr id="5" name="Box 4"/>
          <p:cNvSpPr/>
          <p:nvPr/>
        </p:nvSpPr>
        <p:spPr>
          <a:xfrm>
            <a:off x="4960640" y="1657945"/>
            <a:ext cx="6418560" cy="4103688"/>
          </a:xfrm>
          <a:prstGeom prst="roundRect">
            <a:avLst>
              <a:gd name="adj" fmla="val 2785"/>
            </a:avLst>
          </a:prstGeom>
          <a:solidFill>
            <a:srgbClr val="FFFDF8"/>
          </a:solidFill>
          <a:ln>
            <a:noFill/>
          </a:ln>
        </p:spPr>
        <p:txBody>
          <a:bodyPr rtlCol="0" anchor="ctr"/>
          <a:lstStyle/>
          <a:p>
            <a:pPr algn="ctr"/>
          </a:p>
        </p:txBody>
      </p:sp>
      <p:sp>
        <p:nvSpPr>
          <p:cNvPr id="6" name="Rule 5"/>
          <p:cNvSpPr/>
          <p:nvPr/>
        </p:nvSpPr>
        <p:spPr>
          <a:xfrm>
            <a:off x="4960640" y="1657945"/>
            <a:ext cx="6418560" cy="6350"/>
          </a:xfrm>
          <a:prstGeom prst="rect">
            <a:avLst/>
          </a:prstGeom>
          <a:solidFill>
            <a:srgbClr val="E1DBCD"/>
          </a:solidFill>
          <a:ln>
            <a:noFill/>
          </a:ln>
        </p:spPr>
        <p:txBody>
          <a:bodyPr rtlCol="0" anchor="ctr"/>
          <a:lstStyle/>
          <a:p>
            <a:pPr algn="ctr"/>
          </a:p>
        </p:txBody>
      </p:sp>
      <p:sp>
        <p:nvSpPr>
          <p:cNvPr id="7" name="Rule 6"/>
          <p:cNvSpPr/>
          <p:nvPr/>
        </p:nvSpPr>
        <p:spPr>
          <a:xfrm>
            <a:off x="11328400" y="1657945"/>
            <a:ext cx="50800" cy="4103688"/>
          </a:xfrm>
          <a:prstGeom prst="rect">
            <a:avLst/>
          </a:prstGeom>
          <a:solidFill>
            <a:srgbClr val="0E7C6B"/>
          </a:solidFill>
          <a:ln>
            <a:noFill/>
          </a:ln>
        </p:spPr>
        <p:txBody>
          <a:bodyPr rtlCol="0" anchor="ctr"/>
          <a:lstStyle/>
          <a:p>
            <a:pPr algn="ctr"/>
          </a:p>
        </p:txBody>
      </p:sp>
      <p:sp>
        <p:nvSpPr>
          <p:cNvPr id="8" name="Rule 7"/>
          <p:cNvSpPr/>
          <p:nvPr/>
        </p:nvSpPr>
        <p:spPr>
          <a:xfrm>
            <a:off x="4960640" y="5755283"/>
            <a:ext cx="6418560" cy="6350"/>
          </a:xfrm>
          <a:prstGeom prst="rect">
            <a:avLst/>
          </a:prstGeom>
          <a:solidFill>
            <a:srgbClr val="E1DBCD"/>
          </a:solidFill>
          <a:ln>
            <a:noFill/>
          </a:ln>
        </p:spPr>
        <p:txBody>
          <a:bodyPr rtlCol="0" anchor="ctr"/>
          <a:lstStyle/>
          <a:p>
            <a:pPr algn="ctr"/>
          </a:p>
        </p:txBody>
      </p:sp>
      <p:sp>
        <p:nvSpPr>
          <p:cNvPr id="9" name="Rule 8"/>
          <p:cNvSpPr/>
          <p:nvPr/>
        </p:nvSpPr>
        <p:spPr>
          <a:xfrm>
            <a:off x="4960640" y="1657945"/>
            <a:ext cx="6350" cy="4103688"/>
          </a:xfrm>
          <a:prstGeom prst="rect">
            <a:avLst/>
          </a:prstGeom>
          <a:solidFill>
            <a:srgbClr val="E1DBCD"/>
          </a:solidFill>
          <a:ln>
            <a:noFill/>
          </a:ln>
        </p:spPr>
        <p:txBody>
          <a:bodyPr rtlCol="0" anchor="ctr"/>
          <a:lstStyle/>
          <a:p>
            <a:pPr algn="ctr"/>
          </a:p>
        </p:txBody>
      </p:sp>
      <p:sp>
        <p:nvSpPr>
          <p:cNvPr id="10" name="Text 9"/>
          <p:cNvSpPr txBox="1"/>
          <p:nvPr/>
        </p:nvSpPr>
        <p:spPr>
          <a:xfrm>
            <a:off x="4986040" y="1830411"/>
            <a:ext cx="6139160"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رُفاد للخدمات اللوجستية</a:t>
            </a:r>
          </a:p>
        </p:txBody>
      </p:sp>
      <p:sp>
        <p:nvSpPr>
          <p:cNvPr id="11" name="Text 10"/>
          <p:cNvSpPr txBox="1"/>
          <p:nvPr/>
        </p:nvSpPr>
        <p:spPr>
          <a:xfrm>
            <a:off x="4991540" y="2267672"/>
            <a:ext cx="61336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شركة افتراضية متوسطة الحجم في الرياض، نحو 200 موظف، تقدم خدمات التوصيل والتخزين للمتاجر الإلكترونية.</a:t>
            </a:r>
          </a:p>
        </p:txBody>
      </p:sp>
      <p:sp>
        <p:nvSpPr>
          <p:cNvPr id="12" name="Text 11"/>
          <p:cNvSpPr txBox="1"/>
          <p:nvPr/>
        </p:nvSpPr>
        <p:spPr>
          <a:xfrm>
            <a:off x="8966835" y="3041706"/>
            <a:ext cx="2158365"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نظام الموارد البشرية والرواتب</a:t>
            </a:r>
          </a:p>
        </p:txBody>
      </p:sp>
      <p:sp>
        <p:nvSpPr>
          <p:cNvPr id="13" name="Text 12"/>
          <p:cNvSpPr txBox="1"/>
          <p:nvPr/>
        </p:nvSpPr>
        <p:spPr>
          <a:xfrm>
            <a:off x="5057834" y="3041706"/>
            <a:ext cx="385756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خدمة سحابية. بيانات الموظفين ورواتبهم وحساباتهم البنكية. المالكة: مديرة الموارد البشرية.</a:t>
            </a:r>
          </a:p>
        </p:txBody>
      </p:sp>
      <p:sp>
        <p:nvSpPr>
          <p:cNvPr id="14" name="Text 13"/>
          <p:cNvSpPr txBox="1"/>
          <p:nvPr/>
        </p:nvSpPr>
        <p:spPr>
          <a:xfrm>
            <a:off x="8862060" y="3686826"/>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البريد والملفات السحابية</a:t>
            </a:r>
          </a:p>
        </p:txBody>
      </p:sp>
      <p:sp>
        <p:nvSpPr>
          <p:cNvPr id="15" name="Text 14"/>
          <p:cNvSpPr txBox="1"/>
          <p:nvPr/>
        </p:nvSpPr>
        <p:spPr>
          <a:xfrm>
            <a:off x="5057834" y="3686826"/>
            <a:ext cx="385756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منصة بريد وتخزين سحابية لكل الموظفين. المالك: مدير تقنية المعلومات.</a:t>
            </a:r>
          </a:p>
        </p:txBody>
      </p:sp>
      <p:sp>
        <p:nvSpPr>
          <p:cNvPr id="16" name="Text 15"/>
          <p:cNvSpPr txBox="1"/>
          <p:nvPr/>
        </p:nvSpPr>
        <p:spPr>
          <a:xfrm>
            <a:off x="8862060" y="4331946"/>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تطبيق تتبع الشحنات</a:t>
            </a:r>
          </a:p>
        </p:txBody>
      </p:sp>
      <p:sp>
        <p:nvSpPr>
          <p:cNvPr id="17" name="Text 16"/>
          <p:cNvSpPr txBox="1"/>
          <p:nvPr/>
        </p:nvSpPr>
        <p:spPr>
          <a:xfrm>
            <a:off x="5057834" y="4331946"/>
            <a:ext cx="385756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على خادم سحابي. أسماء المستلمين وهواتفهم وعناوينهم. المالك: مدير تقنية المعلومات.</a:t>
            </a:r>
          </a:p>
        </p:txBody>
      </p:sp>
      <p:sp>
        <p:nvSpPr>
          <p:cNvPr id="18" name="Text 17"/>
          <p:cNvSpPr txBox="1"/>
          <p:nvPr/>
        </p:nvSpPr>
        <p:spPr>
          <a:xfrm>
            <a:off x="8966835" y="4977066"/>
            <a:ext cx="2158365"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المورد: شركة سَنَد للحلول التقنية</a:t>
            </a:r>
          </a:p>
        </p:txBody>
      </p:sp>
      <p:sp>
        <p:nvSpPr>
          <p:cNvPr id="19" name="Text 18"/>
          <p:cNvSpPr txBox="1"/>
          <p:nvPr/>
        </p:nvSpPr>
        <p:spPr>
          <a:xfrm>
            <a:off x="5057834" y="4977066"/>
            <a:ext cx="385756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مورد افتراضي للدعم الفني وإدارة الخوادم عن بعد، بعقد سنوي.</a:t>
            </a:r>
          </a:p>
        </p:txBody>
      </p:sp>
      <p:sp>
        <p:nvSpPr>
          <p:cNvPr id="20" name="Box 19"/>
          <p:cNvSpPr/>
          <p:nvPr/>
        </p:nvSpPr>
        <p:spPr>
          <a:xfrm>
            <a:off x="812800" y="1657945"/>
            <a:ext cx="3970040" cy="1391841"/>
          </a:xfrm>
          <a:prstGeom prst="roundRect">
            <a:avLst>
              <a:gd name="adj" fmla="val 7299"/>
            </a:avLst>
          </a:prstGeom>
          <a:solidFill>
            <a:srgbClr val="F6ECDA"/>
          </a:solidFill>
          <a:ln>
            <a:noFill/>
          </a:ln>
        </p:spPr>
        <p:txBody>
          <a:bodyPr rtlCol="0" anchor="ctr"/>
          <a:lstStyle/>
          <a:p>
            <a:pPr algn="ctr"/>
          </a:p>
        </p:txBody>
      </p:sp>
      <p:pic>
        <p:nvPicPr>
          <p:cNvPr id="21" name="Icon Warning 20" descr="icon007.png"/>
          <p:cNvPicPr>
            <a:picLocks noChangeAspect="1"/>
          </p:cNvPicPr>
          <p:nvPr/>
        </p:nvPicPr>
        <p:blipFill>
          <a:blip r:embed="rId2"/>
          <a:stretch>
            <a:fillRect/>
          </a:stretch>
        </p:blipFill>
        <p:spPr>
          <a:xfrm>
            <a:off x="4395490" y="2249091"/>
            <a:ext cx="209550" cy="209550"/>
          </a:xfrm>
          <a:prstGeom prst="rect">
            <a:avLst/>
          </a:prstGeom>
        </p:spPr>
      </p:pic>
      <p:sp>
        <p:nvSpPr>
          <p:cNvPr id="22" name="Text 21"/>
          <p:cNvSpPr txBox="1"/>
          <p:nvPr/>
        </p:nvSpPr>
        <p:spPr>
          <a:xfrm>
            <a:off x="891882" y="1753449"/>
            <a:ext cx="3389308" cy="1137841"/>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رُفاد شركة افتراضية لأغراض التدريب. اسمها وأشخاصها وأنظمتها وبياناتها وأدلتها مختلقة، وأي تشابه مع جهة حقيقية غير مقصود.</a:t>
            </a:r>
          </a:p>
        </p:txBody>
      </p:sp>
      <p:sp>
        <p:nvSpPr>
          <p:cNvPr id="23" name="Box 22"/>
          <p:cNvSpPr/>
          <p:nvPr/>
        </p:nvSpPr>
        <p:spPr>
          <a:xfrm>
            <a:off x="815975" y="3167261"/>
            <a:ext cx="3963690" cy="2591197"/>
          </a:xfrm>
          <a:prstGeom prst="roundRect">
            <a:avLst>
              <a:gd name="adj" fmla="val 4400"/>
            </a:avLst>
          </a:prstGeom>
          <a:solidFill>
            <a:srgbClr val="E6EDF4"/>
          </a:solidFill>
          <a:ln w="6350">
            <a:solidFill>
              <a:srgbClr val="C6D4E3"/>
            </a:solidFill>
          </a:ln>
        </p:spPr>
        <p:txBody>
          <a:bodyPr rtlCol="0" anchor="ctr"/>
          <a:lstStyle/>
          <a:p>
            <a:pPr algn="ctr"/>
          </a:p>
        </p:txBody>
      </p:sp>
      <p:sp>
        <p:nvSpPr>
          <p:cNvPr id="24" name="Text 23"/>
          <p:cNvSpPr txBox="1"/>
          <p:nvPr/>
        </p:nvSpPr>
        <p:spPr>
          <a:xfrm>
            <a:off x="838200" y="3278640"/>
            <a:ext cx="377319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24506B"/>
                </a:solidFill>
                <a:latin typeface="IBM Plex Sans Arabic"/>
                <a:ea typeface="IBM Plex Sans Arabic"/>
                <a:cs typeface="IBM Plex Sans Arabic"/>
              </a:rPr>
              <a:t>عن ECC في الحالة</a:t>
            </a:r>
          </a:p>
        </p:txBody>
      </p:sp>
      <p:sp>
        <p:nvSpPr>
          <p:cNvPr id="25" name="Text 24"/>
          <p:cNvSpPr txBox="1"/>
          <p:nvPr/>
        </p:nvSpPr>
        <p:spPr>
          <a:xfrm>
            <a:off x="875436" y="3609963"/>
            <a:ext cx="3735954" cy="1426766"/>
          </a:xfrm>
          <a:prstGeom prst="rect">
            <a:avLst/>
          </a:prstGeom>
          <a:noFill/>
        </p:spPr>
        <p:txBody>
          <a:bodyPr wrap="square" tIns="0" rIns="0" bIns="0" lIns="0" anchor="t" rtlCol="0" anchorCtr="0">
            <a:noAutofit/>
          </a:bodyPr>
          <a:lstStyle/>
          <a:p>
            <a:pPr algn="r" rtl="1">
              <a:lnSpc>
                <a:spcPts val="2248"/>
              </a:lnSpc>
              <a:spcBef>
                <a:spcPts val="0"/>
              </a:spcBef>
              <a:spcAft>
                <a:spcPts val="0"/>
              </a:spcAft>
            </a:pPr>
            <a:r>
              <a:rPr sz="1550" b="0" i="0">
                <a:solidFill>
                  <a:srgbClr val="172433"/>
                </a:solidFill>
                <a:latin typeface="IBM Plex Sans Arabic"/>
                <a:ea typeface="IBM Plex Sans Arabic"/>
                <a:cs typeface="IBM Plex Sans Arabic"/>
              </a:rPr>
              <a:t>رُفاد شركة خاصة ليست جهة حكومية ولا تابعة لجهة حكومية، ولا تملك بنية تحتية وطنية حساسة، فالضوابط الأساسية ‎ECC-2:2024‎ غير ملزمة لها. في هذه الحالة التدريبية تبنّتها رُفاد طوعاً مرجعاً داخلياً.</a:t>
            </a:r>
          </a:p>
        </p:txBody>
      </p:sp>
      <p:sp>
        <p:nvSpPr>
          <p:cNvPr id="26" name="Text 2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7" name="Text 2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يفعل ماذا في رُفاد</a:t>
            </a:r>
          </a:p>
        </p:txBody>
      </p:sp>
      <p:graphicFrame>
        <p:nvGraphicFramePr>
          <p:cNvPr id="5" name="Table 4"/>
          <p:cNvGraphicFramePr>
            <a:graphicFrameLocks noGrp="1"/>
          </p:cNvGraphicFramePr>
          <p:nvPr/>
        </p:nvGraphicFramePr>
        <p:xfrm>
          <a:off x="815975" y="1661120"/>
          <a:ext cx="10560050" cy="3902072"/>
        </p:xfrm>
        <a:graphic>
          <a:graphicData uri="http://schemas.openxmlformats.org/drawingml/2006/table">
            <a:tbl>
              <a:tblPr firstRow="0" bandRow="0" lastRow="0" firstCol="0" lastCol="0" bandCol="0">
                <a:tableStyleId>{2D5ABB26-0587-4C30-8999-92F81FD0307C}</a:tableStyleId>
              </a:tblPr>
              <a:tblGrid>
                <a:gridCol w="5068570"/>
                <a:gridCol w="2323465"/>
                <a:gridCol w="3168015"/>
              </a:tblGrid>
              <a:tr h="487759">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ماذا يفعل في الحالة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الشخص</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الدور</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صاحب الصلاحية: يعتمد السياسات ويقبل المخاطر</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أ. خالد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الرئيس التنفيذي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تشرف وتتابع كل ربع سنة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يرأسها الرئيس التنفيذي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لجنة الأمن السيبراني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الخط الثاني: المنهجية والمتابعة والتقارير</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أ. ريم</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مسؤولة GRC</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تساعد ريم في كل تطبيقات الكورس</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أنت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محلل GRC متدرب</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يملك الأنظمة التقنية ويشرف على المورد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 سلمان</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مدير تقنية المعلومات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مالكة نظام الموارد البشرية والرواتب</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أ. منى</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مديرة الموارد البشرية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العقود والمشتريات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أ. فهد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172433"/>
                          </a:solidFill>
                          <a:latin typeface="IBM Plex Sans Arabic"/>
                          <a:ea typeface="IBM Plex Sans Arabic"/>
                          <a:cs typeface="IBM Plex Sans Arabic"/>
                        </a:rPr>
                        <a:t>المدير المالي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7" name="Text 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48651" y="1423690"/>
            <a:ext cx="233054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01</a:t>
            </a:r>
          </a:p>
        </p:txBody>
      </p:sp>
      <p:sp>
        <p:nvSpPr>
          <p:cNvPr id="4" name="Text 3"/>
          <p:cNvSpPr txBox="1"/>
          <p:nvPr/>
        </p:nvSpPr>
        <p:spPr>
          <a:xfrm>
            <a:off x="5809119" y="1845155"/>
            <a:ext cx="369673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ما هو GRC؟</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قبل المصطلحات والأطر: ما العمل الذي يقوم به مختص GRC، ولماذا تحتاجه كل جهة؟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تشرح GRC بثلاثة أسئلة وبمثال من رُفاد.</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لماذا تحتاجه الجهات، وأين يقع بين أدوار الأمن.</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شكل يوم العمل والمسميات المبتدئة.</a:t>
            </a:r>
          </a:p>
        </p:txBody>
      </p:sp>
      <p:sp>
        <p:nvSpPr>
          <p:cNvPr id="14" name="Text 13"/>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01 · ما هو GRC؟</a:t>
            </a:r>
          </a:p>
        </p:txBody>
      </p:sp>
      <p:sp>
        <p:nvSpPr>
          <p:cNvPr id="15" name="Text 14"/>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 كلمات، وسؤال لكل منها</a:t>
            </a:r>
          </a:p>
        </p:txBody>
      </p:sp>
      <p:sp>
        <p:nvSpPr>
          <p:cNvPr id="5" name="Box 4"/>
          <p:cNvSpPr/>
          <p:nvPr/>
        </p:nvSpPr>
        <p:spPr>
          <a:xfrm>
            <a:off x="7958634" y="1657945"/>
            <a:ext cx="3420566" cy="3370858"/>
          </a:xfrm>
          <a:prstGeom prst="roundRect">
            <a:avLst>
              <a:gd name="adj" fmla="val 3390"/>
            </a:avLst>
          </a:prstGeom>
          <a:solidFill>
            <a:srgbClr val="FFFDF8"/>
          </a:solidFill>
          <a:ln>
            <a:noFill/>
          </a:ln>
        </p:spPr>
        <p:txBody>
          <a:bodyPr rtlCol="0" anchor="ctr"/>
          <a:lstStyle/>
          <a:p>
            <a:pPr algn="ctr"/>
          </a:p>
        </p:txBody>
      </p:sp>
      <p:sp>
        <p:nvSpPr>
          <p:cNvPr id="6" name="Rule 5"/>
          <p:cNvSpPr/>
          <p:nvPr/>
        </p:nvSpPr>
        <p:spPr>
          <a:xfrm>
            <a:off x="7958634" y="1657945"/>
            <a:ext cx="3420566"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370858"/>
          </a:xfrm>
          <a:prstGeom prst="rect">
            <a:avLst/>
          </a:prstGeom>
          <a:solidFill>
            <a:srgbClr val="E1DBCD"/>
          </a:solidFill>
          <a:ln>
            <a:noFill/>
          </a:ln>
        </p:spPr>
        <p:txBody>
          <a:bodyPr rtlCol="0" anchor="ctr"/>
          <a:lstStyle/>
          <a:p>
            <a:pPr algn="ctr"/>
          </a:p>
        </p:txBody>
      </p:sp>
      <p:sp>
        <p:nvSpPr>
          <p:cNvPr id="8" name="Rule 7"/>
          <p:cNvSpPr/>
          <p:nvPr/>
        </p:nvSpPr>
        <p:spPr>
          <a:xfrm>
            <a:off x="7958634" y="5022453"/>
            <a:ext cx="3420566" cy="6350"/>
          </a:xfrm>
          <a:prstGeom prst="rect">
            <a:avLst/>
          </a:prstGeom>
          <a:solidFill>
            <a:srgbClr val="E1DBCD"/>
          </a:solidFill>
          <a:ln>
            <a:noFill/>
          </a:ln>
        </p:spPr>
        <p:txBody>
          <a:bodyPr rtlCol="0" anchor="ctr"/>
          <a:lstStyle/>
          <a:p>
            <a:pPr algn="ctr"/>
          </a:p>
        </p:txBody>
      </p:sp>
      <p:sp>
        <p:nvSpPr>
          <p:cNvPr id="9" name="Rule 8"/>
          <p:cNvSpPr/>
          <p:nvPr/>
        </p:nvSpPr>
        <p:spPr>
          <a:xfrm>
            <a:off x="7958634" y="1657945"/>
            <a:ext cx="6350" cy="3370858"/>
          </a:xfrm>
          <a:prstGeom prst="rect">
            <a:avLst/>
          </a:prstGeom>
          <a:solidFill>
            <a:srgbClr val="E1DBCD"/>
          </a:solidFill>
          <a:ln>
            <a:noFill/>
          </a:ln>
        </p:spPr>
        <p:txBody>
          <a:bodyPr rtlCol="0" anchor="ctr"/>
          <a:lstStyle/>
          <a:p>
            <a:pPr algn="ctr"/>
          </a:p>
        </p:txBody>
      </p:sp>
      <p:sp>
        <p:nvSpPr>
          <p:cNvPr id="10" name="Text 9"/>
          <p:cNvSpPr txBox="1"/>
          <p:nvPr/>
        </p:nvSpPr>
        <p:spPr>
          <a:xfrm>
            <a:off x="7984034" y="1871178"/>
            <a:ext cx="3211016"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400" b="1" i="0">
                <a:solidFill>
                  <a:srgbClr val="0E7C6B"/>
                </a:solidFill>
                <a:latin typeface="Readex Pro"/>
                <a:ea typeface="Readex Pro"/>
                <a:cs typeface="Readex Pro"/>
              </a:rPr>
              <a:t>Governance</a:t>
            </a:r>
          </a:p>
        </p:txBody>
      </p:sp>
      <p:sp>
        <p:nvSpPr>
          <p:cNvPr id="11" name="Text 10"/>
          <p:cNvSpPr txBox="1"/>
          <p:nvPr/>
        </p:nvSpPr>
        <p:spPr>
          <a:xfrm>
            <a:off x="7984034" y="2150666"/>
            <a:ext cx="3211016"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الحوكمة</a:t>
            </a:r>
          </a:p>
        </p:txBody>
      </p:sp>
      <p:sp>
        <p:nvSpPr>
          <p:cNvPr id="12" name="Text 11"/>
          <p:cNvSpPr txBox="1"/>
          <p:nvPr/>
        </p:nvSpPr>
        <p:spPr>
          <a:xfrm>
            <a:off x="8051216" y="2599039"/>
            <a:ext cx="3143834"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من يقرر، وبأي قواعد، وكيف نتابع؟</a:t>
            </a:r>
          </a:p>
        </p:txBody>
      </p:sp>
      <p:sp>
        <p:nvSpPr>
          <p:cNvPr id="13" name="Text 12"/>
          <p:cNvSpPr txBox="1"/>
          <p:nvPr/>
        </p:nvSpPr>
        <p:spPr>
          <a:xfrm>
            <a:off x="8051216" y="3350403"/>
            <a:ext cx="3143834" cy="607616"/>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4E5A66"/>
                </a:solidFill>
                <a:latin typeface="IBM Plex Sans Arabic"/>
                <a:ea typeface="IBM Plex Sans Arabic"/>
                <a:cs typeface="IBM Plex Sans Arabic"/>
              </a:rPr>
              <a:t>ما تنتجه: سياسات معتمدة، ولجنة، وأدوار.</a:t>
            </a:r>
          </a:p>
        </p:txBody>
      </p:sp>
      <p:sp>
        <p:nvSpPr>
          <p:cNvPr id="14" name="Box 13"/>
          <p:cNvSpPr/>
          <p:nvPr/>
        </p:nvSpPr>
        <p:spPr>
          <a:xfrm>
            <a:off x="8142784" y="4071938"/>
            <a:ext cx="3052266" cy="785416"/>
          </a:xfrm>
          <a:prstGeom prst="roundRect">
            <a:avLst>
              <a:gd name="adj" fmla="val 9701"/>
            </a:avLst>
          </a:prstGeom>
          <a:solidFill>
            <a:srgbClr val="F1ECE1"/>
          </a:solidFill>
          <a:ln>
            <a:noFill/>
          </a:ln>
        </p:spPr>
        <p:txBody>
          <a:bodyPr rtlCol="0" anchor="ctr"/>
          <a:lstStyle/>
          <a:p>
            <a:pPr algn="ctr"/>
          </a:p>
        </p:txBody>
      </p:sp>
      <p:sp>
        <p:nvSpPr>
          <p:cNvPr id="15" name="Text 14"/>
          <p:cNvSpPr txBox="1"/>
          <p:nvPr/>
        </p:nvSpPr>
        <p:spPr>
          <a:xfrm>
            <a:off x="8172374" y="4123118"/>
            <a:ext cx="2908376" cy="607616"/>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172433"/>
                </a:solidFill>
                <a:latin typeface="IBM Plex Sans Arabic"/>
                <a:ea typeface="IBM Plex Sans Arabic"/>
                <a:cs typeface="IBM Plex Sans Arabic"/>
              </a:rPr>
              <a:t>في رُفاد: الرئيس التنفيذي يعتمد سياسة الأمن السيبراني.</a:t>
            </a:r>
          </a:p>
        </p:txBody>
      </p:sp>
      <p:sp>
        <p:nvSpPr>
          <p:cNvPr id="16" name="Box 15"/>
          <p:cNvSpPr/>
          <p:nvPr/>
        </p:nvSpPr>
        <p:spPr>
          <a:xfrm>
            <a:off x="4385667" y="1657945"/>
            <a:ext cx="3420566" cy="3370858"/>
          </a:xfrm>
          <a:prstGeom prst="roundRect">
            <a:avLst>
              <a:gd name="adj" fmla="val 3390"/>
            </a:avLst>
          </a:prstGeom>
          <a:solidFill>
            <a:srgbClr val="FFFDF8"/>
          </a:solidFill>
          <a:ln>
            <a:noFill/>
          </a:ln>
        </p:spPr>
        <p:txBody>
          <a:bodyPr rtlCol="0" anchor="ctr"/>
          <a:lstStyle/>
          <a:p>
            <a:pPr algn="ctr"/>
          </a:p>
        </p:txBody>
      </p:sp>
      <p:sp>
        <p:nvSpPr>
          <p:cNvPr id="17" name="Rule 16"/>
          <p:cNvSpPr/>
          <p:nvPr/>
        </p:nvSpPr>
        <p:spPr>
          <a:xfrm>
            <a:off x="4385667" y="1657945"/>
            <a:ext cx="3420566" cy="50800"/>
          </a:xfrm>
          <a:prstGeom prst="rect">
            <a:avLst/>
          </a:prstGeom>
          <a:solidFill>
            <a:srgbClr val="8A4B12"/>
          </a:solidFill>
          <a:ln>
            <a:noFill/>
          </a:ln>
        </p:spPr>
        <p:txBody>
          <a:bodyPr rtlCol="0" anchor="ctr"/>
          <a:lstStyle/>
          <a:p>
            <a:pPr algn="ctr"/>
          </a:p>
        </p:txBody>
      </p:sp>
      <p:sp>
        <p:nvSpPr>
          <p:cNvPr id="18" name="Rule 17"/>
          <p:cNvSpPr/>
          <p:nvPr/>
        </p:nvSpPr>
        <p:spPr>
          <a:xfrm>
            <a:off x="7799884" y="1657945"/>
            <a:ext cx="6350" cy="3370858"/>
          </a:xfrm>
          <a:prstGeom prst="rect">
            <a:avLst/>
          </a:prstGeom>
          <a:solidFill>
            <a:srgbClr val="E1DBCD"/>
          </a:solidFill>
          <a:ln>
            <a:noFill/>
          </a:ln>
        </p:spPr>
        <p:txBody>
          <a:bodyPr rtlCol="0" anchor="ctr"/>
          <a:lstStyle/>
          <a:p>
            <a:pPr algn="ctr"/>
          </a:p>
        </p:txBody>
      </p:sp>
      <p:sp>
        <p:nvSpPr>
          <p:cNvPr id="19" name="Rule 18"/>
          <p:cNvSpPr/>
          <p:nvPr/>
        </p:nvSpPr>
        <p:spPr>
          <a:xfrm>
            <a:off x="4385667" y="5022453"/>
            <a:ext cx="3420566" cy="6350"/>
          </a:xfrm>
          <a:prstGeom prst="rect">
            <a:avLst/>
          </a:prstGeom>
          <a:solidFill>
            <a:srgbClr val="E1DBCD"/>
          </a:solidFill>
          <a:ln>
            <a:noFill/>
          </a:ln>
        </p:spPr>
        <p:txBody>
          <a:bodyPr rtlCol="0" anchor="ctr"/>
          <a:lstStyle/>
          <a:p>
            <a:pPr algn="ctr"/>
          </a:p>
        </p:txBody>
      </p:sp>
      <p:sp>
        <p:nvSpPr>
          <p:cNvPr id="20" name="Rule 19"/>
          <p:cNvSpPr/>
          <p:nvPr/>
        </p:nvSpPr>
        <p:spPr>
          <a:xfrm>
            <a:off x="4385667" y="1657945"/>
            <a:ext cx="6350" cy="3370858"/>
          </a:xfrm>
          <a:prstGeom prst="rect">
            <a:avLst/>
          </a:prstGeom>
          <a:solidFill>
            <a:srgbClr val="E1DBCD"/>
          </a:solidFill>
          <a:ln>
            <a:noFill/>
          </a:ln>
        </p:spPr>
        <p:txBody>
          <a:bodyPr rtlCol="0" anchor="ctr"/>
          <a:lstStyle/>
          <a:p>
            <a:pPr algn="ctr"/>
          </a:p>
        </p:txBody>
      </p:sp>
      <p:sp>
        <p:nvSpPr>
          <p:cNvPr id="21" name="Text 20"/>
          <p:cNvSpPr txBox="1"/>
          <p:nvPr/>
        </p:nvSpPr>
        <p:spPr>
          <a:xfrm>
            <a:off x="4411067" y="1871178"/>
            <a:ext cx="3211016"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400" b="1" i="0">
                <a:solidFill>
                  <a:srgbClr val="8A4B12"/>
                </a:solidFill>
                <a:latin typeface="Readex Pro"/>
                <a:ea typeface="Readex Pro"/>
                <a:cs typeface="Readex Pro"/>
              </a:rPr>
              <a:t>Risk</a:t>
            </a:r>
          </a:p>
        </p:txBody>
      </p:sp>
      <p:sp>
        <p:nvSpPr>
          <p:cNvPr id="22" name="Text 21"/>
          <p:cNvSpPr txBox="1"/>
          <p:nvPr/>
        </p:nvSpPr>
        <p:spPr>
          <a:xfrm>
            <a:off x="4411067" y="2150666"/>
            <a:ext cx="3211016"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المخاطر</a:t>
            </a:r>
          </a:p>
        </p:txBody>
      </p:sp>
      <p:sp>
        <p:nvSpPr>
          <p:cNvPr id="23" name="Text 22"/>
          <p:cNvSpPr txBox="1"/>
          <p:nvPr/>
        </p:nvSpPr>
        <p:spPr>
          <a:xfrm>
            <a:off x="4478249" y="2599039"/>
            <a:ext cx="3143834"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8A4B12"/>
                </a:solidFill>
                <a:latin typeface="IBM Plex Sans Arabic"/>
                <a:ea typeface="IBM Plex Sans Arabic"/>
                <a:cs typeface="IBM Plex Sans Arabic"/>
              </a:rPr>
              <a:t>ما الذي قد يضرنا، وماذا نفعل حياله؟</a:t>
            </a:r>
          </a:p>
        </p:txBody>
      </p:sp>
      <p:sp>
        <p:nvSpPr>
          <p:cNvPr id="24" name="Text 23"/>
          <p:cNvSpPr txBox="1"/>
          <p:nvPr/>
        </p:nvSpPr>
        <p:spPr>
          <a:xfrm>
            <a:off x="4411067" y="3350403"/>
            <a:ext cx="3211016" cy="303808"/>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4E5A66"/>
                </a:solidFill>
                <a:latin typeface="IBM Plex Sans Arabic"/>
                <a:ea typeface="IBM Plex Sans Arabic"/>
                <a:cs typeface="IBM Plex Sans Arabic"/>
              </a:rPr>
              <a:t>ما تنتجه: سجل مخاطر وخطط معالجة.</a:t>
            </a:r>
          </a:p>
        </p:txBody>
      </p:sp>
      <p:sp>
        <p:nvSpPr>
          <p:cNvPr id="25" name="Box 24"/>
          <p:cNvSpPr/>
          <p:nvPr/>
        </p:nvSpPr>
        <p:spPr>
          <a:xfrm>
            <a:off x="4569817" y="3768130"/>
            <a:ext cx="3052266" cy="785416"/>
          </a:xfrm>
          <a:prstGeom prst="roundRect">
            <a:avLst>
              <a:gd name="adj" fmla="val 9701"/>
            </a:avLst>
          </a:prstGeom>
          <a:solidFill>
            <a:srgbClr val="F1ECE1"/>
          </a:solidFill>
          <a:ln>
            <a:noFill/>
          </a:ln>
        </p:spPr>
        <p:txBody>
          <a:bodyPr rtlCol="0" anchor="ctr"/>
          <a:lstStyle/>
          <a:p>
            <a:pPr algn="ctr"/>
          </a:p>
        </p:txBody>
      </p:sp>
      <p:sp>
        <p:nvSpPr>
          <p:cNvPr id="26" name="Text 25"/>
          <p:cNvSpPr txBox="1"/>
          <p:nvPr/>
        </p:nvSpPr>
        <p:spPr>
          <a:xfrm>
            <a:off x="4599407" y="3819311"/>
            <a:ext cx="2908376" cy="607616"/>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172433"/>
                </a:solidFill>
                <a:latin typeface="IBM Plex Sans Arabic"/>
                <a:ea typeface="IBM Plex Sans Arabic"/>
                <a:cs typeface="IBM Plex Sans Arabic"/>
              </a:rPr>
              <a:t>في رُفاد: تقييم خطر حساب المورد المشترك.</a:t>
            </a:r>
          </a:p>
        </p:txBody>
      </p:sp>
      <p:sp>
        <p:nvSpPr>
          <p:cNvPr id="27" name="Box 26"/>
          <p:cNvSpPr/>
          <p:nvPr/>
        </p:nvSpPr>
        <p:spPr>
          <a:xfrm>
            <a:off x="812701" y="1657945"/>
            <a:ext cx="3420566" cy="3370858"/>
          </a:xfrm>
          <a:prstGeom prst="roundRect">
            <a:avLst>
              <a:gd name="adj" fmla="val 3390"/>
            </a:avLst>
          </a:prstGeom>
          <a:solidFill>
            <a:srgbClr val="FFFDF8"/>
          </a:solidFill>
          <a:ln>
            <a:noFill/>
          </a:ln>
        </p:spPr>
        <p:txBody>
          <a:bodyPr rtlCol="0" anchor="ctr"/>
          <a:lstStyle/>
          <a:p>
            <a:pPr algn="ctr"/>
          </a:p>
        </p:txBody>
      </p:sp>
      <p:sp>
        <p:nvSpPr>
          <p:cNvPr id="28" name="Rule 27"/>
          <p:cNvSpPr/>
          <p:nvPr/>
        </p:nvSpPr>
        <p:spPr>
          <a:xfrm>
            <a:off x="812701" y="1657945"/>
            <a:ext cx="3420566" cy="50800"/>
          </a:xfrm>
          <a:prstGeom prst="rect">
            <a:avLst/>
          </a:prstGeom>
          <a:solidFill>
            <a:srgbClr val="24506B"/>
          </a:solidFill>
          <a:ln>
            <a:noFill/>
          </a:ln>
        </p:spPr>
        <p:txBody>
          <a:bodyPr rtlCol="0" anchor="ctr"/>
          <a:lstStyle/>
          <a:p>
            <a:pPr algn="ctr"/>
          </a:p>
        </p:txBody>
      </p:sp>
      <p:sp>
        <p:nvSpPr>
          <p:cNvPr id="29" name="Rule 28"/>
          <p:cNvSpPr/>
          <p:nvPr/>
        </p:nvSpPr>
        <p:spPr>
          <a:xfrm>
            <a:off x="4226917" y="1657945"/>
            <a:ext cx="6350" cy="3370858"/>
          </a:xfrm>
          <a:prstGeom prst="rect">
            <a:avLst/>
          </a:prstGeom>
          <a:solidFill>
            <a:srgbClr val="E1DBCD"/>
          </a:solidFill>
          <a:ln>
            <a:noFill/>
          </a:ln>
        </p:spPr>
        <p:txBody>
          <a:bodyPr rtlCol="0" anchor="ctr"/>
          <a:lstStyle/>
          <a:p>
            <a:pPr algn="ctr"/>
          </a:p>
        </p:txBody>
      </p:sp>
      <p:sp>
        <p:nvSpPr>
          <p:cNvPr id="30" name="Rule 29"/>
          <p:cNvSpPr/>
          <p:nvPr/>
        </p:nvSpPr>
        <p:spPr>
          <a:xfrm>
            <a:off x="812701" y="5022453"/>
            <a:ext cx="3420566" cy="6350"/>
          </a:xfrm>
          <a:prstGeom prst="rect">
            <a:avLst/>
          </a:prstGeom>
          <a:solidFill>
            <a:srgbClr val="E1DBCD"/>
          </a:solidFill>
          <a:ln>
            <a:noFill/>
          </a:ln>
        </p:spPr>
        <p:txBody>
          <a:bodyPr rtlCol="0" anchor="ctr"/>
          <a:lstStyle/>
          <a:p>
            <a:pPr algn="ctr"/>
          </a:p>
        </p:txBody>
      </p:sp>
      <p:sp>
        <p:nvSpPr>
          <p:cNvPr id="31" name="Rule 30"/>
          <p:cNvSpPr/>
          <p:nvPr/>
        </p:nvSpPr>
        <p:spPr>
          <a:xfrm>
            <a:off x="812701" y="1657945"/>
            <a:ext cx="6350" cy="3370858"/>
          </a:xfrm>
          <a:prstGeom prst="rect">
            <a:avLst/>
          </a:prstGeom>
          <a:solidFill>
            <a:srgbClr val="E1DBCD"/>
          </a:solidFill>
          <a:ln>
            <a:noFill/>
          </a:ln>
        </p:spPr>
        <p:txBody>
          <a:bodyPr rtlCol="0" anchor="ctr"/>
          <a:lstStyle/>
          <a:p>
            <a:pPr algn="ctr"/>
          </a:p>
        </p:txBody>
      </p:sp>
      <p:sp>
        <p:nvSpPr>
          <p:cNvPr id="32" name="Text 31"/>
          <p:cNvSpPr txBox="1"/>
          <p:nvPr/>
        </p:nvSpPr>
        <p:spPr>
          <a:xfrm>
            <a:off x="838101" y="1871178"/>
            <a:ext cx="3211016"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400" b="1" i="0">
                <a:solidFill>
                  <a:srgbClr val="24506B"/>
                </a:solidFill>
                <a:latin typeface="Readex Pro"/>
                <a:ea typeface="Readex Pro"/>
                <a:cs typeface="Readex Pro"/>
              </a:rPr>
              <a:t>Compliance</a:t>
            </a:r>
          </a:p>
        </p:txBody>
      </p:sp>
      <p:sp>
        <p:nvSpPr>
          <p:cNvPr id="33" name="Text 32"/>
          <p:cNvSpPr txBox="1"/>
          <p:nvPr/>
        </p:nvSpPr>
        <p:spPr>
          <a:xfrm>
            <a:off x="838101" y="2150666"/>
            <a:ext cx="3211016"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172433"/>
                </a:solidFill>
                <a:latin typeface="Readex Pro"/>
                <a:ea typeface="Readex Pro"/>
                <a:cs typeface="Readex Pro"/>
              </a:rPr>
              <a:t>الامتثال</a:t>
            </a:r>
          </a:p>
        </p:txBody>
      </p:sp>
      <p:sp>
        <p:nvSpPr>
          <p:cNvPr id="34" name="Text 33"/>
          <p:cNvSpPr txBox="1"/>
          <p:nvPr/>
        </p:nvSpPr>
        <p:spPr>
          <a:xfrm>
            <a:off x="838101" y="2599039"/>
            <a:ext cx="3211016"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هل نلتزم، وكيف نثبت؟</a:t>
            </a:r>
          </a:p>
        </p:txBody>
      </p:sp>
      <p:sp>
        <p:nvSpPr>
          <p:cNvPr id="35" name="Text 34"/>
          <p:cNvSpPr txBox="1"/>
          <p:nvPr/>
        </p:nvSpPr>
        <p:spPr>
          <a:xfrm>
            <a:off x="838101" y="3012662"/>
            <a:ext cx="3211016" cy="303808"/>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4E5A66"/>
                </a:solidFill>
                <a:latin typeface="IBM Plex Sans Arabic"/>
                <a:ea typeface="IBM Plex Sans Arabic"/>
                <a:cs typeface="IBM Plex Sans Arabic"/>
              </a:rPr>
              <a:t>ما تنتجه: تقييمات، وأدلة، وملاحظات.</a:t>
            </a:r>
          </a:p>
        </p:txBody>
      </p:sp>
      <p:sp>
        <p:nvSpPr>
          <p:cNvPr id="36" name="Box 35"/>
          <p:cNvSpPr/>
          <p:nvPr/>
        </p:nvSpPr>
        <p:spPr>
          <a:xfrm>
            <a:off x="996851" y="3430389"/>
            <a:ext cx="3052266" cy="785416"/>
          </a:xfrm>
          <a:prstGeom prst="roundRect">
            <a:avLst>
              <a:gd name="adj" fmla="val 9701"/>
            </a:avLst>
          </a:prstGeom>
          <a:solidFill>
            <a:srgbClr val="F1ECE1"/>
          </a:solidFill>
          <a:ln>
            <a:noFill/>
          </a:ln>
        </p:spPr>
        <p:txBody>
          <a:bodyPr rtlCol="0" anchor="ctr"/>
          <a:lstStyle/>
          <a:p>
            <a:pPr algn="ctr"/>
          </a:p>
        </p:txBody>
      </p:sp>
      <p:sp>
        <p:nvSpPr>
          <p:cNvPr id="37" name="Text 36"/>
          <p:cNvSpPr txBox="1"/>
          <p:nvPr/>
        </p:nvSpPr>
        <p:spPr>
          <a:xfrm>
            <a:off x="1026441" y="3481570"/>
            <a:ext cx="2908376" cy="607616"/>
          </a:xfrm>
          <a:prstGeom prst="rect">
            <a:avLst/>
          </a:prstGeom>
          <a:noFill/>
        </p:spPr>
        <p:txBody>
          <a:bodyPr wrap="square" tIns="0" rIns="0" bIns="0" lIns="0" anchor="t" rtlCol="0" anchorCtr="0">
            <a:noAutofit/>
          </a:bodyPr>
          <a:lstStyle/>
          <a:p>
            <a:pPr algn="r" rtl="1">
              <a:lnSpc>
                <a:spcPts val="2393"/>
              </a:lnSpc>
              <a:spcBef>
                <a:spcPts val="0"/>
              </a:spcBef>
              <a:spcAft>
                <a:spcPts val="0"/>
              </a:spcAft>
            </a:pPr>
            <a:r>
              <a:rPr sz="1650" b="0" i="0">
                <a:solidFill>
                  <a:srgbClr val="172433"/>
                </a:solidFill>
                <a:latin typeface="IBM Plex Sans Arabic"/>
                <a:ea typeface="IBM Plex Sans Arabic"/>
                <a:cs typeface="IBM Plex Sans Arabic"/>
              </a:rPr>
              <a:t>في رُفاد: فحص أدلة مراجعة صلاحيات نظام الرواتب.</a:t>
            </a:r>
          </a:p>
        </p:txBody>
      </p:sp>
      <p:sp>
        <p:nvSpPr>
          <p:cNvPr id="38" name="Box 37"/>
          <p:cNvSpPr/>
          <p:nvPr/>
        </p:nvSpPr>
        <p:spPr>
          <a:xfrm>
            <a:off x="812800" y="5219303"/>
            <a:ext cx="10566400" cy="591741"/>
          </a:xfrm>
          <a:prstGeom prst="roundRect">
            <a:avLst>
              <a:gd name="adj" fmla="val 17169"/>
            </a:avLst>
          </a:prstGeom>
          <a:solidFill>
            <a:srgbClr val="172433"/>
          </a:solidFill>
          <a:ln>
            <a:noFill/>
          </a:ln>
        </p:spPr>
        <p:txBody>
          <a:bodyPr rtlCol="0" anchor="ctr"/>
          <a:lstStyle/>
          <a:p>
            <a:pPr algn="ctr"/>
          </a:p>
        </p:txBody>
      </p:sp>
      <p:pic>
        <p:nvPicPr>
          <p:cNvPr id="39" name="Icon Lightbulb 38" descr="icon009.png"/>
          <p:cNvPicPr>
            <a:picLocks noChangeAspect="1"/>
          </p:cNvPicPr>
          <p:nvPr/>
        </p:nvPicPr>
        <p:blipFill>
          <a:blip r:embed="rId2"/>
          <a:stretch>
            <a:fillRect/>
          </a:stretch>
        </p:blipFill>
        <p:spPr>
          <a:xfrm>
            <a:off x="10953750" y="5391348"/>
            <a:ext cx="247650" cy="247650"/>
          </a:xfrm>
          <a:prstGeom prst="rect">
            <a:avLst/>
          </a:prstGeom>
        </p:spPr>
      </p:pic>
      <p:sp>
        <p:nvSpPr>
          <p:cNvPr id="40" name="Text 39"/>
          <p:cNvSpPr txBox="1"/>
          <p:nvPr/>
        </p:nvSpPr>
        <p:spPr>
          <a:xfrm>
            <a:off x="838200" y="5308902"/>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F3EFE6"/>
                </a:solidFill>
                <a:latin typeface="IBM Plex Sans Arabic"/>
                <a:ea typeface="IBM Plex Sans Arabic"/>
                <a:cs typeface="IBM Plex Sans Arabic"/>
              </a:rPr>
              <a:t>الحوكمة تضع القواعد، والمخاطر تحدد الأولويات، والامتثال يثبت التطبيق.</a:t>
            </a:r>
          </a:p>
        </p:txBody>
      </p:sp>
      <p:sp>
        <p:nvSpPr>
          <p:cNvPr id="41" name="Text 40"/>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42" name="Text 41"/>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تحتاج كل جهة من يعمل في GRC؟</a:t>
            </a:r>
          </a:p>
        </p:txBody>
      </p:sp>
      <p:sp>
        <p:nvSpPr>
          <p:cNvPr id="5" name="Box 4"/>
          <p:cNvSpPr/>
          <p:nvPr/>
        </p:nvSpPr>
        <p:spPr>
          <a:xfrm>
            <a:off x="7970341" y="1699220"/>
            <a:ext cx="3405684" cy="3103562"/>
          </a:xfrm>
          <a:prstGeom prst="roundRect">
            <a:avLst>
              <a:gd name="adj" fmla="val 3675"/>
            </a:avLst>
          </a:prstGeom>
          <a:solidFill>
            <a:srgbClr val="FFFDF8"/>
          </a:solidFill>
          <a:ln w="6350">
            <a:solidFill>
              <a:srgbClr val="E1DBCD"/>
            </a:solidFill>
          </a:ln>
        </p:spPr>
        <p:txBody>
          <a:bodyPr rtlCol="0" anchor="ctr"/>
          <a:lstStyle/>
          <a:p>
            <a:pPr algn="ctr"/>
          </a:p>
        </p:txBody>
      </p:sp>
      <p:sp>
        <p:nvSpPr>
          <p:cNvPr id="6" name="Text 5"/>
          <p:cNvSpPr txBox="1"/>
          <p:nvPr/>
        </p:nvSpPr>
        <p:spPr>
          <a:xfrm>
            <a:off x="7992566" y="1972016"/>
            <a:ext cx="3164384" cy="482600"/>
          </a:xfrm>
          <a:prstGeom prst="rect">
            <a:avLst/>
          </a:prstGeom>
          <a:noFill/>
        </p:spPr>
        <p:txBody>
          <a:bodyPr wrap="square" tIns="0" rIns="0" bIns="0" lIns="0" anchor="t" rtlCol="0" anchorCtr="0">
            <a:noAutofit/>
          </a:bodyPr>
          <a:lstStyle/>
          <a:p>
            <a:pPr algn="r">
              <a:lnSpc>
                <a:spcPts val="3800"/>
              </a:lnSpc>
              <a:spcBef>
                <a:spcPts val="0"/>
              </a:spcBef>
              <a:spcAft>
                <a:spcPts val="0"/>
              </a:spcAft>
            </a:pPr>
            <a:r>
              <a:rPr sz="3800" b="1" i="0">
                <a:solidFill>
                  <a:srgbClr val="0E7C6B"/>
                </a:solidFill>
                <a:latin typeface="Readex Pro"/>
                <a:ea typeface="Readex Pro"/>
                <a:cs typeface="Readex Pro"/>
              </a:rPr>
              <a:t>1</a:t>
            </a:r>
          </a:p>
        </p:txBody>
      </p:sp>
      <p:sp>
        <p:nvSpPr>
          <p:cNvPr id="7" name="Text 6"/>
          <p:cNvSpPr txBox="1"/>
          <p:nvPr/>
        </p:nvSpPr>
        <p:spPr>
          <a:xfrm>
            <a:off x="7992566" y="2514941"/>
            <a:ext cx="3164384" cy="404812"/>
          </a:xfrm>
          <a:prstGeom prst="rect">
            <a:avLst/>
          </a:prstGeom>
          <a:noFill/>
        </p:spPr>
        <p:txBody>
          <a:bodyPr wrap="square" tIns="0" rIns="0" bIns="0" lIns="0" anchor="t" rtlCol="0" anchorCtr="0">
            <a:noAutofit/>
          </a:bodyPr>
          <a:lstStyle/>
          <a:p>
            <a:pPr algn="r" rtl="1">
              <a:lnSpc>
                <a:spcPts val="3188"/>
              </a:lnSpc>
              <a:spcBef>
                <a:spcPts val="0"/>
              </a:spcBef>
              <a:spcAft>
                <a:spcPts val="0"/>
              </a:spcAft>
            </a:pPr>
            <a:r>
              <a:rPr sz="2550" b="1" i="0">
                <a:solidFill>
                  <a:srgbClr val="172433"/>
                </a:solidFill>
                <a:latin typeface="Readex Pro"/>
                <a:ea typeface="Readex Pro"/>
                <a:cs typeface="Readex Pro"/>
              </a:rPr>
              <a:t>أنظمة وعقود</a:t>
            </a:r>
          </a:p>
        </p:txBody>
      </p:sp>
      <p:sp>
        <p:nvSpPr>
          <p:cNvPr id="8" name="Text 7"/>
          <p:cNvSpPr txBox="1"/>
          <p:nvPr/>
        </p:nvSpPr>
        <p:spPr>
          <a:xfrm>
            <a:off x="8100390" y="2994938"/>
            <a:ext cx="3056560" cy="1524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جهات كثيرة ملزمة بأنظمة وضوابط، والعملاء يطلبون التزامات في العقود. أحدٌ يجب أن يحول النص إلى تطبيق.</a:t>
            </a:r>
          </a:p>
        </p:txBody>
      </p:sp>
      <p:sp>
        <p:nvSpPr>
          <p:cNvPr id="9" name="Box 8"/>
          <p:cNvSpPr/>
          <p:nvPr/>
        </p:nvSpPr>
        <p:spPr>
          <a:xfrm>
            <a:off x="4393208" y="1699220"/>
            <a:ext cx="3405684" cy="3103562"/>
          </a:xfrm>
          <a:prstGeom prst="roundRect">
            <a:avLst>
              <a:gd name="adj" fmla="val 3675"/>
            </a:avLst>
          </a:prstGeom>
          <a:solidFill>
            <a:srgbClr val="FFFDF8"/>
          </a:solidFill>
          <a:ln w="6350">
            <a:solidFill>
              <a:srgbClr val="E1DBCD"/>
            </a:solidFill>
          </a:ln>
        </p:spPr>
        <p:txBody>
          <a:bodyPr rtlCol="0" anchor="ctr"/>
          <a:lstStyle/>
          <a:p>
            <a:pPr algn="ctr"/>
          </a:p>
        </p:txBody>
      </p:sp>
      <p:sp>
        <p:nvSpPr>
          <p:cNvPr id="10" name="Text 9"/>
          <p:cNvSpPr txBox="1"/>
          <p:nvPr/>
        </p:nvSpPr>
        <p:spPr>
          <a:xfrm>
            <a:off x="4415433" y="1972016"/>
            <a:ext cx="3164384" cy="482600"/>
          </a:xfrm>
          <a:prstGeom prst="rect">
            <a:avLst/>
          </a:prstGeom>
          <a:noFill/>
        </p:spPr>
        <p:txBody>
          <a:bodyPr wrap="square" tIns="0" rIns="0" bIns="0" lIns="0" anchor="t" rtlCol="0" anchorCtr="0">
            <a:noAutofit/>
          </a:bodyPr>
          <a:lstStyle/>
          <a:p>
            <a:pPr algn="r">
              <a:lnSpc>
                <a:spcPts val="3800"/>
              </a:lnSpc>
              <a:spcBef>
                <a:spcPts val="0"/>
              </a:spcBef>
              <a:spcAft>
                <a:spcPts val="0"/>
              </a:spcAft>
            </a:pPr>
            <a:r>
              <a:rPr sz="3800" b="1" i="0">
                <a:solidFill>
                  <a:srgbClr val="0E7C6B"/>
                </a:solidFill>
                <a:latin typeface="Readex Pro"/>
                <a:ea typeface="Readex Pro"/>
                <a:cs typeface="Readex Pro"/>
              </a:rPr>
              <a:t>2</a:t>
            </a:r>
          </a:p>
        </p:txBody>
      </p:sp>
      <p:sp>
        <p:nvSpPr>
          <p:cNvPr id="11" name="Text 10"/>
          <p:cNvSpPr txBox="1"/>
          <p:nvPr/>
        </p:nvSpPr>
        <p:spPr>
          <a:xfrm>
            <a:off x="4415433" y="2514941"/>
            <a:ext cx="3164384" cy="404812"/>
          </a:xfrm>
          <a:prstGeom prst="rect">
            <a:avLst/>
          </a:prstGeom>
          <a:noFill/>
        </p:spPr>
        <p:txBody>
          <a:bodyPr wrap="square" tIns="0" rIns="0" bIns="0" lIns="0" anchor="t" rtlCol="0" anchorCtr="0">
            <a:noAutofit/>
          </a:bodyPr>
          <a:lstStyle/>
          <a:p>
            <a:pPr algn="r" rtl="1">
              <a:lnSpc>
                <a:spcPts val="3188"/>
              </a:lnSpc>
              <a:spcBef>
                <a:spcPts val="0"/>
              </a:spcBef>
              <a:spcAft>
                <a:spcPts val="0"/>
              </a:spcAft>
            </a:pPr>
            <a:r>
              <a:rPr sz="2550" b="1" i="0">
                <a:solidFill>
                  <a:srgbClr val="172433"/>
                </a:solidFill>
                <a:latin typeface="Readex Pro"/>
                <a:ea typeface="Readex Pro"/>
                <a:cs typeface="Readex Pro"/>
              </a:rPr>
              <a:t>موارد محدودة</a:t>
            </a:r>
          </a:p>
        </p:txBody>
      </p:sp>
      <p:sp>
        <p:nvSpPr>
          <p:cNvPr id="12" name="Text 11"/>
          <p:cNvSpPr txBox="1"/>
          <p:nvPr/>
        </p:nvSpPr>
        <p:spPr>
          <a:xfrm>
            <a:off x="4523257" y="2994938"/>
            <a:ext cx="305656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لا تستطيع جهة أن تحمي كل شيء بالقدر نفسه. تقييم المخاطر يحدد أين تبدأ.</a:t>
            </a:r>
          </a:p>
        </p:txBody>
      </p:sp>
      <p:sp>
        <p:nvSpPr>
          <p:cNvPr id="13" name="Box 12"/>
          <p:cNvSpPr/>
          <p:nvPr/>
        </p:nvSpPr>
        <p:spPr>
          <a:xfrm>
            <a:off x="816074" y="1699220"/>
            <a:ext cx="3405684" cy="3103562"/>
          </a:xfrm>
          <a:prstGeom prst="roundRect">
            <a:avLst>
              <a:gd name="adj" fmla="val 3675"/>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99" y="1972016"/>
            <a:ext cx="3164384" cy="482600"/>
          </a:xfrm>
          <a:prstGeom prst="rect">
            <a:avLst/>
          </a:prstGeom>
          <a:noFill/>
        </p:spPr>
        <p:txBody>
          <a:bodyPr wrap="square" tIns="0" rIns="0" bIns="0" lIns="0" anchor="t" rtlCol="0" anchorCtr="0">
            <a:noAutofit/>
          </a:bodyPr>
          <a:lstStyle/>
          <a:p>
            <a:pPr algn="r">
              <a:lnSpc>
                <a:spcPts val="3800"/>
              </a:lnSpc>
              <a:spcBef>
                <a:spcPts val="0"/>
              </a:spcBef>
              <a:spcAft>
                <a:spcPts val="0"/>
              </a:spcAft>
            </a:pPr>
            <a:r>
              <a:rPr sz="3800" b="1" i="0">
                <a:solidFill>
                  <a:srgbClr val="0E7C6B"/>
                </a:solidFill>
                <a:latin typeface="Readex Pro"/>
                <a:ea typeface="Readex Pro"/>
                <a:cs typeface="Readex Pro"/>
              </a:rPr>
              <a:t>3</a:t>
            </a:r>
          </a:p>
        </p:txBody>
      </p:sp>
      <p:sp>
        <p:nvSpPr>
          <p:cNvPr id="15" name="Text 14"/>
          <p:cNvSpPr txBox="1"/>
          <p:nvPr/>
        </p:nvSpPr>
        <p:spPr>
          <a:xfrm>
            <a:off x="838299" y="2514941"/>
            <a:ext cx="3164384" cy="404812"/>
          </a:xfrm>
          <a:prstGeom prst="rect">
            <a:avLst/>
          </a:prstGeom>
          <a:noFill/>
        </p:spPr>
        <p:txBody>
          <a:bodyPr wrap="square" tIns="0" rIns="0" bIns="0" lIns="0" anchor="t" rtlCol="0" anchorCtr="0">
            <a:noAutofit/>
          </a:bodyPr>
          <a:lstStyle/>
          <a:p>
            <a:pPr algn="r" rtl="1">
              <a:lnSpc>
                <a:spcPts val="3188"/>
              </a:lnSpc>
              <a:spcBef>
                <a:spcPts val="0"/>
              </a:spcBef>
              <a:spcAft>
                <a:spcPts val="0"/>
              </a:spcAft>
            </a:pPr>
            <a:r>
              <a:rPr sz="2550" b="1" i="0">
                <a:solidFill>
                  <a:srgbClr val="172433"/>
                </a:solidFill>
                <a:latin typeface="Readex Pro"/>
                <a:ea typeface="Readex Pro"/>
                <a:cs typeface="Readex Pro"/>
              </a:rPr>
              <a:t>ثقة تحتاج دليلاً</a:t>
            </a:r>
          </a:p>
        </p:txBody>
      </p:sp>
      <p:sp>
        <p:nvSpPr>
          <p:cNvPr id="16" name="Text 15"/>
          <p:cNvSpPr txBox="1"/>
          <p:nvPr/>
        </p:nvSpPr>
        <p:spPr>
          <a:xfrm>
            <a:off x="946123" y="2994938"/>
            <a:ext cx="305656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الجهات الرقابية والعملاء والشركاء يطلبون إثباتاً، لا وعداً.</a:t>
            </a:r>
          </a:p>
        </p:txBody>
      </p:sp>
      <p:sp>
        <p:nvSpPr>
          <p:cNvPr id="17" name="Box 16"/>
          <p:cNvSpPr/>
          <p:nvPr/>
        </p:nvSpPr>
        <p:spPr>
          <a:xfrm>
            <a:off x="812800" y="5034558"/>
            <a:ext cx="10566400" cy="591741"/>
          </a:xfrm>
          <a:prstGeom prst="roundRect">
            <a:avLst>
              <a:gd name="adj" fmla="val 17169"/>
            </a:avLst>
          </a:prstGeom>
          <a:solidFill>
            <a:srgbClr val="E3F1ED"/>
          </a:solidFill>
          <a:ln>
            <a:noFill/>
          </a:ln>
        </p:spPr>
        <p:txBody>
          <a:bodyPr rtlCol="0" anchor="ctr"/>
          <a:lstStyle/>
          <a:p>
            <a:pPr algn="ctr"/>
          </a:p>
        </p:txBody>
      </p:sp>
      <p:pic>
        <p:nvPicPr>
          <p:cNvPr id="18" name="Icon Users 17" descr="icon010.png"/>
          <p:cNvPicPr>
            <a:picLocks noChangeAspect="1"/>
          </p:cNvPicPr>
          <p:nvPr/>
        </p:nvPicPr>
        <p:blipFill>
          <a:blip r:embed="rId2"/>
          <a:stretch>
            <a:fillRect/>
          </a:stretch>
        </p:blipFill>
        <p:spPr>
          <a:xfrm>
            <a:off x="10953750" y="5206603"/>
            <a:ext cx="247650" cy="247650"/>
          </a:xfrm>
          <a:prstGeom prst="rect">
            <a:avLst/>
          </a:prstGeom>
        </p:spPr>
      </p:pic>
      <p:sp>
        <p:nvSpPr>
          <p:cNvPr id="19" name="Text 18"/>
          <p:cNvSpPr txBox="1"/>
          <p:nvPr/>
        </p:nvSpPr>
        <p:spPr>
          <a:xfrm>
            <a:off x="838200" y="5124156"/>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في رُفاد: نظام حماية البيانات الشخصية ينطبق عليها، وعملاؤها من المتاجر يسألون عن حماية بيانات المستلمين.</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أين يقع GRC بين أدوار الأمن السيبراني؟</a:t>
            </a:r>
          </a:p>
        </p:txBody>
      </p:sp>
      <p:graphicFrame>
        <p:nvGraphicFramePr>
          <p:cNvPr id="5" name="Table 4"/>
          <p:cNvGraphicFramePr>
            <a:graphicFrameLocks noGrp="1"/>
          </p:cNvGraphicFramePr>
          <p:nvPr/>
        </p:nvGraphicFramePr>
        <p:xfrm>
          <a:off x="815975" y="1661120"/>
          <a:ext cx="10560050" cy="3198813"/>
        </p:xfrm>
        <a:graphic>
          <a:graphicData uri="http://schemas.openxmlformats.org/drawingml/2006/table">
            <a:tbl>
              <a:tblPr firstRow="0" bandRow="0" lastRow="0" firstCol="0" lastCol="0" bandCol="0">
                <a:tableStyleId>{2D5ABB26-0587-4C30-8999-92F81FD0307C}</a:tableStyleId>
              </a:tblPr>
              <a:tblGrid>
                <a:gridCol w="4435475"/>
                <a:gridCol w="3801110"/>
                <a:gridCol w="2323465"/>
              </a:tblGrid>
              <a:tr h="566043">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يوم العمل</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السؤال الذي يجيب عنه</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الدور</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34641">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سياسات، وتقييم مخاطر، وفحص أدلة، ومتابعة</a:t>
                      </a:r>
                    </a:p>
                  </a:txBody>
                  <a:tcPr marT="115091" marR="163830" marB="76044" marL="4060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هل نحمي ما يهم، وهل نلتزم ونثبت؟</a:t>
                      </a:r>
                    </a:p>
                  </a:txBody>
                  <a:tcPr marT="115091" marR="163830" marB="76044" marL="5961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02"/>
                        </a:lnSpc>
                        <a:spcBef>
                          <a:spcPts val="0"/>
                        </a:spcBef>
                        <a:spcAft>
                          <a:spcPts val="0"/>
                        </a:spcAft>
                      </a:pPr>
                      <a:r>
                        <a:rPr sz="2150" b="1" i="0">
                          <a:solidFill>
                            <a:srgbClr val="0E7C6B"/>
                          </a:solidFill>
                          <a:latin typeface="IBM Plex Sans Arabic"/>
                          <a:ea typeface="IBM Plex Sans Arabic"/>
                          <a:cs typeface="IBM Plex Sans Arabic"/>
                        </a:rPr>
                        <a:t>GRC</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فرز التنبيهات، والتحقيق، والتصعيد</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هل يحدث هجوم الآن؟</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مركز العمليات</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66043">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اختبار الأنظمة وكتابة تقارير الثغرات</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كيف يمكن اختراقنا؟</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اختبار الاختراق</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تصميم الضوابط التقنية وتشغيلها</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كيف نبني الحماية؟</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هندسة الأمن</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5053608"/>
            <a:ext cx="10566400" cy="982861"/>
          </a:xfrm>
          <a:prstGeom prst="roundRect">
            <a:avLst>
              <a:gd name="adj" fmla="val 10337"/>
            </a:avLst>
          </a:prstGeom>
          <a:solidFill>
            <a:srgbClr val="172433"/>
          </a:solidFill>
          <a:ln>
            <a:noFill/>
          </a:ln>
        </p:spPr>
        <p:txBody>
          <a:bodyPr rtlCol="0" anchor="ctr"/>
          <a:lstStyle/>
          <a:p>
            <a:pPr algn="ctr"/>
          </a:p>
        </p:txBody>
      </p:sp>
      <p:pic>
        <p:nvPicPr>
          <p:cNvPr id="7" name="Icon Lightbulb 6" descr="icon011.png"/>
          <p:cNvPicPr>
            <a:picLocks noChangeAspect="1"/>
          </p:cNvPicPr>
          <p:nvPr/>
        </p:nvPicPr>
        <p:blipFill>
          <a:blip r:embed="rId2"/>
          <a:stretch>
            <a:fillRect/>
          </a:stretch>
        </p:blipFill>
        <p:spPr>
          <a:xfrm>
            <a:off x="10928350" y="5408513"/>
            <a:ext cx="273050" cy="273050"/>
          </a:xfrm>
          <a:prstGeom prst="rect">
            <a:avLst/>
          </a:prstGeom>
        </p:spPr>
      </p:pic>
      <p:sp>
        <p:nvSpPr>
          <p:cNvPr id="8" name="Text 7"/>
          <p:cNvSpPr txBox="1"/>
          <p:nvPr/>
        </p:nvSpPr>
        <p:spPr>
          <a:xfrm>
            <a:off x="838200" y="5140254"/>
            <a:ext cx="9975850"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F3EFE6"/>
                </a:solidFill>
                <a:latin typeface="IBM Plex Sans Arabic"/>
                <a:ea typeface="IBM Plex Sans Arabic"/>
                <a:cs typeface="IBM Plex Sans Arabic"/>
              </a:rPr>
              <a:t>مختص GRC لا ينفذ الضوابط التقنية بنفسه غالباً، لكنه يفهمها بما يكفي ليسأل الأسئلة الصحيحة ويقرأ الدليل.</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المسميات التي ستراها في الإعلانات</a:t>
            </a:r>
          </a:p>
        </p:txBody>
      </p:sp>
      <p:graphicFrame>
        <p:nvGraphicFramePr>
          <p:cNvPr id="5" name="Table 4"/>
          <p:cNvGraphicFramePr>
            <a:graphicFrameLocks noGrp="1"/>
          </p:cNvGraphicFramePr>
          <p:nvPr/>
        </p:nvGraphicFramePr>
        <p:xfrm>
          <a:off x="815975" y="1661120"/>
          <a:ext cx="10560050" cy="3239688"/>
        </p:xfrm>
        <a:graphic>
          <a:graphicData uri="http://schemas.openxmlformats.org/drawingml/2006/table">
            <a:tbl>
              <a:tblPr firstRow="0" bandRow="0" lastRow="0" firstCol="0" lastCol="0" bandCol="0">
                <a:tableStyleId>{2D5ABB26-0587-4C30-8999-92F81FD0307C}</a:tableStyleId>
              </a:tblPr>
              <a:tblGrid>
                <a:gridCol w="2323465"/>
                <a:gridCol w="4434840"/>
                <a:gridCol w="380174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أين يعمل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ماذا يفعل غالباً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المسمى الذي ستراه</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الخط الثاني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تقييم فجوات، وأدلة، ومتابعة خطط</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172433"/>
                          </a:solidFill>
                          <a:latin typeface="IBM Plex Sans Arabic"/>
                          <a:ea typeface="IBM Plex Sans Arabic"/>
                          <a:cs typeface="IBM Plex Sans Arabic"/>
                        </a:rPr>
                        <a:t>محلل GRC أو محلل امتثال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الخط الثاني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سجل المخاطر، والتقييم، والتقارير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172433"/>
                          </a:solidFill>
                          <a:latin typeface="IBM Plex Sans Arabic"/>
                          <a:ea typeface="IBM Plex Sans Arabic"/>
                          <a:cs typeface="IBM Plex Sans Arabic"/>
                        </a:rPr>
                        <a:t>محلل مخاطر الأمن السيبراني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الخط الثاني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كتابة السياسات والمعايير ومراجعتها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172433"/>
                          </a:solidFill>
                          <a:latin typeface="IBM Plex Sans Arabic"/>
                          <a:ea typeface="IBM Plex Sans Arabic"/>
                          <a:cs typeface="IBM Plex Sans Arabic"/>
                        </a:rPr>
                        <a:t>مسؤول سياسات الأمن السيبراني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الثاني أو الثالث</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اختبار الضوابط وجمع الأدلة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172433"/>
                          </a:solidFill>
                          <a:latin typeface="IBM Plex Sans Arabic"/>
                          <a:ea typeface="IBM Plex Sans Arabic"/>
                          <a:cs typeface="IBM Plex Sans Arabic"/>
                        </a:rPr>
                        <a:t>مقيّم الضوابط الأمنية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الخط الثالث</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تدقيق مستقل وتقارير ملاحظات</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172433"/>
                          </a:solidFill>
                          <a:latin typeface="IBM Plex Sans Arabic"/>
                          <a:ea typeface="IBM Plex Sans Arabic"/>
                          <a:cs typeface="IBM Plex Sans Arabic"/>
                        </a:rPr>
                        <a:t>مدقق تقنية معلومات مبتدئ</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495808" y="5061021"/>
            <a:ext cx="10883392"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المسميات تختلف بين الجهات. بعضها من فئة «الحوكمة والمخاطر والامتثال والأنظمة» في الإطار السعودي لكوادر الأمن السيبراني ‎SCyWF-1.5:2026‎.</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يوم في عمل محلل GRC مبتدئ في رُفاد</a:t>
            </a:r>
          </a:p>
        </p:txBody>
      </p:sp>
      <p:sp>
        <p:nvSpPr>
          <p:cNvPr id="5" name="Text 4"/>
          <p:cNvSpPr txBox="1"/>
          <p:nvPr/>
        </p:nvSpPr>
        <p:spPr>
          <a:xfrm>
            <a:off x="10187940" y="1677059"/>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08:00</a:t>
            </a:r>
          </a:p>
        </p:txBody>
      </p:sp>
      <p:sp>
        <p:nvSpPr>
          <p:cNvPr id="6" name="Text 5"/>
          <p:cNvSpPr txBox="1"/>
          <p:nvPr/>
        </p:nvSpPr>
        <p:spPr>
          <a:xfrm>
            <a:off x="6128385" y="1645753"/>
            <a:ext cx="4120515" cy="121533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طلبات الأدلة: الموارد البشرية أرسلت ملف المراجعة، وتقنية المعلومات تأخرت.</a:t>
            </a:r>
          </a:p>
        </p:txBody>
      </p:sp>
      <p:sp>
        <p:nvSpPr>
          <p:cNvPr id="7" name="Text 6"/>
          <p:cNvSpPr txBox="1"/>
          <p:nvPr/>
        </p:nvSpPr>
        <p:spPr>
          <a:xfrm>
            <a:off x="10187940" y="3108289"/>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09:00</a:t>
            </a:r>
          </a:p>
        </p:txBody>
      </p:sp>
      <p:sp>
        <p:nvSpPr>
          <p:cNvPr id="8" name="Text 7"/>
          <p:cNvSpPr txBox="1"/>
          <p:nvPr/>
        </p:nvSpPr>
        <p:spPr>
          <a:xfrm>
            <a:off x="6128385" y="3076984"/>
            <a:ext cx="4120515"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متابعة خطة معالجة خطر المورد مع سلمان.</a:t>
            </a:r>
          </a:p>
        </p:txBody>
      </p:sp>
      <p:sp>
        <p:nvSpPr>
          <p:cNvPr id="9" name="Text 8"/>
          <p:cNvSpPr txBox="1"/>
          <p:nvPr/>
        </p:nvSpPr>
        <p:spPr>
          <a:xfrm>
            <a:off x="10187940" y="4134410"/>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10:30</a:t>
            </a:r>
          </a:p>
        </p:txBody>
      </p:sp>
      <p:sp>
        <p:nvSpPr>
          <p:cNvPr id="10" name="Text 9"/>
          <p:cNvSpPr txBox="1"/>
          <p:nvPr/>
        </p:nvSpPr>
        <p:spPr>
          <a:xfrm>
            <a:off x="6128385" y="4103104"/>
            <a:ext cx="4120515"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تحديث سجل المخاطر بخطر جديد من مشروع ترحيل نظام الرواتب.</a:t>
            </a:r>
          </a:p>
        </p:txBody>
      </p:sp>
      <p:sp>
        <p:nvSpPr>
          <p:cNvPr id="11" name="Text 10"/>
          <p:cNvSpPr txBox="1"/>
          <p:nvPr/>
        </p:nvSpPr>
        <p:spPr>
          <a:xfrm>
            <a:off x="4752340" y="1677059"/>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12:00</a:t>
            </a:r>
          </a:p>
        </p:txBody>
      </p:sp>
      <p:sp>
        <p:nvSpPr>
          <p:cNvPr id="12" name="Text 11"/>
          <p:cNvSpPr txBox="1"/>
          <p:nvPr/>
        </p:nvSpPr>
        <p:spPr>
          <a:xfrm>
            <a:off x="692785" y="1645753"/>
            <a:ext cx="4120515"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فحص دليل: هل تكفي لقطة الإعداد، أم نطلب سجل التغييرات؟</a:t>
            </a:r>
          </a:p>
        </p:txBody>
      </p:sp>
      <p:sp>
        <p:nvSpPr>
          <p:cNvPr id="13" name="Text 12"/>
          <p:cNvSpPr txBox="1"/>
          <p:nvPr/>
        </p:nvSpPr>
        <p:spPr>
          <a:xfrm>
            <a:off x="4752340" y="2703179"/>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14:00</a:t>
            </a:r>
          </a:p>
        </p:txBody>
      </p:sp>
      <p:sp>
        <p:nvSpPr>
          <p:cNvPr id="14" name="Text 13"/>
          <p:cNvSpPr txBox="1"/>
          <p:nvPr/>
        </p:nvSpPr>
        <p:spPr>
          <a:xfrm>
            <a:off x="692785" y="2671874"/>
            <a:ext cx="4120515"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مسودة إجراء إلغاء صلاحيات المغادرين.</a:t>
            </a:r>
          </a:p>
        </p:txBody>
      </p:sp>
      <p:sp>
        <p:nvSpPr>
          <p:cNvPr id="15" name="Text 14"/>
          <p:cNvSpPr txBox="1"/>
          <p:nvPr/>
        </p:nvSpPr>
        <p:spPr>
          <a:xfrm>
            <a:off x="4752340" y="3729299"/>
            <a:ext cx="1191260"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300" b="1" i="0">
                <a:solidFill>
                  <a:srgbClr val="0E7C6B"/>
                </a:solidFill>
                <a:latin typeface="Readex Pro"/>
                <a:ea typeface="Readex Pro"/>
                <a:cs typeface="Readex Pro"/>
              </a:rPr>
              <a:t>15:30</a:t>
            </a:r>
          </a:p>
        </p:txBody>
      </p:sp>
      <p:sp>
        <p:nvSpPr>
          <p:cNvPr id="16" name="Text 15"/>
          <p:cNvSpPr txBox="1"/>
          <p:nvPr/>
        </p:nvSpPr>
        <p:spPr>
          <a:xfrm>
            <a:off x="692785" y="3697994"/>
            <a:ext cx="4120515"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172433"/>
                </a:solidFill>
                <a:latin typeface="IBM Plex Sans Arabic"/>
                <a:ea typeface="IBM Plex Sans Arabic"/>
                <a:cs typeface="IBM Plex Sans Arabic"/>
              </a:rPr>
              <a:t>شريحتان للجنة: المخاطر العالية والملاحظات المفتوحة.</a:t>
            </a:r>
          </a:p>
        </p:txBody>
      </p:sp>
      <p:sp>
        <p:nvSpPr>
          <p:cNvPr id="17" name="Text 16"/>
          <p:cNvSpPr txBox="1"/>
          <p:nvPr/>
        </p:nvSpPr>
        <p:spPr>
          <a:xfrm>
            <a:off x="0" y="5160720"/>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توضيحي مركّب. اليوم الفعلي يختلف حسب الجهة وحجمها وموسم التقييم.</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 خرافات تؤخر البداية</a:t>
            </a:r>
          </a:p>
        </p:txBody>
      </p:sp>
      <p:sp>
        <p:nvSpPr>
          <p:cNvPr id="5" name="Box 4"/>
          <p:cNvSpPr/>
          <p:nvPr/>
        </p:nvSpPr>
        <p:spPr>
          <a:xfrm>
            <a:off x="6178550" y="1657945"/>
            <a:ext cx="5200650" cy="1870373"/>
          </a:xfrm>
          <a:prstGeom prst="roundRect">
            <a:avLst>
              <a:gd name="adj" fmla="val 6111"/>
            </a:avLst>
          </a:prstGeom>
          <a:solidFill>
            <a:srgbClr val="FFFDF8"/>
          </a:solidFill>
          <a:ln>
            <a:noFill/>
          </a:ln>
        </p:spPr>
        <p:txBody>
          <a:bodyPr rtlCol="0" anchor="ctr"/>
          <a:lstStyle/>
          <a:p>
            <a:pPr algn="ctr"/>
          </a:p>
        </p:txBody>
      </p:sp>
      <p:sp>
        <p:nvSpPr>
          <p:cNvPr id="6" name="Rule 5"/>
          <p:cNvSpPr/>
          <p:nvPr/>
        </p:nvSpPr>
        <p:spPr>
          <a:xfrm>
            <a:off x="6178550" y="1657945"/>
            <a:ext cx="5200650" cy="6350"/>
          </a:xfrm>
          <a:prstGeom prst="rect">
            <a:avLst/>
          </a:prstGeom>
          <a:solidFill>
            <a:srgbClr val="E1DBCD"/>
          </a:solidFill>
          <a:ln>
            <a:noFill/>
          </a:ln>
        </p:spPr>
        <p:txBody>
          <a:bodyPr rtlCol="0" anchor="ctr"/>
          <a:lstStyle/>
          <a:p>
            <a:pPr algn="ctr"/>
          </a:p>
        </p:txBody>
      </p:sp>
      <p:sp>
        <p:nvSpPr>
          <p:cNvPr id="7" name="Rule 6"/>
          <p:cNvSpPr/>
          <p:nvPr/>
        </p:nvSpPr>
        <p:spPr>
          <a:xfrm>
            <a:off x="11328400" y="1657945"/>
            <a:ext cx="50800" cy="1870373"/>
          </a:xfrm>
          <a:prstGeom prst="rect">
            <a:avLst/>
          </a:prstGeom>
          <a:solidFill>
            <a:srgbClr val="B4412C"/>
          </a:solidFill>
          <a:ln>
            <a:noFill/>
          </a:ln>
        </p:spPr>
        <p:txBody>
          <a:bodyPr rtlCol="0" anchor="ctr"/>
          <a:lstStyle/>
          <a:p>
            <a:pPr algn="ctr"/>
          </a:p>
        </p:txBody>
      </p:sp>
      <p:sp>
        <p:nvSpPr>
          <p:cNvPr id="8" name="Rule 7"/>
          <p:cNvSpPr/>
          <p:nvPr/>
        </p:nvSpPr>
        <p:spPr>
          <a:xfrm>
            <a:off x="6178550" y="3521968"/>
            <a:ext cx="5200650" cy="6350"/>
          </a:xfrm>
          <a:prstGeom prst="rect">
            <a:avLst/>
          </a:prstGeom>
          <a:solidFill>
            <a:srgbClr val="E1DBCD"/>
          </a:solidFill>
          <a:ln>
            <a:noFill/>
          </a:ln>
        </p:spPr>
        <p:txBody>
          <a:bodyPr rtlCol="0" anchor="ctr"/>
          <a:lstStyle/>
          <a:p>
            <a:pPr algn="ctr"/>
          </a:p>
        </p:txBody>
      </p:sp>
      <p:sp>
        <p:nvSpPr>
          <p:cNvPr id="9" name="Rule 8"/>
          <p:cNvSpPr/>
          <p:nvPr/>
        </p:nvSpPr>
        <p:spPr>
          <a:xfrm>
            <a:off x="6178550" y="1657945"/>
            <a:ext cx="6350" cy="1870373"/>
          </a:xfrm>
          <a:prstGeom prst="rect">
            <a:avLst/>
          </a:prstGeom>
          <a:solidFill>
            <a:srgbClr val="E1DBCD"/>
          </a:solidFill>
          <a:ln>
            <a:noFill/>
          </a:ln>
        </p:spPr>
        <p:txBody>
          <a:bodyPr rtlCol="0" anchor="ctr"/>
          <a:lstStyle/>
          <a:p>
            <a:pPr algn="ctr"/>
          </a:p>
        </p:txBody>
      </p:sp>
      <p:sp>
        <p:nvSpPr>
          <p:cNvPr id="10" name="Text 9"/>
          <p:cNvSpPr txBox="1"/>
          <p:nvPr/>
        </p:nvSpPr>
        <p:spPr>
          <a:xfrm>
            <a:off x="6203950" y="1811044"/>
            <a:ext cx="4921250" cy="454323"/>
          </a:xfrm>
          <a:prstGeom prst="rect">
            <a:avLst/>
          </a:prstGeom>
          <a:noFill/>
        </p:spPr>
        <p:txBody>
          <a:bodyPr wrap="square" tIns="0" rIns="0" bIns="0" lIns="0" anchor="t" rtlCol="0" anchorCtr="0">
            <a:noAutofit/>
          </a:bodyPr>
          <a:lstStyle/>
          <a:p>
            <a:pPr algn="r" rtl="1">
              <a:lnSpc>
                <a:spcPts val="3577"/>
              </a:lnSpc>
              <a:spcBef>
                <a:spcPts val="0"/>
              </a:spcBef>
              <a:spcAft>
                <a:spcPts val="0"/>
              </a:spcAft>
            </a:pPr>
            <a:r>
              <a:rPr sz="2650" b="1" i="0">
                <a:solidFill>
                  <a:srgbClr val="B4412C"/>
                </a:solidFill>
                <a:latin typeface="IBM Plex Sans Arabic"/>
                <a:ea typeface="IBM Plex Sans Arabic"/>
                <a:cs typeface="IBM Plex Sans Arabic"/>
              </a:rPr>
              <a:t>«GRC أوراق وسياسات فقط»</a:t>
            </a:r>
          </a:p>
        </p:txBody>
      </p:sp>
      <p:sp>
        <p:nvSpPr>
          <p:cNvPr id="11" name="Text 10"/>
          <p:cNvSpPr txBox="1"/>
          <p:nvPr/>
        </p:nvSpPr>
        <p:spPr>
          <a:xfrm>
            <a:off x="6245987" y="2334232"/>
            <a:ext cx="4879213" cy="933450"/>
          </a:xfrm>
          <a:prstGeom prst="rect">
            <a:avLst/>
          </a:prstGeom>
          <a:noFill/>
        </p:spPr>
        <p:txBody>
          <a:bodyPr wrap="square" tIns="0" rIns="0" bIns="0" lIns="0" anchor="t" rtlCol="0" anchorCtr="0">
            <a:noAutofit/>
          </a:bodyPr>
          <a:lstStyle/>
          <a:p>
            <a:pPr algn="r" rtl="1">
              <a:lnSpc>
                <a:spcPts val="3675"/>
              </a:lnSpc>
              <a:spcBef>
                <a:spcPts val="0"/>
              </a:spcBef>
              <a:spcAft>
                <a:spcPts val="0"/>
              </a:spcAft>
            </a:pPr>
            <a:r>
              <a:rPr sz="2450" b="0" i="0">
                <a:solidFill>
                  <a:srgbClr val="172433"/>
                </a:solidFill>
                <a:latin typeface="IBM Plex Sans Arabic"/>
                <a:ea typeface="IBM Plex Sans Arabic"/>
                <a:cs typeface="IBM Plex Sans Arabic"/>
              </a:rPr>
              <a:t>السياسة بداية العمل. الجزء الأكبر هو التحقق من تطبيقها بالأدلة.</a:t>
            </a:r>
          </a:p>
        </p:txBody>
      </p:sp>
      <p:sp>
        <p:nvSpPr>
          <p:cNvPr id="12" name="Box 11"/>
          <p:cNvSpPr/>
          <p:nvPr/>
        </p:nvSpPr>
        <p:spPr>
          <a:xfrm>
            <a:off x="6178550" y="3693418"/>
            <a:ext cx="5200650" cy="2337098"/>
          </a:xfrm>
          <a:prstGeom prst="roundRect">
            <a:avLst>
              <a:gd name="adj" fmla="val 4890"/>
            </a:avLst>
          </a:prstGeom>
          <a:solidFill>
            <a:srgbClr val="FFFDF8"/>
          </a:solidFill>
          <a:ln>
            <a:noFill/>
          </a:ln>
        </p:spPr>
        <p:txBody>
          <a:bodyPr rtlCol="0" anchor="ctr"/>
          <a:lstStyle/>
          <a:p>
            <a:pPr algn="ctr"/>
          </a:p>
        </p:txBody>
      </p:sp>
      <p:sp>
        <p:nvSpPr>
          <p:cNvPr id="13" name="Rule 12"/>
          <p:cNvSpPr/>
          <p:nvPr/>
        </p:nvSpPr>
        <p:spPr>
          <a:xfrm>
            <a:off x="6178550" y="3693418"/>
            <a:ext cx="5200650" cy="6350"/>
          </a:xfrm>
          <a:prstGeom prst="rect">
            <a:avLst/>
          </a:prstGeom>
          <a:solidFill>
            <a:srgbClr val="E1DBCD"/>
          </a:solidFill>
          <a:ln>
            <a:noFill/>
          </a:ln>
        </p:spPr>
        <p:txBody>
          <a:bodyPr rtlCol="0" anchor="ctr"/>
          <a:lstStyle/>
          <a:p>
            <a:pPr algn="ctr"/>
          </a:p>
        </p:txBody>
      </p:sp>
      <p:sp>
        <p:nvSpPr>
          <p:cNvPr id="14" name="Rule 13"/>
          <p:cNvSpPr/>
          <p:nvPr/>
        </p:nvSpPr>
        <p:spPr>
          <a:xfrm>
            <a:off x="11328400" y="3693418"/>
            <a:ext cx="50800" cy="2337098"/>
          </a:xfrm>
          <a:prstGeom prst="rect">
            <a:avLst/>
          </a:prstGeom>
          <a:solidFill>
            <a:srgbClr val="B4412C"/>
          </a:solidFill>
          <a:ln>
            <a:noFill/>
          </a:ln>
        </p:spPr>
        <p:txBody>
          <a:bodyPr rtlCol="0" anchor="ctr"/>
          <a:lstStyle/>
          <a:p>
            <a:pPr algn="ctr"/>
          </a:p>
        </p:txBody>
      </p:sp>
      <p:sp>
        <p:nvSpPr>
          <p:cNvPr id="15" name="Rule 14"/>
          <p:cNvSpPr/>
          <p:nvPr/>
        </p:nvSpPr>
        <p:spPr>
          <a:xfrm>
            <a:off x="6178550" y="6024166"/>
            <a:ext cx="5200650" cy="6350"/>
          </a:xfrm>
          <a:prstGeom prst="rect">
            <a:avLst/>
          </a:prstGeom>
          <a:solidFill>
            <a:srgbClr val="E1DBCD"/>
          </a:solidFill>
          <a:ln>
            <a:noFill/>
          </a:ln>
        </p:spPr>
        <p:txBody>
          <a:bodyPr rtlCol="0" anchor="ctr"/>
          <a:lstStyle/>
          <a:p>
            <a:pPr algn="ctr"/>
          </a:p>
        </p:txBody>
      </p:sp>
      <p:sp>
        <p:nvSpPr>
          <p:cNvPr id="16" name="Rule 15"/>
          <p:cNvSpPr/>
          <p:nvPr/>
        </p:nvSpPr>
        <p:spPr>
          <a:xfrm>
            <a:off x="6178550" y="3693418"/>
            <a:ext cx="6350" cy="2337098"/>
          </a:xfrm>
          <a:prstGeom prst="rect">
            <a:avLst/>
          </a:prstGeom>
          <a:solidFill>
            <a:srgbClr val="E1DBCD"/>
          </a:solidFill>
          <a:ln>
            <a:noFill/>
          </a:ln>
        </p:spPr>
        <p:txBody>
          <a:bodyPr rtlCol="0" anchor="ctr"/>
          <a:lstStyle/>
          <a:p>
            <a:pPr algn="ctr"/>
          </a:p>
        </p:txBody>
      </p:sp>
      <p:sp>
        <p:nvSpPr>
          <p:cNvPr id="17" name="Text 16"/>
          <p:cNvSpPr txBox="1"/>
          <p:nvPr/>
        </p:nvSpPr>
        <p:spPr>
          <a:xfrm>
            <a:off x="6203950" y="3846516"/>
            <a:ext cx="4921250" cy="454323"/>
          </a:xfrm>
          <a:prstGeom prst="rect">
            <a:avLst/>
          </a:prstGeom>
          <a:noFill/>
        </p:spPr>
        <p:txBody>
          <a:bodyPr wrap="square" tIns="0" rIns="0" bIns="0" lIns="0" anchor="t" rtlCol="0" anchorCtr="0">
            <a:noAutofit/>
          </a:bodyPr>
          <a:lstStyle/>
          <a:p>
            <a:pPr algn="r" rtl="1">
              <a:lnSpc>
                <a:spcPts val="3577"/>
              </a:lnSpc>
              <a:spcBef>
                <a:spcPts val="0"/>
              </a:spcBef>
              <a:spcAft>
                <a:spcPts val="0"/>
              </a:spcAft>
            </a:pPr>
            <a:r>
              <a:rPr sz="2650" b="1" i="0">
                <a:solidFill>
                  <a:srgbClr val="B4412C"/>
                </a:solidFill>
                <a:latin typeface="IBM Plex Sans Arabic"/>
                <a:ea typeface="IBM Plex Sans Arabic"/>
                <a:cs typeface="IBM Plex Sans Arabic"/>
              </a:rPr>
              <a:t>«لا يحتاج معرفة تقنية»</a:t>
            </a:r>
          </a:p>
        </p:txBody>
      </p:sp>
      <p:sp>
        <p:nvSpPr>
          <p:cNvPr id="18" name="Text 17"/>
          <p:cNvSpPr txBox="1"/>
          <p:nvPr/>
        </p:nvSpPr>
        <p:spPr>
          <a:xfrm>
            <a:off x="6245987" y="4369705"/>
            <a:ext cx="4879213" cy="1400175"/>
          </a:xfrm>
          <a:prstGeom prst="rect">
            <a:avLst/>
          </a:prstGeom>
          <a:noFill/>
        </p:spPr>
        <p:txBody>
          <a:bodyPr wrap="square" tIns="0" rIns="0" bIns="0" lIns="0" anchor="t" rtlCol="0" anchorCtr="0">
            <a:noAutofit/>
          </a:bodyPr>
          <a:lstStyle/>
          <a:p>
            <a:pPr algn="r" rtl="1">
              <a:lnSpc>
                <a:spcPts val="3675"/>
              </a:lnSpc>
              <a:spcBef>
                <a:spcPts val="0"/>
              </a:spcBef>
              <a:spcAft>
                <a:spcPts val="0"/>
              </a:spcAft>
            </a:pPr>
            <a:r>
              <a:rPr sz="2450" b="0" i="0">
                <a:solidFill>
                  <a:srgbClr val="172433"/>
                </a:solidFill>
                <a:latin typeface="IBM Plex Sans Arabic"/>
                <a:ea typeface="IBM Plex Sans Arabic"/>
                <a:cs typeface="IBM Plex Sans Arabic"/>
              </a:rPr>
              <a:t>تحتاج أساسيات تكفي لتسأل وتفهم الدليل: الهويات، والشبكات، والسجلات، والسحابة.</a:t>
            </a:r>
          </a:p>
        </p:txBody>
      </p:sp>
      <p:sp>
        <p:nvSpPr>
          <p:cNvPr id="19" name="Box 18"/>
          <p:cNvSpPr/>
          <p:nvPr/>
        </p:nvSpPr>
        <p:spPr>
          <a:xfrm>
            <a:off x="812800" y="1657945"/>
            <a:ext cx="5200650" cy="2103735"/>
          </a:xfrm>
          <a:prstGeom prst="roundRect">
            <a:avLst>
              <a:gd name="adj" fmla="val 5433"/>
            </a:avLst>
          </a:prstGeom>
          <a:solidFill>
            <a:srgbClr val="FFFDF8"/>
          </a:solidFill>
          <a:ln>
            <a:noFill/>
          </a:ln>
        </p:spPr>
        <p:txBody>
          <a:bodyPr rtlCol="0" anchor="ctr"/>
          <a:lstStyle/>
          <a:p>
            <a:pPr algn="ctr"/>
          </a:p>
        </p:txBody>
      </p:sp>
      <p:sp>
        <p:nvSpPr>
          <p:cNvPr id="20" name="Rule 19"/>
          <p:cNvSpPr/>
          <p:nvPr/>
        </p:nvSpPr>
        <p:spPr>
          <a:xfrm>
            <a:off x="812800" y="1657945"/>
            <a:ext cx="5200650" cy="6350"/>
          </a:xfrm>
          <a:prstGeom prst="rect">
            <a:avLst/>
          </a:prstGeom>
          <a:solidFill>
            <a:srgbClr val="E1DBCD"/>
          </a:solidFill>
          <a:ln>
            <a:noFill/>
          </a:ln>
        </p:spPr>
        <p:txBody>
          <a:bodyPr rtlCol="0" anchor="ctr"/>
          <a:lstStyle/>
          <a:p>
            <a:pPr algn="ctr"/>
          </a:p>
        </p:txBody>
      </p:sp>
      <p:sp>
        <p:nvSpPr>
          <p:cNvPr id="21" name="Rule 20"/>
          <p:cNvSpPr/>
          <p:nvPr/>
        </p:nvSpPr>
        <p:spPr>
          <a:xfrm>
            <a:off x="5962650" y="1657945"/>
            <a:ext cx="50800" cy="2103735"/>
          </a:xfrm>
          <a:prstGeom prst="rect">
            <a:avLst/>
          </a:prstGeom>
          <a:solidFill>
            <a:srgbClr val="B4412C"/>
          </a:solidFill>
          <a:ln>
            <a:noFill/>
          </a:ln>
        </p:spPr>
        <p:txBody>
          <a:bodyPr rtlCol="0" anchor="ctr"/>
          <a:lstStyle/>
          <a:p>
            <a:pPr algn="ctr"/>
          </a:p>
        </p:txBody>
      </p:sp>
      <p:sp>
        <p:nvSpPr>
          <p:cNvPr id="22" name="Rule 21"/>
          <p:cNvSpPr/>
          <p:nvPr/>
        </p:nvSpPr>
        <p:spPr>
          <a:xfrm>
            <a:off x="812800" y="3755330"/>
            <a:ext cx="5200650" cy="6350"/>
          </a:xfrm>
          <a:prstGeom prst="rect">
            <a:avLst/>
          </a:prstGeom>
          <a:solidFill>
            <a:srgbClr val="E1DBCD"/>
          </a:solidFill>
          <a:ln>
            <a:noFill/>
          </a:ln>
        </p:spPr>
        <p:txBody>
          <a:bodyPr rtlCol="0" anchor="ctr"/>
          <a:lstStyle/>
          <a:p>
            <a:pPr algn="ctr"/>
          </a:p>
        </p:txBody>
      </p:sp>
      <p:sp>
        <p:nvSpPr>
          <p:cNvPr id="23" name="Rule 22"/>
          <p:cNvSpPr/>
          <p:nvPr/>
        </p:nvSpPr>
        <p:spPr>
          <a:xfrm>
            <a:off x="812800" y="1657945"/>
            <a:ext cx="6350" cy="2103735"/>
          </a:xfrm>
          <a:prstGeom prst="rect">
            <a:avLst/>
          </a:prstGeom>
          <a:solidFill>
            <a:srgbClr val="E1DBCD"/>
          </a:solidFill>
          <a:ln>
            <a:noFill/>
          </a:ln>
        </p:spPr>
        <p:txBody>
          <a:bodyPr rtlCol="0" anchor="ctr"/>
          <a:lstStyle/>
          <a:p>
            <a:pPr algn="ctr"/>
          </a:p>
        </p:txBody>
      </p:sp>
      <p:sp>
        <p:nvSpPr>
          <p:cNvPr id="24" name="Text 23"/>
          <p:cNvSpPr txBox="1"/>
          <p:nvPr/>
        </p:nvSpPr>
        <p:spPr>
          <a:xfrm>
            <a:off x="838200" y="1811044"/>
            <a:ext cx="4921250" cy="454323"/>
          </a:xfrm>
          <a:prstGeom prst="rect">
            <a:avLst/>
          </a:prstGeom>
          <a:noFill/>
        </p:spPr>
        <p:txBody>
          <a:bodyPr wrap="square" tIns="0" rIns="0" bIns="0" lIns="0" anchor="t" rtlCol="0" anchorCtr="0">
            <a:noAutofit/>
          </a:bodyPr>
          <a:lstStyle/>
          <a:p>
            <a:pPr algn="r" rtl="1">
              <a:lnSpc>
                <a:spcPts val="3577"/>
              </a:lnSpc>
              <a:spcBef>
                <a:spcPts val="0"/>
              </a:spcBef>
              <a:spcAft>
                <a:spcPts val="0"/>
              </a:spcAft>
            </a:pPr>
            <a:r>
              <a:rPr sz="2650" b="1" i="0">
                <a:solidFill>
                  <a:srgbClr val="B4412C"/>
                </a:solidFill>
                <a:latin typeface="IBM Plex Sans Arabic"/>
                <a:ea typeface="IBM Plex Sans Arabic"/>
                <a:cs typeface="IBM Plex Sans Arabic"/>
              </a:rPr>
              <a:t>«لا يدخله إلا أصحاب الخبرة»</a:t>
            </a:r>
          </a:p>
        </p:txBody>
      </p:sp>
      <p:sp>
        <p:nvSpPr>
          <p:cNvPr id="25" name="Text 24"/>
          <p:cNvSpPr txBox="1"/>
          <p:nvPr/>
        </p:nvSpPr>
        <p:spPr>
          <a:xfrm>
            <a:off x="880237" y="2334232"/>
            <a:ext cx="4879213" cy="933450"/>
          </a:xfrm>
          <a:prstGeom prst="rect">
            <a:avLst/>
          </a:prstGeom>
          <a:noFill/>
        </p:spPr>
        <p:txBody>
          <a:bodyPr wrap="square" tIns="0" rIns="0" bIns="0" lIns="0" anchor="t" rtlCol="0" anchorCtr="0">
            <a:noAutofit/>
          </a:bodyPr>
          <a:lstStyle/>
          <a:p>
            <a:pPr algn="r" rtl="1">
              <a:lnSpc>
                <a:spcPts val="3675"/>
              </a:lnSpc>
              <a:spcBef>
                <a:spcPts val="0"/>
              </a:spcBef>
              <a:spcAft>
                <a:spcPts val="0"/>
              </a:spcAft>
            </a:pPr>
            <a:r>
              <a:rPr sz="2450" b="0" i="0">
                <a:solidFill>
                  <a:srgbClr val="172433"/>
                </a:solidFill>
                <a:latin typeface="IBM Plex Sans Arabic"/>
                <a:ea typeface="IBM Plex Sans Arabic"/>
                <a:cs typeface="IBM Plex Sans Arabic"/>
              </a:rPr>
              <a:t>توجد وظائف مبتدئة، والمشاريع العملية تعوض جزءاً من الخبرة.</a:t>
            </a:r>
          </a:p>
        </p:txBody>
      </p:sp>
      <p:sp>
        <p:nvSpPr>
          <p:cNvPr id="26" name="Box 25"/>
          <p:cNvSpPr/>
          <p:nvPr/>
        </p:nvSpPr>
        <p:spPr>
          <a:xfrm>
            <a:off x="812800" y="3926780"/>
            <a:ext cx="5200650" cy="2103735"/>
          </a:xfrm>
          <a:prstGeom prst="roundRect">
            <a:avLst>
              <a:gd name="adj" fmla="val 5433"/>
            </a:avLst>
          </a:prstGeom>
          <a:solidFill>
            <a:srgbClr val="FFFDF8"/>
          </a:solidFill>
          <a:ln>
            <a:noFill/>
          </a:ln>
        </p:spPr>
        <p:txBody>
          <a:bodyPr rtlCol="0" anchor="ctr"/>
          <a:lstStyle/>
          <a:p>
            <a:pPr algn="ctr"/>
          </a:p>
        </p:txBody>
      </p:sp>
      <p:sp>
        <p:nvSpPr>
          <p:cNvPr id="27" name="Rule 26"/>
          <p:cNvSpPr/>
          <p:nvPr/>
        </p:nvSpPr>
        <p:spPr>
          <a:xfrm>
            <a:off x="812800" y="3926780"/>
            <a:ext cx="5200650" cy="6350"/>
          </a:xfrm>
          <a:prstGeom prst="rect">
            <a:avLst/>
          </a:prstGeom>
          <a:solidFill>
            <a:srgbClr val="E1DBCD"/>
          </a:solidFill>
          <a:ln>
            <a:noFill/>
          </a:ln>
        </p:spPr>
        <p:txBody>
          <a:bodyPr rtlCol="0" anchor="ctr"/>
          <a:lstStyle/>
          <a:p>
            <a:pPr algn="ctr"/>
          </a:p>
        </p:txBody>
      </p:sp>
      <p:sp>
        <p:nvSpPr>
          <p:cNvPr id="28" name="Rule 27"/>
          <p:cNvSpPr/>
          <p:nvPr/>
        </p:nvSpPr>
        <p:spPr>
          <a:xfrm>
            <a:off x="5962650" y="3926780"/>
            <a:ext cx="50800" cy="2103735"/>
          </a:xfrm>
          <a:prstGeom prst="rect">
            <a:avLst/>
          </a:prstGeom>
          <a:solidFill>
            <a:srgbClr val="B4412C"/>
          </a:solidFill>
          <a:ln>
            <a:noFill/>
          </a:ln>
        </p:spPr>
        <p:txBody>
          <a:bodyPr rtlCol="0" anchor="ctr"/>
          <a:lstStyle/>
          <a:p>
            <a:pPr algn="ctr"/>
          </a:p>
        </p:txBody>
      </p:sp>
      <p:sp>
        <p:nvSpPr>
          <p:cNvPr id="29" name="Rule 28"/>
          <p:cNvSpPr/>
          <p:nvPr/>
        </p:nvSpPr>
        <p:spPr>
          <a:xfrm>
            <a:off x="812800" y="6024166"/>
            <a:ext cx="5200650" cy="6350"/>
          </a:xfrm>
          <a:prstGeom prst="rect">
            <a:avLst/>
          </a:prstGeom>
          <a:solidFill>
            <a:srgbClr val="E1DBCD"/>
          </a:solidFill>
          <a:ln>
            <a:noFill/>
          </a:ln>
        </p:spPr>
        <p:txBody>
          <a:bodyPr rtlCol="0" anchor="ctr"/>
          <a:lstStyle/>
          <a:p>
            <a:pPr algn="ctr"/>
          </a:p>
        </p:txBody>
      </p:sp>
      <p:sp>
        <p:nvSpPr>
          <p:cNvPr id="30" name="Rule 29"/>
          <p:cNvSpPr/>
          <p:nvPr/>
        </p:nvSpPr>
        <p:spPr>
          <a:xfrm>
            <a:off x="812800" y="3926780"/>
            <a:ext cx="6350" cy="2103735"/>
          </a:xfrm>
          <a:prstGeom prst="rect">
            <a:avLst/>
          </a:prstGeom>
          <a:solidFill>
            <a:srgbClr val="E1DBCD"/>
          </a:solidFill>
          <a:ln>
            <a:noFill/>
          </a:ln>
        </p:spPr>
        <p:txBody>
          <a:bodyPr rtlCol="0" anchor="ctr"/>
          <a:lstStyle/>
          <a:p>
            <a:pPr algn="ctr"/>
          </a:p>
        </p:txBody>
      </p:sp>
      <p:sp>
        <p:nvSpPr>
          <p:cNvPr id="31" name="Text 30"/>
          <p:cNvSpPr txBox="1"/>
          <p:nvPr/>
        </p:nvSpPr>
        <p:spPr>
          <a:xfrm>
            <a:off x="838200" y="4079879"/>
            <a:ext cx="4921250" cy="454323"/>
          </a:xfrm>
          <a:prstGeom prst="rect">
            <a:avLst/>
          </a:prstGeom>
          <a:noFill/>
        </p:spPr>
        <p:txBody>
          <a:bodyPr wrap="square" tIns="0" rIns="0" bIns="0" lIns="0" anchor="t" rtlCol="0" anchorCtr="0">
            <a:noAutofit/>
          </a:bodyPr>
          <a:lstStyle/>
          <a:p>
            <a:pPr algn="r" rtl="1">
              <a:lnSpc>
                <a:spcPts val="3577"/>
              </a:lnSpc>
              <a:spcBef>
                <a:spcPts val="0"/>
              </a:spcBef>
              <a:spcAft>
                <a:spcPts val="0"/>
              </a:spcAft>
            </a:pPr>
            <a:r>
              <a:rPr sz="2650" b="1" i="0">
                <a:solidFill>
                  <a:srgbClr val="B4412C"/>
                </a:solidFill>
                <a:latin typeface="IBM Plex Sans Arabic"/>
                <a:ea typeface="IBM Plex Sans Arabic"/>
                <a:cs typeface="IBM Plex Sans Arabic"/>
              </a:rPr>
              <a:t>«تكفي شهادة واحدة»</a:t>
            </a:r>
          </a:p>
        </p:txBody>
      </p:sp>
      <p:sp>
        <p:nvSpPr>
          <p:cNvPr id="32" name="Text 31"/>
          <p:cNvSpPr txBox="1"/>
          <p:nvPr/>
        </p:nvSpPr>
        <p:spPr>
          <a:xfrm>
            <a:off x="880237" y="4603067"/>
            <a:ext cx="4879213" cy="933450"/>
          </a:xfrm>
          <a:prstGeom prst="rect">
            <a:avLst/>
          </a:prstGeom>
          <a:noFill/>
        </p:spPr>
        <p:txBody>
          <a:bodyPr wrap="square" tIns="0" rIns="0" bIns="0" lIns="0" anchor="t" rtlCol="0" anchorCtr="0">
            <a:noAutofit/>
          </a:bodyPr>
          <a:lstStyle/>
          <a:p>
            <a:pPr algn="r" rtl="1">
              <a:lnSpc>
                <a:spcPts val="3675"/>
              </a:lnSpc>
              <a:spcBef>
                <a:spcPts val="0"/>
              </a:spcBef>
              <a:spcAft>
                <a:spcPts val="0"/>
              </a:spcAft>
            </a:pPr>
            <a:r>
              <a:rPr sz="2450" b="0" i="0">
                <a:solidFill>
                  <a:srgbClr val="172433"/>
                </a:solidFill>
                <a:latin typeface="IBM Plex Sans Arabic"/>
                <a:ea typeface="IBM Plex Sans Arabic"/>
                <a:cs typeface="IBM Plex Sans Arabic"/>
              </a:rPr>
              <a:t>الشهادة تفتح باب المقابلة. ما يقنع هو أن تشرح مثالاً عملياً.</a:t>
            </a:r>
          </a:p>
        </p:txBody>
      </p:sp>
      <p:sp>
        <p:nvSpPr>
          <p:cNvPr id="33" name="Text 3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34" name="Text 3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786695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مهام رُفاد: حوكمة أم مخاطر أم امتثال؟</a:t>
            </a:r>
          </a:p>
        </p:txBody>
      </p:sp>
      <p:graphicFrame>
        <p:nvGraphicFramePr>
          <p:cNvPr id="6" name="Table 5"/>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2112010"/>
                <a:gridCol w="7603490"/>
                <a:gridCol w="84455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G أو R أو 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المهمة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الرئيس التنفيذي يعتمد سياسة الأمن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تقدير احتمال وأثر سرقة حاسوب عليه ملفات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جمع أدلة مراجعة الصلاحيات لتقييم الالتزام بـ ECC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تشكيل لجنة الأمن السيبراني وتحديد مهامها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اختيار خطة معالجة لخطر حساب المورد المشترك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مطابقة عقد المورد مع بنود ECC ‎4-1-2‎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178822"/>
            <a:ext cx="10566400" cy="538460"/>
          </a:xfrm>
          <a:prstGeom prst="roundRect">
            <a:avLst>
              <a:gd name="adj" fmla="val 18868"/>
            </a:avLst>
          </a:prstGeom>
          <a:solidFill>
            <a:srgbClr val="F6ECDA"/>
          </a:solidFill>
          <a:ln>
            <a:noFill/>
          </a:ln>
        </p:spPr>
        <p:txBody>
          <a:bodyPr rtlCol="0" anchor="ctr"/>
          <a:lstStyle/>
          <a:p>
            <a:pPr algn="ctr"/>
          </a:p>
        </p:txBody>
      </p:sp>
      <p:pic>
        <p:nvPicPr>
          <p:cNvPr id="8" name="Icon Clock 7" descr="icon012.png"/>
          <p:cNvPicPr>
            <a:picLocks noChangeAspect="1"/>
          </p:cNvPicPr>
          <p:nvPr/>
        </p:nvPicPr>
        <p:blipFill>
          <a:blip r:embed="rId2"/>
          <a:stretch>
            <a:fillRect/>
          </a:stretch>
        </p:blipFill>
        <p:spPr>
          <a:xfrm>
            <a:off x="10991850" y="5343227"/>
            <a:ext cx="209550" cy="209550"/>
          </a:xfrm>
          <a:prstGeom prst="rect">
            <a:avLst/>
          </a:prstGeom>
        </p:spPr>
      </p:pic>
      <p:sp>
        <p:nvSpPr>
          <p:cNvPr id="9" name="Text 8"/>
          <p:cNvSpPr txBox="1"/>
          <p:nvPr/>
        </p:nvSpPr>
        <p:spPr>
          <a:xfrm>
            <a:off x="838200" y="5274326"/>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اكتب الحرف في الكراسة، وسبباً من جملة واحدة لكل مهمة. 4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807402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G وR وC في مهام رُفاد</a:t>
            </a:r>
          </a:p>
        </p:txBody>
      </p:sp>
      <p:graphicFrame>
        <p:nvGraphicFramePr>
          <p:cNvPr id="6" name="Table 5"/>
          <p:cNvGraphicFramePr>
            <a:graphicFrameLocks noGrp="1"/>
          </p:cNvGraphicFramePr>
          <p:nvPr/>
        </p:nvGraphicFramePr>
        <p:xfrm>
          <a:off x="815975" y="1661120"/>
          <a:ext cx="10560050" cy="3051076"/>
        </p:xfrm>
        <a:graphic>
          <a:graphicData uri="http://schemas.openxmlformats.org/drawingml/2006/table">
            <a:tbl>
              <a:tblPr firstRow="0" bandRow="0" lastRow="0" firstCol="0" lastCol="0" bandCol="0">
                <a:tableStyleId>{2D5ABB26-0587-4C30-8999-92F81FD0307C}</a:tableStyleId>
              </a:tblPr>
              <a:tblGrid>
                <a:gridCol w="4224020"/>
                <a:gridCol w="1056005"/>
                <a:gridCol w="4646295"/>
                <a:gridCol w="633730"/>
              </a:tblGrid>
              <a:tr h="435868">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لماذا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الإجابة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المهمة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227"/>
                        </a:lnSpc>
                        <a:spcBef>
                          <a:spcPts val="0"/>
                        </a:spcBef>
                        <a:spcAft>
                          <a:spcPts val="0"/>
                        </a:spcAft>
                      </a:pPr>
                      <a:r>
                        <a:rPr sz="1650" b="1" i="0">
                          <a:solidFill>
                            <a:srgbClr val="F3EFE6"/>
                          </a:solidFill>
                          <a:latin typeface="IBM Plex Sans Arabic"/>
                          <a:ea typeface="IBM Plex Sans Arabic"/>
                          <a:cs typeface="IBM Plex Sans Arabic"/>
                        </a:rPr>
                        <a:t>#</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قرار ممن يملك الصلاحية يضع القواعد.</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G</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الرئيس التنفيذي يعتمد سياسة الأمن السيبراني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1</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تحليل ما قد يحدث وحجمه لترتيب الأولوية.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R</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تقدير احتمال وأثر سرقة حاسوب عليه ملفات الرواتب</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2</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إثبات تطبيق متطلب محدد بالأدلة.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C</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جمع أدلة مراجعة الصلاحيات لتقييم الالتزام بـ ECC</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3</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هيكل إشراف ومسؤوليات ومتابعة.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G</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تشكيل لجنة الأمن السيبراني وتحديد مهامها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4</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قرار معالجة لخطر قُيّم مستواه.</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R</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اختيار خطة معالجة لخطر حساب المورد المشترك</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5</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مقارنة الوضع القائم بمتطلب مكتوب.</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C</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مطابقة عقد المورد مع بنود ECC ‎4-1-2‎</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0" i="0">
                          <a:solidFill>
                            <a:srgbClr val="172433"/>
                          </a:solidFill>
                          <a:latin typeface="IBM Plex Sans Arabic"/>
                          <a:ea typeface="IBM Plex Sans Arabic"/>
                          <a:cs typeface="IBM Plex Sans Arabic"/>
                        </a:rPr>
                        <a:t>6</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905871"/>
            <a:ext cx="10566400" cy="858441"/>
          </a:xfrm>
          <a:prstGeom prst="roundRect">
            <a:avLst>
              <a:gd name="adj" fmla="val 11835"/>
            </a:avLst>
          </a:prstGeom>
          <a:solidFill>
            <a:srgbClr val="E3F1ED"/>
          </a:solidFill>
          <a:ln>
            <a:noFill/>
          </a:ln>
        </p:spPr>
        <p:txBody>
          <a:bodyPr rtlCol="0" anchor="ctr"/>
          <a:lstStyle/>
          <a:p>
            <a:pPr algn="ctr"/>
          </a:p>
        </p:txBody>
      </p:sp>
      <p:pic>
        <p:nvPicPr>
          <p:cNvPr id="8" name="Icon Lightbulb 7" descr="icon013.png"/>
          <p:cNvPicPr>
            <a:picLocks noChangeAspect="1"/>
          </p:cNvPicPr>
          <p:nvPr/>
        </p:nvPicPr>
        <p:blipFill>
          <a:blip r:embed="rId2"/>
          <a:stretch>
            <a:fillRect/>
          </a:stretch>
        </p:blipFill>
        <p:spPr>
          <a:xfrm>
            <a:off x="10979150" y="5223966"/>
            <a:ext cx="222250" cy="222250"/>
          </a:xfrm>
          <a:prstGeom prst="rect">
            <a:avLst/>
          </a:prstGeom>
        </p:spPr>
      </p:pic>
      <p:sp>
        <p:nvSpPr>
          <p:cNvPr id="9" name="Text 8"/>
          <p:cNvSpPr txBox="1"/>
          <p:nvPr/>
        </p:nvSpPr>
        <p:spPr>
          <a:xfrm>
            <a:off x="838200" y="4999407"/>
            <a:ext cx="10026650"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المهام متداخلة في الواقع: اعتماد خطة معالجة للخطر قرار حوكمة أيضاً. المهم أن تعرف السؤال الأساسي الذي تجيب عنه كل مهمة.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67701" y="1423690"/>
            <a:ext cx="23114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02</a:t>
            </a:r>
          </a:p>
        </p:txBody>
      </p:sp>
      <p:sp>
        <p:nvSpPr>
          <p:cNvPr id="4" name="Text 3"/>
          <p:cNvSpPr txBox="1"/>
          <p:nvPr/>
        </p:nvSpPr>
        <p:spPr>
          <a:xfrm>
            <a:off x="3466501" y="1845155"/>
            <a:ext cx="60584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المفاهيم وتطبيقاتها</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أطول وحدة وأهمها: ثلاثة أجزاء، وأربعة تطبيقات تنفذها بنفسك على رُفاد.</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المسؤوليات بمصفوفة RACI، وتكتب بند سياسة من متطلب.</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خطراً وتقيمه بمصفوفة الإطار الوطني، وتحدد معالجته.</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تفحص أدلة ضابط، وتكتب ملاحظة وخطة تصحيح.</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02 · المفاهيم وتطبيقاتها</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الأول</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الحوكمة</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من يقرر، وبأي قواعد، ومن المسؤول عن ماذا؟</a:t>
            </a:r>
          </a:p>
        </p:txBody>
      </p:sp>
      <p:sp>
        <p:nvSpPr>
          <p:cNvPr id="5" name="Text box 4"/>
          <p:cNvSpPr/>
          <p:nvPr/>
        </p:nvSpPr>
        <p:spPr>
          <a:xfrm>
            <a:off x="8694440" y="3952280"/>
            <a:ext cx="227836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الحوكمة والإدارة والتشغيل</a:t>
            </a:r>
          </a:p>
        </p:txBody>
      </p:sp>
      <p:sp>
        <p:nvSpPr>
          <p:cNvPr id="6" name="Text box 5"/>
          <p:cNvSpPr/>
          <p:nvPr/>
        </p:nvSpPr>
        <p:spPr>
          <a:xfrm>
            <a:off x="6795591" y="3952280"/>
            <a:ext cx="180994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الأدوار والمسؤوليات</a:t>
            </a:r>
          </a:p>
        </p:txBody>
      </p:sp>
      <p:sp>
        <p:nvSpPr>
          <p:cNvPr id="7" name="Text box 6"/>
          <p:cNvSpPr/>
          <p:nvPr/>
        </p:nvSpPr>
        <p:spPr>
          <a:xfrm>
            <a:off x="4765278" y="3952280"/>
            <a:ext cx="194141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نموذج الخطوط الثلاثة</a:t>
            </a:r>
          </a:p>
        </p:txBody>
      </p:sp>
      <p:sp>
        <p:nvSpPr>
          <p:cNvPr id="8" name="Text box 7"/>
          <p:cNvSpPr/>
          <p:nvPr/>
        </p:nvSpPr>
        <p:spPr>
          <a:xfrm>
            <a:off x="1957884" y="3952280"/>
            <a:ext cx="2718495"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هرم الوثائق ودورة حياة السياسة</a:t>
            </a:r>
          </a:p>
        </p:txBody>
      </p:sp>
      <p:sp>
        <p:nvSpPr>
          <p:cNvPr id="9" name="Text box 8"/>
          <p:cNvSpPr/>
          <p:nvPr/>
        </p:nvSpPr>
        <p:spPr>
          <a:xfrm>
            <a:off x="9486900" y="4442420"/>
            <a:ext cx="148590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RACI</a:t>
            </a:r>
          </a:p>
        </p:txBody>
      </p:sp>
      <p:sp>
        <p:nvSpPr>
          <p:cNvPr id="10" name="Text box 9"/>
          <p:cNvSpPr/>
          <p:nvPr/>
        </p:nvSpPr>
        <p:spPr>
          <a:xfrm>
            <a:off x="6493966" y="4442420"/>
            <a:ext cx="290403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1: مسؤوليات وبند سياسة</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الحوكمة</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68729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الحوكمة والإدارة والتشغيل: قرار واحد بثلاثة مستويات</a:t>
            </a:r>
          </a:p>
        </p:txBody>
      </p:sp>
      <p:sp>
        <p:nvSpPr>
          <p:cNvPr id="6" name="Box 5"/>
          <p:cNvSpPr/>
          <p:nvPr/>
        </p:nvSpPr>
        <p:spPr>
          <a:xfrm>
            <a:off x="7958634" y="1657945"/>
            <a:ext cx="3420566" cy="3377803"/>
          </a:xfrm>
          <a:prstGeom prst="roundRect">
            <a:avLst>
              <a:gd name="adj" fmla="val 3383"/>
            </a:avLst>
          </a:prstGeom>
          <a:solidFill>
            <a:srgbClr val="FFFDF8"/>
          </a:solidFill>
          <a:ln>
            <a:noFill/>
          </a:ln>
        </p:spPr>
        <p:txBody>
          <a:bodyPr rtlCol="0" anchor="ctr"/>
          <a:lstStyle/>
          <a:p>
            <a:pPr algn="ctr"/>
          </a:p>
        </p:txBody>
      </p:sp>
      <p:sp>
        <p:nvSpPr>
          <p:cNvPr id="7" name="Rule 6"/>
          <p:cNvSpPr/>
          <p:nvPr/>
        </p:nvSpPr>
        <p:spPr>
          <a:xfrm>
            <a:off x="7958634" y="1657945"/>
            <a:ext cx="3420566" cy="50800"/>
          </a:xfrm>
          <a:prstGeom prst="rect">
            <a:avLst/>
          </a:prstGeom>
          <a:solidFill>
            <a:srgbClr val="0E7C6B"/>
          </a:solidFill>
          <a:ln>
            <a:noFill/>
          </a:ln>
        </p:spPr>
        <p:txBody>
          <a:bodyPr rtlCol="0" anchor="ctr"/>
          <a:lstStyle/>
          <a:p>
            <a:pPr algn="ctr"/>
          </a:p>
        </p:txBody>
      </p:sp>
      <p:sp>
        <p:nvSpPr>
          <p:cNvPr id="8" name="Rule 7"/>
          <p:cNvSpPr/>
          <p:nvPr/>
        </p:nvSpPr>
        <p:spPr>
          <a:xfrm>
            <a:off x="11372850" y="1657945"/>
            <a:ext cx="6350" cy="3377803"/>
          </a:xfrm>
          <a:prstGeom prst="rect">
            <a:avLst/>
          </a:prstGeom>
          <a:solidFill>
            <a:srgbClr val="E1DBCD"/>
          </a:solidFill>
          <a:ln>
            <a:noFill/>
          </a:ln>
        </p:spPr>
        <p:txBody>
          <a:bodyPr rtlCol="0" anchor="ctr"/>
          <a:lstStyle/>
          <a:p>
            <a:pPr algn="ctr"/>
          </a:p>
        </p:txBody>
      </p:sp>
      <p:sp>
        <p:nvSpPr>
          <p:cNvPr id="9" name="Rule 8"/>
          <p:cNvSpPr/>
          <p:nvPr/>
        </p:nvSpPr>
        <p:spPr>
          <a:xfrm>
            <a:off x="7958634" y="5029398"/>
            <a:ext cx="3420566" cy="6350"/>
          </a:xfrm>
          <a:prstGeom prst="rect">
            <a:avLst/>
          </a:prstGeom>
          <a:solidFill>
            <a:srgbClr val="E1DBCD"/>
          </a:solidFill>
          <a:ln>
            <a:noFill/>
          </a:ln>
        </p:spPr>
        <p:txBody>
          <a:bodyPr rtlCol="0" anchor="ctr"/>
          <a:lstStyle/>
          <a:p>
            <a:pPr algn="ctr"/>
          </a:p>
        </p:txBody>
      </p:sp>
      <p:sp>
        <p:nvSpPr>
          <p:cNvPr id="10" name="Rule 9"/>
          <p:cNvSpPr/>
          <p:nvPr/>
        </p:nvSpPr>
        <p:spPr>
          <a:xfrm>
            <a:off x="7958634" y="1657945"/>
            <a:ext cx="6350" cy="3377803"/>
          </a:xfrm>
          <a:prstGeom prst="rect">
            <a:avLst/>
          </a:prstGeom>
          <a:solidFill>
            <a:srgbClr val="E1DBCD"/>
          </a:solidFill>
          <a:ln>
            <a:noFill/>
          </a:ln>
        </p:spPr>
        <p:txBody>
          <a:bodyPr rtlCol="0" anchor="ctr"/>
          <a:lstStyle/>
          <a:p>
            <a:pPr algn="ctr"/>
          </a:p>
        </p:txBody>
      </p:sp>
      <p:sp>
        <p:nvSpPr>
          <p:cNvPr id="11" name="Text 10"/>
          <p:cNvSpPr txBox="1"/>
          <p:nvPr/>
        </p:nvSpPr>
        <p:spPr>
          <a:xfrm>
            <a:off x="7984034" y="1886037"/>
            <a:ext cx="3198316"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0E7C6B"/>
                </a:solidFill>
                <a:latin typeface="Readex Pro"/>
                <a:ea typeface="Readex Pro"/>
                <a:cs typeface="Readex Pro"/>
              </a:rPr>
              <a:t>الحوكمة</a:t>
            </a:r>
          </a:p>
        </p:txBody>
      </p:sp>
      <p:sp>
        <p:nvSpPr>
          <p:cNvPr id="12" name="Text 11"/>
          <p:cNvSpPr txBox="1"/>
          <p:nvPr/>
        </p:nvSpPr>
        <p:spPr>
          <a:xfrm>
            <a:off x="7984034" y="2375210"/>
            <a:ext cx="3198316"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ماذا نريد، ولماذا، ومن يحاسب؟</a:t>
            </a:r>
          </a:p>
        </p:txBody>
      </p:sp>
      <p:sp>
        <p:nvSpPr>
          <p:cNvPr id="13" name="Text 12"/>
          <p:cNvSpPr txBox="1"/>
          <p:nvPr/>
        </p:nvSpPr>
        <p:spPr>
          <a:xfrm>
            <a:off x="7984034" y="2820718"/>
            <a:ext cx="31983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من: صاحب الصلاحية واللجنة</a:t>
            </a:r>
          </a:p>
        </p:txBody>
      </p:sp>
      <p:sp>
        <p:nvSpPr>
          <p:cNvPr id="14" name="Box 13"/>
          <p:cNvSpPr/>
          <p:nvPr/>
        </p:nvSpPr>
        <p:spPr>
          <a:xfrm>
            <a:off x="8155484" y="3294856"/>
            <a:ext cx="3026866" cy="1197372"/>
          </a:xfrm>
          <a:prstGeom prst="roundRect">
            <a:avLst>
              <a:gd name="adj" fmla="val 6363"/>
            </a:avLst>
          </a:prstGeom>
          <a:solidFill>
            <a:srgbClr val="F1ECE1"/>
          </a:solidFill>
          <a:ln>
            <a:noFill/>
          </a:ln>
        </p:spPr>
        <p:txBody>
          <a:bodyPr rtlCol="0" anchor="ctr"/>
          <a:lstStyle/>
          <a:p>
            <a:pPr algn="ctr"/>
          </a:p>
        </p:txBody>
      </p:sp>
      <p:sp>
        <p:nvSpPr>
          <p:cNvPr id="15" name="Text 14"/>
          <p:cNvSpPr txBox="1"/>
          <p:nvPr/>
        </p:nvSpPr>
        <p:spPr>
          <a:xfrm>
            <a:off x="8199298" y="3355308"/>
            <a:ext cx="2856052"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مثال رُفاد: اعتماد قرار: التحقق متعدد العوامل إلزامي للدخول عن بعد.</a:t>
            </a:r>
          </a:p>
        </p:txBody>
      </p:sp>
      <p:sp>
        <p:nvSpPr>
          <p:cNvPr id="16" name="Box 15"/>
          <p:cNvSpPr/>
          <p:nvPr/>
        </p:nvSpPr>
        <p:spPr>
          <a:xfrm>
            <a:off x="4385667" y="1657945"/>
            <a:ext cx="3420566" cy="3377803"/>
          </a:xfrm>
          <a:prstGeom prst="roundRect">
            <a:avLst>
              <a:gd name="adj" fmla="val 3383"/>
            </a:avLst>
          </a:prstGeom>
          <a:solidFill>
            <a:srgbClr val="FFFDF8"/>
          </a:solidFill>
          <a:ln>
            <a:noFill/>
          </a:ln>
        </p:spPr>
        <p:txBody>
          <a:bodyPr rtlCol="0" anchor="ctr"/>
          <a:lstStyle/>
          <a:p>
            <a:pPr algn="ctr"/>
          </a:p>
        </p:txBody>
      </p:sp>
      <p:sp>
        <p:nvSpPr>
          <p:cNvPr id="17" name="Rule 16"/>
          <p:cNvSpPr/>
          <p:nvPr/>
        </p:nvSpPr>
        <p:spPr>
          <a:xfrm>
            <a:off x="4385667" y="1657945"/>
            <a:ext cx="3420566" cy="50800"/>
          </a:xfrm>
          <a:prstGeom prst="rect">
            <a:avLst/>
          </a:prstGeom>
          <a:solidFill>
            <a:srgbClr val="24506B"/>
          </a:solidFill>
          <a:ln>
            <a:noFill/>
          </a:ln>
        </p:spPr>
        <p:txBody>
          <a:bodyPr rtlCol="0" anchor="ctr"/>
          <a:lstStyle/>
          <a:p>
            <a:pPr algn="ctr"/>
          </a:p>
        </p:txBody>
      </p:sp>
      <p:sp>
        <p:nvSpPr>
          <p:cNvPr id="18" name="Rule 17"/>
          <p:cNvSpPr/>
          <p:nvPr/>
        </p:nvSpPr>
        <p:spPr>
          <a:xfrm>
            <a:off x="7799884" y="1657945"/>
            <a:ext cx="6350" cy="3377803"/>
          </a:xfrm>
          <a:prstGeom prst="rect">
            <a:avLst/>
          </a:prstGeom>
          <a:solidFill>
            <a:srgbClr val="E1DBCD"/>
          </a:solidFill>
          <a:ln>
            <a:noFill/>
          </a:ln>
        </p:spPr>
        <p:txBody>
          <a:bodyPr rtlCol="0" anchor="ctr"/>
          <a:lstStyle/>
          <a:p>
            <a:pPr algn="ctr"/>
          </a:p>
        </p:txBody>
      </p:sp>
      <p:sp>
        <p:nvSpPr>
          <p:cNvPr id="19" name="Rule 18"/>
          <p:cNvSpPr/>
          <p:nvPr/>
        </p:nvSpPr>
        <p:spPr>
          <a:xfrm>
            <a:off x="4385667" y="5029398"/>
            <a:ext cx="3420566" cy="6350"/>
          </a:xfrm>
          <a:prstGeom prst="rect">
            <a:avLst/>
          </a:prstGeom>
          <a:solidFill>
            <a:srgbClr val="E1DBCD"/>
          </a:solidFill>
          <a:ln>
            <a:noFill/>
          </a:ln>
        </p:spPr>
        <p:txBody>
          <a:bodyPr rtlCol="0" anchor="ctr"/>
          <a:lstStyle/>
          <a:p>
            <a:pPr algn="ctr"/>
          </a:p>
        </p:txBody>
      </p:sp>
      <p:sp>
        <p:nvSpPr>
          <p:cNvPr id="20" name="Rule 19"/>
          <p:cNvSpPr/>
          <p:nvPr/>
        </p:nvSpPr>
        <p:spPr>
          <a:xfrm>
            <a:off x="4385667" y="1657945"/>
            <a:ext cx="6350" cy="3377803"/>
          </a:xfrm>
          <a:prstGeom prst="rect">
            <a:avLst/>
          </a:prstGeom>
          <a:solidFill>
            <a:srgbClr val="E1DBCD"/>
          </a:solidFill>
          <a:ln>
            <a:noFill/>
          </a:ln>
        </p:spPr>
        <p:txBody>
          <a:bodyPr rtlCol="0" anchor="ctr"/>
          <a:lstStyle/>
          <a:p>
            <a:pPr algn="ctr"/>
          </a:p>
        </p:txBody>
      </p:sp>
      <p:sp>
        <p:nvSpPr>
          <p:cNvPr id="21" name="Text 20"/>
          <p:cNvSpPr txBox="1"/>
          <p:nvPr/>
        </p:nvSpPr>
        <p:spPr>
          <a:xfrm>
            <a:off x="4411067" y="1886037"/>
            <a:ext cx="3198316"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24506B"/>
                </a:solidFill>
                <a:latin typeface="Readex Pro"/>
                <a:ea typeface="Readex Pro"/>
                <a:cs typeface="Readex Pro"/>
              </a:rPr>
              <a:t>الإدارة</a:t>
            </a:r>
          </a:p>
        </p:txBody>
      </p:sp>
      <p:sp>
        <p:nvSpPr>
          <p:cNvPr id="22" name="Text 21"/>
          <p:cNvSpPr txBox="1"/>
          <p:nvPr/>
        </p:nvSpPr>
        <p:spPr>
          <a:xfrm>
            <a:off x="4491711" y="2375210"/>
            <a:ext cx="3117672"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كيف ننفذ القرار، وبأي موارد وجدول؟</a:t>
            </a:r>
          </a:p>
        </p:txBody>
      </p:sp>
      <p:sp>
        <p:nvSpPr>
          <p:cNvPr id="23" name="Text 22"/>
          <p:cNvSpPr txBox="1"/>
          <p:nvPr/>
        </p:nvSpPr>
        <p:spPr>
          <a:xfrm>
            <a:off x="4411067" y="3167388"/>
            <a:ext cx="31983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من: مدراء الإدارات</a:t>
            </a:r>
          </a:p>
        </p:txBody>
      </p:sp>
      <p:sp>
        <p:nvSpPr>
          <p:cNvPr id="24" name="Box 23"/>
          <p:cNvSpPr/>
          <p:nvPr/>
        </p:nvSpPr>
        <p:spPr>
          <a:xfrm>
            <a:off x="4582517" y="3641527"/>
            <a:ext cx="3026866" cy="1197372"/>
          </a:xfrm>
          <a:prstGeom prst="roundRect">
            <a:avLst>
              <a:gd name="adj" fmla="val 6363"/>
            </a:avLst>
          </a:prstGeom>
          <a:solidFill>
            <a:srgbClr val="F1ECE1"/>
          </a:solidFill>
          <a:ln>
            <a:noFill/>
          </a:ln>
        </p:spPr>
        <p:txBody>
          <a:bodyPr rtlCol="0" anchor="ctr"/>
          <a:lstStyle/>
          <a:p>
            <a:pPr algn="ctr"/>
          </a:p>
        </p:txBody>
      </p:sp>
      <p:sp>
        <p:nvSpPr>
          <p:cNvPr id="25" name="Text 24"/>
          <p:cNvSpPr txBox="1"/>
          <p:nvPr/>
        </p:nvSpPr>
        <p:spPr>
          <a:xfrm>
            <a:off x="4626331" y="3701979"/>
            <a:ext cx="2856052"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مثال رُفاد: خطة نشر خلال 6 أسابيع، وميزانية، ومسؤول لكل مرحلة.</a:t>
            </a:r>
          </a:p>
        </p:txBody>
      </p:sp>
      <p:sp>
        <p:nvSpPr>
          <p:cNvPr id="26" name="Box 25"/>
          <p:cNvSpPr/>
          <p:nvPr/>
        </p:nvSpPr>
        <p:spPr>
          <a:xfrm>
            <a:off x="812701" y="1657945"/>
            <a:ext cx="3420566" cy="3377803"/>
          </a:xfrm>
          <a:prstGeom prst="roundRect">
            <a:avLst>
              <a:gd name="adj" fmla="val 3383"/>
            </a:avLst>
          </a:prstGeom>
          <a:solidFill>
            <a:srgbClr val="FFFDF8"/>
          </a:solidFill>
          <a:ln>
            <a:noFill/>
          </a:ln>
        </p:spPr>
        <p:txBody>
          <a:bodyPr rtlCol="0" anchor="ctr"/>
          <a:lstStyle/>
          <a:p>
            <a:pPr algn="ctr"/>
          </a:p>
        </p:txBody>
      </p:sp>
      <p:sp>
        <p:nvSpPr>
          <p:cNvPr id="27" name="Rule 26"/>
          <p:cNvSpPr/>
          <p:nvPr/>
        </p:nvSpPr>
        <p:spPr>
          <a:xfrm>
            <a:off x="812701" y="1657945"/>
            <a:ext cx="3420566" cy="50800"/>
          </a:xfrm>
          <a:prstGeom prst="rect">
            <a:avLst/>
          </a:prstGeom>
          <a:solidFill>
            <a:srgbClr val="8A4B12"/>
          </a:solidFill>
          <a:ln>
            <a:noFill/>
          </a:ln>
        </p:spPr>
        <p:txBody>
          <a:bodyPr rtlCol="0" anchor="ctr"/>
          <a:lstStyle/>
          <a:p>
            <a:pPr algn="ctr"/>
          </a:p>
        </p:txBody>
      </p:sp>
      <p:sp>
        <p:nvSpPr>
          <p:cNvPr id="28" name="Rule 27"/>
          <p:cNvSpPr/>
          <p:nvPr/>
        </p:nvSpPr>
        <p:spPr>
          <a:xfrm>
            <a:off x="4226917" y="1657945"/>
            <a:ext cx="6350" cy="3377803"/>
          </a:xfrm>
          <a:prstGeom prst="rect">
            <a:avLst/>
          </a:prstGeom>
          <a:solidFill>
            <a:srgbClr val="E1DBCD"/>
          </a:solidFill>
          <a:ln>
            <a:noFill/>
          </a:ln>
        </p:spPr>
        <p:txBody>
          <a:bodyPr rtlCol="0" anchor="ctr"/>
          <a:lstStyle/>
          <a:p>
            <a:pPr algn="ctr"/>
          </a:p>
        </p:txBody>
      </p:sp>
      <p:sp>
        <p:nvSpPr>
          <p:cNvPr id="29" name="Rule 28"/>
          <p:cNvSpPr/>
          <p:nvPr/>
        </p:nvSpPr>
        <p:spPr>
          <a:xfrm>
            <a:off x="812701" y="5029398"/>
            <a:ext cx="3420566" cy="6350"/>
          </a:xfrm>
          <a:prstGeom prst="rect">
            <a:avLst/>
          </a:prstGeom>
          <a:solidFill>
            <a:srgbClr val="E1DBCD"/>
          </a:solidFill>
          <a:ln>
            <a:noFill/>
          </a:ln>
        </p:spPr>
        <p:txBody>
          <a:bodyPr rtlCol="0" anchor="ctr"/>
          <a:lstStyle/>
          <a:p>
            <a:pPr algn="ctr"/>
          </a:p>
        </p:txBody>
      </p:sp>
      <p:sp>
        <p:nvSpPr>
          <p:cNvPr id="30" name="Rule 29"/>
          <p:cNvSpPr/>
          <p:nvPr/>
        </p:nvSpPr>
        <p:spPr>
          <a:xfrm>
            <a:off x="812701" y="1657945"/>
            <a:ext cx="6350" cy="3377803"/>
          </a:xfrm>
          <a:prstGeom prst="rect">
            <a:avLst/>
          </a:prstGeom>
          <a:solidFill>
            <a:srgbClr val="E1DBCD"/>
          </a:solidFill>
          <a:ln>
            <a:noFill/>
          </a:ln>
        </p:spPr>
        <p:txBody>
          <a:bodyPr rtlCol="0" anchor="ctr"/>
          <a:lstStyle/>
          <a:p>
            <a:pPr algn="ctr"/>
          </a:p>
        </p:txBody>
      </p:sp>
      <p:sp>
        <p:nvSpPr>
          <p:cNvPr id="31" name="Text 30"/>
          <p:cNvSpPr txBox="1"/>
          <p:nvPr/>
        </p:nvSpPr>
        <p:spPr>
          <a:xfrm>
            <a:off x="838101" y="1886037"/>
            <a:ext cx="3198316"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8A4B12"/>
                </a:solidFill>
                <a:latin typeface="Readex Pro"/>
                <a:ea typeface="Readex Pro"/>
                <a:cs typeface="Readex Pro"/>
              </a:rPr>
              <a:t>التشغيل</a:t>
            </a:r>
          </a:p>
        </p:txBody>
      </p:sp>
      <p:sp>
        <p:nvSpPr>
          <p:cNvPr id="32" name="Text 31"/>
          <p:cNvSpPr txBox="1"/>
          <p:nvPr/>
        </p:nvSpPr>
        <p:spPr>
          <a:xfrm>
            <a:off x="838101" y="2375210"/>
            <a:ext cx="3198316"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من ينفذ العمل يومياً؟</a:t>
            </a:r>
          </a:p>
        </p:txBody>
      </p:sp>
      <p:sp>
        <p:nvSpPr>
          <p:cNvPr id="33" name="Text 32"/>
          <p:cNvSpPr txBox="1"/>
          <p:nvPr/>
        </p:nvSpPr>
        <p:spPr>
          <a:xfrm>
            <a:off x="838101" y="2820718"/>
            <a:ext cx="31983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من: الفرق والمورد</a:t>
            </a:r>
          </a:p>
        </p:txBody>
      </p:sp>
      <p:sp>
        <p:nvSpPr>
          <p:cNvPr id="34" name="Box 33"/>
          <p:cNvSpPr/>
          <p:nvPr/>
        </p:nvSpPr>
        <p:spPr>
          <a:xfrm>
            <a:off x="1009551" y="3294856"/>
            <a:ext cx="3026866" cy="865981"/>
          </a:xfrm>
          <a:prstGeom prst="roundRect">
            <a:avLst>
              <a:gd name="adj" fmla="val 8799"/>
            </a:avLst>
          </a:prstGeom>
          <a:solidFill>
            <a:srgbClr val="F1ECE1"/>
          </a:solidFill>
          <a:ln>
            <a:noFill/>
          </a:ln>
        </p:spPr>
        <p:txBody>
          <a:bodyPr rtlCol="0" anchor="ctr"/>
          <a:lstStyle/>
          <a:p>
            <a:pPr algn="ctr"/>
          </a:p>
        </p:txBody>
      </p:sp>
      <p:sp>
        <p:nvSpPr>
          <p:cNvPr id="35" name="Text 34"/>
          <p:cNvSpPr txBox="1"/>
          <p:nvPr/>
        </p:nvSpPr>
        <p:spPr>
          <a:xfrm>
            <a:off x="1053365" y="3355308"/>
            <a:ext cx="2856052"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مثال رُفاد: تسجيل أجهزة الموظفين في تطبيق التحقق.</a:t>
            </a:r>
          </a:p>
        </p:txBody>
      </p:sp>
      <p:sp>
        <p:nvSpPr>
          <p:cNvPr id="36" name="Box 35"/>
          <p:cNvSpPr/>
          <p:nvPr/>
        </p:nvSpPr>
        <p:spPr>
          <a:xfrm>
            <a:off x="812800" y="5226248"/>
            <a:ext cx="10566400" cy="600670"/>
          </a:xfrm>
          <a:prstGeom prst="roundRect">
            <a:avLst>
              <a:gd name="adj" fmla="val 16914"/>
            </a:avLst>
          </a:prstGeom>
          <a:solidFill>
            <a:srgbClr val="172433"/>
          </a:solidFill>
          <a:ln>
            <a:noFill/>
          </a:ln>
        </p:spPr>
        <p:txBody>
          <a:bodyPr rtlCol="0" anchor="ctr"/>
          <a:lstStyle/>
          <a:p>
            <a:pPr algn="ctr"/>
          </a:p>
        </p:txBody>
      </p:sp>
      <p:pic>
        <p:nvPicPr>
          <p:cNvPr id="37" name="Icon Lightbulb 36" descr="icon014.png"/>
          <p:cNvPicPr>
            <a:picLocks noChangeAspect="1"/>
          </p:cNvPicPr>
          <p:nvPr/>
        </p:nvPicPr>
        <p:blipFill>
          <a:blip r:embed="rId2"/>
          <a:stretch>
            <a:fillRect/>
          </a:stretch>
        </p:blipFill>
        <p:spPr>
          <a:xfrm>
            <a:off x="10947400" y="5399584"/>
            <a:ext cx="254000" cy="254000"/>
          </a:xfrm>
          <a:prstGeom prst="rect">
            <a:avLst/>
          </a:prstGeom>
        </p:spPr>
      </p:pic>
      <p:sp>
        <p:nvSpPr>
          <p:cNvPr id="38" name="Text 37"/>
          <p:cNvSpPr txBox="1"/>
          <p:nvPr/>
        </p:nvSpPr>
        <p:spPr>
          <a:xfrm>
            <a:off x="838200" y="5314863"/>
            <a:ext cx="99949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F3EFE6"/>
                </a:solidFill>
                <a:latin typeface="IBM Plex Sans Arabic"/>
                <a:ea typeface="IBM Plex Sans Arabic"/>
                <a:cs typeface="IBM Plex Sans Arabic"/>
              </a:rPr>
              <a:t>القرار نفسه يمر بالمستويات الثلاثة. والحوكمة تعود في النهاية لتتابع: هل تحقق ما قررناه؟</a:t>
            </a:r>
          </a:p>
        </p:txBody>
      </p:sp>
      <p:sp>
        <p:nvSpPr>
          <p:cNvPr id="39" name="Text 3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40" name="Text 3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15875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أنشطة رُفاد: حوكمة أم إدارة أم تشغيل؟</a:t>
            </a:r>
          </a:p>
        </p:txBody>
      </p:sp>
      <p:graphicFrame>
        <p:nvGraphicFramePr>
          <p:cNvPr id="6" name="Table 5"/>
          <p:cNvGraphicFramePr>
            <a:graphicFrameLocks noGrp="1"/>
          </p:cNvGraphicFramePr>
          <p:nvPr/>
        </p:nvGraphicFramePr>
        <p:xfrm>
          <a:off x="815975" y="1661120"/>
          <a:ext cx="10560050" cy="2830215"/>
        </p:xfrm>
        <a:graphic>
          <a:graphicData uri="http://schemas.openxmlformats.org/drawingml/2006/table">
            <a:tbl>
              <a:tblPr firstRow="0" bandRow="0" lastRow="0" firstCol="0" lastCol="0" bandCol="0">
                <a:tableStyleId>{2D5ABB26-0587-4C30-8999-92F81FD0307C}</a:tableStyleId>
              </a:tblPr>
              <a:tblGrid>
                <a:gridCol w="3168015"/>
                <a:gridCol w="6652895"/>
                <a:gridCol w="739140"/>
              </a:tblGrid>
              <a:tr h="566043">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حوكمة أم إدارة أم تشغيل؟</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النشاط في رُفاد</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902"/>
                        </a:lnSpc>
                        <a:spcBef>
                          <a:spcPts val="0"/>
                        </a:spcBef>
                        <a:spcAft>
                          <a:spcPts val="0"/>
                        </a:spcAft>
                      </a:pPr>
                      <a:r>
                        <a:rPr sz="2150" b="1" i="0">
                          <a:solidFill>
                            <a:srgbClr val="F3EFE6"/>
                          </a:solidFill>
                          <a:latin typeface="IBM Plex Sans Arabic"/>
                          <a:ea typeface="IBM Plex Sans Arabic"/>
                          <a:cs typeface="IBM Plex Sans Arabic"/>
                        </a:rPr>
                        <a:t>#</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66043">
                <a:tc>
                  <a:txBody>
                    <a:bodyPr wrap="square"/>
                    <a:lstStyle/>
                    <a:p>
                      <a:pPr algn="r">
                        <a:lnSpc>
                          <a:spcPts val="2902"/>
                        </a:lnSpc>
                        <a:spcBef>
                          <a:spcPts val="0"/>
                        </a:spcBef>
                        <a:spcAft>
                          <a:spcPts val="0"/>
                        </a:spcAft>
                      </a:pPr>
                      <a:endParaRPr sz="2150"/>
                    </a:p>
                  </a:txBody>
                  <a:tcPr marT="95568" marR="163830" marB="95568"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1</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a:lnSpc>
                          <a:spcPts val="2902"/>
                        </a:lnSpc>
                        <a:spcBef>
                          <a:spcPts val="0"/>
                        </a:spcBef>
                        <a:spcAft>
                          <a:spcPts val="0"/>
                        </a:spcAft>
                      </a:pPr>
                      <a:endParaRPr sz="2150"/>
                    </a:p>
                  </a:txBody>
                  <a:tcPr marT="95568" marR="163830" marB="95568"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2</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66043">
                <a:tc>
                  <a:txBody>
                    <a:bodyPr wrap="square"/>
                    <a:lstStyle/>
                    <a:p>
                      <a:pPr algn="r">
                        <a:lnSpc>
                          <a:spcPts val="2902"/>
                        </a:lnSpc>
                        <a:spcBef>
                          <a:spcPts val="0"/>
                        </a:spcBef>
                        <a:spcAft>
                          <a:spcPts val="0"/>
                        </a:spcAft>
                      </a:pPr>
                      <a:endParaRPr sz="2150"/>
                    </a:p>
                  </a:txBody>
                  <a:tcPr marT="95568" marR="163830" marB="95568"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تسجيل جهاز الموظف في تطبيق التحقق</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3</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a:lnSpc>
                          <a:spcPts val="2902"/>
                        </a:lnSpc>
                        <a:spcBef>
                          <a:spcPts val="0"/>
                        </a:spcBef>
                        <a:spcAft>
                          <a:spcPts val="0"/>
                        </a:spcAft>
                      </a:pPr>
                      <a:endParaRPr sz="2150"/>
                    </a:p>
                  </a:txBody>
                  <a:tcPr marT="95568" marR="163830" marB="95568"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4</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685010"/>
            <a:ext cx="10566400" cy="627360"/>
          </a:xfrm>
          <a:prstGeom prst="roundRect">
            <a:avLst>
              <a:gd name="adj" fmla="val 16194"/>
            </a:avLst>
          </a:prstGeom>
          <a:solidFill>
            <a:srgbClr val="F6ECDA"/>
          </a:solidFill>
          <a:ln>
            <a:noFill/>
          </a:ln>
        </p:spPr>
        <p:txBody>
          <a:bodyPr rtlCol="0" anchor="ctr"/>
          <a:lstStyle/>
          <a:p>
            <a:pPr algn="ctr"/>
          </a:p>
        </p:txBody>
      </p:sp>
      <p:pic>
        <p:nvPicPr>
          <p:cNvPr id="8" name="Icon Clock 7" descr="icon015.png"/>
          <p:cNvPicPr>
            <a:picLocks noChangeAspect="1"/>
          </p:cNvPicPr>
          <p:nvPr/>
        </p:nvPicPr>
        <p:blipFill>
          <a:blip r:embed="rId2"/>
          <a:stretch>
            <a:fillRect/>
          </a:stretch>
        </p:blipFill>
        <p:spPr>
          <a:xfrm>
            <a:off x="10928350" y="4862116"/>
            <a:ext cx="273050" cy="273050"/>
          </a:xfrm>
          <a:prstGeom prst="rect">
            <a:avLst/>
          </a:prstGeom>
        </p:spPr>
      </p:pic>
      <p:sp>
        <p:nvSpPr>
          <p:cNvPr id="9" name="Text 8"/>
          <p:cNvSpPr txBox="1"/>
          <p:nvPr/>
        </p:nvSpPr>
        <p:spPr>
          <a:xfrm>
            <a:off x="838200" y="4770672"/>
            <a:ext cx="997585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اكتب المستوى وسبباً قصيراً لكل نشاط. 3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36582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مستويات أنشطة رُفاد</a:t>
            </a:r>
          </a:p>
        </p:txBody>
      </p:sp>
      <p:graphicFrame>
        <p:nvGraphicFramePr>
          <p:cNvPr id="6" name="Table 5"/>
          <p:cNvGraphicFramePr>
            <a:graphicFrameLocks noGrp="1"/>
          </p:cNvGraphicFramePr>
          <p:nvPr/>
        </p:nvGraphicFramePr>
        <p:xfrm>
          <a:off x="815975" y="1661120"/>
          <a:ext cx="10560050" cy="3481983"/>
        </p:xfrm>
        <a:graphic>
          <a:graphicData uri="http://schemas.openxmlformats.org/drawingml/2006/table">
            <a:tbl>
              <a:tblPr firstRow="0" bandRow="0" lastRow="0" firstCol="0" lastCol="0" bandCol="0">
                <a:tableStyleId>{2D5ABB26-0587-4C30-8999-92F81FD0307C}</a:tableStyleId>
              </a:tblPr>
              <a:tblGrid>
                <a:gridCol w="3590290"/>
                <a:gridCol w="1478280"/>
                <a:gridCol w="4857750"/>
                <a:gridCol w="633730"/>
              </a:tblGrid>
              <a:tr h="500955">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لماذا</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المستوى</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النشاط</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565"/>
                        </a:lnSpc>
                        <a:spcBef>
                          <a:spcPts val="0"/>
                        </a:spcBef>
                        <a:spcAft>
                          <a:spcPts val="0"/>
                        </a:spcAft>
                      </a:pPr>
                      <a:r>
                        <a:rPr sz="1900" b="1" i="0">
                          <a:solidFill>
                            <a:srgbClr val="F3EFE6"/>
                          </a:solidFill>
                          <a:latin typeface="IBM Plex Sans Arabic"/>
                          <a:ea typeface="IBM Plex Sans Arabic"/>
                          <a:cs typeface="IBM Plex Sans Arabic"/>
                        </a:rPr>
                        <a:t>#</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26691">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قرار وتوجه يعتمده صاحب الصلاحية.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حوكمة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101708" marR="144780" marB="67202" marL="773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1</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26691">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تخطيط الموارد والجدول لتنفيذ القرار.</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إدارة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101708" marR="144780" marB="67202" marL="773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2</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00955">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تنفيذ يومي للإجراء.</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تشغيل</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تسجيل جهاز الموظف في تطبيق التحقق</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3</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26691">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متابعة وإشراف ومساءلة من الجهة الأعلى.</a:t>
                      </a:r>
                    </a:p>
                  </a:txBody>
                  <a:tcPr marT="101708" marR="144780" marB="67202" marL="4575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حوكمة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101708" marR="144780" marB="67202" marL="773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4</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336778"/>
            <a:ext cx="10566400" cy="600670"/>
          </a:xfrm>
          <a:prstGeom prst="roundRect">
            <a:avLst>
              <a:gd name="adj" fmla="val 16914"/>
            </a:avLst>
          </a:prstGeom>
          <a:solidFill>
            <a:srgbClr val="E3F1ED"/>
          </a:solidFill>
          <a:ln>
            <a:noFill/>
          </a:ln>
        </p:spPr>
        <p:txBody>
          <a:bodyPr rtlCol="0" anchor="ctr"/>
          <a:lstStyle/>
          <a:p>
            <a:pPr algn="ctr"/>
          </a:p>
        </p:txBody>
      </p:sp>
      <p:pic>
        <p:nvPicPr>
          <p:cNvPr id="8" name="Icon Lightbulb 7" descr="icon016.png"/>
          <p:cNvPicPr>
            <a:picLocks noChangeAspect="1"/>
          </p:cNvPicPr>
          <p:nvPr/>
        </p:nvPicPr>
        <p:blipFill>
          <a:blip r:embed="rId2"/>
          <a:stretch>
            <a:fillRect/>
          </a:stretch>
        </p:blipFill>
        <p:spPr>
          <a:xfrm>
            <a:off x="10947400" y="5510113"/>
            <a:ext cx="254000" cy="254000"/>
          </a:xfrm>
          <a:prstGeom prst="rect">
            <a:avLst/>
          </a:prstGeom>
        </p:spPr>
      </p:pic>
      <p:sp>
        <p:nvSpPr>
          <p:cNvPr id="9" name="Text 8"/>
          <p:cNvSpPr txBox="1"/>
          <p:nvPr/>
        </p:nvSpPr>
        <p:spPr>
          <a:xfrm>
            <a:off x="838200" y="5425392"/>
            <a:ext cx="99949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النشاط الرابع يخدع كثيرين: التقرير للجنة ليس عملاً إدارياً عادياً، بل متابعة وإشراف، وهما جزء من الحوكمة.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أدوار تتكرر في كل عمل GRC</a:t>
            </a:r>
          </a:p>
        </p:txBody>
      </p:sp>
      <p:graphicFrame>
        <p:nvGraphicFramePr>
          <p:cNvPr id="5" name="Table 4"/>
          <p:cNvGraphicFramePr>
            <a:graphicFrameLocks noGrp="1"/>
          </p:cNvGraphicFramePr>
          <p:nvPr/>
        </p:nvGraphicFramePr>
        <p:xfrm>
          <a:off x="815975" y="1661120"/>
          <a:ext cx="10560050" cy="3779636"/>
        </p:xfrm>
        <a:graphic>
          <a:graphicData uri="http://schemas.openxmlformats.org/drawingml/2006/table">
            <a:tbl>
              <a:tblPr firstRow="0" bandRow="0" lastRow="0" firstCol="0" lastCol="0" bandCol="0">
                <a:tableStyleId>{2D5ABB26-0587-4C30-8999-92F81FD0307C}</a:tableStyleId>
              </a:tblPr>
              <a:tblGrid>
                <a:gridCol w="3590290"/>
                <a:gridCol w="4435475"/>
                <a:gridCol w="253428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في رُفاد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مسؤوليته</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الدور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الرئيس التنفيذي خالد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يعتمد السياسات ويقبل المخاطر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صاحب الصلاحية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لجنة الأمن السيبراني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تشرف، وتتابع، وتوصي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اللجنة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ريم، وأنت معها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تضع المنهجية، وتراقب، وتبلغ</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GRC</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منى لنظام الرواتب</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مسؤول عن النظام وبياناته</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مالك النظام</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سلمان للتحقق متعدد العوامل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يطبق الضابط ويحتفظ بأدلته</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مالك الضابط</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منى لخطر ملفات الرواتب</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يقرر معالجة الخطر ويتابعها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مالك الخطر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7" name="Text 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GRC لا ينفذ كل الضوابط، ولا يملك كل المخاطر</a:t>
            </a:r>
          </a:p>
        </p:txBody>
      </p:sp>
      <p:sp>
        <p:nvSpPr>
          <p:cNvPr id="5" name="Box 4"/>
          <p:cNvSpPr/>
          <p:nvPr/>
        </p:nvSpPr>
        <p:spPr>
          <a:xfrm>
            <a:off x="6188075" y="1661120"/>
            <a:ext cx="5187950" cy="3284339"/>
          </a:xfrm>
          <a:prstGeom prst="roundRect">
            <a:avLst>
              <a:gd name="adj" fmla="val 3473"/>
            </a:avLst>
          </a:prstGeom>
          <a:solidFill>
            <a:srgbClr val="E3F1ED"/>
          </a:solidFill>
          <a:ln w="6350">
            <a:solidFill>
              <a:srgbClr val="9FD1C5"/>
            </a:solidFill>
          </a:ln>
        </p:spPr>
        <p:txBody>
          <a:bodyPr rtlCol="0" anchor="ctr"/>
          <a:lstStyle/>
          <a:p>
            <a:pPr algn="ctr"/>
          </a:p>
        </p:txBody>
      </p:sp>
      <p:sp>
        <p:nvSpPr>
          <p:cNvPr id="6" name="Text 5"/>
          <p:cNvSpPr txBox="1"/>
          <p:nvPr/>
        </p:nvSpPr>
        <p:spPr>
          <a:xfrm>
            <a:off x="6210300" y="1829649"/>
            <a:ext cx="4959350" cy="388938"/>
          </a:xfrm>
          <a:prstGeom prst="rect">
            <a:avLst/>
          </a:prstGeom>
          <a:noFill/>
        </p:spPr>
        <p:txBody>
          <a:bodyPr wrap="square" tIns="0" rIns="0" bIns="0" lIns="0" anchor="t" rtlCol="0" anchorCtr="0">
            <a:noAutofit/>
          </a:bodyPr>
          <a:lstStyle/>
          <a:p>
            <a:pPr algn="r" rtl="1">
              <a:lnSpc>
                <a:spcPts val="3062"/>
              </a:lnSpc>
              <a:spcBef>
                <a:spcPts val="0"/>
              </a:spcBef>
              <a:spcAft>
                <a:spcPts val="0"/>
              </a:spcAft>
            </a:pPr>
            <a:r>
              <a:rPr sz="2450" b="1" i="0">
                <a:solidFill>
                  <a:srgbClr val="0E7C6B"/>
                </a:solidFill>
                <a:latin typeface="Readex Pro"/>
                <a:ea typeface="Readex Pro"/>
                <a:cs typeface="Readex Pro"/>
              </a:rPr>
              <a:t>ما يفعله GRC</a:t>
            </a:r>
          </a:p>
        </p:txBody>
      </p:sp>
      <p:pic>
        <p:nvPicPr>
          <p:cNvPr id="7" name="Icon CheckCircle 6" descr="icon017.png"/>
          <p:cNvPicPr>
            <a:picLocks noChangeAspect="1"/>
          </p:cNvPicPr>
          <p:nvPr/>
        </p:nvPicPr>
        <p:blipFill>
          <a:blip r:embed="rId2"/>
          <a:stretch>
            <a:fillRect/>
          </a:stretch>
        </p:blipFill>
        <p:spPr>
          <a:xfrm>
            <a:off x="10877550" y="2319933"/>
            <a:ext cx="292100" cy="292100"/>
          </a:xfrm>
          <a:prstGeom prst="rect">
            <a:avLst/>
          </a:prstGeom>
        </p:spPr>
      </p:pic>
      <p:sp>
        <p:nvSpPr>
          <p:cNvPr id="8" name="Text 7"/>
          <p:cNvSpPr txBox="1"/>
          <p:nvPr/>
        </p:nvSpPr>
        <p:spPr>
          <a:xfrm>
            <a:off x="6210300" y="2271705"/>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يضع المنهجية والنماذج.</a:t>
            </a:r>
          </a:p>
        </p:txBody>
      </p:sp>
      <p:pic>
        <p:nvPicPr>
          <p:cNvPr id="9" name="Icon CheckCircle 8" descr="icon017.png"/>
          <p:cNvPicPr>
            <a:picLocks noChangeAspect="1"/>
          </p:cNvPicPr>
          <p:nvPr/>
        </p:nvPicPr>
        <p:blipFill>
          <a:blip r:embed="rId2"/>
          <a:stretch>
            <a:fillRect/>
          </a:stretch>
        </p:blipFill>
        <p:spPr>
          <a:xfrm>
            <a:off x="10877550" y="2844403"/>
            <a:ext cx="292100" cy="292100"/>
          </a:xfrm>
          <a:prstGeom prst="rect">
            <a:avLst/>
          </a:prstGeom>
        </p:spPr>
      </p:pic>
      <p:sp>
        <p:nvSpPr>
          <p:cNvPr id="10" name="Text 9"/>
          <p:cNvSpPr txBox="1"/>
          <p:nvPr/>
        </p:nvSpPr>
        <p:spPr>
          <a:xfrm>
            <a:off x="6210300" y="2796175"/>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يساعد الإدارات على فهم المتطلبات.</a:t>
            </a:r>
          </a:p>
        </p:txBody>
      </p:sp>
      <p:pic>
        <p:nvPicPr>
          <p:cNvPr id="11" name="Icon CheckCircle 10" descr="icon017.png"/>
          <p:cNvPicPr>
            <a:picLocks noChangeAspect="1"/>
          </p:cNvPicPr>
          <p:nvPr/>
        </p:nvPicPr>
        <p:blipFill>
          <a:blip r:embed="rId2"/>
          <a:stretch>
            <a:fillRect/>
          </a:stretch>
        </p:blipFill>
        <p:spPr>
          <a:xfrm>
            <a:off x="10877550" y="3368873"/>
            <a:ext cx="292100" cy="292100"/>
          </a:xfrm>
          <a:prstGeom prst="rect">
            <a:avLst/>
          </a:prstGeom>
        </p:spPr>
      </p:pic>
      <p:sp>
        <p:nvSpPr>
          <p:cNvPr id="12" name="Text 11"/>
          <p:cNvSpPr txBox="1"/>
          <p:nvPr/>
        </p:nvSpPr>
        <p:spPr>
          <a:xfrm>
            <a:off x="6210300" y="3320645"/>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يتحقق من التطبيق بالأدلة.</a:t>
            </a:r>
          </a:p>
        </p:txBody>
      </p:sp>
      <p:pic>
        <p:nvPicPr>
          <p:cNvPr id="13" name="Icon CheckCircle 12" descr="icon017.png"/>
          <p:cNvPicPr>
            <a:picLocks noChangeAspect="1"/>
          </p:cNvPicPr>
          <p:nvPr/>
        </p:nvPicPr>
        <p:blipFill>
          <a:blip r:embed="rId2"/>
          <a:stretch>
            <a:fillRect/>
          </a:stretch>
        </p:blipFill>
        <p:spPr>
          <a:xfrm>
            <a:off x="10877550" y="3893344"/>
            <a:ext cx="292100" cy="292100"/>
          </a:xfrm>
          <a:prstGeom prst="rect">
            <a:avLst/>
          </a:prstGeom>
        </p:spPr>
      </p:pic>
      <p:sp>
        <p:nvSpPr>
          <p:cNvPr id="14" name="Text 13"/>
          <p:cNvSpPr txBox="1"/>
          <p:nvPr/>
        </p:nvSpPr>
        <p:spPr>
          <a:xfrm>
            <a:off x="6210300" y="3845116"/>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يرفع الصورة بوضوح للإدارة واللجنة.</a:t>
            </a:r>
          </a:p>
        </p:txBody>
      </p:sp>
      <p:sp>
        <p:nvSpPr>
          <p:cNvPr id="15" name="Box 14"/>
          <p:cNvSpPr/>
          <p:nvPr/>
        </p:nvSpPr>
        <p:spPr>
          <a:xfrm>
            <a:off x="815975" y="1661120"/>
            <a:ext cx="5187950" cy="3284339"/>
          </a:xfrm>
          <a:prstGeom prst="roundRect">
            <a:avLst>
              <a:gd name="adj" fmla="val 3473"/>
            </a:avLst>
          </a:prstGeom>
          <a:solidFill>
            <a:srgbClr val="FBEAE5"/>
          </a:solidFill>
          <a:ln w="6350">
            <a:solidFill>
              <a:srgbClr val="E7B8AC"/>
            </a:solidFill>
          </a:ln>
        </p:spPr>
        <p:txBody>
          <a:bodyPr rtlCol="0" anchor="ctr"/>
          <a:lstStyle/>
          <a:p>
            <a:pPr algn="ctr"/>
          </a:p>
        </p:txBody>
      </p:sp>
      <p:sp>
        <p:nvSpPr>
          <p:cNvPr id="16" name="Text 15"/>
          <p:cNvSpPr txBox="1"/>
          <p:nvPr/>
        </p:nvSpPr>
        <p:spPr>
          <a:xfrm>
            <a:off x="838200" y="1829649"/>
            <a:ext cx="4959350" cy="388938"/>
          </a:xfrm>
          <a:prstGeom prst="rect">
            <a:avLst/>
          </a:prstGeom>
          <a:noFill/>
        </p:spPr>
        <p:txBody>
          <a:bodyPr wrap="square" tIns="0" rIns="0" bIns="0" lIns="0" anchor="t" rtlCol="0" anchorCtr="0">
            <a:noAutofit/>
          </a:bodyPr>
          <a:lstStyle/>
          <a:p>
            <a:pPr algn="r" rtl="1">
              <a:lnSpc>
                <a:spcPts val="3062"/>
              </a:lnSpc>
              <a:spcBef>
                <a:spcPts val="0"/>
              </a:spcBef>
              <a:spcAft>
                <a:spcPts val="0"/>
              </a:spcAft>
            </a:pPr>
            <a:r>
              <a:rPr sz="2450" b="1" i="0">
                <a:solidFill>
                  <a:srgbClr val="B4412C"/>
                </a:solidFill>
                <a:latin typeface="Readex Pro"/>
                <a:ea typeface="Readex Pro"/>
                <a:cs typeface="Readex Pro"/>
              </a:rPr>
              <a:t>ما لا يفعله GRC</a:t>
            </a:r>
          </a:p>
        </p:txBody>
      </p:sp>
      <p:pic>
        <p:nvPicPr>
          <p:cNvPr id="17" name="Icon Warning 16" descr="icon018.png"/>
          <p:cNvPicPr>
            <a:picLocks noChangeAspect="1"/>
          </p:cNvPicPr>
          <p:nvPr/>
        </p:nvPicPr>
        <p:blipFill>
          <a:blip r:embed="rId3"/>
          <a:stretch>
            <a:fillRect/>
          </a:stretch>
        </p:blipFill>
        <p:spPr>
          <a:xfrm>
            <a:off x="5505450" y="2319933"/>
            <a:ext cx="292100" cy="292100"/>
          </a:xfrm>
          <a:prstGeom prst="rect">
            <a:avLst/>
          </a:prstGeom>
        </p:spPr>
      </p:pic>
      <p:sp>
        <p:nvSpPr>
          <p:cNvPr id="18" name="Text 17"/>
          <p:cNvSpPr txBox="1"/>
          <p:nvPr/>
        </p:nvSpPr>
        <p:spPr>
          <a:xfrm>
            <a:off x="838200" y="2271705"/>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لا ينفذ كل الضوابط بنفسه.</a:t>
            </a:r>
          </a:p>
        </p:txBody>
      </p:sp>
      <p:pic>
        <p:nvPicPr>
          <p:cNvPr id="19" name="Icon Warning 18" descr="icon018.png"/>
          <p:cNvPicPr>
            <a:picLocks noChangeAspect="1"/>
          </p:cNvPicPr>
          <p:nvPr/>
        </p:nvPicPr>
        <p:blipFill>
          <a:blip r:embed="rId3"/>
          <a:stretch>
            <a:fillRect/>
          </a:stretch>
        </p:blipFill>
        <p:spPr>
          <a:xfrm>
            <a:off x="5505450" y="2844403"/>
            <a:ext cx="292100" cy="292100"/>
          </a:xfrm>
          <a:prstGeom prst="rect">
            <a:avLst/>
          </a:prstGeom>
        </p:spPr>
      </p:pic>
      <p:sp>
        <p:nvSpPr>
          <p:cNvPr id="20" name="Text 19"/>
          <p:cNvSpPr txBox="1"/>
          <p:nvPr/>
        </p:nvSpPr>
        <p:spPr>
          <a:xfrm>
            <a:off x="838200" y="2796175"/>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لا يملك مخاطر الإدارات الأخرى.</a:t>
            </a:r>
          </a:p>
        </p:txBody>
      </p:sp>
      <p:pic>
        <p:nvPicPr>
          <p:cNvPr id="21" name="Icon Warning 20" descr="icon018.png"/>
          <p:cNvPicPr>
            <a:picLocks noChangeAspect="1"/>
          </p:cNvPicPr>
          <p:nvPr/>
        </p:nvPicPr>
        <p:blipFill>
          <a:blip r:embed="rId3"/>
          <a:stretch>
            <a:fillRect/>
          </a:stretch>
        </p:blipFill>
        <p:spPr>
          <a:xfrm>
            <a:off x="5505450" y="3368873"/>
            <a:ext cx="292100" cy="292100"/>
          </a:xfrm>
          <a:prstGeom prst="rect">
            <a:avLst/>
          </a:prstGeom>
        </p:spPr>
      </p:pic>
      <p:sp>
        <p:nvSpPr>
          <p:cNvPr id="22" name="Text 21"/>
          <p:cNvSpPr txBox="1"/>
          <p:nvPr/>
        </p:nvSpPr>
        <p:spPr>
          <a:xfrm>
            <a:off x="891286" y="3320645"/>
            <a:ext cx="4499864" cy="871141"/>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لا يعتمد السياسات بدل صاحب الصلاحية.</a:t>
            </a:r>
          </a:p>
        </p:txBody>
      </p:sp>
      <p:pic>
        <p:nvPicPr>
          <p:cNvPr id="23" name="Icon Warning 22" descr="icon018.png"/>
          <p:cNvPicPr>
            <a:picLocks noChangeAspect="1"/>
          </p:cNvPicPr>
          <p:nvPr/>
        </p:nvPicPr>
        <p:blipFill>
          <a:blip r:embed="rId3"/>
          <a:stretch>
            <a:fillRect/>
          </a:stretch>
        </p:blipFill>
        <p:spPr>
          <a:xfrm>
            <a:off x="5505450" y="4328914"/>
            <a:ext cx="292100" cy="292100"/>
          </a:xfrm>
          <a:prstGeom prst="rect">
            <a:avLst/>
          </a:prstGeom>
        </p:spPr>
      </p:pic>
      <p:sp>
        <p:nvSpPr>
          <p:cNvPr id="24" name="Text 23"/>
          <p:cNvSpPr txBox="1"/>
          <p:nvPr/>
        </p:nvSpPr>
        <p:spPr>
          <a:xfrm>
            <a:off x="838200" y="4280686"/>
            <a:ext cx="4552950" cy="435570"/>
          </a:xfrm>
          <a:prstGeom prst="rect">
            <a:avLst/>
          </a:prstGeom>
          <a:noFill/>
        </p:spPr>
        <p:txBody>
          <a:bodyPr wrap="square" tIns="0" rIns="0" bIns="0" lIns="0" anchor="t" rtlCol="0" anchorCtr="0">
            <a:noAutofit/>
          </a:bodyPr>
          <a:lstStyle/>
          <a:p>
            <a:pPr algn="r" rtl="1">
              <a:lnSpc>
                <a:spcPts val="3429"/>
              </a:lnSpc>
              <a:spcBef>
                <a:spcPts val="0"/>
              </a:spcBef>
              <a:spcAft>
                <a:spcPts val="0"/>
              </a:spcAft>
            </a:pPr>
            <a:r>
              <a:rPr sz="2450" b="0" i="0">
                <a:solidFill>
                  <a:srgbClr val="172433"/>
                </a:solidFill>
                <a:latin typeface="IBM Plex Sans Arabic"/>
                <a:ea typeface="IBM Plex Sans Arabic"/>
                <a:cs typeface="IBM Plex Sans Arabic"/>
              </a:rPr>
              <a:t>لا يتحمل الخطأ عن كل الجهة.</a:t>
            </a:r>
          </a:p>
        </p:txBody>
      </p:sp>
      <p:sp>
        <p:nvSpPr>
          <p:cNvPr id="25" name="Box 24"/>
          <p:cNvSpPr/>
          <p:nvPr/>
        </p:nvSpPr>
        <p:spPr>
          <a:xfrm>
            <a:off x="812800" y="5139134"/>
            <a:ext cx="10566400" cy="662880"/>
          </a:xfrm>
          <a:prstGeom prst="roundRect">
            <a:avLst>
              <a:gd name="adj" fmla="val 15327"/>
            </a:avLst>
          </a:prstGeom>
          <a:solidFill>
            <a:srgbClr val="E3F1ED"/>
          </a:solidFill>
          <a:ln>
            <a:noFill/>
          </a:ln>
        </p:spPr>
        <p:txBody>
          <a:bodyPr rtlCol="0" anchor="ctr"/>
          <a:lstStyle/>
          <a:p>
            <a:pPr algn="ctr"/>
          </a:p>
        </p:txBody>
      </p:sp>
      <p:pic>
        <p:nvPicPr>
          <p:cNvPr id="26" name="Icon Users 25" descr="icon019.png"/>
          <p:cNvPicPr>
            <a:picLocks noChangeAspect="1"/>
          </p:cNvPicPr>
          <p:nvPr/>
        </p:nvPicPr>
        <p:blipFill>
          <a:blip r:embed="rId4"/>
          <a:stretch>
            <a:fillRect/>
          </a:stretch>
        </p:blipFill>
        <p:spPr>
          <a:xfrm>
            <a:off x="10896600" y="5318125"/>
            <a:ext cx="304800" cy="304800"/>
          </a:xfrm>
          <a:prstGeom prst="rect">
            <a:avLst/>
          </a:prstGeom>
        </p:spPr>
      </p:pic>
      <p:sp>
        <p:nvSpPr>
          <p:cNvPr id="27" name="Text 26"/>
          <p:cNvSpPr txBox="1"/>
          <p:nvPr/>
        </p:nvSpPr>
        <p:spPr>
          <a:xfrm>
            <a:off x="838200" y="5220859"/>
            <a:ext cx="994410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في رُفاد: ريم لا تعطّل حسابات المغادرين. سلمان يعطّلها، وريم تتحقق أن ذلك يحدث فعلاً.</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نموذج الخطوط الثلاثة في رُفاد</a:t>
            </a:r>
          </a:p>
        </p:txBody>
      </p:sp>
      <p:sp>
        <p:nvSpPr>
          <p:cNvPr id="5" name="Box 4"/>
          <p:cNvSpPr/>
          <p:nvPr/>
        </p:nvSpPr>
        <p:spPr>
          <a:xfrm>
            <a:off x="812800" y="1657945"/>
            <a:ext cx="10566400" cy="679450"/>
          </a:xfrm>
          <a:prstGeom prst="roundRect">
            <a:avLst>
              <a:gd name="adj" fmla="val 14953"/>
            </a:avLst>
          </a:prstGeom>
          <a:solidFill>
            <a:srgbClr val="172433"/>
          </a:solidFill>
          <a:ln>
            <a:noFill/>
          </a:ln>
        </p:spPr>
        <p:txBody>
          <a:bodyPr rtlCol="0" anchor="ctr"/>
          <a:lstStyle/>
          <a:p>
            <a:pPr algn="ctr"/>
          </a:p>
        </p:txBody>
      </p:sp>
      <p:pic>
        <p:nvPicPr>
          <p:cNvPr id="6" name="Icon Users 5" descr="icon020.png"/>
          <p:cNvPicPr>
            <a:picLocks noChangeAspect="1"/>
          </p:cNvPicPr>
          <p:nvPr/>
        </p:nvPicPr>
        <p:blipFill>
          <a:blip r:embed="rId2"/>
          <a:stretch>
            <a:fillRect/>
          </a:stretch>
        </p:blipFill>
        <p:spPr>
          <a:xfrm>
            <a:off x="10845800" y="1826220"/>
            <a:ext cx="342900" cy="342900"/>
          </a:xfrm>
          <a:prstGeom prst="rect">
            <a:avLst/>
          </a:prstGeom>
        </p:spPr>
      </p:pic>
      <p:sp>
        <p:nvSpPr>
          <p:cNvPr id="7" name="Text 6"/>
          <p:cNvSpPr txBox="1"/>
          <p:nvPr/>
        </p:nvSpPr>
        <p:spPr>
          <a:xfrm>
            <a:off x="838200" y="1753354"/>
            <a:ext cx="98933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F3EFE6"/>
                </a:solidFill>
                <a:latin typeface="IBM Plex Sans Arabic"/>
                <a:ea typeface="IBM Plex Sans Arabic"/>
                <a:cs typeface="IBM Plex Sans Arabic"/>
              </a:rPr>
              <a:t>جهة الحوكمة: الرئيس التنفيذي ولجنة الأمن السيبراني، تحدد التوجه وتحاسب.</a:t>
            </a:r>
          </a:p>
        </p:txBody>
      </p:sp>
      <p:sp>
        <p:nvSpPr>
          <p:cNvPr id="8" name="Box 7"/>
          <p:cNvSpPr/>
          <p:nvPr/>
        </p:nvSpPr>
        <p:spPr>
          <a:xfrm>
            <a:off x="7950200" y="2527895"/>
            <a:ext cx="3429000" cy="2389584"/>
          </a:xfrm>
          <a:prstGeom prst="roundRect">
            <a:avLst>
              <a:gd name="adj" fmla="val 4783"/>
            </a:avLst>
          </a:prstGeom>
          <a:solidFill>
            <a:srgbClr val="FFFDF8"/>
          </a:solidFill>
          <a:ln>
            <a:noFill/>
          </a:ln>
        </p:spPr>
        <p:txBody>
          <a:bodyPr rtlCol="0" anchor="ctr"/>
          <a:lstStyle/>
          <a:p>
            <a:pPr algn="ctr"/>
          </a:p>
        </p:txBody>
      </p:sp>
      <p:sp>
        <p:nvSpPr>
          <p:cNvPr id="9" name="Rule 8"/>
          <p:cNvSpPr/>
          <p:nvPr/>
        </p:nvSpPr>
        <p:spPr>
          <a:xfrm>
            <a:off x="7950200" y="2527895"/>
            <a:ext cx="3429000" cy="50800"/>
          </a:xfrm>
          <a:prstGeom prst="rect">
            <a:avLst/>
          </a:prstGeom>
          <a:solidFill>
            <a:srgbClr val="24506B"/>
          </a:solidFill>
          <a:ln>
            <a:noFill/>
          </a:ln>
        </p:spPr>
        <p:txBody>
          <a:bodyPr rtlCol="0" anchor="ctr"/>
          <a:lstStyle/>
          <a:p>
            <a:pPr algn="ctr"/>
          </a:p>
        </p:txBody>
      </p:sp>
      <p:sp>
        <p:nvSpPr>
          <p:cNvPr id="10" name="Rule 9"/>
          <p:cNvSpPr/>
          <p:nvPr/>
        </p:nvSpPr>
        <p:spPr>
          <a:xfrm>
            <a:off x="11372850" y="2527895"/>
            <a:ext cx="6350" cy="2389584"/>
          </a:xfrm>
          <a:prstGeom prst="rect">
            <a:avLst/>
          </a:prstGeom>
          <a:solidFill>
            <a:srgbClr val="E1DBCD"/>
          </a:solidFill>
          <a:ln>
            <a:noFill/>
          </a:ln>
        </p:spPr>
        <p:txBody>
          <a:bodyPr rtlCol="0" anchor="ctr"/>
          <a:lstStyle/>
          <a:p>
            <a:pPr algn="ctr"/>
          </a:p>
        </p:txBody>
      </p:sp>
      <p:sp>
        <p:nvSpPr>
          <p:cNvPr id="11" name="Rule 10"/>
          <p:cNvSpPr/>
          <p:nvPr/>
        </p:nvSpPr>
        <p:spPr>
          <a:xfrm>
            <a:off x="7950200" y="4911130"/>
            <a:ext cx="3429000" cy="6350"/>
          </a:xfrm>
          <a:prstGeom prst="rect">
            <a:avLst/>
          </a:prstGeom>
          <a:solidFill>
            <a:srgbClr val="E1DBCD"/>
          </a:solidFill>
          <a:ln>
            <a:noFill/>
          </a:ln>
        </p:spPr>
        <p:txBody>
          <a:bodyPr rtlCol="0" anchor="ctr"/>
          <a:lstStyle/>
          <a:p>
            <a:pPr algn="ctr"/>
          </a:p>
        </p:txBody>
      </p:sp>
      <p:sp>
        <p:nvSpPr>
          <p:cNvPr id="12" name="Rule 11"/>
          <p:cNvSpPr/>
          <p:nvPr/>
        </p:nvSpPr>
        <p:spPr>
          <a:xfrm>
            <a:off x="7950200" y="2527895"/>
            <a:ext cx="6350" cy="2389584"/>
          </a:xfrm>
          <a:prstGeom prst="rect">
            <a:avLst/>
          </a:prstGeom>
          <a:solidFill>
            <a:srgbClr val="E1DBCD"/>
          </a:solidFill>
          <a:ln>
            <a:noFill/>
          </a:ln>
        </p:spPr>
        <p:txBody>
          <a:bodyPr rtlCol="0" anchor="ctr"/>
          <a:lstStyle/>
          <a:p>
            <a:pPr algn="ctr"/>
          </a:p>
        </p:txBody>
      </p:sp>
      <p:sp>
        <p:nvSpPr>
          <p:cNvPr id="13" name="Text 12"/>
          <p:cNvSpPr txBox="1"/>
          <p:nvPr/>
        </p:nvSpPr>
        <p:spPr>
          <a:xfrm>
            <a:off x="7975600" y="2717125"/>
            <a:ext cx="321945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24506B"/>
                </a:solidFill>
                <a:latin typeface="IBM Plex Sans Arabic"/>
                <a:ea typeface="IBM Plex Sans Arabic"/>
                <a:cs typeface="IBM Plex Sans Arabic"/>
              </a:rPr>
              <a:t>الخط الأول</a:t>
            </a:r>
          </a:p>
        </p:txBody>
      </p:sp>
      <p:sp>
        <p:nvSpPr>
          <p:cNvPr id="14" name="Text 13"/>
          <p:cNvSpPr txBox="1"/>
          <p:nvPr/>
        </p:nvSpPr>
        <p:spPr>
          <a:xfrm>
            <a:off x="7975600" y="3124287"/>
            <a:ext cx="3219450"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172433"/>
                </a:solidFill>
                <a:latin typeface="Readex Pro"/>
                <a:ea typeface="Readex Pro"/>
                <a:cs typeface="Readex Pro"/>
              </a:rPr>
              <a:t>الإدارات التشغيلية</a:t>
            </a:r>
          </a:p>
        </p:txBody>
      </p:sp>
      <p:sp>
        <p:nvSpPr>
          <p:cNvPr id="15" name="Text 14"/>
          <p:cNvSpPr txBox="1"/>
          <p:nvPr/>
        </p:nvSpPr>
        <p:spPr>
          <a:xfrm>
            <a:off x="8042529" y="3566882"/>
            <a:ext cx="3152521" cy="1132284"/>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تملك المخاطر وتطبق الضوابط. في رُفاد: سلمان ومنى والمورد تحت إشرافهما.</a:t>
            </a:r>
          </a:p>
        </p:txBody>
      </p:sp>
      <p:sp>
        <p:nvSpPr>
          <p:cNvPr id="16" name="Box 15"/>
          <p:cNvSpPr/>
          <p:nvPr/>
        </p:nvSpPr>
        <p:spPr>
          <a:xfrm>
            <a:off x="4381500" y="2527895"/>
            <a:ext cx="3429000" cy="2389584"/>
          </a:xfrm>
          <a:prstGeom prst="roundRect">
            <a:avLst>
              <a:gd name="adj" fmla="val 4783"/>
            </a:avLst>
          </a:prstGeom>
          <a:solidFill>
            <a:srgbClr val="E3F1ED"/>
          </a:solidFill>
          <a:ln>
            <a:noFill/>
          </a:ln>
        </p:spPr>
        <p:txBody>
          <a:bodyPr rtlCol="0" anchor="ctr"/>
          <a:lstStyle/>
          <a:p>
            <a:pPr algn="ctr"/>
          </a:p>
        </p:txBody>
      </p:sp>
      <p:sp>
        <p:nvSpPr>
          <p:cNvPr id="17" name="Rule 16"/>
          <p:cNvSpPr/>
          <p:nvPr/>
        </p:nvSpPr>
        <p:spPr>
          <a:xfrm>
            <a:off x="4381500" y="2527895"/>
            <a:ext cx="3429000" cy="50800"/>
          </a:xfrm>
          <a:prstGeom prst="rect">
            <a:avLst/>
          </a:prstGeom>
          <a:solidFill>
            <a:srgbClr val="0E7C6B"/>
          </a:solidFill>
          <a:ln>
            <a:noFill/>
          </a:ln>
        </p:spPr>
        <p:txBody>
          <a:bodyPr rtlCol="0" anchor="ctr"/>
          <a:lstStyle/>
          <a:p>
            <a:pPr algn="ctr"/>
          </a:p>
        </p:txBody>
      </p:sp>
      <p:sp>
        <p:nvSpPr>
          <p:cNvPr id="18" name="Rule 17"/>
          <p:cNvSpPr/>
          <p:nvPr/>
        </p:nvSpPr>
        <p:spPr>
          <a:xfrm>
            <a:off x="7804150" y="2527895"/>
            <a:ext cx="6350" cy="2389584"/>
          </a:xfrm>
          <a:prstGeom prst="rect">
            <a:avLst/>
          </a:prstGeom>
          <a:solidFill>
            <a:srgbClr val="E1DBCD"/>
          </a:solidFill>
          <a:ln>
            <a:noFill/>
          </a:ln>
        </p:spPr>
        <p:txBody>
          <a:bodyPr rtlCol="0" anchor="ctr"/>
          <a:lstStyle/>
          <a:p>
            <a:pPr algn="ctr"/>
          </a:p>
        </p:txBody>
      </p:sp>
      <p:sp>
        <p:nvSpPr>
          <p:cNvPr id="19" name="Rule 18"/>
          <p:cNvSpPr/>
          <p:nvPr/>
        </p:nvSpPr>
        <p:spPr>
          <a:xfrm>
            <a:off x="4381500" y="4911130"/>
            <a:ext cx="3429000" cy="6350"/>
          </a:xfrm>
          <a:prstGeom prst="rect">
            <a:avLst/>
          </a:prstGeom>
          <a:solidFill>
            <a:srgbClr val="E1DBCD"/>
          </a:solidFill>
          <a:ln>
            <a:noFill/>
          </a:ln>
        </p:spPr>
        <p:txBody>
          <a:bodyPr rtlCol="0" anchor="ctr"/>
          <a:lstStyle/>
          <a:p>
            <a:pPr algn="ctr"/>
          </a:p>
        </p:txBody>
      </p:sp>
      <p:sp>
        <p:nvSpPr>
          <p:cNvPr id="20" name="Rule 19"/>
          <p:cNvSpPr/>
          <p:nvPr/>
        </p:nvSpPr>
        <p:spPr>
          <a:xfrm>
            <a:off x="4381500" y="2527895"/>
            <a:ext cx="6350" cy="2389584"/>
          </a:xfrm>
          <a:prstGeom prst="rect">
            <a:avLst/>
          </a:prstGeom>
          <a:solidFill>
            <a:srgbClr val="E1DBCD"/>
          </a:solidFill>
          <a:ln>
            <a:noFill/>
          </a:ln>
        </p:spPr>
        <p:txBody>
          <a:bodyPr rtlCol="0" anchor="ctr"/>
          <a:lstStyle/>
          <a:p>
            <a:pPr algn="ctr"/>
          </a:p>
        </p:txBody>
      </p:sp>
      <p:sp>
        <p:nvSpPr>
          <p:cNvPr id="21" name="Text 20"/>
          <p:cNvSpPr txBox="1"/>
          <p:nvPr/>
        </p:nvSpPr>
        <p:spPr>
          <a:xfrm>
            <a:off x="4406900" y="2717125"/>
            <a:ext cx="321945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0E7C6B"/>
                </a:solidFill>
                <a:latin typeface="IBM Plex Sans Arabic"/>
                <a:ea typeface="IBM Plex Sans Arabic"/>
                <a:cs typeface="IBM Plex Sans Arabic"/>
              </a:rPr>
              <a:t>الخط الثاني</a:t>
            </a:r>
          </a:p>
        </p:txBody>
      </p:sp>
      <p:sp>
        <p:nvSpPr>
          <p:cNvPr id="22" name="Text 21"/>
          <p:cNvSpPr txBox="1"/>
          <p:nvPr/>
        </p:nvSpPr>
        <p:spPr>
          <a:xfrm>
            <a:off x="4406900" y="3124287"/>
            <a:ext cx="3219450"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172433"/>
                </a:solidFill>
                <a:latin typeface="Readex Pro"/>
                <a:ea typeface="Readex Pro"/>
                <a:cs typeface="Readex Pro"/>
              </a:rPr>
              <a:t>المخاطر والامتثال</a:t>
            </a:r>
          </a:p>
        </p:txBody>
      </p:sp>
      <p:sp>
        <p:nvSpPr>
          <p:cNvPr id="23" name="Text 22"/>
          <p:cNvSpPr txBox="1"/>
          <p:nvPr/>
        </p:nvSpPr>
        <p:spPr>
          <a:xfrm>
            <a:off x="4473829" y="3566882"/>
            <a:ext cx="3152521"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يضع الإطار ويراقب ويتحدى. في رُفاد: ريم، وأنت معها.</a:t>
            </a:r>
          </a:p>
        </p:txBody>
      </p:sp>
      <p:sp>
        <p:nvSpPr>
          <p:cNvPr id="24" name="Box 23"/>
          <p:cNvSpPr/>
          <p:nvPr/>
        </p:nvSpPr>
        <p:spPr>
          <a:xfrm>
            <a:off x="812800" y="2527895"/>
            <a:ext cx="3429000" cy="2389584"/>
          </a:xfrm>
          <a:prstGeom prst="roundRect">
            <a:avLst>
              <a:gd name="adj" fmla="val 4783"/>
            </a:avLst>
          </a:prstGeom>
          <a:solidFill>
            <a:srgbClr val="FFFDF8"/>
          </a:solidFill>
          <a:ln>
            <a:noFill/>
          </a:ln>
        </p:spPr>
        <p:txBody>
          <a:bodyPr rtlCol="0" anchor="ctr"/>
          <a:lstStyle/>
          <a:p>
            <a:pPr algn="ctr"/>
          </a:p>
        </p:txBody>
      </p:sp>
      <p:sp>
        <p:nvSpPr>
          <p:cNvPr id="25" name="Rule 24"/>
          <p:cNvSpPr/>
          <p:nvPr/>
        </p:nvSpPr>
        <p:spPr>
          <a:xfrm>
            <a:off x="812800" y="2527895"/>
            <a:ext cx="3429000" cy="50800"/>
          </a:xfrm>
          <a:prstGeom prst="rect">
            <a:avLst/>
          </a:prstGeom>
          <a:solidFill>
            <a:srgbClr val="8A4B12"/>
          </a:solidFill>
          <a:ln>
            <a:noFill/>
          </a:ln>
        </p:spPr>
        <p:txBody>
          <a:bodyPr rtlCol="0" anchor="ctr"/>
          <a:lstStyle/>
          <a:p>
            <a:pPr algn="ctr"/>
          </a:p>
        </p:txBody>
      </p:sp>
      <p:sp>
        <p:nvSpPr>
          <p:cNvPr id="26" name="Rule 25"/>
          <p:cNvSpPr/>
          <p:nvPr/>
        </p:nvSpPr>
        <p:spPr>
          <a:xfrm>
            <a:off x="4235450" y="2527895"/>
            <a:ext cx="6350" cy="2389584"/>
          </a:xfrm>
          <a:prstGeom prst="rect">
            <a:avLst/>
          </a:prstGeom>
          <a:solidFill>
            <a:srgbClr val="E1DBCD"/>
          </a:solidFill>
          <a:ln>
            <a:noFill/>
          </a:ln>
        </p:spPr>
        <p:txBody>
          <a:bodyPr rtlCol="0" anchor="ctr"/>
          <a:lstStyle/>
          <a:p>
            <a:pPr algn="ctr"/>
          </a:p>
        </p:txBody>
      </p:sp>
      <p:sp>
        <p:nvSpPr>
          <p:cNvPr id="27" name="Rule 26"/>
          <p:cNvSpPr/>
          <p:nvPr/>
        </p:nvSpPr>
        <p:spPr>
          <a:xfrm>
            <a:off x="812800" y="4911130"/>
            <a:ext cx="3429000" cy="6350"/>
          </a:xfrm>
          <a:prstGeom prst="rect">
            <a:avLst/>
          </a:prstGeom>
          <a:solidFill>
            <a:srgbClr val="E1DBCD"/>
          </a:solidFill>
          <a:ln>
            <a:noFill/>
          </a:ln>
        </p:spPr>
        <p:txBody>
          <a:bodyPr rtlCol="0" anchor="ctr"/>
          <a:lstStyle/>
          <a:p>
            <a:pPr algn="ctr"/>
          </a:p>
        </p:txBody>
      </p:sp>
      <p:sp>
        <p:nvSpPr>
          <p:cNvPr id="28" name="Rule 27"/>
          <p:cNvSpPr/>
          <p:nvPr/>
        </p:nvSpPr>
        <p:spPr>
          <a:xfrm>
            <a:off x="812800" y="2527895"/>
            <a:ext cx="6350" cy="2389584"/>
          </a:xfrm>
          <a:prstGeom prst="rect">
            <a:avLst/>
          </a:prstGeom>
          <a:solidFill>
            <a:srgbClr val="E1DBCD"/>
          </a:solidFill>
          <a:ln>
            <a:noFill/>
          </a:ln>
        </p:spPr>
        <p:txBody>
          <a:bodyPr rtlCol="0" anchor="ctr"/>
          <a:lstStyle/>
          <a:p>
            <a:pPr algn="ctr"/>
          </a:p>
        </p:txBody>
      </p:sp>
      <p:sp>
        <p:nvSpPr>
          <p:cNvPr id="29" name="Text 28"/>
          <p:cNvSpPr txBox="1"/>
          <p:nvPr/>
        </p:nvSpPr>
        <p:spPr>
          <a:xfrm>
            <a:off x="838200" y="2717125"/>
            <a:ext cx="321945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8A4B12"/>
                </a:solidFill>
                <a:latin typeface="IBM Plex Sans Arabic"/>
                <a:ea typeface="IBM Plex Sans Arabic"/>
                <a:cs typeface="IBM Plex Sans Arabic"/>
              </a:rPr>
              <a:t>الخط الثالث</a:t>
            </a:r>
          </a:p>
        </p:txBody>
      </p:sp>
      <p:sp>
        <p:nvSpPr>
          <p:cNvPr id="30" name="Text 29"/>
          <p:cNvSpPr txBox="1"/>
          <p:nvPr/>
        </p:nvSpPr>
        <p:spPr>
          <a:xfrm>
            <a:off x="838200" y="3124287"/>
            <a:ext cx="3219450"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600" b="1" i="0">
                <a:solidFill>
                  <a:srgbClr val="172433"/>
                </a:solidFill>
                <a:latin typeface="Readex Pro"/>
                <a:ea typeface="Readex Pro"/>
                <a:cs typeface="Readex Pro"/>
              </a:rPr>
              <a:t>المراجعة الداخلية</a:t>
            </a:r>
          </a:p>
        </p:txBody>
      </p:sp>
      <p:sp>
        <p:nvSpPr>
          <p:cNvPr id="31" name="Text 30"/>
          <p:cNvSpPr txBox="1"/>
          <p:nvPr/>
        </p:nvSpPr>
        <p:spPr>
          <a:xfrm>
            <a:off x="905129" y="3566882"/>
            <a:ext cx="3152521"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تأكيد مستقل. في رُفاد: مراجع خارجي متعاقد معه سنوياً.</a:t>
            </a:r>
          </a:p>
        </p:txBody>
      </p:sp>
      <p:sp>
        <p:nvSpPr>
          <p:cNvPr id="32" name="Text 31"/>
          <p:cNvSpPr txBox="1"/>
          <p:nvPr/>
        </p:nvSpPr>
        <p:spPr>
          <a:xfrm>
            <a:off x="0" y="5071562"/>
            <a:ext cx="113792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النموذج من معهد المدققين الداخليين IIA. توزيع الأدوار يختلف من جهة لأخرى.</a:t>
            </a:r>
          </a:p>
        </p:txBody>
      </p:sp>
      <p:sp>
        <p:nvSpPr>
          <p:cNvPr id="33" name="Text 3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4" name="Text 3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هرم الوثائق: من «لماذا» إلى «كيف»</a:t>
            </a:r>
          </a:p>
        </p:txBody>
      </p:sp>
      <p:sp>
        <p:nvSpPr>
          <p:cNvPr id="5" name="Box 4"/>
          <p:cNvSpPr/>
          <p:nvPr/>
        </p:nvSpPr>
        <p:spPr>
          <a:xfrm>
            <a:off x="8077200" y="1645245"/>
            <a:ext cx="3302000" cy="760710"/>
          </a:xfrm>
          <a:prstGeom prst="roundRect">
            <a:avLst>
              <a:gd name="adj" fmla="val 11686"/>
            </a:avLst>
          </a:prstGeom>
          <a:solidFill>
            <a:srgbClr val="172433"/>
          </a:solidFill>
          <a:ln>
            <a:noFill/>
          </a:ln>
        </p:spPr>
        <p:txBody>
          <a:bodyPr rtlCol="0" anchor="ctr"/>
          <a:lstStyle/>
          <a:p>
            <a:pPr algn="ctr"/>
          </a:p>
        </p:txBody>
      </p:sp>
      <p:sp>
        <p:nvSpPr>
          <p:cNvPr id="6" name="Text 5"/>
          <p:cNvSpPr txBox="1"/>
          <p:nvPr/>
        </p:nvSpPr>
        <p:spPr>
          <a:xfrm>
            <a:off x="8102600" y="173668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السياسة</a:t>
            </a:r>
          </a:p>
        </p:txBody>
      </p:sp>
      <p:sp>
        <p:nvSpPr>
          <p:cNvPr id="7" name="Text 6"/>
          <p:cNvSpPr txBox="1"/>
          <p:nvPr/>
        </p:nvSpPr>
        <p:spPr>
          <a:xfrm>
            <a:off x="8102600" y="204123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B9C4CC"/>
                </a:solidFill>
                <a:latin typeface="IBM Plex Sans Arabic"/>
                <a:ea typeface="IBM Plex Sans Arabic"/>
                <a:cs typeface="IBM Plex Sans Arabic"/>
              </a:rPr>
              <a:t>ماذا ولماذا · يعتمدها صاحب الصلاحية</a:t>
            </a:r>
          </a:p>
        </p:txBody>
      </p:sp>
      <p:sp>
        <p:nvSpPr>
          <p:cNvPr id="8" name="Text 7"/>
          <p:cNvSpPr txBox="1"/>
          <p:nvPr/>
        </p:nvSpPr>
        <p:spPr>
          <a:xfrm>
            <a:off x="244856" y="1824415"/>
            <a:ext cx="7667244" cy="322262"/>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«تُراجع الصلاحيات دورياً في كل الأنظمة.»</a:t>
            </a:r>
          </a:p>
        </p:txBody>
      </p:sp>
      <p:sp>
        <p:nvSpPr>
          <p:cNvPr id="9" name="Box 8"/>
          <p:cNvSpPr/>
          <p:nvPr/>
        </p:nvSpPr>
        <p:spPr>
          <a:xfrm>
            <a:off x="8077200" y="2507555"/>
            <a:ext cx="3302000" cy="760710"/>
          </a:xfrm>
          <a:prstGeom prst="roundRect">
            <a:avLst>
              <a:gd name="adj" fmla="val 11686"/>
            </a:avLst>
          </a:prstGeom>
          <a:solidFill>
            <a:srgbClr val="24506B"/>
          </a:solidFill>
          <a:ln>
            <a:noFill/>
          </a:ln>
        </p:spPr>
        <p:txBody>
          <a:bodyPr rtlCol="0" anchor="ctr"/>
          <a:lstStyle/>
          <a:p>
            <a:pPr algn="ctr"/>
          </a:p>
        </p:txBody>
      </p:sp>
      <p:sp>
        <p:nvSpPr>
          <p:cNvPr id="10" name="Text 9"/>
          <p:cNvSpPr txBox="1"/>
          <p:nvPr/>
        </p:nvSpPr>
        <p:spPr>
          <a:xfrm>
            <a:off x="8102600" y="259899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المعيار</a:t>
            </a:r>
          </a:p>
        </p:txBody>
      </p:sp>
      <p:sp>
        <p:nvSpPr>
          <p:cNvPr id="11" name="Text 10"/>
          <p:cNvSpPr txBox="1"/>
          <p:nvPr/>
        </p:nvSpPr>
        <p:spPr>
          <a:xfrm>
            <a:off x="8102600" y="290354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CFE0EA"/>
                </a:solidFill>
                <a:latin typeface="IBM Plex Sans Arabic"/>
                <a:ea typeface="IBM Plex Sans Arabic"/>
                <a:cs typeface="IBM Plex Sans Arabic"/>
              </a:rPr>
              <a:t>قيم ملزمة قابلة للقياس</a:t>
            </a:r>
          </a:p>
        </p:txBody>
      </p:sp>
      <p:sp>
        <p:nvSpPr>
          <p:cNvPr id="12" name="Text 11"/>
          <p:cNvSpPr txBox="1"/>
          <p:nvPr/>
        </p:nvSpPr>
        <p:spPr>
          <a:xfrm>
            <a:off x="244856" y="2686725"/>
            <a:ext cx="7667244" cy="322262"/>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«نظام الرواتب: مراجعة كل 3 أشهر، وإزالة خلال 5 أيام عمل.»</a:t>
            </a:r>
          </a:p>
        </p:txBody>
      </p:sp>
      <p:sp>
        <p:nvSpPr>
          <p:cNvPr id="13" name="Box 12"/>
          <p:cNvSpPr/>
          <p:nvPr/>
        </p:nvSpPr>
        <p:spPr>
          <a:xfrm>
            <a:off x="8077200" y="3369866"/>
            <a:ext cx="3302000" cy="760710"/>
          </a:xfrm>
          <a:prstGeom prst="roundRect">
            <a:avLst>
              <a:gd name="adj" fmla="val 11686"/>
            </a:avLst>
          </a:prstGeom>
          <a:solidFill>
            <a:srgbClr val="0E7C6B"/>
          </a:solidFill>
          <a:ln>
            <a:noFill/>
          </a:ln>
        </p:spPr>
        <p:txBody>
          <a:bodyPr rtlCol="0" anchor="ctr"/>
          <a:lstStyle/>
          <a:p>
            <a:pPr algn="ctr"/>
          </a:p>
        </p:txBody>
      </p:sp>
      <p:sp>
        <p:nvSpPr>
          <p:cNvPr id="14" name="Text 13"/>
          <p:cNvSpPr txBox="1"/>
          <p:nvPr/>
        </p:nvSpPr>
        <p:spPr>
          <a:xfrm>
            <a:off x="8102600" y="346130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الإجراء</a:t>
            </a:r>
          </a:p>
        </p:txBody>
      </p:sp>
      <p:sp>
        <p:nvSpPr>
          <p:cNvPr id="15" name="Text 14"/>
          <p:cNvSpPr txBox="1"/>
          <p:nvPr/>
        </p:nvSpPr>
        <p:spPr>
          <a:xfrm>
            <a:off x="8102600" y="376585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D3EFE8"/>
                </a:solidFill>
                <a:latin typeface="IBM Plex Sans Arabic"/>
                <a:ea typeface="IBM Plex Sans Arabic"/>
                <a:cs typeface="IBM Plex Sans Arabic"/>
              </a:rPr>
              <a:t>خطوات: من يفعل ماذا ومتى</a:t>
            </a:r>
          </a:p>
        </p:txBody>
      </p:sp>
      <p:sp>
        <p:nvSpPr>
          <p:cNvPr id="16" name="Text 15"/>
          <p:cNvSpPr txBox="1"/>
          <p:nvPr/>
        </p:nvSpPr>
        <p:spPr>
          <a:xfrm>
            <a:off x="244856" y="3549035"/>
            <a:ext cx="7667244" cy="322262"/>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«تصدّر تقنية المعلومات القائمة، ثم يؤكد كل مدير…»</a:t>
            </a:r>
          </a:p>
        </p:txBody>
      </p:sp>
      <p:sp>
        <p:nvSpPr>
          <p:cNvPr id="17" name="Box 16"/>
          <p:cNvSpPr/>
          <p:nvPr/>
        </p:nvSpPr>
        <p:spPr>
          <a:xfrm>
            <a:off x="8077200" y="4232176"/>
            <a:ext cx="3302000" cy="760710"/>
          </a:xfrm>
          <a:prstGeom prst="roundRect">
            <a:avLst>
              <a:gd name="adj" fmla="val 11686"/>
            </a:avLst>
          </a:prstGeom>
          <a:solidFill>
            <a:srgbClr val="E5DCC8"/>
          </a:solidFill>
          <a:ln>
            <a:noFill/>
          </a:ln>
        </p:spPr>
        <p:txBody>
          <a:bodyPr rtlCol="0" anchor="ctr"/>
          <a:lstStyle/>
          <a:p>
            <a:pPr algn="ctr"/>
          </a:p>
        </p:txBody>
      </p:sp>
      <p:sp>
        <p:nvSpPr>
          <p:cNvPr id="18" name="Text 17"/>
          <p:cNvSpPr txBox="1"/>
          <p:nvPr/>
        </p:nvSpPr>
        <p:spPr>
          <a:xfrm>
            <a:off x="8102600" y="432361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الإرشاد</a:t>
            </a:r>
          </a:p>
        </p:txBody>
      </p:sp>
      <p:sp>
        <p:nvSpPr>
          <p:cNvPr id="19" name="Text 18"/>
          <p:cNvSpPr txBox="1"/>
          <p:nvPr/>
        </p:nvSpPr>
        <p:spPr>
          <a:xfrm>
            <a:off x="8102600" y="462816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توصيات غير ملزمة</a:t>
            </a:r>
          </a:p>
        </p:txBody>
      </p:sp>
      <p:sp>
        <p:nvSpPr>
          <p:cNvPr id="20" name="Text 19"/>
          <p:cNvSpPr txBox="1"/>
          <p:nvPr/>
        </p:nvSpPr>
        <p:spPr>
          <a:xfrm>
            <a:off x="244856" y="4411345"/>
            <a:ext cx="7667244" cy="322262"/>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«يُنصح بمراجعة الحسابات غير المستخدمة منذ 90 يوماً أولاً.»</a:t>
            </a:r>
          </a:p>
        </p:txBody>
      </p:sp>
      <p:sp>
        <p:nvSpPr>
          <p:cNvPr id="21" name="Text 20"/>
          <p:cNvSpPr txBox="1"/>
          <p:nvPr/>
        </p:nvSpPr>
        <p:spPr>
          <a:xfrm>
            <a:off x="0" y="5141158"/>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مثال واحد عبر المستويات الأربعة: مراجعة الصلاحيات في رُفاد. القيم مثال تدريبي.</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دورة حياة السياسة: سبع مراحل</a:t>
            </a:r>
          </a:p>
        </p:txBody>
      </p:sp>
      <p:sp>
        <p:nvSpPr>
          <p:cNvPr id="5" name="Box 4"/>
          <p:cNvSpPr/>
          <p:nvPr/>
        </p:nvSpPr>
        <p:spPr>
          <a:xfrm>
            <a:off x="8816975" y="1610320"/>
            <a:ext cx="2559050" cy="1775222"/>
          </a:xfrm>
          <a:prstGeom prst="roundRect">
            <a:avLst>
              <a:gd name="adj" fmla="val 6415"/>
            </a:avLst>
          </a:prstGeom>
          <a:solidFill>
            <a:srgbClr val="FFFDF8"/>
          </a:solidFill>
          <a:ln w="6350">
            <a:solidFill>
              <a:srgbClr val="E1DBCD"/>
            </a:solidFill>
          </a:ln>
        </p:spPr>
        <p:txBody>
          <a:bodyPr rtlCol="0" anchor="ctr"/>
          <a:lstStyle/>
          <a:p>
            <a:pPr algn="ctr"/>
          </a:p>
        </p:txBody>
      </p:sp>
      <p:sp>
        <p:nvSpPr>
          <p:cNvPr id="6" name="Text 5"/>
          <p:cNvSpPr txBox="1"/>
          <p:nvPr/>
        </p:nvSpPr>
        <p:spPr>
          <a:xfrm>
            <a:off x="10821630" y="1974032"/>
            <a:ext cx="39882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1</a:t>
            </a:r>
          </a:p>
        </p:txBody>
      </p:sp>
      <p:sp>
        <p:nvSpPr>
          <p:cNvPr id="7" name="Text 6"/>
          <p:cNvSpPr txBox="1"/>
          <p:nvPr/>
        </p:nvSpPr>
        <p:spPr>
          <a:xfrm>
            <a:off x="8902700" y="1735034"/>
            <a:ext cx="2035770" cy="72628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تحديد الحاجة والمتطلبات</a:t>
            </a:r>
          </a:p>
        </p:txBody>
      </p:sp>
      <p:sp>
        <p:nvSpPr>
          <p:cNvPr id="8" name="Text 7"/>
          <p:cNvSpPr txBox="1"/>
          <p:nvPr/>
        </p:nvSpPr>
        <p:spPr>
          <a:xfrm>
            <a:off x="8905113" y="2499543"/>
            <a:ext cx="2315337"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نظام، أو ضابط، أو خطر، أو حادثة.</a:t>
            </a:r>
          </a:p>
        </p:txBody>
      </p:sp>
      <p:sp>
        <p:nvSpPr>
          <p:cNvPr id="9" name="Box 8"/>
          <p:cNvSpPr/>
          <p:nvPr/>
        </p:nvSpPr>
        <p:spPr>
          <a:xfrm>
            <a:off x="6149975" y="1610320"/>
            <a:ext cx="2559050" cy="1775222"/>
          </a:xfrm>
          <a:prstGeom prst="roundRect">
            <a:avLst>
              <a:gd name="adj" fmla="val 6415"/>
            </a:avLst>
          </a:prstGeom>
          <a:solidFill>
            <a:srgbClr val="FFFDF8"/>
          </a:solidFill>
          <a:ln w="6350">
            <a:solidFill>
              <a:srgbClr val="E1DBCD"/>
            </a:solidFill>
          </a:ln>
        </p:spPr>
        <p:txBody>
          <a:bodyPr rtlCol="0" anchor="ctr"/>
          <a:lstStyle/>
          <a:p>
            <a:pPr algn="ctr"/>
          </a:p>
        </p:txBody>
      </p:sp>
      <p:sp>
        <p:nvSpPr>
          <p:cNvPr id="10" name="Text 9"/>
          <p:cNvSpPr txBox="1"/>
          <p:nvPr/>
        </p:nvSpPr>
        <p:spPr>
          <a:xfrm>
            <a:off x="8159790" y="1792462"/>
            <a:ext cx="39366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2</a:t>
            </a:r>
          </a:p>
        </p:txBody>
      </p:sp>
      <p:sp>
        <p:nvSpPr>
          <p:cNvPr id="11" name="Text 10"/>
          <p:cNvSpPr txBox="1"/>
          <p:nvPr/>
        </p:nvSpPr>
        <p:spPr>
          <a:xfrm>
            <a:off x="6172200" y="1735034"/>
            <a:ext cx="21044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الصياغة</a:t>
            </a:r>
          </a:p>
        </p:txBody>
      </p:sp>
      <p:sp>
        <p:nvSpPr>
          <p:cNvPr id="12" name="Text 11"/>
          <p:cNvSpPr txBox="1"/>
          <p:nvPr/>
        </p:nvSpPr>
        <p:spPr>
          <a:xfrm>
            <a:off x="6238113" y="2136402"/>
            <a:ext cx="2315337"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مسودة بلغة واضحة وقابلة للتدقيق.</a:t>
            </a:r>
          </a:p>
        </p:txBody>
      </p:sp>
      <p:sp>
        <p:nvSpPr>
          <p:cNvPr id="13" name="Box 12"/>
          <p:cNvSpPr/>
          <p:nvPr/>
        </p:nvSpPr>
        <p:spPr>
          <a:xfrm>
            <a:off x="3482975" y="1610320"/>
            <a:ext cx="2559050" cy="1775222"/>
          </a:xfrm>
          <a:prstGeom prst="roundRect">
            <a:avLst>
              <a:gd name="adj" fmla="val 6415"/>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478701" y="1792462"/>
            <a:ext cx="407749"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3</a:t>
            </a:r>
          </a:p>
        </p:txBody>
      </p:sp>
      <p:sp>
        <p:nvSpPr>
          <p:cNvPr id="15" name="Text 14"/>
          <p:cNvSpPr txBox="1"/>
          <p:nvPr/>
        </p:nvSpPr>
        <p:spPr>
          <a:xfrm>
            <a:off x="3505200" y="1735034"/>
            <a:ext cx="2090341"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المراجعة</a:t>
            </a:r>
          </a:p>
        </p:txBody>
      </p:sp>
      <p:sp>
        <p:nvSpPr>
          <p:cNvPr id="16" name="Text 15"/>
          <p:cNvSpPr txBox="1"/>
          <p:nvPr/>
        </p:nvSpPr>
        <p:spPr>
          <a:xfrm>
            <a:off x="3571113" y="2136402"/>
            <a:ext cx="2315337"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الإدارات المعنية والقانونية وGRC.</a:t>
            </a:r>
          </a:p>
        </p:txBody>
      </p:sp>
      <p:sp>
        <p:nvSpPr>
          <p:cNvPr id="17" name="Box 16"/>
          <p:cNvSpPr/>
          <p:nvPr/>
        </p:nvSpPr>
        <p:spPr>
          <a:xfrm>
            <a:off x="815975" y="1610320"/>
            <a:ext cx="2559050" cy="1775222"/>
          </a:xfrm>
          <a:prstGeom prst="roundRect">
            <a:avLst>
              <a:gd name="adj" fmla="val 6415"/>
            </a:avLst>
          </a:prstGeom>
          <a:solidFill>
            <a:srgbClr val="FFFDF8"/>
          </a:solidFill>
          <a:ln w="6350">
            <a:solidFill>
              <a:srgbClr val="E1DBCD"/>
            </a:solidFill>
          </a:ln>
        </p:spPr>
        <p:txBody>
          <a:bodyPr rtlCol="0" anchor="ctr"/>
          <a:lstStyle/>
          <a:p>
            <a:pPr algn="ctr"/>
          </a:p>
        </p:txBody>
      </p:sp>
      <p:sp>
        <p:nvSpPr>
          <p:cNvPr id="18" name="Text 17"/>
          <p:cNvSpPr txBox="1"/>
          <p:nvPr/>
        </p:nvSpPr>
        <p:spPr>
          <a:xfrm>
            <a:off x="2786995" y="1792462"/>
            <a:ext cx="432455"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4</a:t>
            </a:r>
          </a:p>
        </p:txBody>
      </p:sp>
      <p:sp>
        <p:nvSpPr>
          <p:cNvPr id="19" name="Text 18"/>
          <p:cNvSpPr txBox="1"/>
          <p:nvPr/>
        </p:nvSpPr>
        <p:spPr>
          <a:xfrm>
            <a:off x="838200" y="1735034"/>
            <a:ext cx="2065635"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الاعتماد</a:t>
            </a:r>
          </a:p>
        </p:txBody>
      </p:sp>
      <p:sp>
        <p:nvSpPr>
          <p:cNvPr id="20" name="Text 19"/>
          <p:cNvSpPr txBox="1"/>
          <p:nvPr/>
        </p:nvSpPr>
        <p:spPr>
          <a:xfrm>
            <a:off x="904113" y="2136402"/>
            <a:ext cx="2315337"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من صاحب الصلاحية، بتاريخ وإصدار.</a:t>
            </a:r>
          </a:p>
        </p:txBody>
      </p:sp>
      <p:sp>
        <p:nvSpPr>
          <p:cNvPr id="21" name="Box 20"/>
          <p:cNvSpPr/>
          <p:nvPr/>
        </p:nvSpPr>
        <p:spPr>
          <a:xfrm>
            <a:off x="8747125" y="3531592"/>
            <a:ext cx="2628900" cy="1425377"/>
          </a:xfrm>
          <a:prstGeom prst="roundRect">
            <a:avLst>
              <a:gd name="adj" fmla="val 7983"/>
            </a:avLst>
          </a:prstGeom>
          <a:solidFill>
            <a:srgbClr val="FFFDF8"/>
          </a:solidFill>
          <a:ln w="6350">
            <a:solidFill>
              <a:srgbClr val="E1DBCD"/>
            </a:solidFill>
          </a:ln>
        </p:spPr>
        <p:txBody>
          <a:bodyPr rtlCol="0" anchor="ctr"/>
          <a:lstStyle/>
          <a:p>
            <a:pPr algn="ctr"/>
          </a:p>
        </p:txBody>
      </p:sp>
      <p:sp>
        <p:nvSpPr>
          <p:cNvPr id="22" name="Text 21"/>
          <p:cNvSpPr txBox="1"/>
          <p:nvPr/>
        </p:nvSpPr>
        <p:spPr>
          <a:xfrm>
            <a:off x="10810617" y="3713734"/>
            <a:ext cx="409833"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5</a:t>
            </a:r>
          </a:p>
        </p:txBody>
      </p:sp>
      <p:sp>
        <p:nvSpPr>
          <p:cNvPr id="23" name="Text 22"/>
          <p:cNvSpPr txBox="1"/>
          <p:nvPr/>
        </p:nvSpPr>
        <p:spPr>
          <a:xfrm>
            <a:off x="8769350" y="3656306"/>
            <a:ext cx="2158107"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النشر</a:t>
            </a:r>
          </a:p>
        </p:txBody>
      </p:sp>
      <p:sp>
        <p:nvSpPr>
          <p:cNvPr id="24" name="Text 23"/>
          <p:cNvSpPr txBox="1"/>
          <p:nvPr/>
        </p:nvSpPr>
        <p:spPr>
          <a:xfrm>
            <a:off x="8833168" y="4057674"/>
            <a:ext cx="2387282"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لمن تنطبق عليهم، مع توعية.</a:t>
            </a:r>
          </a:p>
        </p:txBody>
      </p:sp>
      <p:sp>
        <p:nvSpPr>
          <p:cNvPr id="25" name="Box 24"/>
          <p:cNvSpPr/>
          <p:nvPr/>
        </p:nvSpPr>
        <p:spPr>
          <a:xfrm>
            <a:off x="6010275" y="3531592"/>
            <a:ext cx="2628900" cy="1425377"/>
          </a:xfrm>
          <a:prstGeom prst="roundRect">
            <a:avLst>
              <a:gd name="adj" fmla="val 7983"/>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079919" y="3713734"/>
            <a:ext cx="403681"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6</a:t>
            </a:r>
          </a:p>
        </p:txBody>
      </p:sp>
      <p:sp>
        <p:nvSpPr>
          <p:cNvPr id="27" name="Text 26"/>
          <p:cNvSpPr txBox="1"/>
          <p:nvPr/>
        </p:nvSpPr>
        <p:spPr>
          <a:xfrm>
            <a:off x="6032500" y="3656306"/>
            <a:ext cx="2164259"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التطبيق</a:t>
            </a:r>
          </a:p>
        </p:txBody>
      </p:sp>
      <p:sp>
        <p:nvSpPr>
          <p:cNvPr id="28" name="Text 27"/>
          <p:cNvSpPr txBox="1"/>
          <p:nvPr/>
        </p:nvSpPr>
        <p:spPr>
          <a:xfrm>
            <a:off x="6032500" y="4057674"/>
            <a:ext cx="2451100" cy="349845"/>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إجراءات وضوابط وأدلة.</a:t>
            </a:r>
          </a:p>
        </p:txBody>
      </p:sp>
      <p:sp>
        <p:nvSpPr>
          <p:cNvPr id="29" name="Box 28"/>
          <p:cNvSpPr/>
          <p:nvPr/>
        </p:nvSpPr>
        <p:spPr>
          <a:xfrm>
            <a:off x="3273425" y="3531592"/>
            <a:ext cx="2628900" cy="1425377"/>
          </a:xfrm>
          <a:prstGeom prst="roundRect">
            <a:avLst>
              <a:gd name="adj" fmla="val 7983"/>
            </a:avLst>
          </a:prstGeom>
          <a:solidFill>
            <a:srgbClr val="FFFDF8"/>
          </a:solidFill>
          <a:ln w="6350">
            <a:solidFill>
              <a:srgbClr val="E1DBCD"/>
            </a:solidFill>
          </a:ln>
        </p:spPr>
        <p:txBody>
          <a:bodyPr rtlCol="0" anchor="ctr"/>
          <a:lstStyle/>
          <a:p>
            <a:pPr algn="ctr"/>
          </a:p>
        </p:txBody>
      </p:sp>
      <p:sp>
        <p:nvSpPr>
          <p:cNvPr id="30" name="Text 29"/>
          <p:cNvSpPr txBox="1"/>
          <p:nvPr/>
        </p:nvSpPr>
        <p:spPr>
          <a:xfrm>
            <a:off x="5350609" y="3895304"/>
            <a:ext cx="396141"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700" b="1" i="0">
                <a:solidFill>
                  <a:srgbClr val="0E7C6B"/>
                </a:solidFill>
                <a:latin typeface="Readex Pro"/>
                <a:ea typeface="Readex Pro"/>
                <a:cs typeface="Readex Pro"/>
              </a:rPr>
              <a:t>7</a:t>
            </a:r>
          </a:p>
        </p:txBody>
      </p:sp>
      <p:sp>
        <p:nvSpPr>
          <p:cNvPr id="31" name="Text 30"/>
          <p:cNvSpPr txBox="1"/>
          <p:nvPr/>
        </p:nvSpPr>
        <p:spPr>
          <a:xfrm>
            <a:off x="3359150" y="3656306"/>
            <a:ext cx="2108299" cy="72628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المراجعة الدورية</a:t>
            </a:r>
          </a:p>
        </p:txBody>
      </p:sp>
      <p:sp>
        <p:nvSpPr>
          <p:cNvPr id="32" name="Text 31"/>
          <p:cNvSpPr txBox="1"/>
          <p:nvPr/>
        </p:nvSpPr>
        <p:spPr>
          <a:xfrm>
            <a:off x="3295650" y="4420814"/>
            <a:ext cx="2451100" cy="349845"/>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4E5A66"/>
                </a:solidFill>
                <a:latin typeface="IBM Plex Sans Arabic"/>
                <a:ea typeface="IBM Plex Sans Arabic"/>
                <a:cs typeface="IBM Plex Sans Arabic"/>
              </a:rPr>
              <a:t>سنوياً أو عند التغيير.</a:t>
            </a:r>
          </a:p>
        </p:txBody>
      </p:sp>
      <p:sp>
        <p:nvSpPr>
          <p:cNvPr id="33" name="Box 32"/>
          <p:cNvSpPr/>
          <p:nvPr/>
        </p:nvSpPr>
        <p:spPr>
          <a:xfrm>
            <a:off x="822325" y="3537942"/>
            <a:ext cx="2336800" cy="1412677"/>
          </a:xfrm>
          <a:prstGeom prst="roundRect">
            <a:avLst>
              <a:gd name="adj" fmla="val 7983"/>
            </a:avLst>
          </a:prstGeom>
          <a:noFill/>
          <a:ln w="19050">
            <a:solidFill>
              <a:srgbClr val="9FD1C5"/>
            </a:solidFill>
            <a:prstDash val="dash"/>
          </a:ln>
        </p:spPr>
        <p:txBody>
          <a:bodyPr rtlCol="0" anchor="ctr"/>
          <a:lstStyle/>
          <a:p>
            <a:pPr algn="ctr"/>
          </a:p>
        </p:txBody>
      </p:sp>
      <p:sp>
        <p:nvSpPr>
          <p:cNvPr id="34" name="Text 33"/>
          <p:cNvSpPr txBox="1"/>
          <p:nvPr/>
        </p:nvSpPr>
        <p:spPr>
          <a:xfrm>
            <a:off x="831850" y="3859224"/>
            <a:ext cx="231775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7C6B"/>
                </a:solidFill>
                <a:latin typeface="IBM Plex Sans Arabic"/>
                <a:ea typeface="IBM Plex Sans Arabic"/>
                <a:cs typeface="IBM Plex Sans Arabic"/>
              </a:rPr>
              <a:t>ثم تعود الدورة من البداية</a:t>
            </a:r>
          </a:p>
        </p:txBody>
      </p:sp>
      <p:sp>
        <p:nvSpPr>
          <p:cNvPr id="35" name="Text 34"/>
          <p:cNvSpPr txBox="1"/>
          <p:nvPr/>
        </p:nvSpPr>
        <p:spPr>
          <a:xfrm>
            <a:off x="0" y="5061458"/>
            <a:ext cx="113792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4E5A66"/>
                </a:solidFill>
                <a:latin typeface="IBM Plex Sans Arabic"/>
                <a:ea typeface="IBM Plex Sans Arabic"/>
                <a:cs typeface="IBM Plex Sans Arabic"/>
              </a:rPr>
              <a:t>في رُفاد: سياسة التحكم بالوصول تُراجع سنوياً، أو فوراً عند تغيير نظام مهم مثل ترحيل نظام الرواتب.</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مصفوفة RACI: أربعة حروف قبل أن نبدأ</a:t>
            </a:r>
          </a:p>
        </p:txBody>
      </p:sp>
      <p:sp>
        <p:nvSpPr>
          <p:cNvPr id="5" name="Box 4"/>
          <p:cNvSpPr/>
          <p:nvPr/>
        </p:nvSpPr>
        <p:spPr>
          <a:xfrm>
            <a:off x="6172200" y="1657945"/>
            <a:ext cx="5207000" cy="1461988"/>
          </a:xfrm>
          <a:prstGeom prst="roundRect">
            <a:avLst>
              <a:gd name="adj" fmla="val 7818"/>
            </a:avLst>
          </a:prstGeom>
          <a:solidFill>
            <a:srgbClr val="FFFDF8"/>
          </a:solidFill>
          <a:ln>
            <a:noFill/>
          </a:ln>
        </p:spPr>
        <p:txBody>
          <a:bodyPr rtlCol="0" anchor="ctr"/>
          <a:lstStyle/>
          <a:p>
            <a:pPr algn="ctr"/>
          </a:p>
        </p:txBody>
      </p:sp>
      <p:sp>
        <p:nvSpPr>
          <p:cNvPr id="6" name="Rule 5"/>
          <p:cNvSpPr/>
          <p:nvPr/>
        </p:nvSpPr>
        <p:spPr>
          <a:xfrm>
            <a:off x="6172200" y="1657945"/>
            <a:ext cx="5207000" cy="6350"/>
          </a:xfrm>
          <a:prstGeom prst="rect">
            <a:avLst/>
          </a:prstGeom>
          <a:solidFill>
            <a:srgbClr val="E1DBCD"/>
          </a:solidFill>
          <a:ln>
            <a:noFill/>
          </a:ln>
        </p:spPr>
        <p:txBody>
          <a:bodyPr rtlCol="0" anchor="ctr"/>
          <a:lstStyle/>
          <a:p>
            <a:pPr algn="ctr"/>
          </a:p>
        </p:txBody>
      </p:sp>
      <p:sp>
        <p:nvSpPr>
          <p:cNvPr id="7" name="Rule 6"/>
          <p:cNvSpPr/>
          <p:nvPr/>
        </p:nvSpPr>
        <p:spPr>
          <a:xfrm>
            <a:off x="11328400" y="1657945"/>
            <a:ext cx="50800" cy="1461988"/>
          </a:xfrm>
          <a:prstGeom prst="rect">
            <a:avLst/>
          </a:prstGeom>
          <a:solidFill>
            <a:srgbClr val="0E7C6B"/>
          </a:solidFill>
          <a:ln>
            <a:noFill/>
          </a:ln>
        </p:spPr>
        <p:txBody>
          <a:bodyPr rtlCol="0" anchor="ctr"/>
          <a:lstStyle/>
          <a:p>
            <a:pPr algn="ctr"/>
          </a:p>
        </p:txBody>
      </p:sp>
      <p:sp>
        <p:nvSpPr>
          <p:cNvPr id="8" name="Rule 7"/>
          <p:cNvSpPr/>
          <p:nvPr/>
        </p:nvSpPr>
        <p:spPr>
          <a:xfrm>
            <a:off x="6172200" y="3113584"/>
            <a:ext cx="5207000" cy="6350"/>
          </a:xfrm>
          <a:prstGeom prst="rect">
            <a:avLst/>
          </a:prstGeom>
          <a:solidFill>
            <a:srgbClr val="E1DBCD"/>
          </a:solidFill>
          <a:ln>
            <a:noFill/>
          </a:ln>
        </p:spPr>
        <p:txBody>
          <a:bodyPr rtlCol="0" anchor="ctr"/>
          <a:lstStyle/>
          <a:p>
            <a:pPr algn="ctr"/>
          </a:p>
        </p:txBody>
      </p:sp>
      <p:sp>
        <p:nvSpPr>
          <p:cNvPr id="9" name="Rule 8"/>
          <p:cNvSpPr/>
          <p:nvPr/>
        </p:nvSpPr>
        <p:spPr>
          <a:xfrm>
            <a:off x="6172200" y="1657945"/>
            <a:ext cx="6350" cy="1461988"/>
          </a:xfrm>
          <a:prstGeom prst="rect">
            <a:avLst/>
          </a:prstGeom>
          <a:solidFill>
            <a:srgbClr val="E1DBCD"/>
          </a:solidFill>
          <a:ln>
            <a:noFill/>
          </a:ln>
        </p:spPr>
        <p:txBody>
          <a:bodyPr rtlCol="0" anchor="ctr"/>
          <a:lstStyle/>
          <a:p>
            <a:pPr algn="ctr"/>
          </a:p>
        </p:txBody>
      </p:sp>
      <p:sp>
        <p:nvSpPr>
          <p:cNvPr id="10" name="Text 9"/>
          <p:cNvSpPr txBox="1"/>
          <p:nvPr/>
        </p:nvSpPr>
        <p:spPr>
          <a:xfrm>
            <a:off x="10342920" y="1902742"/>
            <a:ext cx="79498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R</a:t>
            </a:r>
          </a:p>
        </p:txBody>
      </p:sp>
      <p:sp>
        <p:nvSpPr>
          <p:cNvPr id="11" name="Text 10"/>
          <p:cNvSpPr txBox="1"/>
          <p:nvPr/>
        </p:nvSpPr>
        <p:spPr>
          <a:xfrm>
            <a:off x="6197600" y="1817203"/>
            <a:ext cx="438408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172433"/>
                </a:solidFill>
                <a:latin typeface="Readex Pro"/>
                <a:ea typeface="Readex Pro"/>
                <a:cs typeface="Readex Pro"/>
              </a:rPr>
              <a:t>المنفّذ</a:t>
            </a:r>
          </a:p>
        </p:txBody>
      </p:sp>
      <p:sp>
        <p:nvSpPr>
          <p:cNvPr id="12" name="Text 11"/>
          <p:cNvSpPr txBox="1"/>
          <p:nvPr/>
        </p:nvSpPr>
        <p:spPr>
          <a:xfrm>
            <a:off x="6197600" y="2211221"/>
            <a:ext cx="4384080" cy="259060"/>
          </a:xfrm>
          <a:prstGeom prst="rect">
            <a:avLst/>
          </a:prstGeom>
          <a:noFill/>
        </p:spPr>
        <p:txBody>
          <a:bodyPr wrap="square" tIns="0" rIns="0" bIns="0" lIns="0" anchor="t" rtlCol="0" anchorCtr="0">
            <a:noAutofit/>
          </a:bodyPr>
          <a:lstStyle/>
          <a:p>
            <a:pPr algn="r">
              <a:lnSpc>
                <a:spcPts val="2039"/>
              </a:lnSpc>
              <a:spcBef>
                <a:spcPts val="0"/>
              </a:spcBef>
              <a:spcAft>
                <a:spcPts val="0"/>
              </a:spcAft>
            </a:pPr>
            <a:r>
              <a:rPr sz="1700" b="0" i="0">
                <a:solidFill>
                  <a:srgbClr val="4E5A66"/>
                </a:solidFill>
                <a:latin typeface="IBM Plex Sans Arabic"/>
                <a:ea typeface="IBM Plex Sans Arabic"/>
                <a:cs typeface="IBM Plex Sans Arabic"/>
              </a:rPr>
              <a:t>Responsible</a:t>
            </a:r>
          </a:p>
        </p:txBody>
      </p:sp>
      <p:sp>
        <p:nvSpPr>
          <p:cNvPr id="13" name="Text 12"/>
          <p:cNvSpPr txBox="1"/>
          <p:nvPr/>
        </p:nvSpPr>
        <p:spPr>
          <a:xfrm>
            <a:off x="6197600" y="2524192"/>
            <a:ext cx="494030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من يقوم بالعمل فعلاً. قد يكونون أكثر من واحد.</a:t>
            </a:r>
          </a:p>
        </p:txBody>
      </p:sp>
      <p:sp>
        <p:nvSpPr>
          <p:cNvPr id="14" name="Box 13"/>
          <p:cNvSpPr/>
          <p:nvPr/>
        </p:nvSpPr>
        <p:spPr>
          <a:xfrm>
            <a:off x="6172200" y="3246934"/>
            <a:ext cx="5207000" cy="1461988"/>
          </a:xfrm>
          <a:prstGeom prst="roundRect">
            <a:avLst>
              <a:gd name="adj" fmla="val 7818"/>
            </a:avLst>
          </a:prstGeom>
          <a:solidFill>
            <a:srgbClr val="FFFDF8"/>
          </a:solidFill>
          <a:ln>
            <a:noFill/>
          </a:ln>
        </p:spPr>
        <p:txBody>
          <a:bodyPr rtlCol="0" anchor="ctr"/>
          <a:lstStyle/>
          <a:p>
            <a:pPr algn="ctr"/>
          </a:p>
        </p:txBody>
      </p:sp>
      <p:sp>
        <p:nvSpPr>
          <p:cNvPr id="15" name="Rule 14"/>
          <p:cNvSpPr/>
          <p:nvPr/>
        </p:nvSpPr>
        <p:spPr>
          <a:xfrm>
            <a:off x="6172200" y="3246934"/>
            <a:ext cx="5207000" cy="6350"/>
          </a:xfrm>
          <a:prstGeom prst="rect">
            <a:avLst/>
          </a:prstGeom>
          <a:solidFill>
            <a:srgbClr val="E1DBCD"/>
          </a:solidFill>
          <a:ln>
            <a:noFill/>
          </a:ln>
        </p:spPr>
        <p:txBody>
          <a:bodyPr rtlCol="0" anchor="ctr"/>
          <a:lstStyle/>
          <a:p>
            <a:pPr algn="ctr"/>
          </a:p>
        </p:txBody>
      </p:sp>
      <p:sp>
        <p:nvSpPr>
          <p:cNvPr id="16" name="Rule 15"/>
          <p:cNvSpPr/>
          <p:nvPr/>
        </p:nvSpPr>
        <p:spPr>
          <a:xfrm>
            <a:off x="11328400" y="3246934"/>
            <a:ext cx="50800" cy="1461988"/>
          </a:xfrm>
          <a:prstGeom prst="rect">
            <a:avLst/>
          </a:prstGeom>
          <a:solidFill>
            <a:srgbClr val="B4412C"/>
          </a:solidFill>
          <a:ln>
            <a:noFill/>
          </a:ln>
        </p:spPr>
        <p:txBody>
          <a:bodyPr rtlCol="0" anchor="ctr"/>
          <a:lstStyle/>
          <a:p>
            <a:pPr algn="ctr"/>
          </a:p>
        </p:txBody>
      </p:sp>
      <p:sp>
        <p:nvSpPr>
          <p:cNvPr id="17" name="Rule 16"/>
          <p:cNvSpPr/>
          <p:nvPr/>
        </p:nvSpPr>
        <p:spPr>
          <a:xfrm>
            <a:off x="6172200" y="4702572"/>
            <a:ext cx="5207000" cy="6350"/>
          </a:xfrm>
          <a:prstGeom prst="rect">
            <a:avLst/>
          </a:prstGeom>
          <a:solidFill>
            <a:srgbClr val="E1DBCD"/>
          </a:solidFill>
          <a:ln>
            <a:noFill/>
          </a:ln>
        </p:spPr>
        <p:txBody>
          <a:bodyPr rtlCol="0" anchor="ctr"/>
          <a:lstStyle/>
          <a:p>
            <a:pPr algn="ctr"/>
          </a:p>
        </p:txBody>
      </p:sp>
      <p:sp>
        <p:nvSpPr>
          <p:cNvPr id="18" name="Rule 17"/>
          <p:cNvSpPr/>
          <p:nvPr/>
        </p:nvSpPr>
        <p:spPr>
          <a:xfrm>
            <a:off x="6172200" y="3246934"/>
            <a:ext cx="6350" cy="1461988"/>
          </a:xfrm>
          <a:prstGeom prst="rect">
            <a:avLst/>
          </a:prstGeom>
          <a:solidFill>
            <a:srgbClr val="E1DBCD"/>
          </a:solidFill>
          <a:ln>
            <a:noFill/>
          </a:ln>
        </p:spPr>
        <p:txBody>
          <a:bodyPr rtlCol="0" anchor="ctr"/>
          <a:lstStyle/>
          <a:p>
            <a:pPr algn="ctr"/>
          </a:p>
        </p:txBody>
      </p:sp>
      <p:sp>
        <p:nvSpPr>
          <p:cNvPr id="19" name="Text 18"/>
          <p:cNvSpPr txBox="1"/>
          <p:nvPr/>
        </p:nvSpPr>
        <p:spPr>
          <a:xfrm>
            <a:off x="10347186" y="3491730"/>
            <a:ext cx="79071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B4412C"/>
                </a:solidFill>
                <a:latin typeface="Readex Pro"/>
                <a:ea typeface="Readex Pro"/>
                <a:cs typeface="Readex Pro"/>
              </a:rPr>
              <a:t>A</a:t>
            </a:r>
          </a:p>
        </p:txBody>
      </p:sp>
      <p:sp>
        <p:nvSpPr>
          <p:cNvPr id="20" name="Text 19"/>
          <p:cNvSpPr txBox="1"/>
          <p:nvPr/>
        </p:nvSpPr>
        <p:spPr>
          <a:xfrm>
            <a:off x="6197600" y="3406192"/>
            <a:ext cx="4388346"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172433"/>
                </a:solidFill>
                <a:latin typeface="Readex Pro"/>
                <a:ea typeface="Readex Pro"/>
                <a:cs typeface="Readex Pro"/>
              </a:rPr>
              <a:t>المساءَل</a:t>
            </a:r>
          </a:p>
        </p:txBody>
      </p:sp>
      <p:sp>
        <p:nvSpPr>
          <p:cNvPr id="21" name="Text 20"/>
          <p:cNvSpPr txBox="1"/>
          <p:nvPr/>
        </p:nvSpPr>
        <p:spPr>
          <a:xfrm>
            <a:off x="6197600" y="3800209"/>
            <a:ext cx="4388346" cy="259060"/>
          </a:xfrm>
          <a:prstGeom prst="rect">
            <a:avLst/>
          </a:prstGeom>
          <a:noFill/>
        </p:spPr>
        <p:txBody>
          <a:bodyPr wrap="square" tIns="0" rIns="0" bIns="0" lIns="0" anchor="t" rtlCol="0" anchorCtr="0">
            <a:noAutofit/>
          </a:bodyPr>
          <a:lstStyle/>
          <a:p>
            <a:pPr algn="r">
              <a:lnSpc>
                <a:spcPts val="2039"/>
              </a:lnSpc>
              <a:spcBef>
                <a:spcPts val="0"/>
              </a:spcBef>
              <a:spcAft>
                <a:spcPts val="0"/>
              </a:spcAft>
            </a:pPr>
            <a:r>
              <a:rPr sz="1700" b="0" i="0">
                <a:solidFill>
                  <a:srgbClr val="4E5A66"/>
                </a:solidFill>
                <a:latin typeface="IBM Plex Sans Arabic"/>
                <a:ea typeface="IBM Plex Sans Arabic"/>
                <a:cs typeface="IBM Plex Sans Arabic"/>
              </a:rPr>
              <a:t>Accountable</a:t>
            </a:r>
          </a:p>
        </p:txBody>
      </p:sp>
      <p:sp>
        <p:nvSpPr>
          <p:cNvPr id="22" name="Text 21"/>
          <p:cNvSpPr txBox="1"/>
          <p:nvPr/>
        </p:nvSpPr>
        <p:spPr>
          <a:xfrm>
            <a:off x="6197600" y="4113181"/>
            <a:ext cx="494030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من يحاسَب على النتيجة ويعتمدها. واحد فقط.</a:t>
            </a:r>
          </a:p>
        </p:txBody>
      </p:sp>
      <p:sp>
        <p:nvSpPr>
          <p:cNvPr id="23" name="Box 22"/>
          <p:cNvSpPr/>
          <p:nvPr/>
        </p:nvSpPr>
        <p:spPr>
          <a:xfrm>
            <a:off x="812800" y="1657945"/>
            <a:ext cx="5207000" cy="1461988"/>
          </a:xfrm>
          <a:prstGeom prst="roundRect">
            <a:avLst>
              <a:gd name="adj" fmla="val 7818"/>
            </a:avLst>
          </a:prstGeom>
          <a:solidFill>
            <a:srgbClr val="FFFDF8"/>
          </a:solidFill>
          <a:ln>
            <a:noFill/>
          </a:ln>
        </p:spPr>
        <p:txBody>
          <a:bodyPr rtlCol="0" anchor="ctr"/>
          <a:lstStyle/>
          <a:p>
            <a:pPr algn="ctr"/>
          </a:p>
        </p:txBody>
      </p:sp>
      <p:sp>
        <p:nvSpPr>
          <p:cNvPr id="24" name="Rule 23"/>
          <p:cNvSpPr/>
          <p:nvPr/>
        </p:nvSpPr>
        <p:spPr>
          <a:xfrm>
            <a:off x="812800" y="1657945"/>
            <a:ext cx="5207000" cy="6350"/>
          </a:xfrm>
          <a:prstGeom prst="rect">
            <a:avLst/>
          </a:prstGeom>
          <a:solidFill>
            <a:srgbClr val="E1DBCD"/>
          </a:solidFill>
          <a:ln>
            <a:noFill/>
          </a:ln>
        </p:spPr>
        <p:txBody>
          <a:bodyPr rtlCol="0" anchor="ctr"/>
          <a:lstStyle/>
          <a:p>
            <a:pPr algn="ctr"/>
          </a:p>
        </p:txBody>
      </p:sp>
      <p:sp>
        <p:nvSpPr>
          <p:cNvPr id="25" name="Rule 24"/>
          <p:cNvSpPr/>
          <p:nvPr/>
        </p:nvSpPr>
        <p:spPr>
          <a:xfrm>
            <a:off x="5969000" y="1657945"/>
            <a:ext cx="50800" cy="1461988"/>
          </a:xfrm>
          <a:prstGeom prst="rect">
            <a:avLst/>
          </a:prstGeom>
          <a:solidFill>
            <a:srgbClr val="24506B"/>
          </a:solidFill>
          <a:ln>
            <a:noFill/>
          </a:ln>
        </p:spPr>
        <p:txBody>
          <a:bodyPr rtlCol="0" anchor="ctr"/>
          <a:lstStyle/>
          <a:p>
            <a:pPr algn="ctr"/>
          </a:p>
        </p:txBody>
      </p:sp>
      <p:sp>
        <p:nvSpPr>
          <p:cNvPr id="26" name="Rule 25"/>
          <p:cNvSpPr/>
          <p:nvPr/>
        </p:nvSpPr>
        <p:spPr>
          <a:xfrm>
            <a:off x="812800" y="3113584"/>
            <a:ext cx="5207000" cy="6350"/>
          </a:xfrm>
          <a:prstGeom prst="rect">
            <a:avLst/>
          </a:prstGeom>
          <a:solidFill>
            <a:srgbClr val="E1DBCD"/>
          </a:solidFill>
          <a:ln>
            <a:noFill/>
          </a:ln>
        </p:spPr>
        <p:txBody>
          <a:bodyPr rtlCol="0" anchor="ctr"/>
          <a:lstStyle/>
          <a:p>
            <a:pPr algn="ctr"/>
          </a:p>
        </p:txBody>
      </p:sp>
      <p:sp>
        <p:nvSpPr>
          <p:cNvPr id="27" name="Rule 26"/>
          <p:cNvSpPr/>
          <p:nvPr/>
        </p:nvSpPr>
        <p:spPr>
          <a:xfrm>
            <a:off x="812800" y="1657945"/>
            <a:ext cx="6350" cy="1461988"/>
          </a:xfrm>
          <a:prstGeom prst="rect">
            <a:avLst/>
          </a:prstGeom>
          <a:solidFill>
            <a:srgbClr val="E1DBCD"/>
          </a:solidFill>
          <a:ln>
            <a:noFill/>
          </a:ln>
        </p:spPr>
        <p:txBody>
          <a:bodyPr rtlCol="0" anchor="ctr"/>
          <a:lstStyle/>
          <a:p>
            <a:pPr algn="ctr"/>
          </a:p>
        </p:txBody>
      </p:sp>
      <p:sp>
        <p:nvSpPr>
          <p:cNvPr id="28" name="Text 27"/>
          <p:cNvSpPr txBox="1"/>
          <p:nvPr/>
        </p:nvSpPr>
        <p:spPr>
          <a:xfrm>
            <a:off x="4990267" y="1902742"/>
            <a:ext cx="788233"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24506B"/>
                </a:solidFill>
                <a:latin typeface="Readex Pro"/>
                <a:ea typeface="Readex Pro"/>
                <a:cs typeface="Readex Pro"/>
              </a:rPr>
              <a:t>C</a:t>
            </a:r>
          </a:p>
        </p:txBody>
      </p:sp>
      <p:sp>
        <p:nvSpPr>
          <p:cNvPr id="29" name="Text 28"/>
          <p:cNvSpPr txBox="1"/>
          <p:nvPr/>
        </p:nvSpPr>
        <p:spPr>
          <a:xfrm>
            <a:off x="838200" y="1817203"/>
            <a:ext cx="4390827"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172433"/>
                </a:solidFill>
                <a:latin typeface="Readex Pro"/>
                <a:ea typeface="Readex Pro"/>
                <a:cs typeface="Readex Pro"/>
              </a:rPr>
              <a:t>المستشار</a:t>
            </a:r>
          </a:p>
        </p:txBody>
      </p:sp>
      <p:sp>
        <p:nvSpPr>
          <p:cNvPr id="30" name="Text 29"/>
          <p:cNvSpPr txBox="1"/>
          <p:nvPr/>
        </p:nvSpPr>
        <p:spPr>
          <a:xfrm>
            <a:off x="838200" y="2211221"/>
            <a:ext cx="4390827" cy="259060"/>
          </a:xfrm>
          <a:prstGeom prst="rect">
            <a:avLst/>
          </a:prstGeom>
          <a:noFill/>
        </p:spPr>
        <p:txBody>
          <a:bodyPr wrap="square" tIns="0" rIns="0" bIns="0" lIns="0" anchor="t" rtlCol="0" anchorCtr="0">
            <a:noAutofit/>
          </a:bodyPr>
          <a:lstStyle/>
          <a:p>
            <a:pPr algn="r">
              <a:lnSpc>
                <a:spcPts val="2039"/>
              </a:lnSpc>
              <a:spcBef>
                <a:spcPts val="0"/>
              </a:spcBef>
              <a:spcAft>
                <a:spcPts val="0"/>
              </a:spcAft>
            </a:pPr>
            <a:r>
              <a:rPr sz="1700" b="0" i="0">
                <a:solidFill>
                  <a:srgbClr val="4E5A66"/>
                </a:solidFill>
                <a:latin typeface="IBM Plex Sans Arabic"/>
                <a:ea typeface="IBM Plex Sans Arabic"/>
                <a:cs typeface="IBM Plex Sans Arabic"/>
              </a:rPr>
              <a:t>Consulted</a:t>
            </a:r>
          </a:p>
        </p:txBody>
      </p:sp>
      <p:sp>
        <p:nvSpPr>
          <p:cNvPr id="31" name="Text 30"/>
          <p:cNvSpPr txBox="1"/>
          <p:nvPr/>
        </p:nvSpPr>
        <p:spPr>
          <a:xfrm>
            <a:off x="838200" y="2524192"/>
            <a:ext cx="494030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يؤخذ رأيه قبل التنفيذ: تواصل باتجاهين.</a:t>
            </a:r>
          </a:p>
        </p:txBody>
      </p:sp>
      <p:sp>
        <p:nvSpPr>
          <p:cNvPr id="32" name="Box 31"/>
          <p:cNvSpPr/>
          <p:nvPr/>
        </p:nvSpPr>
        <p:spPr>
          <a:xfrm>
            <a:off x="812800" y="3246934"/>
            <a:ext cx="5207000" cy="1461988"/>
          </a:xfrm>
          <a:prstGeom prst="roundRect">
            <a:avLst>
              <a:gd name="adj" fmla="val 7818"/>
            </a:avLst>
          </a:prstGeom>
          <a:solidFill>
            <a:srgbClr val="FFFDF8"/>
          </a:solidFill>
          <a:ln>
            <a:noFill/>
          </a:ln>
        </p:spPr>
        <p:txBody>
          <a:bodyPr rtlCol="0" anchor="ctr"/>
          <a:lstStyle/>
          <a:p>
            <a:pPr algn="ctr"/>
          </a:p>
        </p:txBody>
      </p:sp>
      <p:sp>
        <p:nvSpPr>
          <p:cNvPr id="33" name="Rule 32"/>
          <p:cNvSpPr/>
          <p:nvPr/>
        </p:nvSpPr>
        <p:spPr>
          <a:xfrm>
            <a:off x="812800" y="3246934"/>
            <a:ext cx="5207000" cy="6350"/>
          </a:xfrm>
          <a:prstGeom prst="rect">
            <a:avLst/>
          </a:prstGeom>
          <a:solidFill>
            <a:srgbClr val="E1DBCD"/>
          </a:solidFill>
          <a:ln>
            <a:noFill/>
          </a:ln>
        </p:spPr>
        <p:txBody>
          <a:bodyPr rtlCol="0" anchor="ctr"/>
          <a:lstStyle/>
          <a:p>
            <a:pPr algn="ctr"/>
          </a:p>
        </p:txBody>
      </p:sp>
      <p:sp>
        <p:nvSpPr>
          <p:cNvPr id="34" name="Rule 33"/>
          <p:cNvSpPr/>
          <p:nvPr/>
        </p:nvSpPr>
        <p:spPr>
          <a:xfrm>
            <a:off x="5969000" y="3246934"/>
            <a:ext cx="50800" cy="1461988"/>
          </a:xfrm>
          <a:prstGeom prst="rect">
            <a:avLst/>
          </a:prstGeom>
          <a:solidFill>
            <a:srgbClr val="8A4B12"/>
          </a:solidFill>
          <a:ln>
            <a:noFill/>
          </a:ln>
        </p:spPr>
        <p:txBody>
          <a:bodyPr rtlCol="0" anchor="ctr"/>
          <a:lstStyle/>
          <a:p>
            <a:pPr algn="ctr"/>
          </a:p>
        </p:txBody>
      </p:sp>
      <p:sp>
        <p:nvSpPr>
          <p:cNvPr id="35" name="Rule 34"/>
          <p:cNvSpPr/>
          <p:nvPr/>
        </p:nvSpPr>
        <p:spPr>
          <a:xfrm>
            <a:off x="812800" y="4702572"/>
            <a:ext cx="5207000" cy="6350"/>
          </a:xfrm>
          <a:prstGeom prst="rect">
            <a:avLst/>
          </a:prstGeom>
          <a:solidFill>
            <a:srgbClr val="E1DBCD"/>
          </a:solidFill>
          <a:ln>
            <a:noFill/>
          </a:ln>
        </p:spPr>
        <p:txBody>
          <a:bodyPr rtlCol="0" anchor="ctr"/>
          <a:lstStyle/>
          <a:p>
            <a:pPr algn="ctr"/>
          </a:p>
        </p:txBody>
      </p:sp>
      <p:sp>
        <p:nvSpPr>
          <p:cNvPr id="36" name="Rule 35"/>
          <p:cNvSpPr/>
          <p:nvPr/>
        </p:nvSpPr>
        <p:spPr>
          <a:xfrm>
            <a:off x="812800" y="3246934"/>
            <a:ext cx="6350" cy="1461988"/>
          </a:xfrm>
          <a:prstGeom prst="rect">
            <a:avLst/>
          </a:prstGeom>
          <a:solidFill>
            <a:srgbClr val="E1DBCD"/>
          </a:solidFill>
          <a:ln>
            <a:noFill/>
          </a:ln>
        </p:spPr>
        <p:txBody>
          <a:bodyPr rtlCol="0" anchor="ctr"/>
          <a:lstStyle/>
          <a:p>
            <a:pPr algn="ctr"/>
          </a:p>
        </p:txBody>
      </p:sp>
      <p:sp>
        <p:nvSpPr>
          <p:cNvPr id="37" name="Text 36"/>
          <p:cNvSpPr txBox="1"/>
          <p:nvPr/>
        </p:nvSpPr>
        <p:spPr>
          <a:xfrm>
            <a:off x="5074404" y="3491730"/>
            <a:ext cx="704096"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8A4B12"/>
                </a:solidFill>
                <a:latin typeface="Readex Pro"/>
                <a:ea typeface="Readex Pro"/>
                <a:cs typeface="Readex Pro"/>
              </a:rPr>
              <a:t>I</a:t>
            </a:r>
          </a:p>
        </p:txBody>
      </p:sp>
      <p:sp>
        <p:nvSpPr>
          <p:cNvPr id="38" name="Text 37"/>
          <p:cNvSpPr txBox="1"/>
          <p:nvPr/>
        </p:nvSpPr>
        <p:spPr>
          <a:xfrm>
            <a:off x="838200" y="3406192"/>
            <a:ext cx="4474964"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172433"/>
                </a:solidFill>
                <a:latin typeface="Readex Pro"/>
                <a:ea typeface="Readex Pro"/>
                <a:cs typeface="Readex Pro"/>
              </a:rPr>
              <a:t>المُبلَّغ</a:t>
            </a:r>
          </a:p>
        </p:txBody>
      </p:sp>
      <p:sp>
        <p:nvSpPr>
          <p:cNvPr id="39" name="Text 38"/>
          <p:cNvSpPr txBox="1"/>
          <p:nvPr/>
        </p:nvSpPr>
        <p:spPr>
          <a:xfrm>
            <a:off x="838200" y="3800209"/>
            <a:ext cx="4474964" cy="259060"/>
          </a:xfrm>
          <a:prstGeom prst="rect">
            <a:avLst/>
          </a:prstGeom>
          <a:noFill/>
        </p:spPr>
        <p:txBody>
          <a:bodyPr wrap="square" tIns="0" rIns="0" bIns="0" lIns="0" anchor="t" rtlCol="0" anchorCtr="0">
            <a:noAutofit/>
          </a:bodyPr>
          <a:lstStyle/>
          <a:p>
            <a:pPr algn="r">
              <a:lnSpc>
                <a:spcPts val="2039"/>
              </a:lnSpc>
              <a:spcBef>
                <a:spcPts val="0"/>
              </a:spcBef>
              <a:spcAft>
                <a:spcPts val="0"/>
              </a:spcAft>
            </a:pPr>
            <a:r>
              <a:rPr sz="1700" b="0" i="0">
                <a:solidFill>
                  <a:srgbClr val="4E5A66"/>
                </a:solidFill>
                <a:latin typeface="IBM Plex Sans Arabic"/>
                <a:ea typeface="IBM Plex Sans Arabic"/>
                <a:cs typeface="IBM Plex Sans Arabic"/>
              </a:rPr>
              <a:t>Informed</a:t>
            </a:r>
          </a:p>
        </p:txBody>
      </p:sp>
      <p:sp>
        <p:nvSpPr>
          <p:cNvPr id="40" name="Text 39"/>
          <p:cNvSpPr txBox="1"/>
          <p:nvPr/>
        </p:nvSpPr>
        <p:spPr>
          <a:xfrm>
            <a:off x="838200" y="4113181"/>
            <a:ext cx="494030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يُخبر بالنتيجة بعد التنفيذ: اتجاه واحد.</a:t>
            </a:r>
          </a:p>
        </p:txBody>
      </p:sp>
      <p:sp>
        <p:nvSpPr>
          <p:cNvPr id="41" name="Box 40"/>
          <p:cNvSpPr/>
          <p:nvPr/>
        </p:nvSpPr>
        <p:spPr>
          <a:xfrm>
            <a:off x="812800" y="4899422"/>
            <a:ext cx="10566400" cy="636191"/>
          </a:xfrm>
          <a:prstGeom prst="roundRect">
            <a:avLst>
              <a:gd name="adj" fmla="val 15970"/>
            </a:avLst>
          </a:prstGeom>
          <a:solidFill>
            <a:srgbClr val="172433"/>
          </a:solidFill>
          <a:ln>
            <a:noFill/>
          </a:ln>
        </p:spPr>
        <p:txBody>
          <a:bodyPr rtlCol="0" anchor="ctr"/>
          <a:lstStyle/>
          <a:p>
            <a:pPr algn="ctr"/>
          </a:p>
        </p:txBody>
      </p:sp>
      <p:pic>
        <p:nvPicPr>
          <p:cNvPr id="42" name="Icon Lightbulb 41" descr="icon021.png"/>
          <p:cNvPicPr>
            <a:picLocks noChangeAspect="1"/>
          </p:cNvPicPr>
          <p:nvPr/>
        </p:nvPicPr>
        <p:blipFill>
          <a:blip r:embed="rId2"/>
          <a:stretch>
            <a:fillRect/>
          </a:stretch>
        </p:blipFill>
        <p:spPr>
          <a:xfrm>
            <a:off x="10922000" y="5077817"/>
            <a:ext cx="279400" cy="279400"/>
          </a:xfrm>
          <a:prstGeom prst="rect">
            <a:avLst/>
          </a:prstGeom>
        </p:spPr>
      </p:pic>
      <p:sp>
        <p:nvSpPr>
          <p:cNvPr id="43" name="Text 42"/>
          <p:cNvSpPr txBox="1"/>
          <p:nvPr/>
        </p:nvSpPr>
        <p:spPr>
          <a:xfrm>
            <a:off x="838200" y="4984099"/>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F3EFE6"/>
                </a:solidFill>
                <a:latin typeface="IBM Plex Sans Arabic"/>
                <a:ea typeface="IBM Plex Sans Arabic"/>
                <a:cs typeface="IBM Plex Sans Arabic"/>
              </a:rPr>
              <a:t>قاعدة واحدة تمنع أغلب الأخطاء: A واحد لكل نشاط. وقد يكون الشخص نفسه A وR معاً.</a:t>
            </a:r>
          </a:p>
        </p:txBody>
      </p:sp>
      <p:sp>
        <p:nvSpPr>
          <p:cNvPr id="44" name="Text 4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45" name="Text 4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متطلب إلى بند سياسة: أربع خطوات</a:t>
            </a:r>
          </a:p>
        </p:txBody>
      </p:sp>
      <p:sp>
        <p:nvSpPr>
          <p:cNvPr id="5" name="Box 4"/>
          <p:cNvSpPr/>
          <p:nvPr/>
        </p:nvSpPr>
        <p:spPr>
          <a:xfrm>
            <a:off x="9023052" y="1673820"/>
            <a:ext cx="2352973" cy="1781076"/>
          </a:xfrm>
          <a:prstGeom prst="roundRect">
            <a:avLst>
              <a:gd name="adj" fmla="val 6394"/>
            </a:avLst>
          </a:prstGeom>
          <a:solidFill>
            <a:srgbClr val="FFFDF8"/>
          </a:solidFill>
          <a:ln w="6350">
            <a:solidFill>
              <a:srgbClr val="E1DBCD"/>
            </a:solidFill>
          </a:ln>
        </p:spPr>
        <p:txBody>
          <a:bodyPr rtlCol="0" anchor="ctr"/>
          <a:lstStyle/>
          <a:p>
            <a:pPr algn="ctr"/>
          </a:p>
        </p:txBody>
      </p:sp>
      <p:sp>
        <p:nvSpPr>
          <p:cNvPr id="6" name="Text 5"/>
          <p:cNvSpPr txBox="1"/>
          <p:nvPr/>
        </p:nvSpPr>
        <p:spPr>
          <a:xfrm>
            <a:off x="9045277" y="1857462"/>
            <a:ext cx="2162473"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600" b="1" i="0">
                <a:solidFill>
                  <a:srgbClr val="0E7C6B"/>
                </a:solidFill>
                <a:latin typeface="Readex Pro"/>
                <a:ea typeface="Readex Pro"/>
                <a:cs typeface="Readex Pro"/>
              </a:rPr>
              <a:t>1</a:t>
            </a:r>
          </a:p>
        </p:txBody>
      </p:sp>
      <p:sp>
        <p:nvSpPr>
          <p:cNvPr id="7" name="Text 6"/>
          <p:cNvSpPr txBox="1"/>
          <p:nvPr/>
        </p:nvSpPr>
        <p:spPr>
          <a:xfrm>
            <a:off x="9045277" y="2205347"/>
            <a:ext cx="2162473" cy="354905"/>
          </a:xfrm>
          <a:prstGeom prst="rect">
            <a:avLst/>
          </a:prstGeom>
          <a:noFill/>
        </p:spPr>
        <p:txBody>
          <a:bodyPr wrap="square" tIns="0" rIns="0" bIns="0" lIns="0" anchor="t" rtlCol="0" anchorCtr="0">
            <a:noAutofit/>
          </a:bodyPr>
          <a:lstStyle/>
          <a:p>
            <a:pPr algn="r" rtl="1">
              <a:lnSpc>
                <a:spcPts val="2795"/>
              </a:lnSpc>
              <a:spcBef>
                <a:spcPts val="0"/>
              </a:spcBef>
              <a:spcAft>
                <a:spcPts val="0"/>
              </a:spcAft>
            </a:pPr>
            <a:r>
              <a:rPr sz="2150" b="1" i="0">
                <a:solidFill>
                  <a:srgbClr val="172433"/>
                </a:solidFill>
                <a:latin typeface="Readex Pro"/>
                <a:ea typeface="Readex Pro"/>
                <a:cs typeface="Readex Pro"/>
              </a:rPr>
              <a:t>اقرأ المتطلب</a:t>
            </a:r>
          </a:p>
        </p:txBody>
      </p:sp>
      <p:sp>
        <p:nvSpPr>
          <p:cNvPr id="8" name="Text 7"/>
          <p:cNvSpPr txBox="1"/>
          <p:nvPr/>
        </p:nvSpPr>
        <p:spPr>
          <a:xfrm>
            <a:off x="9045277" y="2605084"/>
            <a:ext cx="2162473"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ماذا يطلب بالضبط؟</a:t>
            </a:r>
          </a:p>
        </p:txBody>
      </p:sp>
      <p:sp>
        <p:nvSpPr>
          <p:cNvPr id="9" name="Text 8"/>
          <p:cNvSpPr txBox="1"/>
          <p:nvPr/>
        </p:nvSpPr>
        <p:spPr>
          <a:xfrm>
            <a:off x="8555911" y="2440071"/>
            <a:ext cx="387767" cy="273050"/>
          </a:xfrm>
          <a:prstGeom prst="rect">
            <a:avLst/>
          </a:prstGeom>
          <a:noFill/>
        </p:spPr>
        <p:txBody>
          <a:bodyPr wrap="square" tIns="0" rIns="0" bIns="0" lIns="0" anchor="t" rtlCol="0" anchorCtr="0">
            <a:noAutofit/>
          </a:bodyPr>
          <a:lstStyle/>
          <a:p>
            <a:pPr algn="r">
              <a:lnSpc>
                <a:spcPts val="2150"/>
              </a:lnSpc>
              <a:spcBef>
                <a:spcPts val="0"/>
              </a:spcBef>
              <a:spcAft>
                <a:spcPts val="0"/>
              </a:spcAft>
            </a:pPr>
            <a:r>
              <a:rPr sz="2150" b="0" i="0">
                <a:solidFill>
                  <a:srgbClr val="93A3B1"/>
                </a:solidFill>
                <a:latin typeface="IBM Plex Sans Arabic"/>
                <a:ea typeface="IBM Plex Sans Arabic"/>
                <a:cs typeface="IBM Plex Sans Arabic"/>
              </a:rPr>
              <a:t>←</a:t>
            </a:r>
          </a:p>
        </p:txBody>
      </p:sp>
      <p:sp>
        <p:nvSpPr>
          <p:cNvPr id="10" name="Box 9"/>
          <p:cNvSpPr/>
          <p:nvPr/>
        </p:nvSpPr>
        <p:spPr>
          <a:xfrm>
            <a:off x="6287393" y="1673820"/>
            <a:ext cx="2352973" cy="1781076"/>
          </a:xfrm>
          <a:prstGeom prst="roundRect">
            <a:avLst>
              <a:gd name="adj" fmla="val 6394"/>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309618" y="1857462"/>
            <a:ext cx="2162473"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600" b="1" i="0">
                <a:solidFill>
                  <a:srgbClr val="0E7C6B"/>
                </a:solidFill>
                <a:latin typeface="Readex Pro"/>
                <a:ea typeface="Readex Pro"/>
                <a:cs typeface="Readex Pro"/>
              </a:rPr>
              <a:t>2</a:t>
            </a:r>
          </a:p>
        </p:txBody>
      </p:sp>
      <p:sp>
        <p:nvSpPr>
          <p:cNvPr id="12" name="Text 11"/>
          <p:cNvSpPr txBox="1"/>
          <p:nvPr/>
        </p:nvSpPr>
        <p:spPr>
          <a:xfrm>
            <a:off x="6309618" y="2205347"/>
            <a:ext cx="2162473" cy="354905"/>
          </a:xfrm>
          <a:prstGeom prst="rect">
            <a:avLst/>
          </a:prstGeom>
          <a:noFill/>
        </p:spPr>
        <p:txBody>
          <a:bodyPr wrap="square" tIns="0" rIns="0" bIns="0" lIns="0" anchor="t" rtlCol="0" anchorCtr="0">
            <a:noAutofit/>
          </a:bodyPr>
          <a:lstStyle/>
          <a:p>
            <a:pPr algn="r" rtl="1">
              <a:lnSpc>
                <a:spcPts val="2795"/>
              </a:lnSpc>
              <a:spcBef>
                <a:spcPts val="0"/>
              </a:spcBef>
              <a:spcAft>
                <a:spcPts val="0"/>
              </a:spcAft>
            </a:pPr>
            <a:r>
              <a:rPr sz="2150" b="1" i="0">
                <a:solidFill>
                  <a:srgbClr val="172433"/>
                </a:solidFill>
                <a:latin typeface="Readex Pro"/>
                <a:ea typeface="Readex Pro"/>
                <a:cs typeface="Readex Pro"/>
              </a:rPr>
              <a:t>حدد قرار الجهة</a:t>
            </a:r>
          </a:p>
        </p:txBody>
      </p:sp>
      <p:sp>
        <p:nvSpPr>
          <p:cNvPr id="13" name="Text 12"/>
          <p:cNvSpPr txBox="1"/>
          <p:nvPr/>
        </p:nvSpPr>
        <p:spPr>
          <a:xfrm>
            <a:off x="6395175" y="2605084"/>
            <a:ext cx="2076915"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النطاق والمدة والمسؤول.</a:t>
            </a:r>
          </a:p>
        </p:txBody>
      </p:sp>
      <p:sp>
        <p:nvSpPr>
          <p:cNvPr id="14" name="Text 13"/>
          <p:cNvSpPr txBox="1"/>
          <p:nvPr/>
        </p:nvSpPr>
        <p:spPr>
          <a:xfrm>
            <a:off x="5820251" y="2440071"/>
            <a:ext cx="387767" cy="273050"/>
          </a:xfrm>
          <a:prstGeom prst="rect">
            <a:avLst/>
          </a:prstGeom>
          <a:noFill/>
        </p:spPr>
        <p:txBody>
          <a:bodyPr wrap="square" tIns="0" rIns="0" bIns="0" lIns="0" anchor="t" rtlCol="0" anchorCtr="0">
            <a:noAutofit/>
          </a:bodyPr>
          <a:lstStyle/>
          <a:p>
            <a:pPr algn="r">
              <a:lnSpc>
                <a:spcPts val="2150"/>
              </a:lnSpc>
              <a:spcBef>
                <a:spcPts val="0"/>
              </a:spcBef>
              <a:spcAft>
                <a:spcPts val="0"/>
              </a:spcAft>
            </a:pPr>
            <a:r>
              <a:rPr sz="2150" b="0" i="0">
                <a:solidFill>
                  <a:srgbClr val="93A3B1"/>
                </a:solidFill>
                <a:latin typeface="IBM Plex Sans Arabic"/>
                <a:ea typeface="IBM Plex Sans Arabic"/>
                <a:cs typeface="IBM Plex Sans Arabic"/>
              </a:rPr>
              <a:t>←</a:t>
            </a:r>
          </a:p>
        </p:txBody>
      </p:sp>
      <p:sp>
        <p:nvSpPr>
          <p:cNvPr id="15" name="Box 14"/>
          <p:cNvSpPr/>
          <p:nvPr/>
        </p:nvSpPr>
        <p:spPr>
          <a:xfrm>
            <a:off x="3551734" y="1673820"/>
            <a:ext cx="2352973" cy="1781076"/>
          </a:xfrm>
          <a:prstGeom prst="roundRect">
            <a:avLst>
              <a:gd name="adj" fmla="val 6394"/>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73959" y="1857462"/>
            <a:ext cx="2162473"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600" b="1" i="0">
                <a:solidFill>
                  <a:srgbClr val="0E7C6B"/>
                </a:solidFill>
                <a:latin typeface="Readex Pro"/>
                <a:ea typeface="Readex Pro"/>
                <a:cs typeface="Readex Pro"/>
              </a:rPr>
              <a:t>3</a:t>
            </a:r>
          </a:p>
        </p:txBody>
      </p:sp>
      <p:sp>
        <p:nvSpPr>
          <p:cNvPr id="17" name="Text 16"/>
          <p:cNvSpPr txBox="1"/>
          <p:nvPr/>
        </p:nvSpPr>
        <p:spPr>
          <a:xfrm>
            <a:off x="3573959" y="2205347"/>
            <a:ext cx="2162473" cy="354905"/>
          </a:xfrm>
          <a:prstGeom prst="rect">
            <a:avLst/>
          </a:prstGeom>
          <a:noFill/>
        </p:spPr>
        <p:txBody>
          <a:bodyPr wrap="square" tIns="0" rIns="0" bIns="0" lIns="0" anchor="t" rtlCol="0" anchorCtr="0">
            <a:noAutofit/>
          </a:bodyPr>
          <a:lstStyle/>
          <a:p>
            <a:pPr algn="r" rtl="1">
              <a:lnSpc>
                <a:spcPts val="2795"/>
              </a:lnSpc>
              <a:spcBef>
                <a:spcPts val="0"/>
              </a:spcBef>
              <a:spcAft>
                <a:spcPts val="0"/>
              </a:spcAft>
            </a:pPr>
            <a:r>
              <a:rPr sz="2150" b="1" i="0">
                <a:solidFill>
                  <a:srgbClr val="172433"/>
                </a:solidFill>
                <a:latin typeface="Readex Pro"/>
                <a:ea typeface="Readex Pro"/>
                <a:cs typeface="Readex Pro"/>
              </a:rPr>
              <a:t>اكتب البند</a:t>
            </a:r>
          </a:p>
        </p:txBody>
      </p:sp>
      <p:sp>
        <p:nvSpPr>
          <p:cNvPr id="18" name="Text 17"/>
          <p:cNvSpPr txBox="1"/>
          <p:nvPr/>
        </p:nvSpPr>
        <p:spPr>
          <a:xfrm>
            <a:off x="3573959" y="2605084"/>
            <a:ext cx="2162473"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جملة إلزامية واضحة.</a:t>
            </a:r>
          </a:p>
        </p:txBody>
      </p:sp>
      <p:sp>
        <p:nvSpPr>
          <p:cNvPr id="19" name="Text 18"/>
          <p:cNvSpPr txBox="1"/>
          <p:nvPr/>
        </p:nvSpPr>
        <p:spPr>
          <a:xfrm>
            <a:off x="3084592" y="2440071"/>
            <a:ext cx="387767" cy="273050"/>
          </a:xfrm>
          <a:prstGeom prst="rect">
            <a:avLst/>
          </a:prstGeom>
          <a:noFill/>
        </p:spPr>
        <p:txBody>
          <a:bodyPr wrap="square" tIns="0" rIns="0" bIns="0" lIns="0" anchor="t" rtlCol="0" anchorCtr="0">
            <a:noAutofit/>
          </a:bodyPr>
          <a:lstStyle/>
          <a:p>
            <a:pPr algn="r">
              <a:lnSpc>
                <a:spcPts val="2150"/>
              </a:lnSpc>
              <a:spcBef>
                <a:spcPts val="0"/>
              </a:spcBef>
              <a:spcAft>
                <a:spcPts val="0"/>
              </a:spcAft>
            </a:pPr>
            <a:r>
              <a:rPr sz="2150" b="0" i="0">
                <a:solidFill>
                  <a:srgbClr val="93A3B1"/>
                </a:solidFill>
                <a:latin typeface="IBM Plex Sans Arabic"/>
                <a:ea typeface="IBM Plex Sans Arabic"/>
                <a:cs typeface="IBM Plex Sans Arabic"/>
              </a:rPr>
              <a:t>←</a:t>
            </a:r>
          </a:p>
        </p:txBody>
      </p:sp>
      <p:sp>
        <p:nvSpPr>
          <p:cNvPr id="20" name="Box 19"/>
          <p:cNvSpPr/>
          <p:nvPr/>
        </p:nvSpPr>
        <p:spPr>
          <a:xfrm>
            <a:off x="816074" y="1673820"/>
            <a:ext cx="2352973" cy="1781076"/>
          </a:xfrm>
          <a:prstGeom prst="roundRect">
            <a:avLst>
              <a:gd name="adj" fmla="val 6394"/>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299" y="1857462"/>
            <a:ext cx="2162473"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600" b="1" i="0">
                <a:solidFill>
                  <a:srgbClr val="0E7C6B"/>
                </a:solidFill>
                <a:latin typeface="Readex Pro"/>
                <a:ea typeface="Readex Pro"/>
                <a:cs typeface="Readex Pro"/>
              </a:rPr>
              <a:t>4</a:t>
            </a:r>
          </a:p>
        </p:txBody>
      </p:sp>
      <p:sp>
        <p:nvSpPr>
          <p:cNvPr id="22" name="Text 21"/>
          <p:cNvSpPr txBox="1"/>
          <p:nvPr/>
        </p:nvSpPr>
        <p:spPr>
          <a:xfrm>
            <a:off x="838299" y="2205347"/>
            <a:ext cx="2162473" cy="354905"/>
          </a:xfrm>
          <a:prstGeom prst="rect">
            <a:avLst/>
          </a:prstGeom>
          <a:noFill/>
        </p:spPr>
        <p:txBody>
          <a:bodyPr wrap="square" tIns="0" rIns="0" bIns="0" lIns="0" anchor="t" rtlCol="0" anchorCtr="0">
            <a:noAutofit/>
          </a:bodyPr>
          <a:lstStyle/>
          <a:p>
            <a:pPr algn="r" rtl="1">
              <a:lnSpc>
                <a:spcPts val="2795"/>
              </a:lnSpc>
              <a:spcBef>
                <a:spcPts val="0"/>
              </a:spcBef>
              <a:spcAft>
                <a:spcPts val="0"/>
              </a:spcAft>
            </a:pPr>
            <a:r>
              <a:rPr sz="2150" b="1" i="0">
                <a:solidFill>
                  <a:srgbClr val="172433"/>
                </a:solidFill>
                <a:latin typeface="Readex Pro"/>
                <a:ea typeface="Readex Pro"/>
                <a:cs typeface="Readex Pro"/>
              </a:rPr>
              <a:t>اختبره</a:t>
            </a:r>
          </a:p>
        </p:txBody>
      </p:sp>
      <p:sp>
        <p:nvSpPr>
          <p:cNvPr id="23" name="Text 22"/>
          <p:cNvSpPr txBox="1"/>
          <p:nvPr/>
        </p:nvSpPr>
        <p:spPr>
          <a:xfrm>
            <a:off x="923857" y="2605084"/>
            <a:ext cx="2076915"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هل يمكن تدقيقه بدليل؟</a:t>
            </a:r>
          </a:p>
        </p:txBody>
      </p:sp>
      <p:sp>
        <p:nvSpPr>
          <p:cNvPr id="24" name="Box 23"/>
          <p:cNvSpPr/>
          <p:nvPr/>
        </p:nvSpPr>
        <p:spPr>
          <a:xfrm>
            <a:off x="815975" y="3664446"/>
            <a:ext cx="10560050" cy="1932384"/>
          </a:xfrm>
          <a:prstGeom prst="roundRect">
            <a:avLst>
              <a:gd name="adj" fmla="val 5895"/>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38200" y="3821799"/>
            <a:ext cx="10331450" cy="341312"/>
          </a:xfrm>
          <a:prstGeom prst="rect">
            <a:avLst/>
          </a:prstGeom>
          <a:noFill/>
        </p:spPr>
        <p:txBody>
          <a:bodyPr wrap="square" tIns="0" rIns="0" bIns="0" lIns="0" anchor="t" rtlCol="0" anchorCtr="0">
            <a:noAutofit/>
          </a:bodyPr>
          <a:lstStyle/>
          <a:p>
            <a:pPr algn="r" rtl="1">
              <a:lnSpc>
                <a:spcPts val="2688"/>
              </a:lnSpc>
              <a:spcBef>
                <a:spcPts val="0"/>
              </a:spcBef>
              <a:spcAft>
                <a:spcPts val="0"/>
              </a:spcAft>
            </a:pPr>
            <a:r>
              <a:rPr sz="2150" b="1" i="0">
                <a:solidFill>
                  <a:srgbClr val="0E7C6B"/>
                </a:solidFill>
                <a:latin typeface="Readex Pro"/>
                <a:ea typeface="Readex Pro"/>
                <a:cs typeface="Readex Pro"/>
              </a:rPr>
              <a:t>معايير البند الجيد</a:t>
            </a:r>
          </a:p>
        </p:txBody>
      </p:sp>
      <p:pic>
        <p:nvPicPr>
          <p:cNvPr id="26" name="Icon Check 25" descr="icon022.png"/>
          <p:cNvPicPr>
            <a:picLocks noChangeAspect="1"/>
          </p:cNvPicPr>
          <p:nvPr/>
        </p:nvPicPr>
        <p:blipFill>
          <a:blip r:embed="rId2"/>
          <a:stretch>
            <a:fillRect/>
          </a:stretch>
        </p:blipFill>
        <p:spPr>
          <a:xfrm>
            <a:off x="10941050" y="4262934"/>
            <a:ext cx="228600" cy="228600"/>
          </a:xfrm>
          <a:prstGeom prst="rect">
            <a:avLst/>
          </a:prstGeom>
        </p:spPr>
      </p:pic>
      <p:sp>
        <p:nvSpPr>
          <p:cNvPr id="27" name="Text 26"/>
          <p:cNvSpPr txBox="1"/>
          <p:nvPr/>
        </p:nvSpPr>
        <p:spPr>
          <a:xfrm>
            <a:off x="7416395" y="4225532"/>
            <a:ext cx="3410355"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يحدد النطاق: أي أنظمة أو أشخاص.</a:t>
            </a:r>
          </a:p>
        </p:txBody>
      </p:sp>
      <p:pic>
        <p:nvPicPr>
          <p:cNvPr id="28" name="Icon Check 27" descr="icon022.png"/>
          <p:cNvPicPr>
            <a:picLocks noChangeAspect="1"/>
          </p:cNvPicPr>
          <p:nvPr/>
        </p:nvPicPr>
        <p:blipFill>
          <a:blip r:embed="rId2"/>
          <a:stretch>
            <a:fillRect/>
          </a:stretch>
        </p:blipFill>
        <p:spPr>
          <a:xfrm>
            <a:off x="10941050" y="4676874"/>
            <a:ext cx="228600" cy="228600"/>
          </a:xfrm>
          <a:prstGeom prst="rect">
            <a:avLst/>
          </a:prstGeom>
        </p:spPr>
      </p:pic>
      <p:sp>
        <p:nvSpPr>
          <p:cNvPr id="29" name="Text 28"/>
          <p:cNvSpPr txBox="1"/>
          <p:nvPr/>
        </p:nvSpPr>
        <p:spPr>
          <a:xfrm>
            <a:off x="7416395" y="4639473"/>
            <a:ext cx="3410355"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يحدد المسؤول بالوظيفة.</a:t>
            </a:r>
          </a:p>
        </p:txBody>
      </p:sp>
      <p:pic>
        <p:nvPicPr>
          <p:cNvPr id="30" name="Icon Check 29" descr="icon022.png"/>
          <p:cNvPicPr>
            <a:picLocks noChangeAspect="1"/>
          </p:cNvPicPr>
          <p:nvPr/>
        </p:nvPicPr>
        <p:blipFill>
          <a:blip r:embed="rId2"/>
          <a:stretch>
            <a:fillRect/>
          </a:stretch>
        </p:blipFill>
        <p:spPr>
          <a:xfrm>
            <a:off x="10941050" y="5090815"/>
            <a:ext cx="228600" cy="228600"/>
          </a:xfrm>
          <a:prstGeom prst="rect">
            <a:avLst/>
          </a:prstGeom>
        </p:spPr>
      </p:pic>
      <p:sp>
        <p:nvSpPr>
          <p:cNvPr id="31" name="Text 30"/>
          <p:cNvSpPr txBox="1"/>
          <p:nvPr/>
        </p:nvSpPr>
        <p:spPr>
          <a:xfrm>
            <a:off x="7416395" y="5053413"/>
            <a:ext cx="3410355"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يحدد المدة أو التكرار.</a:t>
            </a:r>
          </a:p>
        </p:txBody>
      </p:sp>
      <p:pic>
        <p:nvPicPr>
          <p:cNvPr id="32" name="Icon Check 31" descr="icon022.png"/>
          <p:cNvPicPr>
            <a:picLocks noChangeAspect="1"/>
          </p:cNvPicPr>
          <p:nvPr/>
        </p:nvPicPr>
        <p:blipFill>
          <a:blip r:embed="rId2"/>
          <a:stretch>
            <a:fillRect/>
          </a:stretch>
        </p:blipFill>
        <p:spPr>
          <a:xfrm>
            <a:off x="7249914" y="4262934"/>
            <a:ext cx="228600" cy="228600"/>
          </a:xfrm>
          <a:prstGeom prst="rect">
            <a:avLst/>
          </a:prstGeom>
        </p:spPr>
      </p:pic>
      <p:sp>
        <p:nvSpPr>
          <p:cNvPr id="33" name="Text 32"/>
          <p:cNvSpPr txBox="1"/>
          <p:nvPr/>
        </p:nvSpPr>
        <p:spPr>
          <a:xfrm>
            <a:off x="3904103" y="4225532"/>
            <a:ext cx="3231511"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بصيغة إلزامية: «يجب» أو «تُ…».</a:t>
            </a:r>
          </a:p>
        </p:txBody>
      </p:sp>
      <p:pic>
        <p:nvPicPr>
          <p:cNvPr id="34" name="Icon Check 33" descr="icon022.png"/>
          <p:cNvPicPr>
            <a:picLocks noChangeAspect="1"/>
          </p:cNvPicPr>
          <p:nvPr/>
        </p:nvPicPr>
        <p:blipFill>
          <a:blip r:embed="rId2"/>
          <a:stretch>
            <a:fillRect/>
          </a:stretch>
        </p:blipFill>
        <p:spPr>
          <a:xfrm>
            <a:off x="7249914" y="4676874"/>
            <a:ext cx="228600" cy="228600"/>
          </a:xfrm>
          <a:prstGeom prst="rect">
            <a:avLst/>
          </a:prstGeom>
        </p:spPr>
      </p:pic>
      <p:sp>
        <p:nvSpPr>
          <p:cNvPr id="35" name="Text 34"/>
          <p:cNvSpPr txBox="1"/>
          <p:nvPr/>
        </p:nvSpPr>
        <p:spPr>
          <a:xfrm>
            <a:off x="3904103" y="4639473"/>
            <a:ext cx="3231511"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ينتج دليلاً يمكن طلبه.</a:t>
            </a:r>
          </a:p>
        </p:txBody>
      </p:sp>
      <p:pic>
        <p:nvPicPr>
          <p:cNvPr id="36" name="Icon Check 35" descr="icon022.png"/>
          <p:cNvPicPr>
            <a:picLocks noChangeAspect="1"/>
          </p:cNvPicPr>
          <p:nvPr/>
        </p:nvPicPr>
        <p:blipFill>
          <a:blip r:embed="rId2"/>
          <a:stretch>
            <a:fillRect/>
          </a:stretch>
        </p:blipFill>
        <p:spPr>
          <a:xfrm>
            <a:off x="7249914" y="5090815"/>
            <a:ext cx="228600" cy="228600"/>
          </a:xfrm>
          <a:prstGeom prst="rect">
            <a:avLst/>
          </a:prstGeom>
        </p:spPr>
      </p:pic>
      <p:sp>
        <p:nvSpPr>
          <p:cNvPr id="37" name="Text 36"/>
          <p:cNvSpPr txBox="1"/>
          <p:nvPr/>
        </p:nvSpPr>
        <p:spPr>
          <a:xfrm>
            <a:off x="3904103" y="5053413"/>
            <a:ext cx="3231511"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لا يكرر نص الضابط حرفياً.</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وقرار الجهة</a:t>
            </a:r>
          </a:p>
        </p:txBody>
      </p:sp>
      <p:sp>
        <p:nvSpPr>
          <p:cNvPr id="7" name="Box 6"/>
          <p:cNvSpPr/>
          <p:nvPr/>
        </p:nvSpPr>
        <p:spPr>
          <a:xfrm>
            <a:off x="812800" y="1645245"/>
            <a:ext cx="10566400" cy="1181100"/>
          </a:xfrm>
          <a:prstGeom prst="roundRect">
            <a:avLst>
              <a:gd name="adj" fmla="val 7526"/>
            </a:avLst>
          </a:prstGeom>
          <a:solidFill>
            <a:srgbClr val="FFFFFF"/>
          </a:solidFill>
          <a:ln>
            <a:noFill/>
          </a:ln>
        </p:spPr>
        <p:txBody>
          <a:bodyPr rtlCol="0" anchor="ctr"/>
          <a:lstStyle/>
          <a:p>
            <a:pPr algn="ctr"/>
          </a:p>
        </p:txBody>
      </p:sp>
      <p:sp>
        <p:nvSpPr>
          <p:cNvPr id="8" name="Rule 7"/>
          <p:cNvSpPr/>
          <p:nvPr/>
        </p:nvSpPr>
        <p:spPr>
          <a:xfrm>
            <a:off x="812800" y="1645245"/>
            <a:ext cx="10566400" cy="6350"/>
          </a:xfrm>
          <a:prstGeom prst="rect">
            <a:avLst/>
          </a:prstGeom>
          <a:solidFill>
            <a:srgbClr val="E1DBCD"/>
          </a:solidFill>
          <a:ln>
            <a:noFill/>
          </a:ln>
        </p:spPr>
        <p:txBody>
          <a:bodyPr rtlCol="0" anchor="ctr"/>
          <a:lstStyle/>
          <a:p>
            <a:pPr algn="ctr"/>
          </a:p>
        </p:txBody>
      </p:sp>
      <p:sp>
        <p:nvSpPr>
          <p:cNvPr id="9" name="Rule 8"/>
          <p:cNvSpPr/>
          <p:nvPr/>
        </p:nvSpPr>
        <p:spPr>
          <a:xfrm>
            <a:off x="11328400" y="1645245"/>
            <a:ext cx="50800" cy="1181100"/>
          </a:xfrm>
          <a:prstGeom prst="rect">
            <a:avLst/>
          </a:prstGeom>
          <a:solidFill>
            <a:srgbClr val="24506B"/>
          </a:solidFill>
          <a:ln>
            <a:noFill/>
          </a:ln>
        </p:spPr>
        <p:txBody>
          <a:bodyPr rtlCol="0" anchor="ctr"/>
          <a:lstStyle/>
          <a:p>
            <a:pPr algn="ctr"/>
          </a:p>
        </p:txBody>
      </p:sp>
      <p:sp>
        <p:nvSpPr>
          <p:cNvPr id="10" name="Rule 9"/>
          <p:cNvSpPr/>
          <p:nvPr/>
        </p:nvSpPr>
        <p:spPr>
          <a:xfrm>
            <a:off x="812800" y="2819995"/>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812800" y="1645245"/>
            <a:ext cx="6350" cy="1181100"/>
          </a:xfrm>
          <a:prstGeom prst="rect">
            <a:avLst/>
          </a:prstGeom>
          <a:solidFill>
            <a:srgbClr val="E1DBCD"/>
          </a:solidFill>
          <a:ln>
            <a:noFill/>
          </a:ln>
        </p:spPr>
        <p:txBody>
          <a:bodyPr rtlCol="0" anchor="ctr"/>
          <a:lstStyle/>
          <a:p>
            <a:pPr algn="ctr"/>
          </a:p>
        </p:txBody>
      </p:sp>
      <p:sp>
        <p:nvSpPr>
          <p:cNvPr id="12" name="Text 11"/>
          <p:cNvSpPr txBox="1"/>
          <p:nvPr/>
        </p:nvSpPr>
        <p:spPr>
          <a:xfrm>
            <a:off x="838200" y="1716111"/>
            <a:ext cx="10312400" cy="9144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2400" b="0" i="0">
                <a:solidFill>
                  <a:srgbClr val="172433"/>
                </a:solidFill>
                <a:latin typeface="IBM Plex Sans Arabic"/>
                <a:ea typeface="IBM Plex Sans Arabic"/>
                <a:cs typeface="IBM Plex Sans Arabic"/>
              </a:rPr>
              <a:t>ECC ‎2-2-3-5‎: يجب أن تغطي متطلبات إدارة هويات الدخول والصلاحيات بحد أدنى: المراجعة الدورية لهويات الدخول والصلاحيات.</a:t>
            </a:r>
          </a:p>
        </p:txBody>
      </p:sp>
      <p:sp>
        <p:nvSpPr>
          <p:cNvPr id="13" name="Text 12"/>
          <p:cNvSpPr txBox="1"/>
          <p:nvPr/>
        </p:nvSpPr>
        <p:spPr>
          <a:xfrm>
            <a:off x="9425940" y="2958870"/>
            <a:ext cx="195326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1" i="0">
                <a:solidFill>
                  <a:srgbClr val="5E6A75"/>
                </a:solidFill>
                <a:latin typeface="IBM Plex Sans Arabic"/>
                <a:ea typeface="IBM Plex Sans Arabic"/>
                <a:cs typeface="IBM Plex Sans Arabic"/>
              </a:rPr>
              <a:t>الوضع في رُفاد</a:t>
            </a:r>
          </a:p>
        </p:txBody>
      </p:sp>
      <p:sp>
        <p:nvSpPr>
          <p:cNvPr id="14" name="Text 13"/>
          <p:cNvSpPr txBox="1"/>
          <p:nvPr/>
        </p:nvSpPr>
        <p:spPr>
          <a:xfrm>
            <a:off x="552577" y="2958870"/>
            <a:ext cx="8934323" cy="817761"/>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نظام الموارد البشرية والرواتب فيه 214 حساباً، ولا توجد مراجعة دورية للصلاحيات حتى الآن.</a:t>
            </a:r>
          </a:p>
        </p:txBody>
      </p:sp>
      <p:sp>
        <p:nvSpPr>
          <p:cNvPr id="15" name="Text 14"/>
          <p:cNvSpPr txBox="1"/>
          <p:nvPr/>
        </p:nvSpPr>
        <p:spPr>
          <a:xfrm>
            <a:off x="9425940" y="3903631"/>
            <a:ext cx="195326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1" i="0">
                <a:solidFill>
                  <a:srgbClr val="5E6A75"/>
                </a:solidFill>
                <a:latin typeface="IBM Plex Sans Arabic"/>
                <a:ea typeface="IBM Plex Sans Arabic"/>
                <a:cs typeface="IBM Plex Sans Arabic"/>
              </a:rPr>
              <a:t>قرار رُفاد</a:t>
            </a:r>
          </a:p>
        </p:txBody>
      </p:sp>
      <p:sp>
        <p:nvSpPr>
          <p:cNvPr id="16" name="Text 15"/>
          <p:cNvSpPr txBox="1"/>
          <p:nvPr/>
        </p:nvSpPr>
        <p:spPr>
          <a:xfrm>
            <a:off x="552577" y="3903631"/>
            <a:ext cx="8934323" cy="1226641"/>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قررت رُفاد مراجعة ربع سنوية لهذا النظام لأنه يحتوي رواتب الموظفين وحساباتهم البنكية. الضابط يقول «دورية» ولا يحدد المدة؛ الجهة تحددها بناءً على المخاطر وتوثقها.</a:t>
            </a:r>
          </a:p>
        </p:txBody>
      </p:sp>
      <p:sp>
        <p:nvSpPr>
          <p:cNvPr id="17" name="Box 16"/>
          <p:cNvSpPr/>
          <p:nvPr/>
        </p:nvSpPr>
        <p:spPr>
          <a:xfrm>
            <a:off x="812800" y="5353348"/>
            <a:ext cx="10566400" cy="645120"/>
          </a:xfrm>
          <a:prstGeom prst="roundRect">
            <a:avLst>
              <a:gd name="adj" fmla="val 15749"/>
            </a:avLst>
          </a:prstGeom>
          <a:solidFill>
            <a:srgbClr val="F6ECDA"/>
          </a:solidFill>
          <a:ln>
            <a:noFill/>
          </a:ln>
        </p:spPr>
        <p:txBody>
          <a:bodyPr rtlCol="0" anchor="ctr"/>
          <a:lstStyle/>
          <a:p>
            <a:pPr algn="ctr"/>
          </a:p>
        </p:txBody>
      </p:sp>
      <p:pic>
        <p:nvPicPr>
          <p:cNvPr id="18" name="Icon Warning 17" descr="icon023.png"/>
          <p:cNvPicPr>
            <a:picLocks noChangeAspect="1"/>
          </p:cNvPicPr>
          <p:nvPr/>
        </p:nvPicPr>
        <p:blipFill>
          <a:blip r:embed="rId2"/>
          <a:stretch>
            <a:fillRect/>
          </a:stretch>
        </p:blipFill>
        <p:spPr>
          <a:xfrm>
            <a:off x="10915650" y="5533033"/>
            <a:ext cx="285750" cy="285750"/>
          </a:xfrm>
          <a:prstGeom prst="rect">
            <a:avLst/>
          </a:prstGeom>
        </p:spPr>
      </p:pic>
      <p:sp>
        <p:nvSpPr>
          <p:cNvPr id="19" name="Text 18"/>
          <p:cNvSpPr txBox="1"/>
          <p:nvPr/>
        </p:nvSpPr>
        <p:spPr>
          <a:xfrm>
            <a:off x="838200" y="5437041"/>
            <a:ext cx="99631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الضابط لا يحدد المدة. لا تخترع رقماً «من الضابط»؛ اكتب أنه قرار الجهة ومبرره.</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مصفوفة RACI لمراجعة الصلاحيات</a:t>
            </a:r>
          </a:p>
        </p:txBody>
      </p:sp>
      <p:graphicFrame>
        <p:nvGraphicFramePr>
          <p:cNvPr id="7" name="Table 6"/>
          <p:cNvGraphicFramePr>
            <a:graphicFrameLocks noGrp="1"/>
          </p:cNvGraphicFramePr>
          <p:nvPr/>
        </p:nvGraphicFramePr>
        <p:xfrm>
          <a:off x="815975" y="1661120"/>
          <a:ext cx="10560050" cy="333146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826691">
                <a:tc>
                  <a:txBody>
                    <a:bodyPr wrap="square"/>
                    <a:lstStyle/>
                    <a:p>
                      <a:pPr algn="r">
                        <a:lnSpc>
                          <a:spcPts val="2565"/>
                        </a:lnSpc>
                        <a:spcBef>
                          <a:spcPts val="0"/>
                        </a:spcBef>
                        <a:spcAft>
                          <a:spcPts val="0"/>
                        </a:spcAft>
                      </a:pPr>
                      <a:r>
                        <a:rPr sz="1900" b="1" i="0">
                          <a:solidFill>
                            <a:srgbClr val="F3EFE6"/>
                          </a:solidFill>
                          <a:latin typeface="IBM Plex Sans Arabic"/>
                          <a:ea typeface="IBM Plex Sans Arabic"/>
                          <a:cs typeface="IBM Plex Sans Arabic"/>
                        </a:rPr>
                        <a:t>GRC</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تقنية المعلومات</a:t>
                      </a:r>
                    </a:p>
                  </a:txBody>
                  <a:tcPr marT="101708" marR="144780" marB="67202" marL="8445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مدير الموظف</a:t>
                      </a:r>
                    </a:p>
                  </a:txBody>
                  <a:tcPr marT="101708" marR="144780" marB="67202" marL="8445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مالكة النظام</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النشاط</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00955">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R</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endParaRPr sz="1900"/>
                    </a:p>
                  </a:txBody>
                  <a:tcPr marT="84455" marR="144780" marB="8445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A</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تصدير قائمة المستخدمين وصلاحياتهم</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00955">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C</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endParaRPr sz="1900"/>
                    </a:p>
                  </a:txBody>
                  <a:tcPr marT="84455" marR="144780" marB="8445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R</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A</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تأكيد حاجة كل موظف لصلاحيته</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00955">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A/R</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اعتماد نتيجة المراجعة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00955">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A/R</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endParaRPr sz="1900"/>
                    </a:p>
                  </a:txBody>
                  <a:tcPr marT="84455" marR="144780" marB="8445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I</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إزالة الصلاحيات غير المبررة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00955">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R</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C</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endParaRPr sz="1900"/>
                    </a:p>
                  </a:txBody>
                  <a:tcPr marT="84455" marR="144780" marB="8445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565"/>
                        </a:lnSpc>
                        <a:spcBef>
                          <a:spcPts val="0"/>
                        </a:spcBef>
                        <a:spcAft>
                          <a:spcPts val="0"/>
                        </a:spcAft>
                      </a:pPr>
                      <a:r>
                        <a:rPr sz="1900" b="0" i="0">
                          <a:solidFill>
                            <a:srgbClr val="172433"/>
                          </a:solidFill>
                          <a:latin typeface="IBM Plex Sans Arabic"/>
                          <a:ea typeface="IBM Plex Sans Arabic"/>
                          <a:cs typeface="IBM Plex Sans Arabic"/>
                        </a:rPr>
                        <a:t>A</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متابعة الإنجاز وحفظ الأدلة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5150830"/>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A واحد في كل صف. GRC يتابع ويحفظ الأدلة، ولا ينفذ الإزالة.</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بند السياسة</a:t>
            </a:r>
          </a:p>
        </p:txBody>
      </p:sp>
      <p:sp>
        <p:nvSpPr>
          <p:cNvPr id="7" name="Box 6"/>
          <p:cNvSpPr/>
          <p:nvPr/>
        </p:nvSpPr>
        <p:spPr>
          <a:xfrm>
            <a:off x="812800" y="1657945"/>
            <a:ext cx="10566400" cy="2095500"/>
          </a:xfrm>
          <a:prstGeom prst="roundRect">
            <a:avLst>
              <a:gd name="adj" fmla="val 4242"/>
            </a:avLst>
          </a:prstGeom>
          <a:solidFill>
            <a:srgbClr val="FFFFFF"/>
          </a:solidFill>
          <a:ln>
            <a:noFill/>
          </a:ln>
        </p:spPr>
        <p:txBody>
          <a:bodyPr rtlCol="0" anchor="ctr"/>
          <a:lstStyle/>
          <a:p>
            <a:pPr algn="ctr"/>
          </a:p>
        </p:txBody>
      </p:sp>
      <p:sp>
        <p:nvSpPr>
          <p:cNvPr id="8" name="Rule 7"/>
          <p:cNvSpPr/>
          <p:nvPr/>
        </p:nvSpPr>
        <p:spPr>
          <a:xfrm>
            <a:off x="812800" y="1657945"/>
            <a:ext cx="10566400" cy="6350"/>
          </a:xfrm>
          <a:prstGeom prst="rect">
            <a:avLst/>
          </a:prstGeom>
          <a:solidFill>
            <a:srgbClr val="E1DBCD"/>
          </a:solidFill>
          <a:ln>
            <a:noFill/>
          </a:ln>
        </p:spPr>
        <p:txBody>
          <a:bodyPr rtlCol="0" anchor="ctr"/>
          <a:lstStyle/>
          <a:p>
            <a:pPr algn="ctr"/>
          </a:p>
        </p:txBody>
      </p:sp>
      <p:sp>
        <p:nvSpPr>
          <p:cNvPr id="9" name="Rule 8"/>
          <p:cNvSpPr/>
          <p:nvPr/>
        </p:nvSpPr>
        <p:spPr>
          <a:xfrm>
            <a:off x="11328400" y="1657945"/>
            <a:ext cx="50800" cy="2095500"/>
          </a:xfrm>
          <a:prstGeom prst="rect">
            <a:avLst/>
          </a:prstGeom>
          <a:solidFill>
            <a:srgbClr val="24506B"/>
          </a:solidFill>
          <a:ln>
            <a:noFill/>
          </a:ln>
        </p:spPr>
        <p:txBody>
          <a:bodyPr rtlCol="0" anchor="ctr"/>
          <a:lstStyle/>
          <a:p>
            <a:pPr algn="ctr"/>
          </a:p>
        </p:txBody>
      </p:sp>
      <p:sp>
        <p:nvSpPr>
          <p:cNvPr id="10" name="Rule 9"/>
          <p:cNvSpPr/>
          <p:nvPr/>
        </p:nvSpPr>
        <p:spPr>
          <a:xfrm>
            <a:off x="812800" y="3747095"/>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812800" y="1657945"/>
            <a:ext cx="6350" cy="2095500"/>
          </a:xfrm>
          <a:prstGeom prst="rect">
            <a:avLst/>
          </a:prstGeom>
          <a:solidFill>
            <a:srgbClr val="E1DBCD"/>
          </a:solidFill>
          <a:ln>
            <a:noFill/>
          </a:ln>
        </p:spPr>
        <p:txBody>
          <a:bodyPr rtlCol="0" anchor="ctr"/>
          <a:lstStyle/>
          <a:p>
            <a:pPr algn="ctr"/>
          </a:p>
        </p:txBody>
      </p:sp>
      <p:sp>
        <p:nvSpPr>
          <p:cNvPr id="12" name="Text 11"/>
          <p:cNvSpPr txBox="1"/>
          <p:nvPr/>
        </p:nvSpPr>
        <p:spPr>
          <a:xfrm>
            <a:off x="838200" y="1728811"/>
            <a:ext cx="10312400" cy="18288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2400" b="0" i="0">
                <a:solidFill>
                  <a:srgbClr val="172433"/>
                </a:solidFill>
                <a:latin typeface="IBM Plex Sans Arabic"/>
                <a:ea typeface="IBM Plex Sans Arabic"/>
                <a:cs typeface="IBM Plex Sans Arabic"/>
              </a:rPr>
              <a:t>تُراجع هويات الدخول والصلاحيات في نظام الموارد البشرية والرواتب كل ثلاثة أشهر على الأقل. تعتمد مالكة النظام نتيجة المراجعة خلال 10 أيام عمل من تصدير القائمة، وتُزال الصلاحيات غير المبررة خلال 5 أيام عمل من الاعتماد، وتُحفظ أدلة المراجعة والإزالة سنتين على الأقل.</a:t>
            </a:r>
          </a:p>
        </p:txBody>
      </p:sp>
      <p:sp>
        <p:nvSpPr>
          <p:cNvPr id="13" name="Box 12"/>
          <p:cNvSpPr/>
          <p:nvPr/>
        </p:nvSpPr>
        <p:spPr>
          <a:xfrm>
            <a:off x="815975" y="3947120"/>
            <a:ext cx="10560050" cy="2049859"/>
          </a:xfrm>
          <a:prstGeom prst="roundRect">
            <a:avLst>
              <a:gd name="adj" fmla="val 5558"/>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4090249"/>
            <a:ext cx="10344150" cy="388938"/>
          </a:xfrm>
          <a:prstGeom prst="rect">
            <a:avLst/>
          </a:prstGeom>
          <a:noFill/>
        </p:spPr>
        <p:txBody>
          <a:bodyPr wrap="square" tIns="0" rIns="0" bIns="0" lIns="0" anchor="t" rtlCol="0" anchorCtr="0">
            <a:noAutofit/>
          </a:bodyPr>
          <a:lstStyle/>
          <a:p>
            <a:pPr algn="r" rtl="1">
              <a:lnSpc>
                <a:spcPts val="3062"/>
              </a:lnSpc>
              <a:spcBef>
                <a:spcPts val="0"/>
              </a:spcBef>
              <a:spcAft>
                <a:spcPts val="0"/>
              </a:spcAft>
            </a:pPr>
            <a:r>
              <a:rPr sz="2450" b="1" i="0">
                <a:solidFill>
                  <a:srgbClr val="0E7C6B"/>
                </a:solidFill>
                <a:latin typeface="Readex Pro"/>
                <a:ea typeface="Readex Pro"/>
                <a:cs typeface="Readex Pro"/>
              </a:rPr>
              <a:t>لماذا هذا بند جيد؟</a:t>
            </a:r>
          </a:p>
        </p:txBody>
      </p:sp>
      <p:pic>
        <p:nvPicPr>
          <p:cNvPr id="15" name="Icon Check 14" descr="icon024.png"/>
          <p:cNvPicPr>
            <a:picLocks noChangeAspect="1"/>
          </p:cNvPicPr>
          <p:nvPr/>
        </p:nvPicPr>
        <p:blipFill>
          <a:blip r:embed="rId2"/>
          <a:stretch>
            <a:fillRect/>
          </a:stretch>
        </p:blipFill>
        <p:spPr>
          <a:xfrm>
            <a:off x="10928350" y="4567833"/>
            <a:ext cx="254000" cy="254000"/>
          </a:xfrm>
          <a:prstGeom prst="rect">
            <a:avLst/>
          </a:prstGeom>
        </p:spPr>
      </p:pic>
      <p:sp>
        <p:nvSpPr>
          <p:cNvPr id="16" name="Text 15"/>
          <p:cNvSpPr txBox="1"/>
          <p:nvPr/>
        </p:nvSpPr>
        <p:spPr>
          <a:xfrm>
            <a:off x="6782189" y="4525510"/>
            <a:ext cx="4031861"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النطاق: نظام الموارد البشرية والرواتب</a:t>
            </a:r>
          </a:p>
        </p:txBody>
      </p:sp>
      <p:pic>
        <p:nvPicPr>
          <p:cNvPr id="17" name="Icon Check 16" descr="icon024.png"/>
          <p:cNvPicPr>
            <a:picLocks noChangeAspect="1"/>
          </p:cNvPicPr>
          <p:nvPr/>
        </p:nvPicPr>
        <p:blipFill>
          <a:blip r:embed="rId2"/>
          <a:stretch>
            <a:fillRect/>
          </a:stretch>
        </p:blipFill>
        <p:spPr>
          <a:xfrm>
            <a:off x="10928350" y="5013523"/>
            <a:ext cx="254000" cy="254000"/>
          </a:xfrm>
          <a:prstGeom prst="rect">
            <a:avLst/>
          </a:prstGeom>
        </p:spPr>
      </p:pic>
      <p:sp>
        <p:nvSpPr>
          <p:cNvPr id="18" name="Text 17"/>
          <p:cNvSpPr txBox="1"/>
          <p:nvPr/>
        </p:nvSpPr>
        <p:spPr>
          <a:xfrm>
            <a:off x="6782189" y="4971201"/>
            <a:ext cx="4031861"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التكرار: كل 3 أشهر</a:t>
            </a:r>
          </a:p>
        </p:txBody>
      </p:sp>
      <p:pic>
        <p:nvPicPr>
          <p:cNvPr id="19" name="Icon Check 18" descr="icon024.png"/>
          <p:cNvPicPr>
            <a:picLocks noChangeAspect="1"/>
          </p:cNvPicPr>
          <p:nvPr/>
        </p:nvPicPr>
        <p:blipFill>
          <a:blip r:embed="rId2"/>
          <a:stretch>
            <a:fillRect/>
          </a:stretch>
        </p:blipFill>
        <p:spPr>
          <a:xfrm>
            <a:off x="10928350" y="5459214"/>
            <a:ext cx="254000" cy="254000"/>
          </a:xfrm>
          <a:prstGeom prst="rect">
            <a:avLst/>
          </a:prstGeom>
        </p:spPr>
      </p:pic>
      <p:sp>
        <p:nvSpPr>
          <p:cNvPr id="20" name="Text 19"/>
          <p:cNvSpPr txBox="1"/>
          <p:nvPr/>
        </p:nvSpPr>
        <p:spPr>
          <a:xfrm>
            <a:off x="6782189" y="5416891"/>
            <a:ext cx="4031861"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المسؤول: مالكة النظام</a:t>
            </a:r>
          </a:p>
        </p:txBody>
      </p:sp>
      <p:pic>
        <p:nvPicPr>
          <p:cNvPr id="21" name="Icon Check 20" descr="icon024.png"/>
          <p:cNvPicPr>
            <a:picLocks noChangeAspect="1"/>
          </p:cNvPicPr>
          <p:nvPr/>
        </p:nvPicPr>
        <p:blipFill>
          <a:blip r:embed="rId2"/>
          <a:stretch>
            <a:fillRect/>
          </a:stretch>
        </p:blipFill>
        <p:spPr>
          <a:xfrm>
            <a:off x="6649045" y="4567833"/>
            <a:ext cx="254000" cy="254000"/>
          </a:xfrm>
          <a:prstGeom prst="rect">
            <a:avLst/>
          </a:prstGeom>
        </p:spPr>
      </p:pic>
      <p:sp>
        <p:nvSpPr>
          <p:cNvPr id="22" name="Text 21"/>
          <p:cNvSpPr txBox="1"/>
          <p:nvPr/>
        </p:nvSpPr>
        <p:spPr>
          <a:xfrm>
            <a:off x="2043827" y="4525510"/>
            <a:ext cx="4490918"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المدد: اعتماد خلال 10 أيام، وإزالة خلال 5</a:t>
            </a:r>
          </a:p>
        </p:txBody>
      </p:sp>
      <p:pic>
        <p:nvPicPr>
          <p:cNvPr id="23" name="Icon Check 22" descr="icon024.png"/>
          <p:cNvPicPr>
            <a:picLocks noChangeAspect="1"/>
          </p:cNvPicPr>
          <p:nvPr/>
        </p:nvPicPr>
        <p:blipFill>
          <a:blip r:embed="rId2"/>
          <a:stretch>
            <a:fillRect/>
          </a:stretch>
        </p:blipFill>
        <p:spPr>
          <a:xfrm>
            <a:off x="6649045" y="5013523"/>
            <a:ext cx="254000" cy="254000"/>
          </a:xfrm>
          <a:prstGeom prst="rect">
            <a:avLst/>
          </a:prstGeom>
        </p:spPr>
      </p:pic>
      <p:sp>
        <p:nvSpPr>
          <p:cNvPr id="24" name="Text 23"/>
          <p:cNvSpPr txBox="1"/>
          <p:nvPr/>
        </p:nvSpPr>
        <p:spPr>
          <a:xfrm>
            <a:off x="2043827" y="4971201"/>
            <a:ext cx="4490918"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الدليل: ملف المراجعة وأدلة الإزالة</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إلغاء صلاحيات المغادرين</a:t>
            </a:r>
          </a:p>
        </p:txBody>
      </p:sp>
      <p:sp>
        <p:nvSpPr>
          <p:cNvPr id="7" name="Box 6"/>
          <p:cNvSpPr/>
          <p:nvPr/>
        </p:nvSpPr>
        <p:spPr>
          <a:xfrm>
            <a:off x="812800" y="1632545"/>
            <a:ext cx="10566400" cy="1143000"/>
          </a:xfrm>
          <a:prstGeom prst="roundRect">
            <a:avLst>
              <a:gd name="adj" fmla="val 7777"/>
            </a:avLst>
          </a:prstGeom>
          <a:solidFill>
            <a:srgbClr val="FFFFFF"/>
          </a:solidFill>
          <a:ln>
            <a:noFill/>
          </a:ln>
        </p:spPr>
        <p:txBody>
          <a:bodyPr rtlCol="0" anchor="ctr"/>
          <a:lstStyle/>
          <a:p>
            <a:pPr algn="ctr"/>
          </a:p>
        </p:txBody>
      </p:sp>
      <p:sp>
        <p:nvSpPr>
          <p:cNvPr id="8" name="Rule 7"/>
          <p:cNvSpPr/>
          <p:nvPr/>
        </p:nvSpPr>
        <p:spPr>
          <a:xfrm>
            <a:off x="812800" y="1632545"/>
            <a:ext cx="10566400" cy="6350"/>
          </a:xfrm>
          <a:prstGeom prst="rect">
            <a:avLst/>
          </a:prstGeom>
          <a:solidFill>
            <a:srgbClr val="E1DBCD"/>
          </a:solidFill>
          <a:ln>
            <a:noFill/>
          </a:ln>
        </p:spPr>
        <p:txBody>
          <a:bodyPr rtlCol="0" anchor="ctr"/>
          <a:lstStyle/>
          <a:p>
            <a:pPr algn="ctr"/>
          </a:p>
        </p:txBody>
      </p:sp>
      <p:sp>
        <p:nvSpPr>
          <p:cNvPr id="9" name="Rule 8"/>
          <p:cNvSpPr/>
          <p:nvPr/>
        </p:nvSpPr>
        <p:spPr>
          <a:xfrm>
            <a:off x="11328400" y="1632545"/>
            <a:ext cx="50800" cy="1143000"/>
          </a:xfrm>
          <a:prstGeom prst="rect">
            <a:avLst/>
          </a:prstGeom>
          <a:solidFill>
            <a:srgbClr val="C27A16"/>
          </a:solidFill>
          <a:ln>
            <a:noFill/>
          </a:ln>
        </p:spPr>
        <p:txBody>
          <a:bodyPr rtlCol="0" anchor="ctr"/>
          <a:lstStyle/>
          <a:p>
            <a:pPr algn="ctr"/>
          </a:p>
        </p:txBody>
      </p:sp>
      <p:sp>
        <p:nvSpPr>
          <p:cNvPr id="10" name="Rule 9"/>
          <p:cNvSpPr/>
          <p:nvPr/>
        </p:nvSpPr>
        <p:spPr>
          <a:xfrm>
            <a:off x="812800" y="2769195"/>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812800" y="1632545"/>
            <a:ext cx="6350" cy="1143000"/>
          </a:xfrm>
          <a:prstGeom prst="rect">
            <a:avLst/>
          </a:prstGeom>
          <a:solidFill>
            <a:srgbClr val="E1DBCD"/>
          </a:solidFill>
          <a:ln>
            <a:noFill/>
          </a:ln>
        </p:spPr>
        <p:txBody>
          <a:bodyPr rtlCol="0" anchor="ctr"/>
          <a:lstStyle/>
          <a:p>
            <a:pPr algn="ctr"/>
          </a:p>
        </p:txBody>
      </p:sp>
      <p:sp>
        <p:nvSpPr>
          <p:cNvPr id="12" name="Text 11"/>
          <p:cNvSpPr txBox="1"/>
          <p:nvPr/>
        </p:nvSpPr>
        <p:spPr>
          <a:xfrm>
            <a:off x="838200" y="1706015"/>
            <a:ext cx="10312400" cy="876300"/>
          </a:xfrm>
          <a:prstGeom prst="rect">
            <a:avLst/>
          </a:prstGeom>
          <a:noFill/>
        </p:spPr>
        <p:txBody>
          <a:bodyPr wrap="square" tIns="0" rIns="0" bIns="0" lIns="0" anchor="t" rtlCol="0" anchorCtr="0">
            <a:noAutofit/>
          </a:bodyPr>
          <a:lstStyle/>
          <a:p>
            <a:pPr algn="r" rtl="1">
              <a:lnSpc>
                <a:spcPts val="3450"/>
              </a:lnSpc>
              <a:spcBef>
                <a:spcPts val="0"/>
              </a:spcBef>
              <a:spcAft>
                <a:spcPts val="0"/>
              </a:spcAft>
            </a:pPr>
            <a:r>
              <a:rPr sz="2300" b="0" i="0">
                <a:solidFill>
                  <a:srgbClr val="172433"/>
                </a:solidFill>
                <a:latin typeface="IBM Plex Sans Arabic"/>
                <a:ea typeface="IBM Plex Sans Arabic"/>
                <a:cs typeface="IBM Plex Sans Arabic"/>
              </a:rPr>
              <a:t>ECC ‎1-9-5‎: يجب مراجعة وإلغاء الصلاحيات للعامل مباشرة بعد انتهاء/إنهاء العلاقة الوظيفية مع الجهة.</a:t>
            </a:r>
          </a:p>
        </p:txBody>
      </p:sp>
      <p:sp>
        <p:nvSpPr>
          <p:cNvPr id="13" name="Box 12"/>
          <p:cNvSpPr/>
          <p:nvPr/>
        </p:nvSpPr>
        <p:spPr>
          <a:xfrm>
            <a:off x="815975" y="2943820"/>
            <a:ext cx="10560050" cy="2969816"/>
          </a:xfrm>
          <a:prstGeom prst="roundRect">
            <a:avLst>
              <a:gd name="adj" fmla="val 3840"/>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3086441"/>
            <a:ext cx="10344150" cy="404812"/>
          </a:xfrm>
          <a:prstGeom prst="rect">
            <a:avLst/>
          </a:prstGeom>
          <a:noFill/>
        </p:spPr>
        <p:txBody>
          <a:bodyPr wrap="square" tIns="0" rIns="0" bIns="0" lIns="0" anchor="t" rtlCol="0" anchorCtr="0">
            <a:noAutofit/>
          </a:bodyPr>
          <a:lstStyle/>
          <a:p>
            <a:pPr algn="r" rtl="1">
              <a:lnSpc>
                <a:spcPts val="3188"/>
              </a:lnSpc>
              <a:spcBef>
                <a:spcPts val="0"/>
              </a:spcBef>
              <a:spcAft>
                <a:spcPts val="0"/>
              </a:spcAft>
            </a:pPr>
            <a:r>
              <a:rPr sz="2550" b="1" i="0">
                <a:solidFill>
                  <a:srgbClr val="8A4B12"/>
                </a:solidFill>
                <a:latin typeface="Readex Pro"/>
                <a:ea typeface="Readex Pro"/>
                <a:cs typeface="Readex Pro"/>
              </a:rPr>
              <a:t>ما وجدته في رُفاد</a:t>
            </a:r>
          </a:p>
        </p:txBody>
      </p:sp>
      <p:pic>
        <p:nvPicPr>
          <p:cNvPr id="15" name="Icon Search 14" descr="icon025.png"/>
          <p:cNvPicPr>
            <a:picLocks noChangeAspect="1"/>
          </p:cNvPicPr>
          <p:nvPr/>
        </p:nvPicPr>
        <p:blipFill>
          <a:blip r:embed="rId2"/>
          <a:stretch>
            <a:fillRect/>
          </a:stretch>
        </p:blipFill>
        <p:spPr>
          <a:xfrm>
            <a:off x="10922000" y="3593108"/>
            <a:ext cx="260350" cy="260350"/>
          </a:xfrm>
          <a:prstGeom prst="rect">
            <a:avLst/>
          </a:prstGeom>
        </p:spPr>
      </p:pic>
      <p:sp>
        <p:nvSpPr>
          <p:cNvPr id="16" name="Text 15"/>
          <p:cNvSpPr txBox="1"/>
          <p:nvPr/>
        </p:nvSpPr>
        <p:spPr>
          <a:xfrm>
            <a:off x="838200" y="3550785"/>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تسجل الموارد البشرية الاستقالات في نظام الموارد البشرية والرواتب.</a:t>
            </a:r>
          </a:p>
        </p:txBody>
      </p:sp>
      <p:pic>
        <p:nvPicPr>
          <p:cNvPr id="17" name="Icon Search 16" descr="icon025.png"/>
          <p:cNvPicPr>
            <a:picLocks noChangeAspect="1"/>
          </p:cNvPicPr>
          <p:nvPr/>
        </p:nvPicPr>
        <p:blipFill>
          <a:blip r:embed="rId2"/>
          <a:stretch>
            <a:fillRect/>
          </a:stretch>
        </p:blipFill>
        <p:spPr>
          <a:xfrm>
            <a:off x="10922000" y="4038798"/>
            <a:ext cx="260350" cy="260350"/>
          </a:xfrm>
          <a:prstGeom prst="rect">
            <a:avLst/>
          </a:prstGeom>
        </p:spPr>
      </p:pic>
      <p:sp>
        <p:nvSpPr>
          <p:cNvPr id="18" name="Text 17"/>
          <p:cNvSpPr txBox="1"/>
          <p:nvPr/>
        </p:nvSpPr>
        <p:spPr>
          <a:xfrm>
            <a:off x="838200" y="3996476"/>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تعرف تقنية المعلومات بالمغادرين عبر رسائل غير رسمية من المدراء.</a:t>
            </a:r>
          </a:p>
        </p:txBody>
      </p:sp>
      <p:pic>
        <p:nvPicPr>
          <p:cNvPr id="19" name="Icon Search 18" descr="icon025.png"/>
          <p:cNvPicPr>
            <a:picLocks noChangeAspect="1"/>
          </p:cNvPicPr>
          <p:nvPr/>
        </p:nvPicPr>
        <p:blipFill>
          <a:blip r:embed="rId2"/>
          <a:stretch>
            <a:fillRect/>
          </a:stretch>
        </p:blipFill>
        <p:spPr>
          <a:xfrm>
            <a:off x="10922000" y="4484489"/>
            <a:ext cx="260350" cy="260350"/>
          </a:xfrm>
          <a:prstGeom prst="rect">
            <a:avLst/>
          </a:prstGeom>
        </p:spPr>
      </p:pic>
      <p:sp>
        <p:nvSpPr>
          <p:cNvPr id="20" name="Text 19"/>
          <p:cNvSpPr txBox="1"/>
          <p:nvPr/>
        </p:nvSpPr>
        <p:spPr>
          <a:xfrm>
            <a:off x="838200" y="4442166"/>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المورد سَنَد يعطل حساب البريد حين تطلب منه تقنية المعلومات ذلك.</a:t>
            </a:r>
          </a:p>
        </p:txBody>
      </p:sp>
      <p:pic>
        <p:nvPicPr>
          <p:cNvPr id="21" name="Icon Search 20" descr="icon025.png"/>
          <p:cNvPicPr>
            <a:picLocks noChangeAspect="1"/>
          </p:cNvPicPr>
          <p:nvPr/>
        </p:nvPicPr>
        <p:blipFill>
          <a:blip r:embed="rId2"/>
          <a:stretch>
            <a:fillRect/>
          </a:stretch>
        </p:blipFill>
        <p:spPr>
          <a:xfrm>
            <a:off x="10922000" y="4930180"/>
            <a:ext cx="260350" cy="260350"/>
          </a:xfrm>
          <a:prstGeom prst="rect">
            <a:avLst/>
          </a:prstGeom>
        </p:spPr>
      </p:pic>
      <p:sp>
        <p:nvSpPr>
          <p:cNvPr id="22" name="Text 21"/>
          <p:cNvSpPr txBox="1"/>
          <p:nvPr/>
        </p:nvSpPr>
        <p:spPr>
          <a:xfrm>
            <a:off x="838200" y="4887857"/>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لا أحد يتحقق من حسابات نظام الرواتب وتطبيق التتبع والوصول عن بعد.</a:t>
            </a:r>
          </a:p>
        </p:txBody>
      </p:sp>
      <p:pic>
        <p:nvPicPr>
          <p:cNvPr id="23" name="Icon Search 22" descr="icon025.png"/>
          <p:cNvPicPr>
            <a:picLocks noChangeAspect="1"/>
          </p:cNvPicPr>
          <p:nvPr/>
        </p:nvPicPr>
        <p:blipFill>
          <a:blip r:embed="rId2"/>
          <a:stretch>
            <a:fillRect/>
          </a:stretch>
        </p:blipFill>
        <p:spPr>
          <a:xfrm>
            <a:off x="10922000" y="5375870"/>
            <a:ext cx="260350" cy="260350"/>
          </a:xfrm>
          <a:prstGeom prst="rect">
            <a:avLst/>
          </a:prstGeom>
        </p:spPr>
      </p:pic>
      <p:sp>
        <p:nvSpPr>
          <p:cNvPr id="24" name="Text 23"/>
          <p:cNvSpPr txBox="1"/>
          <p:nvPr/>
        </p:nvSpPr>
        <p:spPr>
          <a:xfrm>
            <a:off x="838200" y="5333548"/>
            <a:ext cx="996950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الشهر الماضي غادر 4 موظفين، وبقي حسابان منهم نشطين بعد 3 أسابيع.</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11005820" y="1580856"/>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1</a:t>
            </a:r>
          </a:p>
        </p:txBody>
      </p:sp>
      <p:sp>
        <p:nvSpPr>
          <p:cNvPr id="8" name="Text 7"/>
          <p:cNvSpPr txBox="1"/>
          <p:nvPr/>
        </p:nvSpPr>
        <p:spPr>
          <a:xfrm>
            <a:off x="0" y="1571712"/>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اكتب خمسة أنشطة لعملية إلغاء صلاحيات المغادرين.</a:t>
            </a:r>
          </a:p>
        </p:txBody>
      </p:sp>
      <p:sp>
        <p:nvSpPr>
          <p:cNvPr id="9" name="Text 8"/>
          <p:cNvSpPr txBox="1"/>
          <p:nvPr/>
        </p:nvSpPr>
        <p:spPr>
          <a:xfrm>
            <a:off x="11005820" y="197703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2</a:t>
            </a:r>
          </a:p>
        </p:txBody>
      </p:sp>
      <p:sp>
        <p:nvSpPr>
          <p:cNvPr id="10" name="Text 9"/>
          <p:cNvSpPr txBox="1"/>
          <p:nvPr/>
        </p:nvSpPr>
        <p:spPr>
          <a:xfrm>
            <a:off x="0" y="196789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املأ مصفوفة RACI، مع مسؤول A واحد لكل نشاط.</a:t>
            </a:r>
          </a:p>
        </p:txBody>
      </p:sp>
      <p:sp>
        <p:nvSpPr>
          <p:cNvPr id="11" name="Text 10"/>
          <p:cNvSpPr txBox="1"/>
          <p:nvPr/>
        </p:nvSpPr>
        <p:spPr>
          <a:xfrm>
            <a:off x="11005820" y="237321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3</a:t>
            </a:r>
          </a:p>
        </p:txBody>
      </p:sp>
      <p:sp>
        <p:nvSpPr>
          <p:cNvPr id="12" name="Text 11"/>
          <p:cNvSpPr txBox="1"/>
          <p:nvPr/>
        </p:nvSpPr>
        <p:spPr>
          <a:xfrm>
            <a:off x="0" y="236407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اكتب بند سياسة من جملتين أو ثلاث يحقق معايير البند الجيد.</a:t>
            </a:r>
          </a:p>
        </p:txBody>
      </p:sp>
      <p:graphicFrame>
        <p:nvGraphicFramePr>
          <p:cNvPr id="13" name="Table 12"/>
          <p:cNvGraphicFramePr>
            <a:graphicFrameLocks noGrp="1"/>
          </p:cNvGraphicFramePr>
          <p:nvPr/>
        </p:nvGraphicFramePr>
        <p:xfrm>
          <a:off x="815975" y="2862362"/>
          <a:ext cx="10560050" cy="1587500"/>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396875">
                <a:tc>
                  <a:txBody>
                    <a:bodyPr wrap="square"/>
                    <a:lstStyle/>
                    <a:p>
                      <a:pPr algn="r">
                        <a:lnSpc>
                          <a:spcPts val="2025"/>
                        </a:lnSpc>
                        <a:spcBef>
                          <a:spcPts val="0"/>
                        </a:spcBef>
                        <a:spcAft>
                          <a:spcPts val="0"/>
                        </a:spcAft>
                      </a:pPr>
                      <a:r>
                        <a:rPr sz="1500" b="1" i="0">
                          <a:solidFill>
                            <a:srgbClr val="F3EFE6"/>
                          </a:solidFill>
                          <a:latin typeface="IBM Plex Sans Arabic"/>
                          <a:ea typeface="IBM Plex Sans Arabic"/>
                          <a:cs typeface="IBM Plex Sans Arabic"/>
                        </a:rPr>
                        <a:t>GRC</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025"/>
                        </a:lnSpc>
                        <a:spcBef>
                          <a:spcPts val="0"/>
                        </a:spcBef>
                        <a:spcAft>
                          <a:spcPts val="0"/>
                        </a:spcAft>
                      </a:pPr>
                      <a:r>
                        <a:rPr sz="1500" b="1" i="0">
                          <a:solidFill>
                            <a:srgbClr val="F3EFE6"/>
                          </a:solidFill>
                          <a:latin typeface="IBM Plex Sans Arabic"/>
                          <a:ea typeface="IBM Plex Sans Arabic"/>
                          <a:cs typeface="IBM Plex Sans Arabic"/>
                        </a:rPr>
                        <a:t>تقنية المعلومات</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025"/>
                        </a:lnSpc>
                        <a:spcBef>
                          <a:spcPts val="0"/>
                        </a:spcBef>
                        <a:spcAft>
                          <a:spcPts val="0"/>
                        </a:spcAft>
                      </a:pPr>
                      <a:r>
                        <a:rPr sz="1500" b="1" i="0">
                          <a:solidFill>
                            <a:srgbClr val="F3EFE6"/>
                          </a:solidFill>
                          <a:latin typeface="IBM Plex Sans Arabic"/>
                          <a:ea typeface="IBM Plex Sans Arabic"/>
                          <a:cs typeface="IBM Plex Sans Arabic"/>
                        </a:rPr>
                        <a:t>مدير الموظف</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025"/>
                        </a:lnSpc>
                        <a:spcBef>
                          <a:spcPts val="0"/>
                        </a:spcBef>
                        <a:spcAft>
                          <a:spcPts val="0"/>
                        </a:spcAft>
                      </a:pPr>
                      <a:r>
                        <a:rPr sz="1500" b="1" i="0">
                          <a:solidFill>
                            <a:srgbClr val="F3EFE6"/>
                          </a:solidFill>
                          <a:latin typeface="IBM Plex Sans Arabic"/>
                          <a:ea typeface="IBM Plex Sans Arabic"/>
                          <a:cs typeface="IBM Plex Sans Arabic"/>
                        </a:rPr>
                        <a:t>الموارد البشرية</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025"/>
                        </a:lnSpc>
                        <a:spcBef>
                          <a:spcPts val="0"/>
                        </a:spcBef>
                        <a:spcAft>
                          <a:spcPts val="0"/>
                        </a:spcAft>
                      </a:pPr>
                      <a:r>
                        <a:rPr sz="1500" b="1" i="0">
                          <a:solidFill>
                            <a:srgbClr val="F3EFE6"/>
                          </a:solidFill>
                          <a:latin typeface="IBM Plex Sans Arabic"/>
                          <a:ea typeface="IBM Plex Sans Arabic"/>
                          <a:cs typeface="IBM Plex Sans Arabic"/>
                        </a:rPr>
                        <a:t>النشاط</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96875">
                <a:tc>
                  <a:txBody>
                    <a:bodyPr wrap="square"/>
                    <a:lstStyle/>
                    <a:p>
                      <a:pPr algn="r" rtl="1">
                        <a:lnSpc>
                          <a:spcPts val="2025"/>
                        </a:lnSpc>
                        <a:spcBef>
                          <a:spcPts val="0"/>
                        </a:spcBef>
                        <a:spcAft>
                          <a:spcPts val="0"/>
                        </a:spcAft>
                      </a:pPr>
                      <a:r>
                        <a:rPr sz="1500" b="0" i="0">
                          <a:solidFill>
                            <a:srgbClr val="172433"/>
                          </a:solidFill>
                          <a:latin typeface="IBM Plex Sans Arabic"/>
                          <a:ea typeface="IBM Plex Sans Arabic"/>
                          <a:cs typeface="IBM Plex Sans Arabic"/>
                        </a:rPr>
                        <a:t>النشاط 1</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r h="396875">
                <a:tc>
                  <a:txBody>
                    <a:bodyPr wrap="square"/>
                    <a:lstStyle/>
                    <a:p>
                      <a:pPr algn="r" rtl="1">
                        <a:lnSpc>
                          <a:spcPts val="2025"/>
                        </a:lnSpc>
                        <a:spcBef>
                          <a:spcPts val="0"/>
                        </a:spcBef>
                        <a:spcAft>
                          <a:spcPts val="0"/>
                        </a:spcAft>
                      </a:pPr>
                      <a:r>
                        <a:rPr sz="1500" b="0" i="0">
                          <a:solidFill>
                            <a:srgbClr val="172433"/>
                          </a:solidFill>
                          <a:latin typeface="IBM Plex Sans Arabic"/>
                          <a:ea typeface="IBM Plex Sans Arabic"/>
                          <a:cs typeface="IBM Plex Sans Arabic"/>
                        </a:rPr>
                        <a:t>النشاط 2</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a:lstStyle/>
                    <a:p/>
                  </a:txBody>
                  <a:tcPr/>
                </a:tc>
                <a:tc>
                  <a:txBody>
                    <a:bodyPr/>
                    <a:lstStyle/>
                    <a:p/>
                  </a:txBody>
                  <a:tcPr/>
                </a:tc>
                <a:tc>
                  <a:txBody>
                    <a:bodyPr/>
                    <a:lstStyle/>
                    <a:p/>
                  </a:txBody>
                  <a:tcPr/>
                </a:tc>
                <a:tc>
                  <a:txBody>
                    <a:bodyPr/>
                    <a:lstStyle/>
                    <a:p/>
                  </a:txBody>
                  <a:tcPr/>
                </a:tc>
              </a:tr>
              <a:tr h="396875">
                <a:tc>
                  <a:txBody>
                    <a:bodyPr wrap="square"/>
                    <a:lstStyle/>
                    <a:p>
                      <a:pPr algn="r">
                        <a:lnSpc>
                          <a:spcPts val="2025"/>
                        </a:lnSpc>
                        <a:spcBef>
                          <a:spcPts val="0"/>
                        </a:spcBef>
                        <a:spcAft>
                          <a:spcPts val="0"/>
                        </a:spcAft>
                      </a:pPr>
                      <a:r>
                        <a:rPr sz="1500" b="0" i="0">
                          <a:solidFill>
                            <a:srgbClr val="172433"/>
                          </a:solidFill>
                          <a:latin typeface="IBM Plex Sans Arabic"/>
                          <a:ea typeface="IBM Plex Sans Arabic"/>
                          <a:cs typeface="IBM Plex Sans Arabic"/>
                        </a:rPr>
                        <a:t>…</a:t>
                      </a:r>
                    </a:p>
                  </a:txBody>
                  <a:tcPr marT="80296" marR="114300" marB="5305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14" name="Text 13"/>
          <p:cNvSpPr txBox="1"/>
          <p:nvPr/>
        </p:nvSpPr>
        <p:spPr>
          <a:xfrm>
            <a:off x="9796780" y="4561241"/>
            <a:ext cx="158242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بند السياسة</a:t>
            </a:r>
          </a:p>
        </p:txBody>
      </p:sp>
      <p:sp>
        <p:nvSpPr>
          <p:cNvPr id="15" name="Box 14"/>
          <p:cNvSpPr/>
          <p:nvPr/>
        </p:nvSpPr>
        <p:spPr>
          <a:xfrm>
            <a:off x="819150" y="4599087"/>
            <a:ext cx="8978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838200" y="4662841"/>
            <a:ext cx="8826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اكتب جملتين أو ثلاثاً هنا…</a:t>
            </a:r>
          </a:p>
        </p:txBody>
      </p:sp>
      <p:sp>
        <p:nvSpPr>
          <p:cNvPr id="17" name="Text 16"/>
          <p:cNvSpPr txBox="1"/>
          <p:nvPr/>
        </p:nvSpPr>
        <p:spPr>
          <a:xfrm>
            <a:off x="0" y="5190569"/>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النموذج كاملاً في الكراسة. 15 دقيقة.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مصفوفة RACI لإلغاء صلاحيات المغادرين</a:t>
            </a:r>
          </a:p>
        </p:txBody>
      </p:sp>
      <p:graphicFrame>
        <p:nvGraphicFramePr>
          <p:cNvPr id="7" name="Table 6"/>
          <p:cNvGraphicFramePr>
            <a:graphicFrameLocks noGrp="1"/>
          </p:cNvGraphicFramePr>
          <p:nvPr/>
        </p:nvGraphicFramePr>
        <p:xfrm>
          <a:off x="815975" y="1661120"/>
          <a:ext cx="10560050" cy="367188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762000">
                <a:tc>
                  <a:txBody>
                    <a:bodyPr wrap="square"/>
                    <a:lstStyle/>
                    <a:p>
                      <a:pPr algn="r">
                        <a:lnSpc>
                          <a:spcPts val="2362"/>
                        </a:lnSpc>
                        <a:spcBef>
                          <a:spcPts val="0"/>
                        </a:spcBef>
                        <a:spcAft>
                          <a:spcPts val="0"/>
                        </a:spcAft>
                      </a:pPr>
                      <a:r>
                        <a:rPr sz="1750" b="1" i="0">
                          <a:solidFill>
                            <a:srgbClr val="F3EFE6"/>
                          </a:solidFill>
                          <a:latin typeface="IBM Plex Sans Arabic"/>
                          <a:ea typeface="IBM Plex Sans Arabic"/>
                          <a:cs typeface="IBM Plex Sans Arabic"/>
                        </a:rPr>
                        <a:t>GRC</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تقنية المعلومات</a:t>
                      </a:r>
                    </a:p>
                  </a:txBody>
                  <a:tcPr marT="93678" marR="133350" marB="61897" marL="77788"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مدير الموظف</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الموارد البشرية</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النشاط</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62000">
                <a:tc>
                  <a:txBody>
                    <a:bodyPr wrap="square"/>
                    <a:lstStyle/>
                    <a:p>
                      <a:pPr algn="r">
                        <a:lnSpc>
                          <a:spcPts val="2362"/>
                        </a:lnSpc>
                        <a:spcBef>
                          <a:spcPts val="0"/>
                        </a:spcBef>
                        <a:spcAft>
                          <a:spcPts val="0"/>
                        </a:spcAft>
                      </a:pPr>
                      <a:endParaRPr sz="1750"/>
                    </a:p>
                  </a:txBody>
                  <a:tcPr marT="77788" marR="133350" marB="77788"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C</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A/R</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إشعار انتهاء العلاقة الوظيفية فور تحديد آخر يوم عمل</a:t>
                      </a:r>
                    </a:p>
                  </a:txBody>
                  <a:tcPr marT="93678" marR="133350" marB="61897" marL="1462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61962">
                <a:tc>
                  <a:txBody>
                    <a:bodyPr wrap="square"/>
                    <a:lstStyle/>
                    <a:p>
                      <a:pPr algn="r">
                        <a:lnSpc>
                          <a:spcPts val="2362"/>
                        </a:lnSpc>
                        <a:spcBef>
                          <a:spcPts val="0"/>
                        </a:spcBef>
                        <a:spcAft>
                          <a:spcPts val="0"/>
                        </a:spcAft>
                      </a:pPr>
                      <a:endParaRPr sz="1750"/>
                    </a:p>
                  </a:txBody>
                  <a:tcPr marT="77788" marR="133350" marB="77788"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A/R</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إلغاء الحسابات والصلاحيات في كل الأنظمة</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61962">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A/R</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endParaRPr sz="1750"/>
                    </a:p>
                  </a:txBody>
                  <a:tcPr marT="77788" marR="133350" marB="77788"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توثيق الإلغاء في تذكرة مغلقة بأدلتها</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62000">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I</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A/R</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endParaRPr sz="1750"/>
                    </a:p>
                  </a:txBody>
                  <a:tcPr marT="77788" marR="133350" marB="77788"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C</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مطابقة شهرية: المغادرون مقابل الحسابات النشطة</a:t>
                      </a:r>
                    </a:p>
                  </a:txBody>
                  <a:tcPr marT="93678" marR="133350" marB="61897" marL="1462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61962">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A/R</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C</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endParaRPr sz="1750"/>
                    </a:p>
                  </a:txBody>
                  <a:tcPr marT="77788" marR="133350" marB="77788"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362"/>
                        </a:lnSpc>
                        <a:spcBef>
                          <a:spcPts val="0"/>
                        </a:spcBef>
                        <a:spcAft>
                          <a:spcPts val="0"/>
                        </a:spcAft>
                      </a:pPr>
                      <a:r>
                        <a:rPr sz="1750" b="0" i="0">
                          <a:solidFill>
                            <a:srgbClr val="172433"/>
                          </a:solidFill>
                          <a:latin typeface="IBM Plex Sans Arabic"/>
                          <a:ea typeface="IBM Plex Sans Arabic"/>
                          <a:cs typeface="IBM Plex Sans Arabic"/>
                        </a:rPr>
                        <a:t>C</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مراقبة فاعلية الإجراء وإبلاغ اللجنة</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5493218"/>
            <a:ext cx="113792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المورد ينفذ الإلغاء تحت إشراف تقنية المعلومات، فهي المساءلة. المسؤولية لا تنتقل إلى المورد.</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بند السياسة ولماذا</a:t>
            </a:r>
          </a:p>
        </p:txBody>
      </p:sp>
      <p:sp>
        <p:nvSpPr>
          <p:cNvPr id="7" name="Box 6"/>
          <p:cNvSpPr/>
          <p:nvPr/>
        </p:nvSpPr>
        <p:spPr>
          <a:xfrm>
            <a:off x="812800" y="1645245"/>
            <a:ext cx="10566400" cy="1495425"/>
          </a:xfrm>
          <a:prstGeom prst="roundRect">
            <a:avLst>
              <a:gd name="adj" fmla="val 5944"/>
            </a:avLst>
          </a:prstGeom>
          <a:solidFill>
            <a:srgbClr val="FFFFFF"/>
          </a:solidFill>
          <a:ln>
            <a:noFill/>
          </a:ln>
        </p:spPr>
        <p:txBody>
          <a:bodyPr rtlCol="0" anchor="ctr"/>
          <a:lstStyle/>
          <a:p>
            <a:pPr algn="ctr"/>
          </a:p>
        </p:txBody>
      </p:sp>
      <p:sp>
        <p:nvSpPr>
          <p:cNvPr id="8" name="Rule 7"/>
          <p:cNvSpPr/>
          <p:nvPr/>
        </p:nvSpPr>
        <p:spPr>
          <a:xfrm>
            <a:off x="812800" y="1645245"/>
            <a:ext cx="10566400" cy="6350"/>
          </a:xfrm>
          <a:prstGeom prst="rect">
            <a:avLst/>
          </a:prstGeom>
          <a:solidFill>
            <a:srgbClr val="E1DBCD"/>
          </a:solidFill>
          <a:ln>
            <a:noFill/>
          </a:ln>
        </p:spPr>
        <p:txBody>
          <a:bodyPr rtlCol="0" anchor="ctr"/>
          <a:lstStyle/>
          <a:p>
            <a:pPr algn="ctr"/>
          </a:p>
        </p:txBody>
      </p:sp>
      <p:sp>
        <p:nvSpPr>
          <p:cNvPr id="9" name="Rule 8"/>
          <p:cNvSpPr/>
          <p:nvPr/>
        </p:nvSpPr>
        <p:spPr>
          <a:xfrm>
            <a:off x="11328400" y="1645245"/>
            <a:ext cx="50800" cy="1495425"/>
          </a:xfrm>
          <a:prstGeom prst="rect">
            <a:avLst/>
          </a:prstGeom>
          <a:solidFill>
            <a:srgbClr val="0E7C6B"/>
          </a:solidFill>
          <a:ln>
            <a:noFill/>
          </a:ln>
        </p:spPr>
        <p:txBody>
          <a:bodyPr rtlCol="0" anchor="ctr"/>
          <a:lstStyle/>
          <a:p>
            <a:pPr algn="ctr"/>
          </a:p>
        </p:txBody>
      </p:sp>
      <p:sp>
        <p:nvSpPr>
          <p:cNvPr id="10" name="Rule 9"/>
          <p:cNvSpPr/>
          <p:nvPr/>
        </p:nvSpPr>
        <p:spPr>
          <a:xfrm>
            <a:off x="812800" y="3134320"/>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812800" y="1645245"/>
            <a:ext cx="6350" cy="1495425"/>
          </a:xfrm>
          <a:prstGeom prst="rect">
            <a:avLst/>
          </a:prstGeom>
          <a:solidFill>
            <a:srgbClr val="E1DBCD"/>
          </a:solidFill>
          <a:ln>
            <a:noFill/>
          </a:ln>
        </p:spPr>
        <p:txBody>
          <a:bodyPr rtlCol="0" anchor="ctr"/>
          <a:lstStyle/>
          <a:p>
            <a:pPr algn="ctr"/>
          </a:p>
        </p:txBody>
      </p:sp>
      <p:sp>
        <p:nvSpPr>
          <p:cNvPr id="12" name="Text 11"/>
          <p:cNvSpPr txBox="1"/>
          <p:nvPr/>
        </p:nvSpPr>
        <p:spPr>
          <a:xfrm>
            <a:off x="838200" y="1722620"/>
            <a:ext cx="10312400" cy="1228725"/>
          </a:xfrm>
          <a:prstGeom prst="rect">
            <a:avLst/>
          </a:prstGeom>
          <a:noFill/>
        </p:spPr>
        <p:txBody>
          <a:bodyPr wrap="square" tIns="0" rIns="0" bIns="0" lIns="0" anchor="t" rtlCol="0" anchorCtr="0">
            <a:noAutofit/>
          </a:bodyPr>
          <a:lstStyle/>
          <a:p>
            <a:pPr algn="r" rtl="1">
              <a:lnSpc>
                <a:spcPts val="3225"/>
              </a:lnSpc>
              <a:spcBef>
                <a:spcPts val="0"/>
              </a:spcBef>
              <a:spcAft>
                <a:spcPts val="0"/>
              </a:spcAft>
            </a:pPr>
            <a:r>
              <a:rPr sz="2150" b="0" i="0">
                <a:solidFill>
                  <a:srgbClr val="172433"/>
                </a:solidFill>
                <a:latin typeface="IBM Plex Sans Arabic"/>
                <a:ea typeface="IBM Plex Sans Arabic"/>
                <a:cs typeface="IBM Plex Sans Arabic"/>
              </a:rPr>
              <a:t>يجب إلغاء جميع حسابات العامل وصلاحياته في أنظمة رُفاد، بما فيها حسابات الوصول عن بعد، في موعد أقصاه نهاية آخر يوم عمل له. تُشعر الموارد البشرية تقنية المعلومات فور تحديد آخر يوم عمل، وتنفذ تقنية المعلومات الإلغاء وتوثقه في تذكرة، وتطابق شهرياً قائمة المغادرين مع الحسابات النشطة.</a:t>
            </a:r>
          </a:p>
        </p:txBody>
      </p:sp>
      <p:sp>
        <p:nvSpPr>
          <p:cNvPr id="13" name="Box 12"/>
          <p:cNvSpPr/>
          <p:nvPr/>
        </p:nvSpPr>
        <p:spPr>
          <a:xfrm>
            <a:off x="815975" y="3321645"/>
            <a:ext cx="10560050" cy="2268538"/>
          </a:xfrm>
          <a:prstGeom prst="roundRect">
            <a:avLst>
              <a:gd name="adj" fmla="val 5024"/>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3452836"/>
            <a:ext cx="10344150"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لماذا هكذا؟</a:t>
            </a:r>
          </a:p>
        </p:txBody>
      </p:sp>
      <p:pic>
        <p:nvPicPr>
          <p:cNvPr id="15" name="Icon Check 14" descr="icon022.png"/>
          <p:cNvPicPr>
            <a:picLocks noChangeAspect="1"/>
          </p:cNvPicPr>
          <p:nvPr/>
        </p:nvPicPr>
        <p:blipFill>
          <a:blip r:embed="rId2"/>
          <a:stretch>
            <a:fillRect/>
          </a:stretch>
        </p:blipFill>
        <p:spPr>
          <a:xfrm>
            <a:off x="10953750" y="3905845"/>
            <a:ext cx="228600" cy="228600"/>
          </a:xfrm>
          <a:prstGeom prst="rect">
            <a:avLst/>
          </a:prstGeom>
        </p:spPr>
      </p:pic>
      <p:sp>
        <p:nvSpPr>
          <p:cNvPr id="16" name="Text 15"/>
          <p:cNvSpPr txBox="1"/>
          <p:nvPr/>
        </p:nvSpPr>
        <p:spPr>
          <a:xfrm>
            <a:off x="838200" y="3868444"/>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الموارد البشرية مصدر الحقيقة عن انتهاء العلاقة الوظيفية، فهي A وR للإشعار.</a:t>
            </a:r>
          </a:p>
        </p:txBody>
      </p:sp>
      <p:pic>
        <p:nvPicPr>
          <p:cNvPr id="17" name="Icon Check 16" descr="icon022.png"/>
          <p:cNvPicPr>
            <a:picLocks noChangeAspect="1"/>
          </p:cNvPicPr>
          <p:nvPr/>
        </p:nvPicPr>
        <p:blipFill>
          <a:blip r:embed="rId2"/>
          <a:stretch>
            <a:fillRect/>
          </a:stretch>
        </p:blipFill>
        <p:spPr>
          <a:xfrm>
            <a:off x="10953750" y="4307086"/>
            <a:ext cx="228600" cy="228600"/>
          </a:xfrm>
          <a:prstGeom prst="rect">
            <a:avLst/>
          </a:prstGeom>
        </p:spPr>
      </p:pic>
      <p:sp>
        <p:nvSpPr>
          <p:cNvPr id="18" name="Text 17"/>
          <p:cNvSpPr txBox="1"/>
          <p:nvPr/>
        </p:nvSpPr>
        <p:spPr>
          <a:xfrm>
            <a:off x="838200" y="4269684"/>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التنفيذ عند تقنية المعلومات، والمورد ينفذ تحت إشرافها؛ المسؤولية لا تنتقل إلى المورد.</a:t>
            </a:r>
          </a:p>
        </p:txBody>
      </p:sp>
      <p:pic>
        <p:nvPicPr>
          <p:cNvPr id="19" name="Icon Check 18" descr="icon022.png"/>
          <p:cNvPicPr>
            <a:picLocks noChangeAspect="1"/>
          </p:cNvPicPr>
          <p:nvPr/>
        </p:nvPicPr>
        <p:blipFill>
          <a:blip r:embed="rId2"/>
          <a:stretch>
            <a:fillRect/>
          </a:stretch>
        </p:blipFill>
        <p:spPr>
          <a:xfrm>
            <a:off x="10953750" y="4708327"/>
            <a:ext cx="228600" cy="228600"/>
          </a:xfrm>
          <a:prstGeom prst="rect">
            <a:avLst/>
          </a:prstGeom>
        </p:spPr>
      </p:pic>
      <p:sp>
        <p:nvSpPr>
          <p:cNvPr id="20" name="Text 19"/>
          <p:cNvSpPr txBox="1"/>
          <p:nvPr/>
        </p:nvSpPr>
        <p:spPr>
          <a:xfrm>
            <a:off x="838200" y="4670925"/>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المطابقة الشهرية ضابط كشفي يلتقط ما فات، ويملكه الخط الأول لا GRC.</a:t>
            </a:r>
          </a:p>
        </p:txBody>
      </p:sp>
      <p:pic>
        <p:nvPicPr>
          <p:cNvPr id="21" name="Icon Check 20" descr="icon022.png"/>
          <p:cNvPicPr>
            <a:picLocks noChangeAspect="1"/>
          </p:cNvPicPr>
          <p:nvPr/>
        </p:nvPicPr>
        <p:blipFill>
          <a:blip r:embed="rId2"/>
          <a:stretch>
            <a:fillRect/>
          </a:stretch>
        </p:blipFill>
        <p:spPr>
          <a:xfrm>
            <a:off x="10953750" y="5109567"/>
            <a:ext cx="228600" cy="228600"/>
          </a:xfrm>
          <a:prstGeom prst="rect">
            <a:avLst/>
          </a:prstGeom>
        </p:spPr>
      </p:pic>
      <p:sp>
        <p:nvSpPr>
          <p:cNvPr id="22" name="Text 21"/>
          <p:cNvSpPr txBox="1"/>
          <p:nvPr/>
        </p:nvSpPr>
        <p:spPr>
          <a:xfrm>
            <a:off x="838200" y="5072166"/>
            <a:ext cx="100012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GRC يراقب ويبلغ، ولا ينفذ الإلغاء بنفسه حتى يبقى قادراً على التحقق باستقلالية.</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959997"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1: أخطاء شائعة</a:t>
            </a:r>
          </a:p>
        </p:txBody>
      </p:sp>
      <p:sp>
        <p:nvSpPr>
          <p:cNvPr id="7" name="Box 6"/>
          <p:cNvSpPr/>
          <p:nvPr/>
        </p:nvSpPr>
        <p:spPr>
          <a:xfrm>
            <a:off x="6188075" y="1661120"/>
            <a:ext cx="5187950" cy="4016375"/>
          </a:xfrm>
          <a:prstGeom prst="roundRect">
            <a:avLst>
              <a:gd name="adj" fmla="val 2841"/>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0411"/>
            <a:ext cx="4959350"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كيف تتجنبها</a:t>
            </a:r>
          </a:p>
        </p:txBody>
      </p:sp>
      <p:pic>
        <p:nvPicPr>
          <p:cNvPr id="9" name="Icon CheckCircle 8" descr="icon026.png"/>
          <p:cNvPicPr>
            <a:picLocks noChangeAspect="1"/>
          </p:cNvPicPr>
          <p:nvPr/>
        </p:nvPicPr>
        <p:blipFill>
          <a:blip r:embed="rId2"/>
          <a:stretch>
            <a:fillRect/>
          </a:stretch>
        </p:blipFill>
        <p:spPr>
          <a:xfrm>
            <a:off x="10928350" y="2296120"/>
            <a:ext cx="241300" cy="241300"/>
          </a:xfrm>
          <a:prstGeom prst="rect">
            <a:avLst/>
          </a:prstGeom>
        </p:spPr>
      </p:pic>
      <p:sp>
        <p:nvSpPr>
          <p:cNvPr id="10" name="Text 9"/>
          <p:cNvSpPr txBox="1"/>
          <p:nvPr/>
        </p:nvSpPr>
        <p:spPr>
          <a:xfrm>
            <a:off x="6261862" y="2256750"/>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A واحد في كل صف، وراجع الصفوف بعد التعبئة.</a:t>
            </a:r>
          </a:p>
        </p:txBody>
      </p:sp>
      <p:pic>
        <p:nvPicPr>
          <p:cNvPr id="11" name="Icon CheckCircle 10" descr="icon026.png"/>
          <p:cNvPicPr>
            <a:picLocks noChangeAspect="1"/>
          </p:cNvPicPr>
          <p:nvPr/>
        </p:nvPicPr>
        <p:blipFill>
          <a:blip r:embed="rId2"/>
          <a:stretch>
            <a:fillRect/>
          </a:stretch>
        </p:blipFill>
        <p:spPr>
          <a:xfrm>
            <a:off x="10928350" y="3096220"/>
            <a:ext cx="241300" cy="241300"/>
          </a:xfrm>
          <a:prstGeom prst="rect">
            <a:avLst/>
          </a:prstGeom>
        </p:spPr>
      </p:pic>
      <p:sp>
        <p:nvSpPr>
          <p:cNvPr id="12" name="Text 11"/>
          <p:cNvSpPr txBox="1"/>
          <p:nvPr/>
        </p:nvSpPr>
        <p:spPr>
          <a:xfrm>
            <a:off x="6210300" y="30568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الخط الأول ينفذ، وGRC يتحقق.</a:t>
            </a:r>
          </a:p>
        </p:txBody>
      </p:sp>
      <p:pic>
        <p:nvPicPr>
          <p:cNvPr id="13" name="Icon CheckCircle 12" descr="icon026.png"/>
          <p:cNvPicPr>
            <a:picLocks noChangeAspect="1"/>
          </p:cNvPicPr>
          <p:nvPr/>
        </p:nvPicPr>
        <p:blipFill>
          <a:blip r:embed="rId2"/>
          <a:stretch>
            <a:fillRect/>
          </a:stretch>
        </p:blipFill>
        <p:spPr>
          <a:xfrm>
            <a:off x="10928350" y="3540720"/>
            <a:ext cx="241300" cy="241300"/>
          </a:xfrm>
          <a:prstGeom prst="rect">
            <a:avLst/>
          </a:prstGeom>
        </p:spPr>
      </p:pic>
      <p:sp>
        <p:nvSpPr>
          <p:cNvPr id="14" name="Text 13"/>
          <p:cNvSpPr txBox="1"/>
          <p:nvPr/>
        </p:nvSpPr>
        <p:spPr>
          <a:xfrm>
            <a:off x="6210300" y="35013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موعد محدد ومسؤول بالوظيفة ودليل.</a:t>
            </a:r>
          </a:p>
        </p:txBody>
      </p:sp>
      <p:pic>
        <p:nvPicPr>
          <p:cNvPr id="15" name="Icon CheckCircle 14" descr="icon026.png"/>
          <p:cNvPicPr>
            <a:picLocks noChangeAspect="1"/>
          </p:cNvPicPr>
          <p:nvPr/>
        </p:nvPicPr>
        <p:blipFill>
          <a:blip r:embed="rId2"/>
          <a:stretch>
            <a:fillRect/>
          </a:stretch>
        </p:blipFill>
        <p:spPr>
          <a:xfrm>
            <a:off x="10928350" y="3985220"/>
            <a:ext cx="241300" cy="241300"/>
          </a:xfrm>
          <a:prstGeom prst="rect">
            <a:avLst/>
          </a:prstGeom>
        </p:spPr>
      </p:pic>
      <p:sp>
        <p:nvSpPr>
          <p:cNvPr id="16" name="Text 15"/>
          <p:cNvSpPr txBox="1"/>
          <p:nvPr/>
        </p:nvSpPr>
        <p:spPr>
          <a:xfrm>
            <a:off x="6210300" y="39458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غطِّ كل الأنظمة، بما فيها الوصول عن بعد.</a:t>
            </a:r>
          </a:p>
        </p:txBody>
      </p:sp>
      <p:pic>
        <p:nvPicPr>
          <p:cNvPr id="17" name="Icon CheckCircle 16" descr="icon026.png"/>
          <p:cNvPicPr>
            <a:picLocks noChangeAspect="1"/>
          </p:cNvPicPr>
          <p:nvPr/>
        </p:nvPicPr>
        <p:blipFill>
          <a:blip r:embed="rId2"/>
          <a:stretch>
            <a:fillRect/>
          </a:stretch>
        </p:blipFill>
        <p:spPr>
          <a:xfrm>
            <a:off x="10928350" y="4429720"/>
            <a:ext cx="241300" cy="241300"/>
          </a:xfrm>
          <a:prstGeom prst="rect">
            <a:avLst/>
          </a:prstGeom>
        </p:spPr>
      </p:pic>
      <p:sp>
        <p:nvSpPr>
          <p:cNvPr id="18" name="Text 17"/>
          <p:cNvSpPr txBox="1"/>
          <p:nvPr/>
        </p:nvSpPr>
        <p:spPr>
          <a:xfrm>
            <a:off x="6210300" y="43903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البند يقول كيف ستلتزم الجهة، لا يكرر الضابط.</a:t>
            </a:r>
          </a:p>
        </p:txBody>
      </p:sp>
      <p:sp>
        <p:nvSpPr>
          <p:cNvPr id="19" name="Box 18"/>
          <p:cNvSpPr/>
          <p:nvPr/>
        </p:nvSpPr>
        <p:spPr>
          <a:xfrm>
            <a:off x="815975" y="1661120"/>
            <a:ext cx="5187950" cy="4016375"/>
          </a:xfrm>
          <a:prstGeom prst="roundRect">
            <a:avLst>
              <a:gd name="adj" fmla="val 2841"/>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30411"/>
            <a:ext cx="4959350"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B4412C"/>
                </a:solidFill>
                <a:latin typeface="Readex Pro"/>
                <a:ea typeface="Readex Pro"/>
                <a:cs typeface="Readex Pro"/>
              </a:rPr>
              <a:t>أخطاء شائعة</a:t>
            </a:r>
          </a:p>
        </p:txBody>
      </p:sp>
      <p:pic>
        <p:nvPicPr>
          <p:cNvPr id="21" name="Icon Warning 20" descr="icon027.png"/>
          <p:cNvPicPr>
            <a:picLocks noChangeAspect="1"/>
          </p:cNvPicPr>
          <p:nvPr/>
        </p:nvPicPr>
        <p:blipFill>
          <a:blip r:embed="rId3"/>
          <a:stretch>
            <a:fillRect/>
          </a:stretch>
        </p:blipFill>
        <p:spPr>
          <a:xfrm>
            <a:off x="5556250" y="2296120"/>
            <a:ext cx="241300" cy="241300"/>
          </a:xfrm>
          <a:prstGeom prst="rect">
            <a:avLst/>
          </a:prstGeom>
        </p:spPr>
      </p:pic>
      <p:sp>
        <p:nvSpPr>
          <p:cNvPr id="22" name="Text 21"/>
          <p:cNvSpPr txBox="1"/>
          <p:nvPr/>
        </p:nvSpPr>
        <p:spPr>
          <a:xfrm>
            <a:off x="838200" y="22567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وضع GRC مسؤولاً عن تعطيل الحسابات.</a:t>
            </a:r>
          </a:p>
        </p:txBody>
      </p:sp>
      <p:pic>
        <p:nvPicPr>
          <p:cNvPr id="23" name="Icon Warning 22" descr="icon027.png"/>
          <p:cNvPicPr>
            <a:picLocks noChangeAspect="1"/>
          </p:cNvPicPr>
          <p:nvPr/>
        </p:nvPicPr>
        <p:blipFill>
          <a:blip r:embed="rId3"/>
          <a:stretch>
            <a:fillRect/>
          </a:stretch>
        </p:blipFill>
        <p:spPr>
          <a:xfrm>
            <a:off x="5556250" y="2740620"/>
            <a:ext cx="241300" cy="241300"/>
          </a:xfrm>
          <a:prstGeom prst="rect">
            <a:avLst/>
          </a:prstGeom>
        </p:spPr>
      </p:pic>
      <p:sp>
        <p:nvSpPr>
          <p:cNvPr id="24" name="Text 23"/>
          <p:cNvSpPr txBox="1"/>
          <p:nvPr/>
        </p:nvSpPr>
        <p:spPr>
          <a:xfrm>
            <a:off x="838200" y="2701250"/>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أكثر من A في النشاط الواحد، أو نشاط بلا A.</a:t>
            </a:r>
          </a:p>
        </p:txBody>
      </p:sp>
      <p:pic>
        <p:nvPicPr>
          <p:cNvPr id="25" name="Icon Warning 24" descr="icon027.png"/>
          <p:cNvPicPr>
            <a:picLocks noChangeAspect="1"/>
          </p:cNvPicPr>
          <p:nvPr/>
        </p:nvPicPr>
        <p:blipFill>
          <a:blip r:embed="rId3"/>
          <a:stretch>
            <a:fillRect/>
          </a:stretch>
        </p:blipFill>
        <p:spPr>
          <a:xfrm>
            <a:off x="5556250" y="3185120"/>
            <a:ext cx="241300" cy="241300"/>
          </a:xfrm>
          <a:prstGeom prst="rect">
            <a:avLst/>
          </a:prstGeom>
        </p:spPr>
      </p:pic>
      <p:sp>
        <p:nvSpPr>
          <p:cNvPr id="26" name="Text 25"/>
          <p:cNvSpPr txBox="1"/>
          <p:nvPr/>
        </p:nvSpPr>
        <p:spPr>
          <a:xfrm>
            <a:off x="889762" y="3145750"/>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بند غامض: «تُلغى الصلاحيات في الوقت المناسب».</a:t>
            </a:r>
          </a:p>
        </p:txBody>
      </p:sp>
      <p:pic>
        <p:nvPicPr>
          <p:cNvPr id="27" name="Icon Warning 26" descr="icon027.png"/>
          <p:cNvPicPr>
            <a:picLocks noChangeAspect="1"/>
          </p:cNvPicPr>
          <p:nvPr/>
        </p:nvPicPr>
        <p:blipFill>
          <a:blip r:embed="rId3"/>
          <a:stretch>
            <a:fillRect/>
          </a:stretch>
        </p:blipFill>
        <p:spPr>
          <a:xfrm>
            <a:off x="5556250" y="3985220"/>
            <a:ext cx="241300" cy="241300"/>
          </a:xfrm>
          <a:prstGeom prst="rect">
            <a:avLst/>
          </a:prstGeom>
        </p:spPr>
      </p:pic>
      <p:sp>
        <p:nvSpPr>
          <p:cNvPr id="28" name="Text 27"/>
          <p:cNvSpPr txBox="1"/>
          <p:nvPr/>
        </p:nvSpPr>
        <p:spPr>
          <a:xfrm>
            <a:off x="889762" y="3945850"/>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نسيان حسابات الوصول عن بعد ونظام الرواتب وتطبيق التتبع.</a:t>
            </a:r>
          </a:p>
        </p:txBody>
      </p:sp>
      <p:pic>
        <p:nvPicPr>
          <p:cNvPr id="29" name="Icon Warning 28" descr="icon027.png"/>
          <p:cNvPicPr>
            <a:picLocks noChangeAspect="1"/>
          </p:cNvPicPr>
          <p:nvPr/>
        </p:nvPicPr>
        <p:blipFill>
          <a:blip r:embed="rId3"/>
          <a:stretch>
            <a:fillRect/>
          </a:stretch>
        </p:blipFill>
        <p:spPr>
          <a:xfrm>
            <a:off x="5556250" y="4785320"/>
            <a:ext cx="241300" cy="241300"/>
          </a:xfrm>
          <a:prstGeom prst="rect">
            <a:avLst/>
          </a:prstGeom>
        </p:spPr>
      </p:pic>
      <p:sp>
        <p:nvSpPr>
          <p:cNvPr id="30" name="Text 29"/>
          <p:cNvSpPr txBox="1"/>
          <p:nvPr/>
        </p:nvSpPr>
        <p:spPr>
          <a:xfrm>
            <a:off x="889762" y="4745950"/>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نسخ نص الضابط كما هو دون تحديد من ومتى وما الدليل.</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الثاني</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المخاطر</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ما الذي قد يحدث، وما حجمه، وماذا نفعل حياله؟</a:t>
            </a:r>
          </a:p>
        </p:txBody>
      </p:sp>
      <p:sp>
        <p:nvSpPr>
          <p:cNvPr id="5" name="Text box 4"/>
          <p:cNvSpPr/>
          <p:nvPr/>
        </p:nvSpPr>
        <p:spPr>
          <a:xfrm>
            <a:off x="9823450" y="3952280"/>
            <a:ext cx="114935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ثلاثية الأمن</a:t>
            </a:r>
          </a:p>
        </p:txBody>
      </p:sp>
      <p:sp>
        <p:nvSpPr>
          <p:cNvPr id="6" name="Text box 5"/>
          <p:cNvSpPr/>
          <p:nvPr/>
        </p:nvSpPr>
        <p:spPr>
          <a:xfrm>
            <a:off x="7919541" y="3952280"/>
            <a:ext cx="181500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مصطلحات المخاطر</a:t>
            </a:r>
          </a:p>
        </p:txBody>
      </p:sp>
      <p:sp>
        <p:nvSpPr>
          <p:cNvPr id="7" name="Text box 6"/>
          <p:cNvSpPr/>
          <p:nvPr/>
        </p:nvSpPr>
        <p:spPr>
          <a:xfrm>
            <a:off x="6527105" y="3952280"/>
            <a:ext cx="1303536"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صياغة الخطر</a:t>
            </a:r>
          </a:p>
        </p:txBody>
      </p:sp>
      <p:sp>
        <p:nvSpPr>
          <p:cNvPr id="8" name="Text box 7"/>
          <p:cNvSpPr/>
          <p:nvPr/>
        </p:nvSpPr>
        <p:spPr>
          <a:xfrm>
            <a:off x="4064595" y="3952280"/>
            <a:ext cx="237361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الإطار الوطني لإدارة المخاطر</a:t>
            </a:r>
          </a:p>
        </p:txBody>
      </p:sp>
      <p:sp>
        <p:nvSpPr>
          <p:cNvPr id="9" name="Text box 8"/>
          <p:cNvSpPr/>
          <p:nvPr/>
        </p:nvSpPr>
        <p:spPr>
          <a:xfrm>
            <a:off x="2444353" y="3952280"/>
            <a:ext cx="153134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التقييم</a:t>
            </a:r>
          </a:p>
        </p:txBody>
      </p:sp>
      <p:sp>
        <p:nvSpPr>
          <p:cNvPr id="10" name="Text box 9"/>
          <p:cNvSpPr/>
          <p:nvPr/>
        </p:nvSpPr>
        <p:spPr>
          <a:xfrm>
            <a:off x="9299773" y="4442420"/>
            <a:ext cx="1673027"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المتأصل والمتبقي</a:t>
            </a:r>
          </a:p>
        </p:txBody>
      </p:sp>
      <p:sp>
        <p:nvSpPr>
          <p:cNvPr id="11" name="Text box 10"/>
          <p:cNvSpPr/>
          <p:nvPr/>
        </p:nvSpPr>
        <p:spPr>
          <a:xfrm>
            <a:off x="7572375" y="4442420"/>
            <a:ext cx="163849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المعالجة والشهية</a:t>
            </a:r>
          </a:p>
        </p:txBody>
      </p:sp>
      <p:sp>
        <p:nvSpPr>
          <p:cNvPr id="12" name="Text box 11"/>
          <p:cNvSpPr/>
          <p:nvPr/>
        </p:nvSpPr>
        <p:spPr>
          <a:xfrm>
            <a:off x="6529586" y="4442420"/>
            <a:ext cx="95388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الضوابط</a:t>
            </a:r>
          </a:p>
        </p:txBody>
      </p:sp>
      <p:sp>
        <p:nvSpPr>
          <p:cNvPr id="13" name="Text box 12"/>
          <p:cNvSpPr/>
          <p:nvPr/>
        </p:nvSpPr>
        <p:spPr>
          <a:xfrm>
            <a:off x="5033268" y="4442420"/>
            <a:ext cx="140741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سجل المخاطر</a:t>
            </a:r>
          </a:p>
        </p:txBody>
      </p:sp>
      <p:sp>
        <p:nvSpPr>
          <p:cNvPr id="14" name="Text box 13"/>
          <p:cNvSpPr/>
          <p:nvPr/>
        </p:nvSpPr>
        <p:spPr>
          <a:xfrm>
            <a:off x="3870424"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2</a:t>
            </a:r>
          </a:p>
        </p:txBody>
      </p:sp>
      <p:sp>
        <p:nvSpPr>
          <p:cNvPr id="15" name="Text 1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المخاطر</a:t>
            </a:r>
          </a:p>
        </p:txBody>
      </p:sp>
      <p:sp>
        <p:nvSpPr>
          <p:cNvPr id="16" name="Text 1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ثلاثية الأمن: ما الذي نحميه في المعلومات؟</a:t>
            </a:r>
          </a:p>
        </p:txBody>
      </p:sp>
      <p:sp>
        <p:nvSpPr>
          <p:cNvPr id="5" name="Box 4"/>
          <p:cNvSpPr/>
          <p:nvPr/>
        </p:nvSpPr>
        <p:spPr>
          <a:xfrm>
            <a:off x="7950200" y="1657945"/>
            <a:ext cx="3429000" cy="3433068"/>
          </a:xfrm>
          <a:prstGeom prst="roundRect">
            <a:avLst>
              <a:gd name="adj" fmla="val 3333"/>
            </a:avLst>
          </a:prstGeom>
          <a:solidFill>
            <a:srgbClr val="FFFDF8"/>
          </a:solidFill>
          <a:ln>
            <a:noFill/>
          </a:ln>
        </p:spPr>
        <p:txBody>
          <a:bodyPr rtlCol="0" anchor="ctr"/>
          <a:lstStyle/>
          <a:p>
            <a:pPr algn="ctr"/>
          </a:p>
        </p:txBody>
      </p:sp>
      <p:sp>
        <p:nvSpPr>
          <p:cNvPr id="6" name="Rule 5"/>
          <p:cNvSpPr/>
          <p:nvPr/>
        </p:nvSpPr>
        <p:spPr>
          <a:xfrm>
            <a:off x="7950200" y="1657945"/>
            <a:ext cx="3429000"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433068"/>
          </a:xfrm>
          <a:prstGeom prst="rect">
            <a:avLst/>
          </a:prstGeom>
          <a:solidFill>
            <a:srgbClr val="E1DBCD"/>
          </a:solidFill>
          <a:ln>
            <a:noFill/>
          </a:ln>
        </p:spPr>
        <p:txBody>
          <a:bodyPr rtlCol="0" anchor="ctr"/>
          <a:lstStyle/>
          <a:p>
            <a:pPr algn="ctr"/>
          </a:p>
        </p:txBody>
      </p:sp>
      <p:sp>
        <p:nvSpPr>
          <p:cNvPr id="8" name="Rule 7"/>
          <p:cNvSpPr/>
          <p:nvPr/>
        </p:nvSpPr>
        <p:spPr>
          <a:xfrm>
            <a:off x="7950200" y="5084663"/>
            <a:ext cx="3429000" cy="6350"/>
          </a:xfrm>
          <a:prstGeom prst="rect">
            <a:avLst/>
          </a:prstGeom>
          <a:solidFill>
            <a:srgbClr val="E1DBCD"/>
          </a:solidFill>
          <a:ln>
            <a:noFill/>
          </a:ln>
        </p:spPr>
        <p:txBody>
          <a:bodyPr rtlCol="0" anchor="ctr"/>
          <a:lstStyle/>
          <a:p>
            <a:pPr algn="ctr"/>
          </a:p>
        </p:txBody>
      </p:sp>
      <p:sp>
        <p:nvSpPr>
          <p:cNvPr id="9" name="Rule 8"/>
          <p:cNvSpPr/>
          <p:nvPr/>
        </p:nvSpPr>
        <p:spPr>
          <a:xfrm>
            <a:off x="7950200" y="1657945"/>
            <a:ext cx="6350" cy="3433068"/>
          </a:xfrm>
          <a:prstGeom prst="rect">
            <a:avLst/>
          </a:prstGeom>
          <a:solidFill>
            <a:srgbClr val="E1DBCD"/>
          </a:solidFill>
          <a:ln>
            <a:noFill/>
          </a:ln>
        </p:spPr>
        <p:txBody>
          <a:bodyPr rtlCol="0" anchor="ctr"/>
          <a:lstStyle/>
          <a:p>
            <a:pPr algn="ctr"/>
          </a:p>
        </p:txBody>
      </p:sp>
      <p:sp>
        <p:nvSpPr>
          <p:cNvPr id="10" name="Text 9"/>
          <p:cNvSpPr txBox="1"/>
          <p:nvPr/>
        </p:nvSpPr>
        <p:spPr>
          <a:xfrm>
            <a:off x="9964222" y="1860383"/>
            <a:ext cx="1230828"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0E7C6B"/>
                </a:solidFill>
                <a:latin typeface="Readex Pro"/>
                <a:ea typeface="Readex Pro"/>
                <a:cs typeface="Readex Pro"/>
              </a:rPr>
              <a:t>السرية</a:t>
            </a:r>
          </a:p>
        </p:txBody>
      </p:sp>
      <p:sp>
        <p:nvSpPr>
          <p:cNvPr id="11" name="Text 10"/>
          <p:cNvSpPr txBox="1"/>
          <p:nvPr/>
        </p:nvSpPr>
        <p:spPr>
          <a:xfrm>
            <a:off x="8519636" y="1918541"/>
            <a:ext cx="155761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Confidentiality</a:t>
            </a:r>
          </a:p>
        </p:txBody>
      </p:sp>
      <p:sp>
        <p:nvSpPr>
          <p:cNvPr id="12" name="Text 11"/>
          <p:cNvSpPr txBox="1"/>
          <p:nvPr/>
        </p:nvSpPr>
        <p:spPr>
          <a:xfrm>
            <a:off x="8042529" y="2332347"/>
            <a:ext cx="3152521"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لا يطّلع على المعلومة إلا المخوَّل.</a:t>
            </a:r>
          </a:p>
        </p:txBody>
      </p:sp>
      <p:sp>
        <p:nvSpPr>
          <p:cNvPr id="13" name="Text 12"/>
          <p:cNvSpPr txBox="1"/>
          <p:nvPr/>
        </p:nvSpPr>
        <p:spPr>
          <a:xfrm>
            <a:off x="8042529" y="3097982"/>
            <a:ext cx="3152521" cy="681236"/>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172433"/>
                </a:solidFill>
                <a:latin typeface="IBM Plex Sans Arabic"/>
                <a:ea typeface="IBM Plex Sans Arabic"/>
                <a:cs typeface="IBM Plex Sans Arabic"/>
              </a:rPr>
              <a:t>ما يهددها في رُفاد: تسرب ملف الرواتب.</a:t>
            </a:r>
          </a:p>
        </p:txBody>
      </p:sp>
      <p:sp>
        <p:nvSpPr>
          <p:cNvPr id="14" name="Text 13"/>
          <p:cNvSpPr txBox="1"/>
          <p:nvPr/>
        </p:nvSpPr>
        <p:spPr>
          <a:xfrm>
            <a:off x="7975600" y="3855418"/>
            <a:ext cx="3219450" cy="340618"/>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4E5A66"/>
                </a:solidFill>
                <a:latin typeface="IBM Plex Sans Arabic"/>
                <a:ea typeface="IBM Plex Sans Arabic"/>
                <a:cs typeface="IBM Plex Sans Arabic"/>
              </a:rPr>
              <a:t>ما يحميها: الصلاحيات والتشفير.</a:t>
            </a:r>
          </a:p>
        </p:txBody>
      </p:sp>
      <p:sp>
        <p:nvSpPr>
          <p:cNvPr id="15" name="Box 14"/>
          <p:cNvSpPr/>
          <p:nvPr/>
        </p:nvSpPr>
        <p:spPr>
          <a:xfrm>
            <a:off x="4381500" y="1657945"/>
            <a:ext cx="3429000" cy="3433068"/>
          </a:xfrm>
          <a:prstGeom prst="roundRect">
            <a:avLst>
              <a:gd name="adj" fmla="val 3333"/>
            </a:avLst>
          </a:prstGeom>
          <a:solidFill>
            <a:srgbClr val="FFFDF8"/>
          </a:solidFill>
          <a:ln>
            <a:noFill/>
          </a:ln>
        </p:spPr>
        <p:txBody>
          <a:bodyPr rtlCol="0" anchor="ctr"/>
          <a:lstStyle/>
          <a:p>
            <a:pPr algn="ctr"/>
          </a:p>
        </p:txBody>
      </p:sp>
      <p:sp>
        <p:nvSpPr>
          <p:cNvPr id="16" name="Rule 15"/>
          <p:cNvSpPr/>
          <p:nvPr/>
        </p:nvSpPr>
        <p:spPr>
          <a:xfrm>
            <a:off x="4381500" y="1657945"/>
            <a:ext cx="3429000" cy="50800"/>
          </a:xfrm>
          <a:prstGeom prst="rect">
            <a:avLst/>
          </a:prstGeom>
          <a:solidFill>
            <a:srgbClr val="24506B"/>
          </a:solidFill>
          <a:ln>
            <a:noFill/>
          </a:ln>
        </p:spPr>
        <p:txBody>
          <a:bodyPr rtlCol="0" anchor="ctr"/>
          <a:lstStyle/>
          <a:p>
            <a:pPr algn="ctr"/>
          </a:p>
        </p:txBody>
      </p:sp>
      <p:sp>
        <p:nvSpPr>
          <p:cNvPr id="17" name="Rule 16"/>
          <p:cNvSpPr/>
          <p:nvPr/>
        </p:nvSpPr>
        <p:spPr>
          <a:xfrm>
            <a:off x="7804150" y="1657945"/>
            <a:ext cx="6350" cy="3433068"/>
          </a:xfrm>
          <a:prstGeom prst="rect">
            <a:avLst/>
          </a:prstGeom>
          <a:solidFill>
            <a:srgbClr val="E1DBCD"/>
          </a:solidFill>
          <a:ln>
            <a:noFill/>
          </a:ln>
        </p:spPr>
        <p:txBody>
          <a:bodyPr rtlCol="0" anchor="ctr"/>
          <a:lstStyle/>
          <a:p>
            <a:pPr algn="ctr"/>
          </a:p>
        </p:txBody>
      </p:sp>
      <p:sp>
        <p:nvSpPr>
          <p:cNvPr id="18" name="Rule 17"/>
          <p:cNvSpPr/>
          <p:nvPr/>
        </p:nvSpPr>
        <p:spPr>
          <a:xfrm>
            <a:off x="4381500" y="5084663"/>
            <a:ext cx="3429000" cy="6350"/>
          </a:xfrm>
          <a:prstGeom prst="rect">
            <a:avLst/>
          </a:prstGeom>
          <a:solidFill>
            <a:srgbClr val="E1DBCD"/>
          </a:solidFill>
          <a:ln>
            <a:noFill/>
          </a:ln>
        </p:spPr>
        <p:txBody>
          <a:bodyPr rtlCol="0" anchor="ctr"/>
          <a:lstStyle/>
          <a:p>
            <a:pPr algn="ctr"/>
          </a:p>
        </p:txBody>
      </p:sp>
      <p:sp>
        <p:nvSpPr>
          <p:cNvPr id="19" name="Rule 18"/>
          <p:cNvSpPr/>
          <p:nvPr/>
        </p:nvSpPr>
        <p:spPr>
          <a:xfrm>
            <a:off x="4381500" y="1657945"/>
            <a:ext cx="6350" cy="3433068"/>
          </a:xfrm>
          <a:prstGeom prst="rect">
            <a:avLst/>
          </a:prstGeom>
          <a:solidFill>
            <a:srgbClr val="E1DBCD"/>
          </a:solidFill>
          <a:ln>
            <a:noFill/>
          </a:ln>
        </p:spPr>
        <p:txBody>
          <a:bodyPr rtlCol="0" anchor="ctr"/>
          <a:lstStyle/>
          <a:p>
            <a:pPr algn="ctr"/>
          </a:p>
        </p:txBody>
      </p:sp>
      <p:sp>
        <p:nvSpPr>
          <p:cNvPr id="20" name="Text 19"/>
          <p:cNvSpPr txBox="1"/>
          <p:nvPr/>
        </p:nvSpPr>
        <p:spPr>
          <a:xfrm>
            <a:off x="6272689" y="1860383"/>
            <a:ext cx="1353661"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24506B"/>
                </a:solidFill>
                <a:latin typeface="Readex Pro"/>
                <a:ea typeface="Readex Pro"/>
                <a:cs typeface="Readex Pro"/>
              </a:rPr>
              <a:t>السلامة</a:t>
            </a:r>
          </a:p>
        </p:txBody>
      </p:sp>
      <p:sp>
        <p:nvSpPr>
          <p:cNvPr id="21" name="Text 20"/>
          <p:cNvSpPr txBox="1"/>
          <p:nvPr/>
        </p:nvSpPr>
        <p:spPr>
          <a:xfrm>
            <a:off x="5384324" y="1918541"/>
            <a:ext cx="100139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Integrity</a:t>
            </a:r>
          </a:p>
        </p:txBody>
      </p:sp>
      <p:sp>
        <p:nvSpPr>
          <p:cNvPr id="22" name="Text 21"/>
          <p:cNvSpPr txBox="1"/>
          <p:nvPr/>
        </p:nvSpPr>
        <p:spPr>
          <a:xfrm>
            <a:off x="4473829" y="2332347"/>
            <a:ext cx="3152521"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المعلومة صحيحة ولم تُغيَّر دون إذن.</a:t>
            </a:r>
          </a:p>
        </p:txBody>
      </p:sp>
      <p:sp>
        <p:nvSpPr>
          <p:cNvPr id="23" name="Text 22"/>
          <p:cNvSpPr txBox="1"/>
          <p:nvPr/>
        </p:nvSpPr>
        <p:spPr>
          <a:xfrm>
            <a:off x="4473829" y="3097982"/>
            <a:ext cx="3152521" cy="1021854"/>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172433"/>
                </a:solidFill>
                <a:latin typeface="IBM Plex Sans Arabic"/>
                <a:ea typeface="IBM Plex Sans Arabic"/>
                <a:cs typeface="IBM Plex Sans Arabic"/>
              </a:rPr>
              <a:t>ما يهددها في رُفاد: تغيير رقم الحساب البنكي لموظف في نظام الرواتب.</a:t>
            </a:r>
          </a:p>
        </p:txBody>
      </p:sp>
      <p:sp>
        <p:nvSpPr>
          <p:cNvPr id="24" name="Text 23"/>
          <p:cNvSpPr txBox="1"/>
          <p:nvPr/>
        </p:nvSpPr>
        <p:spPr>
          <a:xfrm>
            <a:off x="4473829" y="4196036"/>
            <a:ext cx="3152521" cy="681236"/>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4E5A66"/>
                </a:solidFill>
                <a:latin typeface="IBM Plex Sans Arabic"/>
                <a:ea typeface="IBM Plex Sans Arabic"/>
                <a:cs typeface="IBM Plex Sans Arabic"/>
              </a:rPr>
              <a:t>ما يحميها: فصل المهام وسجلات التغيير.</a:t>
            </a:r>
          </a:p>
        </p:txBody>
      </p:sp>
      <p:sp>
        <p:nvSpPr>
          <p:cNvPr id="25" name="Box 24"/>
          <p:cNvSpPr/>
          <p:nvPr/>
        </p:nvSpPr>
        <p:spPr>
          <a:xfrm>
            <a:off x="812800" y="1657945"/>
            <a:ext cx="3429000" cy="3433068"/>
          </a:xfrm>
          <a:prstGeom prst="roundRect">
            <a:avLst>
              <a:gd name="adj" fmla="val 3333"/>
            </a:avLst>
          </a:prstGeom>
          <a:solidFill>
            <a:srgbClr val="FFFDF8"/>
          </a:solidFill>
          <a:ln>
            <a:noFill/>
          </a:ln>
        </p:spPr>
        <p:txBody>
          <a:bodyPr rtlCol="0" anchor="ctr"/>
          <a:lstStyle/>
          <a:p>
            <a:pPr algn="ctr"/>
          </a:p>
        </p:txBody>
      </p:sp>
      <p:sp>
        <p:nvSpPr>
          <p:cNvPr id="26" name="Rule 25"/>
          <p:cNvSpPr/>
          <p:nvPr/>
        </p:nvSpPr>
        <p:spPr>
          <a:xfrm>
            <a:off x="812800" y="1657945"/>
            <a:ext cx="3429000" cy="50800"/>
          </a:xfrm>
          <a:prstGeom prst="rect">
            <a:avLst/>
          </a:prstGeom>
          <a:solidFill>
            <a:srgbClr val="8A4B12"/>
          </a:solidFill>
          <a:ln>
            <a:noFill/>
          </a:ln>
        </p:spPr>
        <p:txBody>
          <a:bodyPr rtlCol="0" anchor="ctr"/>
          <a:lstStyle/>
          <a:p>
            <a:pPr algn="ctr"/>
          </a:p>
        </p:txBody>
      </p:sp>
      <p:sp>
        <p:nvSpPr>
          <p:cNvPr id="27" name="Rule 26"/>
          <p:cNvSpPr/>
          <p:nvPr/>
        </p:nvSpPr>
        <p:spPr>
          <a:xfrm>
            <a:off x="4235450" y="1657945"/>
            <a:ext cx="6350" cy="3433068"/>
          </a:xfrm>
          <a:prstGeom prst="rect">
            <a:avLst/>
          </a:prstGeom>
          <a:solidFill>
            <a:srgbClr val="E1DBCD"/>
          </a:solidFill>
          <a:ln>
            <a:noFill/>
          </a:ln>
        </p:spPr>
        <p:txBody>
          <a:bodyPr rtlCol="0" anchor="ctr"/>
          <a:lstStyle/>
          <a:p>
            <a:pPr algn="ctr"/>
          </a:p>
        </p:txBody>
      </p:sp>
      <p:sp>
        <p:nvSpPr>
          <p:cNvPr id="28" name="Rule 27"/>
          <p:cNvSpPr/>
          <p:nvPr/>
        </p:nvSpPr>
        <p:spPr>
          <a:xfrm>
            <a:off x="812800" y="5084663"/>
            <a:ext cx="3429000" cy="6350"/>
          </a:xfrm>
          <a:prstGeom prst="rect">
            <a:avLst/>
          </a:prstGeom>
          <a:solidFill>
            <a:srgbClr val="E1DBCD"/>
          </a:solidFill>
          <a:ln>
            <a:noFill/>
          </a:ln>
        </p:spPr>
        <p:txBody>
          <a:bodyPr rtlCol="0" anchor="ctr"/>
          <a:lstStyle/>
          <a:p>
            <a:pPr algn="ctr"/>
          </a:p>
        </p:txBody>
      </p:sp>
      <p:sp>
        <p:nvSpPr>
          <p:cNvPr id="29" name="Rule 28"/>
          <p:cNvSpPr/>
          <p:nvPr/>
        </p:nvSpPr>
        <p:spPr>
          <a:xfrm>
            <a:off x="812800" y="1657945"/>
            <a:ext cx="6350" cy="3433068"/>
          </a:xfrm>
          <a:prstGeom prst="rect">
            <a:avLst/>
          </a:prstGeom>
          <a:solidFill>
            <a:srgbClr val="E1DBCD"/>
          </a:solidFill>
          <a:ln>
            <a:noFill/>
          </a:ln>
        </p:spPr>
        <p:txBody>
          <a:bodyPr rtlCol="0" anchor="ctr"/>
          <a:lstStyle/>
          <a:p>
            <a:pPr algn="ctr"/>
          </a:p>
        </p:txBody>
      </p:sp>
      <p:sp>
        <p:nvSpPr>
          <p:cNvPr id="30" name="Text 29"/>
          <p:cNvSpPr txBox="1"/>
          <p:nvPr/>
        </p:nvSpPr>
        <p:spPr>
          <a:xfrm>
            <a:off x="2853412" y="1860383"/>
            <a:ext cx="1204238"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8A4B12"/>
                </a:solidFill>
                <a:latin typeface="Readex Pro"/>
                <a:ea typeface="Readex Pro"/>
                <a:cs typeface="Readex Pro"/>
              </a:rPr>
              <a:t>التوافر</a:t>
            </a:r>
          </a:p>
        </p:txBody>
      </p:sp>
      <p:sp>
        <p:nvSpPr>
          <p:cNvPr id="31" name="Text 30"/>
          <p:cNvSpPr txBox="1"/>
          <p:nvPr/>
        </p:nvSpPr>
        <p:spPr>
          <a:xfrm>
            <a:off x="1788438" y="1918541"/>
            <a:ext cx="1178004"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Availability</a:t>
            </a:r>
          </a:p>
        </p:txBody>
      </p:sp>
      <p:sp>
        <p:nvSpPr>
          <p:cNvPr id="32" name="Text 31"/>
          <p:cNvSpPr txBox="1"/>
          <p:nvPr/>
        </p:nvSpPr>
        <p:spPr>
          <a:xfrm>
            <a:off x="838200" y="2332347"/>
            <a:ext cx="321945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172433"/>
                </a:solidFill>
                <a:latin typeface="IBM Plex Sans Arabic"/>
                <a:ea typeface="IBM Plex Sans Arabic"/>
                <a:cs typeface="IBM Plex Sans Arabic"/>
              </a:rPr>
              <a:t>الخدمة متاحة وقت الحاجة.</a:t>
            </a:r>
          </a:p>
        </p:txBody>
      </p:sp>
      <p:sp>
        <p:nvSpPr>
          <p:cNvPr id="33" name="Text 32"/>
          <p:cNvSpPr txBox="1"/>
          <p:nvPr/>
        </p:nvSpPr>
        <p:spPr>
          <a:xfrm>
            <a:off x="905129" y="2751312"/>
            <a:ext cx="3152521" cy="681236"/>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172433"/>
                </a:solidFill>
                <a:latin typeface="IBM Plex Sans Arabic"/>
                <a:ea typeface="IBM Plex Sans Arabic"/>
                <a:cs typeface="IBM Plex Sans Arabic"/>
              </a:rPr>
              <a:t>ما يهددها في رُفاد: توقف تطبيق التتبع يوم ذروة.</a:t>
            </a:r>
          </a:p>
        </p:txBody>
      </p:sp>
      <p:sp>
        <p:nvSpPr>
          <p:cNvPr id="34" name="Text 33"/>
          <p:cNvSpPr txBox="1"/>
          <p:nvPr/>
        </p:nvSpPr>
        <p:spPr>
          <a:xfrm>
            <a:off x="905129" y="3508748"/>
            <a:ext cx="3152521" cy="681236"/>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4E5A66"/>
                </a:solidFill>
                <a:latin typeface="IBM Plex Sans Arabic"/>
                <a:ea typeface="IBM Plex Sans Arabic"/>
                <a:cs typeface="IBM Plex Sans Arabic"/>
              </a:rPr>
              <a:t>ما يحميها: النسخ الاحتياطي وخطة التعافي.</a:t>
            </a:r>
          </a:p>
        </p:txBody>
      </p:sp>
      <p:sp>
        <p:nvSpPr>
          <p:cNvPr id="35" name="Box 34"/>
          <p:cNvSpPr/>
          <p:nvPr/>
        </p:nvSpPr>
        <p:spPr>
          <a:xfrm>
            <a:off x="812800" y="5281513"/>
            <a:ext cx="10566400" cy="600670"/>
          </a:xfrm>
          <a:prstGeom prst="roundRect">
            <a:avLst>
              <a:gd name="adj" fmla="val 16914"/>
            </a:avLst>
          </a:prstGeom>
          <a:solidFill>
            <a:srgbClr val="172433"/>
          </a:solidFill>
          <a:ln>
            <a:noFill/>
          </a:ln>
        </p:spPr>
        <p:txBody>
          <a:bodyPr rtlCol="0" anchor="ctr"/>
          <a:lstStyle/>
          <a:p>
            <a:pPr algn="ctr"/>
          </a:p>
        </p:txBody>
      </p:sp>
      <p:pic>
        <p:nvPicPr>
          <p:cNvPr id="36" name="Icon Lightbulb 35" descr="icon014.png"/>
          <p:cNvPicPr>
            <a:picLocks noChangeAspect="1"/>
          </p:cNvPicPr>
          <p:nvPr/>
        </p:nvPicPr>
        <p:blipFill>
          <a:blip r:embed="rId2"/>
          <a:stretch>
            <a:fillRect/>
          </a:stretch>
        </p:blipFill>
        <p:spPr>
          <a:xfrm>
            <a:off x="10947400" y="5454848"/>
            <a:ext cx="254000" cy="254000"/>
          </a:xfrm>
          <a:prstGeom prst="rect">
            <a:avLst/>
          </a:prstGeom>
        </p:spPr>
      </p:pic>
      <p:sp>
        <p:nvSpPr>
          <p:cNvPr id="37" name="Text 36"/>
          <p:cNvSpPr txBox="1"/>
          <p:nvPr/>
        </p:nvSpPr>
        <p:spPr>
          <a:xfrm>
            <a:off x="838200" y="5370128"/>
            <a:ext cx="99949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F3EFE6"/>
                </a:solidFill>
                <a:latin typeface="IBM Plex Sans Arabic"/>
                <a:ea typeface="IBM Plex Sans Arabic"/>
                <a:cs typeface="IBM Plex Sans Arabic"/>
              </a:rPr>
              <a:t>في كل خطر اسأل: أي الثلاثة يمس؟ الإجابة تحدد الضابط المناسب وحجم الأثر.</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مصطلحات للمخاطر، بمثال واحد</a:t>
            </a:r>
          </a:p>
        </p:txBody>
      </p:sp>
      <p:sp>
        <p:nvSpPr>
          <p:cNvPr id="5" name="Text 4"/>
          <p:cNvSpPr txBox="1"/>
          <p:nvPr/>
        </p:nvSpPr>
        <p:spPr>
          <a:xfrm>
            <a:off x="0" y="1570728"/>
            <a:ext cx="113792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المثال الذي سنحمله حتى نهاية الجزء: حاسوب أخصائي الرواتب في رُفاد، وعليه ملفات تصدير الرواتب.</a:t>
            </a:r>
          </a:p>
        </p:txBody>
      </p:sp>
      <p:sp>
        <p:nvSpPr>
          <p:cNvPr id="6" name="Box 5"/>
          <p:cNvSpPr/>
          <p:nvPr/>
        </p:nvSpPr>
        <p:spPr>
          <a:xfrm>
            <a:off x="7936409" y="2078930"/>
            <a:ext cx="3439616" cy="1358205"/>
          </a:xfrm>
          <a:prstGeom prst="roundRect">
            <a:avLst>
              <a:gd name="adj" fmla="val 8376"/>
            </a:avLst>
          </a:prstGeom>
          <a:solidFill>
            <a:srgbClr val="FFFDF8"/>
          </a:solidFill>
          <a:ln w="6350">
            <a:solidFill>
              <a:srgbClr val="E1DBCD"/>
            </a:solidFill>
          </a:ln>
        </p:spPr>
        <p:txBody>
          <a:bodyPr rtlCol="0" anchor="ctr"/>
          <a:lstStyle/>
          <a:p>
            <a:pPr algn="ctr"/>
          </a:p>
        </p:txBody>
      </p:sp>
      <p:sp>
        <p:nvSpPr>
          <p:cNvPr id="7" name="Text 6"/>
          <p:cNvSpPr txBox="1"/>
          <p:nvPr/>
        </p:nvSpPr>
        <p:spPr>
          <a:xfrm>
            <a:off x="7958634" y="2197421"/>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الأصل</a:t>
            </a:r>
          </a:p>
        </p:txBody>
      </p:sp>
      <p:sp>
        <p:nvSpPr>
          <p:cNvPr id="8" name="Text 7"/>
          <p:cNvSpPr txBox="1"/>
          <p:nvPr/>
        </p:nvSpPr>
        <p:spPr>
          <a:xfrm>
            <a:off x="7958634" y="2588613"/>
            <a:ext cx="3261816"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ما له قيمة للجهة.</a:t>
            </a:r>
          </a:p>
        </p:txBody>
      </p:sp>
      <p:sp>
        <p:nvSpPr>
          <p:cNvPr id="9" name="Text 8"/>
          <p:cNvSpPr txBox="1"/>
          <p:nvPr/>
        </p:nvSpPr>
        <p:spPr>
          <a:xfrm>
            <a:off x="7958634" y="2971276"/>
            <a:ext cx="3261816"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الحاسوب وملفات الرواتب.</a:t>
            </a:r>
          </a:p>
        </p:txBody>
      </p:sp>
      <p:sp>
        <p:nvSpPr>
          <p:cNvPr id="10" name="Box 9"/>
          <p:cNvSpPr/>
          <p:nvPr/>
        </p:nvSpPr>
        <p:spPr>
          <a:xfrm>
            <a:off x="4376142" y="2078930"/>
            <a:ext cx="3439616" cy="1358205"/>
          </a:xfrm>
          <a:prstGeom prst="roundRect">
            <a:avLst>
              <a:gd name="adj" fmla="val 837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4398367" y="2197421"/>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التهديد</a:t>
            </a:r>
          </a:p>
        </p:txBody>
      </p:sp>
      <p:sp>
        <p:nvSpPr>
          <p:cNvPr id="12" name="Text 11"/>
          <p:cNvSpPr txBox="1"/>
          <p:nvPr/>
        </p:nvSpPr>
        <p:spPr>
          <a:xfrm>
            <a:off x="4398367" y="2588613"/>
            <a:ext cx="3261816"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ما قد يسبب الضرر.</a:t>
            </a:r>
          </a:p>
        </p:txBody>
      </p:sp>
      <p:sp>
        <p:nvSpPr>
          <p:cNvPr id="13" name="Text 12"/>
          <p:cNvSpPr txBox="1"/>
          <p:nvPr/>
        </p:nvSpPr>
        <p:spPr>
          <a:xfrm>
            <a:off x="4398367" y="2971276"/>
            <a:ext cx="3261816"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سرقة الحاسوب من السيارة.</a:t>
            </a:r>
          </a:p>
        </p:txBody>
      </p:sp>
      <p:sp>
        <p:nvSpPr>
          <p:cNvPr id="14" name="Box 13"/>
          <p:cNvSpPr/>
          <p:nvPr/>
        </p:nvSpPr>
        <p:spPr>
          <a:xfrm>
            <a:off x="815876" y="2078930"/>
            <a:ext cx="3439616" cy="1358205"/>
          </a:xfrm>
          <a:prstGeom prst="roundRect">
            <a:avLst>
              <a:gd name="adj" fmla="val 8376"/>
            </a:avLst>
          </a:prstGeom>
          <a:solidFill>
            <a:srgbClr val="FFFDF8"/>
          </a:solidFill>
          <a:ln w="6350">
            <a:solidFill>
              <a:srgbClr val="E1DBCD"/>
            </a:solidFill>
          </a:ln>
        </p:spPr>
        <p:txBody>
          <a:bodyPr rtlCol="0" anchor="ctr"/>
          <a:lstStyle/>
          <a:p>
            <a:pPr algn="ctr"/>
          </a:p>
        </p:txBody>
      </p:sp>
      <p:sp>
        <p:nvSpPr>
          <p:cNvPr id="15" name="Text 14"/>
          <p:cNvSpPr txBox="1"/>
          <p:nvPr/>
        </p:nvSpPr>
        <p:spPr>
          <a:xfrm>
            <a:off x="838101" y="2197421"/>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الثغرة</a:t>
            </a:r>
          </a:p>
        </p:txBody>
      </p:sp>
      <p:sp>
        <p:nvSpPr>
          <p:cNvPr id="16" name="Text 15"/>
          <p:cNvSpPr txBox="1"/>
          <p:nvPr/>
        </p:nvSpPr>
        <p:spPr>
          <a:xfrm>
            <a:off x="838101" y="2588613"/>
            <a:ext cx="3261816"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ضعف يسهّل الضرر.</a:t>
            </a:r>
          </a:p>
        </p:txBody>
      </p:sp>
      <p:sp>
        <p:nvSpPr>
          <p:cNvPr id="17" name="Text 16"/>
          <p:cNvSpPr txBox="1"/>
          <p:nvPr/>
        </p:nvSpPr>
        <p:spPr>
          <a:xfrm>
            <a:off x="838101" y="2971276"/>
            <a:ext cx="3261816"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القرص غير مشفر.</a:t>
            </a:r>
          </a:p>
        </p:txBody>
      </p:sp>
      <p:sp>
        <p:nvSpPr>
          <p:cNvPr id="18" name="Box 17"/>
          <p:cNvSpPr/>
          <p:nvPr/>
        </p:nvSpPr>
        <p:spPr>
          <a:xfrm>
            <a:off x="7936409" y="3583186"/>
            <a:ext cx="3439616" cy="1989336"/>
          </a:xfrm>
          <a:prstGeom prst="roundRect">
            <a:avLst>
              <a:gd name="adj" fmla="val 5727"/>
            </a:avLst>
          </a:prstGeom>
          <a:solidFill>
            <a:srgbClr val="FFFDF8"/>
          </a:solidFill>
          <a:ln w="6350">
            <a:solidFill>
              <a:srgbClr val="E1DBCD"/>
            </a:solidFill>
          </a:ln>
        </p:spPr>
        <p:txBody>
          <a:bodyPr rtlCol="0" anchor="ctr"/>
          <a:lstStyle/>
          <a:p>
            <a:pPr algn="ctr"/>
          </a:p>
        </p:txBody>
      </p:sp>
      <p:sp>
        <p:nvSpPr>
          <p:cNvPr id="19" name="Text 18"/>
          <p:cNvSpPr txBox="1"/>
          <p:nvPr/>
        </p:nvSpPr>
        <p:spPr>
          <a:xfrm>
            <a:off x="7958634" y="3701677"/>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الاحتمال</a:t>
            </a:r>
          </a:p>
        </p:txBody>
      </p:sp>
      <p:sp>
        <p:nvSpPr>
          <p:cNvPr id="20" name="Text 19"/>
          <p:cNvSpPr txBox="1"/>
          <p:nvPr/>
        </p:nvSpPr>
        <p:spPr>
          <a:xfrm>
            <a:off x="7958634" y="4092869"/>
            <a:ext cx="3261816"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فرصة الحدوث خلال فترة.</a:t>
            </a:r>
          </a:p>
        </p:txBody>
      </p:sp>
      <p:sp>
        <p:nvSpPr>
          <p:cNvPr id="21" name="Text 20"/>
          <p:cNvSpPr txBox="1"/>
          <p:nvPr/>
        </p:nvSpPr>
        <p:spPr>
          <a:xfrm>
            <a:off x="7958634" y="4475532"/>
            <a:ext cx="3261816"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الموظف يتنقل بالحاسوب يومياً.</a:t>
            </a:r>
          </a:p>
        </p:txBody>
      </p:sp>
      <p:sp>
        <p:nvSpPr>
          <p:cNvPr id="22" name="Box 21"/>
          <p:cNvSpPr/>
          <p:nvPr/>
        </p:nvSpPr>
        <p:spPr>
          <a:xfrm>
            <a:off x="4376142" y="3583186"/>
            <a:ext cx="3439616" cy="1989336"/>
          </a:xfrm>
          <a:prstGeom prst="roundRect">
            <a:avLst>
              <a:gd name="adj" fmla="val 5727"/>
            </a:avLst>
          </a:prstGeom>
          <a:solidFill>
            <a:srgbClr val="FFFDF8"/>
          </a:solidFill>
          <a:ln w="6350">
            <a:solidFill>
              <a:srgbClr val="E1DBCD"/>
            </a:solidFill>
          </a:ln>
        </p:spPr>
        <p:txBody>
          <a:bodyPr rtlCol="0" anchor="ctr"/>
          <a:lstStyle/>
          <a:p>
            <a:pPr algn="ctr"/>
          </a:p>
        </p:txBody>
      </p:sp>
      <p:sp>
        <p:nvSpPr>
          <p:cNvPr id="23" name="Text 22"/>
          <p:cNvSpPr txBox="1"/>
          <p:nvPr/>
        </p:nvSpPr>
        <p:spPr>
          <a:xfrm>
            <a:off x="4398367" y="3701677"/>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الأثر</a:t>
            </a:r>
          </a:p>
        </p:txBody>
      </p:sp>
      <p:sp>
        <p:nvSpPr>
          <p:cNvPr id="24" name="Text 23"/>
          <p:cNvSpPr txBox="1"/>
          <p:nvPr/>
        </p:nvSpPr>
        <p:spPr>
          <a:xfrm>
            <a:off x="4398367" y="4092869"/>
            <a:ext cx="3261816"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حجم الضرر إن حدث.</a:t>
            </a:r>
          </a:p>
        </p:txBody>
      </p:sp>
      <p:sp>
        <p:nvSpPr>
          <p:cNvPr id="25" name="Text 24"/>
          <p:cNvSpPr txBox="1"/>
          <p:nvPr/>
        </p:nvSpPr>
        <p:spPr>
          <a:xfrm>
            <a:off x="4398367" y="4475532"/>
            <a:ext cx="3261816"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تسرب رواتب كل الموظفين.</a:t>
            </a:r>
          </a:p>
        </p:txBody>
      </p:sp>
      <p:sp>
        <p:nvSpPr>
          <p:cNvPr id="26" name="Box 25"/>
          <p:cNvSpPr/>
          <p:nvPr/>
        </p:nvSpPr>
        <p:spPr>
          <a:xfrm>
            <a:off x="815876" y="3583186"/>
            <a:ext cx="3439616" cy="1989336"/>
          </a:xfrm>
          <a:prstGeom prst="roundRect">
            <a:avLst>
              <a:gd name="adj" fmla="val 5727"/>
            </a:avLst>
          </a:prstGeom>
          <a:solidFill>
            <a:srgbClr val="FFFDF8"/>
          </a:solidFill>
          <a:ln w="6350">
            <a:solidFill>
              <a:srgbClr val="E1DBCD"/>
            </a:solidFill>
          </a:ln>
        </p:spPr>
        <p:txBody>
          <a:bodyPr rtlCol="0" anchor="ctr"/>
          <a:lstStyle/>
          <a:p>
            <a:pPr algn="ctr"/>
          </a:p>
        </p:txBody>
      </p:sp>
      <p:sp>
        <p:nvSpPr>
          <p:cNvPr id="27" name="Text 26"/>
          <p:cNvSpPr txBox="1"/>
          <p:nvPr/>
        </p:nvSpPr>
        <p:spPr>
          <a:xfrm>
            <a:off x="838101" y="3701677"/>
            <a:ext cx="3261816" cy="365125"/>
          </a:xfrm>
          <a:prstGeom prst="rect">
            <a:avLst/>
          </a:prstGeom>
          <a:noFill/>
        </p:spPr>
        <p:txBody>
          <a:bodyPr wrap="square" tIns="0" rIns="0" bIns="0" lIns="0" anchor="t" rtlCol="0" anchorCtr="0">
            <a:noAutofit/>
          </a:bodyPr>
          <a:lstStyle/>
          <a:p>
            <a:pPr algn="r" rtl="1">
              <a:lnSpc>
                <a:spcPts val="2875"/>
              </a:lnSpc>
              <a:spcBef>
                <a:spcPts val="0"/>
              </a:spcBef>
              <a:spcAft>
                <a:spcPts val="0"/>
              </a:spcAft>
            </a:pPr>
            <a:r>
              <a:rPr sz="2300" b="1" i="0">
                <a:solidFill>
                  <a:srgbClr val="0E7C6B"/>
                </a:solidFill>
                <a:latin typeface="Readex Pro"/>
                <a:ea typeface="Readex Pro"/>
                <a:cs typeface="Readex Pro"/>
              </a:rPr>
              <a:t>الخطر</a:t>
            </a:r>
          </a:p>
        </p:txBody>
      </p:sp>
      <p:sp>
        <p:nvSpPr>
          <p:cNvPr id="28" name="Text 27"/>
          <p:cNvSpPr txBox="1"/>
          <p:nvPr/>
        </p:nvSpPr>
        <p:spPr>
          <a:xfrm>
            <a:off x="877597" y="4092869"/>
            <a:ext cx="322232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تهديد يستغل ثغرة في أصل، باحتمال وأثر.</a:t>
            </a:r>
          </a:p>
        </p:txBody>
      </p:sp>
      <p:sp>
        <p:nvSpPr>
          <p:cNvPr id="29" name="Text 28"/>
          <p:cNvSpPr txBox="1"/>
          <p:nvPr/>
        </p:nvSpPr>
        <p:spPr>
          <a:xfrm>
            <a:off x="877597" y="4804442"/>
            <a:ext cx="3222320"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مثال: «تسرب الرواتب بسرقة حاسوب غير مشفر».</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نكتب الخطر: سبب، وحدث، وأثر</a:t>
            </a:r>
          </a:p>
        </p:txBody>
      </p:sp>
      <p:sp>
        <p:nvSpPr>
          <p:cNvPr id="6" name="Text box 5"/>
          <p:cNvSpPr/>
          <p:nvPr/>
        </p:nvSpPr>
        <p:spPr>
          <a:xfrm>
            <a:off x="9038927" y="1619845"/>
            <a:ext cx="2340273" cy="401241"/>
          </a:xfrm>
          <a:prstGeom prst="roundRect">
            <a:avLst>
              <a:gd name="adj" fmla="val 50000"/>
            </a:avLst>
          </a:prstGeom>
          <a:solidFill>
            <a:srgbClr val="E6EDF4"/>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بسبب… (الثغرة أو السبب)</a:t>
            </a:r>
          </a:p>
        </p:txBody>
      </p:sp>
      <p:sp>
        <p:nvSpPr>
          <p:cNvPr id="7" name="Text box 6"/>
          <p:cNvSpPr/>
          <p:nvPr/>
        </p:nvSpPr>
        <p:spPr>
          <a:xfrm>
            <a:off x="7556798" y="1619845"/>
            <a:ext cx="1393230" cy="401241"/>
          </a:xfrm>
          <a:prstGeom prst="roundRect">
            <a:avLst>
              <a:gd name="adj" fmla="val 50000"/>
            </a:avLst>
          </a:prstGeom>
          <a:solidFill>
            <a:srgbClr val="F6ECD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8A4B12"/>
                </a:solidFill>
                <a:latin typeface="IBM Plex Sans Arabic"/>
                <a:ea typeface="IBM Plex Sans Arabic"/>
                <a:cs typeface="IBM Plex Sans Arabic"/>
              </a:rPr>
              <a:t>قد… (الحدث)</a:t>
            </a:r>
          </a:p>
        </p:txBody>
      </p:sp>
      <p:sp>
        <p:nvSpPr>
          <p:cNvPr id="8" name="Text box 7"/>
          <p:cNvSpPr/>
          <p:nvPr/>
        </p:nvSpPr>
        <p:spPr>
          <a:xfrm>
            <a:off x="5558334" y="1619845"/>
            <a:ext cx="1909564" cy="401241"/>
          </a:xfrm>
          <a:prstGeom prst="roundRect">
            <a:avLst>
              <a:gd name="adj" fmla="val 50000"/>
            </a:avLst>
          </a:prstGeom>
          <a:solidFill>
            <a:srgbClr val="DCEFE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مما يؤدي إلى… (الأثر)</a:t>
            </a:r>
          </a:p>
        </p:txBody>
      </p:sp>
      <p:sp>
        <p:nvSpPr>
          <p:cNvPr id="9" name="Box 8"/>
          <p:cNvSpPr/>
          <p:nvPr/>
        </p:nvSpPr>
        <p:spPr>
          <a:xfrm>
            <a:off x="812800" y="2173486"/>
            <a:ext cx="10566400" cy="1295400"/>
          </a:xfrm>
          <a:prstGeom prst="roundRect">
            <a:avLst>
              <a:gd name="adj" fmla="val 6862"/>
            </a:avLst>
          </a:prstGeom>
          <a:solidFill>
            <a:srgbClr val="FFFFFF"/>
          </a:solidFill>
          <a:ln>
            <a:noFill/>
          </a:ln>
        </p:spPr>
        <p:txBody>
          <a:bodyPr rtlCol="0" anchor="ctr"/>
          <a:lstStyle/>
          <a:p>
            <a:pPr algn="ctr"/>
          </a:p>
        </p:txBody>
      </p:sp>
      <p:sp>
        <p:nvSpPr>
          <p:cNvPr id="10" name="Rule 9"/>
          <p:cNvSpPr/>
          <p:nvPr/>
        </p:nvSpPr>
        <p:spPr>
          <a:xfrm>
            <a:off x="812800" y="2173486"/>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11328400" y="2173486"/>
            <a:ext cx="50800" cy="1295400"/>
          </a:xfrm>
          <a:prstGeom prst="rect">
            <a:avLst/>
          </a:prstGeom>
          <a:solidFill>
            <a:srgbClr val="0E7C6B"/>
          </a:solidFill>
          <a:ln>
            <a:noFill/>
          </a:ln>
        </p:spPr>
        <p:txBody>
          <a:bodyPr rtlCol="0" anchor="ctr"/>
          <a:lstStyle/>
          <a:p>
            <a:pPr algn="ctr"/>
          </a:p>
        </p:txBody>
      </p:sp>
      <p:sp>
        <p:nvSpPr>
          <p:cNvPr id="12" name="Rule 11"/>
          <p:cNvSpPr/>
          <p:nvPr/>
        </p:nvSpPr>
        <p:spPr>
          <a:xfrm>
            <a:off x="812800" y="3462536"/>
            <a:ext cx="10566400" cy="6350"/>
          </a:xfrm>
          <a:prstGeom prst="rect">
            <a:avLst/>
          </a:prstGeom>
          <a:solidFill>
            <a:srgbClr val="E1DBCD"/>
          </a:solidFill>
          <a:ln>
            <a:noFill/>
          </a:ln>
        </p:spPr>
        <p:txBody>
          <a:bodyPr rtlCol="0" anchor="ctr"/>
          <a:lstStyle/>
          <a:p>
            <a:pPr algn="ctr"/>
          </a:p>
        </p:txBody>
      </p:sp>
      <p:sp>
        <p:nvSpPr>
          <p:cNvPr id="13" name="Rule 12"/>
          <p:cNvSpPr/>
          <p:nvPr/>
        </p:nvSpPr>
        <p:spPr>
          <a:xfrm>
            <a:off x="812800" y="2173486"/>
            <a:ext cx="6350" cy="1295400"/>
          </a:xfrm>
          <a:prstGeom prst="rect">
            <a:avLst/>
          </a:prstGeom>
          <a:solidFill>
            <a:srgbClr val="E1DBCD"/>
          </a:solidFill>
          <a:ln>
            <a:noFill/>
          </a:ln>
        </p:spPr>
        <p:txBody>
          <a:bodyPr rtlCol="0" anchor="ctr"/>
          <a:lstStyle/>
          <a:p>
            <a:pPr algn="ctr"/>
          </a:p>
        </p:txBody>
      </p:sp>
      <p:sp>
        <p:nvSpPr>
          <p:cNvPr id="14" name="Text 13"/>
          <p:cNvSpPr txBox="1"/>
          <p:nvPr/>
        </p:nvSpPr>
        <p:spPr>
          <a:xfrm>
            <a:off x="838200" y="2259973"/>
            <a:ext cx="10312400"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5" name="Box 14"/>
          <p:cNvSpPr/>
          <p:nvPr/>
        </p:nvSpPr>
        <p:spPr>
          <a:xfrm>
            <a:off x="6188075" y="3624461"/>
            <a:ext cx="5187950" cy="1410295"/>
          </a:xfrm>
          <a:prstGeom prst="roundRect">
            <a:avLst>
              <a:gd name="adj" fmla="val 8068"/>
            </a:avLst>
          </a:prstGeom>
          <a:solidFill>
            <a:srgbClr val="E3F1ED"/>
          </a:solidFill>
          <a:ln w="6350">
            <a:solidFill>
              <a:srgbClr val="9FD1C5"/>
            </a:solidFill>
          </a:ln>
        </p:spPr>
        <p:txBody>
          <a:bodyPr rtlCol="0" anchor="ctr"/>
          <a:lstStyle/>
          <a:p>
            <a:pPr algn="ctr"/>
          </a:p>
        </p:txBody>
      </p:sp>
      <p:sp>
        <p:nvSpPr>
          <p:cNvPr id="16" name="Text 15"/>
          <p:cNvSpPr txBox="1"/>
          <p:nvPr/>
        </p:nvSpPr>
        <p:spPr>
          <a:xfrm>
            <a:off x="6210300" y="3795784"/>
            <a:ext cx="4959350" cy="301625"/>
          </a:xfrm>
          <a:prstGeom prst="rect">
            <a:avLst/>
          </a:prstGeom>
          <a:noFill/>
        </p:spPr>
        <p:txBody>
          <a:bodyPr wrap="square" tIns="0" rIns="0" bIns="0" lIns="0" anchor="t" rtlCol="0" anchorCtr="0">
            <a:noAutofit/>
          </a:bodyPr>
          <a:lstStyle/>
          <a:p>
            <a:pPr algn="r" rtl="1">
              <a:lnSpc>
                <a:spcPts val="2375"/>
              </a:lnSpc>
              <a:spcBef>
                <a:spcPts val="0"/>
              </a:spcBef>
              <a:spcAft>
                <a:spcPts val="0"/>
              </a:spcAft>
            </a:pPr>
            <a:r>
              <a:rPr sz="1900" b="1" i="0">
                <a:solidFill>
                  <a:srgbClr val="0E7C6B"/>
                </a:solidFill>
                <a:latin typeface="Readex Pro"/>
                <a:ea typeface="Readex Pro"/>
                <a:cs typeface="Readex Pro"/>
              </a:rPr>
              <a:t>صياغة جيدة</a:t>
            </a:r>
          </a:p>
        </p:txBody>
      </p:sp>
      <p:pic>
        <p:nvPicPr>
          <p:cNvPr id="17" name="Icon CheckCircle 16" descr="icon028.png"/>
          <p:cNvPicPr>
            <a:picLocks noChangeAspect="1"/>
          </p:cNvPicPr>
          <p:nvPr/>
        </p:nvPicPr>
        <p:blipFill>
          <a:blip r:embed="rId2"/>
          <a:stretch>
            <a:fillRect/>
          </a:stretch>
        </p:blipFill>
        <p:spPr>
          <a:xfrm>
            <a:off x="10979150" y="4195961"/>
            <a:ext cx="190500" cy="190500"/>
          </a:xfrm>
          <a:prstGeom prst="rect">
            <a:avLst/>
          </a:prstGeom>
        </p:spPr>
      </p:pic>
      <p:sp>
        <p:nvSpPr>
          <p:cNvPr id="18" name="Text 17"/>
          <p:cNvSpPr txBox="1"/>
          <p:nvPr/>
        </p:nvSpPr>
        <p:spPr>
          <a:xfrm>
            <a:off x="6210300" y="4164465"/>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وحدث، وأثر في جملة واحدة.</a:t>
            </a:r>
          </a:p>
        </p:txBody>
      </p:sp>
      <p:pic>
        <p:nvPicPr>
          <p:cNvPr id="19" name="Icon CheckCircle 18" descr="icon028.png"/>
          <p:cNvPicPr>
            <a:picLocks noChangeAspect="1"/>
          </p:cNvPicPr>
          <p:nvPr/>
        </p:nvPicPr>
        <p:blipFill>
          <a:blip r:embed="rId2"/>
          <a:stretch>
            <a:fillRect/>
          </a:stretch>
        </p:blipFill>
        <p:spPr>
          <a:xfrm>
            <a:off x="10979150" y="4569321"/>
            <a:ext cx="190500" cy="190500"/>
          </a:xfrm>
          <a:prstGeom prst="rect">
            <a:avLst/>
          </a:prstGeom>
        </p:spPr>
      </p:pic>
      <p:sp>
        <p:nvSpPr>
          <p:cNvPr id="20" name="Text 19"/>
          <p:cNvSpPr txBox="1"/>
          <p:nvPr/>
        </p:nvSpPr>
        <p:spPr>
          <a:xfrm>
            <a:off x="6210300" y="4537825"/>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يفهمها مالك الخطر دون شرح.</a:t>
            </a:r>
          </a:p>
        </p:txBody>
      </p:sp>
      <p:sp>
        <p:nvSpPr>
          <p:cNvPr id="21" name="Box 20"/>
          <p:cNvSpPr/>
          <p:nvPr/>
        </p:nvSpPr>
        <p:spPr>
          <a:xfrm>
            <a:off x="815975" y="3624461"/>
            <a:ext cx="5187950" cy="1410295"/>
          </a:xfrm>
          <a:prstGeom prst="roundRect">
            <a:avLst>
              <a:gd name="adj" fmla="val 8068"/>
            </a:avLst>
          </a:prstGeom>
          <a:solidFill>
            <a:srgbClr val="FBEAE5"/>
          </a:solidFill>
          <a:ln w="6350">
            <a:solidFill>
              <a:srgbClr val="E7B8AC"/>
            </a:solidFill>
          </a:ln>
        </p:spPr>
        <p:txBody>
          <a:bodyPr rtlCol="0" anchor="ctr"/>
          <a:lstStyle/>
          <a:p>
            <a:pPr algn="ctr"/>
          </a:p>
        </p:txBody>
      </p:sp>
      <p:sp>
        <p:nvSpPr>
          <p:cNvPr id="22" name="Text 21"/>
          <p:cNvSpPr txBox="1"/>
          <p:nvPr/>
        </p:nvSpPr>
        <p:spPr>
          <a:xfrm>
            <a:off x="838200" y="3795784"/>
            <a:ext cx="4959350" cy="301625"/>
          </a:xfrm>
          <a:prstGeom prst="rect">
            <a:avLst/>
          </a:prstGeom>
          <a:noFill/>
        </p:spPr>
        <p:txBody>
          <a:bodyPr wrap="square" tIns="0" rIns="0" bIns="0" lIns="0" anchor="t" rtlCol="0" anchorCtr="0">
            <a:noAutofit/>
          </a:bodyPr>
          <a:lstStyle/>
          <a:p>
            <a:pPr algn="r" rtl="1">
              <a:lnSpc>
                <a:spcPts val="2375"/>
              </a:lnSpc>
              <a:spcBef>
                <a:spcPts val="0"/>
              </a:spcBef>
              <a:spcAft>
                <a:spcPts val="0"/>
              </a:spcAft>
            </a:pPr>
            <a:r>
              <a:rPr sz="1900" b="1" i="0">
                <a:solidFill>
                  <a:srgbClr val="B4412C"/>
                </a:solidFill>
                <a:latin typeface="Readex Pro"/>
                <a:ea typeface="Readex Pro"/>
                <a:cs typeface="Readex Pro"/>
              </a:rPr>
              <a:t>صياغة ضعيفة</a:t>
            </a:r>
          </a:p>
        </p:txBody>
      </p:sp>
      <p:pic>
        <p:nvPicPr>
          <p:cNvPr id="23" name="Icon Warning 22" descr="icon029.png"/>
          <p:cNvPicPr>
            <a:picLocks noChangeAspect="1"/>
          </p:cNvPicPr>
          <p:nvPr/>
        </p:nvPicPr>
        <p:blipFill>
          <a:blip r:embed="rId3"/>
          <a:stretch>
            <a:fillRect/>
          </a:stretch>
        </p:blipFill>
        <p:spPr>
          <a:xfrm>
            <a:off x="5607050" y="4195961"/>
            <a:ext cx="190500" cy="190500"/>
          </a:xfrm>
          <a:prstGeom prst="rect">
            <a:avLst/>
          </a:prstGeom>
        </p:spPr>
      </p:pic>
      <p:sp>
        <p:nvSpPr>
          <p:cNvPr id="24" name="Text 23"/>
          <p:cNvSpPr txBox="1"/>
          <p:nvPr/>
        </p:nvSpPr>
        <p:spPr>
          <a:xfrm>
            <a:off x="838200" y="4164465"/>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«لا يوجد تشفير». هذه ثغرة.</a:t>
            </a:r>
          </a:p>
        </p:txBody>
      </p:sp>
      <p:pic>
        <p:nvPicPr>
          <p:cNvPr id="25" name="Icon Warning 24" descr="icon029.png"/>
          <p:cNvPicPr>
            <a:picLocks noChangeAspect="1"/>
          </p:cNvPicPr>
          <p:nvPr/>
        </p:nvPicPr>
        <p:blipFill>
          <a:blip r:embed="rId3"/>
          <a:stretch>
            <a:fillRect/>
          </a:stretch>
        </p:blipFill>
        <p:spPr>
          <a:xfrm>
            <a:off x="5607050" y="4569321"/>
            <a:ext cx="190500" cy="190500"/>
          </a:xfrm>
          <a:prstGeom prst="rect">
            <a:avLst/>
          </a:prstGeom>
        </p:spPr>
      </p:pic>
      <p:sp>
        <p:nvSpPr>
          <p:cNvPr id="26" name="Text 25"/>
          <p:cNvSpPr txBox="1"/>
          <p:nvPr/>
        </p:nvSpPr>
        <p:spPr>
          <a:xfrm>
            <a:off x="838200" y="4537825"/>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«خطر أمني على الحاسوب». بلا حدث ولا أثر.</a:t>
            </a:r>
          </a:p>
        </p:txBody>
      </p:sp>
      <p:sp>
        <p:nvSpPr>
          <p:cNvPr id="27" name="Text 26"/>
          <p:cNvSpPr txBox="1"/>
          <p:nvPr/>
        </p:nvSpPr>
        <p:spPr>
          <a:xfrm>
            <a:off x="9205214" y="5158835"/>
            <a:ext cx="21739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من أين نكتشف المخاطر؟</a:t>
            </a:r>
          </a:p>
        </p:txBody>
      </p:sp>
      <p:sp>
        <p:nvSpPr>
          <p:cNvPr id="28" name="Text 27"/>
          <p:cNvSpPr txBox="1"/>
          <p:nvPr/>
        </p:nvSpPr>
        <p:spPr>
          <a:xfrm>
            <a:off x="137668" y="5158835"/>
            <a:ext cx="911428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الأصول، والحوادث السابقة، وتقارير الثغرات، والتدقيق، والتغييرات والمشاريع، والموردون.</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الإطار الوطني لإدارة مخاطر الأمن السيبراني</a:t>
            </a:r>
          </a:p>
        </p:txBody>
      </p:sp>
      <p:sp>
        <p:nvSpPr>
          <p:cNvPr id="5" name="Text 4"/>
          <p:cNvSpPr txBox="1"/>
          <p:nvPr/>
        </p:nvSpPr>
        <p:spPr>
          <a:xfrm>
            <a:off x="9458960" y="1596128"/>
            <a:ext cx="192024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5E6A75"/>
                </a:solidFill>
                <a:latin typeface="IBM Plex Sans Arabic"/>
                <a:ea typeface="IBM Plex Sans Arabic"/>
                <a:cs typeface="IBM Plex Sans Arabic"/>
              </a:rPr>
              <a:t>الاسم والإصدار</a:t>
            </a:r>
          </a:p>
        </p:txBody>
      </p:sp>
      <p:sp>
        <p:nvSpPr>
          <p:cNvPr id="6" name="Text 5"/>
          <p:cNvSpPr txBox="1"/>
          <p:nvPr/>
        </p:nvSpPr>
        <p:spPr>
          <a:xfrm>
            <a:off x="118872" y="1596128"/>
            <a:ext cx="9368028"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الإطار الوطني لإدارة مخاطر الأمن السيبراني ‎NFCRM-1:2025‎، صدر 23 يوليو 2025.</a:t>
            </a:r>
          </a:p>
        </p:txBody>
      </p:sp>
      <p:sp>
        <p:nvSpPr>
          <p:cNvPr id="7" name="Text 6"/>
          <p:cNvSpPr txBox="1"/>
          <p:nvPr/>
        </p:nvSpPr>
        <p:spPr>
          <a:xfrm>
            <a:off x="9458960" y="2013938"/>
            <a:ext cx="192024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5E6A75"/>
                </a:solidFill>
                <a:latin typeface="IBM Plex Sans Arabic"/>
                <a:ea typeface="IBM Plex Sans Arabic"/>
                <a:cs typeface="IBM Plex Sans Arabic"/>
              </a:rPr>
              <a:t>على من ينطبق</a:t>
            </a:r>
          </a:p>
        </p:txBody>
      </p:sp>
      <p:sp>
        <p:nvSpPr>
          <p:cNvPr id="8" name="Text 7"/>
          <p:cNvSpPr txBox="1"/>
          <p:nvPr/>
        </p:nvSpPr>
        <p:spPr>
          <a:xfrm>
            <a:off x="552577" y="2013938"/>
            <a:ext cx="8934323"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الجهات الحكومية وما يتبعها، وجهات القطاع الخاص التي تملك أو تشغل أو تستضيف بنية تحتية وطنية حساسة.</a:t>
            </a:r>
          </a:p>
        </p:txBody>
      </p:sp>
      <p:sp>
        <p:nvSpPr>
          <p:cNvPr id="9" name="Text 8"/>
          <p:cNvSpPr txBox="1"/>
          <p:nvPr/>
        </p:nvSpPr>
        <p:spPr>
          <a:xfrm>
            <a:off x="9458960" y="2760659"/>
            <a:ext cx="192024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5E6A75"/>
                </a:solidFill>
                <a:latin typeface="IBM Plex Sans Arabic"/>
                <a:ea typeface="IBM Plex Sans Arabic"/>
                <a:cs typeface="IBM Plex Sans Arabic"/>
              </a:rPr>
              <a:t>في رُفاد</a:t>
            </a:r>
          </a:p>
        </p:txBody>
      </p:sp>
      <p:sp>
        <p:nvSpPr>
          <p:cNvPr id="10" name="Text 9"/>
          <p:cNvSpPr txBox="1"/>
          <p:nvPr/>
        </p:nvSpPr>
        <p:spPr>
          <a:xfrm>
            <a:off x="118872" y="2760659"/>
            <a:ext cx="9368028"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غير ملزم لها. تبنت مصفوفته طوعاً في الحالة التدريبية.</a:t>
            </a:r>
          </a:p>
        </p:txBody>
      </p:sp>
      <p:sp>
        <p:nvSpPr>
          <p:cNvPr id="11" name="Box 10"/>
          <p:cNvSpPr/>
          <p:nvPr/>
        </p:nvSpPr>
        <p:spPr>
          <a:xfrm>
            <a:off x="9034760" y="3294261"/>
            <a:ext cx="2341265" cy="2407741"/>
          </a:xfrm>
          <a:prstGeom prst="roundRect">
            <a:avLst>
              <a:gd name="adj" fmla="val 4868"/>
            </a:avLst>
          </a:prstGeom>
          <a:solidFill>
            <a:srgbClr val="FFFDF8"/>
          </a:solidFill>
          <a:ln w="6350">
            <a:solidFill>
              <a:srgbClr val="E1DBCD"/>
            </a:solidFill>
          </a:ln>
        </p:spPr>
        <p:txBody>
          <a:bodyPr rtlCol="0" anchor="ctr"/>
          <a:lstStyle/>
          <a:p>
            <a:pPr algn="ctr"/>
          </a:p>
        </p:txBody>
      </p:sp>
      <p:sp>
        <p:nvSpPr>
          <p:cNvPr id="12" name="Text 11"/>
          <p:cNvSpPr txBox="1"/>
          <p:nvPr/>
        </p:nvSpPr>
        <p:spPr>
          <a:xfrm>
            <a:off x="9056985" y="3482221"/>
            <a:ext cx="215076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13" name="Text 12"/>
          <p:cNvSpPr txBox="1"/>
          <p:nvPr/>
        </p:nvSpPr>
        <p:spPr>
          <a:xfrm>
            <a:off x="9056985" y="387534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التحديد</a:t>
            </a:r>
          </a:p>
        </p:txBody>
      </p:sp>
      <p:sp>
        <p:nvSpPr>
          <p:cNvPr id="14" name="Text 13"/>
          <p:cNvSpPr txBox="1"/>
          <p:nvPr/>
        </p:nvSpPr>
        <p:spPr>
          <a:xfrm>
            <a:off x="9142894" y="4304082"/>
            <a:ext cx="2064856" cy="120888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الأصول، والثغرات، والتهديدات، والسيناريوهات، والضوابط الحالية.</a:t>
            </a:r>
          </a:p>
        </p:txBody>
      </p:sp>
      <p:sp>
        <p:nvSpPr>
          <p:cNvPr id="15" name="Text 14"/>
          <p:cNvSpPr txBox="1"/>
          <p:nvPr/>
        </p:nvSpPr>
        <p:spPr>
          <a:xfrm>
            <a:off x="8540512" y="4365177"/>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16" name="Box 15"/>
          <p:cNvSpPr/>
          <p:nvPr/>
        </p:nvSpPr>
        <p:spPr>
          <a:xfrm>
            <a:off x="6295132" y="3294261"/>
            <a:ext cx="2341265" cy="2407741"/>
          </a:xfrm>
          <a:prstGeom prst="roundRect">
            <a:avLst>
              <a:gd name="adj" fmla="val 4868"/>
            </a:avLst>
          </a:prstGeom>
          <a:solidFill>
            <a:srgbClr val="FFFDF8"/>
          </a:solidFill>
          <a:ln w="6350">
            <a:solidFill>
              <a:srgbClr val="E1DBCD"/>
            </a:solidFill>
          </a:ln>
        </p:spPr>
        <p:txBody>
          <a:bodyPr rtlCol="0" anchor="ctr"/>
          <a:lstStyle/>
          <a:p>
            <a:pPr algn="ctr"/>
          </a:p>
        </p:txBody>
      </p:sp>
      <p:sp>
        <p:nvSpPr>
          <p:cNvPr id="17" name="Text 16"/>
          <p:cNvSpPr txBox="1"/>
          <p:nvPr/>
        </p:nvSpPr>
        <p:spPr>
          <a:xfrm>
            <a:off x="6317357" y="3482221"/>
            <a:ext cx="215076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8" name="Text 17"/>
          <p:cNvSpPr txBox="1"/>
          <p:nvPr/>
        </p:nvSpPr>
        <p:spPr>
          <a:xfrm>
            <a:off x="6317357" y="387534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التقييم</a:t>
            </a:r>
          </a:p>
        </p:txBody>
      </p:sp>
      <p:sp>
        <p:nvSpPr>
          <p:cNvPr id="19" name="Text 18"/>
          <p:cNvSpPr txBox="1"/>
          <p:nvPr/>
        </p:nvSpPr>
        <p:spPr>
          <a:xfrm>
            <a:off x="6403266" y="4304082"/>
            <a:ext cx="2064856" cy="90666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الاحتمال والأثر بالمصفوفة، والتوثيق في السجل.</a:t>
            </a:r>
          </a:p>
        </p:txBody>
      </p:sp>
      <p:sp>
        <p:nvSpPr>
          <p:cNvPr id="20" name="Text 19"/>
          <p:cNvSpPr txBox="1"/>
          <p:nvPr/>
        </p:nvSpPr>
        <p:spPr>
          <a:xfrm>
            <a:off x="5800884" y="4365177"/>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21" name="Box 20"/>
          <p:cNvSpPr/>
          <p:nvPr/>
        </p:nvSpPr>
        <p:spPr>
          <a:xfrm>
            <a:off x="3555504" y="3294261"/>
            <a:ext cx="2341265" cy="2407741"/>
          </a:xfrm>
          <a:prstGeom prst="roundRect">
            <a:avLst>
              <a:gd name="adj" fmla="val 4868"/>
            </a:avLst>
          </a:prstGeom>
          <a:solidFill>
            <a:srgbClr val="FFFDF8"/>
          </a:solidFill>
          <a:ln w="6350">
            <a:solidFill>
              <a:srgbClr val="E1DBCD"/>
            </a:solidFill>
          </a:ln>
        </p:spPr>
        <p:txBody>
          <a:bodyPr rtlCol="0" anchor="ctr"/>
          <a:lstStyle/>
          <a:p>
            <a:pPr algn="ctr"/>
          </a:p>
        </p:txBody>
      </p:sp>
      <p:sp>
        <p:nvSpPr>
          <p:cNvPr id="22" name="Text 21"/>
          <p:cNvSpPr txBox="1"/>
          <p:nvPr/>
        </p:nvSpPr>
        <p:spPr>
          <a:xfrm>
            <a:off x="3577729" y="3482221"/>
            <a:ext cx="215076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23" name="Text 22"/>
          <p:cNvSpPr txBox="1"/>
          <p:nvPr/>
        </p:nvSpPr>
        <p:spPr>
          <a:xfrm>
            <a:off x="3577729" y="387534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المعالجة</a:t>
            </a:r>
          </a:p>
        </p:txBody>
      </p:sp>
      <p:sp>
        <p:nvSpPr>
          <p:cNvPr id="24" name="Text 23"/>
          <p:cNvSpPr txBox="1"/>
          <p:nvPr/>
        </p:nvSpPr>
        <p:spPr>
          <a:xfrm>
            <a:off x="3663637" y="4304082"/>
            <a:ext cx="2064856" cy="90666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قبول، أو مشاركة، أو تخفيف، أو تجنب، بخطط وأولويات.</a:t>
            </a:r>
          </a:p>
        </p:txBody>
      </p:sp>
      <p:sp>
        <p:nvSpPr>
          <p:cNvPr id="25" name="Text 24"/>
          <p:cNvSpPr txBox="1"/>
          <p:nvPr/>
        </p:nvSpPr>
        <p:spPr>
          <a:xfrm>
            <a:off x="3061256" y="4365177"/>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26" name="Box 25"/>
          <p:cNvSpPr/>
          <p:nvPr/>
        </p:nvSpPr>
        <p:spPr>
          <a:xfrm>
            <a:off x="815876" y="3294261"/>
            <a:ext cx="2341265" cy="2407741"/>
          </a:xfrm>
          <a:prstGeom prst="roundRect">
            <a:avLst>
              <a:gd name="adj" fmla="val 4868"/>
            </a:avLst>
          </a:prstGeom>
          <a:solidFill>
            <a:srgbClr val="FFFDF8"/>
          </a:solidFill>
          <a:ln w="6350">
            <a:solidFill>
              <a:srgbClr val="E1DBCD"/>
            </a:solidFill>
          </a:ln>
        </p:spPr>
        <p:txBody>
          <a:bodyPr rtlCol="0" anchor="ctr"/>
          <a:lstStyle/>
          <a:p>
            <a:pPr algn="ctr"/>
          </a:p>
        </p:txBody>
      </p:sp>
      <p:sp>
        <p:nvSpPr>
          <p:cNvPr id="27" name="Text 26"/>
          <p:cNvSpPr txBox="1"/>
          <p:nvPr/>
        </p:nvSpPr>
        <p:spPr>
          <a:xfrm>
            <a:off x="838101" y="3482221"/>
            <a:ext cx="215076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4</a:t>
            </a:r>
          </a:p>
        </p:txBody>
      </p:sp>
      <p:sp>
        <p:nvSpPr>
          <p:cNvPr id="28" name="Text 27"/>
          <p:cNvSpPr txBox="1"/>
          <p:nvPr/>
        </p:nvSpPr>
        <p:spPr>
          <a:xfrm>
            <a:off x="838101" y="387534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المتابعة</a:t>
            </a:r>
          </a:p>
        </p:txBody>
      </p:sp>
      <p:sp>
        <p:nvSpPr>
          <p:cNvPr id="29" name="Text 28"/>
          <p:cNvSpPr txBox="1"/>
          <p:nvPr/>
        </p:nvSpPr>
        <p:spPr>
          <a:xfrm>
            <a:off x="924009" y="4304082"/>
            <a:ext cx="2064856" cy="90666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تقارير، ومراقبة الخطط، وإعادة التقييم عند التغيير.</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الاحتمال في الإطار الوطني</a:t>
            </a:r>
          </a:p>
        </p:txBody>
      </p:sp>
      <p:graphicFrame>
        <p:nvGraphicFramePr>
          <p:cNvPr id="5" name="Table 4"/>
          <p:cNvGraphicFramePr>
            <a:graphicFrameLocks noGrp="1"/>
          </p:cNvGraphicFramePr>
          <p:nvPr/>
        </p:nvGraphicFramePr>
        <p:xfrm>
          <a:off x="815975" y="1661120"/>
          <a:ext cx="10560050" cy="3591121"/>
        </p:xfrm>
        <a:graphic>
          <a:graphicData uri="http://schemas.openxmlformats.org/drawingml/2006/table">
            <a:tbl>
              <a:tblPr firstRow="0" bandRow="0" lastRow="0" firstCol="0" lastCol="0" bandCol="0">
                <a:tableStyleId>{2D5ABB26-0587-4C30-8999-92F81FD0307C}</a:tableStyleId>
              </a:tblPr>
              <a:tblGrid>
                <a:gridCol w="4012565"/>
                <a:gridCol w="3696335"/>
                <a:gridCol w="1795145"/>
                <a:gridCol w="105600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أو: سهولة الاستغلال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الإطار الزمني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المستوى</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القيمة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91381">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يستغله مهاجم غير محترف بأداة جاهزة.</a:t>
                      </a:r>
                    </a:p>
                  </a:txBody>
                  <a:tcPr marT="109738" marR="156210" marB="72507" marL="45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يتكرر غالباً، عدة مرات في السنة.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شبه مؤكد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5</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يستغله مهاجم متقدم بأدوات خاصة.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يحدث غالباً مرة في السنة.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محتمل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4</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يستغله متقدم بشروط محددة فقط.</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قد يحدث مرة كل 2 إلى 3 سنوات.</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غير مرجح</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3</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غير قابل للاستغلال مباشرة الآن.</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مرة كل 3 إلى 10 سنوات.</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نادر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2</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لا يُعد قابلاً للاستغلال حالياً.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أقل من مرة كل 10 إلى 20 سنة.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نادر جداً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68"/>
                        </a:lnSpc>
                        <a:spcBef>
                          <a:spcPts val="0"/>
                        </a:spcBef>
                        <a:spcAft>
                          <a:spcPts val="0"/>
                        </a:spcAft>
                      </a:pPr>
                      <a:r>
                        <a:rPr sz="2050" b="1" i="0">
                          <a:solidFill>
                            <a:srgbClr val="0E7C6B"/>
                          </a:solidFill>
                          <a:latin typeface="IBM Plex Sans Arabic"/>
                          <a:ea typeface="IBM Plex Sans Arabic"/>
                          <a:cs typeface="IBM Plex Sans Arabic"/>
                        </a:rPr>
                        <a:t>1</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408517"/>
            <a:ext cx="113792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ملخص من الشكل 5 في ‎NFCRM-1:2025‎. يُختار المستوى بالإطار الزمني أو بسهولة الاستغلال.</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الأثر في الإطار الوطني</a:t>
            </a:r>
          </a:p>
        </p:txBody>
      </p:sp>
      <p:graphicFrame>
        <p:nvGraphicFramePr>
          <p:cNvPr id="5" name="Table 4"/>
          <p:cNvGraphicFramePr>
            <a:graphicFrameLocks noGrp="1"/>
          </p:cNvGraphicFramePr>
          <p:nvPr/>
        </p:nvGraphicFramePr>
        <p:xfrm>
          <a:off x="815975" y="1623020"/>
          <a:ext cx="10560050" cy="2849166"/>
        </p:xfrm>
        <a:graphic>
          <a:graphicData uri="http://schemas.openxmlformats.org/drawingml/2006/table">
            <a:tbl>
              <a:tblPr firstRow="0" bandRow="0" lastRow="0" firstCol="0" lastCol="0" bandCol="0">
                <a:tableStyleId>{2D5ABB26-0587-4C30-8999-92F81FD0307C}</a:tableStyleId>
              </a:tblPr>
              <a:tblGrid>
                <a:gridCol w="7392035"/>
                <a:gridCol w="2006600"/>
                <a:gridCol w="11614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الأثر عند المساس بالسرية أو السلامة أو التوافر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القيمة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لا تحتمله الجهة، أو أثر على المستوى الوطني.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ملموس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طفيف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أثر على الجهة، أو بيانات غير حساسة.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 جداً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4627761"/>
            <a:ext cx="10566400" cy="556220"/>
          </a:xfrm>
          <a:prstGeom prst="roundRect">
            <a:avLst>
              <a:gd name="adj" fmla="val 18266"/>
            </a:avLst>
          </a:prstGeom>
          <a:solidFill>
            <a:srgbClr val="E3F1ED"/>
          </a:solidFill>
          <a:ln>
            <a:noFill/>
          </a:ln>
        </p:spPr>
        <p:txBody>
          <a:bodyPr rtlCol="0" anchor="ctr"/>
          <a:lstStyle/>
          <a:p>
            <a:pPr algn="ctr"/>
          </a:p>
        </p:txBody>
      </p:sp>
      <p:pic>
        <p:nvPicPr>
          <p:cNvPr id="7" name="Icon Lightbulb 6" descr="icon013.png"/>
          <p:cNvPicPr>
            <a:picLocks noChangeAspect="1"/>
          </p:cNvPicPr>
          <p:nvPr/>
        </p:nvPicPr>
        <p:blipFill>
          <a:blip r:embed="rId2"/>
          <a:stretch>
            <a:fillRect/>
          </a:stretch>
        </p:blipFill>
        <p:spPr>
          <a:xfrm>
            <a:off x="10979150" y="4794746"/>
            <a:ext cx="222250" cy="222250"/>
          </a:xfrm>
          <a:prstGeom prst="rect">
            <a:avLst/>
          </a:prstGeom>
        </p:spPr>
      </p:pic>
      <p:sp>
        <p:nvSpPr>
          <p:cNvPr id="8" name="Text 7"/>
          <p:cNvSpPr txBox="1"/>
          <p:nvPr/>
        </p:nvSpPr>
        <p:spPr>
          <a:xfrm>
            <a:off x="838200" y="4721296"/>
            <a:ext cx="1002665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في رُفاد: تسرب رواتب وحسابات 200 موظف أثر كبير على الجهة، فهو «عالٍ» (4).</a:t>
            </a:r>
          </a:p>
        </p:txBody>
      </p:sp>
      <p:sp>
        <p:nvSpPr>
          <p:cNvPr id="9" name="Text 8"/>
          <p:cNvSpPr txBox="1"/>
          <p:nvPr/>
        </p:nvSpPr>
        <p:spPr>
          <a:xfrm>
            <a:off x="0" y="5306854"/>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ملخص من الشكل 4 في ‎NFCRM-1:2025‎، ويصف الإطار كل مستوى للسرية والسلامة والتوافر منفصلة.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المصفوفة: الاحتمال × الأثر</a:t>
            </a:r>
          </a:p>
        </p:txBody>
      </p:sp>
      <p:sp>
        <p:nvSpPr>
          <p:cNvPr id="6" name="Box 5"/>
          <p:cNvSpPr/>
          <p:nvPr/>
        </p:nvSpPr>
        <p:spPr>
          <a:xfrm>
            <a:off x="6911975" y="1597620"/>
            <a:ext cx="4464050" cy="2096591"/>
          </a:xfrm>
          <a:prstGeom prst="roundRect">
            <a:avLst>
              <a:gd name="adj" fmla="val 5435"/>
            </a:avLst>
          </a:prstGeom>
          <a:solidFill>
            <a:srgbClr val="FFFDF8"/>
          </a:solidFill>
          <a:ln w="6350">
            <a:solidFill>
              <a:srgbClr val="E1DBCD"/>
            </a:solidFill>
          </a:ln>
        </p:spPr>
        <p:txBody>
          <a:bodyPr rtlCol="0" anchor="ctr"/>
          <a:lstStyle/>
          <a:p>
            <a:pPr algn="ctr"/>
          </a:p>
        </p:txBody>
      </p:sp>
      <p:sp>
        <p:nvSpPr>
          <p:cNvPr id="7" name="Text 6"/>
          <p:cNvSpPr txBox="1"/>
          <p:nvPr/>
        </p:nvSpPr>
        <p:spPr>
          <a:xfrm>
            <a:off x="6934200" y="1743035"/>
            <a:ext cx="42608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مثال الحاسوب</a:t>
            </a:r>
          </a:p>
        </p:txBody>
      </p:sp>
      <p:sp>
        <p:nvSpPr>
          <p:cNvPr id="8" name="Text 7"/>
          <p:cNvSpPr txBox="1"/>
          <p:nvPr/>
        </p:nvSpPr>
        <p:spPr>
          <a:xfrm>
            <a:off x="6934200" y="2117685"/>
            <a:ext cx="4260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Readex Pro"/>
                <a:ea typeface="Readex Pro"/>
                <a:cs typeface="Readex Pro"/>
              </a:rPr>
              <a:t>الاحتمال 3 × الأثر 4 = 12</a:t>
            </a:r>
          </a:p>
        </p:txBody>
      </p:sp>
      <p:sp>
        <p:nvSpPr>
          <p:cNvPr id="9" name="Text 8"/>
          <p:cNvSpPr txBox="1"/>
          <p:nvPr/>
        </p:nvSpPr>
        <p:spPr>
          <a:xfrm>
            <a:off x="6934200" y="2539833"/>
            <a:ext cx="4260850" cy="313035"/>
          </a:xfrm>
          <a:prstGeom prst="rect">
            <a:avLst/>
          </a:prstGeom>
          <a:noFill/>
        </p:spPr>
        <p:txBody>
          <a:bodyPr wrap="square" tIns="0" rIns="0" bIns="0" lIns="0" anchor="t" rtlCol="0" anchorCtr="0">
            <a:noAutofit/>
          </a:bodyPr>
          <a:lstStyle/>
          <a:p>
            <a:pPr algn="r" rtl="1">
              <a:lnSpc>
                <a:spcPts val="2465"/>
              </a:lnSpc>
              <a:spcBef>
                <a:spcPts val="0"/>
              </a:spcBef>
              <a:spcAft>
                <a:spcPts val="0"/>
              </a:spcAft>
            </a:pPr>
            <a:r>
              <a:rPr sz="1700" b="0" i="0">
                <a:solidFill>
                  <a:srgbClr val="172433"/>
                </a:solidFill>
                <a:latin typeface="IBM Plex Sans Arabic"/>
                <a:ea typeface="IBM Plex Sans Arabic"/>
                <a:cs typeface="IBM Plex Sans Arabic"/>
              </a:rPr>
              <a:t>12 يقع بين 8 و14: «متوسط».</a:t>
            </a:r>
          </a:p>
        </p:txBody>
      </p:sp>
      <p:sp>
        <p:nvSpPr>
          <p:cNvPr id="10" name="Text 9"/>
          <p:cNvSpPr txBox="1"/>
          <p:nvPr/>
        </p:nvSpPr>
        <p:spPr>
          <a:xfrm>
            <a:off x="6969887" y="2932497"/>
            <a:ext cx="4225163" cy="570706"/>
          </a:xfrm>
          <a:prstGeom prst="rect">
            <a:avLst/>
          </a:prstGeom>
          <a:noFill/>
        </p:spPr>
        <p:txBody>
          <a:bodyPr wrap="square" tIns="0" rIns="0" bIns="0" lIns="0" anchor="t" rtlCol="0" anchorCtr="0">
            <a:noAutofit/>
          </a:bodyPr>
          <a:lstStyle/>
          <a:p>
            <a:pPr algn="r" rtl="1">
              <a:lnSpc>
                <a:spcPts val="2248"/>
              </a:lnSpc>
              <a:spcBef>
                <a:spcPts val="0"/>
              </a:spcBef>
              <a:spcAft>
                <a:spcPts val="0"/>
              </a:spcAft>
            </a:pPr>
            <a:r>
              <a:rPr sz="1550" b="0" i="0">
                <a:solidFill>
                  <a:srgbClr val="4E5A66"/>
                </a:solidFill>
                <a:latin typeface="IBM Plex Sans Arabic"/>
                <a:ea typeface="IBM Plex Sans Arabic"/>
                <a:cs typeface="IBM Plex Sans Arabic"/>
              </a:rPr>
              <a:t>حسب قاعدة رُفاد: خطة معالجة، أو قبول موثق من الرئيس التنفيذي.</a:t>
            </a:r>
          </a:p>
        </p:txBody>
      </p:sp>
      <p:sp>
        <p:nvSpPr>
          <p:cNvPr id="11" name="Box 10"/>
          <p:cNvSpPr/>
          <p:nvPr/>
        </p:nvSpPr>
        <p:spPr>
          <a:xfrm>
            <a:off x="10525720" y="3811687"/>
            <a:ext cx="853480" cy="675580"/>
          </a:xfrm>
          <a:prstGeom prst="roundRect">
            <a:avLst>
              <a:gd name="adj" fmla="val 9399"/>
            </a:avLst>
          </a:prstGeom>
          <a:solidFill>
            <a:srgbClr val="A61B1B"/>
          </a:solidFill>
          <a:ln>
            <a:noFill/>
          </a:ln>
        </p:spPr>
        <p:txBody>
          <a:bodyPr rtlCol="0" anchor="ctr"/>
          <a:lstStyle/>
          <a:p>
            <a:pPr algn="ctr"/>
          </a:p>
        </p:txBody>
      </p:sp>
      <p:sp>
        <p:nvSpPr>
          <p:cNvPr id="12" name="Text 11"/>
          <p:cNvSpPr txBox="1"/>
          <p:nvPr/>
        </p:nvSpPr>
        <p:spPr>
          <a:xfrm>
            <a:off x="10778550" y="3866805"/>
            <a:ext cx="3478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حرج</a:t>
            </a:r>
          </a:p>
        </p:txBody>
      </p:sp>
      <p:sp>
        <p:nvSpPr>
          <p:cNvPr id="13" name="Text 12"/>
          <p:cNvSpPr txBox="1"/>
          <p:nvPr/>
        </p:nvSpPr>
        <p:spPr>
          <a:xfrm>
            <a:off x="10679033" y="404966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20–25</a:t>
            </a:r>
          </a:p>
        </p:txBody>
      </p:sp>
      <p:sp>
        <p:nvSpPr>
          <p:cNvPr id="14" name="Box 13"/>
          <p:cNvSpPr/>
          <p:nvPr/>
        </p:nvSpPr>
        <p:spPr>
          <a:xfrm>
            <a:off x="9621441" y="3811687"/>
            <a:ext cx="853480" cy="675580"/>
          </a:xfrm>
          <a:prstGeom prst="roundRect">
            <a:avLst>
              <a:gd name="adj" fmla="val 9399"/>
            </a:avLst>
          </a:prstGeom>
          <a:solidFill>
            <a:srgbClr val="E0452B"/>
          </a:solidFill>
          <a:ln>
            <a:noFill/>
          </a:ln>
        </p:spPr>
        <p:txBody>
          <a:bodyPr rtlCol="0" anchor="ctr"/>
          <a:lstStyle/>
          <a:p>
            <a:pPr algn="ctr"/>
          </a:p>
        </p:txBody>
      </p:sp>
      <p:sp>
        <p:nvSpPr>
          <p:cNvPr id="15" name="Text 14"/>
          <p:cNvSpPr txBox="1"/>
          <p:nvPr/>
        </p:nvSpPr>
        <p:spPr>
          <a:xfrm>
            <a:off x="9885283" y="3866805"/>
            <a:ext cx="32569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عالٍ</a:t>
            </a:r>
          </a:p>
        </p:txBody>
      </p:sp>
      <p:sp>
        <p:nvSpPr>
          <p:cNvPr id="16" name="Text 15"/>
          <p:cNvSpPr txBox="1"/>
          <p:nvPr/>
        </p:nvSpPr>
        <p:spPr>
          <a:xfrm>
            <a:off x="9774753" y="404966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15–19</a:t>
            </a:r>
          </a:p>
        </p:txBody>
      </p:sp>
      <p:sp>
        <p:nvSpPr>
          <p:cNvPr id="17" name="Box 16"/>
          <p:cNvSpPr/>
          <p:nvPr/>
        </p:nvSpPr>
        <p:spPr>
          <a:xfrm>
            <a:off x="8717161" y="3811687"/>
            <a:ext cx="853480" cy="675580"/>
          </a:xfrm>
          <a:prstGeom prst="roundRect">
            <a:avLst>
              <a:gd name="adj" fmla="val 9399"/>
            </a:avLst>
          </a:prstGeom>
          <a:solidFill>
            <a:srgbClr val="F2B530"/>
          </a:solidFill>
          <a:ln>
            <a:noFill/>
          </a:ln>
        </p:spPr>
        <p:txBody>
          <a:bodyPr rtlCol="0" anchor="ctr"/>
          <a:lstStyle/>
          <a:p>
            <a:pPr algn="ctr"/>
          </a:p>
        </p:txBody>
      </p:sp>
      <p:sp>
        <p:nvSpPr>
          <p:cNvPr id="18" name="Text 17"/>
          <p:cNvSpPr txBox="1"/>
          <p:nvPr/>
        </p:nvSpPr>
        <p:spPr>
          <a:xfrm>
            <a:off x="8877618" y="3866805"/>
            <a:ext cx="532567"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متوسط</a:t>
            </a:r>
          </a:p>
        </p:txBody>
      </p:sp>
      <p:sp>
        <p:nvSpPr>
          <p:cNvPr id="19" name="Text 18"/>
          <p:cNvSpPr txBox="1"/>
          <p:nvPr/>
        </p:nvSpPr>
        <p:spPr>
          <a:xfrm>
            <a:off x="8916214" y="4049665"/>
            <a:ext cx="45537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8–14</a:t>
            </a:r>
          </a:p>
        </p:txBody>
      </p:sp>
      <p:sp>
        <p:nvSpPr>
          <p:cNvPr id="20" name="Box 19"/>
          <p:cNvSpPr/>
          <p:nvPr/>
        </p:nvSpPr>
        <p:spPr>
          <a:xfrm>
            <a:off x="7812881" y="3811687"/>
            <a:ext cx="853480" cy="675580"/>
          </a:xfrm>
          <a:prstGeom prst="roundRect">
            <a:avLst>
              <a:gd name="adj" fmla="val 9399"/>
            </a:avLst>
          </a:prstGeom>
          <a:solidFill>
            <a:srgbClr val="8CC765"/>
          </a:solidFill>
          <a:ln>
            <a:noFill/>
          </a:ln>
        </p:spPr>
        <p:txBody>
          <a:bodyPr rtlCol="0" anchor="ctr"/>
          <a:lstStyle/>
          <a:p>
            <a:pPr algn="ctr"/>
          </a:p>
        </p:txBody>
      </p:sp>
      <p:sp>
        <p:nvSpPr>
          <p:cNvPr id="21" name="Text 20"/>
          <p:cNvSpPr txBox="1"/>
          <p:nvPr/>
        </p:nvSpPr>
        <p:spPr>
          <a:xfrm>
            <a:off x="7939306" y="3866805"/>
            <a:ext cx="60053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منخفض</a:t>
            </a:r>
          </a:p>
        </p:txBody>
      </p:sp>
      <p:sp>
        <p:nvSpPr>
          <p:cNvPr id="22" name="Text 21"/>
          <p:cNvSpPr txBox="1"/>
          <p:nvPr/>
        </p:nvSpPr>
        <p:spPr>
          <a:xfrm>
            <a:off x="8057575" y="404966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3–7</a:t>
            </a:r>
          </a:p>
        </p:txBody>
      </p:sp>
      <p:sp>
        <p:nvSpPr>
          <p:cNvPr id="23" name="Box 22"/>
          <p:cNvSpPr/>
          <p:nvPr/>
        </p:nvSpPr>
        <p:spPr>
          <a:xfrm>
            <a:off x="6908602" y="3811687"/>
            <a:ext cx="853480" cy="675580"/>
          </a:xfrm>
          <a:prstGeom prst="roundRect">
            <a:avLst>
              <a:gd name="adj" fmla="val 9399"/>
            </a:avLst>
          </a:prstGeom>
          <a:solidFill>
            <a:srgbClr val="1E8E4E"/>
          </a:solidFill>
          <a:ln>
            <a:noFill/>
          </a:ln>
        </p:spPr>
        <p:txBody>
          <a:bodyPr rtlCol="0" anchor="ctr"/>
          <a:lstStyle/>
          <a:p>
            <a:pPr algn="ctr"/>
          </a:p>
        </p:txBody>
      </p:sp>
      <p:sp>
        <p:nvSpPr>
          <p:cNvPr id="24" name="Text 23"/>
          <p:cNvSpPr txBox="1"/>
          <p:nvPr/>
        </p:nvSpPr>
        <p:spPr>
          <a:xfrm>
            <a:off x="6965752" y="3866805"/>
            <a:ext cx="739180" cy="36572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منخفض جداً</a:t>
            </a:r>
          </a:p>
        </p:txBody>
      </p:sp>
      <p:sp>
        <p:nvSpPr>
          <p:cNvPr id="25" name="Text 24"/>
          <p:cNvSpPr txBox="1"/>
          <p:nvPr/>
        </p:nvSpPr>
        <p:spPr>
          <a:xfrm>
            <a:off x="7153295" y="423252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1–2</a:t>
            </a:r>
          </a:p>
        </p:txBody>
      </p:sp>
      <p:sp>
        <p:nvSpPr>
          <p:cNvPr id="26" name="Box 25"/>
          <p:cNvSpPr/>
          <p:nvPr/>
        </p:nvSpPr>
        <p:spPr>
          <a:xfrm>
            <a:off x="812800" y="1594445"/>
            <a:ext cx="1270000" cy="609600"/>
          </a:xfrm>
          <a:prstGeom prst="roundRect">
            <a:avLst>
              <a:gd name="adj" fmla="val 8333"/>
            </a:avLst>
          </a:prstGeom>
          <a:solidFill>
            <a:srgbClr val="E6E2D8"/>
          </a:solidFill>
          <a:ln>
            <a:noFill/>
          </a:ln>
        </p:spPr>
        <p:txBody>
          <a:bodyPr rtlCol="0" anchor="ctr"/>
          <a:lstStyle/>
          <a:p>
            <a:pPr algn="ctr"/>
          </a:p>
        </p:txBody>
      </p:sp>
      <p:sp>
        <p:nvSpPr>
          <p:cNvPr id="27" name="Text 26"/>
          <p:cNvSpPr txBox="1"/>
          <p:nvPr/>
        </p:nvSpPr>
        <p:spPr>
          <a:xfrm>
            <a:off x="1341080" y="170914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5</a:t>
            </a:r>
          </a:p>
        </p:txBody>
      </p:sp>
      <p:sp>
        <p:nvSpPr>
          <p:cNvPr id="28" name="Text 27"/>
          <p:cNvSpPr txBox="1"/>
          <p:nvPr/>
        </p:nvSpPr>
        <p:spPr>
          <a:xfrm>
            <a:off x="1130221" y="1897213"/>
            <a:ext cx="635060"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شبه مؤكد</a:t>
            </a:r>
          </a:p>
        </p:txBody>
      </p:sp>
      <p:sp>
        <p:nvSpPr>
          <p:cNvPr id="29" name="Box 28"/>
          <p:cNvSpPr/>
          <p:nvPr/>
        </p:nvSpPr>
        <p:spPr>
          <a:xfrm>
            <a:off x="2120900" y="1594445"/>
            <a:ext cx="889000" cy="609600"/>
          </a:xfrm>
          <a:prstGeom prst="roundRect">
            <a:avLst>
              <a:gd name="adj" fmla="val 8333"/>
            </a:avLst>
          </a:prstGeom>
          <a:solidFill>
            <a:srgbClr val="8CC765"/>
          </a:solidFill>
          <a:ln>
            <a:noFill/>
          </a:ln>
        </p:spPr>
        <p:txBody>
          <a:bodyPr rtlCol="0" anchor="ctr"/>
          <a:lstStyle/>
          <a:p>
            <a:pPr algn="ctr"/>
          </a:p>
        </p:txBody>
      </p:sp>
      <p:sp>
        <p:nvSpPr>
          <p:cNvPr id="30" name="Text 29"/>
          <p:cNvSpPr txBox="1"/>
          <p:nvPr/>
        </p:nvSpPr>
        <p:spPr>
          <a:xfrm>
            <a:off x="2451100" y="17059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5</a:t>
            </a:r>
          </a:p>
        </p:txBody>
      </p:sp>
      <p:sp>
        <p:nvSpPr>
          <p:cNvPr id="31" name="Text 30"/>
          <p:cNvSpPr txBox="1"/>
          <p:nvPr/>
        </p:nvSpPr>
        <p:spPr>
          <a:xfrm>
            <a:off x="2279372" y="19118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32" name="Box 31"/>
          <p:cNvSpPr/>
          <p:nvPr/>
        </p:nvSpPr>
        <p:spPr>
          <a:xfrm>
            <a:off x="3048000" y="1594445"/>
            <a:ext cx="889000" cy="609600"/>
          </a:xfrm>
          <a:prstGeom prst="roundRect">
            <a:avLst>
              <a:gd name="adj" fmla="val 8333"/>
            </a:avLst>
          </a:prstGeom>
          <a:solidFill>
            <a:srgbClr val="F2B530"/>
          </a:solidFill>
          <a:ln>
            <a:noFill/>
          </a:ln>
        </p:spPr>
        <p:txBody>
          <a:bodyPr rtlCol="0" anchor="ctr"/>
          <a:lstStyle/>
          <a:p>
            <a:pPr algn="ctr"/>
          </a:p>
        </p:txBody>
      </p:sp>
      <p:sp>
        <p:nvSpPr>
          <p:cNvPr id="33" name="Text 32"/>
          <p:cNvSpPr txBox="1"/>
          <p:nvPr/>
        </p:nvSpPr>
        <p:spPr>
          <a:xfrm>
            <a:off x="3321050" y="17059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10</a:t>
            </a:r>
          </a:p>
        </p:txBody>
      </p:sp>
      <p:sp>
        <p:nvSpPr>
          <p:cNvPr id="34" name="Text 33"/>
          <p:cNvSpPr txBox="1"/>
          <p:nvPr/>
        </p:nvSpPr>
        <p:spPr>
          <a:xfrm>
            <a:off x="3234948" y="19118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35" name="Box 34"/>
          <p:cNvSpPr/>
          <p:nvPr/>
        </p:nvSpPr>
        <p:spPr>
          <a:xfrm>
            <a:off x="3975100" y="1594445"/>
            <a:ext cx="889000" cy="609600"/>
          </a:xfrm>
          <a:prstGeom prst="roundRect">
            <a:avLst>
              <a:gd name="adj" fmla="val 8333"/>
            </a:avLst>
          </a:prstGeom>
          <a:solidFill>
            <a:srgbClr val="E0452B"/>
          </a:solidFill>
          <a:ln>
            <a:noFill/>
          </a:ln>
        </p:spPr>
        <p:txBody>
          <a:bodyPr rtlCol="0" anchor="ctr"/>
          <a:lstStyle/>
          <a:p>
            <a:pPr algn="ctr"/>
          </a:p>
        </p:txBody>
      </p:sp>
      <p:sp>
        <p:nvSpPr>
          <p:cNvPr id="36" name="Text 35"/>
          <p:cNvSpPr txBox="1"/>
          <p:nvPr/>
        </p:nvSpPr>
        <p:spPr>
          <a:xfrm>
            <a:off x="4248150" y="17059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15</a:t>
            </a:r>
          </a:p>
        </p:txBody>
      </p:sp>
      <p:sp>
        <p:nvSpPr>
          <p:cNvPr id="37" name="Text 36"/>
          <p:cNvSpPr txBox="1"/>
          <p:nvPr/>
        </p:nvSpPr>
        <p:spPr>
          <a:xfrm>
            <a:off x="4266823" y="1911838"/>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عالٍ</a:t>
            </a:r>
          </a:p>
        </p:txBody>
      </p:sp>
      <p:sp>
        <p:nvSpPr>
          <p:cNvPr id="38" name="Box 37"/>
          <p:cNvSpPr/>
          <p:nvPr/>
        </p:nvSpPr>
        <p:spPr>
          <a:xfrm>
            <a:off x="4902200" y="1594445"/>
            <a:ext cx="889000" cy="609600"/>
          </a:xfrm>
          <a:prstGeom prst="roundRect">
            <a:avLst>
              <a:gd name="adj" fmla="val 8333"/>
            </a:avLst>
          </a:prstGeom>
          <a:solidFill>
            <a:srgbClr val="A61B1B"/>
          </a:solidFill>
          <a:ln>
            <a:noFill/>
          </a:ln>
        </p:spPr>
        <p:txBody>
          <a:bodyPr rtlCol="0" anchor="ctr"/>
          <a:lstStyle/>
          <a:p>
            <a:pPr algn="ctr"/>
          </a:p>
        </p:txBody>
      </p:sp>
      <p:sp>
        <p:nvSpPr>
          <p:cNvPr id="39" name="Text 38"/>
          <p:cNvSpPr txBox="1"/>
          <p:nvPr/>
        </p:nvSpPr>
        <p:spPr>
          <a:xfrm>
            <a:off x="5175250" y="17059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20</a:t>
            </a:r>
          </a:p>
        </p:txBody>
      </p:sp>
      <p:sp>
        <p:nvSpPr>
          <p:cNvPr id="40" name="Text 39"/>
          <p:cNvSpPr txBox="1"/>
          <p:nvPr/>
        </p:nvSpPr>
        <p:spPr>
          <a:xfrm>
            <a:off x="5181025" y="1911838"/>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حرج</a:t>
            </a:r>
          </a:p>
        </p:txBody>
      </p:sp>
      <p:sp>
        <p:nvSpPr>
          <p:cNvPr id="41" name="Box 40"/>
          <p:cNvSpPr/>
          <p:nvPr/>
        </p:nvSpPr>
        <p:spPr>
          <a:xfrm>
            <a:off x="5829300" y="1594445"/>
            <a:ext cx="889000" cy="609600"/>
          </a:xfrm>
          <a:prstGeom prst="roundRect">
            <a:avLst>
              <a:gd name="adj" fmla="val 8333"/>
            </a:avLst>
          </a:prstGeom>
          <a:solidFill>
            <a:srgbClr val="A61B1B"/>
          </a:solidFill>
          <a:ln>
            <a:noFill/>
          </a:ln>
        </p:spPr>
        <p:txBody>
          <a:bodyPr rtlCol="0" anchor="ctr"/>
          <a:lstStyle/>
          <a:p>
            <a:pPr algn="ctr"/>
          </a:p>
        </p:txBody>
      </p:sp>
      <p:sp>
        <p:nvSpPr>
          <p:cNvPr id="42" name="Text 41"/>
          <p:cNvSpPr txBox="1"/>
          <p:nvPr/>
        </p:nvSpPr>
        <p:spPr>
          <a:xfrm>
            <a:off x="6102350" y="17059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25</a:t>
            </a:r>
          </a:p>
        </p:txBody>
      </p:sp>
      <p:sp>
        <p:nvSpPr>
          <p:cNvPr id="43" name="Text 42"/>
          <p:cNvSpPr txBox="1"/>
          <p:nvPr/>
        </p:nvSpPr>
        <p:spPr>
          <a:xfrm>
            <a:off x="6108125" y="1911838"/>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حرج</a:t>
            </a:r>
          </a:p>
        </p:txBody>
      </p:sp>
      <p:sp>
        <p:nvSpPr>
          <p:cNvPr id="44" name="Box 43"/>
          <p:cNvSpPr/>
          <p:nvPr/>
        </p:nvSpPr>
        <p:spPr>
          <a:xfrm>
            <a:off x="812800" y="2242145"/>
            <a:ext cx="1270000" cy="609600"/>
          </a:xfrm>
          <a:prstGeom prst="roundRect">
            <a:avLst>
              <a:gd name="adj" fmla="val 8333"/>
            </a:avLst>
          </a:prstGeom>
          <a:solidFill>
            <a:srgbClr val="E6E2D8"/>
          </a:solidFill>
          <a:ln>
            <a:noFill/>
          </a:ln>
        </p:spPr>
        <p:txBody>
          <a:bodyPr rtlCol="0" anchor="ctr"/>
          <a:lstStyle/>
          <a:p>
            <a:pPr algn="ctr"/>
          </a:p>
        </p:txBody>
      </p:sp>
      <p:sp>
        <p:nvSpPr>
          <p:cNvPr id="45" name="Text 44"/>
          <p:cNvSpPr txBox="1"/>
          <p:nvPr/>
        </p:nvSpPr>
        <p:spPr>
          <a:xfrm>
            <a:off x="1341080" y="235684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4</a:t>
            </a:r>
          </a:p>
        </p:txBody>
      </p:sp>
      <p:sp>
        <p:nvSpPr>
          <p:cNvPr id="46" name="Text 45"/>
          <p:cNvSpPr txBox="1"/>
          <p:nvPr/>
        </p:nvSpPr>
        <p:spPr>
          <a:xfrm>
            <a:off x="1197689" y="2544913"/>
            <a:ext cx="5002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محتمل</a:t>
            </a:r>
          </a:p>
        </p:txBody>
      </p:sp>
      <p:sp>
        <p:nvSpPr>
          <p:cNvPr id="47" name="Box 46"/>
          <p:cNvSpPr/>
          <p:nvPr/>
        </p:nvSpPr>
        <p:spPr>
          <a:xfrm>
            <a:off x="2120900" y="2242145"/>
            <a:ext cx="889000" cy="609600"/>
          </a:xfrm>
          <a:prstGeom prst="roundRect">
            <a:avLst>
              <a:gd name="adj" fmla="val 8333"/>
            </a:avLst>
          </a:prstGeom>
          <a:solidFill>
            <a:srgbClr val="8CC765"/>
          </a:solidFill>
          <a:ln>
            <a:noFill/>
          </a:ln>
        </p:spPr>
        <p:txBody>
          <a:bodyPr rtlCol="0" anchor="ctr"/>
          <a:lstStyle/>
          <a:p>
            <a:pPr algn="ctr"/>
          </a:p>
        </p:txBody>
      </p:sp>
      <p:sp>
        <p:nvSpPr>
          <p:cNvPr id="48" name="Text 47"/>
          <p:cNvSpPr txBox="1"/>
          <p:nvPr/>
        </p:nvSpPr>
        <p:spPr>
          <a:xfrm>
            <a:off x="2451100" y="23536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4</a:t>
            </a:r>
          </a:p>
        </p:txBody>
      </p:sp>
      <p:sp>
        <p:nvSpPr>
          <p:cNvPr id="49" name="Text 48"/>
          <p:cNvSpPr txBox="1"/>
          <p:nvPr/>
        </p:nvSpPr>
        <p:spPr>
          <a:xfrm>
            <a:off x="2279372" y="25595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50" name="Box 49"/>
          <p:cNvSpPr/>
          <p:nvPr/>
        </p:nvSpPr>
        <p:spPr>
          <a:xfrm>
            <a:off x="3048000" y="2242145"/>
            <a:ext cx="889000" cy="609600"/>
          </a:xfrm>
          <a:prstGeom prst="roundRect">
            <a:avLst>
              <a:gd name="adj" fmla="val 8333"/>
            </a:avLst>
          </a:prstGeom>
          <a:solidFill>
            <a:srgbClr val="F2B530"/>
          </a:solidFill>
          <a:ln>
            <a:noFill/>
          </a:ln>
        </p:spPr>
        <p:txBody>
          <a:bodyPr rtlCol="0" anchor="ctr"/>
          <a:lstStyle/>
          <a:p>
            <a:pPr algn="ctr"/>
          </a:p>
        </p:txBody>
      </p:sp>
      <p:sp>
        <p:nvSpPr>
          <p:cNvPr id="51" name="Text 50"/>
          <p:cNvSpPr txBox="1"/>
          <p:nvPr/>
        </p:nvSpPr>
        <p:spPr>
          <a:xfrm>
            <a:off x="3378200" y="23536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8</a:t>
            </a:r>
          </a:p>
        </p:txBody>
      </p:sp>
      <p:sp>
        <p:nvSpPr>
          <p:cNvPr id="52" name="Text 51"/>
          <p:cNvSpPr txBox="1"/>
          <p:nvPr/>
        </p:nvSpPr>
        <p:spPr>
          <a:xfrm>
            <a:off x="3234948" y="25595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53" name="Box 52"/>
          <p:cNvSpPr/>
          <p:nvPr/>
        </p:nvSpPr>
        <p:spPr>
          <a:xfrm>
            <a:off x="3975100" y="2242145"/>
            <a:ext cx="889000" cy="609600"/>
          </a:xfrm>
          <a:prstGeom prst="roundRect">
            <a:avLst>
              <a:gd name="adj" fmla="val 8333"/>
            </a:avLst>
          </a:prstGeom>
          <a:solidFill>
            <a:srgbClr val="F2B530"/>
          </a:solidFill>
          <a:ln>
            <a:noFill/>
          </a:ln>
        </p:spPr>
        <p:txBody>
          <a:bodyPr rtlCol="0" anchor="ctr"/>
          <a:lstStyle/>
          <a:p>
            <a:pPr algn="ctr"/>
          </a:p>
        </p:txBody>
      </p:sp>
      <p:sp>
        <p:nvSpPr>
          <p:cNvPr id="54" name="Text 53"/>
          <p:cNvSpPr txBox="1"/>
          <p:nvPr/>
        </p:nvSpPr>
        <p:spPr>
          <a:xfrm>
            <a:off x="4248150" y="23536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12</a:t>
            </a:r>
          </a:p>
        </p:txBody>
      </p:sp>
      <p:sp>
        <p:nvSpPr>
          <p:cNvPr id="55" name="Text 54"/>
          <p:cNvSpPr txBox="1"/>
          <p:nvPr/>
        </p:nvSpPr>
        <p:spPr>
          <a:xfrm>
            <a:off x="4162048" y="25595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56" name="Box 55"/>
          <p:cNvSpPr/>
          <p:nvPr/>
        </p:nvSpPr>
        <p:spPr>
          <a:xfrm>
            <a:off x="4902200" y="2242145"/>
            <a:ext cx="889000" cy="609600"/>
          </a:xfrm>
          <a:prstGeom prst="roundRect">
            <a:avLst>
              <a:gd name="adj" fmla="val 8333"/>
            </a:avLst>
          </a:prstGeom>
          <a:solidFill>
            <a:srgbClr val="E0452B"/>
          </a:solidFill>
          <a:ln>
            <a:noFill/>
          </a:ln>
        </p:spPr>
        <p:txBody>
          <a:bodyPr rtlCol="0" anchor="ctr"/>
          <a:lstStyle/>
          <a:p>
            <a:pPr algn="ctr"/>
          </a:p>
        </p:txBody>
      </p:sp>
      <p:sp>
        <p:nvSpPr>
          <p:cNvPr id="57" name="Text 56"/>
          <p:cNvSpPr txBox="1"/>
          <p:nvPr/>
        </p:nvSpPr>
        <p:spPr>
          <a:xfrm>
            <a:off x="5175250" y="23536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16</a:t>
            </a:r>
          </a:p>
        </p:txBody>
      </p:sp>
      <p:sp>
        <p:nvSpPr>
          <p:cNvPr id="58" name="Text 57"/>
          <p:cNvSpPr txBox="1"/>
          <p:nvPr/>
        </p:nvSpPr>
        <p:spPr>
          <a:xfrm>
            <a:off x="5193923" y="2559538"/>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عالٍ</a:t>
            </a:r>
          </a:p>
        </p:txBody>
      </p:sp>
      <p:sp>
        <p:nvSpPr>
          <p:cNvPr id="59" name="Box 58"/>
          <p:cNvSpPr/>
          <p:nvPr/>
        </p:nvSpPr>
        <p:spPr>
          <a:xfrm>
            <a:off x="5829300" y="2242145"/>
            <a:ext cx="889000" cy="609600"/>
          </a:xfrm>
          <a:prstGeom prst="roundRect">
            <a:avLst>
              <a:gd name="adj" fmla="val 8333"/>
            </a:avLst>
          </a:prstGeom>
          <a:solidFill>
            <a:srgbClr val="A61B1B"/>
          </a:solidFill>
          <a:ln>
            <a:noFill/>
          </a:ln>
        </p:spPr>
        <p:txBody>
          <a:bodyPr rtlCol="0" anchor="ctr"/>
          <a:lstStyle/>
          <a:p>
            <a:pPr algn="ctr"/>
          </a:p>
        </p:txBody>
      </p:sp>
      <p:sp>
        <p:nvSpPr>
          <p:cNvPr id="60" name="Text 59"/>
          <p:cNvSpPr txBox="1"/>
          <p:nvPr/>
        </p:nvSpPr>
        <p:spPr>
          <a:xfrm>
            <a:off x="6102350" y="23536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20</a:t>
            </a:r>
          </a:p>
        </p:txBody>
      </p:sp>
      <p:sp>
        <p:nvSpPr>
          <p:cNvPr id="61" name="Text 60"/>
          <p:cNvSpPr txBox="1"/>
          <p:nvPr/>
        </p:nvSpPr>
        <p:spPr>
          <a:xfrm>
            <a:off x="6108125" y="2559538"/>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حرج</a:t>
            </a:r>
          </a:p>
        </p:txBody>
      </p:sp>
      <p:sp>
        <p:nvSpPr>
          <p:cNvPr id="62" name="Box 61"/>
          <p:cNvSpPr/>
          <p:nvPr/>
        </p:nvSpPr>
        <p:spPr>
          <a:xfrm>
            <a:off x="812800" y="2889845"/>
            <a:ext cx="1270000" cy="609600"/>
          </a:xfrm>
          <a:prstGeom prst="roundRect">
            <a:avLst>
              <a:gd name="adj" fmla="val 8333"/>
            </a:avLst>
          </a:prstGeom>
          <a:solidFill>
            <a:srgbClr val="E6E2D8"/>
          </a:solidFill>
          <a:ln>
            <a:noFill/>
          </a:ln>
        </p:spPr>
        <p:txBody>
          <a:bodyPr rtlCol="0" anchor="ctr"/>
          <a:lstStyle/>
          <a:p>
            <a:pPr algn="ctr"/>
          </a:p>
        </p:txBody>
      </p:sp>
      <p:sp>
        <p:nvSpPr>
          <p:cNvPr id="63" name="Text 62"/>
          <p:cNvSpPr txBox="1"/>
          <p:nvPr/>
        </p:nvSpPr>
        <p:spPr>
          <a:xfrm>
            <a:off x="1341080" y="300454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3</a:t>
            </a:r>
          </a:p>
        </p:txBody>
      </p:sp>
      <p:sp>
        <p:nvSpPr>
          <p:cNvPr id="64" name="Text 63"/>
          <p:cNvSpPr txBox="1"/>
          <p:nvPr/>
        </p:nvSpPr>
        <p:spPr>
          <a:xfrm>
            <a:off x="1148477" y="3192613"/>
            <a:ext cx="59864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غير مرجح</a:t>
            </a:r>
          </a:p>
        </p:txBody>
      </p:sp>
      <p:sp>
        <p:nvSpPr>
          <p:cNvPr id="65" name="Box 64"/>
          <p:cNvSpPr/>
          <p:nvPr/>
        </p:nvSpPr>
        <p:spPr>
          <a:xfrm>
            <a:off x="2120900" y="2889845"/>
            <a:ext cx="889000" cy="609600"/>
          </a:xfrm>
          <a:prstGeom prst="roundRect">
            <a:avLst>
              <a:gd name="adj" fmla="val 8333"/>
            </a:avLst>
          </a:prstGeom>
          <a:solidFill>
            <a:srgbClr val="8CC765"/>
          </a:solidFill>
          <a:ln>
            <a:noFill/>
          </a:ln>
        </p:spPr>
        <p:txBody>
          <a:bodyPr rtlCol="0" anchor="ctr"/>
          <a:lstStyle/>
          <a:p>
            <a:pPr algn="ctr"/>
          </a:p>
        </p:txBody>
      </p:sp>
      <p:sp>
        <p:nvSpPr>
          <p:cNvPr id="66" name="Text 65"/>
          <p:cNvSpPr txBox="1"/>
          <p:nvPr/>
        </p:nvSpPr>
        <p:spPr>
          <a:xfrm>
            <a:off x="2451100" y="30013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3</a:t>
            </a:r>
          </a:p>
        </p:txBody>
      </p:sp>
      <p:sp>
        <p:nvSpPr>
          <p:cNvPr id="67" name="Text 66"/>
          <p:cNvSpPr txBox="1"/>
          <p:nvPr/>
        </p:nvSpPr>
        <p:spPr>
          <a:xfrm>
            <a:off x="2279372" y="32072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68" name="Box 67"/>
          <p:cNvSpPr/>
          <p:nvPr/>
        </p:nvSpPr>
        <p:spPr>
          <a:xfrm>
            <a:off x="3048000" y="2889845"/>
            <a:ext cx="889000" cy="609600"/>
          </a:xfrm>
          <a:prstGeom prst="roundRect">
            <a:avLst>
              <a:gd name="adj" fmla="val 8333"/>
            </a:avLst>
          </a:prstGeom>
          <a:solidFill>
            <a:srgbClr val="8CC765"/>
          </a:solidFill>
          <a:ln>
            <a:noFill/>
          </a:ln>
        </p:spPr>
        <p:txBody>
          <a:bodyPr rtlCol="0" anchor="ctr"/>
          <a:lstStyle/>
          <a:p>
            <a:pPr algn="ctr"/>
          </a:p>
        </p:txBody>
      </p:sp>
      <p:sp>
        <p:nvSpPr>
          <p:cNvPr id="69" name="Text 68"/>
          <p:cNvSpPr txBox="1"/>
          <p:nvPr/>
        </p:nvSpPr>
        <p:spPr>
          <a:xfrm>
            <a:off x="3378200" y="30013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6</a:t>
            </a:r>
          </a:p>
        </p:txBody>
      </p:sp>
      <p:sp>
        <p:nvSpPr>
          <p:cNvPr id="70" name="Text 69"/>
          <p:cNvSpPr txBox="1"/>
          <p:nvPr/>
        </p:nvSpPr>
        <p:spPr>
          <a:xfrm>
            <a:off x="3206472" y="32072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71" name="Box 70"/>
          <p:cNvSpPr/>
          <p:nvPr/>
        </p:nvSpPr>
        <p:spPr>
          <a:xfrm>
            <a:off x="3975100" y="2889845"/>
            <a:ext cx="889000" cy="609600"/>
          </a:xfrm>
          <a:prstGeom prst="roundRect">
            <a:avLst>
              <a:gd name="adj" fmla="val 8333"/>
            </a:avLst>
          </a:prstGeom>
          <a:solidFill>
            <a:srgbClr val="F2B530"/>
          </a:solidFill>
          <a:ln>
            <a:noFill/>
          </a:ln>
        </p:spPr>
        <p:txBody>
          <a:bodyPr rtlCol="0" anchor="ctr"/>
          <a:lstStyle/>
          <a:p>
            <a:pPr algn="ctr"/>
          </a:p>
        </p:txBody>
      </p:sp>
      <p:sp>
        <p:nvSpPr>
          <p:cNvPr id="72" name="Text 71"/>
          <p:cNvSpPr txBox="1"/>
          <p:nvPr/>
        </p:nvSpPr>
        <p:spPr>
          <a:xfrm>
            <a:off x="4305300" y="30013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9</a:t>
            </a:r>
          </a:p>
        </p:txBody>
      </p:sp>
      <p:sp>
        <p:nvSpPr>
          <p:cNvPr id="73" name="Text 72"/>
          <p:cNvSpPr txBox="1"/>
          <p:nvPr/>
        </p:nvSpPr>
        <p:spPr>
          <a:xfrm>
            <a:off x="4162048" y="32072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74" name="Box 73"/>
          <p:cNvSpPr/>
          <p:nvPr/>
        </p:nvSpPr>
        <p:spPr>
          <a:xfrm>
            <a:off x="4921250" y="2908895"/>
            <a:ext cx="850900" cy="571500"/>
          </a:xfrm>
          <a:prstGeom prst="roundRect">
            <a:avLst>
              <a:gd name="adj" fmla="val 8333"/>
            </a:avLst>
          </a:prstGeom>
          <a:solidFill>
            <a:srgbClr val="F2B530"/>
          </a:solidFill>
          <a:ln w="38100">
            <a:solidFill>
              <a:srgbClr val="172433"/>
            </a:solidFill>
          </a:ln>
        </p:spPr>
        <p:txBody>
          <a:bodyPr rtlCol="0" anchor="ctr"/>
          <a:lstStyle/>
          <a:p>
            <a:pPr algn="ctr"/>
          </a:p>
        </p:txBody>
      </p:sp>
      <p:sp>
        <p:nvSpPr>
          <p:cNvPr id="75" name="Text 74"/>
          <p:cNvSpPr txBox="1"/>
          <p:nvPr/>
        </p:nvSpPr>
        <p:spPr>
          <a:xfrm>
            <a:off x="5175250" y="30013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12</a:t>
            </a:r>
          </a:p>
        </p:txBody>
      </p:sp>
      <p:sp>
        <p:nvSpPr>
          <p:cNvPr id="76" name="Text 75"/>
          <p:cNvSpPr txBox="1"/>
          <p:nvPr/>
        </p:nvSpPr>
        <p:spPr>
          <a:xfrm>
            <a:off x="5089148" y="32072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77" name="Box 76"/>
          <p:cNvSpPr/>
          <p:nvPr/>
        </p:nvSpPr>
        <p:spPr>
          <a:xfrm>
            <a:off x="5829300" y="2889845"/>
            <a:ext cx="889000" cy="609600"/>
          </a:xfrm>
          <a:prstGeom prst="roundRect">
            <a:avLst>
              <a:gd name="adj" fmla="val 8333"/>
            </a:avLst>
          </a:prstGeom>
          <a:solidFill>
            <a:srgbClr val="E0452B"/>
          </a:solidFill>
          <a:ln>
            <a:noFill/>
          </a:ln>
        </p:spPr>
        <p:txBody>
          <a:bodyPr rtlCol="0" anchor="ctr"/>
          <a:lstStyle/>
          <a:p>
            <a:pPr algn="ctr"/>
          </a:p>
        </p:txBody>
      </p:sp>
      <p:sp>
        <p:nvSpPr>
          <p:cNvPr id="78" name="Text 77"/>
          <p:cNvSpPr txBox="1"/>
          <p:nvPr/>
        </p:nvSpPr>
        <p:spPr>
          <a:xfrm>
            <a:off x="6102350" y="30013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15</a:t>
            </a:r>
          </a:p>
        </p:txBody>
      </p:sp>
      <p:sp>
        <p:nvSpPr>
          <p:cNvPr id="79" name="Text 78"/>
          <p:cNvSpPr txBox="1"/>
          <p:nvPr/>
        </p:nvSpPr>
        <p:spPr>
          <a:xfrm>
            <a:off x="6121023" y="3207238"/>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عالٍ</a:t>
            </a:r>
          </a:p>
        </p:txBody>
      </p:sp>
      <p:sp>
        <p:nvSpPr>
          <p:cNvPr id="80" name="Box 79"/>
          <p:cNvSpPr/>
          <p:nvPr/>
        </p:nvSpPr>
        <p:spPr>
          <a:xfrm>
            <a:off x="812800" y="3537545"/>
            <a:ext cx="1270000" cy="609600"/>
          </a:xfrm>
          <a:prstGeom prst="roundRect">
            <a:avLst>
              <a:gd name="adj" fmla="val 8333"/>
            </a:avLst>
          </a:prstGeom>
          <a:solidFill>
            <a:srgbClr val="E6E2D8"/>
          </a:solidFill>
          <a:ln>
            <a:noFill/>
          </a:ln>
        </p:spPr>
        <p:txBody>
          <a:bodyPr rtlCol="0" anchor="ctr"/>
          <a:lstStyle/>
          <a:p>
            <a:pPr algn="ctr"/>
          </a:p>
        </p:txBody>
      </p:sp>
      <p:sp>
        <p:nvSpPr>
          <p:cNvPr id="81" name="Text 80"/>
          <p:cNvSpPr txBox="1"/>
          <p:nvPr/>
        </p:nvSpPr>
        <p:spPr>
          <a:xfrm>
            <a:off x="1341080" y="365224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2</a:t>
            </a:r>
          </a:p>
        </p:txBody>
      </p:sp>
      <p:sp>
        <p:nvSpPr>
          <p:cNvPr id="82" name="Text 81"/>
          <p:cNvSpPr txBox="1"/>
          <p:nvPr/>
        </p:nvSpPr>
        <p:spPr>
          <a:xfrm>
            <a:off x="1306334" y="3840313"/>
            <a:ext cx="28293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نادر</a:t>
            </a:r>
          </a:p>
        </p:txBody>
      </p:sp>
      <p:sp>
        <p:nvSpPr>
          <p:cNvPr id="83" name="Box 82"/>
          <p:cNvSpPr/>
          <p:nvPr/>
        </p:nvSpPr>
        <p:spPr>
          <a:xfrm>
            <a:off x="2120900" y="3537545"/>
            <a:ext cx="889000" cy="609600"/>
          </a:xfrm>
          <a:prstGeom prst="roundRect">
            <a:avLst>
              <a:gd name="adj" fmla="val 8333"/>
            </a:avLst>
          </a:prstGeom>
          <a:solidFill>
            <a:srgbClr val="1E8E4E"/>
          </a:solidFill>
          <a:ln>
            <a:noFill/>
          </a:ln>
        </p:spPr>
        <p:txBody>
          <a:bodyPr rtlCol="0" anchor="ctr"/>
          <a:lstStyle/>
          <a:p>
            <a:pPr algn="ctr"/>
          </a:p>
        </p:txBody>
      </p:sp>
      <p:sp>
        <p:nvSpPr>
          <p:cNvPr id="84" name="Text 83"/>
          <p:cNvSpPr txBox="1"/>
          <p:nvPr/>
        </p:nvSpPr>
        <p:spPr>
          <a:xfrm>
            <a:off x="2451100" y="36490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2</a:t>
            </a:r>
          </a:p>
        </p:txBody>
      </p:sp>
      <p:sp>
        <p:nvSpPr>
          <p:cNvPr id="85" name="Text 84"/>
          <p:cNvSpPr txBox="1"/>
          <p:nvPr/>
        </p:nvSpPr>
        <p:spPr>
          <a:xfrm>
            <a:off x="2155547" y="3854938"/>
            <a:ext cx="81960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منخفض جداً</a:t>
            </a:r>
          </a:p>
        </p:txBody>
      </p:sp>
      <p:sp>
        <p:nvSpPr>
          <p:cNvPr id="86" name="Box 85"/>
          <p:cNvSpPr/>
          <p:nvPr/>
        </p:nvSpPr>
        <p:spPr>
          <a:xfrm>
            <a:off x="3048000" y="3537545"/>
            <a:ext cx="889000" cy="609600"/>
          </a:xfrm>
          <a:prstGeom prst="roundRect">
            <a:avLst>
              <a:gd name="adj" fmla="val 8333"/>
            </a:avLst>
          </a:prstGeom>
          <a:solidFill>
            <a:srgbClr val="8CC765"/>
          </a:solidFill>
          <a:ln>
            <a:noFill/>
          </a:ln>
        </p:spPr>
        <p:txBody>
          <a:bodyPr rtlCol="0" anchor="ctr"/>
          <a:lstStyle/>
          <a:p>
            <a:pPr algn="ctr"/>
          </a:p>
        </p:txBody>
      </p:sp>
      <p:sp>
        <p:nvSpPr>
          <p:cNvPr id="87" name="Text 86"/>
          <p:cNvSpPr txBox="1"/>
          <p:nvPr/>
        </p:nvSpPr>
        <p:spPr>
          <a:xfrm>
            <a:off x="3378200" y="36490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4</a:t>
            </a:r>
          </a:p>
        </p:txBody>
      </p:sp>
      <p:sp>
        <p:nvSpPr>
          <p:cNvPr id="88" name="Text 87"/>
          <p:cNvSpPr txBox="1"/>
          <p:nvPr/>
        </p:nvSpPr>
        <p:spPr>
          <a:xfrm>
            <a:off x="3206472" y="38549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89" name="Box 88"/>
          <p:cNvSpPr/>
          <p:nvPr/>
        </p:nvSpPr>
        <p:spPr>
          <a:xfrm>
            <a:off x="3975100" y="3537545"/>
            <a:ext cx="889000" cy="609600"/>
          </a:xfrm>
          <a:prstGeom prst="roundRect">
            <a:avLst>
              <a:gd name="adj" fmla="val 8333"/>
            </a:avLst>
          </a:prstGeom>
          <a:solidFill>
            <a:srgbClr val="8CC765"/>
          </a:solidFill>
          <a:ln>
            <a:noFill/>
          </a:ln>
        </p:spPr>
        <p:txBody>
          <a:bodyPr rtlCol="0" anchor="ctr"/>
          <a:lstStyle/>
          <a:p>
            <a:pPr algn="ctr"/>
          </a:p>
        </p:txBody>
      </p:sp>
      <p:sp>
        <p:nvSpPr>
          <p:cNvPr id="90" name="Text 89"/>
          <p:cNvSpPr txBox="1"/>
          <p:nvPr/>
        </p:nvSpPr>
        <p:spPr>
          <a:xfrm>
            <a:off x="4305300" y="36490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6</a:t>
            </a:r>
          </a:p>
        </p:txBody>
      </p:sp>
      <p:sp>
        <p:nvSpPr>
          <p:cNvPr id="91" name="Text 90"/>
          <p:cNvSpPr txBox="1"/>
          <p:nvPr/>
        </p:nvSpPr>
        <p:spPr>
          <a:xfrm>
            <a:off x="4133572" y="38549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92" name="Box 91"/>
          <p:cNvSpPr/>
          <p:nvPr/>
        </p:nvSpPr>
        <p:spPr>
          <a:xfrm>
            <a:off x="4902200" y="3537545"/>
            <a:ext cx="889000" cy="609600"/>
          </a:xfrm>
          <a:prstGeom prst="roundRect">
            <a:avLst>
              <a:gd name="adj" fmla="val 8333"/>
            </a:avLst>
          </a:prstGeom>
          <a:solidFill>
            <a:srgbClr val="F2B530"/>
          </a:solidFill>
          <a:ln>
            <a:noFill/>
          </a:ln>
        </p:spPr>
        <p:txBody>
          <a:bodyPr rtlCol="0" anchor="ctr"/>
          <a:lstStyle/>
          <a:p>
            <a:pPr algn="ctr"/>
          </a:p>
        </p:txBody>
      </p:sp>
      <p:sp>
        <p:nvSpPr>
          <p:cNvPr id="93" name="Text 92"/>
          <p:cNvSpPr txBox="1"/>
          <p:nvPr/>
        </p:nvSpPr>
        <p:spPr>
          <a:xfrm>
            <a:off x="5232400" y="36490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8</a:t>
            </a:r>
          </a:p>
        </p:txBody>
      </p:sp>
      <p:sp>
        <p:nvSpPr>
          <p:cNvPr id="94" name="Text 93"/>
          <p:cNvSpPr txBox="1"/>
          <p:nvPr/>
        </p:nvSpPr>
        <p:spPr>
          <a:xfrm>
            <a:off x="5089148" y="38549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95" name="Box 94"/>
          <p:cNvSpPr/>
          <p:nvPr/>
        </p:nvSpPr>
        <p:spPr>
          <a:xfrm>
            <a:off x="5829300" y="3537545"/>
            <a:ext cx="889000" cy="609600"/>
          </a:xfrm>
          <a:prstGeom prst="roundRect">
            <a:avLst>
              <a:gd name="adj" fmla="val 8333"/>
            </a:avLst>
          </a:prstGeom>
          <a:solidFill>
            <a:srgbClr val="F2B530"/>
          </a:solidFill>
          <a:ln>
            <a:noFill/>
          </a:ln>
        </p:spPr>
        <p:txBody>
          <a:bodyPr rtlCol="0" anchor="ctr"/>
          <a:lstStyle/>
          <a:p>
            <a:pPr algn="ctr"/>
          </a:p>
        </p:txBody>
      </p:sp>
      <p:sp>
        <p:nvSpPr>
          <p:cNvPr id="96" name="Text 95"/>
          <p:cNvSpPr txBox="1"/>
          <p:nvPr/>
        </p:nvSpPr>
        <p:spPr>
          <a:xfrm>
            <a:off x="6102350" y="3649008"/>
            <a:ext cx="3429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10</a:t>
            </a:r>
          </a:p>
        </p:txBody>
      </p:sp>
      <p:sp>
        <p:nvSpPr>
          <p:cNvPr id="97" name="Text 96"/>
          <p:cNvSpPr txBox="1"/>
          <p:nvPr/>
        </p:nvSpPr>
        <p:spPr>
          <a:xfrm>
            <a:off x="6016248" y="3854938"/>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98" name="Box 97"/>
          <p:cNvSpPr/>
          <p:nvPr/>
        </p:nvSpPr>
        <p:spPr>
          <a:xfrm>
            <a:off x="812800" y="4185245"/>
            <a:ext cx="1270000" cy="609600"/>
          </a:xfrm>
          <a:prstGeom prst="roundRect">
            <a:avLst>
              <a:gd name="adj" fmla="val 8333"/>
            </a:avLst>
          </a:prstGeom>
          <a:solidFill>
            <a:srgbClr val="E6E2D8"/>
          </a:solidFill>
          <a:ln>
            <a:noFill/>
          </a:ln>
        </p:spPr>
        <p:txBody>
          <a:bodyPr rtlCol="0" anchor="ctr"/>
          <a:lstStyle/>
          <a:p>
            <a:pPr algn="ctr"/>
          </a:p>
        </p:txBody>
      </p:sp>
      <p:sp>
        <p:nvSpPr>
          <p:cNvPr id="99" name="Text 98"/>
          <p:cNvSpPr txBox="1"/>
          <p:nvPr/>
        </p:nvSpPr>
        <p:spPr>
          <a:xfrm>
            <a:off x="1341080" y="429994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a:t>
            </a:r>
          </a:p>
        </p:txBody>
      </p:sp>
      <p:sp>
        <p:nvSpPr>
          <p:cNvPr id="100" name="Text 99"/>
          <p:cNvSpPr txBox="1"/>
          <p:nvPr/>
        </p:nvSpPr>
        <p:spPr>
          <a:xfrm>
            <a:off x="1182509" y="4488013"/>
            <a:ext cx="53058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نادر جداً</a:t>
            </a:r>
          </a:p>
        </p:txBody>
      </p:sp>
      <p:sp>
        <p:nvSpPr>
          <p:cNvPr id="101" name="Box 100"/>
          <p:cNvSpPr/>
          <p:nvPr/>
        </p:nvSpPr>
        <p:spPr>
          <a:xfrm>
            <a:off x="2120900" y="4185245"/>
            <a:ext cx="889000" cy="609600"/>
          </a:xfrm>
          <a:prstGeom prst="roundRect">
            <a:avLst>
              <a:gd name="adj" fmla="val 8333"/>
            </a:avLst>
          </a:prstGeom>
          <a:solidFill>
            <a:srgbClr val="1E8E4E"/>
          </a:solidFill>
          <a:ln>
            <a:noFill/>
          </a:ln>
        </p:spPr>
        <p:txBody>
          <a:bodyPr rtlCol="0" anchor="ctr"/>
          <a:lstStyle/>
          <a:p>
            <a:pPr algn="ctr"/>
          </a:p>
        </p:txBody>
      </p:sp>
      <p:sp>
        <p:nvSpPr>
          <p:cNvPr id="102" name="Text 101"/>
          <p:cNvSpPr txBox="1"/>
          <p:nvPr/>
        </p:nvSpPr>
        <p:spPr>
          <a:xfrm>
            <a:off x="2451100" y="42967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1</a:t>
            </a:r>
          </a:p>
        </p:txBody>
      </p:sp>
      <p:sp>
        <p:nvSpPr>
          <p:cNvPr id="103" name="Text 102"/>
          <p:cNvSpPr txBox="1"/>
          <p:nvPr/>
        </p:nvSpPr>
        <p:spPr>
          <a:xfrm>
            <a:off x="2155547" y="4502638"/>
            <a:ext cx="81960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منخفض جداً</a:t>
            </a:r>
          </a:p>
        </p:txBody>
      </p:sp>
      <p:sp>
        <p:nvSpPr>
          <p:cNvPr id="104" name="Box 103"/>
          <p:cNvSpPr/>
          <p:nvPr/>
        </p:nvSpPr>
        <p:spPr>
          <a:xfrm>
            <a:off x="3048000" y="4185245"/>
            <a:ext cx="889000" cy="609600"/>
          </a:xfrm>
          <a:prstGeom prst="roundRect">
            <a:avLst>
              <a:gd name="adj" fmla="val 8333"/>
            </a:avLst>
          </a:prstGeom>
          <a:solidFill>
            <a:srgbClr val="1E8E4E"/>
          </a:solidFill>
          <a:ln>
            <a:noFill/>
          </a:ln>
        </p:spPr>
        <p:txBody>
          <a:bodyPr rtlCol="0" anchor="ctr"/>
          <a:lstStyle/>
          <a:p>
            <a:pPr algn="ctr"/>
          </a:p>
        </p:txBody>
      </p:sp>
      <p:sp>
        <p:nvSpPr>
          <p:cNvPr id="105" name="Text 104"/>
          <p:cNvSpPr txBox="1"/>
          <p:nvPr/>
        </p:nvSpPr>
        <p:spPr>
          <a:xfrm>
            <a:off x="3378200" y="42967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FFFFFF"/>
                </a:solidFill>
                <a:latin typeface="IBM Plex Sans Arabic"/>
                <a:ea typeface="IBM Plex Sans Arabic"/>
                <a:cs typeface="IBM Plex Sans Arabic"/>
              </a:rPr>
              <a:t>2</a:t>
            </a:r>
          </a:p>
        </p:txBody>
      </p:sp>
      <p:sp>
        <p:nvSpPr>
          <p:cNvPr id="106" name="Text 105"/>
          <p:cNvSpPr txBox="1"/>
          <p:nvPr/>
        </p:nvSpPr>
        <p:spPr>
          <a:xfrm>
            <a:off x="3082647" y="4502638"/>
            <a:ext cx="81960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FFFFFF"/>
                </a:solidFill>
                <a:latin typeface="IBM Plex Sans Arabic"/>
                <a:ea typeface="IBM Plex Sans Arabic"/>
                <a:cs typeface="IBM Plex Sans Arabic"/>
              </a:rPr>
              <a:t>منخفض جداً</a:t>
            </a:r>
          </a:p>
        </p:txBody>
      </p:sp>
      <p:sp>
        <p:nvSpPr>
          <p:cNvPr id="107" name="Box 106"/>
          <p:cNvSpPr/>
          <p:nvPr/>
        </p:nvSpPr>
        <p:spPr>
          <a:xfrm>
            <a:off x="3975100" y="4185245"/>
            <a:ext cx="889000" cy="609600"/>
          </a:xfrm>
          <a:prstGeom prst="roundRect">
            <a:avLst>
              <a:gd name="adj" fmla="val 8333"/>
            </a:avLst>
          </a:prstGeom>
          <a:solidFill>
            <a:srgbClr val="8CC765"/>
          </a:solidFill>
          <a:ln>
            <a:noFill/>
          </a:ln>
        </p:spPr>
        <p:txBody>
          <a:bodyPr rtlCol="0" anchor="ctr"/>
          <a:lstStyle/>
          <a:p>
            <a:pPr algn="ctr"/>
          </a:p>
        </p:txBody>
      </p:sp>
      <p:sp>
        <p:nvSpPr>
          <p:cNvPr id="108" name="Text 107"/>
          <p:cNvSpPr txBox="1"/>
          <p:nvPr/>
        </p:nvSpPr>
        <p:spPr>
          <a:xfrm>
            <a:off x="4305300" y="42967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3</a:t>
            </a:r>
          </a:p>
        </p:txBody>
      </p:sp>
      <p:sp>
        <p:nvSpPr>
          <p:cNvPr id="109" name="Text 108"/>
          <p:cNvSpPr txBox="1"/>
          <p:nvPr/>
        </p:nvSpPr>
        <p:spPr>
          <a:xfrm>
            <a:off x="4133572" y="45026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110" name="Box 109"/>
          <p:cNvSpPr/>
          <p:nvPr/>
        </p:nvSpPr>
        <p:spPr>
          <a:xfrm>
            <a:off x="4902200" y="4185245"/>
            <a:ext cx="889000" cy="609600"/>
          </a:xfrm>
          <a:prstGeom prst="roundRect">
            <a:avLst>
              <a:gd name="adj" fmla="val 8333"/>
            </a:avLst>
          </a:prstGeom>
          <a:solidFill>
            <a:srgbClr val="8CC765"/>
          </a:solidFill>
          <a:ln>
            <a:noFill/>
          </a:ln>
        </p:spPr>
        <p:txBody>
          <a:bodyPr rtlCol="0" anchor="ctr"/>
          <a:lstStyle/>
          <a:p>
            <a:pPr algn="ctr"/>
          </a:p>
        </p:txBody>
      </p:sp>
      <p:sp>
        <p:nvSpPr>
          <p:cNvPr id="111" name="Text 110"/>
          <p:cNvSpPr txBox="1"/>
          <p:nvPr/>
        </p:nvSpPr>
        <p:spPr>
          <a:xfrm>
            <a:off x="5232400" y="42967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4</a:t>
            </a:r>
          </a:p>
        </p:txBody>
      </p:sp>
      <p:sp>
        <p:nvSpPr>
          <p:cNvPr id="112" name="Text 111"/>
          <p:cNvSpPr txBox="1"/>
          <p:nvPr/>
        </p:nvSpPr>
        <p:spPr>
          <a:xfrm>
            <a:off x="5060672" y="45026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113" name="Box 112"/>
          <p:cNvSpPr/>
          <p:nvPr/>
        </p:nvSpPr>
        <p:spPr>
          <a:xfrm>
            <a:off x="5829300" y="4185245"/>
            <a:ext cx="889000" cy="609600"/>
          </a:xfrm>
          <a:prstGeom prst="roundRect">
            <a:avLst>
              <a:gd name="adj" fmla="val 8333"/>
            </a:avLst>
          </a:prstGeom>
          <a:solidFill>
            <a:srgbClr val="8CC765"/>
          </a:solidFill>
          <a:ln>
            <a:noFill/>
          </a:ln>
        </p:spPr>
        <p:txBody>
          <a:bodyPr rtlCol="0" anchor="ctr"/>
          <a:lstStyle/>
          <a:p>
            <a:pPr algn="ctr"/>
          </a:p>
        </p:txBody>
      </p:sp>
      <p:sp>
        <p:nvSpPr>
          <p:cNvPr id="114" name="Text 113"/>
          <p:cNvSpPr txBox="1"/>
          <p:nvPr/>
        </p:nvSpPr>
        <p:spPr>
          <a:xfrm>
            <a:off x="6159500" y="4296708"/>
            <a:ext cx="228600" cy="209550"/>
          </a:xfrm>
          <a:prstGeom prst="rect">
            <a:avLst/>
          </a:prstGeom>
          <a:noFill/>
        </p:spPr>
        <p:txBody>
          <a:bodyPr wrap="square" tIns="0" rIns="0" bIns="0" lIns="0" anchor="t" rtlCol="0" anchorCtr="0">
            <a:noAutofit/>
          </a:bodyPr>
          <a:lstStyle/>
          <a:p>
            <a:pPr algn="ctr">
              <a:lnSpc>
                <a:spcPts val="1650"/>
              </a:lnSpc>
              <a:spcBef>
                <a:spcPts val="0"/>
              </a:spcBef>
              <a:spcAft>
                <a:spcPts val="0"/>
              </a:spcAft>
            </a:pPr>
            <a:r>
              <a:rPr sz="1500" b="1" i="0">
                <a:solidFill>
                  <a:srgbClr val="172433"/>
                </a:solidFill>
                <a:latin typeface="IBM Plex Sans Arabic"/>
                <a:ea typeface="IBM Plex Sans Arabic"/>
                <a:cs typeface="IBM Plex Sans Arabic"/>
              </a:rPr>
              <a:t>5</a:t>
            </a:r>
          </a:p>
        </p:txBody>
      </p:sp>
      <p:sp>
        <p:nvSpPr>
          <p:cNvPr id="115" name="Text 114"/>
          <p:cNvSpPr txBox="1"/>
          <p:nvPr/>
        </p:nvSpPr>
        <p:spPr>
          <a:xfrm>
            <a:off x="5987772" y="4502638"/>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116" name="Text 115"/>
          <p:cNvSpPr txBox="1"/>
          <p:nvPr/>
        </p:nvSpPr>
        <p:spPr>
          <a:xfrm>
            <a:off x="860346" y="4891873"/>
            <a:ext cx="1174909"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200" b="1" i="0">
                <a:solidFill>
                  <a:srgbClr val="4E5A66"/>
                </a:solidFill>
                <a:latin typeface="IBM Plex Sans Arabic"/>
                <a:ea typeface="IBM Plex Sans Arabic"/>
                <a:cs typeface="IBM Plex Sans Arabic"/>
              </a:rPr>
              <a:t>الاحتمال ↑ الأثر →</a:t>
            </a:r>
          </a:p>
        </p:txBody>
      </p:sp>
      <p:sp>
        <p:nvSpPr>
          <p:cNvPr id="117" name="Text 116"/>
          <p:cNvSpPr txBox="1"/>
          <p:nvPr/>
        </p:nvSpPr>
        <p:spPr>
          <a:xfrm>
            <a:off x="2458680" y="483205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a:t>
            </a:r>
          </a:p>
        </p:txBody>
      </p:sp>
      <p:sp>
        <p:nvSpPr>
          <p:cNvPr id="118" name="Text 117"/>
          <p:cNvSpPr txBox="1"/>
          <p:nvPr/>
        </p:nvSpPr>
        <p:spPr>
          <a:xfrm>
            <a:off x="2155547" y="5020123"/>
            <a:ext cx="81960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منخفض جداً</a:t>
            </a:r>
          </a:p>
        </p:txBody>
      </p:sp>
      <p:sp>
        <p:nvSpPr>
          <p:cNvPr id="119" name="Text 118"/>
          <p:cNvSpPr txBox="1"/>
          <p:nvPr/>
        </p:nvSpPr>
        <p:spPr>
          <a:xfrm>
            <a:off x="3385780" y="483205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2</a:t>
            </a:r>
          </a:p>
        </p:txBody>
      </p:sp>
      <p:sp>
        <p:nvSpPr>
          <p:cNvPr id="120" name="Text 119"/>
          <p:cNvSpPr txBox="1"/>
          <p:nvPr/>
        </p:nvSpPr>
        <p:spPr>
          <a:xfrm>
            <a:off x="3206472" y="5020123"/>
            <a:ext cx="57195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منخفض</a:t>
            </a:r>
          </a:p>
        </p:txBody>
      </p:sp>
      <p:sp>
        <p:nvSpPr>
          <p:cNvPr id="121" name="Text 120"/>
          <p:cNvSpPr txBox="1"/>
          <p:nvPr/>
        </p:nvSpPr>
        <p:spPr>
          <a:xfrm>
            <a:off x="4312880" y="483205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3</a:t>
            </a:r>
          </a:p>
        </p:txBody>
      </p:sp>
      <p:sp>
        <p:nvSpPr>
          <p:cNvPr id="122" name="Text 121"/>
          <p:cNvSpPr txBox="1"/>
          <p:nvPr/>
        </p:nvSpPr>
        <p:spPr>
          <a:xfrm>
            <a:off x="4162048" y="5020123"/>
            <a:ext cx="51500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متوسط</a:t>
            </a:r>
          </a:p>
        </p:txBody>
      </p:sp>
      <p:sp>
        <p:nvSpPr>
          <p:cNvPr id="123" name="Text 122"/>
          <p:cNvSpPr txBox="1"/>
          <p:nvPr/>
        </p:nvSpPr>
        <p:spPr>
          <a:xfrm>
            <a:off x="5239980" y="483205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4</a:t>
            </a:r>
          </a:p>
        </p:txBody>
      </p:sp>
      <p:sp>
        <p:nvSpPr>
          <p:cNvPr id="124" name="Text 123"/>
          <p:cNvSpPr txBox="1"/>
          <p:nvPr/>
        </p:nvSpPr>
        <p:spPr>
          <a:xfrm>
            <a:off x="5193923" y="5020123"/>
            <a:ext cx="30545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عالٍ</a:t>
            </a:r>
          </a:p>
        </p:txBody>
      </p:sp>
      <p:sp>
        <p:nvSpPr>
          <p:cNvPr id="125" name="Text 124"/>
          <p:cNvSpPr txBox="1"/>
          <p:nvPr/>
        </p:nvSpPr>
        <p:spPr>
          <a:xfrm>
            <a:off x="6167080" y="4832056"/>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5</a:t>
            </a:r>
          </a:p>
        </p:txBody>
      </p:sp>
      <p:sp>
        <p:nvSpPr>
          <p:cNvPr id="126" name="Text 125"/>
          <p:cNvSpPr txBox="1"/>
          <p:nvPr/>
        </p:nvSpPr>
        <p:spPr>
          <a:xfrm>
            <a:off x="6108125" y="5020123"/>
            <a:ext cx="33135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a:solidFill>
                  <a:srgbClr val="172433"/>
                </a:solidFill>
                <a:latin typeface="IBM Plex Sans Arabic"/>
                <a:ea typeface="IBM Plex Sans Arabic"/>
                <a:cs typeface="IBM Plex Sans Arabic"/>
              </a:rPr>
              <a:t>حرج</a:t>
            </a:r>
          </a:p>
        </p:txBody>
      </p:sp>
      <p:sp>
        <p:nvSpPr>
          <p:cNvPr id="127" name="Text 126"/>
          <p:cNvSpPr txBox="1"/>
          <p:nvPr/>
        </p:nvSpPr>
        <p:spPr>
          <a:xfrm>
            <a:off x="0" y="5310807"/>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المصفوفة والمستويات كما وردت في الشكلين 2 و3 من ‎NFCRM-1:2025‎.</a:t>
            </a:r>
          </a:p>
        </p:txBody>
      </p:sp>
      <p:sp>
        <p:nvSpPr>
          <p:cNvPr id="128" name="Text 1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29" name="Text 1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3 و4؟ مبرر كل درجة</a:t>
            </a:r>
          </a:p>
        </p:txBody>
      </p:sp>
      <p:sp>
        <p:nvSpPr>
          <p:cNvPr id="6" name="Text 5"/>
          <p:cNvSpPr txBox="1"/>
          <p:nvPr/>
        </p:nvSpPr>
        <p:spPr>
          <a:xfrm>
            <a:off x="9743440" y="1612670"/>
            <a:ext cx="163576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1" i="0">
                <a:solidFill>
                  <a:srgbClr val="5E6A75"/>
                </a:solidFill>
                <a:latin typeface="IBM Plex Sans Arabic"/>
                <a:ea typeface="IBM Plex Sans Arabic"/>
                <a:cs typeface="IBM Plex Sans Arabic"/>
              </a:rPr>
              <a:t>الاحتمال 3</a:t>
            </a:r>
          </a:p>
        </p:txBody>
      </p:sp>
      <p:sp>
        <p:nvSpPr>
          <p:cNvPr id="7" name="Text 6"/>
          <p:cNvSpPr txBox="1"/>
          <p:nvPr/>
        </p:nvSpPr>
        <p:spPr>
          <a:xfrm>
            <a:off x="543052" y="1612670"/>
            <a:ext cx="9261348" cy="817761"/>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يتنقل الموظف يومياً بالحاسوب، وسُجلت في رُفاد سرقة حاسوب واحدة خلال 3 سنوات: «غير مرجح» قد يقع مرة كل 2 إلى 3 سنوات.</a:t>
            </a:r>
          </a:p>
        </p:txBody>
      </p:sp>
      <p:sp>
        <p:nvSpPr>
          <p:cNvPr id="8" name="Text 7"/>
          <p:cNvSpPr txBox="1"/>
          <p:nvPr/>
        </p:nvSpPr>
        <p:spPr>
          <a:xfrm>
            <a:off x="9743440" y="2570131"/>
            <a:ext cx="163576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1" i="0">
                <a:solidFill>
                  <a:srgbClr val="5E6A75"/>
                </a:solidFill>
                <a:latin typeface="IBM Plex Sans Arabic"/>
                <a:ea typeface="IBM Plex Sans Arabic"/>
                <a:cs typeface="IBM Plex Sans Arabic"/>
              </a:rPr>
              <a:t>الأثر 4</a:t>
            </a:r>
          </a:p>
        </p:txBody>
      </p:sp>
      <p:sp>
        <p:nvSpPr>
          <p:cNvPr id="9" name="Text 8"/>
          <p:cNvSpPr txBox="1"/>
          <p:nvPr/>
        </p:nvSpPr>
        <p:spPr>
          <a:xfrm>
            <a:off x="93472" y="2570131"/>
            <a:ext cx="9710928"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تسرب بيانات حساسة لكل الموظفين بأثر كبير على الجهة: «عالٍ».</a:t>
            </a:r>
          </a:p>
        </p:txBody>
      </p:sp>
      <p:sp>
        <p:nvSpPr>
          <p:cNvPr id="10" name="Box 9"/>
          <p:cNvSpPr/>
          <p:nvPr/>
        </p:nvSpPr>
        <p:spPr>
          <a:xfrm>
            <a:off x="815975" y="3217962"/>
            <a:ext cx="10560050" cy="2084586"/>
          </a:xfrm>
          <a:prstGeom prst="roundRect">
            <a:avLst>
              <a:gd name="adj" fmla="val 546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3360837"/>
            <a:ext cx="103441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ما الذي يغير الدرجة؟</a:t>
            </a:r>
          </a:p>
        </p:txBody>
      </p:sp>
      <p:pic>
        <p:nvPicPr>
          <p:cNvPr id="12" name="Icon Search 11" descr="icon025.png"/>
          <p:cNvPicPr>
            <a:picLocks noChangeAspect="1"/>
          </p:cNvPicPr>
          <p:nvPr/>
        </p:nvPicPr>
        <p:blipFill>
          <a:blip r:embed="rId2"/>
          <a:stretch>
            <a:fillRect/>
          </a:stretch>
        </p:blipFill>
        <p:spPr>
          <a:xfrm>
            <a:off x="10922000" y="3846612"/>
            <a:ext cx="260350" cy="260350"/>
          </a:xfrm>
          <a:prstGeom prst="rect">
            <a:avLst/>
          </a:prstGeom>
        </p:spPr>
      </p:pic>
      <p:sp>
        <p:nvSpPr>
          <p:cNvPr id="13" name="Text 12"/>
          <p:cNvSpPr txBox="1"/>
          <p:nvPr/>
        </p:nvSpPr>
        <p:spPr>
          <a:xfrm>
            <a:off x="838200" y="3803305"/>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لو سُرق حاسوبان في السنة الماضية، يرتفع الاحتمال إلى 4.</a:t>
            </a:r>
          </a:p>
        </p:txBody>
      </p:sp>
      <p:pic>
        <p:nvPicPr>
          <p:cNvPr id="14" name="Icon Search 13" descr="icon025.png"/>
          <p:cNvPicPr>
            <a:picLocks noChangeAspect="1"/>
          </p:cNvPicPr>
          <p:nvPr/>
        </p:nvPicPr>
        <p:blipFill>
          <a:blip r:embed="rId2"/>
          <a:stretch>
            <a:fillRect/>
          </a:stretch>
        </p:blipFill>
        <p:spPr>
          <a:xfrm>
            <a:off x="10922000" y="4301232"/>
            <a:ext cx="260350" cy="260350"/>
          </a:xfrm>
          <a:prstGeom prst="rect">
            <a:avLst/>
          </a:prstGeom>
        </p:spPr>
      </p:pic>
      <p:sp>
        <p:nvSpPr>
          <p:cNvPr id="15" name="Text 14"/>
          <p:cNvSpPr txBox="1"/>
          <p:nvPr/>
        </p:nvSpPr>
        <p:spPr>
          <a:xfrm>
            <a:off x="838200" y="4257925"/>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لو كانت الملفات أسماء فقط بلا رواتب أو حسابات، ينخفض الأثر.</a:t>
            </a:r>
          </a:p>
        </p:txBody>
      </p:sp>
      <p:pic>
        <p:nvPicPr>
          <p:cNvPr id="16" name="Icon Search 15" descr="icon025.png"/>
          <p:cNvPicPr>
            <a:picLocks noChangeAspect="1"/>
          </p:cNvPicPr>
          <p:nvPr/>
        </p:nvPicPr>
        <p:blipFill>
          <a:blip r:embed="rId2"/>
          <a:stretch>
            <a:fillRect/>
          </a:stretch>
        </p:blipFill>
        <p:spPr>
          <a:xfrm>
            <a:off x="10922000" y="4755852"/>
            <a:ext cx="260350" cy="260350"/>
          </a:xfrm>
          <a:prstGeom prst="rect">
            <a:avLst/>
          </a:prstGeom>
        </p:spPr>
      </p:pic>
      <p:sp>
        <p:nvSpPr>
          <p:cNvPr id="17" name="Text 16"/>
          <p:cNvSpPr txBox="1"/>
          <p:nvPr/>
        </p:nvSpPr>
        <p:spPr>
          <a:xfrm>
            <a:off x="838200" y="4712545"/>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الدرجة تُكتب مع مبررها في السجل، ليراجعها غيرك.</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الخطر المتأصل والمتبقي: الانخفاض ليس تلقائياً</a:t>
            </a:r>
          </a:p>
        </p:txBody>
      </p:sp>
      <p:sp>
        <p:nvSpPr>
          <p:cNvPr id="6" name="Box 5"/>
          <p:cNvSpPr/>
          <p:nvPr/>
        </p:nvSpPr>
        <p:spPr>
          <a:xfrm>
            <a:off x="8460680" y="1635720"/>
            <a:ext cx="2915345" cy="2858294"/>
          </a:xfrm>
          <a:prstGeom prst="roundRect">
            <a:avLst>
              <a:gd name="adj" fmla="val 3990"/>
            </a:avLst>
          </a:prstGeom>
          <a:solidFill>
            <a:srgbClr val="FFFDF8"/>
          </a:solidFill>
          <a:ln w="6350">
            <a:solidFill>
              <a:srgbClr val="E1DBCD"/>
            </a:solidFill>
          </a:ln>
        </p:spPr>
        <p:txBody>
          <a:bodyPr rtlCol="0" anchor="ctr"/>
          <a:lstStyle/>
          <a:p>
            <a:pPr algn="ctr"/>
          </a:p>
        </p:txBody>
      </p:sp>
      <p:sp>
        <p:nvSpPr>
          <p:cNvPr id="7" name="Text 6"/>
          <p:cNvSpPr txBox="1"/>
          <p:nvPr/>
        </p:nvSpPr>
        <p:spPr>
          <a:xfrm>
            <a:off x="8551592" y="1734304"/>
            <a:ext cx="2656158"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المتأصل: قبل خطة المعالجة</a:t>
            </a:r>
          </a:p>
        </p:txBody>
      </p:sp>
      <p:sp>
        <p:nvSpPr>
          <p:cNvPr id="8" name="Text 7"/>
          <p:cNvSpPr txBox="1"/>
          <p:nvPr/>
        </p:nvSpPr>
        <p:spPr>
          <a:xfrm>
            <a:off x="8482905" y="2602825"/>
            <a:ext cx="27248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4</a:t>
            </a:r>
          </a:p>
        </p:txBody>
      </p:sp>
      <p:sp>
        <p:nvSpPr>
          <p:cNvPr id="9" name="Box 8"/>
          <p:cNvSpPr/>
          <p:nvPr/>
        </p:nvSpPr>
        <p:spPr>
          <a:xfrm>
            <a:off x="8628955" y="3061295"/>
            <a:ext cx="2578795" cy="623491"/>
          </a:xfrm>
          <a:prstGeom prst="roundRect">
            <a:avLst>
              <a:gd name="adj" fmla="val 12221"/>
            </a:avLst>
          </a:prstGeom>
          <a:solidFill>
            <a:srgbClr val="F2B530"/>
          </a:solidFill>
          <a:ln>
            <a:noFill/>
          </a:ln>
        </p:spPr>
        <p:txBody>
          <a:bodyPr rtlCol="0" anchor="ctr"/>
          <a:lstStyle/>
          <a:p>
            <a:pPr algn="ctr"/>
          </a:p>
        </p:txBody>
      </p:sp>
      <p:sp>
        <p:nvSpPr>
          <p:cNvPr id="10" name="Text 9"/>
          <p:cNvSpPr txBox="1"/>
          <p:nvPr/>
        </p:nvSpPr>
        <p:spPr>
          <a:xfrm>
            <a:off x="8654355" y="3098792"/>
            <a:ext cx="2527995" cy="471091"/>
          </a:xfrm>
          <a:prstGeom prst="rect">
            <a:avLst/>
          </a:prstGeom>
          <a:noFill/>
        </p:spPr>
        <p:txBody>
          <a:bodyPr wrap="square" tIns="0" rIns="0" bIns="0" lIns="0" anchor="t" rtlCol="0" anchorCtr="0">
            <a:noAutofit/>
          </a:bodyPr>
          <a:lstStyle/>
          <a:p>
            <a:pPr algn="ctr" rtl="1">
              <a:lnSpc>
                <a:spcPts val="3710"/>
              </a:lnSpc>
              <a:spcBef>
                <a:spcPts val="0"/>
              </a:spcBef>
              <a:spcAft>
                <a:spcPts val="0"/>
              </a:spcAft>
            </a:pPr>
            <a:r>
              <a:rPr sz="2650" b="1" i="0">
                <a:solidFill>
                  <a:srgbClr val="172433"/>
                </a:solidFill>
                <a:latin typeface="Readex Pro"/>
                <a:ea typeface="Readex Pro"/>
                <a:cs typeface="Readex Pro"/>
              </a:rPr>
              <a:t>12 · متوسط</a:t>
            </a:r>
          </a:p>
        </p:txBody>
      </p:sp>
      <p:sp>
        <p:nvSpPr>
          <p:cNvPr id="11" name="Box 10"/>
          <p:cNvSpPr/>
          <p:nvPr/>
        </p:nvSpPr>
        <p:spPr>
          <a:xfrm>
            <a:off x="5411986" y="1635720"/>
            <a:ext cx="2915345" cy="2858294"/>
          </a:xfrm>
          <a:prstGeom prst="roundRect">
            <a:avLst>
              <a:gd name="adj" fmla="val 3990"/>
            </a:avLst>
          </a:prstGeom>
          <a:solidFill>
            <a:srgbClr val="FFFDF8"/>
          </a:solidFill>
          <a:ln w="6350">
            <a:solidFill>
              <a:srgbClr val="E1DBCD"/>
            </a:solidFill>
          </a:ln>
        </p:spPr>
        <p:txBody>
          <a:bodyPr rtlCol="0" anchor="ctr"/>
          <a:lstStyle/>
          <a:p>
            <a:pPr algn="ctr"/>
          </a:p>
        </p:txBody>
      </p:sp>
      <p:sp>
        <p:nvSpPr>
          <p:cNvPr id="12" name="Text 11"/>
          <p:cNvSpPr txBox="1"/>
          <p:nvPr/>
        </p:nvSpPr>
        <p:spPr>
          <a:xfrm>
            <a:off x="5502897" y="1734304"/>
            <a:ext cx="2656158"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المتبقي المتوقع: بعد التشفير</a:t>
            </a:r>
          </a:p>
        </p:txBody>
      </p:sp>
      <p:sp>
        <p:nvSpPr>
          <p:cNvPr id="13" name="Text 12"/>
          <p:cNvSpPr txBox="1"/>
          <p:nvPr/>
        </p:nvSpPr>
        <p:spPr>
          <a:xfrm>
            <a:off x="5434211" y="2602825"/>
            <a:ext cx="27248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2</a:t>
            </a:r>
          </a:p>
        </p:txBody>
      </p:sp>
      <p:sp>
        <p:nvSpPr>
          <p:cNvPr id="14" name="Box 13"/>
          <p:cNvSpPr/>
          <p:nvPr/>
        </p:nvSpPr>
        <p:spPr>
          <a:xfrm>
            <a:off x="5580261" y="3061295"/>
            <a:ext cx="2578795" cy="623491"/>
          </a:xfrm>
          <a:prstGeom prst="roundRect">
            <a:avLst>
              <a:gd name="adj" fmla="val 12221"/>
            </a:avLst>
          </a:prstGeom>
          <a:solidFill>
            <a:srgbClr val="8CC765"/>
          </a:solidFill>
          <a:ln>
            <a:noFill/>
          </a:ln>
        </p:spPr>
        <p:txBody>
          <a:bodyPr rtlCol="0" anchor="ctr"/>
          <a:lstStyle/>
          <a:p>
            <a:pPr algn="ctr"/>
          </a:p>
        </p:txBody>
      </p:sp>
      <p:sp>
        <p:nvSpPr>
          <p:cNvPr id="15" name="Text 14"/>
          <p:cNvSpPr txBox="1"/>
          <p:nvPr/>
        </p:nvSpPr>
        <p:spPr>
          <a:xfrm>
            <a:off x="5605661" y="3098792"/>
            <a:ext cx="2527995" cy="471091"/>
          </a:xfrm>
          <a:prstGeom prst="rect">
            <a:avLst/>
          </a:prstGeom>
          <a:noFill/>
        </p:spPr>
        <p:txBody>
          <a:bodyPr wrap="square" tIns="0" rIns="0" bIns="0" lIns="0" anchor="t" rtlCol="0" anchorCtr="0">
            <a:noAutofit/>
          </a:bodyPr>
          <a:lstStyle/>
          <a:p>
            <a:pPr algn="ctr" rtl="1">
              <a:lnSpc>
                <a:spcPts val="3710"/>
              </a:lnSpc>
              <a:spcBef>
                <a:spcPts val="0"/>
              </a:spcBef>
              <a:spcAft>
                <a:spcPts val="0"/>
              </a:spcAft>
            </a:pPr>
            <a:r>
              <a:rPr sz="2650" b="1" i="0">
                <a:solidFill>
                  <a:srgbClr val="172433"/>
                </a:solidFill>
                <a:latin typeface="Readex Pro"/>
                <a:ea typeface="Readex Pro"/>
                <a:cs typeface="Readex Pro"/>
              </a:rPr>
              <a:t>6 · منخفض</a:t>
            </a:r>
          </a:p>
        </p:txBody>
      </p:sp>
      <p:sp>
        <p:nvSpPr>
          <p:cNvPr id="16" name="Box 15"/>
          <p:cNvSpPr/>
          <p:nvPr/>
        </p:nvSpPr>
        <p:spPr>
          <a:xfrm>
            <a:off x="815975" y="1635720"/>
            <a:ext cx="4462661" cy="2858294"/>
          </a:xfrm>
          <a:prstGeom prst="roundRect">
            <a:avLst>
              <a:gd name="adj" fmla="val 3990"/>
            </a:avLst>
          </a:prstGeom>
          <a:solidFill>
            <a:srgbClr val="FFFDF8"/>
          </a:solidFill>
          <a:ln w="6350">
            <a:solidFill>
              <a:srgbClr val="E1DBCD"/>
            </a:solidFill>
          </a:ln>
        </p:spPr>
        <p:txBody>
          <a:bodyPr rtlCol="0" anchor="ctr"/>
          <a:lstStyle/>
          <a:p>
            <a:pPr algn="ctr"/>
          </a:p>
        </p:txBody>
      </p:sp>
      <p:sp>
        <p:nvSpPr>
          <p:cNvPr id="17" name="Text 16"/>
          <p:cNvSpPr txBox="1"/>
          <p:nvPr/>
        </p:nvSpPr>
        <p:spPr>
          <a:xfrm>
            <a:off x="838200" y="1766403"/>
            <a:ext cx="4272161"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بشرط أن:</a:t>
            </a:r>
          </a:p>
        </p:txBody>
      </p:sp>
      <p:pic>
        <p:nvPicPr>
          <p:cNvPr id="18" name="Icon Check 17" descr="icon022.png"/>
          <p:cNvPicPr>
            <a:picLocks noChangeAspect="1"/>
          </p:cNvPicPr>
          <p:nvPr/>
        </p:nvPicPr>
        <p:blipFill>
          <a:blip r:embed="rId2"/>
          <a:stretch>
            <a:fillRect/>
          </a:stretch>
        </p:blipFill>
        <p:spPr>
          <a:xfrm>
            <a:off x="4881761" y="2223095"/>
            <a:ext cx="228600" cy="228600"/>
          </a:xfrm>
          <a:prstGeom prst="rect">
            <a:avLst/>
          </a:prstGeom>
        </p:spPr>
      </p:pic>
      <p:sp>
        <p:nvSpPr>
          <p:cNvPr id="19" name="Text 18"/>
          <p:cNvSpPr txBox="1"/>
          <p:nvPr/>
        </p:nvSpPr>
        <p:spPr>
          <a:xfrm>
            <a:off x="870754" y="2185694"/>
            <a:ext cx="3896707"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التشفير مفعّل ومُتحقق منه على كل الأجهزة المعنية، لا على بعضها.</a:t>
            </a:r>
          </a:p>
        </p:txBody>
      </p:sp>
      <p:pic>
        <p:nvPicPr>
          <p:cNvPr id="20" name="Icon Check 19" descr="icon022.png"/>
          <p:cNvPicPr>
            <a:picLocks noChangeAspect="1"/>
          </p:cNvPicPr>
          <p:nvPr/>
        </p:nvPicPr>
        <p:blipFill>
          <a:blip r:embed="rId2"/>
          <a:stretch>
            <a:fillRect/>
          </a:stretch>
        </p:blipFill>
        <p:spPr>
          <a:xfrm>
            <a:off x="4881761" y="2949377"/>
            <a:ext cx="228600" cy="228600"/>
          </a:xfrm>
          <a:prstGeom prst="rect">
            <a:avLst/>
          </a:prstGeom>
        </p:spPr>
      </p:pic>
      <p:sp>
        <p:nvSpPr>
          <p:cNvPr id="21" name="Text 20"/>
          <p:cNvSpPr txBox="1"/>
          <p:nvPr/>
        </p:nvSpPr>
        <p:spPr>
          <a:xfrm>
            <a:off x="870754" y="2911975"/>
            <a:ext cx="3896707"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الجهاز محمي بكلمة مرور قوية، ومفاتيح الاسترداد محفوظة بأمان.</a:t>
            </a:r>
          </a:p>
        </p:txBody>
      </p:sp>
      <p:pic>
        <p:nvPicPr>
          <p:cNvPr id="22" name="Icon Check 21" descr="icon022.png"/>
          <p:cNvPicPr>
            <a:picLocks noChangeAspect="1"/>
          </p:cNvPicPr>
          <p:nvPr/>
        </p:nvPicPr>
        <p:blipFill>
          <a:blip r:embed="rId2"/>
          <a:stretch>
            <a:fillRect/>
          </a:stretch>
        </p:blipFill>
        <p:spPr>
          <a:xfrm>
            <a:off x="4881761" y="3675658"/>
            <a:ext cx="228600" cy="228600"/>
          </a:xfrm>
          <a:prstGeom prst="rect">
            <a:avLst/>
          </a:prstGeom>
        </p:spPr>
      </p:pic>
      <p:sp>
        <p:nvSpPr>
          <p:cNvPr id="23" name="Text 22"/>
          <p:cNvSpPr txBox="1"/>
          <p:nvPr/>
        </p:nvSpPr>
        <p:spPr>
          <a:xfrm>
            <a:off x="870754" y="3638256"/>
            <a:ext cx="3896707"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لا تبقى نسخ من ملفات الرواتب خارج المجلد المقيد.</a:t>
            </a:r>
          </a:p>
        </p:txBody>
      </p:sp>
      <p:sp>
        <p:nvSpPr>
          <p:cNvPr id="24" name="Box 23"/>
          <p:cNvSpPr/>
          <p:nvPr/>
        </p:nvSpPr>
        <p:spPr>
          <a:xfrm>
            <a:off x="815975" y="4665464"/>
            <a:ext cx="10560050" cy="651470"/>
          </a:xfrm>
          <a:prstGeom prst="roundRect">
            <a:avLst>
              <a:gd name="adj" fmla="val 15444"/>
            </a:avLst>
          </a:prstGeom>
          <a:solidFill>
            <a:srgbClr val="FBEAE5"/>
          </a:solidFill>
          <a:ln w="6350">
            <a:solidFill>
              <a:srgbClr val="E7B8AC"/>
            </a:solidFill>
          </a:ln>
        </p:spPr>
        <p:txBody>
          <a:bodyPr rtlCol="0" anchor="ctr"/>
          <a:lstStyle/>
          <a:p>
            <a:pPr algn="ctr"/>
          </a:p>
        </p:txBody>
      </p:sp>
      <p:pic>
        <p:nvPicPr>
          <p:cNvPr id="25" name="Icon Warning 24" descr="icon030.png"/>
          <p:cNvPicPr>
            <a:picLocks noChangeAspect="1"/>
          </p:cNvPicPr>
          <p:nvPr/>
        </p:nvPicPr>
        <p:blipFill>
          <a:blip r:embed="rId3"/>
          <a:stretch>
            <a:fillRect/>
          </a:stretch>
        </p:blipFill>
        <p:spPr>
          <a:xfrm>
            <a:off x="10909300" y="4848324"/>
            <a:ext cx="285750" cy="285750"/>
          </a:xfrm>
          <a:prstGeom prst="rect">
            <a:avLst/>
          </a:prstGeom>
        </p:spPr>
      </p:pic>
      <p:sp>
        <p:nvSpPr>
          <p:cNvPr id="26" name="Text 25"/>
          <p:cNvSpPr txBox="1"/>
          <p:nvPr/>
        </p:nvSpPr>
        <p:spPr>
          <a:xfrm>
            <a:off x="838200" y="4752332"/>
            <a:ext cx="99568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التشفير لا يمنع السرقة، فالاحتمال لا يتغير. يقلل الأثر فقط، وبشرط أن يعمل فعلاً على كل الأجهزة.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أربعة خيارات لمعالجة الخطر</a:t>
            </a:r>
          </a:p>
        </p:txBody>
      </p:sp>
      <p:sp>
        <p:nvSpPr>
          <p:cNvPr id="5" name="Box 4"/>
          <p:cNvSpPr/>
          <p:nvPr/>
        </p:nvSpPr>
        <p:spPr>
          <a:xfrm>
            <a:off x="8813800" y="1657945"/>
            <a:ext cx="2565400" cy="2713633"/>
          </a:xfrm>
          <a:prstGeom prst="roundRect">
            <a:avLst>
              <a:gd name="adj" fmla="val 4455"/>
            </a:avLst>
          </a:prstGeom>
          <a:solidFill>
            <a:srgbClr val="FFFDF8"/>
          </a:solidFill>
          <a:ln>
            <a:noFill/>
          </a:ln>
        </p:spPr>
        <p:txBody>
          <a:bodyPr rtlCol="0" anchor="ctr"/>
          <a:lstStyle/>
          <a:p>
            <a:pPr algn="ctr"/>
          </a:p>
        </p:txBody>
      </p:sp>
      <p:sp>
        <p:nvSpPr>
          <p:cNvPr id="6" name="Rule 5"/>
          <p:cNvSpPr/>
          <p:nvPr/>
        </p:nvSpPr>
        <p:spPr>
          <a:xfrm>
            <a:off x="8813800" y="1657945"/>
            <a:ext cx="2565400"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2713633"/>
          </a:xfrm>
          <a:prstGeom prst="rect">
            <a:avLst/>
          </a:prstGeom>
          <a:solidFill>
            <a:srgbClr val="E1DBCD"/>
          </a:solidFill>
          <a:ln>
            <a:noFill/>
          </a:ln>
        </p:spPr>
        <p:txBody>
          <a:bodyPr rtlCol="0" anchor="ctr"/>
          <a:lstStyle/>
          <a:p>
            <a:pPr algn="ctr"/>
          </a:p>
        </p:txBody>
      </p:sp>
      <p:sp>
        <p:nvSpPr>
          <p:cNvPr id="8" name="Rule 7"/>
          <p:cNvSpPr/>
          <p:nvPr/>
        </p:nvSpPr>
        <p:spPr>
          <a:xfrm>
            <a:off x="8813800" y="4365228"/>
            <a:ext cx="2565400" cy="6350"/>
          </a:xfrm>
          <a:prstGeom prst="rect">
            <a:avLst/>
          </a:prstGeom>
          <a:solidFill>
            <a:srgbClr val="E1DBCD"/>
          </a:solidFill>
          <a:ln>
            <a:noFill/>
          </a:ln>
        </p:spPr>
        <p:txBody>
          <a:bodyPr rtlCol="0" anchor="ctr"/>
          <a:lstStyle/>
          <a:p>
            <a:pPr algn="ctr"/>
          </a:p>
        </p:txBody>
      </p:sp>
      <p:sp>
        <p:nvSpPr>
          <p:cNvPr id="9" name="Rule 8"/>
          <p:cNvSpPr/>
          <p:nvPr/>
        </p:nvSpPr>
        <p:spPr>
          <a:xfrm>
            <a:off x="8813800" y="1657945"/>
            <a:ext cx="6350" cy="2713633"/>
          </a:xfrm>
          <a:prstGeom prst="rect">
            <a:avLst/>
          </a:prstGeom>
          <a:solidFill>
            <a:srgbClr val="E1DBCD"/>
          </a:solidFill>
          <a:ln>
            <a:noFill/>
          </a:ln>
        </p:spPr>
        <p:txBody>
          <a:bodyPr rtlCol="0" anchor="ctr"/>
          <a:lstStyle/>
          <a:p>
            <a:pPr algn="ctr"/>
          </a:p>
        </p:txBody>
      </p:sp>
      <p:sp>
        <p:nvSpPr>
          <p:cNvPr id="10" name="Text 9"/>
          <p:cNvSpPr txBox="1"/>
          <p:nvPr/>
        </p:nvSpPr>
        <p:spPr>
          <a:xfrm>
            <a:off x="8839200" y="1834475"/>
            <a:ext cx="23812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0E7C6B"/>
                </a:solidFill>
                <a:latin typeface="Readex Pro"/>
                <a:ea typeface="Readex Pro"/>
                <a:cs typeface="Readex Pro"/>
              </a:rPr>
              <a:t>التخفيف</a:t>
            </a:r>
          </a:p>
        </p:txBody>
      </p:sp>
      <p:sp>
        <p:nvSpPr>
          <p:cNvPr id="11" name="Text 10"/>
          <p:cNvSpPr txBox="1"/>
          <p:nvPr/>
        </p:nvSpPr>
        <p:spPr>
          <a:xfrm>
            <a:off x="8905113" y="2307169"/>
            <a:ext cx="2315337"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ضوابط تقلل الاحتمال أو الأثر.</a:t>
            </a:r>
          </a:p>
        </p:txBody>
      </p:sp>
      <p:sp>
        <p:nvSpPr>
          <p:cNvPr id="12" name="Text 11"/>
          <p:cNvSpPr txBox="1"/>
          <p:nvPr/>
        </p:nvSpPr>
        <p:spPr>
          <a:xfrm>
            <a:off x="8905113" y="3119358"/>
            <a:ext cx="2315337"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تشفير حواسيب الرواتب.</a:t>
            </a:r>
          </a:p>
        </p:txBody>
      </p:sp>
      <p:sp>
        <p:nvSpPr>
          <p:cNvPr id="13" name="Box 12"/>
          <p:cNvSpPr/>
          <p:nvPr/>
        </p:nvSpPr>
        <p:spPr>
          <a:xfrm>
            <a:off x="6146800" y="1657945"/>
            <a:ext cx="2565400" cy="2713633"/>
          </a:xfrm>
          <a:prstGeom prst="roundRect">
            <a:avLst>
              <a:gd name="adj" fmla="val 4455"/>
            </a:avLst>
          </a:prstGeom>
          <a:solidFill>
            <a:srgbClr val="FFFDF8"/>
          </a:solidFill>
          <a:ln>
            <a:noFill/>
          </a:ln>
        </p:spPr>
        <p:txBody>
          <a:bodyPr rtlCol="0" anchor="ctr"/>
          <a:lstStyle/>
          <a:p>
            <a:pPr algn="ctr"/>
          </a:p>
        </p:txBody>
      </p:sp>
      <p:sp>
        <p:nvSpPr>
          <p:cNvPr id="14" name="Rule 13"/>
          <p:cNvSpPr/>
          <p:nvPr/>
        </p:nvSpPr>
        <p:spPr>
          <a:xfrm>
            <a:off x="6146800" y="1657945"/>
            <a:ext cx="2565400" cy="50800"/>
          </a:xfrm>
          <a:prstGeom prst="rect">
            <a:avLst/>
          </a:prstGeom>
          <a:solidFill>
            <a:srgbClr val="24506B"/>
          </a:solidFill>
          <a:ln>
            <a:noFill/>
          </a:ln>
        </p:spPr>
        <p:txBody>
          <a:bodyPr rtlCol="0" anchor="ctr"/>
          <a:lstStyle/>
          <a:p>
            <a:pPr algn="ctr"/>
          </a:p>
        </p:txBody>
      </p:sp>
      <p:sp>
        <p:nvSpPr>
          <p:cNvPr id="15" name="Rule 14"/>
          <p:cNvSpPr/>
          <p:nvPr/>
        </p:nvSpPr>
        <p:spPr>
          <a:xfrm>
            <a:off x="8705850" y="1657945"/>
            <a:ext cx="6350" cy="2713633"/>
          </a:xfrm>
          <a:prstGeom prst="rect">
            <a:avLst/>
          </a:prstGeom>
          <a:solidFill>
            <a:srgbClr val="E1DBCD"/>
          </a:solidFill>
          <a:ln>
            <a:noFill/>
          </a:ln>
        </p:spPr>
        <p:txBody>
          <a:bodyPr rtlCol="0" anchor="ctr"/>
          <a:lstStyle/>
          <a:p>
            <a:pPr algn="ctr"/>
          </a:p>
        </p:txBody>
      </p:sp>
      <p:sp>
        <p:nvSpPr>
          <p:cNvPr id="16" name="Rule 15"/>
          <p:cNvSpPr/>
          <p:nvPr/>
        </p:nvSpPr>
        <p:spPr>
          <a:xfrm>
            <a:off x="6146800" y="4365228"/>
            <a:ext cx="2565400" cy="6350"/>
          </a:xfrm>
          <a:prstGeom prst="rect">
            <a:avLst/>
          </a:prstGeom>
          <a:solidFill>
            <a:srgbClr val="E1DBCD"/>
          </a:solidFill>
          <a:ln>
            <a:noFill/>
          </a:ln>
        </p:spPr>
        <p:txBody>
          <a:bodyPr rtlCol="0" anchor="ctr"/>
          <a:lstStyle/>
          <a:p>
            <a:pPr algn="ctr"/>
          </a:p>
        </p:txBody>
      </p:sp>
      <p:sp>
        <p:nvSpPr>
          <p:cNvPr id="17" name="Rule 16"/>
          <p:cNvSpPr/>
          <p:nvPr/>
        </p:nvSpPr>
        <p:spPr>
          <a:xfrm>
            <a:off x="6146800" y="1657945"/>
            <a:ext cx="6350" cy="2713633"/>
          </a:xfrm>
          <a:prstGeom prst="rect">
            <a:avLst/>
          </a:prstGeom>
          <a:solidFill>
            <a:srgbClr val="E1DBCD"/>
          </a:solidFill>
          <a:ln>
            <a:noFill/>
          </a:ln>
        </p:spPr>
        <p:txBody>
          <a:bodyPr rtlCol="0" anchor="ctr"/>
          <a:lstStyle/>
          <a:p>
            <a:pPr algn="ctr"/>
          </a:p>
        </p:txBody>
      </p:sp>
      <p:sp>
        <p:nvSpPr>
          <p:cNvPr id="18" name="Text 17"/>
          <p:cNvSpPr txBox="1"/>
          <p:nvPr/>
        </p:nvSpPr>
        <p:spPr>
          <a:xfrm>
            <a:off x="6172200" y="1834475"/>
            <a:ext cx="23812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24506B"/>
                </a:solidFill>
                <a:latin typeface="Readex Pro"/>
                <a:ea typeface="Readex Pro"/>
                <a:cs typeface="Readex Pro"/>
              </a:rPr>
              <a:t>التجنب</a:t>
            </a:r>
          </a:p>
        </p:txBody>
      </p:sp>
      <p:sp>
        <p:nvSpPr>
          <p:cNvPr id="19" name="Text 18"/>
          <p:cNvSpPr txBox="1"/>
          <p:nvPr/>
        </p:nvSpPr>
        <p:spPr>
          <a:xfrm>
            <a:off x="6238113" y="2307169"/>
            <a:ext cx="2315337"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إيقاف النشاط المسبب للخطر.</a:t>
            </a:r>
          </a:p>
        </p:txBody>
      </p:sp>
      <p:sp>
        <p:nvSpPr>
          <p:cNvPr id="20" name="Text 19"/>
          <p:cNvSpPr txBox="1"/>
          <p:nvPr/>
        </p:nvSpPr>
        <p:spPr>
          <a:xfrm>
            <a:off x="6238113" y="3119358"/>
            <a:ext cx="2315337"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منع حفظ ملفات الرواتب على الأجهزة.</a:t>
            </a:r>
          </a:p>
        </p:txBody>
      </p:sp>
      <p:sp>
        <p:nvSpPr>
          <p:cNvPr id="21" name="Box 20"/>
          <p:cNvSpPr/>
          <p:nvPr/>
        </p:nvSpPr>
        <p:spPr>
          <a:xfrm>
            <a:off x="3479800" y="1657945"/>
            <a:ext cx="2565400" cy="2713633"/>
          </a:xfrm>
          <a:prstGeom prst="roundRect">
            <a:avLst>
              <a:gd name="adj" fmla="val 4455"/>
            </a:avLst>
          </a:prstGeom>
          <a:solidFill>
            <a:srgbClr val="FFFDF8"/>
          </a:solidFill>
          <a:ln>
            <a:noFill/>
          </a:ln>
        </p:spPr>
        <p:txBody>
          <a:bodyPr rtlCol="0" anchor="ctr"/>
          <a:lstStyle/>
          <a:p>
            <a:pPr algn="ctr"/>
          </a:p>
        </p:txBody>
      </p:sp>
      <p:sp>
        <p:nvSpPr>
          <p:cNvPr id="22" name="Rule 21"/>
          <p:cNvSpPr/>
          <p:nvPr/>
        </p:nvSpPr>
        <p:spPr>
          <a:xfrm>
            <a:off x="3479800" y="1657945"/>
            <a:ext cx="2565400" cy="50800"/>
          </a:xfrm>
          <a:prstGeom prst="rect">
            <a:avLst/>
          </a:prstGeom>
          <a:solidFill>
            <a:srgbClr val="5A3F87"/>
          </a:solidFill>
          <a:ln>
            <a:noFill/>
          </a:ln>
        </p:spPr>
        <p:txBody>
          <a:bodyPr rtlCol="0" anchor="ctr"/>
          <a:lstStyle/>
          <a:p>
            <a:pPr algn="ctr"/>
          </a:p>
        </p:txBody>
      </p:sp>
      <p:sp>
        <p:nvSpPr>
          <p:cNvPr id="23" name="Rule 22"/>
          <p:cNvSpPr/>
          <p:nvPr/>
        </p:nvSpPr>
        <p:spPr>
          <a:xfrm>
            <a:off x="6038850" y="1657945"/>
            <a:ext cx="6350" cy="2713633"/>
          </a:xfrm>
          <a:prstGeom prst="rect">
            <a:avLst/>
          </a:prstGeom>
          <a:solidFill>
            <a:srgbClr val="E1DBCD"/>
          </a:solidFill>
          <a:ln>
            <a:noFill/>
          </a:ln>
        </p:spPr>
        <p:txBody>
          <a:bodyPr rtlCol="0" anchor="ctr"/>
          <a:lstStyle/>
          <a:p>
            <a:pPr algn="ctr"/>
          </a:p>
        </p:txBody>
      </p:sp>
      <p:sp>
        <p:nvSpPr>
          <p:cNvPr id="24" name="Rule 23"/>
          <p:cNvSpPr/>
          <p:nvPr/>
        </p:nvSpPr>
        <p:spPr>
          <a:xfrm>
            <a:off x="3479800" y="4365228"/>
            <a:ext cx="2565400" cy="6350"/>
          </a:xfrm>
          <a:prstGeom prst="rect">
            <a:avLst/>
          </a:prstGeom>
          <a:solidFill>
            <a:srgbClr val="E1DBCD"/>
          </a:solidFill>
          <a:ln>
            <a:noFill/>
          </a:ln>
        </p:spPr>
        <p:txBody>
          <a:bodyPr rtlCol="0" anchor="ctr"/>
          <a:lstStyle/>
          <a:p>
            <a:pPr algn="ctr"/>
          </a:p>
        </p:txBody>
      </p:sp>
      <p:sp>
        <p:nvSpPr>
          <p:cNvPr id="25" name="Rule 24"/>
          <p:cNvSpPr/>
          <p:nvPr/>
        </p:nvSpPr>
        <p:spPr>
          <a:xfrm>
            <a:off x="3479800" y="1657945"/>
            <a:ext cx="6350" cy="2713633"/>
          </a:xfrm>
          <a:prstGeom prst="rect">
            <a:avLst/>
          </a:prstGeom>
          <a:solidFill>
            <a:srgbClr val="E1DBCD"/>
          </a:solidFill>
          <a:ln>
            <a:noFill/>
          </a:ln>
        </p:spPr>
        <p:txBody>
          <a:bodyPr rtlCol="0" anchor="ctr"/>
          <a:lstStyle/>
          <a:p>
            <a:pPr algn="ctr"/>
          </a:p>
        </p:txBody>
      </p:sp>
      <p:sp>
        <p:nvSpPr>
          <p:cNvPr id="26" name="Text 25"/>
          <p:cNvSpPr txBox="1"/>
          <p:nvPr/>
        </p:nvSpPr>
        <p:spPr>
          <a:xfrm>
            <a:off x="3505200" y="1834475"/>
            <a:ext cx="23812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5A3F87"/>
                </a:solidFill>
                <a:latin typeface="Readex Pro"/>
                <a:ea typeface="Readex Pro"/>
                <a:cs typeface="Readex Pro"/>
              </a:rPr>
              <a:t>المشاركة</a:t>
            </a:r>
          </a:p>
        </p:txBody>
      </p:sp>
      <p:sp>
        <p:nvSpPr>
          <p:cNvPr id="27" name="Text 26"/>
          <p:cNvSpPr txBox="1"/>
          <p:nvPr/>
        </p:nvSpPr>
        <p:spPr>
          <a:xfrm>
            <a:off x="3571113" y="2307169"/>
            <a:ext cx="2315337"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تحميل جزء من الأثر لطرف آخر.</a:t>
            </a:r>
          </a:p>
        </p:txBody>
      </p:sp>
      <p:sp>
        <p:nvSpPr>
          <p:cNvPr id="28" name="Text 27"/>
          <p:cNvSpPr txBox="1"/>
          <p:nvPr/>
        </p:nvSpPr>
        <p:spPr>
          <a:xfrm>
            <a:off x="3571113" y="3119358"/>
            <a:ext cx="2315337"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تأمين، أو عقد. المسؤولية لا تنتقل.</a:t>
            </a:r>
          </a:p>
        </p:txBody>
      </p:sp>
      <p:sp>
        <p:nvSpPr>
          <p:cNvPr id="29" name="Box 28"/>
          <p:cNvSpPr/>
          <p:nvPr/>
        </p:nvSpPr>
        <p:spPr>
          <a:xfrm>
            <a:off x="812800" y="1657945"/>
            <a:ext cx="2565400" cy="2713633"/>
          </a:xfrm>
          <a:prstGeom prst="roundRect">
            <a:avLst>
              <a:gd name="adj" fmla="val 4455"/>
            </a:avLst>
          </a:prstGeom>
          <a:solidFill>
            <a:srgbClr val="FFFDF8"/>
          </a:solidFill>
          <a:ln>
            <a:noFill/>
          </a:ln>
        </p:spPr>
        <p:txBody>
          <a:bodyPr rtlCol="0" anchor="ctr"/>
          <a:lstStyle/>
          <a:p>
            <a:pPr algn="ctr"/>
          </a:p>
        </p:txBody>
      </p:sp>
      <p:sp>
        <p:nvSpPr>
          <p:cNvPr id="30" name="Rule 29"/>
          <p:cNvSpPr/>
          <p:nvPr/>
        </p:nvSpPr>
        <p:spPr>
          <a:xfrm>
            <a:off x="812800" y="1657945"/>
            <a:ext cx="2565400" cy="50800"/>
          </a:xfrm>
          <a:prstGeom prst="rect">
            <a:avLst/>
          </a:prstGeom>
          <a:solidFill>
            <a:srgbClr val="8A4B12"/>
          </a:solidFill>
          <a:ln>
            <a:noFill/>
          </a:ln>
        </p:spPr>
        <p:txBody>
          <a:bodyPr rtlCol="0" anchor="ctr"/>
          <a:lstStyle/>
          <a:p>
            <a:pPr algn="ctr"/>
          </a:p>
        </p:txBody>
      </p:sp>
      <p:sp>
        <p:nvSpPr>
          <p:cNvPr id="31" name="Rule 30"/>
          <p:cNvSpPr/>
          <p:nvPr/>
        </p:nvSpPr>
        <p:spPr>
          <a:xfrm>
            <a:off x="3371850" y="1657945"/>
            <a:ext cx="6350" cy="2713633"/>
          </a:xfrm>
          <a:prstGeom prst="rect">
            <a:avLst/>
          </a:prstGeom>
          <a:solidFill>
            <a:srgbClr val="E1DBCD"/>
          </a:solidFill>
          <a:ln>
            <a:noFill/>
          </a:ln>
        </p:spPr>
        <p:txBody>
          <a:bodyPr rtlCol="0" anchor="ctr"/>
          <a:lstStyle/>
          <a:p>
            <a:pPr algn="ctr"/>
          </a:p>
        </p:txBody>
      </p:sp>
      <p:sp>
        <p:nvSpPr>
          <p:cNvPr id="32" name="Rule 31"/>
          <p:cNvSpPr/>
          <p:nvPr/>
        </p:nvSpPr>
        <p:spPr>
          <a:xfrm>
            <a:off x="812800" y="4365228"/>
            <a:ext cx="2565400" cy="6350"/>
          </a:xfrm>
          <a:prstGeom prst="rect">
            <a:avLst/>
          </a:prstGeom>
          <a:solidFill>
            <a:srgbClr val="E1DBCD"/>
          </a:solidFill>
          <a:ln>
            <a:noFill/>
          </a:ln>
        </p:spPr>
        <p:txBody>
          <a:bodyPr rtlCol="0" anchor="ctr"/>
          <a:lstStyle/>
          <a:p>
            <a:pPr algn="ctr"/>
          </a:p>
        </p:txBody>
      </p:sp>
      <p:sp>
        <p:nvSpPr>
          <p:cNvPr id="33" name="Rule 32"/>
          <p:cNvSpPr/>
          <p:nvPr/>
        </p:nvSpPr>
        <p:spPr>
          <a:xfrm>
            <a:off x="812800" y="1657945"/>
            <a:ext cx="6350" cy="2713633"/>
          </a:xfrm>
          <a:prstGeom prst="rect">
            <a:avLst/>
          </a:prstGeom>
          <a:solidFill>
            <a:srgbClr val="E1DBCD"/>
          </a:solidFill>
          <a:ln>
            <a:noFill/>
          </a:ln>
        </p:spPr>
        <p:txBody>
          <a:bodyPr rtlCol="0" anchor="ctr"/>
          <a:lstStyle/>
          <a:p>
            <a:pPr algn="ctr"/>
          </a:p>
        </p:txBody>
      </p:sp>
      <p:sp>
        <p:nvSpPr>
          <p:cNvPr id="34" name="Text 33"/>
          <p:cNvSpPr txBox="1"/>
          <p:nvPr/>
        </p:nvSpPr>
        <p:spPr>
          <a:xfrm>
            <a:off x="838200" y="1834475"/>
            <a:ext cx="23812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8A4B12"/>
                </a:solidFill>
                <a:latin typeface="Readex Pro"/>
                <a:ea typeface="Readex Pro"/>
                <a:cs typeface="Readex Pro"/>
              </a:rPr>
              <a:t>القبول</a:t>
            </a:r>
          </a:p>
        </p:txBody>
      </p:sp>
      <p:sp>
        <p:nvSpPr>
          <p:cNvPr id="35" name="Text 34"/>
          <p:cNvSpPr txBox="1"/>
          <p:nvPr/>
        </p:nvSpPr>
        <p:spPr>
          <a:xfrm>
            <a:off x="904113" y="2307169"/>
            <a:ext cx="2315337"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قرار موثق ممن يملك الصلاحية.</a:t>
            </a:r>
          </a:p>
        </p:txBody>
      </p:sp>
      <p:sp>
        <p:nvSpPr>
          <p:cNvPr id="36" name="Text 35"/>
          <p:cNvSpPr txBox="1"/>
          <p:nvPr/>
        </p:nvSpPr>
        <p:spPr>
          <a:xfrm>
            <a:off x="904113" y="3119358"/>
            <a:ext cx="2315337"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قبول مؤقت مع موعد مراجعة.</a:t>
            </a:r>
          </a:p>
        </p:txBody>
      </p:sp>
      <p:sp>
        <p:nvSpPr>
          <p:cNvPr id="37" name="Box 36"/>
          <p:cNvSpPr/>
          <p:nvPr/>
        </p:nvSpPr>
        <p:spPr>
          <a:xfrm>
            <a:off x="815975" y="4565253"/>
            <a:ext cx="10560050" cy="660400"/>
          </a:xfrm>
          <a:prstGeom prst="roundRect">
            <a:avLst>
              <a:gd name="adj" fmla="val 15238"/>
            </a:avLst>
          </a:prstGeom>
          <a:solidFill>
            <a:srgbClr val="FBEAE5"/>
          </a:solidFill>
          <a:ln w="6350">
            <a:solidFill>
              <a:srgbClr val="E7B8AC"/>
            </a:solidFill>
          </a:ln>
        </p:spPr>
        <p:txBody>
          <a:bodyPr rtlCol="0" anchor="ctr"/>
          <a:lstStyle/>
          <a:p>
            <a:pPr algn="ctr"/>
          </a:p>
        </p:txBody>
      </p:sp>
      <p:pic>
        <p:nvPicPr>
          <p:cNvPr id="38" name="Icon Warning 37" descr="icon018.png"/>
          <p:cNvPicPr>
            <a:picLocks noChangeAspect="1"/>
          </p:cNvPicPr>
          <p:nvPr/>
        </p:nvPicPr>
        <p:blipFill>
          <a:blip r:embed="rId2"/>
          <a:stretch>
            <a:fillRect/>
          </a:stretch>
        </p:blipFill>
        <p:spPr>
          <a:xfrm>
            <a:off x="10902950" y="4749403"/>
            <a:ext cx="292100" cy="292100"/>
          </a:xfrm>
          <a:prstGeom prst="rect">
            <a:avLst/>
          </a:prstGeom>
        </p:spPr>
      </p:pic>
      <p:sp>
        <p:nvSpPr>
          <p:cNvPr id="39" name="Text 38"/>
          <p:cNvSpPr txBox="1"/>
          <p:nvPr/>
        </p:nvSpPr>
        <p:spPr>
          <a:xfrm>
            <a:off x="838200" y="4651137"/>
            <a:ext cx="9950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قبول الخطر قرار داخلي. لا يلغي التزاماً نظامياً، ولا يمنح إعفاءً من جهة تنظيمية.</a:t>
            </a:r>
          </a:p>
        </p:txBody>
      </p:sp>
      <p:sp>
        <p:nvSpPr>
          <p:cNvPr id="40" name="Text 3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41" name="Text 4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شهية المخاطر وحدود التحمل</a:t>
            </a:r>
          </a:p>
        </p:txBody>
      </p:sp>
      <p:sp>
        <p:nvSpPr>
          <p:cNvPr id="5" name="Box 4"/>
          <p:cNvSpPr/>
          <p:nvPr/>
        </p:nvSpPr>
        <p:spPr>
          <a:xfrm>
            <a:off x="6169025" y="1623020"/>
            <a:ext cx="5207000" cy="2038350"/>
          </a:xfrm>
          <a:prstGeom prst="roundRect">
            <a:avLst>
              <a:gd name="adj" fmla="val 5590"/>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767419"/>
            <a:ext cx="50038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شهية المخاطر</a:t>
            </a:r>
          </a:p>
        </p:txBody>
      </p:sp>
      <p:sp>
        <p:nvSpPr>
          <p:cNvPr id="7" name="Text 6"/>
          <p:cNvSpPr txBox="1"/>
          <p:nvPr/>
        </p:nvSpPr>
        <p:spPr>
          <a:xfrm>
            <a:off x="6204648" y="2164040"/>
            <a:ext cx="4990402" cy="644525"/>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حجم الخطر الذي تقبله الجهة عموماً لتحقق أهدافها. يقرها المجلس أو صاحب الصلاحية.</a:t>
            </a:r>
          </a:p>
        </p:txBody>
      </p:sp>
      <p:sp>
        <p:nvSpPr>
          <p:cNvPr id="8" name="Box 7"/>
          <p:cNvSpPr/>
          <p:nvPr/>
        </p:nvSpPr>
        <p:spPr>
          <a:xfrm>
            <a:off x="6350000" y="2924770"/>
            <a:ext cx="4845050" cy="581025"/>
          </a:xfrm>
          <a:prstGeom prst="roundRect">
            <a:avLst>
              <a:gd name="adj" fmla="val 15300"/>
            </a:avLst>
          </a:prstGeom>
          <a:solidFill>
            <a:srgbClr val="FFFFFF"/>
          </a:solidFill>
          <a:ln>
            <a:noFill/>
          </a:ln>
        </p:spPr>
        <p:txBody>
          <a:bodyPr rtlCol="0" anchor="ctr"/>
          <a:lstStyle/>
          <a:p>
            <a:pPr algn="ctr"/>
          </a:p>
        </p:txBody>
      </p:sp>
      <p:sp>
        <p:nvSpPr>
          <p:cNvPr id="9" name="Rule 8"/>
          <p:cNvSpPr/>
          <p:nvPr/>
        </p:nvSpPr>
        <p:spPr>
          <a:xfrm>
            <a:off x="6350000" y="2924770"/>
            <a:ext cx="4845050" cy="6350"/>
          </a:xfrm>
          <a:prstGeom prst="rect">
            <a:avLst/>
          </a:prstGeom>
          <a:solidFill>
            <a:srgbClr val="E1DBCD"/>
          </a:solidFill>
          <a:ln>
            <a:noFill/>
          </a:ln>
        </p:spPr>
        <p:txBody>
          <a:bodyPr rtlCol="0" anchor="ctr"/>
          <a:lstStyle/>
          <a:p>
            <a:pPr algn="ctr"/>
          </a:p>
        </p:txBody>
      </p:sp>
      <p:sp>
        <p:nvSpPr>
          <p:cNvPr id="10" name="Rule 9"/>
          <p:cNvSpPr/>
          <p:nvPr/>
        </p:nvSpPr>
        <p:spPr>
          <a:xfrm>
            <a:off x="11144250" y="2924770"/>
            <a:ext cx="50800" cy="581025"/>
          </a:xfrm>
          <a:prstGeom prst="rect">
            <a:avLst/>
          </a:prstGeom>
          <a:solidFill>
            <a:srgbClr val="0E7C6B"/>
          </a:solidFill>
          <a:ln>
            <a:noFill/>
          </a:ln>
        </p:spPr>
        <p:txBody>
          <a:bodyPr rtlCol="0" anchor="ctr"/>
          <a:lstStyle/>
          <a:p>
            <a:pPr algn="ctr"/>
          </a:p>
        </p:txBody>
      </p:sp>
      <p:sp>
        <p:nvSpPr>
          <p:cNvPr id="11" name="Rule 10"/>
          <p:cNvSpPr/>
          <p:nvPr/>
        </p:nvSpPr>
        <p:spPr>
          <a:xfrm>
            <a:off x="6350000" y="3499445"/>
            <a:ext cx="4845050" cy="6350"/>
          </a:xfrm>
          <a:prstGeom prst="rect">
            <a:avLst/>
          </a:prstGeom>
          <a:solidFill>
            <a:srgbClr val="E1DBCD"/>
          </a:solidFill>
          <a:ln>
            <a:noFill/>
          </a:ln>
        </p:spPr>
        <p:txBody>
          <a:bodyPr rtlCol="0" anchor="ctr"/>
          <a:lstStyle/>
          <a:p>
            <a:pPr algn="ctr"/>
          </a:p>
        </p:txBody>
      </p:sp>
      <p:sp>
        <p:nvSpPr>
          <p:cNvPr id="12" name="Rule 11"/>
          <p:cNvSpPr/>
          <p:nvPr/>
        </p:nvSpPr>
        <p:spPr>
          <a:xfrm>
            <a:off x="6350000" y="2924770"/>
            <a:ext cx="6350" cy="581025"/>
          </a:xfrm>
          <a:prstGeom prst="rect">
            <a:avLst/>
          </a:prstGeom>
          <a:solidFill>
            <a:srgbClr val="E1DBCD"/>
          </a:solidFill>
          <a:ln>
            <a:noFill/>
          </a:ln>
        </p:spPr>
        <p:txBody>
          <a:bodyPr rtlCol="0" anchor="ctr"/>
          <a:lstStyle/>
          <a:p>
            <a:pPr algn="ctr"/>
          </a:p>
        </p:txBody>
      </p:sp>
      <p:sp>
        <p:nvSpPr>
          <p:cNvPr id="13" name="Text 12"/>
          <p:cNvSpPr txBox="1"/>
          <p:nvPr/>
        </p:nvSpPr>
        <p:spPr>
          <a:xfrm>
            <a:off x="6375400" y="3015163"/>
            <a:ext cx="4591050" cy="314325"/>
          </a:xfrm>
          <a:prstGeom prst="rect">
            <a:avLst/>
          </a:prstGeom>
          <a:noFill/>
        </p:spPr>
        <p:txBody>
          <a:bodyPr wrap="square" tIns="0" rIns="0" bIns="0" lIns="0" anchor="t" rtlCol="0" anchorCtr="0">
            <a:noAutofit/>
          </a:bodyPr>
          <a:lstStyle/>
          <a:p>
            <a:pPr algn="r" rtl="1">
              <a:lnSpc>
                <a:spcPts val="2475"/>
              </a:lnSpc>
              <a:spcBef>
                <a:spcPts val="0"/>
              </a:spcBef>
              <a:spcAft>
                <a:spcPts val="0"/>
              </a:spcAft>
            </a:pPr>
            <a:r>
              <a:rPr sz="1650" b="0" i="0">
                <a:solidFill>
                  <a:srgbClr val="172433"/>
                </a:solidFill>
                <a:latin typeface="IBM Plex Sans Arabic"/>
                <a:ea typeface="IBM Plex Sans Arabic"/>
                <a:cs typeface="IBM Plex Sans Arabic"/>
              </a:rPr>
              <a:t>«لا نقبل مخاطر عالية على بيانات الموظفين والعملاء.»</a:t>
            </a:r>
          </a:p>
        </p:txBody>
      </p:sp>
      <p:sp>
        <p:nvSpPr>
          <p:cNvPr id="14" name="Box 13"/>
          <p:cNvSpPr/>
          <p:nvPr/>
        </p:nvSpPr>
        <p:spPr>
          <a:xfrm>
            <a:off x="815975" y="1623020"/>
            <a:ext cx="5207000" cy="2038350"/>
          </a:xfrm>
          <a:prstGeom prst="roundRect">
            <a:avLst>
              <a:gd name="adj" fmla="val 5590"/>
            </a:avLst>
          </a:prstGeom>
          <a:solidFill>
            <a:srgbClr val="FFFDF8"/>
          </a:solidFill>
          <a:ln w="6350">
            <a:solidFill>
              <a:srgbClr val="E1DBCD"/>
            </a:solidFill>
          </a:ln>
        </p:spPr>
        <p:txBody>
          <a:bodyPr rtlCol="0" anchor="ctr"/>
          <a:lstStyle/>
          <a:p>
            <a:pPr algn="ctr"/>
          </a:p>
        </p:txBody>
      </p:sp>
      <p:sp>
        <p:nvSpPr>
          <p:cNvPr id="15" name="Text 14"/>
          <p:cNvSpPr txBox="1"/>
          <p:nvPr/>
        </p:nvSpPr>
        <p:spPr>
          <a:xfrm>
            <a:off x="838200" y="1767419"/>
            <a:ext cx="50038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حدود التحمل</a:t>
            </a:r>
          </a:p>
        </p:txBody>
      </p:sp>
      <p:sp>
        <p:nvSpPr>
          <p:cNvPr id="16" name="Text 15"/>
          <p:cNvSpPr txBox="1"/>
          <p:nvPr/>
        </p:nvSpPr>
        <p:spPr>
          <a:xfrm>
            <a:off x="838200" y="2164040"/>
            <a:ext cx="5003800" cy="322262"/>
          </a:xfrm>
          <a:prstGeom prst="rect">
            <a:avLst/>
          </a:prstGeom>
          <a:noFill/>
        </p:spPr>
        <p:txBody>
          <a:bodyPr wrap="square" tIns="0" rIns="0" bIns="0" lIns="0" anchor="t" rtlCol="0" anchorCtr="0">
            <a:noAutofit/>
          </a:bodyPr>
          <a:lstStyle/>
          <a:p>
            <a:pPr algn="r" rtl="1">
              <a:lnSpc>
                <a:spcPts val="2538"/>
              </a:lnSpc>
              <a:spcBef>
                <a:spcPts val="0"/>
              </a:spcBef>
              <a:spcAft>
                <a:spcPts val="0"/>
              </a:spcAft>
            </a:pPr>
            <a:r>
              <a:rPr sz="1750" b="0" i="0">
                <a:solidFill>
                  <a:srgbClr val="172433"/>
                </a:solidFill>
                <a:latin typeface="IBM Plex Sans Arabic"/>
                <a:ea typeface="IBM Plex Sans Arabic"/>
                <a:cs typeface="IBM Plex Sans Arabic"/>
              </a:rPr>
              <a:t>حدود قابلة للقياس تطبق الشهية على خطر أو مؤشر محدد.</a:t>
            </a:r>
          </a:p>
        </p:txBody>
      </p:sp>
      <p:sp>
        <p:nvSpPr>
          <p:cNvPr id="17" name="Box 16"/>
          <p:cNvSpPr/>
          <p:nvPr/>
        </p:nvSpPr>
        <p:spPr>
          <a:xfrm>
            <a:off x="996950" y="2602508"/>
            <a:ext cx="4845050" cy="895350"/>
          </a:xfrm>
          <a:prstGeom prst="roundRect">
            <a:avLst>
              <a:gd name="adj" fmla="val 9929"/>
            </a:avLst>
          </a:prstGeom>
          <a:solidFill>
            <a:srgbClr val="FFFFFF"/>
          </a:solidFill>
          <a:ln>
            <a:noFill/>
          </a:ln>
        </p:spPr>
        <p:txBody>
          <a:bodyPr rtlCol="0" anchor="ctr"/>
          <a:lstStyle/>
          <a:p>
            <a:pPr algn="ctr"/>
          </a:p>
        </p:txBody>
      </p:sp>
      <p:sp>
        <p:nvSpPr>
          <p:cNvPr id="18" name="Rule 17"/>
          <p:cNvSpPr/>
          <p:nvPr/>
        </p:nvSpPr>
        <p:spPr>
          <a:xfrm>
            <a:off x="996950" y="2602508"/>
            <a:ext cx="4845050" cy="6350"/>
          </a:xfrm>
          <a:prstGeom prst="rect">
            <a:avLst/>
          </a:prstGeom>
          <a:solidFill>
            <a:srgbClr val="E1DBCD"/>
          </a:solidFill>
          <a:ln>
            <a:noFill/>
          </a:ln>
        </p:spPr>
        <p:txBody>
          <a:bodyPr rtlCol="0" anchor="ctr"/>
          <a:lstStyle/>
          <a:p>
            <a:pPr algn="ctr"/>
          </a:p>
        </p:txBody>
      </p:sp>
      <p:sp>
        <p:nvSpPr>
          <p:cNvPr id="19" name="Rule 18"/>
          <p:cNvSpPr/>
          <p:nvPr/>
        </p:nvSpPr>
        <p:spPr>
          <a:xfrm>
            <a:off x="5791200" y="2602508"/>
            <a:ext cx="50800" cy="895350"/>
          </a:xfrm>
          <a:prstGeom prst="rect">
            <a:avLst/>
          </a:prstGeom>
          <a:solidFill>
            <a:srgbClr val="24506B"/>
          </a:solidFill>
          <a:ln>
            <a:noFill/>
          </a:ln>
        </p:spPr>
        <p:txBody>
          <a:bodyPr rtlCol="0" anchor="ctr"/>
          <a:lstStyle/>
          <a:p>
            <a:pPr algn="ctr"/>
          </a:p>
        </p:txBody>
      </p:sp>
      <p:sp>
        <p:nvSpPr>
          <p:cNvPr id="20" name="Rule 19"/>
          <p:cNvSpPr/>
          <p:nvPr/>
        </p:nvSpPr>
        <p:spPr>
          <a:xfrm>
            <a:off x="996950" y="3491508"/>
            <a:ext cx="4845050" cy="6350"/>
          </a:xfrm>
          <a:prstGeom prst="rect">
            <a:avLst/>
          </a:prstGeom>
          <a:solidFill>
            <a:srgbClr val="E1DBCD"/>
          </a:solidFill>
          <a:ln>
            <a:noFill/>
          </a:ln>
        </p:spPr>
        <p:txBody>
          <a:bodyPr rtlCol="0" anchor="ctr"/>
          <a:lstStyle/>
          <a:p>
            <a:pPr algn="ctr"/>
          </a:p>
        </p:txBody>
      </p:sp>
      <p:sp>
        <p:nvSpPr>
          <p:cNvPr id="21" name="Rule 20"/>
          <p:cNvSpPr/>
          <p:nvPr/>
        </p:nvSpPr>
        <p:spPr>
          <a:xfrm>
            <a:off x="996950" y="2602508"/>
            <a:ext cx="6350" cy="895350"/>
          </a:xfrm>
          <a:prstGeom prst="rect">
            <a:avLst/>
          </a:prstGeom>
          <a:solidFill>
            <a:srgbClr val="E1DBCD"/>
          </a:solidFill>
          <a:ln>
            <a:noFill/>
          </a:ln>
        </p:spPr>
        <p:txBody>
          <a:bodyPr rtlCol="0" anchor="ctr"/>
          <a:lstStyle/>
          <a:p>
            <a:pPr algn="ctr"/>
          </a:p>
        </p:txBody>
      </p:sp>
      <p:sp>
        <p:nvSpPr>
          <p:cNvPr id="22" name="Text 21"/>
          <p:cNvSpPr txBox="1"/>
          <p:nvPr/>
        </p:nvSpPr>
        <p:spPr>
          <a:xfrm>
            <a:off x="1048131" y="2692900"/>
            <a:ext cx="4565269" cy="628650"/>
          </a:xfrm>
          <a:prstGeom prst="rect">
            <a:avLst/>
          </a:prstGeom>
          <a:noFill/>
        </p:spPr>
        <p:txBody>
          <a:bodyPr wrap="square" tIns="0" rIns="0" bIns="0" lIns="0" anchor="t" rtlCol="0" anchorCtr="0">
            <a:noAutofit/>
          </a:bodyPr>
          <a:lstStyle/>
          <a:p>
            <a:pPr algn="r" rtl="1">
              <a:lnSpc>
                <a:spcPts val="2475"/>
              </a:lnSpc>
              <a:spcBef>
                <a:spcPts val="0"/>
              </a:spcBef>
              <a:spcAft>
                <a:spcPts val="0"/>
              </a:spcAft>
            </a:pPr>
            <a:r>
              <a:rPr sz="1650" b="0" i="0">
                <a:solidFill>
                  <a:srgbClr val="172433"/>
                </a:solidFill>
                <a:latin typeface="IBM Plex Sans Arabic"/>
                <a:ea typeface="IBM Plex Sans Arabic"/>
                <a:cs typeface="IBM Plex Sans Arabic"/>
              </a:rPr>
              <a:t>«لا يبقى خطر عالٍ بلا خطة أكثر من 30 يوماً.» «توقف الرواتب لا يتجاوز يوم عمل.»</a:t>
            </a:r>
          </a:p>
        </p:txBody>
      </p:sp>
      <p:graphicFrame>
        <p:nvGraphicFramePr>
          <p:cNvPr id="23" name="Table 22"/>
          <p:cNvGraphicFramePr>
            <a:graphicFrameLocks noGrp="1"/>
          </p:cNvGraphicFramePr>
          <p:nvPr/>
        </p:nvGraphicFramePr>
        <p:xfrm>
          <a:off x="815975" y="3820120"/>
          <a:ext cx="10560050" cy="1743472"/>
        </p:xfrm>
        <a:graphic>
          <a:graphicData uri="http://schemas.openxmlformats.org/drawingml/2006/table">
            <a:tbl>
              <a:tblPr firstRow="0" bandRow="0" lastRow="0" firstCol="0" lastCol="0" bandCol="0">
                <a:tableStyleId>{2D5ABB26-0587-4C30-8999-92F81FD0307C}</a:tableStyleId>
              </a:tblPr>
              <a:tblGrid>
                <a:gridCol w="6546850"/>
                <a:gridCol w="4013200"/>
              </a:tblGrid>
              <a:tr h="435868">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القرار في رُفاد</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المستوى</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يقبله مالك الخطر ويوثقه</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1" i="0">
                          <a:solidFill>
                            <a:srgbClr val="172433"/>
                          </a:solidFill>
                          <a:latin typeface="IBM Plex Sans Arabic"/>
                          <a:ea typeface="IBM Plex Sans Arabic"/>
                          <a:cs typeface="IBM Plex Sans Arabic"/>
                        </a:rPr>
                        <a:t>منخفض جداً أو منخفض</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خطة معالجة، أو قبول موثق من الرئيس التنفيذي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1" i="0">
                          <a:solidFill>
                            <a:srgbClr val="172433"/>
                          </a:solidFill>
                          <a:latin typeface="IBM Plex Sans Arabic"/>
                          <a:ea typeface="IBM Plex Sans Arabic"/>
                          <a:cs typeface="IBM Plex Sans Arabic"/>
                        </a:rPr>
                        <a:t>متوسط</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معالجة إلزامية، وعرض على اللجنة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1" i="0">
                          <a:solidFill>
                            <a:srgbClr val="172433"/>
                          </a:solidFill>
                          <a:latin typeface="IBM Plex Sans Arabic"/>
                          <a:ea typeface="IBM Plex Sans Arabic"/>
                          <a:cs typeface="IBM Plex Sans Arabic"/>
                        </a:rPr>
                        <a:t>عالٍ أو حرج</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24" name="Text 2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5" name="Text 2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الضوابط: طبيعتها ووظيفتها</a:t>
            </a:r>
          </a:p>
        </p:txBody>
      </p:sp>
      <p:graphicFrame>
        <p:nvGraphicFramePr>
          <p:cNvPr id="5" name="Table 4"/>
          <p:cNvGraphicFramePr>
            <a:graphicFrameLocks noGrp="1"/>
          </p:cNvGraphicFramePr>
          <p:nvPr/>
        </p:nvGraphicFramePr>
        <p:xfrm>
          <a:off x="815975" y="1635720"/>
          <a:ext cx="10560050" cy="3001368"/>
        </p:xfrm>
        <a:graphic>
          <a:graphicData uri="http://schemas.openxmlformats.org/drawingml/2006/table">
            <a:tbl>
              <a:tblPr firstRow="0" bandRow="0" lastRow="0" firstCol="0" lastCol="0" bandCol="0">
                <a:tableStyleId>{2D5ABB26-0587-4C30-8999-92F81FD0307C}</a:tableStyleId>
              </a:tblPr>
              <a:tblGrid>
                <a:gridCol w="2956560"/>
                <a:gridCol w="2957195"/>
                <a:gridCol w="2956560"/>
                <a:gridCol w="1689735"/>
              </a:tblGrid>
              <a:tr h="566043">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تصحيحي: يعالج</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كشفي: يكتشف</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وقائي: يمنع</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الطبيعة</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34641">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خطة الاستجابة للحوادث</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مراجعة الصلاحيات الدورية</a:t>
                      </a:r>
                    </a:p>
                  </a:txBody>
                  <a:tcPr marT="115091" marR="163830" marB="76044" marL="8495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سياسة الاستخدام، والتوعية</a:t>
                      </a:r>
                    </a:p>
                  </a:txBody>
                  <a:tcPr marT="115091" marR="163830" marB="76044" marL="8495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إداري</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34641">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الاستعادة من النسخ</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تنبيهات الدخول، وسجلات الأحداث</a:t>
                      </a:r>
                    </a:p>
                  </a:txBody>
                  <a:tcPr marT="115091" marR="163830" marB="76044" marL="8495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التحقق متعدد العوامل، والتشفير</a:t>
                      </a:r>
                    </a:p>
                  </a:txBody>
                  <a:tcPr marT="115091" marR="163830" marB="76044" marL="8495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تقني</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66043">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موقع بديل</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كاميرات المراقبة</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أقفال غرفة الخوادم</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1" i="0">
                          <a:solidFill>
                            <a:srgbClr val="0E7C6B"/>
                          </a:solidFill>
                          <a:latin typeface="IBM Plex Sans Arabic"/>
                          <a:ea typeface="IBM Plex Sans Arabic"/>
                          <a:cs typeface="IBM Plex Sans Arabic"/>
                        </a:rPr>
                        <a:t>مادي</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5803007" y="4805362"/>
            <a:ext cx="5576193" cy="982861"/>
          </a:xfrm>
          <a:prstGeom prst="roundRect">
            <a:avLst>
              <a:gd name="adj" fmla="val 10337"/>
            </a:avLst>
          </a:prstGeom>
          <a:solidFill>
            <a:srgbClr val="E3F1ED"/>
          </a:solidFill>
          <a:ln>
            <a:noFill/>
          </a:ln>
        </p:spPr>
        <p:txBody>
          <a:bodyPr rtlCol="0" anchor="ctr"/>
          <a:lstStyle/>
          <a:p>
            <a:pPr algn="ctr"/>
          </a:p>
        </p:txBody>
      </p:sp>
      <p:pic>
        <p:nvPicPr>
          <p:cNvPr id="7" name="Icon Lightbulb 6" descr="icon031.png"/>
          <p:cNvPicPr>
            <a:picLocks noChangeAspect="1"/>
          </p:cNvPicPr>
          <p:nvPr/>
        </p:nvPicPr>
        <p:blipFill>
          <a:blip r:embed="rId2"/>
          <a:stretch>
            <a:fillRect/>
          </a:stretch>
        </p:blipFill>
        <p:spPr>
          <a:xfrm>
            <a:off x="10934700" y="5163443"/>
            <a:ext cx="266700" cy="266700"/>
          </a:xfrm>
          <a:prstGeom prst="rect">
            <a:avLst/>
          </a:prstGeom>
        </p:spPr>
      </p:pic>
      <p:sp>
        <p:nvSpPr>
          <p:cNvPr id="8" name="Text 7"/>
          <p:cNvSpPr txBox="1"/>
          <p:nvPr/>
        </p:nvSpPr>
        <p:spPr>
          <a:xfrm>
            <a:off x="5835619" y="4892008"/>
            <a:ext cx="4984781"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صنّف الضابط بالبعدين معاً: «التحقق متعدد العوامل ضابط تقني وقائي».</a:t>
            </a:r>
          </a:p>
        </p:txBody>
      </p:sp>
      <p:sp>
        <p:nvSpPr>
          <p:cNvPr id="9" name="Box 8"/>
          <p:cNvSpPr/>
          <p:nvPr/>
        </p:nvSpPr>
        <p:spPr>
          <a:xfrm>
            <a:off x="812800" y="4805362"/>
            <a:ext cx="4875907" cy="982861"/>
          </a:xfrm>
          <a:prstGeom prst="roundRect">
            <a:avLst>
              <a:gd name="adj" fmla="val 10337"/>
            </a:avLst>
          </a:prstGeom>
          <a:solidFill>
            <a:srgbClr val="F6ECDA"/>
          </a:solidFill>
          <a:ln>
            <a:noFill/>
          </a:ln>
        </p:spPr>
        <p:txBody>
          <a:bodyPr rtlCol="0" anchor="ctr"/>
          <a:lstStyle/>
          <a:p>
            <a:pPr algn="ctr"/>
          </a:p>
        </p:txBody>
      </p:sp>
      <p:pic>
        <p:nvPicPr>
          <p:cNvPr id="10" name="Icon Lightbulb 9" descr="icon032.png"/>
          <p:cNvPicPr>
            <a:picLocks noChangeAspect="1"/>
          </p:cNvPicPr>
          <p:nvPr/>
        </p:nvPicPr>
        <p:blipFill>
          <a:blip r:embed="rId3"/>
          <a:stretch>
            <a:fillRect/>
          </a:stretch>
        </p:blipFill>
        <p:spPr>
          <a:xfrm>
            <a:off x="5244207" y="5163443"/>
            <a:ext cx="266700" cy="266700"/>
          </a:xfrm>
          <a:prstGeom prst="rect">
            <a:avLst/>
          </a:prstGeom>
        </p:spPr>
      </p:pic>
      <p:sp>
        <p:nvSpPr>
          <p:cNvPr id="11" name="Text 10"/>
          <p:cNvSpPr txBox="1"/>
          <p:nvPr/>
        </p:nvSpPr>
        <p:spPr>
          <a:xfrm>
            <a:off x="866421" y="4892008"/>
            <a:ext cx="4263486"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الضابط التعويضي بديل يحقق الهدف نفسه حين يتعذر الأصلي.</a:t>
            </a:r>
          </a:p>
        </p:txBody>
      </p:sp>
      <p:sp>
        <p:nvSpPr>
          <p:cNvPr id="12" name="Text 1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3" name="Text 1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صف مكتمل في سجل المخاطر</a:t>
            </a:r>
          </a:p>
        </p:txBody>
      </p:sp>
      <p:sp>
        <p:nvSpPr>
          <p:cNvPr id="6" name="Box 5"/>
          <p:cNvSpPr/>
          <p:nvPr/>
        </p:nvSpPr>
        <p:spPr>
          <a:xfrm>
            <a:off x="812800" y="1594445"/>
            <a:ext cx="10566400" cy="895350"/>
          </a:xfrm>
          <a:prstGeom prst="roundRect">
            <a:avLst>
              <a:gd name="adj" fmla="val 9929"/>
            </a:avLst>
          </a:prstGeom>
          <a:solidFill>
            <a:srgbClr val="FFFFFF"/>
          </a:solidFill>
          <a:ln>
            <a:noFill/>
          </a:ln>
        </p:spPr>
        <p:txBody>
          <a:bodyPr rtlCol="0" anchor="ctr"/>
          <a:lstStyle/>
          <a:p>
            <a:pPr algn="ctr"/>
          </a:p>
        </p:txBody>
      </p:sp>
      <p:sp>
        <p:nvSpPr>
          <p:cNvPr id="7" name="Rule 6"/>
          <p:cNvSpPr/>
          <p:nvPr/>
        </p:nvSpPr>
        <p:spPr>
          <a:xfrm>
            <a:off x="812800" y="1594445"/>
            <a:ext cx="10566400" cy="6350"/>
          </a:xfrm>
          <a:prstGeom prst="rect">
            <a:avLst/>
          </a:prstGeom>
          <a:solidFill>
            <a:srgbClr val="E1DBCD"/>
          </a:solidFill>
          <a:ln>
            <a:noFill/>
          </a:ln>
        </p:spPr>
        <p:txBody>
          <a:bodyPr rtlCol="0" anchor="ctr"/>
          <a:lstStyle/>
          <a:p>
            <a:pPr algn="ctr"/>
          </a:p>
        </p:txBody>
      </p:sp>
      <p:sp>
        <p:nvSpPr>
          <p:cNvPr id="8" name="Rule 7"/>
          <p:cNvSpPr/>
          <p:nvPr/>
        </p:nvSpPr>
        <p:spPr>
          <a:xfrm>
            <a:off x="11328400" y="1594445"/>
            <a:ext cx="50800" cy="895350"/>
          </a:xfrm>
          <a:prstGeom prst="rect">
            <a:avLst/>
          </a:prstGeom>
          <a:solidFill>
            <a:srgbClr val="0E7C6B"/>
          </a:solidFill>
          <a:ln>
            <a:noFill/>
          </a:ln>
        </p:spPr>
        <p:txBody>
          <a:bodyPr rtlCol="0" anchor="ctr"/>
          <a:lstStyle/>
          <a:p>
            <a:pPr algn="ctr"/>
          </a:p>
        </p:txBody>
      </p:sp>
      <p:sp>
        <p:nvSpPr>
          <p:cNvPr id="9" name="Rule 8"/>
          <p:cNvSpPr/>
          <p:nvPr/>
        </p:nvSpPr>
        <p:spPr>
          <a:xfrm>
            <a:off x="812800" y="2483445"/>
            <a:ext cx="10566400" cy="6350"/>
          </a:xfrm>
          <a:prstGeom prst="rect">
            <a:avLst/>
          </a:prstGeom>
          <a:solidFill>
            <a:srgbClr val="E1DBCD"/>
          </a:solidFill>
          <a:ln>
            <a:noFill/>
          </a:ln>
        </p:spPr>
        <p:txBody>
          <a:bodyPr rtlCol="0" anchor="ctr"/>
          <a:lstStyle/>
          <a:p>
            <a:pPr algn="ctr"/>
          </a:p>
        </p:txBody>
      </p:sp>
      <p:sp>
        <p:nvSpPr>
          <p:cNvPr id="10" name="Rule 9"/>
          <p:cNvSpPr/>
          <p:nvPr/>
        </p:nvSpPr>
        <p:spPr>
          <a:xfrm>
            <a:off x="812800" y="1594445"/>
            <a:ext cx="6350" cy="895350"/>
          </a:xfrm>
          <a:prstGeom prst="rect">
            <a:avLst/>
          </a:prstGeom>
          <a:solidFill>
            <a:srgbClr val="E1DBCD"/>
          </a:solidFill>
          <a:ln>
            <a:noFill/>
          </a:ln>
        </p:spPr>
        <p:txBody>
          <a:bodyPr rtlCol="0" anchor="ctr"/>
          <a:lstStyle/>
          <a:p>
            <a:pPr algn="ctr"/>
          </a:p>
        </p:txBody>
      </p:sp>
      <p:sp>
        <p:nvSpPr>
          <p:cNvPr id="11" name="Text 10"/>
          <p:cNvSpPr txBox="1"/>
          <p:nvPr/>
        </p:nvSpPr>
        <p:spPr>
          <a:xfrm>
            <a:off x="838200" y="1684838"/>
            <a:ext cx="10312400" cy="628650"/>
          </a:xfrm>
          <a:prstGeom prst="rect">
            <a:avLst/>
          </a:prstGeom>
          <a:noFill/>
        </p:spPr>
        <p:txBody>
          <a:bodyPr wrap="square" tIns="0" rIns="0" bIns="0" lIns="0" anchor="t" rtlCol="0" anchorCtr="0">
            <a:noAutofit/>
          </a:bodyPr>
          <a:lstStyle/>
          <a:p>
            <a:pPr algn="r" rtl="1">
              <a:lnSpc>
                <a:spcPts val="2475"/>
              </a:lnSpc>
              <a:spcBef>
                <a:spcPts val="0"/>
              </a:spcBef>
              <a:spcAft>
                <a:spcPts val="0"/>
              </a:spcAft>
            </a:pPr>
            <a:r>
              <a:rPr sz="1650" b="0" i="0">
                <a:solidFill>
                  <a:srgbClr val="172433"/>
                </a:solidFill>
                <a:latin typeface="IBM Plex Sans Arabic"/>
                <a:ea typeface="IBM Plex Sans Arabic"/>
                <a:cs typeface="IBM Plex Sans Arabic"/>
              </a:rPr>
              <a:t>الوصف: 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2" name="Box 11"/>
          <p:cNvSpPr/>
          <p:nvPr/>
        </p:nvSpPr>
        <p:spPr>
          <a:xfrm>
            <a:off x="6156325" y="2619970"/>
            <a:ext cx="5219700" cy="3365500"/>
          </a:xfrm>
          <a:prstGeom prst="roundRect">
            <a:avLst>
              <a:gd name="adj" fmla="val 3389"/>
            </a:avLst>
          </a:prstGeom>
          <a:solidFill>
            <a:srgbClr val="FFFDF8"/>
          </a:solidFill>
          <a:ln w="6350">
            <a:solidFill>
              <a:srgbClr val="E1DBCD"/>
            </a:solidFill>
          </a:ln>
        </p:spPr>
        <p:txBody>
          <a:bodyPr rtlCol="0" anchor="ctr"/>
          <a:lstStyle/>
          <a:p>
            <a:pPr algn="ctr"/>
          </a:p>
        </p:txBody>
      </p:sp>
      <p:sp>
        <p:nvSpPr>
          <p:cNvPr id="13" name="Text 12"/>
          <p:cNvSpPr txBox="1"/>
          <p:nvPr/>
        </p:nvSpPr>
        <p:spPr>
          <a:xfrm>
            <a:off x="9499600" y="271569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الرقم</a:t>
            </a:r>
          </a:p>
        </p:txBody>
      </p:sp>
      <p:sp>
        <p:nvSpPr>
          <p:cNvPr id="14" name="Text 13"/>
          <p:cNvSpPr txBox="1"/>
          <p:nvPr/>
        </p:nvSpPr>
        <p:spPr>
          <a:xfrm>
            <a:off x="6178550" y="2715697"/>
            <a:ext cx="3340100" cy="311150"/>
          </a:xfrm>
          <a:prstGeom prst="rect">
            <a:avLst/>
          </a:prstGeom>
          <a:noFill/>
        </p:spPr>
        <p:txBody>
          <a:bodyPr wrap="square" tIns="0" rIns="0" bIns="0" lIns="0" anchor="t" rtlCol="0" anchorCtr="0">
            <a:noAutofit/>
          </a:bodyPr>
          <a:lstStyle/>
          <a:p>
            <a:pPr algn="r">
              <a:lnSpc>
                <a:spcPts val="2450"/>
              </a:lnSpc>
              <a:spcBef>
                <a:spcPts val="0"/>
              </a:spcBef>
              <a:spcAft>
                <a:spcPts val="0"/>
              </a:spcAft>
            </a:pPr>
            <a:r>
              <a:rPr sz="1750" b="0" i="0">
                <a:solidFill>
                  <a:srgbClr val="172433"/>
                </a:solidFill>
                <a:latin typeface="IBM Plex Sans Arabic"/>
                <a:ea typeface="IBM Plex Sans Arabic"/>
                <a:cs typeface="IBM Plex Sans Arabic"/>
              </a:rPr>
              <a:t>R-07</a:t>
            </a:r>
          </a:p>
        </p:txBody>
      </p:sp>
      <p:sp>
        <p:nvSpPr>
          <p:cNvPr id="15" name="Text 14"/>
          <p:cNvSpPr txBox="1"/>
          <p:nvPr/>
        </p:nvSpPr>
        <p:spPr>
          <a:xfrm>
            <a:off x="9499600" y="310304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الأصل</a:t>
            </a:r>
          </a:p>
        </p:txBody>
      </p:sp>
      <p:sp>
        <p:nvSpPr>
          <p:cNvPr id="16" name="Text 15"/>
          <p:cNvSpPr txBox="1"/>
          <p:nvPr/>
        </p:nvSpPr>
        <p:spPr>
          <a:xfrm>
            <a:off x="6215698" y="3103047"/>
            <a:ext cx="3302952" cy="62230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حاسوب أخصائي الرواتب وملفات تصدير الرواتب</a:t>
            </a:r>
          </a:p>
        </p:txBody>
      </p:sp>
      <p:sp>
        <p:nvSpPr>
          <p:cNvPr id="17" name="Text 16"/>
          <p:cNvSpPr txBox="1"/>
          <p:nvPr/>
        </p:nvSpPr>
        <p:spPr>
          <a:xfrm>
            <a:off x="9499600" y="380154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الضوابط الحالية</a:t>
            </a:r>
          </a:p>
        </p:txBody>
      </p:sp>
      <p:sp>
        <p:nvSpPr>
          <p:cNvPr id="18" name="Text 17"/>
          <p:cNvSpPr txBox="1"/>
          <p:nvPr/>
        </p:nvSpPr>
        <p:spPr>
          <a:xfrm>
            <a:off x="6215698" y="3801547"/>
            <a:ext cx="3302952" cy="62230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كلمة مرور لحساب الجهاز، وسياسة الاستخدام المقبول. لا تشفير للقرص.</a:t>
            </a:r>
          </a:p>
        </p:txBody>
      </p:sp>
      <p:sp>
        <p:nvSpPr>
          <p:cNvPr id="19" name="Text 18"/>
          <p:cNvSpPr txBox="1"/>
          <p:nvPr/>
        </p:nvSpPr>
        <p:spPr>
          <a:xfrm>
            <a:off x="9499600" y="450004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التقييم الحالي</a:t>
            </a:r>
          </a:p>
        </p:txBody>
      </p:sp>
      <p:sp>
        <p:nvSpPr>
          <p:cNvPr id="20" name="Text 19"/>
          <p:cNvSpPr txBox="1"/>
          <p:nvPr/>
        </p:nvSpPr>
        <p:spPr>
          <a:xfrm>
            <a:off x="6178550" y="4500047"/>
            <a:ext cx="33401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3 × 4 = 12 · متوسط</a:t>
            </a:r>
          </a:p>
        </p:txBody>
      </p:sp>
      <p:sp>
        <p:nvSpPr>
          <p:cNvPr id="21" name="Text 20"/>
          <p:cNvSpPr txBox="1"/>
          <p:nvPr/>
        </p:nvSpPr>
        <p:spPr>
          <a:xfrm>
            <a:off x="9499600" y="488739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مالك الخطر</a:t>
            </a:r>
          </a:p>
        </p:txBody>
      </p:sp>
      <p:sp>
        <p:nvSpPr>
          <p:cNvPr id="22" name="Text 21"/>
          <p:cNvSpPr txBox="1"/>
          <p:nvPr/>
        </p:nvSpPr>
        <p:spPr>
          <a:xfrm>
            <a:off x="6178550" y="4887397"/>
            <a:ext cx="33401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مديرة الموارد البشرية</a:t>
            </a:r>
          </a:p>
        </p:txBody>
      </p:sp>
      <p:sp>
        <p:nvSpPr>
          <p:cNvPr id="23" name="Box 22"/>
          <p:cNvSpPr/>
          <p:nvPr/>
        </p:nvSpPr>
        <p:spPr>
          <a:xfrm>
            <a:off x="815975" y="2619970"/>
            <a:ext cx="5219700" cy="3365500"/>
          </a:xfrm>
          <a:prstGeom prst="roundRect">
            <a:avLst>
              <a:gd name="adj" fmla="val 3389"/>
            </a:avLst>
          </a:prstGeom>
          <a:solidFill>
            <a:srgbClr val="FFFDF8"/>
          </a:solidFill>
          <a:ln w="6350">
            <a:solidFill>
              <a:srgbClr val="E1DBCD"/>
            </a:solidFill>
          </a:ln>
        </p:spPr>
        <p:txBody>
          <a:bodyPr rtlCol="0" anchor="ctr"/>
          <a:lstStyle/>
          <a:p>
            <a:pPr algn="ctr"/>
          </a:p>
        </p:txBody>
      </p:sp>
      <p:sp>
        <p:nvSpPr>
          <p:cNvPr id="24" name="Text 23"/>
          <p:cNvSpPr txBox="1"/>
          <p:nvPr/>
        </p:nvSpPr>
        <p:spPr>
          <a:xfrm>
            <a:off x="4159250" y="271569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المعالجة</a:t>
            </a:r>
          </a:p>
        </p:txBody>
      </p:sp>
      <p:sp>
        <p:nvSpPr>
          <p:cNvPr id="25" name="Text 24"/>
          <p:cNvSpPr txBox="1"/>
          <p:nvPr/>
        </p:nvSpPr>
        <p:spPr>
          <a:xfrm>
            <a:off x="875348" y="2715697"/>
            <a:ext cx="3302952" cy="124460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التخفيف: تشفير القرص الكامل لحواسيب الموارد البشرية والمالية، وحفظ ملفات الرواتب في مجلد سحابي مقيد بدل الجهاز.</a:t>
            </a:r>
          </a:p>
        </p:txBody>
      </p:sp>
      <p:sp>
        <p:nvSpPr>
          <p:cNvPr id="26" name="Text 25"/>
          <p:cNvSpPr txBox="1"/>
          <p:nvPr/>
        </p:nvSpPr>
        <p:spPr>
          <a:xfrm>
            <a:off x="4159250" y="403649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مالك الإجراء</a:t>
            </a:r>
          </a:p>
        </p:txBody>
      </p:sp>
      <p:sp>
        <p:nvSpPr>
          <p:cNvPr id="27" name="Text 26"/>
          <p:cNvSpPr txBox="1"/>
          <p:nvPr/>
        </p:nvSpPr>
        <p:spPr>
          <a:xfrm>
            <a:off x="838200" y="4036497"/>
            <a:ext cx="33401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مدير تقنية المعلومات</a:t>
            </a:r>
          </a:p>
        </p:txBody>
      </p:sp>
      <p:sp>
        <p:nvSpPr>
          <p:cNvPr id="28" name="Text 27"/>
          <p:cNvSpPr txBox="1"/>
          <p:nvPr/>
        </p:nvSpPr>
        <p:spPr>
          <a:xfrm>
            <a:off x="4159250" y="442384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الموعد</a:t>
            </a:r>
          </a:p>
        </p:txBody>
      </p:sp>
      <p:sp>
        <p:nvSpPr>
          <p:cNvPr id="29" name="Text 28"/>
          <p:cNvSpPr txBox="1"/>
          <p:nvPr/>
        </p:nvSpPr>
        <p:spPr>
          <a:xfrm>
            <a:off x="838200" y="4423847"/>
            <a:ext cx="33401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30 يوماً</a:t>
            </a:r>
          </a:p>
        </p:txBody>
      </p:sp>
      <p:sp>
        <p:nvSpPr>
          <p:cNvPr id="30" name="Text 29"/>
          <p:cNvSpPr txBox="1"/>
          <p:nvPr/>
        </p:nvSpPr>
        <p:spPr>
          <a:xfrm>
            <a:off x="4159250" y="481119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المتبقي المتوقع</a:t>
            </a:r>
          </a:p>
        </p:txBody>
      </p:sp>
      <p:sp>
        <p:nvSpPr>
          <p:cNvPr id="31" name="Text 30"/>
          <p:cNvSpPr txBox="1"/>
          <p:nvPr/>
        </p:nvSpPr>
        <p:spPr>
          <a:xfrm>
            <a:off x="838200" y="4811197"/>
            <a:ext cx="33401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3 × 2 = 6 · منخفض</a:t>
            </a:r>
          </a:p>
        </p:txBody>
      </p:sp>
      <p:sp>
        <p:nvSpPr>
          <p:cNvPr id="32" name="Text 31"/>
          <p:cNvSpPr txBox="1"/>
          <p:nvPr/>
        </p:nvSpPr>
        <p:spPr>
          <a:xfrm>
            <a:off x="4159250" y="5198547"/>
            <a:ext cx="17208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1" i="0">
                <a:solidFill>
                  <a:srgbClr val="5E6A75"/>
                </a:solidFill>
                <a:latin typeface="IBM Plex Sans Arabic"/>
                <a:ea typeface="IBM Plex Sans Arabic"/>
                <a:cs typeface="IBM Plex Sans Arabic"/>
              </a:rPr>
              <a:t>المتابعة</a:t>
            </a:r>
          </a:p>
        </p:txBody>
      </p:sp>
      <p:sp>
        <p:nvSpPr>
          <p:cNvPr id="33" name="Text 32"/>
          <p:cNvSpPr txBox="1"/>
          <p:nvPr/>
        </p:nvSpPr>
        <p:spPr>
          <a:xfrm>
            <a:off x="875348" y="5198547"/>
            <a:ext cx="3302952" cy="62230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تتحقق GRC من تقرير التشفير بعد 30 يوماً، وتحدّث السجل.</a:t>
            </a:r>
          </a:p>
        </p:txBody>
      </p:sp>
      <p:sp>
        <p:nvSpPr>
          <p:cNvPr id="34" name="Text 3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5" name="Text 3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حساب المورد المشترك</a:t>
            </a:r>
          </a:p>
        </p:txBody>
      </p:sp>
      <p:sp>
        <p:nvSpPr>
          <p:cNvPr id="7" name="Box 6"/>
          <p:cNvSpPr/>
          <p:nvPr/>
        </p:nvSpPr>
        <p:spPr>
          <a:xfrm>
            <a:off x="815975" y="1661120"/>
            <a:ext cx="10560050" cy="3825280"/>
          </a:xfrm>
          <a:prstGeom prst="roundRect">
            <a:avLst>
              <a:gd name="adj" fmla="val 2983"/>
            </a:avLst>
          </a:prstGeom>
          <a:solidFill>
            <a:srgbClr val="FFFDF8"/>
          </a:solidFill>
          <a:ln w="6350">
            <a:solidFill>
              <a:srgbClr val="E1DBCD"/>
            </a:solidFill>
          </a:ln>
        </p:spPr>
        <p:txBody>
          <a:bodyPr rtlCol="0" anchor="ctr"/>
          <a:lstStyle/>
          <a:p>
            <a:pPr algn="ctr"/>
          </a:p>
        </p:txBody>
      </p:sp>
      <p:sp>
        <p:nvSpPr>
          <p:cNvPr id="8" name="Text 7"/>
          <p:cNvSpPr txBox="1"/>
          <p:nvPr/>
        </p:nvSpPr>
        <p:spPr>
          <a:xfrm>
            <a:off x="838200" y="1790533"/>
            <a:ext cx="1034415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8A4B12"/>
                </a:solidFill>
                <a:latin typeface="Readex Pro"/>
                <a:ea typeface="Readex Pro"/>
                <a:cs typeface="Readex Pro"/>
              </a:rPr>
              <a:t>ما وجدته في رُفاد</a:t>
            </a:r>
          </a:p>
        </p:txBody>
      </p:sp>
      <p:pic>
        <p:nvPicPr>
          <p:cNvPr id="9" name="Icon Search 8" descr="icon025.png"/>
          <p:cNvPicPr>
            <a:picLocks noChangeAspect="1"/>
          </p:cNvPicPr>
          <p:nvPr/>
        </p:nvPicPr>
        <p:blipFill>
          <a:blip r:embed="rId2"/>
          <a:stretch>
            <a:fillRect/>
          </a:stretch>
        </p:blipFill>
        <p:spPr>
          <a:xfrm>
            <a:off x="10922000" y="2300883"/>
            <a:ext cx="260350" cy="260350"/>
          </a:xfrm>
          <a:prstGeom prst="rect">
            <a:avLst/>
          </a:prstGeom>
        </p:spPr>
      </p:pic>
      <p:sp>
        <p:nvSpPr>
          <p:cNvPr id="10" name="Text 9"/>
          <p:cNvSpPr txBox="1"/>
          <p:nvPr/>
        </p:nvSpPr>
        <p:spPr>
          <a:xfrm>
            <a:off x="838200" y="2257576"/>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سَنَد يدير خادم تطبيق التتبع عن بعد بأداة دعم مكشوفة على الإنترنت.</a:t>
            </a:r>
          </a:p>
        </p:txBody>
      </p:sp>
      <p:pic>
        <p:nvPicPr>
          <p:cNvPr id="11" name="Icon Search 10" descr="icon025.png"/>
          <p:cNvPicPr>
            <a:picLocks noChangeAspect="1"/>
          </p:cNvPicPr>
          <p:nvPr/>
        </p:nvPicPr>
        <p:blipFill>
          <a:blip r:embed="rId2"/>
          <a:stretch>
            <a:fillRect/>
          </a:stretch>
        </p:blipFill>
        <p:spPr>
          <a:xfrm>
            <a:off x="10922000" y="2742803"/>
            <a:ext cx="260350" cy="260350"/>
          </a:xfrm>
          <a:prstGeom prst="rect">
            <a:avLst/>
          </a:prstGeom>
        </p:spPr>
      </p:pic>
      <p:sp>
        <p:nvSpPr>
          <p:cNvPr id="12" name="Text 11"/>
          <p:cNvSpPr txBox="1"/>
          <p:nvPr/>
        </p:nvSpPr>
        <p:spPr>
          <a:xfrm>
            <a:off x="838200" y="2699496"/>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حساب إداري مشترك واحد «‎sanad-admin‎» يستخدمه 5 فنيين.</a:t>
            </a:r>
          </a:p>
        </p:txBody>
      </p:sp>
      <p:pic>
        <p:nvPicPr>
          <p:cNvPr id="13" name="Icon Search 12" descr="icon025.png"/>
          <p:cNvPicPr>
            <a:picLocks noChangeAspect="1"/>
          </p:cNvPicPr>
          <p:nvPr/>
        </p:nvPicPr>
        <p:blipFill>
          <a:blip r:embed="rId2"/>
          <a:stretch>
            <a:fillRect/>
          </a:stretch>
        </p:blipFill>
        <p:spPr>
          <a:xfrm>
            <a:off x="10922000" y="3184723"/>
            <a:ext cx="260350" cy="260350"/>
          </a:xfrm>
          <a:prstGeom prst="rect">
            <a:avLst/>
          </a:prstGeom>
        </p:spPr>
      </p:pic>
      <p:sp>
        <p:nvSpPr>
          <p:cNvPr id="14" name="Text 13"/>
          <p:cNvSpPr txBox="1"/>
          <p:nvPr/>
        </p:nvSpPr>
        <p:spPr>
          <a:xfrm>
            <a:off x="838200" y="3141416"/>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كلمة المرور لم تتغير منذ 2023، ولا يوجد تحقق متعدد العوامل.</a:t>
            </a:r>
          </a:p>
        </p:txBody>
      </p:sp>
      <p:pic>
        <p:nvPicPr>
          <p:cNvPr id="15" name="Icon Search 14" descr="icon025.png"/>
          <p:cNvPicPr>
            <a:picLocks noChangeAspect="1"/>
          </p:cNvPicPr>
          <p:nvPr/>
        </p:nvPicPr>
        <p:blipFill>
          <a:blip r:embed="rId2"/>
          <a:stretch>
            <a:fillRect/>
          </a:stretch>
        </p:blipFill>
        <p:spPr>
          <a:xfrm>
            <a:off x="10922000" y="3626644"/>
            <a:ext cx="260350" cy="260350"/>
          </a:xfrm>
          <a:prstGeom prst="rect">
            <a:avLst/>
          </a:prstGeom>
        </p:spPr>
      </p:pic>
      <p:sp>
        <p:nvSpPr>
          <p:cNvPr id="16" name="Text 15"/>
          <p:cNvSpPr txBox="1"/>
          <p:nvPr/>
        </p:nvSpPr>
        <p:spPr>
          <a:xfrm>
            <a:off x="838200" y="3583337"/>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الوصول مفتوح على مدار الساعة دون طلب أو موافقة.</a:t>
            </a:r>
          </a:p>
        </p:txBody>
      </p:sp>
      <p:pic>
        <p:nvPicPr>
          <p:cNvPr id="17" name="Icon Search 16" descr="icon025.png"/>
          <p:cNvPicPr>
            <a:picLocks noChangeAspect="1"/>
          </p:cNvPicPr>
          <p:nvPr/>
        </p:nvPicPr>
        <p:blipFill>
          <a:blip r:embed="rId2"/>
          <a:stretch>
            <a:fillRect/>
          </a:stretch>
        </p:blipFill>
        <p:spPr>
          <a:xfrm>
            <a:off x="10922000" y="4068564"/>
            <a:ext cx="260350" cy="260350"/>
          </a:xfrm>
          <a:prstGeom prst="rect">
            <a:avLst/>
          </a:prstGeom>
        </p:spPr>
      </p:pic>
      <p:sp>
        <p:nvSpPr>
          <p:cNvPr id="18" name="Text 17"/>
          <p:cNvSpPr txBox="1"/>
          <p:nvPr/>
        </p:nvSpPr>
        <p:spPr>
          <a:xfrm>
            <a:off x="838200" y="4025257"/>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الأداة تحفظ سجلات الجلسات 30 يوماً، ولا أحد يراجعها.</a:t>
            </a:r>
          </a:p>
        </p:txBody>
      </p:sp>
      <p:pic>
        <p:nvPicPr>
          <p:cNvPr id="19" name="Icon Search 18" descr="icon025.png"/>
          <p:cNvPicPr>
            <a:picLocks noChangeAspect="1"/>
          </p:cNvPicPr>
          <p:nvPr/>
        </p:nvPicPr>
        <p:blipFill>
          <a:blip r:embed="rId2"/>
          <a:stretch>
            <a:fillRect/>
          </a:stretch>
        </p:blipFill>
        <p:spPr>
          <a:xfrm>
            <a:off x="10922000" y="4510484"/>
            <a:ext cx="260350" cy="260350"/>
          </a:xfrm>
          <a:prstGeom prst="rect">
            <a:avLst/>
          </a:prstGeom>
        </p:spPr>
      </p:pic>
      <p:sp>
        <p:nvSpPr>
          <p:cNvPr id="20" name="Text 19"/>
          <p:cNvSpPr txBox="1"/>
          <p:nvPr/>
        </p:nvSpPr>
        <p:spPr>
          <a:xfrm>
            <a:off x="838200" y="4467177"/>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العقد فيه بند سرية فقط: لا إبلاغ عن الحوادث ولا التزام بسياسات رُفاد.</a:t>
            </a:r>
          </a:p>
        </p:txBody>
      </p:sp>
      <p:pic>
        <p:nvPicPr>
          <p:cNvPr id="21" name="Icon Search 20" descr="icon025.png"/>
          <p:cNvPicPr>
            <a:picLocks noChangeAspect="1"/>
          </p:cNvPicPr>
          <p:nvPr/>
        </p:nvPicPr>
        <p:blipFill>
          <a:blip r:embed="rId2"/>
          <a:stretch>
            <a:fillRect/>
          </a:stretch>
        </p:blipFill>
        <p:spPr>
          <a:xfrm>
            <a:off x="10922000" y="4952405"/>
            <a:ext cx="260350" cy="260350"/>
          </a:xfrm>
          <a:prstGeom prst="rect">
            <a:avLst/>
          </a:prstGeom>
        </p:spPr>
      </p:pic>
      <p:sp>
        <p:nvSpPr>
          <p:cNvPr id="22" name="Text 21"/>
          <p:cNvSpPr txBox="1"/>
          <p:nvPr/>
        </p:nvSpPr>
        <p:spPr>
          <a:xfrm>
            <a:off x="838200" y="4909098"/>
            <a:ext cx="99695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الخادم يحفظ أسماء المستلمين وهواتفهم وعناوينهم: نحو 50 ألف مستلم شهرياً.</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11007725" y="1568887"/>
            <a:ext cx="438150" cy="311150"/>
          </a:xfrm>
          <a:prstGeom prst="rect">
            <a:avLst/>
          </a:prstGeom>
          <a:noFill/>
        </p:spPr>
        <p:txBody>
          <a:bodyPr wrap="square" tIns="0" rIns="0" bIns="0" lIns="0" anchor="t" rtlCol="0" anchorCtr="0">
            <a:noAutofit/>
          </a:bodyPr>
          <a:lstStyle/>
          <a:p>
            <a:pPr algn="ctr">
              <a:lnSpc>
                <a:spcPts val="2450"/>
              </a:lnSpc>
              <a:spcBef>
                <a:spcPts val="0"/>
              </a:spcBef>
              <a:spcAft>
                <a:spcPts val="0"/>
              </a:spcAft>
            </a:pPr>
            <a:r>
              <a:rPr sz="1750" b="1" i="0">
                <a:solidFill>
                  <a:srgbClr val="8A4B12"/>
                </a:solidFill>
                <a:latin typeface="Readex Pro"/>
                <a:ea typeface="Readex Pro"/>
                <a:cs typeface="Readex Pro"/>
              </a:rPr>
              <a:t>1</a:t>
            </a:r>
          </a:p>
        </p:txBody>
      </p:sp>
      <p:sp>
        <p:nvSpPr>
          <p:cNvPr id="8" name="Text 7"/>
          <p:cNvSpPr txBox="1"/>
          <p:nvPr/>
        </p:nvSpPr>
        <p:spPr>
          <a:xfrm>
            <a:off x="0" y="1559997"/>
            <a:ext cx="109855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اكتب الخطر بصيغة: بسبب… قد… مما يؤدي إلى…</a:t>
            </a:r>
          </a:p>
        </p:txBody>
      </p:sp>
      <p:sp>
        <p:nvSpPr>
          <p:cNvPr id="9" name="Text 8"/>
          <p:cNvSpPr txBox="1"/>
          <p:nvPr/>
        </p:nvSpPr>
        <p:spPr>
          <a:xfrm>
            <a:off x="11007725" y="1930837"/>
            <a:ext cx="438150" cy="311150"/>
          </a:xfrm>
          <a:prstGeom prst="rect">
            <a:avLst/>
          </a:prstGeom>
          <a:noFill/>
        </p:spPr>
        <p:txBody>
          <a:bodyPr wrap="square" tIns="0" rIns="0" bIns="0" lIns="0" anchor="t" rtlCol="0" anchorCtr="0">
            <a:noAutofit/>
          </a:bodyPr>
          <a:lstStyle/>
          <a:p>
            <a:pPr algn="ctr">
              <a:lnSpc>
                <a:spcPts val="2450"/>
              </a:lnSpc>
              <a:spcBef>
                <a:spcPts val="0"/>
              </a:spcBef>
              <a:spcAft>
                <a:spcPts val="0"/>
              </a:spcAft>
            </a:pPr>
            <a:r>
              <a:rPr sz="1750" b="1" i="0">
                <a:solidFill>
                  <a:srgbClr val="8A4B12"/>
                </a:solidFill>
                <a:latin typeface="Readex Pro"/>
                <a:ea typeface="Readex Pro"/>
                <a:cs typeface="Readex Pro"/>
              </a:rPr>
              <a:t>2</a:t>
            </a:r>
          </a:p>
        </p:txBody>
      </p:sp>
      <p:sp>
        <p:nvSpPr>
          <p:cNvPr id="10" name="Text 9"/>
          <p:cNvSpPr txBox="1"/>
          <p:nvPr/>
        </p:nvSpPr>
        <p:spPr>
          <a:xfrm>
            <a:off x="0" y="1921947"/>
            <a:ext cx="109855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اذكر الضوابط الحالية.</a:t>
            </a:r>
          </a:p>
        </p:txBody>
      </p:sp>
      <p:sp>
        <p:nvSpPr>
          <p:cNvPr id="11" name="Text 10"/>
          <p:cNvSpPr txBox="1"/>
          <p:nvPr/>
        </p:nvSpPr>
        <p:spPr>
          <a:xfrm>
            <a:off x="11007725" y="2292787"/>
            <a:ext cx="438150" cy="311150"/>
          </a:xfrm>
          <a:prstGeom prst="rect">
            <a:avLst/>
          </a:prstGeom>
          <a:noFill/>
        </p:spPr>
        <p:txBody>
          <a:bodyPr wrap="square" tIns="0" rIns="0" bIns="0" lIns="0" anchor="t" rtlCol="0" anchorCtr="0">
            <a:noAutofit/>
          </a:bodyPr>
          <a:lstStyle/>
          <a:p>
            <a:pPr algn="ctr">
              <a:lnSpc>
                <a:spcPts val="2450"/>
              </a:lnSpc>
              <a:spcBef>
                <a:spcPts val="0"/>
              </a:spcBef>
              <a:spcAft>
                <a:spcPts val="0"/>
              </a:spcAft>
            </a:pPr>
            <a:r>
              <a:rPr sz="1750" b="1" i="0">
                <a:solidFill>
                  <a:srgbClr val="8A4B12"/>
                </a:solidFill>
                <a:latin typeface="Readex Pro"/>
                <a:ea typeface="Readex Pro"/>
                <a:cs typeface="Readex Pro"/>
              </a:rPr>
              <a:t>3</a:t>
            </a:r>
          </a:p>
        </p:txBody>
      </p:sp>
      <p:sp>
        <p:nvSpPr>
          <p:cNvPr id="12" name="Text 11"/>
          <p:cNvSpPr txBox="1"/>
          <p:nvPr/>
        </p:nvSpPr>
        <p:spPr>
          <a:xfrm>
            <a:off x="0" y="2283897"/>
            <a:ext cx="109855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قدّر الاحتمال والأثر بأوصاف المصفوفة، وبرر كلاً منهما، ثم احسب المستوى.</a:t>
            </a:r>
          </a:p>
        </p:txBody>
      </p:sp>
      <p:sp>
        <p:nvSpPr>
          <p:cNvPr id="13" name="Text 12"/>
          <p:cNvSpPr txBox="1"/>
          <p:nvPr/>
        </p:nvSpPr>
        <p:spPr>
          <a:xfrm>
            <a:off x="11007725" y="2654737"/>
            <a:ext cx="438150" cy="311150"/>
          </a:xfrm>
          <a:prstGeom prst="rect">
            <a:avLst/>
          </a:prstGeom>
          <a:noFill/>
        </p:spPr>
        <p:txBody>
          <a:bodyPr wrap="square" tIns="0" rIns="0" bIns="0" lIns="0" anchor="t" rtlCol="0" anchorCtr="0">
            <a:noAutofit/>
          </a:bodyPr>
          <a:lstStyle/>
          <a:p>
            <a:pPr algn="ctr">
              <a:lnSpc>
                <a:spcPts val="2450"/>
              </a:lnSpc>
              <a:spcBef>
                <a:spcPts val="0"/>
              </a:spcBef>
              <a:spcAft>
                <a:spcPts val="0"/>
              </a:spcAft>
            </a:pPr>
            <a:r>
              <a:rPr sz="1750" b="1" i="0">
                <a:solidFill>
                  <a:srgbClr val="8A4B12"/>
                </a:solidFill>
                <a:latin typeface="Readex Pro"/>
                <a:ea typeface="Readex Pro"/>
                <a:cs typeface="Readex Pro"/>
              </a:rPr>
              <a:t>4</a:t>
            </a:r>
          </a:p>
        </p:txBody>
      </p:sp>
      <p:sp>
        <p:nvSpPr>
          <p:cNvPr id="14" name="Text 13"/>
          <p:cNvSpPr txBox="1"/>
          <p:nvPr/>
        </p:nvSpPr>
        <p:spPr>
          <a:xfrm>
            <a:off x="0" y="2645847"/>
            <a:ext cx="109855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اقترح معالجة: خيار، وثلاثة إجراءات، لكل منها مالك وموعد.</a:t>
            </a:r>
          </a:p>
        </p:txBody>
      </p:sp>
      <p:sp>
        <p:nvSpPr>
          <p:cNvPr id="15" name="Text 14"/>
          <p:cNvSpPr txBox="1"/>
          <p:nvPr/>
        </p:nvSpPr>
        <p:spPr>
          <a:xfrm>
            <a:off x="11007725" y="3016687"/>
            <a:ext cx="438150" cy="311150"/>
          </a:xfrm>
          <a:prstGeom prst="rect">
            <a:avLst/>
          </a:prstGeom>
          <a:noFill/>
        </p:spPr>
        <p:txBody>
          <a:bodyPr wrap="square" tIns="0" rIns="0" bIns="0" lIns="0" anchor="t" rtlCol="0" anchorCtr="0">
            <a:noAutofit/>
          </a:bodyPr>
          <a:lstStyle/>
          <a:p>
            <a:pPr algn="ctr">
              <a:lnSpc>
                <a:spcPts val="2450"/>
              </a:lnSpc>
              <a:spcBef>
                <a:spcPts val="0"/>
              </a:spcBef>
              <a:spcAft>
                <a:spcPts val="0"/>
              </a:spcAft>
            </a:pPr>
            <a:r>
              <a:rPr sz="1750" b="1" i="0">
                <a:solidFill>
                  <a:srgbClr val="8A4B12"/>
                </a:solidFill>
                <a:latin typeface="Readex Pro"/>
                <a:ea typeface="Readex Pro"/>
                <a:cs typeface="Readex Pro"/>
              </a:rPr>
              <a:t>5</a:t>
            </a:r>
          </a:p>
        </p:txBody>
      </p:sp>
      <p:sp>
        <p:nvSpPr>
          <p:cNvPr id="16" name="Text 15"/>
          <p:cNvSpPr txBox="1"/>
          <p:nvPr/>
        </p:nvSpPr>
        <p:spPr>
          <a:xfrm>
            <a:off x="0" y="3007797"/>
            <a:ext cx="109855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قدّر الخطر المتبقي المتوقع واذكر افتراضاتك.</a:t>
            </a:r>
          </a:p>
        </p:txBody>
      </p:sp>
      <p:sp>
        <p:nvSpPr>
          <p:cNvPr id="17" name="Text 16"/>
          <p:cNvSpPr txBox="1"/>
          <p:nvPr/>
        </p:nvSpPr>
        <p:spPr>
          <a:xfrm>
            <a:off x="9664700" y="3448899"/>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وصف الخطر</a:t>
            </a:r>
          </a:p>
        </p:txBody>
      </p:sp>
      <p:sp>
        <p:nvSpPr>
          <p:cNvPr id="18" name="Box 17"/>
          <p:cNvSpPr/>
          <p:nvPr/>
        </p:nvSpPr>
        <p:spPr>
          <a:xfrm>
            <a:off x="819150" y="3486745"/>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838200" y="3550499"/>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بسبب… قد… مما يؤدي إلى…</a:t>
            </a:r>
          </a:p>
        </p:txBody>
      </p:sp>
      <p:sp>
        <p:nvSpPr>
          <p:cNvPr id="20" name="Text 19"/>
          <p:cNvSpPr txBox="1"/>
          <p:nvPr/>
        </p:nvSpPr>
        <p:spPr>
          <a:xfrm>
            <a:off x="9664700" y="4000059"/>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الاحتمال والأثر</a:t>
            </a:r>
          </a:p>
        </p:txBody>
      </p:sp>
      <p:sp>
        <p:nvSpPr>
          <p:cNvPr id="21" name="Box 20"/>
          <p:cNvSpPr/>
          <p:nvPr/>
        </p:nvSpPr>
        <p:spPr>
          <a:xfrm>
            <a:off x="819150" y="4037905"/>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2" name="Text 21"/>
          <p:cNvSpPr txBox="1"/>
          <p:nvPr/>
        </p:nvSpPr>
        <p:spPr>
          <a:xfrm>
            <a:off x="838200" y="4101659"/>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 × … = …، والمبرر:</a:t>
            </a:r>
          </a:p>
        </p:txBody>
      </p:sp>
      <p:sp>
        <p:nvSpPr>
          <p:cNvPr id="23" name="Text 22"/>
          <p:cNvSpPr txBox="1"/>
          <p:nvPr/>
        </p:nvSpPr>
        <p:spPr>
          <a:xfrm>
            <a:off x="9664700" y="4551220"/>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المعالجة</a:t>
            </a:r>
          </a:p>
        </p:txBody>
      </p:sp>
      <p:sp>
        <p:nvSpPr>
          <p:cNvPr id="24" name="Box 23"/>
          <p:cNvSpPr/>
          <p:nvPr/>
        </p:nvSpPr>
        <p:spPr>
          <a:xfrm>
            <a:off x="819150" y="4589066"/>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5" name="Text 24"/>
          <p:cNvSpPr txBox="1"/>
          <p:nvPr/>
        </p:nvSpPr>
        <p:spPr>
          <a:xfrm>
            <a:off x="838200" y="4652820"/>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الخيار، والإجراءات، والمالك، والموعد</a:t>
            </a:r>
          </a:p>
        </p:txBody>
      </p:sp>
      <p:sp>
        <p:nvSpPr>
          <p:cNvPr id="26" name="Text 25"/>
          <p:cNvSpPr txBox="1"/>
          <p:nvPr/>
        </p:nvSpPr>
        <p:spPr>
          <a:xfrm>
            <a:off x="0" y="5166864"/>
            <a:ext cx="113792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4E5A66"/>
                </a:solidFill>
                <a:latin typeface="IBM Plex Sans Arabic"/>
                <a:ea typeface="IBM Plex Sans Arabic"/>
                <a:cs typeface="IBM Plex Sans Arabic"/>
              </a:rPr>
              <a:t>استخدم المصفوفة في الشريحة 44. النموذج كاملاً في الكراسة. 20 دقيقة.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الوصف والتقييم</a:t>
            </a:r>
          </a:p>
        </p:txBody>
      </p:sp>
      <p:sp>
        <p:nvSpPr>
          <p:cNvPr id="7" name="Box 6"/>
          <p:cNvSpPr/>
          <p:nvPr/>
        </p:nvSpPr>
        <p:spPr>
          <a:xfrm>
            <a:off x="812800" y="1594445"/>
            <a:ext cx="10566400" cy="1438275"/>
          </a:xfrm>
          <a:prstGeom prst="roundRect">
            <a:avLst>
              <a:gd name="adj" fmla="val 6181"/>
            </a:avLst>
          </a:prstGeom>
          <a:solidFill>
            <a:srgbClr val="FFFFFF"/>
          </a:solidFill>
          <a:ln>
            <a:noFill/>
          </a:ln>
        </p:spPr>
        <p:txBody>
          <a:bodyPr rtlCol="0" anchor="ctr"/>
          <a:lstStyle/>
          <a:p>
            <a:pPr algn="ctr"/>
          </a:p>
        </p:txBody>
      </p:sp>
      <p:sp>
        <p:nvSpPr>
          <p:cNvPr id="8" name="Rule 7"/>
          <p:cNvSpPr/>
          <p:nvPr/>
        </p:nvSpPr>
        <p:spPr>
          <a:xfrm>
            <a:off x="812800" y="1594445"/>
            <a:ext cx="10566400" cy="6350"/>
          </a:xfrm>
          <a:prstGeom prst="rect">
            <a:avLst/>
          </a:prstGeom>
          <a:solidFill>
            <a:srgbClr val="E1DBCD"/>
          </a:solidFill>
          <a:ln>
            <a:noFill/>
          </a:ln>
        </p:spPr>
        <p:txBody>
          <a:bodyPr rtlCol="0" anchor="ctr"/>
          <a:lstStyle/>
          <a:p>
            <a:pPr algn="ctr"/>
          </a:p>
        </p:txBody>
      </p:sp>
      <p:sp>
        <p:nvSpPr>
          <p:cNvPr id="9" name="Rule 8"/>
          <p:cNvSpPr/>
          <p:nvPr/>
        </p:nvSpPr>
        <p:spPr>
          <a:xfrm>
            <a:off x="11328400" y="1594445"/>
            <a:ext cx="50800" cy="1438275"/>
          </a:xfrm>
          <a:prstGeom prst="rect">
            <a:avLst/>
          </a:prstGeom>
          <a:solidFill>
            <a:srgbClr val="0E7C6B"/>
          </a:solidFill>
          <a:ln>
            <a:noFill/>
          </a:ln>
        </p:spPr>
        <p:txBody>
          <a:bodyPr rtlCol="0" anchor="ctr"/>
          <a:lstStyle/>
          <a:p>
            <a:pPr algn="ctr"/>
          </a:p>
        </p:txBody>
      </p:sp>
      <p:sp>
        <p:nvSpPr>
          <p:cNvPr id="10" name="Rule 9"/>
          <p:cNvSpPr/>
          <p:nvPr/>
        </p:nvSpPr>
        <p:spPr>
          <a:xfrm>
            <a:off x="812800" y="3026370"/>
            <a:ext cx="10566400" cy="6350"/>
          </a:xfrm>
          <a:prstGeom prst="rect">
            <a:avLst/>
          </a:prstGeom>
          <a:solidFill>
            <a:srgbClr val="E1DBCD"/>
          </a:solidFill>
          <a:ln>
            <a:noFill/>
          </a:ln>
        </p:spPr>
        <p:txBody>
          <a:bodyPr rtlCol="0" anchor="ctr"/>
          <a:lstStyle/>
          <a:p>
            <a:pPr algn="ctr"/>
          </a:p>
        </p:txBody>
      </p:sp>
      <p:sp>
        <p:nvSpPr>
          <p:cNvPr id="11" name="Rule 10"/>
          <p:cNvSpPr/>
          <p:nvPr/>
        </p:nvSpPr>
        <p:spPr>
          <a:xfrm>
            <a:off x="812800" y="1594445"/>
            <a:ext cx="6350" cy="1438275"/>
          </a:xfrm>
          <a:prstGeom prst="rect">
            <a:avLst/>
          </a:prstGeom>
          <a:solidFill>
            <a:srgbClr val="E1DBCD"/>
          </a:solidFill>
          <a:ln>
            <a:noFill/>
          </a:ln>
        </p:spPr>
        <p:txBody>
          <a:bodyPr rtlCol="0" anchor="ctr"/>
          <a:lstStyle/>
          <a:p>
            <a:pPr algn="ctr"/>
          </a:p>
        </p:txBody>
      </p:sp>
      <p:sp>
        <p:nvSpPr>
          <p:cNvPr id="12" name="Text 11"/>
          <p:cNvSpPr txBox="1"/>
          <p:nvPr/>
        </p:nvSpPr>
        <p:spPr>
          <a:xfrm>
            <a:off x="838200" y="1674424"/>
            <a:ext cx="10312400" cy="1171575"/>
          </a:xfrm>
          <a:prstGeom prst="rect">
            <a:avLst/>
          </a:prstGeom>
          <a:noFill/>
        </p:spPr>
        <p:txBody>
          <a:bodyPr wrap="square" tIns="0" rIns="0" bIns="0" lIns="0" anchor="t" rtlCol="0" anchorCtr="0">
            <a:noAutofit/>
          </a:bodyPr>
          <a:lstStyle/>
          <a:p>
            <a:pPr algn="r" rtl="1">
              <a:lnSpc>
                <a:spcPts val="3075"/>
              </a:lnSpc>
              <a:spcBef>
                <a:spcPts val="0"/>
              </a:spcBef>
              <a:spcAft>
                <a:spcPts val="0"/>
              </a:spcAft>
            </a:pPr>
            <a:r>
              <a:rPr sz="2050" b="0" i="0">
                <a:solidFill>
                  <a:srgbClr val="172433"/>
                </a:solidFill>
                <a:latin typeface="IBM Plex Sans Arabic"/>
                <a:ea typeface="IBM Plex Sans Arabic"/>
                <a:cs typeface="IBM Plex Sans Arabic"/>
              </a:rPr>
              <a:t>بسبب استخدام حساب إداري مشترك لمورد الدعم عبر أداة وصول عن بعد مكشوفة على الإنترنت بلا تحقق متعدد العوامل، قد يستخدم مهاجم كلمة مرور مسربة أو مخمّنة للدخول إلى خادم تطبيق التتبع، مما يؤدي إلى تسرب البيانات الشخصية للمستلمين أو تعطيل خدمة التتبع.</a:t>
            </a:r>
          </a:p>
        </p:txBody>
      </p:sp>
      <p:sp>
        <p:nvSpPr>
          <p:cNvPr id="13" name="Text 12"/>
          <p:cNvSpPr txBox="1"/>
          <p:nvPr/>
        </p:nvSpPr>
        <p:spPr>
          <a:xfrm>
            <a:off x="9858375" y="3122319"/>
            <a:ext cx="152082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الضوابط الحالية</a:t>
            </a:r>
          </a:p>
        </p:txBody>
      </p:sp>
      <p:sp>
        <p:nvSpPr>
          <p:cNvPr id="14" name="Text 13"/>
          <p:cNvSpPr txBox="1"/>
          <p:nvPr/>
        </p:nvSpPr>
        <p:spPr>
          <a:xfrm>
            <a:off x="93472" y="3122319"/>
            <a:ext cx="9710928"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كلمة مرور قديمة، وبند سرية في العقد، وسجلات جلسات 30 يوماً بلا مراجعة.</a:t>
            </a:r>
          </a:p>
        </p:txBody>
      </p:sp>
      <p:sp>
        <p:nvSpPr>
          <p:cNvPr id="15" name="Text 14"/>
          <p:cNvSpPr txBox="1"/>
          <p:nvPr/>
        </p:nvSpPr>
        <p:spPr>
          <a:xfrm>
            <a:off x="9773920" y="3874000"/>
            <a:ext cx="1605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الاحتمال 4</a:t>
            </a:r>
          </a:p>
        </p:txBody>
      </p:sp>
      <p:sp>
        <p:nvSpPr>
          <p:cNvPr id="16" name="Text 15"/>
          <p:cNvSpPr txBox="1"/>
          <p:nvPr/>
        </p:nvSpPr>
        <p:spPr>
          <a:xfrm>
            <a:off x="543052" y="3874000"/>
            <a:ext cx="9261348"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«محتمل»: الاستغلال سهل متى عُرفت كلمة المرور، وهي مشتركة بين 5 أشخاص ولم تتغير منذ سنوات. لم نختر 5 لأن المهاجم يحتاج أولاً إلى كلمة المرور، ولا توجد ثغرة منشورة تتجاوزها.</a:t>
            </a:r>
          </a:p>
        </p:txBody>
      </p:sp>
      <p:sp>
        <p:nvSpPr>
          <p:cNvPr id="17" name="Text 16"/>
          <p:cNvSpPr txBox="1"/>
          <p:nvPr/>
        </p:nvSpPr>
        <p:spPr>
          <a:xfrm>
            <a:off x="9773920" y="4625681"/>
            <a:ext cx="1605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الأثر 4</a:t>
            </a:r>
          </a:p>
        </p:txBody>
      </p:sp>
      <p:sp>
        <p:nvSpPr>
          <p:cNvPr id="18" name="Text 17"/>
          <p:cNvSpPr txBox="1"/>
          <p:nvPr/>
        </p:nvSpPr>
        <p:spPr>
          <a:xfrm>
            <a:off x="543052" y="4625681"/>
            <a:ext cx="9261348"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«عالٍ»: تسرب بيانات شخصية لعشرات الآلاف مع احتمال توقف الخدمة، بأثر كبير على رُفاد. لم نختر 5 لأن الأثر لا يمتد إلى المستوى الوطني.</a:t>
            </a:r>
          </a:p>
        </p:txBody>
      </p:sp>
      <p:sp>
        <p:nvSpPr>
          <p:cNvPr id="19" name="Text 18"/>
          <p:cNvSpPr txBox="1"/>
          <p:nvPr/>
        </p:nvSpPr>
        <p:spPr>
          <a:xfrm>
            <a:off x="9773920" y="5377363"/>
            <a:ext cx="1605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المستوى</a:t>
            </a:r>
          </a:p>
        </p:txBody>
      </p:sp>
      <p:sp>
        <p:nvSpPr>
          <p:cNvPr id="20" name="Text 19"/>
          <p:cNvSpPr txBox="1"/>
          <p:nvPr/>
        </p:nvSpPr>
        <p:spPr>
          <a:xfrm>
            <a:off x="93472" y="5377363"/>
            <a:ext cx="9710928"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4 × 4 = 16 · عالٍ: معالجة إلزامية وعرض على اللجنة.</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المعالجة</a:t>
            </a:r>
          </a:p>
        </p:txBody>
      </p:sp>
      <p:sp>
        <p:nvSpPr>
          <p:cNvPr id="7" name="Text 6"/>
          <p:cNvSpPr txBox="1"/>
          <p:nvPr/>
        </p:nvSpPr>
        <p:spPr>
          <a:xfrm>
            <a:off x="10154920" y="1569744"/>
            <a:ext cx="1224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الخيار</a:t>
            </a:r>
          </a:p>
        </p:txBody>
      </p:sp>
      <p:sp>
        <p:nvSpPr>
          <p:cNvPr id="8" name="Text 7"/>
          <p:cNvSpPr txBox="1"/>
          <p:nvPr/>
        </p:nvSpPr>
        <p:spPr>
          <a:xfrm>
            <a:off x="62992" y="1569744"/>
            <a:ext cx="10122408"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التخفيف، وعلى الخطر مالك واحد: مدير تقنية المعلومات.</a:t>
            </a:r>
          </a:p>
        </p:txBody>
      </p:sp>
      <p:graphicFrame>
        <p:nvGraphicFramePr>
          <p:cNvPr id="9" name="Table 8"/>
          <p:cNvGraphicFramePr>
            <a:graphicFrameLocks noGrp="1"/>
          </p:cNvGraphicFramePr>
          <p:nvPr/>
        </p:nvGraphicFramePr>
        <p:xfrm>
          <a:off x="815975" y="2087761"/>
          <a:ext cx="10560050" cy="2926554"/>
        </p:xfrm>
        <a:graphic>
          <a:graphicData uri="http://schemas.openxmlformats.org/drawingml/2006/table">
            <a:tbl>
              <a:tblPr firstRow="0" bandRow="0" lastRow="0" firstCol="0" lastCol="0" bandCol="0">
                <a:tableStyleId>{2D5ABB26-0587-4C30-8999-92F81FD0307C}</a:tableStyleId>
              </a:tblPr>
              <a:tblGrid>
                <a:gridCol w="1689735"/>
                <a:gridCol w="2745740"/>
                <a:gridCol w="6124575"/>
              </a:tblGrid>
              <a:tr h="487759">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الموعد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المالك</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الإجراء</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14 يوماً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مدير تقنية المعلومات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حسابات فردية لكل فني وإلغاء الحساب المشترك</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14 يوماً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مدير تقنية المعلومات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تفعيل التحقق متعدد العوامل على أداة الوصول (ECC ‎2-2-3-2‎)</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30 يوماً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مدير تقنية المعلومات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إيقاف الوصول الدائم: وصول عند الطلب بموافقة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30 يوماً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مدير تقنية المعلومات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مراجعة أسبوعية لسجلات الجلسات</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عند التجديد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المدير المالي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إضافة بنود ECC ‎4-1-2‎ عند تجديد العقد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0" name="Text 9"/>
          <p:cNvSpPr txBox="1"/>
          <p:nvPr/>
        </p:nvSpPr>
        <p:spPr>
          <a:xfrm>
            <a:off x="0" y="5124712"/>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طلب التمرين ثلاثة إجراءات. أهمها: الحسابات الفردية، والتحقق متعدد العوامل، والوصول عند الطلب.</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الخطر المتبقي والقرار</a:t>
            </a:r>
          </a:p>
        </p:txBody>
      </p:sp>
      <p:sp>
        <p:nvSpPr>
          <p:cNvPr id="7" name="Box 6"/>
          <p:cNvSpPr/>
          <p:nvPr/>
        </p:nvSpPr>
        <p:spPr>
          <a:xfrm>
            <a:off x="6428680" y="1619845"/>
            <a:ext cx="4950520" cy="1829991"/>
          </a:xfrm>
          <a:prstGeom prst="roundRect">
            <a:avLst>
              <a:gd name="adj" fmla="val 6245"/>
            </a:avLst>
          </a:prstGeom>
          <a:solidFill>
            <a:srgbClr val="FFFDF8"/>
          </a:solidFill>
          <a:ln>
            <a:noFill/>
          </a:ln>
        </p:spPr>
        <p:txBody>
          <a:bodyPr rtlCol="0" anchor="ctr"/>
          <a:lstStyle/>
          <a:p>
            <a:pPr algn="ctr"/>
          </a:p>
        </p:txBody>
      </p:sp>
      <p:sp>
        <p:nvSpPr>
          <p:cNvPr id="8" name="Rule 7"/>
          <p:cNvSpPr/>
          <p:nvPr/>
        </p:nvSpPr>
        <p:spPr>
          <a:xfrm>
            <a:off x="6428680" y="1619845"/>
            <a:ext cx="4950520" cy="50800"/>
          </a:xfrm>
          <a:prstGeom prst="rect">
            <a:avLst/>
          </a:prstGeom>
          <a:solidFill>
            <a:srgbClr val="B4412C"/>
          </a:solidFill>
          <a:ln>
            <a:noFill/>
          </a:ln>
        </p:spPr>
        <p:txBody>
          <a:bodyPr rtlCol="0" anchor="ctr"/>
          <a:lstStyle/>
          <a:p>
            <a:pPr algn="ctr"/>
          </a:p>
        </p:txBody>
      </p:sp>
      <p:sp>
        <p:nvSpPr>
          <p:cNvPr id="9" name="Rule 8"/>
          <p:cNvSpPr/>
          <p:nvPr/>
        </p:nvSpPr>
        <p:spPr>
          <a:xfrm>
            <a:off x="11372850" y="1619845"/>
            <a:ext cx="6350" cy="1829991"/>
          </a:xfrm>
          <a:prstGeom prst="rect">
            <a:avLst/>
          </a:prstGeom>
          <a:solidFill>
            <a:srgbClr val="E1DBCD"/>
          </a:solidFill>
          <a:ln>
            <a:noFill/>
          </a:ln>
        </p:spPr>
        <p:txBody>
          <a:bodyPr rtlCol="0" anchor="ctr"/>
          <a:lstStyle/>
          <a:p>
            <a:pPr algn="ctr"/>
          </a:p>
        </p:txBody>
      </p:sp>
      <p:sp>
        <p:nvSpPr>
          <p:cNvPr id="10" name="Rule 9"/>
          <p:cNvSpPr/>
          <p:nvPr/>
        </p:nvSpPr>
        <p:spPr>
          <a:xfrm>
            <a:off x="6428680" y="3443486"/>
            <a:ext cx="4950520" cy="6350"/>
          </a:xfrm>
          <a:prstGeom prst="rect">
            <a:avLst/>
          </a:prstGeom>
          <a:solidFill>
            <a:srgbClr val="E1DBCD"/>
          </a:solidFill>
          <a:ln>
            <a:noFill/>
          </a:ln>
        </p:spPr>
        <p:txBody>
          <a:bodyPr rtlCol="0" anchor="ctr"/>
          <a:lstStyle/>
          <a:p>
            <a:pPr algn="ctr"/>
          </a:p>
        </p:txBody>
      </p:sp>
      <p:sp>
        <p:nvSpPr>
          <p:cNvPr id="11" name="Rule 10"/>
          <p:cNvSpPr/>
          <p:nvPr/>
        </p:nvSpPr>
        <p:spPr>
          <a:xfrm>
            <a:off x="6428680" y="1619845"/>
            <a:ext cx="6350" cy="1829991"/>
          </a:xfrm>
          <a:prstGeom prst="rect">
            <a:avLst/>
          </a:prstGeom>
          <a:solidFill>
            <a:srgbClr val="E1DBCD"/>
          </a:solidFill>
          <a:ln>
            <a:noFill/>
          </a:ln>
        </p:spPr>
        <p:txBody>
          <a:bodyPr rtlCol="0" anchor="ctr"/>
          <a:lstStyle/>
          <a:p>
            <a:pPr algn="ctr"/>
          </a:p>
        </p:txBody>
      </p:sp>
      <p:sp>
        <p:nvSpPr>
          <p:cNvPr id="12" name="Text 11"/>
          <p:cNvSpPr txBox="1"/>
          <p:nvPr/>
        </p:nvSpPr>
        <p:spPr>
          <a:xfrm>
            <a:off x="6454080" y="1769007"/>
            <a:ext cx="47409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B4412C"/>
                </a:solidFill>
                <a:latin typeface="IBM Plex Sans Arabic"/>
                <a:ea typeface="IBM Plex Sans Arabic"/>
                <a:cs typeface="IBM Plex Sans Arabic"/>
              </a:rPr>
              <a:t>قبل المعالجة</a:t>
            </a:r>
          </a:p>
        </p:txBody>
      </p:sp>
      <p:sp>
        <p:nvSpPr>
          <p:cNvPr id="13" name="Text 12"/>
          <p:cNvSpPr txBox="1"/>
          <p:nvPr/>
        </p:nvSpPr>
        <p:spPr>
          <a:xfrm>
            <a:off x="6454080" y="2263652"/>
            <a:ext cx="4740970" cy="516830"/>
          </a:xfrm>
          <a:prstGeom prst="rect">
            <a:avLst/>
          </a:prstGeom>
          <a:noFill/>
        </p:spPr>
        <p:txBody>
          <a:bodyPr wrap="square" tIns="0" rIns="0" bIns="0" lIns="0" anchor="t" rtlCol="0" anchorCtr="0">
            <a:noAutofit/>
          </a:bodyPr>
          <a:lstStyle/>
          <a:p>
            <a:pPr algn="r">
              <a:lnSpc>
                <a:spcPts val="4070"/>
              </a:lnSpc>
              <a:spcBef>
                <a:spcPts val="0"/>
              </a:spcBef>
              <a:spcAft>
                <a:spcPts val="0"/>
              </a:spcAft>
            </a:pPr>
            <a:r>
              <a:rPr sz="3700" b="1" i="0">
                <a:solidFill>
                  <a:srgbClr val="172433"/>
                </a:solidFill>
                <a:latin typeface="Readex Pro"/>
                <a:ea typeface="Readex Pro"/>
                <a:cs typeface="Readex Pro"/>
              </a:rPr>
              <a:t>4 × 4 = 16</a:t>
            </a:r>
          </a:p>
        </p:txBody>
      </p:sp>
      <p:sp>
        <p:nvSpPr>
          <p:cNvPr id="14" name="Text box 13"/>
          <p:cNvSpPr/>
          <p:nvPr/>
        </p:nvSpPr>
        <p:spPr>
          <a:xfrm>
            <a:off x="6612830" y="2827536"/>
            <a:ext cx="4582220" cy="476250"/>
          </a:xfrm>
          <a:prstGeom prst="roundRect">
            <a:avLst>
              <a:gd name="adj" fmla="val 13333"/>
            </a:avLst>
          </a:prstGeom>
          <a:solidFill>
            <a:srgbClr val="E0452B"/>
          </a:solidFill>
          <a:ln>
            <a:noFill/>
          </a:ln>
        </p:spPr>
        <p:txBody>
          <a:bodyPr rtlCol="0" anchor="ctr" wrap="square" tIns="0" rIns="0" bIns="88582" lIns="0" anchorCtr="0">
            <a:noAutofit/>
          </a:bodyPr>
          <a:lstStyle/>
          <a:p>
            <a:pPr algn="ctr" rtl="1">
              <a:lnSpc>
                <a:spcPts val="3150"/>
              </a:lnSpc>
              <a:spcBef>
                <a:spcPts val="0"/>
              </a:spcBef>
              <a:spcAft>
                <a:spcPts val="0"/>
              </a:spcAft>
            </a:pPr>
            <a:r>
              <a:rPr sz="2250" b="1" i="0">
                <a:solidFill>
                  <a:srgbClr val="FFFFFF"/>
                </a:solidFill>
                <a:latin typeface="IBM Plex Sans Arabic"/>
                <a:ea typeface="IBM Plex Sans Arabic"/>
                <a:cs typeface="IBM Plex Sans Arabic"/>
              </a:rPr>
              <a:t>عالٍ</a:t>
            </a:r>
          </a:p>
        </p:txBody>
      </p:sp>
      <p:sp>
        <p:nvSpPr>
          <p:cNvPr id="15" name="Text 14"/>
          <p:cNvSpPr txBox="1"/>
          <p:nvPr/>
        </p:nvSpPr>
        <p:spPr>
          <a:xfrm>
            <a:off x="5589330" y="2306590"/>
            <a:ext cx="712351" cy="501650"/>
          </a:xfrm>
          <a:prstGeom prst="rect">
            <a:avLst/>
          </a:prstGeom>
          <a:noFill/>
        </p:spPr>
        <p:txBody>
          <a:bodyPr wrap="square" tIns="0" rIns="0" bIns="0" lIns="0" anchor="t" rtlCol="0" anchorCtr="0">
            <a:noAutofit/>
          </a:bodyPr>
          <a:lstStyle/>
          <a:p>
            <a:pPr algn="r">
              <a:lnSpc>
                <a:spcPts val="3950"/>
              </a:lnSpc>
              <a:spcBef>
                <a:spcPts val="0"/>
              </a:spcBef>
              <a:spcAft>
                <a:spcPts val="0"/>
              </a:spcAft>
            </a:pPr>
            <a:r>
              <a:rPr sz="3950" b="0" i="0">
                <a:solidFill>
                  <a:srgbClr val="93A3B1"/>
                </a:solidFill>
                <a:latin typeface="IBM Plex Sans Arabic"/>
                <a:ea typeface="IBM Plex Sans Arabic"/>
                <a:cs typeface="IBM Plex Sans Arabic"/>
              </a:rPr>
              <a:t>←</a:t>
            </a:r>
          </a:p>
        </p:txBody>
      </p:sp>
      <p:sp>
        <p:nvSpPr>
          <p:cNvPr id="16" name="Box 15"/>
          <p:cNvSpPr/>
          <p:nvPr/>
        </p:nvSpPr>
        <p:spPr>
          <a:xfrm>
            <a:off x="812800" y="1619845"/>
            <a:ext cx="4950520" cy="1829991"/>
          </a:xfrm>
          <a:prstGeom prst="roundRect">
            <a:avLst>
              <a:gd name="adj" fmla="val 6245"/>
            </a:avLst>
          </a:prstGeom>
          <a:solidFill>
            <a:srgbClr val="FFFDF8"/>
          </a:solidFill>
          <a:ln>
            <a:noFill/>
          </a:ln>
        </p:spPr>
        <p:txBody>
          <a:bodyPr rtlCol="0" anchor="ctr"/>
          <a:lstStyle/>
          <a:p>
            <a:pPr algn="ctr"/>
          </a:p>
        </p:txBody>
      </p:sp>
      <p:sp>
        <p:nvSpPr>
          <p:cNvPr id="17" name="Rule 16"/>
          <p:cNvSpPr/>
          <p:nvPr/>
        </p:nvSpPr>
        <p:spPr>
          <a:xfrm>
            <a:off x="812800" y="1619845"/>
            <a:ext cx="4950520" cy="50800"/>
          </a:xfrm>
          <a:prstGeom prst="rect">
            <a:avLst/>
          </a:prstGeom>
          <a:solidFill>
            <a:srgbClr val="0E7C6B"/>
          </a:solidFill>
          <a:ln>
            <a:noFill/>
          </a:ln>
        </p:spPr>
        <p:txBody>
          <a:bodyPr rtlCol="0" anchor="ctr"/>
          <a:lstStyle/>
          <a:p>
            <a:pPr algn="ctr"/>
          </a:p>
        </p:txBody>
      </p:sp>
      <p:sp>
        <p:nvSpPr>
          <p:cNvPr id="18" name="Rule 17"/>
          <p:cNvSpPr/>
          <p:nvPr/>
        </p:nvSpPr>
        <p:spPr>
          <a:xfrm>
            <a:off x="5756970" y="1619845"/>
            <a:ext cx="6350" cy="1829991"/>
          </a:xfrm>
          <a:prstGeom prst="rect">
            <a:avLst/>
          </a:prstGeom>
          <a:solidFill>
            <a:srgbClr val="E1DBCD"/>
          </a:solidFill>
          <a:ln>
            <a:noFill/>
          </a:ln>
        </p:spPr>
        <p:txBody>
          <a:bodyPr rtlCol="0" anchor="ctr"/>
          <a:lstStyle/>
          <a:p>
            <a:pPr algn="ctr"/>
          </a:p>
        </p:txBody>
      </p:sp>
      <p:sp>
        <p:nvSpPr>
          <p:cNvPr id="19" name="Rule 18"/>
          <p:cNvSpPr/>
          <p:nvPr/>
        </p:nvSpPr>
        <p:spPr>
          <a:xfrm>
            <a:off x="812800" y="3443486"/>
            <a:ext cx="4950520" cy="6350"/>
          </a:xfrm>
          <a:prstGeom prst="rect">
            <a:avLst/>
          </a:prstGeom>
          <a:solidFill>
            <a:srgbClr val="E1DBCD"/>
          </a:solidFill>
          <a:ln>
            <a:noFill/>
          </a:ln>
        </p:spPr>
        <p:txBody>
          <a:bodyPr rtlCol="0" anchor="ctr"/>
          <a:lstStyle/>
          <a:p>
            <a:pPr algn="ctr"/>
          </a:p>
        </p:txBody>
      </p:sp>
      <p:sp>
        <p:nvSpPr>
          <p:cNvPr id="20" name="Rule 19"/>
          <p:cNvSpPr/>
          <p:nvPr/>
        </p:nvSpPr>
        <p:spPr>
          <a:xfrm>
            <a:off x="812800" y="1619845"/>
            <a:ext cx="6350" cy="1829991"/>
          </a:xfrm>
          <a:prstGeom prst="rect">
            <a:avLst/>
          </a:prstGeom>
          <a:solidFill>
            <a:srgbClr val="E1DBCD"/>
          </a:solidFill>
          <a:ln>
            <a:noFill/>
          </a:ln>
        </p:spPr>
        <p:txBody>
          <a:bodyPr rtlCol="0" anchor="ctr"/>
          <a:lstStyle/>
          <a:p>
            <a:pPr algn="ctr"/>
          </a:p>
        </p:txBody>
      </p:sp>
      <p:sp>
        <p:nvSpPr>
          <p:cNvPr id="21" name="Text 20"/>
          <p:cNvSpPr txBox="1"/>
          <p:nvPr/>
        </p:nvSpPr>
        <p:spPr>
          <a:xfrm>
            <a:off x="838200" y="1769007"/>
            <a:ext cx="47409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7C6B"/>
                </a:solidFill>
                <a:latin typeface="IBM Plex Sans Arabic"/>
                <a:ea typeface="IBM Plex Sans Arabic"/>
                <a:cs typeface="IBM Plex Sans Arabic"/>
              </a:rPr>
              <a:t>المتبقي المتوقع</a:t>
            </a:r>
          </a:p>
        </p:txBody>
      </p:sp>
      <p:sp>
        <p:nvSpPr>
          <p:cNvPr id="22" name="Text 21"/>
          <p:cNvSpPr txBox="1"/>
          <p:nvPr/>
        </p:nvSpPr>
        <p:spPr>
          <a:xfrm>
            <a:off x="838200" y="2263652"/>
            <a:ext cx="4740970" cy="516830"/>
          </a:xfrm>
          <a:prstGeom prst="rect">
            <a:avLst/>
          </a:prstGeom>
          <a:noFill/>
        </p:spPr>
        <p:txBody>
          <a:bodyPr wrap="square" tIns="0" rIns="0" bIns="0" lIns="0" anchor="t" rtlCol="0" anchorCtr="0">
            <a:noAutofit/>
          </a:bodyPr>
          <a:lstStyle/>
          <a:p>
            <a:pPr algn="r">
              <a:lnSpc>
                <a:spcPts val="4070"/>
              </a:lnSpc>
              <a:spcBef>
                <a:spcPts val="0"/>
              </a:spcBef>
              <a:spcAft>
                <a:spcPts val="0"/>
              </a:spcAft>
            </a:pPr>
            <a:r>
              <a:rPr sz="3700" b="1" i="0">
                <a:solidFill>
                  <a:srgbClr val="172433"/>
                </a:solidFill>
                <a:latin typeface="Readex Pro"/>
                <a:ea typeface="Readex Pro"/>
                <a:cs typeface="Readex Pro"/>
              </a:rPr>
              <a:t>2 × 4 = 8</a:t>
            </a:r>
          </a:p>
        </p:txBody>
      </p:sp>
      <p:sp>
        <p:nvSpPr>
          <p:cNvPr id="23" name="Text box 22"/>
          <p:cNvSpPr/>
          <p:nvPr/>
        </p:nvSpPr>
        <p:spPr>
          <a:xfrm>
            <a:off x="996950" y="2827536"/>
            <a:ext cx="4582220" cy="476250"/>
          </a:xfrm>
          <a:prstGeom prst="roundRect">
            <a:avLst>
              <a:gd name="adj" fmla="val 13333"/>
            </a:avLst>
          </a:prstGeom>
          <a:solidFill>
            <a:srgbClr val="F2B530"/>
          </a:solidFill>
          <a:ln>
            <a:noFill/>
          </a:ln>
        </p:spPr>
        <p:txBody>
          <a:bodyPr rtlCol="0" anchor="ctr" wrap="square" tIns="0" rIns="0" bIns="88582" lIns="0" anchorCtr="0">
            <a:noAutofit/>
          </a:bodyPr>
          <a:lstStyle/>
          <a:p>
            <a:pPr algn="ctr" rtl="1">
              <a:lnSpc>
                <a:spcPts val="3150"/>
              </a:lnSpc>
              <a:spcBef>
                <a:spcPts val="0"/>
              </a:spcBef>
              <a:spcAft>
                <a:spcPts val="0"/>
              </a:spcAft>
            </a:pPr>
            <a:r>
              <a:rPr sz="2250" b="1" i="0">
                <a:solidFill>
                  <a:srgbClr val="172433"/>
                </a:solidFill>
                <a:latin typeface="IBM Plex Sans Arabic"/>
                <a:ea typeface="IBM Plex Sans Arabic"/>
                <a:cs typeface="IBM Plex Sans Arabic"/>
              </a:rPr>
              <a:t>متوسط</a:t>
            </a:r>
          </a:p>
        </p:txBody>
      </p:sp>
      <p:sp>
        <p:nvSpPr>
          <p:cNvPr id="24" name="Text 23"/>
          <p:cNvSpPr txBox="1"/>
          <p:nvPr/>
        </p:nvSpPr>
        <p:spPr>
          <a:xfrm>
            <a:off x="10132060" y="3558929"/>
            <a:ext cx="124714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7C6B"/>
                </a:solidFill>
                <a:latin typeface="IBM Plex Sans Arabic"/>
                <a:ea typeface="IBM Plex Sans Arabic"/>
                <a:cs typeface="IBM Plex Sans Arabic"/>
              </a:rPr>
              <a:t>لماذا</a:t>
            </a:r>
          </a:p>
        </p:txBody>
      </p:sp>
      <p:sp>
        <p:nvSpPr>
          <p:cNvPr id="25" name="Text 24"/>
          <p:cNvSpPr txBox="1"/>
          <p:nvPr/>
        </p:nvSpPr>
        <p:spPr>
          <a:xfrm>
            <a:off x="531622" y="3558929"/>
            <a:ext cx="9653778"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بعد الإجراءات يصبح الاحتمال «نادراً» (2) لأن كلمة المرور وحدها لا تكفي. الأثر يبقى «عالياً» (4) لأن البيانات نفسها ما زالت على الخادم. النتيجة 8: «متوسط».</a:t>
            </a:r>
          </a:p>
        </p:txBody>
      </p:sp>
      <p:sp>
        <p:nvSpPr>
          <p:cNvPr id="26" name="Text 25"/>
          <p:cNvSpPr txBox="1"/>
          <p:nvPr/>
        </p:nvSpPr>
        <p:spPr>
          <a:xfrm>
            <a:off x="10132060" y="4430070"/>
            <a:ext cx="124714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7C6B"/>
                </a:solidFill>
                <a:latin typeface="IBM Plex Sans Arabic"/>
                <a:ea typeface="IBM Plex Sans Arabic"/>
                <a:cs typeface="IBM Plex Sans Arabic"/>
              </a:rPr>
              <a:t>القرار</a:t>
            </a:r>
          </a:p>
        </p:txBody>
      </p:sp>
      <p:sp>
        <p:nvSpPr>
          <p:cNvPr id="27" name="Text 26"/>
          <p:cNvSpPr txBox="1"/>
          <p:nvPr/>
        </p:nvSpPr>
        <p:spPr>
          <a:xfrm>
            <a:off x="531622" y="4430070"/>
            <a:ext cx="9653778"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المتوسط يحتاج قراراً: قبول موثق من الرئيس التنفيذي، أو معالجة إضافية مثل حصر الوصول بعناوين المورد المعتمدة.</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968133"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2: أخطاء شائعة</a:t>
            </a:r>
          </a:p>
        </p:txBody>
      </p:sp>
      <p:sp>
        <p:nvSpPr>
          <p:cNvPr id="7" name="Box 6"/>
          <p:cNvSpPr/>
          <p:nvPr/>
        </p:nvSpPr>
        <p:spPr>
          <a:xfrm>
            <a:off x="6188075" y="1661120"/>
            <a:ext cx="5187950" cy="4029869"/>
          </a:xfrm>
          <a:prstGeom prst="roundRect">
            <a:avLst>
              <a:gd name="adj" fmla="val 2831"/>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لماذا الإجابة النموذجية أفضل</a:t>
            </a:r>
          </a:p>
        </p:txBody>
      </p:sp>
      <p:pic>
        <p:nvPicPr>
          <p:cNvPr id="9" name="Icon CheckCircle 8" descr="icon026.png"/>
          <p:cNvPicPr>
            <a:picLocks noChangeAspect="1"/>
          </p:cNvPicPr>
          <p:nvPr/>
        </p:nvPicPr>
        <p:blipFill>
          <a:blip r:embed="rId2"/>
          <a:stretch>
            <a:fillRect/>
          </a:stretch>
        </p:blipFill>
        <p:spPr>
          <a:xfrm>
            <a:off x="10928350" y="2327870"/>
            <a:ext cx="241300" cy="241300"/>
          </a:xfrm>
          <a:prstGeom prst="rect">
            <a:avLst/>
          </a:prstGeom>
        </p:spPr>
      </p:pic>
      <p:sp>
        <p:nvSpPr>
          <p:cNvPr id="10" name="Text 9"/>
          <p:cNvSpPr txBox="1"/>
          <p:nvPr/>
        </p:nvSpPr>
        <p:spPr>
          <a:xfrm>
            <a:off x="6261862" y="2287516"/>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«لا يوجد تحقق متعدد العوامل» ثغرة، وليست خطراً كاملاً. الخطر يربط الثغرة بحدث وأثر.</a:t>
            </a:r>
          </a:p>
        </p:txBody>
      </p:sp>
      <p:pic>
        <p:nvPicPr>
          <p:cNvPr id="11" name="Icon CheckCircle 10" descr="icon026.png"/>
          <p:cNvPicPr>
            <a:picLocks noChangeAspect="1"/>
          </p:cNvPicPr>
          <p:nvPr/>
        </p:nvPicPr>
        <p:blipFill>
          <a:blip r:embed="rId2"/>
          <a:stretch>
            <a:fillRect/>
          </a:stretch>
        </p:blipFill>
        <p:spPr>
          <a:xfrm>
            <a:off x="10928350" y="3145631"/>
            <a:ext cx="241300" cy="241300"/>
          </a:xfrm>
          <a:prstGeom prst="rect">
            <a:avLst/>
          </a:prstGeom>
        </p:spPr>
      </p:pic>
      <p:sp>
        <p:nvSpPr>
          <p:cNvPr id="12" name="Text 11"/>
          <p:cNvSpPr txBox="1"/>
          <p:nvPr/>
        </p:nvSpPr>
        <p:spPr>
          <a:xfrm>
            <a:off x="6261862" y="3105277"/>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كل درجة لها مبرر مأخوذ من أوصاف المصفوفة، لا من الانطباع.</a:t>
            </a:r>
          </a:p>
        </p:txBody>
      </p:sp>
      <p:pic>
        <p:nvPicPr>
          <p:cNvPr id="13" name="Icon CheckCircle 12" descr="icon026.png"/>
          <p:cNvPicPr>
            <a:picLocks noChangeAspect="1"/>
          </p:cNvPicPr>
          <p:nvPr/>
        </p:nvPicPr>
        <p:blipFill>
          <a:blip r:embed="rId2"/>
          <a:stretch>
            <a:fillRect/>
          </a:stretch>
        </p:blipFill>
        <p:spPr>
          <a:xfrm>
            <a:off x="10928350" y="3963392"/>
            <a:ext cx="241300" cy="241300"/>
          </a:xfrm>
          <a:prstGeom prst="rect">
            <a:avLst/>
          </a:prstGeom>
        </p:spPr>
      </p:pic>
      <p:sp>
        <p:nvSpPr>
          <p:cNvPr id="14" name="Text 13"/>
          <p:cNvSpPr txBox="1"/>
          <p:nvPr/>
        </p:nvSpPr>
        <p:spPr>
          <a:xfrm>
            <a:off x="6261862" y="3923038"/>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التحقق متعدد العوامل يقلل الاحتمال ولا يغير الأثر.</a:t>
            </a:r>
          </a:p>
        </p:txBody>
      </p:sp>
      <p:pic>
        <p:nvPicPr>
          <p:cNvPr id="15" name="Icon CheckCircle 14" descr="icon026.png"/>
          <p:cNvPicPr>
            <a:picLocks noChangeAspect="1"/>
          </p:cNvPicPr>
          <p:nvPr/>
        </p:nvPicPr>
        <p:blipFill>
          <a:blip r:embed="rId2"/>
          <a:stretch>
            <a:fillRect/>
          </a:stretch>
        </p:blipFill>
        <p:spPr>
          <a:xfrm>
            <a:off x="10928350" y="4781153"/>
            <a:ext cx="241300" cy="241300"/>
          </a:xfrm>
          <a:prstGeom prst="rect">
            <a:avLst/>
          </a:prstGeom>
        </p:spPr>
      </p:pic>
      <p:sp>
        <p:nvSpPr>
          <p:cNvPr id="16" name="Text 15"/>
          <p:cNvSpPr txBox="1"/>
          <p:nvPr/>
        </p:nvSpPr>
        <p:spPr>
          <a:xfrm>
            <a:off x="6261862" y="4740799"/>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المعالجة عند الخط الأول، وGRC يتابع، والمورد لا يملك الخطر.</a:t>
            </a:r>
          </a:p>
        </p:txBody>
      </p:sp>
      <p:sp>
        <p:nvSpPr>
          <p:cNvPr id="17" name="Box 16"/>
          <p:cNvSpPr/>
          <p:nvPr/>
        </p:nvSpPr>
        <p:spPr>
          <a:xfrm>
            <a:off x="815975" y="1661120"/>
            <a:ext cx="5187950" cy="4029869"/>
          </a:xfrm>
          <a:prstGeom prst="roundRect">
            <a:avLst>
              <a:gd name="adj" fmla="val 2831"/>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B4412C"/>
                </a:solidFill>
                <a:latin typeface="Readex Pro"/>
                <a:ea typeface="Readex Pro"/>
                <a:cs typeface="Readex Pro"/>
              </a:rPr>
              <a:t>أخطاء شائعة</a:t>
            </a:r>
          </a:p>
        </p:txBody>
      </p:sp>
      <p:pic>
        <p:nvPicPr>
          <p:cNvPr id="19" name="Icon Warning 18" descr="icon027.png"/>
          <p:cNvPicPr>
            <a:picLocks noChangeAspect="1"/>
          </p:cNvPicPr>
          <p:nvPr/>
        </p:nvPicPr>
        <p:blipFill>
          <a:blip r:embed="rId3"/>
          <a:stretch>
            <a:fillRect/>
          </a:stretch>
        </p:blipFill>
        <p:spPr>
          <a:xfrm>
            <a:off x="5556250" y="2327870"/>
            <a:ext cx="241300" cy="241300"/>
          </a:xfrm>
          <a:prstGeom prst="rect">
            <a:avLst/>
          </a:prstGeom>
        </p:spPr>
      </p:pic>
      <p:sp>
        <p:nvSpPr>
          <p:cNvPr id="20" name="Text 19"/>
          <p:cNvSpPr txBox="1"/>
          <p:nvPr/>
        </p:nvSpPr>
        <p:spPr>
          <a:xfrm>
            <a:off x="838200" y="2287516"/>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كتابة الثغرة وحدها خطراً: «لا يوجد MFA».</a:t>
            </a:r>
          </a:p>
        </p:txBody>
      </p:sp>
      <p:pic>
        <p:nvPicPr>
          <p:cNvPr id="21" name="Icon Warning 20" descr="icon027.png"/>
          <p:cNvPicPr>
            <a:picLocks noChangeAspect="1"/>
          </p:cNvPicPr>
          <p:nvPr/>
        </p:nvPicPr>
        <p:blipFill>
          <a:blip r:embed="rId3"/>
          <a:stretch>
            <a:fillRect/>
          </a:stretch>
        </p:blipFill>
        <p:spPr>
          <a:xfrm>
            <a:off x="5556250" y="2781201"/>
            <a:ext cx="241300" cy="241300"/>
          </a:xfrm>
          <a:prstGeom prst="rect">
            <a:avLst/>
          </a:prstGeom>
        </p:spPr>
      </p:pic>
      <p:sp>
        <p:nvSpPr>
          <p:cNvPr id="22" name="Text 21"/>
          <p:cNvSpPr txBox="1"/>
          <p:nvPr/>
        </p:nvSpPr>
        <p:spPr>
          <a:xfrm>
            <a:off x="838200" y="274084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درجات بلا تبرير، أو خلط الاحتمال بالأثر.</a:t>
            </a:r>
          </a:p>
        </p:txBody>
      </p:sp>
      <p:pic>
        <p:nvPicPr>
          <p:cNvPr id="23" name="Icon Warning 22" descr="icon027.png"/>
          <p:cNvPicPr>
            <a:picLocks noChangeAspect="1"/>
          </p:cNvPicPr>
          <p:nvPr/>
        </p:nvPicPr>
        <p:blipFill>
          <a:blip r:embed="rId3"/>
          <a:stretch>
            <a:fillRect/>
          </a:stretch>
        </p:blipFill>
        <p:spPr>
          <a:xfrm>
            <a:off x="5556250" y="3234531"/>
            <a:ext cx="241300" cy="241300"/>
          </a:xfrm>
          <a:prstGeom prst="rect">
            <a:avLst/>
          </a:prstGeom>
        </p:spPr>
      </p:pic>
      <p:sp>
        <p:nvSpPr>
          <p:cNvPr id="24" name="Text 23"/>
          <p:cNvSpPr txBox="1"/>
          <p:nvPr/>
        </p:nvSpPr>
        <p:spPr>
          <a:xfrm>
            <a:off x="889762" y="3194177"/>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افتراض أن الخطر يصبح «منخفضاً جداً» تلقائياً بعد أي ضابط.</a:t>
            </a:r>
          </a:p>
        </p:txBody>
      </p:sp>
      <p:pic>
        <p:nvPicPr>
          <p:cNvPr id="25" name="Icon Warning 24" descr="icon027.png"/>
          <p:cNvPicPr>
            <a:picLocks noChangeAspect="1"/>
          </p:cNvPicPr>
          <p:nvPr/>
        </p:nvPicPr>
        <p:blipFill>
          <a:blip r:embed="rId3"/>
          <a:stretch>
            <a:fillRect/>
          </a:stretch>
        </p:blipFill>
        <p:spPr>
          <a:xfrm>
            <a:off x="5556250" y="4052292"/>
            <a:ext cx="241300" cy="241300"/>
          </a:xfrm>
          <a:prstGeom prst="rect">
            <a:avLst/>
          </a:prstGeom>
        </p:spPr>
      </p:pic>
      <p:sp>
        <p:nvSpPr>
          <p:cNvPr id="26" name="Text 25"/>
          <p:cNvSpPr txBox="1"/>
          <p:nvPr/>
        </p:nvSpPr>
        <p:spPr>
          <a:xfrm>
            <a:off x="889762" y="4011938"/>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اختيار «النقل إلى المورد» معالجة؛ المسؤولية لا تنتقل.</a:t>
            </a:r>
          </a:p>
        </p:txBody>
      </p:sp>
      <p:pic>
        <p:nvPicPr>
          <p:cNvPr id="27" name="Icon Warning 26" descr="icon027.png"/>
          <p:cNvPicPr>
            <a:picLocks noChangeAspect="1"/>
          </p:cNvPicPr>
          <p:nvPr/>
        </p:nvPicPr>
        <p:blipFill>
          <a:blip r:embed="rId3"/>
          <a:stretch>
            <a:fillRect/>
          </a:stretch>
        </p:blipFill>
        <p:spPr>
          <a:xfrm>
            <a:off x="5556250" y="4870053"/>
            <a:ext cx="241300" cy="241300"/>
          </a:xfrm>
          <a:prstGeom prst="rect">
            <a:avLst/>
          </a:prstGeom>
        </p:spPr>
      </p:pic>
      <p:sp>
        <p:nvSpPr>
          <p:cNvPr id="28" name="Text 27"/>
          <p:cNvSpPr txBox="1"/>
          <p:nvPr/>
        </p:nvSpPr>
        <p:spPr>
          <a:xfrm>
            <a:off x="838200" y="4829699"/>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إجراءات بلا مالك أو موعد، أو مالكها GRC.</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مخاطر الأطراف الخارجية: دورة حياة المورد</a:t>
            </a:r>
          </a:p>
        </p:txBody>
      </p:sp>
      <p:sp>
        <p:nvSpPr>
          <p:cNvPr id="5" name="Box 4"/>
          <p:cNvSpPr/>
          <p:nvPr/>
        </p:nvSpPr>
        <p:spPr>
          <a:xfrm>
            <a:off x="9330035" y="1661120"/>
            <a:ext cx="2045990" cy="2528888"/>
          </a:xfrm>
          <a:prstGeom prst="roundRect">
            <a:avLst>
              <a:gd name="adj" fmla="val 5569"/>
            </a:avLst>
          </a:prstGeom>
          <a:solidFill>
            <a:srgbClr val="FFFDF8"/>
          </a:solidFill>
          <a:ln w="6350">
            <a:solidFill>
              <a:srgbClr val="E1DBCD"/>
            </a:solidFill>
          </a:ln>
        </p:spPr>
        <p:txBody>
          <a:bodyPr rtlCol="0" anchor="ctr"/>
          <a:lstStyle/>
          <a:p>
            <a:pPr algn="ctr"/>
          </a:p>
        </p:txBody>
      </p:sp>
      <p:sp>
        <p:nvSpPr>
          <p:cNvPr id="6" name="Text 5"/>
          <p:cNvSpPr txBox="1"/>
          <p:nvPr/>
        </p:nvSpPr>
        <p:spPr>
          <a:xfrm>
            <a:off x="9352260" y="1848001"/>
            <a:ext cx="1855490"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1</a:t>
            </a:r>
          </a:p>
        </p:txBody>
      </p:sp>
      <p:sp>
        <p:nvSpPr>
          <p:cNvPr id="7" name="Text 6"/>
          <p:cNvSpPr txBox="1"/>
          <p:nvPr/>
        </p:nvSpPr>
        <p:spPr>
          <a:xfrm>
            <a:off x="9352260" y="2229922"/>
            <a:ext cx="1855490" cy="371475"/>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1" i="0">
                <a:solidFill>
                  <a:srgbClr val="172433"/>
                </a:solidFill>
                <a:latin typeface="Readex Pro"/>
                <a:ea typeface="Readex Pro"/>
                <a:cs typeface="Readex Pro"/>
              </a:rPr>
              <a:t>التخطيط</a:t>
            </a:r>
          </a:p>
        </p:txBody>
      </p:sp>
      <p:sp>
        <p:nvSpPr>
          <p:cNvPr id="8" name="Text 7"/>
          <p:cNvSpPr txBox="1"/>
          <p:nvPr/>
        </p:nvSpPr>
        <p:spPr>
          <a:xfrm>
            <a:off x="9437985" y="2646069"/>
            <a:ext cx="1769765" cy="1013222"/>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ما الخدمة، وما البيانات التي سيصل إليها؟</a:t>
            </a:r>
          </a:p>
        </p:txBody>
      </p:sp>
      <p:sp>
        <p:nvSpPr>
          <p:cNvPr id="9" name="Box 8"/>
          <p:cNvSpPr/>
          <p:nvPr/>
        </p:nvSpPr>
        <p:spPr>
          <a:xfrm>
            <a:off x="7201495" y="1661120"/>
            <a:ext cx="2045990" cy="2528888"/>
          </a:xfrm>
          <a:prstGeom prst="roundRect">
            <a:avLst>
              <a:gd name="adj" fmla="val 5569"/>
            </a:avLst>
          </a:prstGeom>
          <a:solidFill>
            <a:srgbClr val="FFFDF8"/>
          </a:solidFill>
          <a:ln w="6350">
            <a:solidFill>
              <a:srgbClr val="E1DBCD"/>
            </a:solidFill>
          </a:ln>
        </p:spPr>
        <p:txBody>
          <a:bodyPr rtlCol="0" anchor="ctr"/>
          <a:lstStyle/>
          <a:p>
            <a:pPr algn="ctr"/>
          </a:p>
        </p:txBody>
      </p:sp>
      <p:sp>
        <p:nvSpPr>
          <p:cNvPr id="10" name="Text 9"/>
          <p:cNvSpPr txBox="1"/>
          <p:nvPr/>
        </p:nvSpPr>
        <p:spPr>
          <a:xfrm>
            <a:off x="7223720" y="1848001"/>
            <a:ext cx="1855490"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2</a:t>
            </a:r>
          </a:p>
        </p:txBody>
      </p:sp>
      <p:sp>
        <p:nvSpPr>
          <p:cNvPr id="11" name="Text 10"/>
          <p:cNvSpPr txBox="1"/>
          <p:nvPr/>
        </p:nvSpPr>
        <p:spPr>
          <a:xfrm>
            <a:off x="7298333" y="2229922"/>
            <a:ext cx="1780877" cy="742950"/>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1" i="0">
                <a:solidFill>
                  <a:srgbClr val="172433"/>
                </a:solidFill>
                <a:latin typeface="Readex Pro"/>
                <a:ea typeface="Readex Pro"/>
                <a:cs typeface="Readex Pro"/>
              </a:rPr>
              <a:t>التقييم قبل التعاقد</a:t>
            </a:r>
          </a:p>
        </p:txBody>
      </p:sp>
      <p:sp>
        <p:nvSpPr>
          <p:cNvPr id="12" name="Text 11"/>
          <p:cNvSpPr txBox="1"/>
          <p:nvPr/>
        </p:nvSpPr>
        <p:spPr>
          <a:xfrm>
            <a:off x="7309445" y="3017544"/>
            <a:ext cx="176976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استبيان وأدلة وتصنيف للمخاطر.</a:t>
            </a:r>
          </a:p>
        </p:txBody>
      </p:sp>
      <p:sp>
        <p:nvSpPr>
          <p:cNvPr id="13" name="Box 12"/>
          <p:cNvSpPr/>
          <p:nvPr/>
        </p:nvSpPr>
        <p:spPr>
          <a:xfrm>
            <a:off x="5072955" y="1661120"/>
            <a:ext cx="2045990" cy="2528888"/>
          </a:xfrm>
          <a:prstGeom prst="roundRect">
            <a:avLst>
              <a:gd name="adj" fmla="val 5569"/>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095180" y="1848001"/>
            <a:ext cx="1855490"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3</a:t>
            </a:r>
          </a:p>
        </p:txBody>
      </p:sp>
      <p:sp>
        <p:nvSpPr>
          <p:cNvPr id="15" name="Text 14"/>
          <p:cNvSpPr txBox="1"/>
          <p:nvPr/>
        </p:nvSpPr>
        <p:spPr>
          <a:xfrm>
            <a:off x="5095180" y="2229922"/>
            <a:ext cx="1855490" cy="371475"/>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1" i="0">
                <a:solidFill>
                  <a:srgbClr val="172433"/>
                </a:solidFill>
                <a:latin typeface="Readex Pro"/>
                <a:ea typeface="Readex Pro"/>
                <a:cs typeface="Readex Pro"/>
              </a:rPr>
              <a:t>العقد</a:t>
            </a:r>
          </a:p>
        </p:txBody>
      </p:sp>
      <p:sp>
        <p:nvSpPr>
          <p:cNvPr id="16" name="Text 15"/>
          <p:cNvSpPr txBox="1"/>
          <p:nvPr/>
        </p:nvSpPr>
        <p:spPr>
          <a:xfrm>
            <a:off x="5180905" y="2646069"/>
            <a:ext cx="1769765" cy="1350962"/>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السرية، والإبلاغ، والالتزام بالسياسات، وحذف البيانات.</a:t>
            </a:r>
          </a:p>
        </p:txBody>
      </p:sp>
      <p:sp>
        <p:nvSpPr>
          <p:cNvPr id="17" name="Box 16"/>
          <p:cNvSpPr/>
          <p:nvPr/>
        </p:nvSpPr>
        <p:spPr>
          <a:xfrm>
            <a:off x="2944416" y="1661120"/>
            <a:ext cx="2045990" cy="2528888"/>
          </a:xfrm>
          <a:prstGeom prst="roundRect">
            <a:avLst>
              <a:gd name="adj" fmla="val 5569"/>
            </a:avLst>
          </a:prstGeom>
          <a:solidFill>
            <a:srgbClr val="FFFDF8"/>
          </a:solidFill>
          <a:ln w="6350">
            <a:solidFill>
              <a:srgbClr val="E1DBCD"/>
            </a:solidFill>
          </a:ln>
        </p:spPr>
        <p:txBody>
          <a:bodyPr rtlCol="0" anchor="ctr"/>
          <a:lstStyle/>
          <a:p>
            <a:pPr algn="ctr"/>
          </a:p>
        </p:txBody>
      </p:sp>
      <p:sp>
        <p:nvSpPr>
          <p:cNvPr id="18" name="Text 17"/>
          <p:cNvSpPr txBox="1"/>
          <p:nvPr/>
        </p:nvSpPr>
        <p:spPr>
          <a:xfrm>
            <a:off x="2966641" y="1848001"/>
            <a:ext cx="1855490"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4</a:t>
            </a:r>
          </a:p>
        </p:txBody>
      </p:sp>
      <p:sp>
        <p:nvSpPr>
          <p:cNvPr id="19" name="Text 18"/>
          <p:cNvSpPr txBox="1"/>
          <p:nvPr/>
        </p:nvSpPr>
        <p:spPr>
          <a:xfrm>
            <a:off x="2966641" y="2229922"/>
            <a:ext cx="1855490" cy="371475"/>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1" i="0">
                <a:solidFill>
                  <a:srgbClr val="172433"/>
                </a:solidFill>
                <a:latin typeface="Readex Pro"/>
                <a:ea typeface="Readex Pro"/>
                <a:cs typeface="Readex Pro"/>
              </a:rPr>
              <a:t>المتابعة</a:t>
            </a:r>
          </a:p>
        </p:txBody>
      </p:sp>
      <p:sp>
        <p:nvSpPr>
          <p:cNvPr id="20" name="Text 19"/>
          <p:cNvSpPr txBox="1"/>
          <p:nvPr/>
        </p:nvSpPr>
        <p:spPr>
          <a:xfrm>
            <a:off x="3052366" y="2646069"/>
            <a:ext cx="176976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مراجعة دورية وتحديث التقييم.</a:t>
            </a:r>
          </a:p>
        </p:txBody>
      </p:sp>
      <p:sp>
        <p:nvSpPr>
          <p:cNvPr id="21" name="Box 20"/>
          <p:cNvSpPr/>
          <p:nvPr/>
        </p:nvSpPr>
        <p:spPr>
          <a:xfrm>
            <a:off x="815876" y="1661120"/>
            <a:ext cx="2045990" cy="2528888"/>
          </a:xfrm>
          <a:prstGeom prst="roundRect">
            <a:avLst>
              <a:gd name="adj" fmla="val 5569"/>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38101" y="1848001"/>
            <a:ext cx="1855490"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5</a:t>
            </a:r>
          </a:p>
        </p:txBody>
      </p:sp>
      <p:sp>
        <p:nvSpPr>
          <p:cNvPr id="23" name="Text 22"/>
          <p:cNvSpPr txBox="1"/>
          <p:nvPr/>
        </p:nvSpPr>
        <p:spPr>
          <a:xfrm>
            <a:off x="838101" y="2229922"/>
            <a:ext cx="1855490" cy="371475"/>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1" i="0">
                <a:solidFill>
                  <a:srgbClr val="172433"/>
                </a:solidFill>
                <a:latin typeface="Readex Pro"/>
                <a:ea typeface="Readex Pro"/>
                <a:cs typeface="Readex Pro"/>
              </a:rPr>
              <a:t>الإنهاء</a:t>
            </a:r>
          </a:p>
        </p:txBody>
      </p:sp>
      <p:sp>
        <p:nvSpPr>
          <p:cNvPr id="24" name="Text 23"/>
          <p:cNvSpPr txBox="1"/>
          <p:nvPr/>
        </p:nvSpPr>
        <p:spPr>
          <a:xfrm>
            <a:off x="923826" y="2646069"/>
            <a:ext cx="1769765" cy="1013222"/>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إعادة البيانات وحذفها، وإلغاء الصلاحيات.</a:t>
            </a:r>
          </a:p>
        </p:txBody>
      </p:sp>
      <p:sp>
        <p:nvSpPr>
          <p:cNvPr id="25" name="Box 24"/>
          <p:cNvSpPr/>
          <p:nvPr/>
        </p:nvSpPr>
        <p:spPr>
          <a:xfrm>
            <a:off x="812800" y="4383683"/>
            <a:ext cx="10566400" cy="627360"/>
          </a:xfrm>
          <a:prstGeom prst="roundRect">
            <a:avLst>
              <a:gd name="adj" fmla="val 16194"/>
            </a:avLst>
          </a:prstGeom>
          <a:solidFill>
            <a:srgbClr val="F6ECDA"/>
          </a:solidFill>
          <a:ln>
            <a:noFill/>
          </a:ln>
        </p:spPr>
        <p:txBody>
          <a:bodyPr rtlCol="0" anchor="ctr"/>
          <a:lstStyle/>
          <a:p>
            <a:pPr algn="ctr"/>
          </a:p>
        </p:txBody>
      </p:sp>
      <p:pic>
        <p:nvPicPr>
          <p:cNvPr id="26" name="Icon Warning 25" descr="icon033.png"/>
          <p:cNvPicPr>
            <a:picLocks noChangeAspect="1"/>
          </p:cNvPicPr>
          <p:nvPr/>
        </p:nvPicPr>
        <p:blipFill>
          <a:blip r:embed="rId2"/>
          <a:stretch>
            <a:fillRect/>
          </a:stretch>
        </p:blipFill>
        <p:spPr>
          <a:xfrm>
            <a:off x="10922000" y="4557613"/>
            <a:ext cx="279400" cy="279400"/>
          </a:xfrm>
          <a:prstGeom prst="rect">
            <a:avLst/>
          </a:prstGeom>
        </p:spPr>
      </p:pic>
      <p:sp>
        <p:nvSpPr>
          <p:cNvPr id="27" name="Text 26"/>
          <p:cNvSpPr txBox="1"/>
          <p:nvPr/>
        </p:nvSpPr>
        <p:spPr>
          <a:xfrm>
            <a:off x="838200" y="4469344"/>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في رُفاد: عقد سَنَد ينقصه الإبلاغ عن الحوادث والالتزام بسياسات رُفاد، وهما من بنود ECC ‎4-1-2‎.</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استمرارية الأعمال: RTO وRPO</a:t>
            </a:r>
          </a:p>
        </p:txBody>
      </p:sp>
      <p:sp>
        <p:nvSpPr>
          <p:cNvPr id="5" name="Text 4"/>
          <p:cNvSpPr txBox="1"/>
          <p:nvPr/>
        </p:nvSpPr>
        <p:spPr>
          <a:xfrm>
            <a:off x="0" y="1610701"/>
            <a:ext cx="11379200" cy="426641"/>
          </a:xfrm>
          <a:prstGeom prst="rect">
            <a:avLst/>
          </a:prstGeom>
          <a:noFill/>
        </p:spPr>
        <p:txBody>
          <a:bodyPr wrap="square" tIns="0" rIns="0" bIns="0" lIns="0" anchor="t" rtlCol="0" anchorCtr="0">
            <a:noAutofit/>
          </a:bodyPr>
          <a:lstStyle/>
          <a:p>
            <a:pPr algn="r" rtl="1">
              <a:lnSpc>
                <a:spcPts val="3360"/>
              </a:lnSpc>
              <a:spcBef>
                <a:spcPts val="0"/>
              </a:spcBef>
              <a:spcAft>
                <a:spcPts val="0"/>
              </a:spcAft>
            </a:pPr>
            <a:r>
              <a:rPr sz="2400" b="0" i="0">
                <a:solidFill>
                  <a:srgbClr val="172433"/>
                </a:solidFill>
                <a:latin typeface="IBM Plex Sans Arabic"/>
                <a:ea typeface="IBM Plex Sans Arabic"/>
                <a:cs typeface="IBM Plex Sans Arabic"/>
              </a:rPr>
              <a:t>تحليل أثر الأعمال (BIA) يحدد أهم الخدمات، وكم تتحمل الجهة توقفها.</a:t>
            </a:r>
          </a:p>
        </p:txBody>
      </p:sp>
      <p:sp>
        <p:nvSpPr>
          <p:cNvPr id="6" name="Box 5"/>
          <p:cNvSpPr/>
          <p:nvPr/>
        </p:nvSpPr>
        <p:spPr>
          <a:xfrm>
            <a:off x="815975" y="2278261"/>
            <a:ext cx="10560050" cy="1219101"/>
          </a:xfrm>
          <a:prstGeom prst="roundRect">
            <a:avLst>
              <a:gd name="adj" fmla="val 9327"/>
            </a:avLst>
          </a:prstGeom>
          <a:solidFill>
            <a:srgbClr val="FFFDF8"/>
          </a:solidFill>
          <a:ln w="6350">
            <a:solidFill>
              <a:srgbClr val="E1DBCD"/>
            </a:solidFill>
          </a:ln>
        </p:spPr>
        <p:txBody>
          <a:bodyPr rtlCol="0" anchor="ctr"/>
          <a:lstStyle/>
          <a:p>
            <a:pPr algn="ctr"/>
          </a:p>
        </p:txBody>
      </p:sp>
      <p:sp>
        <p:nvSpPr>
          <p:cNvPr id="7" name="Box 6"/>
          <p:cNvSpPr/>
          <p:nvPr/>
        </p:nvSpPr>
        <p:spPr>
          <a:xfrm>
            <a:off x="10483850" y="2589312"/>
            <a:ext cx="190500" cy="190500"/>
          </a:xfrm>
          <a:prstGeom prst="roundRect">
            <a:avLst>
              <a:gd name="adj" fmla="val 50000"/>
            </a:avLst>
          </a:prstGeom>
          <a:solidFill>
            <a:srgbClr val="24506B"/>
          </a:solidFill>
          <a:ln>
            <a:noFill/>
          </a:ln>
        </p:spPr>
        <p:txBody>
          <a:bodyPr rtlCol="0" anchor="ctr"/>
          <a:lstStyle/>
          <a:p>
            <a:pPr algn="ctr"/>
          </a:p>
        </p:txBody>
      </p:sp>
      <p:sp>
        <p:nvSpPr>
          <p:cNvPr id="8" name="Text 7"/>
          <p:cNvSpPr txBox="1"/>
          <p:nvPr/>
        </p:nvSpPr>
        <p:spPr>
          <a:xfrm>
            <a:off x="10041632" y="2791242"/>
            <a:ext cx="107493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آخر نسخة</a:t>
            </a:r>
          </a:p>
        </p:txBody>
      </p:sp>
      <p:sp>
        <p:nvSpPr>
          <p:cNvPr id="9" name="Text 8"/>
          <p:cNvSpPr txBox="1"/>
          <p:nvPr/>
        </p:nvSpPr>
        <p:spPr>
          <a:xfrm>
            <a:off x="6636766" y="2411484"/>
            <a:ext cx="3401568" cy="426641"/>
          </a:xfrm>
          <a:prstGeom prst="rect">
            <a:avLst/>
          </a:prstGeom>
          <a:noFill/>
        </p:spPr>
        <p:txBody>
          <a:bodyPr wrap="square" tIns="0" rIns="0" bIns="0" lIns="0" anchor="t" rtlCol="0" anchorCtr="0">
            <a:noAutofit/>
          </a:bodyPr>
          <a:lstStyle/>
          <a:p>
            <a:pPr algn="ctr">
              <a:lnSpc>
                <a:spcPts val="3360"/>
              </a:lnSpc>
              <a:spcBef>
                <a:spcPts val="0"/>
              </a:spcBef>
              <a:spcAft>
                <a:spcPts val="0"/>
              </a:spcAft>
            </a:pPr>
            <a:r>
              <a:rPr sz="2400" b="1" i="0">
                <a:solidFill>
                  <a:srgbClr val="24506B"/>
                </a:solidFill>
                <a:latin typeface="Readex Pro"/>
                <a:ea typeface="Readex Pro"/>
                <a:cs typeface="Readex Pro"/>
              </a:rPr>
              <a:t>RPO</a:t>
            </a:r>
          </a:p>
        </p:txBody>
      </p:sp>
      <p:sp>
        <p:nvSpPr>
          <p:cNvPr id="10" name="Box 9"/>
          <p:cNvSpPr/>
          <p:nvPr/>
        </p:nvSpPr>
        <p:spPr>
          <a:xfrm>
            <a:off x="6762750" y="2911277"/>
            <a:ext cx="3149600" cy="50800"/>
          </a:xfrm>
          <a:prstGeom prst="roundRect">
            <a:avLst>
              <a:gd name="adj" fmla="val 50000"/>
            </a:avLst>
          </a:prstGeom>
          <a:solidFill>
            <a:srgbClr val="24506B"/>
          </a:solidFill>
          <a:ln>
            <a:noFill/>
          </a:ln>
        </p:spPr>
        <p:txBody>
          <a:bodyPr rtlCol="0" anchor="ctr"/>
          <a:lstStyle/>
          <a:p>
            <a:pPr algn="ctr"/>
          </a:p>
        </p:txBody>
      </p:sp>
      <p:sp>
        <p:nvSpPr>
          <p:cNvPr id="11" name="Text 10"/>
          <p:cNvSpPr txBox="1"/>
          <p:nvPr/>
        </p:nvSpPr>
        <p:spPr>
          <a:xfrm>
            <a:off x="6636766" y="2963759"/>
            <a:ext cx="3401568" cy="328910"/>
          </a:xfrm>
          <a:prstGeom prst="rect">
            <a:avLst/>
          </a:prstGeom>
          <a:noFill/>
        </p:spPr>
        <p:txBody>
          <a:bodyPr wrap="square" tIns="0" rIns="0" bIns="0" lIns="0" anchor="t" rtlCol="0" anchorCtr="0">
            <a:noAutofit/>
          </a:bodyPr>
          <a:lstStyle/>
          <a:p>
            <a:pPr algn="ctr" rtl="1">
              <a:lnSpc>
                <a:spcPts val="2590"/>
              </a:lnSpc>
              <a:spcBef>
                <a:spcPts val="0"/>
              </a:spcBef>
              <a:spcAft>
                <a:spcPts val="0"/>
              </a:spcAft>
            </a:pPr>
            <a:r>
              <a:rPr sz="1850" b="0" i="0">
                <a:solidFill>
                  <a:srgbClr val="4E5A66"/>
                </a:solidFill>
                <a:latin typeface="IBM Plex Sans Arabic"/>
                <a:ea typeface="IBM Plex Sans Arabic"/>
                <a:cs typeface="IBM Plex Sans Arabic"/>
              </a:rPr>
              <a:t>كم بيانات نخسر</a:t>
            </a:r>
          </a:p>
        </p:txBody>
      </p:sp>
      <p:sp>
        <p:nvSpPr>
          <p:cNvPr id="12" name="Box 11"/>
          <p:cNvSpPr/>
          <p:nvPr/>
        </p:nvSpPr>
        <p:spPr>
          <a:xfrm>
            <a:off x="5969000" y="2557562"/>
            <a:ext cx="254000" cy="254000"/>
          </a:xfrm>
          <a:prstGeom prst="roundRect">
            <a:avLst>
              <a:gd name="adj" fmla="val 50000"/>
            </a:avLst>
          </a:prstGeom>
          <a:solidFill>
            <a:srgbClr val="B4412C"/>
          </a:solidFill>
          <a:ln>
            <a:noFill/>
          </a:ln>
        </p:spPr>
        <p:txBody>
          <a:bodyPr rtlCol="0" anchor="ctr"/>
          <a:lstStyle/>
          <a:p>
            <a:pPr algn="ctr"/>
          </a:p>
        </p:txBody>
      </p:sp>
      <p:sp>
        <p:nvSpPr>
          <p:cNvPr id="13" name="Text 12"/>
          <p:cNvSpPr txBox="1"/>
          <p:nvPr/>
        </p:nvSpPr>
        <p:spPr>
          <a:xfrm>
            <a:off x="5662017" y="2822992"/>
            <a:ext cx="86796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B4412C"/>
                </a:solidFill>
                <a:latin typeface="IBM Plex Sans Arabic"/>
                <a:ea typeface="IBM Plex Sans Arabic"/>
                <a:cs typeface="IBM Plex Sans Arabic"/>
              </a:rPr>
              <a:t>الحادثة</a:t>
            </a:r>
          </a:p>
        </p:txBody>
      </p:sp>
      <p:sp>
        <p:nvSpPr>
          <p:cNvPr id="14" name="Text 13"/>
          <p:cNvSpPr txBox="1"/>
          <p:nvPr/>
        </p:nvSpPr>
        <p:spPr>
          <a:xfrm>
            <a:off x="2153666" y="2411484"/>
            <a:ext cx="3401568" cy="426641"/>
          </a:xfrm>
          <a:prstGeom prst="rect">
            <a:avLst/>
          </a:prstGeom>
          <a:noFill/>
        </p:spPr>
        <p:txBody>
          <a:bodyPr wrap="square" tIns="0" rIns="0" bIns="0" lIns="0" anchor="t" rtlCol="0" anchorCtr="0">
            <a:noAutofit/>
          </a:bodyPr>
          <a:lstStyle/>
          <a:p>
            <a:pPr algn="ctr">
              <a:lnSpc>
                <a:spcPts val="3360"/>
              </a:lnSpc>
              <a:spcBef>
                <a:spcPts val="0"/>
              </a:spcBef>
              <a:spcAft>
                <a:spcPts val="0"/>
              </a:spcAft>
            </a:pPr>
            <a:r>
              <a:rPr sz="2400" b="1" i="0">
                <a:solidFill>
                  <a:srgbClr val="0E7C6B"/>
                </a:solidFill>
                <a:latin typeface="Readex Pro"/>
                <a:ea typeface="Readex Pro"/>
                <a:cs typeface="Readex Pro"/>
              </a:rPr>
              <a:t>RTO</a:t>
            </a:r>
          </a:p>
        </p:txBody>
      </p:sp>
      <p:sp>
        <p:nvSpPr>
          <p:cNvPr id="15" name="Box 14"/>
          <p:cNvSpPr/>
          <p:nvPr/>
        </p:nvSpPr>
        <p:spPr>
          <a:xfrm>
            <a:off x="2279650" y="2911277"/>
            <a:ext cx="3149600" cy="50800"/>
          </a:xfrm>
          <a:prstGeom prst="roundRect">
            <a:avLst>
              <a:gd name="adj" fmla="val 50000"/>
            </a:avLst>
          </a:prstGeom>
          <a:solidFill>
            <a:srgbClr val="0E7C6B"/>
          </a:solidFill>
          <a:ln>
            <a:noFill/>
          </a:ln>
        </p:spPr>
        <p:txBody>
          <a:bodyPr rtlCol="0" anchor="ctr"/>
          <a:lstStyle/>
          <a:p>
            <a:pPr algn="ctr"/>
          </a:p>
        </p:txBody>
      </p:sp>
      <p:sp>
        <p:nvSpPr>
          <p:cNvPr id="16" name="Text 15"/>
          <p:cNvSpPr txBox="1"/>
          <p:nvPr/>
        </p:nvSpPr>
        <p:spPr>
          <a:xfrm>
            <a:off x="2153666" y="2963759"/>
            <a:ext cx="3401568" cy="328910"/>
          </a:xfrm>
          <a:prstGeom prst="rect">
            <a:avLst/>
          </a:prstGeom>
          <a:noFill/>
        </p:spPr>
        <p:txBody>
          <a:bodyPr wrap="square" tIns="0" rIns="0" bIns="0" lIns="0" anchor="t" rtlCol="0" anchorCtr="0">
            <a:noAutofit/>
          </a:bodyPr>
          <a:lstStyle/>
          <a:p>
            <a:pPr algn="ctr" rtl="1">
              <a:lnSpc>
                <a:spcPts val="2590"/>
              </a:lnSpc>
              <a:spcBef>
                <a:spcPts val="0"/>
              </a:spcBef>
              <a:spcAft>
                <a:spcPts val="0"/>
              </a:spcAft>
            </a:pPr>
            <a:r>
              <a:rPr sz="1850" b="0" i="0">
                <a:solidFill>
                  <a:srgbClr val="4E5A66"/>
                </a:solidFill>
                <a:latin typeface="IBM Plex Sans Arabic"/>
                <a:ea typeface="IBM Plex Sans Arabic"/>
                <a:cs typeface="IBM Plex Sans Arabic"/>
              </a:rPr>
              <a:t>كم نتوقف</a:t>
            </a:r>
          </a:p>
        </p:txBody>
      </p:sp>
      <p:sp>
        <p:nvSpPr>
          <p:cNvPr id="17" name="Box 16"/>
          <p:cNvSpPr/>
          <p:nvPr/>
        </p:nvSpPr>
        <p:spPr>
          <a:xfrm>
            <a:off x="1517650" y="2589312"/>
            <a:ext cx="190500" cy="190500"/>
          </a:xfrm>
          <a:prstGeom prst="roundRect">
            <a:avLst>
              <a:gd name="adj" fmla="val 50000"/>
            </a:avLst>
          </a:prstGeom>
          <a:solidFill>
            <a:srgbClr val="0E7C6B"/>
          </a:solidFill>
          <a:ln>
            <a:noFill/>
          </a:ln>
        </p:spPr>
        <p:txBody>
          <a:bodyPr rtlCol="0" anchor="ctr"/>
          <a:lstStyle/>
          <a:p>
            <a:pPr algn="ctr"/>
          </a:p>
        </p:txBody>
      </p:sp>
      <p:sp>
        <p:nvSpPr>
          <p:cNvPr id="18" name="Text 17"/>
          <p:cNvSpPr txBox="1"/>
          <p:nvPr/>
        </p:nvSpPr>
        <p:spPr>
          <a:xfrm>
            <a:off x="936327" y="2791242"/>
            <a:ext cx="1353145"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عودة الخدمة</a:t>
            </a:r>
          </a:p>
        </p:txBody>
      </p:sp>
      <p:sp>
        <p:nvSpPr>
          <p:cNvPr id="19" name="Box 18"/>
          <p:cNvSpPr/>
          <p:nvPr/>
        </p:nvSpPr>
        <p:spPr>
          <a:xfrm>
            <a:off x="812800" y="3691037"/>
            <a:ext cx="10566400" cy="1123950"/>
          </a:xfrm>
          <a:prstGeom prst="roundRect">
            <a:avLst>
              <a:gd name="adj" fmla="val 7909"/>
            </a:avLst>
          </a:prstGeom>
          <a:solidFill>
            <a:srgbClr val="FFFFFF"/>
          </a:solidFill>
          <a:ln>
            <a:noFill/>
          </a:ln>
        </p:spPr>
        <p:txBody>
          <a:bodyPr rtlCol="0" anchor="ctr"/>
          <a:lstStyle/>
          <a:p>
            <a:pPr algn="ctr"/>
          </a:p>
        </p:txBody>
      </p:sp>
      <p:sp>
        <p:nvSpPr>
          <p:cNvPr id="20" name="Rule 19"/>
          <p:cNvSpPr/>
          <p:nvPr/>
        </p:nvSpPr>
        <p:spPr>
          <a:xfrm>
            <a:off x="812800" y="3691037"/>
            <a:ext cx="10566400" cy="6350"/>
          </a:xfrm>
          <a:prstGeom prst="rect">
            <a:avLst/>
          </a:prstGeom>
          <a:solidFill>
            <a:srgbClr val="E1DBCD"/>
          </a:solidFill>
          <a:ln>
            <a:noFill/>
          </a:ln>
        </p:spPr>
        <p:txBody>
          <a:bodyPr rtlCol="0" anchor="ctr"/>
          <a:lstStyle/>
          <a:p>
            <a:pPr algn="ctr"/>
          </a:p>
        </p:txBody>
      </p:sp>
      <p:sp>
        <p:nvSpPr>
          <p:cNvPr id="21" name="Rule 20"/>
          <p:cNvSpPr/>
          <p:nvPr/>
        </p:nvSpPr>
        <p:spPr>
          <a:xfrm>
            <a:off x="11328400" y="3691037"/>
            <a:ext cx="50800" cy="1123950"/>
          </a:xfrm>
          <a:prstGeom prst="rect">
            <a:avLst/>
          </a:prstGeom>
          <a:solidFill>
            <a:srgbClr val="24506B"/>
          </a:solidFill>
          <a:ln>
            <a:noFill/>
          </a:ln>
        </p:spPr>
        <p:txBody>
          <a:bodyPr rtlCol="0" anchor="ctr"/>
          <a:lstStyle/>
          <a:p>
            <a:pPr algn="ctr"/>
          </a:p>
        </p:txBody>
      </p:sp>
      <p:sp>
        <p:nvSpPr>
          <p:cNvPr id="22" name="Rule 21"/>
          <p:cNvSpPr/>
          <p:nvPr/>
        </p:nvSpPr>
        <p:spPr>
          <a:xfrm>
            <a:off x="812800" y="4808637"/>
            <a:ext cx="10566400" cy="6350"/>
          </a:xfrm>
          <a:prstGeom prst="rect">
            <a:avLst/>
          </a:prstGeom>
          <a:solidFill>
            <a:srgbClr val="E1DBCD"/>
          </a:solidFill>
          <a:ln>
            <a:noFill/>
          </a:ln>
        </p:spPr>
        <p:txBody>
          <a:bodyPr rtlCol="0" anchor="ctr"/>
          <a:lstStyle/>
          <a:p>
            <a:pPr algn="ctr"/>
          </a:p>
        </p:txBody>
      </p:sp>
      <p:sp>
        <p:nvSpPr>
          <p:cNvPr id="23" name="Rule 22"/>
          <p:cNvSpPr/>
          <p:nvPr/>
        </p:nvSpPr>
        <p:spPr>
          <a:xfrm>
            <a:off x="812800" y="3691037"/>
            <a:ext cx="6350" cy="1123950"/>
          </a:xfrm>
          <a:prstGeom prst="rect">
            <a:avLst/>
          </a:prstGeom>
          <a:solidFill>
            <a:srgbClr val="E1DBCD"/>
          </a:solidFill>
          <a:ln>
            <a:noFill/>
          </a:ln>
        </p:spPr>
        <p:txBody>
          <a:bodyPr rtlCol="0" anchor="ctr"/>
          <a:lstStyle/>
          <a:p>
            <a:pPr algn="ctr"/>
          </a:p>
        </p:txBody>
      </p:sp>
      <p:sp>
        <p:nvSpPr>
          <p:cNvPr id="24" name="Text 23"/>
          <p:cNvSpPr txBox="1"/>
          <p:nvPr/>
        </p:nvSpPr>
        <p:spPr>
          <a:xfrm>
            <a:off x="838200" y="3765808"/>
            <a:ext cx="10312400" cy="857250"/>
          </a:xfrm>
          <a:prstGeom prst="rect">
            <a:avLst/>
          </a:prstGeom>
          <a:noFill/>
        </p:spPr>
        <p:txBody>
          <a:bodyPr wrap="square" tIns="0" rIns="0" bIns="0" lIns="0" anchor="t" rtlCol="0" anchorCtr="0">
            <a:noAutofit/>
          </a:bodyPr>
          <a:lstStyle/>
          <a:p>
            <a:pPr algn="r" rtl="1">
              <a:lnSpc>
                <a:spcPts val="3375"/>
              </a:lnSpc>
              <a:spcBef>
                <a:spcPts val="0"/>
              </a:spcBef>
              <a:spcAft>
                <a:spcPts val="0"/>
              </a:spcAft>
            </a:pPr>
            <a:r>
              <a:rPr sz="2250" b="0" i="0">
                <a:solidFill>
                  <a:srgbClr val="172433"/>
                </a:solidFill>
                <a:latin typeface="IBM Plex Sans Arabic"/>
                <a:ea typeface="IBM Plex Sans Arabic"/>
                <a:cs typeface="IBM Plex Sans Arabic"/>
              </a:rPr>
              <a:t>نظام الرواتب في رُفاد: RTO يوم عمل واحد، وRPO أربع ساعات. النسخة اليومية لا تكفي، فهذه فجوة تُكتب ملاحظة.</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حماية البيانات الشخصية: الأساسيات</a:t>
            </a:r>
          </a:p>
        </p:txBody>
      </p:sp>
      <p:sp>
        <p:nvSpPr>
          <p:cNvPr id="5" name="Text 4"/>
          <p:cNvSpPr txBox="1"/>
          <p:nvPr/>
        </p:nvSpPr>
        <p:spPr>
          <a:xfrm>
            <a:off x="495808" y="1599970"/>
            <a:ext cx="10883392" cy="817761"/>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172433"/>
                </a:solidFill>
                <a:latin typeface="IBM Plex Sans Arabic"/>
                <a:ea typeface="IBM Plex Sans Arabic"/>
                <a:cs typeface="IBM Plex Sans Arabic"/>
              </a:rPr>
              <a:t>في المملكة: نظام حماية البيانات الشخصية (PDPL)، والجهة المختصة سدايا. دخل حيز النفاذ في 14 سبتمبر 2023.</a:t>
            </a:r>
          </a:p>
        </p:txBody>
      </p:sp>
      <p:sp>
        <p:nvSpPr>
          <p:cNvPr id="6" name="Box 5"/>
          <p:cNvSpPr/>
          <p:nvPr/>
        </p:nvSpPr>
        <p:spPr>
          <a:xfrm>
            <a:off x="815975" y="2643981"/>
            <a:ext cx="10560050" cy="2139950"/>
          </a:xfrm>
          <a:prstGeom prst="roundRect">
            <a:avLst>
              <a:gd name="adj" fmla="val 5325"/>
            </a:avLst>
          </a:prstGeom>
          <a:solidFill>
            <a:srgbClr val="FFFDF8"/>
          </a:solidFill>
          <a:ln w="6350">
            <a:solidFill>
              <a:srgbClr val="E1DBCD"/>
            </a:solidFill>
          </a:ln>
        </p:spPr>
        <p:txBody>
          <a:bodyPr rtlCol="0" anchor="ctr"/>
          <a:lstStyle/>
          <a:p>
            <a:pPr algn="ctr"/>
          </a:p>
        </p:txBody>
      </p:sp>
      <p:pic>
        <p:nvPicPr>
          <p:cNvPr id="7" name="Icon Check 6" descr="icon034.png"/>
          <p:cNvPicPr>
            <a:picLocks noChangeAspect="1"/>
          </p:cNvPicPr>
          <p:nvPr/>
        </p:nvPicPr>
        <p:blipFill>
          <a:blip r:embed="rId2"/>
          <a:stretch>
            <a:fillRect/>
          </a:stretch>
        </p:blipFill>
        <p:spPr>
          <a:xfrm>
            <a:off x="10915650" y="2799556"/>
            <a:ext cx="266700" cy="266700"/>
          </a:xfrm>
          <a:prstGeom prst="rect">
            <a:avLst/>
          </a:prstGeom>
        </p:spPr>
      </p:pic>
      <p:sp>
        <p:nvSpPr>
          <p:cNvPr id="8" name="Text 7"/>
          <p:cNvSpPr txBox="1"/>
          <p:nvPr/>
        </p:nvSpPr>
        <p:spPr>
          <a:xfrm>
            <a:off x="838200" y="2755265"/>
            <a:ext cx="99631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أساس نظامي لكل معالجة، وغرض محدد، وأقل قدر من البيانات.</a:t>
            </a:r>
          </a:p>
        </p:txBody>
      </p:sp>
      <p:pic>
        <p:nvPicPr>
          <p:cNvPr id="9" name="Icon Check 8" descr="icon034.png"/>
          <p:cNvPicPr>
            <a:picLocks noChangeAspect="1"/>
          </p:cNvPicPr>
          <p:nvPr/>
        </p:nvPicPr>
        <p:blipFill>
          <a:blip r:embed="rId2"/>
          <a:stretch>
            <a:fillRect/>
          </a:stretch>
        </p:blipFill>
        <p:spPr>
          <a:xfrm>
            <a:off x="10915650" y="3275806"/>
            <a:ext cx="266700" cy="266700"/>
          </a:xfrm>
          <a:prstGeom prst="rect">
            <a:avLst/>
          </a:prstGeom>
        </p:spPr>
      </p:pic>
      <p:sp>
        <p:nvSpPr>
          <p:cNvPr id="10" name="Text 9"/>
          <p:cNvSpPr txBox="1"/>
          <p:nvPr/>
        </p:nvSpPr>
        <p:spPr>
          <a:xfrm>
            <a:off x="838200" y="3231515"/>
            <a:ext cx="99631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حقوق لصاحب البيانات، منها العلم والوصول والتصحيح والإتلاف.</a:t>
            </a:r>
          </a:p>
        </p:txBody>
      </p:sp>
      <p:pic>
        <p:nvPicPr>
          <p:cNvPr id="11" name="Icon Check 10" descr="icon034.png"/>
          <p:cNvPicPr>
            <a:picLocks noChangeAspect="1"/>
          </p:cNvPicPr>
          <p:nvPr/>
        </p:nvPicPr>
        <p:blipFill>
          <a:blip r:embed="rId2"/>
          <a:stretch>
            <a:fillRect/>
          </a:stretch>
        </p:blipFill>
        <p:spPr>
          <a:xfrm>
            <a:off x="10915650" y="3752056"/>
            <a:ext cx="266700" cy="266700"/>
          </a:xfrm>
          <a:prstGeom prst="rect">
            <a:avLst/>
          </a:prstGeom>
        </p:spPr>
      </p:pic>
      <p:sp>
        <p:nvSpPr>
          <p:cNvPr id="12" name="Text 11"/>
          <p:cNvSpPr txBox="1"/>
          <p:nvPr/>
        </p:nvSpPr>
        <p:spPr>
          <a:xfrm>
            <a:off x="838200" y="3707765"/>
            <a:ext cx="99631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سجل لأنشطة المعالجة، وتقييم أثر للمعالجات عالية المخاطر.</a:t>
            </a:r>
          </a:p>
        </p:txBody>
      </p:sp>
      <p:pic>
        <p:nvPicPr>
          <p:cNvPr id="13" name="Icon Check 12" descr="icon034.png"/>
          <p:cNvPicPr>
            <a:picLocks noChangeAspect="1"/>
          </p:cNvPicPr>
          <p:nvPr/>
        </p:nvPicPr>
        <p:blipFill>
          <a:blip r:embed="rId2"/>
          <a:stretch>
            <a:fillRect/>
          </a:stretch>
        </p:blipFill>
        <p:spPr>
          <a:xfrm>
            <a:off x="10915650" y="4228306"/>
            <a:ext cx="266700" cy="266700"/>
          </a:xfrm>
          <a:prstGeom prst="rect">
            <a:avLst/>
          </a:prstGeom>
        </p:spPr>
      </p:pic>
      <p:sp>
        <p:nvSpPr>
          <p:cNvPr id="14" name="Text 13"/>
          <p:cNvSpPr txBox="1"/>
          <p:nvPr/>
        </p:nvSpPr>
        <p:spPr>
          <a:xfrm>
            <a:off x="838200" y="4184015"/>
            <a:ext cx="99631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إبلاغ الجهة المختصة عن حوادث التسرب خلال المدة المحددة في اللوائح.</a:t>
            </a:r>
          </a:p>
        </p:txBody>
      </p:sp>
      <p:sp>
        <p:nvSpPr>
          <p:cNvPr id="15" name="Box 14"/>
          <p:cNvSpPr/>
          <p:nvPr/>
        </p:nvSpPr>
        <p:spPr>
          <a:xfrm>
            <a:off x="812800" y="4964906"/>
            <a:ext cx="10566400" cy="627360"/>
          </a:xfrm>
          <a:prstGeom prst="roundRect">
            <a:avLst>
              <a:gd name="adj" fmla="val 16194"/>
            </a:avLst>
          </a:prstGeom>
          <a:solidFill>
            <a:srgbClr val="E3F1ED"/>
          </a:solidFill>
          <a:ln>
            <a:noFill/>
          </a:ln>
        </p:spPr>
        <p:txBody>
          <a:bodyPr rtlCol="0" anchor="ctr"/>
          <a:lstStyle/>
          <a:p>
            <a:pPr algn="ctr"/>
          </a:p>
        </p:txBody>
      </p:sp>
      <p:pic>
        <p:nvPicPr>
          <p:cNvPr id="16" name="Icon Lock 15" descr="icon035.png"/>
          <p:cNvPicPr>
            <a:picLocks noChangeAspect="1"/>
          </p:cNvPicPr>
          <p:nvPr/>
        </p:nvPicPr>
        <p:blipFill>
          <a:blip r:embed="rId3"/>
          <a:stretch>
            <a:fillRect/>
          </a:stretch>
        </p:blipFill>
        <p:spPr>
          <a:xfrm>
            <a:off x="10922000" y="5138837"/>
            <a:ext cx="279400" cy="279400"/>
          </a:xfrm>
          <a:prstGeom prst="rect">
            <a:avLst/>
          </a:prstGeom>
        </p:spPr>
      </p:pic>
      <p:sp>
        <p:nvSpPr>
          <p:cNvPr id="17" name="Text 16"/>
          <p:cNvSpPr txBox="1"/>
          <p:nvPr/>
        </p:nvSpPr>
        <p:spPr>
          <a:xfrm>
            <a:off x="838200" y="5050568"/>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في رُفاد: بيانات الموظفين في نظام الرواتب، وبيانات المستلمين في تطبيق التتبع، كلاهما بيانات شخصية.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الثالث</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الامتثال</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هل نلتزم بما يجب، وكيف نثبت ذلك؟</a:t>
            </a:r>
          </a:p>
        </p:txBody>
      </p:sp>
      <p:sp>
        <p:nvSpPr>
          <p:cNvPr id="5" name="Text box 4"/>
          <p:cNvSpPr/>
          <p:nvPr/>
        </p:nvSpPr>
        <p:spPr>
          <a:xfrm>
            <a:off x="8030567" y="3952280"/>
            <a:ext cx="29422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المتطلب والضابط والدليل والنتيجة</a:t>
            </a:r>
          </a:p>
        </p:txBody>
      </p:sp>
      <p:sp>
        <p:nvSpPr>
          <p:cNvPr id="6" name="Text box 5"/>
          <p:cNvSpPr/>
          <p:nvPr/>
        </p:nvSpPr>
        <p:spPr>
          <a:xfrm>
            <a:off x="6361906" y="3952280"/>
            <a:ext cx="1579761"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النطاق والانطباق</a:t>
            </a:r>
          </a:p>
        </p:txBody>
      </p:sp>
      <p:sp>
        <p:nvSpPr>
          <p:cNvPr id="7" name="Text box 6"/>
          <p:cNvSpPr/>
          <p:nvPr/>
        </p:nvSpPr>
        <p:spPr>
          <a:xfrm>
            <a:off x="3940373" y="3952280"/>
            <a:ext cx="23326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التوثيق والتطبيق والتشغيل</a:t>
            </a:r>
          </a:p>
        </p:txBody>
      </p:sp>
      <p:sp>
        <p:nvSpPr>
          <p:cNvPr id="8" name="Text box 7"/>
          <p:cNvSpPr/>
          <p:nvPr/>
        </p:nvSpPr>
        <p:spPr>
          <a:xfrm>
            <a:off x="2507059" y="3952280"/>
            <a:ext cx="134441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الأدلة وكفايتها</a:t>
            </a:r>
          </a:p>
        </p:txBody>
      </p:sp>
      <p:sp>
        <p:nvSpPr>
          <p:cNvPr id="9" name="Text box 8"/>
          <p:cNvSpPr/>
          <p:nvPr/>
        </p:nvSpPr>
        <p:spPr>
          <a:xfrm>
            <a:off x="1539280" y="3952280"/>
            <a:ext cx="87888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العينات</a:t>
            </a:r>
          </a:p>
        </p:txBody>
      </p:sp>
      <p:sp>
        <p:nvSpPr>
          <p:cNvPr id="10" name="Text box 9"/>
          <p:cNvSpPr/>
          <p:nvPr/>
        </p:nvSpPr>
        <p:spPr>
          <a:xfrm>
            <a:off x="9345116" y="4442420"/>
            <a:ext cx="162768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تقييم ضابط كامل</a:t>
            </a:r>
          </a:p>
        </p:txBody>
      </p:sp>
      <p:sp>
        <p:nvSpPr>
          <p:cNvPr id="11" name="Text box 10"/>
          <p:cNvSpPr/>
          <p:nvPr/>
        </p:nvSpPr>
        <p:spPr>
          <a:xfrm>
            <a:off x="8182273"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3</a:t>
            </a:r>
          </a:p>
        </p:txBody>
      </p:sp>
      <p:sp>
        <p:nvSpPr>
          <p:cNvPr id="12" name="Text box 11"/>
          <p:cNvSpPr/>
          <p:nvPr/>
        </p:nvSpPr>
        <p:spPr>
          <a:xfrm>
            <a:off x="5855891" y="4442420"/>
            <a:ext cx="223748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الملاحظة وخطة التصحيح</a:t>
            </a:r>
          </a:p>
        </p:txBody>
      </p:sp>
      <p:sp>
        <p:nvSpPr>
          <p:cNvPr id="13" name="Text box 12"/>
          <p:cNvSpPr/>
          <p:nvPr/>
        </p:nvSpPr>
        <p:spPr>
          <a:xfrm>
            <a:off x="4693047"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4</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الامتثال</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المتطلب والضابط والدليل ونتيجة التقييم</a:t>
            </a:r>
          </a:p>
        </p:txBody>
      </p:sp>
      <p:sp>
        <p:nvSpPr>
          <p:cNvPr id="5" name="Box 4"/>
          <p:cNvSpPr/>
          <p:nvPr/>
        </p:nvSpPr>
        <p:spPr>
          <a:xfrm>
            <a:off x="9078912" y="1657945"/>
            <a:ext cx="2300288" cy="2854325"/>
          </a:xfrm>
          <a:prstGeom prst="roundRect">
            <a:avLst>
              <a:gd name="adj" fmla="val 4968"/>
            </a:avLst>
          </a:prstGeom>
          <a:solidFill>
            <a:srgbClr val="FFFDF8"/>
          </a:solidFill>
          <a:ln>
            <a:noFill/>
          </a:ln>
        </p:spPr>
        <p:txBody>
          <a:bodyPr rtlCol="0" anchor="ctr"/>
          <a:lstStyle/>
          <a:p>
            <a:pPr algn="ctr"/>
          </a:p>
        </p:txBody>
      </p:sp>
      <p:sp>
        <p:nvSpPr>
          <p:cNvPr id="6" name="Rule 5"/>
          <p:cNvSpPr/>
          <p:nvPr/>
        </p:nvSpPr>
        <p:spPr>
          <a:xfrm>
            <a:off x="9078912" y="1657945"/>
            <a:ext cx="2300288" cy="50800"/>
          </a:xfrm>
          <a:prstGeom prst="rect">
            <a:avLst/>
          </a:prstGeom>
          <a:solidFill>
            <a:srgbClr val="24506B"/>
          </a:solidFill>
          <a:ln>
            <a:noFill/>
          </a:ln>
        </p:spPr>
        <p:txBody>
          <a:bodyPr rtlCol="0" anchor="ctr"/>
          <a:lstStyle/>
          <a:p>
            <a:pPr algn="ctr"/>
          </a:p>
        </p:txBody>
      </p:sp>
      <p:sp>
        <p:nvSpPr>
          <p:cNvPr id="7" name="Rule 6"/>
          <p:cNvSpPr/>
          <p:nvPr/>
        </p:nvSpPr>
        <p:spPr>
          <a:xfrm>
            <a:off x="11372850" y="1657945"/>
            <a:ext cx="6350" cy="2854325"/>
          </a:xfrm>
          <a:prstGeom prst="rect">
            <a:avLst/>
          </a:prstGeom>
          <a:solidFill>
            <a:srgbClr val="E1DBCD"/>
          </a:solidFill>
          <a:ln>
            <a:noFill/>
          </a:ln>
        </p:spPr>
        <p:txBody>
          <a:bodyPr rtlCol="0" anchor="ctr"/>
          <a:lstStyle/>
          <a:p>
            <a:pPr algn="ctr"/>
          </a:p>
        </p:txBody>
      </p:sp>
      <p:sp>
        <p:nvSpPr>
          <p:cNvPr id="8" name="Rule 7"/>
          <p:cNvSpPr/>
          <p:nvPr/>
        </p:nvSpPr>
        <p:spPr>
          <a:xfrm>
            <a:off x="9078912" y="4505920"/>
            <a:ext cx="2300288" cy="6350"/>
          </a:xfrm>
          <a:prstGeom prst="rect">
            <a:avLst/>
          </a:prstGeom>
          <a:solidFill>
            <a:srgbClr val="E1DBCD"/>
          </a:solidFill>
          <a:ln>
            <a:noFill/>
          </a:ln>
        </p:spPr>
        <p:txBody>
          <a:bodyPr rtlCol="0" anchor="ctr"/>
          <a:lstStyle/>
          <a:p>
            <a:pPr algn="ctr"/>
          </a:p>
        </p:txBody>
      </p:sp>
      <p:sp>
        <p:nvSpPr>
          <p:cNvPr id="9" name="Rule 8"/>
          <p:cNvSpPr/>
          <p:nvPr/>
        </p:nvSpPr>
        <p:spPr>
          <a:xfrm>
            <a:off x="9078912" y="1657945"/>
            <a:ext cx="6350" cy="2854325"/>
          </a:xfrm>
          <a:prstGeom prst="rect">
            <a:avLst/>
          </a:prstGeom>
          <a:solidFill>
            <a:srgbClr val="E1DBCD"/>
          </a:solidFill>
          <a:ln>
            <a:noFill/>
          </a:ln>
        </p:spPr>
        <p:txBody>
          <a:bodyPr rtlCol="0" anchor="ctr"/>
          <a:lstStyle/>
          <a:p>
            <a:pPr algn="ctr"/>
          </a:p>
        </p:txBody>
      </p:sp>
      <p:sp>
        <p:nvSpPr>
          <p:cNvPr id="10" name="Text 9"/>
          <p:cNvSpPr txBox="1"/>
          <p:nvPr/>
        </p:nvSpPr>
        <p:spPr>
          <a:xfrm>
            <a:off x="9104312" y="1847175"/>
            <a:ext cx="2103438"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24506B"/>
                </a:solidFill>
                <a:latin typeface="Readex Pro"/>
                <a:ea typeface="Readex Pro"/>
                <a:cs typeface="Readex Pro"/>
              </a:rPr>
              <a:t>المتطلب</a:t>
            </a:r>
          </a:p>
        </p:txBody>
      </p:sp>
      <p:sp>
        <p:nvSpPr>
          <p:cNvPr id="11" name="Text 10"/>
          <p:cNvSpPr txBox="1"/>
          <p:nvPr/>
        </p:nvSpPr>
        <p:spPr>
          <a:xfrm>
            <a:off x="9104312" y="2326537"/>
            <a:ext cx="2103438"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ماذا يجب؟</a:t>
            </a:r>
          </a:p>
        </p:txBody>
      </p:sp>
      <p:sp>
        <p:nvSpPr>
          <p:cNvPr id="12" name="Text 11"/>
          <p:cNvSpPr txBox="1"/>
          <p:nvPr/>
        </p:nvSpPr>
        <p:spPr>
          <a:xfrm>
            <a:off x="9185275" y="2737810"/>
            <a:ext cx="2022475" cy="1132284"/>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ECC ‎2-2-3-5‎: مراجعة دورية للصلاحيات.</a:t>
            </a:r>
          </a:p>
        </p:txBody>
      </p:sp>
      <p:sp>
        <p:nvSpPr>
          <p:cNvPr id="13" name="Text 12"/>
          <p:cNvSpPr txBox="1"/>
          <p:nvPr/>
        </p:nvSpPr>
        <p:spPr>
          <a:xfrm>
            <a:off x="8447266" y="2903085"/>
            <a:ext cx="568146"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0" i="0">
                <a:solidFill>
                  <a:srgbClr val="93A3B1"/>
                </a:solidFill>
                <a:latin typeface="IBM Plex Sans Arabic"/>
                <a:ea typeface="IBM Plex Sans Arabic"/>
                <a:cs typeface="IBM Plex Sans Arabic"/>
              </a:rPr>
              <a:t>←</a:t>
            </a:r>
          </a:p>
        </p:txBody>
      </p:sp>
      <p:sp>
        <p:nvSpPr>
          <p:cNvPr id="14" name="Box 13"/>
          <p:cNvSpPr/>
          <p:nvPr/>
        </p:nvSpPr>
        <p:spPr>
          <a:xfrm>
            <a:off x="6323509" y="1657945"/>
            <a:ext cx="2300288" cy="2854325"/>
          </a:xfrm>
          <a:prstGeom prst="roundRect">
            <a:avLst>
              <a:gd name="adj" fmla="val 4968"/>
            </a:avLst>
          </a:prstGeom>
          <a:solidFill>
            <a:srgbClr val="FFFDF8"/>
          </a:solidFill>
          <a:ln>
            <a:noFill/>
          </a:ln>
        </p:spPr>
        <p:txBody>
          <a:bodyPr rtlCol="0" anchor="ctr"/>
          <a:lstStyle/>
          <a:p>
            <a:pPr algn="ctr"/>
          </a:p>
        </p:txBody>
      </p:sp>
      <p:sp>
        <p:nvSpPr>
          <p:cNvPr id="15" name="Rule 14"/>
          <p:cNvSpPr/>
          <p:nvPr/>
        </p:nvSpPr>
        <p:spPr>
          <a:xfrm>
            <a:off x="6323509" y="1657945"/>
            <a:ext cx="2300288" cy="50800"/>
          </a:xfrm>
          <a:prstGeom prst="rect">
            <a:avLst/>
          </a:prstGeom>
          <a:solidFill>
            <a:srgbClr val="0E7C6B"/>
          </a:solidFill>
          <a:ln>
            <a:noFill/>
          </a:ln>
        </p:spPr>
        <p:txBody>
          <a:bodyPr rtlCol="0" anchor="ctr"/>
          <a:lstStyle/>
          <a:p>
            <a:pPr algn="ctr"/>
          </a:p>
        </p:txBody>
      </p:sp>
      <p:sp>
        <p:nvSpPr>
          <p:cNvPr id="16" name="Rule 15"/>
          <p:cNvSpPr/>
          <p:nvPr/>
        </p:nvSpPr>
        <p:spPr>
          <a:xfrm>
            <a:off x="8617446" y="1657945"/>
            <a:ext cx="6350" cy="2854325"/>
          </a:xfrm>
          <a:prstGeom prst="rect">
            <a:avLst/>
          </a:prstGeom>
          <a:solidFill>
            <a:srgbClr val="E1DBCD"/>
          </a:solidFill>
          <a:ln>
            <a:noFill/>
          </a:ln>
        </p:spPr>
        <p:txBody>
          <a:bodyPr rtlCol="0" anchor="ctr"/>
          <a:lstStyle/>
          <a:p>
            <a:pPr algn="ctr"/>
          </a:p>
        </p:txBody>
      </p:sp>
      <p:sp>
        <p:nvSpPr>
          <p:cNvPr id="17" name="Rule 16"/>
          <p:cNvSpPr/>
          <p:nvPr/>
        </p:nvSpPr>
        <p:spPr>
          <a:xfrm>
            <a:off x="6323509" y="4505920"/>
            <a:ext cx="2300288" cy="6350"/>
          </a:xfrm>
          <a:prstGeom prst="rect">
            <a:avLst/>
          </a:prstGeom>
          <a:solidFill>
            <a:srgbClr val="E1DBCD"/>
          </a:solidFill>
          <a:ln>
            <a:noFill/>
          </a:ln>
        </p:spPr>
        <p:txBody>
          <a:bodyPr rtlCol="0" anchor="ctr"/>
          <a:lstStyle/>
          <a:p>
            <a:pPr algn="ctr"/>
          </a:p>
        </p:txBody>
      </p:sp>
      <p:sp>
        <p:nvSpPr>
          <p:cNvPr id="18" name="Rule 17"/>
          <p:cNvSpPr/>
          <p:nvPr/>
        </p:nvSpPr>
        <p:spPr>
          <a:xfrm>
            <a:off x="6323509" y="1657945"/>
            <a:ext cx="6350" cy="2854325"/>
          </a:xfrm>
          <a:prstGeom prst="rect">
            <a:avLst/>
          </a:prstGeom>
          <a:solidFill>
            <a:srgbClr val="E1DBCD"/>
          </a:solidFill>
          <a:ln>
            <a:noFill/>
          </a:ln>
        </p:spPr>
        <p:txBody>
          <a:bodyPr rtlCol="0" anchor="ctr"/>
          <a:lstStyle/>
          <a:p>
            <a:pPr algn="ctr"/>
          </a:p>
        </p:txBody>
      </p:sp>
      <p:sp>
        <p:nvSpPr>
          <p:cNvPr id="19" name="Text 18"/>
          <p:cNvSpPr txBox="1"/>
          <p:nvPr/>
        </p:nvSpPr>
        <p:spPr>
          <a:xfrm>
            <a:off x="6348909" y="1847175"/>
            <a:ext cx="2103438"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0E7C6B"/>
                </a:solidFill>
                <a:latin typeface="Readex Pro"/>
                <a:ea typeface="Readex Pro"/>
                <a:cs typeface="Readex Pro"/>
              </a:rPr>
              <a:t>الضابط</a:t>
            </a:r>
          </a:p>
        </p:txBody>
      </p:sp>
      <p:sp>
        <p:nvSpPr>
          <p:cNvPr id="20" name="Text 19"/>
          <p:cNvSpPr txBox="1"/>
          <p:nvPr/>
        </p:nvSpPr>
        <p:spPr>
          <a:xfrm>
            <a:off x="6348909" y="2326537"/>
            <a:ext cx="2103438"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كيف تلتزم الجهة؟</a:t>
            </a:r>
          </a:p>
        </p:txBody>
      </p:sp>
      <p:sp>
        <p:nvSpPr>
          <p:cNvPr id="21" name="Text 20"/>
          <p:cNvSpPr txBox="1"/>
          <p:nvPr/>
        </p:nvSpPr>
        <p:spPr>
          <a:xfrm>
            <a:off x="6429871" y="2737810"/>
            <a:ext cx="2022475" cy="1132284"/>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مراجعة ربع سنوية لنظام الرواتب بمعيار معتمد.</a:t>
            </a:r>
          </a:p>
        </p:txBody>
      </p:sp>
      <p:sp>
        <p:nvSpPr>
          <p:cNvPr id="22" name="Text 21"/>
          <p:cNvSpPr txBox="1"/>
          <p:nvPr/>
        </p:nvSpPr>
        <p:spPr>
          <a:xfrm>
            <a:off x="5691862" y="2903085"/>
            <a:ext cx="568146"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0" i="0">
                <a:solidFill>
                  <a:srgbClr val="93A3B1"/>
                </a:solidFill>
                <a:latin typeface="IBM Plex Sans Arabic"/>
                <a:ea typeface="IBM Plex Sans Arabic"/>
                <a:cs typeface="IBM Plex Sans Arabic"/>
              </a:rPr>
              <a:t>←</a:t>
            </a:r>
          </a:p>
        </p:txBody>
      </p:sp>
      <p:sp>
        <p:nvSpPr>
          <p:cNvPr id="23" name="Box 22"/>
          <p:cNvSpPr/>
          <p:nvPr/>
        </p:nvSpPr>
        <p:spPr>
          <a:xfrm>
            <a:off x="3568105" y="1657945"/>
            <a:ext cx="2300288" cy="2854325"/>
          </a:xfrm>
          <a:prstGeom prst="roundRect">
            <a:avLst>
              <a:gd name="adj" fmla="val 4968"/>
            </a:avLst>
          </a:prstGeom>
          <a:solidFill>
            <a:srgbClr val="FFFDF8"/>
          </a:solidFill>
          <a:ln>
            <a:noFill/>
          </a:ln>
        </p:spPr>
        <p:txBody>
          <a:bodyPr rtlCol="0" anchor="ctr"/>
          <a:lstStyle/>
          <a:p>
            <a:pPr algn="ctr"/>
          </a:p>
        </p:txBody>
      </p:sp>
      <p:sp>
        <p:nvSpPr>
          <p:cNvPr id="24" name="Rule 23"/>
          <p:cNvSpPr/>
          <p:nvPr/>
        </p:nvSpPr>
        <p:spPr>
          <a:xfrm>
            <a:off x="3568105" y="1657945"/>
            <a:ext cx="2300288" cy="50800"/>
          </a:xfrm>
          <a:prstGeom prst="rect">
            <a:avLst/>
          </a:prstGeom>
          <a:solidFill>
            <a:srgbClr val="8A4B12"/>
          </a:solidFill>
          <a:ln>
            <a:noFill/>
          </a:ln>
        </p:spPr>
        <p:txBody>
          <a:bodyPr rtlCol="0" anchor="ctr"/>
          <a:lstStyle/>
          <a:p>
            <a:pPr algn="ctr"/>
          </a:p>
        </p:txBody>
      </p:sp>
      <p:sp>
        <p:nvSpPr>
          <p:cNvPr id="25" name="Rule 24"/>
          <p:cNvSpPr/>
          <p:nvPr/>
        </p:nvSpPr>
        <p:spPr>
          <a:xfrm>
            <a:off x="5862042" y="1657945"/>
            <a:ext cx="6350" cy="2854325"/>
          </a:xfrm>
          <a:prstGeom prst="rect">
            <a:avLst/>
          </a:prstGeom>
          <a:solidFill>
            <a:srgbClr val="E1DBCD"/>
          </a:solidFill>
          <a:ln>
            <a:noFill/>
          </a:ln>
        </p:spPr>
        <p:txBody>
          <a:bodyPr rtlCol="0" anchor="ctr"/>
          <a:lstStyle/>
          <a:p>
            <a:pPr algn="ctr"/>
          </a:p>
        </p:txBody>
      </p:sp>
      <p:sp>
        <p:nvSpPr>
          <p:cNvPr id="26" name="Rule 25"/>
          <p:cNvSpPr/>
          <p:nvPr/>
        </p:nvSpPr>
        <p:spPr>
          <a:xfrm>
            <a:off x="3568105" y="4505920"/>
            <a:ext cx="2300288" cy="6350"/>
          </a:xfrm>
          <a:prstGeom prst="rect">
            <a:avLst/>
          </a:prstGeom>
          <a:solidFill>
            <a:srgbClr val="E1DBCD"/>
          </a:solidFill>
          <a:ln>
            <a:noFill/>
          </a:ln>
        </p:spPr>
        <p:txBody>
          <a:bodyPr rtlCol="0" anchor="ctr"/>
          <a:lstStyle/>
          <a:p>
            <a:pPr algn="ctr"/>
          </a:p>
        </p:txBody>
      </p:sp>
      <p:sp>
        <p:nvSpPr>
          <p:cNvPr id="27" name="Rule 26"/>
          <p:cNvSpPr/>
          <p:nvPr/>
        </p:nvSpPr>
        <p:spPr>
          <a:xfrm>
            <a:off x="3568105" y="1657945"/>
            <a:ext cx="6350" cy="2854325"/>
          </a:xfrm>
          <a:prstGeom prst="rect">
            <a:avLst/>
          </a:prstGeom>
          <a:solidFill>
            <a:srgbClr val="E1DBCD"/>
          </a:solidFill>
          <a:ln>
            <a:noFill/>
          </a:ln>
        </p:spPr>
        <p:txBody>
          <a:bodyPr rtlCol="0" anchor="ctr"/>
          <a:lstStyle/>
          <a:p>
            <a:pPr algn="ctr"/>
          </a:p>
        </p:txBody>
      </p:sp>
      <p:sp>
        <p:nvSpPr>
          <p:cNvPr id="28" name="Text 27"/>
          <p:cNvSpPr txBox="1"/>
          <p:nvPr/>
        </p:nvSpPr>
        <p:spPr>
          <a:xfrm>
            <a:off x="3593505" y="1847175"/>
            <a:ext cx="2103438"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8A4B12"/>
                </a:solidFill>
                <a:latin typeface="Readex Pro"/>
                <a:ea typeface="Readex Pro"/>
                <a:cs typeface="Readex Pro"/>
              </a:rPr>
              <a:t>الدليل</a:t>
            </a:r>
          </a:p>
        </p:txBody>
      </p:sp>
      <p:sp>
        <p:nvSpPr>
          <p:cNvPr id="29" name="Text 28"/>
          <p:cNvSpPr txBox="1"/>
          <p:nvPr/>
        </p:nvSpPr>
        <p:spPr>
          <a:xfrm>
            <a:off x="3593505" y="2326537"/>
            <a:ext cx="2103438"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ما الذي يثبت؟</a:t>
            </a:r>
          </a:p>
        </p:txBody>
      </p:sp>
      <p:sp>
        <p:nvSpPr>
          <p:cNvPr id="30" name="Text 29"/>
          <p:cNvSpPr txBox="1"/>
          <p:nvPr/>
        </p:nvSpPr>
        <p:spPr>
          <a:xfrm>
            <a:off x="3674467" y="2737810"/>
            <a:ext cx="2022475" cy="1132284"/>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ملف المراجعة، والاعتماد، وتذاكر الإزالة.</a:t>
            </a:r>
          </a:p>
        </p:txBody>
      </p:sp>
      <p:sp>
        <p:nvSpPr>
          <p:cNvPr id="31" name="Text 30"/>
          <p:cNvSpPr txBox="1"/>
          <p:nvPr/>
        </p:nvSpPr>
        <p:spPr>
          <a:xfrm>
            <a:off x="2936458" y="2903085"/>
            <a:ext cx="568146"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0" i="0">
                <a:solidFill>
                  <a:srgbClr val="93A3B1"/>
                </a:solidFill>
                <a:latin typeface="IBM Plex Sans Arabic"/>
                <a:ea typeface="IBM Plex Sans Arabic"/>
                <a:cs typeface="IBM Plex Sans Arabic"/>
              </a:rPr>
              <a:t>←</a:t>
            </a:r>
          </a:p>
        </p:txBody>
      </p:sp>
      <p:sp>
        <p:nvSpPr>
          <p:cNvPr id="32" name="Box 31"/>
          <p:cNvSpPr/>
          <p:nvPr/>
        </p:nvSpPr>
        <p:spPr>
          <a:xfrm>
            <a:off x="812701" y="1657945"/>
            <a:ext cx="2300288" cy="2854325"/>
          </a:xfrm>
          <a:prstGeom prst="roundRect">
            <a:avLst>
              <a:gd name="adj" fmla="val 4968"/>
            </a:avLst>
          </a:prstGeom>
          <a:solidFill>
            <a:srgbClr val="FFFDF8"/>
          </a:solidFill>
          <a:ln>
            <a:noFill/>
          </a:ln>
        </p:spPr>
        <p:txBody>
          <a:bodyPr rtlCol="0" anchor="ctr"/>
          <a:lstStyle/>
          <a:p>
            <a:pPr algn="ctr"/>
          </a:p>
        </p:txBody>
      </p:sp>
      <p:sp>
        <p:nvSpPr>
          <p:cNvPr id="33" name="Rule 32"/>
          <p:cNvSpPr/>
          <p:nvPr/>
        </p:nvSpPr>
        <p:spPr>
          <a:xfrm>
            <a:off x="812701" y="1657945"/>
            <a:ext cx="2300288" cy="50800"/>
          </a:xfrm>
          <a:prstGeom prst="rect">
            <a:avLst/>
          </a:prstGeom>
          <a:solidFill>
            <a:srgbClr val="5A3F87"/>
          </a:solidFill>
          <a:ln>
            <a:noFill/>
          </a:ln>
        </p:spPr>
        <p:txBody>
          <a:bodyPr rtlCol="0" anchor="ctr"/>
          <a:lstStyle/>
          <a:p>
            <a:pPr algn="ctr"/>
          </a:p>
        </p:txBody>
      </p:sp>
      <p:sp>
        <p:nvSpPr>
          <p:cNvPr id="34" name="Rule 33"/>
          <p:cNvSpPr/>
          <p:nvPr/>
        </p:nvSpPr>
        <p:spPr>
          <a:xfrm>
            <a:off x="3106638" y="1657945"/>
            <a:ext cx="6350" cy="2854325"/>
          </a:xfrm>
          <a:prstGeom prst="rect">
            <a:avLst/>
          </a:prstGeom>
          <a:solidFill>
            <a:srgbClr val="E1DBCD"/>
          </a:solidFill>
          <a:ln>
            <a:noFill/>
          </a:ln>
        </p:spPr>
        <p:txBody>
          <a:bodyPr rtlCol="0" anchor="ctr"/>
          <a:lstStyle/>
          <a:p>
            <a:pPr algn="ctr"/>
          </a:p>
        </p:txBody>
      </p:sp>
      <p:sp>
        <p:nvSpPr>
          <p:cNvPr id="35" name="Rule 34"/>
          <p:cNvSpPr/>
          <p:nvPr/>
        </p:nvSpPr>
        <p:spPr>
          <a:xfrm>
            <a:off x="812701" y="4505920"/>
            <a:ext cx="2300288" cy="6350"/>
          </a:xfrm>
          <a:prstGeom prst="rect">
            <a:avLst/>
          </a:prstGeom>
          <a:solidFill>
            <a:srgbClr val="E1DBCD"/>
          </a:solidFill>
          <a:ln>
            <a:noFill/>
          </a:ln>
        </p:spPr>
        <p:txBody>
          <a:bodyPr rtlCol="0" anchor="ctr"/>
          <a:lstStyle/>
          <a:p>
            <a:pPr algn="ctr"/>
          </a:p>
        </p:txBody>
      </p:sp>
      <p:sp>
        <p:nvSpPr>
          <p:cNvPr id="36" name="Rule 35"/>
          <p:cNvSpPr/>
          <p:nvPr/>
        </p:nvSpPr>
        <p:spPr>
          <a:xfrm>
            <a:off x="812701" y="1657945"/>
            <a:ext cx="6350" cy="2854325"/>
          </a:xfrm>
          <a:prstGeom prst="rect">
            <a:avLst/>
          </a:prstGeom>
          <a:solidFill>
            <a:srgbClr val="E1DBCD"/>
          </a:solidFill>
          <a:ln>
            <a:noFill/>
          </a:ln>
        </p:spPr>
        <p:txBody>
          <a:bodyPr rtlCol="0" anchor="ctr"/>
          <a:lstStyle/>
          <a:p>
            <a:pPr algn="ctr"/>
          </a:p>
        </p:txBody>
      </p:sp>
      <p:sp>
        <p:nvSpPr>
          <p:cNvPr id="37" name="Text 36"/>
          <p:cNvSpPr txBox="1"/>
          <p:nvPr/>
        </p:nvSpPr>
        <p:spPr>
          <a:xfrm>
            <a:off x="896838" y="1847175"/>
            <a:ext cx="2044700" cy="873125"/>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5A3F87"/>
                </a:solidFill>
                <a:latin typeface="Readex Pro"/>
                <a:ea typeface="Readex Pro"/>
                <a:cs typeface="Readex Pro"/>
              </a:rPr>
              <a:t>نتيجة التقييم</a:t>
            </a:r>
          </a:p>
        </p:txBody>
      </p:sp>
      <p:sp>
        <p:nvSpPr>
          <p:cNvPr id="38" name="Text 37"/>
          <p:cNvSpPr txBox="1"/>
          <p:nvPr/>
        </p:nvSpPr>
        <p:spPr>
          <a:xfrm>
            <a:off x="838101" y="2763099"/>
            <a:ext cx="2103438"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إلى أي حد؟</a:t>
            </a:r>
          </a:p>
        </p:txBody>
      </p:sp>
      <p:sp>
        <p:nvSpPr>
          <p:cNvPr id="39" name="Text 38"/>
          <p:cNvSpPr txBox="1"/>
          <p:nvPr/>
        </p:nvSpPr>
        <p:spPr>
          <a:xfrm>
            <a:off x="919063" y="3174373"/>
            <a:ext cx="2022475" cy="1132284"/>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مطبق، أو جزئياً، أو غير مطبق، أو لا ينطبق.</a:t>
            </a:r>
          </a:p>
        </p:txBody>
      </p:sp>
      <p:sp>
        <p:nvSpPr>
          <p:cNvPr id="40" name="Box 39"/>
          <p:cNvSpPr/>
          <p:nvPr/>
        </p:nvSpPr>
        <p:spPr>
          <a:xfrm>
            <a:off x="812800" y="4702770"/>
            <a:ext cx="10566400" cy="1054100"/>
          </a:xfrm>
          <a:prstGeom prst="roundRect">
            <a:avLst>
              <a:gd name="adj" fmla="val 9638"/>
            </a:avLst>
          </a:prstGeom>
          <a:solidFill>
            <a:srgbClr val="172433"/>
          </a:solidFill>
          <a:ln>
            <a:noFill/>
          </a:ln>
        </p:spPr>
        <p:txBody>
          <a:bodyPr rtlCol="0" anchor="ctr"/>
          <a:lstStyle/>
          <a:p>
            <a:pPr algn="ctr"/>
          </a:p>
        </p:txBody>
      </p:sp>
      <p:pic>
        <p:nvPicPr>
          <p:cNvPr id="41" name="Icon Lightbulb 40" descr="icon036.png"/>
          <p:cNvPicPr>
            <a:picLocks noChangeAspect="1"/>
          </p:cNvPicPr>
          <p:nvPr/>
        </p:nvPicPr>
        <p:blipFill>
          <a:blip r:embed="rId2"/>
          <a:stretch>
            <a:fillRect/>
          </a:stretch>
        </p:blipFill>
        <p:spPr>
          <a:xfrm>
            <a:off x="10909300" y="5083770"/>
            <a:ext cx="292100" cy="292100"/>
          </a:xfrm>
          <a:prstGeom prst="rect">
            <a:avLst/>
          </a:prstGeom>
        </p:spPr>
      </p:pic>
      <p:sp>
        <p:nvSpPr>
          <p:cNvPr id="42" name="Text 41"/>
          <p:cNvSpPr txBox="1"/>
          <p:nvPr/>
        </p:nvSpPr>
        <p:spPr>
          <a:xfrm>
            <a:off x="838200" y="4785479"/>
            <a:ext cx="9956800"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F3EFE6"/>
                </a:solidFill>
                <a:latin typeface="IBM Plex Sans Arabic"/>
                <a:ea typeface="IBM Plex Sans Arabic"/>
                <a:cs typeface="IBM Plex Sans Arabic"/>
              </a:rPr>
              <a:t>المتطلب واحد، والضابط اختيار الجهة لتحقيقه. لذلك قد تحقق جهتان المتطلب نفسه بضابطين مختلفين.</a:t>
            </a:r>
          </a:p>
        </p:txBody>
      </p:sp>
      <p:sp>
        <p:nvSpPr>
          <p:cNvPr id="43" name="Text 4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4" name="Text 4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النطاق والانطباق قبل طلب الأدلة</a:t>
            </a:r>
          </a:p>
        </p:txBody>
      </p:sp>
      <p:sp>
        <p:nvSpPr>
          <p:cNvPr id="5" name="Text 4"/>
          <p:cNvSpPr txBox="1"/>
          <p:nvPr/>
        </p:nvSpPr>
        <p:spPr>
          <a:xfrm>
            <a:off x="0" y="15844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قبل أن تطلب أي دليل، اتفق مكتوباً على النطاق. مثال: تقييم رُفاد الداخلي للنصف الأول من 2026.</a:t>
            </a:r>
          </a:p>
        </p:txBody>
      </p:sp>
      <p:graphicFrame>
        <p:nvGraphicFramePr>
          <p:cNvPr id="6" name="Table 5"/>
          <p:cNvGraphicFramePr>
            <a:graphicFrameLocks noGrp="1"/>
          </p:cNvGraphicFramePr>
          <p:nvPr/>
        </p:nvGraphicFramePr>
        <p:xfrm>
          <a:off x="815975" y="2095401"/>
          <a:ext cx="10560050" cy="2849166"/>
        </p:xfrm>
        <a:graphic>
          <a:graphicData uri="http://schemas.openxmlformats.org/drawingml/2006/table">
            <a:tbl>
              <a:tblPr firstRow="0" bandRow="0" lastRow="0" firstCol="0" lastCol="0" bandCol="0">
                <a:tableStyleId>{2D5ABB26-0587-4C30-8999-92F81FD0307C}</a:tableStyleId>
              </a:tblPr>
              <a:tblGrid>
                <a:gridCol w="6546850"/>
                <a:gridCol w="401320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الإجابة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السؤال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ضوابط الهويات ‎2-2-3‎ كلها، و‎1-9-5‎.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المتطلبات المنطبقة؟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نظام الرواتب، والبريد، وVPN، وتطبيق التتبع.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الأنظمة ضمن النطاق؟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 يناير إلى 30 يونيو 2026.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الفترة؟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سلمان للتقنية، ومنى لنظام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من مالك كل ضابط؟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خادم تجريبي معزول بلا بيانات حقيقية: «لا ينطبق» بمبرر موثق.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المستثنى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5100141"/>
            <a:ext cx="10566400" cy="565150"/>
          </a:xfrm>
          <a:prstGeom prst="roundRect">
            <a:avLst>
              <a:gd name="adj" fmla="val 17977"/>
            </a:avLst>
          </a:prstGeom>
          <a:solidFill>
            <a:srgbClr val="F6ECDA"/>
          </a:solidFill>
          <a:ln>
            <a:noFill/>
          </a:ln>
        </p:spPr>
        <p:txBody>
          <a:bodyPr rtlCol="0" anchor="ctr"/>
          <a:lstStyle/>
          <a:p>
            <a:pPr algn="ctr"/>
          </a:p>
        </p:txBody>
      </p:sp>
      <p:pic>
        <p:nvPicPr>
          <p:cNvPr id="8" name="Icon Warning 7" descr="icon037.png"/>
          <p:cNvPicPr>
            <a:picLocks noChangeAspect="1"/>
          </p:cNvPicPr>
          <p:nvPr/>
        </p:nvPicPr>
        <p:blipFill>
          <a:blip r:embed="rId2"/>
          <a:stretch>
            <a:fillRect/>
          </a:stretch>
        </p:blipFill>
        <p:spPr>
          <a:xfrm>
            <a:off x="10972800" y="5268416"/>
            <a:ext cx="228600" cy="228600"/>
          </a:xfrm>
          <a:prstGeom prst="rect">
            <a:avLst/>
          </a:prstGeom>
        </p:spPr>
      </p:pic>
      <p:sp>
        <p:nvSpPr>
          <p:cNvPr id="9" name="Text 8"/>
          <p:cNvSpPr txBox="1"/>
          <p:nvPr/>
        </p:nvSpPr>
        <p:spPr>
          <a:xfrm>
            <a:off x="838200" y="5192693"/>
            <a:ext cx="100203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دليل خارج الفترة أو خارج النطاق لا يُحتسب، مهما كان جيداً.</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موثق، ومطبق، ويعمل باستمرار</a:t>
            </a:r>
          </a:p>
        </p:txBody>
      </p:sp>
      <p:sp>
        <p:nvSpPr>
          <p:cNvPr id="5" name="Box 4"/>
          <p:cNvSpPr/>
          <p:nvPr/>
        </p:nvSpPr>
        <p:spPr>
          <a:xfrm>
            <a:off x="7950200" y="1657945"/>
            <a:ext cx="3429000" cy="2513409"/>
          </a:xfrm>
          <a:prstGeom prst="roundRect">
            <a:avLst>
              <a:gd name="adj" fmla="val 4547"/>
            </a:avLst>
          </a:prstGeom>
          <a:solidFill>
            <a:srgbClr val="FFFDF8"/>
          </a:solidFill>
          <a:ln>
            <a:noFill/>
          </a:ln>
        </p:spPr>
        <p:txBody>
          <a:bodyPr rtlCol="0" anchor="ctr"/>
          <a:lstStyle/>
          <a:p>
            <a:pPr algn="ctr"/>
          </a:p>
        </p:txBody>
      </p:sp>
      <p:sp>
        <p:nvSpPr>
          <p:cNvPr id="6" name="Rule 5"/>
          <p:cNvSpPr/>
          <p:nvPr/>
        </p:nvSpPr>
        <p:spPr>
          <a:xfrm>
            <a:off x="7950200" y="1657945"/>
            <a:ext cx="3429000" cy="50800"/>
          </a:xfrm>
          <a:prstGeom prst="rect">
            <a:avLst/>
          </a:prstGeom>
          <a:solidFill>
            <a:srgbClr val="24506B"/>
          </a:solidFill>
          <a:ln>
            <a:noFill/>
          </a:ln>
        </p:spPr>
        <p:txBody>
          <a:bodyPr rtlCol="0" anchor="ctr"/>
          <a:lstStyle/>
          <a:p>
            <a:pPr algn="ctr"/>
          </a:p>
        </p:txBody>
      </p:sp>
      <p:sp>
        <p:nvSpPr>
          <p:cNvPr id="7" name="Rule 6"/>
          <p:cNvSpPr/>
          <p:nvPr/>
        </p:nvSpPr>
        <p:spPr>
          <a:xfrm>
            <a:off x="11372850" y="1657945"/>
            <a:ext cx="6350" cy="2513409"/>
          </a:xfrm>
          <a:prstGeom prst="rect">
            <a:avLst/>
          </a:prstGeom>
          <a:solidFill>
            <a:srgbClr val="E1DBCD"/>
          </a:solidFill>
          <a:ln>
            <a:noFill/>
          </a:ln>
        </p:spPr>
        <p:txBody>
          <a:bodyPr rtlCol="0" anchor="ctr"/>
          <a:lstStyle/>
          <a:p>
            <a:pPr algn="ctr"/>
          </a:p>
        </p:txBody>
      </p:sp>
      <p:sp>
        <p:nvSpPr>
          <p:cNvPr id="8" name="Rule 7"/>
          <p:cNvSpPr/>
          <p:nvPr/>
        </p:nvSpPr>
        <p:spPr>
          <a:xfrm>
            <a:off x="7950200" y="4165005"/>
            <a:ext cx="3429000" cy="6350"/>
          </a:xfrm>
          <a:prstGeom prst="rect">
            <a:avLst/>
          </a:prstGeom>
          <a:solidFill>
            <a:srgbClr val="E1DBCD"/>
          </a:solidFill>
          <a:ln>
            <a:noFill/>
          </a:ln>
        </p:spPr>
        <p:txBody>
          <a:bodyPr rtlCol="0" anchor="ctr"/>
          <a:lstStyle/>
          <a:p>
            <a:pPr algn="ctr"/>
          </a:p>
        </p:txBody>
      </p:sp>
      <p:sp>
        <p:nvSpPr>
          <p:cNvPr id="9" name="Rule 8"/>
          <p:cNvSpPr/>
          <p:nvPr/>
        </p:nvSpPr>
        <p:spPr>
          <a:xfrm>
            <a:off x="7950200" y="1657945"/>
            <a:ext cx="6350" cy="2513409"/>
          </a:xfrm>
          <a:prstGeom prst="rect">
            <a:avLst/>
          </a:prstGeom>
          <a:solidFill>
            <a:srgbClr val="E1DBCD"/>
          </a:solidFill>
          <a:ln>
            <a:noFill/>
          </a:ln>
        </p:spPr>
        <p:txBody>
          <a:bodyPr rtlCol="0" anchor="ctr"/>
          <a:lstStyle/>
          <a:p>
            <a:pPr algn="ctr"/>
          </a:p>
        </p:txBody>
      </p:sp>
      <p:sp>
        <p:nvSpPr>
          <p:cNvPr id="10" name="Text 9"/>
          <p:cNvSpPr txBox="1"/>
          <p:nvPr/>
        </p:nvSpPr>
        <p:spPr>
          <a:xfrm>
            <a:off x="7975600" y="1859875"/>
            <a:ext cx="32194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24506B"/>
                </a:solidFill>
                <a:latin typeface="Readex Pro"/>
                <a:ea typeface="Readex Pro"/>
                <a:cs typeface="Readex Pro"/>
              </a:rPr>
              <a:t>موثق</a:t>
            </a:r>
          </a:p>
        </p:txBody>
      </p:sp>
      <p:sp>
        <p:nvSpPr>
          <p:cNvPr id="11" name="Text 10"/>
          <p:cNvSpPr txBox="1"/>
          <p:nvPr/>
        </p:nvSpPr>
        <p:spPr>
          <a:xfrm>
            <a:off x="8042529" y="2343301"/>
            <a:ext cx="3152521"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هل المتطلب مكتوب ومعتمد؟</a:t>
            </a:r>
          </a:p>
        </p:txBody>
      </p:sp>
      <p:sp>
        <p:nvSpPr>
          <p:cNvPr id="12" name="Text 11"/>
          <p:cNvSpPr txBox="1"/>
          <p:nvPr/>
        </p:nvSpPr>
        <p:spPr>
          <a:xfrm>
            <a:off x="7975600" y="3198185"/>
            <a:ext cx="321945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دليله: سياسة أو معيار معتمد.</a:t>
            </a:r>
          </a:p>
        </p:txBody>
      </p:sp>
      <p:sp>
        <p:nvSpPr>
          <p:cNvPr id="13" name="Box 12"/>
          <p:cNvSpPr/>
          <p:nvPr/>
        </p:nvSpPr>
        <p:spPr>
          <a:xfrm>
            <a:off x="4381500" y="1657945"/>
            <a:ext cx="3429000" cy="2513409"/>
          </a:xfrm>
          <a:prstGeom prst="roundRect">
            <a:avLst>
              <a:gd name="adj" fmla="val 4547"/>
            </a:avLst>
          </a:prstGeom>
          <a:solidFill>
            <a:srgbClr val="FFFDF8"/>
          </a:solidFill>
          <a:ln>
            <a:noFill/>
          </a:ln>
        </p:spPr>
        <p:txBody>
          <a:bodyPr rtlCol="0" anchor="ctr"/>
          <a:lstStyle/>
          <a:p>
            <a:pPr algn="ctr"/>
          </a:p>
        </p:txBody>
      </p:sp>
      <p:sp>
        <p:nvSpPr>
          <p:cNvPr id="14" name="Rule 13"/>
          <p:cNvSpPr/>
          <p:nvPr/>
        </p:nvSpPr>
        <p:spPr>
          <a:xfrm>
            <a:off x="4381500" y="1657945"/>
            <a:ext cx="3429000" cy="50800"/>
          </a:xfrm>
          <a:prstGeom prst="rect">
            <a:avLst/>
          </a:prstGeom>
          <a:solidFill>
            <a:srgbClr val="0E7C6B"/>
          </a:solidFill>
          <a:ln>
            <a:noFill/>
          </a:ln>
        </p:spPr>
        <p:txBody>
          <a:bodyPr rtlCol="0" anchor="ctr"/>
          <a:lstStyle/>
          <a:p>
            <a:pPr algn="ctr"/>
          </a:p>
        </p:txBody>
      </p:sp>
      <p:sp>
        <p:nvSpPr>
          <p:cNvPr id="15" name="Rule 14"/>
          <p:cNvSpPr/>
          <p:nvPr/>
        </p:nvSpPr>
        <p:spPr>
          <a:xfrm>
            <a:off x="7804150" y="1657945"/>
            <a:ext cx="6350" cy="2513409"/>
          </a:xfrm>
          <a:prstGeom prst="rect">
            <a:avLst/>
          </a:prstGeom>
          <a:solidFill>
            <a:srgbClr val="E1DBCD"/>
          </a:solidFill>
          <a:ln>
            <a:noFill/>
          </a:ln>
        </p:spPr>
        <p:txBody>
          <a:bodyPr rtlCol="0" anchor="ctr"/>
          <a:lstStyle/>
          <a:p>
            <a:pPr algn="ctr"/>
          </a:p>
        </p:txBody>
      </p:sp>
      <p:sp>
        <p:nvSpPr>
          <p:cNvPr id="16" name="Rule 15"/>
          <p:cNvSpPr/>
          <p:nvPr/>
        </p:nvSpPr>
        <p:spPr>
          <a:xfrm>
            <a:off x="4381500" y="4165005"/>
            <a:ext cx="3429000" cy="6350"/>
          </a:xfrm>
          <a:prstGeom prst="rect">
            <a:avLst/>
          </a:prstGeom>
          <a:solidFill>
            <a:srgbClr val="E1DBCD"/>
          </a:solidFill>
          <a:ln>
            <a:noFill/>
          </a:ln>
        </p:spPr>
        <p:txBody>
          <a:bodyPr rtlCol="0" anchor="ctr"/>
          <a:lstStyle/>
          <a:p>
            <a:pPr algn="ctr"/>
          </a:p>
        </p:txBody>
      </p:sp>
      <p:sp>
        <p:nvSpPr>
          <p:cNvPr id="17" name="Rule 16"/>
          <p:cNvSpPr/>
          <p:nvPr/>
        </p:nvSpPr>
        <p:spPr>
          <a:xfrm>
            <a:off x="4381500" y="1657945"/>
            <a:ext cx="6350" cy="2513409"/>
          </a:xfrm>
          <a:prstGeom prst="rect">
            <a:avLst/>
          </a:prstGeom>
          <a:solidFill>
            <a:srgbClr val="E1DBCD"/>
          </a:solidFill>
          <a:ln>
            <a:noFill/>
          </a:ln>
        </p:spPr>
        <p:txBody>
          <a:bodyPr rtlCol="0" anchor="ctr"/>
          <a:lstStyle/>
          <a:p>
            <a:pPr algn="ctr"/>
          </a:p>
        </p:txBody>
      </p:sp>
      <p:sp>
        <p:nvSpPr>
          <p:cNvPr id="18" name="Text 17"/>
          <p:cNvSpPr txBox="1"/>
          <p:nvPr/>
        </p:nvSpPr>
        <p:spPr>
          <a:xfrm>
            <a:off x="4406900" y="1859875"/>
            <a:ext cx="32194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0E7C6B"/>
                </a:solidFill>
                <a:latin typeface="Readex Pro"/>
                <a:ea typeface="Readex Pro"/>
                <a:cs typeface="Readex Pro"/>
              </a:rPr>
              <a:t>مطبق</a:t>
            </a:r>
          </a:p>
        </p:txBody>
      </p:sp>
      <p:sp>
        <p:nvSpPr>
          <p:cNvPr id="19" name="Text 18"/>
          <p:cNvSpPr txBox="1"/>
          <p:nvPr/>
        </p:nvSpPr>
        <p:spPr>
          <a:xfrm>
            <a:off x="4473829" y="2343301"/>
            <a:ext cx="3152521"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هل الإعداد أو الإجراء موجود فعلاً؟</a:t>
            </a:r>
          </a:p>
        </p:txBody>
      </p:sp>
      <p:sp>
        <p:nvSpPr>
          <p:cNvPr id="20" name="Text 19"/>
          <p:cNvSpPr txBox="1"/>
          <p:nvPr/>
        </p:nvSpPr>
        <p:spPr>
          <a:xfrm>
            <a:off x="4473829" y="3198185"/>
            <a:ext cx="3152521"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دليله: تصدير إعداد من النظام بتاريخه.</a:t>
            </a:r>
          </a:p>
        </p:txBody>
      </p:sp>
      <p:sp>
        <p:nvSpPr>
          <p:cNvPr id="21" name="Box 20"/>
          <p:cNvSpPr/>
          <p:nvPr/>
        </p:nvSpPr>
        <p:spPr>
          <a:xfrm>
            <a:off x="812800" y="1657945"/>
            <a:ext cx="3429000" cy="2513409"/>
          </a:xfrm>
          <a:prstGeom prst="roundRect">
            <a:avLst>
              <a:gd name="adj" fmla="val 4547"/>
            </a:avLst>
          </a:prstGeom>
          <a:solidFill>
            <a:srgbClr val="FFFDF8"/>
          </a:solidFill>
          <a:ln>
            <a:noFill/>
          </a:ln>
        </p:spPr>
        <p:txBody>
          <a:bodyPr rtlCol="0" anchor="ctr"/>
          <a:lstStyle/>
          <a:p>
            <a:pPr algn="ctr"/>
          </a:p>
        </p:txBody>
      </p:sp>
      <p:sp>
        <p:nvSpPr>
          <p:cNvPr id="22" name="Rule 21"/>
          <p:cNvSpPr/>
          <p:nvPr/>
        </p:nvSpPr>
        <p:spPr>
          <a:xfrm>
            <a:off x="812800" y="1657945"/>
            <a:ext cx="3429000" cy="50800"/>
          </a:xfrm>
          <a:prstGeom prst="rect">
            <a:avLst/>
          </a:prstGeom>
          <a:solidFill>
            <a:srgbClr val="8A4B12"/>
          </a:solidFill>
          <a:ln>
            <a:noFill/>
          </a:ln>
        </p:spPr>
        <p:txBody>
          <a:bodyPr rtlCol="0" anchor="ctr"/>
          <a:lstStyle/>
          <a:p>
            <a:pPr algn="ctr"/>
          </a:p>
        </p:txBody>
      </p:sp>
      <p:sp>
        <p:nvSpPr>
          <p:cNvPr id="23" name="Rule 22"/>
          <p:cNvSpPr/>
          <p:nvPr/>
        </p:nvSpPr>
        <p:spPr>
          <a:xfrm>
            <a:off x="4235450" y="1657945"/>
            <a:ext cx="6350" cy="2513409"/>
          </a:xfrm>
          <a:prstGeom prst="rect">
            <a:avLst/>
          </a:prstGeom>
          <a:solidFill>
            <a:srgbClr val="E1DBCD"/>
          </a:solidFill>
          <a:ln>
            <a:noFill/>
          </a:ln>
        </p:spPr>
        <p:txBody>
          <a:bodyPr rtlCol="0" anchor="ctr"/>
          <a:lstStyle/>
          <a:p>
            <a:pPr algn="ctr"/>
          </a:p>
        </p:txBody>
      </p:sp>
      <p:sp>
        <p:nvSpPr>
          <p:cNvPr id="24" name="Rule 23"/>
          <p:cNvSpPr/>
          <p:nvPr/>
        </p:nvSpPr>
        <p:spPr>
          <a:xfrm>
            <a:off x="812800" y="4165005"/>
            <a:ext cx="34290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2513409"/>
          </a:xfrm>
          <a:prstGeom prst="rect">
            <a:avLst/>
          </a:prstGeom>
          <a:solidFill>
            <a:srgbClr val="E1DBCD"/>
          </a:solidFill>
          <a:ln>
            <a:noFill/>
          </a:ln>
        </p:spPr>
        <p:txBody>
          <a:bodyPr rtlCol="0" anchor="ctr"/>
          <a:lstStyle/>
          <a:p>
            <a:pPr algn="ctr"/>
          </a:p>
        </p:txBody>
      </p:sp>
      <p:sp>
        <p:nvSpPr>
          <p:cNvPr id="26" name="Text 25"/>
          <p:cNvSpPr txBox="1"/>
          <p:nvPr/>
        </p:nvSpPr>
        <p:spPr>
          <a:xfrm>
            <a:off x="838200" y="1859875"/>
            <a:ext cx="3219450"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8A4B12"/>
                </a:solidFill>
                <a:latin typeface="Readex Pro"/>
                <a:ea typeface="Readex Pro"/>
                <a:cs typeface="Readex Pro"/>
              </a:rPr>
              <a:t>يعمل باستمرار</a:t>
            </a:r>
          </a:p>
        </p:txBody>
      </p:sp>
      <p:sp>
        <p:nvSpPr>
          <p:cNvPr id="27" name="Text 26"/>
          <p:cNvSpPr txBox="1"/>
          <p:nvPr/>
        </p:nvSpPr>
        <p:spPr>
          <a:xfrm>
            <a:off x="905129" y="2343301"/>
            <a:ext cx="3152521"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هل عمل طوال الفترة ولكل النطاق؟</a:t>
            </a:r>
          </a:p>
        </p:txBody>
      </p:sp>
      <p:sp>
        <p:nvSpPr>
          <p:cNvPr id="28" name="Text 27"/>
          <p:cNvSpPr txBox="1"/>
          <p:nvPr/>
        </p:nvSpPr>
        <p:spPr>
          <a:xfrm>
            <a:off x="905129" y="3198185"/>
            <a:ext cx="3152521"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دليله: سجلات وملفات تغطي الفترة كاملة.</a:t>
            </a:r>
          </a:p>
        </p:txBody>
      </p:sp>
      <p:sp>
        <p:nvSpPr>
          <p:cNvPr id="29" name="Box 28"/>
          <p:cNvSpPr/>
          <p:nvPr/>
        </p:nvSpPr>
        <p:spPr>
          <a:xfrm>
            <a:off x="812800" y="4361855"/>
            <a:ext cx="10566400" cy="662880"/>
          </a:xfrm>
          <a:prstGeom prst="roundRect">
            <a:avLst>
              <a:gd name="adj" fmla="val 15327"/>
            </a:avLst>
          </a:prstGeom>
          <a:solidFill>
            <a:srgbClr val="172433"/>
          </a:solidFill>
          <a:ln>
            <a:noFill/>
          </a:ln>
        </p:spPr>
        <p:txBody>
          <a:bodyPr rtlCol="0" anchor="ctr"/>
          <a:lstStyle/>
          <a:p>
            <a:pPr algn="ctr"/>
          </a:p>
        </p:txBody>
      </p:sp>
      <p:pic>
        <p:nvPicPr>
          <p:cNvPr id="30" name="Icon Lightbulb 29" descr="icon038.png"/>
          <p:cNvPicPr>
            <a:picLocks noChangeAspect="1"/>
          </p:cNvPicPr>
          <p:nvPr/>
        </p:nvPicPr>
        <p:blipFill>
          <a:blip r:embed="rId2"/>
          <a:stretch>
            <a:fillRect/>
          </a:stretch>
        </p:blipFill>
        <p:spPr>
          <a:xfrm>
            <a:off x="10896600" y="4540845"/>
            <a:ext cx="304800" cy="304800"/>
          </a:xfrm>
          <a:prstGeom prst="rect">
            <a:avLst/>
          </a:prstGeom>
        </p:spPr>
      </p:pic>
      <p:sp>
        <p:nvSpPr>
          <p:cNvPr id="31" name="Text 30"/>
          <p:cNvSpPr txBox="1"/>
          <p:nvPr/>
        </p:nvSpPr>
        <p:spPr>
          <a:xfrm>
            <a:off x="838200" y="4443579"/>
            <a:ext cx="9944100" cy="408880"/>
          </a:xfrm>
          <a:prstGeom prst="rect">
            <a:avLst/>
          </a:prstGeom>
          <a:noFill/>
        </p:spPr>
        <p:txBody>
          <a:bodyPr wrap="square" tIns="0" rIns="0" bIns="0" lIns="0" anchor="t" rtlCol="0" anchorCtr="0">
            <a:noAutofit/>
          </a:bodyPr>
          <a:lstStyle/>
          <a:p>
            <a:pPr algn="r" rtl="1">
              <a:lnSpc>
                <a:spcPts val="3220"/>
              </a:lnSpc>
              <a:spcBef>
                <a:spcPts val="0"/>
              </a:spcBef>
              <a:spcAft>
                <a:spcPts val="0"/>
              </a:spcAft>
            </a:pPr>
            <a:r>
              <a:rPr sz="2300" b="0" i="0">
                <a:solidFill>
                  <a:srgbClr val="F3EFE6"/>
                </a:solidFill>
                <a:latin typeface="IBM Plex Sans Arabic"/>
                <a:ea typeface="IBM Plex Sans Arabic"/>
                <a:cs typeface="IBM Plex Sans Arabic"/>
              </a:rPr>
              <a:t>سياسة موجودة لا تثبت إعداداً، وإعداد اليوم لا يثبت ما حدث في الأشهر الماضية.</a:t>
            </a:r>
          </a:p>
        </p:txBody>
      </p:sp>
      <p:sp>
        <p:nvSpPr>
          <p:cNvPr id="32" name="Text 3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3" name="Text 3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الأدلة: الأنواع، وكيف تحكم على كفايتها</a:t>
            </a:r>
          </a:p>
        </p:txBody>
      </p:sp>
      <p:sp>
        <p:nvSpPr>
          <p:cNvPr id="5" name="Box 4"/>
          <p:cNvSpPr/>
          <p:nvPr/>
        </p:nvSpPr>
        <p:spPr>
          <a:xfrm>
            <a:off x="6169025" y="1623020"/>
            <a:ext cx="5207000" cy="2884190"/>
          </a:xfrm>
          <a:prstGeom prst="roundRect">
            <a:avLst>
              <a:gd name="adj" fmla="val 3954"/>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765133"/>
            <a:ext cx="500380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0E7C6B"/>
                </a:solidFill>
                <a:latin typeface="Readex Pro"/>
                <a:ea typeface="Readex Pro"/>
                <a:cs typeface="Readex Pro"/>
              </a:rPr>
              <a:t>أنواع الأدلة</a:t>
            </a:r>
          </a:p>
        </p:txBody>
      </p:sp>
      <p:pic>
        <p:nvPicPr>
          <p:cNvPr id="7" name="Icon Check 6" descr="icon039.png"/>
          <p:cNvPicPr>
            <a:picLocks noChangeAspect="1"/>
          </p:cNvPicPr>
          <p:nvPr/>
        </p:nvPicPr>
        <p:blipFill>
          <a:blip r:embed="rId2"/>
          <a:stretch>
            <a:fillRect/>
          </a:stretch>
        </p:blipFill>
        <p:spPr>
          <a:xfrm>
            <a:off x="10953750" y="2275483"/>
            <a:ext cx="241300" cy="241300"/>
          </a:xfrm>
          <a:prstGeom prst="rect">
            <a:avLst/>
          </a:prstGeom>
        </p:spPr>
      </p:pic>
      <p:sp>
        <p:nvSpPr>
          <p:cNvPr id="8" name="Text 7"/>
          <p:cNvSpPr txBox="1"/>
          <p:nvPr/>
        </p:nvSpPr>
        <p:spPr>
          <a:xfrm>
            <a:off x="6191250" y="2235129"/>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وثائق معتمدة: سياسات، ومحاضر</a:t>
            </a:r>
          </a:p>
        </p:txBody>
      </p:sp>
      <p:pic>
        <p:nvPicPr>
          <p:cNvPr id="9" name="Icon Check 8" descr="icon039.png"/>
          <p:cNvPicPr>
            <a:picLocks noChangeAspect="1"/>
          </p:cNvPicPr>
          <p:nvPr/>
        </p:nvPicPr>
        <p:blipFill>
          <a:blip r:embed="rId2"/>
          <a:stretch>
            <a:fillRect/>
          </a:stretch>
        </p:blipFill>
        <p:spPr>
          <a:xfrm>
            <a:off x="10953750" y="2703413"/>
            <a:ext cx="241300" cy="241300"/>
          </a:xfrm>
          <a:prstGeom prst="rect">
            <a:avLst/>
          </a:prstGeom>
        </p:spPr>
      </p:pic>
      <p:sp>
        <p:nvSpPr>
          <p:cNvPr id="10" name="Text 9"/>
          <p:cNvSpPr txBox="1"/>
          <p:nvPr/>
        </p:nvSpPr>
        <p:spPr>
          <a:xfrm>
            <a:off x="6191250" y="2663059"/>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تصدير من النظام: إعدادات وقوائم</a:t>
            </a:r>
          </a:p>
        </p:txBody>
      </p:sp>
      <p:pic>
        <p:nvPicPr>
          <p:cNvPr id="11" name="Icon Check 10" descr="icon039.png"/>
          <p:cNvPicPr>
            <a:picLocks noChangeAspect="1"/>
          </p:cNvPicPr>
          <p:nvPr/>
        </p:nvPicPr>
        <p:blipFill>
          <a:blip r:embed="rId2"/>
          <a:stretch>
            <a:fillRect/>
          </a:stretch>
        </p:blipFill>
        <p:spPr>
          <a:xfrm>
            <a:off x="10953750" y="3131344"/>
            <a:ext cx="241300" cy="241300"/>
          </a:xfrm>
          <a:prstGeom prst="rect">
            <a:avLst/>
          </a:prstGeom>
        </p:spPr>
      </p:pic>
      <p:sp>
        <p:nvSpPr>
          <p:cNvPr id="12" name="Text 11"/>
          <p:cNvSpPr txBox="1"/>
          <p:nvPr/>
        </p:nvSpPr>
        <p:spPr>
          <a:xfrm>
            <a:off x="6191250" y="309099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سجلات وتقارير: ما حدث فعلاً</a:t>
            </a:r>
          </a:p>
        </p:txBody>
      </p:sp>
      <p:pic>
        <p:nvPicPr>
          <p:cNvPr id="13" name="Icon Check 12" descr="icon039.png"/>
          <p:cNvPicPr>
            <a:picLocks noChangeAspect="1"/>
          </p:cNvPicPr>
          <p:nvPr/>
        </p:nvPicPr>
        <p:blipFill>
          <a:blip r:embed="rId2"/>
          <a:stretch>
            <a:fillRect/>
          </a:stretch>
        </p:blipFill>
        <p:spPr>
          <a:xfrm>
            <a:off x="10953750" y="3559274"/>
            <a:ext cx="241300" cy="241300"/>
          </a:xfrm>
          <a:prstGeom prst="rect">
            <a:avLst/>
          </a:prstGeom>
        </p:spPr>
      </p:pic>
      <p:sp>
        <p:nvSpPr>
          <p:cNvPr id="14" name="Text 13"/>
          <p:cNvSpPr txBox="1"/>
          <p:nvPr/>
        </p:nvSpPr>
        <p:spPr>
          <a:xfrm>
            <a:off x="6191250" y="351892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مقابلات وملاحظة مباشرة</a:t>
            </a:r>
          </a:p>
        </p:txBody>
      </p:sp>
      <p:pic>
        <p:nvPicPr>
          <p:cNvPr id="15" name="Icon Check 14" descr="icon039.png"/>
          <p:cNvPicPr>
            <a:picLocks noChangeAspect="1"/>
          </p:cNvPicPr>
          <p:nvPr/>
        </p:nvPicPr>
        <p:blipFill>
          <a:blip r:embed="rId2"/>
          <a:stretch>
            <a:fillRect/>
          </a:stretch>
        </p:blipFill>
        <p:spPr>
          <a:xfrm>
            <a:off x="10953750" y="3987205"/>
            <a:ext cx="241300" cy="241300"/>
          </a:xfrm>
          <a:prstGeom prst="rect">
            <a:avLst/>
          </a:prstGeom>
        </p:spPr>
      </p:pic>
      <p:sp>
        <p:nvSpPr>
          <p:cNvPr id="16" name="Text 15"/>
          <p:cNvSpPr txBox="1"/>
          <p:nvPr/>
        </p:nvSpPr>
        <p:spPr>
          <a:xfrm>
            <a:off x="6191250" y="394685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إعادة التنفيذ: تجرب الضابط بنفسك</a:t>
            </a:r>
          </a:p>
        </p:txBody>
      </p:sp>
      <p:sp>
        <p:nvSpPr>
          <p:cNvPr id="17" name="Box 16"/>
          <p:cNvSpPr/>
          <p:nvPr/>
        </p:nvSpPr>
        <p:spPr>
          <a:xfrm>
            <a:off x="815975" y="1623020"/>
            <a:ext cx="5207000" cy="2884190"/>
          </a:xfrm>
          <a:prstGeom prst="roundRect">
            <a:avLst>
              <a:gd name="adj" fmla="val 3954"/>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1765133"/>
            <a:ext cx="500380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8A4B12"/>
                </a:solidFill>
                <a:latin typeface="Readex Pro"/>
                <a:ea typeface="Readex Pro"/>
                <a:cs typeface="Readex Pro"/>
              </a:rPr>
              <a:t>هل يكفي الدليل؟ اسأل:</a:t>
            </a:r>
          </a:p>
        </p:txBody>
      </p:sp>
      <p:pic>
        <p:nvPicPr>
          <p:cNvPr id="19" name="Icon Search 18" descr="icon040.png"/>
          <p:cNvPicPr>
            <a:picLocks noChangeAspect="1"/>
          </p:cNvPicPr>
          <p:nvPr/>
        </p:nvPicPr>
        <p:blipFill>
          <a:blip r:embed="rId3"/>
          <a:stretch>
            <a:fillRect/>
          </a:stretch>
        </p:blipFill>
        <p:spPr>
          <a:xfrm>
            <a:off x="5600700" y="2275483"/>
            <a:ext cx="241300" cy="241300"/>
          </a:xfrm>
          <a:prstGeom prst="rect">
            <a:avLst/>
          </a:prstGeom>
        </p:spPr>
      </p:pic>
      <p:sp>
        <p:nvSpPr>
          <p:cNvPr id="20" name="Text 19"/>
          <p:cNvSpPr txBox="1"/>
          <p:nvPr/>
        </p:nvSpPr>
        <p:spPr>
          <a:xfrm>
            <a:off x="838200" y="2235129"/>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مرتبط: هل يجيب عن هدف الفحص؟</a:t>
            </a:r>
          </a:p>
        </p:txBody>
      </p:sp>
      <p:pic>
        <p:nvPicPr>
          <p:cNvPr id="21" name="Icon Search 20" descr="icon040.png"/>
          <p:cNvPicPr>
            <a:picLocks noChangeAspect="1"/>
          </p:cNvPicPr>
          <p:nvPr/>
        </p:nvPicPr>
        <p:blipFill>
          <a:blip r:embed="rId3"/>
          <a:stretch>
            <a:fillRect/>
          </a:stretch>
        </p:blipFill>
        <p:spPr>
          <a:xfrm>
            <a:off x="5600700" y="2703413"/>
            <a:ext cx="241300" cy="241300"/>
          </a:xfrm>
          <a:prstGeom prst="rect">
            <a:avLst/>
          </a:prstGeom>
        </p:spPr>
      </p:pic>
      <p:sp>
        <p:nvSpPr>
          <p:cNvPr id="22" name="Text 21"/>
          <p:cNvSpPr txBox="1"/>
          <p:nvPr/>
        </p:nvSpPr>
        <p:spPr>
          <a:xfrm>
            <a:off x="862266" y="2663059"/>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موثوق: ما مصدره؟ من النظام أم نسخة معدّلة؟</a:t>
            </a:r>
          </a:p>
        </p:txBody>
      </p:sp>
      <p:pic>
        <p:nvPicPr>
          <p:cNvPr id="23" name="Icon Search 22" descr="icon040.png"/>
          <p:cNvPicPr>
            <a:picLocks noChangeAspect="1"/>
          </p:cNvPicPr>
          <p:nvPr/>
        </p:nvPicPr>
        <p:blipFill>
          <a:blip r:embed="rId3"/>
          <a:stretch>
            <a:fillRect/>
          </a:stretch>
        </p:blipFill>
        <p:spPr>
          <a:xfrm>
            <a:off x="5600700" y="3495774"/>
            <a:ext cx="241300" cy="241300"/>
          </a:xfrm>
          <a:prstGeom prst="rect">
            <a:avLst/>
          </a:prstGeom>
        </p:spPr>
      </p:pic>
      <p:sp>
        <p:nvSpPr>
          <p:cNvPr id="24" name="Text 23"/>
          <p:cNvSpPr txBox="1"/>
          <p:nvPr/>
        </p:nvSpPr>
        <p:spPr>
          <a:xfrm>
            <a:off x="838200" y="345542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كافٍ: هل يغطي الفترة والمجتمع؟</a:t>
            </a:r>
          </a:p>
        </p:txBody>
      </p:sp>
      <p:pic>
        <p:nvPicPr>
          <p:cNvPr id="25" name="Icon Search 24" descr="icon040.png"/>
          <p:cNvPicPr>
            <a:picLocks noChangeAspect="1"/>
          </p:cNvPicPr>
          <p:nvPr/>
        </p:nvPicPr>
        <p:blipFill>
          <a:blip r:embed="rId3"/>
          <a:stretch>
            <a:fillRect/>
          </a:stretch>
        </p:blipFill>
        <p:spPr>
          <a:xfrm>
            <a:off x="5600700" y="3923705"/>
            <a:ext cx="241300" cy="241300"/>
          </a:xfrm>
          <a:prstGeom prst="rect">
            <a:avLst/>
          </a:prstGeom>
        </p:spPr>
      </p:pic>
      <p:sp>
        <p:nvSpPr>
          <p:cNvPr id="26" name="Text 25"/>
          <p:cNvSpPr txBox="1"/>
          <p:nvPr/>
        </p:nvSpPr>
        <p:spPr>
          <a:xfrm>
            <a:off x="838200" y="388335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مؤرخ: هل يقع داخل الفترة؟</a:t>
            </a:r>
          </a:p>
        </p:txBody>
      </p:sp>
      <p:sp>
        <p:nvSpPr>
          <p:cNvPr id="27" name="Box 26"/>
          <p:cNvSpPr/>
          <p:nvPr/>
        </p:nvSpPr>
        <p:spPr>
          <a:xfrm>
            <a:off x="812800" y="4662785"/>
            <a:ext cx="10566400" cy="982861"/>
          </a:xfrm>
          <a:prstGeom prst="roundRect">
            <a:avLst>
              <a:gd name="adj" fmla="val 10337"/>
            </a:avLst>
          </a:prstGeom>
          <a:solidFill>
            <a:srgbClr val="172433"/>
          </a:solidFill>
          <a:ln>
            <a:noFill/>
          </a:ln>
        </p:spPr>
        <p:txBody>
          <a:bodyPr rtlCol="0" anchor="ctr"/>
          <a:lstStyle/>
          <a:p>
            <a:pPr algn="ctr"/>
          </a:p>
        </p:txBody>
      </p:sp>
      <p:pic>
        <p:nvPicPr>
          <p:cNvPr id="28" name="Icon Lightbulb 27" descr="icon041.png"/>
          <p:cNvPicPr>
            <a:picLocks noChangeAspect="1"/>
          </p:cNvPicPr>
          <p:nvPr/>
        </p:nvPicPr>
        <p:blipFill>
          <a:blip r:embed="rId4"/>
          <a:stretch>
            <a:fillRect/>
          </a:stretch>
        </p:blipFill>
        <p:spPr>
          <a:xfrm>
            <a:off x="10934700" y="5020866"/>
            <a:ext cx="266700" cy="266700"/>
          </a:xfrm>
          <a:prstGeom prst="rect">
            <a:avLst/>
          </a:prstGeom>
        </p:spPr>
      </p:pic>
      <p:sp>
        <p:nvSpPr>
          <p:cNvPr id="29" name="Text 28"/>
          <p:cNvSpPr txBox="1"/>
          <p:nvPr/>
        </p:nvSpPr>
        <p:spPr>
          <a:xfrm>
            <a:off x="838200" y="4749431"/>
            <a:ext cx="9982200"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F3EFE6"/>
                </a:solidFill>
                <a:latin typeface="IBM Plex Sans Arabic"/>
                <a:ea typeface="IBM Plex Sans Arabic"/>
                <a:cs typeface="IBM Plex Sans Arabic"/>
              </a:rPr>
              <a:t>لا يوجد ترتيب ثابت لقوة الأدلة. المقابلة تساعدك على الفهم، والسجلات قد تكون ناقصة. القيمة تعتمد على هدف الفحص ومصدر الدليل وتغطيته.</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المجتمع والعينة وحدود الاستنتاج</a:t>
            </a:r>
          </a:p>
        </p:txBody>
      </p:sp>
      <p:sp>
        <p:nvSpPr>
          <p:cNvPr id="5" name="Box 4"/>
          <p:cNvSpPr/>
          <p:nvPr/>
        </p:nvSpPr>
        <p:spPr>
          <a:xfrm>
            <a:off x="6169025" y="1661120"/>
            <a:ext cx="5207000" cy="3121620"/>
          </a:xfrm>
          <a:prstGeom prst="roundRect">
            <a:avLst>
              <a:gd name="adj" fmla="val 3654"/>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803233"/>
            <a:ext cx="500380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0E7C6B"/>
                </a:solidFill>
                <a:latin typeface="Readex Pro"/>
                <a:ea typeface="Readex Pro"/>
                <a:cs typeface="Readex Pro"/>
              </a:rPr>
              <a:t>المجتمع والعينة</a:t>
            </a:r>
          </a:p>
        </p:txBody>
      </p:sp>
      <p:pic>
        <p:nvPicPr>
          <p:cNvPr id="7" name="Icon Check 6" descr="icon039.png"/>
          <p:cNvPicPr>
            <a:picLocks noChangeAspect="1"/>
          </p:cNvPicPr>
          <p:nvPr/>
        </p:nvPicPr>
        <p:blipFill>
          <a:blip r:embed="rId2"/>
          <a:stretch>
            <a:fillRect/>
          </a:stretch>
        </p:blipFill>
        <p:spPr>
          <a:xfrm>
            <a:off x="10953750" y="2313583"/>
            <a:ext cx="241300" cy="241300"/>
          </a:xfrm>
          <a:prstGeom prst="rect">
            <a:avLst/>
          </a:prstGeom>
        </p:spPr>
      </p:pic>
      <p:sp>
        <p:nvSpPr>
          <p:cNvPr id="8" name="Text 7"/>
          <p:cNvSpPr txBox="1"/>
          <p:nvPr/>
        </p:nvSpPr>
        <p:spPr>
          <a:xfrm>
            <a:off x="6215316" y="2273229"/>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المجتمع: كل الحالات في الفترة، مثل 41 حساب VPN.</a:t>
            </a:r>
          </a:p>
        </p:txBody>
      </p:sp>
      <p:pic>
        <p:nvPicPr>
          <p:cNvPr id="9" name="Icon Check 8" descr="icon039.png"/>
          <p:cNvPicPr>
            <a:picLocks noChangeAspect="1"/>
          </p:cNvPicPr>
          <p:nvPr/>
        </p:nvPicPr>
        <p:blipFill>
          <a:blip r:embed="rId2"/>
          <a:stretch>
            <a:fillRect/>
          </a:stretch>
        </p:blipFill>
        <p:spPr>
          <a:xfrm>
            <a:off x="10953750" y="3105944"/>
            <a:ext cx="241300" cy="241300"/>
          </a:xfrm>
          <a:prstGeom prst="rect">
            <a:avLst/>
          </a:prstGeom>
        </p:spPr>
      </p:pic>
      <p:sp>
        <p:nvSpPr>
          <p:cNvPr id="10" name="Text 9"/>
          <p:cNvSpPr txBox="1"/>
          <p:nvPr/>
        </p:nvSpPr>
        <p:spPr>
          <a:xfrm>
            <a:off x="6191250" y="3065590"/>
            <a:ext cx="4648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إن أمكن تصديره كاملاً، افحصه كاملاً.</a:t>
            </a:r>
          </a:p>
        </p:txBody>
      </p:sp>
      <p:pic>
        <p:nvPicPr>
          <p:cNvPr id="11" name="Icon Check 10" descr="icon039.png"/>
          <p:cNvPicPr>
            <a:picLocks noChangeAspect="1"/>
          </p:cNvPicPr>
          <p:nvPr/>
        </p:nvPicPr>
        <p:blipFill>
          <a:blip r:embed="rId2"/>
          <a:stretch>
            <a:fillRect/>
          </a:stretch>
        </p:blipFill>
        <p:spPr>
          <a:xfrm>
            <a:off x="10953750" y="3533874"/>
            <a:ext cx="241300" cy="241300"/>
          </a:xfrm>
          <a:prstGeom prst="rect">
            <a:avLst/>
          </a:prstGeom>
        </p:spPr>
      </p:pic>
      <p:sp>
        <p:nvSpPr>
          <p:cNvPr id="12" name="Text 11"/>
          <p:cNvSpPr txBox="1"/>
          <p:nvPr/>
        </p:nvSpPr>
        <p:spPr>
          <a:xfrm>
            <a:off x="6215316" y="3493520"/>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العينة: جزء مختار بطريقة معروفة، عشوائياً أو بمعيار مبرر.</a:t>
            </a:r>
          </a:p>
        </p:txBody>
      </p:sp>
      <p:sp>
        <p:nvSpPr>
          <p:cNvPr id="13" name="Box 12"/>
          <p:cNvSpPr/>
          <p:nvPr/>
        </p:nvSpPr>
        <p:spPr>
          <a:xfrm>
            <a:off x="815975" y="1661120"/>
            <a:ext cx="5207000" cy="3121620"/>
          </a:xfrm>
          <a:prstGeom prst="roundRect">
            <a:avLst>
              <a:gd name="adj" fmla="val 3654"/>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1803233"/>
            <a:ext cx="500380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B4412C"/>
                </a:solidFill>
                <a:latin typeface="Readex Pro"/>
                <a:ea typeface="Readex Pro"/>
                <a:cs typeface="Readex Pro"/>
              </a:rPr>
              <a:t>حدود الاستنتاج</a:t>
            </a:r>
          </a:p>
        </p:txBody>
      </p:sp>
      <p:pic>
        <p:nvPicPr>
          <p:cNvPr id="15" name="Icon Warning 14" descr="icon027.png"/>
          <p:cNvPicPr>
            <a:picLocks noChangeAspect="1"/>
          </p:cNvPicPr>
          <p:nvPr/>
        </p:nvPicPr>
        <p:blipFill>
          <a:blip r:embed="rId3"/>
          <a:stretch>
            <a:fillRect/>
          </a:stretch>
        </p:blipFill>
        <p:spPr>
          <a:xfrm>
            <a:off x="5600700" y="2313583"/>
            <a:ext cx="241300" cy="241300"/>
          </a:xfrm>
          <a:prstGeom prst="rect">
            <a:avLst/>
          </a:prstGeom>
        </p:spPr>
      </p:pic>
      <p:sp>
        <p:nvSpPr>
          <p:cNvPr id="16" name="Text 15"/>
          <p:cNvSpPr txBox="1"/>
          <p:nvPr/>
        </p:nvSpPr>
        <p:spPr>
          <a:xfrm>
            <a:off x="862266" y="2273229"/>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نتيجة العينة تخص ما فحصته، والتعميم يحتاج مبرراً.</a:t>
            </a:r>
          </a:p>
        </p:txBody>
      </p:sp>
      <p:pic>
        <p:nvPicPr>
          <p:cNvPr id="17" name="Icon Warning 16" descr="icon027.png"/>
          <p:cNvPicPr>
            <a:picLocks noChangeAspect="1"/>
          </p:cNvPicPr>
          <p:nvPr/>
        </p:nvPicPr>
        <p:blipFill>
          <a:blip r:embed="rId3"/>
          <a:stretch>
            <a:fillRect/>
          </a:stretch>
        </p:blipFill>
        <p:spPr>
          <a:xfrm>
            <a:off x="5600700" y="3105944"/>
            <a:ext cx="241300" cy="241300"/>
          </a:xfrm>
          <a:prstGeom prst="rect">
            <a:avLst/>
          </a:prstGeom>
        </p:spPr>
      </p:pic>
      <p:sp>
        <p:nvSpPr>
          <p:cNvPr id="18" name="Text 17"/>
          <p:cNvSpPr txBox="1"/>
          <p:nvPr/>
        </p:nvSpPr>
        <p:spPr>
          <a:xfrm>
            <a:off x="862266" y="3065590"/>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استثناءان من حساب واحد لا يعنيان أن كل الحسابات ضعيفة.</a:t>
            </a:r>
          </a:p>
        </p:txBody>
      </p:sp>
      <p:pic>
        <p:nvPicPr>
          <p:cNvPr id="19" name="Icon Warning 18" descr="icon027.png"/>
          <p:cNvPicPr>
            <a:picLocks noChangeAspect="1"/>
          </p:cNvPicPr>
          <p:nvPr/>
        </p:nvPicPr>
        <p:blipFill>
          <a:blip r:embed="rId3"/>
          <a:stretch>
            <a:fillRect/>
          </a:stretch>
        </p:blipFill>
        <p:spPr>
          <a:xfrm>
            <a:off x="5600700" y="3898305"/>
            <a:ext cx="241300" cy="241300"/>
          </a:xfrm>
          <a:prstGeom prst="rect">
            <a:avLst/>
          </a:prstGeom>
        </p:spPr>
      </p:pic>
      <p:sp>
        <p:nvSpPr>
          <p:cNvPr id="20" name="Text 19"/>
          <p:cNvSpPr txBox="1"/>
          <p:nvPr/>
        </p:nvSpPr>
        <p:spPr>
          <a:xfrm>
            <a:off x="862266" y="3857950"/>
            <a:ext cx="462413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السبب الجذري يُتحقق منه، ولا يُستنتج من بريد أو انطباع.</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تقييم ضابط كامل: ثمانية عناصر</a:t>
            </a:r>
          </a:p>
        </p:txBody>
      </p:sp>
      <p:sp>
        <p:nvSpPr>
          <p:cNvPr id="5" name="Box 4"/>
          <p:cNvSpPr/>
          <p:nvPr/>
        </p:nvSpPr>
        <p:spPr>
          <a:xfrm>
            <a:off x="8816975" y="1584920"/>
            <a:ext cx="2559050" cy="1178520"/>
          </a:xfrm>
          <a:prstGeom prst="roundRect">
            <a:avLst>
              <a:gd name="adj" fmla="val 9646"/>
            </a:avLst>
          </a:prstGeom>
          <a:solidFill>
            <a:srgbClr val="FFFDF8"/>
          </a:solidFill>
          <a:ln w="6350">
            <a:solidFill>
              <a:srgbClr val="E1DBCD"/>
            </a:solidFill>
          </a:ln>
        </p:spPr>
        <p:txBody>
          <a:bodyPr rtlCol="0" anchor="ctr"/>
          <a:lstStyle/>
          <a:p>
            <a:pPr algn="ctr"/>
          </a:p>
        </p:txBody>
      </p:sp>
      <p:sp>
        <p:nvSpPr>
          <p:cNvPr id="6" name="Text 5"/>
          <p:cNvSpPr txBox="1"/>
          <p:nvPr/>
        </p:nvSpPr>
        <p:spPr>
          <a:xfrm>
            <a:off x="10755094" y="1780850"/>
            <a:ext cx="465356"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1</a:t>
            </a:r>
          </a:p>
        </p:txBody>
      </p:sp>
      <p:sp>
        <p:nvSpPr>
          <p:cNvPr id="7" name="Text 6"/>
          <p:cNvSpPr txBox="1"/>
          <p:nvPr/>
        </p:nvSpPr>
        <p:spPr>
          <a:xfrm>
            <a:off x="8839200" y="1719858"/>
            <a:ext cx="2079724"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المتطلب</a:t>
            </a:r>
          </a:p>
        </p:txBody>
      </p:sp>
      <p:sp>
        <p:nvSpPr>
          <p:cNvPr id="8" name="Text 7"/>
          <p:cNvSpPr txBox="1"/>
          <p:nvPr/>
        </p:nvSpPr>
        <p:spPr>
          <a:xfrm>
            <a:off x="8839200" y="2173438"/>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النص ورقمه</a:t>
            </a:r>
          </a:p>
        </p:txBody>
      </p:sp>
      <p:sp>
        <p:nvSpPr>
          <p:cNvPr id="9" name="Box 8"/>
          <p:cNvSpPr/>
          <p:nvPr/>
        </p:nvSpPr>
        <p:spPr>
          <a:xfrm>
            <a:off x="6149975" y="1584920"/>
            <a:ext cx="2559050" cy="1178520"/>
          </a:xfrm>
          <a:prstGeom prst="roundRect">
            <a:avLst>
              <a:gd name="adj" fmla="val 9646"/>
            </a:avLst>
          </a:prstGeom>
          <a:solidFill>
            <a:srgbClr val="FFFDF8"/>
          </a:solidFill>
          <a:ln w="6350">
            <a:solidFill>
              <a:srgbClr val="E1DBCD"/>
            </a:solidFill>
          </a:ln>
        </p:spPr>
        <p:txBody>
          <a:bodyPr rtlCol="0" anchor="ctr"/>
          <a:lstStyle/>
          <a:p>
            <a:pPr algn="ctr"/>
          </a:p>
        </p:txBody>
      </p:sp>
      <p:sp>
        <p:nvSpPr>
          <p:cNvPr id="10" name="Text 9"/>
          <p:cNvSpPr txBox="1"/>
          <p:nvPr/>
        </p:nvSpPr>
        <p:spPr>
          <a:xfrm>
            <a:off x="8094147" y="1780850"/>
            <a:ext cx="459303"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2</a:t>
            </a:r>
          </a:p>
        </p:txBody>
      </p:sp>
      <p:sp>
        <p:nvSpPr>
          <p:cNvPr id="11" name="Text 10"/>
          <p:cNvSpPr txBox="1"/>
          <p:nvPr/>
        </p:nvSpPr>
        <p:spPr>
          <a:xfrm>
            <a:off x="6172200" y="1719858"/>
            <a:ext cx="2085777"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التفسير</a:t>
            </a:r>
          </a:p>
        </p:txBody>
      </p:sp>
      <p:sp>
        <p:nvSpPr>
          <p:cNvPr id="12" name="Text 11"/>
          <p:cNvSpPr txBox="1"/>
          <p:nvPr/>
        </p:nvSpPr>
        <p:spPr>
          <a:xfrm>
            <a:off x="6172200" y="2173438"/>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ماذا يعني في الجهة</a:t>
            </a:r>
          </a:p>
        </p:txBody>
      </p:sp>
      <p:sp>
        <p:nvSpPr>
          <p:cNvPr id="13" name="Box 12"/>
          <p:cNvSpPr/>
          <p:nvPr/>
        </p:nvSpPr>
        <p:spPr>
          <a:xfrm>
            <a:off x="3482975" y="1584920"/>
            <a:ext cx="2559050" cy="1178520"/>
          </a:xfrm>
          <a:prstGeom prst="roundRect">
            <a:avLst>
              <a:gd name="adj" fmla="val 9646"/>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410775" y="1780850"/>
            <a:ext cx="475675"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3</a:t>
            </a:r>
          </a:p>
        </p:txBody>
      </p:sp>
      <p:sp>
        <p:nvSpPr>
          <p:cNvPr id="15" name="Text 14"/>
          <p:cNvSpPr txBox="1"/>
          <p:nvPr/>
        </p:nvSpPr>
        <p:spPr>
          <a:xfrm>
            <a:off x="3505200" y="1719858"/>
            <a:ext cx="2069405"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المالك</a:t>
            </a:r>
          </a:p>
        </p:txBody>
      </p:sp>
      <p:sp>
        <p:nvSpPr>
          <p:cNvPr id="16" name="Text 15"/>
          <p:cNvSpPr txBox="1"/>
          <p:nvPr/>
        </p:nvSpPr>
        <p:spPr>
          <a:xfrm>
            <a:off x="3505200" y="2173438"/>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من يطبق الضابط</a:t>
            </a:r>
          </a:p>
        </p:txBody>
      </p:sp>
      <p:sp>
        <p:nvSpPr>
          <p:cNvPr id="17" name="Box 16"/>
          <p:cNvSpPr/>
          <p:nvPr/>
        </p:nvSpPr>
        <p:spPr>
          <a:xfrm>
            <a:off x="815975" y="1584920"/>
            <a:ext cx="2559050" cy="1178520"/>
          </a:xfrm>
          <a:prstGeom prst="roundRect">
            <a:avLst>
              <a:gd name="adj" fmla="val 9646"/>
            </a:avLst>
          </a:prstGeom>
          <a:solidFill>
            <a:srgbClr val="FFFDF8"/>
          </a:solidFill>
          <a:ln w="6350">
            <a:solidFill>
              <a:srgbClr val="E1DBCD"/>
            </a:solidFill>
          </a:ln>
        </p:spPr>
        <p:txBody>
          <a:bodyPr rtlCol="0" anchor="ctr"/>
          <a:lstStyle/>
          <a:p>
            <a:pPr algn="ctr"/>
          </a:p>
        </p:txBody>
      </p:sp>
      <p:sp>
        <p:nvSpPr>
          <p:cNvPr id="18" name="Text 17"/>
          <p:cNvSpPr txBox="1"/>
          <p:nvPr/>
        </p:nvSpPr>
        <p:spPr>
          <a:xfrm>
            <a:off x="2714903" y="1780850"/>
            <a:ext cx="504547"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4</a:t>
            </a:r>
          </a:p>
        </p:txBody>
      </p:sp>
      <p:sp>
        <p:nvSpPr>
          <p:cNvPr id="19" name="Text 18"/>
          <p:cNvSpPr txBox="1"/>
          <p:nvPr/>
        </p:nvSpPr>
        <p:spPr>
          <a:xfrm>
            <a:off x="838200" y="1719858"/>
            <a:ext cx="2040533"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الأدلة</a:t>
            </a:r>
          </a:p>
        </p:txBody>
      </p:sp>
      <p:sp>
        <p:nvSpPr>
          <p:cNvPr id="20" name="Text 19"/>
          <p:cNvSpPr txBox="1"/>
          <p:nvPr/>
        </p:nvSpPr>
        <p:spPr>
          <a:xfrm>
            <a:off x="838200" y="2173438"/>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ما طلبته وما وصل</a:t>
            </a:r>
          </a:p>
        </p:txBody>
      </p:sp>
      <p:sp>
        <p:nvSpPr>
          <p:cNvPr id="21" name="Box 20"/>
          <p:cNvSpPr/>
          <p:nvPr/>
        </p:nvSpPr>
        <p:spPr>
          <a:xfrm>
            <a:off x="8816975" y="2884091"/>
            <a:ext cx="2559050" cy="1591270"/>
          </a:xfrm>
          <a:prstGeom prst="roundRect">
            <a:avLst>
              <a:gd name="adj" fmla="val 7154"/>
            </a:avLst>
          </a:prstGeom>
          <a:solidFill>
            <a:srgbClr val="FFFDF8"/>
          </a:solidFill>
          <a:ln w="6350">
            <a:solidFill>
              <a:srgbClr val="E1DBCD"/>
            </a:solidFill>
          </a:ln>
        </p:spPr>
        <p:txBody>
          <a:bodyPr rtlCol="0" anchor="ctr"/>
          <a:lstStyle/>
          <a:p>
            <a:pPr algn="ctr"/>
          </a:p>
        </p:txBody>
      </p:sp>
      <p:sp>
        <p:nvSpPr>
          <p:cNvPr id="22" name="Text 21"/>
          <p:cNvSpPr txBox="1"/>
          <p:nvPr/>
        </p:nvSpPr>
        <p:spPr>
          <a:xfrm>
            <a:off x="10742295" y="3286395"/>
            <a:ext cx="478155"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5</a:t>
            </a:r>
          </a:p>
        </p:txBody>
      </p:sp>
      <p:sp>
        <p:nvSpPr>
          <p:cNvPr id="23" name="Text 22"/>
          <p:cNvSpPr txBox="1"/>
          <p:nvPr/>
        </p:nvSpPr>
        <p:spPr>
          <a:xfrm>
            <a:off x="8893175" y="3019028"/>
            <a:ext cx="2012950" cy="82550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طريقة الفحص</a:t>
            </a:r>
          </a:p>
        </p:txBody>
      </p:sp>
      <p:sp>
        <p:nvSpPr>
          <p:cNvPr id="24" name="Text 23"/>
          <p:cNvSpPr txBox="1"/>
          <p:nvPr/>
        </p:nvSpPr>
        <p:spPr>
          <a:xfrm>
            <a:off x="8839200" y="3885359"/>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كيف اختبرت كل دليل</a:t>
            </a:r>
          </a:p>
        </p:txBody>
      </p:sp>
      <p:sp>
        <p:nvSpPr>
          <p:cNvPr id="25" name="Box 24"/>
          <p:cNvSpPr/>
          <p:nvPr/>
        </p:nvSpPr>
        <p:spPr>
          <a:xfrm>
            <a:off x="6149975" y="2884091"/>
            <a:ext cx="2559050" cy="1591270"/>
          </a:xfrm>
          <a:prstGeom prst="roundRect">
            <a:avLst>
              <a:gd name="adj" fmla="val 7154"/>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082538" y="3080020"/>
            <a:ext cx="470912"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6</a:t>
            </a:r>
          </a:p>
        </p:txBody>
      </p:sp>
      <p:sp>
        <p:nvSpPr>
          <p:cNvPr id="27" name="Text 26"/>
          <p:cNvSpPr txBox="1"/>
          <p:nvPr/>
        </p:nvSpPr>
        <p:spPr>
          <a:xfrm>
            <a:off x="6172200" y="3019028"/>
            <a:ext cx="2074168"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النتيجة</a:t>
            </a:r>
          </a:p>
        </p:txBody>
      </p:sp>
      <p:sp>
        <p:nvSpPr>
          <p:cNvPr id="28" name="Text 27"/>
          <p:cNvSpPr txBox="1"/>
          <p:nvPr/>
        </p:nvSpPr>
        <p:spPr>
          <a:xfrm>
            <a:off x="6172200" y="3472609"/>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من مقياس محدد</a:t>
            </a:r>
          </a:p>
        </p:txBody>
      </p:sp>
      <p:sp>
        <p:nvSpPr>
          <p:cNvPr id="29" name="Box 28"/>
          <p:cNvSpPr/>
          <p:nvPr/>
        </p:nvSpPr>
        <p:spPr>
          <a:xfrm>
            <a:off x="3482975" y="2884091"/>
            <a:ext cx="2559050" cy="1591270"/>
          </a:xfrm>
          <a:prstGeom prst="roundRect">
            <a:avLst>
              <a:gd name="adj" fmla="val 7154"/>
            </a:avLst>
          </a:prstGeom>
          <a:solidFill>
            <a:srgbClr val="FFFDF8"/>
          </a:solidFill>
          <a:ln w="6350">
            <a:solidFill>
              <a:srgbClr val="E1DBCD"/>
            </a:solidFill>
          </a:ln>
        </p:spPr>
        <p:txBody>
          <a:bodyPr rtlCol="0" anchor="ctr"/>
          <a:lstStyle/>
          <a:p>
            <a:pPr algn="ctr"/>
          </a:p>
        </p:txBody>
      </p:sp>
      <p:sp>
        <p:nvSpPr>
          <p:cNvPr id="30" name="Text 29"/>
          <p:cNvSpPr txBox="1"/>
          <p:nvPr/>
        </p:nvSpPr>
        <p:spPr>
          <a:xfrm>
            <a:off x="5424368" y="3080020"/>
            <a:ext cx="462082"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7</a:t>
            </a:r>
          </a:p>
        </p:txBody>
      </p:sp>
      <p:sp>
        <p:nvSpPr>
          <p:cNvPr id="31" name="Text 30"/>
          <p:cNvSpPr txBox="1"/>
          <p:nvPr/>
        </p:nvSpPr>
        <p:spPr>
          <a:xfrm>
            <a:off x="3505200" y="3019028"/>
            <a:ext cx="2082998"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الملاحظة</a:t>
            </a:r>
          </a:p>
        </p:txBody>
      </p:sp>
      <p:sp>
        <p:nvSpPr>
          <p:cNvPr id="32" name="Text 31"/>
          <p:cNvSpPr txBox="1"/>
          <p:nvPr/>
        </p:nvSpPr>
        <p:spPr>
          <a:xfrm>
            <a:off x="3505200" y="3472609"/>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إن وُجدت فجوة</a:t>
            </a:r>
          </a:p>
        </p:txBody>
      </p:sp>
      <p:sp>
        <p:nvSpPr>
          <p:cNvPr id="33" name="Box 32"/>
          <p:cNvSpPr/>
          <p:nvPr/>
        </p:nvSpPr>
        <p:spPr>
          <a:xfrm>
            <a:off x="815975" y="2884091"/>
            <a:ext cx="2559050" cy="1591270"/>
          </a:xfrm>
          <a:prstGeom prst="roundRect">
            <a:avLst>
              <a:gd name="adj" fmla="val 7154"/>
            </a:avLst>
          </a:prstGeom>
          <a:solidFill>
            <a:srgbClr val="FFFDF8"/>
          </a:solidFill>
          <a:ln w="6350">
            <a:solidFill>
              <a:srgbClr val="E1DBCD"/>
            </a:solidFill>
          </a:ln>
        </p:spPr>
        <p:txBody>
          <a:bodyPr rtlCol="0" anchor="ctr"/>
          <a:lstStyle/>
          <a:p>
            <a:pPr algn="ctr"/>
          </a:p>
        </p:txBody>
      </p:sp>
      <p:sp>
        <p:nvSpPr>
          <p:cNvPr id="34" name="Text 33"/>
          <p:cNvSpPr txBox="1"/>
          <p:nvPr/>
        </p:nvSpPr>
        <p:spPr>
          <a:xfrm>
            <a:off x="2740104" y="3286395"/>
            <a:ext cx="479346"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8</a:t>
            </a:r>
          </a:p>
        </p:txBody>
      </p:sp>
      <p:sp>
        <p:nvSpPr>
          <p:cNvPr id="35" name="Text 34"/>
          <p:cNvSpPr txBox="1"/>
          <p:nvPr/>
        </p:nvSpPr>
        <p:spPr>
          <a:xfrm>
            <a:off x="892175" y="3019028"/>
            <a:ext cx="2011759" cy="82550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خطة التصحيح</a:t>
            </a:r>
          </a:p>
        </p:txBody>
      </p:sp>
      <p:sp>
        <p:nvSpPr>
          <p:cNvPr id="36" name="Text 35"/>
          <p:cNvSpPr txBox="1"/>
          <p:nvPr/>
        </p:nvSpPr>
        <p:spPr>
          <a:xfrm>
            <a:off x="838200" y="3885359"/>
            <a:ext cx="23812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4E5A66"/>
                </a:solidFill>
                <a:latin typeface="IBM Plex Sans Arabic"/>
                <a:ea typeface="IBM Plex Sans Arabic"/>
                <a:cs typeface="IBM Plex Sans Arabic"/>
              </a:rPr>
              <a:t>إجراء، ومالك، وموعد</a:t>
            </a:r>
          </a:p>
        </p:txBody>
      </p:sp>
      <p:sp>
        <p:nvSpPr>
          <p:cNvPr id="37" name="Box 36"/>
          <p:cNvSpPr/>
          <p:nvPr/>
        </p:nvSpPr>
        <p:spPr>
          <a:xfrm>
            <a:off x="812800" y="4592836"/>
            <a:ext cx="10566400" cy="627360"/>
          </a:xfrm>
          <a:prstGeom prst="roundRect">
            <a:avLst>
              <a:gd name="adj" fmla="val 16194"/>
            </a:avLst>
          </a:prstGeom>
          <a:solidFill>
            <a:srgbClr val="E3F1ED"/>
          </a:solidFill>
          <a:ln>
            <a:noFill/>
          </a:ln>
        </p:spPr>
        <p:txBody>
          <a:bodyPr rtlCol="0" anchor="ctr"/>
          <a:lstStyle/>
          <a:p>
            <a:pPr algn="ctr"/>
          </a:p>
        </p:txBody>
      </p:sp>
      <p:pic>
        <p:nvPicPr>
          <p:cNvPr id="38" name="Icon Tool 37" descr="icon042.png"/>
          <p:cNvPicPr>
            <a:picLocks noChangeAspect="1"/>
          </p:cNvPicPr>
          <p:nvPr/>
        </p:nvPicPr>
        <p:blipFill>
          <a:blip r:embed="rId2"/>
          <a:stretch>
            <a:fillRect/>
          </a:stretch>
        </p:blipFill>
        <p:spPr>
          <a:xfrm>
            <a:off x="10922000" y="4766766"/>
            <a:ext cx="279400" cy="279400"/>
          </a:xfrm>
          <a:prstGeom prst="rect">
            <a:avLst/>
          </a:prstGeom>
        </p:spPr>
      </p:pic>
      <p:sp>
        <p:nvSpPr>
          <p:cNvPr id="39" name="Text 38"/>
          <p:cNvSpPr txBox="1"/>
          <p:nvPr/>
        </p:nvSpPr>
        <p:spPr>
          <a:xfrm>
            <a:off x="838200" y="4678497"/>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في مثال التطبيق 3 نعبئ هذه العناصر لضابط من رُفاد، ثم تعبئها أنت لضابط آخر.</a:t>
            </a:r>
          </a:p>
        </p:txBody>
      </p:sp>
      <p:sp>
        <p:nvSpPr>
          <p:cNvPr id="40" name="Text 3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1" name="Text 4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مقياس نتيجة التقييم</a:t>
            </a:r>
          </a:p>
        </p:txBody>
      </p:sp>
      <p:graphicFrame>
        <p:nvGraphicFramePr>
          <p:cNvPr id="5" name="Table 4"/>
          <p:cNvGraphicFramePr>
            <a:graphicFrameLocks noGrp="1"/>
          </p:cNvGraphicFramePr>
          <p:nvPr/>
        </p:nvGraphicFramePr>
        <p:xfrm>
          <a:off x="815975" y="1623020"/>
          <a:ext cx="10560050" cy="3155650"/>
        </p:xfrm>
        <a:graphic>
          <a:graphicData uri="http://schemas.openxmlformats.org/drawingml/2006/table">
            <a:tbl>
              <a:tblPr firstRow="0" bandRow="0" lastRow="0" firstCol="0" lastCol="0" bandCol="0">
                <a:tableStyleId>{2D5ABB26-0587-4C30-8999-92F81FD0307C}</a:tableStyleId>
              </a:tblPr>
              <a:tblGrid>
                <a:gridCol w="7814310"/>
                <a:gridCol w="2745740"/>
              </a:tblGrid>
              <a:tr h="631130">
                <a:tc>
                  <a:txBody>
                    <a:bodyPr wrap="square"/>
                    <a:lstStyle/>
                    <a:p>
                      <a:pPr algn="r" rtl="1">
                        <a:lnSpc>
                          <a:spcPts val="3240"/>
                        </a:lnSpc>
                        <a:spcBef>
                          <a:spcPts val="0"/>
                        </a:spcBef>
                        <a:spcAft>
                          <a:spcPts val="0"/>
                        </a:spcAft>
                      </a:pPr>
                      <a:r>
                        <a:rPr sz="2400" b="1" i="0">
                          <a:solidFill>
                            <a:srgbClr val="F3EFE6"/>
                          </a:solidFill>
                          <a:latin typeface="IBM Plex Sans Arabic"/>
                          <a:ea typeface="IBM Plex Sans Arabic"/>
                          <a:cs typeface="IBM Plex Sans Arabic"/>
                        </a:rPr>
                        <a:t>المعنى</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3240"/>
                        </a:lnSpc>
                        <a:spcBef>
                          <a:spcPts val="0"/>
                        </a:spcBef>
                        <a:spcAft>
                          <a:spcPts val="0"/>
                        </a:spcAft>
                      </a:pPr>
                      <a:r>
                        <a:rPr sz="2400" b="1" i="0">
                          <a:solidFill>
                            <a:srgbClr val="F3EFE6"/>
                          </a:solidFill>
                          <a:latin typeface="IBM Plex Sans Arabic"/>
                          <a:ea typeface="IBM Plex Sans Arabic"/>
                          <a:cs typeface="IBM Plex Sans Arabic"/>
                        </a:rPr>
                        <a:t>النتيجة</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31130">
                <a:tc>
                  <a:txBody>
                    <a:bodyPr wrap="square"/>
                    <a:lstStyle/>
                    <a:p>
                      <a:pPr algn="r" rtl="1">
                        <a:lnSpc>
                          <a:spcPts val="3240"/>
                        </a:lnSpc>
                        <a:spcBef>
                          <a:spcPts val="0"/>
                        </a:spcBef>
                        <a:spcAft>
                          <a:spcPts val="0"/>
                        </a:spcAft>
                      </a:pPr>
                      <a:r>
                        <a:rPr sz="2400" b="0" i="0">
                          <a:solidFill>
                            <a:srgbClr val="172433"/>
                          </a:solidFill>
                          <a:latin typeface="IBM Plex Sans Arabic"/>
                          <a:ea typeface="IBM Plex Sans Arabic"/>
                          <a:cs typeface="IBM Plex Sans Arabic"/>
                        </a:rPr>
                        <a:t>المتطلب موثق ومطبق، ويعمل باستمرار طوال فترة التقييم.</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3240"/>
                        </a:lnSpc>
                        <a:spcBef>
                          <a:spcPts val="0"/>
                        </a:spcBef>
                        <a:spcAft>
                          <a:spcPts val="0"/>
                        </a:spcAft>
                      </a:pPr>
                      <a:r>
                        <a:rPr sz="2400" b="1" i="0">
                          <a:solidFill>
                            <a:srgbClr val="0E7C6B"/>
                          </a:solidFill>
                          <a:latin typeface="IBM Plex Sans Arabic"/>
                          <a:ea typeface="IBM Plex Sans Arabic"/>
                          <a:cs typeface="IBM Plex Sans Arabic"/>
                        </a:rPr>
                        <a:t>مطبق</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31130">
                <a:tc>
                  <a:txBody>
                    <a:bodyPr wrap="square"/>
                    <a:lstStyle/>
                    <a:p>
                      <a:pPr algn="r" rtl="1">
                        <a:lnSpc>
                          <a:spcPts val="3240"/>
                        </a:lnSpc>
                        <a:spcBef>
                          <a:spcPts val="0"/>
                        </a:spcBef>
                        <a:spcAft>
                          <a:spcPts val="0"/>
                        </a:spcAft>
                      </a:pPr>
                      <a:r>
                        <a:rPr sz="2400" b="0" i="0">
                          <a:solidFill>
                            <a:srgbClr val="172433"/>
                          </a:solidFill>
                          <a:latin typeface="IBM Plex Sans Arabic"/>
                          <a:ea typeface="IBM Plex Sans Arabic"/>
                          <a:cs typeface="IBM Plex Sans Arabic"/>
                        </a:rPr>
                        <a:t>جزء من المتطلب مطبق، أو طُبق في جزء من الفترة فقط.</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3240"/>
                        </a:lnSpc>
                        <a:spcBef>
                          <a:spcPts val="0"/>
                        </a:spcBef>
                        <a:spcAft>
                          <a:spcPts val="0"/>
                        </a:spcAft>
                      </a:pPr>
                      <a:r>
                        <a:rPr sz="2400" b="1" i="0">
                          <a:solidFill>
                            <a:srgbClr val="0E7C6B"/>
                          </a:solidFill>
                          <a:latin typeface="IBM Plex Sans Arabic"/>
                          <a:ea typeface="IBM Plex Sans Arabic"/>
                          <a:cs typeface="IBM Plex Sans Arabic"/>
                        </a:rPr>
                        <a:t>مطبق جزئياً</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31130">
                <a:tc>
                  <a:txBody>
                    <a:bodyPr wrap="square"/>
                    <a:lstStyle/>
                    <a:p>
                      <a:pPr algn="r" rtl="1">
                        <a:lnSpc>
                          <a:spcPts val="3240"/>
                        </a:lnSpc>
                        <a:spcBef>
                          <a:spcPts val="0"/>
                        </a:spcBef>
                        <a:spcAft>
                          <a:spcPts val="0"/>
                        </a:spcAft>
                      </a:pPr>
                      <a:r>
                        <a:rPr sz="2400" b="0" i="0">
                          <a:solidFill>
                            <a:srgbClr val="172433"/>
                          </a:solidFill>
                          <a:latin typeface="IBM Plex Sans Arabic"/>
                          <a:ea typeface="IBM Plex Sans Arabic"/>
                          <a:cs typeface="IBM Plex Sans Arabic"/>
                        </a:rPr>
                        <a:t>لا دليل على التطبيق، أو الأدلة تنفي التطبيق.</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3240"/>
                        </a:lnSpc>
                        <a:spcBef>
                          <a:spcPts val="0"/>
                        </a:spcBef>
                        <a:spcAft>
                          <a:spcPts val="0"/>
                        </a:spcAft>
                      </a:pPr>
                      <a:r>
                        <a:rPr sz="2400" b="1" i="0">
                          <a:solidFill>
                            <a:srgbClr val="0E7C6B"/>
                          </a:solidFill>
                          <a:latin typeface="IBM Plex Sans Arabic"/>
                          <a:ea typeface="IBM Plex Sans Arabic"/>
                          <a:cs typeface="IBM Plex Sans Arabic"/>
                        </a:rPr>
                        <a:t>غير مطبق</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31130">
                <a:tc>
                  <a:txBody>
                    <a:bodyPr wrap="square"/>
                    <a:lstStyle/>
                    <a:p>
                      <a:pPr algn="r" rtl="1">
                        <a:lnSpc>
                          <a:spcPts val="3240"/>
                        </a:lnSpc>
                        <a:spcBef>
                          <a:spcPts val="0"/>
                        </a:spcBef>
                        <a:spcAft>
                          <a:spcPts val="0"/>
                        </a:spcAft>
                      </a:pPr>
                      <a:r>
                        <a:rPr sz="2400" b="0" i="0">
                          <a:solidFill>
                            <a:srgbClr val="172433"/>
                          </a:solidFill>
                          <a:latin typeface="IBM Plex Sans Arabic"/>
                          <a:ea typeface="IBM Plex Sans Arabic"/>
                          <a:cs typeface="IBM Plex Sans Arabic"/>
                        </a:rPr>
                        <a:t>المتطلب خارج النطاق، بمبرر موثق.</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3240"/>
                        </a:lnSpc>
                        <a:spcBef>
                          <a:spcPts val="0"/>
                        </a:spcBef>
                        <a:spcAft>
                          <a:spcPts val="0"/>
                        </a:spcAft>
                      </a:pPr>
                      <a:r>
                        <a:rPr sz="2400" b="1" i="0">
                          <a:solidFill>
                            <a:srgbClr val="0E7C6B"/>
                          </a:solidFill>
                          <a:latin typeface="IBM Plex Sans Arabic"/>
                          <a:ea typeface="IBM Plex Sans Arabic"/>
                          <a:cs typeface="IBM Plex Sans Arabic"/>
                        </a:rPr>
                        <a:t>لا ينطبق</a:t>
                      </a:r>
                    </a:p>
                  </a:txBody>
                  <a:tcPr marT="128473" marR="182880" marB="8488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934248"/>
            <a:ext cx="10566400" cy="627360"/>
          </a:xfrm>
          <a:prstGeom prst="roundRect">
            <a:avLst>
              <a:gd name="adj" fmla="val 16194"/>
            </a:avLst>
          </a:prstGeom>
          <a:solidFill>
            <a:srgbClr val="F6ECDA"/>
          </a:solidFill>
          <a:ln>
            <a:noFill/>
          </a:ln>
        </p:spPr>
        <p:txBody>
          <a:bodyPr rtlCol="0" anchor="ctr"/>
          <a:lstStyle/>
          <a:p>
            <a:pPr algn="ctr"/>
          </a:p>
        </p:txBody>
      </p:sp>
      <p:pic>
        <p:nvPicPr>
          <p:cNvPr id="7" name="Icon Warning 6" descr="icon033.png"/>
          <p:cNvPicPr>
            <a:picLocks noChangeAspect="1"/>
          </p:cNvPicPr>
          <p:nvPr/>
        </p:nvPicPr>
        <p:blipFill>
          <a:blip r:embed="rId2"/>
          <a:stretch>
            <a:fillRect/>
          </a:stretch>
        </p:blipFill>
        <p:spPr>
          <a:xfrm>
            <a:off x="10922000" y="5108178"/>
            <a:ext cx="279400" cy="279400"/>
          </a:xfrm>
          <a:prstGeom prst="rect">
            <a:avLst/>
          </a:prstGeom>
        </p:spPr>
      </p:pic>
      <p:sp>
        <p:nvSpPr>
          <p:cNvPr id="8" name="Text 7"/>
          <p:cNvSpPr txBox="1"/>
          <p:nvPr/>
        </p:nvSpPr>
        <p:spPr>
          <a:xfrm>
            <a:off x="838200" y="5019909"/>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المقاييس تختلف بين الجهات والجهات المنظمة. استخدم دائماً مقياس الجهة التي تقيّمها.</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والنطاق</a:t>
            </a:r>
          </a:p>
        </p:txBody>
      </p:sp>
      <p:sp>
        <p:nvSpPr>
          <p:cNvPr id="7" name="Text 6"/>
          <p:cNvSpPr txBox="1"/>
          <p:nvPr/>
        </p:nvSpPr>
        <p:spPr>
          <a:xfrm>
            <a:off x="9556750" y="1575554"/>
            <a:ext cx="1822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المتطلب</a:t>
            </a:r>
          </a:p>
        </p:txBody>
      </p:sp>
      <p:sp>
        <p:nvSpPr>
          <p:cNvPr id="8" name="Text 7"/>
          <p:cNvSpPr txBox="1"/>
          <p:nvPr/>
        </p:nvSpPr>
        <p:spPr>
          <a:xfrm>
            <a:off x="548767" y="1575554"/>
            <a:ext cx="9065133"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ECC ‎2-2-3-2‎: التحقق متعدد العوامل للدخول عن بعد وللحسابات ذات الصلاحيات الهامة.</a:t>
            </a:r>
          </a:p>
        </p:txBody>
      </p:sp>
      <p:sp>
        <p:nvSpPr>
          <p:cNvPr id="9" name="Text 8"/>
          <p:cNvSpPr txBox="1"/>
          <p:nvPr/>
        </p:nvSpPr>
        <p:spPr>
          <a:xfrm>
            <a:off x="9556750" y="2489954"/>
            <a:ext cx="1822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548767" y="2489954"/>
            <a:ext cx="9065133"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دخول الموظفين عن بعد عبر الشبكة الافتراضية VPN. الفترة:‏ 1 يناير إلى 30 يونيو 2026. الحسابات ذات الصلاحيات الهامة تُقيّم منفصلة.</a:t>
            </a:r>
          </a:p>
        </p:txBody>
      </p:sp>
      <p:sp>
        <p:nvSpPr>
          <p:cNvPr id="11" name="Text 10"/>
          <p:cNvSpPr txBox="1"/>
          <p:nvPr/>
        </p:nvSpPr>
        <p:spPr>
          <a:xfrm>
            <a:off x="9556750" y="3404354"/>
            <a:ext cx="1822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المالك</a:t>
            </a:r>
          </a:p>
        </p:txBody>
      </p:sp>
      <p:sp>
        <p:nvSpPr>
          <p:cNvPr id="12" name="Text 11"/>
          <p:cNvSpPr txBox="1"/>
          <p:nvPr/>
        </p:nvSpPr>
        <p:spPr>
          <a:xfrm>
            <a:off x="108712" y="3404354"/>
            <a:ext cx="950518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مدير تقنية المعلومات</a:t>
            </a:r>
          </a:p>
        </p:txBody>
      </p:sp>
      <p:sp>
        <p:nvSpPr>
          <p:cNvPr id="13" name="Box 12"/>
          <p:cNvSpPr/>
          <p:nvPr/>
        </p:nvSpPr>
        <p:spPr>
          <a:xfrm>
            <a:off x="812800" y="4001095"/>
            <a:ext cx="10566400" cy="627360"/>
          </a:xfrm>
          <a:prstGeom prst="roundRect">
            <a:avLst>
              <a:gd name="adj" fmla="val 16194"/>
            </a:avLst>
          </a:prstGeom>
          <a:solidFill>
            <a:srgbClr val="E3F1ED"/>
          </a:solidFill>
          <a:ln>
            <a:noFill/>
          </a:ln>
        </p:spPr>
        <p:txBody>
          <a:bodyPr rtlCol="0" anchor="ctr"/>
          <a:lstStyle/>
          <a:p>
            <a:pPr algn="ctr"/>
          </a:p>
        </p:txBody>
      </p:sp>
      <p:pic>
        <p:nvPicPr>
          <p:cNvPr id="14" name="Icon Lightbulb 13" descr="icon043.png"/>
          <p:cNvPicPr>
            <a:picLocks noChangeAspect="1"/>
          </p:cNvPicPr>
          <p:nvPr/>
        </p:nvPicPr>
        <p:blipFill>
          <a:blip r:embed="rId2"/>
          <a:stretch>
            <a:fillRect/>
          </a:stretch>
        </p:blipFill>
        <p:spPr>
          <a:xfrm>
            <a:off x="10922000" y="4175026"/>
            <a:ext cx="279400" cy="279400"/>
          </a:xfrm>
          <a:prstGeom prst="rect">
            <a:avLst/>
          </a:prstGeom>
        </p:spPr>
      </p:pic>
      <p:sp>
        <p:nvSpPr>
          <p:cNvPr id="15" name="Text 14"/>
          <p:cNvSpPr txBox="1"/>
          <p:nvPr/>
        </p:nvSpPr>
        <p:spPr>
          <a:xfrm>
            <a:off x="838200" y="4086757"/>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حددنا النطاق والفترة قبل طلب أي دليل.</a:t>
            </a:r>
          </a:p>
        </p:txBody>
      </p:sp>
      <p:sp>
        <p:nvSpPr>
          <p:cNvPr id="16" name="Text 1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7" name="Text 1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الأدلة المستلمة</a:t>
            </a:r>
          </a:p>
        </p:txBody>
      </p:sp>
      <p:graphicFrame>
        <p:nvGraphicFramePr>
          <p:cNvPr id="7" name="Table 6"/>
          <p:cNvGraphicFramePr>
            <a:graphicFrameLocks noGrp="1"/>
          </p:cNvGraphicFramePr>
          <p:nvPr/>
        </p:nvGraphicFramePr>
        <p:xfrm>
          <a:off x="815975" y="1623020"/>
          <a:ext cx="10560050" cy="3239688"/>
        </p:xfrm>
        <a:graphic>
          <a:graphicData uri="http://schemas.openxmlformats.org/drawingml/2006/table">
            <a:tbl>
              <a:tblPr firstRow="0" bandRow="0" lastRow="0" firstCol="0" lastCol="0" bandCol="0">
                <a:tableStyleId>{2D5ABB26-0587-4C30-8999-92F81FD0307C}</a:tableStyleId>
              </a:tblPr>
              <a:tblGrid>
                <a:gridCol w="9504045"/>
                <a:gridCol w="105600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ما وصل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الدليل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معيار الوصول عن بعد، معتمد فبراير 2026: التحقق متعدد العوامل إلزامي لكل مستخدمي VPN.</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24506B"/>
                          </a:solidFill>
                          <a:latin typeface="IBM Plex Sans Arabic"/>
                          <a:ea typeface="IBM Plex Sans Arabic"/>
                          <a:cs typeface="IBM Plex Sans Arabic"/>
                        </a:rPr>
                        <a:t>د1</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لقطة إعداد من بوابة VPN بتاريخ 5 يوليو 2026: التحقق إلزامي لمجموعة «‎VPN-Users‎».</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24506B"/>
                          </a:solidFill>
                          <a:latin typeface="IBM Plex Sans Arabic"/>
                          <a:ea typeface="IBM Plex Sans Arabic"/>
                          <a:cs typeface="IBM Plex Sans Arabic"/>
                        </a:rPr>
                        <a:t>د2</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سجل تغييرات الإعداد: فُعّل الإلزام في 10 مارس 2026.</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24506B"/>
                          </a:solidFill>
                          <a:latin typeface="IBM Plex Sans Arabic"/>
                          <a:ea typeface="IBM Plex Sans Arabic"/>
                          <a:cs typeface="IBM Plex Sans Arabic"/>
                        </a:rPr>
                        <a:t>د3</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أعضاء مجموعة «‎VPN-Users‎»:‏ 38 حساباً. سجل الاتصالات:‏ 41 حساباً اتصلت خلال الفترة.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24506B"/>
                          </a:solidFill>
                          <a:latin typeface="IBM Plex Sans Arabic"/>
                          <a:ea typeface="IBM Plex Sans Arabic"/>
                          <a:cs typeface="IBM Plex Sans Arabic"/>
                        </a:rPr>
                        <a:t>د4</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عينة 25 اتصالاً بعد 10 مارس:‏ 23 بعامل ثانٍ، و2 بكلمة المرور فقط، كلاهما من حساب «test».</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24506B"/>
                          </a:solidFill>
                          <a:latin typeface="IBM Plex Sans Arabic"/>
                          <a:ea typeface="IBM Plex Sans Arabic"/>
                          <a:cs typeface="IBM Plex Sans Arabic"/>
                        </a:rPr>
                        <a:t>د5</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4976947"/>
            <a:ext cx="113792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قبل أن تنتقل: ماذا يثبت كل دليل؟ وهل تكفي لقطة 5 يوليو؟</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الفحص والنتيجة</a:t>
            </a:r>
          </a:p>
        </p:txBody>
      </p:sp>
      <p:graphicFrame>
        <p:nvGraphicFramePr>
          <p:cNvPr id="7" name="Table 6"/>
          <p:cNvGraphicFramePr>
            <a:graphicFrameLocks noGrp="1"/>
          </p:cNvGraphicFramePr>
          <p:nvPr/>
        </p:nvGraphicFramePr>
        <p:xfrm>
          <a:off x="815975" y="1610320"/>
          <a:ext cx="10560050" cy="2389684"/>
        </p:xfrm>
        <a:graphic>
          <a:graphicData uri="http://schemas.openxmlformats.org/drawingml/2006/table">
            <a:tbl>
              <a:tblPr firstRow="0" bandRow="0" lastRow="0" firstCol="0" lastCol="0" bandCol="0">
                <a:tableStyleId>{2D5ABB26-0587-4C30-8999-92F81FD0307C}</a:tableStyleId>
              </a:tblPr>
              <a:tblGrid>
                <a:gridCol w="6336030"/>
                <a:gridCol w="4224020"/>
              </a:tblGrid>
              <a:tr h="513854">
                <a:tc>
                  <a:txBody>
                    <a:bodyPr wrap="square"/>
                    <a:lstStyle/>
                    <a:p>
                      <a:pPr algn="r" rtl="1">
                        <a:lnSpc>
                          <a:spcPts val="2632"/>
                        </a:lnSpc>
                        <a:spcBef>
                          <a:spcPts val="0"/>
                        </a:spcBef>
                        <a:spcAft>
                          <a:spcPts val="0"/>
                        </a:spcAft>
                      </a:pPr>
                      <a:r>
                        <a:rPr sz="1950" b="1" i="0">
                          <a:solidFill>
                            <a:srgbClr val="F3EFE6"/>
                          </a:solidFill>
                          <a:latin typeface="IBM Plex Sans Arabic"/>
                          <a:ea typeface="IBM Plex Sans Arabic"/>
                          <a:cs typeface="IBM Plex Sans Arabic"/>
                        </a:rPr>
                        <a:t>ما وجدناه</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632"/>
                        </a:lnSpc>
                        <a:spcBef>
                          <a:spcPts val="0"/>
                        </a:spcBef>
                        <a:spcAft>
                          <a:spcPts val="0"/>
                        </a:spcAft>
                      </a:pPr>
                      <a:r>
                        <a:rPr sz="1950" b="1" i="0">
                          <a:solidFill>
                            <a:srgbClr val="F3EFE6"/>
                          </a:solidFill>
                          <a:latin typeface="IBM Plex Sans Arabic"/>
                          <a:ea typeface="IBM Plex Sans Arabic"/>
                          <a:cs typeface="IBM Plex Sans Arabic"/>
                        </a:rPr>
                        <a:t>سؤال الفحص</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13854">
                <a:tc>
                  <a:txBody>
                    <a:bodyPr wrap="square"/>
                    <a:lstStyle/>
                    <a:p>
                      <a:pPr algn="r" rtl="1">
                        <a:lnSpc>
                          <a:spcPts val="2632"/>
                        </a:lnSpc>
                        <a:spcBef>
                          <a:spcPts val="0"/>
                        </a:spcBef>
                        <a:spcAft>
                          <a:spcPts val="0"/>
                        </a:spcAft>
                      </a:pPr>
                      <a:r>
                        <a:rPr sz="1950" b="0" i="0">
                          <a:solidFill>
                            <a:srgbClr val="172433"/>
                          </a:solidFill>
                          <a:latin typeface="IBM Plex Sans Arabic"/>
                          <a:ea typeface="IBM Plex Sans Arabic"/>
                          <a:cs typeface="IBM Plex Sans Arabic"/>
                        </a:rPr>
                        <a:t>نعم: د1 يغطي المتطلب.</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632"/>
                        </a:lnSpc>
                        <a:spcBef>
                          <a:spcPts val="0"/>
                        </a:spcBef>
                        <a:spcAft>
                          <a:spcPts val="0"/>
                        </a:spcAft>
                      </a:pPr>
                      <a:r>
                        <a:rPr sz="1950" b="1" i="0">
                          <a:solidFill>
                            <a:srgbClr val="24506B"/>
                          </a:solidFill>
                          <a:latin typeface="IBM Plex Sans Arabic"/>
                          <a:ea typeface="IBM Plex Sans Arabic"/>
                          <a:cs typeface="IBM Plex Sans Arabic"/>
                        </a:rPr>
                        <a:t>هل المتطلب موثق؟</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13854">
                <a:tc>
                  <a:txBody>
                    <a:bodyPr wrap="square"/>
                    <a:lstStyle/>
                    <a:p>
                      <a:pPr algn="r" rtl="1">
                        <a:lnSpc>
                          <a:spcPts val="2632"/>
                        </a:lnSpc>
                        <a:spcBef>
                          <a:spcPts val="0"/>
                        </a:spcBef>
                        <a:spcAft>
                          <a:spcPts val="0"/>
                        </a:spcAft>
                      </a:pPr>
                      <a:r>
                        <a:rPr sz="1950" b="0" i="0">
                          <a:solidFill>
                            <a:srgbClr val="172433"/>
                          </a:solidFill>
                          <a:latin typeface="IBM Plex Sans Arabic"/>
                          <a:ea typeface="IBM Plex Sans Arabic"/>
                          <a:cs typeface="IBM Plex Sans Arabic"/>
                        </a:rPr>
                        <a:t>نعم منذ 10 مارس (د3). اللقطة د2 بعد الفترة، فلا تكفي وحدها.</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632"/>
                        </a:lnSpc>
                        <a:spcBef>
                          <a:spcPts val="0"/>
                        </a:spcBef>
                        <a:spcAft>
                          <a:spcPts val="0"/>
                        </a:spcAft>
                      </a:pPr>
                      <a:r>
                        <a:rPr sz="1950" b="1" i="0">
                          <a:solidFill>
                            <a:srgbClr val="24506B"/>
                          </a:solidFill>
                          <a:latin typeface="IBM Plex Sans Arabic"/>
                          <a:ea typeface="IBM Plex Sans Arabic"/>
                          <a:cs typeface="IBM Plex Sans Arabic"/>
                        </a:rPr>
                        <a:t>هل الإعداد مطبق، ومنذ متى؟</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48122">
                <a:tc>
                  <a:txBody>
                    <a:bodyPr wrap="square"/>
                    <a:lstStyle/>
                    <a:p>
                      <a:pPr algn="r" rtl="1">
                        <a:lnSpc>
                          <a:spcPts val="2632"/>
                        </a:lnSpc>
                        <a:spcBef>
                          <a:spcPts val="0"/>
                        </a:spcBef>
                        <a:spcAft>
                          <a:spcPts val="0"/>
                        </a:spcAft>
                      </a:pPr>
                      <a:r>
                        <a:rPr sz="1950" b="0" i="0">
                          <a:solidFill>
                            <a:srgbClr val="172433"/>
                          </a:solidFill>
                          <a:latin typeface="IBM Plex Sans Arabic"/>
                          <a:ea typeface="IBM Plex Sans Arabic"/>
                          <a:cs typeface="IBM Plex Sans Arabic"/>
                        </a:rPr>
                        <a:t>لا: لا إلزام قبل 10 مارس، و3 حسابات خارج المجموعة (د4، د5).</a:t>
                      </a:r>
                    </a:p>
                  </a:txBody>
                  <a:tcPr marT="104384" marR="148590" marB="6897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632"/>
                        </a:lnSpc>
                        <a:spcBef>
                          <a:spcPts val="0"/>
                        </a:spcBef>
                        <a:spcAft>
                          <a:spcPts val="0"/>
                        </a:spcAft>
                      </a:pPr>
                      <a:r>
                        <a:rPr sz="1950" b="1" i="0">
                          <a:solidFill>
                            <a:srgbClr val="24506B"/>
                          </a:solidFill>
                          <a:latin typeface="IBM Plex Sans Arabic"/>
                          <a:ea typeface="IBM Plex Sans Arabic"/>
                          <a:cs typeface="IBM Plex Sans Arabic"/>
                        </a:rPr>
                        <a:t>هل يعمل طوال الفترة ولكل المستخدمين؟</a:t>
                      </a:r>
                    </a:p>
                  </a:txBody>
                  <a:tcPr marT="104384" marR="148590" marB="68971" marL="3078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Box 7"/>
          <p:cNvSpPr/>
          <p:nvPr/>
        </p:nvSpPr>
        <p:spPr>
          <a:xfrm>
            <a:off x="9093200" y="4142879"/>
            <a:ext cx="2286000" cy="1729581"/>
          </a:xfrm>
          <a:prstGeom prst="roundRect">
            <a:avLst>
              <a:gd name="adj" fmla="val 5874"/>
            </a:avLst>
          </a:prstGeom>
          <a:solidFill>
            <a:srgbClr val="C27A16"/>
          </a:solidFill>
          <a:ln>
            <a:noFill/>
          </a:ln>
        </p:spPr>
        <p:txBody>
          <a:bodyPr rtlCol="0" anchor="ctr"/>
          <a:lstStyle/>
          <a:p>
            <a:pPr algn="ctr"/>
          </a:p>
        </p:txBody>
      </p:sp>
      <p:sp>
        <p:nvSpPr>
          <p:cNvPr id="9" name="Text 8"/>
          <p:cNvSpPr txBox="1"/>
          <p:nvPr/>
        </p:nvSpPr>
        <p:spPr>
          <a:xfrm>
            <a:off x="9138920" y="4552458"/>
            <a:ext cx="2194560" cy="337741"/>
          </a:xfrm>
          <a:prstGeom prst="rect">
            <a:avLst/>
          </a:prstGeom>
          <a:noFill/>
        </p:spPr>
        <p:txBody>
          <a:bodyPr wrap="square" tIns="0" rIns="0" bIns="0" lIns="0" anchor="t" rtlCol="0" anchorCtr="0">
            <a:noAutofit/>
          </a:bodyPr>
          <a:lstStyle/>
          <a:p>
            <a:pPr algn="ctr" rtl="1">
              <a:lnSpc>
                <a:spcPts val="2660"/>
              </a:lnSpc>
              <a:spcBef>
                <a:spcPts val="0"/>
              </a:spcBef>
              <a:spcAft>
                <a:spcPts val="0"/>
              </a:spcAft>
            </a:pPr>
            <a:r>
              <a:rPr sz="1900" b="1" i="0">
                <a:solidFill>
                  <a:srgbClr val="F3EFE6"/>
                </a:solidFill>
                <a:latin typeface="IBM Plex Sans Arabic"/>
                <a:ea typeface="IBM Plex Sans Arabic"/>
                <a:cs typeface="IBM Plex Sans Arabic"/>
              </a:rPr>
              <a:t>النتيجة</a:t>
            </a:r>
          </a:p>
        </p:txBody>
      </p:sp>
      <p:sp>
        <p:nvSpPr>
          <p:cNvPr id="10" name="Text 9"/>
          <p:cNvSpPr txBox="1"/>
          <p:nvPr/>
        </p:nvSpPr>
        <p:spPr>
          <a:xfrm>
            <a:off x="9118600" y="4886706"/>
            <a:ext cx="2235200" cy="497780"/>
          </a:xfrm>
          <a:prstGeom prst="rect">
            <a:avLst/>
          </a:prstGeom>
          <a:noFill/>
        </p:spPr>
        <p:txBody>
          <a:bodyPr wrap="square" tIns="0" rIns="0" bIns="0" lIns="0" anchor="t" rtlCol="0" anchorCtr="0">
            <a:noAutofit/>
          </a:bodyPr>
          <a:lstStyle/>
          <a:p>
            <a:pPr algn="ctr" rtl="1">
              <a:lnSpc>
                <a:spcPts val="3920"/>
              </a:lnSpc>
              <a:spcBef>
                <a:spcPts val="0"/>
              </a:spcBef>
              <a:spcAft>
                <a:spcPts val="0"/>
              </a:spcAft>
            </a:pPr>
            <a:r>
              <a:rPr sz="2800" b="1" i="0">
                <a:solidFill>
                  <a:srgbClr val="F3EFE6"/>
                </a:solidFill>
                <a:latin typeface="Readex Pro"/>
                <a:ea typeface="Readex Pro"/>
                <a:cs typeface="Readex Pro"/>
              </a:rPr>
              <a:t>مطبق جزئياً</a:t>
            </a:r>
          </a:p>
        </p:txBody>
      </p:sp>
      <p:sp>
        <p:nvSpPr>
          <p:cNvPr id="11" name="Box 10"/>
          <p:cNvSpPr/>
          <p:nvPr/>
        </p:nvSpPr>
        <p:spPr>
          <a:xfrm>
            <a:off x="815975" y="4146054"/>
            <a:ext cx="8147050" cy="1723231"/>
          </a:xfrm>
          <a:prstGeom prst="roundRect">
            <a:avLst>
              <a:gd name="adj" fmla="val 6608"/>
            </a:avLst>
          </a:prstGeom>
          <a:solidFill>
            <a:srgbClr val="FFFDF8"/>
          </a:solidFill>
          <a:ln w="6350">
            <a:solidFill>
              <a:srgbClr val="E1DBCD"/>
            </a:solidFill>
          </a:ln>
        </p:spPr>
        <p:txBody>
          <a:bodyPr rtlCol="0" anchor="ctr"/>
          <a:lstStyle/>
          <a:p>
            <a:pPr algn="ctr"/>
          </a:p>
        </p:txBody>
      </p:sp>
      <p:sp>
        <p:nvSpPr>
          <p:cNvPr id="12" name="Text 11"/>
          <p:cNvSpPr txBox="1"/>
          <p:nvPr/>
        </p:nvSpPr>
        <p:spPr>
          <a:xfrm>
            <a:off x="838200" y="4231652"/>
            <a:ext cx="7969250" cy="718145"/>
          </a:xfrm>
          <a:prstGeom prst="rect">
            <a:avLst/>
          </a:prstGeom>
          <a:noFill/>
        </p:spPr>
        <p:txBody>
          <a:bodyPr wrap="square" tIns="0" rIns="0" bIns="0" lIns="0" anchor="t" rtlCol="0" anchorCtr="0">
            <a:noAutofit/>
          </a:bodyPr>
          <a:lstStyle/>
          <a:p>
            <a:pPr algn="r" rtl="1">
              <a:lnSpc>
                <a:spcPts val="2827"/>
              </a:lnSpc>
              <a:spcBef>
                <a:spcPts val="0"/>
              </a:spcBef>
              <a:spcAft>
                <a:spcPts val="0"/>
              </a:spcAft>
            </a:pPr>
            <a:r>
              <a:rPr sz="1950" b="0" i="0">
                <a:solidFill>
                  <a:srgbClr val="172433"/>
                </a:solidFill>
                <a:latin typeface="IBM Plex Sans Arabic"/>
                <a:ea typeface="IBM Plex Sans Arabic"/>
                <a:cs typeface="IBM Plex Sans Arabic"/>
              </a:rPr>
              <a:t>المتطلب موثق ومطبق على المجموعة الرئيسية منذ 10 مارس، لكنه لم يعمل في أول الفترة، وتوجد 3 حسابات تتصل دون عامل ثانٍ.</a:t>
            </a:r>
          </a:p>
        </p:txBody>
      </p:sp>
      <p:sp>
        <p:nvSpPr>
          <p:cNvPr id="13" name="Text 12"/>
          <p:cNvSpPr txBox="1"/>
          <p:nvPr/>
        </p:nvSpPr>
        <p:spPr>
          <a:xfrm>
            <a:off x="838200" y="5015583"/>
            <a:ext cx="7969250" cy="681236"/>
          </a:xfrm>
          <a:prstGeom prst="rect">
            <a:avLst/>
          </a:prstGeom>
          <a:noFill/>
        </p:spPr>
        <p:txBody>
          <a:bodyPr wrap="square" tIns="0" rIns="0" bIns="0" lIns="0" anchor="t" rtlCol="0" anchorCtr="0">
            <a:noAutofit/>
          </a:bodyPr>
          <a:lstStyle/>
          <a:p>
            <a:pPr algn="r" rtl="1">
              <a:lnSpc>
                <a:spcPts val="2682"/>
              </a:lnSpc>
              <a:spcBef>
                <a:spcPts val="0"/>
              </a:spcBef>
              <a:spcAft>
                <a:spcPts val="0"/>
              </a:spcAft>
            </a:pPr>
            <a:r>
              <a:rPr sz="1850" b="0" i="0">
                <a:solidFill>
                  <a:srgbClr val="4E5A66"/>
                </a:solidFill>
                <a:latin typeface="IBM Plex Sans Arabic"/>
                <a:ea typeface="IBM Plex Sans Arabic"/>
                <a:cs typeface="IBM Plex Sans Arabic"/>
              </a:rPr>
              <a:t>لا نعمم العينة: الاتصالان الضعيفان من حساب واحد. مقارنة المجتمع كاملاً (41 مقابل 38) حددت الحسابات الثلاثة بدقة.</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مراجعة صلاحيات نظام الرواتب</a:t>
            </a:r>
          </a:p>
        </p:txBody>
      </p:sp>
      <p:sp>
        <p:nvSpPr>
          <p:cNvPr id="7" name="Text 6"/>
          <p:cNvSpPr txBox="1"/>
          <p:nvPr/>
        </p:nvSpPr>
        <p:spPr>
          <a:xfrm>
            <a:off x="9493250" y="1575554"/>
            <a:ext cx="18859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المتطلب</a:t>
            </a:r>
          </a:p>
        </p:txBody>
      </p:sp>
      <p:sp>
        <p:nvSpPr>
          <p:cNvPr id="8" name="Text 7"/>
          <p:cNvSpPr txBox="1"/>
          <p:nvPr/>
        </p:nvSpPr>
        <p:spPr>
          <a:xfrm>
            <a:off x="113792" y="1575554"/>
            <a:ext cx="943660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ECC ‎2-2-3-5‎: المراجعة الدورية لهويات الدخول والصلاحيات.</a:t>
            </a:r>
          </a:p>
        </p:txBody>
      </p:sp>
      <p:sp>
        <p:nvSpPr>
          <p:cNvPr id="9" name="Text 8"/>
          <p:cNvSpPr txBox="1"/>
          <p:nvPr/>
        </p:nvSpPr>
        <p:spPr>
          <a:xfrm>
            <a:off x="9493250" y="2089904"/>
            <a:ext cx="18859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113792" y="2089904"/>
            <a:ext cx="943660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نظام الموارد البشرية والرواتب. الفترة:‏ 1 يناير إلى 30 يونيو 2026 (ربعان).</a:t>
            </a:r>
          </a:p>
        </p:txBody>
      </p:sp>
      <p:sp>
        <p:nvSpPr>
          <p:cNvPr id="11" name="Text 10"/>
          <p:cNvSpPr txBox="1"/>
          <p:nvPr/>
        </p:nvSpPr>
        <p:spPr>
          <a:xfrm>
            <a:off x="9493250" y="2604254"/>
            <a:ext cx="18859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المعيار المعتمد</a:t>
            </a:r>
          </a:p>
        </p:txBody>
      </p:sp>
      <p:sp>
        <p:nvSpPr>
          <p:cNvPr id="12" name="Text 11"/>
          <p:cNvSpPr txBox="1"/>
          <p:nvPr/>
        </p:nvSpPr>
        <p:spPr>
          <a:xfrm>
            <a:off x="550672" y="2604254"/>
            <a:ext cx="8999728"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معيار التحكم بالوصول، معتمد 15 يناير 2026: مراجعة كل 3 أشهر، واعتماد خلال 10 أيام عمل، وإزالة خلال 5 أيام عمل.</a:t>
            </a:r>
          </a:p>
        </p:txBody>
      </p:sp>
      <p:sp>
        <p:nvSpPr>
          <p:cNvPr id="13" name="Box 12"/>
          <p:cNvSpPr/>
          <p:nvPr/>
        </p:nvSpPr>
        <p:spPr>
          <a:xfrm>
            <a:off x="812800" y="3601045"/>
            <a:ext cx="10566400" cy="627360"/>
          </a:xfrm>
          <a:prstGeom prst="roundRect">
            <a:avLst>
              <a:gd name="adj" fmla="val 16194"/>
            </a:avLst>
          </a:prstGeom>
          <a:solidFill>
            <a:srgbClr val="F6ECDA"/>
          </a:solidFill>
          <a:ln>
            <a:noFill/>
          </a:ln>
        </p:spPr>
        <p:txBody>
          <a:bodyPr rtlCol="0" anchor="ctr"/>
          <a:lstStyle/>
          <a:p>
            <a:pPr algn="ctr"/>
          </a:p>
        </p:txBody>
      </p:sp>
      <p:pic>
        <p:nvPicPr>
          <p:cNvPr id="14" name="Icon Search 13" descr="icon044.png"/>
          <p:cNvPicPr>
            <a:picLocks noChangeAspect="1"/>
          </p:cNvPicPr>
          <p:nvPr/>
        </p:nvPicPr>
        <p:blipFill>
          <a:blip r:embed="rId2"/>
          <a:stretch>
            <a:fillRect/>
          </a:stretch>
        </p:blipFill>
        <p:spPr>
          <a:xfrm>
            <a:off x="10922000" y="3774976"/>
            <a:ext cx="279400" cy="279400"/>
          </a:xfrm>
          <a:prstGeom prst="rect">
            <a:avLst/>
          </a:prstGeom>
        </p:spPr>
      </p:pic>
      <p:sp>
        <p:nvSpPr>
          <p:cNvPr id="15" name="Text 14"/>
          <p:cNvSpPr txBox="1"/>
          <p:nvPr/>
        </p:nvSpPr>
        <p:spPr>
          <a:xfrm>
            <a:off x="838200" y="3686707"/>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هذا الضابط هو الذي كتبنا بنده في التطبيق 1. الآن نفحص: هل التزمت به رُفاد فعلاً؟</a:t>
            </a:r>
          </a:p>
        </p:txBody>
      </p:sp>
      <p:sp>
        <p:nvSpPr>
          <p:cNvPr id="16" name="Text 1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7" name="Text 1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الأدلة المستلمة</a:t>
            </a:r>
          </a:p>
        </p:txBody>
      </p:sp>
      <p:graphicFrame>
        <p:nvGraphicFramePr>
          <p:cNvPr id="7" name="Table 6"/>
          <p:cNvGraphicFramePr>
            <a:graphicFrameLocks noGrp="1"/>
          </p:cNvGraphicFramePr>
          <p:nvPr/>
        </p:nvGraphicFramePr>
        <p:xfrm>
          <a:off x="815975" y="1623020"/>
          <a:ext cx="10560050" cy="3414313"/>
        </p:xfrm>
        <a:graphic>
          <a:graphicData uri="http://schemas.openxmlformats.org/drawingml/2006/table">
            <a:tbl>
              <a:tblPr firstRow="0" bandRow="0" lastRow="0" firstCol="0" lastCol="0" bandCol="0">
                <a:tableStyleId>{2D5ABB26-0587-4C30-8999-92F81FD0307C}</a:tableStyleId>
              </a:tblPr>
              <a:tblGrid>
                <a:gridCol w="9609455"/>
                <a:gridCol w="950595"/>
              </a:tblGrid>
              <a:tr h="487759">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ما وصل</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الدليل</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معيار التحكم بالوصول المعتمد في 15 يناير 2026.</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د1</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ملف مراجعة الربع الأول: تصدير 29 مارس، 214 حساباً، اعتمدته مالكة النظام في 8 أبريل، و12 حساباً للإزالة.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د2</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تذاكر الإزالة:‏ 9 حسابات أزيلت حتى 12 أبريل، و3 أزيلت في 20 مايو.</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د3</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لا ملف لمراجعة الربع الثاني. بريد من تقنية المعلومات: «تأجلت بسبب ترحيل النظام إلى إصدار جديد في يونيو».</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د4</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تصدير الحسابات النشطة في 2 يوليو:‏ 221 حساباً، منها حسابان لموظفين غادروا في مايو.</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د5</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مقابلة مع مالكة النظام: «نراجع الصلاحيات عندما يطلب المدير».</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8A4B12"/>
                          </a:solidFill>
                          <a:latin typeface="IBM Plex Sans Arabic"/>
                          <a:ea typeface="IBM Plex Sans Arabic"/>
                          <a:cs typeface="IBM Plex Sans Arabic"/>
                        </a:rPr>
                        <a:t>د6</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153541"/>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انتبه للتواريخ ولمهلة كل خطوة في المعيار.</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0" y="1550249"/>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لكل دليل: ماذا يثبت؟ ثم النتيجة ومبررها، وما ستطلبه قبل الإغلاق. 20 دقيقة.</a:t>
            </a:r>
          </a:p>
        </p:txBody>
      </p:sp>
      <p:sp>
        <p:nvSpPr>
          <p:cNvPr id="8" name="Text 7"/>
          <p:cNvSpPr txBox="1"/>
          <p:nvPr/>
        </p:nvSpPr>
        <p:spPr>
          <a:xfrm>
            <a:off x="10066020" y="1952946"/>
            <a:ext cx="1313180" cy="4520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النتيجة</a:t>
            </a:r>
          </a:p>
        </p:txBody>
      </p:sp>
      <p:sp>
        <p:nvSpPr>
          <p:cNvPr id="9" name="Box 8"/>
          <p:cNvSpPr/>
          <p:nvPr/>
        </p:nvSpPr>
        <p:spPr>
          <a:xfrm>
            <a:off x="5797550" y="1986855"/>
            <a:ext cx="4254500" cy="439341"/>
          </a:xfrm>
          <a:prstGeom prst="roundRect">
            <a:avLst>
              <a:gd name="adj" fmla="val 16856"/>
            </a:avLst>
          </a:prstGeom>
          <a:solidFill>
            <a:srgbClr val="FFFFFF"/>
          </a:solidFill>
          <a:ln w="12700">
            <a:solidFill>
              <a:srgbClr val="C9C0AC"/>
            </a:solidFill>
            <a:prstDash val="dash"/>
          </a:ln>
        </p:spPr>
        <p:txBody>
          <a:bodyPr rtlCol="0" anchor="ctr"/>
          <a:lstStyle/>
          <a:p>
            <a:pPr algn="ctr"/>
          </a:p>
        </p:txBody>
      </p:sp>
      <p:sp>
        <p:nvSpPr>
          <p:cNvPr id="10" name="Text 9"/>
          <p:cNvSpPr txBox="1"/>
          <p:nvPr/>
        </p:nvSpPr>
        <p:spPr>
          <a:xfrm>
            <a:off x="5816600" y="2054546"/>
            <a:ext cx="4102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9AA5AE"/>
                </a:solidFill>
                <a:latin typeface="IBM Plex Sans Arabic"/>
                <a:ea typeface="IBM Plex Sans Arabic"/>
                <a:cs typeface="IBM Plex Sans Arabic"/>
              </a:rPr>
              <a:t>مطبق / جزئياً / غير مطبق / لا ينطبق</a:t>
            </a:r>
          </a:p>
        </p:txBody>
      </p:sp>
      <p:sp>
        <p:nvSpPr>
          <p:cNvPr id="11" name="Text 10"/>
          <p:cNvSpPr txBox="1"/>
          <p:nvPr/>
        </p:nvSpPr>
        <p:spPr>
          <a:xfrm>
            <a:off x="10066020" y="2481187"/>
            <a:ext cx="1313180" cy="952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المبرر</a:t>
            </a:r>
          </a:p>
        </p:txBody>
      </p:sp>
      <p:sp>
        <p:nvSpPr>
          <p:cNvPr id="12" name="Box 11"/>
          <p:cNvSpPr/>
          <p:nvPr/>
        </p:nvSpPr>
        <p:spPr>
          <a:xfrm>
            <a:off x="5797550" y="2515096"/>
            <a:ext cx="4254500" cy="939800"/>
          </a:xfrm>
          <a:prstGeom prst="roundRect">
            <a:avLst>
              <a:gd name="adj" fmla="val 8000"/>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5816600" y="2582787"/>
            <a:ext cx="4102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9AA5AE"/>
                </a:solidFill>
                <a:latin typeface="IBM Plex Sans Arabic"/>
                <a:ea typeface="IBM Plex Sans Arabic"/>
                <a:cs typeface="IBM Plex Sans Arabic"/>
              </a:rPr>
              <a:t>ثلاث جمل…</a:t>
            </a:r>
          </a:p>
        </p:txBody>
      </p:sp>
      <p:sp>
        <p:nvSpPr>
          <p:cNvPr id="14" name="Text 13"/>
          <p:cNvSpPr txBox="1"/>
          <p:nvPr/>
        </p:nvSpPr>
        <p:spPr>
          <a:xfrm>
            <a:off x="10066020" y="3509887"/>
            <a:ext cx="1313180" cy="698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أدلة إضافية</a:t>
            </a:r>
          </a:p>
        </p:txBody>
      </p:sp>
      <p:sp>
        <p:nvSpPr>
          <p:cNvPr id="15" name="Box 14"/>
          <p:cNvSpPr/>
          <p:nvPr/>
        </p:nvSpPr>
        <p:spPr>
          <a:xfrm>
            <a:off x="5797550" y="3543796"/>
            <a:ext cx="4254500" cy="685800"/>
          </a:xfrm>
          <a:prstGeom prst="roundRect">
            <a:avLst>
              <a:gd name="adj" fmla="val 10909"/>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5816600" y="3611487"/>
            <a:ext cx="4102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9AA5AE"/>
                </a:solidFill>
                <a:latin typeface="IBM Plex Sans Arabic"/>
                <a:ea typeface="IBM Plex Sans Arabic"/>
                <a:cs typeface="IBM Plex Sans Arabic"/>
              </a:rPr>
              <a:t>ماذا ستطلب؟</a:t>
            </a:r>
          </a:p>
        </p:txBody>
      </p:sp>
      <p:graphicFrame>
        <p:nvGraphicFramePr>
          <p:cNvPr id="17" name="Table 16"/>
          <p:cNvGraphicFramePr>
            <a:graphicFrameLocks noGrp="1"/>
          </p:cNvGraphicFramePr>
          <p:nvPr/>
        </p:nvGraphicFramePr>
        <p:xfrm>
          <a:off x="815975" y="1983680"/>
          <a:ext cx="4819650" cy="2595460"/>
        </p:xfrm>
        <a:graphic>
          <a:graphicData uri="http://schemas.openxmlformats.org/drawingml/2006/table">
            <a:tbl>
              <a:tblPr firstRow="0" bandRow="0" lastRow="0" firstCol="0" lastCol="0" bandCol="0">
                <a:tableStyleId>{2D5ABB26-0587-4C30-8999-92F81FD0307C}</a:tableStyleId>
              </a:tblPr>
              <a:tblGrid>
                <a:gridCol w="3855720"/>
                <a:gridCol w="963930"/>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ماذا يثبت؟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الدليل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د6</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ماذا يثبت كل دليل؟</a:t>
            </a:r>
          </a:p>
        </p:txBody>
      </p:sp>
      <p:graphicFrame>
        <p:nvGraphicFramePr>
          <p:cNvPr id="7" name="Table 6"/>
          <p:cNvGraphicFramePr>
            <a:graphicFrameLocks noGrp="1"/>
          </p:cNvGraphicFramePr>
          <p:nvPr/>
        </p:nvGraphicFramePr>
        <p:xfrm>
          <a:off x="815975" y="1661120"/>
          <a:ext cx="10560050" cy="3779636"/>
        </p:xfrm>
        <a:graphic>
          <a:graphicData uri="http://schemas.openxmlformats.org/drawingml/2006/table">
            <a:tbl>
              <a:tblPr firstRow="0" bandRow="0" lastRow="0" firstCol="0" lastCol="0" bandCol="0">
                <a:tableStyleId>{2D5ABB26-0587-4C30-8999-92F81FD0307C}</a:tableStyleId>
              </a:tblPr>
              <a:tblGrid>
                <a:gridCol w="9504045"/>
                <a:gridCol w="105600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ماذا يثبت</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الدليل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التوثيق: المتطلب موثق ومعتمد.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د1</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التطبيق: المراجعة نُفذت واعتُمدت في موعدها للربع الأول.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د2</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الاستمرار:‏ 3 إزالات متأخرة عن مهلة 5 أيام عمل.</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د3</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الاستمرار: الربع الثاني لم يُنفذ. السبب ادعاء لم نتحقق منه بعد.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د4</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نتيجة فعلية: صلاحيات غير مبررة بقيت نشطة.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د5</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لا تثبت شيئاً وحدها، لكنها تكشف فجوة وعي بالمعيار.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0E7C6B"/>
                          </a:solidFill>
                          <a:latin typeface="IBM Plex Sans Arabic"/>
                          <a:ea typeface="IBM Plex Sans Arabic"/>
                          <a:cs typeface="IBM Plex Sans Arabic"/>
                        </a:rPr>
                        <a:t>د6</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9" name="Text 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النتيجة ومبررها</a:t>
            </a:r>
          </a:p>
        </p:txBody>
      </p:sp>
      <p:sp>
        <p:nvSpPr>
          <p:cNvPr id="7" name="Box 6"/>
          <p:cNvSpPr/>
          <p:nvPr/>
        </p:nvSpPr>
        <p:spPr>
          <a:xfrm>
            <a:off x="9093200" y="1607145"/>
            <a:ext cx="2286000" cy="1409700"/>
          </a:xfrm>
          <a:prstGeom prst="roundRect">
            <a:avLst>
              <a:gd name="adj" fmla="val 7207"/>
            </a:avLst>
          </a:prstGeom>
          <a:solidFill>
            <a:srgbClr val="C27A16"/>
          </a:solidFill>
          <a:ln>
            <a:noFill/>
          </a:ln>
        </p:spPr>
        <p:txBody>
          <a:bodyPr rtlCol="0" anchor="ctr"/>
          <a:lstStyle/>
          <a:p>
            <a:pPr algn="ctr"/>
          </a:p>
        </p:txBody>
      </p:sp>
      <p:sp>
        <p:nvSpPr>
          <p:cNvPr id="8" name="Text 7"/>
          <p:cNvSpPr txBox="1"/>
          <p:nvPr/>
        </p:nvSpPr>
        <p:spPr>
          <a:xfrm>
            <a:off x="9138920" y="1837055"/>
            <a:ext cx="219456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F3EFE6"/>
                </a:solidFill>
                <a:latin typeface="IBM Plex Sans Arabic"/>
                <a:ea typeface="IBM Plex Sans Arabic"/>
                <a:cs typeface="IBM Plex Sans Arabic"/>
              </a:rPr>
              <a:t>النتيجة</a:t>
            </a:r>
          </a:p>
        </p:txBody>
      </p:sp>
      <p:sp>
        <p:nvSpPr>
          <p:cNvPr id="9" name="Text 8"/>
          <p:cNvSpPr txBox="1"/>
          <p:nvPr/>
        </p:nvSpPr>
        <p:spPr>
          <a:xfrm>
            <a:off x="9118600" y="2189670"/>
            <a:ext cx="2235200" cy="515541"/>
          </a:xfrm>
          <a:prstGeom prst="rect">
            <a:avLst/>
          </a:prstGeom>
          <a:noFill/>
        </p:spPr>
        <p:txBody>
          <a:bodyPr wrap="square" tIns="0" rIns="0" bIns="0" lIns="0" anchor="t" rtlCol="0" anchorCtr="0">
            <a:noAutofit/>
          </a:bodyPr>
          <a:lstStyle/>
          <a:p>
            <a:pPr algn="ctr" rtl="1">
              <a:lnSpc>
                <a:spcPts val="4060"/>
              </a:lnSpc>
              <a:spcBef>
                <a:spcPts val="0"/>
              </a:spcBef>
              <a:spcAft>
                <a:spcPts val="0"/>
              </a:spcAft>
            </a:pPr>
            <a:r>
              <a:rPr sz="2900" b="1" i="0">
                <a:solidFill>
                  <a:srgbClr val="F3EFE6"/>
                </a:solidFill>
                <a:latin typeface="Readex Pro"/>
                <a:ea typeface="Readex Pro"/>
                <a:cs typeface="Readex Pro"/>
              </a:rPr>
              <a:t>مطبق جزئياً</a:t>
            </a:r>
          </a:p>
        </p:txBody>
      </p:sp>
      <p:sp>
        <p:nvSpPr>
          <p:cNvPr id="10" name="Box 9"/>
          <p:cNvSpPr/>
          <p:nvPr/>
        </p:nvSpPr>
        <p:spPr>
          <a:xfrm>
            <a:off x="815975" y="1610320"/>
            <a:ext cx="8147050" cy="1403350"/>
          </a:xfrm>
          <a:prstGeom prst="roundRect">
            <a:avLst>
              <a:gd name="adj" fmla="val 8108"/>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1688425"/>
            <a:ext cx="796925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المتطلب موثق (د1) وطُبق في الربع الأول (د2)، لكنه لم يعمل باستمرار: الربع الثاني لم يُنفذ (د4)، و3 إزالات تأخرت (د3)، وبقيت صلاحيات غير مبررة (د5). اختيار «مطبق» يتجاهل نصف الفترة، واختيار «غير مطبق» يتجاهل ما نُفذ فعلاً.</a:t>
            </a:r>
          </a:p>
        </p:txBody>
      </p:sp>
      <p:sp>
        <p:nvSpPr>
          <p:cNvPr id="12" name="Box 11"/>
          <p:cNvSpPr/>
          <p:nvPr/>
        </p:nvSpPr>
        <p:spPr>
          <a:xfrm>
            <a:off x="815975" y="3159720"/>
            <a:ext cx="10560050" cy="2279650"/>
          </a:xfrm>
          <a:prstGeom prst="roundRect">
            <a:avLst>
              <a:gd name="adj" fmla="val 5000"/>
            </a:avLst>
          </a:prstGeom>
          <a:solidFill>
            <a:srgbClr val="FFFDF8"/>
          </a:solidFill>
          <a:ln w="6350">
            <a:solidFill>
              <a:srgbClr val="E1DBCD"/>
            </a:solidFill>
          </a:ln>
        </p:spPr>
        <p:txBody>
          <a:bodyPr rtlCol="0" anchor="ctr"/>
          <a:lstStyle/>
          <a:p>
            <a:pPr algn="ctr"/>
          </a:p>
        </p:txBody>
      </p:sp>
      <p:sp>
        <p:nvSpPr>
          <p:cNvPr id="13" name="Text 12"/>
          <p:cNvSpPr txBox="1"/>
          <p:nvPr/>
        </p:nvSpPr>
        <p:spPr>
          <a:xfrm>
            <a:off x="838200" y="3277703"/>
            <a:ext cx="1036955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أدلة إضافية قبل الإغلاق</a:t>
            </a:r>
          </a:p>
        </p:txBody>
      </p:sp>
      <p:pic>
        <p:nvPicPr>
          <p:cNvPr id="14" name="Icon Check 13" descr="icon045.png"/>
          <p:cNvPicPr>
            <a:picLocks noChangeAspect="1"/>
          </p:cNvPicPr>
          <p:nvPr/>
        </p:nvPicPr>
        <p:blipFill>
          <a:blip r:embed="rId2"/>
          <a:stretch>
            <a:fillRect/>
          </a:stretch>
        </p:blipFill>
        <p:spPr>
          <a:xfrm>
            <a:off x="10972800" y="3734395"/>
            <a:ext cx="234950" cy="234950"/>
          </a:xfrm>
          <a:prstGeom prst="rect">
            <a:avLst/>
          </a:prstGeom>
        </p:spPr>
      </p:pic>
      <p:sp>
        <p:nvSpPr>
          <p:cNvPr id="15" name="Text 14"/>
          <p:cNvSpPr txBox="1"/>
          <p:nvPr/>
        </p:nvSpPr>
        <p:spPr>
          <a:xfrm>
            <a:off x="838200" y="36950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تغيير ترحيل النظام لتأكيد التاريخ وهل منع المراجعة فعلاً.</a:t>
            </a:r>
          </a:p>
        </p:txBody>
      </p:sp>
      <p:pic>
        <p:nvPicPr>
          <p:cNvPr id="16" name="Icon Check 15" descr="icon045.png"/>
          <p:cNvPicPr>
            <a:picLocks noChangeAspect="1"/>
          </p:cNvPicPr>
          <p:nvPr/>
        </p:nvPicPr>
        <p:blipFill>
          <a:blip r:embed="rId2"/>
          <a:stretch>
            <a:fillRect/>
          </a:stretch>
        </p:blipFill>
        <p:spPr>
          <a:xfrm>
            <a:off x="10972800" y="4140795"/>
            <a:ext cx="234950" cy="234950"/>
          </a:xfrm>
          <a:prstGeom prst="rect">
            <a:avLst/>
          </a:prstGeom>
        </p:spPr>
      </p:pic>
      <p:sp>
        <p:nvSpPr>
          <p:cNvPr id="17" name="Text 16"/>
          <p:cNvSpPr txBox="1"/>
          <p:nvPr/>
        </p:nvSpPr>
        <p:spPr>
          <a:xfrm>
            <a:off x="838200" y="41014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اعتُمد استثناء بتأجيل المراجعة وموعد بديل؟</a:t>
            </a:r>
          </a:p>
        </p:txBody>
      </p:sp>
      <p:pic>
        <p:nvPicPr>
          <p:cNvPr id="18" name="Icon Check 17" descr="icon045.png"/>
          <p:cNvPicPr>
            <a:picLocks noChangeAspect="1"/>
          </p:cNvPicPr>
          <p:nvPr/>
        </p:nvPicPr>
        <p:blipFill>
          <a:blip r:embed="rId2"/>
          <a:stretch>
            <a:fillRect/>
          </a:stretch>
        </p:blipFill>
        <p:spPr>
          <a:xfrm>
            <a:off x="10972800" y="4547195"/>
            <a:ext cx="234950" cy="234950"/>
          </a:xfrm>
          <a:prstGeom prst="rect">
            <a:avLst/>
          </a:prstGeom>
        </p:spPr>
      </p:pic>
      <p:sp>
        <p:nvSpPr>
          <p:cNvPr id="19" name="Text 18"/>
          <p:cNvSpPr txBox="1"/>
          <p:nvPr/>
        </p:nvSpPr>
        <p:spPr>
          <a:xfrm>
            <a:off x="838200" y="45078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نُفذت مراجعة الربع الثاني لاحقاً في يوليو؟</a:t>
            </a:r>
          </a:p>
        </p:txBody>
      </p:sp>
      <p:pic>
        <p:nvPicPr>
          <p:cNvPr id="20" name="Icon Check 19" descr="icon045.png"/>
          <p:cNvPicPr>
            <a:picLocks noChangeAspect="1"/>
          </p:cNvPicPr>
          <p:nvPr/>
        </p:nvPicPr>
        <p:blipFill>
          <a:blip r:embed="rId2"/>
          <a:stretch>
            <a:fillRect/>
          </a:stretch>
        </p:blipFill>
        <p:spPr>
          <a:xfrm>
            <a:off x="10972800" y="4953595"/>
            <a:ext cx="234950" cy="234950"/>
          </a:xfrm>
          <a:prstGeom prst="rect">
            <a:avLst/>
          </a:prstGeom>
        </p:spPr>
      </p:pic>
      <p:sp>
        <p:nvSpPr>
          <p:cNvPr id="21" name="Text 20"/>
          <p:cNvSpPr txBox="1"/>
          <p:nvPr/>
        </p:nvSpPr>
        <p:spPr>
          <a:xfrm>
            <a:off x="838200" y="49142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سبب تأخر الإزالات الثلاث من تذاكرها.</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3: أخطاء شائعة</a:t>
            </a:r>
          </a:p>
        </p:txBody>
      </p:sp>
      <p:sp>
        <p:nvSpPr>
          <p:cNvPr id="7" name="Box 6"/>
          <p:cNvSpPr/>
          <p:nvPr/>
        </p:nvSpPr>
        <p:spPr>
          <a:xfrm>
            <a:off x="6188075" y="1661120"/>
            <a:ext cx="5187950" cy="3754338"/>
          </a:xfrm>
          <a:prstGeom prst="roundRect">
            <a:avLst>
              <a:gd name="adj" fmla="val 3039"/>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القاعدة التي تمنعها</a:t>
            </a:r>
          </a:p>
        </p:txBody>
      </p:sp>
      <p:pic>
        <p:nvPicPr>
          <p:cNvPr id="9" name="Icon CheckCircle 8" descr="icon026.png"/>
          <p:cNvPicPr>
            <a:picLocks noChangeAspect="1"/>
          </p:cNvPicPr>
          <p:nvPr/>
        </p:nvPicPr>
        <p:blipFill>
          <a:blip r:embed="rId2"/>
          <a:stretch>
            <a:fillRect/>
          </a:stretch>
        </p:blipFill>
        <p:spPr>
          <a:xfrm>
            <a:off x="10928350" y="2327870"/>
            <a:ext cx="241300" cy="241300"/>
          </a:xfrm>
          <a:prstGeom prst="rect">
            <a:avLst/>
          </a:prstGeom>
        </p:spPr>
      </p:pic>
      <p:sp>
        <p:nvSpPr>
          <p:cNvPr id="10" name="Text 9"/>
          <p:cNvSpPr txBox="1"/>
          <p:nvPr/>
        </p:nvSpPr>
        <p:spPr>
          <a:xfrm>
            <a:off x="6261862" y="2287516"/>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ابحث عن دليل لكل مستوى: موثق، ومطبق، ويعمل.</a:t>
            </a:r>
          </a:p>
        </p:txBody>
      </p:sp>
      <p:pic>
        <p:nvPicPr>
          <p:cNvPr id="11" name="Icon CheckCircle 10" descr="icon026.png"/>
          <p:cNvPicPr>
            <a:picLocks noChangeAspect="1"/>
          </p:cNvPicPr>
          <p:nvPr/>
        </p:nvPicPr>
        <p:blipFill>
          <a:blip r:embed="rId2"/>
          <a:stretch>
            <a:fillRect/>
          </a:stretch>
        </p:blipFill>
        <p:spPr>
          <a:xfrm>
            <a:off x="10928350" y="3145631"/>
            <a:ext cx="241300" cy="241300"/>
          </a:xfrm>
          <a:prstGeom prst="rect">
            <a:avLst/>
          </a:prstGeom>
        </p:spPr>
      </p:pic>
      <p:sp>
        <p:nvSpPr>
          <p:cNvPr id="12" name="Text 11"/>
          <p:cNvSpPr txBox="1"/>
          <p:nvPr/>
        </p:nvSpPr>
        <p:spPr>
          <a:xfrm>
            <a:off x="6210300" y="310527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النتيجة تعكس الفترة كاملة.</a:t>
            </a:r>
          </a:p>
        </p:txBody>
      </p:sp>
      <p:pic>
        <p:nvPicPr>
          <p:cNvPr id="13" name="Icon CheckCircle 12" descr="icon026.png"/>
          <p:cNvPicPr>
            <a:picLocks noChangeAspect="1"/>
          </p:cNvPicPr>
          <p:nvPr/>
        </p:nvPicPr>
        <p:blipFill>
          <a:blip r:embed="rId2"/>
          <a:stretch>
            <a:fillRect/>
          </a:stretch>
        </p:blipFill>
        <p:spPr>
          <a:xfrm>
            <a:off x="10928350" y="3598962"/>
            <a:ext cx="241300" cy="241300"/>
          </a:xfrm>
          <a:prstGeom prst="rect">
            <a:avLst/>
          </a:prstGeom>
        </p:spPr>
      </p:pic>
      <p:sp>
        <p:nvSpPr>
          <p:cNvPr id="14" name="Text 13"/>
          <p:cNvSpPr txBox="1"/>
          <p:nvPr/>
        </p:nvSpPr>
        <p:spPr>
          <a:xfrm>
            <a:off x="6210300" y="355860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المقابلة تفتح سؤالاً ولا تغلقه.</a:t>
            </a:r>
          </a:p>
        </p:txBody>
      </p:sp>
      <p:pic>
        <p:nvPicPr>
          <p:cNvPr id="15" name="Icon CheckCircle 14" descr="icon026.png"/>
          <p:cNvPicPr>
            <a:picLocks noChangeAspect="1"/>
          </p:cNvPicPr>
          <p:nvPr/>
        </p:nvPicPr>
        <p:blipFill>
          <a:blip r:embed="rId2"/>
          <a:stretch>
            <a:fillRect/>
          </a:stretch>
        </p:blipFill>
        <p:spPr>
          <a:xfrm>
            <a:off x="10928350" y="4052292"/>
            <a:ext cx="241300" cy="241300"/>
          </a:xfrm>
          <a:prstGeom prst="rect">
            <a:avLst/>
          </a:prstGeom>
        </p:spPr>
      </p:pic>
      <p:sp>
        <p:nvSpPr>
          <p:cNvPr id="16" name="Text 15"/>
          <p:cNvSpPr txBox="1"/>
          <p:nvPr/>
        </p:nvSpPr>
        <p:spPr>
          <a:xfrm>
            <a:off x="6210300" y="4011938"/>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التعميم يحتاج مبرراً.</a:t>
            </a:r>
          </a:p>
        </p:txBody>
      </p:sp>
      <p:pic>
        <p:nvPicPr>
          <p:cNvPr id="17" name="Icon CheckCircle 16" descr="icon026.png"/>
          <p:cNvPicPr>
            <a:picLocks noChangeAspect="1"/>
          </p:cNvPicPr>
          <p:nvPr/>
        </p:nvPicPr>
        <p:blipFill>
          <a:blip r:embed="rId2"/>
          <a:stretch>
            <a:fillRect/>
          </a:stretch>
        </p:blipFill>
        <p:spPr>
          <a:xfrm>
            <a:off x="10928350" y="4505623"/>
            <a:ext cx="241300" cy="241300"/>
          </a:xfrm>
          <a:prstGeom prst="rect">
            <a:avLst/>
          </a:prstGeom>
        </p:spPr>
      </p:pic>
      <p:sp>
        <p:nvSpPr>
          <p:cNvPr id="18" name="Text 17"/>
          <p:cNvSpPr txBox="1"/>
          <p:nvPr/>
        </p:nvSpPr>
        <p:spPr>
          <a:xfrm>
            <a:off x="6210300" y="4465268"/>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السبب يُتحقق منه بدليل.</a:t>
            </a:r>
          </a:p>
        </p:txBody>
      </p:sp>
      <p:sp>
        <p:nvSpPr>
          <p:cNvPr id="19" name="Box 18"/>
          <p:cNvSpPr/>
          <p:nvPr/>
        </p:nvSpPr>
        <p:spPr>
          <a:xfrm>
            <a:off x="815975" y="1661120"/>
            <a:ext cx="5187950" cy="3754338"/>
          </a:xfrm>
          <a:prstGeom prst="roundRect">
            <a:avLst>
              <a:gd name="adj" fmla="val 3039"/>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B4412C"/>
                </a:solidFill>
                <a:latin typeface="Readex Pro"/>
                <a:ea typeface="Readex Pro"/>
                <a:cs typeface="Readex Pro"/>
              </a:rPr>
              <a:t>أخطاء شائعة</a:t>
            </a:r>
          </a:p>
        </p:txBody>
      </p:sp>
      <p:pic>
        <p:nvPicPr>
          <p:cNvPr id="21" name="Icon Warning 20" descr="icon027.png"/>
          <p:cNvPicPr>
            <a:picLocks noChangeAspect="1"/>
          </p:cNvPicPr>
          <p:nvPr/>
        </p:nvPicPr>
        <p:blipFill>
          <a:blip r:embed="rId3"/>
          <a:stretch>
            <a:fillRect/>
          </a:stretch>
        </p:blipFill>
        <p:spPr>
          <a:xfrm>
            <a:off x="5556250" y="2327870"/>
            <a:ext cx="241300" cy="241300"/>
          </a:xfrm>
          <a:prstGeom prst="rect">
            <a:avLst/>
          </a:prstGeom>
        </p:spPr>
      </p:pic>
      <p:sp>
        <p:nvSpPr>
          <p:cNvPr id="22" name="Text 21"/>
          <p:cNvSpPr txBox="1"/>
          <p:nvPr/>
        </p:nvSpPr>
        <p:spPr>
          <a:xfrm>
            <a:off x="889762" y="2287516"/>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«مطبق» لأن المعيار موجود: الوثيقة لا تثبت التشغيل.</a:t>
            </a:r>
          </a:p>
        </p:txBody>
      </p:sp>
      <p:pic>
        <p:nvPicPr>
          <p:cNvPr id="23" name="Icon Warning 22" descr="icon027.png"/>
          <p:cNvPicPr>
            <a:picLocks noChangeAspect="1"/>
          </p:cNvPicPr>
          <p:nvPr/>
        </p:nvPicPr>
        <p:blipFill>
          <a:blip r:embed="rId3"/>
          <a:stretch>
            <a:fillRect/>
          </a:stretch>
        </p:blipFill>
        <p:spPr>
          <a:xfrm>
            <a:off x="5556250" y="3145631"/>
            <a:ext cx="241300" cy="241300"/>
          </a:xfrm>
          <a:prstGeom prst="rect">
            <a:avLst/>
          </a:prstGeom>
        </p:spPr>
      </p:pic>
      <p:sp>
        <p:nvSpPr>
          <p:cNvPr id="24" name="Text 23"/>
          <p:cNvSpPr txBox="1"/>
          <p:nvPr/>
        </p:nvSpPr>
        <p:spPr>
          <a:xfrm>
            <a:off x="838200" y="310527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«غير مطبق» مع تجاهل الربع الأول.</a:t>
            </a:r>
          </a:p>
        </p:txBody>
      </p:sp>
      <p:pic>
        <p:nvPicPr>
          <p:cNvPr id="25" name="Icon Warning 24" descr="icon027.png"/>
          <p:cNvPicPr>
            <a:picLocks noChangeAspect="1"/>
          </p:cNvPicPr>
          <p:nvPr/>
        </p:nvPicPr>
        <p:blipFill>
          <a:blip r:embed="rId3"/>
          <a:stretch>
            <a:fillRect/>
          </a:stretch>
        </p:blipFill>
        <p:spPr>
          <a:xfrm>
            <a:off x="5556250" y="3598962"/>
            <a:ext cx="241300" cy="241300"/>
          </a:xfrm>
          <a:prstGeom prst="rect">
            <a:avLst/>
          </a:prstGeom>
        </p:spPr>
      </p:pic>
      <p:sp>
        <p:nvSpPr>
          <p:cNvPr id="26" name="Text 25"/>
          <p:cNvSpPr txBox="1"/>
          <p:nvPr/>
        </p:nvSpPr>
        <p:spPr>
          <a:xfrm>
            <a:off x="838200" y="355860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الاعتماد على المقابلة وحدها دليلاً.</a:t>
            </a:r>
          </a:p>
        </p:txBody>
      </p:sp>
      <p:pic>
        <p:nvPicPr>
          <p:cNvPr id="27" name="Icon Warning 26" descr="icon027.png"/>
          <p:cNvPicPr>
            <a:picLocks noChangeAspect="1"/>
          </p:cNvPicPr>
          <p:nvPr/>
        </p:nvPicPr>
        <p:blipFill>
          <a:blip r:embed="rId3"/>
          <a:stretch>
            <a:fillRect/>
          </a:stretch>
        </p:blipFill>
        <p:spPr>
          <a:xfrm>
            <a:off x="5556250" y="4052292"/>
            <a:ext cx="241300" cy="241300"/>
          </a:xfrm>
          <a:prstGeom prst="rect">
            <a:avLst/>
          </a:prstGeom>
        </p:spPr>
      </p:pic>
      <p:sp>
        <p:nvSpPr>
          <p:cNvPr id="28" name="Text 27"/>
          <p:cNvSpPr txBox="1"/>
          <p:nvPr/>
        </p:nvSpPr>
        <p:spPr>
          <a:xfrm>
            <a:off x="889762" y="4011938"/>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تعميم: «كل الإزالات متأخرة» من 3 حالات من 12.</a:t>
            </a:r>
          </a:p>
        </p:txBody>
      </p:sp>
      <p:pic>
        <p:nvPicPr>
          <p:cNvPr id="29" name="Icon Warning 28" descr="icon027.png"/>
          <p:cNvPicPr>
            <a:picLocks noChangeAspect="1"/>
          </p:cNvPicPr>
          <p:nvPr/>
        </p:nvPicPr>
        <p:blipFill>
          <a:blip r:embed="rId3"/>
          <a:stretch>
            <a:fillRect/>
          </a:stretch>
        </p:blipFill>
        <p:spPr>
          <a:xfrm>
            <a:off x="5556250" y="4870053"/>
            <a:ext cx="241300" cy="241300"/>
          </a:xfrm>
          <a:prstGeom prst="rect">
            <a:avLst/>
          </a:prstGeom>
        </p:spPr>
      </p:pic>
      <p:sp>
        <p:nvSpPr>
          <p:cNvPr id="30" name="Text 29"/>
          <p:cNvSpPr txBox="1"/>
          <p:nvPr/>
        </p:nvSpPr>
        <p:spPr>
          <a:xfrm>
            <a:off x="838200" y="4829699"/>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اعتبار سبب البريد مؤكداً دون تحقق.</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الملاحظة: خمسة عناصر</a:t>
            </a:r>
          </a:p>
        </p:txBody>
      </p:sp>
      <p:sp>
        <p:nvSpPr>
          <p:cNvPr id="5" name="Box 4"/>
          <p:cNvSpPr/>
          <p:nvPr/>
        </p:nvSpPr>
        <p:spPr>
          <a:xfrm>
            <a:off x="9337080" y="1657945"/>
            <a:ext cx="2042120" cy="1948656"/>
          </a:xfrm>
          <a:prstGeom prst="roundRect">
            <a:avLst>
              <a:gd name="adj" fmla="val 5865"/>
            </a:avLst>
          </a:prstGeom>
          <a:solidFill>
            <a:srgbClr val="FFFDF8"/>
          </a:solidFill>
          <a:ln>
            <a:noFill/>
          </a:ln>
        </p:spPr>
        <p:txBody>
          <a:bodyPr rtlCol="0" anchor="ctr"/>
          <a:lstStyle/>
          <a:p>
            <a:pPr algn="ctr"/>
          </a:p>
        </p:txBody>
      </p:sp>
      <p:sp>
        <p:nvSpPr>
          <p:cNvPr id="6" name="Rule 5"/>
          <p:cNvSpPr/>
          <p:nvPr/>
        </p:nvSpPr>
        <p:spPr>
          <a:xfrm>
            <a:off x="9337080" y="1657945"/>
            <a:ext cx="2042120"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1948656"/>
          </a:xfrm>
          <a:prstGeom prst="rect">
            <a:avLst/>
          </a:prstGeom>
          <a:solidFill>
            <a:srgbClr val="E1DBCD"/>
          </a:solidFill>
          <a:ln>
            <a:noFill/>
          </a:ln>
        </p:spPr>
        <p:txBody>
          <a:bodyPr rtlCol="0" anchor="ctr"/>
          <a:lstStyle/>
          <a:p>
            <a:pPr algn="ctr"/>
          </a:p>
        </p:txBody>
      </p:sp>
      <p:sp>
        <p:nvSpPr>
          <p:cNvPr id="8" name="Rule 7"/>
          <p:cNvSpPr/>
          <p:nvPr/>
        </p:nvSpPr>
        <p:spPr>
          <a:xfrm>
            <a:off x="9337080" y="3600252"/>
            <a:ext cx="2042120" cy="6350"/>
          </a:xfrm>
          <a:prstGeom prst="rect">
            <a:avLst/>
          </a:prstGeom>
          <a:solidFill>
            <a:srgbClr val="E1DBCD"/>
          </a:solidFill>
          <a:ln>
            <a:noFill/>
          </a:ln>
        </p:spPr>
        <p:txBody>
          <a:bodyPr rtlCol="0" anchor="ctr"/>
          <a:lstStyle/>
          <a:p>
            <a:pPr algn="ctr"/>
          </a:p>
        </p:txBody>
      </p:sp>
      <p:sp>
        <p:nvSpPr>
          <p:cNvPr id="9" name="Rule 8"/>
          <p:cNvSpPr/>
          <p:nvPr/>
        </p:nvSpPr>
        <p:spPr>
          <a:xfrm>
            <a:off x="9337080" y="1657945"/>
            <a:ext cx="6350" cy="1948656"/>
          </a:xfrm>
          <a:prstGeom prst="rect">
            <a:avLst/>
          </a:prstGeom>
          <a:solidFill>
            <a:srgbClr val="E1DBCD"/>
          </a:solidFill>
          <a:ln>
            <a:noFill/>
          </a:ln>
        </p:spPr>
        <p:txBody>
          <a:bodyPr rtlCol="0" anchor="ctr"/>
          <a:lstStyle/>
          <a:p>
            <a:pPr algn="ctr"/>
          </a:p>
        </p:txBody>
      </p:sp>
      <p:sp>
        <p:nvSpPr>
          <p:cNvPr id="10" name="Text 9"/>
          <p:cNvSpPr txBox="1"/>
          <p:nvPr/>
        </p:nvSpPr>
        <p:spPr>
          <a:xfrm>
            <a:off x="9403755" y="1835745"/>
            <a:ext cx="1829395" cy="793750"/>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الوضع القائم</a:t>
            </a:r>
          </a:p>
        </p:txBody>
      </p:sp>
      <p:sp>
        <p:nvSpPr>
          <p:cNvPr id="11" name="Text 10"/>
          <p:cNvSpPr txBox="1"/>
          <p:nvPr/>
        </p:nvSpPr>
        <p:spPr>
          <a:xfrm>
            <a:off x="9418042" y="2658832"/>
            <a:ext cx="1815108"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ما وجدته، بأرقام وتواريخ.</a:t>
            </a:r>
          </a:p>
        </p:txBody>
      </p:sp>
      <p:sp>
        <p:nvSpPr>
          <p:cNvPr id="12" name="Box 11"/>
          <p:cNvSpPr/>
          <p:nvPr/>
        </p:nvSpPr>
        <p:spPr>
          <a:xfrm>
            <a:off x="7206059" y="1657945"/>
            <a:ext cx="2042120" cy="1948656"/>
          </a:xfrm>
          <a:prstGeom prst="roundRect">
            <a:avLst>
              <a:gd name="adj" fmla="val 5865"/>
            </a:avLst>
          </a:prstGeom>
          <a:solidFill>
            <a:srgbClr val="FFFDF8"/>
          </a:solidFill>
          <a:ln>
            <a:noFill/>
          </a:ln>
        </p:spPr>
        <p:txBody>
          <a:bodyPr rtlCol="0" anchor="ctr"/>
          <a:lstStyle/>
          <a:p>
            <a:pPr algn="ctr"/>
          </a:p>
        </p:txBody>
      </p:sp>
      <p:sp>
        <p:nvSpPr>
          <p:cNvPr id="13" name="Rule 12"/>
          <p:cNvSpPr/>
          <p:nvPr/>
        </p:nvSpPr>
        <p:spPr>
          <a:xfrm>
            <a:off x="7206059" y="1657945"/>
            <a:ext cx="2042120" cy="50800"/>
          </a:xfrm>
          <a:prstGeom prst="rect">
            <a:avLst/>
          </a:prstGeom>
          <a:solidFill>
            <a:srgbClr val="24506B"/>
          </a:solidFill>
          <a:ln>
            <a:noFill/>
          </a:ln>
        </p:spPr>
        <p:txBody>
          <a:bodyPr rtlCol="0" anchor="ctr"/>
          <a:lstStyle/>
          <a:p>
            <a:pPr algn="ctr"/>
          </a:p>
        </p:txBody>
      </p:sp>
      <p:sp>
        <p:nvSpPr>
          <p:cNvPr id="14" name="Rule 13"/>
          <p:cNvSpPr/>
          <p:nvPr/>
        </p:nvSpPr>
        <p:spPr>
          <a:xfrm>
            <a:off x="9241830" y="1657945"/>
            <a:ext cx="6350" cy="1948656"/>
          </a:xfrm>
          <a:prstGeom prst="rect">
            <a:avLst/>
          </a:prstGeom>
          <a:solidFill>
            <a:srgbClr val="E1DBCD"/>
          </a:solidFill>
          <a:ln>
            <a:noFill/>
          </a:ln>
        </p:spPr>
        <p:txBody>
          <a:bodyPr rtlCol="0" anchor="ctr"/>
          <a:lstStyle/>
          <a:p>
            <a:pPr algn="ctr"/>
          </a:p>
        </p:txBody>
      </p:sp>
      <p:sp>
        <p:nvSpPr>
          <p:cNvPr id="15" name="Rule 14"/>
          <p:cNvSpPr/>
          <p:nvPr/>
        </p:nvSpPr>
        <p:spPr>
          <a:xfrm>
            <a:off x="7206059" y="3600252"/>
            <a:ext cx="2042120" cy="6350"/>
          </a:xfrm>
          <a:prstGeom prst="rect">
            <a:avLst/>
          </a:prstGeom>
          <a:solidFill>
            <a:srgbClr val="E1DBCD"/>
          </a:solidFill>
          <a:ln>
            <a:noFill/>
          </a:ln>
        </p:spPr>
        <p:txBody>
          <a:bodyPr rtlCol="0" anchor="ctr"/>
          <a:lstStyle/>
          <a:p>
            <a:pPr algn="ctr"/>
          </a:p>
        </p:txBody>
      </p:sp>
      <p:sp>
        <p:nvSpPr>
          <p:cNvPr id="16" name="Rule 15"/>
          <p:cNvSpPr/>
          <p:nvPr/>
        </p:nvSpPr>
        <p:spPr>
          <a:xfrm>
            <a:off x="7206059" y="1657945"/>
            <a:ext cx="6350" cy="1948656"/>
          </a:xfrm>
          <a:prstGeom prst="rect">
            <a:avLst/>
          </a:prstGeom>
          <a:solidFill>
            <a:srgbClr val="E1DBCD"/>
          </a:solidFill>
          <a:ln>
            <a:noFill/>
          </a:ln>
        </p:spPr>
        <p:txBody>
          <a:bodyPr rtlCol="0" anchor="ctr"/>
          <a:lstStyle/>
          <a:p>
            <a:pPr algn="ctr"/>
          </a:p>
        </p:txBody>
      </p:sp>
      <p:sp>
        <p:nvSpPr>
          <p:cNvPr id="17" name="Text 16"/>
          <p:cNvSpPr txBox="1"/>
          <p:nvPr/>
        </p:nvSpPr>
        <p:spPr>
          <a:xfrm>
            <a:off x="7231459" y="1835745"/>
            <a:ext cx="187067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24506B"/>
                </a:solidFill>
                <a:latin typeface="Readex Pro"/>
                <a:ea typeface="Readex Pro"/>
                <a:cs typeface="Readex Pro"/>
              </a:rPr>
              <a:t>المعيار</a:t>
            </a:r>
          </a:p>
        </p:txBody>
      </p:sp>
      <p:sp>
        <p:nvSpPr>
          <p:cNvPr id="18" name="Text 17"/>
          <p:cNvSpPr txBox="1"/>
          <p:nvPr/>
        </p:nvSpPr>
        <p:spPr>
          <a:xfrm>
            <a:off x="7287022" y="2261957"/>
            <a:ext cx="1815108"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المتطلب أو البند الذي يُقاس عليه.</a:t>
            </a:r>
          </a:p>
        </p:txBody>
      </p:sp>
      <p:sp>
        <p:nvSpPr>
          <p:cNvPr id="19" name="Box 18"/>
          <p:cNvSpPr/>
          <p:nvPr/>
        </p:nvSpPr>
        <p:spPr>
          <a:xfrm>
            <a:off x="5075039" y="1657945"/>
            <a:ext cx="2042120" cy="1948656"/>
          </a:xfrm>
          <a:prstGeom prst="roundRect">
            <a:avLst>
              <a:gd name="adj" fmla="val 5865"/>
            </a:avLst>
          </a:prstGeom>
          <a:solidFill>
            <a:srgbClr val="FFFDF8"/>
          </a:solidFill>
          <a:ln>
            <a:noFill/>
          </a:ln>
        </p:spPr>
        <p:txBody>
          <a:bodyPr rtlCol="0" anchor="ctr"/>
          <a:lstStyle/>
          <a:p>
            <a:pPr algn="ctr"/>
          </a:p>
        </p:txBody>
      </p:sp>
      <p:sp>
        <p:nvSpPr>
          <p:cNvPr id="20" name="Rule 19"/>
          <p:cNvSpPr/>
          <p:nvPr/>
        </p:nvSpPr>
        <p:spPr>
          <a:xfrm>
            <a:off x="5075039" y="1657945"/>
            <a:ext cx="2042120" cy="50800"/>
          </a:xfrm>
          <a:prstGeom prst="rect">
            <a:avLst/>
          </a:prstGeom>
          <a:solidFill>
            <a:srgbClr val="8A4B12"/>
          </a:solidFill>
          <a:ln>
            <a:noFill/>
          </a:ln>
        </p:spPr>
        <p:txBody>
          <a:bodyPr rtlCol="0" anchor="ctr"/>
          <a:lstStyle/>
          <a:p>
            <a:pPr algn="ctr"/>
          </a:p>
        </p:txBody>
      </p:sp>
      <p:sp>
        <p:nvSpPr>
          <p:cNvPr id="21" name="Rule 20"/>
          <p:cNvSpPr/>
          <p:nvPr/>
        </p:nvSpPr>
        <p:spPr>
          <a:xfrm>
            <a:off x="7110809" y="1657945"/>
            <a:ext cx="6350" cy="1948656"/>
          </a:xfrm>
          <a:prstGeom prst="rect">
            <a:avLst/>
          </a:prstGeom>
          <a:solidFill>
            <a:srgbClr val="E1DBCD"/>
          </a:solidFill>
          <a:ln>
            <a:noFill/>
          </a:ln>
        </p:spPr>
        <p:txBody>
          <a:bodyPr rtlCol="0" anchor="ctr"/>
          <a:lstStyle/>
          <a:p>
            <a:pPr algn="ctr"/>
          </a:p>
        </p:txBody>
      </p:sp>
      <p:sp>
        <p:nvSpPr>
          <p:cNvPr id="22" name="Rule 21"/>
          <p:cNvSpPr/>
          <p:nvPr/>
        </p:nvSpPr>
        <p:spPr>
          <a:xfrm>
            <a:off x="5075039" y="3600252"/>
            <a:ext cx="2042120" cy="6350"/>
          </a:xfrm>
          <a:prstGeom prst="rect">
            <a:avLst/>
          </a:prstGeom>
          <a:solidFill>
            <a:srgbClr val="E1DBCD"/>
          </a:solidFill>
          <a:ln>
            <a:noFill/>
          </a:ln>
        </p:spPr>
        <p:txBody>
          <a:bodyPr rtlCol="0" anchor="ctr"/>
          <a:lstStyle/>
          <a:p>
            <a:pPr algn="ctr"/>
          </a:p>
        </p:txBody>
      </p:sp>
      <p:sp>
        <p:nvSpPr>
          <p:cNvPr id="23" name="Rule 22"/>
          <p:cNvSpPr/>
          <p:nvPr/>
        </p:nvSpPr>
        <p:spPr>
          <a:xfrm>
            <a:off x="5075039" y="1657945"/>
            <a:ext cx="6350" cy="1948656"/>
          </a:xfrm>
          <a:prstGeom prst="rect">
            <a:avLst/>
          </a:prstGeom>
          <a:solidFill>
            <a:srgbClr val="E1DBCD"/>
          </a:solidFill>
          <a:ln>
            <a:noFill/>
          </a:ln>
        </p:spPr>
        <p:txBody>
          <a:bodyPr rtlCol="0" anchor="ctr"/>
          <a:lstStyle/>
          <a:p>
            <a:pPr algn="ctr"/>
          </a:p>
        </p:txBody>
      </p:sp>
      <p:sp>
        <p:nvSpPr>
          <p:cNvPr id="24" name="Text 23"/>
          <p:cNvSpPr txBox="1"/>
          <p:nvPr/>
        </p:nvSpPr>
        <p:spPr>
          <a:xfrm>
            <a:off x="5100439" y="1835745"/>
            <a:ext cx="187067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السبب</a:t>
            </a:r>
          </a:p>
        </p:txBody>
      </p:sp>
      <p:sp>
        <p:nvSpPr>
          <p:cNvPr id="25" name="Text 24"/>
          <p:cNvSpPr txBox="1"/>
          <p:nvPr/>
        </p:nvSpPr>
        <p:spPr>
          <a:xfrm>
            <a:off x="5156002" y="2261957"/>
            <a:ext cx="1815108"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لماذا حدث، بعد التحقق.</a:t>
            </a:r>
          </a:p>
        </p:txBody>
      </p:sp>
      <p:sp>
        <p:nvSpPr>
          <p:cNvPr id="26" name="Box 25"/>
          <p:cNvSpPr/>
          <p:nvPr/>
        </p:nvSpPr>
        <p:spPr>
          <a:xfrm>
            <a:off x="2944019" y="1657945"/>
            <a:ext cx="2042120" cy="1948656"/>
          </a:xfrm>
          <a:prstGeom prst="roundRect">
            <a:avLst>
              <a:gd name="adj" fmla="val 5865"/>
            </a:avLst>
          </a:prstGeom>
          <a:solidFill>
            <a:srgbClr val="FFFDF8"/>
          </a:solidFill>
          <a:ln>
            <a:noFill/>
          </a:ln>
        </p:spPr>
        <p:txBody>
          <a:bodyPr rtlCol="0" anchor="ctr"/>
          <a:lstStyle/>
          <a:p>
            <a:pPr algn="ctr"/>
          </a:p>
        </p:txBody>
      </p:sp>
      <p:sp>
        <p:nvSpPr>
          <p:cNvPr id="27" name="Rule 26"/>
          <p:cNvSpPr/>
          <p:nvPr/>
        </p:nvSpPr>
        <p:spPr>
          <a:xfrm>
            <a:off x="2944019" y="1657945"/>
            <a:ext cx="2042120" cy="50800"/>
          </a:xfrm>
          <a:prstGeom prst="rect">
            <a:avLst/>
          </a:prstGeom>
          <a:solidFill>
            <a:srgbClr val="B4412C"/>
          </a:solidFill>
          <a:ln>
            <a:noFill/>
          </a:ln>
        </p:spPr>
        <p:txBody>
          <a:bodyPr rtlCol="0" anchor="ctr"/>
          <a:lstStyle/>
          <a:p>
            <a:pPr algn="ctr"/>
          </a:p>
        </p:txBody>
      </p:sp>
      <p:sp>
        <p:nvSpPr>
          <p:cNvPr id="28" name="Rule 27"/>
          <p:cNvSpPr/>
          <p:nvPr/>
        </p:nvSpPr>
        <p:spPr>
          <a:xfrm>
            <a:off x="4979789" y="1657945"/>
            <a:ext cx="6350" cy="1948656"/>
          </a:xfrm>
          <a:prstGeom prst="rect">
            <a:avLst/>
          </a:prstGeom>
          <a:solidFill>
            <a:srgbClr val="E1DBCD"/>
          </a:solidFill>
          <a:ln>
            <a:noFill/>
          </a:ln>
        </p:spPr>
        <p:txBody>
          <a:bodyPr rtlCol="0" anchor="ctr"/>
          <a:lstStyle/>
          <a:p>
            <a:pPr algn="ctr"/>
          </a:p>
        </p:txBody>
      </p:sp>
      <p:sp>
        <p:nvSpPr>
          <p:cNvPr id="29" name="Rule 28"/>
          <p:cNvSpPr/>
          <p:nvPr/>
        </p:nvSpPr>
        <p:spPr>
          <a:xfrm>
            <a:off x="2944019" y="3600252"/>
            <a:ext cx="2042120" cy="6350"/>
          </a:xfrm>
          <a:prstGeom prst="rect">
            <a:avLst/>
          </a:prstGeom>
          <a:solidFill>
            <a:srgbClr val="E1DBCD"/>
          </a:solidFill>
          <a:ln>
            <a:noFill/>
          </a:ln>
        </p:spPr>
        <p:txBody>
          <a:bodyPr rtlCol="0" anchor="ctr"/>
          <a:lstStyle/>
          <a:p>
            <a:pPr algn="ctr"/>
          </a:p>
        </p:txBody>
      </p:sp>
      <p:sp>
        <p:nvSpPr>
          <p:cNvPr id="30" name="Rule 29"/>
          <p:cNvSpPr/>
          <p:nvPr/>
        </p:nvSpPr>
        <p:spPr>
          <a:xfrm>
            <a:off x="2944019" y="1657945"/>
            <a:ext cx="6350" cy="1948656"/>
          </a:xfrm>
          <a:prstGeom prst="rect">
            <a:avLst/>
          </a:prstGeom>
          <a:solidFill>
            <a:srgbClr val="E1DBCD"/>
          </a:solidFill>
          <a:ln>
            <a:noFill/>
          </a:ln>
        </p:spPr>
        <p:txBody>
          <a:bodyPr rtlCol="0" anchor="ctr"/>
          <a:lstStyle/>
          <a:p>
            <a:pPr algn="ctr"/>
          </a:p>
        </p:txBody>
      </p:sp>
      <p:sp>
        <p:nvSpPr>
          <p:cNvPr id="31" name="Text 30"/>
          <p:cNvSpPr txBox="1"/>
          <p:nvPr/>
        </p:nvSpPr>
        <p:spPr>
          <a:xfrm>
            <a:off x="2969419" y="1835745"/>
            <a:ext cx="187067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B4412C"/>
                </a:solidFill>
                <a:latin typeface="Readex Pro"/>
                <a:ea typeface="Readex Pro"/>
                <a:cs typeface="Readex Pro"/>
              </a:rPr>
              <a:t>الأثر</a:t>
            </a:r>
          </a:p>
        </p:txBody>
      </p:sp>
      <p:sp>
        <p:nvSpPr>
          <p:cNvPr id="32" name="Text 31"/>
          <p:cNvSpPr txBox="1"/>
          <p:nvPr/>
        </p:nvSpPr>
        <p:spPr>
          <a:xfrm>
            <a:off x="3024981" y="2261957"/>
            <a:ext cx="1815108"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ماذا يعني للجهة، بلغة العمل.</a:t>
            </a:r>
          </a:p>
        </p:txBody>
      </p:sp>
      <p:sp>
        <p:nvSpPr>
          <p:cNvPr id="33" name="Box 32"/>
          <p:cNvSpPr/>
          <p:nvPr/>
        </p:nvSpPr>
        <p:spPr>
          <a:xfrm>
            <a:off x="812998" y="1657945"/>
            <a:ext cx="2042120" cy="1948656"/>
          </a:xfrm>
          <a:prstGeom prst="roundRect">
            <a:avLst>
              <a:gd name="adj" fmla="val 5865"/>
            </a:avLst>
          </a:prstGeom>
          <a:solidFill>
            <a:srgbClr val="FFFDF8"/>
          </a:solidFill>
          <a:ln>
            <a:noFill/>
          </a:ln>
        </p:spPr>
        <p:txBody>
          <a:bodyPr rtlCol="0" anchor="ctr"/>
          <a:lstStyle/>
          <a:p>
            <a:pPr algn="ctr"/>
          </a:p>
        </p:txBody>
      </p:sp>
      <p:sp>
        <p:nvSpPr>
          <p:cNvPr id="34" name="Rule 33"/>
          <p:cNvSpPr/>
          <p:nvPr/>
        </p:nvSpPr>
        <p:spPr>
          <a:xfrm>
            <a:off x="812998" y="1657945"/>
            <a:ext cx="2042120" cy="50800"/>
          </a:xfrm>
          <a:prstGeom prst="rect">
            <a:avLst/>
          </a:prstGeom>
          <a:solidFill>
            <a:srgbClr val="5A3F87"/>
          </a:solidFill>
          <a:ln>
            <a:noFill/>
          </a:ln>
        </p:spPr>
        <p:txBody>
          <a:bodyPr rtlCol="0" anchor="ctr"/>
          <a:lstStyle/>
          <a:p>
            <a:pPr algn="ctr"/>
          </a:p>
        </p:txBody>
      </p:sp>
      <p:sp>
        <p:nvSpPr>
          <p:cNvPr id="35" name="Rule 34"/>
          <p:cNvSpPr/>
          <p:nvPr/>
        </p:nvSpPr>
        <p:spPr>
          <a:xfrm>
            <a:off x="2848769" y="1657945"/>
            <a:ext cx="6350" cy="1948656"/>
          </a:xfrm>
          <a:prstGeom prst="rect">
            <a:avLst/>
          </a:prstGeom>
          <a:solidFill>
            <a:srgbClr val="E1DBCD"/>
          </a:solidFill>
          <a:ln>
            <a:noFill/>
          </a:ln>
        </p:spPr>
        <p:txBody>
          <a:bodyPr rtlCol="0" anchor="ctr"/>
          <a:lstStyle/>
          <a:p>
            <a:pPr algn="ctr"/>
          </a:p>
        </p:txBody>
      </p:sp>
      <p:sp>
        <p:nvSpPr>
          <p:cNvPr id="36" name="Rule 35"/>
          <p:cNvSpPr/>
          <p:nvPr/>
        </p:nvSpPr>
        <p:spPr>
          <a:xfrm>
            <a:off x="812998" y="3600252"/>
            <a:ext cx="2042120" cy="6350"/>
          </a:xfrm>
          <a:prstGeom prst="rect">
            <a:avLst/>
          </a:prstGeom>
          <a:solidFill>
            <a:srgbClr val="E1DBCD"/>
          </a:solidFill>
          <a:ln>
            <a:noFill/>
          </a:ln>
        </p:spPr>
        <p:txBody>
          <a:bodyPr rtlCol="0" anchor="ctr"/>
          <a:lstStyle/>
          <a:p>
            <a:pPr algn="ctr"/>
          </a:p>
        </p:txBody>
      </p:sp>
      <p:sp>
        <p:nvSpPr>
          <p:cNvPr id="37" name="Rule 36"/>
          <p:cNvSpPr/>
          <p:nvPr/>
        </p:nvSpPr>
        <p:spPr>
          <a:xfrm>
            <a:off x="812998" y="1657945"/>
            <a:ext cx="6350" cy="1948656"/>
          </a:xfrm>
          <a:prstGeom prst="rect">
            <a:avLst/>
          </a:prstGeom>
          <a:solidFill>
            <a:srgbClr val="E1DBCD"/>
          </a:solidFill>
          <a:ln>
            <a:noFill/>
          </a:ln>
        </p:spPr>
        <p:txBody>
          <a:bodyPr rtlCol="0" anchor="ctr"/>
          <a:lstStyle/>
          <a:p>
            <a:pPr algn="ctr"/>
          </a:p>
        </p:txBody>
      </p:sp>
      <p:sp>
        <p:nvSpPr>
          <p:cNvPr id="38" name="Text 37"/>
          <p:cNvSpPr txBox="1"/>
          <p:nvPr/>
        </p:nvSpPr>
        <p:spPr>
          <a:xfrm>
            <a:off x="838398" y="1835745"/>
            <a:ext cx="187067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5A3F87"/>
                </a:solidFill>
                <a:latin typeface="Readex Pro"/>
                <a:ea typeface="Readex Pro"/>
                <a:cs typeface="Readex Pro"/>
              </a:rPr>
              <a:t>التوصية</a:t>
            </a:r>
          </a:p>
        </p:txBody>
      </p:sp>
      <p:sp>
        <p:nvSpPr>
          <p:cNvPr id="39" name="Text 38"/>
          <p:cNvSpPr txBox="1"/>
          <p:nvPr/>
        </p:nvSpPr>
        <p:spPr>
          <a:xfrm>
            <a:off x="893961" y="2261957"/>
            <a:ext cx="1815108"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172433"/>
                </a:solidFill>
                <a:latin typeface="IBM Plex Sans Arabic"/>
                <a:ea typeface="IBM Plex Sans Arabic"/>
                <a:cs typeface="IBM Plex Sans Arabic"/>
              </a:rPr>
              <a:t>ما يعالج السبب، لا العَرَض فقط.</a:t>
            </a:r>
          </a:p>
        </p:txBody>
      </p:sp>
      <p:sp>
        <p:nvSpPr>
          <p:cNvPr id="40" name="Box 39"/>
          <p:cNvSpPr/>
          <p:nvPr/>
        </p:nvSpPr>
        <p:spPr>
          <a:xfrm>
            <a:off x="812800" y="3797102"/>
            <a:ext cx="10566400" cy="1054100"/>
          </a:xfrm>
          <a:prstGeom prst="roundRect">
            <a:avLst>
              <a:gd name="adj" fmla="val 9638"/>
            </a:avLst>
          </a:prstGeom>
          <a:solidFill>
            <a:srgbClr val="172433"/>
          </a:solidFill>
          <a:ln>
            <a:noFill/>
          </a:ln>
        </p:spPr>
        <p:txBody>
          <a:bodyPr rtlCol="0" anchor="ctr"/>
          <a:lstStyle/>
          <a:p>
            <a:pPr algn="ctr"/>
          </a:p>
        </p:txBody>
      </p:sp>
      <p:pic>
        <p:nvPicPr>
          <p:cNvPr id="41" name="Icon Lightbulb 40" descr="icon036.png"/>
          <p:cNvPicPr>
            <a:picLocks noChangeAspect="1"/>
          </p:cNvPicPr>
          <p:nvPr/>
        </p:nvPicPr>
        <p:blipFill>
          <a:blip r:embed="rId2"/>
          <a:stretch>
            <a:fillRect/>
          </a:stretch>
        </p:blipFill>
        <p:spPr>
          <a:xfrm>
            <a:off x="10909300" y="4178102"/>
            <a:ext cx="292100" cy="292100"/>
          </a:xfrm>
          <a:prstGeom prst="rect">
            <a:avLst/>
          </a:prstGeom>
        </p:spPr>
      </p:pic>
      <p:sp>
        <p:nvSpPr>
          <p:cNvPr id="42" name="Text 41"/>
          <p:cNvSpPr txBox="1"/>
          <p:nvPr/>
        </p:nvSpPr>
        <p:spPr>
          <a:xfrm>
            <a:off x="838200" y="3879810"/>
            <a:ext cx="9956800"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F3EFE6"/>
                </a:solidFill>
                <a:latin typeface="IBM Plex Sans Arabic"/>
                <a:ea typeface="IBM Plex Sans Arabic"/>
                <a:cs typeface="IBM Plex Sans Arabic"/>
              </a:rPr>
              <a:t>اكتب الحقائق لا الأحكام: «3 من 41 حساباً»، لا «بعض الحسابات». ولا تلُم أشخاصاً، صف العملية.</a:t>
            </a:r>
          </a:p>
        </p:txBody>
      </p:sp>
      <p:sp>
        <p:nvSpPr>
          <p:cNvPr id="43" name="Text 4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4" name="Text 4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التصحيح: إجراء، ومالك، وموعد، ودليل</a:t>
            </a:r>
          </a:p>
        </p:txBody>
      </p:sp>
      <p:sp>
        <p:nvSpPr>
          <p:cNvPr id="5" name="Box 4"/>
          <p:cNvSpPr/>
          <p:nvPr/>
        </p:nvSpPr>
        <p:spPr>
          <a:xfrm>
            <a:off x="8813800" y="1607145"/>
            <a:ext cx="2565400" cy="1161653"/>
          </a:xfrm>
          <a:prstGeom prst="roundRect">
            <a:avLst>
              <a:gd name="adj" fmla="val 9839"/>
            </a:avLst>
          </a:prstGeom>
          <a:solidFill>
            <a:srgbClr val="FFFDF8"/>
          </a:solidFill>
          <a:ln>
            <a:noFill/>
          </a:ln>
        </p:spPr>
        <p:txBody>
          <a:bodyPr rtlCol="0" anchor="ctr"/>
          <a:lstStyle/>
          <a:p>
            <a:pPr algn="ctr"/>
          </a:p>
        </p:txBody>
      </p:sp>
      <p:sp>
        <p:nvSpPr>
          <p:cNvPr id="6" name="Rule 5"/>
          <p:cNvSpPr/>
          <p:nvPr/>
        </p:nvSpPr>
        <p:spPr>
          <a:xfrm>
            <a:off x="8813800" y="1607145"/>
            <a:ext cx="2565400" cy="50800"/>
          </a:xfrm>
          <a:prstGeom prst="rect">
            <a:avLst/>
          </a:prstGeom>
          <a:solidFill>
            <a:srgbClr val="0E7C6B"/>
          </a:solidFill>
          <a:ln>
            <a:noFill/>
          </a:ln>
        </p:spPr>
        <p:txBody>
          <a:bodyPr rtlCol="0" anchor="ctr"/>
          <a:lstStyle/>
          <a:p>
            <a:pPr algn="ctr"/>
          </a:p>
        </p:txBody>
      </p:sp>
      <p:sp>
        <p:nvSpPr>
          <p:cNvPr id="7" name="Rule 6"/>
          <p:cNvSpPr/>
          <p:nvPr/>
        </p:nvSpPr>
        <p:spPr>
          <a:xfrm>
            <a:off x="11372850" y="1607145"/>
            <a:ext cx="6350" cy="1161653"/>
          </a:xfrm>
          <a:prstGeom prst="rect">
            <a:avLst/>
          </a:prstGeom>
          <a:solidFill>
            <a:srgbClr val="E1DBCD"/>
          </a:solidFill>
          <a:ln>
            <a:noFill/>
          </a:ln>
        </p:spPr>
        <p:txBody>
          <a:bodyPr rtlCol="0" anchor="ctr"/>
          <a:lstStyle/>
          <a:p>
            <a:pPr algn="ctr"/>
          </a:p>
        </p:txBody>
      </p:sp>
      <p:sp>
        <p:nvSpPr>
          <p:cNvPr id="8" name="Rule 7"/>
          <p:cNvSpPr/>
          <p:nvPr/>
        </p:nvSpPr>
        <p:spPr>
          <a:xfrm>
            <a:off x="8813800" y="2762448"/>
            <a:ext cx="2565400" cy="6350"/>
          </a:xfrm>
          <a:prstGeom prst="rect">
            <a:avLst/>
          </a:prstGeom>
          <a:solidFill>
            <a:srgbClr val="E1DBCD"/>
          </a:solidFill>
          <a:ln>
            <a:noFill/>
          </a:ln>
        </p:spPr>
        <p:txBody>
          <a:bodyPr rtlCol="0" anchor="ctr"/>
          <a:lstStyle/>
          <a:p>
            <a:pPr algn="ctr"/>
          </a:p>
        </p:txBody>
      </p:sp>
      <p:sp>
        <p:nvSpPr>
          <p:cNvPr id="9" name="Rule 8"/>
          <p:cNvSpPr/>
          <p:nvPr/>
        </p:nvSpPr>
        <p:spPr>
          <a:xfrm>
            <a:off x="8813800" y="1607145"/>
            <a:ext cx="6350" cy="1161653"/>
          </a:xfrm>
          <a:prstGeom prst="rect">
            <a:avLst/>
          </a:prstGeom>
          <a:solidFill>
            <a:srgbClr val="E1DBCD"/>
          </a:solidFill>
          <a:ln>
            <a:noFill/>
          </a:ln>
        </p:spPr>
        <p:txBody>
          <a:bodyPr rtlCol="0" anchor="ctr"/>
          <a:lstStyle/>
          <a:p>
            <a:pPr algn="ctr"/>
          </a:p>
        </p:txBody>
      </p:sp>
      <p:sp>
        <p:nvSpPr>
          <p:cNvPr id="10" name="Text 9"/>
          <p:cNvSpPr txBox="1"/>
          <p:nvPr/>
        </p:nvSpPr>
        <p:spPr>
          <a:xfrm>
            <a:off x="8839200" y="1784945"/>
            <a:ext cx="23812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الإجراء</a:t>
            </a:r>
          </a:p>
        </p:txBody>
      </p:sp>
      <p:sp>
        <p:nvSpPr>
          <p:cNvPr id="11" name="Text 10"/>
          <p:cNvSpPr txBox="1"/>
          <p:nvPr/>
        </p:nvSpPr>
        <p:spPr>
          <a:xfrm>
            <a:off x="8839200" y="2198457"/>
            <a:ext cx="238125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ما الذي سيُنفذ تحديداً؟</a:t>
            </a:r>
          </a:p>
        </p:txBody>
      </p:sp>
      <p:sp>
        <p:nvSpPr>
          <p:cNvPr id="12" name="Box 11"/>
          <p:cNvSpPr/>
          <p:nvPr/>
        </p:nvSpPr>
        <p:spPr>
          <a:xfrm>
            <a:off x="6146800" y="1607145"/>
            <a:ext cx="2565400" cy="1161653"/>
          </a:xfrm>
          <a:prstGeom prst="roundRect">
            <a:avLst>
              <a:gd name="adj" fmla="val 9839"/>
            </a:avLst>
          </a:prstGeom>
          <a:solidFill>
            <a:srgbClr val="FFFDF8"/>
          </a:solidFill>
          <a:ln>
            <a:noFill/>
          </a:ln>
        </p:spPr>
        <p:txBody>
          <a:bodyPr rtlCol="0" anchor="ctr"/>
          <a:lstStyle/>
          <a:p>
            <a:pPr algn="ctr"/>
          </a:p>
        </p:txBody>
      </p:sp>
      <p:sp>
        <p:nvSpPr>
          <p:cNvPr id="13" name="Rule 12"/>
          <p:cNvSpPr/>
          <p:nvPr/>
        </p:nvSpPr>
        <p:spPr>
          <a:xfrm>
            <a:off x="6146800" y="1607145"/>
            <a:ext cx="2565400" cy="50800"/>
          </a:xfrm>
          <a:prstGeom prst="rect">
            <a:avLst/>
          </a:prstGeom>
          <a:solidFill>
            <a:srgbClr val="0E7C6B"/>
          </a:solidFill>
          <a:ln>
            <a:noFill/>
          </a:ln>
        </p:spPr>
        <p:txBody>
          <a:bodyPr rtlCol="0" anchor="ctr"/>
          <a:lstStyle/>
          <a:p>
            <a:pPr algn="ctr"/>
          </a:p>
        </p:txBody>
      </p:sp>
      <p:sp>
        <p:nvSpPr>
          <p:cNvPr id="14" name="Rule 13"/>
          <p:cNvSpPr/>
          <p:nvPr/>
        </p:nvSpPr>
        <p:spPr>
          <a:xfrm>
            <a:off x="8705850" y="1607145"/>
            <a:ext cx="6350" cy="1161653"/>
          </a:xfrm>
          <a:prstGeom prst="rect">
            <a:avLst/>
          </a:prstGeom>
          <a:solidFill>
            <a:srgbClr val="E1DBCD"/>
          </a:solidFill>
          <a:ln>
            <a:noFill/>
          </a:ln>
        </p:spPr>
        <p:txBody>
          <a:bodyPr rtlCol="0" anchor="ctr"/>
          <a:lstStyle/>
          <a:p>
            <a:pPr algn="ctr"/>
          </a:p>
        </p:txBody>
      </p:sp>
      <p:sp>
        <p:nvSpPr>
          <p:cNvPr id="15" name="Rule 14"/>
          <p:cNvSpPr/>
          <p:nvPr/>
        </p:nvSpPr>
        <p:spPr>
          <a:xfrm>
            <a:off x="6146800" y="2762448"/>
            <a:ext cx="2565400" cy="6350"/>
          </a:xfrm>
          <a:prstGeom prst="rect">
            <a:avLst/>
          </a:prstGeom>
          <a:solidFill>
            <a:srgbClr val="E1DBCD"/>
          </a:solidFill>
          <a:ln>
            <a:noFill/>
          </a:ln>
        </p:spPr>
        <p:txBody>
          <a:bodyPr rtlCol="0" anchor="ctr"/>
          <a:lstStyle/>
          <a:p>
            <a:pPr algn="ctr"/>
          </a:p>
        </p:txBody>
      </p:sp>
      <p:sp>
        <p:nvSpPr>
          <p:cNvPr id="16" name="Rule 15"/>
          <p:cNvSpPr/>
          <p:nvPr/>
        </p:nvSpPr>
        <p:spPr>
          <a:xfrm>
            <a:off x="6146800" y="1607145"/>
            <a:ext cx="6350" cy="1161653"/>
          </a:xfrm>
          <a:prstGeom prst="rect">
            <a:avLst/>
          </a:prstGeom>
          <a:solidFill>
            <a:srgbClr val="E1DBCD"/>
          </a:solidFill>
          <a:ln>
            <a:noFill/>
          </a:ln>
        </p:spPr>
        <p:txBody>
          <a:bodyPr rtlCol="0" anchor="ctr"/>
          <a:lstStyle/>
          <a:p>
            <a:pPr algn="ctr"/>
          </a:p>
        </p:txBody>
      </p:sp>
      <p:sp>
        <p:nvSpPr>
          <p:cNvPr id="17" name="Text 16"/>
          <p:cNvSpPr txBox="1"/>
          <p:nvPr/>
        </p:nvSpPr>
        <p:spPr>
          <a:xfrm>
            <a:off x="6172200" y="1784945"/>
            <a:ext cx="23812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المالك</a:t>
            </a:r>
          </a:p>
        </p:txBody>
      </p:sp>
      <p:sp>
        <p:nvSpPr>
          <p:cNvPr id="18" name="Text 17"/>
          <p:cNvSpPr txBox="1"/>
          <p:nvPr/>
        </p:nvSpPr>
        <p:spPr>
          <a:xfrm>
            <a:off x="6172200" y="2198457"/>
            <a:ext cx="238125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شخص واحد بالوظيفة.</a:t>
            </a:r>
          </a:p>
        </p:txBody>
      </p:sp>
      <p:sp>
        <p:nvSpPr>
          <p:cNvPr id="19" name="Box 18"/>
          <p:cNvSpPr/>
          <p:nvPr/>
        </p:nvSpPr>
        <p:spPr>
          <a:xfrm>
            <a:off x="3479800" y="1607145"/>
            <a:ext cx="2565400" cy="1161653"/>
          </a:xfrm>
          <a:prstGeom prst="roundRect">
            <a:avLst>
              <a:gd name="adj" fmla="val 9839"/>
            </a:avLst>
          </a:prstGeom>
          <a:solidFill>
            <a:srgbClr val="FFFDF8"/>
          </a:solidFill>
          <a:ln>
            <a:noFill/>
          </a:ln>
        </p:spPr>
        <p:txBody>
          <a:bodyPr rtlCol="0" anchor="ctr"/>
          <a:lstStyle/>
          <a:p>
            <a:pPr algn="ctr"/>
          </a:p>
        </p:txBody>
      </p:sp>
      <p:sp>
        <p:nvSpPr>
          <p:cNvPr id="20" name="Rule 19"/>
          <p:cNvSpPr/>
          <p:nvPr/>
        </p:nvSpPr>
        <p:spPr>
          <a:xfrm>
            <a:off x="3479800" y="1607145"/>
            <a:ext cx="2565400" cy="50800"/>
          </a:xfrm>
          <a:prstGeom prst="rect">
            <a:avLst/>
          </a:prstGeom>
          <a:solidFill>
            <a:srgbClr val="0E7C6B"/>
          </a:solidFill>
          <a:ln>
            <a:noFill/>
          </a:ln>
        </p:spPr>
        <p:txBody>
          <a:bodyPr rtlCol="0" anchor="ctr"/>
          <a:lstStyle/>
          <a:p>
            <a:pPr algn="ctr"/>
          </a:p>
        </p:txBody>
      </p:sp>
      <p:sp>
        <p:nvSpPr>
          <p:cNvPr id="21" name="Rule 20"/>
          <p:cNvSpPr/>
          <p:nvPr/>
        </p:nvSpPr>
        <p:spPr>
          <a:xfrm>
            <a:off x="6038850" y="1607145"/>
            <a:ext cx="6350" cy="1161653"/>
          </a:xfrm>
          <a:prstGeom prst="rect">
            <a:avLst/>
          </a:prstGeom>
          <a:solidFill>
            <a:srgbClr val="E1DBCD"/>
          </a:solidFill>
          <a:ln>
            <a:noFill/>
          </a:ln>
        </p:spPr>
        <p:txBody>
          <a:bodyPr rtlCol="0" anchor="ctr"/>
          <a:lstStyle/>
          <a:p>
            <a:pPr algn="ctr"/>
          </a:p>
        </p:txBody>
      </p:sp>
      <p:sp>
        <p:nvSpPr>
          <p:cNvPr id="22" name="Rule 21"/>
          <p:cNvSpPr/>
          <p:nvPr/>
        </p:nvSpPr>
        <p:spPr>
          <a:xfrm>
            <a:off x="3479800" y="2762448"/>
            <a:ext cx="2565400" cy="6350"/>
          </a:xfrm>
          <a:prstGeom prst="rect">
            <a:avLst/>
          </a:prstGeom>
          <a:solidFill>
            <a:srgbClr val="E1DBCD"/>
          </a:solidFill>
          <a:ln>
            <a:noFill/>
          </a:ln>
        </p:spPr>
        <p:txBody>
          <a:bodyPr rtlCol="0" anchor="ctr"/>
          <a:lstStyle/>
          <a:p>
            <a:pPr algn="ctr"/>
          </a:p>
        </p:txBody>
      </p:sp>
      <p:sp>
        <p:nvSpPr>
          <p:cNvPr id="23" name="Rule 22"/>
          <p:cNvSpPr/>
          <p:nvPr/>
        </p:nvSpPr>
        <p:spPr>
          <a:xfrm>
            <a:off x="3479800" y="1607145"/>
            <a:ext cx="6350" cy="1161653"/>
          </a:xfrm>
          <a:prstGeom prst="rect">
            <a:avLst/>
          </a:prstGeom>
          <a:solidFill>
            <a:srgbClr val="E1DBCD"/>
          </a:solidFill>
          <a:ln>
            <a:noFill/>
          </a:ln>
        </p:spPr>
        <p:txBody>
          <a:bodyPr rtlCol="0" anchor="ctr"/>
          <a:lstStyle/>
          <a:p>
            <a:pPr algn="ctr"/>
          </a:p>
        </p:txBody>
      </p:sp>
      <p:sp>
        <p:nvSpPr>
          <p:cNvPr id="24" name="Text 23"/>
          <p:cNvSpPr txBox="1"/>
          <p:nvPr/>
        </p:nvSpPr>
        <p:spPr>
          <a:xfrm>
            <a:off x="3505200" y="1784945"/>
            <a:ext cx="23812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الموعد</a:t>
            </a:r>
          </a:p>
        </p:txBody>
      </p:sp>
      <p:sp>
        <p:nvSpPr>
          <p:cNvPr id="25" name="Text 24"/>
          <p:cNvSpPr txBox="1"/>
          <p:nvPr/>
        </p:nvSpPr>
        <p:spPr>
          <a:xfrm>
            <a:off x="3505200" y="2198457"/>
            <a:ext cx="238125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تاريخ، لا «قريباً».</a:t>
            </a:r>
          </a:p>
        </p:txBody>
      </p:sp>
      <p:sp>
        <p:nvSpPr>
          <p:cNvPr id="26" name="Box 25"/>
          <p:cNvSpPr/>
          <p:nvPr/>
        </p:nvSpPr>
        <p:spPr>
          <a:xfrm>
            <a:off x="812800" y="1607145"/>
            <a:ext cx="2565400" cy="1161653"/>
          </a:xfrm>
          <a:prstGeom prst="roundRect">
            <a:avLst>
              <a:gd name="adj" fmla="val 9839"/>
            </a:avLst>
          </a:prstGeom>
          <a:solidFill>
            <a:srgbClr val="FFFDF8"/>
          </a:solidFill>
          <a:ln>
            <a:noFill/>
          </a:ln>
        </p:spPr>
        <p:txBody>
          <a:bodyPr rtlCol="0" anchor="ctr"/>
          <a:lstStyle/>
          <a:p>
            <a:pPr algn="ctr"/>
          </a:p>
        </p:txBody>
      </p:sp>
      <p:sp>
        <p:nvSpPr>
          <p:cNvPr id="27" name="Rule 26"/>
          <p:cNvSpPr/>
          <p:nvPr/>
        </p:nvSpPr>
        <p:spPr>
          <a:xfrm>
            <a:off x="812800" y="1607145"/>
            <a:ext cx="2565400" cy="50800"/>
          </a:xfrm>
          <a:prstGeom prst="rect">
            <a:avLst/>
          </a:prstGeom>
          <a:solidFill>
            <a:srgbClr val="0E7C6B"/>
          </a:solidFill>
          <a:ln>
            <a:noFill/>
          </a:ln>
        </p:spPr>
        <p:txBody>
          <a:bodyPr rtlCol="0" anchor="ctr"/>
          <a:lstStyle/>
          <a:p>
            <a:pPr algn="ctr"/>
          </a:p>
        </p:txBody>
      </p:sp>
      <p:sp>
        <p:nvSpPr>
          <p:cNvPr id="28" name="Rule 27"/>
          <p:cNvSpPr/>
          <p:nvPr/>
        </p:nvSpPr>
        <p:spPr>
          <a:xfrm>
            <a:off x="3371850" y="1607145"/>
            <a:ext cx="6350" cy="1161653"/>
          </a:xfrm>
          <a:prstGeom prst="rect">
            <a:avLst/>
          </a:prstGeom>
          <a:solidFill>
            <a:srgbClr val="E1DBCD"/>
          </a:solidFill>
          <a:ln>
            <a:noFill/>
          </a:ln>
        </p:spPr>
        <p:txBody>
          <a:bodyPr rtlCol="0" anchor="ctr"/>
          <a:lstStyle/>
          <a:p>
            <a:pPr algn="ctr"/>
          </a:p>
        </p:txBody>
      </p:sp>
      <p:sp>
        <p:nvSpPr>
          <p:cNvPr id="29" name="Rule 28"/>
          <p:cNvSpPr/>
          <p:nvPr/>
        </p:nvSpPr>
        <p:spPr>
          <a:xfrm>
            <a:off x="812800" y="2762448"/>
            <a:ext cx="2565400" cy="6350"/>
          </a:xfrm>
          <a:prstGeom prst="rect">
            <a:avLst/>
          </a:prstGeom>
          <a:solidFill>
            <a:srgbClr val="E1DBCD"/>
          </a:solidFill>
          <a:ln>
            <a:noFill/>
          </a:ln>
        </p:spPr>
        <p:txBody>
          <a:bodyPr rtlCol="0" anchor="ctr"/>
          <a:lstStyle/>
          <a:p>
            <a:pPr algn="ctr"/>
          </a:p>
        </p:txBody>
      </p:sp>
      <p:sp>
        <p:nvSpPr>
          <p:cNvPr id="30" name="Rule 29"/>
          <p:cNvSpPr/>
          <p:nvPr/>
        </p:nvSpPr>
        <p:spPr>
          <a:xfrm>
            <a:off x="812800" y="1607145"/>
            <a:ext cx="6350" cy="1161653"/>
          </a:xfrm>
          <a:prstGeom prst="rect">
            <a:avLst/>
          </a:prstGeom>
          <a:solidFill>
            <a:srgbClr val="E1DBCD"/>
          </a:solidFill>
          <a:ln>
            <a:noFill/>
          </a:ln>
        </p:spPr>
        <p:txBody>
          <a:bodyPr rtlCol="0" anchor="ctr"/>
          <a:lstStyle/>
          <a:p>
            <a:pPr algn="ctr"/>
          </a:p>
        </p:txBody>
      </p:sp>
      <p:sp>
        <p:nvSpPr>
          <p:cNvPr id="31" name="Text 30"/>
          <p:cNvSpPr txBox="1"/>
          <p:nvPr/>
        </p:nvSpPr>
        <p:spPr>
          <a:xfrm>
            <a:off x="838200" y="1784945"/>
            <a:ext cx="23812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دليل الإغلاق</a:t>
            </a:r>
          </a:p>
        </p:txBody>
      </p:sp>
      <p:sp>
        <p:nvSpPr>
          <p:cNvPr id="32" name="Text 31"/>
          <p:cNvSpPr txBox="1"/>
          <p:nvPr/>
        </p:nvSpPr>
        <p:spPr>
          <a:xfrm>
            <a:off x="838200" y="2198457"/>
            <a:ext cx="2381250" cy="377428"/>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ما الذي يثبت الإنجاز؟</a:t>
            </a:r>
          </a:p>
        </p:txBody>
      </p:sp>
      <p:sp>
        <p:nvSpPr>
          <p:cNvPr id="33" name="Box 32"/>
          <p:cNvSpPr/>
          <p:nvPr/>
        </p:nvSpPr>
        <p:spPr>
          <a:xfrm>
            <a:off x="6290766" y="2908498"/>
            <a:ext cx="5088434" cy="982861"/>
          </a:xfrm>
          <a:prstGeom prst="roundRect">
            <a:avLst>
              <a:gd name="adj" fmla="val 10337"/>
            </a:avLst>
          </a:prstGeom>
          <a:solidFill>
            <a:srgbClr val="E3F1ED"/>
          </a:solidFill>
          <a:ln>
            <a:noFill/>
          </a:ln>
        </p:spPr>
        <p:txBody>
          <a:bodyPr rtlCol="0" anchor="ctr"/>
          <a:lstStyle/>
          <a:p>
            <a:pPr algn="ctr"/>
          </a:p>
        </p:txBody>
      </p:sp>
      <p:pic>
        <p:nvPicPr>
          <p:cNvPr id="34" name="Icon Lightbulb 33" descr="icon031.png"/>
          <p:cNvPicPr>
            <a:picLocks noChangeAspect="1"/>
          </p:cNvPicPr>
          <p:nvPr/>
        </p:nvPicPr>
        <p:blipFill>
          <a:blip r:embed="rId2"/>
          <a:stretch>
            <a:fillRect/>
          </a:stretch>
        </p:blipFill>
        <p:spPr>
          <a:xfrm>
            <a:off x="10934700" y="3266579"/>
            <a:ext cx="266700" cy="266700"/>
          </a:xfrm>
          <a:prstGeom prst="rect">
            <a:avLst/>
          </a:prstGeom>
        </p:spPr>
      </p:pic>
      <p:sp>
        <p:nvSpPr>
          <p:cNvPr id="35" name="Text 34"/>
          <p:cNvSpPr txBox="1"/>
          <p:nvPr/>
        </p:nvSpPr>
        <p:spPr>
          <a:xfrm>
            <a:off x="6338011" y="2995144"/>
            <a:ext cx="4482389"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إجراء فوري يزيل الخطر الآن، وإجراء دائم يمنع التكرار.</a:t>
            </a:r>
          </a:p>
        </p:txBody>
      </p:sp>
      <p:sp>
        <p:nvSpPr>
          <p:cNvPr id="36" name="Box 35"/>
          <p:cNvSpPr/>
          <p:nvPr/>
        </p:nvSpPr>
        <p:spPr>
          <a:xfrm>
            <a:off x="812800" y="2908498"/>
            <a:ext cx="5363666" cy="982861"/>
          </a:xfrm>
          <a:prstGeom prst="roundRect">
            <a:avLst>
              <a:gd name="adj" fmla="val 10337"/>
            </a:avLst>
          </a:prstGeom>
          <a:solidFill>
            <a:srgbClr val="F6ECDA"/>
          </a:solidFill>
          <a:ln>
            <a:noFill/>
          </a:ln>
        </p:spPr>
        <p:txBody>
          <a:bodyPr rtlCol="0" anchor="ctr"/>
          <a:lstStyle/>
          <a:p>
            <a:pPr algn="ctr"/>
          </a:p>
        </p:txBody>
      </p:sp>
      <p:pic>
        <p:nvPicPr>
          <p:cNvPr id="37" name="Icon Verified 36" descr="icon046.png"/>
          <p:cNvPicPr>
            <a:picLocks noChangeAspect="1"/>
          </p:cNvPicPr>
          <p:nvPr/>
        </p:nvPicPr>
        <p:blipFill>
          <a:blip r:embed="rId3"/>
          <a:stretch>
            <a:fillRect/>
          </a:stretch>
        </p:blipFill>
        <p:spPr>
          <a:xfrm>
            <a:off x="5731966" y="3266579"/>
            <a:ext cx="266700" cy="266700"/>
          </a:xfrm>
          <a:prstGeom prst="rect">
            <a:avLst/>
          </a:prstGeom>
        </p:spPr>
      </p:pic>
      <p:sp>
        <p:nvSpPr>
          <p:cNvPr id="38" name="Text 37"/>
          <p:cNvSpPr txBox="1"/>
          <p:nvPr/>
        </p:nvSpPr>
        <p:spPr>
          <a:xfrm>
            <a:off x="851788" y="2995144"/>
            <a:ext cx="476587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لا تُغلق الملاحظة بوعد. تُغلق بدليل، وبعد إعادة الاختبار.</a:t>
            </a:r>
          </a:p>
        </p:txBody>
      </p:sp>
      <p:sp>
        <p:nvSpPr>
          <p:cNvPr id="39" name="Box 38"/>
          <p:cNvSpPr/>
          <p:nvPr/>
        </p:nvSpPr>
        <p:spPr>
          <a:xfrm>
            <a:off x="815975" y="4034234"/>
            <a:ext cx="10560050" cy="624780"/>
          </a:xfrm>
          <a:prstGeom prst="roundRect">
            <a:avLst>
              <a:gd name="adj" fmla="val 16098"/>
            </a:avLst>
          </a:prstGeom>
          <a:solidFill>
            <a:srgbClr val="FBEAE5"/>
          </a:solidFill>
          <a:ln w="6350">
            <a:solidFill>
              <a:srgbClr val="E7B8AC"/>
            </a:solidFill>
          </a:ln>
        </p:spPr>
        <p:txBody>
          <a:bodyPr rtlCol="0" anchor="ctr"/>
          <a:lstStyle/>
          <a:p>
            <a:pPr algn="ctr"/>
          </a:p>
        </p:txBody>
      </p:sp>
      <p:pic>
        <p:nvPicPr>
          <p:cNvPr id="40" name="Icon Warning 39" descr="icon047.png"/>
          <p:cNvPicPr>
            <a:picLocks noChangeAspect="1"/>
          </p:cNvPicPr>
          <p:nvPr/>
        </p:nvPicPr>
        <p:blipFill>
          <a:blip r:embed="rId4"/>
          <a:stretch>
            <a:fillRect/>
          </a:stretch>
        </p:blipFill>
        <p:spPr>
          <a:xfrm>
            <a:off x="10928350" y="4213225"/>
            <a:ext cx="266700" cy="266700"/>
          </a:xfrm>
          <a:prstGeom prst="rect">
            <a:avLst/>
          </a:prstGeom>
        </p:spPr>
      </p:pic>
      <p:sp>
        <p:nvSpPr>
          <p:cNvPr id="41" name="Text 40"/>
          <p:cNvSpPr txBox="1"/>
          <p:nvPr/>
        </p:nvSpPr>
        <p:spPr>
          <a:xfrm>
            <a:off x="838200" y="4124055"/>
            <a:ext cx="99758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إن قررت الإدارة قبول الخطر بدل التصحيح، يوثق القرار صاحب الصلاحية. وهذا لا يلغي أي التزام نظامي.</a:t>
            </a:r>
          </a:p>
        </p:txBody>
      </p:sp>
      <p:sp>
        <p:nvSpPr>
          <p:cNvPr id="42" name="Text 4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3" name="Text 4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الملاحظة</a:t>
            </a:r>
          </a:p>
        </p:txBody>
      </p:sp>
      <p:sp>
        <p:nvSpPr>
          <p:cNvPr id="7" name="Box 6"/>
          <p:cNvSpPr/>
          <p:nvPr/>
        </p:nvSpPr>
        <p:spPr>
          <a:xfrm>
            <a:off x="815975" y="1661120"/>
            <a:ext cx="10560050" cy="4006056"/>
          </a:xfrm>
          <a:prstGeom prst="roundRect">
            <a:avLst>
              <a:gd name="adj" fmla="val 2848"/>
            </a:avLst>
          </a:prstGeom>
          <a:solidFill>
            <a:srgbClr val="FFFDF8"/>
          </a:solidFill>
          <a:ln w="6350">
            <a:solidFill>
              <a:srgbClr val="E1DBCD"/>
            </a:solidFill>
          </a:ln>
        </p:spPr>
        <p:txBody>
          <a:bodyPr rtlCol="0" anchor="ctr"/>
          <a:lstStyle/>
          <a:p>
            <a:pPr algn="ctr"/>
          </a:p>
        </p:txBody>
      </p:sp>
      <p:sp>
        <p:nvSpPr>
          <p:cNvPr id="8" name="Text 7"/>
          <p:cNvSpPr txBox="1"/>
          <p:nvPr/>
        </p:nvSpPr>
        <p:spPr>
          <a:xfrm>
            <a:off x="9716770" y="1779294"/>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العنوان</a:t>
            </a:r>
          </a:p>
        </p:txBody>
      </p:sp>
      <p:sp>
        <p:nvSpPr>
          <p:cNvPr id="9" name="Text 8"/>
          <p:cNvSpPr txBox="1"/>
          <p:nvPr/>
        </p:nvSpPr>
        <p:spPr>
          <a:xfrm>
            <a:off x="838200" y="1779294"/>
            <a:ext cx="89090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حسابات تتصل بالشبكة عن بعد دون تحقق متعدد العوامل</a:t>
            </a:r>
          </a:p>
        </p:txBody>
      </p:sp>
      <p:sp>
        <p:nvSpPr>
          <p:cNvPr id="10" name="Text 9"/>
          <p:cNvSpPr txBox="1"/>
          <p:nvPr/>
        </p:nvSpPr>
        <p:spPr>
          <a:xfrm>
            <a:off x="9716770" y="2180534"/>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الوضع القائم</a:t>
            </a:r>
          </a:p>
        </p:txBody>
      </p:sp>
      <p:sp>
        <p:nvSpPr>
          <p:cNvPr id="11" name="Text 10"/>
          <p:cNvSpPr txBox="1"/>
          <p:nvPr/>
        </p:nvSpPr>
        <p:spPr>
          <a:xfrm>
            <a:off x="838200" y="2180534"/>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لم يكن التحقق متعدد العوامل مفروضاً على اتصالات VPN حتى 10 مارس 2026. وبعد التفعيل، اتصلت 3 حسابات من 41 من خارج مجموعة التحقق، منها حساب لمستشار انتهى عقده.</a:t>
            </a:r>
          </a:p>
        </p:txBody>
      </p:sp>
      <p:sp>
        <p:nvSpPr>
          <p:cNvPr id="12" name="Text 11"/>
          <p:cNvSpPr txBox="1"/>
          <p:nvPr/>
        </p:nvSpPr>
        <p:spPr>
          <a:xfrm>
            <a:off x="9716770" y="2919516"/>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المعيار</a:t>
            </a:r>
          </a:p>
        </p:txBody>
      </p:sp>
      <p:sp>
        <p:nvSpPr>
          <p:cNvPr id="13" name="Text 12"/>
          <p:cNvSpPr txBox="1"/>
          <p:nvPr/>
        </p:nvSpPr>
        <p:spPr>
          <a:xfrm>
            <a:off x="838200" y="2919516"/>
            <a:ext cx="89090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ECC ‎2-2-3-2‎، ومعيار الوصول عن بعد في رُفاد (فبراير 2026).</a:t>
            </a:r>
          </a:p>
        </p:txBody>
      </p:sp>
      <p:sp>
        <p:nvSpPr>
          <p:cNvPr id="14" name="Text 13"/>
          <p:cNvSpPr txBox="1"/>
          <p:nvPr/>
        </p:nvSpPr>
        <p:spPr>
          <a:xfrm>
            <a:off x="9716770" y="3320756"/>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السبب</a:t>
            </a:r>
          </a:p>
        </p:txBody>
      </p:sp>
      <p:sp>
        <p:nvSpPr>
          <p:cNvPr id="15" name="Text 14"/>
          <p:cNvSpPr txBox="1"/>
          <p:nvPr/>
        </p:nvSpPr>
        <p:spPr>
          <a:xfrm>
            <a:off x="838200" y="3320756"/>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أُضيفت الحسابات الثلاثة يدوياً استثناءً «مؤقتاً» عند التفعيل، دون إجراء موافقة أو مراجعة. تحققنا من ذلك بسجل التغييرات ومقابلة فريق تقنية المعلومات.</a:t>
            </a:r>
          </a:p>
        </p:txBody>
      </p:sp>
      <p:sp>
        <p:nvSpPr>
          <p:cNvPr id="16" name="Text 15"/>
          <p:cNvSpPr txBox="1"/>
          <p:nvPr/>
        </p:nvSpPr>
        <p:spPr>
          <a:xfrm>
            <a:off x="9716770" y="4059738"/>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الأثر</a:t>
            </a:r>
          </a:p>
        </p:txBody>
      </p:sp>
      <p:sp>
        <p:nvSpPr>
          <p:cNvPr id="17" name="Text 16"/>
          <p:cNvSpPr txBox="1"/>
          <p:nvPr/>
        </p:nvSpPr>
        <p:spPr>
          <a:xfrm>
            <a:off x="838200" y="4059738"/>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من يعرف كلمة مرور أحد الحسابات الثلاثة يستطيع دخول الشبكة الداخلية دون عامل ثانٍ، ومنها حساب لشخص لم يعد يعمل مع رُفاد.</a:t>
            </a:r>
          </a:p>
        </p:txBody>
      </p:sp>
      <p:sp>
        <p:nvSpPr>
          <p:cNvPr id="18" name="Text 17"/>
          <p:cNvSpPr txBox="1"/>
          <p:nvPr/>
        </p:nvSpPr>
        <p:spPr>
          <a:xfrm>
            <a:off x="9716770" y="4798719"/>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التوصية</a:t>
            </a:r>
          </a:p>
        </p:txBody>
      </p:sp>
      <p:sp>
        <p:nvSpPr>
          <p:cNvPr id="19" name="Text 18"/>
          <p:cNvSpPr txBox="1"/>
          <p:nvPr/>
        </p:nvSpPr>
        <p:spPr>
          <a:xfrm>
            <a:off x="838200" y="4798719"/>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إزالة الاستثناءات الثلاثة، واعتماد إجراء للاستثناءات بموافقة ومدة ومراجعة، ومطابقة دورية بين مستخدمي VPN ومجموعة التحقق. التفاصيل في خطة التصحيح.</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خطة التصحيح</a:t>
            </a:r>
          </a:p>
        </p:txBody>
      </p:sp>
      <p:graphicFrame>
        <p:nvGraphicFramePr>
          <p:cNvPr id="7" name="Table 6"/>
          <p:cNvGraphicFramePr>
            <a:graphicFrameLocks noGrp="1"/>
          </p:cNvGraphicFramePr>
          <p:nvPr/>
        </p:nvGraphicFramePr>
        <p:xfrm>
          <a:off x="815975" y="1661120"/>
          <a:ext cx="10560050" cy="3310832"/>
        </p:xfrm>
        <a:graphic>
          <a:graphicData uri="http://schemas.openxmlformats.org/drawingml/2006/table">
            <a:tbl>
              <a:tblPr firstRow="0" bandRow="0" lastRow="0" firstCol="0" lastCol="0" bandCol="0">
                <a:tableStyleId>{2D5ABB26-0587-4C30-8999-92F81FD0307C}</a:tableStyleId>
              </a:tblPr>
              <a:tblGrid>
                <a:gridCol w="2745740"/>
                <a:gridCol w="1689735"/>
                <a:gridCol w="2322830"/>
                <a:gridCol w="3801745"/>
              </a:tblGrid>
              <a:tr h="435868">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دليل الإغلاق</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الموعد</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المالك</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الإجراء</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تصدير يبين الحساب معطلاً، وسجل التغيير</a:t>
                      </a:r>
                    </a:p>
                  </a:txBody>
                  <a:tcPr marT="88325" marR="125730" marB="58360" marL="509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يوم عمل واحد</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مدير تقنية المعلومات</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تعطيل حساب المستشار السابق</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تصدير المجموعة، وسجل VPN لأسبوع</a:t>
                      </a:r>
                    </a:p>
                  </a:txBody>
                  <a:tcPr marT="88325" marR="125730" marB="58360" marL="509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5 أيام عمل</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مدير تقنية المعلومات</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نقل الحسابين إلى مجموعة التحقق أو تعطيلهما</a:t>
                      </a:r>
                    </a:p>
                  </a:txBody>
                  <a:tcPr marT="88325" marR="125730" marB="58360" marL="1922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الإجراء المعتمد، وسجل الاستثناءات</a:t>
                      </a:r>
                    </a:p>
                  </a:txBody>
                  <a:tcPr marT="88325" marR="125730" marB="58360" marL="509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30 يوماً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مسؤولة GRC</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اعتماد إجراء استثناءات بموافقة ومدة ومراجعة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تقارير 3 أشهر متتالية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بدءاً من الشهر القادم</a:t>
                      </a:r>
                    </a:p>
                  </a:txBody>
                  <a:tcPr marT="88325" marR="125730" marB="58360" marL="7334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مدير تقنية المعلومات</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مطابقة شهرية: مستخدمو VPN مقابل المجموعة</a:t>
                      </a:r>
                    </a:p>
                  </a:txBody>
                  <a:tcPr marT="88325" marR="125730" marB="58360" marL="1922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132161"/>
            <a:ext cx="113792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الإجراء الأول فوري يزيل الخطر الأكبر. الثالث والرابع يمنعان التكرار.</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ملاحظة وخطة تصحيح لنظام الرواتب</a:t>
            </a:r>
          </a:p>
        </p:txBody>
      </p:sp>
      <p:sp>
        <p:nvSpPr>
          <p:cNvPr id="7" name="Text 6"/>
          <p:cNvSpPr txBox="1"/>
          <p:nvPr/>
        </p:nvSpPr>
        <p:spPr>
          <a:xfrm>
            <a:off x="10988675" y="157428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8A4B12"/>
                </a:solidFill>
                <a:latin typeface="Readex Pro"/>
                <a:ea typeface="Readex Pro"/>
                <a:cs typeface="Readex Pro"/>
              </a:rPr>
              <a:t>1</a:t>
            </a:r>
          </a:p>
        </p:txBody>
      </p:sp>
      <p:sp>
        <p:nvSpPr>
          <p:cNvPr id="8" name="Text 7"/>
          <p:cNvSpPr txBox="1"/>
          <p:nvPr/>
        </p:nvSpPr>
        <p:spPr>
          <a:xfrm>
            <a:off x="0" y="1562854"/>
            <a:ext cx="109855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اكتب ملاحظة بعناصرها الخمسة لنتيجة التطبيق 3 (مراجعة صلاحيات نظام الرواتب).</a:t>
            </a:r>
          </a:p>
        </p:txBody>
      </p:sp>
      <p:sp>
        <p:nvSpPr>
          <p:cNvPr id="9" name="Text 8"/>
          <p:cNvSpPr txBox="1"/>
          <p:nvPr/>
        </p:nvSpPr>
        <p:spPr>
          <a:xfrm>
            <a:off x="10988675" y="205053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8A4B12"/>
                </a:solidFill>
                <a:latin typeface="Readex Pro"/>
                <a:ea typeface="Readex Pro"/>
                <a:cs typeface="Readex Pro"/>
              </a:rPr>
              <a:t>2</a:t>
            </a:r>
          </a:p>
        </p:txBody>
      </p:sp>
      <p:sp>
        <p:nvSpPr>
          <p:cNvPr id="10" name="Text 9"/>
          <p:cNvSpPr txBox="1"/>
          <p:nvPr/>
        </p:nvSpPr>
        <p:spPr>
          <a:xfrm>
            <a:off x="0" y="2039104"/>
            <a:ext cx="109855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السبب: افترض أنك تحققت من سجل الترحيل ووجدت أنه لم يُعتمد أي استثناء لتأجيل المراجعة.</a:t>
            </a:r>
          </a:p>
        </p:txBody>
      </p:sp>
      <p:sp>
        <p:nvSpPr>
          <p:cNvPr id="11" name="Text 10"/>
          <p:cNvSpPr txBox="1"/>
          <p:nvPr/>
        </p:nvSpPr>
        <p:spPr>
          <a:xfrm>
            <a:off x="10988675" y="2526784"/>
            <a:ext cx="476250" cy="400050"/>
          </a:xfrm>
          <a:prstGeom prst="rect">
            <a:avLst/>
          </a:prstGeom>
          <a:noFill/>
        </p:spPr>
        <p:txBody>
          <a:bodyPr wrap="square" tIns="0" rIns="0" bIns="0" lIns="0" anchor="t" rtlCol="0" anchorCtr="0">
            <a:noAutofit/>
          </a:bodyPr>
          <a:lstStyle/>
          <a:p>
            <a:pPr algn="ctr">
              <a:lnSpc>
                <a:spcPts val="3150"/>
              </a:lnSpc>
              <a:spcBef>
                <a:spcPts val="0"/>
              </a:spcBef>
              <a:spcAft>
                <a:spcPts val="0"/>
              </a:spcAft>
            </a:pPr>
            <a:r>
              <a:rPr sz="2250" b="1" i="0">
                <a:solidFill>
                  <a:srgbClr val="8A4B12"/>
                </a:solidFill>
                <a:latin typeface="Readex Pro"/>
                <a:ea typeface="Readex Pro"/>
                <a:cs typeface="Readex Pro"/>
              </a:rPr>
              <a:t>3</a:t>
            </a:r>
          </a:p>
        </p:txBody>
      </p:sp>
      <p:sp>
        <p:nvSpPr>
          <p:cNvPr id="12" name="Text 11"/>
          <p:cNvSpPr txBox="1"/>
          <p:nvPr/>
        </p:nvSpPr>
        <p:spPr>
          <a:xfrm>
            <a:off x="0" y="2515354"/>
            <a:ext cx="109855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اكتب خطة تصحيح من 4 إجراءات: المالك، والموعد، ودليل الإغلاق.</a:t>
            </a:r>
          </a:p>
        </p:txBody>
      </p:sp>
      <p:sp>
        <p:nvSpPr>
          <p:cNvPr id="13" name="Box 12"/>
          <p:cNvSpPr/>
          <p:nvPr/>
        </p:nvSpPr>
        <p:spPr>
          <a:xfrm>
            <a:off x="812800" y="3099395"/>
            <a:ext cx="10566400" cy="2546350"/>
          </a:xfrm>
          <a:prstGeom prst="roundRect">
            <a:avLst>
              <a:gd name="adj" fmla="val 4488"/>
            </a:avLst>
          </a:prstGeom>
          <a:solidFill>
            <a:srgbClr val="FFFDF8"/>
          </a:solidFill>
          <a:ln>
            <a:noFill/>
          </a:ln>
        </p:spPr>
        <p:txBody>
          <a:bodyPr rtlCol="0" anchor="ctr"/>
          <a:lstStyle/>
          <a:p>
            <a:pPr algn="ctr"/>
          </a:p>
        </p:txBody>
      </p:sp>
      <p:sp>
        <p:nvSpPr>
          <p:cNvPr id="14" name="Rule 13"/>
          <p:cNvSpPr/>
          <p:nvPr/>
        </p:nvSpPr>
        <p:spPr>
          <a:xfrm>
            <a:off x="812800" y="3099395"/>
            <a:ext cx="10566400" cy="50800"/>
          </a:xfrm>
          <a:prstGeom prst="rect">
            <a:avLst/>
          </a:prstGeom>
          <a:solidFill>
            <a:srgbClr val="C27A16"/>
          </a:solidFill>
          <a:ln>
            <a:noFill/>
          </a:ln>
        </p:spPr>
        <p:txBody>
          <a:bodyPr rtlCol="0" anchor="ctr"/>
          <a:lstStyle/>
          <a:p>
            <a:pPr algn="ctr"/>
          </a:p>
        </p:txBody>
      </p:sp>
      <p:sp>
        <p:nvSpPr>
          <p:cNvPr id="15" name="Rule 14"/>
          <p:cNvSpPr/>
          <p:nvPr/>
        </p:nvSpPr>
        <p:spPr>
          <a:xfrm>
            <a:off x="11372850" y="3099395"/>
            <a:ext cx="6350" cy="2546350"/>
          </a:xfrm>
          <a:prstGeom prst="rect">
            <a:avLst/>
          </a:prstGeom>
          <a:solidFill>
            <a:srgbClr val="E1DBCD"/>
          </a:solidFill>
          <a:ln>
            <a:noFill/>
          </a:ln>
        </p:spPr>
        <p:txBody>
          <a:bodyPr rtlCol="0" anchor="ctr"/>
          <a:lstStyle/>
          <a:p>
            <a:pPr algn="ctr"/>
          </a:p>
        </p:txBody>
      </p:sp>
      <p:sp>
        <p:nvSpPr>
          <p:cNvPr id="16" name="Rule 15"/>
          <p:cNvSpPr/>
          <p:nvPr/>
        </p:nvSpPr>
        <p:spPr>
          <a:xfrm>
            <a:off x="812800" y="5639395"/>
            <a:ext cx="10566400" cy="6350"/>
          </a:xfrm>
          <a:prstGeom prst="rect">
            <a:avLst/>
          </a:prstGeom>
          <a:solidFill>
            <a:srgbClr val="E1DBCD"/>
          </a:solidFill>
          <a:ln>
            <a:noFill/>
          </a:ln>
        </p:spPr>
        <p:txBody>
          <a:bodyPr rtlCol="0" anchor="ctr"/>
          <a:lstStyle/>
          <a:p>
            <a:pPr algn="ctr"/>
          </a:p>
        </p:txBody>
      </p:sp>
      <p:sp>
        <p:nvSpPr>
          <p:cNvPr id="17" name="Rule 16"/>
          <p:cNvSpPr/>
          <p:nvPr/>
        </p:nvSpPr>
        <p:spPr>
          <a:xfrm>
            <a:off x="812800" y="3099395"/>
            <a:ext cx="6350" cy="2546350"/>
          </a:xfrm>
          <a:prstGeom prst="rect">
            <a:avLst/>
          </a:prstGeom>
          <a:solidFill>
            <a:srgbClr val="E1DBCD"/>
          </a:solidFill>
          <a:ln>
            <a:noFill/>
          </a:ln>
        </p:spPr>
        <p:txBody>
          <a:bodyPr rtlCol="0" anchor="ctr"/>
          <a:lstStyle/>
          <a:p>
            <a:pPr algn="ctr"/>
          </a:p>
        </p:txBody>
      </p:sp>
      <p:sp>
        <p:nvSpPr>
          <p:cNvPr id="18" name="Text 17"/>
          <p:cNvSpPr txBox="1"/>
          <p:nvPr/>
        </p:nvSpPr>
        <p:spPr>
          <a:xfrm>
            <a:off x="838200" y="3290149"/>
            <a:ext cx="10356850" cy="388938"/>
          </a:xfrm>
          <a:prstGeom prst="rect">
            <a:avLst/>
          </a:prstGeom>
          <a:noFill/>
        </p:spPr>
        <p:txBody>
          <a:bodyPr wrap="square" tIns="0" rIns="0" bIns="0" lIns="0" anchor="t" rtlCol="0" anchorCtr="0">
            <a:noAutofit/>
          </a:bodyPr>
          <a:lstStyle/>
          <a:p>
            <a:pPr algn="r" rtl="1">
              <a:lnSpc>
                <a:spcPts val="3062"/>
              </a:lnSpc>
              <a:spcBef>
                <a:spcPts val="0"/>
              </a:spcBef>
              <a:spcAft>
                <a:spcPts val="0"/>
              </a:spcAft>
            </a:pPr>
            <a:r>
              <a:rPr sz="2450" b="1" i="0">
                <a:solidFill>
                  <a:srgbClr val="8A4B12"/>
                </a:solidFill>
                <a:latin typeface="Readex Pro"/>
                <a:ea typeface="Readex Pro"/>
                <a:cs typeface="Readex Pro"/>
              </a:rPr>
              <a:t>نتيجتك في التطبيق 3: مطبق جزئياً</a:t>
            </a:r>
          </a:p>
        </p:txBody>
      </p:sp>
      <p:pic>
        <p:nvPicPr>
          <p:cNvPr id="19" name="Icon Check 18" descr="icon048.png"/>
          <p:cNvPicPr>
            <a:picLocks noChangeAspect="1"/>
          </p:cNvPicPr>
          <p:nvPr/>
        </p:nvPicPr>
        <p:blipFill>
          <a:blip r:embed="rId2"/>
          <a:stretch>
            <a:fillRect/>
          </a:stretch>
        </p:blipFill>
        <p:spPr>
          <a:xfrm>
            <a:off x="10941050" y="3767733"/>
            <a:ext cx="254000" cy="254000"/>
          </a:xfrm>
          <a:prstGeom prst="rect">
            <a:avLst/>
          </a:prstGeom>
        </p:spPr>
      </p:pic>
      <p:sp>
        <p:nvSpPr>
          <p:cNvPr id="20" name="Text 19"/>
          <p:cNvSpPr txBox="1"/>
          <p:nvPr/>
        </p:nvSpPr>
        <p:spPr>
          <a:xfrm>
            <a:off x="838200" y="3725410"/>
            <a:ext cx="998855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الربع الأول نُفذ واعتُمد في موعده.</a:t>
            </a:r>
          </a:p>
        </p:txBody>
      </p:sp>
      <p:pic>
        <p:nvPicPr>
          <p:cNvPr id="21" name="Icon Check 20" descr="icon048.png"/>
          <p:cNvPicPr>
            <a:picLocks noChangeAspect="1"/>
          </p:cNvPicPr>
          <p:nvPr/>
        </p:nvPicPr>
        <p:blipFill>
          <a:blip r:embed="rId2"/>
          <a:stretch>
            <a:fillRect/>
          </a:stretch>
        </p:blipFill>
        <p:spPr>
          <a:xfrm>
            <a:off x="10941050" y="4213423"/>
            <a:ext cx="254000" cy="254000"/>
          </a:xfrm>
          <a:prstGeom prst="rect">
            <a:avLst/>
          </a:prstGeom>
        </p:spPr>
      </p:pic>
      <p:sp>
        <p:nvSpPr>
          <p:cNvPr id="22" name="Text 21"/>
          <p:cNvSpPr txBox="1"/>
          <p:nvPr/>
        </p:nvSpPr>
        <p:spPr>
          <a:xfrm>
            <a:off x="838200" y="4171101"/>
            <a:ext cx="998855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الربع الثاني لم يُنفذ حتى 30 يونيو.</a:t>
            </a:r>
          </a:p>
        </p:txBody>
      </p:sp>
      <p:pic>
        <p:nvPicPr>
          <p:cNvPr id="23" name="Icon Check 22" descr="icon048.png"/>
          <p:cNvPicPr>
            <a:picLocks noChangeAspect="1"/>
          </p:cNvPicPr>
          <p:nvPr/>
        </p:nvPicPr>
        <p:blipFill>
          <a:blip r:embed="rId2"/>
          <a:stretch>
            <a:fillRect/>
          </a:stretch>
        </p:blipFill>
        <p:spPr>
          <a:xfrm>
            <a:off x="10941050" y="4659114"/>
            <a:ext cx="254000" cy="254000"/>
          </a:xfrm>
          <a:prstGeom prst="rect">
            <a:avLst/>
          </a:prstGeom>
        </p:spPr>
      </p:pic>
      <p:sp>
        <p:nvSpPr>
          <p:cNvPr id="24" name="Text 23"/>
          <p:cNvSpPr txBox="1"/>
          <p:nvPr/>
        </p:nvSpPr>
        <p:spPr>
          <a:xfrm>
            <a:off x="838200" y="4616791"/>
            <a:ext cx="998855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3 من 12 إزالة تأخرت عن مهلة 5 أيام عمل.</a:t>
            </a:r>
          </a:p>
        </p:txBody>
      </p:sp>
      <p:pic>
        <p:nvPicPr>
          <p:cNvPr id="25" name="Icon Check 24" descr="icon048.png"/>
          <p:cNvPicPr>
            <a:picLocks noChangeAspect="1"/>
          </p:cNvPicPr>
          <p:nvPr/>
        </p:nvPicPr>
        <p:blipFill>
          <a:blip r:embed="rId2"/>
          <a:stretch>
            <a:fillRect/>
          </a:stretch>
        </p:blipFill>
        <p:spPr>
          <a:xfrm>
            <a:off x="10941050" y="5104805"/>
            <a:ext cx="254000" cy="254000"/>
          </a:xfrm>
          <a:prstGeom prst="rect">
            <a:avLst/>
          </a:prstGeom>
        </p:spPr>
      </p:pic>
      <p:sp>
        <p:nvSpPr>
          <p:cNvPr id="26" name="Text 25"/>
          <p:cNvSpPr txBox="1"/>
          <p:nvPr/>
        </p:nvSpPr>
        <p:spPr>
          <a:xfrm>
            <a:off x="838200" y="5062482"/>
            <a:ext cx="9988550" cy="382191"/>
          </a:xfrm>
          <a:prstGeom prst="rect">
            <a:avLst/>
          </a:prstGeom>
          <a:noFill/>
        </p:spPr>
        <p:txBody>
          <a:bodyPr wrap="square" tIns="0" rIns="0" bIns="0" lIns="0" anchor="t" rtlCol="0" anchorCtr="0">
            <a:noAutofit/>
          </a:bodyPr>
          <a:lstStyle/>
          <a:p>
            <a:pPr algn="r" rtl="1">
              <a:lnSpc>
                <a:spcPts val="3010"/>
              </a:lnSpc>
              <a:spcBef>
                <a:spcPts val="0"/>
              </a:spcBef>
              <a:spcAft>
                <a:spcPts val="0"/>
              </a:spcAft>
            </a:pPr>
            <a:r>
              <a:rPr sz="2150" b="0" i="0">
                <a:solidFill>
                  <a:srgbClr val="172433"/>
                </a:solidFill>
                <a:latin typeface="IBM Plex Sans Arabic"/>
                <a:ea typeface="IBM Plex Sans Arabic"/>
                <a:cs typeface="IBM Plex Sans Arabic"/>
              </a:rPr>
              <a:t>في 2 يوليو: حسابان لمغادرين في مايو ما زالا نشطين.</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النموذج</a:t>
            </a:r>
          </a:p>
        </p:txBody>
      </p:sp>
      <p:sp>
        <p:nvSpPr>
          <p:cNvPr id="7" name="Text 6"/>
          <p:cNvSpPr txBox="1"/>
          <p:nvPr/>
        </p:nvSpPr>
        <p:spPr>
          <a:xfrm>
            <a:off x="9777730" y="1558028"/>
            <a:ext cx="1601470" cy="46990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العنوان</a:t>
            </a:r>
          </a:p>
        </p:txBody>
      </p:sp>
      <p:sp>
        <p:nvSpPr>
          <p:cNvPr id="8" name="Box 7"/>
          <p:cNvSpPr/>
          <p:nvPr/>
        </p:nvSpPr>
        <p:spPr>
          <a:xfrm>
            <a:off x="819150" y="1600795"/>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777730" y="2104128"/>
            <a:ext cx="1601470" cy="5321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الوضع القائم</a:t>
            </a:r>
          </a:p>
        </p:txBody>
      </p:sp>
      <p:sp>
        <p:nvSpPr>
          <p:cNvPr id="10" name="Box 9"/>
          <p:cNvSpPr/>
          <p:nvPr/>
        </p:nvSpPr>
        <p:spPr>
          <a:xfrm>
            <a:off x="819150" y="2146895"/>
            <a:ext cx="8978900" cy="519410"/>
          </a:xfrm>
          <a:prstGeom prst="roundRect">
            <a:avLst>
              <a:gd name="adj" fmla="val 14320"/>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205728"/>
            <a:ext cx="88265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9AA5AE"/>
                </a:solidFill>
                <a:latin typeface="IBM Plex Sans Arabic"/>
                <a:ea typeface="IBM Plex Sans Arabic"/>
                <a:cs typeface="IBM Plex Sans Arabic"/>
              </a:rPr>
              <a:t>أرقام وتواريخ…</a:t>
            </a:r>
          </a:p>
        </p:txBody>
      </p:sp>
      <p:sp>
        <p:nvSpPr>
          <p:cNvPr id="12" name="Text 11"/>
          <p:cNvSpPr txBox="1"/>
          <p:nvPr/>
        </p:nvSpPr>
        <p:spPr>
          <a:xfrm>
            <a:off x="9777730" y="2712438"/>
            <a:ext cx="1601470" cy="46990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المعيار</a:t>
            </a:r>
          </a:p>
        </p:txBody>
      </p:sp>
      <p:sp>
        <p:nvSpPr>
          <p:cNvPr id="13" name="Box 12"/>
          <p:cNvSpPr/>
          <p:nvPr/>
        </p:nvSpPr>
        <p:spPr>
          <a:xfrm>
            <a:off x="819150" y="2755205"/>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4" name="Text 13"/>
          <p:cNvSpPr txBox="1"/>
          <p:nvPr/>
        </p:nvSpPr>
        <p:spPr>
          <a:xfrm>
            <a:off x="9777730" y="3258538"/>
            <a:ext cx="1601470" cy="5321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السبب</a:t>
            </a:r>
          </a:p>
        </p:txBody>
      </p:sp>
      <p:sp>
        <p:nvSpPr>
          <p:cNvPr id="15" name="Box 14"/>
          <p:cNvSpPr/>
          <p:nvPr/>
        </p:nvSpPr>
        <p:spPr>
          <a:xfrm>
            <a:off x="819150" y="3301305"/>
            <a:ext cx="8978900" cy="519410"/>
          </a:xfrm>
          <a:prstGeom prst="roundRect">
            <a:avLst>
              <a:gd name="adj" fmla="val 14320"/>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838200" y="3360138"/>
            <a:ext cx="88265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9AA5AE"/>
                </a:solidFill>
                <a:latin typeface="IBM Plex Sans Arabic"/>
                <a:ea typeface="IBM Plex Sans Arabic"/>
                <a:cs typeface="IBM Plex Sans Arabic"/>
              </a:rPr>
              <a:t>ما تحققت منه…</a:t>
            </a:r>
          </a:p>
        </p:txBody>
      </p:sp>
      <p:sp>
        <p:nvSpPr>
          <p:cNvPr id="17" name="Text 16"/>
          <p:cNvSpPr txBox="1"/>
          <p:nvPr/>
        </p:nvSpPr>
        <p:spPr>
          <a:xfrm>
            <a:off x="9777730" y="3866848"/>
            <a:ext cx="1601470" cy="46990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الأثر</a:t>
            </a:r>
          </a:p>
        </p:txBody>
      </p:sp>
      <p:sp>
        <p:nvSpPr>
          <p:cNvPr id="18" name="Box 17"/>
          <p:cNvSpPr/>
          <p:nvPr/>
        </p:nvSpPr>
        <p:spPr>
          <a:xfrm>
            <a:off x="819150" y="3909616"/>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9777730" y="4412948"/>
            <a:ext cx="1601470" cy="5321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172433"/>
                </a:solidFill>
                <a:latin typeface="IBM Plex Sans Arabic"/>
                <a:ea typeface="IBM Plex Sans Arabic"/>
                <a:cs typeface="IBM Plex Sans Arabic"/>
              </a:rPr>
              <a:t>التوصية</a:t>
            </a:r>
          </a:p>
        </p:txBody>
      </p:sp>
      <p:sp>
        <p:nvSpPr>
          <p:cNvPr id="20" name="Box 19"/>
          <p:cNvSpPr/>
          <p:nvPr/>
        </p:nvSpPr>
        <p:spPr>
          <a:xfrm>
            <a:off x="819150" y="4455716"/>
            <a:ext cx="8978900" cy="519410"/>
          </a:xfrm>
          <a:prstGeom prst="roundRect">
            <a:avLst>
              <a:gd name="adj" fmla="val 14320"/>
            </a:avLst>
          </a:prstGeom>
          <a:solidFill>
            <a:srgbClr val="FFFFFF"/>
          </a:solidFill>
          <a:ln w="12700">
            <a:solidFill>
              <a:srgbClr val="C9C0AC"/>
            </a:solidFill>
            <a:prstDash val="dash"/>
          </a:ln>
        </p:spPr>
        <p:txBody>
          <a:bodyPr rtlCol="0" anchor="ctr"/>
          <a:lstStyle/>
          <a:p>
            <a:pPr algn="ctr"/>
          </a:p>
        </p:txBody>
      </p:sp>
      <p:sp>
        <p:nvSpPr>
          <p:cNvPr id="21" name="Text 20"/>
          <p:cNvSpPr txBox="1"/>
          <p:nvPr/>
        </p:nvSpPr>
        <p:spPr>
          <a:xfrm>
            <a:off x="838200" y="4514548"/>
            <a:ext cx="88265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9AA5AE"/>
                </a:solidFill>
                <a:latin typeface="IBM Plex Sans Arabic"/>
                <a:ea typeface="IBM Plex Sans Arabic"/>
                <a:cs typeface="IBM Plex Sans Arabic"/>
              </a:rPr>
              <a:t>ما يعالج السبب</a:t>
            </a:r>
          </a:p>
        </p:txBody>
      </p:sp>
      <p:sp>
        <p:nvSpPr>
          <p:cNvPr id="22" name="Text 21"/>
          <p:cNvSpPr txBox="1"/>
          <p:nvPr/>
        </p:nvSpPr>
        <p:spPr>
          <a:xfrm>
            <a:off x="0" y="5075011"/>
            <a:ext cx="113792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4E5A66"/>
                </a:solidFill>
                <a:latin typeface="IBM Plex Sans Arabic"/>
                <a:ea typeface="IBM Plex Sans Arabic"/>
                <a:cs typeface="IBM Plex Sans Arabic"/>
              </a:rPr>
              <a:t>وجدول خطة التصحيح في الكراسة: الإجراء، والمالك، والموعد، ودليل الإغلاق. 20 دقيقة.</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الملاحظة</a:t>
            </a:r>
          </a:p>
        </p:txBody>
      </p:sp>
      <p:sp>
        <p:nvSpPr>
          <p:cNvPr id="7" name="Box 6"/>
          <p:cNvSpPr/>
          <p:nvPr/>
        </p:nvSpPr>
        <p:spPr>
          <a:xfrm>
            <a:off x="815975" y="1661120"/>
            <a:ext cx="10560050" cy="4006056"/>
          </a:xfrm>
          <a:prstGeom prst="roundRect">
            <a:avLst>
              <a:gd name="adj" fmla="val 2848"/>
            </a:avLst>
          </a:prstGeom>
          <a:solidFill>
            <a:srgbClr val="FFFDF8"/>
          </a:solidFill>
          <a:ln w="6350">
            <a:solidFill>
              <a:srgbClr val="E1DBCD"/>
            </a:solidFill>
          </a:ln>
        </p:spPr>
        <p:txBody>
          <a:bodyPr rtlCol="0" anchor="ctr"/>
          <a:lstStyle/>
          <a:p>
            <a:pPr algn="ctr"/>
          </a:p>
        </p:txBody>
      </p:sp>
      <p:sp>
        <p:nvSpPr>
          <p:cNvPr id="8" name="Text 7"/>
          <p:cNvSpPr txBox="1"/>
          <p:nvPr/>
        </p:nvSpPr>
        <p:spPr>
          <a:xfrm>
            <a:off x="9716770" y="1779294"/>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العنوان</a:t>
            </a:r>
          </a:p>
        </p:txBody>
      </p:sp>
      <p:sp>
        <p:nvSpPr>
          <p:cNvPr id="9" name="Text 8"/>
          <p:cNvSpPr txBox="1"/>
          <p:nvPr/>
        </p:nvSpPr>
        <p:spPr>
          <a:xfrm>
            <a:off x="838200" y="1779294"/>
            <a:ext cx="89090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عدم انتظام المراجعة الدورية لصلاحيات نظام الموارد البشرية والرواتب</a:t>
            </a:r>
          </a:p>
        </p:txBody>
      </p:sp>
      <p:sp>
        <p:nvSpPr>
          <p:cNvPr id="10" name="Text 9"/>
          <p:cNvSpPr txBox="1"/>
          <p:nvPr/>
        </p:nvSpPr>
        <p:spPr>
          <a:xfrm>
            <a:off x="9716770" y="2180534"/>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الوضع القائم</a:t>
            </a:r>
          </a:p>
        </p:txBody>
      </p:sp>
      <p:sp>
        <p:nvSpPr>
          <p:cNvPr id="11" name="Text 10"/>
          <p:cNvSpPr txBox="1"/>
          <p:nvPr/>
        </p:nvSpPr>
        <p:spPr>
          <a:xfrm>
            <a:off x="838200" y="2180534"/>
            <a:ext cx="8909050" cy="1013222"/>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نُفذت مراجعة الربع الأول واعتُمدت في موعدها، لكن 3 من 12 إزالة نُفذت بعد 6 أسابيع، ولم تُنفذ مراجعة الربع الثاني حتى 30 يونيو 2026. وفي 2 يوليو كان حسابان لموظفين غادروا في مايو ما زالا نشطين.</a:t>
            </a:r>
          </a:p>
        </p:txBody>
      </p:sp>
      <p:sp>
        <p:nvSpPr>
          <p:cNvPr id="12" name="Text 11"/>
          <p:cNvSpPr txBox="1"/>
          <p:nvPr/>
        </p:nvSpPr>
        <p:spPr>
          <a:xfrm>
            <a:off x="9716770" y="3257256"/>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المعيار</a:t>
            </a:r>
          </a:p>
        </p:txBody>
      </p:sp>
      <p:sp>
        <p:nvSpPr>
          <p:cNvPr id="13" name="Text 12"/>
          <p:cNvSpPr txBox="1"/>
          <p:nvPr/>
        </p:nvSpPr>
        <p:spPr>
          <a:xfrm>
            <a:off x="838200" y="3257256"/>
            <a:ext cx="89090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ECC ‎2-2-3-5‎، ومعيار التحكم بالوصول (يناير 2026): مراجعة كل 3 أشهر، وإزالة خلال 5 أيام عمل.</a:t>
            </a:r>
          </a:p>
        </p:txBody>
      </p:sp>
      <p:sp>
        <p:nvSpPr>
          <p:cNvPr id="14" name="Text 13"/>
          <p:cNvSpPr txBox="1"/>
          <p:nvPr/>
        </p:nvSpPr>
        <p:spPr>
          <a:xfrm>
            <a:off x="9716770" y="3658497"/>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السبب</a:t>
            </a:r>
          </a:p>
        </p:txBody>
      </p:sp>
      <p:sp>
        <p:nvSpPr>
          <p:cNvPr id="15" name="Text 14"/>
          <p:cNvSpPr txBox="1"/>
          <p:nvPr/>
        </p:nvSpPr>
        <p:spPr>
          <a:xfrm>
            <a:off x="838200" y="3658497"/>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أُجّلت مراجعة الربع الثاني بسبب ترحيل النظام دون استثناء معتمد أو موعد بديل، ولا توجد متابعة لتذاكر الإزالة المتأخرة. تحققنا من ذلك بسجل الترحيل وتذاكر الإزالة.</a:t>
            </a:r>
          </a:p>
        </p:txBody>
      </p:sp>
      <p:sp>
        <p:nvSpPr>
          <p:cNvPr id="16" name="Text 15"/>
          <p:cNvSpPr txBox="1"/>
          <p:nvPr/>
        </p:nvSpPr>
        <p:spPr>
          <a:xfrm>
            <a:off x="9716770" y="4397478"/>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الأثر</a:t>
            </a:r>
          </a:p>
        </p:txBody>
      </p:sp>
      <p:sp>
        <p:nvSpPr>
          <p:cNvPr id="17" name="Text 16"/>
          <p:cNvSpPr txBox="1"/>
          <p:nvPr/>
        </p:nvSpPr>
        <p:spPr>
          <a:xfrm>
            <a:off x="838200" y="4397478"/>
            <a:ext cx="890905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بقاء صلاحيات غير مبررة على رواتب الموظفين وحساباتهم البنكية، منها حسابان لمغادرين.</a:t>
            </a:r>
          </a:p>
        </p:txBody>
      </p:sp>
      <p:sp>
        <p:nvSpPr>
          <p:cNvPr id="18" name="Text 17"/>
          <p:cNvSpPr txBox="1"/>
          <p:nvPr/>
        </p:nvSpPr>
        <p:spPr>
          <a:xfrm>
            <a:off x="9716770" y="4798719"/>
            <a:ext cx="1478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0E7C6B"/>
                </a:solidFill>
                <a:latin typeface="IBM Plex Sans Arabic"/>
                <a:ea typeface="IBM Plex Sans Arabic"/>
                <a:cs typeface="IBM Plex Sans Arabic"/>
              </a:rPr>
              <a:t>التوصية</a:t>
            </a:r>
          </a:p>
        </p:txBody>
      </p:sp>
      <p:sp>
        <p:nvSpPr>
          <p:cNvPr id="19" name="Text 18"/>
          <p:cNvSpPr txBox="1"/>
          <p:nvPr/>
        </p:nvSpPr>
        <p:spPr>
          <a:xfrm>
            <a:off x="838200" y="4798719"/>
            <a:ext cx="890905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تعطيل حسابي المغادرين فوراً، وإكمال مراجعة الربع الثاني، واعتماد جدول مراجعات ببديل معتمد عند التعارض، ومتابعة تذاكر الإزالة. التفاصيل في خطة التصحيح.</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خطة التصحيح وإعادة الاختبار</a:t>
            </a:r>
          </a:p>
        </p:txBody>
      </p:sp>
      <p:graphicFrame>
        <p:nvGraphicFramePr>
          <p:cNvPr id="7" name="Table 6"/>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2956560"/>
                <a:gridCol w="1478280"/>
                <a:gridCol w="2323465"/>
                <a:gridCol w="380174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دليل الإغلاق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الموعد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المالك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الإجراء</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تصدير الحسابات، ونتيجة مراجعة السجل</a:t>
                      </a:r>
                    </a:p>
                  </a:txBody>
                  <a:tcPr marT="96355" marR="137160" marB="63665" marL="5668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يوما عمل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تعطيل حسابي المغادرين ومراجعة نشاطهما بعد المغادرة</a:t>
                      </a:r>
                    </a:p>
                  </a:txBody>
                  <a:tcPr marT="96355" marR="137160" marB="63665" marL="3133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ملف المراجعة المعتمد، وتذاكر الإزالة</a:t>
                      </a:r>
                    </a:p>
                  </a:txBody>
                  <a:tcPr marT="96355" marR="137160" marB="63665" marL="5668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15 يوم عمل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مديرة الموارد البشرية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تنفيذ مراجعة الربع الثاني واعتمادها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الجدول المعتمد، وإعداد التذكير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مديرة الموارد البشرية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جدول مراجعات سنوي بتذكير آلي وبديل معتمد عند التعارض</a:t>
                      </a:r>
                    </a:p>
                  </a:txBody>
                  <a:tcPr marT="96355" marR="137160" marB="63665" marL="3133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التذاكر الأسبوعي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فوراً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متابعة أسبوعية لتذاكر الإزالة المفتوحة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Box 7"/>
          <p:cNvSpPr/>
          <p:nvPr/>
        </p:nvSpPr>
        <p:spPr>
          <a:xfrm>
            <a:off x="812800" y="5154811"/>
            <a:ext cx="10566400" cy="609600"/>
          </a:xfrm>
          <a:prstGeom prst="roundRect">
            <a:avLst>
              <a:gd name="adj" fmla="val 16666"/>
            </a:avLst>
          </a:prstGeom>
          <a:solidFill>
            <a:srgbClr val="E3F1ED"/>
          </a:solidFill>
          <a:ln>
            <a:noFill/>
          </a:ln>
        </p:spPr>
        <p:txBody>
          <a:bodyPr rtlCol="0" anchor="ctr"/>
          <a:lstStyle/>
          <a:p>
            <a:pPr algn="ctr"/>
          </a:p>
        </p:txBody>
      </p:sp>
      <p:pic>
        <p:nvPicPr>
          <p:cNvPr id="9" name="Icon Verified 8" descr="icon049.png"/>
          <p:cNvPicPr>
            <a:picLocks noChangeAspect="1"/>
          </p:cNvPicPr>
          <p:nvPr/>
        </p:nvPicPr>
        <p:blipFill>
          <a:blip r:embed="rId2"/>
          <a:stretch>
            <a:fillRect/>
          </a:stretch>
        </p:blipFill>
        <p:spPr>
          <a:xfrm>
            <a:off x="10941050" y="5329436"/>
            <a:ext cx="260350" cy="260350"/>
          </a:xfrm>
          <a:prstGeom prst="rect">
            <a:avLst/>
          </a:prstGeom>
        </p:spPr>
      </p:pic>
      <p:sp>
        <p:nvSpPr>
          <p:cNvPr id="10" name="Text 9"/>
          <p:cNvSpPr txBox="1"/>
          <p:nvPr/>
        </p:nvSpPr>
        <p:spPr>
          <a:xfrm>
            <a:off x="838200" y="5242441"/>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تعيد GRC الاختبار بعد مراجعة الربع الثالث، ولا تُغلق الملاحظة إلا بأدلة الإغلاق.</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4: أخطاء شائعة</a:t>
            </a:r>
          </a:p>
        </p:txBody>
      </p:sp>
      <p:sp>
        <p:nvSpPr>
          <p:cNvPr id="7" name="Box 6"/>
          <p:cNvSpPr/>
          <p:nvPr/>
        </p:nvSpPr>
        <p:spPr>
          <a:xfrm>
            <a:off x="6188075" y="1661120"/>
            <a:ext cx="5187950" cy="3301008"/>
          </a:xfrm>
          <a:prstGeom prst="roundRect">
            <a:avLst>
              <a:gd name="adj" fmla="val 3455"/>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ما يجعل الإجابة قوية</a:t>
            </a:r>
          </a:p>
        </p:txBody>
      </p:sp>
      <p:pic>
        <p:nvPicPr>
          <p:cNvPr id="9" name="Icon CheckCircle 8" descr="icon026.png"/>
          <p:cNvPicPr>
            <a:picLocks noChangeAspect="1"/>
          </p:cNvPicPr>
          <p:nvPr/>
        </p:nvPicPr>
        <p:blipFill>
          <a:blip r:embed="rId2"/>
          <a:stretch>
            <a:fillRect/>
          </a:stretch>
        </p:blipFill>
        <p:spPr>
          <a:xfrm>
            <a:off x="10928350" y="2327870"/>
            <a:ext cx="241300" cy="241300"/>
          </a:xfrm>
          <a:prstGeom prst="rect">
            <a:avLst/>
          </a:prstGeom>
        </p:spPr>
      </p:pic>
      <p:sp>
        <p:nvSpPr>
          <p:cNvPr id="10" name="Text 9"/>
          <p:cNvSpPr txBox="1"/>
          <p:nvPr/>
        </p:nvSpPr>
        <p:spPr>
          <a:xfrm>
            <a:off x="6210300" y="2287516"/>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الوضع القائم أرقام وتواريخ، لا أحكام عامة.</a:t>
            </a:r>
          </a:p>
        </p:txBody>
      </p:sp>
      <p:pic>
        <p:nvPicPr>
          <p:cNvPr id="11" name="Icon CheckCircle 10" descr="icon026.png"/>
          <p:cNvPicPr>
            <a:picLocks noChangeAspect="1"/>
          </p:cNvPicPr>
          <p:nvPr/>
        </p:nvPicPr>
        <p:blipFill>
          <a:blip r:embed="rId2"/>
          <a:stretch>
            <a:fillRect/>
          </a:stretch>
        </p:blipFill>
        <p:spPr>
          <a:xfrm>
            <a:off x="10928350" y="2781201"/>
            <a:ext cx="241300" cy="241300"/>
          </a:xfrm>
          <a:prstGeom prst="rect">
            <a:avLst/>
          </a:prstGeom>
        </p:spPr>
      </p:pic>
      <p:sp>
        <p:nvSpPr>
          <p:cNvPr id="12" name="Text 11"/>
          <p:cNvSpPr txBox="1"/>
          <p:nvPr/>
        </p:nvSpPr>
        <p:spPr>
          <a:xfrm>
            <a:off x="6261862" y="2740847"/>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السبب مُتحقق منه، ويعالج العملية لا الأشخاص.</a:t>
            </a:r>
          </a:p>
        </p:txBody>
      </p:sp>
      <p:pic>
        <p:nvPicPr>
          <p:cNvPr id="13" name="Icon CheckCircle 12" descr="icon026.png"/>
          <p:cNvPicPr>
            <a:picLocks noChangeAspect="1"/>
          </p:cNvPicPr>
          <p:nvPr/>
        </p:nvPicPr>
        <p:blipFill>
          <a:blip r:embed="rId2"/>
          <a:stretch>
            <a:fillRect/>
          </a:stretch>
        </p:blipFill>
        <p:spPr>
          <a:xfrm>
            <a:off x="10928350" y="3598962"/>
            <a:ext cx="241300" cy="241300"/>
          </a:xfrm>
          <a:prstGeom prst="rect">
            <a:avLst/>
          </a:prstGeom>
        </p:spPr>
      </p:pic>
      <p:sp>
        <p:nvSpPr>
          <p:cNvPr id="14" name="Text 13"/>
          <p:cNvSpPr txBox="1"/>
          <p:nvPr/>
        </p:nvSpPr>
        <p:spPr>
          <a:xfrm>
            <a:off x="6261862" y="3558607"/>
            <a:ext cx="45521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كل إجراء له مالك واحد باسم الوظيفة، وموعد، ودليل إغلاق.</a:t>
            </a:r>
          </a:p>
        </p:txBody>
      </p:sp>
      <p:pic>
        <p:nvPicPr>
          <p:cNvPr id="15" name="Icon CheckCircle 14" descr="icon026.png"/>
          <p:cNvPicPr>
            <a:picLocks noChangeAspect="1"/>
          </p:cNvPicPr>
          <p:nvPr/>
        </p:nvPicPr>
        <p:blipFill>
          <a:blip r:embed="rId2"/>
          <a:stretch>
            <a:fillRect/>
          </a:stretch>
        </p:blipFill>
        <p:spPr>
          <a:xfrm>
            <a:off x="10928350" y="4416723"/>
            <a:ext cx="241300" cy="241300"/>
          </a:xfrm>
          <a:prstGeom prst="rect">
            <a:avLst/>
          </a:prstGeom>
        </p:spPr>
      </p:pic>
      <p:sp>
        <p:nvSpPr>
          <p:cNvPr id="16" name="Text 15"/>
          <p:cNvSpPr txBox="1"/>
          <p:nvPr/>
        </p:nvSpPr>
        <p:spPr>
          <a:xfrm>
            <a:off x="6210300" y="4376368"/>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إجراء فوري لإزالة الخطر، وإجراءات تمنع التكرار.</a:t>
            </a:r>
          </a:p>
        </p:txBody>
      </p:sp>
      <p:sp>
        <p:nvSpPr>
          <p:cNvPr id="17" name="Box 16"/>
          <p:cNvSpPr/>
          <p:nvPr/>
        </p:nvSpPr>
        <p:spPr>
          <a:xfrm>
            <a:off x="815975" y="1661120"/>
            <a:ext cx="5187950" cy="3301008"/>
          </a:xfrm>
          <a:prstGeom prst="roundRect">
            <a:avLst>
              <a:gd name="adj" fmla="val 3455"/>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B4412C"/>
                </a:solidFill>
                <a:latin typeface="Readex Pro"/>
                <a:ea typeface="Readex Pro"/>
                <a:cs typeface="Readex Pro"/>
              </a:rPr>
              <a:t>أخطاء شائعة</a:t>
            </a:r>
          </a:p>
        </p:txBody>
      </p:sp>
      <p:pic>
        <p:nvPicPr>
          <p:cNvPr id="19" name="Icon Warning 18" descr="icon027.png"/>
          <p:cNvPicPr>
            <a:picLocks noChangeAspect="1"/>
          </p:cNvPicPr>
          <p:nvPr/>
        </p:nvPicPr>
        <p:blipFill>
          <a:blip r:embed="rId3"/>
          <a:stretch>
            <a:fillRect/>
          </a:stretch>
        </p:blipFill>
        <p:spPr>
          <a:xfrm>
            <a:off x="5556250" y="2327870"/>
            <a:ext cx="241300" cy="241300"/>
          </a:xfrm>
          <a:prstGeom prst="rect">
            <a:avLst/>
          </a:prstGeom>
        </p:spPr>
      </p:pic>
      <p:sp>
        <p:nvSpPr>
          <p:cNvPr id="20" name="Text 19"/>
          <p:cNvSpPr txBox="1"/>
          <p:nvPr/>
        </p:nvSpPr>
        <p:spPr>
          <a:xfrm>
            <a:off x="838200" y="2287516"/>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لوم شخص بالاسم بدل العملية.</a:t>
            </a:r>
          </a:p>
        </p:txBody>
      </p:sp>
      <p:pic>
        <p:nvPicPr>
          <p:cNvPr id="21" name="Icon Warning 20" descr="icon027.png"/>
          <p:cNvPicPr>
            <a:picLocks noChangeAspect="1"/>
          </p:cNvPicPr>
          <p:nvPr/>
        </p:nvPicPr>
        <p:blipFill>
          <a:blip r:embed="rId3"/>
          <a:stretch>
            <a:fillRect/>
          </a:stretch>
        </p:blipFill>
        <p:spPr>
          <a:xfrm>
            <a:off x="5556250" y="2781201"/>
            <a:ext cx="241300" cy="241300"/>
          </a:xfrm>
          <a:prstGeom prst="rect">
            <a:avLst/>
          </a:prstGeom>
        </p:spPr>
      </p:pic>
      <p:sp>
        <p:nvSpPr>
          <p:cNvPr id="22" name="Text 21"/>
          <p:cNvSpPr txBox="1"/>
          <p:nvPr/>
        </p:nvSpPr>
        <p:spPr>
          <a:xfrm>
            <a:off x="838200" y="274084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مالك عام: «تقنية المعلومات» أو «الجميع».</a:t>
            </a:r>
          </a:p>
        </p:txBody>
      </p:sp>
      <p:pic>
        <p:nvPicPr>
          <p:cNvPr id="23" name="Icon Warning 22" descr="icon027.png"/>
          <p:cNvPicPr>
            <a:picLocks noChangeAspect="1"/>
          </p:cNvPicPr>
          <p:nvPr/>
        </p:nvPicPr>
        <p:blipFill>
          <a:blip r:embed="rId3"/>
          <a:stretch>
            <a:fillRect/>
          </a:stretch>
        </p:blipFill>
        <p:spPr>
          <a:xfrm>
            <a:off x="5556250" y="3234531"/>
            <a:ext cx="241300" cy="241300"/>
          </a:xfrm>
          <a:prstGeom prst="rect">
            <a:avLst/>
          </a:prstGeom>
        </p:spPr>
      </p:pic>
      <p:sp>
        <p:nvSpPr>
          <p:cNvPr id="24" name="Text 23"/>
          <p:cNvSpPr txBox="1"/>
          <p:nvPr/>
        </p:nvSpPr>
        <p:spPr>
          <a:xfrm>
            <a:off x="838200" y="319417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إجراء بلا موعد أو دليل إغلاق.</a:t>
            </a:r>
          </a:p>
        </p:txBody>
      </p:sp>
      <p:pic>
        <p:nvPicPr>
          <p:cNvPr id="25" name="Icon Warning 24" descr="icon027.png"/>
          <p:cNvPicPr>
            <a:picLocks noChangeAspect="1"/>
          </p:cNvPicPr>
          <p:nvPr/>
        </p:nvPicPr>
        <p:blipFill>
          <a:blip r:embed="rId3"/>
          <a:stretch>
            <a:fillRect/>
          </a:stretch>
        </p:blipFill>
        <p:spPr>
          <a:xfrm>
            <a:off x="5556250" y="3687862"/>
            <a:ext cx="241300" cy="241300"/>
          </a:xfrm>
          <a:prstGeom prst="rect">
            <a:avLst/>
          </a:prstGeom>
        </p:spPr>
      </p:pic>
      <p:sp>
        <p:nvSpPr>
          <p:cNvPr id="26" name="Text 25"/>
          <p:cNvSpPr txBox="1"/>
          <p:nvPr/>
        </p:nvSpPr>
        <p:spPr>
          <a:xfrm>
            <a:off x="838200" y="3647507"/>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الاكتفاء بتوصية «تدريب الموظفين».</a:t>
            </a:r>
          </a:p>
        </p:txBody>
      </p:sp>
      <p:pic>
        <p:nvPicPr>
          <p:cNvPr id="27" name="Icon Warning 26" descr="icon027.png"/>
          <p:cNvPicPr>
            <a:picLocks noChangeAspect="1"/>
          </p:cNvPicPr>
          <p:nvPr/>
        </p:nvPicPr>
        <p:blipFill>
          <a:blip r:embed="rId3"/>
          <a:stretch>
            <a:fillRect/>
          </a:stretch>
        </p:blipFill>
        <p:spPr>
          <a:xfrm>
            <a:off x="5556250" y="4141192"/>
            <a:ext cx="241300" cy="241300"/>
          </a:xfrm>
          <a:prstGeom prst="rect">
            <a:avLst/>
          </a:prstGeom>
        </p:spPr>
      </p:pic>
      <p:sp>
        <p:nvSpPr>
          <p:cNvPr id="28" name="Text 27"/>
          <p:cNvSpPr txBox="1"/>
          <p:nvPr/>
        </p:nvSpPr>
        <p:spPr>
          <a:xfrm>
            <a:off x="838200" y="4100838"/>
            <a:ext cx="46037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إغلاق الملاحظة بوعد بدل دليل.</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035951" y="609600"/>
            <a:ext cx="234324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المفاهيم وتطبيقاتها</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الصورة كاملة: كيف ترتبط الحلقات في رُفاد</a:t>
            </a:r>
          </a:p>
        </p:txBody>
      </p:sp>
      <p:sp>
        <p:nvSpPr>
          <p:cNvPr id="5" name="Box 4"/>
          <p:cNvSpPr/>
          <p:nvPr/>
        </p:nvSpPr>
        <p:spPr>
          <a:xfrm>
            <a:off x="9031288" y="1661120"/>
            <a:ext cx="2344738" cy="1704181"/>
          </a:xfrm>
          <a:prstGeom prst="roundRect">
            <a:avLst>
              <a:gd name="adj" fmla="val 6682"/>
            </a:avLst>
          </a:prstGeom>
          <a:solidFill>
            <a:srgbClr val="FFFDF8"/>
          </a:solidFill>
          <a:ln w="6350">
            <a:solidFill>
              <a:srgbClr val="E1DBCD"/>
            </a:solidFill>
          </a:ln>
        </p:spPr>
        <p:txBody>
          <a:bodyPr rtlCol="0" anchor="ctr"/>
          <a:lstStyle/>
          <a:p>
            <a:pPr algn="ctr"/>
          </a:p>
        </p:txBody>
      </p:sp>
      <p:sp>
        <p:nvSpPr>
          <p:cNvPr id="6" name="Text 5"/>
          <p:cNvSpPr txBox="1"/>
          <p:nvPr/>
        </p:nvSpPr>
        <p:spPr>
          <a:xfrm>
            <a:off x="9053512" y="1779103"/>
            <a:ext cx="2179638"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قرار</a:t>
            </a:r>
          </a:p>
        </p:txBody>
      </p:sp>
      <p:sp>
        <p:nvSpPr>
          <p:cNvPr id="7" name="Text 6"/>
          <p:cNvSpPr txBox="1"/>
          <p:nvPr/>
        </p:nvSpPr>
        <p:spPr>
          <a:xfrm>
            <a:off x="9112250" y="2172010"/>
            <a:ext cx="212090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التحقق متعدد العوامل إلزامي</a:t>
            </a:r>
          </a:p>
        </p:txBody>
      </p:sp>
      <p:sp>
        <p:nvSpPr>
          <p:cNvPr id="8" name="Text 7"/>
          <p:cNvSpPr txBox="1"/>
          <p:nvPr/>
        </p:nvSpPr>
        <p:spPr>
          <a:xfrm>
            <a:off x="9053512" y="2909356"/>
            <a:ext cx="2179638"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19</a:t>
            </a:r>
          </a:p>
        </p:txBody>
      </p:sp>
      <p:sp>
        <p:nvSpPr>
          <p:cNvPr id="9" name="Text 8"/>
          <p:cNvSpPr txBox="1"/>
          <p:nvPr/>
        </p:nvSpPr>
        <p:spPr>
          <a:xfrm>
            <a:off x="8513762" y="2368748"/>
            <a:ext cx="450850"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500" b="0" i="0">
                <a:solidFill>
                  <a:srgbClr val="93A3B1"/>
                </a:solidFill>
                <a:latin typeface="IBM Plex Sans Arabic"/>
                <a:ea typeface="IBM Plex Sans Arabic"/>
                <a:cs typeface="IBM Plex Sans Arabic"/>
              </a:rPr>
              <a:t>←</a:t>
            </a:r>
          </a:p>
        </p:txBody>
      </p:sp>
      <p:sp>
        <p:nvSpPr>
          <p:cNvPr id="10" name="Box 9"/>
          <p:cNvSpPr/>
          <p:nvPr/>
        </p:nvSpPr>
        <p:spPr>
          <a:xfrm>
            <a:off x="6292850" y="1661120"/>
            <a:ext cx="2344738" cy="1704181"/>
          </a:xfrm>
          <a:prstGeom prst="roundRect">
            <a:avLst>
              <a:gd name="adj" fmla="val 6682"/>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315075" y="1779103"/>
            <a:ext cx="2179638"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سياسة</a:t>
            </a:r>
          </a:p>
        </p:txBody>
      </p:sp>
      <p:sp>
        <p:nvSpPr>
          <p:cNvPr id="12" name="Text 11"/>
          <p:cNvSpPr txBox="1"/>
          <p:nvPr/>
        </p:nvSpPr>
        <p:spPr>
          <a:xfrm>
            <a:off x="6315075" y="2172010"/>
            <a:ext cx="2179638"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بند المراجعة الدورية</a:t>
            </a:r>
          </a:p>
        </p:txBody>
      </p:sp>
      <p:sp>
        <p:nvSpPr>
          <p:cNvPr id="13" name="Text 12"/>
          <p:cNvSpPr txBox="1"/>
          <p:nvPr/>
        </p:nvSpPr>
        <p:spPr>
          <a:xfrm>
            <a:off x="6315075" y="2562685"/>
            <a:ext cx="2179638"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31</a:t>
            </a:r>
          </a:p>
        </p:txBody>
      </p:sp>
      <p:sp>
        <p:nvSpPr>
          <p:cNvPr id="14" name="Text 13"/>
          <p:cNvSpPr txBox="1"/>
          <p:nvPr/>
        </p:nvSpPr>
        <p:spPr>
          <a:xfrm>
            <a:off x="5775325" y="2368748"/>
            <a:ext cx="450850"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500" b="0" i="0">
                <a:solidFill>
                  <a:srgbClr val="93A3B1"/>
                </a:solidFill>
                <a:latin typeface="IBM Plex Sans Arabic"/>
                <a:ea typeface="IBM Plex Sans Arabic"/>
                <a:cs typeface="IBM Plex Sans Arabic"/>
              </a:rPr>
              <a:t>←</a:t>
            </a:r>
          </a:p>
        </p:txBody>
      </p:sp>
      <p:sp>
        <p:nvSpPr>
          <p:cNvPr id="15" name="Box 14"/>
          <p:cNvSpPr/>
          <p:nvPr/>
        </p:nvSpPr>
        <p:spPr>
          <a:xfrm>
            <a:off x="3554412" y="1661120"/>
            <a:ext cx="2344738" cy="1704181"/>
          </a:xfrm>
          <a:prstGeom prst="roundRect">
            <a:avLst>
              <a:gd name="adj" fmla="val 6682"/>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76638" y="1779103"/>
            <a:ext cx="2179638"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خطر</a:t>
            </a:r>
          </a:p>
        </p:txBody>
      </p:sp>
      <p:sp>
        <p:nvSpPr>
          <p:cNvPr id="17" name="Text 16"/>
          <p:cNvSpPr txBox="1"/>
          <p:nvPr/>
        </p:nvSpPr>
        <p:spPr>
          <a:xfrm>
            <a:off x="3635375" y="2172010"/>
            <a:ext cx="212090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حساب المورد المشترك</a:t>
            </a:r>
          </a:p>
        </p:txBody>
      </p:sp>
      <p:sp>
        <p:nvSpPr>
          <p:cNvPr id="18" name="Text 17"/>
          <p:cNvSpPr txBox="1"/>
          <p:nvPr/>
        </p:nvSpPr>
        <p:spPr>
          <a:xfrm>
            <a:off x="3576638" y="2909356"/>
            <a:ext cx="2179638"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53</a:t>
            </a:r>
          </a:p>
        </p:txBody>
      </p:sp>
      <p:sp>
        <p:nvSpPr>
          <p:cNvPr id="19" name="Text 18"/>
          <p:cNvSpPr txBox="1"/>
          <p:nvPr/>
        </p:nvSpPr>
        <p:spPr>
          <a:xfrm>
            <a:off x="3036888" y="2368748"/>
            <a:ext cx="450850"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500" b="0" i="0">
                <a:solidFill>
                  <a:srgbClr val="93A3B1"/>
                </a:solidFill>
                <a:latin typeface="IBM Plex Sans Arabic"/>
                <a:ea typeface="IBM Plex Sans Arabic"/>
                <a:cs typeface="IBM Plex Sans Arabic"/>
              </a:rPr>
              <a:t>←</a:t>
            </a:r>
          </a:p>
        </p:txBody>
      </p:sp>
      <p:sp>
        <p:nvSpPr>
          <p:cNvPr id="20" name="Box 19"/>
          <p:cNvSpPr/>
          <p:nvPr/>
        </p:nvSpPr>
        <p:spPr>
          <a:xfrm>
            <a:off x="815975" y="1661120"/>
            <a:ext cx="2344738" cy="1704181"/>
          </a:xfrm>
          <a:prstGeom prst="roundRect">
            <a:avLst>
              <a:gd name="adj" fmla="val 6682"/>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200" y="1779103"/>
            <a:ext cx="2179638"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ضابط</a:t>
            </a:r>
          </a:p>
        </p:txBody>
      </p:sp>
      <p:sp>
        <p:nvSpPr>
          <p:cNvPr id="22" name="Text 21"/>
          <p:cNvSpPr txBox="1"/>
          <p:nvPr/>
        </p:nvSpPr>
        <p:spPr>
          <a:xfrm>
            <a:off x="838200" y="2172010"/>
            <a:ext cx="2179638"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مراجعة ربع سنوية</a:t>
            </a:r>
          </a:p>
        </p:txBody>
      </p:sp>
      <p:sp>
        <p:nvSpPr>
          <p:cNvPr id="23" name="Text 22"/>
          <p:cNvSpPr txBox="1"/>
          <p:nvPr/>
        </p:nvSpPr>
        <p:spPr>
          <a:xfrm>
            <a:off x="838200" y="2562685"/>
            <a:ext cx="2179638"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61</a:t>
            </a:r>
          </a:p>
        </p:txBody>
      </p:sp>
      <p:sp>
        <p:nvSpPr>
          <p:cNvPr id="24" name="Box 23"/>
          <p:cNvSpPr/>
          <p:nvPr/>
        </p:nvSpPr>
        <p:spPr>
          <a:xfrm>
            <a:off x="8118475" y="3562152"/>
            <a:ext cx="3257550" cy="1357511"/>
          </a:xfrm>
          <a:prstGeom prst="roundRect">
            <a:avLst>
              <a:gd name="adj" fmla="val 8380"/>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140700" y="3680135"/>
            <a:ext cx="309245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دليل</a:t>
            </a:r>
          </a:p>
        </p:txBody>
      </p:sp>
      <p:sp>
        <p:nvSpPr>
          <p:cNvPr id="26" name="Text 25"/>
          <p:cNvSpPr txBox="1"/>
          <p:nvPr/>
        </p:nvSpPr>
        <p:spPr>
          <a:xfrm>
            <a:off x="8140700" y="4073041"/>
            <a:ext cx="309245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ملفات المراجعة والتذاكر</a:t>
            </a:r>
          </a:p>
        </p:txBody>
      </p:sp>
      <p:sp>
        <p:nvSpPr>
          <p:cNvPr id="27" name="Text 26"/>
          <p:cNvSpPr txBox="1"/>
          <p:nvPr/>
        </p:nvSpPr>
        <p:spPr>
          <a:xfrm>
            <a:off x="8140700" y="4463717"/>
            <a:ext cx="30924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72</a:t>
            </a:r>
          </a:p>
        </p:txBody>
      </p:sp>
      <p:sp>
        <p:nvSpPr>
          <p:cNvPr id="28" name="Text 27"/>
          <p:cNvSpPr txBox="1"/>
          <p:nvPr/>
        </p:nvSpPr>
        <p:spPr>
          <a:xfrm>
            <a:off x="7600950" y="4096445"/>
            <a:ext cx="450850"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500" b="0" i="0">
                <a:solidFill>
                  <a:srgbClr val="93A3B1"/>
                </a:solidFill>
                <a:latin typeface="IBM Plex Sans Arabic"/>
                <a:ea typeface="IBM Plex Sans Arabic"/>
                <a:cs typeface="IBM Plex Sans Arabic"/>
              </a:rPr>
              <a:t>←</a:t>
            </a:r>
          </a:p>
        </p:txBody>
      </p:sp>
      <p:sp>
        <p:nvSpPr>
          <p:cNvPr id="29" name="Box 28"/>
          <p:cNvSpPr/>
          <p:nvPr/>
        </p:nvSpPr>
        <p:spPr>
          <a:xfrm>
            <a:off x="4467225" y="3562152"/>
            <a:ext cx="3257550" cy="1357511"/>
          </a:xfrm>
          <a:prstGeom prst="roundRect">
            <a:avLst>
              <a:gd name="adj" fmla="val 8380"/>
            </a:avLst>
          </a:prstGeom>
          <a:solidFill>
            <a:srgbClr val="FFFDF8"/>
          </a:solidFill>
          <a:ln w="6350">
            <a:solidFill>
              <a:srgbClr val="E1DBCD"/>
            </a:solidFill>
          </a:ln>
        </p:spPr>
        <p:txBody>
          <a:bodyPr rtlCol="0" anchor="ctr"/>
          <a:lstStyle/>
          <a:p>
            <a:pPr algn="ctr"/>
          </a:p>
        </p:txBody>
      </p:sp>
      <p:sp>
        <p:nvSpPr>
          <p:cNvPr id="30" name="Text 29"/>
          <p:cNvSpPr txBox="1"/>
          <p:nvPr/>
        </p:nvSpPr>
        <p:spPr>
          <a:xfrm>
            <a:off x="4489450" y="3680135"/>
            <a:ext cx="309245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ملاحظة</a:t>
            </a:r>
          </a:p>
        </p:txBody>
      </p:sp>
      <p:sp>
        <p:nvSpPr>
          <p:cNvPr id="31" name="Text 30"/>
          <p:cNvSpPr txBox="1"/>
          <p:nvPr/>
        </p:nvSpPr>
        <p:spPr>
          <a:xfrm>
            <a:off x="4489450" y="4073041"/>
            <a:ext cx="309245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مراجعة غير منتظمة</a:t>
            </a:r>
          </a:p>
        </p:txBody>
      </p:sp>
      <p:sp>
        <p:nvSpPr>
          <p:cNvPr id="32" name="Text 31"/>
          <p:cNvSpPr txBox="1"/>
          <p:nvPr/>
        </p:nvSpPr>
        <p:spPr>
          <a:xfrm>
            <a:off x="4489450" y="4463717"/>
            <a:ext cx="30924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83</a:t>
            </a:r>
          </a:p>
        </p:txBody>
      </p:sp>
      <p:sp>
        <p:nvSpPr>
          <p:cNvPr id="33" name="Text 32"/>
          <p:cNvSpPr txBox="1"/>
          <p:nvPr/>
        </p:nvSpPr>
        <p:spPr>
          <a:xfrm>
            <a:off x="3949700" y="4096445"/>
            <a:ext cx="450850"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500" b="0" i="0">
                <a:solidFill>
                  <a:srgbClr val="93A3B1"/>
                </a:solidFill>
                <a:latin typeface="IBM Plex Sans Arabic"/>
                <a:ea typeface="IBM Plex Sans Arabic"/>
                <a:cs typeface="IBM Plex Sans Arabic"/>
              </a:rPr>
              <a:t>←</a:t>
            </a:r>
          </a:p>
        </p:txBody>
      </p:sp>
      <p:sp>
        <p:nvSpPr>
          <p:cNvPr id="34" name="Box 33"/>
          <p:cNvSpPr/>
          <p:nvPr/>
        </p:nvSpPr>
        <p:spPr>
          <a:xfrm>
            <a:off x="815975" y="3562152"/>
            <a:ext cx="3257550" cy="1357511"/>
          </a:xfrm>
          <a:prstGeom prst="roundRect">
            <a:avLst>
              <a:gd name="adj" fmla="val 8380"/>
            </a:avLst>
          </a:prstGeom>
          <a:solidFill>
            <a:srgbClr val="FFFDF8"/>
          </a:solidFill>
          <a:ln w="6350">
            <a:solidFill>
              <a:srgbClr val="E1DBCD"/>
            </a:solidFill>
          </a:ln>
        </p:spPr>
        <p:txBody>
          <a:bodyPr rtlCol="0" anchor="ctr"/>
          <a:lstStyle/>
          <a:p>
            <a:pPr algn="ctr"/>
          </a:p>
        </p:txBody>
      </p:sp>
      <p:sp>
        <p:nvSpPr>
          <p:cNvPr id="35" name="Text 34"/>
          <p:cNvSpPr txBox="1"/>
          <p:nvPr/>
        </p:nvSpPr>
        <p:spPr>
          <a:xfrm>
            <a:off x="838200" y="3680135"/>
            <a:ext cx="309245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0E7C6B"/>
                </a:solidFill>
                <a:latin typeface="Readex Pro"/>
                <a:ea typeface="Readex Pro"/>
                <a:cs typeface="Readex Pro"/>
              </a:rPr>
              <a:t>تصحيح</a:t>
            </a:r>
          </a:p>
        </p:txBody>
      </p:sp>
      <p:sp>
        <p:nvSpPr>
          <p:cNvPr id="36" name="Text 35"/>
          <p:cNvSpPr txBox="1"/>
          <p:nvPr/>
        </p:nvSpPr>
        <p:spPr>
          <a:xfrm>
            <a:off x="838200" y="4073041"/>
            <a:ext cx="309245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إجراءات بمالك وموعد</a:t>
            </a:r>
          </a:p>
        </p:txBody>
      </p:sp>
      <p:sp>
        <p:nvSpPr>
          <p:cNvPr id="37" name="Text 36"/>
          <p:cNvSpPr txBox="1"/>
          <p:nvPr/>
        </p:nvSpPr>
        <p:spPr>
          <a:xfrm>
            <a:off x="838200" y="4463717"/>
            <a:ext cx="30924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5E6A75"/>
                </a:solidFill>
                <a:latin typeface="IBM Plex Sans Arabic"/>
                <a:ea typeface="IBM Plex Sans Arabic"/>
                <a:cs typeface="IBM Plex Sans Arabic"/>
              </a:rPr>
              <a:t>الشريحة 84</a:t>
            </a:r>
          </a:p>
        </p:txBody>
      </p:sp>
      <p:sp>
        <p:nvSpPr>
          <p:cNvPr id="38" name="Box 37"/>
          <p:cNvSpPr/>
          <p:nvPr/>
        </p:nvSpPr>
        <p:spPr>
          <a:xfrm>
            <a:off x="812800" y="5113338"/>
            <a:ext cx="10566400" cy="618430"/>
          </a:xfrm>
          <a:prstGeom prst="roundRect">
            <a:avLst>
              <a:gd name="adj" fmla="val 16428"/>
            </a:avLst>
          </a:prstGeom>
          <a:solidFill>
            <a:srgbClr val="172433"/>
          </a:solidFill>
          <a:ln>
            <a:noFill/>
          </a:ln>
        </p:spPr>
        <p:txBody>
          <a:bodyPr rtlCol="0" anchor="ctr"/>
          <a:lstStyle/>
          <a:p>
            <a:pPr algn="ctr"/>
          </a:p>
        </p:txBody>
      </p:sp>
      <p:pic>
        <p:nvPicPr>
          <p:cNvPr id="39" name="Icon Lightbulb 38" descr="icon011.png"/>
          <p:cNvPicPr>
            <a:picLocks noChangeAspect="1"/>
          </p:cNvPicPr>
          <p:nvPr/>
        </p:nvPicPr>
        <p:blipFill>
          <a:blip r:embed="rId2"/>
          <a:stretch>
            <a:fillRect/>
          </a:stretch>
        </p:blipFill>
        <p:spPr>
          <a:xfrm>
            <a:off x="10928350" y="5285978"/>
            <a:ext cx="273050" cy="273050"/>
          </a:xfrm>
          <a:prstGeom prst="rect">
            <a:avLst/>
          </a:prstGeom>
        </p:spPr>
      </p:pic>
      <p:sp>
        <p:nvSpPr>
          <p:cNvPr id="40" name="Text 39"/>
          <p:cNvSpPr txBox="1"/>
          <p:nvPr/>
        </p:nvSpPr>
        <p:spPr>
          <a:xfrm>
            <a:off x="838200" y="5199983"/>
            <a:ext cx="99758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F3EFE6"/>
                </a:solidFill>
                <a:latin typeface="IBM Plex Sans Arabic"/>
                <a:ea typeface="IBM Plex Sans Arabic"/>
                <a:cs typeface="IBM Plex Sans Arabic"/>
              </a:rPr>
              <a:t>هذه هي GRC في جهة واحدة: كل حلقة تعتمد على التي قبلها. والتطبيقات الأربعة غطت الحلقات كلها.</a:t>
            </a:r>
          </a:p>
        </p:txBody>
      </p:sp>
      <p:sp>
        <p:nvSpPr>
          <p:cNvPr id="41" name="Text 4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المفاهيم وتطبيقاتها</a:t>
            </a:r>
          </a:p>
        </p:txBody>
      </p:sp>
      <p:sp>
        <p:nvSpPr>
          <p:cNvPr id="42" name="Text 4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15710" y="1233190"/>
            <a:ext cx="236349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03</a:t>
            </a:r>
          </a:p>
        </p:txBody>
      </p:sp>
      <p:sp>
        <p:nvSpPr>
          <p:cNvPr id="4" name="Text 3"/>
          <p:cNvSpPr txBox="1"/>
          <p:nvPr/>
        </p:nvSpPr>
        <p:spPr>
          <a:xfrm>
            <a:off x="5009416" y="1654655"/>
            <a:ext cx="446349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الأطر والانطباق</a:t>
            </a:r>
          </a:p>
        </p:txBody>
      </p:sp>
      <p:sp>
        <p:nvSpPr>
          <p:cNvPr id="5" name="Text 4"/>
          <p:cNvSpPr txBox="1"/>
          <p:nvPr/>
        </p:nvSpPr>
        <p:spPr>
          <a:xfrm>
            <a:off x="527050" y="259717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لا تحتاج أن تحفظ كل الأطر. تحتاج أن تعرف ماذا يفعل كل منها، ولمن هو، وكيف تحدد ما ينطبق على الجهة.</a:t>
            </a:r>
          </a:p>
        </p:txBody>
      </p:sp>
      <p:sp>
        <p:nvSpPr>
          <p:cNvPr id="6" name="Box 5"/>
          <p:cNvSpPr/>
          <p:nvPr/>
        </p:nvSpPr>
        <p:spPr>
          <a:xfrm>
            <a:off x="812800" y="36652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8115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216400"/>
            <a:ext cx="228600" cy="228600"/>
          </a:xfrm>
          <a:prstGeom prst="rect">
            <a:avLst/>
          </a:prstGeom>
        </p:spPr>
      </p:pic>
      <p:sp>
        <p:nvSpPr>
          <p:cNvPr id="9" name="Text 8"/>
          <p:cNvSpPr txBox="1"/>
          <p:nvPr/>
        </p:nvSpPr>
        <p:spPr>
          <a:xfrm>
            <a:off x="838200" y="41829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النظام والضابط والإطار والمعيار، وبين الملزم والاختياري.</a:t>
            </a:r>
          </a:p>
        </p:txBody>
      </p:sp>
      <p:pic>
        <p:nvPicPr>
          <p:cNvPr id="10" name="Icon CheckCircle 9" descr="icon008.png"/>
          <p:cNvPicPr>
            <a:picLocks noChangeAspect="1"/>
          </p:cNvPicPr>
          <p:nvPr/>
        </p:nvPicPr>
        <p:blipFill>
          <a:blip r:embed="rId2"/>
          <a:stretch>
            <a:fillRect/>
          </a:stretch>
        </p:blipFill>
        <p:spPr>
          <a:xfrm>
            <a:off x="9880600" y="4607520"/>
            <a:ext cx="228600" cy="228600"/>
          </a:xfrm>
          <a:prstGeom prst="rect">
            <a:avLst/>
          </a:prstGeom>
        </p:spPr>
      </p:pic>
      <p:sp>
        <p:nvSpPr>
          <p:cNvPr id="11" name="Text 10"/>
          <p:cNvSpPr txBox="1"/>
          <p:nvPr/>
        </p:nvSpPr>
        <p:spPr>
          <a:xfrm>
            <a:off x="838200" y="45740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ISO 27001 وNIST CSF 2.0 والأطر السعودية الأساسية.</a:t>
            </a:r>
          </a:p>
        </p:txBody>
      </p:sp>
      <p:pic>
        <p:nvPicPr>
          <p:cNvPr id="12" name="Icon CheckCircle 11" descr="icon008.png"/>
          <p:cNvPicPr>
            <a:picLocks noChangeAspect="1"/>
          </p:cNvPicPr>
          <p:nvPr/>
        </p:nvPicPr>
        <p:blipFill>
          <a:blip r:embed="rId2"/>
          <a:stretch>
            <a:fillRect/>
          </a:stretch>
        </p:blipFill>
        <p:spPr>
          <a:xfrm>
            <a:off x="9880600" y="4998641"/>
            <a:ext cx="228600" cy="228600"/>
          </a:xfrm>
          <a:prstGeom prst="rect">
            <a:avLst/>
          </a:prstGeom>
        </p:spPr>
      </p:pic>
      <p:sp>
        <p:nvSpPr>
          <p:cNvPr id="13" name="Text 12"/>
          <p:cNvSpPr txBox="1"/>
          <p:nvPr/>
        </p:nvSpPr>
        <p:spPr>
          <a:xfrm>
            <a:off x="838200" y="49651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ما ينطبق على جهة بأربعة أسئلة، وتبدأ بالإطار المناسب.</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03 · الأطر والانطباق</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نظام، وضوابط، وإطار، ومعيار: ما الفرق؟</a:t>
            </a:r>
          </a:p>
        </p:txBody>
      </p:sp>
      <p:graphicFrame>
        <p:nvGraphicFramePr>
          <p:cNvPr id="5" name="Table 4"/>
          <p:cNvGraphicFramePr>
            <a:graphicFrameLocks noGrp="1"/>
          </p:cNvGraphicFramePr>
          <p:nvPr/>
        </p:nvGraphicFramePr>
        <p:xfrm>
          <a:off x="815975" y="1661120"/>
          <a:ext cx="10560050" cy="3560760"/>
        </p:xfrm>
        <a:graphic>
          <a:graphicData uri="http://schemas.openxmlformats.org/drawingml/2006/table">
            <a:tbl>
              <a:tblPr firstRow="0" bandRow="0" lastRow="0" firstCol="0" lastCol="0" bandCol="0">
                <a:tableStyleId>{2D5ABB26-0587-4C30-8999-92F81FD0307C}</a:tableStyleId>
              </a:tblPr>
              <a:tblGrid>
                <a:gridCol w="3168015"/>
                <a:gridCol w="4646295"/>
                <a:gridCol w="2745740"/>
              </a:tblGrid>
              <a:tr h="487759">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مثال</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هل هو ملزم؟</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النوع</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87759">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نظام حماية البيانات الشخصية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ملزم بقوة القانون لمن يقع في نطاقه</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0E7C6B"/>
                          </a:solidFill>
                          <a:latin typeface="IBM Plex Sans Arabic"/>
                          <a:ea typeface="IBM Plex Sans Arabic"/>
                          <a:cs typeface="IBM Plex Sans Arabic"/>
                        </a:rPr>
                        <a:t>نظام أو تشريع</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04862">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‎ECC-2:2024‎ للجهات المشمولة</a:t>
                      </a:r>
                    </a:p>
                  </a:txBody>
                  <a:tcPr marT="99031" marR="140970" marB="65434" marL="5439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ملزمة للجهات التي يحددها نطاقها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0E7C6B"/>
                          </a:solidFill>
                          <a:latin typeface="IBM Plex Sans Arabic"/>
                          <a:ea typeface="IBM Plex Sans Arabic"/>
                          <a:cs typeface="IBM Plex Sans Arabic"/>
                        </a:rPr>
                        <a:t>ضوابط تنظيمية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87759">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NIST CSF 2.0</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يرشد ويرتب العمل، وغالباً طوعي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0E7C6B"/>
                          </a:solidFill>
                          <a:latin typeface="IBM Plex Sans Arabic"/>
                          <a:ea typeface="IBM Plex Sans Arabic"/>
                          <a:cs typeface="IBM Plex Sans Arabic"/>
                        </a:rPr>
                        <a:t>إطار</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87759">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ISO/IEC 27001</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طوعي، تُمنح عليه شهادة من جهة مانحة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1" i="0">
                          <a:solidFill>
                            <a:srgbClr val="0E7C6B"/>
                          </a:solidFill>
                          <a:latin typeface="IBM Plex Sans Arabic"/>
                          <a:ea typeface="IBM Plex Sans Arabic"/>
                          <a:cs typeface="IBM Plex Sans Arabic"/>
                        </a:rPr>
                        <a:t>معيار قابل للشهادة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04862">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PCI DSS عبر العقود مع شبكات البطاقات</a:t>
                      </a:r>
                    </a:p>
                  </a:txBody>
                  <a:tcPr marT="99031" marR="140970" marB="65434" marL="5439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ملزم بالعقد لا بالقانون</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1" i="0">
                          <a:solidFill>
                            <a:srgbClr val="0E7C6B"/>
                          </a:solidFill>
                          <a:latin typeface="IBM Plex Sans Arabic"/>
                          <a:ea typeface="IBM Plex Sans Arabic"/>
                          <a:cs typeface="IBM Plex Sans Arabic"/>
                        </a:rPr>
                        <a:t>التزام تعاقدي</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415558"/>
            <a:ext cx="10566400" cy="582910"/>
          </a:xfrm>
          <a:prstGeom prst="roundRect">
            <a:avLst>
              <a:gd name="adj" fmla="val 17429"/>
            </a:avLst>
          </a:prstGeom>
          <a:solidFill>
            <a:srgbClr val="172433"/>
          </a:solidFill>
          <a:ln>
            <a:noFill/>
          </a:ln>
        </p:spPr>
        <p:txBody>
          <a:bodyPr rtlCol="0" anchor="ctr"/>
          <a:lstStyle/>
          <a:p>
            <a:pPr algn="ctr"/>
          </a:p>
        </p:txBody>
      </p:sp>
      <p:pic>
        <p:nvPicPr>
          <p:cNvPr id="7" name="Icon Lightbulb 6" descr="icon050.png"/>
          <p:cNvPicPr>
            <a:picLocks noChangeAspect="1"/>
          </p:cNvPicPr>
          <p:nvPr/>
        </p:nvPicPr>
        <p:blipFill>
          <a:blip r:embed="rId2"/>
          <a:stretch>
            <a:fillRect/>
          </a:stretch>
        </p:blipFill>
        <p:spPr>
          <a:xfrm>
            <a:off x="10960100" y="5586313"/>
            <a:ext cx="241300" cy="241300"/>
          </a:xfrm>
          <a:prstGeom prst="rect">
            <a:avLst/>
          </a:prstGeom>
        </p:spPr>
      </p:pic>
      <p:sp>
        <p:nvSpPr>
          <p:cNvPr id="8" name="Text 7"/>
          <p:cNvSpPr txBox="1"/>
          <p:nvPr/>
        </p:nvSpPr>
        <p:spPr>
          <a:xfrm>
            <a:off x="838200" y="5506141"/>
            <a:ext cx="100076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F3EFE6"/>
                </a:solidFill>
                <a:latin typeface="IBM Plex Sans Arabic"/>
                <a:ea typeface="IBM Plex Sans Arabic"/>
                <a:cs typeface="IBM Plex Sans Arabic"/>
              </a:rPr>
              <a:t>السؤال الأول دائماً: هل هذا المرجع ملزم لهذه الجهة تحديداً، أم اختارته طوعاً؟</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88</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الأطر العالمية (1 من 2)</a:t>
            </a:r>
          </a:p>
        </p:txBody>
      </p:sp>
      <p:sp>
        <p:nvSpPr>
          <p:cNvPr id="5" name="Box 4"/>
          <p:cNvSpPr/>
          <p:nvPr/>
        </p:nvSpPr>
        <p:spPr>
          <a:xfrm>
            <a:off x="6172200" y="1657945"/>
            <a:ext cx="5207000" cy="3770312"/>
          </a:xfrm>
          <a:prstGeom prst="roundRect">
            <a:avLst>
              <a:gd name="adj" fmla="val 3031"/>
            </a:avLst>
          </a:prstGeom>
          <a:solidFill>
            <a:srgbClr val="FFFDF8"/>
          </a:solidFill>
          <a:ln>
            <a:noFill/>
          </a:ln>
        </p:spPr>
        <p:txBody>
          <a:bodyPr rtlCol="0" anchor="ctr"/>
          <a:lstStyle/>
          <a:p>
            <a:pPr algn="ctr"/>
          </a:p>
        </p:txBody>
      </p:sp>
      <p:sp>
        <p:nvSpPr>
          <p:cNvPr id="6" name="Rule 5"/>
          <p:cNvSpPr/>
          <p:nvPr/>
        </p:nvSpPr>
        <p:spPr>
          <a:xfrm>
            <a:off x="6172200" y="1657945"/>
            <a:ext cx="5207000"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770312"/>
          </a:xfrm>
          <a:prstGeom prst="rect">
            <a:avLst/>
          </a:prstGeom>
          <a:solidFill>
            <a:srgbClr val="E1DBCD"/>
          </a:solidFill>
          <a:ln>
            <a:noFill/>
          </a:ln>
        </p:spPr>
        <p:txBody>
          <a:bodyPr rtlCol="0" anchor="ctr"/>
          <a:lstStyle/>
          <a:p>
            <a:pPr algn="ctr"/>
          </a:p>
        </p:txBody>
      </p:sp>
      <p:sp>
        <p:nvSpPr>
          <p:cNvPr id="8" name="Rule 7"/>
          <p:cNvSpPr/>
          <p:nvPr/>
        </p:nvSpPr>
        <p:spPr>
          <a:xfrm>
            <a:off x="6172200" y="5421908"/>
            <a:ext cx="5207000" cy="6350"/>
          </a:xfrm>
          <a:prstGeom prst="rect">
            <a:avLst/>
          </a:prstGeom>
          <a:solidFill>
            <a:srgbClr val="E1DBCD"/>
          </a:solidFill>
          <a:ln>
            <a:noFill/>
          </a:ln>
        </p:spPr>
        <p:txBody>
          <a:bodyPr rtlCol="0" anchor="ctr"/>
          <a:lstStyle/>
          <a:p>
            <a:pPr algn="ctr"/>
          </a:p>
        </p:txBody>
      </p:sp>
      <p:sp>
        <p:nvSpPr>
          <p:cNvPr id="9" name="Rule 8"/>
          <p:cNvSpPr/>
          <p:nvPr/>
        </p:nvSpPr>
        <p:spPr>
          <a:xfrm>
            <a:off x="6172200" y="1657945"/>
            <a:ext cx="6350" cy="3770312"/>
          </a:xfrm>
          <a:prstGeom prst="rect">
            <a:avLst/>
          </a:prstGeom>
          <a:solidFill>
            <a:srgbClr val="E1DBCD"/>
          </a:solidFill>
          <a:ln>
            <a:noFill/>
          </a:ln>
        </p:spPr>
        <p:txBody>
          <a:bodyPr rtlCol="0" anchor="ctr"/>
          <a:lstStyle/>
          <a:p>
            <a:pPr algn="ctr"/>
          </a:p>
        </p:txBody>
      </p:sp>
      <p:sp>
        <p:nvSpPr>
          <p:cNvPr id="10" name="Text 9"/>
          <p:cNvSpPr txBox="1"/>
          <p:nvPr/>
        </p:nvSpPr>
        <p:spPr>
          <a:xfrm>
            <a:off x="6197600" y="1847683"/>
            <a:ext cx="499745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0E7C6B"/>
                </a:solidFill>
                <a:latin typeface="Readex Pro"/>
                <a:ea typeface="Readex Pro"/>
                <a:cs typeface="Readex Pro"/>
              </a:rPr>
              <a:t>نظام إدارة يُمنح شهادة</a:t>
            </a:r>
          </a:p>
        </p:txBody>
      </p:sp>
      <p:sp>
        <p:nvSpPr>
          <p:cNvPr id="11" name="Text 10"/>
          <p:cNvSpPr txBox="1"/>
          <p:nvPr/>
        </p:nvSpPr>
        <p:spPr>
          <a:xfrm>
            <a:off x="6197600" y="2312313"/>
            <a:ext cx="499745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كيف ندير الأمن باستمرار؟</a:t>
            </a:r>
          </a:p>
        </p:txBody>
      </p:sp>
      <p:sp>
        <p:nvSpPr>
          <p:cNvPr id="12" name="Rule 11"/>
          <p:cNvSpPr/>
          <p:nvPr/>
        </p:nvSpPr>
        <p:spPr>
          <a:xfrm>
            <a:off x="6356350" y="2751733"/>
            <a:ext cx="4838700" cy="6350"/>
          </a:xfrm>
          <a:prstGeom prst="rect">
            <a:avLst/>
          </a:prstGeom>
          <a:solidFill>
            <a:srgbClr val="E1DBCD"/>
          </a:solidFill>
          <a:ln>
            <a:noFill/>
          </a:ln>
        </p:spPr>
        <p:txBody>
          <a:bodyPr rtlCol="0" anchor="ctr"/>
          <a:lstStyle/>
          <a:p>
            <a:pPr algn="ctr"/>
          </a:p>
        </p:txBody>
      </p:sp>
      <p:sp>
        <p:nvSpPr>
          <p:cNvPr id="13" name="Text 12"/>
          <p:cNvSpPr txBox="1"/>
          <p:nvPr/>
        </p:nvSpPr>
        <p:spPr>
          <a:xfrm>
            <a:off x="6356350" y="2803009"/>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ISO/IEC 27001</a:t>
            </a:r>
          </a:p>
        </p:txBody>
      </p:sp>
      <p:sp>
        <p:nvSpPr>
          <p:cNvPr id="14" name="Text 13"/>
          <p:cNvSpPr txBox="1"/>
          <p:nvPr/>
        </p:nvSpPr>
        <p:spPr>
          <a:xfrm>
            <a:off x="6356350" y="3172738"/>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أمن المعلومات</a:t>
            </a:r>
          </a:p>
        </p:txBody>
      </p:sp>
      <p:sp>
        <p:nvSpPr>
          <p:cNvPr id="15" name="Rule 14"/>
          <p:cNvSpPr/>
          <p:nvPr/>
        </p:nvSpPr>
        <p:spPr>
          <a:xfrm>
            <a:off x="6356350" y="3612158"/>
            <a:ext cx="4838700" cy="6350"/>
          </a:xfrm>
          <a:prstGeom prst="rect">
            <a:avLst/>
          </a:prstGeom>
          <a:solidFill>
            <a:srgbClr val="E1DBCD"/>
          </a:solidFill>
          <a:ln>
            <a:noFill/>
          </a:ln>
        </p:spPr>
        <p:txBody>
          <a:bodyPr rtlCol="0" anchor="ctr"/>
          <a:lstStyle/>
          <a:p>
            <a:pPr algn="ctr"/>
          </a:p>
        </p:txBody>
      </p:sp>
      <p:sp>
        <p:nvSpPr>
          <p:cNvPr id="16" name="Text 15"/>
          <p:cNvSpPr txBox="1"/>
          <p:nvPr/>
        </p:nvSpPr>
        <p:spPr>
          <a:xfrm>
            <a:off x="6356350" y="3663434"/>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ISO 22301</a:t>
            </a:r>
          </a:p>
        </p:txBody>
      </p:sp>
      <p:sp>
        <p:nvSpPr>
          <p:cNvPr id="17" name="Text 16"/>
          <p:cNvSpPr txBox="1"/>
          <p:nvPr/>
        </p:nvSpPr>
        <p:spPr>
          <a:xfrm>
            <a:off x="6356350" y="4033163"/>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استمرارية الأعمال</a:t>
            </a:r>
          </a:p>
        </p:txBody>
      </p:sp>
      <p:sp>
        <p:nvSpPr>
          <p:cNvPr id="18" name="Rule 17"/>
          <p:cNvSpPr/>
          <p:nvPr/>
        </p:nvSpPr>
        <p:spPr>
          <a:xfrm>
            <a:off x="6356350" y="4472583"/>
            <a:ext cx="4838700" cy="6350"/>
          </a:xfrm>
          <a:prstGeom prst="rect">
            <a:avLst/>
          </a:prstGeom>
          <a:solidFill>
            <a:srgbClr val="E1DBCD"/>
          </a:solidFill>
          <a:ln>
            <a:noFill/>
          </a:ln>
        </p:spPr>
        <p:txBody>
          <a:bodyPr rtlCol="0" anchor="ctr"/>
          <a:lstStyle/>
          <a:p>
            <a:pPr algn="ctr"/>
          </a:p>
        </p:txBody>
      </p:sp>
      <p:sp>
        <p:nvSpPr>
          <p:cNvPr id="19" name="Text 18"/>
          <p:cNvSpPr txBox="1"/>
          <p:nvPr/>
        </p:nvSpPr>
        <p:spPr>
          <a:xfrm>
            <a:off x="6356350" y="4523859"/>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ISO/IEC 27701</a:t>
            </a:r>
          </a:p>
        </p:txBody>
      </p:sp>
      <p:sp>
        <p:nvSpPr>
          <p:cNvPr id="20" name="Text 19"/>
          <p:cNvSpPr txBox="1"/>
          <p:nvPr/>
        </p:nvSpPr>
        <p:spPr>
          <a:xfrm>
            <a:off x="6356350" y="4893588"/>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إدارة الخصوصية</a:t>
            </a:r>
          </a:p>
        </p:txBody>
      </p:sp>
      <p:sp>
        <p:nvSpPr>
          <p:cNvPr id="21" name="Box 20"/>
          <p:cNvSpPr/>
          <p:nvPr/>
        </p:nvSpPr>
        <p:spPr>
          <a:xfrm>
            <a:off x="812800" y="1657945"/>
            <a:ext cx="5207000" cy="3770312"/>
          </a:xfrm>
          <a:prstGeom prst="roundRect">
            <a:avLst>
              <a:gd name="adj" fmla="val 3031"/>
            </a:avLst>
          </a:prstGeom>
          <a:solidFill>
            <a:srgbClr val="FFFDF8"/>
          </a:solidFill>
          <a:ln>
            <a:noFill/>
          </a:ln>
        </p:spPr>
        <p:txBody>
          <a:bodyPr rtlCol="0" anchor="ctr"/>
          <a:lstStyle/>
          <a:p>
            <a:pPr algn="ctr"/>
          </a:p>
        </p:txBody>
      </p:sp>
      <p:sp>
        <p:nvSpPr>
          <p:cNvPr id="22" name="Rule 21"/>
          <p:cNvSpPr/>
          <p:nvPr/>
        </p:nvSpPr>
        <p:spPr>
          <a:xfrm>
            <a:off x="812800" y="1657945"/>
            <a:ext cx="5207000" cy="50800"/>
          </a:xfrm>
          <a:prstGeom prst="rect">
            <a:avLst/>
          </a:prstGeom>
          <a:solidFill>
            <a:srgbClr val="24506B"/>
          </a:solidFill>
          <a:ln>
            <a:noFill/>
          </a:ln>
        </p:spPr>
        <p:txBody>
          <a:bodyPr rtlCol="0" anchor="ctr"/>
          <a:lstStyle/>
          <a:p>
            <a:pPr algn="ctr"/>
          </a:p>
        </p:txBody>
      </p:sp>
      <p:sp>
        <p:nvSpPr>
          <p:cNvPr id="23" name="Rule 22"/>
          <p:cNvSpPr/>
          <p:nvPr/>
        </p:nvSpPr>
        <p:spPr>
          <a:xfrm>
            <a:off x="6013450" y="1657945"/>
            <a:ext cx="6350" cy="3770312"/>
          </a:xfrm>
          <a:prstGeom prst="rect">
            <a:avLst/>
          </a:prstGeom>
          <a:solidFill>
            <a:srgbClr val="E1DBCD"/>
          </a:solidFill>
          <a:ln>
            <a:noFill/>
          </a:ln>
        </p:spPr>
        <p:txBody>
          <a:bodyPr rtlCol="0" anchor="ctr"/>
          <a:lstStyle/>
          <a:p>
            <a:pPr algn="ctr"/>
          </a:p>
        </p:txBody>
      </p:sp>
      <p:sp>
        <p:nvSpPr>
          <p:cNvPr id="24" name="Rule 23"/>
          <p:cNvSpPr/>
          <p:nvPr/>
        </p:nvSpPr>
        <p:spPr>
          <a:xfrm>
            <a:off x="812800" y="5421908"/>
            <a:ext cx="52070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770312"/>
          </a:xfrm>
          <a:prstGeom prst="rect">
            <a:avLst/>
          </a:prstGeom>
          <a:solidFill>
            <a:srgbClr val="E1DBCD"/>
          </a:solidFill>
          <a:ln>
            <a:noFill/>
          </a:ln>
        </p:spPr>
        <p:txBody>
          <a:bodyPr rtlCol="0" anchor="ctr"/>
          <a:lstStyle/>
          <a:p>
            <a:pPr algn="ctr"/>
          </a:p>
        </p:txBody>
      </p:sp>
      <p:sp>
        <p:nvSpPr>
          <p:cNvPr id="26" name="Text 25"/>
          <p:cNvSpPr txBox="1"/>
          <p:nvPr/>
        </p:nvSpPr>
        <p:spPr>
          <a:xfrm>
            <a:off x="838200" y="1847683"/>
            <a:ext cx="499745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24506B"/>
                </a:solidFill>
                <a:latin typeface="Readex Pro"/>
                <a:ea typeface="Readex Pro"/>
                <a:cs typeface="Readex Pro"/>
              </a:rPr>
              <a:t>أطر مخاطر وضوابط</a:t>
            </a:r>
          </a:p>
        </p:txBody>
      </p:sp>
      <p:sp>
        <p:nvSpPr>
          <p:cNvPr id="27" name="Text 26"/>
          <p:cNvSpPr txBox="1"/>
          <p:nvPr/>
        </p:nvSpPr>
        <p:spPr>
          <a:xfrm>
            <a:off x="838200" y="2312313"/>
            <a:ext cx="499745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ماذا نطبق، وبأي ترتيب؟</a:t>
            </a:r>
          </a:p>
        </p:txBody>
      </p:sp>
      <p:sp>
        <p:nvSpPr>
          <p:cNvPr id="28" name="Rule 27"/>
          <p:cNvSpPr/>
          <p:nvPr/>
        </p:nvSpPr>
        <p:spPr>
          <a:xfrm>
            <a:off x="996950" y="2751733"/>
            <a:ext cx="4838700" cy="6350"/>
          </a:xfrm>
          <a:prstGeom prst="rect">
            <a:avLst/>
          </a:prstGeom>
          <a:solidFill>
            <a:srgbClr val="E1DBCD"/>
          </a:solidFill>
          <a:ln>
            <a:noFill/>
          </a:ln>
        </p:spPr>
        <p:txBody>
          <a:bodyPr rtlCol="0" anchor="ctr"/>
          <a:lstStyle/>
          <a:p>
            <a:pPr algn="ctr"/>
          </a:p>
        </p:txBody>
      </p:sp>
      <p:sp>
        <p:nvSpPr>
          <p:cNvPr id="29" name="Text 28"/>
          <p:cNvSpPr txBox="1"/>
          <p:nvPr/>
        </p:nvSpPr>
        <p:spPr>
          <a:xfrm>
            <a:off x="996950" y="2803009"/>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NIST CSF 2.0</a:t>
            </a:r>
          </a:p>
        </p:txBody>
      </p:sp>
      <p:sp>
        <p:nvSpPr>
          <p:cNvPr id="30" name="Text 29"/>
          <p:cNvSpPr txBox="1"/>
          <p:nvPr/>
        </p:nvSpPr>
        <p:spPr>
          <a:xfrm>
            <a:off x="996950" y="3172738"/>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لغة مشتركة لإدارة المخاطر</a:t>
            </a:r>
          </a:p>
        </p:txBody>
      </p:sp>
      <p:sp>
        <p:nvSpPr>
          <p:cNvPr id="31" name="Rule 30"/>
          <p:cNvSpPr/>
          <p:nvPr/>
        </p:nvSpPr>
        <p:spPr>
          <a:xfrm>
            <a:off x="996950" y="3612158"/>
            <a:ext cx="4838700" cy="6350"/>
          </a:xfrm>
          <a:prstGeom prst="rect">
            <a:avLst/>
          </a:prstGeom>
          <a:solidFill>
            <a:srgbClr val="E1DBCD"/>
          </a:solidFill>
          <a:ln>
            <a:noFill/>
          </a:ln>
        </p:spPr>
        <p:txBody>
          <a:bodyPr rtlCol="0" anchor="ctr"/>
          <a:lstStyle/>
          <a:p>
            <a:pPr algn="ctr"/>
          </a:p>
        </p:txBody>
      </p:sp>
      <p:sp>
        <p:nvSpPr>
          <p:cNvPr id="32" name="Text 31"/>
          <p:cNvSpPr txBox="1"/>
          <p:nvPr/>
        </p:nvSpPr>
        <p:spPr>
          <a:xfrm>
            <a:off x="996950" y="3663434"/>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NIST SP 800-53</a:t>
            </a:r>
          </a:p>
        </p:txBody>
      </p:sp>
      <p:sp>
        <p:nvSpPr>
          <p:cNvPr id="33" name="Text 32"/>
          <p:cNvSpPr txBox="1"/>
          <p:nvPr/>
        </p:nvSpPr>
        <p:spPr>
          <a:xfrm>
            <a:off x="996950" y="4033163"/>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كتالوج ضوابط تفصيلي</a:t>
            </a:r>
          </a:p>
        </p:txBody>
      </p:sp>
      <p:sp>
        <p:nvSpPr>
          <p:cNvPr id="34" name="Rule 33"/>
          <p:cNvSpPr/>
          <p:nvPr/>
        </p:nvSpPr>
        <p:spPr>
          <a:xfrm>
            <a:off x="996950" y="4472583"/>
            <a:ext cx="4838700" cy="6350"/>
          </a:xfrm>
          <a:prstGeom prst="rect">
            <a:avLst/>
          </a:prstGeom>
          <a:solidFill>
            <a:srgbClr val="E1DBCD"/>
          </a:solidFill>
          <a:ln>
            <a:noFill/>
          </a:ln>
        </p:spPr>
        <p:txBody>
          <a:bodyPr rtlCol="0" anchor="ctr"/>
          <a:lstStyle/>
          <a:p>
            <a:pPr algn="ctr"/>
          </a:p>
        </p:txBody>
      </p:sp>
      <p:sp>
        <p:nvSpPr>
          <p:cNvPr id="35" name="Text 34"/>
          <p:cNvSpPr txBox="1"/>
          <p:nvPr/>
        </p:nvSpPr>
        <p:spPr>
          <a:xfrm>
            <a:off x="996950" y="4523859"/>
            <a:ext cx="4838700"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CIS Controls</a:t>
            </a:r>
          </a:p>
        </p:txBody>
      </p:sp>
      <p:sp>
        <p:nvSpPr>
          <p:cNvPr id="36" name="Text 35"/>
          <p:cNvSpPr txBox="1"/>
          <p:nvPr/>
        </p:nvSpPr>
        <p:spPr>
          <a:xfrm>
            <a:off x="996950" y="4893588"/>
            <a:ext cx="4838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ضوابط مرتبة بالأولوية</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الأطر العالمية (2 من 2)</a:t>
            </a:r>
          </a:p>
        </p:txBody>
      </p:sp>
      <p:sp>
        <p:nvSpPr>
          <p:cNvPr id="5" name="Box 4"/>
          <p:cNvSpPr/>
          <p:nvPr/>
        </p:nvSpPr>
        <p:spPr>
          <a:xfrm>
            <a:off x="6172200" y="1657945"/>
            <a:ext cx="5207000" cy="3193355"/>
          </a:xfrm>
          <a:prstGeom prst="roundRect">
            <a:avLst>
              <a:gd name="adj" fmla="val 3579"/>
            </a:avLst>
          </a:prstGeom>
          <a:solidFill>
            <a:srgbClr val="FFFDF8"/>
          </a:solidFill>
          <a:ln>
            <a:noFill/>
          </a:ln>
        </p:spPr>
        <p:txBody>
          <a:bodyPr rtlCol="0" anchor="ctr"/>
          <a:lstStyle/>
          <a:p>
            <a:pPr algn="ctr"/>
          </a:p>
        </p:txBody>
      </p:sp>
      <p:sp>
        <p:nvSpPr>
          <p:cNvPr id="6" name="Rule 5"/>
          <p:cNvSpPr/>
          <p:nvPr/>
        </p:nvSpPr>
        <p:spPr>
          <a:xfrm>
            <a:off x="6172200" y="1657945"/>
            <a:ext cx="5207000" cy="50800"/>
          </a:xfrm>
          <a:prstGeom prst="rect">
            <a:avLst/>
          </a:prstGeom>
          <a:solidFill>
            <a:srgbClr val="5A3F87"/>
          </a:solidFill>
          <a:ln>
            <a:noFill/>
          </a:ln>
        </p:spPr>
        <p:txBody>
          <a:bodyPr rtlCol="0" anchor="ctr"/>
          <a:lstStyle/>
          <a:p>
            <a:pPr algn="ctr"/>
          </a:p>
        </p:txBody>
      </p:sp>
      <p:sp>
        <p:nvSpPr>
          <p:cNvPr id="7" name="Rule 6"/>
          <p:cNvSpPr/>
          <p:nvPr/>
        </p:nvSpPr>
        <p:spPr>
          <a:xfrm>
            <a:off x="11372850" y="1657945"/>
            <a:ext cx="6350" cy="3193355"/>
          </a:xfrm>
          <a:prstGeom prst="rect">
            <a:avLst/>
          </a:prstGeom>
          <a:solidFill>
            <a:srgbClr val="E1DBCD"/>
          </a:solidFill>
          <a:ln>
            <a:noFill/>
          </a:ln>
        </p:spPr>
        <p:txBody>
          <a:bodyPr rtlCol="0" anchor="ctr"/>
          <a:lstStyle/>
          <a:p>
            <a:pPr algn="ctr"/>
          </a:p>
        </p:txBody>
      </p:sp>
      <p:sp>
        <p:nvSpPr>
          <p:cNvPr id="8" name="Rule 7"/>
          <p:cNvSpPr/>
          <p:nvPr/>
        </p:nvSpPr>
        <p:spPr>
          <a:xfrm>
            <a:off x="6172200" y="4844951"/>
            <a:ext cx="5207000" cy="6350"/>
          </a:xfrm>
          <a:prstGeom prst="rect">
            <a:avLst/>
          </a:prstGeom>
          <a:solidFill>
            <a:srgbClr val="E1DBCD"/>
          </a:solidFill>
          <a:ln>
            <a:noFill/>
          </a:ln>
        </p:spPr>
        <p:txBody>
          <a:bodyPr rtlCol="0" anchor="ctr"/>
          <a:lstStyle/>
          <a:p>
            <a:pPr algn="ctr"/>
          </a:p>
        </p:txBody>
      </p:sp>
      <p:sp>
        <p:nvSpPr>
          <p:cNvPr id="9" name="Rule 8"/>
          <p:cNvSpPr/>
          <p:nvPr/>
        </p:nvSpPr>
        <p:spPr>
          <a:xfrm>
            <a:off x="6172200" y="1657945"/>
            <a:ext cx="6350" cy="3193355"/>
          </a:xfrm>
          <a:prstGeom prst="rect">
            <a:avLst/>
          </a:prstGeom>
          <a:solidFill>
            <a:srgbClr val="E1DBCD"/>
          </a:solidFill>
          <a:ln>
            <a:noFill/>
          </a:ln>
        </p:spPr>
        <p:txBody>
          <a:bodyPr rtlCol="0" anchor="ctr"/>
          <a:lstStyle/>
          <a:p>
            <a:pPr algn="ctr"/>
          </a:p>
        </p:txBody>
      </p:sp>
      <p:sp>
        <p:nvSpPr>
          <p:cNvPr id="10" name="Text 9"/>
          <p:cNvSpPr txBox="1"/>
          <p:nvPr/>
        </p:nvSpPr>
        <p:spPr>
          <a:xfrm>
            <a:off x="6197600" y="1850223"/>
            <a:ext cx="4997450" cy="341312"/>
          </a:xfrm>
          <a:prstGeom prst="rect">
            <a:avLst/>
          </a:prstGeom>
          <a:noFill/>
        </p:spPr>
        <p:txBody>
          <a:bodyPr wrap="square" tIns="0" rIns="0" bIns="0" lIns="0" anchor="t" rtlCol="0" anchorCtr="0">
            <a:noAutofit/>
          </a:bodyPr>
          <a:lstStyle/>
          <a:p>
            <a:pPr algn="r" rtl="1">
              <a:lnSpc>
                <a:spcPts val="2688"/>
              </a:lnSpc>
              <a:spcBef>
                <a:spcPts val="0"/>
              </a:spcBef>
              <a:spcAft>
                <a:spcPts val="0"/>
              </a:spcAft>
            </a:pPr>
            <a:r>
              <a:rPr sz="2150" b="1" i="0">
                <a:solidFill>
                  <a:srgbClr val="5A3F87"/>
                </a:solidFill>
                <a:latin typeface="Readex Pro"/>
                <a:ea typeface="Readex Pro"/>
                <a:cs typeface="Readex Pro"/>
              </a:rPr>
              <a:t>حوكمة التقنية</a:t>
            </a:r>
          </a:p>
        </p:txBody>
      </p:sp>
      <p:sp>
        <p:nvSpPr>
          <p:cNvPr id="11" name="Text 10"/>
          <p:cNvSpPr txBox="1"/>
          <p:nvPr/>
        </p:nvSpPr>
        <p:spPr>
          <a:xfrm>
            <a:off x="6197600" y="2239542"/>
            <a:ext cx="49974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هل تخدم التقنية أهداف الجهة؟</a:t>
            </a:r>
          </a:p>
        </p:txBody>
      </p:sp>
      <p:sp>
        <p:nvSpPr>
          <p:cNvPr id="12" name="Rule 11"/>
          <p:cNvSpPr/>
          <p:nvPr/>
        </p:nvSpPr>
        <p:spPr>
          <a:xfrm>
            <a:off x="6356350" y="2603698"/>
            <a:ext cx="4838700" cy="6350"/>
          </a:xfrm>
          <a:prstGeom prst="rect">
            <a:avLst/>
          </a:prstGeom>
          <a:solidFill>
            <a:srgbClr val="E1DBCD"/>
          </a:solidFill>
          <a:ln>
            <a:noFill/>
          </a:ln>
        </p:spPr>
        <p:txBody>
          <a:bodyPr rtlCol="0" anchor="ctr"/>
          <a:lstStyle/>
          <a:p>
            <a:pPr algn="ctr"/>
          </a:p>
        </p:txBody>
      </p:sp>
      <p:sp>
        <p:nvSpPr>
          <p:cNvPr id="13" name="Text 12"/>
          <p:cNvSpPr txBox="1"/>
          <p:nvPr/>
        </p:nvSpPr>
        <p:spPr>
          <a:xfrm>
            <a:off x="6356350" y="2658689"/>
            <a:ext cx="48387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COBIT 2019</a:t>
            </a:r>
          </a:p>
        </p:txBody>
      </p:sp>
      <p:sp>
        <p:nvSpPr>
          <p:cNvPr id="14" name="Text 13"/>
          <p:cNvSpPr txBox="1"/>
          <p:nvPr/>
        </p:nvSpPr>
        <p:spPr>
          <a:xfrm>
            <a:off x="6356350" y="2956993"/>
            <a:ext cx="4838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من ISACA: أهداف حوكمة وإدارة</a:t>
            </a:r>
          </a:p>
        </p:txBody>
      </p:sp>
      <p:sp>
        <p:nvSpPr>
          <p:cNvPr id="15" name="Rule 14"/>
          <p:cNvSpPr/>
          <p:nvPr/>
        </p:nvSpPr>
        <p:spPr>
          <a:xfrm>
            <a:off x="6356350" y="3321149"/>
            <a:ext cx="4838700" cy="6350"/>
          </a:xfrm>
          <a:prstGeom prst="rect">
            <a:avLst/>
          </a:prstGeom>
          <a:solidFill>
            <a:srgbClr val="E1DBCD"/>
          </a:solidFill>
          <a:ln>
            <a:noFill/>
          </a:ln>
        </p:spPr>
        <p:txBody>
          <a:bodyPr rtlCol="0" anchor="ctr"/>
          <a:lstStyle/>
          <a:p>
            <a:pPr algn="ctr"/>
          </a:p>
        </p:txBody>
      </p:sp>
      <p:sp>
        <p:nvSpPr>
          <p:cNvPr id="16" name="Text 15"/>
          <p:cNvSpPr txBox="1"/>
          <p:nvPr/>
        </p:nvSpPr>
        <p:spPr>
          <a:xfrm>
            <a:off x="6356350" y="3376140"/>
            <a:ext cx="48387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COSO</a:t>
            </a:r>
          </a:p>
        </p:txBody>
      </p:sp>
      <p:sp>
        <p:nvSpPr>
          <p:cNvPr id="17" name="Text 16"/>
          <p:cNvSpPr txBox="1"/>
          <p:nvPr/>
        </p:nvSpPr>
        <p:spPr>
          <a:xfrm>
            <a:off x="6356350" y="3674443"/>
            <a:ext cx="4838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الرقابة الداخلية وإدارة المخاطر المؤسسية</a:t>
            </a:r>
          </a:p>
        </p:txBody>
      </p:sp>
      <p:sp>
        <p:nvSpPr>
          <p:cNvPr id="18" name="Box 17"/>
          <p:cNvSpPr/>
          <p:nvPr/>
        </p:nvSpPr>
        <p:spPr>
          <a:xfrm>
            <a:off x="812800" y="1657945"/>
            <a:ext cx="5207000" cy="3193355"/>
          </a:xfrm>
          <a:prstGeom prst="roundRect">
            <a:avLst>
              <a:gd name="adj" fmla="val 3579"/>
            </a:avLst>
          </a:prstGeom>
          <a:solidFill>
            <a:srgbClr val="FFFDF8"/>
          </a:solidFill>
          <a:ln>
            <a:noFill/>
          </a:ln>
        </p:spPr>
        <p:txBody>
          <a:bodyPr rtlCol="0" anchor="ctr"/>
          <a:lstStyle/>
          <a:p>
            <a:pPr algn="ctr"/>
          </a:p>
        </p:txBody>
      </p:sp>
      <p:sp>
        <p:nvSpPr>
          <p:cNvPr id="19" name="Rule 18"/>
          <p:cNvSpPr/>
          <p:nvPr/>
        </p:nvSpPr>
        <p:spPr>
          <a:xfrm>
            <a:off x="812800" y="1657945"/>
            <a:ext cx="5207000" cy="50800"/>
          </a:xfrm>
          <a:prstGeom prst="rect">
            <a:avLst/>
          </a:prstGeom>
          <a:solidFill>
            <a:srgbClr val="8A4B12"/>
          </a:solidFill>
          <a:ln>
            <a:noFill/>
          </a:ln>
        </p:spPr>
        <p:txBody>
          <a:bodyPr rtlCol="0" anchor="ctr"/>
          <a:lstStyle/>
          <a:p>
            <a:pPr algn="ctr"/>
          </a:p>
        </p:txBody>
      </p:sp>
      <p:sp>
        <p:nvSpPr>
          <p:cNvPr id="20" name="Rule 19"/>
          <p:cNvSpPr/>
          <p:nvPr/>
        </p:nvSpPr>
        <p:spPr>
          <a:xfrm>
            <a:off x="6013450" y="1657945"/>
            <a:ext cx="6350" cy="3193355"/>
          </a:xfrm>
          <a:prstGeom prst="rect">
            <a:avLst/>
          </a:prstGeom>
          <a:solidFill>
            <a:srgbClr val="E1DBCD"/>
          </a:solidFill>
          <a:ln>
            <a:noFill/>
          </a:ln>
        </p:spPr>
        <p:txBody>
          <a:bodyPr rtlCol="0" anchor="ctr"/>
          <a:lstStyle/>
          <a:p>
            <a:pPr algn="ctr"/>
          </a:p>
        </p:txBody>
      </p:sp>
      <p:sp>
        <p:nvSpPr>
          <p:cNvPr id="21" name="Rule 20"/>
          <p:cNvSpPr/>
          <p:nvPr/>
        </p:nvSpPr>
        <p:spPr>
          <a:xfrm>
            <a:off x="812800" y="4844951"/>
            <a:ext cx="5207000" cy="6350"/>
          </a:xfrm>
          <a:prstGeom prst="rect">
            <a:avLst/>
          </a:prstGeom>
          <a:solidFill>
            <a:srgbClr val="E1DBCD"/>
          </a:solidFill>
          <a:ln>
            <a:noFill/>
          </a:ln>
        </p:spPr>
        <p:txBody>
          <a:bodyPr rtlCol="0" anchor="ctr"/>
          <a:lstStyle/>
          <a:p>
            <a:pPr algn="ctr"/>
          </a:p>
        </p:txBody>
      </p:sp>
      <p:sp>
        <p:nvSpPr>
          <p:cNvPr id="22" name="Rule 21"/>
          <p:cNvSpPr/>
          <p:nvPr/>
        </p:nvSpPr>
        <p:spPr>
          <a:xfrm>
            <a:off x="812800" y="1657945"/>
            <a:ext cx="6350" cy="3193355"/>
          </a:xfrm>
          <a:prstGeom prst="rect">
            <a:avLst/>
          </a:prstGeom>
          <a:solidFill>
            <a:srgbClr val="E1DBCD"/>
          </a:solidFill>
          <a:ln>
            <a:noFill/>
          </a:ln>
        </p:spPr>
        <p:txBody>
          <a:bodyPr rtlCol="0" anchor="ctr"/>
          <a:lstStyle/>
          <a:p>
            <a:pPr algn="ctr"/>
          </a:p>
        </p:txBody>
      </p:sp>
      <p:sp>
        <p:nvSpPr>
          <p:cNvPr id="23" name="Text 22"/>
          <p:cNvSpPr txBox="1"/>
          <p:nvPr/>
        </p:nvSpPr>
        <p:spPr>
          <a:xfrm>
            <a:off x="838200" y="1850223"/>
            <a:ext cx="4997450" cy="341312"/>
          </a:xfrm>
          <a:prstGeom prst="rect">
            <a:avLst/>
          </a:prstGeom>
          <a:noFill/>
        </p:spPr>
        <p:txBody>
          <a:bodyPr wrap="square" tIns="0" rIns="0" bIns="0" lIns="0" anchor="t" rtlCol="0" anchorCtr="0">
            <a:noAutofit/>
          </a:bodyPr>
          <a:lstStyle/>
          <a:p>
            <a:pPr algn="r" rtl="1">
              <a:lnSpc>
                <a:spcPts val="2688"/>
              </a:lnSpc>
              <a:spcBef>
                <a:spcPts val="0"/>
              </a:spcBef>
              <a:spcAft>
                <a:spcPts val="0"/>
              </a:spcAft>
            </a:pPr>
            <a:r>
              <a:rPr sz="2150" b="1" i="0">
                <a:solidFill>
                  <a:srgbClr val="8A4B12"/>
                </a:solidFill>
                <a:latin typeface="Readex Pro"/>
                <a:ea typeface="Readex Pro"/>
                <a:cs typeface="Readex Pro"/>
              </a:rPr>
              <a:t>قطاعية وتعاقدية</a:t>
            </a:r>
          </a:p>
        </p:txBody>
      </p:sp>
      <p:sp>
        <p:nvSpPr>
          <p:cNvPr id="24" name="Text 23"/>
          <p:cNvSpPr txBox="1"/>
          <p:nvPr/>
        </p:nvSpPr>
        <p:spPr>
          <a:xfrm>
            <a:off x="838200" y="2239542"/>
            <a:ext cx="49974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ماذا يطلب القطاع أو العميل؟</a:t>
            </a:r>
          </a:p>
        </p:txBody>
      </p:sp>
      <p:sp>
        <p:nvSpPr>
          <p:cNvPr id="25" name="Rule 24"/>
          <p:cNvSpPr/>
          <p:nvPr/>
        </p:nvSpPr>
        <p:spPr>
          <a:xfrm>
            <a:off x="996950" y="2603698"/>
            <a:ext cx="4838700" cy="6350"/>
          </a:xfrm>
          <a:prstGeom prst="rect">
            <a:avLst/>
          </a:prstGeom>
          <a:solidFill>
            <a:srgbClr val="E1DBCD"/>
          </a:solidFill>
          <a:ln>
            <a:noFill/>
          </a:ln>
        </p:spPr>
        <p:txBody>
          <a:bodyPr rtlCol="0" anchor="ctr"/>
          <a:lstStyle/>
          <a:p>
            <a:pPr algn="ctr"/>
          </a:p>
        </p:txBody>
      </p:sp>
      <p:sp>
        <p:nvSpPr>
          <p:cNvPr id="26" name="Text 25"/>
          <p:cNvSpPr txBox="1"/>
          <p:nvPr/>
        </p:nvSpPr>
        <p:spPr>
          <a:xfrm>
            <a:off x="996950" y="2658689"/>
            <a:ext cx="48387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PCI DSS v4.0.1</a:t>
            </a:r>
          </a:p>
        </p:txBody>
      </p:sp>
      <p:sp>
        <p:nvSpPr>
          <p:cNvPr id="27" name="Text 26"/>
          <p:cNvSpPr txBox="1"/>
          <p:nvPr/>
        </p:nvSpPr>
        <p:spPr>
          <a:xfrm>
            <a:off x="996950" y="2956993"/>
            <a:ext cx="4838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لمن يعالج بيانات البطاقات</a:t>
            </a:r>
          </a:p>
        </p:txBody>
      </p:sp>
      <p:sp>
        <p:nvSpPr>
          <p:cNvPr id="28" name="Rule 27"/>
          <p:cNvSpPr/>
          <p:nvPr/>
        </p:nvSpPr>
        <p:spPr>
          <a:xfrm>
            <a:off x="996950" y="3321149"/>
            <a:ext cx="4838700" cy="6350"/>
          </a:xfrm>
          <a:prstGeom prst="rect">
            <a:avLst/>
          </a:prstGeom>
          <a:solidFill>
            <a:srgbClr val="E1DBCD"/>
          </a:solidFill>
          <a:ln>
            <a:noFill/>
          </a:ln>
        </p:spPr>
        <p:txBody>
          <a:bodyPr rtlCol="0" anchor="ctr"/>
          <a:lstStyle/>
          <a:p>
            <a:pPr algn="ctr"/>
          </a:p>
        </p:txBody>
      </p:sp>
      <p:sp>
        <p:nvSpPr>
          <p:cNvPr id="29" name="Text 28"/>
          <p:cNvSpPr txBox="1"/>
          <p:nvPr/>
        </p:nvSpPr>
        <p:spPr>
          <a:xfrm>
            <a:off x="996950" y="3376140"/>
            <a:ext cx="48387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SOC 2</a:t>
            </a:r>
          </a:p>
        </p:txBody>
      </p:sp>
      <p:sp>
        <p:nvSpPr>
          <p:cNvPr id="30" name="Text 29"/>
          <p:cNvSpPr txBox="1"/>
          <p:nvPr/>
        </p:nvSpPr>
        <p:spPr>
          <a:xfrm>
            <a:off x="996950" y="3674443"/>
            <a:ext cx="4838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تقرير تأكيد لمزودي الخدمات</a:t>
            </a:r>
          </a:p>
        </p:txBody>
      </p:sp>
      <p:sp>
        <p:nvSpPr>
          <p:cNvPr id="31" name="Rule 30"/>
          <p:cNvSpPr/>
          <p:nvPr/>
        </p:nvSpPr>
        <p:spPr>
          <a:xfrm>
            <a:off x="996950" y="4038600"/>
            <a:ext cx="4838700" cy="6350"/>
          </a:xfrm>
          <a:prstGeom prst="rect">
            <a:avLst/>
          </a:prstGeom>
          <a:solidFill>
            <a:srgbClr val="E1DBCD"/>
          </a:solidFill>
          <a:ln>
            <a:noFill/>
          </a:ln>
        </p:spPr>
        <p:txBody>
          <a:bodyPr rtlCol="0" anchor="ctr"/>
          <a:lstStyle/>
          <a:p>
            <a:pPr algn="ctr"/>
          </a:p>
        </p:txBody>
      </p:sp>
      <p:sp>
        <p:nvSpPr>
          <p:cNvPr id="32" name="Text 31"/>
          <p:cNvSpPr txBox="1"/>
          <p:nvPr/>
        </p:nvSpPr>
        <p:spPr>
          <a:xfrm>
            <a:off x="996950" y="4093591"/>
            <a:ext cx="48387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GDPR</a:t>
            </a:r>
          </a:p>
        </p:txBody>
      </p:sp>
      <p:sp>
        <p:nvSpPr>
          <p:cNvPr id="33" name="Text 32"/>
          <p:cNvSpPr txBox="1"/>
          <p:nvPr/>
        </p:nvSpPr>
        <p:spPr>
          <a:xfrm>
            <a:off x="996950" y="4391894"/>
            <a:ext cx="4838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حماية البيانات في أوروبا</a:t>
            </a:r>
          </a:p>
        </p:txBody>
      </p:sp>
      <p:sp>
        <p:nvSpPr>
          <p:cNvPr id="34" name="Box 33"/>
          <p:cNvSpPr/>
          <p:nvPr/>
        </p:nvSpPr>
        <p:spPr>
          <a:xfrm>
            <a:off x="812800" y="5041801"/>
            <a:ext cx="10566400" cy="556220"/>
          </a:xfrm>
          <a:prstGeom prst="roundRect">
            <a:avLst>
              <a:gd name="adj" fmla="val 18266"/>
            </a:avLst>
          </a:prstGeom>
          <a:solidFill>
            <a:srgbClr val="172433"/>
          </a:solidFill>
          <a:ln>
            <a:noFill/>
          </a:ln>
        </p:spPr>
        <p:txBody>
          <a:bodyPr rtlCol="0" anchor="ctr"/>
          <a:lstStyle/>
          <a:p>
            <a:pPr algn="ctr"/>
          </a:p>
        </p:txBody>
      </p:sp>
      <p:pic>
        <p:nvPicPr>
          <p:cNvPr id="35" name="Icon Lightbulb 34" descr="icon051.png"/>
          <p:cNvPicPr>
            <a:picLocks noChangeAspect="1"/>
          </p:cNvPicPr>
          <p:nvPr/>
        </p:nvPicPr>
        <p:blipFill>
          <a:blip r:embed="rId2"/>
          <a:stretch>
            <a:fillRect/>
          </a:stretch>
        </p:blipFill>
        <p:spPr>
          <a:xfrm>
            <a:off x="10979150" y="5208786"/>
            <a:ext cx="222250" cy="222250"/>
          </a:xfrm>
          <a:prstGeom prst="rect">
            <a:avLst/>
          </a:prstGeom>
        </p:spPr>
      </p:pic>
      <p:sp>
        <p:nvSpPr>
          <p:cNvPr id="36" name="Text 35"/>
          <p:cNvSpPr txBox="1"/>
          <p:nvPr/>
        </p:nvSpPr>
        <p:spPr>
          <a:xfrm>
            <a:off x="838200" y="5135336"/>
            <a:ext cx="1002665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الأطر تتداخل. ضابط واحد، مثل التحقق متعدد العوامل، يحقق متطلبات في عدة أطر معاً. ربطها يسمى «المواءمة».</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‎27001:2022‎: البنود الإلزامية</a:t>
            </a:r>
          </a:p>
        </p:txBody>
      </p:sp>
      <p:sp>
        <p:nvSpPr>
          <p:cNvPr id="5" name="Box 4"/>
          <p:cNvSpPr/>
          <p:nvPr/>
        </p:nvSpPr>
        <p:spPr>
          <a:xfrm>
            <a:off x="8807450" y="1661120"/>
            <a:ext cx="2568575" cy="1373981"/>
          </a:xfrm>
          <a:prstGeom prst="roundRect">
            <a:avLst>
              <a:gd name="adj" fmla="val 8280"/>
            </a:avLst>
          </a:prstGeom>
          <a:solidFill>
            <a:srgbClr val="FFFDF8"/>
          </a:solidFill>
          <a:ln w="6350">
            <a:solidFill>
              <a:srgbClr val="E1DBCD"/>
            </a:solidFill>
          </a:ln>
        </p:spPr>
        <p:txBody>
          <a:bodyPr rtlCol="0" anchor="ctr"/>
          <a:lstStyle/>
          <a:p>
            <a:pPr algn="ctr"/>
          </a:p>
        </p:txBody>
      </p:sp>
      <p:sp>
        <p:nvSpPr>
          <p:cNvPr id="6" name="Text 5"/>
          <p:cNvSpPr txBox="1"/>
          <p:nvPr/>
        </p:nvSpPr>
        <p:spPr>
          <a:xfrm>
            <a:off x="8829675" y="1809901"/>
            <a:ext cx="241617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4</a:t>
            </a:r>
          </a:p>
        </p:txBody>
      </p:sp>
      <p:sp>
        <p:nvSpPr>
          <p:cNvPr id="7" name="Text 6"/>
          <p:cNvSpPr txBox="1"/>
          <p:nvPr/>
        </p:nvSpPr>
        <p:spPr>
          <a:xfrm>
            <a:off x="8829675" y="2163024"/>
            <a:ext cx="2416175"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السياق والنطاق</a:t>
            </a:r>
          </a:p>
        </p:txBody>
      </p:sp>
      <p:sp>
        <p:nvSpPr>
          <p:cNvPr id="8" name="Box 7"/>
          <p:cNvSpPr/>
          <p:nvPr/>
        </p:nvSpPr>
        <p:spPr>
          <a:xfrm>
            <a:off x="6143625" y="1661120"/>
            <a:ext cx="2568575" cy="1373981"/>
          </a:xfrm>
          <a:prstGeom prst="roundRect">
            <a:avLst>
              <a:gd name="adj" fmla="val 8280"/>
            </a:avLst>
          </a:prstGeom>
          <a:solidFill>
            <a:srgbClr val="FFFDF8"/>
          </a:solidFill>
          <a:ln w="6350">
            <a:solidFill>
              <a:srgbClr val="E1DBCD"/>
            </a:solidFill>
          </a:ln>
        </p:spPr>
        <p:txBody>
          <a:bodyPr rtlCol="0" anchor="ctr"/>
          <a:lstStyle/>
          <a:p>
            <a:pPr algn="ctr"/>
          </a:p>
        </p:txBody>
      </p:sp>
      <p:sp>
        <p:nvSpPr>
          <p:cNvPr id="9" name="Text 8"/>
          <p:cNvSpPr txBox="1"/>
          <p:nvPr/>
        </p:nvSpPr>
        <p:spPr>
          <a:xfrm>
            <a:off x="6165850" y="1809901"/>
            <a:ext cx="241617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5</a:t>
            </a:r>
          </a:p>
        </p:txBody>
      </p:sp>
      <p:sp>
        <p:nvSpPr>
          <p:cNvPr id="10" name="Text 9"/>
          <p:cNvSpPr txBox="1"/>
          <p:nvPr/>
        </p:nvSpPr>
        <p:spPr>
          <a:xfrm>
            <a:off x="6165850" y="2163024"/>
            <a:ext cx="2416175"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القيادة والسياسة</a:t>
            </a:r>
          </a:p>
        </p:txBody>
      </p:sp>
      <p:sp>
        <p:nvSpPr>
          <p:cNvPr id="11" name="Box 10"/>
          <p:cNvSpPr/>
          <p:nvPr/>
        </p:nvSpPr>
        <p:spPr>
          <a:xfrm>
            <a:off x="3479800" y="1661120"/>
            <a:ext cx="2568575" cy="1373981"/>
          </a:xfrm>
          <a:prstGeom prst="roundRect">
            <a:avLst>
              <a:gd name="adj" fmla="val 8280"/>
            </a:avLst>
          </a:prstGeom>
          <a:solidFill>
            <a:srgbClr val="FFFDF8"/>
          </a:solidFill>
          <a:ln w="6350">
            <a:solidFill>
              <a:srgbClr val="E1DBCD"/>
            </a:solidFill>
          </a:ln>
        </p:spPr>
        <p:txBody>
          <a:bodyPr rtlCol="0" anchor="ctr"/>
          <a:lstStyle/>
          <a:p>
            <a:pPr algn="ctr"/>
          </a:p>
        </p:txBody>
      </p:sp>
      <p:sp>
        <p:nvSpPr>
          <p:cNvPr id="12" name="Text 11"/>
          <p:cNvSpPr txBox="1"/>
          <p:nvPr/>
        </p:nvSpPr>
        <p:spPr>
          <a:xfrm>
            <a:off x="3502025" y="1809901"/>
            <a:ext cx="241617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6</a:t>
            </a:r>
          </a:p>
        </p:txBody>
      </p:sp>
      <p:sp>
        <p:nvSpPr>
          <p:cNvPr id="13" name="Text 12"/>
          <p:cNvSpPr txBox="1"/>
          <p:nvPr/>
        </p:nvSpPr>
        <p:spPr>
          <a:xfrm>
            <a:off x="3540728" y="2163024"/>
            <a:ext cx="2377472" cy="719931"/>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التخطيط وتقييم المخاطر</a:t>
            </a:r>
          </a:p>
        </p:txBody>
      </p:sp>
      <p:sp>
        <p:nvSpPr>
          <p:cNvPr id="14" name="Box 13"/>
          <p:cNvSpPr/>
          <p:nvPr/>
        </p:nvSpPr>
        <p:spPr>
          <a:xfrm>
            <a:off x="815975" y="1661120"/>
            <a:ext cx="2568575" cy="1373981"/>
          </a:xfrm>
          <a:prstGeom prst="roundRect">
            <a:avLst>
              <a:gd name="adj" fmla="val 8280"/>
            </a:avLst>
          </a:prstGeom>
          <a:solidFill>
            <a:srgbClr val="FFFDF8"/>
          </a:solidFill>
          <a:ln w="6350">
            <a:solidFill>
              <a:srgbClr val="E1DBCD"/>
            </a:solidFill>
          </a:ln>
        </p:spPr>
        <p:txBody>
          <a:bodyPr rtlCol="0" anchor="ctr"/>
          <a:lstStyle/>
          <a:p>
            <a:pPr algn="ctr"/>
          </a:p>
        </p:txBody>
      </p:sp>
      <p:sp>
        <p:nvSpPr>
          <p:cNvPr id="15" name="Text 14"/>
          <p:cNvSpPr txBox="1"/>
          <p:nvPr/>
        </p:nvSpPr>
        <p:spPr>
          <a:xfrm>
            <a:off x="838200" y="1809901"/>
            <a:ext cx="2416175"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7</a:t>
            </a:r>
          </a:p>
        </p:txBody>
      </p:sp>
      <p:sp>
        <p:nvSpPr>
          <p:cNvPr id="16" name="Text 15"/>
          <p:cNvSpPr txBox="1"/>
          <p:nvPr/>
        </p:nvSpPr>
        <p:spPr>
          <a:xfrm>
            <a:off x="838200" y="2163024"/>
            <a:ext cx="2416175"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الدعم والموارد</a:t>
            </a:r>
          </a:p>
        </p:txBody>
      </p:sp>
      <p:sp>
        <p:nvSpPr>
          <p:cNvPr id="17" name="Box 16"/>
          <p:cNvSpPr/>
          <p:nvPr/>
        </p:nvSpPr>
        <p:spPr>
          <a:xfrm>
            <a:off x="7919541" y="3231952"/>
            <a:ext cx="3456484" cy="1014016"/>
          </a:xfrm>
          <a:prstGeom prst="roundRect">
            <a:avLst>
              <a:gd name="adj" fmla="val 11201"/>
            </a:avLst>
          </a:prstGeom>
          <a:solidFill>
            <a:srgbClr val="FFFDF8"/>
          </a:solidFill>
          <a:ln w="6350">
            <a:solidFill>
              <a:srgbClr val="E1DBCD"/>
            </a:solidFill>
          </a:ln>
        </p:spPr>
        <p:txBody>
          <a:bodyPr rtlCol="0" anchor="ctr"/>
          <a:lstStyle/>
          <a:p>
            <a:pPr algn="ctr"/>
          </a:p>
        </p:txBody>
      </p:sp>
      <p:sp>
        <p:nvSpPr>
          <p:cNvPr id="18" name="Text 17"/>
          <p:cNvSpPr txBox="1"/>
          <p:nvPr/>
        </p:nvSpPr>
        <p:spPr>
          <a:xfrm>
            <a:off x="7941766" y="3380732"/>
            <a:ext cx="3304084"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8</a:t>
            </a:r>
          </a:p>
        </p:txBody>
      </p:sp>
      <p:sp>
        <p:nvSpPr>
          <p:cNvPr id="19" name="Text 18"/>
          <p:cNvSpPr txBox="1"/>
          <p:nvPr/>
        </p:nvSpPr>
        <p:spPr>
          <a:xfrm>
            <a:off x="7941766" y="3733856"/>
            <a:ext cx="3304084"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التشغيل ومعالجة المخاطر</a:t>
            </a:r>
          </a:p>
        </p:txBody>
      </p:sp>
      <p:sp>
        <p:nvSpPr>
          <p:cNvPr id="20" name="Box 19"/>
          <p:cNvSpPr/>
          <p:nvPr/>
        </p:nvSpPr>
        <p:spPr>
          <a:xfrm>
            <a:off x="4367808" y="3231952"/>
            <a:ext cx="3456484" cy="1014016"/>
          </a:xfrm>
          <a:prstGeom prst="roundRect">
            <a:avLst>
              <a:gd name="adj" fmla="val 11201"/>
            </a:avLst>
          </a:prstGeom>
          <a:solidFill>
            <a:srgbClr val="FFFDF8"/>
          </a:solidFill>
          <a:ln w="6350">
            <a:solidFill>
              <a:srgbClr val="E1DBCD"/>
            </a:solidFill>
          </a:ln>
        </p:spPr>
        <p:txBody>
          <a:bodyPr rtlCol="0" anchor="ctr"/>
          <a:lstStyle/>
          <a:p>
            <a:pPr algn="ctr"/>
          </a:p>
        </p:txBody>
      </p:sp>
      <p:sp>
        <p:nvSpPr>
          <p:cNvPr id="21" name="Text 20"/>
          <p:cNvSpPr txBox="1"/>
          <p:nvPr/>
        </p:nvSpPr>
        <p:spPr>
          <a:xfrm>
            <a:off x="4390033" y="3380732"/>
            <a:ext cx="3304084"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9</a:t>
            </a:r>
          </a:p>
        </p:txBody>
      </p:sp>
      <p:sp>
        <p:nvSpPr>
          <p:cNvPr id="22" name="Text 21"/>
          <p:cNvSpPr txBox="1"/>
          <p:nvPr/>
        </p:nvSpPr>
        <p:spPr>
          <a:xfrm>
            <a:off x="4390033" y="3733856"/>
            <a:ext cx="3304084"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تقييم الأداء والتدقيق الداخلي</a:t>
            </a:r>
          </a:p>
        </p:txBody>
      </p:sp>
      <p:sp>
        <p:nvSpPr>
          <p:cNvPr id="23" name="Box 22"/>
          <p:cNvSpPr/>
          <p:nvPr/>
        </p:nvSpPr>
        <p:spPr>
          <a:xfrm>
            <a:off x="816074" y="3231952"/>
            <a:ext cx="3456484" cy="1014016"/>
          </a:xfrm>
          <a:prstGeom prst="roundRect">
            <a:avLst>
              <a:gd name="adj" fmla="val 11201"/>
            </a:avLst>
          </a:prstGeom>
          <a:solidFill>
            <a:srgbClr val="FFFDF8"/>
          </a:solidFill>
          <a:ln w="6350">
            <a:solidFill>
              <a:srgbClr val="E1DBCD"/>
            </a:solidFill>
          </a:ln>
        </p:spPr>
        <p:txBody>
          <a:bodyPr rtlCol="0" anchor="ctr"/>
          <a:lstStyle/>
          <a:p>
            <a:pPr algn="ctr"/>
          </a:p>
        </p:txBody>
      </p:sp>
      <p:sp>
        <p:nvSpPr>
          <p:cNvPr id="24" name="Text 23"/>
          <p:cNvSpPr txBox="1"/>
          <p:nvPr/>
        </p:nvSpPr>
        <p:spPr>
          <a:xfrm>
            <a:off x="838299" y="3380732"/>
            <a:ext cx="3304084" cy="368300"/>
          </a:xfrm>
          <a:prstGeom prst="rect">
            <a:avLst/>
          </a:prstGeom>
          <a:noFill/>
        </p:spPr>
        <p:txBody>
          <a:bodyPr wrap="square" tIns="0" rIns="0" bIns="0" lIns="0" anchor="t" rtlCol="0" anchorCtr="0">
            <a:noAutofit/>
          </a:bodyPr>
          <a:lstStyle/>
          <a:p>
            <a:pPr algn="r">
              <a:lnSpc>
                <a:spcPts val="2900"/>
              </a:lnSpc>
              <a:spcBef>
                <a:spcPts val="0"/>
              </a:spcBef>
              <a:spcAft>
                <a:spcPts val="0"/>
              </a:spcAft>
            </a:pPr>
            <a:r>
              <a:rPr sz="2900" b="1" i="0">
                <a:solidFill>
                  <a:srgbClr val="0E7C6B"/>
                </a:solidFill>
                <a:latin typeface="Readex Pro"/>
                <a:ea typeface="Readex Pro"/>
                <a:cs typeface="Readex Pro"/>
              </a:rPr>
              <a:t>10</a:t>
            </a:r>
          </a:p>
        </p:txBody>
      </p:sp>
      <p:sp>
        <p:nvSpPr>
          <p:cNvPr id="25" name="Text 24"/>
          <p:cNvSpPr txBox="1"/>
          <p:nvPr/>
        </p:nvSpPr>
        <p:spPr>
          <a:xfrm>
            <a:off x="838299" y="3733856"/>
            <a:ext cx="3304084" cy="359966"/>
          </a:xfrm>
          <a:prstGeom prst="rect">
            <a:avLst/>
          </a:prstGeom>
          <a:noFill/>
        </p:spPr>
        <p:txBody>
          <a:bodyPr wrap="square" tIns="0" rIns="0" bIns="0" lIns="0" anchor="t" rtlCol="0" anchorCtr="0">
            <a:noAutofit/>
          </a:bodyPr>
          <a:lstStyle/>
          <a:p>
            <a:pPr algn="r" rtl="1">
              <a:lnSpc>
                <a:spcPts val="2835"/>
              </a:lnSpc>
              <a:spcBef>
                <a:spcPts val="0"/>
              </a:spcBef>
              <a:spcAft>
                <a:spcPts val="0"/>
              </a:spcAft>
            </a:pPr>
            <a:r>
              <a:rPr sz="2100" b="1" i="0">
                <a:solidFill>
                  <a:srgbClr val="172433"/>
                </a:solidFill>
                <a:latin typeface="IBM Plex Sans Arabic"/>
                <a:ea typeface="IBM Plex Sans Arabic"/>
                <a:cs typeface="IBM Plex Sans Arabic"/>
              </a:rPr>
              <a:t>التحسين المستمر</a:t>
            </a:r>
          </a:p>
        </p:txBody>
      </p:sp>
      <p:sp>
        <p:nvSpPr>
          <p:cNvPr id="26" name="Box 25"/>
          <p:cNvSpPr/>
          <p:nvPr/>
        </p:nvSpPr>
        <p:spPr>
          <a:xfrm>
            <a:off x="812800" y="4439642"/>
            <a:ext cx="10566400" cy="1000720"/>
          </a:xfrm>
          <a:prstGeom prst="roundRect">
            <a:avLst>
              <a:gd name="adj" fmla="val 10152"/>
            </a:avLst>
          </a:prstGeom>
          <a:solidFill>
            <a:srgbClr val="172433"/>
          </a:solidFill>
          <a:ln>
            <a:noFill/>
          </a:ln>
        </p:spPr>
        <p:txBody>
          <a:bodyPr rtlCol="0" anchor="ctr"/>
          <a:lstStyle/>
          <a:p>
            <a:pPr algn="ctr"/>
          </a:p>
        </p:txBody>
      </p:sp>
      <p:sp>
        <p:nvSpPr>
          <p:cNvPr id="27" name="Text 26"/>
          <p:cNvSpPr txBox="1"/>
          <p:nvPr/>
        </p:nvSpPr>
        <p:spPr>
          <a:xfrm>
            <a:off x="9618782" y="4711934"/>
            <a:ext cx="1582618"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F2C46D"/>
                </a:solidFill>
                <a:latin typeface="IBM Plex Sans Arabic"/>
                <a:ea typeface="IBM Plex Sans Arabic"/>
                <a:cs typeface="IBM Plex Sans Arabic"/>
              </a:rPr>
              <a:t>مسار الشهادة</a:t>
            </a:r>
          </a:p>
        </p:txBody>
      </p:sp>
      <p:sp>
        <p:nvSpPr>
          <p:cNvPr id="28" name="Text 27"/>
          <p:cNvSpPr txBox="1"/>
          <p:nvPr/>
        </p:nvSpPr>
        <p:spPr>
          <a:xfrm>
            <a:off x="838200" y="4525304"/>
            <a:ext cx="8826302"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F3EFE6"/>
                </a:solidFill>
                <a:latin typeface="IBM Plex Sans Arabic"/>
                <a:ea typeface="IBM Plex Sans Arabic"/>
                <a:cs typeface="IBM Plex Sans Arabic"/>
              </a:rPr>
              <a:t>تدقيق المرحلة 1 للوثائق، ثم المرحلة 2 للتطبيق، ثم شهادة لثلاث سنوات مع تدقيق متابعة سنوي.</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 الملحق A وبيان قابلية التطبيق</a:t>
            </a:r>
          </a:p>
        </p:txBody>
      </p:sp>
      <p:sp>
        <p:nvSpPr>
          <p:cNvPr id="5" name="Box 4"/>
          <p:cNvSpPr/>
          <p:nvPr/>
        </p:nvSpPr>
        <p:spPr>
          <a:xfrm>
            <a:off x="5273675" y="1661120"/>
            <a:ext cx="6102350" cy="3561159"/>
          </a:xfrm>
          <a:prstGeom prst="roundRect">
            <a:avLst>
              <a:gd name="adj" fmla="val 3203"/>
            </a:avLst>
          </a:prstGeom>
          <a:solidFill>
            <a:srgbClr val="FFFDF8"/>
          </a:solidFill>
          <a:ln w="6350">
            <a:solidFill>
              <a:srgbClr val="E1DBCD"/>
            </a:solidFill>
          </a:ln>
        </p:spPr>
        <p:txBody>
          <a:bodyPr rtlCol="0" anchor="ctr"/>
          <a:lstStyle/>
          <a:p>
            <a:pPr algn="ctr"/>
          </a:p>
        </p:txBody>
      </p:sp>
      <p:sp>
        <p:nvSpPr>
          <p:cNvPr id="6" name="Text 5"/>
          <p:cNvSpPr txBox="1"/>
          <p:nvPr/>
        </p:nvSpPr>
        <p:spPr>
          <a:xfrm>
            <a:off x="5295900" y="1815933"/>
            <a:ext cx="5886450"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8A4B12"/>
                </a:solidFill>
                <a:latin typeface="Readex Pro"/>
                <a:ea typeface="Readex Pro"/>
                <a:cs typeface="Readex Pro"/>
              </a:rPr>
              <a:t>الملحق A:‏ 93 ضابطاً في 4 محاور</a:t>
            </a:r>
          </a:p>
        </p:txBody>
      </p:sp>
      <p:sp>
        <p:nvSpPr>
          <p:cNvPr id="7" name="Text 6"/>
          <p:cNvSpPr txBox="1"/>
          <p:nvPr/>
        </p:nvSpPr>
        <p:spPr>
          <a:xfrm>
            <a:off x="9494639" y="2308979"/>
            <a:ext cx="1687711" cy="396180"/>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0" i="0">
                <a:solidFill>
                  <a:srgbClr val="172433"/>
                </a:solidFill>
                <a:latin typeface="IBM Plex Sans Arabic"/>
                <a:ea typeface="IBM Plex Sans Arabic"/>
                <a:cs typeface="IBM Plex Sans Arabic"/>
              </a:rPr>
              <a:t>تنظيمية (A.5)</a:t>
            </a:r>
          </a:p>
        </p:txBody>
      </p:sp>
      <p:sp>
        <p:nvSpPr>
          <p:cNvPr id="8" name="Text 7"/>
          <p:cNvSpPr txBox="1"/>
          <p:nvPr/>
        </p:nvSpPr>
        <p:spPr>
          <a:xfrm>
            <a:off x="5295900" y="2319171"/>
            <a:ext cx="520204" cy="396180"/>
          </a:xfrm>
          <a:prstGeom prst="rect">
            <a:avLst/>
          </a:prstGeom>
          <a:noFill/>
        </p:spPr>
        <p:txBody>
          <a:bodyPr wrap="square" tIns="0" rIns="0" bIns="0" lIns="0" anchor="t" rtlCol="0" anchorCtr="0">
            <a:noAutofit/>
          </a:bodyPr>
          <a:lstStyle/>
          <a:p>
            <a:pPr algn="r">
              <a:lnSpc>
                <a:spcPts val="3120"/>
              </a:lnSpc>
              <a:spcBef>
                <a:spcPts val="0"/>
              </a:spcBef>
              <a:spcAft>
                <a:spcPts val="0"/>
              </a:spcAft>
            </a:pPr>
            <a:r>
              <a:rPr sz="2400" b="1" i="0">
                <a:solidFill>
                  <a:srgbClr val="172433"/>
                </a:solidFill>
                <a:latin typeface="Readex Pro"/>
                <a:ea typeface="Readex Pro"/>
                <a:cs typeface="Readex Pro"/>
              </a:rPr>
              <a:t>37</a:t>
            </a:r>
          </a:p>
        </p:txBody>
      </p:sp>
      <p:sp>
        <p:nvSpPr>
          <p:cNvPr id="9" name="Box 8"/>
          <p:cNvSpPr/>
          <p:nvPr/>
        </p:nvSpPr>
        <p:spPr>
          <a:xfrm>
            <a:off x="5467350" y="2773263"/>
            <a:ext cx="5715000" cy="177800"/>
          </a:xfrm>
          <a:prstGeom prst="roundRect">
            <a:avLst>
              <a:gd name="adj" fmla="val 28571"/>
            </a:avLst>
          </a:prstGeom>
          <a:solidFill>
            <a:srgbClr val="0E7C6B"/>
          </a:solidFill>
          <a:ln>
            <a:noFill/>
          </a:ln>
        </p:spPr>
        <p:txBody>
          <a:bodyPr rtlCol="0" anchor="ctr"/>
          <a:lstStyle/>
          <a:p>
            <a:pPr algn="ctr"/>
          </a:p>
        </p:txBody>
      </p:sp>
      <p:sp>
        <p:nvSpPr>
          <p:cNvPr id="10" name="Text 9"/>
          <p:cNvSpPr txBox="1"/>
          <p:nvPr/>
        </p:nvSpPr>
        <p:spPr>
          <a:xfrm>
            <a:off x="9715500" y="3009960"/>
            <a:ext cx="1466850" cy="396180"/>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0" i="0">
                <a:solidFill>
                  <a:srgbClr val="172433"/>
                </a:solidFill>
                <a:latin typeface="IBM Plex Sans Arabic"/>
                <a:ea typeface="IBM Plex Sans Arabic"/>
                <a:cs typeface="IBM Plex Sans Arabic"/>
              </a:rPr>
              <a:t>بشرية (A.6)</a:t>
            </a:r>
          </a:p>
        </p:txBody>
      </p:sp>
      <p:sp>
        <p:nvSpPr>
          <p:cNvPr id="11" name="Text 10"/>
          <p:cNvSpPr txBox="1"/>
          <p:nvPr/>
        </p:nvSpPr>
        <p:spPr>
          <a:xfrm>
            <a:off x="5295900" y="3020151"/>
            <a:ext cx="353814" cy="396180"/>
          </a:xfrm>
          <a:prstGeom prst="rect">
            <a:avLst/>
          </a:prstGeom>
          <a:noFill/>
        </p:spPr>
        <p:txBody>
          <a:bodyPr wrap="square" tIns="0" rIns="0" bIns="0" lIns="0" anchor="t" rtlCol="0" anchorCtr="0">
            <a:noAutofit/>
          </a:bodyPr>
          <a:lstStyle/>
          <a:p>
            <a:pPr algn="r">
              <a:lnSpc>
                <a:spcPts val="3120"/>
              </a:lnSpc>
              <a:spcBef>
                <a:spcPts val="0"/>
              </a:spcBef>
              <a:spcAft>
                <a:spcPts val="0"/>
              </a:spcAft>
            </a:pPr>
            <a:r>
              <a:rPr sz="2400" b="1" i="0">
                <a:solidFill>
                  <a:srgbClr val="172433"/>
                </a:solidFill>
                <a:latin typeface="Readex Pro"/>
                <a:ea typeface="Readex Pro"/>
                <a:cs typeface="Readex Pro"/>
              </a:rPr>
              <a:t>8</a:t>
            </a:r>
          </a:p>
        </p:txBody>
      </p:sp>
      <p:sp>
        <p:nvSpPr>
          <p:cNvPr id="12" name="Box 11"/>
          <p:cNvSpPr/>
          <p:nvPr/>
        </p:nvSpPr>
        <p:spPr>
          <a:xfrm>
            <a:off x="9950450" y="3474244"/>
            <a:ext cx="1231900" cy="177800"/>
          </a:xfrm>
          <a:prstGeom prst="roundRect">
            <a:avLst>
              <a:gd name="adj" fmla="val 28571"/>
            </a:avLst>
          </a:prstGeom>
          <a:solidFill>
            <a:srgbClr val="24506B"/>
          </a:solidFill>
          <a:ln>
            <a:noFill/>
          </a:ln>
        </p:spPr>
        <p:txBody>
          <a:bodyPr rtlCol="0" anchor="ctr"/>
          <a:lstStyle/>
          <a:p>
            <a:pPr algn="ctr"/>
          </a:p>
        </p:txBody>
      </p:sp>
      <p:sp>
        <p:nvSpPr>
          <p:cNvPr id="13" name="Text 12"/>
          <p:cNvSpPr txBox="1"/>
          <p:nvPr/>
        </p:nvSpPr>
        <p:spPr>
          <a:xfrm>
            <a:off x="9758065" y="3710940"/>
            <a:ext cx="1424285" cy="396180"/>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0" i="0">
                <a:solidFill>
                  <a:srgbClr val="172433"/>
                </a:solidFill>
                <a:latin typeface="IBM Plex Sans Arabic"/>
                <a:ea typeface="IBM Plex Sans Arabic"/>
                <a:cs typeface="IBM Plex Sans Arabic"/>
              </a:rPr>
              <a:t>مادية (A.7)</a:t>
            </a:r>
          </a:p>
        </p:txBody>
      </p:sp>
      <p:sp>
        <p:nvSpPr>
          <p:cNvPr id="14" name="Text 13"/>
          <p:cNvSpPr txBox="1"/>
          <p:nvPr/>
        </p:nvSpPr>
        <p:spPr>
          <a:xfrm>
            <a:off x="5295900" y="3721132"/>
            <a:ext cx="544612" cy="396180"/>
          </a:xfrm>
          <a:prstGeom prst="rect">
            <a:avLst/>
          </a:prstGeom>
          <a:noFill/>
        </p:spPr>
        <p:txBody>
          <a:bodyPr wrap="square" tIns="0" rIns="0" bIns="0" lIns="0" anchor="t" rtlCol="0" anchorCtr="0">
            <a:noAutofit/>
          </a:bodyPr>
          <a:lstStyle/>
          <a:p>
            <a:pPr algn="r">
              <a:lnSpc>
                <a:spcPts val="3120"/>
              </a:lnSpc>
              <a:spcBef>
                <a:spcPts val="0"/>
              </a:spcBef>
              <a:spcAft>
                <a:spcPts val="0"/>
              </a:spcAft>
            </a:pPr>
            <a:r>
              <a:rPr sz="2400" b="1" i="0">
                <a:solidFill>
                  <a:srgbClr val="172433"/>
                </a:solidFill>
                <a:latin typeface="Readex Pro"/>
                <a:ea typeface="Readex Pro"/>
                <a:cs typeface="Readex Pro"/>
              </a:rPr>
              <a:t>14</a:t>
            </a:r>
          </a:p>
        </p:txBody>
      </p:sp>
      <p:sp>
        <p:nvSpPr>
          <p:cNvPr id="15" name="Box 14"/>
          <p:cNvSpPr/>
          <p:nvPr/>
        </p:nvSpPr>
        <p:spPr>
          <a:xfrm>
            <a:off x="9023350" y="4175224"/>
            <a:ext cx="2159000" cy="177800"/>
          </a:xfrm>
          <a:prstGeom prst="roundRect">
            <a:avLst>
              <a:gd name="adj" fmla="val 28571"/>
            </a:avLst>
          </a:prstGeom>
          <a:solidFill>
            <a:srgbClr val="C27A16"/>
          </a:solidFill>
          <a:ln>
            <a:noFill/>
          </a:ln>
        </p:spPr>
        <p:txBody>
          <a:bodyPr rtlCol="0" anchor="ctr"/>
          <a:lstStyle/>
          <a:p>
            <a:pPr algn="ctr"/>
          </a:p>
        </p:txBody>
      </p:sp>
      <p:sp>
        <p:nvSpPr>
          <p:cNvPr id="16" name="Text 15"/>
          <p:cNvSpPr txBox="1"/>
          <p:nvPr/>
        </p:nvSpPr>
        <p:spPr>
          <a:xfrm>
            <a:off x="9803507" y="4411920"/>
            <a:ext cx="1378843" cy="396180"/>
          </a:xfrm>
          <a:prstGeom prst="rect">
            <a:avLst/>
          </a:prstGeom>
          <a:noFill/>
        </p:spPr>
        <p:txBody>
          <a:bodyPr wrap="square" tIns="0" rIns="0" bIns="0" lIns="0" anchor="t" rtlCol="0" anchorCtr="0">
            <a:noAutofit/>
          </a:bodyPr>
          <a:lstStyle/>
          <a:p>
            <a:pPr algn="r" rtl="1">
              <a:lnSpc>
                <a:spcPts val="2925"/>
              </a:lnSpc>
              <a:spcBef>
                <a:spcPts val="0"/>
              </a:spcBef>
              <a:spcAft>
                <a:spcPts val="0"/>
              </a:spcAft>
            </a:pPr>
            <a:r>
              <a:rPr sz="2250" b="0" i="0">
                <a:solidFill>
                  <a:srgbClr val="172433"/>
                </a:solidFill>
                <a:latin typeface="IBM Plex Sans Arabic"/>
                <a:ea typeface="IBM Plex Sans Arabic"/>
                <a:cs typeface="IBM Plex Sans Arabic"/>
              </a:rPr>
              <a:t>تقنية (A.8)</a:t>
            </a:r>
          </a:p>
        </p:txBody>
      </p:sp>
      <p:sp>
        <p:nvSpPr>
          <p:cNvPr id="17" name="Text 16"/>
          <p:cNvSpPr txBox="1"/>
          <p:nvPr/>
        </p:nvSpPr>
        <p:spPr>
          <a:xfrm>
            <a:off x="5295900" y="4422112"/>
            <a:ext cx="552549" cy="396180"/>
          </a:xfrm>
          <a:prstGeom prst="rect">
            <a:avLst/>
          </a:prstGeom>
          <a:noFill/>
        </p:spPr>
        <p:txBody>
          <a:bodyPr wrap="square" tIns="0" rIns="0" bIns="0" lIns="0" anchor="t" rtlCol="0" anchorCtr="0">
            <a:noAutofit/>
          </a:bodyPr>
          <a:lstStyle/>
          <a:p>
            <a:pPr algn="r">
              <a:lnSpc>
                <a:spcPts val="3120"/>
              </a:lnSpc>
              <a:spcBef>
                <a:spcPts val="0"/>
              </a:spcBef>
              <a:spcAft>
                <a:spcPts val="0"/>
              </a:spcAft>
            </a:pPr>
            <a:r>
              <a:rPr sz="2400" b="1" i="0">
                <a:solidFill>
                  <a:srgbClr val="172433"/>
                </a:solidFill>
                <a:latin typeface="Readex Pro"/>
                <a:ea typeface="Readex Pro"/>
                <a:cs typeface="Readex Pro"/>
              </a:rPr>
              <a:t>34</a:t>
            </a:r>
          </a:p>
        </p:txBody>
      </p:sp>
      <p:sp>
        <p:nvSpPr>
          <p:cNvPr id="18" name="Box 17"/>
          <p:cNvSpPr/>
          <p:nvPr/>
        </p:nvSpPr>
        <p:spPr>
          <a:xfrm>
            <a:off x="5930900" y="4876205"/>
            <a:ext cx="5251450" cy="177800"/>
          </a:xfrm>
          <a:prstGeom prst="roundRect">
            <a:avLst>
              <a:gd name="adj" fmla="val 28571"/>
            </a:avLst>
          </a:prstGeom>
          <a:solidFill>
            <a:srgbClr val="5A3F87"/>
          </a:solidFill>
          <a:ln>
            <a:noFill/>
          </a:ln>
        </p:spPr>
        <p:txBody>
          <a:bodyPr rtlCol="0" anchor="ctr"/>
          <a:lstStyle/>
          <a:p>
            <a:pPr algn="ctr"/>
          </a:p>
        </p:txBody>
      </p:sp>
      <p:sp>
        <p:nvSpPr>
          <p:cNvPr id="19" name="Box 18"/>
          <p:cNvSpPr/>
          <p:nvPr/>
        </p:nvSpPr>
        <p:spPr>
          <a:xfrm>
            <a:off x="815975" y="1661120"/>
            <a:ext cx="4311650" cy="3561159"/>
          </a:xfrm>
          <a:prstGeom prst="roundRect">
            <a:avLst>
              <a:gd name="adj" fmla="val 3203"/>
            </a:avLst>
          </a:prstGeom>
          <a:solidFill>
            <a:srgbClr val="FFFDF8"/>
          </a:solidFill>
          <a:ln w="6350">
            <a:solidFill>
              <a:srgbClr val="E1DBCD"/>
            </a:solidFill>
          </a:ln>
        </p:spPr>
        <p:txBody>
          <a:bodyPr rtlCol="0" anchor="ctr"/>
          <a:lstStyle/>
          <a:p>
            <a:pPr algn="ctr"/>
          </a:p>
        </p:txBody>
      </p:sp>
      <p:sp>
        <p:nvSpPr>
          <p:cNvPr id="20" name="Text 19"/>
          <p:cNvSpPr txBox="1"/>
          <p:nvPr/>
        </p:nvSpPr>
        <p:spPr>
          <a:xfrm>
            <a:off x="838200" y="1816695"/>
            <a:ext cx="40957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بيان قابلية التطبيق (SoA)</a:t>
            </a:r>
          </a:p>
        </p:txBody>
      </p:sp>
      <p:sp>
        <p:nvSpPr>
          <p:cNvPr id="21" name="Text 20"/>
          <p:cNvSpPr txBox="1"/>
          <p:nvPr/>
        </p:nvSpPr>
        <p:spPr>
          <a:xfrm>
            <a:off x="891921" y="2257893"/>
            <a:ext cx="4042029" cy="1257300"/>
          </a:xfrm>
          <a:prstGeom prst="rect">
            <a:avLst/>
          </a:prstGeom>
          <a:noFill/>
        </p:spPr>
        <p:txBody>
          <a:bodyPr wrap="square" tIns="0" rIns="0" bIns="0" lIns="0" anchor="t" rtlCol="0" anchorCtr="0">
            <a:noAutofit/>
          </a:bodyPr>
          <a:lstStyle/>
          <a:p>
            <a:pPr algn="r" rtl="1">
              <a:lnSpc>
                <a:spcPts val="3300"/>
              </a:lnSpc>
              <a:spcBef>
                <a:spcPts val="0"/>
              </a:spcBef>
              <a:spcAft>
                <a:spcPts val="0"/>
              </a:spcAft>
            </a:pPr>
            <a:r>
              <a:rPr sz="2200" b="0" i="0">
                <a:solidFill>
                  <a:srgbClr val="172433"/>
                </a:solidFill>
                <a:latin typeface="IBM Plex Sans Arabic"/>
                <a:ea typeface="IBM Plex Sans Arabic"/>
                <a:cs typeface="IBM Plex Sans Arabic"/>
              </a:rPr>
              <a:t>لا تطبق كل الضوابط تلقائياً. تختار ما يلزم من تقييم المخاطر، وتوثق المطبق والمستبعد ومبرر كل منهما.</a:t>
            </a:r>
          </a:p>
        </p:txBody>
      </p:sp>
      <p:sp>
        <p:nvSpPr>
          <p:cNvPr id="22" name="Text 21"/>
          <p:cNvSpPr txBox="1"/>
          <p:nvPr/>
        </p:nvSpPr>
        <p:spPr>
          <a:xfrm>
            <a:off x="891921" y="3614507"/>
            <a:ext cx="4042029" cy="754856"/>
          </a:xfrm>
          <a:prstGeom prst="rect">
            <a:avLst/>
          </a:prstGeom>
          <a:noFill/>
        </p:spPr>
        <p:txBody>
          <a:bodyPr wrap="square" tIns="0" rIns="0" bIns="0" lIns="0" anchor="t" rtlCol="0" anchorCtr="0">
            <a:noAutofit/>
          </a:bodyPr>
          <a:lstStyle/>
          <a:p>
            <a:pPr algn="r" rtl="1">
              <a:lnSpc>
                <a:spcPts val="2973"/>
              </a:lnSpc>
              <a:spcBef>
                <a:spcPts val="0"/>
              </a:spcBef>
              <a:spcAft>
                <a:spcPts val="0"/>
              </a:spcAft>
            </a:pPr>
            <a:r>
              <a:rPr sz="2050" b="0" i="0">
                <a:solidFill>
                  <a:srgbClr val="4E5A66"/>
                </a:solidFill>
                <a:latin typeface="IBM Plex Sans Arabic"/>
                <a:ea typeface="IBM Plex Sans Arabic"/>
                <a:cs typeface="IBM Plex Sans Arabic"/>
              </a:rPr>
              <a:t>المعيار المرافق ‎ISO/IEC‎ 27002 يشرح كل ضابط بالتفصيل.</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2.0: ست وظائف، والحوكمة في المركز</a:t>
            </a:r>
          </a:p>
        </p:txBody>
      </p:sp>
      <p:sp>
        <p:nvSpPr>
          <p:cNvPr id="5" name="Box 4"/>
          <p:cNvSpPr/>
          <p:nvPr/>
        </p:nvSpPr>
        <p:spPr>
          <a:xfrm>
            <a:off x="812800" y="1657945"/>
            <a:ext cx="10566400" cy="1116905"/>
          </a:xfrm>
          <a:prstGeom prst="roundRect">
            <a:avLst>
              <a:gd name="adj" fmla="val 9096"/>
            </a:avLst>
          </a:prstGeom>
          <a:solidFill>
            <a:srgbClr val="172433"/>
          </a:solidFill>
          <a:ln>
            <a:noFill/>
          </a:ln>
        </p:spPr>
        <p:txBody>
          <a:bodyPr rtlCol="0" anchor="ctr"/>
          <a:lstStyle/>
          <a:p>
            <a:pPr algn="ctr"/>
          </a:p>
        </p:txBody>
      </p:sp>
      <p:sp>
        <p:nvSpPr>
          <p:cNvPr id="6" name="Box 5"/>
          <p:cNvSpPr/>
          <p:nvPr/>
        </p:nvSpPr>
        <p:spPr>
          <a:xfrm>
            <a:off x="10426700" y="1835348"/>
            <a:ext cx="762000" cy="762000"/>
          </a:xfrm>
          <a:prstGeom prst="roundRect">
            <a:avLst>
              <a:gd name="adj" fmla="val 50000"/>
            </a:avLst>
          </a:prstGeom>
          <a:solidFill>
            <a:srgbClr val="F2C46D"/>
          </a:solidFill>
          <a:ln>
            <a:noFill/>
          </a:ln>
        </p:spPr>
        <p:txBody>
          <a:bodyPr rtlCol="0" anchor="ctr"/>
          <a:lstStyle/>
          <a:p>
            <a:pPr algn="ctr"/>
          </a:p>
        </p:txBody>
      </p:sp>
      <p:sp>
        <p:nvSpPr>
          <p:cNvPr id="7" name="Text 6"/>
          <p:cNvSpPr txBox="1"/>
          <p:nvPr/>
        </p:nvSpPr>
        <p:spPr>
          <a:xfrm>
            <a:off x="10457299" y="2076680"/>
            <a:ext cx="700703" cy="336550"/>
          </a:xfrm>
          <a:prstGeom prst="rect">
            <a:avLst/>
          </a:prstGeom>
          <a:noFill/>
        </p:spPr>
        <p:txBody>
          <a:bodyPr wrap="square" tIns="0" rIns="0" bIns="0" lIns="0" anchor="t" rtlCol="0" anchorCtr="0">
            <a:noAutofit/>
          </a:bodyPr>
          <a:lstStyle/>
          <a:p>
            <a:pPr algn="ctr">
              <a:lnSpc>
                <a:spcPts val="2650"/>
              </a:lnSpc>
              <a:spcBef>
                <a:spcPts val="0"/>
              </a:spcBef>
              <a:spcAft>
                <a:spcPts val="0"/>
              </a:spcAft>
            </a:pPr>
            <a:r>
              <a:rPr sz="2650" b="1" i="0">
                <a:solidFill>
                  <a:srgbClr val="172433"/>
                </a:solidFill>
                <a:latin typeface="Readex Pro"/>
                <a:ea typeface="Readex Pro"/>
                <a:cs typeface="Readex Pro"/>
              </a:rPr>
              <a:t>GV</a:t>
            </a:r>
          </a:p>
        </p:txBody>
      </p:sp>
      <p:sp>
        <p:nvSpPr>
          <p:cNvPr id="8" name="Text 7"/>
          <p:cNvSpPr txBox="1"/>
          <p:nvPr/>
        </p:nvSpPr>
        <p:spPr>
          <a:xfrm>
            <a:off x="838200" y="1777008"/>
            <a:ext cx="9436100"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F3EFE6"/>
                </a:solidFill>
                <a:latin typeface="Readex Pro"/>
                <a:ea typeface="Readex Pro"/>
                <a:cs typeface="Readex Pro"/>
              </a:rPr>
              <a:t>الحوكمة · Govern · جديدة في 2.0</a:t>
            </a:r>
          </a:p>
        </p:txBody>
      </p:sp>
      <p:sp>
        <p:nvSpPr>
          <p:cNvPr id="9" name="Text 8"/>
          <p:cNvSpPr txBox="1"/>
          <p:nvPr/>
        </p:nvSpPr>
        <p:spPr>
          <a:xfrm>
            <a:off x="838200" y="2200489"/>
            <a:ext cx="9436100" cy="386655"/>
          </a:xfrm>
          <a:prstGeom prst="rect">
            <a:avLst/>
          </a:prstGeom>
          <a:noFill/>
        </p:spPr>
        <p:txBody>
          <a:bodyPr wrap="square" tIns="0" rIns="0" bIns="0" lIns="0" anchor="t" rtlCol="0" anchorCtr="0">
            <a:noAutofit/>
          </a:bodyPr>
          <a:lstStyle/>
          <a:p>
            <a:pPr algn="r" rtl="1">
              <a:lnSpc>
                <a:spcPts val="3045"/>
              </a:lnSpc>
              <a:spcBef>
                <a:spcPts val="0"/>
              </a:spcBef>
              <a:spcAft>
                <a:spcPts val="0"/>
              </a:spcAft>
            </a:pPr>
            <a:r>
              <a:rPr sz="2100" b="0" i="0">
                <a:solidFill>
                  <a:srgbClr val="D9E2E6"/>
                </a:solidFill>
                <a:latin typeface="IBM Plex Sans Arabic"/>
                <a:ea typeface="IBM Plex Sans Arabic"/>
                <a:cs typeface="IBM Plex Sans Arabic"/>
              </a:rPr>
              <a:t>الاستراتيجية، والأدوار، والسياسات، ومخاطر سلسلة الإمداد. هنا يعمل GRC مباشرة.</a:t>
            </a:r>
          </a:p>
        </p:txBody>
      </p:sp>
      <p:sp>
        <p:nvSpPr>
          <p:cNvPr id="10" name="Box 9"/>
          <p:cNvSpPr/>
          <p:nvPr/>
        </p:nvSpPr>
        <p:spPr>
          <a:xfrm>
            <a:off x="9337080" y="2965351"/>
            <a:ext cx="2042120" cy="1773337"/>
          </a:xfrm>
          <a:prstGeom prst="roundRect">
            <a:avLst>
              <a:gd name="adj" fmla="val 6445"/>
            </a:avLst>
          </a:prstGeom>
          <a:solidFill>
            <a:srgbClr val="FFFDF8"/>
          </a:solidFill>
          <a:ln>
            <a:noFill/>
          </a:ln>
        </p:spPr>
        <p:txBody>
          <a:bodyPr rtlCol="0" anchor="ctr"/>
          <a:lstStyle/>
          <a:p>
            <a:pPr algn="ctr"/>
          </a:p>
        </p:txBody>
      </p:sp>
      <p:sp>
        <p:nvSpPr>
          <p:cNvPr id="11" name="Rule 10"/>
          <p:cNvSpPr/>
          <p:nvPr/>
        </p:nvSpPr>
        <p:spPr>
          <a:xfrm>
            <a:off x="9337080" y="2965351"/>
            <a:ext cx="2042120" cy="50800"/>
          </a:xfrm>
          <a:prstGeom prst="rect">
            <a:avLst/>
          </a:prstGeom>
          <a:solidFill>
            <a:srgbClr val="24506B"/>
          </a:solidFill>
          <a:ln>
            <a:noFill/>
          </a:ln>
        </p:spPr>
        <p:txBody>
          <a:bodyPr rtlCol="0" anchor="ctr"/>
          <a:lstStyle/>
          <a:p>
            <a:pPr algn="ctr"/>
          </a:p>
        </p:txBody>
      </p:sp>
      <p:sp>
        <p:nvSpPr>
          <p:cNvPr id="12" name="Rule 11"/>
          <p:cNvSpPr/>
          <p:nvPr/>
        </p:nvSpPr>
        <p:spPr>
          <a:xfrm>
            <a:off x="11372850" y="2965351"/>
            <a:ext cx="6350" cy="1773337"/>
          </a:xfrm>
          <a:prstGeom prst="rect">
            <a:avLst/>
          </a:prstGeom>
          <a:solidFill>
            <a:srgbClr val="E1DBCD"/>
          </a:solidFill>
          <a:ln>
            <a:noFill/>
          </a:ln>
        </p:spPr>
        <p:txBody>
          <a:bodyPr rtlCol="0" anchor="ctr"/>
          <a:lstStyle/>
          <a:p>
            <a:pPr algn="ctr"/>
          </a:p>
        </p:txBody>
      </p:sp>
      <p:sp>
        <p:nvSpPr>
          <p:cNvPr id="13" name="Rule 12"/>
          <p:cNvSpPr/>
          <p:nvPr/>
        </p:nvSpPr>
        <p:spPr>
          <a:xfrm>
            <a:off x="9337080" y="4732338"/>
            <a:ext cx="2042120" cy="6350"/>
          </a:xfrm>
          <a:prstGeom prst="rect">
            <a:avLst/>
          </a:prstGeom>
          <a:solidFill>
            <a:srgbClr val="E1DBCD"/>
          </a:solidFill>
          <a:ln>
            <a:noFill/>
          </a:ln>
        </p:spPr>
        <p:txBody>
          <a:bodyPr rtlCol="0" anchor="ctr"/>
          <a:lstStyle/>
          <a:p>
            <a:pPr algn="ctr"/>
          </a:p>
        </p:txBody>
      </p:sp>
      <p:sp>
        <p:nvSpPr>
          <p:cNvPr id="14" name="Rule 13"/>
          <p:cNvSpPr/>
          <p:nvPr/>
        </p:nvSpPr>
        <p:spPr>
          <a:xfrm>
            <a:off x="9337080" y="2965351"/>
            <a:ext cx="6350" cy="1773337"/>
          </a:xfrm>
          <a:prstGeom prst="rect">
            <a:avLst/>
          </a:prstGeom>
          <a:solidFill>
            <a:srgbClr val="E1DBCD"/>
          </a:solidFill>
          <a:ln>
            <a:noFill/>
          </a:ln>
        </p:spPr>
        <p:txBody>
          <a:bodyPr rtlCol="0" anchor="ctr"/>
          <a:lstStyle/>
          <a:p>
            <a:pPr algn="ctr"/>
          </a:p>
        </p:txBody>
      </p:sp>
      <p:sp>
        <p:nvSpPr>
          <p:cNvPr id="15" name="Text 14"/>
          <p:cNvSpPr txBox="1"/>
          <p:nvPr/>
        </p:nvSpPr>
        <p:spPr>
          <a:xfrm>
            <a:off x="9362480" y="3140452"/>
            <a:ext cx="1883370" cy="314325"/>
          </a:xfrm>
          <a:prstGeom prst="rect">
            <a:avLst/>
          </a:prstGeom>
          <a:noFill/>
        </p:spPr>
        <p:txBody>
          <a:bodyPr wrap="square" tIns="0" rIns="0" bIns="0" lIns="0" anchor="t" rtlCol="0" anchorCtr="0">
            <a:noAutofit/>
          </a:bodyPr>
          <a:lstStyle/>
          <a:p>
            <a:pPr algn="r">
              <a:lnSpc>
                <a:spcPts val="2475"/>
              </a:lnSpc>
              <a:spcBef>
                <a:spcPts val="0"/>
              </a:spcBef>
              <a:spcAft>
                <a:spcPts val="0"/>
              </a:spcAft>
            </a:pPr>
            <a:r>
              <a:rPr sz="2250" b="1" i="0">
                <a:solidFill>
                  <a:srgbClr val="24506B"/>
                </a:solidFill>
                <a:latin typeface="Readex Pro"/>
                <a:ea typeface="Readex Pro"/>
                <a:cs typeface="Readex Pro"/>
              </a:rPr>
              <a:t>ID</a:t>
            </a:r>
          </a:p>
        </p:txBody>
      </p:sp>
      <p:sp>
        <p:nvSpPr>
          <p:cNvPr id="16" name="Text 15"/>
          <p:cNvSpPr txBox="1"/>
          <p:nvPr/>
        </p:nvSpPr>
        <p:spPr>
          <a:xfrm>
            <a:off x="9362480" y="3463572"/>
            <a:ext cx="1883370" cy="396180"/>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IBM Plex Sans Arabic"/>
                <a:ea typeface="IBM Plex Sans Arabic"/>
                <a:cs typeface="IBM Plex Sans Arabic"/>
              </a:rPr>
              <a:t>التحديد</a:t>
            </a:r>
          </a:p>
        </p:txBody>
      </p:sp>
      <p:sp>
        <p:nvSpPr>
          <p:cNvPr id="17" name="Text 16"/>
          <p:cNvSpPr txBox="1"/>
          <p:nvPr/>
        </p:nvSpPr>
        <p:spPr>
          <a:xfrm>
            <a:off x="9362480" y="3905155"/>
            <a:ext cx="188337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الأصول والمخاطر</a:t>
            </a:r>
          </a:p>
        </p:txBody>
      </p:sp>
      <p:sp>
        <p:nvSpPr>
          <p:cNvPr id="18" name="Box 17"/>
          <p:cNvSpPr/>
          <p:nvPr/>
        </p:nvSpPr>
        <p:spPr>
          <a:xfrm>
            <a:off x="7206059" y="2965351"/>
            <a:ext cx="2042120" cy="1773337"/>
          </a:xfrm>
          <a:prstGeom prst="roundRect">
            <a:avLst>
              <a:gd name="adj" fmla="val 6445"/>
            </a:avLst>
          </a:prstGeom>
          <a:solidFill>
            <a:srgbClr val="FFFDF8"/>
          </a:solidFill>
          <a:ln>
            <a:noFill/>
          </a:ln>
        </p:spPr>
        <p:txBody>
          <a:bodyPr rtlCol="0" anchor="ctr"/>
          <a:lstStyle/>
          <a:p>
            <a:pPr algn="ctr"/>
          </a:p>
        </p:txBody>
      </p:sp>
      <p:sp>
        <p:nvSpPr>
          <p:cNvPr id="19" name="Rule 18"/>
          <p:cNvSpPr/>
          <p:nvPr/>
        </p:nvSpPr>
        <p:spPr>
          <a:xfrm>
            <a:off x="7206059" y="2965351"/>
            <a:ext cx="2042120" cy="50800"/>
          </a:xfrm>
          <a:prstGeom prst="rect">
            <a:avLst/>
          </a:prstGeom>
          <a:solidFill>
            <a:srgbClr val="5A3F87"/>
          </a:solidFill>
          <a:ln>
            <a:noFill/>
          </a:ln>
        </p:spPr>
        <p:txBody>
          <a:bodyPr rtlCol="0" anchor="ctr"/>
          <a:lstStyle/>
          <a:p>
            <a:pPr algn="ctr"/>
          </a:p>
        </p:txBody>
      </p:sp>
      <p:sp>
        <p:nvSpPr>
          <p:cNvPr id="20" name="Rule 19"/>
          <p:cNvSpPr/>
          <p:nvPr/>
        </p:nvSpPr>
        <p:spPr>
          <a:xfrm>
            <a:off x="9241830" y="2965351"/>
            <a:ext cx="6350" cy="1773337"/>
          </a:xfrm>
          <a:prstGeom prst="rect">
            <a:avLst/>
          </a:prstGeom>
          <a:solidFill>
            <a:srgbClr val="E1DBCD"/>
          </a:solidFill>
          <a:ln>
            <a:noFill/>
          </a:ln>
        </p:spPr>
        <p:txBody>
          <a:bodyPr rtlCol="0" anchor="ctr"/>
          <a:lstStyle/>
          <a:p>
            <a:pPr algn="ctr"/>
          </a:p>
        </p:txBody>
      </p:sp>
      <p:sp>
        <p:nvSpPr>
          <p:cNvPr id="21" name="Rule 20"/>
          <p:cNvSpPr/>
          <p:nvPr/>
        </p:nvSpPr>
        <p:spPr>
          <a:xfrm>
            <a:off x="7206059" y="4732338"/>
            <a:ext cx="2042120" cy="6350"/>
          </a:xfrm>
          <a:prstGeom prst="rect">
            <a:avLst/>
          </a:prstGeom>
          <a:solidFill>
            <a:srgbClr val="E1DBCD"/>
          </a:solidFill>
          <a:ln>
            <a:noFill/>
          </a:ln>
        </p:spPr>
        <p:txBody>
          <a:bodyPr rtlCol="0" anchor="ctr"/>
          <a:lstStyle/>
          <a:p>
            <a:pPr algn="ctr"/>
          </a:p>
        </p:txBody>
      </p:sp>
      <p:sp>
        <p:nvSpPr>
          <p:cNvPr id="22" name="Rule 21"/>
          <p:cNvSpPr/>
          <p:nvPr/>
        </p:nvSpPr>
        <p:spPr>
          <a:xfrm>
            <a:off x="7206059" y="2965351"/>
            <a:ext cx="6350" cy="1773337"/>
          </a:xfrm>
          <a:prstGeom prst="rect">
            <a:avLst/>
          </a:prstGeom>
          <a:solidFill>
            <a:srgbClr val="E1DBCD"/>
          </a:solidFill>
          <a:ln>
            <a:noFill/>
          </a:ln>
        </p:spPr>
        <p:txBody>
          <a:bodyPr rtlCol="0" anchor="ctr"/>
          <a:lstStyle/>
          <a:p>
            <a:pPr algn="ctr"/>
          </a:p>
        </p:txBody>
      </p:sp>
      <p:sp>
        <p:nvSpPr>
          <p:cNvPr id="23" name="Text 22"/>
          <p:cNvSpPr txBox="1"/>
          <p:nvPr/>
        </p:nvSpPr>
        <p:spPr>
          <a:xfrm>
            <a:off x="7231459" y="3140452"/>
            <a:ext cx="1883370" cy="314325"/>
          </a:xfrm>
          <a:prstGeom prst="rect">
            <a:avLst/>
          </a:prstGeom>
          <a:noFill/>
        </p:spPr>
        <p:txBody>
          <a:bodyPr wrap="square" tIns="0" rIns="0" bIns="0" lIns="0" anchor="t" rtlCol="0" anchorCtr="0">
            <a:noAutofit/>
          </a:bodyPr>
          <a:lstStyle/>
          <a:p>
            <a:pPr algn="r">
              <a:lnSpc>
                <a:spcPts val="2475"/>
              </a:lnSpc>
              <a:spcBef>
                <a:spcPts val="0"/>
              </a:spcBef>
              <a:spcAft>
                <a:spcPts val="0"/>
              </a:spcAft>
            </a:pPr>
            <a:r>
              <a:rPr sz="2250" b="1" i="0">
                <a:solidFill>
                  <a:srgbClr val="5A3F87"/>
                </a:solidFill>
                <a:latin typeface="Readex Pro"/>
                <a:ea typeface="Readex Pro"/>
                <a:cs typeface="Readex Pro"/>
              </a:rPr>
              <a:t>PR</a:t>
            </a:r>
          </a:p>
        </p:txBody>
      </p:sp>
      <p:sp>
        <p:nvSpPr>
          <p:cNvPr id="24" name="Text 23"/>
          <p:cNvSpPr txBox="1"/>
          <p:nvPr/>
        </p:nvSpPr>
        <p:spPr>
          <a:xfrm>
            <a:off x="7231459" y="3463572"/>
            <a:ext cx="1883370" cy="396180"/>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IBM Plex Sans Arabic"/>
                <a:ea typeface="IBM Plex Sans Arabic"/>
                <a:cs typeface="IBM Plex Sans Arabic"/>
              </a:rPr>
              <a:t>الحماية</a:t>
            </a:r>
          </a:p>
        </p:txBody>
      </p:sp>
      <p:sp>
        <p:nvSpPr>
          <p:cNvPr id="25" name="Text 24"/>
          <p:cNvSpPr txBox="1"/>
          <p:nvPr/>
        </p:nvSpPr>
        <p:spPr>
          <a:xfrm>
            <a:off x="7279084" y="3905155"/>
            <a:ext cx="183574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الهويات والبيانات والمنصات</a:t>
            </a:r>
          </a:p>
        </p:txBody>
      </p:sp>
      <p:sp>
        <p:nvSpPr>
          <p:cNvPr id="26" name="Box 25"/>
          <p:cNvSpPr/>
          <p:nvPr/>
        </p:nvSpPr>
        <p:spPr>
          <a:xfrm>
            <a:off x="5075039" y="2965351"/>
            <a:ext cx="2042120" cy="1773337"/>
          </a:xfrm>
          <a:prstGeom prst="roundRect">
            <a:avLst>
              <a:gd name="adj" fmla="val 6445"/>
            </a:avLst>
          </a:prstGeom>
          <a:solidFill>
            <a:srgbClr val="FFFDF8"/>
          </a:solidFill>
          <a:ln>
            <a:noFill/>
          </a:ln>
        </p:spPr>
        <p:txBody>
          <a:bodyPr rtlCol="0" anchor="ctr"/>
          <a:lstStyle/>
          <a:p>
            <a:pPr algn="ctr"/>
          </a:p>
        </p:txBody>
      </p:sp>
      <p:sp>
        <p:nvSpPr>
          <p:cNvPr id="27" name="Rule 26"/>
          <p:cNvSpPr/>
          <p:nvPr/>
        </p:nvSpPr>
        <p:spPr>
          <a:xfrm>
            <a:off x="5075039" y="2965351"/>
            <a:ext cx="2042120" cy="50800"/>
          </a:xfrm>
          <a:prstGeom prst="rect">
            <a:avLst/>
          </a:prstGeom>
          <a:solidFill>
            <a:srgbClr val="8A4B12"/>
          </a:solidFill>
          <a:ln>
            <a:noFill/>
          </a:ln>
        </p:spPr>
        <p:txBody>
          <a:bodyPr rtlCol="0" anchor="ctr"/>
          <a:lstStyle/>
          <a:p>
            <a:pPr algn="ctr"/>
          </a:p>
        </p:txBody>
      </p:sp>
      <p:sp>
        <p:nvSpPr>
          <p:cNvPr id="28" name="Rule 27"/>
          <p:cNvSpPr/>
          <p:nvPr/>
        </p:nvSpPr>
        <p:spPr>
          <a:xfrm>
            <a:off x="7110809" y="2965351"/>
            <a:ext cx="6350" cy="1773337"/>
          </a:xfrm>
          <a:prstGeom prst="rect">
            <a:avLst/>
          </a:prstGeom>
          <a:solidFill>
            <a:srgbClr val="E1DBCD"/>
          </a:solidFill>
          <a:ln>
            <a:noFill/>
          </a:ln>
        </p:spPr>
        <p:txBody>
          <a:bodyPr rtlCol="0" anchor="ctr"/>
          <a:lstStyle/>
          <a:p>
            <a:pPr algn="ctr"/>
          </a:p>
        </p:txBody>
      </p:sp>
      <p:sp>
        <p:nvSpPr>
          <p:cNvPr id="29" name="Rule 28"/>
          <p:cNvSpPr/>
          <p:nvPr/>
        </p:nvSpPr>
        <p:spPr>
          <a:xfrm>
            <a:off x="5075039" y="4732338"/>
            <a:ext cx="2042120" cy="6350"/>
          </a:xfrm>
          <a:prstGeom prst="rect">
            <a:avLst/>
          </a:prstGeom>
          <a:solidFill>
            <a:srgbClr val="E1DBCD"/>
          </a:solidFill>
          <a:ln>
            <a:noFill/>
          </a:ln>
        </p:spPr>
        <p:txBody>
          <a:bodyPr rtlCol="0" anchor="ctr"/>
          <a:lstStyle/>
          <a:p>
            <a:pPr algn="ctr"/>
          </a:p>
        </p:txBody>
      </p:sp>
      <p:sp>
        <p:nvSpPr>
          <p:cNvPr id="30" name="Rule 29"/>
          <p:cNvSpPr/>
          <p:nvPr/>
        </p:nvSpPr>
        <p:spPr>
          <a:xfrm>
            <a:off x="5075039" y="2965351"/>
            <a:ext cx="6350" cy="1773337"/>
          </a:xfrm>
          <a:prstGeom prst="rect">
            <a:avLst/>
          </a:prstGeom>
          <a:solidFill>
            <a:srgbClr val="E1DBCD"/>
          </a:solidFill>
          <a:ln>
            <a:noFill/>
          </a:ln>
        </p:spPr>
        <p:txBody>
          <a:bodyPr rtlCol="0" anchor="ctr"/>
          <a:lstStyle/>
          <a:p>
            <a:pPr algn="ctr"/>
          </a:p>
        </p:txBody>
      </p:sp>
      <p:sp>
        <p:nvSpPr>
          <p:cNvPr id="31" name="Text 30"/>
          <p:cNvSpPr txBox="1"/>
          <p:nvPr/>
        </p:nvSpPr>
        <p:spPr>
          <a:xfrm>
            <a:off x="5100439" y="3140452"/>
            <a:ext cx="1883370" cy="314325"/>
          </a:xfrm>
          <a:prstGeom prst="rect">
            <a:avLst/>
          </a:prstGeom>
          <a:noFill/>
        </p:spPr>
        <p:txBody>
          <a:bodyPr wrap="square" tIns="0" rIns="0" bIns="0" lIns="0" anchor="t" rtlCol="0" anchorCtr="0">
            <a:noAutofit/>
          </a:bodyPr>
          <a:lstStyle/>
          <a:p>
            <a:pPr algn="r">
              <a:lnSpc>
                <a:spcPts val="2475"/>
              </a:lnSpc>
              <a:spcBef>
                <a:spcPts val="0"/>
              </a:spcBef>
              <a:spcAft>
                <a:spcPts val="0"/>
              </a:spcAft>
            </a:pPr>
            <a:r>
              <a:rPr sz="2250" b="1" i="0">
                <a:solidFill>
                  <a:srgbClr val="8A4B12"/>
                </a:solidFill>
                <a:latin typeface="Readex Pro"/>
                <a:ea typeface="Readex Pro"/>
                <a:cs typeface="Readex Pro"/>
              </a:rPr>
              <a:t>DE</a:t>
            </a:r>
          </a:p>
        </p:txBody>
      </p:sp>
      <p:sp>
        <p:nvSpPr>
          <p:cNvPr id="32" name="Text 31"/>
          <p:cNvSpPr txBox="1"/>
          <p:nvPr/>
        </p:nvSpPr>
        <p:spPr>
          <a:xfrm>
            <a:off x="5100439" y="3463572"/>
            <a:ext cx="1883370" cy="396180"/>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IBM Plex Sans Arabic"/>
                <a:ea typeface="IBM Plex Sans Arabic"/>
                <a:cs typeface="IBM Plex Sans Arabic"/>
              </a:rPr>
              <a:t>الاكتشاف</a:t>
            </a:r>
          </a:p>
        </p:txBody>
      </p:sp>
      <p:sp>
        <p:nvSpPr>
          <p:cNvPr id="33" name="Text 32"/>
          <p:cNvSpPr txBox="1"/>
          <p:nvPr/>
        </p:nvSpPr>
        <p:spPr>
          <a:xfrm>
            <a:off x="5148064" y="3905155"/>
            <a:ext cx="183574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المراقبة وتحليل الأحداث</a:t>
            </a:r>
          </a:p>
        </p:txBody>
      </p:sp>
      <p:sp>
        <p:nvSpPr>
          <p:cNvPr id="34" name="Box 33"/>
          <p:cNvSpPr/>
          <p:nvPr/>
        </p:nvSpPr>
        <p:spPr>
          <a:xfrm>
            <a:off x="2944019" y="2965351"/>
            <a:ext cx="2042120" cy="1773337"/>
          </a:xfrm>
          <a:prstGeom prst="roundRect">
            <a:avLst>
              <a:gd name="adj" fmla="val 6445"/>
            </a:avLst>
          </a:prstGeom>
          <a:solidFill>
            <a:srgbClr val="FFFDF8"/>
          </a:solidFill>
          <a:ln>
            <a:noFill/>
          </a:ln>
        </p:spPr>
        <p:txBody>
          <a:bodyPr rtlCol="0" anchor="ctr"/>
          <a:lstStyle/>
          <a:p>
            <a:pPr algn="ctr"/>
          </a:p>
        </p:txBody>
      </p:sp>
      <p:sp>
        <p:nvSpPr>
          <p:cNvPr id="35" name="Rule 34"/>
          <p:cNvSpPr/>
          <p:nvPr/>
        </p:nvSpPr>
        <p:spPr>
          <a:xfrm>
            <a:off x="2944019" y="2965351"/>
            <a:ext cx="2042120" cy="50800"/>
          </a:xfrm>
          <a:prstGeom prst="rect">
            <a:avLst/>
          </a:prstGeom>
          <a:solidFill>
            <a:srgbClr val="B4412C"/>
          </a:solidFill>
          <a:ln>
            <a:noFill/>
          </a:ln>
        </p:spPr>
        <p:txBody>
          <a:bodyPr rtlCol="0" anchor="ctr"/>
          <a:lstStyle/>
          <a:p>
            <a:pPr algn="ctr"/>
          </a:p>
        </p:txBody>
      </p:sp>
      <p:sp>
        <p:nvSpPr>
          <p:cNvPr id="36" name="Rule 35"/>
          <p:cNvSpPr/>
          <p:nvPr/>
        </p:nvSpPr>
        <p:spPr>
          <a:xfrm>
            <a:off x="4979789" y="2965351"/>
            <a:ext cx="6350" cy="1773337"/>
          </a:xfrm>
          <a:prstGeom prst="rect">
            <a:avLst/>
          </a:prstGeom>
          <a:solidFill>
            <a:srgbClr val="E1DBCD"/>
          </a:solidFill>
          <a:ln>
            <a:noFill/>
          </a:ln>
        </p:spPr>
        <p:txBody>
          <a:bodyPr rtlCol="0" anchor="ctr"/>
          <a:lstStyle/>
          <a:p>
            <a:pPr algn="ctr"/>
          </a:p>
        </p:txBody>
      </p:sp>
      <p:sp>
        <p:nvSpPr>
          <p:cNvPr id="37" name="Rule 36"/>
          <p:cNvSpPr/>
          <p:nvPr/>
        </p:nvSpPr>
        <p:spPr>
          <a:xfrm>
            <a:off x="2944019" y="4732338"/>
            <a:ext cx="2042120" cy="6350"/>
          </a:xfrm>
          <a:prstGeom prst="rect">
            <a:avLst/>
          </a:prstGeom>
          <a:solidFill>
            <a:srgbClr val="E1DBCD"/>
          </a:solidFill>
          <a:ln>
            <a:noFill/>
          </a:ln>
        </p:spPr>
        <p:txBody>
          <a:bodyPr rtlCol="0" anchor="ctr"/>
          <a:lstStyle/>
          <a:p>
            <a:pPr algn="ctr"/>
          </a:p>
        </p:txBody>
      </p:sp>
      <p:sp>
        <p:nvSpPr>
          <p:cNvPr id="38" name="Rule 37"/>
          <p:cNvSpPr/>
          <p:nvPr/>
        </p:nvSpPr>
        <p:spPr>
          <a:xfrm>
            <a:off x="2944019" y="2965351"/>
            <a:ext cx="6350" cy="1773337"/>
          </a:xfrm>
          <a:prstGeom prst="rect">
            <a:avLst/>
          </a:prstGeom>
          <a:solidFill>
            <a:srgbClr val="E1DBCD"/>
          </a:solidFill>
          <a:ln>
            <a:noFill/>
          </a:ln>
        </p:spPr>
        <p:txBody>
          <a:bodyPr rtlCol="0" anchor="ctr"/>
          <a:lstStyle/>
          <a:p>
            <a:pPr algn="ctr"/>
          </a:p>
        </p:txBody>
      </p:sp>
      <p:sp>
        <p:nvSpPr>
          <p:cNvPr id="39" name="Text 38"/>
          <p:cNvSpPr txBox="1"/>
          <p:nvPr/>
        </p:nvSpPr>
        <p:spPr>
          <a:xfrm>
            <a:off x="2969419" y="3140452"/>
            <a:ext cx="1883370" cy="314325"/>
          </a:xfrm>
          <a:prstGeom prst="rect">
            <a:avLst/>
          </a:prstGeom>
          <a:noFill/>
        </p:spPr>
        <p:txBody>
          <a:bodyPr wrap="square" tIns="0" rIns="0" bIns="0" lIns="0" anchor="t" rtlCol="0" anchorCtr="0">
            <a:noAutofit/>
          </a:bodyPr>
          <a:lstStyle/>
          <a:p>
            <a:pPr algn="r">
              <a:lnSpc>
                <a:spcPts val="2475"/>
              </a:lnSpc>
              <a:spcBef>
                <a:spcPts val="0"/>
              </a:spcBef>
              <a:spcAft>
                <a:spcPts val="0"/>
              </a:spcAft>
            </a:pPr>
            <a:r>
              <a:rPr sz="2250" b="1" i="0">
                <a:solidFill>
                  <a:srgbClr val="B4412C"/>
                </a:solidFill>
                <a:latin typeface="Readex Pro"/>
                <a:ea typeface="Readex Pro"/>
                <a:cs typeface="Readex Pro"/>
              </a:rPr>
              <a:t>RS</a:t>
            </a:r>
          </a:p>
        </p:txBody>
      </p:sp>
      <p:sp>
        <p:nvSpPr>
          <p:cNvPr id="40" name="Text 39"/>
          <p:cNvSpPr txBox="1"/>
          <p:nvPr/>
        </p:nvSpPr>
        <p:spPr>
          <a:xfrm>
            <a:off x="2969419" y="3463572"/>
            <a:ext cx="1883370" cy="396180"/>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IBM Plex Sans Arabic"/>
                <a:ea typeface="IBM Plex Sans Arabic"/>
                <a:cs typeface="IBM Plex Sans Arabic"/>
              </a:rPr>
              <a:t>الاستجابة</a:t>
            </a:r>
          </a:p>
        </p:txBody>
      </p:sp>
      <p:sp>
        <p:nvSpPr>
          <p:cNvPr id="41" name="Text 40"/>
          <p:cNvSpPr txBox="1"/>
          <p:nvPr/>
        </p:nvSpPr>
        <p:spPr>
          <a:xfrm>
            <a:off x="2969419" y="3905155"/>
            <a:ext cx="188337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إدارة الحادثة</a:t>
            </a:r>
          </a:p>
        </p:txBody>
      </p:sp>
      <p:sp>
        <p:nvSpPr>
          <p:cNvPr id="42" name="Box 41"/>
          <p:cNvSpPr/>
          <p:nvPr/>
        </p:nvSpPr>
        <p:spPr>
          <a:xfrm>
            <a:off x="812998" y="2965351"/>
            <a:ext cx="2042120" cy="1773337"/>
          </a:xfrm>
          <a:prstGeom prst="roundRect">
            <a:avLst>
              <a:gd name="adj" fmla="val 6445"/>
            </a:avLst>
          </a:prstGeom>
          <a:solidFill>
            <a:srgbClr val="FFFDF8"/>
          </a:solidFill>
          <a:ln>
            <a:noFill/>
          </a:ln>
        </p:spPr>
        <p:txBody>
          <a:bodyPr rtlCol="0" anchor="ctr"/>
          <a:lstStyle/>
          <a:p>
            <a:pPr algn="ctr"/>
          </a:p>
        </p:txBody>
      </p:sp>
      <p:sp>
        <p:nvSpPr>
          <p:cNvPr id="43" name="Rule 42"/>
          <p:cNvSpPr/>
          <p:nvPr/>
        </p:nvSpPr>
        <p:spPr>
          <a:xfrm>
            <a:off x="812998" y="2965351"/>
            <a:ext cx="2042120" cy="50800"/>
          </a:xfrm>
          <a:prstGeom prst="rect">
            <a:avLst/>
          </a:prstGeom>
          <a:solidFill>
            <a:srgbClr val="0E7C6B"/>
          </a:solidFill>
          <a:ln>
            <a:noFill/>
          </a:ln>
        </p:spPr>
        <p:txBody>
          <a:bodyPr rtlCol="0" anchor="ctr"/>
          <a:lstStyle/>
          <a:p>
            <a:pPr algn="ctr"/>
          </a:p>
        </p:txBody>
      </p:sp>
      <p:sp>
        <p:nvSpPr>
          <p:cNvPr id="44" name="Rule 43"/>
          <p:cNvSpPr/>
          <p:nvPr/>
        </p:nvSpPr>
        <p:spPr>
          <a:xfrm>
            <a:off x="2848769" y="2965351"/>
            <a:ext cx="6350" cy="1773337"/>
          </a:xfrm>
          <a:prstGeom prst="rect">
            <a:avLst/>
          </a:prstGeom>
          <a:solidFill>
            <a:srgbClr val="E1DBCD"/>
          </a:solidFill>
          <a:ln>
            <a:noFill/>
          </a:ln>
        </p:spPr>
        <p:txBody>
          <a:bodyPr rtlCol="0" anchor="ctr"/>
          <a:lstStyle/>
          <a:p>
            <a:pPr algn="ctr"/>
          </a:p>
        </p:txBody>
      </p:sp>
      <p:sp>
        <p:nvSpPr>
          <p:cNvPr id="45" name="Rule 44"/>
          <p:cNvSpPr/>
          <p:nvPr/>
        </p:nvSpPr>
        <p:spPr>
          <a:xfrm>
            <a:off x="812998" y="4732338"/>
            <a:ext cx="2042120" cy="6350"/>
          </a:xfrm>
          <a:prstGeom prst="rect">
            <a:avLst/>
          </a:prstGeom>
          <a:solidFill>
            <a:srgbClr val="E1DBCD"/>
          </a:solidFill>
          <a:ln>
            <a:noFill/>
          </a:ln>
        </p:spPr>
        <p:txBody>
          <a:bodyPr rtlCol="0" anchor="ctr"/>
          <a:lstStyle/>
          <a:p>
            <a:pPr algn="ctr"/>
          </a:p>
        </p:txBody>
      </p:sp>
      <p:sp>
        <p:nvSpPr>
          <p:cNvPr id="46" name="Rule 45"/>
          <p:cNvSpPr/>
          <p:nvPr/>
        </p:nvSpPr>
        <p:spPr>
          <a:xfrm>
            <a:off x="812998" y="2965351"/>
            <a:ext cx="6350" cy="1773337"/>
          </a:xfrm>
          <a:prstGeom prst="rect">
            <a:avLst/>
          </a:prstGeom>
          <a:solidFill>
            <a:srgbClr val="E1DBCD"/>
          </a:solidFill>
          <a:ln>
            <a:noFill/>
          </a:ln>
        </p:spPr>
        <p:txBody>
          <a:bodyPr rtlCol="0" anchor="ctr"/>
          <a:lstStyle/>
          <a:p>
            <a:pPr algn="ctr"/>
          </a:p>
        </p:txBody>
      </p:sp>
      <p:sp>
        <p:nvSpPr>
          <p:cNvPr id="47" name="Text 46"/>
          <p:cNvSpPr txBox="1"/>
          <p:nvPr/>
        </p:nvSpPr>
        <p:spPr>
          <a:xfrm>
            <a:off x="838398" y="3140452"/>
            <a:ext cx="1883370" cy="314325"/>
          </a:xfrm>
          <a:prstGeom prst="rect">
            <a:avLst/>
          </a:prstGeom>
          <a:noFill/>
        </p:spPr>
        <p:txBody>
          <a:bodyPr wrap="square" tIns="0" rIns="0" bIns="0" lIns="0" anchor="t" rtlCol="0" anchorCtr="0">
            <a:noAutofit/>
          </a:bodyPr>
          <a:lstStyle/>
          <a:p>
            <a:pPr algn="r">
              <a:lnSpc>
                <a:spcPts val="2475"/>
              </a:lnSpc>
              <a:spcBef>
                <a:spcPts val="0"/>
              </a:spcBef>
              <a:spcAft>
                <a:spcPts val="0"/>
              </a:spcAft>
            </a:pPr>
            <a:r>
              <a:rPr sz="2250" b="1" i="0">
                <a:solidFill>
                  <a:srgbClr val="0E7C6B"/>
                </a:solidFill>
                <a:latin typeface="Readex Pro"/>
                <a:ea typeface="Readex Pro"/>
                <a:cs typeface="Readex Pro"/>
              </a:rPr>
              <a:t>RC</a:t>
            </a:r>
          </a:p>
        </p:txBody>
      </p:sp>
      <p:sp>
        <p:nvSpPr>
          <p:cNvPr id="48" name="Text 47"/>
          <p:cNvSpPr txBox="1"/>
          <p:nvPr/>
        </p:nvSpPr>
        <p:spPr>
          <a:xfrm>
            <a:off x="838398" y="3463572"/>
            <a:ext cx="1883370" cy="396180"/>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IBM Plex Sans Arabic"/>
                <a:ea typeface="IBM Plex Sans Arabic"/>
                <a:cs typeface="IBM Plex Sans Arabic"/>
              </a:rPr>
              <a:t>التعافي</a:t>
            </a:r>
          </a:p>
        </p:txBody>
      </p:sp>
      <p:sp>
        <p:nvSpPr>
          <p:cNvPr id="49" name="Text 48"/>
          <p:cNvSpPr txBox="1"/>
          <p:nvPr/>
        </p:nvSpPr>
        <p:spPr>
          <a:xfrm>
            <a:off x="838398" y="3905155"/>
            <a:ext cx="188337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استعادة العمليات</a:t>
            </a:r>
          </a:p>
        </p:txBody>
      </p:sp>
      <p:sp>
        <p:nvSpPr>
          <p:cNvPr id="50" name="Text 4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51" name="Text 5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المستويات والملفات التعريفية</a:t>
            </a:r>
          </a:p>
        </p:txBody>
      </p:sp>
      <p:sp>
        <p:nvSpPr>
          <p:cNvPr id="5" name="Text 4"/>
          <p:cNvSpPr txBox="1"/>
          <p:nvPr/>
        </p:nvSpPr>
        <p:spPr>
          <a:xfrm>
            <a:off x="495808" y="1555075"/>
            <a:ext cx="10883392"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المستويات تصف مدى صرامة ممارسات الجهة في حوكمة مخاطر الأمن السيبراني وإدارتها، من استجابة غير رسمية إلى نهج متكيف ومستمر التحسين.</a:t>
            </a:r>
          </a:p>
        </p:txBody>
      </p:sp>
      <p:sp>
        <p:nvSpPr>
          <p:cNvPr id="6" name="Box 5"/>
          <p:cNvSpPr/>
          <p:nvPr/>
        </p:nvSpPr>
        <p:spPr>
          <a:xfrm>
            <a:off x="8807450" y="2512020"/>
            <a:ext cx="2568575" cy="1290241"/>
          </a:xfrm>
          <a:prstGeom prst="roundRect">
            <a:avLst>
              <a:gd name="adj" fmla="val 8815"/>
            </a:avLst>
          </a:prstGeom>
          <a:solidFill>
            <a:srgbClr val="FFFDF8"/>
          </a:solidFill>
          <a:ln w="6350">
            <a:solidFill>
              <a:srgbClr val="E1DBCD"/>
            </a:solidFill>
          </a:ln>
        </p:spPr>
        <p:txBody>
          <a:bodyPr rtlCol="0" anchor="ctr"/>
          <a:lstStyle/>
          <a:p>
            <a:pPr algn="ctr"/>
          </a:p>
        </p:txBody>
      </p:sp>
      <p:sp>
        <p:nvSpPr>
          <p:cNvPr id="7" name="Text 6"/>
          <p:cNvSpPr txBox="1"/>
          <p:nvPr/>
        </p:nvSpPr>
        <p:spPr>
          <a:xfrm>
            <a:off x="8829675" y="2659721"/>
            <a:ext cx="2403475"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1</a:t>
            </a:r>
          </a:p>
        </p:txBody>
      </p:sp>
      <p:sp>
        <p:nvSpPr>
          <p:cNvPr id="8" name="Text 7"/>
          <p:cNvSpPr txBox="1"/>
          <p:nvPr/>
        </p:nvSpPr>
        <p:spPr>
          <a:xfrm>
            <a:off x="8829675" y="2996525"/>
            <a:ext cx="24034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جزئي</a:t>
            </a:r>
          </a:p>
        </p:txBody>
      </p:sp>
      <p:sp>
        <p:nvSpPr>
          <p:cNvPr id="9" name="Text 8"/>
          <p:cNvSpPr txBox="1"/>
          <p:nvPr/>
        </p:nvSpPr>
        <p:spPr>
          <a:xfrm>
            <a:off x="8829675" y="3367397"/>
            <a:ext cx="2403475"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0" i="0">
                <a:solidFill>
                  <a:srgbClr val="4E5A66"/>
                </a:solidFill>
                <a:latin typeface="Readex Pro"/>
                <a:ea typeface="Readex Pro"/>
                <a:cs typeface="Readex Pro"/>
              </a:rPr>
              <a:t>Partial</a:t>
            </a:r>
          </a:p>
        </p:txBody>
      </p:sp>
      <p:sp>
        <p:nvSpPr>
          <p:cNvPr id="10" name="Box 9"/>
          <p:cNvSpPr/>
          <p:nvPr/>
        </p:nvSpPr>
        <p:spPr>
          <a:xfrm>
            <a:off x="6143625" y="2512020"/>
            <a:ext cx="2568575" cy="1290241"/>
          </a:xfrm>
          <a:prstGeom prst="roundRect">
            <a:avLst>
              <a:gd name="adj" fmla="val 8815"/>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165850" y="2659721"/>
            <a:ext cx="2403475"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2</a:t>
            </a:r>
          </a:p>
        </p:txBody>
      </p:sp>
      <p:sp>
        <p:nvSpPr>
          <p:cNvPr id="12" name="Text 11"/>
          <p:cNvSpPr txBox="1"/>
          <p:nvPr/>
        </p:nvSpPr>
        <p:spPr>
          <a:xfrm>
            <a:off x="6165850" y="2996525"/>
            <a:ext cx="24034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مطلع على المخاطر</a:t>
            </a:r>
          </a:p>
        </p:txBody>
      </p:sp>
      <p:sp>
        <p:nvSpPr>
          <p:cNvPr id="13" name="Text 12"/>
          <p:cNvSpPr txBox="1"/>
          <p:nvPr/>
        </p:nvSpPr>
        <p:spPr>
          <a:xfrm>
            <a:off x="6165850" y="3367397"/>
            <a:ext cx="2403475"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0" i="0">
                <a:solidFill>
                  <a:srgbClr val="4E5A66"/>
                </a:solidFill>
                <a:latin typeface="Readex Pro"/>
                <a:ea typeface="Readex Pro"/>
                <a:cs typeface="Readex Pro"/>
              </a:rPr>
              <a:t>Risk Informed</a:t>
            </a:r>
          </a:p>
        </p:txBody>
      </p:sp>
      <p:sp>
        <p:nvSpPr>
          <p:cNvPr id="14" name="Box 13"/>
          <p:cNvSpPr/>
          <p:nvPr/>
        </p:nvSpPr>
        <p:spPr>
          <a:xfrm>
            <a:off x="3479800" y="2512020"/>
            <a:ext cx="2568575" cy="1290241"/>
          </a:xfrm>
          <a:prstGeom prst="roundRect">
            <a:avLst>
              <a:gd name="adj" fmla="val 8815"/>
            </a:avLst>
          </a:prstGeom>
          <a:solidFill>
            <a:srgbClr val="FFFDF8"/>
          </a:solidFill>
          <a:ln w="6350">
            <a:solidFill>
              <a:srgbClr val="E1DBCD"/>
            </a:solidFill>
          </a:ln>
        </p:spPr>
        <p:txBody>
          <a:bodyPr rtlCol="0" anchor="ctr"/>
          <a:lstStyle/>
          <a:p>
            <a:pPr algn="ctr"/>
          </a:p>
        </p:txBody>
      </p:sp>
      <p:sp>
        <p:nvSpPr>
          <p:cNvPr id="15" name="Text 14"/>
          <p:cNvSpPr txBox="1"/>
          <p:nvPr/>
        </p:nvSpPr>
        <p:spPr>
          <a:xfrm>
            <a:off x="3502025" y="2659721"/>
            <a:ext cx="2403475"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3</a:t>
            </a:r>
          </a:p>
        </p:txBody>
      </p:sp>
      <p:sp>
        <p:nvSpPr>
          <p:cNvPr id="16" name="Text 15"/>
          <p:cNvSpPr txBox="1"/>
          <p:nvPr/>
        </p:nvSpPr>
        <p:spPr>
          <a:xfrm>
            <a:off x="3502025" y="2996525"/>
            <a:ext cx="24034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قابل للتكرار</a:t>
            </a:r>
          </a:p>
        </p:txBody>
      </p:sp>
      <p:sp>
        <p:nvSpPr>
          <p:cNvPr id="17" name="Text 16"/>
          <p:cNvSpPr txBox="1"/>
          <p:nvPr/>
        </p:nvSpPr>
        <p:spPr>
          <a:xfrm>
            <a:off x="3502025" y="3367397"/>
            <a:ext cx="2403475"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0" i="0">
                <a:solidFill>
                  <a:srgbClr val="4E5A66"/>
                </a:solidFill>
                <a:latin typeface="Readex Pro"/>
                <a:ea typeface="Readex Pro"/>
                <a:cs typeface="Readex Pro"/>
              </a:rPr>
              <a:t>Repeatable</a:t>
            </a:r>
          </a:p>
        </p:txBody>
      </p:sp>
      <p:sp>
        <p:nvSpPr>
          <p:cNvPr id="18" name="Box 17"/>
          <p:cNvSpPr/>
          <p:nvPr/>
        </p:nvSpPr>
        <p:spPr>
          <a:xfrm>
            <a:off x="815975" y="2512020"/>
            <a:ext cx="2568575" cy="1290241"/>
          </a:xfrm>
          <a:prstGeom prst="roundRect">
            <a:avLst>
              <a:gd name="adj" fmla="val 8815"/>
            </a:avLst>
          </a:prstGeom>
          <a:solidFill>
            <a:srgbClr val="FFFDF8"/>
          </a:solidFill>
          <a:ln w="6350">
            <a:solidFill>
              <a:srgbClr val="E1DBCD"/>
            </a:solidFill>
          </a:ln>
        </p:spPr>
        <p:txBody>
          <a:bodyPr rtlCol="0" anchor="ctr"/>
          <a:lstStyle/>
          <a:p>
            <a:pPr algn="ctr"/>
          </a:p>
        </p:txBody>
      </p:sp>
      <p:sp>
        <p:nvSpPr>
          <p:cNvPr id="19" name="Text 18"/>
          <p:cNvSpPr txBox="1"/>
          <p:nvPr/>
        </p:nvSpPr>
        <p:spPr>
          <a:xfrm>
            <a:off x="838200" y="2659721"/>
            <a:ext cx="2403475"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4</a:t>
            </a:r>
          </a:p>
        </p:txBody>
      </p:sp>
      <p:sp>
        <p:nvSpPr>
          <p:cNvPr id="20" name="Text 19"/>
          <p:cNvSpPr txBox="1"/>
          <p:nvPr/>
        </p:nvSpPr>
        <p:spPr>
          <a:xfrm>
            <a:off x="838200" y="2996525"/>
            <a:ext cx="24034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متكيف</a:t>
            </a:r>
          </a:p>
        </p:txBody>
      </p:sp>
      <p:sp>
        <p:nvSpPr>
          <p:cNvPr id="21" name="Text 20"/>
          <p:cNvSpPr txBox="1"/>
          <p:nvPr/>
        </p:nvSpPr>
        <p:spPr>
          <a:xfrm>
            <a:off x="838200" y="3367397"/>
            <a:ext cx="2403475"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0" i="0">
                <a:solidFill>
                  <a:srgbClr val="4E5A66"/>
                </a:solidFill>
                <a:latin typeface="Readex Pro"/>
                <a:ea typeface="Readex Pro"/>
                <a:cs typeface="Readex Pro"/>
              </a:rPr>
              <a:t>Adaptive</a:t>
            </a:r>
          </a:p>
        </p:txBody>
      </p:sp>
      <p:sp>
        <p:nvSpPr>
          <p:cNvPr id="22" name="Box 21"/>
          <p:cNvSpPr/>
          <p:nvPr/>
        </p:nvSpPr>
        <p:spPr>
          <a:xfrm>
            <a:off x="6156325" y="3948311"/>
            <a:ext cx="5219700" cy="1692275"/>
          </a:xfrm>
          <a:prstGeom prst="roundRect">
            <a:avLst>
              <a:gd name="adj" fmla="val 6728"/>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78550" y="4067818"/>
            <a:ext cx="5029200" cy="333375"/>
          </a:xfrm>
          <a:prstGeom prst="rect">
            <a:avLst/>
          </a:prstGeom>
          <a:noFill/>
        </p:spPr>
        <p:txBody>
          <a:bodyPr wrap="square" tIns="0" rIns="0" bIns="0" lIns="0" anchor="t" rtlCol="0" anchorCtr="0">
            <a:noAutofit/>
          </a:bodyPr>
          <a:lstStyle/>
          <a:p>
            <a:pPr algn="r" rtl="1">
              <a:lnSpc>
                <a:spcPts val="2625"/>
              </a:lnSpc>
              <a:spcBef>
                <a:spcPts val="0"/>
              </a:spcBef>
              <a:spcAft>
                <a:spcPts val="0"/>
              </a:spcAft>
            </a:pPr>
            <a:r>
              <a:rPr sz="2100" b="1" i="0">
                <a:solidFill>
                  <a:srgbClr val="0E7C6B"/>
                </a:solidFill>
                <a:latin typeface="Readex Pro"/>
                <a:ea typeface="Readex Pro"/>
                <a:cs typeface="Readex Pro"/>
              </a:rPr>
              <a:t>كيف تُستخدم</a:t>
            </a:r>
          </a:p>
        </p:txBody>
      </p:sp>
      <p:pic>
        <p:nvPicPr>
          <p:cNvPr id="24" name="Icon Check 23" descr="icon052.png"/>
          <p:cNvPicPr>
            <a:picLocks noChangeAspect="1"/>
          </p:cNvPicPr>
          <p:nvPr/>
        </p:nvPicPr>
        <p:blipFill>
          <a:blip r:embed="rId2"/>
          <a:stretch>
            <a:fillRect/>
          </a:stretch>
        </p:blipFill>
        <p:spPr>
          <a:xfrm>
            <a:off x="10998200" y="4475361"/>
            <a:ext cx="209550" cy="209550"/>
          </a:xfrm>
          <a:prstGeom prst="rect">
            <a:avLst/>
          </a:prstGeom>
        </p:spPr>
      </p:pic>
      <p:sp>
        <p:nvSpPr>
          <p:cNvPr id="25" name="Text 24"/>
          <p:cNvSpPr txBox="1"/>
          <p:nvPr/>
        </p:nvSpPr>
        <p:spPr>
          <a:xfrm>
            <a:off x="6178550" y="444091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تختارها القيادة للجهة كلها، أو لوظيفة أو فئة.</a:t>
            </a:r>
          </a:p>
        </p:txBody>
      </p:sp>
      <p:pic>
        <p:nvPicPr>
          <p:cNvPr id="26" name="Icon Check 25" descr="icon052.png"/>
          <p:cNvPicPr>
            <a:picLocks noChangeAspect="1"/>
          </p:cNvPicPr>
          <p:nvPr/>
        </p:nvPicPr>
        <p:blipFill>
          <a:blip r:embed="rId2"/>
          <a:stretch>
            <a:fillRect/>
          </a:stretch>
        </p:blipFill>
        <p:spPr>
          <a:xfrm>
            <a:off x="10998200" y="4837311"/>
            <a:ext cx="209550" cy="209550"/>
          </a:xfrm>
          <a:prstGeom prst="rect">
            <a:avLst/>
          </a:prstGeom>
        </p:spPr>
      </p:pic>
      <p:sp>
        <p:nvSpPr>
          <p:cNvPr id="27" name="Text 26"/>
          <p:cNvSpPr txBox="1"/>
          <p:nvPr/>
        </p:nvSpPr>
        <p:spPr>
          <a:xfrm>
            <a:off x="6178550" y="480286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توجه الملفين الحالي والمستهدف.</a:t>
            </a:r>
          </a:p>
        </p:txBody>
      </p:sp>
      <p:pic>
        <p:nvPicPr>
          <p:cNvPr id="28" name="Icon Check 27" descr="icon052.png"/>
          <p:cNvPicPr>
            <a:picLocks noChangeAspect="1"/>
          </p:cNvPicPr>
          <p:nvPr/>
        </p:nvPicPr>
        <p:blipFill>
          <a:blip r:embed="rId2"/>
          <a:stretch>
            <a:fillRect/>
          </a:stretch>
        </p:blipFill>
        <p:spPr>
          <a:xfrm>
            <a:off x="10998200" y="5199261"/>
            <a:ext cx="209550" cy="209550"/>
          </a:xfrm>
          <a:prstGeom prst="rect">
            <a:avLst/>
          </a:prstGeom>
        </p:spPr>
      </p:pic>
      <p:sp>
        <p:nvSpPr>
          <p:cNvPr id="29" name="Text 28"/>
          <p:cNvSpPr txBox="1"/>
          <p:nvPr/>
        </p:nvSpPr>
        <p:spPr>
          <a:xfrm>
            <a:off x="6178550" y="516481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الانتقال لمستوى أعلى عند حاجة المخاطر أو الالتزامات.</a:t>
            </a:r>
          </a:p>
        </p:txBody>
      </p:sp>
      <p:sp>
        <p:nvSpPr>
          <p:cNvPr id="30" name="Box 29"/>
          <p:cNvSpPr/>
          <p:nvPr/>
        </p:nvSpPr>
        <p:spPr>
          <a:xfrm>
            <a:off x="815975" y="3948311"/>
            <a:ext cx="5219700" cy="1692275"/>
          </a:xfrm>
          <a:prstGeom prst="roundRect">
            <a:avLst>
              <a:gd name="adj" fmla="val 6728"/>
            </a:avLst>
          </a:prstGeom>
          <a:solidFill>
            <a:srgbClr val="FFFDF8"/>
          </a:solidFill>
          <a:ln w="6350">
            <a:solidFill>
              <a:srgbClr val="E1DBCD"/>
            </a:solidFill>
          </a:ln>
        </p:spPr>
        <p:txBody>
          <a:bodyPr rtlCol="0" anchor="ctr"/>
          <a:lstStyle/>
          <a:p>
            <a:pPr algn="ctr"/>
          </a:p>
        </p:txBody>
      </p:sp>
      <p:sp>
        <p:nvSpPr>
          <p:cNvPr id="31" name="Text 30"/>
          <p:cNvSpPr txBox="1"/>
          <p:nvPr/>
        </p:nvSpPr>
        <p:spPr>
          <a:xfrm>
            <a:off x="838200" y="4067818"/>
            <a:ext cx="5029200" cy="333375"/>
          </a:xfrm>
          <a:prstGeom prst="rect">
            <a:avLst/>
          </a:prstGeom>
          <a:noFill/>
        </p:spPr>
        <p:txBody>
          <a:bodyPr wrap="square" tIns="0" rIns="0" bIns="0" lIns="0" anchor="t" rtlCol="0" anchorCtr="0">
            <a:noAutofit/>
          </a:bodyPr>
          <a:lstStyle/>
          <a:p>
            <a:pPr algn="r" rtl="1">
              <a:lnSpc>
                <a:spcPts val="2625"/>
              </a:lnSpc>
              <a:spcBef>
                <a:spcPts val="0"/>
              </a:spcBef>
              <a:spcAft>
                <a:spcPts val="0"/>
              </a:spcAft>
            </a:pPr>
            <a:r>
              <a:rPr sz="2100" b="1" i="0">
                <a:solidFill>
                  <a:srgbClr val="B4412C"/>
                </a:solidFill>
                <a:latin typeface="Readex Pro"/>
                <a:ea typeface="Readex Pro"/>
                <a:cs typeface="Readex Pro"/>
              </a:rPr>
              <a:t>ما ليست عليه</a:t>
            </a:r>
          </a:p>
        </p:txBody>
      </p:sp>
      <p:pic>
        <p:nvPicPr>
          <p:cNvPr id="32" name="Icon Warning 31" descr="icon053.png"/>
          <p:cNvPicPr>
            <a:picLocks noChangeAspect="1"/>
          </p:cNvPicPr>
          <p:nvPr/>
        </p:nvPicPr>
        <p:blipFill>
          <a:blip r:embed="rId3"/>
          <a:stretch>
            <a:fillRect/>
          </a:stretch>
        </p:blipFill>
        <p:spPr>
          <a:xfrm>
            <a:off x="5657850" y="4475361"/>
            <a:ext cx="209550" cy="209550"/>
          </a:xfrm>
          <a:prstGeom prst="rect">
            <a:avLst/>
          </a:prstGeom>
        </p:spPr>
      </p:pic>
      <p:sp>
        <p:nvSpPr>
          <p:cNvPr id="33" name="Text 32"/>
          <p:cNvSpPr txBox="1"/>
          <p:nvPr/>
        </p:nvSpPr>
        <p:spPr>
          <a:xfrm>
            <a:off x="838200" y="444091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ليست درجة نضج لكل ضابط.</a:t>
            </a:r>
          </a:p>
        </p:txBody>
      </p:sp>
      <p:pic>
        <p:nvPicPr>
          <p:cNvPr id="34" name="Icon Warning 33" descr="icon053.png"/>
          <p:cNvPicPr>
            <a:picLocks noChangeAspect="1"/>
          </p:cNvPicPr>
          <p:nvPr/>
        </p:nvPicPr>
        <p:blipFill>
          <a:blip r:embed="rId3"/>
          <a:stretch>
            <a:fillRect/>
          </a:stretch>
        </p:blipFill>
        <p:spPr>
          <a:xfrm>
            <a:off x="5657850" y="4837311"/>
            <a:ext cx="209550" cy="209550"/>
          </a:xfrm>
          <a:prstGeom prst="rect">
            <a:avLst/>
          </a:prstGeom>
        </p:spPr>
      </p:pic>
      <p:sp>
        <p:nvSpPr>
          <p:cNvPr id="35" name="Text 34"/>
          <p:cNvSpPr txBox="1"/>
          <p:nvPr/>
        </p:nvSpPr>
        <p:spPr>
          <a:xfrm>
            <a:off x="838200" y="480286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لا تحل محل منهجية إدارة المخاطر.</a:t>
            </a:r>
          </a:p>
        </p:txBody>
      </p:sp>
      <p:pic>
        <p:nvPicPr>
          <p:cNvPr id="36" name="Icon Warning 35" descr="icon053.png"/>
          <p:cNvPicPr>
            <a:picLocks noChangeAspect="1"/>
          </p:cNvPicPr>
          <p:nvPr/>
        </p:nvPicPr>
        <p:blipFill>
          <a:blip r:embed="rId3"/>
          <a:stretch>
            <a:fillRect/>
          </a:stretch>
        </p:blipFill>
        <p:spPr>
          <a:xfrm>
            <a:off x="5657850" y="5199261"/>
            <a:ext cx="209550" cy="209550"/>
          </a:xfrm>
          <a:prstGeom prst="rect">
            <a:avLst/>
          </a:prstGeom>
        </p:spPr>
      </p:pic>
      <p:sp>
        <p:nvSpPr>
          <p:cNvPr id="37" name="Text 36"/>
          <p:cNvSpPr txBox="1"/>
          <p:nvPr/>
        </p:nvSpPr>
        <p:spPr>
          <a:xfrm>
            <a:off x="838200" y="5164812"/>
            <a:ext cx="47053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لا يُشترط أن تكون كل جهة في المستوى 4.</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ضوابط الهيئة الوطنية للأمن السيبراني</a:t>
            </a:r>
          </a:p>
        </p:txBody>
      </p:sp>
      <p:graphicFrame>
        <p:nvGraphicFramePr>
          <p:cNvPr id="5" name="Table 4"/>
          <p:cNvGraphicFramePr>
            <a:graphicFrameLocks noGrp="1"/>
          </p:cNvGraphicFramePr>
          <p:nvPr/>
        </p:nvGraphicFramePr>
        <p:xfrm>
          <a:off x="815975" y="1661120"/>
          <a:ext cx="10560050" cy="3769817"/>
        </p:xfrm>
        <a:graphic>
          <a:graphicData uri="http://schemas.openxmlformats.org/drawingml/2006/table">
            <a:tbl>
              <a:tblPr firstRow="0" bandRow="0" lastRow="0" firstCol="0" lastCol="0" bandCol="0">
                <a:tableStyleId>{2D5ABB26-0587-4C30-8999-92F81FD0307C}</a:tableStyleId>
              </a:tblPr>
              <a:tblGrid>
                <a:gridCol w="8025765"/>
                <a:gridCol w="2534285"/>
              </a:tblGrid>
              <a:tr h="435868">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موضوعها ونطاقها المختصر</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الضوابط</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الضوابط الأساسية:‏ 108 ضوابط للجهات الحكومية والتابعة لها وجهات البنية التحتية الوطنية الحساسة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ECC-2:2024</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الحوسبة السحابية: لمقدمي الخدمات السحابية والمستفيدين منها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CCC-2:2024</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البيانات: حمايتها في دورة حياتها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DCC-1:2022</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الأنظمة الحساسة الوطنية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CSCC-1:2019</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أنظمة التقنية التشغيلية والتحكم الصناعي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OTCC-1:2022</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العمل عن بعد</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TCC-1:2021</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حسابات التواصل الاجتماعي للجهات</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227"/>
                        </a:lnSpc>
                        <a:spcBef>
                          <a:spcPts val="0"/>
                        </a:spcBef>
                        <a:spcAft>
                          <a:spcPts val="0"/>
                        </a:spcAft>
                      </a:pPr>
                      <a:r>
                        <a:rPr sz="1650" b="1" i="0">
                          <a:solidFill>
                            <a:srgbClr val="0E7C6B"/>
                          </a:solidFill>
                          <a:latin typeface="IBM Plex Sans Arabic"/>
                          <a:ea typeface="IBM Plex Sans Arabic"/>
                          <a:cs typeface="IBM Plex Sans Arabic"/>
                        </a:rPr>
                        <a:t>OSMACC-1:2021</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594100"/>
            <a:ext cx="113792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4E5A66"/>
                </a:solidFill>
                <a:latin typeface="IBM Plex Sans Arabic"/>
                <a:ea typeface="IBM Plex Sans Arabic"/>
                <a:cs typeface="IBM Plex Sans Arabic"/>
              </a:rPr>
              <a:t>الضوابط الأخرى امتداد لـ ECC في سياقات محددة. النطاق الدقيق في النص الرسمي لكل منها.</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مراجع أخرى تهمك</a:t>
            </a:r>
          </a:p>
        </p:txBody>
      </p:sp>
      <p:graphicFrame>
        <p:nvGraphicFramePr>
          <p:cNvPr id="5" name="Table 4"/>
          <p:cNvGraphicFramePr>
            <a:graphicFrameLocks noGrp="1"/>
          </p:cNvGraphicFramePr>
          <p:nvPr/>
        </p:nvGraphicFramePr>
        <p:xfrm>
          <a:off x="815975" y="1661120"/>
          <a:ext cx="10560050" cy="3180954"/>
        </p:xfrm>
        <a:graphic>
          <a:graphicData uri="http://schemas.openxmlformats.org/drawingml/2006/table">
            <a:tbl>
              <a:tblPr firstRow="0" bandRow="0" lastRow="0" firstCol="0" lastCol="0" bandCol="0">
                <a:tableStyleId>{2D5ABB26-0587-4C30-8999-92F81FD0307C}</a:tableStyleId>
              </a:tblPr>
              <a:tblGrid>
                <a:gridCol w="2639695"/>
                <a:gridCol w="2640330"/>
                <a:gridCol w="5280025"/>
              </a:tblGrid>
              <a:tr h="435868">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لمن</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الجهة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227"/>
                        </a:lnSpc>
                        <a:spcBef>
                          <a:spcPts val="0"/>
                        </a:spcBef>
                        <a:spcAft>
                          <a:spcPts val="0"/>
                        </a:spcAft>
                      </a:pPr>
                      <a:r>
                        <a:rPr sz="1650" b="1" i="0">
                          <a:solidFill>
                            <a:srgbClr val="F3EFE6"/>
                          </a:solidFill>
                          <a:latin typeface="IBM Plex Sans Arabic"/>
                          <a:ea typeface="IBM Plex Sans Arabic"/>
                          <a:cs typeface="IBM Plex Sans Arabic"/>
                        </a:rPr>
                        <a:t>المرجع</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نطاق ECC نفسه</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الهيئة الوطنية للأمن السيبراني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1" i="0">
                          <a:solidFill>
                            <a:srgbClr val="0E7C6B"/>
                          </a:solidFill>
                          <a:latin typeface="IBM Plex Sans Arabic"/>
                          <a:ea typeface="IBM Plex Sans Arabic"/>
                          <a:cs typeface="IBM Plex Sans Arabic"/>
                        </a:rPr>
                        <a:t>الإطار الوطني لإدارة مخاطر الأمن السيبراني ‎NFCRM-1:2025‎</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الجهات المالية الخاضعة لإشرافه</a:t>
                      </a:r>
                    </a:p>
                  </a:txBody>
                  <a:tcPr marT="88325" marR="125730" marB="58360" marL="5407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البنك المركزي السعودي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1" i="0">
                          <a:solidFill>
                            <a:srgbClr val="0E7C6B"/>
                          </a:solidFill>
                          <a:latin typeface="IBM Plex Sans Arabic"/>
                          <a:ea typeface="IBM Plex Sans Arabic"/>
                          <a:cs typeface="IBM Plex Sans Arabic"/>
                        </a:rPr>
                        <a:t>إطار ساما للأمن السيبراني، الإصدار 1.0 (2017)</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18741">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من يعالج بيانات شخصية في المملكة</a:t>
                      </a:r>
                    </a:p>
                  </a:txBody>
                  <a:tcPr marT="88325" marR="125730" marB="58360" marL="5407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سدايا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1" i="0">
                          <a:solidFill>
                            <a:srgbClr val="0E7C6B"/>
                          </a:solidFill>
                          <a:latin typeface="IBM Plex Sans Arabic"/>
                          <a:ea typeface="IBM Plex Sans Arabic"/>
                          <a:cs typeface="IBM Plex Sans Arabic"/>
                        </a:rPr>
                        <a:t>نظام حماية البيانات الشخصية ولوائحه</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الجهات العامة وشركاؤها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مكتب إدارة البيانات الوطنية</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227"/>
                        </a:lnSpc>
                        <a:spcBef>
                          <a:spcPts val="0"/>
                        </a:spcBef>
                        <a:spcAft>
                          <a:spcPts val="0"/>
                        </a:spcAft>
                      </a:pPr>
                      <a:r>
                        <a:rPr sz="1650" b="1" i="0">
                          <a:solidFill>
                            <a:srgbClr val="0E7C6B"/>
                          </a:solidFill>
                          <a:latin typeface="IBM Plex Sans Arabic"/>
                          <a:ea typeface="IBM Plex Sans Arabic"/>
                          <a:cs typeface="IBM Plex Sans Arabic"/>
                        </a:rPr>
                        <a:t>معايير إدارة البيانات وحماية البيانات الشخصية v1.5</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35868">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الأدوار الوظيفية ومهامها</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0" i="0">
                          <a:solidFill>
                            <a:srgbClr val="172433"/>
                          </a:solidFill>
                          <a:latin typeface="IBM Plex Sans Arabic"/>
                          <a:ea typeface="IBM Plex Sans Arabic"/>
                          <a:cs typeface="IBM Plex Sans Arabic"/>
                        </a:rPr>
                        <a:t>الهيئة الوطنية للأمن السيبراني</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227"/>
                        </a:lnSpc>
                        <a:spcBef>
                          <a:spcPts val="0"/>
                        </a:spcBef>
                        <a:spcAft>
                          <a:spcPts val="0"/>
                        </a:spcAft>
                      </a:pPr>
                      <a:r>
                        <a:rPr sz="1650" b="1" i="0">
                          <a:solidFill>
                            <a:srgbClr val="0E7C6B"/>
                          </a:solidFill>
                          <a:latin typeface="IBM Plex Sans Arabic"/>
                          <a:ea typeface="IBM Plex Sans Arabic"/>
                          <a:cs typeface="IBM Plex Sans Arabic"/>
                        </a:rPr>
                        <a:t>الإطار السعودي لكوادر الأمن السيبراني ‎SCyWF-1.5:2026‎</a:t>
                      </a:r>
                    </a:p>
                  </a:txBody>
                  <a:tcPr marT="88325" marR="125730" marB="5836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035748"/>
            <a:ext cx="10566400" cy="573980"/>
          </a:xfrm>
          <a:prstGeom prst="roundRect">
            <a:avLst>
              <a:gd name="adj" fmla="val 17700"/>
            </a:avLst>
          </a:prstGeom>
          <a:solidFill>
            <a:srgbClr val="E3F1ED"/>
          </a:solidFill>
          <a:ln>
            <a:noFill/>
          </a:ln>
        </p:spPr>
        <p:txBody>
          <a:bodyPr rtlCol="0" anchor="ctr"/>
          <a:lstStyle/>
          <a:p>
            <a:pPr algn="ctr"/>
          </a:p>
        </p:txBody>
      </p:sp>
      <p:pic>
        <p:nvPicPr>
          <p:cNvPr id="7" name="Icon Users 6" descr="icon054.png"/>
          <p:cNvPicPr>
            <a:picLocks noChangeAspect="1"/>
          </p:cNvPicPr>
          <p:nvPr/>
        </p:nvPicPr>
        <p:blipFill>
          <a:blip r:embed="rId2"/>
          <a:stretch>
            <a:fillRect/>
          </a:stretch>
        </p:blipFill>
        <p:spPr>
          <a:xfrm>
            <a:off x="10966450" y="5205214"/>
            <a:ext cx="234950" cy="234950"/>
          </a:xfrm>
          <a:prstGeom prst="rect">
            <a:avLst/>
          </a:prstGeom>
        </p:spPr>
      </p:pic>
      <p:sp>
        <p:nvSpPr>
          <p:cNvPr id="8" name="Text 7"/>
          <p:cNvSpPr txBox="1"/>
          <p:nvPr/>
        </p:nvSpPr>
        <p:spPr>
          <a:xfrm>
            <a:off x="838200" y="5127315"/>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للمسار المهني: SCyWF فيه فئة «الحوكمة والمخاطر والامتثال والأنظمة» بأدوارها. استخدم أسماءها في سيرتك.</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82797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تحدد ما ينطبق على الجهة؟ أربعة أسئلة</a:t>
            </a:r>
          </a:p>
        </p:txBody>
      </p:sp>
      <p:sp>
        <p:nvSpPr>
          <p:cNvPr id="6" name="Box 5"/>
          <p:cNvSpPr/>
          <p:nvPr/>
        </p:nvSpPr>
        <p:spPr>
          <a:xfrm>
            <a:off x="6156325" y="1661120"/>
            <a:ext cx="5219700" cy="1560711"/>
          </a:xfrm>
          <a:prstGeom prst="roundRect">
            <a:avLst>
              <a:gd name="adj" fmla="val 7293"/>
            </a:avLst>
          </a:prstGeom>
          <a:solidFill>
            <a:srgbClr val="FFFDF8"/>
          </a:solidFill>
          <a:ln w="6350">
            <a:solidFill>
              <a:srgbClr val="E1DBCD"/>
            </a:solidFill>
          </a:ln>
        </p:spPr>
        <p:txBody>
          <a:bodyPr rtlCol="0" anchor="ctr"/>
          <a:lstStyle/>
          <a:p>
            <a:pPr algn="ctr"/>
          </a:p>
        </p:txBody>
      </p:sp>
      <p:sp>
        <p:nvSpPr>
          <p:cNvPr id="7" name="Text 6"/>
          <p:cNvSpPr txBox="1"/>
          <p:nvPr/>
        </p:nvSpPr>
        <p:spPr>
          <a:xfrm>
            <a:off x="10698103" y="1841238"/>
            <a:ext cx="509647" cy="438150"/>
          </a:xfrm>
          <a:prstGeom prst="rect">
            <a:avLst/>
          </a:prstGeom>
          <a:noFill/>
        </p:spPr>
        <p:txBody>
          <a:bodyPr wrap="square" tIns="0" rIns="0" bIns="0" lIns="0" anchor="t" rtlCol="0" anchorCtr="0">
            <a:noAutofit/>
          </a:bodyPr>
          <a:lstStyle/>
          <a:p>
            <a:pPr algn="r">
              <a:lnSpc>
                <a:spcPts val="3450"/>
              </a:lnSpc>
              <a:spcBef>
                <a:spcPts val="0"/>
              </a:spcBef>
              <a:spcAft>
                <a:spcPts val="0"/>
              </a:spcAft>
            </a:pPr>
            <a:r>
              <a:rPr sz="3450" b="1" i="0">
                <a:solidFill>
                  <a:srgbClr val="0E7C6B"/>
                </a:solidFill>
                <a:latin typeface="Readex Pro"/>
                <a:ea typeface="Readex Pro"/>
                <a:cs typeface="Readex Pro"/>
              </a:rPr>
              <a:t>1</a:t>
            </a:r>
          </a:p>
        </p:txBody>
      </p:sp>
      <p:sp>
        <p:nvSpPr>
          <p:cNvPr id="8" name="Text 7"/>
          <p:cNvSpPr txBox="1"/>
          <p:nvPr/>
        </p:nvSpPr>
        <p:spPr>
          <a:xfrm>
            <a:off x="6178550" y="1796058"/>
            <a:ext cx="4680843"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نوع الجهة</a:t>
            </a:r>
          </a:p>
        </p:txBody>
      </p:sp>
      <p:sp>
        <p:nvSpPr>
          <p:cNvPr id="9" name="Text 8"/>
          <p:cNvSpPr txBox="1"/>
          <p:nvPr/>
        </p:nvSpPr>
        <p:spPr>
          <a:xfrm>
            <a:off x="6178550" y="2257639"/>
            <a:ext cx="5029200" cy="773311"/>
          </a:xfrm>
          <a:prstGeom prst="rect">
            <a:avLst/>
          </a:prstGeom>
          <a:noFill/>
        </p:spPr>
        <p:txBody>
          <a:bodyPr wrap="square" tIns="0" rIns="0" bIns="0" lIns="0" anchor="t" rtlCol="0" anchorCtr="0">
            <a:noAutofit/>
          </a:bodyPr>
          <a:lstStyle/>
          <a:p>
            <a:pPr algn="r" rtl="1">
              <a:lnSpc>
                <a:spcPts val="3045"/>
              </a:lnSpc>
              <a:spcBef>
                <a:spcPts val="0"/>
              </a:spcBef>
              <a:spcAft>
                <a:spcPts val="0"/>
              </a:spcAft>
            </a:pPr>
            <a:r>
              <a:rPr sz="2100" b="0" i="0">
                <a:solidFill>
                  <a:srgbClr val="4E5A66"/>
                </a:solidFill>
                <a:latin typeface="IBM Plex Sans Arabic"/>
                <a:ea typeface="IBM Plex Sans Arabic"/>
                <a:cs typeface="IBM Plex Sans Arabic"/>
              </a:rPr>
              <a:t>حكومية، أم تابعة لجهة حكومية، أم تملك بنية حساسة، أم خاصة؟</a:t>
            </a:r>
          </a:p>
        </p:txBody>
      </p:sp>
      <p:sp>
        <p:nvSpPr>
          <p:cNvPr id="10" name="Box 9"/>
          <p:cNvSpPr/>
          <p:nvPr/>
        </p:nvSpPr>
        <p:spPr>
          <a:xfrm>
            <a:off x="815975" y="1661120"/>
            <a:ext cx="5219700" cy="1560711"/>
          </a:xfrm>
          <a:prstGeom prst="roundRect">
            <a:avLst>
              <a:gd name="adj" fmla="val 7293"/>
            </a:avLst>
          </a:prstGeom>
          <a:solidFill>
            <a:srgbClr val="FFFDF8"/>
          </a:solidFill>
          <a:ln w="6350">
            <a:solidFill>
              <a:srgbClr val="E1DBCD"/>
            </a:solidFill>
          </a:ln>
        </p:spPr>
        <p:txBody>
          <a:bodyPr rtlCol="0" anchor="ctr"/>
          <a:lstStyle/>
          <a:p>
            <a:pPr algn="ctr"/>
          </a:p>
        </p:txBody>
      </p:sp>
      <p:sp>
        <p:nvSpPr>
          <p:cNvPr id="11" name="Text 10"/>
          <p:cNvSpPr txBox="1"/>
          <p:nvPr/>
        </p:nvSpPr>
        <p:spPr>
          <a:xfrm>
            <a:off x="5364401" y="1841238"/>
            <a:ext cx="502999" cy="438150"/>
          </a:xfrm>
          <a:prstGeom prst="rect">
            <a:avLst/>
          </a:prstGeom>
          <a:noFill/>
        </p:spPr>
        <p:txBody>
          <a:bodyPr wrap="square" tIns="0" rIns="0" bIns="0" lIns="0" anchor="t" rtlCol="0" anchorCtr="0">
            <a:noAutofit/>
          </a:bodyPr>
          <a:lstStyle/>
          <a:p>
            <a:pPr algn="r">
              <a:lnSpc>
                <a:spcPts val="3450"/>
              </a:lnSpc>
              <a:spcBef>
                <a:spcPts val="0"/>
              </a:spcBef>
              <a:spcAft>
                <a:spcPts val="0"/>
              </a:spcAft>
            </a:pPr>
            <a:r>
              <a:rPr sz="3450" b="1" i="0">
                <a:solidFill>
                  <a:srgbClr val="0E7C6B"/>
                </a:solidFill>
                <a:latin typeface="Readex Pro"/>
                <a:ea typeface="Readex Pro"/>
                <a:cs typeface="Readex Pro"/>
              </a:rPr>
              <a:t>2</a:t>
            </a:r>
          </a:p>
        </p:txBody>
      </p:sp>
      <p:sp>
        <p:nvSpPr>
          <p:cNvPr id="12" name="Text 11"/>
          <p:cNvSpPr txBox="1"/>
          <p:nvPr/>
        </p:nvSpPr>
        <p:spPr>
          <a:xfrm>
            <a:off x="838200" y="1796058"/>
            <a:ext cx="4687491"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القطاع والمنظم</a:t>
            </a:r>
          </a:p>
        </p:txBody>
      </p:sp>
      <p:sp>
        <p:nvSpPr>
          <p:cNvPr id="13" name="Text 12"/>
          <p:cNvSpPr txBox="1"/>
          <p:nvPr/>
        </p:nvSpPr>
        <p:spPr>
          <a:xfrm>
            <a:off x="838200" y="2257639"/>
            <a:ext cx="5029200" cy="773311"/>
          </a:xfrm>
          <a:prstGeom prst="rect">
            <a:avLst/>
          </a:prstGeom>
          <a:noFill/>
        </p:spPr>
        <p:txBody>
          <a:bodyPr wrap="square" tIns="0" rIns="0" bIns="0" lIns="0" anchor="t" rtlCol="0" anchorCtr="0">
            <a:noAutofit/>
          </a:bodyPr>
          <a:lstStyle/>
          <a:p>
            <a:pPr algn="r" rtl="1">
              <a:lnSpc>
                <a:spcPts val="3045"/>
              </a:lnSpc>
              <a:spcBef>
                <a:spcPts val="0"/>
              </a:spcBef>
              <a:spcAft>
                <a:spcPts val="0"/>
              </a:spcAft>
            </a:pPr>
            <a:r>
              <a:rPr sz="2100" b="0" i="0">
                <a:solidFill>
                  <a:srgbClr val="4E5A66"/>
                </a:solidFill>
                <a:latin typeface="IBM Plex Sans Arabic"/>
                <a:ea typeface="IBM Plex Sans Arabic"/>
                <a:cs typeface="IBM Plex Sans Arabic"/>
              </a:rPr>
              <a:t>هل تخضع لجهة رقابية قطاعية، مثل البنك المركزي؟</a:t>
            </a:r>
          </a:p>
        </p:txBody>
      </p:sp>
      <p:sp>
        <p:nvSpPr>
          <p:cNvPr id="14" name="Box 13"/>
          <p:cNvSpPr/>
          <p:nvPr/>
        </p:nvSpPr>
        <p:spPr>
          <a:xfrm>
            <a:off x="6156325" y="3418681"/>
            <a:ext cx="5219700" cy="1174055"/>
          </a:xfrm>
          <a:prstGeom prst="roundRect">
            <a:avLst>
              <a:gd name="adj" fmla="val 968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10686693" y="3598799"/>
            <a:ext cx="521057" cy="438150"/>
          </a:xfrm>
          <a:prstGeom prst="rect">
            <a:avLst/>
          </a:prstGeom>
          <a:noFill/>
        </p:spPr>
        <p:txBody>
          <a:bodyPr wrap="square" tIns="0" rIns="0" bIns="0" lIns="0" anchor="t" rtlCol="0" anchorCtr="0">
            <a:noAutofit/>
          </a:bodyPr>
          <a:lstStyle/>
          <a:p>
            <a:pPr algn="r">
              <a:lnSpc>
                <a:spcPts val="3450"/>
              </a:lnSpc>
              <a:spcBef>
                <a:spcPts val="0"/>
              </a:spcBef>
              <a:spcAft>
                <a:spcPts val="0"/>
              </a:spcAft>
            </a:pPr>
            <a:r>
              <a:rPr sz="3450" b="1" i="0">
                <a:solidFill>
                  <a:srgbClr val="0E7C6B"/>
                </a:solidFill>
                <a:latin typeface="Readex Pro"/>
                <a:ea typeface="Readex Pro"/>
                <a:cs typeface="Readex Pro"/>
              </a:rPr>
              <a:t>3</a:t>
            </a:r>
          </a:p>
        </p:txBody>
      </p:sp>
      <p:sp>
        <p:nvSpPr>
          <p:cNvPr id="16" name="Text 15"/>
          <p:cNvSpPr txBox="1"/>
          <p:nvPr/>
        </p:nvSpPr>
        <p:spPr>
          <a:xfrm>
            <a:off x="6178550" y="3553619"/>
            <a:ext cx="4669433"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نوع البيانات</a:t>
            </a:r>
          </a:p>
        </p:txBody>
      </p:sp>
      <p:sp>
        <p:nvSpPr>
          <p:cNvPr id="17" name="Text 16"/>
          <p:cNvSpPr txBox="1"/>
          <p:nvPr/>
        </p:nvSpPr>
        <p:spPr>
          <a:xfrm>
            <a:off x="6178550" y="4015200"/>
            <a:ext cx="5029200" cy="386655"/>
          </a:xfrm>
          <a:prstGeom prst="rect">
            <a:avLst/>
          </a:prstGeom>
          <a:noFill/>
        </p:spPr>
        <p:txBody>
          <a:bodyPr wrap="square" tIns="0" rIns="0" bIns="0" lIns="0" anchor="t" rtlCol="0" anchorCtr="0">
            <a:noAutofit/>
          </a:bodyPr>
          <a:lstStyle/>
          <a:p>
            <a:pPr algn="r" rtl="1">
              <a:lnSpc>
                <a:spcPts val="3045"/>
              </a:lnSpc>
              <a:spcBef>
                <a:spcPts val="0"/>
              </a:spcBef>
              <a:spcAft>
                <a:spcPts val="0"/>
              </a:spcAft>
            </a:pPr>
            <a:r>
              <a:rPr sz="2100" b="0" i="0">
                <a:solidFill>
                  <a:srgbClr val="4E5A66"/>
                </a:solidFill>
                <a:latin typeface="IBM Plex Sans Arabic"/>
                <a:ea typeface="IBM Plex Sans Arabic"/>
                <a:cs typeface="IBM Plex Sans Arabic"/>
              </a:rPr>
              <a:t>بيانات شخصية؟ بيانات بطاقات؟ بيانات حكومية؟</a:t>
            </a:r>
          </a:p>
        </p:txBody>
      </p:sp>
      <p:sp>
        <p:nvSpPr>
          <p:cNvPr id="18" name="Box 17"/>
          <p:cNvSpPr/>
          <p:nvPr/>
        </p:nvSpPr>
        <p:spPr>
          <a:xfrm>
            <a:off x="815975" y="3418681"/>
            <a:ext cx="5219700" cy="1174055"/>
          </a:xfrm>
          <a:prstGeom prst="roundRect">
            <a:avLst>
              <a:gd name="adj" fmla="val 968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5314890" y="3598799"/>
            <a:ext cx="552510" cy="438150"/>
          </a:xfrm>
          <a:prstGeom prst="rect">
            <a:avLst/>
          </a:prstGeom>
          <a:noFill/>
        </p:spPr>
        <p:txBody>
          <a:bodyPr wrap="square" tIns="0" rIns="0" bIns="0" lIns="0" anchor="t" rtlCol="0" anchorCtr="0">
            <a:noAutofit/>
          </a:bodyPr>
          <a:lstStyle/>
          <a:p>
            <a:pPr algn="r">
              <a:lnSpc>
                <a:spcPts val="3450"/>
              </a:lnSpc>
              <a:spcBef>
                <a:spcPts val="0"/>
              </a:spcBef>
              <a:spcAft>
                <a:spcPts val="0"/>
              </a:spcAft>
            </a:pPr>
            <a:r>
              <a:rPr sz="3450" b="1" i="0">
                <a:solidFill>
                  <a:srgbClr val="0E7C6B"/>
                </a:solidFill>
                <a:latin typeface="Readex Pro"/>
                <a:ea typeface="Readex Pro"/>
                <a:cs typeface="Readex Pro"/>
              </a:rPr>
              <a:t>4</a:t>
            </a:r>
          </a:p>
        </p:txBody>
      </p:sp>
      <p:sp>
        <p:nvSpPr>
          <p:cNvPr id="20" name="Text 19"/>
          <p:cNvSpPr txBox="1"/>
          <p:nvPr/>
        </p:nvSpPr>
        <p:spPr>
          <a:xfrm>
            <a:off x="838200" y="3553619"/>
            <a:ext cx="4637980" cy="412750"/>
          </a:xfrm>
          <a:prstGeom prst="rect">
            <a:avLst/>
          </a:prstGeom>
          <a:noFill/>
        </p:spPr>
        <p:txBody>
          <a:bodyPr wrap="square" tIns="0" rIns="0" bIns="0" lIns="0" anchor="t" rtlCol="0" anchorCtr="0">
            <a:noAutofit/>
          </a:bodyPr>
          <a:lstStyle/>
          <a:p>
            <a:pPr algn="r" rtl="1">
              <a:lnSpc>
                <a:spcPts val="3250"/>
              </a:lnSpc>
              <a:spcBef>
                <a:spcPts val="0"/>
              </a:spcBef>
              <a:spcAft>
                <a:spcPts val="0"/>
              </a:spcAft>
            </a:pPr>
            <a:r>
              <a:rPr sz="2500" b="1" i="0">
                <a:solidFill>
                  <a:srgbClr val="172433"/>
                </a:solidFill>
                <a:latin typeface="Readex Pro"/>
                <a:ea typeface="Readex Pro"/>
                <a:cs typeface="Readex Pro"/>
              </a:rPr>
              <a:t>العقود والعملاء</a:t>
            </a:r>
          </a:p>
        </p:txBody>
      </p:sp>
      <p:sp>
        <p:nvSpPr>
          <p:cNvPr id="21" name="Text 20"/>
          <p:cNvSpPr txBox="1"/>
          <p:nvPr/>
        </p:nvSpPr>
        <p:spPr>
          <a:xfrm>
            <a:off x="838200" y="4015200"/>
            <a:ext cx="5029200" cy="386655"/>
          </a:xfrm>
          <a:prstGeom prst="rect">
            <a:avLst/>
          </a:prstGeom>
          <a:noFill/>
        </p:spPr>
        <p:txBody>
          <a:bodyPr wrap="square" tIns="0" rIns="0" bIns="0" lIns="0" anchor="t" rtlCol="0" anchorCtr="0">
            <a:noAutofit/>
          </a:bodyPr>
          <a:lstStyle/>
          <a:p>
            <a:pPr algn="r" rtl="1">
              <a:lnSpc>
                <a:spcPts val="3045"/>
              </a:lnSpc>
              <a:spcBef>
                <a:spcPts val="0"/>
              </a:spcBef>
              <a:spcAft>
                <a:spcPts val="0"/>
              </a:spcAft>
            </a:pPr>
            <a:r>
              <a:rPr sz="2100" b="0" i="0">
                <a:solidFill>
                  <a:srgbClr val="4E5A66"/>
                </a:solidFill>
                <a:latin typeface="IBM Plex Sans Arabic"/>
                <a:ea typeface="IBM Plex Sans Arabic"/>
                <a:cs typeface="IBM Plex Sans Arabic"/>
              </a:rPr>
              <a:t>هل تفرض العقود متطلبات أمن على الجهة؟</a:t>
            </a:r>
          </a:p>
        </p:txBody>
      </p:sp>
      <p:sp>
        <p:nvSpPr>
          <p:cNvPr id="22" name="Box 21"/>
          <p:cNvSpPr/>
          <p:nvPr/>
        </p:nvSpPr>
        <p:spPr>
          <a:xfrm>
            <a:off x="812800" y="4786412"/>
            <a:ext cx="10566400" cy="645120"/>
          </a:xfrm>
          <a:prstGeom prst="roundRect">
            <a:avLst>
              <a:gd name="adj" fmla="val 15749"/>
            </a:avLst>
          </a:prstGeom>
          <a:solidFill>
            <a:srgbClr val="172433"/>
          </a:solidFill>
          <a:ln>
            <a:noFill/>
          </a:ln>
        </p:spPr>
        <p:txBody>
          <a:bodyPr rtlCol="0" anchor="ctr"/>
          <a:lstStyle/>
          <a:p>
            <a:pPr algn="ctr"/>
          </a:p>
        </p:txBody>
      </p:sp>
      <p:pic>
        <p:nvPicPr>
          <p:cNvPr id="23" name="Icon Lightbulb 22" descr="icon055.png"/>
          <p:cNvPicPr>
            <a:picLocks noChangeAspect="1"/>
          </p:cNvPicPr>
          <p:nvPr/>
        </p:nvPicPr>
        <p:blipFill>
          <a:blip r:embed="rId2"/>
          <a:stretch>
            <a:fillRect/>
          </a:stretch>
        </p:blipFill>
        <p:spPr>
          <a:xfrm>
            <a:off x="10915650" y="4966097"/>
            <a:ext cx="285750" cy="285750"/>
          </a:xfrm>
          <a:prstGeom prst="rect">
            <a:avLst/>
          </a:prstGeom>
        </p:spPr>
      </p:pic>
      <p:sp>
        <p:nvSpPr>
          <p:cNvPr id="24" name="Text 23"/>
          <p:cNvSpPr txBox="1"/>
          <p:nvPr/>
        </p:nvSpPr>
        <p:spPr>
          <a:xfrm>
            <a:off x="838200" y="4870105"/>
            <a:ext cx="996315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F3EFE6"/>
                </a:solidFill>
                <a:latin typeface="IBM Plex Sans Arabic"/>
                <a:ea typeface="IBM Plex Sans Arabic"/>
                <a:cs typeface="IBM Plex Sans Arabic"/>
              </a:rPr>
              <a:t>ثم تحقق من نص «نطاق التطبيق» في المرجع الرسمي نفسه. لا تحكم من اسم الإطار.</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751167"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ما الذي ينطبق على كل جهة؟</a:t>
            </a:r>
          </a:p>
        </p:txBody>
      </p:sp>
      <p:sp>
        <p:nvSpPr>
          <p:cNvPr id="6" name="Text 5"/>
          <p:cNvSpPr txBox="1"/>
          <p:nvPr/>
        </p:nvSpPr>
        <p:spPr>
          <a:xfrm>
            <a:off x="9662160" y="1548281"/>
            <a:ext cx="171704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1" i="0">
                <a:solidFill>
                  <a:srgbClr val="5E6A75"/>
                </a:solidFill>
                <a:latin typeface="IBM Plex Sans Arabic"/>
                <a:ea typeface="IBM Plex Sans Arabic"/>
                <a:cs typeface="IBM Plex Sans Arabic"/>
              </a:rPr>
              <a:t>رُفاد</a:t>
            </a:r>
          </a:p>
        </p:txBody>
      </p:sp>
      <p:sp>
        <p:nvSpPr>
          <p:cNvPr id="7" name="Text 6"/>
          <p:cNvSpPr txBox="1"/>
          <p:nvPr/>
        </p:nvSpPr>
        <p:spPr>
          <a:xfrm>
            <a:off x="103632" y="1548281"/>
            <a:ext cx="9573768"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شركة خاصة للتوصيل، تعالج بيانات موظفين ومستلمين، لا تعالج بيانات بطاقات بنفسها.</a:t>
            </a:r>
          </a:p>
        </p:txBody>
      </p:sp>
      <p:sp>
        <p:nvSpPr>
          <p:cNvPr id="8" name="Text 7"/>
          <p:cNvSpPr txBox="1"/>
          <p:nvPr/>
        </p:nvSpPr>
        <p:spPr>
          <a:xfrm>
            <a:off x="9737725" y="1914001"/>
            <a:ext cx="1641475"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1" i="0">
                <a:solidFill>
                  <a:srgbClr val="5E6A75"/>
                </a:solidFill>
                <a:latin typeface="IBM Plex Sans Arabic"/>
                <a:ea typeface="IBM Plex Sans Arabic"/>
                <a:cs typeface="IBM Plex Sans Arabic"/>
              </a:rPr>
              <a:t>شركة «مدى التقنية»</a:t>
            </a:r>
          </a:p>
        </p:txBody>
      </p:sp>
      <p:sp>
        <p:nvSpPr>
          <p:cNvPr id="9" name="Text 8"/>
          <p:cNvSpPr txBox="1"/>
          <p:nvPr/>
        </p:nvSpPr>
        <p:spPr>
          <a:xfrm>
            <a:off x="103632" y="1914001"/>
            <a:ext cx="9573768"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شركة افتراضية تابعة لوزارة، تقدم خدمات تقنية للوزارة.</a:t>
            </a:r>
          </a:p>
        </p:txBody>
      </p:sp>
      <p:sp>
        <p:nvSpPr>
          <p:cNvPr id="10" name="Text 9"/>
          <p:cNvSpPr txBox="1"/>
          <p:nvPr/>
        </p:nvSpPr>
        <p:spPr>
          <a:xfrm>
            <a:off x="9662160" y="2581942"/>
            <a:ext cx="171704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1" i="0">
                <a:solidFill>
                  <a:srgbClr val="5E6A75"/>
                </a:solidFill>
                <a:latin typeface="IBM Plex Sans Arabic"/>
                <a:ea typeface="IBM Plex Sans Arabic"/>
                <a:cs typeface="IBM Plex Sans Arabic"/>
              </a:rPr>
              <a:t>شركة «دفع سريع»</a:t>
            </a:r>
          </a:p>
        </p:txBody>
      </p:sp>
      <p:sp>
        <p:nvSpPr>
          <p:cNvPr id="11" name="Text 10"/>
          <p:cNvSpPr txBox="1"/>
          <p:nvPr/>
        </p:nvSpPr>
        <p:spPr>
          <a:xfrm>
            <a:off x="103632" y="2581942"/>
            <a:ext cx="9573768"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شركة تقنية مالية افتراضية مرخصة من البنك المركزي السعودي، تعالج مدفوعات بالبطاقات.</a:t>
            </a:r>
          </a:p>
        </p:txBody>
      </p:sp>
      <p:graphicFrame>
        <p:nvGraphicFramePr>
          <p:cNvPr id="12" name="Table 11"/>
          <p:cNvGraphicFramePr>
            <a:graphicFrameLocks noGrp="1"/>
          </p:cNvGraphicFramePr>
          <p:nvPr/>
        </p:nvGraphicFramePr>
        <p:xfrm>
          <a:off x="815975" y="3035102"/>
          <a:ext cx="10560050" cy="1964928"/>
        </p:xfrm>
        <a:graphic>
          <a:graphicData uri="http://schemas.openxmlformats.org/drawingml/2006/table">
            <a:tbl>
              <a:tblPr firstRow="0" bandRow="0" lastRow="0" firstCol="0" lastCol="0" bandCol="0">
                <a:tableStyleId>{2D5ABB26-0587-4C30-8999-92F81FD0307C}</a:tableStyleId>
              </a:tblPr>
              <a:tblGrid>
                <a:gridCol w="1900555"/>
                <a:gridCol w="2112010"/>
                <a:gridCol w="2323465"/>
                <a:gridCol w="2112010"/>
                <a:gridCol w="21120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PCI DSS</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إطار ساما للأمن السيبراني</a:t>
                      </a:r>
                    </a:p>
                  </a:txBody>
                  <a:tcPr marT="85649" marR="121920" marB="56591" marL="65876"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نظام حماية البيانات الشخصية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ECC-2:2024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رُفاد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«مدى التقنية»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«دفع سريع»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Box 12"/>
          <p:cNvSpPr/>
          <p:nvPr/>
        </p:nvSpPr>
        <p:spPr>
          <a:xfrm>
            <a:off x="812800" y="5117505"/>
            <a:ext cx="10566400" cy="556220"/>
          </a:xfrm>
          <a:prstGeom prst="roundRect">
            <a:avLst>
              <a:gd name="adj" fmla="val 18266"/>
            </a:avLst>
          </a:prstGeom>
          <a:solidFill>
            <a:srgbClr val="F6ECDA"/>
          </a:solidFill>
          <a:ln>
            <a:noFill/>
          </a:ln>
        </p:spPr>
        <p:txBody>
          <a:bodyPr rtlCol="0" anchor="ctr"/>
          <a:lstStyle/>
          <a:p>
            <a:pPr algn="ctr"/>
          </a:p>
        </p:txBody>
      </p:sp>
      <p:pic>
        <p:nvPicPr>
          <p:cNvPr id="14" name="Icon Clock 13" descr="icon056.png"/>
          <p:cNvPicPr>
            <a:picLocks noChangeAspect="1"/>
          </p:cNvPicPr>
          <p:nvPr/>
        </p:nvPicPr>
        <p:blipFill>
          <a:blip r:embed="rId2"/>
          <a:stretch>
            <a:fillRect/>
          </a:stretch>
        </p:blipFill>
        <p:spPr>
          <a:xfrm>
            <a:off x="10972800" y="5281315"/>
            <a:ext cx="228600" cy="228600"/>
          </a:xfrm>
          <a:prstGeom prst="rect">
            <a:avLst/>
          </a:prstGeom>
        </p:spPr>
      </p:pic>
      <p:sp>
        <p:nvSpPr>
          <p:cNvPr id="15" name="Text 14"/>
          <p:cNvSpPr txBox="1"/>
          <p:nvPr/>
        </p:nvSpPr>
        <p:spPr>
          <a:xfrm>
            <a:off x="838200" y="5211040"/>
            <a:ext cx="100203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لكل خانة: نعم، أو لا، أو يعتمد، مع سبب قصير. 10 دقائق.</a:t>
            </a:r>
          </a:p>
        </p:txBody>
      </p:sp>
      <p:sp>
        <p:nvSpPr>
          <p:cNvPr id="16" name="Text 1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7" name="Text 1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95823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الانطباق على الجهات الثلاث</a:t>
            </a:r>
          </a:p>
        </p:txBody>
      </p:sp>
      <p:graphicFrame>
        <p:nvGraphicFramePr>
          <p:cNvPr id="6" name="Table 5"/>
          <p:cNvGraphicFramePr>
            <a:graphicFrameLocks noGrp="1"/>
          </p:cNvGraphicFramePr>
          <p:nvPr/>
        </p:nvGraphicFramePr>
        <p:xfrm>
          <a:off x="815975" y="1597620"/>
          <a:ext cx="10560050" cy="3853656"/>
        </p:xfrm>
        <a:graphic>
          <a:graphicData uri="http://schemas.openxmlformats.org/drawingml/2006/table">
            <a:tbl>
              <a:tblPr firstRow="0" bandRow="0" lastRow="0" firstCol="0" lastCol="0" bandCol="0">
                <a:tableStyleId>{2D5ABB26-0587-4C30-8999-92F81FD0307C}</a:tableStyleId>
              </a:tblPr>
              <a:tblGrid>
                <a:gridCol w="2323465"/>
                <a:gridCol w="2534285"/>
                <a:gridCol w="1900555"/>
                <a:gridCol w="2323465"/>
                <a:gridCol w="1478280"/>
              </a:tblGrid>
              <a:tr h="1121966">
                <a:tc>
                  <a:txBody>
                    <a:bodyPr wrap="square"/>
                    <a:lstStyle/>
                    <a:p>
                      <a:pPr algn="r">
                        <a:lnSpc>
                          <a:spcPts val="2498"/>
                        </a:lnSpc>
                        <a:spcBef>
                          <a:spcPts val="0"/>
                        </a:spcBef>
                        <a:spcAft>
                          <a:spcPts val="0"/>
                        </a:spcAft>
                      </a:pPr>
                      <a:r>
                        <a:rPr sz="1850" b="1" i="0">
                          <a:solidFill>
                            <a:srgbClr val="F3EFE6"/>
                          </a:solidFill>
                          <a:latin typeface="IBM Plex Sans Arabic"/>
                          <a:ea typeface="IBM Plex Sans Arabic"/>
                          <a:cs typeface="IBM Plex Sans Arabic"/>
                        </a:rPr>
                        <a:t>PCI DSS</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إطار ساما للأمن السيبراني</a:t>
                      </a:r>
                    </a:p>
                  </a:txBody>
                  <a:tcPr marT="99031" marR="140970" marB="65434" marL="73398"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نظام حماية البيانات الشخصية</a:t>
                      </a:r>
                    </a:p>
                  </a:txBody>
                  <a:tcPr marT="99031" marR="140970" marB="65434" marL="82232"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98"/>
                        </a:lnSpc>
                        <a:spcBef>
                          <a:spcPts val="0"/>
                        </a:spcBef>
                        <a:spcAft>
                          <a:spcPts val="0"/>
                        </a:spcAft>
                      </a:pPr>
                      <a:r>
                        <a:rPr sz="1850" b="1" i="0">
                          <a:solidFill>
                            <a:srgbClr val="F3EFE6"/>
                          </a:solidFill>
                          <a:latin typeface="IBM Plex Sans Arabic"/>
                          <a:ea typeface="IBM Plex Sans Arabic"/>
                          <a:cs typeface="IBM Plex Sans Arabic"/>
                        </a:rPr>
                        <a:t>ECC-2:2024</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الجهة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121966">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لا، ما دامت لا تخزن بيانات البطاقات أو تعالجها أو تنقلها</a:t>
                      </a:r>
                    </a:p>
                  </a:txBody>
                  <a:tcPr marT="99031" marR="140970" marB="65434" marL="7973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لا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نعم</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غير ملزم؛ تبنته طوعاً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رُفاد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04862">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حسب معالجتها للبطاقات</a:t>
                      </a:r>
                    </a:p>
                  </a:txBody>
                  <a:tcPr marT="99031" marR="140970" marB="65434" marL="7973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لا</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نعم إن عالجت بيانات شخصية</a:t>
                      </a:r>
                    </a:p>
                  </a:txBody>
                  <a:tcPr marT="99031" marR="140970" marB="65434" marL="8223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نعم: تابعة لجهة حكومية</a:t>
                      </a:r>
                    </a:p>
                  </a:txBody>
                  <a:tcPr marT="99031" marR="140970" marB="65434" marL="7973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مدى التقنية</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04862">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نعم: تعالج بيانات البطاقات</a:t>
                      </a:r>
                    </a:p>
                  </a:txBody>
                  <a:tcPr marT="99031" marR="140970" marB="65434" marL="7973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غالباً نعم: تحقق من نطاق الإطار في دليل ساما</a:t>
                      </a:r>
                    </a:p>
                  </a:txBody>
                  <a:tcPr marT="99031" marR="140970" marB="65434" marL="7339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نعم</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لا، ما لم تكن حكومية أو بنية تحتية حساسة</a:t>
                      </a:r>
                    </a:p>
                  </a:txBody>
                  <a:tcPr marT="99031" marR="140970" marB="65434" marL="7973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98"/>
                        </a:lnSpc>
                        <a:spcBef>
                          <a:spcPts val="0"/>
                        </a:spcBef>
                        <a:spcAft>
                          <a:spcPts val="0"/>
                        </a:spcAft>
                      </a:pPr>
                      <a:r>
                        <a:rPr sz="1850" b="0" i="0">
                          <a:solidFill>
                            <a:srgbClr val="172433"/>
                          </a:solidFill>
                          <a:latin typeface="IBM Plex Sans Arabic"/>
                          <a:ea typeface="IBM Plex Sans Arabic"/>
                          <a:cs typeface="IBM Plex Sans Arabic"/>
                        </a:rPr>
                        <a:t>دفع سريع</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890272"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قاعدة الانطباق والأخطاء الشائعة</a:t>
            </a:r>
          </a:p>
        </p:txBody>
      </p:sp>
      <p:sp>
        <p:nvSpPr>
          <p:cNvPr id="6" name="Box 5"/>
          <p:cNvSpPr/>
          <p:nvPr/>
        </p:nvSpPr>
        <p:spPr>
          <a:xfrm>
            <a:off x="6188075" y="1661120"/>
            <a:ext cx="5187950" cy="3825875"/>
          </a:xfrm>
          <a:prstGeom prst="roundRect">
            <a:avLst>
              <a:gd name="adj" fmla="val 2982"/>
            </a:avLst>
          </a:prstGeom>
          <a:solidFill>
            <a:srgbClr val="E3F1ED"/>
          </a:solidFill>
          <a:ln w="6350">
            <a:solidFill>
              <a:srgbClr val="9FD1C5"/>
            </a:solidFill>
          </a:ln>
        </p:spPr>
        <p:txBody>
          <a:bodyPr rtlCol="0" anchor="ctr"/>
          <a:lstStyle/>
          <a:p>
            <a:pPr algn="ctr"/>
          </a:p>
        </p:txBody>
      </p:sp>
      <p:sp>
        <p:nvSpPr>
          <p:cNvPr id="7" name="Text 6"/>
          <p:cNvSpPr txBox="1"/>
          <p:nvPr/>
        </p:nvSpPr>
        <p:spPr>
          <a:xfrm>
            <a:off x="62103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ما يجعل الإجابة قوية</a:t>
            </a:r>
          </a:p>
        </p:txBody>
      </p:sp>
      <p:pic>
        <p:nvPicPr>
          <p:cNvPr id="8" name="Icon CheckCircle 7" descr="icon057.png"/>
          <p:cNvPicPr>
            <a:picLocks noChangeAspect="1"/>
          </p:cNvPicPr>
          <p:nvPr/>
        </p:nvPicPr>
        <p:blipFill>
          <a:blip r:embed="rId2"/>
          <a:stretch>
            <a:fillRect/>
          </a:stretch>
        </p:blipFill>
        <p:spPr>
          <a:xfrm>
            <a:off x="10902950" y="2327870"/>
            <a:ext cx="266700" cy="266700"/>
          </a:xfrm>
          <a:prstGeom prst="rect">
            <a:avLst/>
          </a:prstGeom>
        </p:spPr>
      </p:pic>
      <p:sp>
        <p:nvSpPr>
          <p:cNvPr id="9" name="Text 8"/>
          <p:cNvSpPr txBox="1"/>
          <p:nvPr/>
        </p:nvSpPr>
        <p:spPr>
          <a:xfrm>
            <a:off x="6262624" y="2283579"/>
            <a:ext cx="452602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الانطباق يُحدَّد من النص الرسمي لنطاق كل إطار، لا من اسمه.</a:t>
            </a:r>
          </a:p>
        </p:txBody>
      </p:sp>
      <p:pic>
        <p:nvPicPr>
          <p:cNvPr id="10" name="Icon CheckCircle 9" descr="icon057.png"/>
          <p:cNvPicPr>
            <a:picLocks noChangeAspect="1"/>
          </p:cNvPicPr>
          <p:nvPr/>
        </p:nvPicPr>
        <p:blipFill>
          <a:blip r:embed="rId2"/>
          <a:stretch>
            <a:fillRect/>
          </a:stretch>
        </p:blipFill>
        <p:spPr>
          <a:xfrm>
            <a:off x="10902950" y="3216870"/>
            <a:ext cx="266700" cy="266700"/>
          </a:xfrm>
          <a:prstGeom prst="rect">
            <a:avLst/>
          </a:prstGeom>
        </p:spPr>
      </p:pic>
      <p:sp>
        <p:nvSpPr>
          <p:cNvPr id="11" name="Text 10"/>
          <p:cNvSpPr txBox="1"/>
          <p:nvPr/>
        </p:nvSpPr>
        <p:spPr>
          <a:xfrm>
            <a:off x="6262624" y="3172579"/>
            <a:ext cx="4526026" cy="12001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النوع (حكومي أو خاص)، والقطاع، ونوع البيانات، والعقود: أربعة أسئلة تكفي للبداية.</a:t>
            </a:r>
          </a:p>
        </p:txBody>
      </p:sp>
      <p:pic>
        <p:nvPicPr>
          <p:cNvPr id="12" name="Icon CheckCircle 11" descr="icon057.png"/>
          <p:cNvPicPr>
            <a:picLocks noChangeAspect="1"/>
          </p:cNvPicPr>
          <p:nvPr/>
        </p:nvPicPr>
        <p:blipFill>
          <a:blip r:embed="rId2"/>
          <a:stretch>
            <a:fillRect/>
          </a:stretch>
        </p:blipFill>
        <p:spPr>
          <a:xfrm>
            <a:off x="10902950" y="4505920"/>
            <a:ext cx="266700" cy="266700"/>
          </a:xfrm>
          <a:prstGeom prst="rect">
            <a:avLst/>
          </a:prstGeom>
        </p:spPr>
      </p:pic>
      <p:sp>
        <p:nvSpPr>
          <p:cNvPr id="13" name="Text 12"/>
          <p:cNvSpPr txBox="1"/>
          <p:nvPr/>
        </p:nvSpPr>
        <p:spPr>
          <a:xfrm>
            <a:off x="6262624" y="4461629"/>
            <a:ext cx="452602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الإطار غير الملزم يمكن تبنيه طوعاً، لكن لا تصف الجهة بأنها «ملتزمة نظاماً» به.</a:t>
            </a:r>
          </a:p>
        </p:txBody>
      </p:sp>
      <p:sp>
        <p:nvSpPr>
          <p:cNvPr id="14" name="Box 13"/>
          <p:cNvSpPr/>
          <p:nvPr/>
        </p:nvSpPr>
        <p:spPr>
          <a:xfrm>
            <a:off x="815975" y="1661120"/>
            <a:ext cx="5187950" cy="3825875"/>
          </a:xfrm>
          <a:prstGeom prst="roundRect">
            <a:avLst>
              <a:gd name="adj" fmla="val 2982"/>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38200" y="1829395"/>
            <a:ext cx="49593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B4412C"/>
                </a:solidFill>
                <a:latin typeface="Readex Pro"/>
                <a:ea typeface="Readex Pro"/>
                <a:cs typeface="Readex Pro"/>
              </a:rPr>
              <a:t>أخطاء شائعة</a:t>
            </a:r>
          </a:p>
        </p:txBody>
      </p:sp>
      <p:pic>
        <p:nvPicPr>
          <p:cNvPr id="16" name="Icon Warning 15" descr="icon047.png"/>
          <p:cNvPicPr>
            <a:picLocks noChangeAspect="1"/>
          </p:cNvPicPr>
          <p:nvPr/>
        </p:nvPicPr>
        <p:blipFill>
          <a:blip r:embed="rId3"/>
          <a:stretch>
            <a:fillRect/>
          </a:stretch>
        </p:blipFill>
        <p:spPr>
          <a:xfrm>
            <a:off x="5530850" y="2327870"/>
            <a:ext cx="266700" cy="266700"/>
          </a:xfrm>
          <a:prstGeom prst="rect">
            <a:avLst/>
          </a:prstGeom>
        </p:spPr>
      </p:pic>
      <p:sp>
        <p:nvSpPr>
          <p:cNvPr id="17" name="Text 16"/>
          <p:cNvSpPr txBox="1"/>
          <p:nvPr/>
        </p:nvSpPr>
        <p:spPr>
          <a:xfrm>
            <a:off x="838200" y="2283579"/>
            <a:ext cx="45783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افتراض أن ECC تلزم كل شركة سعودية.</a:t>
            </a:r>
          </a:p>
        </p:txBody>
      </p:sp>
      <p:pic>
        <p:nvPicPr>
          <p:cNvPr id="18" name="Icon Warning 17" descr="icon047.png"/>
          <p:cNvPicPr>
            <a:picLocks noChangeAspect="1"/>
          </p:cNvPicPr>
          <p:nvPr/>
        </p:nvPicPr>
        <p:blipFill>
          <a:blip r:embed="rId3"/>
          <a:stretch>
            <a:fillRect/>
          </a:stretch>
        </p:blipFill>
        <p:spPr>
          <a:xfrm>
            <a:off x="5530850" y="2816820"/>
            <a:ext cx="266700" cy="266700"/>
          </a:xfrm>
          <a:prstGeom prst="rect">
            <a:avLst/>
          </a:prstGeom>
        </p:spPr>
      </p:pic>
      <p:sp>
        <p:nvSpPr>
          <p:cNvPr id="19" name="Text 18"/>
          <p:cNvSpPr txBox="1"/>
          <p:nvPr/>
        </p:nvSpPr>
        <p:spPr>
          <a:xfrm>
            <a:off x="890524" y="2772529"/>
            <a:ext cx="452602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نسيان نظام حماية البيانات الشخصية لأن الجهة ليست تقنية.</a:t>
            </a:r>
          </a:p>
        </p:txBody>
      </p:sp>
      <p:pic>
        <p:nvPicPr>
          <p:cNvPr id="20" name="Icon Warning 19" descr="icon047.png"/>
          <p:cNvPicPr>
            <a:picLocks noChangeAspect="1"/>
          </p:cNvPicPr>
          <p:nvPr/>
        </p:nvPicPr>
        <p:blipFill>
          <a:blip r:embed="rId3"/>
          <a:stretch>
            <a:fillRect/>
          </a:stretch>
        </p:blipFill>
        <p:spPr>
          <a:xfrm>
            <a:off x="5530850" y="3705820"/>
            <a:ext cx="266700" cy="266700"/>
          </a:xfrm>
          <a:prstGeom prst="rect">
            <a:avLst/>
          </a:prstGeom>
        </p:spPr>
      </p:pic>
      <p:sp>
        <p:nvSpPr>
          <p:cNvPr id="21" name="Text 20"/>
          <p:cNvSpPr txBox="1"/>
          <p:nvPr/>
        </p:nvSpPr>
        <p:spPr>
          <a:xfrm>
            <a:off x="890524" y="3661529"/>
            <a:ext cx="4526026"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الجزم بالانطباق دون الرجوع إلى نص النطاق.</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بأي إطار تبدأ؟ وكيف تقرؤه؟</a:t>
            </a:r>
          </a:p>
        </p:txBody>
      </p:sp>
      <p:sp>
        <p:nvSpPr>
          <p:cNvPr id="5" name="Box 4"/>
          <p:cNvSpPr/>
          <p:nvPr/>
        </p:nvSpPr>
        <p:spPr>
          <a:xfrm>
            <a:off x="7936409" y="1661120"/>
            <a:ext cx="3439616" cy="2164358"/>
          </a:xfrm>
          <a:prstGeom prst="roundRect">
            <a:avLst>
              <a:gd name="adj" fmla="val 5265"/>
            </a:avLst>
          </a:prstGeom>
          <a:solidFill>
            <a:srgbClr val="FFFDF8"/>
          </a:solidFill>
          <a:ln w="6350">
            <a:solidFill>
              <a:srgbClr val="E1DBCD"/>
            </a:solidFill>
          </a:ln>
        </p:spPr>
        <p:txBody>
          <a:bodyPr rtlCol="0" anchor="ctr"/>
          <a:lstStyle/>
          <a:p>
            <a:pPr algn="ctr"/>
          </a:p>
        </p:txBody>
      </p:sp>
      <p:sp>
        <p:nvSpPr>
          <p:cNvPr id="6" name="Text 5"/>
          <p:cNvSpPr txBox="1"/>
          <p:nvPr/>
        </p:nvSpPr>
        <p:spPr>
          <a:xfrm>
            <a:off x="7958634" y="1869337"/>
            <a:ext cx="3236416" cy="469900"/>
          </a:xfrm>
          <a:prstGeom prst="rect">
            <a:avLst/>
          </a:prstGeom>
          <a:noFill/>
        </p:spPr>
        <p:txBody>
          <a:bodyPr wrap="square" tIns="0" rIns="0" bIns="0" lIns="0" anchor="t" rtlCol="0" anchorCtr="0">
            <a:noAutofit/>
          </a:bodyPr>
          <a:lstStyle/>
          <a:p>
            <a:pPr algn="r">
              <a:lnSpc>
                <a:spcPts val="3700"/>
              </a:lnSpc>
              <a:spcBef>
                <a:spcPts val="0"/>
              </a:spcBef>
              <a:spcAft>
                <a:spcPts val="0"/>
              </a:spcAft>
            </a:pPr>
            <a:r>
              <a:rPr sz="3700" b="1" i="0">
                <a:solidFill>
                  <a:srgbClr val="0E7C6B"/>
                </a:solidFill>
                <a:latin typeface="Readex Pro"/>
                <a:ea typeface="Readex Pro"/>
                <a:cs typeface="Readex Pro"/>
              </a:rPr>
              <a:t>1</a:t>
            </a:r>
          </a:p>
        </p:txBody>
      </p:sp>
      <p:sp>
        <p:nvSpPr>
          <p:cNvPr id="7" name="Text 6"/>
          <p:cNvSpPr txBox="1"/>
          <p:nvPr/>
        </p:nvSpPr>
        <p:spPr>
          <a:xfrm>
            <a:off x="7958634" y="2349333"/>
            <a:ext cx="3236416" cy="420688"/>
          </a:xfrm>
          <a:prstGeom prst="rect">
            <a:avLst/>
          </a:prstGeom>
          <a:noFill/>
        </p:spPr>
        <p:txBody>
          <a:bodyPr wrap="square" tIns="0" rIns="0" bIns="0" lIns="0" anchor="t" rtlCol="0" anchorCtr="0">
            <a:noAutofit/>
          </a:bodyPr>
          <a:lstStyle/>
          <a:p>
            <a:pPr algn="r">
              <a:lnSpc>
                <a:spcPts val="3311"/>
              </a:lnSpc>
              <a:spcBef>
                <a:spcPts val="0"/>
              </a:spcBef>
              <a:spcAft>
                <a:spcPts val="0"/>
              </a:spcAft>
            </a:pPr>
            <a:r>
              <a:rPr sz="2650" b="1" i="0">
                <a:solidFill>
                  <a:srgbClr val="172433"/>
                </a:solidFill>
                <a:latin typeface="Readex Pro"/>
                <a:ea typeface="Readex Pro"/>
                <a:cs typeface="Readex Pro"/>
              </a:rPr>
              <a:t>NIST CSF 2.0</a:t>
            </a:r>
          </a:p>
        </p:txBody>
      </p:sp>
      <p:sp>
        <p:nvSpPr>
          <p:cNvPr id="8" name="Text 7"/>
          <p:cNvSpPr txBox="1"/>
          <p:nvPr/>
        </p:nvSpPr>
        <p:spPr>
          <a:xfrm>
            <a:off x="8025054" y="2796691"/>
            <a:ext cx="3169996"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4E5A66"/>
                </a:solidFill>
                <a:latin typeface="IBM Plex Sans Arabic"/>
                <a:ea typeface="IBM Plex Sans Arabic"/>
                <a:cs typeface="IBM Plex Sans Arabic"/>
              </a:rPr>
              <a:t>مجاني، ويعطيك الصورة الكاملة.</a:t>
            </a:r>
          </a:p>
        </p:txBody>
      </p:sp>
      <p:sp>
        <p:nvSpPr>
          <p:cNvPr id="9" name="Box 8"/>
          <p:cNvSpPr/>
          <p:nvPr/>
        </p:nvSpPr>
        <p:spPr>
          <a:xfrm>
            <a:off x="4376142" y="1661120"/>
            <a:ext cx="3439616" cy="2164358"/>
          </a:xfrm>
          <a:prstGeom prst="roundRect">
            <a:avLst>
              <a:gd name="adj" fmla="val 5265"/>
            </a:avLst>
          </a:prstGeom>
          <a:solidFill>
            <a:srgbClr val="FFFDF8"/>
          </a:solidFill>
          <a:ln w="6350">
            <a:solidFill>
              <a:srgbClr val="E1DBCD"/>
            </a:solidFill>
          </a:ln>
        </p:spPr>
        <p:txBody>
          <a:bodyPr rtlCol="0" anchor="ctr"/>
          <a:lstStyle/>
          <a:p>
            <a:pPr algn="ctr"/>
          </a:p>
        </p:txBody>
      </p:sp>
      <p:sp>
        <p:nvSpPr>
          <p:cNvPr id="10" name="Text 9"/>
          <p:cNvSpPr txBox="1"/>
          <p:nvPr/>
        </p:nvSpPr>
        <p:spPr>
          <a:xfrm>
            <a:off x="4398367" y="1869337"/>
            <a:ext cx="3236416" cy="469900"/>
          </a:xfrm>
          <a:prstGeom prst="rect">
            <a:avLst/>
          </a:prstGeom>
          <a:noFill/>
        </p:spPr>
        <p:txBody>
          <a:bodyPr wrap="square" tIns="0" rIns="0" bIns="0" lIns="0" anchor="t" rtlCol="0" anchorCtr="0">
            <a:noAutofit/>
          </a:bodyPr>
          <a:lstStyle/>
          <a:p>
            <a:pPr algn="r">
              <a:lnSpc>
                <a:spcPts val="3700"/>
              </a:lnSpc>
              <a:spcBef>
                <a:spcPts val="0"/>
              </a:spcBef>
              <a:spcAft>
                <a:spcPts val="0"/>
              </a:spcAft>
            </a:pPr>
            <a:r>
              <a:rPr sz="3700" b="1" i="0">
                <a:solidFill>
                  <a:srgbClr val="0E7C6B"/>
                </a:solidFill>
                <a:latin typeface="Readex Pro"/>
                <a:ea typeface="Readex Pro"/>
                <a:cs typeface="Readex Pro"/>
              </a:rPr>
              <a:t>2</a:t>
            </a:r>
          </a:p>
        </p:txBody>
      </p:sp>
      <p:sp>
        <p:nvSpPr>
          <p:cNvPr id="11" name="Text 10"/>
          <p:cNvSpPr txBox="1"/>
          <p:nvPr/>
        </p:nvSpPr>
        <p:spPr>
          <a:xfrm>
            <a:off x="4398367" y="2349333"/>
            <a:ext cx="3236416" cy="420688"/>
          </a:xfrm>
          <a:prstGeom prst="rect">
            <a:avLst/>
          </a:prstGeom>
          <a:noFill/>
        </p:spPr>
        <p:txBody>
          <a:bodyPr wrap="square" tIns="0" rIns="0" bIns="0" lIns="0" anchor="t" rtlCol="0" anchorCtr="0">
            <a:noAutofit/>
          </a:bodyPr>
          <a:lstStyle/>
          <a:p>
            <a:pPr algn="r">
              <a:lnSpc>
                <a:spcPts val="3311"/>
              </a:lnSpc>
              <a:spcBef>
                <a:spcPts val="0"/>
              </a:spcBef>
              <a:spcAft>
                <a:spcPts val="0"/>
              </a:spcAft>
            </a:pPr>
            <a:r>
              <a:rPr sz="2650" b="1" i="0">
                <a:solidFill>
                  <a:srgbClr val="172433"/>
                </a:solidFill>
                <a:latin typeface="Readex Pro"/>
                <a:ea typeface="Readex Pro"/>
                <a:cs typeface="Readex Pro"/>
              </a:rPr>
              <a:t>ISO/IEC 27001</a:t>
            </a:r>
          </a:p>
        </p:txBody>
      </p:sp>
      <p:sp>
        <p:nvSpPr>
          <p:cNvPr id="12" name="Text 11"/>
          <p:cNvSpPr txBox="1"/>
          <p:nvPr/>
        </p:nvSpPr>
        <p:spPr>
          <a:xfrm>
            <a:off x="4464787" y="2796691"/>
            <a:ext cx="3169996"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4E5A66"/>
                </a:solidFill>
                <a:latin typeface="IBM Plex Sans Arabic"/>
                <a:ea typeface="IBM Plex Sans Arabic"/>
                <a:cs typeface="IBM Plex Sans Arabic"/>
              </a:rPr>
              <a:t>منطق نظام الإدارة، وكثير الطلب.</a:t>
            </a:r>
          </a:p>
        </p:txBody>
      </p:sp>
      <p:sp>
        <p:nvSpPr>
          <p:cNvPr id="13" name="Box 12"/>
          <p:cNvSpPr/>
          <p:nvPr/>
        </p:nvSpPr>
        <p:spPr>
          <a:xfrm>
            <a:off x="815876" y="1661120"/>
            <a:ext cx="3439616" cy="2164358"/>
          </a:xfrm>
          <a:prstGeom prst="roundRect">
            <a:avLst>
              <a:gd name="adj" fmla="val 5265"/>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101" y="1869337"/>
            <a:ext cx="3236416" cy="469900"/>
          </a:xfrm>
          <a:prstGeom prst="rect">
            <a:avLst/>
          </a:prstGeom>
          <a:noFill/>
        </p:spPr>
        <p:txBody>
          <a:bodyPr wrap="square" tIns="0" rIns="0" bIns="0" lIns="0" anchor="t" rtlCol="0" anchorCtr="0">
            <a:noAutofit/>
          </a:bodyPr>
          <a:lstStyle/>
          <a:p>
            <a:pPr algn="r">
              <a:lnSpc>
                <a:spcPts val="3700"/>
              </a:lnSpc>
              <a:spcBef>
                <a:spcPts val="0"/>
              </a:spcBef>
              <a:spcAft>
                <a:spcPts val="0"/>
              </a:spcAft>
            </a:pPr>
            <a:r>
              <a:rPr sz="3700" b="1" i="0">
                <a:solidFill>
                  <a:srgbClr val="0E7C6B"/>
                </a:solidFill>
                <a:latin typeface="Readex Pro"/>
                <a:ea typeface="Readex Pro"/>
                <a:cs typeface="Readex Pro"/>
              </a:rPr>
              <a:t>3</a:t>
            </a:r>
          </a:p>
        </p:txBody>
      </p:sp>
      <p:sp>
        <p:nvSpPr>
          <p:cNvPr id="15" name="Text 14"/>
          <p:cNvSpPr txBox="1"/>
          <p:nvPr/>
        </p:nvSpPr>
        <p:spPr>
          <a:xfrm>
            <a:off x="838101" y="2349333"/>
            <a:ext cx="3236416"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172433"/>
                </a:solidFill>
                <a:latin typeface="Readex Pro"/>
                <a:ea typeface="Readex Pro"/>
                <a:cs typeface="Readex Pro"/>
              </a:rPr>
              <a:t>إطار قطاعك</a:t>
            </a:r>
          </a:p>
        </p:txBody>
      </p:sp>
      <p:sp>
        <p:nvSpPr>
          <p:cNvPr id="16" name="Text 15"/>
          <p:cNvSpPr txBox="1"/>
          <p:nvPr/>
        </p:nvSpPr>
        <p:spPr>
          <a:xfrm>
            <a:off x="904521" y="2796691"/>
            <a:ext cx="3169996" cy="810220"/>
          </a:xfrm>
          <a:prstGeom prst="rect">
            <a:avLst/>
          </a:prstGeom>
          <a:noFill/>
        </p:spPr>
        <p:txBody>
          <a:bodyPr wrap="square" tIns="0" rIns="0" bIns="0" lIns="0" anchor="t" rtlCol="0" anchorCtr="0">
            <a:noAutofit/>
          </a:bodyPr>
          <a:lstStyle/>
          <a:p>
            <a:pPr algn="r" rtl="1">
              <a:lnSpc>
                <a:spcPts val="3190"/>
              </a:lnSpc>
              <a:spcBef>
                <a:spcPts val="0"/>
              </a:spcBef>
              <a:spcAft>
                <a:spcPts val="0"/>
              </a:spcAft>
            </a:pPr>
            <a:r>
              <a:rPr sz="2200" b="0" i="0">
                <a:solidFill>
                  <a:srgbClr val="4E5A66"/>
                </a:solidFill>
                <a:latin typeface="IBM Plex Sans Arabic"/>
                <a:ea typeface="IBM Plex Sans Arabic"/>
                <a:cs typeface="IBM Plex Sans Arabic"/>
              </a:rPr>
              <a:t>حكومي: ECC. بنوك: SAMA CSF. مدفوعات: PCI DSS.</a:t>
            </a:r>
          </a:p>
        </p:txBody>
      </p:sp>
      <p:sp>
        <p:nvSpPr>
          <p:cNvPr id="17" name="Box 16"/>
          <p:cNvSpPr/>
          <p:nvPr/>
        </p:nvSpPr>
        <p:spPr>
          <a:xfrm>
            <a:off x="815975" y="4022328"/>
            <a:ext cx="10560050" cy="1556345"/>
          </a:xfrm>
          <a:prstGeom prst="roundRect">
            <a:avLst>
              <a:gd name="adj" fmla="val 7314"/>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4152503"/>
            <a:ext cx="103568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مع كل ضابط تقرؤه، اسأل:</a:t>
            </a:r>
          </a:p>
        </p:txBody>
      </p:sp>
      <p:sp>
        <p:nvSpPr>
          <p:cNvPr id="19" name="Text 18"/>
          <p:cNvSpPr txBox="1"/>
          <p:nvPr/>
        </p:nvSpPr>
        <p:spPr>
          <a:xfrm>
            <a:off x="10810240" y="4607608"/>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8A4B12"/>
                </a:solidFill>
                <a:latin typeface="Readex Pro"/>
                <a:ea typeface="Readex Pro"/>
                <a:cs typeface="Readex Pro"/>
              </a:rPr>
              <a:t>1</a:t>
            </a:r>
          </a:p>
        </p:txBody>
      </p:sp>
      <p:sp>
        <p:nvSpPr>
          <p:cNvPr id="20" name="Text 19"/>
          <p:cNvSpPr txBox="1"/>
          <p:nvPr/>
        </p:nvSpPr>
        <p:spPr>
          <a:xfrm>
            <a:off x="7284053" y="4596940"/>
            <a:ext cx="3517297"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ما الخطر الذي يعالجه؟</a:t>
            </a:r>
          </a:p>
        </p:txBody>
      </p:sp>
      <p:sp>
        <p:nvSpPr>
          <p:cNvPr id="21" name="Text 20"/>
          <p:cNvSpPr txBox="1"/>
          <p:nvPr/>
        </p:nvSpPr>
        <p:spPr>
          <a:xfrm>
            <a:off x="10810240" y="5031768"/>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8A4B12"/>
                </a:solidFill>
                <a:latin typeface="Readex Pro"/>
                <a:ea typeface="Readex Pro"/>
                <a:cs typeface="Readex Pro"/>
              </a:rPr>
              <a:t>2</a:t>
            </a:r>
          </a:p>
        </p:txBody>
      </p:sp>
      <p:sp>
        <p:nvSpPr>
          <p:cNvPr id="22" name="Text 21"/>
          <p:cNvSpPr txBox="1"/>
          <p:nvPr/>
        </p:nvSpPr>
        <p:spPr>
          <a:xfrm>
            <a:off x="7284053" y="5021100"/>
            <a:ext cx="3517297"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كيف يبدو تطبيقه في جهة حقيقية؟</a:t>
            </a:r>
          </a:p>
        </p:txBody>
      </p:sp>
      <p:sp>
        <p:nvSpPr>
          <p:cNvPr id="23" name="Text 22"/>
          <p:cNvSpPr txBox="1"/>
          <p:nvPr/>
        </p:nvSpPr>
        <p:spPr>
          <a:xfrm>
            <a:off x="6969284" y="4607608"/>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8A4B12"/>
                </a:solidFill>
                <a:latin typeface="Readex Pro"/>
                <a:ea typeface="Readex Pro"/>
                <a:cs typeface="Readex Pro"/>
              </a:rPr>
              <a:t>1</a:t>
            </a:r>
          </a:p>
        </p:txBody>
      </p:sp>
      <p:sp>
        <p:nvSpPr>
          <p:cNvPr id="24" name="Text 23"/>
          <p:cNvSpPr txBox="1"/>
          <p:nvPr/>
        </p:nvSpPr>
        <p:spPr>
          <a:xfrm>
            <a:off x="3935694" y="4596940"/>
            <a:ext cx="3024699"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ما الدليل الذي يثبت تطبيقه؟</a:t>
            </a:r>
          </a:p>
        </p:txBody>
      </p:sp>
      <p:sp>
        <p:nvSpPr>
          <p:cNvPr id="25" name="Text 24"/>
          <p:cNvSpPr txBox="1"/>
          <p:nvPr/>
        </p:nvSpPr>
        <p:spPr>
          <a:xfrm>
            <a:off x="6969284" y="5031768"/>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8A4B12"/>
                </a:solidFill>
                <a:latin typeface="Readex Pro"/>
                <a:ea typeface="Readex Pro"/>
                <a:cs typeface="Readex Pro"/>
              </a:rPr>
              <a:t>2</a:t>
            </a:r>
          </a:p>
        </p:txBody>
      </p:sp>
      <p:sp>
        <p:nvSpPr>
          <p:cNvPr id="26" name="Text 25"/>
          <p:cNvSpPr txBox="1"/>
          <p:nvPr/>
        </p:nvSpPr>
        <p:spPr>
          <a:xfrm>
            <a:off x="3935694" y="5021100"/>
            <a:ext cx="3024699"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ما الذي يقابله في إطار آخر؟</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8924230" y="1423690"/>
            <a:ext cx="245497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04</a:t>
            </a:r>
          </a:p>
        </p:txBody>
      </p:sp>
      <p:sp>
        <p:nvSpPr>
          <p:cNvPr id="4" name="Text 3"/>
          <p:cNvSpPr txBox="1"/>
          <p:nvPr/>
        </p:nvSpPr>
        <p:spPr>
          <a:xfrm>
            <a:off x="6431518" y="1845155"/>
            <a:ext cx="294991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الشهادات</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أي شهادة تناسب هدفك ومرحلتك؟ ماذا تعلّمك، وهل تشترط خبرة، ومتى تدرسها؟</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الشهادات الأهم في GRC والأمن والخصوصية، ولمن تناسب كل منها.</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شهادة التدريب، والنجاح في الاختبار، واللقب المهني.</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تختار مسارك حسب الوظيفة المستهدفة، وتعرف كيف تذاكر.</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04 · الشهادات</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الشهادات: ثلاث مراحل</a:t>
            </a:r>
          </a:p>
        </p:txBody>
      </p:sp>
      <p:sp>
        <p:nvSpPr>
          <p:cNvPr id="5" name="Box 4"/>
          <p:cNvSpPr/>
          <p:nvPr/>
        </p:nvSpPr>
        <p:spPr>
          <a:xfrm>
            <a:off x="7941766" y="1657945"/>
            <a:ext cx="3437434" cy="3706118"/>
          </a:xfrm>
          <a:prstGeom prst="roundRect">
            <a:avLst>
              <a:gd name="adj" fmla="val 3325"/>
            </a:avLst>
          </a:prstGeom>
          <a:solidFill>
            <a:srgbClr val="FFFDF8"/>
          </a:solidFill>
          <a:ln>
            <a:noFill/>
          </a:ln>
        </p:spPr>
        <p:txBody>
          <a:bodyPr rtlCol="0" anchor="ctr"/>
          <a:lstStyle/>
          <a:p>
            <a:pPr algn="ctr"/>
          </a:p>
        </p:txBody>
      </p:sp>
      <p:sp>
        <p:nvSpPr>
          <p:cNvPr id="6" name="Rule 5"/>
          <p:cNvSpPr/>
          <p:nvPr/>
        </p:nvSpPr>
        <p:spPr>
          <a:xfrm>
            <a:off x="7941766" y="1657945"/>
            <a:ext cx="3437434"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706118"/>
          </a:xfrm>
          <a:prstGeom prst="rect">
            <a:avLst/>
          </a:prstGeom>
          <a:solidFill>
            <a:srgbClr val="E1DBCD"/>
          </a:solidFill>
          <a:ln>
            <a:noFill/>
          </a:ln>
        </p:spPr>
        <p:txBody>
          <a:bodyPr rtlCol="0" anchor="ctr"/>
          <a:lstStyle/>
          <a:p>
            <a:pPr algn="ctr"/>
          </a:p>
        </p:txBody>
      </p:sp>
      <p:sp>
        <p:nvSpPr>
          <p:cNvPr id="8" name="Rule 7"/>
          <p:cNvSpPr/>
          <p:nvPr/>
        </p:nvSpPr>
        <p:spPr>
          <a:xfrm>
            <a:off x="7941766" y="5357713"/>
            <a:ext cx="3437434" cy="6350"/>
          </a:xfrm>
          <a:prstGeom prst="rect">
            <a:avLst/>
          </a:prstGeom>
          <a:solidFill>
            <a:srgbClr val="E1DBCD"/>
          </a:solidFill>
          <a:ln>
            <a:noFill/>
          </a:ln>
        </p:spPr>
        <p:txBody>
          <a:bodyPr rtlCol="0" anchor="ctr"/>
          <a:lstStyle/>
          <a:p>
            <a:pPr algn="ctr"/>
          </a:p>
        </p:txBody>
      </p:sp>
      <p:sp>
        <p:nvSpPr>
          <p:cNvPr id="9" name="Rule 8"/>
          <p:cNvSpPr/>
          <p:nvPr/>
        </p:nvSpPr>
        <p:spPr>
          <a:xfrm>
            <a:off x="7941766" y="1657945"/>
            <a:ext cx="6350" cy="3706118"/>
          </a:xfrm>
          <a:prstGeom prst="rect">
            <a:avLst/>
          </a:prstGeom>
          <a:solidFill>
            <a:srgbClr val="E1DBCD"/>
          </a:solidFill>
          <a:ln>
            <a:noFill/>
          </a:ln>
        </p:spPr>
        <p:txBody>
          <a:bodyPr rtlCol="0" anchor="ctr"/>
          <a:lstStyle/>
          <a:p>
            <a:pPr algn="ctr"/>
          </a:p>
        </p:txBody>
      </p:sp>
      <p:sp>
        <p:nvSpPr>
          <p:cNvPr id="10" name="Text 9"/>
          <p:cNvSpPr txBox="1"/>
          <p:nvPr/>
        </p:nvSpPr>
        <p:spPr>
          <a:xfrm>
            <a:off x="7967166" y="1847175"/>
            <a:ext cx="3240584"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0E7C6B"/>
                </a:solidFill>
                <a:latin typeface="Readex Pro"/>
                <a:ea typeface="Readex Pro"/>
                <a:cs typeface="Readex Pro"/>
              </a:rPr>
              <a:t>البداية</a:t>
            </a:r>
          </a:p>
        </p:txBody>
      </p:sp>
      <p:sp>
        <p:nvSpPr>
          <p:cNvPr id="11" name="Text 10"/>
          <p:cNvSpPr txBox="1"/>
          <p:nvPr/>
        </p:nvSpPr>
        <p:spPr>
          <a:xfrm>
            <a:off x="7967166" y="2333554"/>
            <a:ext cx="3240584"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بلا خبرة: تثبت الأساسيات.</a:t>
            </a:r>
          </a:p>
        </p:txBody>
      </p:sp>
      <p:sp>
        <p:nvSpPr>
          <p:cNvPr id="12" name="Box 11"/>
          <p:cNvSpPr/>
          <p:nvPr/>
        </p:nvSpPr>
        <p:spPr>
          <a:xfrm>
            <a:off x="8113216" y="2814538"/>
            <a:ext cx="3094534" cy="498475"/>
          </a:xfrm>
          <a:prstGeom prst="roundRect">
            <a:avLst>
              <a:gd name="adj" fmla="val 12738"/>
            </a:avLst>
          </a:prstGeom>
          <a:solidFill>
            <a:srgbClr val="E3F1ED"/>
          </a:solidFill>
          <a:ln>
            <a:noFill/>
          </a:ln>
        </p:spPr>
        <p:txBody>
          <a:bodyPr rtlCol="0" anchor="ctr"/>
          <a:lstStyle/>
          <a:p>
            <a:pPr algn="ctr"/>
          </a:p>
        </p:txBody>
      </p:sp>
      <p:sp>
        <p:nvSpPr>
          <p:cNvPr id="13" name="Text 12"/>
          <p:cNvSpPr txBox="1"/>
          <p:nvPr/>
        </p:nvSpPr>
        <p:spPr>
          <a:xfrm>
            <a:off x="10538619" y="2859465"/>
            <a:ext cx="567531"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CC</a:t>
            </a:r>
          </a:p>
        </p:txBody>
      </p:sp>
      <p:sp>
        <p:nvSpPr>
          <p:cNvPr id="14" name="Text 13"/>
          <p:cNvSpPr txBox="1"/>
          <p:nvPr/>
        </p:nvSpPr>
        <p:spPr>
          <a:xfrm>
            <a:off x="8138616" y="2862854"/>
            <a:ext cx="593626"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ISC2</a:t>
            </a:r>
          </a:p>
        </p:txBody>
      </p:sp>
      <p:sp>
        <p:nvSpPr>
          <p:cNvPr id="15" name="Box 14"/>
          <p:cNvSpPr/>
          <p:nvPr/>
        </p:nvSpPr>
        <p:spPr>
          <a:xfrm>
            <a:off x="8113216" y="3389213"/>
            <a:ext cx="3094534" cy="498475"/>
          </a:xfrm>
          <a:prstGeom prst="roundRect">
            <a:avLst>
              <a:gd name="adj" fmla="val 12738"/>
            </a:avLst>
          </a:prstGeom>
          <a:solidFill>
            <a:srgbClr val="E3F1ED"/>
          </a:solidFill>
          <a:ln>
            <a:noFill/>
          </a:ln>
        </p:spPr>
        <p:txBody>
          <a:bodyPr rtlCol="0" anchor="ctr"/>
          <a:lstStyle/>
          <a:p>
            <a:pPr algn="ctr"/>
          </a:p>
        </p:txBody>
      </p:sp>
      <p:sp>
        <p:nvSpPr>
          <p:cNvPr id="16" name="Text 15"/>
          <p:cNvSpPr txBox="1"/>
          <p:nvPr/>
        </p:nvSpPr>
        <p:spPr>
          <a:xfrm>
            <a:off x="9561909" y="3434140"/>
            <a:ext cx="1544241"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Security+</a:t>
            </a:r>
          </a:p>
        </p:txBody>
      </p:sp>
      <p:sp>
        <p:nvSpPr>
          <p:cNvPr id="17" name="Text 16"/>
          <p:cNvSpPr txBox="1"/>
          <p:nvPr/>
        </p:nvSpPr>
        <p:spPr>
          <a:xfrm>
            <a:off x="8138616" y="3437529"/>
            <a:ext cx="1055985"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CompTIA</a:t>
            </a:r>
          </a:p>
        </p:txBody>
      </p:sp>
      <p:sp>
        <p:nvSpPr>
          <p:cNvPr id="18" name="Box 17"/>
          <p:cNvSpPr/>
          <p:nvPr/>
        </p:nvSpPr>
        <p:spPr>
          <a:xfrm>
            <a:off x="8113216" y="3963888"/>
            <a:ext cx="3094534" cy="498475"/>
          </a:xfrm>
          <a:prstGeom prst="roundRect">
            <a:avLst>
              <a:gd name="adj" fmla="val 12738"/>
            </a:avLst>
          </a:prstGeom>
          <a:solidFill>
            <a:srgbClr val="E3F1ED"/>
          </a:solidFill>
          <a:ln>
            <a:noFill/>
          </a:ln>
        </p:spPr>
        <p:txBody>
          <a:bodyPr rtlCol="0" anchor="ctr"/>
          <a:lstStyle/>
          <a:p>
            <a:pPr algn="ctr"/>
          </a:p>
        </p:txBody>
      </p:sp>
      <p:sp>
        <p:nvSpPr>
          <p:cNvPr id="19" name="Text 18"/>
          <p:cNvSpPr txBox="1"/>
          <p:nvPr/>
        </p:nvSpPr>
        <p:spPr>
          <a:xfrm>
            <a:off x="8995271" y="4008815"/>
            <a:ext cx="2110879"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IT Risk Fund.</a:t>
            </a:r>
          </a:p>
        </p:txBody>
      </p:sp>
      <p:sp>
        <p:nvSpPr>
          <p:cNvPr id="20" name="Text 19"/>
          <p:cNvSpPr txBox="1"/>
          <p:nvPr/>
        </p:nvSpPr>
        <p:spPr>
          <a:xfrm>
            <a:off x="8138616" y="4012204"/>
            <a:ext cx="75029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ISACA</a:t>
            </a:r>
          </a:p>
        </p:txBody>
      </p:sp>
      <p:sp>
        <p:nvSpPr>
          <p:cNvPr id="21" name="Box 20"/>
          <p:cNvSpPr/>
          <p:nvPr/>
        </p:nvSpPr>
        <p:spPr>
          <a:xfrm>
            <a:off x="4377333" y="1657945"/>
            <a:ext cx="3437434" cy="3706118"/>
          </a:xfrm>
          <a:prstGeom prst="roundRect">
            <a:avLst>
              <a:gd name="adj" fmla="val 3325"/>
            </a:avLst>
          </a:prstGeom>
          <a:solidFill>
            <a:srgbClr val="FFFDF8"/>
          </a:solidFill>
          <a:ln>
            <a:noFill/>
          </a:ln>
        </p:spPr>
        <p:txBody>
          <a:bodyPr rtlCol="0" anchor="ctr"/>
          <a:lstStyle/>
          <a:p>
            <a:pPr algn="ctr"/>
          </a:p>
        </p:txBody>
      </p:sp>
      <p:sp>
        <p:nvSpPr>
          <p:cNvPr id="22" name="Rule 21"/>
          <p:cNvSpPr/>
          <p:nvPr/>
        </p:nvSpPr>
        <p:spPr>
          <a:xfrm>
            <a:off x="4377333" y="1657945"/>
            <a:ext cx="3437434" cy="50800"/>
          </a:xfrm>
          <a:prstGeom prst="rect">
            <a:avLst/>
          </a:prstGeom>
          <a:solidFill>
            <a:srgbClr val="24506B"/>
          </a:solidFill>
          <a:ln>
            <a:noFill/>
          </a:ln>
        </p:spPr>
        <p:txBody>
          <a:bodyPr rtlCol="0" anchor="ctr"/>
          <a:lstStyle/>
          <a:p>
            <a:pPr algn="ctr"/>
          </a:p>
        </p:txBody>
      </p:sp>
      <p:sp>
        <p:nvSpPr>
          <p:cNvPr id="23" name="Rule 22"/>
          <p:cNvSpPr/>
          <p:nvPr/>
        </p:nvSpPr>
        <p:spPr>
          <a:xfrm>
            <a:off x="7808416" y="1657945"/>
            <a:ext cx="6350" cy="3706118"/>
          </a:xfrm>
          <a:prstGeom prst="rect">
            <a:avLst/>
          </a:prstGeom>
          <a:solidFill>
            <a:srgbClr val="E1DBCD"/>
          </a:solidFill>
          <a:ln>
            <a:noFill/>
          </a:ln>
        </p:spPr>
        <p:txBody>
          <a:bodyPr rtlCol="0" anchor="ctr"/>
          <a:lstStyle/>
          <a:p>
            <a:pPr algn="ctr"/>
          </a:p>
        </p:txBody>
      </p:sp>
      <p:sp>
        <p:nvSpPr>
          <p:cNvPr id="24" name="Rule 23"/>
          <p:cNvSpPr/>
          <p:nvPr/>
        </p:nvSpPr>
        <p:spPr>
          <a:xfrm>
            <a:off x="4377333" y="5357713"/>
            <a:ext cx="3437434" cy="6350"/>
          </a:xfrm>
          <a:prstGeom prst="rect">
            <a:avLst/>
          </a:prstGeom>
          <a:solidFill>
            <a:srgbClr val="E1DBCD"/>
          </a:solidFill>
          <a:ln>
            <a:noFill/>
          </a:ln>
        </p:spPr>
        <p:txBody>
          <a:bodyPr rtlCol="0" anchor="ctr"/>
          <a:lstStyle/>
          <a:p>
            <a:pPr algn="ctr"/>
          </a:p>
        </p:txBody>
      </p:sp>
      <p:sp>
        <p:nvSpPr>
          <p:cNvPr id="25" name="Rule 24"/>
          <p:cNvSpPr/>
          <p:nvPr/>
        </p:nvSpPr>
        <p:spPr>
          <a:xfrm>
            <a:off x="4377333" y="1657945"/>
            <a:ext cx="6350" cy="3706118"/>
          </a:xfrm>
          <a:prstGeom prst="rect">
            <a:avLst/>
          </a:prstGeom>
          <a:solidFill>
            <a:srgbClr val="E1DBCD"/>
          </a:solidFill>
          <a:ln>
            <a:noFill/>
          </a:ln>
        </p:spPr>
        <p:txBody>
          <a:bodyPr rtlCol="0" anchor="ctr"/>
          <a:lstStyle/>
          <a:p>
            <a:pPr algn="ctr"/>
          </a:p>
        </p:txBody>
      </p:sp>
      <p:sp>
        <p:nvSpPr>
          <p:cNvPr id="26" name="Text 25"/>
          <p:cNvSpPr txBox="1"/>
          <p:nvPr/>
        </p:nvSpPr>
        <p:spPr>
          <a:xfrm>
            <a:off x="4402733" y="1847175"/>
            <a:ext cx="3240584"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24506B"/>
                </a:solidFill>
                <a:latin typeface="Readex Pro"/>
                <a:ea typeface="Readex Pro"/>
                <a:cs typeface="Readex Pro"/>
              </a:rPr>
              <a:t>التخصص</a:t>
            </a:r>
          </a:p>
        </p:txBody>
      </p:sp>
      <p:sp>
        <p:nvSpPr>
          <p:cNvPr id="27" name="Text 26"/>
          <p:cNvSpPr txBox="1"/>
          <p:nvPr/>
        </p:nvSpPr>
        <p:spPr>
          <a:xfrm>
            <a:off x="4402733" y="2333554"/>
            <a:ext cx="3240584"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مهارة محددة في GRC أو معيار.</a:t>
            </a:r>
          </a:p>
        </p:txBody>
      </p:sp>
      <p:sp>
        <p:nvSpPr>
          <p:cNvPr id="28" name="Box 27"/>
          <p:cNvSpPr/>
          <p:nvPr/>
        </p:nvSpPr>
        <p:spPr>
          <a:xfrm>
            <a:off x="4548783" y="2814538"/>
            <a:ext cx="3094534" cy="869950"/>
          </a:xfrm>
          <a:prstGeom prst="roundRect">
            <a:avLst>
              <a:gd name="adj" fmla="val 7299"/>
            </a:avLst>
          </a:prstGeom>
          <a:solidFill>
            <a:srgbClr val="E6EDF4"/>
          </a:solidFill>
          <a:ln>
            <a:noFill/>
          </a:ln>
        </p:spPr>
        <p:txBody>
          <a:bodyPr rtlCol="0" anchor="ctr"/>
          <a:lstStyle/>
          <a:p>
            <a:pPr algn="ctr"/>
          </a:p>
        </p:txBody>
      </p:sp>
      <p:sp>
        <p:nvSpPr>
          <p:cNvPr id="29" name="Text 28"/>
          <p:cNvSpPr txBox="1"/>
          <p:nvPr/>
        </p:nvSpPr>
        <p:spPr>
          <a:xfrm>
            <a:off x="5497413" y="2859465"/>
            <a:ext cx="2044303" cy="742950"/>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ISO 27001 LI/LA</a:t>
            </a:r>
          </a:p>
        </p:txBody>
      </p:sp>
      <p:sp>
        <p:nvSpPr>
          <p:cNvPr id="30" name="Text 29"/>
          <p:cNvSpPr txBox="1"/>
          <p:nvPr/>
        </p:nvSpPr>
        <p:spPr>
          <a:xfrm>
            <a:off x="4591645" y="2884186"/>
            <a:ext cx="913705"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جهات مانحة</a:t>
            </a:r>
          </a:p>
        </p:txBody>
      </p:sp>
      <p:sp>
        <p:nvSpPr>
          <p:cNvPr id="31" name="Box 30"/>
          <p:cNvSpPr/>
          <p:nvPr/>
        </p:nvSpPr>
        <p:spPr>
          <a:xfrm>
            <a:off x="4548783" y="3760688"/>
            <a:ext cx="3094534" cy="498475"/>
          </a:xfrm>
          <a:prstGeom prst="roundRect">
            <a:avLst>
              <a:gd name="adj" fmla="val 12738"/>
            </a:avLst>
          </a:prstGeom>
          <a:solidFill>
            <a:srgbClr val="E6EDF4"/>
          </a:solidFill>
          <a:ln>
            <a:noFill/>
          </a:ln>
        </p:spPr>
        <p:txBody>
          <a:bodyPr rtlCol="0" anchor="ctr"/>
          <a:lstStyle/>
          <a:p>
            <a:pPr algn="ctr"/>
          </a:p>
        </p:txBody>
      </p:sp>
      <p:sp>
        <p:nvSpPr>
          <p:cNvPr id="32" name="Text 31"/>
          <p:cNvSpPr txBox="1"/>
          <p:nvPr/>
        </p:nvSpPr>
        <p:spPr>
          <a:xfrm>
            <a:off x="6561534" y="3805615"/>
            <a:ext cx="980182"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GRCP</a:t>
            </a:r>
          </a:p>
        </p:txBody>
      </p:sp>
      <p:sp>
        <p:nvSpPr>
          <p:cNvPr id="33" name="Text 32"/>
          <p:cNvSpPr txBox="1"/>
          <p:nvPr/>
        </p:nvSpPr>
        <p:spPr>
          <a:xfrm>
            <a:off x="4574183" y="3809004"/>
            <a:ext cx="688777"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OCEG</a:t>
            </a:r>
          </a:p>
        </p:txBody>
      </p:sp>
      <p:sp>
        <p:nvSpPr>
          <p:cNvPr id="34" name="Box 33"/>
          <p:cNvSpPr/>
          <p:nvPr/>
        </p:nvSpPr>
        <p:spPr>
          <a:xfrm>
            <a:off x="4548783" y="4335363"/>
            <a:ext cx="3094534" cy="498475"/>
          </a:xfrm>
          <a:prstGeom prst="roundRect">
            <a:avLst>
              <a:gd name="adj" fmla="val 12738"/>
            </a:avLst>
          </a:prstGeom>
          <a:solidFill>
            <a:srgbClr val="E6EDF4"/>
          </a:solidFill>
          <a:ln>
            <a:noFill/>
          </a:ln>
        </p:spPr>
        <p:txBody>
          <a:bodyPr rtlCol="0" anchor="ctr"/>
          <a:lstStyle/>
          <a:p>
            <a:pPr algn="ctr"/>
          </a:p>
        </p:txBody>
      </p:sp>
      <p:sp>
        <p:nvSpPr>
          <p:cNvPr id="35" name="Text 34"/>
          <p:cNvSpPr txBox="1"/>
          <p:nvPr/>
        </p:nvSpPr>
        <p:spPr>
          <a:xfrm>
            <a:off x="5252244" y="4380290"/>
            <a:ext cx="2289473"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CIPP/E · CIPM</a:t>
            </a:r>
          </a:p>
        </p:txBody>
      </p:sp>
      <p:sp>
        <p:nvSpPr>
          <p:cNvPr id="36" name="Text 35"/>
          <p:cNvSpPr txBox="1"/>
          <p:nvPr/>
        </p:nvSpPr>
        <p:spPr>
          <a:xfrm>
            <a:off x="4574183" y="4383679"/>
            <a:ext cx="605631"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IAPP</a:t>
            </a:r>
          </a:p>
        </p:txBody>
      </p:sp>
      <p:sp>
        <p:nvSpPr>
          <p:cNvPr id="37" name="Box 36"/>
          <p:cNvSpPr/>
          <p:nvPr/>
        </p:nvSpPr>
        <p:spPr>
          <a:xfrm>
            <a:off x="812899" y="1657945"/>
            <a:ext cx="3437434" cy="3706118"/>
          </a:xfrm>
          <a:prstGeom prst="roundRect">
            <a:avLst>
              <a:gd name="adj" fmla="val 3325"/>
            </a:avLst>
          </a:prstGeom>
          <a:solidFill>
            <a:srgbClr val="FFFDF8"/>
          </a:solidFill>
          <a:ln>
            <a:noFill/>
          </a:ln>
        </p:spPr>
        <p:txBody>
          <a:bodyPr rtlCol="0" anchor="ctr"/>
          <a:lstStyle/>
          <a:p>
            <a:pPr algn="ctr"/>
          </a:p>
        </p:txBody>
      </p:sp>
      <p:sp>
        <p:nvSpPr>
          <p:cNvPr id="38" name="Rule 37"/>
          <p:cNvSpPr/>
          <p:nvPr/>
        </p:nvSpPr>
        <p:spPr>
          <a:xfrm>
            <a:off x="812899" y="1657945"/>
            <a:ext cx="3437434" cy="50800"/>
          </a:xfrm>
          <a:prstGeom prst="rect">
            <a:avLst/>
          </a:prstGeom>
          <a:solidFill>
            <a:srgbClr val="8A4B12"/>
          </a:solidFill>
          <a:ln>
            <a:noFill/>
          </a:ln>
        </p:spPr>
        <p:txBody>
          <a:bodyPr rtlCol="0" anchor="ctr"/>
          <a:lstStyle/>
          <a:p>
            <a:pPr algn="ctr"/>
          </a:p>
        </p:txBody>
      </p:sp>
      <p:sp>
        <p:nvSpPr>
          <p:cNvPr id="39" name="Rule 38"/>
          <p:cNvSpPr/>
          <p:nvPr/>
        </p:nvSpPr>
        <p:spPr>
          <a:xfrm>
            <a:off x="4243983" y="1657945"/>
            <a:ext cx="6350" cy="3706118"/>
          </a:xfrm>
          <a:prstGeom prst="rect">
            <a:avLst/>
          </a:prstGeom>
          <a:solidFill>
            <a:srgbClr val="E1DBCD"/>
          </a:solidFill>
          <a:ln>
            <a:noFill/>
          </a:ln>
        </p:spPr>
        <p:txBody>
          <a:bodyPr rtlCol="0" anchor="ctr"/>
          <a:lstStyle/>
          <a:p>
            <a:pPr algn="ctr"/>
          </a:p>
        </p:txBody>
      </p:sp>
      <p:sp>
        <p:nvSpPr>
          <p:cNvPr id="40" name="Rule 39"/>
          <p:cNvSpPr/>
          <p:nvPr/>
        </p:nvSpPr>
        <p:spPr>
          <a:xfrm>
            <a:off x="812899" y="5357713"/>
            <a:ext cx="3437434" cy="6350"/>
          </a:xfrm>
          <a:prstGeom prst="rect">
            <a:avLst/>
          </a:prstGeom>
          <a:solidFill>
            <a:srgbClr val="E1DBCD"/>
          </a:solidFill>
          <a:ln>
            <a:noFill/>
          </a:ln>
        </p:spPr>
        <p:txBody>
          <a:bodyPr rtlCol="0" anchor="ctr"/>
          <a:lstStyle/>
          <a:p>
            <a:pPr algn="ctr"/>
          </a:p>
        </p:txBody>
      </p:sp>
      <p:sp>
        <p:nvSpPr>
          <p:cNvPr id="41" name="Rule 40"/>
          <p:cNvSpPr/>
          <p:nvPr/>
        </p:nvSpPr>
        <p:spPr>
          <a:xfrm>
            <a:off x="812899" y="1657945"/>
            <a:ext cx="6350" cy="3706118"/>
          </a:xfrm>
          <a:prstGeom prst="rect">
            <a:avLst/>
          </a:prstGeom>
          <a:solidFill>
            <a:srgbClr val="E1DBCD"/>
          </a:solidFill>
          <a:ln>
            <a:noFill/>
          </a:ln>
        </p:spPr>
        <p:txBody>
          <a:bodyPr rtlCol="0" anchor="ctr"/>
          <a:lstStyle/>
          <a:p>
            <a:pPr algn="ctr"/>
          </a:p>
        </p:txBody>
      </p:sp>
      <p:sp>
        <p:nvSpPr>
          <p:cNvPr id="42" name="Text 41"/>
          <p:cNvSpPr txBox="1"/>
          <p:nvPr/>
        </p:nvSpPr>
        <p:spPr>
          <a:xfrm>
            <a:off x="838299" y="1847175"/>
            <a:ext cx="3240584" cy="436562"/>
          </a:xfrm>
          <a:prstGeom prst="rect">
            <a:avLst/>
          </a:prstGeom>
          <a:noFill/>
        </p:spPr>
        <p:txBody>
          <a:bodyPr wrap="square" tIns="0" rIns="0" bIns="0" lIns="0" anchor="t" rtlCol="0" anchorCtr="0">
            <a:noAutofit/>
          </a:bodyPr>
          <a:lstStyle/>
          <a:p>
            <a:pPr algn="r" rtl="1">
              <a:lnSpc>
                <a:spcPts val="3438"/>
              </a:lnSpc>
              <a:spcBef>
                <a:spcPts val="0"/>
              </a:spcBef>
              <a:spcAft>
                <a:spcPts val="0"/>
              </a:spcAft>
            </a:pPr>
            <a:r>
              <a:rPr sz="2750" b="1" i="0">
                <a:solidFill>
                  <a:srgbClr val="8A4B12"/>
                </a:solidFill>
                <a:latin typeface="Readex Pro"/>
                <a:ea typeface="Readex Pro"/>
                <a:cs typeface="Readex Pro"/>
              </a:rPr>
              <a:t>بعد اكتمال الخبرة</a:t>
            </a:r>
          </a:p>
        </p:txBody>
      </p:sp>
      <p:sp>
        <p:nvSpPr>
          <p:cNvPr id="43" name="Text 42"/>
          <p:cNvSpPr txBox="1"/>
          <p:nvPr/>
        </p:nvSpPr>
        <p:spPr>
          <a:xfrm>
            <a:off x="838299" y="2333554"/>
            <a:ext cx="3240584"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تُمنح بعد سنوات خبرة موثقة.</a:t>
            </a:r>
          </a:p>
        </p:txBody>
      </p:sp>
      <p:sp>
        <p:nvSpPr>
          <p:cNvPr id="44" name="Box 43"/>
          <p:cNvSpPr/>
          <p:nvPr/>
        </p:nvSpPr>
        <p:spPr>
          <a:xfrm>
            <a:off x="984349" y="2814538"/>
            <a:ext cx="3094534" cy="869950"/>
          </a:xfrm>
          <a:prstGeom prst="roundRect">
            <a:avLst>
              <a:gd name="adj" fmla="val 7299"/>
            </a:avLst>
          </a:prstGeom>
          <a:solidFill>
            <a:srgbClr val="F6ECDA"/>
          </a:solidFill>
          <a:ln>
            <a:noFill/>
          </a:ln>
        </p:spPr>
        <p:txBody>
          <a:bodyPr rtlCol="0" anchor="ctr"/>
          <a:lstStyle/>
          <a:p>
            <a:pPr algn="ctr"/>
          </a:p>
        </p:txBody>
      </p:sp>
      <p:sp>
        <p:nvSpPr>
          <p:cNvPr id="45" name="Text 44"/>
          <p:cNvSpPr txBox="1"/>
          <p:nvPr/>
        </p:nvSpPr>
        <p:spPr>
          <a:xfrm>
            <a:off x="1752104" y="2859465"/>
            <a:ext cx="2225179" cy="742950"/>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CRISC · CISA · CISM</a:t>
            </a:r>
          </a:p>
        </p:txBody>
      </p:sp>
      <p:sp>
        <p:nvSpPr>
          <p:cNvPr id="46" name="Text 45"/>
          <p:cNvSpPr txBox="1"/>
          <p:nvPr/>
        </p:nvSpPr>
        <p:spPr>
          <a:xfrm>
            <a:off x="1009749" y="3048591"/>
            <a:ext cx="75029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ISACA</a:t>
            </a:r>
          </a:p>
        </p:txBody>
      </p:sp>
      <p:sp>
        <p:nvSpPr>
          <p:cNvPr id="47" name="Box 46"/>
          <p:cNvSpPr/>
          <p:nvPr/>
        </p:nvSpPr>
        <p:spPr>
          <a:xfrm>
            <a:off x="984349" y="3760688"/>
            <a:ext cx="3094534" cy="498475"/>
          </a:xfrm>
          <a:prstGeom prst="roundRect">
            <a:avLst>
              <a:gd name="adj" fmla="val 12738"/>
            </a:avLst>
          </a:prstGeom>
          <a:solidFill>
            <a:srgbClr val="F6ECDA"/>
          </a:solidFill>
          <a:ln>
            <a:noFill/>
          </a:ln>
        </p:spPr>
        <p:txBody>
          <a:bodyPr rtlCol="0" anchor="ctr"/>
          <a:lstStyle/>
          <a:p>
            <a:pPr algn="ctr"/>
          </a:p>
        </p:txBody>
      </p:sp>
      <p:sp>
        <p:nvSpPr>
          <p:cNvPr id="48" name="Text 47"/>
          <p:cNvSpPr txBox="1"/>
          <p:nvPr/>
        </p:nvSpPr>
        <p:spPr>
          <a:xfrm>
            <a:off x="1824137" y="3805615"/>
            <a:ext cx="2153146" cy="371475"/>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CGRC · CISSP</a:t>
            </a:r>
          </a:p>
        </p:txBody>
      </p:sp>
      <p:sp>
        <p:nvSpPr>
          <p:cNvPr id="49" name="Text 48"/>
          <p:cNvSpPr txBox="1"/>
          <p:nvPr/>
        </p:nvSpPr>
        <p:spPr>
          <a:xfrm>
            <a:off x="1009749" y="3809004"/>
            <a:ext cx="593626"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ISC2</a:t>
            </a:r>
          </a:p>
        </p:txBody>
      </p:sp>
      <p:sp>
        <p:nvSpPr>
          <p:cNvPr id="50" name="Box 49"/>
          <p:cNvSpPr/>
          <p:nvPr/>
        </p:nvSpPr>
        <p:spPr>
          <a:xfrm>
            <a:off x="984349" y="4335363"/>
            <a:ext cx="3094534" cy="869950"/>
          </a:xfrm>
          <a:prstGeom prst="roundRect">
            <a:avLst>
              <a:gd name="adj" fmla="val 7299"/>
            </a:avLst>
          </a:prstGeom>
          <a:solidFill>
            <a:srgbClr val="F6ECDA"/>
          </a:solidFill>
          <a:ln>
            <a:noFill/>
          </a:ln>
        </p:spPr>
        <p:txBody>
          <a:bodyPr rtlCol="0" anchor="ctr"/>
          <a:lstStyle/>
          <a:p>
            <a:pPr algn="ctr"/>
          </a:p>
        </p:txBody>
      </p:sp>
      <p:sp>
        <p:nvSpPr>
          <p:cNvPr id="51" name="Text 50"/>
          <p:cNvSpPr txBox="1"/>
          <p:nvPr/>
        </p:nvSpPr>
        <p:spPr>
          <a:xfrm>
            <a:off x="1752104" y="4380290"/>
            <a:ext cx="2225179" cy="742950"/>
          </a:xfrm>
          <a:prstGeom prst="rect">
            <a:avLst/>
          </a:prstGeom>
          <a:noFill/>
        </p:spPr>
        <p:txBody>
          <a:bodyPr wrap="square" tIns="0" rIns="0" bIns="0" lIns="0" anchor="t" rtlCol="0" anchorCtr="0">
            <a:noAutofit/>
          </a:bodyPr>
          <a:lstStyle/>
          <a:p>
            <a:pPr algn="r">
              <a:lnSpc>
                <a:spcPts val="2925"/>
              </a:lnSpc>
              <a:spcBef>
                <a:spcPts val="0"/>
              </a:spcBef>
              <a:spcAft>
                <a:spcPts val="0"/>
              </a:spcAft>
            </a:pPr>
            <a:r>
              <a:rPr sz="2250" b="1" i="0">
                <a:solidFill>
                  <a:srgbClr val="172433"/>
                </a:solidFill>
                <a:latin typeface="Readex Pro"/>
                <a:ea typeface="Readex Pro"/>
                <a:cs typeface="Readex Pro"/>
              </a:rPr>
              <a:t>CGEIT · CDPSE</a:t>
            </a:r>
          </a:p>
        </p:txBody>
      </p:sp>
      <p:sp>
        <p:nvSpPr>
          <p:cNvPr id="52" name="Text 51"/>
          <p:cNvSpPr txBox="1"/>
          <p:nvPr/>
        </p:nvSpPr>
        <p:spPr>
          <a:xfrm>
            <a:off x="1009749" y="4569416"/>
            <a:ext cx="75029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0" i="0">
                <a:solidFill>
                  <a:srgbClr val="4E5A66"/>
                </a:solidFill>
                <a:latin typeface="IBM Plex Sans Arabic"/>
                <a:ea typeface="IBM Plex Sans Arabic"/>
                <a:cs typeface="IBM Plex Sans Arabic"/>
              </a:rPr>
              <a:t>ISACA</a:t>
            </a:r>
          </a:p>
        </p:txBody>
      </p:sp>
      <p:sp>
        <p:nvSpPr>
          <p:cNvPr id="53" name="Text 5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54" name="Text 5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103</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البداية: CC وSecurity+</a:t>
            </a:r>
          </a:p>
        </p:txBody>
      </p:sp>
      <p:sp>
        <p:nvSpPr>
          <p:cNvPr id="5" name="Box 4"/>
          <p:cNvSpPr/>
          <p:nvPr/>
        </p:nvSpPr>
        <p:spPr>
          <a:xfrm>
            <a:off x="6159500" y="1657945"/>
            <a:ext cx="5219700" cy="3285927"/>
          </a:xfrm>
          <a:prstGeom prst="roundRect">
            <a:avLst>
              <a:gd name="adj" fmla="val 3478"/>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24506B"/>
          </a:solidFill>
          <a:ln>
            <a:noFill/>
          </a:ln>
        </p:spPr>
        <p:txBody>
          <a:bodyPr rtlCol="0" anchor="ctr"/>
          <a:lstStyle/>
          <a:p>
            <a:pPr algn="ctr"/>
          </a:p>
        </p:txBody>
      </p:sp>
      <p:sp>
        <p:nvSpPr>
          <p:cNvPr id="7" name="Rule 6"/>
          <p:cNvSpPr/>
          <p:nvPr/>
        </p:nvSpPr>
        <p:spPr>
          <a:xfrm>
            <a:off x="11372850" y="1657945"/>
            <a:ext cx="6350" cy="3285927"/>
          </a:xfrm>
          <a:prstGeom prst="rect">
            <a:avLst/>
          </a:prstGeom>
          <a:solidFill>
            <a:srgbClr val="E1DBCD"/>
          </a:solidFill>
          <a:ln>
            <a:noFill/>
          </a:ln>
        </p:spPr>
        <p:txBody>
          <a:bodyPr rtlCol="0" anchor="ctr"/>
          <a:lstStyle/>
          <a:p>
            <a:pPr algn="ctr"/>
          </a:p>
        </p:txBody>
      </p:sp>
      <p:sp>
        <p:nvSpPr>
          <p:cNvPr id="8" name="Rule 7"/>
          <p:cNvSpPr/>
          <p:nvPr/>
        </p:nvSpPr>
        <p:spPr>
          <a:xfrm>
            <a:off x="6159500" y="4937522"/>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285927"/>
          </a:xfrm>
          <a:prstGeom prst="rect">
            <a:avLst/>
          </a:prstGeom>
          <a:solidFill>
            <a:srgbClr val="E1DBCD"/>
          </a:solidFill>
          <a:ln>
            <a:noFill/>
          </a:ln>
        </p:spPr>
        <p:txBody>
          <a:bodyPr rtlCol="0" anchor="ctr"/>
          <a:lstStyle/>
          <a:p>
            <a:pPr algn="ctr"/>
          </a:p>
        </p:txBody>
      </p:sp>
      <p:sp>
        <p:nvSpPr>
          <p:cNvPr id="10" name="Text 9"/>
          <p:cNvSpPr txBox="1"/>
          <p:nvPr/>
        </p:nvSpPr>
        <p:spPr>
          <a:xfrm>
            <a:off x="10577056" y="1864257"/>
            <a:ext cx="617994" cy="357783"/>
          </a:xfrm>
          <a:prstGeom prst="rect">
            <a:avLst/>
          </a:prstGeom>
          <a:noFill/>
        </p:spPr>
        <p:txBody>
          <a:bodyPr wrap="square" tIns="0" rIns="0" bIns="0" lIns="0" anchor="t" rtlCol="0" anchorCtr="0">
            <a:noAutofit/>
          </a:bodyPr>
          <a:lstStyle/>
          <a:p>
            <a:pPr algn="r">
              <a:lnSpc>
                <a:spcPts val="2818"/>
              </a:lnSpc>
              <a:spcBef>
                <a:spcPts val="0"/>
              </a:spcBef>
              <a:spcAft>
                <a:spcPts val="0"/>
              </a:spcAft>
            </a:pPr>
            <a:r>
              <a:rPr sz="2450" b="1" i="0">
                <a:solidFill>
                  <a:srgbClr val="24506B"/>
                </a:solidFill>
                <a:latin typeface="Readex Pro"/>
                <a:ea typeface="Readex Pro"/>
                <a:cs typeface="Readex Pro"/>
              </a:rPr>
              <a:t>CC</a:t>
            </a:r>
          </a:p>
        </p:txBody>
      </p:sp>
      <p:sp>
        <p:nvSpPr>
          <p:cNvPr id="11" name="Text 10"/>
          <p:cNvSpPr txBox="1"/>
          <p:nvPr/>
        </p:nvSpPr>
        <p:spPr>
          <a:xfrm>
            <a:off x="10108664" y="1871710"/>
            <a:ext cx="566182" cy="275530"/>
          </a:xfrm>
          <a:prstGeom prst="rect">
            <a:avLst/>
          </a:prstGeom>
          <a:noFill/>
        </p:spPr>
        <p:txBody>
          <a:bodyPr wrap="square" tIns="0" rIns="0" bIns="0" lIns="0" anchor="t" rtlCol="0" anchorCtr="0">
            <a:noAutofit/>
          </a:bodyPr>
          <a:lstStyle/>
          <a:p>
            <a:pPr algn="r">
              <a:lnSpc>
                <a:spcPts val="2170"/>
              </a:lnSpc>
              <a:spcBef>
                <a:spcPts val="0"/>
              </a:spcBef>
              <a:spcAft>
                <a:spcPts val="0"/>
              </a:spcAft>
            </a:pPr>
            <a:r>
              <a:rPr sz="1550" b="1" i="0">
                <a:solidFill>
                  <a:srgbClr val="4E5A66"/>
                </a:solidFill>
                <a:latin typeface="IBM Plex Sans Arabic"/>
                <a:ea typeface="IBM Plex Sans Arabic"/>
                <a:cs typeface="IBM Plex Sans Arabic"/>
              </a:rPr>
              <a:t>ISC2</a:t>
            </a:r>
          </a:p>
        </p:txBody>
      </p:sp>
      <p:sp>
        <p:nvSpPr>
          <p:cNvPr id="12" name="Text 11"/>
          <p:cNvSpPr txBox="1"/>
          <p:nvPr/>
        </p:nvSpPr>
        <p:spPr>
          <a:xfrm>
            <a:off x="6184900" y="2219246"/>
            <a:ext cx="5010150" cy="247650"/>
          </a:xfrm>
          <a:prstGeom prst="rect">
            <a:avLst/>
          </a:prstGeom>
          <a:noFill/>
        </p:spPr>
        <p:txBody>
          <a:bodyPr wrap="square" tIns="0" rIns="0" bIns="0" lIns="0" anchor="t" rtlCol="0" anchorCtr="0">
            <a:noAutofit/>
          </a:bodyPr>
          <a:lstStyle/>
          <a:p>
            <a:pPr algn="r">
              <a:lnSpc>
                <a:spcPts val="1950"/>
              </a:lnSpc>
              <a:spcBef>
                <a:spcPts val="0"/>
              </a:spcBef>
              <a:spcAft>
                <a:spcPts val="0"/>
              </a:spcAft>
            </a:pPr>
            <a:r>
              <a:rPr sz="1500" b="0" i="0">
                <a:solidFill>
                  <a:srgbClr val="5E6A75"/>
                </a:solidFill>
                <a:latin typeface="Readex Pro"/>
                <a:ea typeface="Readex Pro"/>
                <a:cs typeface="Readex Pro"/>
              </a:rPr>
              <a:t>Certified in Cybersecurity</a:t>
            </a:r>
          </a:p>
        </p:txBody>
      </p:sp>
      <p:sp>
        <p:nvSpPr>
          <p:cNvPr id="13" name="Text 12"/>
          <p:cNvSpPr txBox="1"/>
          <p:nvPr/>
        </p:nvSpPr>
        <p:spPr>
          <a:xfrm>
            <a:off x="9748520" y="2530777"/>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لمن؟</a:t>
            </a:r>
          </a:p>
        </p:txBody>
      </p:sp>
      <p:sp>
        <p:nvSpPr>
          <p:cNvPr id="14" name="Text 13"/>
          <p:cNvSpPr txBox="1"/>
          <p:nvPr/>
        </p:nvSpPr>
        <p:spPr>
          <a:xfrm>
            <a:off x="6184900" y="2530777"/>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خريج أو متحول بلا خبرة.</a:t>
            </a:r>
          </a:p>
        </p:txBody>
      </p:sp>
      <p:sp>
        <p:nvSpPr>
          <p:cNvPr id="15" name="Text 14"/>
          <p:cNvSpPr txBox="1"/>
          <p:nvPr/>
        </p:nvSpPr>
        <p:spPr>
          <a:xfrm>
            <a:off x="9748520" y="2932017"/>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ماذا تعلّم؟</a:t>
            </a:r>
          </a:p>
        </p:txBody>
      </p:sp>
      <p:sp>
        <p:nvSpPr>
          <p:cNvPr id="16" name="Text 15"/>
          <p:cNvSpPr txBox="1"/>
          <p:nvPr/>
        </p:nvSpPr>
        <p:spPr>
          <a:xfrm>
            <a:off x="6240590" y="2932017"/>
            <a:ext cx="3538410" cy="1013222"/>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مبادئ الأمن، والحوكمة الأمنية، والهويات، والشبكات والسحابة، والعمليات.</a:t>
            </a:r>
          </a:p>
        </p:txBody>
      </p:sp>
      <p:sp>
        <p:nvSpPr>
          <p:cNvPr id="17" name="Text 16"/>
          <p:cNvSpPr txBox="1"/>
          <p:nvPr/>
        </p:nvSpPr>
        <p:spPr>
          <a:xfrm>
            <a:off x="9748520" y="4008739"/>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الخبرة</a:t>
            </a:r>
          </a:p>
        </p:txBody>
      </p:sp>
      <p:sp>
        <p:nvSpPr>
          <p:cNvPr id="18" name="Text 17"/>
          <p:cNvSpPr txBox="1"/>
          <p:nvPr/>
        </p:nvSpPr>
        <p:spPr>
          <a:xfrm>
            <a:off x="6184900" y="4008739"/>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لا تشترط خبرة.</a:t>
            </a:r>
          </a:p>
        </p:txBody>
      </p:sp>
      <p:sp>
        <p:nvSpPr>
          <p:cNvPr id="19" name="Text 18"/>
          <p:cNvSpPr txBox="1"/>
          <p:nvPr/>
        </p:nvSpPr>
        <p:spPr>
          <a:xfrm>
            <a:off x="9748520" y="4409980"/>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24506B"/>
                </a:solidFill>
                <a:latin typeface="IBM Plex Sans Arabic"/>
                <a:ea typeface="IBM Plex Sans Arabic"/>
                <a:cs typeface="IBM Plex Sans Arabic"/>
              </a:rPr>
              <a:t>متى؟</a:t>
            </a:r>
          </a:p>
        </p:txBody>
      </p:sp>
      <p:sp>
        <p:nvSpPr>
          <p:cNvPr id="20" name="Text 19"/>
          <p:cNvSpPr txBox="1"/>
          <p:nvPr/>
        </p:nvSpPr>
        <p:spPr>
          <a:xfrm>
            <a:off x="6184900" y="4409980"/>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الآن: أول شهادة.</a:t>
            </a:r>
          </a:p>
        </p:txBody>
      </p:sp>
      <p:sp>
        <p:nvSpPr>
          <p:cNvPr id="21" name="Box 20"/>
          <p:cNvSpPr/>
          <p:nvPr/>
        </p:nvSpPr>
        <p:spPr>
          <a:xfrm>
            <a:off x="812800" y="1657945"/>
            <a:ext cx="5219700" cy="3285927"/>
          </a:xfrm>
          <a:prstGeom prst="roundRect">
            <a:avLst>
              <a:gd name="adj" fmla="val 3478"/>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8A4B12"/>
          </a:solidFill>
          <a:ln>
            <a:noFill/>
          </a:ln>
        </p:spPr>
        <p:txBody>
          <a:bodyPr rtlCol="0" anchor="ctr"/>
          <a:lstStyle/>
          <a:p>
            <a:pPr algn="ctr"/>
          </a:p>
        </p:txBody>
      </p:sp>
      <p:sp>
        <p:nvSpPr>
          <p:cNvPr id="23" name="Rule 22"/>
          <p:cNvSpPr/>
          <p:nvPr/>
        </p:nvSpPr>
        <p:spPr>
          <a:xfrm>
            <a:off x="6026150" y="1657945"/>
            <a:ext cx="6350" cy="3285927"/>
          </a:xfrm>
          <a:prstGeom prst="rect">
            <a:avLst/>
          </a:prstGeom>
          <a:solidFill>
            <a:srgbClr val="E1DBCD"/>
          </a:solidFill>
          <a:ln>
            <a:noFill/>
          </a:ln>
        </p:spPr>
        <p:txBody>
          <a:bodyPr rtlCol="0" anchor="ctr"/>
          <a:lstStyle/>
          <a:p>
            <a:pPr algn="ctr"/>
          </a:p>
        </p:txBody>
      </p:sp>
      <p:sp>
        <p:nvSpPr>
          <p:cNvPr id="24" name="Rule 23"/>
          <p:cNvSpPr/>
          <p:nvPr/>
        </p:nvSpPr>
        <p:spPr>
          <a:xfrm>
            <a:off x="812800" y="4937522"/>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285927"/>
          </a:xfrm>
          <a:prstGeom prst="rect">
            <a:avLst/>
          </a:prstGeom>
          <a:solidFill>
            <a:srgbClr val="E1DBCD"/>
          </a:solidFill>
          <a:ln>
            <a:noFill/>
          </a:ln>
        </p:spPr>
        <p:txBody>
          <a:bodyPr rtlCol="0" anchor="ctr"/>
          <a:lstStyle/>
          <a:p>
            <a:pPr algn="ctr"/>
          </a:p>
        </p:txBody>
      </p:sp>
      <p:sp>
        <p:nvSpPr>
          <p:cNvPr id="26" name="Text 25"/>
          <p:cNvSpPr txBox="1"/>
          <p:nvPr/>
        </p:nvSpPr>
        <p:spPr>
          <a:xfrm>
            <a:off x="4166830" y="1864257"/>
            <a:ext cx="1681520" cy="357783"/>
          </a:xfrm>
          <a:prstGeom prst="rect">
            <a:avLst/>
          </a:prstGeom>
          <a:noFill/>
        </p:spPr>
        <p:txBody>
          <a:bodyPr wrap="square" tIns="0" rIns="0" bIns="0" lIns="0" anchor="t" rtlCol="0" anchorCtr="0">
            <a:noAutofit/>
          </a:bodyPr>
          <a:lstStyle/>
          <a:p>
            <a:pPr algn="r">
              <a:lnSpc>
                <a:spcPts val="2818"/>
              </a:lnSpc>
              <a:spcBef>
                <a:spcPts val="0"/>
              </a:spcBef>
              <a:spcAft>
                <a:spcPts val="0"/>
              </a:spcAft>
            </a:pPr>
            <a:r>
              <a:rPr sz="2450" b="1" i="0">
                <a:solidFill>
                  <a:srgbClr val="8A4B12"/>
                </a:solidFill>
                <a:latin typeface="Readex Pro"/>
                <a:ea typeface="Readex Pro"/>
                <a:cs typeface="Readex Pro"/>
              </a:rPr>
              <a:t>Security+</a:t>
            </a:r>
          </a:p>
        </p:txBody>
      </p:sp>
      <p:sp>
        <p:nvSpPr>
          <p:cNvPr id="27" name="Text 26"/>
          <p:cNvSpPr txBox="1"/>
          <p:nvPr/>
        </p:nvSpPr>
        <p:spPr>
          <a:xfrm>
            <a:off x="3300571" y="1871710"/>
            <a:ext cx="964049" cy="275530"/>
          </a:xfrm>
          <a:prstGeom prst="rect">
            <a:avLst/>
          </a:prstGeom>
          <a:noFill/>
        </p:spPr>
        <p:txBody>
          <a:bodyPr wrap="square" tIns="0" rIns="0" bIns="0" lIns="0" anchor="t" rtlCol="0" anchorCtr="0">
            <a:noAutofit/>
          </a:bodyPr>
          <a:lstStyle/>
          <a:p>
            <a:pPr algn="r">
              <a:lnSpc>
                <a:spcPts val="2170"/>
              </a:lnSpc>
              <a:spcBef>
                <a:spcPts val="0"/>
              </a:spcBef>
              <a:spcAft>
                <a:spcPts val="0"/>
              </a:spcAft>
            </a:pPr>
            <a:r>
              <a:rPr sz="1550" b="1" i="0">
                <a:solidFill>
                  <a:srgbClr val="4E5A66"/>
                </a:solidFill>
                <a:latin typeface="IBM Plex Sans Arabic"/>
                <a:ea typeface="IBM Plex Sans Arabic"/>
                <a:cs typeface="IBM Plex Sans Arabic"/>
              </a:rPr>
              <a:t>CompTIA</a:t>
            </a:r>
          </a:p>
        </p:txBody>
      </p:sp>
      <p:sp>
        <p:nvSpPr>
          <p:cNvPr id="28" name="Text 27"/>
          <p:cNvSpPr txBox="1"/>
          <p:nvPr/>
        </p:nvSpPr>
        <p:spPr>
          <a:xfrm>
            <a:off x="838200" y="2219246"/>
            <a:ext cx="5010150" cy="247650"/>
          </a:xfrm>
          <a:prstGeom prst="rect">
            <a:avLst/>
          </a:prstGeom>
          <a:noFill/>
        </p:spPr>
        <p:txBody>
          <a:bodyPr wrap="square" tIns="0" rIns="0" bIns="0" lIns="0" anchor="t" rtlCol="0" anchorCtr="0">
            <a:noAutofit/>
          </a:bodyPr>
          <a:lstStyle/>
          <a:p>
            <a:pPr algn="r">
              <a:lnSpc>
                <a:spcPts val="1950"/>
              </a:lnSpc>
              <a:spcBef>
                <a:spcPts val="0"/>
              </a:spcBef>
              <a:spcAft>
                <a:spcPts val="0"/>
              </a:spcAft>
            </a:pPr>
            <a:r>
              <a:rPr sz="1500" b="0" i="0">
                <a:solidFill>
                  <a:srgbClr val="5E6A75"/>
                </a:solidFill>
                <a:latin typeface="Readex Pro"/>
                <a:ea typeface="Readex Pro"/>
                <a:cs typeface="Readex Pro"/>
              </a:rPr>
              <a:t>CompTIA Security+</a:t>
            </a:r>
          </a:p>
        </p:txBody>
      </p:sp>
      <p:sp>
        <p:nvSpPr>
          <p:cNvPr id="29" name="Text 28"/>
          <p:cNvSpPr txBox="1"/>
          <p:nvPr/>
        </p:nvSpPr>
        <p:spPr>
          <a:xfrm>
            <a:off x="4401820" y="2530777"/>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8A4B12"/>
                </a:solidFill>
                <a:latin typeface="IBM Plex Sans Arabic"/>
                <a:ea typeface="IBM Plex Sans Arabic"/>
                <a:cs typeface="IBM Plex Sans Arabic"/>
              </a:rPr>
              <a:t>لمن؟</a:t>
            </a:r>
          </a:p>
        </p:txBody>
      </p:sp>
      <p:sp>
        <p:nvSpPr>
          <p:cNvPr id="30" name="Text 29"/>
          <p:cNvSpPr txBox="1"/>
          <p:nvPr/>
        </p:nvSpPr>
        <p:spPr>
          <a:xfrm>
            <a:off x="838200" y="2530777"/>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من يريد أساساً تقنياً أعمق.</a:t>
            </a:r>
          </a:p>
        </p:txBody>
      </p:sp>
      <p:sp>
        <p:nvSpPr>
          <p:cNvPr id="31" name="Text 30"/>
          <p:cNvSpPr txBox="1"/>
          <p:nvPr/>
        </p:nvSpPr>
        <p:spPr>
          <a:xfrm>
            <a:off x="4401820" y="2932017"/>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8A4B12"/>
                </a:solidFill>
                <a:latin typeface="IBM Plex Sans Arabic"/>
                <a:ea typeface="IBM Plex Sans Arabic"/>
                <a:cs typeface="IBM Plex Sans Arabic"/>
              </a:rPr>
              <a:t>ماذا تعلّم؟</a:t>
            </a:r>
          </a:p>
        </p:txBody>
      </p:sp>
      <p:sp>
        <p:nvSpPr>
          <p:cNvPr id="32" name="Text 31"/>
          <p:cNvSpPr txBox="1"/>
          <p:nvPr/>
        </p:nvSpPr>
        <p:spPr>
          <a:xfrm>
            <a:off x="893890" y="2932017"/>
            <a:ext cx="353841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التهديدات، والمعمارية، والعمليات، وإدارة البرنامج الأمني.</a:t>
            </a:r>
          </a:p>
        </p:txBody>
      </p:sp>
      <p:sp>
        <p:nvSpPr>
          <p:cNvPr id="33" name="Text 32"/>
          <p:cNvSpPr txBox="1"/>
          <p:nvPr/>
        </p:nvSpPr>
        <p:spPr>
          <a:xfrm>
            <a:off x="4401820" y="3670998"/>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8A4B12"/>
                </a:solidFill>
                <a:latin typeface="IBM Plex Sans Arabic"/>
                <a:ea typeface="IBM Plex Sans Arabic"/>
                <a:cs typeface="IBM Plex Sans Arabic"/>
              </a:rPr>
              <a:t>الخبرة</a:t>
            </a:r>
          </a:p>
        </p:txBody>
      </p:sp>
      <p:sp>
        <p:nvSpPr>
          <p:cNvPr id="34" name="Text 33"/>
          <p:cNvSpPr txBox="1"/>
          <p:nvPr/>
        </p:nvSpPr>
        <p:spPr>
          <a:xfrm>
            <a:off x="838200" y="3670998"/>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لا شرط رسمي؛ يُنصح بخبرة سنتين.</a:t>
            </a:r>
          </a:p>
        </p:txBody>
      </p:sp>
      <p:sp>
        <p:nvSpPr>
          <p:cNvPr id="35" name="Text 34"/>
          <p:cNvSpPr txBox="1"/>
          <p:nvPr/>
        </p:nvSpPr>
        <p:spPr>
          <a:xfrm>
            <a:off x="4401820" y="4072239"/>
            <a:ext cx="144653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8A4B12"/>
                </a:solidFill>
                <a:latin typeface="IBM Plex Sans Arabic"/>
                <a:ea typeface="IBM Plex Sans Arabic"/>
                <a:cs typeface="IBM Plex Sans Arabic"/>
              </a:rPr>
              <a:t>متى؟</a:t>
            </a:r>
          </a:p>
        </p:txBody>
      </p:sp>
      <p:sp>
        <p:nvSpPr>
          <p:cNvPr id="36" name="Text 35"/>
          <p:cNvSpPr txBox="1"/>
          <p:nvPr/>
        </p:nvSpPr>
        <p:spPr>
          <a:xfrm>
            <a:off x="838200" y="4072239"/>
            <a:ext cx="35941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الآن أو بعد CC، حسب خلفيتك.</a:t>
            </a:r>
          </a:p>
        </p:txBody>
      </p:sp>
      <p:sp>
        <p:nvSpPr>
          <p:cNvPr id="37" name="Box 36"/>
          <p:cNvSpPr/>
          <p:nvPr/>
        </p:nvSpPr>
        <p:spPr>
          <a:xfrm>
            <a:off x="812800" y="5134372"/>
            <a:ext cx="10566400" cy="565150"/>
          </a:xfrm>
          <a:prstGeom prst="roundRect">
            <a:avLst>
              <a:gd name="adj" fmla="val 17977"/>
            </a:avLst>
          </a:prstGeom>
          <a:solidFill>
            <a:srgbClr val="F6ECDA"/>
          </a:solidFill>
          <a:ln>
            <a:noFill/>
          </a:ln>
        </p:spPr>
        <p:txBody>
          <a:bodyPr rtlCol="0" anchor="ctr"/>
          <a:lstStyle/>
          <a:p>
            <a:pPr algn="ctr"/>
          </a:p>
        </p:txBody>
      </p:sp>
      <p:pic>
        <p:nvPicPr>
          <p:cNvPr id="38" name="Icon Warning 37" descr="icon037.png"/>
          <p:cNvPicPr>
            <a:picLocks noChangeAspect="1"/>
          </p:cNvPicPr>
          <p:nvPr/>
        </p:nvPicPr>
        <p:blipFill>
          <a:blip r:embed="rId2"/>
          <a:stretch>
            <a:fillRect/>
          </a:stretch>
        </p:blipFill>
        <p:spPr>
          <a:xfrm>
            <a:off x="10972800" y="5302647"/>
            <a:ext cx="228600" cy="228600"/>
          </a:xfrm>
          <a:prstGeom prst="rect">
            <a:avLst/>
          </a:prstGeom>
        </p:spPr>
      </p:pic>
      <p:sp>
        <p:nvSpPr>
          <p:cNvPr id="39" name="Text 38"/>
          <p:cNvSpPr txBox="1"/>
          <p:nvPr/>
        </p:nvSpPr>
        <p:spPr>
          <a:xfrm>
            <a:off x="838200" y="5226923"/>
            <a:ext cx="1002030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انتهى عرض اختبار CC المجاني من ISC2: أُغلق التسجيل فيه في 20 مايو 2026.</a:t>
            </a:r>
          </a:p>
        </p:txBody>
      </p:sp>
      <p:sp>
        <p:nvSpPr>
          <p:cNvPr id="40" name="Text 3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41" name="Text 4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مدخل إلى GRC والمخاطر: GRCP وIT Risk Fundamentals</a:t>
            </a:r>
          </a:p>
        </p:txBody>
      </p:sp>
      <p:sp>
        <p:nvSpPr>
          <p:cNvPr id="5" name="Box 4"/>
          <p:cNvSpPr/>
          <p:nvPr/>
        </p:nvSpPr>
        <p:spPr>
          <a:xfrm>
            <a:off x="6159500" y="1657945"/>
            <a:ext cx="5219700" cy="3716635"/>
          </a:xfrm>
          <a:prstGeom prst="roundRect">
            <a:avLst>
              <a:gd name="adj" fmla="val 3075"/>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2F5C92"/>
          </a:solidFill>
          <a:ln>
            <a:noFill/>
          </a:ln>
        </p:spPr>
        <p:txBody>
          <a:bodyPr rtlCol="0" anchor="ctr"/>
          <a:lstStyle/>
          <a:p>
            <a:pPr algn="ctr"/>
          </a:p>
        </p:txBody>
      </p:sp>
      <p:sp>
        <p:nvSpPr>
          <p:cNvPr id="7" name="Rule 6"/>
          <p:cNvSpPr/>
          <p:nvPr/>
        </p:nvSpPr>
        <p:spPr>
          <a:xfrm>
            <a:off x="11372850" y="1657945"/>
            <a:ext cx="6350" cy="3716635"/>
          </a:xfrm>
          <a:prstGeom prst="rect">
            <a:avLst/>
          </a:prstGeom>
          <a:solidFill>
            <a:srgbClr val="E1DBCD"/>
          </a:solidFill>
          <a:ln>
            <a:noFill/>
          </a:ln>
        </p:spPr>
        <p:txBody>
          <a:bodyPr rtlCol="0" anchor="ctr"/>
          <a:lstStyle/>
          <a:p>
            <a:pPr algn="ctr"/>
          </a:p>
        </p:txBody>
      </p:sp>
      <p:sp>
        <p:nvSpPr>
          <p:cNvPr id="8" name="Rule 7"/>
          <p:cNvSpPr/>
          <p:nvPr/>
        </p:nvSpPr>
        <p:spPr>
          <a:xfrm>
            <a:off x="6159500" y="5368230"/>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716635"/>
          </a:xfrm>
          <a:prstGeom prst="rect">
            <a:avLst/>
          </a:prstGeom>
          <a:solidFill>
            <a:srgbClr val="E1DBCD"/>
          </a:solidFill>
          <a:ln>
            <a:noFill/>
          </a:ln>
        </p:spPr>
        <p:txBody>
          <a:bodyPr rtlCol="0" anchor="ctr"/>
          <a:lstStyle/>
          <a:p>
            <a:pPr algn="ctr"/>
          </a:p>
        </p:txBody>
      </p:sp>
      <p:sp>
        <p:nvSpPr>
          <p:cNvPr id="10" name="Text 9"/>
          <p:cNvSpPr txBox="1"/>
          <p:nvPr/>
        </p:nvSpPr>
        <p:spPr>
          <a:xfrm>
            <a:off x="9931777" y="1864828"/>
            <a:ext cx="1263273"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2F5C92"/>
                </a:solidFill>
                <a:latin typeface="Readex Pro"/>
                <a:ea typeface="Readex Pro"/>
                <a:cs typeface="Readex Pro"/>
              </a:rPr>
              <a:t>GRCP</a:t>
            </a:r>
          </a:p>
        </p:txBody>
      </p:sp>
      <p:sp>
        <p:nvSpPr>
          <p:cNvPr id="11" name="Text 10"/>
          <p:cNvSpPr txBox="1"/>
          <p:nvPr/>
        </p:nvSpPr>
        <p:spPr>
          <a:xfrm>
            <a:off x="9296420" y="1871956"/>
            <a:ext cx="767437"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OCEG</a:t>
            </a:r>
          </a:p>
        </p:txBody>
      </p:sp>
      <p:sp>
        <p:nvSpPr>
          <p:cNvPr id="12" name="Text 11"/>
          <p:cNvSpPr txBox="1"/>
          <p:nvPr/>
        </p:nvSpPr>
        <p:spPr>
          <a:xfrm>
            <a:off x="61849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GRC Professional</a:t>
            </a:r>
          </a:p>
        </p:txBody>
      </p:sp>
      <p:sp>
        <p:nvSpPr>
          <p:cNvPr id="13" name="Text 12"/>
          <p:cNvSpPr txBox="1"/>
          <p:nvPr/>
        </p:nvSpPr>
        <p:spPr>
          <a:xfrm>
            <a:off x="9721850" y="2639080"/>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2F5C92"/>
                </a:solidFill>
                <a:latin typeface="IBM Plex Sans Arabic"/>
                <a:ea typeface="IBM Plex Sans Arabic"/>
                <a:cs typeface="IBM Plex Sans Arabic"/>
              </a:rPr>
              <a:t>لمن؟</a:t>
            </a:r>
          </a:p>
        </p:txBody>
      </p:sp>
      <p:sp>
        <p:nvSpPr>
          <p:cNvPr id="14" name="Text 13"/>
          <p:cNvSpPr txBox="1"/>
          <p:nvPr/>
        </p:nvSpPr>
        <p:spPr>
          <a:xfrm>
            <a:off x="6184900" y="2639080"/>
            <a:ext cx="35941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من يريد أساساً في GRC نفسه.</a:t>
            </a:r>
          </a:p>
        </p:txBody>
      </p:sp>
      <p:sp>
        <p:nvSpPr>
          <p:cNvPr id="15" name="Text 14"/>
          <p:cNvSpPr txBox="1"/>
          <p:nvPr/>
        </p:nvSpPr>
        <p:spPr>
          <a:xfrm>
            <a:off x="9721850" y="3102630"/>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2F5C92"/>
                </a:solidFill>
                <a:latin typeface="IBM Plex Sans Arabic"/>
                <a:ea typeface="IBM Plex Sans Arabic"/>
                <a:cs typeface="IBM Plex Sans Arabic"/>
              </a:rPr>
              <a:t>ماذا تعلّم؟</a:t>
            </a:r>
          </a:p>
        </p:txBody>
      </p:sp>
      <p:sp>
        <p:nvSpPr>
          <p:cNvPr id="16" name="Text 15"/>
          <p:cNvSpPr txBox="1"/>
          <p:nvPr/>
        </p:nvSpPr>
        <p:spPr>
          <a:xfrm>
            <a:off x="6240590" y="3102630"/>
            <a:ext cx="3538410"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مفاهيم GRC ونموذج OCEG للقدرات.</a:t>
            </a:r>
          </a:p>
        </p:txBody>
      </p:sp>
      <p:sp>
        <p:nvSpPr>
          <p:cNvPr id="17" name="Text 16"/>
          <p:cNvSpPr txBox="1"/>
          <p:nvPr/>
        </p:nvSpPr>
        <p:spPr>
          <a:xfrm>
            <a:off x="9721850" y="3966230"/>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2F5C92"/>
                </a:solidFill>
                <a:latin typeface="IBM Plex Sans Arabic"/>
                <a:ea typeface="IBM Plex Sans Arabic"/>
                <a:cs typeface="IBM Plex Sans Arabic"/>
              </a:rPr>
              <a:t>الخبرة</a:t>
            </a:r>
          </a:p>
        </p:txBody>
      </p:sp>
      <p:sp>
        <p:nvSpPr>
          <p:cNvPr id="18" name="Text 17"/>
          <p:cNvSpPr txBox="1"/>
          <p:nvPr/>
        </p:nvSpPr>
        <p:spPr>
          <a:xfrm>
            <a:off x="6184900" y="3966230"/>
            <a:ext cx="35941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لا تشترط خبرة.</a:t>
            </a:r>
          </a:p>
        </p:txBody>
      </p:sp>
      <p:sp>
        <p:nvSpPr>
          <p:cNvPr id="19" name="Text 18"/>
          <p:cNvSpPr txBox="1"/>
          <p:nvPr/>
        </p:nvSpPr>
        <p:spPr>
          <a:xfrm>
            <a:off x="9721850" y="4429780"/>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2F5C92"/>
                </a:solidFill>
                <a:latin typeface="IBM Plex Sans Arabic"/>
                <a:ea typeface="IBM Plex Sans Arabic"/>
                <a:cs typeface="IBM Plex Sans Arabic"/>
              </a:rPr>
              <a:t>متى؟</a:t>
            </a:r>
          </a:p>
        </p:txBody>
      </p:sp>
      <p:sp>
        <p:nvSpPr>
          <p:cNvPr id="20" name="Text 19"/>
          <p:cNvSpPr txBox="1"/>
          <p:nvPr/>
        </p:nvSpPr>
        <p:spPr>
          <a:xfrm>
            <a:off x="6184900" y="4429780"/>
            <a:ext cx="35941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مبكراً، بعد الأساسيات.</a:t>
            </a:r>
          </a:p>
        </p:txBody>
      </p:sp>
      <p:sp>
        <p:nvSpPr>
          <p:cNvPr id="21" name="Box 20"/>
          <p:cNvSpPr/>
          <p:nvPr/>
        </p:nvSpPr>
        <p:spPr>
          <a:xfrm>
            <a:off x="812800" y="1657945"/>
            <a:ext cx="5219700" cy="3716635"/>
          </a:xfrm>
          <a:prstGeom prst="roundRect">
            <a:avLst>
              <a:gd name="adj" fmla="val 3075"/>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0E6B5C"/>
          </a:solidFill>
          <a:ln>
            <a:noFill/>
          </a:ln>
        </p:spPr>
        <p:txBody>
          <a:bodyPr rtlCol="0" anchor="ctr"/>
          <a:lstStyle/>
          <a:p>
            <a:pPr algn="ctr"/>
          </a:p>
        </p:txBody>
      </p:sp>
      <p:sp>
        <p:nvSpPr>
          <p:cNvPr id="23" name="Rule 22"/>
          <p:cNvSpPr/>
          <p:nvPr/>
        </p:nvSpPr>
        <p:spPr>
          <a:xfrm>
            <a:off x="6026150" y="1657945"/>
            <a:ext cx="6350" cy="3716635"/>
          </a:xfrm>
          <a:prstGeom prst="rect">
            <a:avLst/>
          </a:prstGeom>
          <a:solidFill>
            <a:srgbClr val="E1DBCD"/>
          </a:solidFill>
          <a:ln>
            <a:noFill/>
          </a:ln>
        </p:spPr>
        <p:txBody>
          <a:bodyPr rtlCol="0" anchor="ctr"/>
          <a:lstStyle/>
          <a:p>
            <a:pPr algn="ctr"/>
          </a:p>
        </p:txBody>
      </p:sp>
      <p:sp>
        <p:nvSpPr>
          <p:cNvPr id="24" name="Rule 23"/>
          <p:cNvSpPr/>
          <p:nvPr/>
        </p:nvSpPr>
        <p:spPr>
          <a:xfrm>
            <a:off x="812800" y="5368230"/>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716635"/>
          </a:xfrm>
          <a:prstGeom prst="rect">
            <a:avLst/>
          </a:prstGeom>
          <a:solidFill>
            <a:srgbClr val="E1DBCD"/>
          </a:solidFill>
          <a:ln>
            <a:noFill/>
          </a:ln>
        </p:spPr>
        <p:txBody>
          <a:bodyPr rtlCol="0" anchor="ctr"/>
          <a:lstStyle/>
          <a:p>
            <a:pPr algn="ctr"/>
          </a:p>
        </p:txBody>
      </p:sp>
      <p:sp>
        <p:nvSpPr>
          <p:cNvPr id="26" name="Text 25"/>
          <p:cNvSpPr txBox="1"/>
          <p:nvPr/>
        </p:nvSpPr>
        <p:spPr>
          <a:xfrm>
            <a:off x="2062305" y="1864320"/>
            <a:ext cx="3786045" cy="365125"/>
          </a:xfrm>
          <a:prstGeom prst="rect">
            <a:avLst/>
          </a:prstGeom>
          <a:noFill/>
        </p:spPr>
        <p:txBody>
          <a:bodyPr wrap="square" tIns="0" rIns="0" bIns="0" lIns="0" anchor="t" rtlCol="0" anchorCtr="0">
            <a:noAutofit/>
          </a:bodyPr>
          <a:lstStyle/>
          <a:p>
            <a:pPr algn="r">
              <a:lnSpc>
                <a:spcPts val="2875"/>
              </a:lnSpc>
              <a:spcBef>
                <a:spcPts val="0"/>
              </a:spcBef>
              <a:spcAft>
                <a:spcPts val="0"/>
              </a:spcAft>
            </a:pPr>
            <a:r>
              <a:rPr sz="2500" b="1" i="0">
                <a:solidFill>
                  <a:srgbClr val="0E6B5C"/>
                </a:solidFill>
                <a:latin typeface="Readex Pro"/>
                <a:ea typeface="Readex Pro"/>
                <a:cs typeface="Readex Pro"/>
              </a:rPr>
              <a:t>IT Risk Fundamentals</a:t>
            </a:r>
          </a:p>
        </p:txBody>
      </p:sp>
      <p:sp>
        <p:nvSpPr>
          <p:cNvPr id="27" name="Text 26"/>
          <p:cNvSpPr txBox="1"/>
          <p:nvPr/>
        </p:nvSpPr>
        <p:spPr>
          <a:xfrm>
            <a:off x="1410811" y="1842786"/>
            <a:ext cx="84304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ISACA</a:t>
            </a:r>
          </a:p>
        </p:txBody>
      </p:sp>
      <p:sp>
        <p:nvSpPr>
          <p:cNvPr id="28" name="Text 27"/>
          <p:cNvSpPr txBox="1"/>
          <p:nvPr/>
        </p:nvSpPr>
        <p:spPr>
          <a:xfrm>
            <a:off x="838200" y="2224111"/>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IT Risk Fundamentals Certificate</a:t>
            </a:r>
          </a:p>
        </p:txBody>
      </p:sp>
      <p:sp>
        <p:nvSpPr>
          <p:cNvPr id="29" name="Text 28"/>
          <p:cNvSpPr txBox="1"/>
          <p:nvPr/>
        </p:nvSpPr>
        <p:spPr>
          <a:xfrm>
            <a:off x="4375150" y="2580739"/>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0E6B5C"/>
                </a:solidFill>
                <a:latin typeface="IBM Plex Sans Arabic"/>
                <a:ea typeface="IBM Plex Sans Arabic"/>
                <a:cs typeface="IBM Plex Sans Arabic"/>
              </a:rPr>
              <a:t>لمن؟</a:t>
            </a:r>
          </a:p>
        </p:txBody>
      </p:sp>
      <p:sp>
        <p:nvSpPr>
          <p:cNvPr id="30" name="Text 29"/>
          <p:cNvSpPr txBox="1"/>
          <p:nvPr/>
        </p:nvSpPr>
        <p:spPr>
          <a:xfrm>
            <a:off x="838200" y="2580739"/>
            <a:ext cx="35941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مبتدئ يتجه إلى مخاطر التقنية.</a:t>
            </a:r>
          </a:p>
        </p:txBody>
      </p:sp>
      <p:sp>
        <p:nvSpPr>
          <p:cNvPr id="31" name="Text 30"/>
          <p:cNvSpPr txBox="1"/>
          <p:nvPr/>
        </p:nvSpPr>
        <p:spPr>
          <a:xfrm>
            <a:off x="4375150" y="3044289"/>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0E6B5C"/>
                </a:solidFill>
                <a:latin typeface="IBM Plex Sans Arabic"/>
                <a:ea typeface="IBM Plex Sans Arabic"/>
                <a:cs typeface="IBM Plex Sans Arabic"/>
              </a:rPr>
              <a:t>ماذا تعلّم؟</a:t>
            </a:r>
          </a:p>
        </p:txBody>
      </p:sp>
      <p:sp>
        <p:nvSpPr>
          <p:cNvPr id="32" name="Text 31"/>
          <p:cNvSpPr txBox="1"/>
          <p:nvPr/>
        </p:nvSpPr>
        <p:spPr>
          <a:xfrm>
            <a:off x="893890" y="3044289"/>
            <a:ext cx="3538410"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أساسيات مخاطر تقنية المعلومات.</a:t>
            </a:r>
          </a:p>
        </p:txBody>
      </p:sp>
      <p:sp>
        <p:nvSpPr>
          <p:cNvPr id="33" name="Text 32"/>
          <p:cNvSpPr txBox="1"/>
          <p:nvPr/>
        </p:nvSpPr>
        <p:spPr>
          <a:xfrm>
            <a:off x="4375150" y="3907889"/>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0E6B5C"/>
                </a:solidFill>
                <a:latin typeface="IBM Plex Sans Arabic"/>
                <a:ea typeface="IBM Plex Sans Arabic"/>
                <a:cs typeface="IBM Plex Sans Arabic"/>
              </a:rPr>
              <a:t>الخبرة</a:t>
            </a:r>
          </a:p>
        </p:txBody>
      </p:sp>
      <p:sp>
        <p:nvSpPr>
          <p:cNvPr id="34" name="Text 33"/>
          <p:cNvSpPr txBox="1"/>
          <p:nvPr/>
        </p:nvSpPr>
        <p:spPr>
          <a:xfrm>
            <a:off x="893890" y="3907889"/>
            <a:ext cx="3538410" cy="80010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لا شرط. شهادة إتمام، لا اعتماد مهني.</a:t>
            </a:r>
          </a:p>
        </p:txBody>
      </p:sp>
      <p:sp>
        <p:nvSpPr>
          <p:cNvPr id="35" name="Text 34"/>
          <p:cNvSpPr txBox="1"/>
          <p:nvPr/>
        </p:nvSpPr>
        <p:spPr>
          <a:xfrm>
            <a:off x="4375150" y="4771489"/>
            <a:ext cx="1473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0E6B5C"/>
                </a:solidFill>
                <a:latin typeface="IBM Plex Sans Arabic"/>
                <a:ea typeface="IBM Plex Sans Arabic"/>
                <a:cs typeface="IBM Plex Sans Arabic"/>
              </a:rPr>
              <a:t>متى؟</a:t>
            </a:r>
          </a:p>
        </p:txBody>
      </p:sp>
      <p:sp>
        <p:nvSpPr>
          <p:cNvPr id="36" name="Text 35"/>
          <p:cNvSpPr txBox="1"/>
          <p:nvPr/>
        </p:nvSpPr>
        <p:spPr>
          <a:xfrm>
            <a:off x="838200" y="4771489"/>
            <a:ext cx="35941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الآن.</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 27001: منفذ رئيسي أم مدقق رئيسي؟</a:t>
            </a:r>
          </a:p>
        </p:txBody>
      </p:sp>
      <p:sp>
        <p:nvSpPr>
          <p:cNvPr id="5" name="Box 4"/>
          <p:cNvSpPr/>
          <p:nvPr/>
        </p:nvSpPr>
        <p:spPr>
          <a:xfrm>
            <a:off x="6159500" y="1657945"/>
            <a:ext cx="5219700" cy="3432572"/>
          </a:xfrm>
          <a:prstGeom prst="roundRect">
            <a:avLst>
              <a:gd name="adj" fmla="val 3329"/>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7A4A0E"/>
          </a:solidFill>
          <a:ln>
            <a:noFill/>
          </a:ln>
        </p:spPr>
        <p:txBody>
          <a:bodyPr rtlCol="0" anchor="ctr"/>
          <a:lstStyle/>
          <a:p>
            <a:pPr algn="ctr"/>
          </a:p>
        </p:txBody>
      </p:sp>
      <p:sp>
        <p:nvSpPr>
          <p:cNvPr id="7" name="Rule 6"/>
          <p:cNvSpPr/>
          <p:nvPr/>
        </p:nvSpPr>
        <p:spPr>
          <a:xfrm>
            <a:off x="11372850" y="1657945"/>
            <a:ext cx="6350" cy="3432572"/>
          </a:xfrm>
          <a:prstGeom prst="rect">
            <a:avLst/>
          </a:prstGeom>
          <a:solidFill>
            <a:srgbClr val="E1DBCD"/>
          </a:solidFill>
          <a:ln>
            <a:noFill/>
          </a:ln>
        </p:spPr>
        <p:txBody>
          <a:bodyPr rtlCol="0" anchor="ctr"/>
          <a:lstStyle/>
          <a:p>
            <a:pPr algn="ctr"/>
          </a:p>
        </p:txBody>
      </p:sp>
      <p:sp>
        <p:nvSpPr>
          <p:cNvPr id="8" name="Rule 7"/>
          <p:cNvSpPr/>
          <p:nvPr/>
        </p:nvSpPr>
        <p:spPr>
          <a:xfrm>
            <a:off x="6159500" y="5084167"/>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432572"/>
          </a:xfrm>
          <a:prstGeom prst="rect">
            <a:avLst/>
          </a:prstGeom>
          <a:solidFill>
            <a:srgbClr val="E1DBCD"/>
          </a:solidFill>
          <a:ln>
            <a:noFill/>
          </a:ln>
        </p:spPr>
        <p:txBody>
          <a:bodyPr rtlCol="0" anchor="ctr"/>
          <a:lstStyle/>
          <a:p>
            <a:pPr algn="ctr"/>
          </a:p>
        </p:txBody>
      </p:sp>
      <p:sp>
        <p:nvSpPr>
          <p:cNvPr id="10" name="Text 9"/>
          <p:cNvSpPr txBox="1"/>
          <p:nvPr/>
        </p:nvSpPr>
        <p:spPr>
          <a:xfrm>
            <a:off x="8553648" y="1863749"/>
            <a:ext cx="2641402" cy="299343"/>
          </a:xfrm>
          <a:prstGeom prst="rect">
            <a:avLst/>
          </a:prstGeom>
          <a:noFill/>
        </p:spPr>
        <p:txBody>
          <a:bodyPr wrap="square" tIns="0" rIns="0" bIns="0" lIns="0" anchor="t" rtlCol="0" anchorCtr="0">
            <a:noAutofit/>
          </a:bodyPr>
          <a:lstStyle/>
          <a:p>
            <a:pPr algn="r">
              <a:lnSpc>
                <a:spcPts val="2357"/>
              </a:lnSpc>
              <a:spcBef>
                <a:spcPts val="0"/>
              </a:spcBef>
              <a:spcAft>
                <a:spcPts val="0"/>
              </a:spcAft>
            </a:pPr>
            <a:r>
              <a:rPr sz="2050" b="1" i="0">
                <a:solidFill>
                  <a:srgbClr val="7A4A0E"/>
                </a:solidFill>
                <a:latin typeface="Readex Pro"/>
                <a:ea typeface="Readex Pro"/>
                <a:cs typeface="Readex Pro"/>
              </a:rPr>
              <a:t>Lead Implementer</a:t>
            </a:r>
          </a:p>
        </p:txBody>
      </p:sp>
      <p:sp>
        <p:nvSpPr>
          <p:cNvPr id="11" name="Text 10"/>
          <p:cNvSpPr txBox="1"/>
          <p:nvPr/>
        </p:nvSpPr>
        <p:spPr>
          <a:xfrm>
            <a:off x="7047706" y="1847890"/>
            <a:ext cx="1612702"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a:solidFill>
                  <a:srgbClr val="4E5A66"/>
                </a:solidFill>
                <a:latin typeface="IBM Plex Sans Arabic"/>
                <a:ea typeface="IBM Plex Sans Arabic"/>
                <a:cs typeface="IBM Plex Sans Arabic"/>
              </a:rPr>
              <a:t>PECB وجهات أخرى</a:t>
            </a:r>
          </a:p>
        </p:txBody>
      </p:sp>
      <p:sp>
        <p:nvSpPr>
          <p:cNvPr id="12" name="Text 11"/>
          <p:cNvSpPr txBox="1"/>
          <p:nvPr/>
        </p:nvSpPr>
        <p:spPr>
          <a:xfrm>
            <a:off x="6184900" y="2161219"/>
            <a:ext cx="5010150" cy="239316"/>
          </a:xfrm>
          <a:prstGeom prst="rect">
            <a:avLst/>
          </a:prstGeom>
          <a:noFill/>
        </p:spPr>
        <p:txBody>
          <a:bodyPr wrap="square" tIns="0" rIns="0" bIns="0" lIns="0" anchor="t" rtlCol="0" anchorCtr="0">
            <a:noAutofit/>
          </a:bodyPr>
          <a:lstStyle/>
          <a:p>
            <a:pPr algn="r">
              <a:lnSpc>
                <a:spcPts val="1885"/>
              </a:lnSpc>
              <a:spcBef>
                <a:spcPts val="0"/>
              </a:spcBef>
              <a:spcAft>
                <a:spcPts val="0"/>
              </a:spcAft>
            </a:pPr>
            <a:r>
              <a:rPr sz="1450" b="0" i="0">
                <a:solidFill>
                  <a:srgbClr val="5E6A75"/>
                </a:solidFill>
                <a:latin typeface="Readex Pro"/>
                <a:ea typeface="Readex Pro"/>
                <a:cs typeface="Readex Pro"/>
              </a:rPr>
              <a:t>ISO/IEC 27001 Lead Implementer</a:t>
            </a:r>
          </a:p>
        </p:txBody>
      </p:sp>
      <p:sp>
        <p:nvSpPr>
          <p:cNvPr id="13" name="Text 12"/>
          <p:cNvSpPr txBox="1"/>
          <p:nvPr/>
        </p:nvSpPr>
        <p:spPr>
          <a:xfrm>
            <a:off x="9756140" y="2465971"/>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لمن؟</a:t>
            </a:r>
          </a:p>
        </p:txBody>
      </p:sp>
      <p:sp>
        <p:nvSpPr>
          <p:cNvPr id="14" name="Text 13"/>
          <p:cNvSpPr txBox="1"/>
          <p:nvPr/>
        </p:nvSpPr>
        <p:spPr>
          <a:xfrm>
            <a:off x="6240590" y="2465971"/>
            <a:ext cx="353841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من سيبني نظام إدارة أمن المعلومات أو يستشير فيه.</a:t>
            </a:r>
          </a:p>
        </p:txBody>
      </p:sp>
      <p:sp>
        <p:nvSpPr>
          <p:cNvPr id="15" name="Text 14"/>
          <p:cNvSpPr txBox="1"/>
          <p:nvPr/>
        </p:nvSpPr>
        <p:spPr>
          <a:xfrm>
            <a:off x="9756140" y="3169432"/>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ماذا تعلّم؟</a:t>
            </a:r>
          </a:p>
        </p:txBody>
      </p:sp>
      <p:sp>
        <p:nvSpPr>
          <p:cNvPr id="16" name="Text 15"/>
          <p:cNvSpPr txBox="1"/>
          <p:nvPr/>
        </p:nvSpPr>
        <p:spPr>
          <a:xfrm>
            <a:off x="6240590" y="3169432"/>
            <a:ext cx="353841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تخطيط النظام وتطبيقه ومتابعته وفق البنود 4 إلى 10.</a:t>
            </a:r>
          </a:p>
        </p:txBody>
      </p:sp>
      <p:sp>
        <p:nvSpPr>
          <p:cNvPr id="17" name="Text 16"/>
          <p:cNvSpPr txBox="1"/>
          <p:nvPr/>
        </p:nvSpPr>
        <p:spPr>
          <a:xfrm>
            <a:off x="9756140" y="3872893"/>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الخبرة</a:t>
            </a:r>
          </a:p>
        </p:txBody>
      </p:sp>
      <p:sp>
        <p:nvSpPr>
          <p:cNvPr id="18" name="Text 17"/>
          <p:cNvSpPr txBox="1"/>
          <p:nvPr/>
        </p:nvSpPr>
        <p:spPr>
          <a:xfrm>
            <a:off x="6184900" y="3872893"/>
            <a:ext cx="35941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الاختبار بلا خبرة، واللقب يحتاج خبرة.</a:t>
            </a:r>
          </a:p>
        </p:txBody>
      </p:sp>
      <p:sp>
        <p:nvSpPr>
          <p:cNvPr id="19" name="Text 18"/>
          <p:cNvSpPr txBox="1"/>
          <p:nvPr/>
        </p:nvSpPr>
        <p:spPr>
          <a:xfrm>
            <a:off x="9756140" y="4256373"/>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متى؟</a:t>
            </a:r>
          </a:p>
        </p:txBody>
      </p:sp>
      <p:sp>
        <p:nvSpPr>
          <p:cNvPr id="20" name="Text 19"/>
          <p:cNvSpPr txBox="1"/>
          <p:nvPr/>
        </p:nvSpPr>
        <p:spPr>
          <a:xfrm>
            <a:off x="6184900" y="4256373"/>
            <a:ext cx="35941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إن اتجهت للتطبيق والاستشارات.</a:t>
            </a:r>
          </a:p>
        </p:txBody>
      </p:sp>
      <p:sp>
        <p:nvSpPr>
          <p:cNvPr id="21" name="Box 20"/>
          <p:cNvSpPr/>
          <p:nvPr/>
        </p:nvSpPr>
        <p:spPr>
          <a:xfrm>
            <a:off x="812800" y="1657945"/>
            <a:ext cx="5219700" cy="3432572"/>
          </a:xfrm>
          <a:prstGeom prst="roundRect">
            <a:avLst>
              <a:gd name="adj" fmla="val 3329"/>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7A4A0E"/>
          </a:solidFill>
          <a:ln>
            <a:noFill/>
          </a:ln>
        </p:spPr>
        <p:txBody>
          <a:bodyPr rtlCol="0" anchor="ctr"/>
          <a:lstStyle/>
          <a:p>
            <a:pPr algn="ctr"/>
          </a:p>
        </p:txBody>
      </p:sp>
      <p:sp>
        <p:nvSpPr>
          <p:cNvPr id="23" name="Rule 22"/>
          <p:cNvSpPr/>
          <p:nvPr/>
        </p:nvSpPr>
        <p:spPr>
          <a:xfrm>
            <a:off x="6026150" y="1657945"/>
            <a:ext cx="6350" cy="3432572"/>
          </a:xfrm>
          <a:prstGeom prst="rect">
            <a:avLst/>
          </a:prstGeom>
          <a:solidFill>
            <a:srgbClr val="E1DBCD"/>
          </a:solidFill>
          <a:ln>
            <a:noFill/>
          </a:ln>
        </p:spPr>
        <p:txBody>
          <a:bodyPr rtlCol="0" anchor="ctr"/>
          <a:lstStyle/>
          <a:p>
            <a:pPr algn="ctr"/>
          </a:p>
        </p:txBody>
      </p:sp>
      <p:sp>
        <p:nvSpPr>
          <p:cNvPr id="24" name="Rule 23"/>
          <p:cNvSpPr/>
          <p:nvPr/>
        </p:nvSpPr>
        <p:spPr>
          <a:xfrm>
            <a:off x="812800" y="5084167"/>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432572"/>
          </a:xfrm>
          <a:prstGeom prst="rect">
            <a:avLst/>
          </a:prstGeom>
          <a:solidFill>
            <a:srgbClr val="E1DBCD"/>
          </a:solidFill>
          <a:ln>
            <a:noFill/>
          </a:ln>
        </p:spPr>
        <p:txBody>
          <a:bodyPr rtlCol="0" anchor="ctr"/>
          <a:lstStyle/>
          <a:p>
            <a:pPr algn="ctr"/>
          </a:p>
        </p:txBody>
      </p:sp>
      <p:sp>
        <p:nvSpPr>
          <p:cNvPr id="26" name="Text 25"/>
          <p:cNvSpPr txBox="1"/>
          <p:nvPr/>
        </p:nvSpPr>
        <p:spPr>
          <a:xfrm>
            <a:off x="3996988" y="1863749"/>
            <a:ext cx="1851362" cy="299343"/>
          </a:xfrm>
          <a:prstGeom prst="rect">
            <a:avLst/>
          </a:prstGeom>
          <a:noFill/>
        </p:spPr>
        <p:txBody>
          <a:bodyPr wrap="square" tIns="0" rIns="0" bIns="0" lIns="0" anchor="t" rtlCol="0" anchorCtr="0">
            <a:noAutofit/>
          </a:bodyPr>
          <a:lstStyle/>
          <a:p>
            <a:pPr algn="r">
              <a:lnSpc>
                <a:spcPts val="2357"/>
              </a:lnSpc>
              <a:spcBef>
                <a:spcPts val="0"/>
              </a:spcBef>
              <a:spcAft>
                <a:spcPts val="0"/>
              </a:spcAft>
            </a:pPr>
            <a:r>
              <a:rPr sz="2050" b="1" i="0">
                <a:solidFill>
                  <a:srgbClr val="7A4A0E"/>
                </a:solidFill>
                <a:latin typeface="Readex Pro"/>
                <a:ea typeface="Readex Pro"/>
                <a:cs typeface="Readex Pro"/>
              </a:rPr>
              <a:t>Lead Auditor</a:t>
            </a:r>
          </a:p>
        </p:txBody>
      </p:sp>
      <p:sp>
        <p:nvSpPr>
          <p:cNvPr id="27" name="Text 26"/>
          <p:cNvSpPr txBox="1"/>
          <p:nvPr/>
        </p:nvSpPr>
        <p:spPr>
          <a:xfrm>
            <a:off x="2451596" y="1847890"/>
            <a:ext cx="1612702"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a:solidFill>
                  <a:srgbClr val="4E5A66"/>
                </a:solidFill>
                <a:latin typeface="IBM Plex Sans Arabic"/>
                <a:ea typeface="IBM Plex Sans Arabic"/>
                <a:cs typeface="IBM Plex Sans Arabic"/>
              </a:rPr>
              <a:t>PECB وجهات أخرى</a:t>
            </a:r>
          </a:p>
        </p:txBody>
      </p:sp>
      <p:sp>
        <p:nvSpPr>
          <p:cNvPr id="28" name="Text 27"/>
          <p:cNvSpPr txBox="1"/>
          <p:nvPr/>
        </p:nvSpPr>
        <p:spPr>
          <a:xfrm>
            <a:off x="838200" y="2161219"/>
            <a:ext cx="5010150" cy="239316"/>
          </a:xfrm>
          <a:prstGeom prst="rect">
            <a:avLst/>
          </a:prstGeom>
          <a:noFill/>
        </p:spPr>
        <p:txBody>
          <a:bodyPr wrap="square" tIns="0" rIns="0" bIns="0" lIns="0" anchor="t" rtlCol="0" anchorCtr="0">
            <a:noAutofit/>
          </a:bodyPr>
          <a:lstStyle/>
          <a:p>
            <a:pPr algn="r">
              <a:lnSpc>
                <a:spcPts val="1885"/>
              </a:lnSpc>
              <a:spcBef>
                <a:spcPts val="0"/>
              </a:spcBef>
              <a:spcAft>
                <a:spcPts val="0"/>
              </a:spcAft>
            </a:pPr>
            <a:r>
              <a:rPr sz="1450" b="0" i="0">
                <a:solidFill>
                  <a:srgbClr val="5E6A75"/>
                </a:solidFill>
                <a:latin typeface="Readex Pro"/>
                <a:ea typeface="Readex Pro"/>
                <a:cs typeface="Readex Pro"/>
              </a:rPr>
              <a:t>ISO/IEC 27001 Lead Auditor</a:t>
            </a:r>
          </a:p>
        </p:txBody>
      </p:sp>
      <p:sp>
        <p:nvSpPr>
          <p:cNvPr id="29" name="Text 28"/>
          <p:cNvSpPr txBox="1"/>
          <p:nvPr/>
        </p:nvSpPr>
        <p:spPr>
          <a:xfrm>
            <a:off x="4409440" y="2465971"/>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لمن؟</a:t>
            </a:r>
          </a:p>
        </p:txBody>
      </p:sp>
      <p:sp>
        <p:nvSpPr>
          <p:cNvPr id="30" name="Text 29"/>
          <p:cNvSpPr txBox="1"/>
          <p:nvPr/>
        </p:nvSpPr>
        <p:spPr>
          <a:xfrm>
            <a:off x="893890" y="2465971"/>
            <a:ext cx="353841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من سيدقق أنظمة الإدارة داخلياً أو لدى جهة مانحة.</a:t>
            </a:r>
          </a:p>
        </p:txBody>
      </p:sp>
      <p:sp>
        <p:nvSpPr>
          <p:cNvPr id="31" name="Text 30"/>
          <p:cNvSpPr txBox="1"/>
          <p:nvPr/>
        </p:nvSpPr>
        <p:spPr>
          <a:xfrm>
            <a:off x="4409440" y="3169432"/>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ماذا تعلّم؟</a:t>
            </a:r>
          </a:p>
        </p:txBody>
      </p:sp>
      <p:sp>
        <p:nvSpPr>
          <p:cNvPr id="32" name="Text 31"/>
          <p:cNvSpPr txBox="1"/>
          <p:nvPr/>
        </p:nvSpPr>
        <p:spPr>
          <a:xfrm>
            <a:off x="893890" y="3169432"/>
            <a:ext cx="353841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تخطيط التدقيق وتنفيذه، وكتابة الملاحظات وإعداد التقرير.</a:t>
            </a:r>
          </a:p>
        </p:txBody>
      </p:sp>
      <p:sp>
        <p:nvSpPr>
          <p:cNvPr id="33" name="Text 32"/>
          <p:cNvSpPr txBox="1"/>
          <p:nvPr/>
        </p:nvSpPr>
        <p:spPr>
          <a:xfrm>
            <a:off x="4409440" y="3872893"/>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الخبرة</a:t>
            </a:r>
          </a:p>
        </p:txBody>
      </p:sp>
      <p:sp>
        <p:nvSpPr>
          <p:cNvPr id="34" name="Text 33"/>
          <p:cNvSpPr txBox="1"/>
          <p:nvPr/>
        </p:nvSpPr>
        <p:spPr>
          <a:xfrm>
            <a:off x="893890" y="3872893"/>
            <a:ext cx="353841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الاختبار بلا خبرة، واللقب يحتاج خبرة تدقيق.</a:t>
            </a:r>
          </a:p>
        </p:txBody>
      </p:sp>
      <p:sp>
        <p:nvSpPr>
          <p:cNvPr id="35" name="Text 34"/>
          <p:cNvSpPr txBox="1"/>
          <p:nvPr/>
        </p:nvSpPr>
        <p:spPr>
          <a:xfrm>
            <a:off x="4409440" y="4576354"/>
            <a:ext cx="143891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7A4A0E"/>
                </a:solidFill>
                <a:latin typeface="IBM Plex Sans Arabic"/>
                <a:ea typeface="IBM Plex Sans Arabic"/>
                <a:cs typeface="IBM Plex Sans Arabic"/>
              </a:rPr>
              <a:t>متى؟</a:t>
            </a:r>
          </a:p>
        </p:txBody>
      </p:sp>
      <p:sp>
        <p:nvSpPr>
          <p:cNvPr id="36" name="Text 35"/>
          <p:cNvSpPr txBox="1"/>
          <p:nvPr/>
        </p:nvSpPr>
        <p:spPr>
          <a:xfrm>
            <a:off x="838200" y="4576354"/>
            <a:ext cx="35941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إن اتجهت للتدقيق.</a:t>
            </a:r>
          </a:p>
        </p:txBody>
      </p:sp>
      <p:sp>
        <p:nvSpPr>
          <p:cNvPr id="37" name="Box 36"/>
          <p:cNvSpPr/>
          <p:nvPr/>
        </p:nvSpPr>
        <p:spPr>
          <a:xfrm>
            <a:off x="812800" y="5281017"/>
            <a:ext cx="10566400" cy="556220"/>
          </a:xfrm>
          <a:prstGeom prst="roundRect">
            <a:avLst>
              <a:gd name="adj" fmla="val 18266"/>
            </a:avLst>
          </a:prstGeom>
          <a:solidFill>
            <a:srgbClr val="172433"/>
          </a:solidFill>
          <a:ln>
            <a:noFill/>
          </a:ln>
        </p:spPr>
        <p:txBody>
          <a:bodyPr rtlCol="0" anchor="ctr"/>
          <a:lstStyle/>
          <a:p>
            <a:pPr algn="ctr"/>
          </a:p>
        </p:txBody>
      </p:sp>
      <p:pic>
        <p:nvPicPr>
          <p:cNvPr id="38" name="Icon Lightbulb 37" descr="icon051.png"/>
          <p:cNvPicPr>
            <a:picLocks noChangeAspect="1"/>
          </p:cNvPicPr>
          <p:nvPr/>
        </p:nvPicPr>
        <p:blipFill>
          <a:blip r:embed="rId2"/>
          <a:stretch>
            <a:fillRect/>
          </a:stretch>
        </p:blipFill>
        <p:spPr>
          <a:xfrm>
            <a:off x="10979150" y="5448002"/>
            <a:ext cx="222250" cy="222250"/>
          </a:xfrm>
          <a:prstGeom prst="rect">
            <a:avLst/>
          </a:prstGeom>
        </p:spPr>
      </p:pic>
      <p:sp>
        <p:nvSpPr>
          <p:cNvPr id="39" name="Text 38"/>
          <p:cNvSpPr txBox="1"/>
          <p:nvPr/>
        </p:nvSpPr>
        <p:spPr>
          <a:xfrm>
            <a:off x="838200" y="5374553"/>
            <a:ext cx="1002665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لا تصدرها ISO نفسها، بل جهات تدريب واعتماد مثل PECB وBSI. شروط كل جهة تختلف.</a:t>
            </a:r>
          </a:p>
        </p:txBody>
      </p:sp>
      <p:sp>
        <p:nvSpPr>
          <p:cNvPr id="40" name="Text 3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41" name="Text 4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التدريب ليس الاختبار، والاختبار ليس اللقب</a:t>
            </a:r>
          </a:p>
        </p:txBody>
      </p:sp>
      <p:sp>
        <p:nvSpPr>
          <p:cNvPr id="5" name="Box 4"/>
          <p:cNvSpPr/>
          <p:nvPr/>
        </p:nvSpPr>
        <p:spPr>
          <a:xfrm>
            <a:off x="9034760" y="1635720"/>
            <a:ext cx="2341265" cy="3337322"/>
          </a:xfrm>
          <a:prstGeom prst="roundRect">
            <a:avLst>
              <a:gd name="adj" fmla="val 4868"/>
            </a:avLst>
          </a:prstGeom>
          <a:solidFill>
            <a:srgbClr val="FFFDF8"/>
          </a:solidFill>
          <a:ln w="6350">
            <a:solidFill>
              <a:srgbClr val="E1DBCD"/>
            </a:solidFill>
          </a:ln>
        </p:spPr>
        <p:txBody>
          <a:bodyPr rtlCol="0" anchor="ctr"/>
          <a:lstStyle/>
          <a:p>
            <a:pPr algn="ctr"/>
          </a:p>
        </p:txBody>
      </p:sp>
      <p:sp>
        <p:nvSpPr>
          <p:cNvPr id="6" name="Text 5"/>
          <p:cNvSpPr txBox="1"/>
          <p:nvPr/>
        </p:nvSpPr>
        <p:spPr>
          <a:xfrm>
            <a:off x="9056985" y="1825839"/>
            <a:ext cx="2150765" cy="406400"/>
          </a:xfrm>
          <a:prstGeom prst="rect">
            <a:avLst/>
          </a:prstGeom>
          <a:noFill/>
        </p:spPr>
        <p:txBody>
          <a:bodyPr wrap="square" tIns="0" rIns="0" bIns="0" lIns="0" anchor="t" rtlCol="0" anchorCtr="0">
            <a:noAutofit/>
          </a:bodyPr>
          <a:lstStyle/>
          <a:p>
            <a:pPr algn="r">
              <a:lnSpc>
                <a:spcPts val="3200"/>
              </a:lnSpc>
              <a:spcBef>
                <a:spcPts val="0"/>
              </a:spcBef>
              <a:spcAft>
                <a:spcPts val="0"/>
              </a:spcAft>
            </a:pPr>
            <a:r>
              <a:rPr sz="3200" b="1" i="0">
                <a:solidFill>
                  <a:srgbClr val="0E7C6B"/>
                </a:solidFill>
                <a:latin typeface="Readex Pro"/>
                <a:ea typeface="Readex Pro"/>
                <a:cs typeface="Readex Pro"/>
              </a:rPr>
              <a:t>1</a:t>
            </a:r>
          </a:p>
        </p:txBody>
      </p:sp>
      <p:sp>
        <p:nvSpPr>
          <p:cNvPr id="7" name="Text 6"/>
          <p:cNvSpPr txBox="1"/>
          <p:nvPr/>
        </p:nvSpPr>
        <p:spPr>
          <a:xfrm>
            <a:off x="9056985" y="224220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إتمام التدريب</a:t>
            </a:r>
          </a:p>
        </p:txBody>
      </p:sp>
      <p:sp>
        <p:nvSpPr>
          <p:cNvPr id="8" name="Text 7"/>
          <p:cNvSpPr txBox="1"/>
          <p:nvPr/>
        </p:nvSpPr>
        <p:spPr>
          <a:xfrm>
            <a:off x="9141123" y="2666020"/>
            <a:ext cx="2066627" cy="104001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4E5A66"/>
                </a:solidFill>
                <a:latin typeface="IBM Plex Sans Arabic"/>
                <a:ea typeface="IBM Plex Sans Arabic"/>
                <a:cs typeface="IBM Plex Sans Arabic"/>
              </a:rPr>
              <a:t>شهادة حضور أو إتمام. عند PECB:‏ 31 ساعة تطوير مهني.</a:t>
            </a:r>
          </a:p>
        </p:txBody>
      </p:sp>
      <p:sp>
        <p:nvSpPr>
          <p:cNvPr id="9" name="Text 8"/>
          <p:cNvSpPr txBox="1"/>
          <p:nvPr/>
        </p:nvSpPr>
        <p:spPr>
          <a:xfrm>
            <a:off x="8540512" y="3171476"/>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10" name="Box 9"/>
          <p:cNvSpPr/>
          <p:nvPr/>
        </p:nvSpPr>
        <p:spPr>
          <a:xfrm>
            <a:off x="6295132" y="1635720"/>
            <a:ext cx="2341265" cy="3337322"/>
          </a:xfrm>
          <a:prstGeom prst="roundRect">
            <a:avLst>
              <a:gd name="adj" fmla="val 4868"/>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317357" y="1825839"/>
            <a:ext cx="2150765" cy="406400"/>
          </a:xfrm>
          <a:prstGeom prst="rect">
            <a:avLst/>
          </a:prstGeom>
          <a:noFill/>
        </p:spPr>
        <p:txBody>
          <a:bodyPr wrap="square" tIns="0" rIns="0" bIns="0" lIns="0" anchor="t" rtlCol="0" anchorCtr="0">
            <a:noAutofit/>
          </a:bodyPr>
          <a:lstStyle/>
          <a:p>
            <a:pPr algn="r">
              <a:lnSpc>
                <a:spcPts val="3200"/>
              </a:lnSpc>
              <a:spcBef>
                <a:spcPts val="0"/>
              </a:spcBef>
              <a:spcAft>
                <a:spcPts val="0"/>
              </a:spcAft>
            </a:pPr>
            <a:r>
              <a:rPr sz="3200" b="1" i="0">
                <a:solidFill>
                  <a:srgbClr val="0E7C6B"/>
                </a:solidFill>
                <a:latin typeface="Readex Pro"/>
                <a:ea typeface="Readex Pro"/>
                <a:cs typeface="Readex Pro"/>
              </a:rPr>
              <a:t>2</a:t>
            </a:r>
          </a:p>
        </p:txBody>
      </p:sp>
      <p:sp>
        <p:nvSpPr>
          <p:cNvPr id="12" name="Text 11"/>
          <p:cNvSpPr txBox="1"/>
          <p:nvPr/>
        </p:nvSpPr>
        <p:spPr>
          <a:xfrm>
            <a:off x="6390382" y="2242209"/>
            <a:ext cx="2077740" cy="75942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النجاح في الاختبار</a:t>
            </a:r>
          </a:p>
        </p:txBody>
      </p:sp>
      <p:sp>
        <p:nvSpPr>
          <p:cNvPr id="13" name="Text 12"/>
          <p:cNvSpPr txBox="1"/>
          <p:nvPr/>
        </p:nvSpPr>
        <p:spPr>
          <a:xfrm>
            <a:off x="6401495" y="3045730"/>
            <a:ext cx="2066627" cy="104001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4E5A66"/>
                </a:solidFill>
                <a:latin typeface="IBM Plex Sans Arabic"/>
                <a:ea typeface="IBM Plex Sans Arabic"/>
                <a:cs typeface="IBM Plex Sans Arabic"/>
              </a:rPr>
              <a:t>عند PECB:‏ 80 سؤالاً بكتاب مفتوح، والنجاح 70%.</a:t>
            </a:r>
          </a:p>
        </p:txBody>
      </p:sp>
      <p:sp>
        <p:nvSpPr>
          <p:cNvPr id="14" name="Text 13"/>
          <p:cNvSpPr txBox="1"/>
          <p:nvPr/>
        </p:nvSpPr>
        <p:spPr>
          <a:xfrm>
            <a:off x="5800884" y="3171476"/>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15" name="Box 14"/>
          <p:cNvSpPr/>
          <p:nvPr/>
        </p:nvSpPr>
        <p:spPr>
          <a:xfrm>
            <a:off x="3555504" y="1635720"/>
            <a:ext cx="2341265" cy="3337322"/>
          </a:xfrm>
          <a:prstGeom prst="roundRect">
            <a:avLst>
              <a:gd name="adj" fmla="val 4868"/>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77729" y="1825839"/>
            <a:ext cx="2150765" cy="406400"/>
          </a:xfrm>
          <a:prstGeom prst="rect">
            <a:avLst/>
          </a:prstGeom>
          <a:noFill/>
        </p:spPr>
        <p:txBody>
          <a:bodyPr wrap="square" tIns="0" rIns="0" bIns="0" lIns="0" anchor="t" rtlCol="0" anchorCtr="0">
            <a:noAutofit/>
          </a:bodyPr>
          <a:lstStyle/>
          <a:p>
            <a:pPr algn="r">
              <a:lnSpc>
                <a:spcPts val="3200"/>
              </a:lnSpc>
              <a:spcBef>
                <a:spcPts val="0"/>
              </a:spcBef>
              <a:spcAft>
                <a:spcPts val="0"/>
              </a:spcAft>
            </a:pPr>
            <a:r>
              <a:rPr sz="3200" b="1" i="0">
                <a:solidFill>
                  <a:srgbClr val="0E7C6B"/>
                </a:solidFill>
                <a:latin typeface="Readex Pro"/>
                <a:ea typeface="Readex Pro"/>
                <a:cs typeface="Readex Pro"/>
              </a:rPr>
              <a:t>3</a:t>
            </a:r>
          </a:p>
        </p:txBody>
      </p:sp>
      <p:sp>
        <p:nvSpPr>
          <p:cNvPr id="17" name="Text 16"/>
          <p:cNvSpPr txBox="1"/>
          <p:nvPr/>
        </p:nvSpPr>
        <p:spPr>
          <a:xfrm>
            <a:off x="3650754" y="2242209"/>
            <a:ext cx="2077740" cy="75942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استحقاق اللقب</a:t>
            </a:r>
          </a:p>
        </p:txBody>
      </p:sp>
      <p:sp>
        <p:nvSpPr>
          <p:cNvPr id="18" name="Text 17"/>
          <p:cNvSpPr txBox="1"/>
          <p:nvPr/>
        </p:nvSpPr>
        <p:spPr>
          <a:xfrm>
            <a:off x="3661866" y="3045730"/>
            <a:ext cx="2066627" cy="1733352"/>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4E5A66"/>
                </a:solidFill>
                <a:latin typeface="IBM Plex Sans Arabic"/>
                <a:ea typeface="IBM Plex Sans Arabic"/>
                <a:cs typeface="IBM Plex Sans Arabic"/>
              </a:rPr>
              <a:t>Provisional بلا خبرة، ثم Implementer، ثم Lead، ثم Senior Lead.</a:t>
            </a:r>
          </a:p>
        </p:txBody>
      </p:sp>
      <p:sp>
        <p:nvSpPr>
          <p:cNvPr id="19" name="Text 18"/>
          <p:cNvSpPr txBox="1"/>
          <p:nvPr/>
        </p:nvSpPr>
        <p:spPr>
          <a:xfrm>
            <a:off x="3061256" y="3171476"/>
            <a:ext cx="414873"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300" b="0" i="0">
                <a:solidFill>
                  <a:srgbClr val="93A3B1"/>
                </a:solidFill>
                <a:latin typeface="IBM Plex Sans Arabic"/>
                <a:ea typeface="IBM Plex Sans Arabic"/>
                <a:cs typeface="IBM Plex Sans Arabic"/>
              </a:rPr>
              <a:t>←</a:t>
            </a:r>
          </a:p>
        </p:txBody>
      </p:sp>
      <p:sp>
        <p:nvSpPr>
          <p:cNvPr id="20" name="Box 19"/>
          <p:cNvSpPr/>
          <p:nvPr/>
        </p:nvSpPr>
        <p:spPr>
          <a:xfrm>
            <a:off x="815876" y="1635720"/>
            <a:ext cx="2341265" cy="3337322"/>
          </a:xfrm>
          <a:prstGeom prst="roundRect">
            <a:avLst>
              <a:gd name="adj" fmla="val 4868"/>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101" y="1825839"/>
            <a:ext cx="2150765" cy="406400"/>
          </a:xfrm>
          <a:prstGeom prst="rect">
            <a:avLst/>
          </a:prstGeom>
          <a:noFill/>
        </p:spPr>
        <p:txBody>
          <a:bodyPr wrap="square" tIns="0" rIns="0" bIns="0" lIns="0" anchor="t" rtlCol="0" anchorCtr="0">
            <a:noAutofit/>
          </a:bodyPr>
          <a:lstStyle/>
          <a:p>
            <a:pPr algn="r">
              <a:lnSpc>
                <a:spcPts val="3200"/>
              </a:lnSpc>
              <a:spcBef>
                <a:spcPts val="0"/>
              </a:spcBef>
              <a:spcAft>
                <a:spcPts val="0"/>
              </a:spcAft>
            </a:pPr>
            <a:r>
              <a:rPr sz="3200" b="1" i="0">
                <a:solidFill>
                  <a:srgbClr val="0E7C6B"/>
                </a:solidFill>
                <a:latin typeface="Readex Pro"/>
                <a:ea typeface="Readex Pro"/>
                <a:cs typeface="Readex Pro"/>
              </a:rPr>
              <a:t>4</a:t>
            </a:r>
          </a:p>
        </p:txBody>
      </p:sp>
      <p:sp>
        <p:nvSpPr>
          <p:cNvPr id="22" name="Text 21"/>
          <p:cNvSpPr txBox="1"/>
          <p:nvPr/>
        </p:nvSpPr>
        <p:spPr>
          <a:xfrm>
            <a:off x="838101" y="2242209"/>
            <a:ext cx="2150765" cy="379710"/>
          </a:xfrm>
          <a:prstGeom prst="rect">
            <a:avLst/>
          </a:prstGeom>
          <a:noFill/>
        </p:spPr>
        <p:txBody>
          <a:bodyPr wrap="square" tIns="0" rIns="0" bIns="0" lIns="0" anchor="t" rtlCol="0" anchorCtr="0">
            <a:noAutofit/>
          </a:bodyPr>
          <a:lstStyle/>
          <a:p>
            <a:pPr algn="r" rtl="1">
              <a:lnSpc>
                <a:spcPts val="2990"/>
              </a:lnSpc>
              <a:spcBef>
                <a:spcPts val="0"/>
              </a:spcBef>
              <a:spcAft>
                <a:spcPts val="0"/>
              </a:spcAft>
            </a:pPr>
            <a:r>
              <a:rPr sz="2300" b="1" i="0">
                <a:solidFill>
                  <a:srgbClr val="172433"/>
                </a:solidFill>
                <a:latin typeface="Readex Pro"/>
                <a:ea typeface="Readex Pro"/>
                <a:cs typeface="Readex Pro"/>
              </a:rPr>
              <a:t>متطلبات الجهة</a:t>
            </a:r>
          </a:p>
        </p:txBody>
      </p:sp>
      <p:sp>
        <p:nvSpPr>
          <p:cNvPr id="23" name="Text 22"/>
          <p:cNvSpPr txBox="1"/>
          <p:nvPr/>
        </p:nvSpPr>
        <p:spPr>
          <a:xfrm>
            <a:off x="922238" y="2666020"/>
            <a:ext cx="2066627" cy="138668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4E5A66"/>
                </a:solidFill>
                <a:latin typeface="IBM Plex Sans Arabic"/>
                <a:ea typeface="IBM Plex Sans Arabic"/>
                <a:cs typeface="IBM Plex Sans Arabic"/>
              </a:rPr>
              <a:t>كل جهة مانحة لها شروطها. شهادة PECB تختلف عن غيرها.</a:t>
            </a:r>
          </a:p>
        </p:txBody>
      </p:sp>
      <p:sp>
        <p:nvSpPr>
          <p:cNvPr id="24" name="Box 23"/>
          <p:cNvSpPr/>
          <p:nvPr/>
        </p:nvSpPr>
        <p:spPr>
          <a:xfrm>
            <a:off x="812800" y="5141317"/>
            <a:ext cx="10566400" cy="582910"/>
          </a:xfrm>
          <a:prstGeom prst="roundRect">
            <a:avLst>
              <a:gd name="adj" fmla="val 17429"/>
            </a:avLst>
          </a:prstGeom>
          <a:solidFill>
            <a:srgbClr val="F6ECDA"/>
          </a:solidFill>
          <a:ln>
            <a:noFill/>
          </a:ln>
        </p:spPr>
        <p:txBody>
          <a:bodyPr rtlCol="0" anchor="ctr"/>
          <a:lstStyle/>
          <a:p>
            <a:pPr algn="ctr"/>
          </a:p>
        </p:txBody>
      </p:sp>
      <p:pic>
        <p:nvPicPr>
          <p:cNvPr id="25" name="Icon Globe 24" descr="icon058.png"/>
          <p:cNvPicPr>
            <a:picLocks noChangeAspect="1"/>
          </p:cNvPicPr>
          <p:nvPr/>
        </p:nvPicPr>
        <p:blipFill>
          <a:blip r:embed="rId2"/>
          <a:stretch>
            <a:fillRect/>
          </a:stretch>
        </p:blipFill>
        <p:spPr>
          <a:xfrm>
            <a:off x="10960100" y="5312073"/>
            <a:ext cx="241300" cy="241300"/>
          </a:xfrm>
          <a:prstGeom prst="rect">
            <a:avLst/>
          </a:prstGeom>
        </p:spPr>
      </p:pic>
      <p:sp>
        <p:nvSpPr>
          <p:cNvPr id="26" name="Text 25"/>
          <p:cNvSpPr txBox="1"/>
          <p:nvPr/>
        </p:nvSpPr>
        <p:spPr>
          <a:xfrm>
            <a:off x="838200" y="5231900"/>
            <a:ext cx="100076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قد تجد دورات تُشرح بالعربية، لكن لغة الاختبار شيء آخر. تحقق منها في قائمة اختبارات الجهة.</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من الاختبار إلى اللقب المهني</a:t>
            </a:r>
          </a:p>
        </p:txBody>
      </p:sp>
      <p:graphicFrame>
        <p:nvGraphicFramePr>
          <p:cNvPr id="5" name="Table 4"/>
          <p:cNvGraphicFramePr>
            <a:graphicFrameLocks noGrp="1"/>
          </p:cNvGraphicFramePr>
          <p:nvPr/>
        </p:nvGraphicFramePr>
        <p:xfrm>
          <a:off x="815975" y="1635720"/>
          <a:ext cx="10560050" cy="3198813"/>
        </p:xfrm>
        <a:graphic>
          <a:graphicData uri="http://schemas.openxmlformats.org/drawingml/2006/table">
            <a:tbl>
              <a:tblPr firstRow="0" bandRow="0" lastRow="0" firstCol="0" lastCol="0" bandCol="0">
                <a:tableStyleId>{2D5ABB26-0587-4C30-8999-92F81FD0307C}</a:tableStyleId>
              </a:tblPr>
              <a:tblGrid>
                <a:gridCol w="1900555"/>
                <a:gridCol w="5069205"/>
                <a:gridCol w="3590290"/>
              </a:tblGrid>
              <a:tr h="934641">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ساعات المشاريع</a:t>
                      </a:r>
                    </a:p>
                  </a:txBody>
                  <a:tcPr marT="115091" marR="163830" marB="76044" marL="95568"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الخبرة</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02"/>
                        </a:lnSpc>
                        <a:spcBef>
                          <a:spcPts val="0"/>
                        </a:spcBef>
                        <a:spcAft>
                          <a:spcPts val="0"/>
                        </a:spcAft>
                      </a:pPr>
                      <a:r>
                        <a:rPr sz="2150" b="1" i="0">
                          <a:solidFill>
                            <a:srgbClr val="F3EFE6"/>
                          </a:solidFill>
                          <a:latin typeface="IBM Plex Sans Arabic"/>
                          <a:ea typeface="IBM Plex Sans Arabic"/>
                          <a:cs typeface="IBM Plex Sans Arabic"/>
                        </a:rPr>
                        <a:t>اللقب عند PECB</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66043">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لا شيء</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لا شيء</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02"/>
                        </a:lnSpc>
                        <a:spcBef>
                          <a:spcPts val="0"/>
                        </a:spcBef>
                        <a:spcAft>
                          <a:spcPts val="0"/>
                        </a:spcAft>
                      </a:pPr>
                      <a:r>
                        <a:rPr sz="2150" b="1" i="0">
                          <a:solidFill>
                            <a:srgbClr val="172433"/>
                          </a:solidFill>
                          <a:latin typeface="IBM Plex Sans Arabic"/>
                          <a:ea typeface="IBM Plex Sans Arabic"/>
                          <a:cs typeface="IBM Plex Sans Arabic"/>
                        </a:rPr>
                        <a:t>Provisional Implementer</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200</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سنتان، منها سنة في إدارة أمن المعلومات</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902"/>
                        </a:lnSpc>
                        <a:spcBef>
                          <a:spcPts val="0"/>
                        </a:spcBef>
                        <a:spcAft>
                          <a:spcPts val="0"/>
                        </a:spcAft>
                      </a:pPr>
                      <a:r>
                        <a:rPr sz="2150" b="1" i="0">
                          <a:solidFill>
                            <a:srgbClr val="172433"/>
                          </a:solidFill>
                          <a:latin typeface="IBM Plex Sans Arabic"/>
                          <a:ea typeface="IBM Plex Sans Arabic"/>
                          <a:cs typeface="IBM Plex Sans Arabic"/>
                        </a:rPr>
                        <a:t>Implementer</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66043">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300</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5 سنوات، منها سنتان في إدارة أمن المعلومات</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02"/>
                        </a:lnSpc>
                        <a:spcBef>
                          <a:spcPts val="0"/>
                        </a:spcBef>
                        <a:spcAft>
                          <a:spcPts val="0"/>
                        </a:spcAft>
                      </a:pPr>
                      <a:r>
                        <a:rPr sz="2150" b="1" i="0">
                          <a:solidFill>
                            <a:srgbClr val="172433"/>
                          </a:solidFill>
                          <a:latin typeface="IBM Plex Sans Arabic"/>
                          <a:ea typeface="IBM Plex Sans Arabic"/>
                          <a:cs typeface="IBM Plex Sans Arabic"/>
                        </a:rPr>
                        <a:t>Lead Implementer</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66043">
                <a:tc>
                  <a:txBody>
                    <a:bodyPr wrap="square"/>
                    <a:lstStyle/>
                    <a:p>
                      <a:pPr algn="r">
                        <a:lnSpc>
                          <a:spcPts val="2902"/>
                        </a:lnSpc>
                        <a:spcBef>
                          <a:spcPts val="0"/>
                        </a:spcBef>
                        <a:spcAft>
                          <a:spcPts val="0"/>
                        </a:spcAft>
                      </a:pPr>
                      <a:r>
                        <a:rPr sz="2150" b="0" i="0">
                          <a:solidFill>
                            <a:srgbClr val="172433"/>
                          </a:solidFill>
                          <a:latin typeface="IBM Plex Sans Arabic"/>
                          <a:ea typeface="IBM Plex Sans Arabic"/>
                          <a:cs typeface="IBM Plex Sans Arabic"/>
                        </a:rPr>
                        <a:t>1000</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02"/>
                        </a:lnSpc>
                        <a:spcBef>
                          <a:spcPts val="0"/>
                        </a:spcBef>
                        <a:spcAft>
                          <a:spcPts val="0"/>
                        </a:spcAft>
                      </a:pPr>
                      <a:r>
                        <a:rPr sz="2150" b="0" i="0">
                          <a:solidFill>
                            <a:srgbClr val="172433"/>
                          </a:solidFill>
                          <a:latin typeface="IBM Plex Sans Arabic"/>
                          <a:ea typeface="IBM Plex Sans Arabic"/>
                          <a:cs typeface="IBM Plex Sans Arabic"/>
                        </a:rPr>
                        <a:t>10 سنوات، منها 7 في إدارة أمن المعلومات</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902"/>
                        </a:lnSpc>
                        <a:spcBef>
                          <a:spcPts val="0"/>
                        </a:spcBef>
                        <a:spcAft>
                          <a:spcPts val="0"/>
                        </a:spcAft>
                      </a:pPr>
                      <a:r>
                        <a:rPr sz="2150" b="1" i="0">
                          <a:solidFill>
                            <a:srgbClr val="172433"/>
                          </a:solidFill>
                          <a:latin typeface="IBM Plex Sans Arabic"/>
                          <a:ea typeface="IBM Plex Sans Arabic"/>
                          <a:cs typeface="IBM Plex Sans Arabic"/>
                        </a:rPr>
                        <a:t>Senior Lead Implementer</a:t>
                      </a:r>
                    </a:p>
                  </a:txBody>
                  <a:tcPr marT="115091" marR="163830" marB="7604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005983"/>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7" name="Icon Warning 6" descr="icon001.png"/>
          <p:cNvPicPr>
            <a:picLocks noChangeAspect="1"/>
          </p:cNvPicPr>
          <p:nvPr/>
        </p:nvPicPr>
        <p:blipFill>
          <a:blip r:embed="rId2"/>
          <a:stretch>
            <a:fillRect/>
          </a:stretch>
        </p:blipFill>
        <p:spPr>
          <a:xfrm>
            <a:off x="10934700" y="5183783"/>
            <a:ext cx="260350" cy="260350"/>
          </a:xfrm>
          <a:prstGeom prst="rect">
            <a:avLst/>
          </a:prstGeom>
        </p:spPr>
      </p:pic>
      <p:sp>
        <p:nvSpPr>
          <p:cNvPr id="8" name="Text 7"/>
          <p:cNvSpPr txBox="1"/>
          <p:nvPr/>
        </p:nvSpPr>
        <p:spPr>
          <a:xfrm>
            <a:off x="838200" y="5096788"/>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كتبت في سيرتك Lead Implementer، فتأكد أنك تستحق اللقب، لا أنك حضرت الدورة فقط.</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(1 من 2): التدقيق والمخاطر</a:t>
            </a:r>
          </a:p>
        </p:txBody>
      </p:sp>
      <p:sp>
        <p:nvSpPr>
          <p:cNvPr id="5" name="Box 4"/>
          <p:cNvSpPr/>
          <p:nvPr/>
        </p:nvSpPr>
        <p:spPr>
          <a:xfrm>
            <a:off x="6159500" y="1657945"/>
            <a:ext cx="5219700" cy="3377902"/>
          </a:xfrm>
          <a:prstGeom prst="roundRect">
            <a:avLst>
              <a:gd name="adj" fmla="val 3383"/>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0E6B5C"/>
          </a:solidFill>
          <a:ln>
            <a:noFill/>
          </a:ln>
        </p:spPr>
        <p:txBody>
          <a:bodyPr rtlCol="0" anchor="ctr"/>
          <a:lstStyle/>
          <a:p>
            <a:pPr algn="ctr"/>
          </a:p>
        </p:txBody>
      </p:sp>
      <p:sp>
        <p:nvSpPr>
          <p:cNvPr id="7" name="Rule 6"/>
          <p:cNvSpPr/>
          <p:nvPr/>
        </p:nvSpPr>
        <p:spPr>
          <a:xfrm>
            <a:off x="11372850" y="1657945"/>
            <a:ext cx="6350" cy="3377902"/>
          </a:xfrm>
          <a:prstGeom prst="rect">
            <a:avLst/>
          </a:prstGeom>
          <a:solidFill>
            <a:srgbClr val="E1DBCD"/>
          </a:solidFill>
          <a:ln>
            <a:noFill/>
          </a:ln>
        </p:spPr>
        <p:txBody>
          <a:bodyPr rtlCol="0" anchor="ctr"/>
          <a:lstStyle/>
          <a:p>
            <a:pPr algn="ctr"/>
          </a:p>
        </p:txBody>
      </p:sp>
      <p:sp>
        <p:nvSpPr>
          <p:cNvPr id="8" name="Rule 7"/>
          <p:cNvSpPr/>
          <p:nvPr/>
        </p:nvSpPr>
        <p:spPr>
          <a:xfrm>
            <a:off x="6159500" y="5029498"/>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377902"/>
          </a:xfrm>
          <a:prstGeom prst="rect">
            <a:avLst/>
          </a:prstGeom>
          <a:solidFill>
            <a:srgbClr val="E1DBCD"/>
          </a:solidFill>
          <a:ln>
            <a:noFill/>
          </a:ln>
        </p:spPr>
        <p:txBody>
          <a:bodyPr rtlCol="0" anchor="ctr"/>
          <a:lstStyle/>
          <a:p>
            <a:pPr algn="ctr"/>
          </a:p>
        </p:txBody>
      </p:sp>
      <p:sp>
        <p:nvSpPr>
          <p:cNvPr id="10" name="Text 9"/>
          <p:cNvSpPr txBox="1"/>
          <p:nvPr/>
        </p:nvSpPr>
        <p:spPr>
          <a:xfrm>
            <a:off x="10144939" y="1864447"/>
            <a:ext cx="1050111"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600" b="1" i="0">
                <a:solidFill>
                  <a:srgbClr val="0E6B5C"/>
                </a:solidFill>
                <a:latin typeface="Readex Pro"/>
                <a:ea typeface="Readex Pro"/>
                <a:cs typeface="Readex Pro"/>
              </a:rPr>
              <a:t>CISA</a:t>
            </a:r>
          </a:p>
        </p:txBody>
      </p:sp>
      <p:sp>
        <p:nvSpPr>
          <p:cNvPr id="11" name="Text 10"/>
          <p:cNvSpPr txBox="1"/>
          <p:nvPr/>
        </p:nvSpPr>
        <p:spPr>
          <a:xfrm>
            <a:off x="9502259" y="1871825"/>
            <a:ext cx="751900"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1" i="0">
                <a:solidFill>
                  <a:srgbClr val="4E5A66"/>
                </a:solidFill>
                <a:latin typeface="IBM Plex Sans Arabic"/>
                <a:ea typeface="IBM Plex Sans Arabic"/>
                <a:cs typeface="IBM Plex Sans Arabic"/>
              </a:rPr>
              <a:t>ISACA</a:t>
            </a:r>
          </a:p>
        </p:txBody>
      </p:sp>
      <p:sp>
        <p:nvSpPr>
          <p:cNvPr id="12" name="Text 11"/>
          <p:cNvSpPr txBox="1"/>
          <p:nvPr/>
        </p:nvSpPr>
        <p:spPr>
          <a:xfrm>
            <a:off x="6184900" y="2240347"/>
            <a:ext cx="501015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Certified Information Systems Auditor</a:t>
            </a:r>
          </a:p>
        </p:txBody>
      </p:sp>
      <p:sp>
        <p:nvSpPr>
          <p:cNvPr id="13" name="Text 12"/>
          <p:cNvSpPr txBox="1"/>
          <p:nvPr/>
        </p:nvSpPr>
        <p:spPr>
          <a:xfrm>
            <a:off x="9744710" y="2568190"/>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لمن؟</a:t>
            </a:r>
          </a:p>
        </p:txBody>
      </p:sp>
      <p:sp>
        <p:nvSpPr>
          <p:cNvPr id="14" name="Text 13"/>
          <p:cNvSpPr txBox="1"/>
          <p:nvPr/>
        </p:nvSpPr>
        <p:spPr>
          <a:xfrm>
            <a:off x="6184900" y="2568190"/>
            <a:ext cx="35941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تدقيق تقنية المعلومات: الخط الثالث.</a:t>
            </a:r>
          </a:p>
        </p:txBody>
      </p:sp>
      <p:sp>
        <p:nvSpPr>
          <p:cNvPr id="15" name="Text 14"/>
          <p:cNvSpPr txBox="1"/>
          <p:nvPr/>
        </p:nvSpPr>
        <p:spPr>
          <a:xfrm>
            <a:off x="9744710" y="2978360"/>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ماذا تعلّم؟</a:t>
            </a:r>
          </a:p>
        </p:txBody>
      </p:sp>
      <p:sp>
        <p:nvSpPr>
          <p:cNvPr id="16" name="Text 15"/>
          <p:cNvSpPr txBox="1"/>
          <p:nvPr/>
        </p:nvSpPr>
        <p:spPr>
          <a:xfrm>
            <a:off x="6240590" y="2978360"/>
            <a:ext cx="353841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عملية التدقيق، وحوكمة التقنية، وتشغيل الأنظمة وحمايتها.</a:t>
            </a:r>
          </a:p>
        </p:txBody>
      </p:sp>
      <p:sp>
        <p:nvSpPr>
          <p:cNvPr id="17" name="Text 16"/>
          <p:cNvSpPr txBox="1"/>
          <p:nvPr/>
        </p:nvSpPr>
        <p:spPr>
          <a:xfrm>
            <a:off x="9744710" y="3735201"/>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الخبرة</a:t>
            </a:r>
          </a:p>
        </p:txBody>
      </p:sp>
      <p:sp>
        <p:nvSpPr>
          <p:cNvPr id="18" name="Text 17"/>
          <p:cNvSpPr txBox="1"/>
          <p:nvPr/>
        </p:nvSpPr>
        <p:spPr>
          <a:xfrm>
            <a:off x="6184900" y="3735201"/>
            <a:ext cx="35941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5 سنوات، وإعفاء حتى 3.</a:t>
            </a:r>
          </a:p>
        </p:txBody>
      </p:sp>
      <p:sp>
        <p:nvSpPr>
          <p:cNvPr id="19" name="Text 18"/>
          <p:cNvSpPr txBox="1"/>
          <p:nvPr/>
        </p:nvSpPr>
        <p:spPr>
          <a:xfrm>
            <a:off x="9744710" y="4145371"/>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متى؟</a:t>
            </a:r>
          </a:p>
        </p:txBody>
      </p:sp>
      <p:sp>
        <p:nvSpPr>
          <p:cNvPr id="20" name="Text 19"/>
          <p:cNvSpPr txBox="1"/>
          <p:nvPr/>
        </p:nvSpPr>
        <p:spPr>
          <a:xfrm>
            <a:off x="6240590" y="4145371"/>
            <a:ext cx="353841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بعد خبرة تدقيق. تستطيع الاختبار مبكراً.</a:t>
            </a:r>
          </a:p>
        </p:txBody>
      </p:sp>
      <p:sp>
        <p:nvSpPr>
          <p:cNvPr id="21" name="Box 20"/>
          <p:cNvSpPr/>
          <p:nvPr/>
        </p:nvSpPr>
        <p:spPr>
          <a:xfrm>
            <a:off x="812800" y="1657945"/>
            <a:ext cx="5219700" cy="3377902"/>
          </a:xfrm>
          <a:prstGeom prst="roundRect">
            <a:avLst>
              <a:gd name="adj" fmla="val 3383"/>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0E6B5C"/>
          </a:solidFill>
          <a:ln>
            <a:noFill/>
          </a:ln>
        </p:spPr>
        <p:txBody>
          <a:bodyPr rtlCol="0" anchor="ctr"/>
          <a:lstStyle/>
          <a:p>
            <a:pPr algn="ctr"/>
          </a:p>
        </p:txBody>
      </p:sp>
      <p:sp>
        <p:nvSpPr>
          <p:cNvPr id="23" name="Rule 22"/>
          <p:cNvSpPr/>
          <p:nvPr/>
        </p:nvSpPr>
        <p:spPr>
          <a:xfrm>
            <a:off x="6026150" y="1657945"/>
            <a:ext cx="6350" cy="3377902"/>
          </a:xfrm>
          <a:prstGeom prst="rect">
            <a:avLst/>
          </a:prstGeom>
          <a:solidFill>
            <a:srgbClr val="E1DBCD"/>
          </a:solidFill>
          <a:ln>
            <a:noFill/>
          </a:ln>
        </p:spPr>
        <p:txBody>
          <a:bodyPr rtlCol="0" anchor="ctr"/>
          <a:lstStyle/>
          <a:p>
            <a:pPr algn="ctr"/>
          </a:p>
        </p:txBody>
      </p:sp>
      <p:sp>
        <p:nvSpPr>
          <p:cNvPr id="24" name="Rule 23"/>
          <p:cNvSpPr/>
          <p:nvPr/>
        </p:nvSpPr>
        <p:spPr>
          <a:xfrm>
            <a:off x="812800" y="5029498"/>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377902"/>
          </a:xfrm>
          <a:prstGeom prst="rect">
            <a:avLst/>
          </a:prstGeom>
          <a:solidFill>
            <a:srgbClr val="E1DBCD"/>
          </a:solidFill>
          <a:ln>
            <a:noFill/>
          </a:ln>
        </p:spPr>
        <p:txBody>
          <a:bodyPr rtlCol="0" anchor="ctr"/>
          <a:lstStyle/>
          <a:p>
            <a:pPr algn="ctr"/>
          </a:p>
        </p:txBody>
      </p:sp>
      <p:sp>
        <p:nvSpPr>
          <p:cNvPr id="26" name="Text 25"/>
          <p:cNvSpPr txBox="1"/>
          <p:nvPr/>
        </p:nvSpPr>
        <p:spPr>
          <a:xfrm>
            <a:off x="4567158" y="1864447"/>
            <a:ext cx="1281192" cy="379710"/>
          </a:xfrm>
          <a:prstGeom prst="rect">
            <a:avLst/>
          </a:prstGeom>
          <a:noFill/>
        </p:spPr>
        <p:txBody>
          <a:bodyPr wrap="square" tIns="0" rIns="0" bIns="0" lIns="0" anchor="t" rtlCol="0" anchorCtr="0">
            <a:noAutofit/>
          </a:bodyPr>
          <a:lstStyle/>
          <a:p>
            <a:pPr algn="r">
              <a:lnSpc>
                <a:spcPts val="2990"/>
              </a:lnSpc>
              <a:spcBef>
                <a:spcPts val="0"/>
              </a:spcBef>
              <a:spcAft>
                <a:spcPts val="0"/>
              </a:spcAft>
            </a:pPr>
            <a:r>
              <a:rPr sz="2600" b="1" i="0">
                <a:solidFill>
                  <a:srgbClr val="0E6B5C"/>
                </a:solidFill>
                <a:latin typeface="Readex Pro"/>
                <a:ea typeface="Readex Pro"/>
                <a:cs typeface="Readex Pro"/>
              </a:rPr>
              <a:t>CRISC</a:t>
            </a:r>
          </a:p>
        </p:txBody>
      </p:sp>
      <p:sp>
        <p:nvSpPr>
          <p:cNvPr id="27" name="Text 26"/>
          <p:cNvSpPr txBox="1"/>
          <p:nvPr/>
        </p:nvSpPr>
        <p:spPr>
          <a:xfrm>
            <a:off x="3924479" y="1871825"/>
            <a:ext cx="751900" cy="293291"/>
          </a:xfrm>
          <a:prstGeom prst="rect">
            <a:avLst/>
          </a:prstGeom>
          <a:noFill/>
        </p:spPr>
        <p:txBody>
          <a:bodyPr wrap="square" tIns="0" rIns="0" bIns="0" lIns="0" anchor="t" rtlCol="0" anchorCtr="0">
            <a:noAutofit/>
          </a:bodyPr>
          <a:lstStyle/>
          <a:p>
            <a:pPr algn="r">
              <a:lnSpc>
                <a:spcPts val="2310"/>
              </a:lnSpc>
              <a:spcBef>
                <a:spcPts val="0"/>
              </a:spcBef>
              <a:spcAft>
                <a:spcPts val="0"/>
              </a:spcAft>
            </a:pPr>
            <a:r>
              <a:rPr sz="1650" b="1" i="0">
                <a:solidFill>
                  <a:srgbClr val="4E5A66"/>
                </a:solidFill>
                <a:latin typeface="IBM Plex Sans Arabic"/>
                <a:ea typeface="IBM Plex Sans Arabic"/>
                <a:cs typeface="IBM Plex Sans Arabic"/>
              </a:rPr>
              <a:t>ISACA</a:t>
            </a:r>
          </a:p>
        </p:txBody>
      </p:sp>
      <p:sp>
        <p:nvSpPr>
          <p:cNvPr id="28" name="Text 27"/>
          <p:cNvSpPr txBox="1"/>
          <p:nvPr/>
        </p:nvSpPr>
        <p:spPr>
          <a:xfrm>
            <a:off x="838200" y="2240347"/>
            <a:ext cx="501015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Risk and Information Systems Control</a:t>
            </a:r>
          </a:p>
        </p:txBody>
      </p:sp>
      <p:sp>
        <p:nvSpPr>
          <p:cNvPr id="29" name="Text 28"/>
          <p:cNvSpPr txBox="1"/>
          <p:nvPr/>
        </p:nvSpPr>
        <p:spPr>
          <a:xfrm>
            <a:off x="4398010" y="2568190"/>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لمن؟</a:t>
            </a:r>
          </a:p>
        </p:txBody>
      </p:sp>
      <p:sp>
        <p:nvSpPr>
          <p:cNvPr id="30" name="Text 29"/>
          <p:cNvSpPr txBox="1"/>
          <p:nvPr/>
        </p:nvSpPr>
        <p:spPr>
          <a:xfrm>
            <a:off x="838200" y="2568190"/>
            <a:ext cx="35941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مخاطر التقنية: الخط الثاني.</a:t>
            </a:r>
          </a:p>
        </p:txBody>
      </p:sp>
      <p:sp>
        <p:nvSpPr>
          <p:cNvPr id="31" name="Text 30"/>
          <p:cNvSpPr txBox="1"/>
          <p:nvPr/>
        </p:nvSpPr>
        <p:spPr>
          <a:xfrm>
            <a:off x="4398010" y="2978360"/>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ماذا تعلّم؟</a:t>
            </a:r>
          </a:p>
        </p:txBody>
      </p:sp>
      <p:sp>
        <p:nvSpPr>
          <p:cNvPr id="32" name="Text 31"/>
          <p:cNvSpPr txBox="1"/>
          <p:nvPr/>
        </p:nvSpPr>
        <p:spPr>
          <a:xfrm>
            <a:off x="893890" y="2978360"/>
            <a:ext cx="353841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الحوكمة، وتقييم المخاطر، والاستجابة والتقارير، والتقنية.</a:t>
            </a:r>
          </a:p>
        </p:txBody>
      </p:sp>
      <p:sp>
        <p:nvSpPr>
          <p:cNvPr id="33" name="Text 32"/>
          <p:cNvSpPr txBox="1"/>
          <p:nvPr/>
        </p:nvSpPr>
        <p:spPr>
          <a:xfrm>
            <a:off x="4398010" y="3735201"/>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الخبرة</a:t>
            </a:r>
          </a:p>
        </p:txBody>
      </p:sp>
      <p:sp>
        <p:nvSpPr>
          <p:cNvPr id="34" name="Text 33"/>
          <p:cNvSpPr txBox="1"/>
          <p:nvPr/>
        </p:nvSpPr>
        <p:spPr>
          <a:xfrm>
            <a:off x="838200" y="3735201"/>
            <a:ext cx="35941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3 سنوات في مجالين من 4، بلا إعفاء.</a:t>
            </a:r>
          </a:p>
        </p:txBody>
      </p:sp>
      <p:sp>
        <p:nvSpPr>
          <p:cNvPr id="35" name="Text 34"/>
          <p:cNvSpPr txBox="1"/>
          <p:nvPr/>
        </p:nvSpPr>
        <p:spPr>
          <a:xfrm>
            <a:off x="4398010" y="4145371"/>
            <a:ext cx="145034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1" i="0">
                <a:solidFill>
                  <a:srgbClr val="0E6B5C"/>
                </a:solidFill>
                <a:latin typeface="IBM Plex Sans Arabic"/>
                <a:ea typeface="IBM Plex Sans Arabic"/>
                <a:cs typeface="IBM Plex Sans Arabic"/>
              </a:rPr>
              <a:t>متى؟</a:t>
            </a:r>
          </a:p>
        </p:txBody>
      </p:sp>
      <p:sp>
        <p:nvSpPr>
          <p:cNvPr id="36" name="Text 35"/>
          <p:cNvSpPr txBox="1"/>
          <p:nvPr/>
        </p:nvSpPr>
        <p:spPr>
          <a:xfrm>
            <a:off x="838200" y="4145371"/>
            <a:ext cx="359410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بعد سنتين أو ثلاث في المخاطر.</a:t>
            </a:r>
          </a:p>
        </p:txBody>
      </p:sp>
      <p:sp>
        <p:nvSpPr>
          <p:cNvPr id="37" name="Box 36"/>
          <p:cNvSpPr/>
          <p:nvPr/>
        </p:nvSpPr>
        <p:spPr>
          <a:xfrm>
            <a:off x="812800" y="5226348"/>
            <a:ext cx="10566400" cy="582910"/>
          </a:xfrm>
          <a:prstGeom prst="roundRect">
            <a:avLst>
              <a:gd name="adj" fmla="val 17429"/>
            </a:avLst>
          </a:prstGeom>
          <a:solidFill>
            <a:srgbClr val="E3F1ED"/>
          </a:solidFill>
          <a:ln>
            <a:noFill/>
          </a:ln>
        </p:spPr>
        <p:txBody>
          <a:bodyPr rtlCol="0" anchor="ctr"/>
          <a:lstStyle/>
          <a:p>
            <a:pPr algn="ctr"/>
          </a:p>
        </p:txBody>
      </p:sp>
      <p:pic>
        <p:nvPicPr>
          <p:cNvPr id="38" name="Icon Lightbulb 37" descr="icon059.png"/>
          <p:cNvPicPr>
            <a:picLocks noChangeAspect="1"/>
          </p:cNvPicPr>
          <p:nvPr/>
        </p:nvPicPr>
        <p:blipFill>
          <a:blip r:embed="rId2"/>
          <a:stretch>
            <a:fillRect/>
          </a:stretch>
        </p:blipFill>
        <p:spPr>
          <a:xfrm>
            <a:off x="10960100" y="5397103"/>
            <a:ext cx="241300" cy="241300"/>
          </a:xfrm>
          <a:prstGeom prst="rect">
            <a:avLst/>
          </a:prstGeom>
        </p:spPr>
      </p:pic>
      <p:sp>
        <p:nvSpPr>
          <p:cNvPr id="39" name="Text 38"/>
          <p:cNvSpPr txBox="1"/>
          <p:nvPr/>
        </p:nvSpPr>
        <p:spPr>
          <a:xfrm>
            <a:off x="838200" y="5316930"/>
            <a:ext cx="100076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في ISACA تستطيع الاختبار أولاً، ثم تقديم طلب الشهادة خلال 5 سنوات من النجاح حين تكتمل الخبرة.</a:t>
            </a:r>
          </a:p>
        </p:txBody>
      </p:sp>
      <p:sp>
        <p:nvSpPr>
          <p:cNvPr id="40" name="Text 3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41" name="Text 4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(2 من 2): الإدارة والحوكمة</a:t>
            </a:r>
          </a:p>
        </p:txBody>
      </p:sp>
      <p:sp>
        <p:nvSpPr>
          <p:cNvPr id="5" name="Box 4"/>
          <p:cNvSpPr/>
          <p:nvPr/>
        </p:nvSpPr>
        <p:spPr>
          <a:xfrm>
            <a:off x="6159500" y="1657945"/>
            <a:ext cx="5219700" cy="3988197"/>
          </a:xfrm>
          <a:prstGeom prst="roundRect">
            <a:avLst>
              <a:gd name="adj" fmla="val 2865"/>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0E6B5C"/>
          </a:solidFill>
          <a:ln>
            <a:noFill/>
          </a:ln>
        </p:spPr>
        <p:txBody>
          <a:bodyPr rtlCol="0" anchor="ctr"/>
          <a:lstStyle/>
          <a:p>
            <a:pPr algn="ctr"/>
          </a:p>
        </p:txBody>
      </p:sp>
      <p:sp>
        <p:nvSpPr>
          <p:cNvPr id="7" name="Rule 6"/>
          <p:cNvSpPr/>
          <p:nvPr/>
        </p:nvSpPr>
        <p:spPr>
          <a:xfrm>
            <a:off x="11372850" y="1657945"/>
            <a:ext cx="6350" cy="3988197"/>
          </a:xfrm>
          <a:prstGeom prst="rect">
            <a:avLst/>
          </a:prstGeom>
          <a:solidFill>
            <a:srgbClr val="E1DBCD"/>
          </a:solidFill>
          <a:ln>
            <a:noFill/>
          </a:ln>
        </p:spPr>
        <p:txBody>
          <a:bodyPr rtlCol="0" anchor="ctr"/>
          <a:lstStyle/>
          <a:p>
            <a:pPr algn="ctr"/>
          </a:p>
        </p:txBody>
      </p:sp>
      <p:sp>
        <p:nvSpPr>
          <p:cNvPr id="8" name="Rule 7"/>
          <p:cNvSpPr/>
          <p:nvPr/>
        </p:nvSpPr>
        <p:spPr>
          <a:xfrm>
            <a:off x="6159500" y="5639792"/>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988197"/>
          </a:xfrm>
          <a:prstGeom prst="rect">
            <a:avLst/>
          </a:prstGeom>
          <a:solidFill>
            <a:srgbClr val="E1DBCD"/>
          </a:solidFill>
          <a:ln>
            <a:noFill/>
          </a:ln>
        </p:spPr>
        <p:txBody>
          <a:bodyPr rtlCol="0" anchor="ctr"/>
          <a:lstStyle/>
          <a:p>
            <a:pPr algn="ctr"/>
          </a:p>
        </p:txBody>
      </p:sp>
      <p:sp>
        <p:nvSpPr>
          <p:cNvPr id="10" name="Text 9"/>
          <p:cNvSpPr txBox="1"/>
          <p:nvPr/>
        </p:nvSpPr>
        <p:spPr>
          <a:xfrm>
            <a:off x="9957177" y="1864828"/>
            <a:ext cx="1237873"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0E6B5C"/>
                </a:solidFill>
                <a:latin typeface="Readex Pro"/>
                <a:ea typeface="Readex Pro"/>
                <a:cs typeface="Readex Pro"/>
              </a:rPr>
              <a:t>CISM</a:t>
            </a:r>
          </a:p>
        </p:txBody>
      </p:sp>
      <p:sp>
        <p:nvSpPr>
          <p:cNvPr id="11" name="Text 10"/>
          <p:cNvSpPr txBox="1"/>
          <p:nvPr/>
        </p:nvSpPr>
        <p:spPr>
          <a:xfrm>
            <a:off x="9246215" y="1871956"/>
            <a:ext cx="84304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ISACA</a:t>
            </a:r>
          </a:p>
        </p:txBody>
      </p:sp>
      <p:sp>
        <p:nvSpPr>
          <p:cNvPr id="12" name="Text 11"/>
          <p:cNvSpPr txBox="1"/>
          <p:nvPr/>
        </p:nvSpPr>
        <p:spPr>
          <a:xfrm>
            <a:off x="61849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Security Manager</a:t>
            </a:r>
          </a:p>
        </p:txBody>
      </p:sp>
      <p:sp>
        <p:nvSpPr>
          <p:cNvPr id="13" name="Text 12"/>
          <p:cNvSpPr txBox="1"/>
          <p:nvPr/>
        </p:nvSpPr>
        <p:spPr>
          <a:xfrm>
            <a:off x="9733280" y="264203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لمن؟</a:t>
            </a:r>
          </a:p>
        </p:txBody>
      </p:sp>
      <p:sp>
        <p:nvSpPr>
          <p:cNvPr id="14" name="Text 13"/>
          <p:cNvSpPr txBox="1"/>
          <p:nvPr/>
        </p:nvSpPr>
        <p:spPr>
          <a:xfrm>
            <a:off x="6184900" y="2642033"/>
            <a:ext cx="35941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من يتجه لإدارة برنامج الأمن.</a:t>
            </a:r>
          </a:p>
        </p:txBody>
      </p:sp>
      <p:sp>
        <p:nvSpPr>
          <p:cNvPr id="15" name="Text 14"/>
          <p:cNvSpPr txBox="1"/>
          <p:nvPr/>
        </p:nvSpPr>
        <p:spPr>
          <a:xfrm>
            <a:off x="9733280" y="307889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ماذا تعلّم؟</a:t>
            </a:r>
          </a:p>
        </p:txBody>
      </p:sp>
      <p:sp>
        <p:nvSpPr>
          <p:cNvPr id="16" name="Text 15"/>
          <p:cNvSpPr txBox="1"/>
          <p:nvPr/>
        </p:nvSpPr>
        <p:spPr>
          <a:xfrm>
            <a:off x="6240590" y="3078893"/>
            <a:ext cx="3538410" cy="112008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من 3 نوفمبر 2026: الحوكمة 18%، والمخاطر 20%، والبرنامج 33%، والحوادث 29%.</a:t>
            </a:r>
          </a:p>
        </p:txBody>
      </p:sp>
      <p:sp>
        <p:nvSpPr>
          <p:cNvPr id="17" name="Text 16"/>
          <p:cNvSpPr txBox="1"/>
          <p:nvPr/>
        </p:nvSpPr>
        <p:spPr>
          <a:xfrm>
            <a:off x="9733280" y="426247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الخبرة</a:t>
            </a:r>
          </a:p>
        </p:txBody>
      </p:sp>
      <p:sp>
        <p:nvSpPr>
          <p:cNvPr id="18" name="Text 17"/>
          <p:cNvSpPr txBox="1"/>
          <p:nvPr/>
        </p:nvSpPr>
        <p:spPr>
          <a:xfrm>
            <a:off x="6240590" y="4262473"/>
            <a:ext cx="3538410"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5 سنوات في 3 مجالات من 4، وإعفاء حتى سنتين.</a:t>
            </a:r>
          </a:p>
        </p:txBody>
      </p:sp>
      <p:sp>
        <p:nvSpPr>
          <p:cNvPr id="19" name="Text 18"/>
          <p:cNvSpPr txBox="1"/>
          <p:nvPr/>
        </p:nvSpPr>
        <p:spPr>
          <a:xfrm>
            <a:off x="9733280" y="5072694"/>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متى؟</a:t>
            </a:r>
          </a:p>
        </p:txBody>
      </p:sp>
      <p:sp>
        <p:nvSpPr>
          <p:cNvPr id="20" name="Text 19"/>
          <p:cNvSpPr txBox="1"/>
          <p:nvPr/>
        </p:nvSpPr>
        <p:spPr>
          <a:xfrm>
            <a:off x="6184900" y="5072694"/>
            <a:ext cx="35941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حين تتجه للإدارة.</a:t>
            </a:r>
          </a:p>
        </p:txBody>
      </p:sp>
      <p:sp>
        <p:nvSpPr>
          <p:cNvPr id="21" name="Box 20"/>
          <p:cNvSpPr/>
          <p:nvPr/>
        </p:nvSpPr>
        <p:spPr>
          <a:xfrm>
            <a:off x="812800" y="1657945"/>
            <a:ext cx="5219700" cy="3988197"/>
          </a:xfrm>
          <a:prstGeom prst="roundRect">
            <a:avLst>
              <a:gd name="adj" fmla="val 2865"/>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0E6B5C"/>
          </a:solidFill>
          <a:ln>
            <a:noFill/>
          </a:ln>
        </p:spPr>
        <p:txBody>
          <a:bodyPr rtlCol="0" anchor="ctr"/>
          <a:lstStyle/>
          <a:p>
            <a:pPr algn="ctr"/>
          </a:p>
        </p:txBody>
      </p:sp>
      <p:sp>
        <p:nvSpPr>
          <p:cNvPr id="23" name="Rule 22"/>
          <p:cNvSpPr/>
          <p:nvPr/>
        </p:nvSpPr>
        <p:spPr>
          <a:xfrm>
            <a:off x="6026150" y="1657945"/>
            <a:ext cx="6350" cy="3988197"/>
          </a:xfrm>
          <a:prstGeom prst="rect">
            <a:avLst/>
          </a:prstGeom>
          <a:solidFill>
            <a:srgbClr val="E1DBCD"/>
          </a:solidFill>
          <a:ln>
            <a:noFill/>
          </a:ln>
        </p:spPr>
        <p:txBody>
          <a:bodyPr rtlCol="0" anchor="ctr"/>
          <a:lstStyle/>
          <a:p>
            <a:pPr algn="ctr"/>
          </a:p>
        </p:txBody>
      </p:sp>
      <p:sp>
        <p:nvSpPr>
          <p:cNvPr id="24" name="Rule 23"/>
          <p:cNvSpPr/>
          <p:nvPr/>
        </p:nvSpPr>
        <p:spPr>
          <a:xfrm>
            <a:off x="812800" y="5639792"/>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988197"/>
          </a:xfrm>
          <a:prstGeom prst="rect">
            <a:avLst/>
          </a:prstGeom>
          <a:solidFill>
            <a:srgbClr val="E1DBCD"/>
          </a:solidFill>
          <a:ln>
            <a:noFill/>
          </a:ln>
        </p:spPr>
        <p:txBody>
          <a:bodyPr rtlCol="0" anchor="ctr"/>
          <a:lstStyle/>
          <a:p>
            <a:pPr algn="ctr"/>
          </a:p>
        </p:txBody>
      </p:sp>
      <p:sp>
        <p:nvSpPr>
          <p:cNvPr id="26" name="Text 25"/>
          <p:cNvSpPr txBox="1"/>
          <p:nvPr/>
        </p:nvSpPr>
        <p:spPr>
          <a:xfrm>
            <a:off x="4401225" y="1864828"/>
            <a:ext cx="1447125"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0E6B5C"/>
                </a:solidFill>
                <a:latin typeface="Readex Pro"/>
                <a:ea typeface="Readex Pro"/>
                <a:cs typeface="Readex Pro"/>
              </a:rPr>
              <a:t>CGEIT</a:t>
            </a:r>
          </a:p>
        </p:txBody>
      </p:sp>
      <p:sp>
        <p:nvSpPr>
          <p:cNvPr id="27" name="Text 26"/>
          <p:cNvSpPr txBox="1"/>
          <p:nvPr/>
        </p:nvSpPr>
        <p:spPr>
          <a:xfrm>
            <a:off x="3690263" y="1871956"/>
            <a:ext cx="84304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ISACA</a:t>
            </a:r>
          </a:p>
        </p:txBody>
      </p:sp>
      <p:sp>
        <p:nvSpPr>
          <p:cNvPr id="28" name="Text 27"/>
          <p:cNvSpPr txBox="1"/>
          <p:nvPr/>
        </p:nvSpPr>
        <p:spPr>
          <a:xfrm>
            <a:off x="8382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Governance of Enterprise IT</a:t>
            </a:r>
          </a:p>
        </p:txBody>
      </p:sp>
      <p:sp>
        <p:nvSpPr>
          <p:cNvPr id="29" name="Text 28"/>
          <p:cNvSpPr txBox="1"/>
          <p:nvPr/>
        </p:nvSpPr>
        <p:spPr>
          <a:xfrm>
            <a:off x="4386580" y="264203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لمن؟</a:t>
            </a:r>
          </a:p>
        </p:txBody>
      </p:sp>
      <p:sp>
        <p:nvSpPr>
          <p:cNvPr id="30" name="Text 29"/>
          <p:cNvSpPr txBox="1"/>
          <p:nvPr/>
        </p:nvSpPr>
        <p:spPr>
          <a:xfrm>
            <a:off x="838200" y="2642033"/>
            <a:ext cx="35941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قيادات حوكمة التقنية.</a:t>
            </a:r>
          </a:p>
        </p:txBody>
      </p:sp>
      <p:sp>
        <p:nvSpPr>
          <p:cNvPr id="31" name="Text 30"/>
          <p:cNvSpPr txBox="1"/>
          <p:nvPr/>
        </p:nvSpPr>
        <p:spPr>
          <a:xfrm>
            <a:off x="4386580" y="307889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ماذا تعلّم؟</a:t>
            </a:r>
          </a:p>
        </p:txBody>
      </p:sp>
      <p:sp>
        <p:nvSpPr>
          <p:cNvPr id="32" name="Text 31"/>
          <p:cNvSpPr txBox="1"/>
          <p:nvPr/>
        </p:nvSpPr>
        <p:spPr>
          <a:xfrm>
            <a:off x="893890" y="3078893"/>
            <a:ext cx="3538410" cy="74672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حوكمة تقنية المعلومات على مستوى الجهة.</a:t>
            </a:r>
          </a:p>
        </p:txBody>
      </p:sp>
      <p:sp>
        <p:nvSpPr>
          <p:cNvPr id="33" name="Text 32"/>
          <p:cNvSpPr txBox="1"/>
          <p:nvPr/>
        </p:nvSpPr>
        <p:spPr>
          <a:xfrm>
            <a:off x="4386580" y="388911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الخبرة</a:t>
            </a:r>
          </a:p>
        </p:txBody>
      </p:sp>
      <p:sp>
        <p:nvSpPr>
          <p:cNvPr id="34" name="Text 33"/>
          <p:cNvSpPr txBox="1"/>
          <p:nvPr/>
        </p:nvSpPr>
        <p:spPr>
          <a:xfrm>
            <a:off x="838200" y="3889113"/>
            <a:ext cx="35941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5 سنوات، بلا إعفاء.</a:t>
            </a:r>
          </a:p>
        </p:txBody>
      </p:sp>
      <p:sp>
        <p:nvSpPr>
          <p:cNvPr id="35" name="Text 34"/>
          <p:cNvSpPr txBox="1"/>
          <p:nvPr/>
        </p:nvSpPr>
        <p:spPr>
          <a:xfrm>
            <a:off x="4386580" y="4325973"/>
            <a:ext cx="146177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0E6B5C"/>
                </a:solidFill>
                <a:latin typeface="IBM Plex Sans Arabic"/>
                <a:ea typeface="IBM Plex Sans Arabic"/>
                <a:cs typeface="IBM Plex Sans Arabic"/>
              </a:rPr>
              <a:t>متى؟</a:t>
            </a:r>
          </a:p>
        </p:txBody>
      </p:sp>
      <p:sp>
        <p:nvSpPr>
          <p:cNvPr id="36" name="Text 35"/>
          <p:cNvSpPr txBox="1"/>
          <p:nvPr/>
        </p:nvSpPr>
        <p:spPr>
          <a:xfrm>
            <a:off x="838200" y="4325973"/>
            <a:ext cx="35941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مرحلة متقدمة.</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ISC2: الحوكمة والمخاطر، ثم القيادة</a:t>
            </a:r>
          </a:p>
        </p:txBody>
      </p:sp>
      <p:sp>
        <p:nvSpPr>
          <p:cNvPr id="5" name="Box 4"/>
          <p:cNvSpPr/>
          <p:nvPr/>
        </p:nvSpPr>
        <p:spPr>
          <a:xfrm>
            <a:off x="6159500" y="1657945"/>
            <a:ext cx="5219700" cy="3577431"/>
          </a:xfrm>
          <a:prstGeom prst="roundRect">
            <a:avLst>
              <a:gd name="adj" fmla="val 3195"/>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24506B"/>
          </a:solidFill>
          <a:ln>
            <a:noFill/>
          </a:ln>
        </p:spPr>
        <p:txBody>
          <a:bodyPr rtlCol="0" anchor="ctr"/>
          <a:lstStyle/>
          <a:p>
            <a:pPr algn="ctr"/>
          </a:p>
        </p:txBody>
      </p:sp>
      <p:sp>
        <p:nvSpPr>
          <p:cNvPr id="7" name="Rule 6"/>
          <p:cNvSpPr/>
          <p:nvPr/>
        </p:nvSpPr>
        <p:spPr>
          <a:xfrm>
            <a:off x="11372850" y="1657945"/>
            <a:ext cx="6350" cy="3577431"/>
          </a:xfrm>
          <a:prstGeom prst="rect">
            <a:avLst/>
          </a:prstGeom>
          <a:solidFill>
            <a:srgbClr val="E1DBCD"/>
          </a:solidFill>
          <a:ln>
            <a:noFill/>
          </a:ln>
        </p:spPr>
        <p:txBody>
          <a:bodyPr rtlCol="0" anchor="ctr"/>
          <a:lstStyle/>
          <a:p>
            <a:pPr algn="ctr"/>
          </a:p>
        </p:txBody>
      </p:sp>
      <p:sp>
        <p:nvSpPr>
          <p:cNvPr id="8" name="Rule 7"/>
          <p:cNvSpPr/>
          <p:nvPr/>
        </p:nvSpPr>
        <p:spPr>
          <a:xfrm>
            <a:off x="6159500" y="5229027"/>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577431"/>
          </a:xfrm>
          <a:prstGeom prst="rect">
            <a:avLst/>
          </a:prstGeom>
          <a:solidFill>
            <a:srgbClr val="E1DBCD"/>
          </a:solidFill>
          <a:ln>
            <a:noFill/>
          </a:ln>
        </p:spPr>
        <p:txBody>
          <a:bodyPr rtlCol="0" anchor="ctr"/>
          <a:lstStyle/>
          <a:p>
            <a:pPr algn="ctr"/>
          </a:p>
        </p:txBody>
      </p:sp>
      <p:sp>
        <p:nvSpPr>
          <p:cNvPr id="10" name="Text 9"/>
          <p:cNvSpPr txBox="1"/>
          <p:nvPr/>
        </p:nvSpPr>
        <p:spPr>
          <a:xfrm>
            <a:off x="10096103" y="1864320"/>
            <a:ext cx="1098947" cy="365125"/>
          </a:xfrm>
          <a:prstGeom prst="rect">
            <a:avLst/>
          </a:prstGeom>
          <a:noFill/>
        </p:spPr>
        <p:txBody>
          <a:bodyPr wrap="square" tIns="0" rIns="0" bIns="0" lIns="0" anchor="t" rtlCol="0" anchorCtr="0">
            <a:noAutofit/>
          </a:bodyPr>
          <a:lstStyle/>
          <a:p>
            <a:pPr algn="r">
              <a:lnSpc>
                <a:spcPts val="2875"/>
              </a:lnSpc>
              <a:spcBef>
                <a:spcPts val="0"/>
              </a:spcBef>
              <a:spcAft>
                <a:spcPts val="0"/>
              </a:spcAft>
            </a:pPr>
            <a:r>
              <a:rPr sz="2500" b="1" i="0">
                <a:solidFill>
                  <a:srgbClr val="24506B"/>
                </a:solidFill>
                <a:latin typeface="Readex Pro"/>
                <a:ea typeface="Readex Pro"/>
                <a:cs typeface="Readex Pro"/>
              </a:rPr>
              <a:t>CGRC</a:t>
            </a:r>
          </a:p>
        </p:txBody>
      </p:sp>
      <p:sp>
        <p:nvSpPr>
          <p:cNvPr id="11" name="Text 10"/>
          <p:cNvSpPr txBox="1"/>
          <p:nvPr/>
        </p:nvSpPr>
        <p:spPr>
          <a:xfrm>
            <a:off x="9613225" y="1869932"/>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12" name="Text 11"/>
          <p:cNvSpPr txBox="1"/>
          <p:nvPr/>
        </p:nvSpPr>
        <p:spPr>
          <a:xfrm>
            <a:off x="6184900" y="2226175"/>
            <a:ext cx="5010150" cy="255885"/>
          </a:xfrm>
          <a:prstGeom prst="rect">
            <a:avLst/>
          </a:prstGeom>
          <a:noFill/>
        </p:spPr>
        <p:txBody>
          <a:bodyPr wrap="square" tIns="0" rIns="0" bIns="0" lIns="0" anchor="t" rtlCol="0" anchorCtr="0">
            <a:noAutofit/>
          </a:bodyPr>
          <a:lstStyle/>
          <a:p>
            <a:pPr algn="r">
              <a:lnSpc>
                <a:spcPts val="2014"/>
              </a:lnSpc>
              <a:spcBef>
                <a:spcPts val="0"/>
              </a:spcBef>
              <a:spcAft>
                <a:spcPts val="0"/>
              </a:spcAft>
            </a:pPr>
            <a:r>
              <a:rPr sz="1550" b="0" i="0">
                <a:solidFill>
                  <a:srgbClr val="5E6A75"/>
                </a:solidFill>
                <a:latin typeface="Readex Pro"/>
                <a:ea typeface="Readex Pro"/>
                <a:cs typeface="Readex Pro"/>
              </a:rPr>
              <a:t>Governance, Risk and Compliance</a:t>
            </a:r>
          </a:p>
        </p:txBody>
      </p:sp>
      <p:sp>
        <p:nvSpPr>
          <p:cNvPr id="13" name="Text 12"/>
          <p:cNvSpPr txBox="1"/>
          <p:nvPr/>
        </p:nvSpPr>
        <p:spPr>
          <a:xfrm>
            <a:off x="9752330" y="2547338"/>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لمن؟</a:t>
            </a:r>
          </a:p>
        </p:txBody>
      </p:sp>
      <p:sp>
        <p:nvSpPr>
          <p:cNvPr id="14" name="Text 13"/>
          <p:cNvSpPr txBox="1"/>
          <p:nvPr/>
        </p:nvSpPr>
        <p:spPr>
          <a:xfrm>
            <a:off x="6184900" y="2547338"/>
            <a:ext cx="35941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محللو GRC ومديروه.</a:t>
            </a:r>
          </a:p>
        </p:txBody>
      </p:sp>
      <p:sp>
        <p:nvSpPr>
          <p:cNvPr id="15" name="Text 14"/>
          <p:cNvSpPr txBox="1"/>
          <p:nvPr/>
        </p:nvSpPr>
        <p:spPr>
          <a:xfrm>
            <a:off x="9752330" y="2939748"/>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ماذا تعلّم؟</a:t>
            </a:r>
          </a:p>
        </p:txBody>
      </p:sp>
      <p:sp>
        <p:nvSpPr>
          <p:cNvPr id="16" name="Text 15"/>
          <p:cNvSpPr txBox="1"/>
          <p:nvPr/>
        </p:nvSpPr>
        <p:spPr>
          <a:xfrm>
            <a:off x="6240590" y="2939748"/>
            <a:ext cx="353841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7 مجالات في GRC وإدارة مخاطر الأنظمة.</a:t>
            </a:r>
          </a:p>
        </p:txBody>
      </p:sp>
      <p:sp>
        <p:nvSpPr>
          <p:cNvPr id="17" name="Text 16"/>
          <p:cNvSpPr txBox="1"/>
          <p:nvPr/>
        </p:nvSpPr>
        <p:spPr>
          <a:xfrm>
            <a:off x="9752330" y="3661069"/>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الخبرة</a:t>
            </a:r>
          </a:p>
        </p:txBody>
      </p:sp>
      <p:sp>
        <p:nvSpPr>
          <p:cNvPr id="18" name="Text 17"/>
          <p:cNvSpPr txBox="1"/>
          <p:nvPr/>
        </p:nvSpPr>
        <p:spPr>
          <a:xfrm>
            <a:off x="6240590" y="3661069"/>
            <a:ext cx="353841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سنتان في مجال واحد من 7. بلا خبرة: Associate ومهلة 3 سنوات.</a:t>
            </a:r>
          </a:p>
        </p:txBody>
      </p:sp>
      <p:sp>
        <p:nvSpPr>
          <p:cNvPr id="19" name="Text 18"/>
          <p:cNvSpPr txBox="1"/>
          <p:nvPr/>
        </p:nvSpPr>
        <p:spPr>
          <a:xfrm>
            <a:off x="9752330" y="4382389"/>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متى؟</a:t>
            </a:r>
          </a:p>
        </p:txBody>
      </p:sp>
      <p:sp>
        <p:nvSpPr>
          <p:cNvPr id="20" name="Text 19"/>
          <p:cNvSpPr txBox="1"/>
          <p:nvPr/>
        </p:nvSpPr>
        <p:spPr>
          <a:xfrm>
            <a:off x="6184900" y="4382389"/>
            <a:ext cx="35941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بعد سنة أو سنتين في GRC.</a:t>
            </a:r>
          </a:p>
        </p:txBody>
      </p:sp>
      <p:sp>
        <p:nvSpPr>
          <p:cNvPr id="21" name="Box 20"/>
          <p:cNvSpPr/>
          <p:nvPr/>
        </p:nvSpPr>
        <p:spPr>
          <a:xfrm>
            <a:off x="812800" y="1657945"/>
            <a:ext cx="5219700" cy="3577431"/>
          </a:xfrm>
          <a:prstGeom prst="roundRect">
            <a:avLst>
              <a:gd name="adj" fmla="val 3195"/>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24506B"/>
          </a:solidFill>
          <a:ln>
            <a:noFill/>
          </a:ln>
        </p:spPr>
        <p:txBody>
          <a:bodyPr rtlCol="0" anchor="ctr"/>
          <a:lstStyle/>
          <a:p>
            <a:pPr algn="ctr"/>
          </a:p>
        </p:txBody>
      </p:sp>
      <p:sp>
        <p:nvSpPr>
          <p:cNvPr id="23" name="Rule 22"/>
          <p:cNvSpPr/>
          <p:nvPr/>
        </p:nvSpPr>
        <p:spPr>
          <a:xfrm>
            <a:off x="6026150" y="1657945"/>
            <a:ext cx="6350" cy="3577431"/>
          </a:xfrm>
          <a:prstGeom prst="rect">
            <a:avLst/>
          </a:prstGeom>
          <a:solidFill>
            <a:srgbClr val="E1DBCD"/>
          </a:solidFill>
          <a:ln>
            <a:noFill/>
          </a:ln>
        </p:spPr>
        <p:txBody>
          <a:bodyPr rtlCol="0" anchor="ctr"/>
          <a:lstStyle/>
          <a:p>
            <a:pPr algn="ctr"/>
          </a:p>
        </p:txBody>
      </p:sp>
      <p:sp>
        <p:nvSpPr>
          <p:cNvPr id="24" name="Rule 23"/>
          <p:cNvSpPr/>
          <p:nvPr/>
        </p:nvSpPr>
        <p:spPr>
          <a:xfrm>
            <a:off x="812800" y="5229027"/>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3577431"/>
          </a:xfrm>
          <a:prstGeom prst="rect">
            <a:avLst/>
          </a:prstGeom>
          <a:solidFill>
            <a:srgbClr val="E1DBCD"/>
          </a:solidFill>
          <a:ln>
            <a:noFill/>
          </a:ln>
        </p:spPr>
        <p:txBody>
          <a:bodyPr rtlCol="0" anchor="ctr"/>
          <a:lstStyle/>
          <a:p>
            <a:pPr algn="ctr"/>
          </a:p>
        </p:txBody>
      </p:sp>
      <p:sp>
        <p:nvSpPr>
          <p:cNvPr id="26" name="Text 25"/>
          <p:cNvSpPr txBox="1"/>
          <p:nvPr/>
        </p:nvSpPr>
        <p:spPr>
          <a:xfrm>
            <a:off x="4648200" y="1864320"/>
            <a:ext cx="1200150" cy="365125"/>
          </a:xfrm>
          <a:prstGeom prst="rect">
            <a:avLst/>
          </a:prstGeom>
          <a:noFill/>
        </p:spPr>
        <p:txBody>
          <a:bodyPr wrap="square" tIns="0" rIns="0" bIns="0" lIns="0" anchor="t" rtlCol="0" anchorCtr="0">
            <a:noAutofit/>
          </a:bodyPr>
          <a:lstStyle/>
          <a:p>
            <a:pPr algn="r">
              <a:lnSpc>
                <a:spcPts val="2875"/>
              </a:lnSpc>
              <a:spcBef>
                <a:spcPts val="0"/>
              </a:spcBef>
              <a:spcAft>
                <a:spcPts val="0"/>
              </a:spcAft>
            </a:pPr>
            <a:r>
              <a:rPr sz="2500" b="1" i="0">
                <a:solidFill>
                  <a:srgbClr val="24506B"/>
                </a:solidFill>
                <a:latin typeface="Readex Pro"/>
                <a:ea typeface="Readex Pro"/>
                <a:cs typeface="Readex Pro"/>
              </a:rPr>
              <a:t>CISSP</a:t>
            </a:r>
          </a:p>
        </p:txBody>
      </p:sp>
      <p:sp>
        <p:nvSpPr>
          <p:cNvPr id="27" name="Text 26"/>
          <p:cNvSpPr txBox="1"/>
          <p:nvPr/>
        </p:nvSpPr>
        <p:spPr>
          <a:xfrm>
            <a:off x="4165322" y="1869932"/>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28" name="Text 27"/>
          <p:cNvSpPr txBox="1"/>
          <p:nvPr/>
        </p:nvSpPr>
        <p:spPr>
          <a:xfrm>
            <a:off x="838200" y="2226175"/>
            <a:ext cx="5010150" cy="255885"/>
          </a:xfrm>
          <a:prstGeom prst="rect">
            <a:avLst/>
          </a:prstGeom>
          <a:noFill/>
        </p:spPr>
        <p:txBody>
          <a:bodyPr wrap="square" tIns="0" rIns="0" bIns="0" lIns="0" anchor="t" rtlCol="0" anchorCtr="0">
            <a:noAutofit/>
          </a:bodyPr>
          <a:lstStyle/>
          <a:p>
            <a:pPr algn="r">
              <a:lnSpc>
                <a:spcPts val="2014"/>
              </a:lnSpc>
              <a:spcBef>
                <a:spcPts val="0"/>
              </a:spcBef>
              <a:spcAft>
                <a:spcPts val="0"/>
              </a:spcAft>
            </a:pPr>
            <a:r>
              <a:rPr sz="1550" b="0" i="0">
                <a:solidFill>
                  <a:srgbClr val="5E6A75"/>
                </a:solidFill>
                <a:latin typeface="Readex Pro"/>
                <a:ea typeface="Readex Pro"/>
                <a:cs typeface="Readex Pro"/>
              </a:rPr>
              <a:t>Systems Security Professional</a:t>
            </a:r>
          </a:p>
        </p:txBody>
      </p:sp>
      <p:sp>
        <p:nvSpPr>
          <p:cNvPr id="29" name="Text 28"/>
          <p:cNvSpPr txBox="1"/>
          <p:nvPr/>
        </p:nvSpPr>
        <p:spPr>
          <a:xfrm>
            <a:off x="4405630" y="2547338"/>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لمن؟</a:t>
            </a:r>
          </a:p>
        </p:txBody>
      </p:sp>
      <p:sp>
        <p:nvSpPr>
          <p:cNvPr id="30" name="Text 29"/>
          <p:cNvSpPr txBox="1"/>
          <p:nvPr/>
        </p:nvSpPr>
        <p:spPr>
          <a:xfrm>
            <a:off x="838200" y="2547338"/>
            <a:ext cx="35941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قيادة الأمن.</a:t>
            </a:r>
          </a:p>
        </p:txBody>
      </p:sp>
      <p:sp>
        <p:nvSpPr>
          <p:cNvPr id="31" name="Text 30"/>
          <p:cNvSpPr txBox="1"/>
          <p:nvPr/>
        </p:nvSpPr>
        <p:spPr>
          <a:xfrm>
            <a:off x="4405630" y="2939748"/>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ماذا تعلّم؟</a:t>
            </a:r>
          </a:p>
        </p:txBody>
      </p:sp>
      <p:sp>
        <p:nvSpPr>
          <p:cNvPr id="32" name="Text 31"/>
          <p:cNvSpPr txBox="1"/>
          <p:nvPr/>
        </p:nvSpPr>
        <p:spPr>
          <a:xfrm>
            <a:off x="893890" y="2939748"/>
            <a:ext cx="353841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8 مجالات واسعة، منها الأمن وإدارة المخاطر بنسبة 16%.</a:t>
            </a:r>
          </a:p>
        </p:txBody>
      </p:sp>
      <p:sp>
        <p:nvSpPr>
          <p:cNvPr id="33" name="Text 32"/>
          <p:cNvSpPr txBox="1"/>
          <p:nvPr/>
        </p:nvSpPr>
        <p:spPr>
          <a:xfrm>
            <a:off x="4405630" y="3661069"/>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الخبرة</a:t>
            </a:r>
          </a:p>
        </p:txBody>
      </p:sp>
      <p:sp>
        <p:nvSpPr>
          <p:cNvPr id="34" name="Text 33"/>
          <p:cNvSpPr txBox="1"/>
          <p:nvPr/>
        </p:nvSpPr>
        <p:spPr>
          <a:xfrm>
            <a:off x="893890" y="3661069"/>
            <a:ext cx="353841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5 سنوات في مجالين من 8. بلا خبرة: Associate ومهلة 6 سنوات.</a:t>
            </a:r>
          </a:p>
        </p:txBody>
      </p:sp>
      <p:sp>
        <p:nvSpPr>
          <p:cNvPr id="35" name="Text 34"/>
          <p:cNvSpPr txBox="1"/>
          <p:nvPr/>
        </p:nvSpPr>
        <p:spPr>
          <a:xfrm>
            <a:off x="4405630" y="4382389"/>
            <a:ext cx="144272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متى؟</a:t>
            </a:r>
          </a:p>
        </p:txBody>
      </p:sp>
      <p:sp>
        <p:nvSpPr>
          <p:cNvPr id="36" name="Text 35"/>
          <p:cNvSpPr txBox="1"/>
          <p:nvPr/>
        </p:nvSpPr>
        <p:spPr>
          <a:xfrm>
            <a:off x="893890" y="4382389"/>
            <a:ext cx="3538410"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بعد سنوات. ليست شهادة GRC خالصة.</a:t>
            </a:r>
          </a:p>
        </p:txBody>
      </p:sp>
      <p:sp>
        <p:nvSpPr>
          <p:cNvPr id="37" name="Box 36"/>
          <p:cNvSpPr/>
          <p:nvPr/>
        </p:nvSpPr>
        <p:spPr>
          <a:xfrm>
            <a:off x="812800" y="5425877"/>
            <a:ext cx="10566400" cy="565150"/>
          </a:xfrm>
          <a:prstGeom prst="roundRect">
            <a:avLst>
              <a:gd name="adj" fmla="val 17977"/>
            </a:avLst>
          </a:prstGeom>
          <a:solidFill>
            <a:srgbClr val="E3F1ED"/>
          </a:solidFill>
          <a:ln>
            <a:noFill/>
          </a:ln>
        </p:spPr>
        <p:txBody>
          <a:bodyPr rtlCol="0" anchor="ctr"/>
          <a:lstStyle/>
          <a:p>
            <a:pPr algn="ctr"/>
          </a:p>
        </p:txBody>
      </p:sp>
      <p:pic>
        <p:nvPicPr>
          <p:cNvPr id="38" name="Icon Lightbulb 37" descr="icon060.png"/>
          <p:cNvPicPr>
            <a:picLocks noChangeAspect="1"/>
          </p:cNvPicPr>
          <p:nvPr/>
        </p:nvPicPr>
        <p:blipFill>
          <a:blip r:embed="rId2"/>
          <a:stretch>
            <a:fillRect/>
          </a:stretch>
        </p:blipFill>
        <p:spPr>
          <a:xfrm>
            <a:off x="10966450" y="5590977"/>
            <a:ext cx="234950" cy="234950"/>
          </a:xfrm>
          <a:prstGeom prst="rect">
            <a:avLst/>
          </a:prstGeom>
        </p:spPr>
      </p:pic>
      <p:sp>
        <p:nvSpPr>
          <p:cNvPr id="39" name="Text 38"/>
          <p:cNvSpPr txBox="1"/>
          <p:nvPr/>
        </p:nvSpPr>
        <p:spPr>
          <a:xfrm>
            <a:off x="838200" y="5518428"/>
            <a:ext cx="10013950"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172433"/>
                </a:solidFill>
                <a:latin typeface="IBM Plex Sans Arabic"/>
                <a:ea typeface="IBM Plex Sans Arabic"/>
                <a:cs typeface="IBM Plex Sans Arabic"/>
              </a:rPr>
              <a:t>Associate of ISC2: تنجح قبل اكتمال الخبرة، ثم تُمنح الشهادة حين تكتمل خلال المهلة.</a:t>
            </a:r>
          </a:p>
        </p:txBody>
      </p:sp>
      <p:sp>
        <p:nvSpPr>
          <p:cNvPr id="40" name="Text 3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41" name="Text 4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(1 من 2): شهادتا IAPP</a:t>
            </a:r>
          </a:p>
        </p:txBody>
      </p:sp>
      <p:sp>
        <p:nvSpPr>
          <p:cNvPr id="5" name="Box 4"/>
          <p:cNvSpPr/>
          <p:nvPr/>
        </p:nvSpPr>
        <p:spPr>
          <a:xfrm>
            <a:off x="6159500" y="1657945"/>
            <a:ext cx="5219700" cy="4112518"/>
          </a:xfrm>
          <a:prstGeom prst="roundRect">
            <a:avLst>
              <a:gd name="adj" fmla="val 2779"/>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5A3F87"/>
          </a:solidFill>
          <a:ln>
            <a:noFill/>
          </a:ln>
        </p:spPr>
        <p:txBody>
          <a:bodyPr rtlCol="0" anchor="ctr"/>
          <a:lstStyle/>
          <a:p>
            <a:pPr algn="ctr"/>
          </a:p>
        </p:txBody>
      </p:sp>
      <p:sp>
        <p:nvSpPr>
          <p:cNvPr id="7" name="Rule 6"/>
          <p:cNvSpPr/>
          <p:nvPr/>
        </p:nvSpPr>
        <p:spPr>
          <a:xfrm>
            <a:off x="11372850" y="1657945"/>
            <a:ext cx="6350" cy="4112518"/>
          </a:xfrm>
          <a:prstGeom prst="rect">
            <a:avLst/>
          </a:prstGeom>
          <a:solidFill>
            <a:srgbClr val="E1DBCD"/>
          </a:solidFill>
          <a:ln>
            <a:noFill/>
          </a:ln>
        </p:spPr>
        <p:txBody>
          <a:bodyPr rtlCol="0" anchor="ctr"/>
          <a:lstStyle/>
          <a:p>
            <a:pPr algn="ctr"/>
          </a:p>
        </p:txBody>
      </p:sp>
      <p:sp>
        <p:nvSpPr>
          <p:cNvPr id="8" name="Rule 7"/>
          <p:cNvSpPr/>
          <p:nvPr/>
        </p:nvSpPr>
        <p:spPr>
          <a:xfrm>
            <a:off x="6159500" y="5764113"/>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4112518"/>
          </a:xfrm>
          <a:prstGeom prst="rect">
            <a:avLst/>
          </a:prstGeom>
          <a:solidFill>
            <a:srgbClr val="E1DBCD"/>
          </a:solidFill>
          <a:ln>
            <a:noFill/>
          </a:ln>
        </p:spPr>
        <p:txBody>
          <a:bodyPr rtlCol="0" anchor="ctr"/>
          <a:lstStyle/>
          <a:p>
            <a:pPr algn="ctr"/>
          </a:p>
        </p:txBody>
      </p:sp>
      <p:sp>
        <p:nvSpPr>
          <p:cNvPr id="10" name="Text 9"/>
          <p:cNvSpPr txBox="1"/>
          <p:nvPr/>
        </p:nvSpPr>
        <p:spPr>
          <a:xfrm>
            <a:off x="9600287" y="1864828"/>
            <a:ext cx="1594763"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5A3F87"/>
                </a:solidFill>
                <a:latin typeface="Readex Pro"/>
                <a:ea typeface="Readex Pro"/>
                <a:cs typeface="Readex Pro"/>
              </a:rPr>
              <a:t>CIPP/E</a:t>
            </a:r>
          </a:p>
        </p:txBody>
      </p:sp>
      <p:sp>
        <p:nvSpPr>
          <p:cNvPr id="11" name="Text 10"/>
          <p:cNvSpPr txBox="1"/>
          <p:nvPr/>
        </p:nvSpPr>
        <p:spPr>
          <a:xfrm>
            <a:off x="9032895" y="1871956"/>
            <a:ext cx="69947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IAPP</a:t>
            </a:r>
          </a:p>
        </p:txBody>
      </p:sp>
      <p:sp>
        <p:nvSpPr>
          <p:cNvPr id="12" name="Text 11"/>
          <p:cNvSpPr txBox="1"/>
          <p:nvPr/>
        </p:nvSpPr>
        <p:spPr>
          <a:xfrm>
            <a:off x="61849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Information Privacy Professional/Europe</a:t>
            </a:r>
          </a:p>
        </p:txBody>
      </p:sp>
      <p:sp>
        <p:nvSpPr>
          <p:cNvPr id="13" name="Text 12"/>
          <p:cNvSpPr txBox="1"/>
          <p:nvPr/>
        </p:nvSpPr>
        <p:spPr>
          <a:xfrm>
            <a:off x="9725660" y="2640064"/>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لمن؟</a:t>
            </a:r>
          </a:p>
        </p:txBody>
      </p:sp>
      <p:sp>
        <p:nvSpPr>
          <p:cNvPr id="14" name="Text 13"/>
          <p:cNvSpPr txBox="1"/>
          <p:nvPr/>
        </p:nvSpPr>
        <p:spPr>
          <a:xfrm>
            <a:off x="6240590" y="2640064"/>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قانونيون ومختصو حماية بيانات مرتبطون بأوروبا.</a:t>
            </a:r>
          </a:p>
        </p:txBody>
      </p:sp>
      <p:sp>
        <p:nvSpPr>
          <p:cNvPr id="15" name="Text 14"/>
          <p:cNvSpPr txBox="1"/>
          <p:nvPr/>
        </p:nvSpPr>
        <p:spPr>
          <a:xfrm>
            <a:off x="9725660" y="348580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ماذا تعلّم؟</a:t>
            </a:r>
          </a:p>
        </p:txBody>
      </p:sp>
      <p:sp>
        <p:nvSpPr>
          <p:cNvPr id="16" name="Text 15"/>
          <p:cNvSpPr txBox="1"/>
          <p:nvPr/>
        </p:nvSpPr>
        <p:spPr>
          <a:xfrm>
            <a:off x="6184900" y="3485805"/>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قانون حماية البيانات في أوروبا.</a:t>
            </a:r>
          </a:p>
        </p:txBody>
      </p:sp>
      <p:sp>
        <p:nvSpPr>
          <p:cNvPr id="17" name="Text 16"/>
          <p:cNvSpPr txBox="1"/>
          <p:nvPr/>
        </p:nvSpPr>
        <p:spPr>
          <a:xfrm>
            <a:off x="9725660" y="394042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الخبرة</a:t>
            </a:r>
          </a:p>
        </p:txBody>
      </p:sp>
      <p:sp>
        <p:nvSpPr>
          <p:cNvPr id="18" name="Text 17"/>
          <p:cNvSpPr txBox="1"/>
          <p:nvPr/>
        </p:nvSpPr>
        <p:spPr>
          <a:xfrm>
            <a:off x="6184900" y="3940425"/>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لا شرط مذكور.</a:t>
            </a:r>
          </a:p>
        </p:txBody>
      </p:sp>
      <p:sp>
        <p:nvSpPr>
          <p:cNvPr id="19" name="Text 18"/>
          <p:cNvSpPr txBox="1"/>
          <p:nvPr/>
        </p:nvSpPr>
        <p:spPr>
          <a:xfrm>
            <a:off x="9725660" y="439504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متى؟</a:t>
            </a:r>
          </a:p>
        </p:txBody>
      </p:sp>
      <p:sp>
        <p:nvSpPr>
          <p:cNvPr id="20" name="Text 19"/>
          <p:cNvSpPr txBox="1"/>
          <p:nvPr/>
        </p:nvSpPr>
        <p:spPr>
          <a:xfrm>
            <a:off x="6240590" y="4395045"/>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إن ارتبط عملك بأوروبا، أو أردت أساساً قانونياً.</a:t>
            </a:r>
          </a:p>
        </p:txBody>
      </p:sp>
      <p:sp>
        <p:nvSpPr>
          <p:cNvPr id="21" name="Box 20"/>
          <p:cNvSpPr/>
          <p:nvPr/>
        </p:nvSpPr>
        <p:spPr>
          <a:xfrm>
            <a:off x="812800" y="1657945"/>
            <a:ext cx="5219700" cy="4112518"/>
          </a:xfrm>
          <a:prstGeom prst="roundRect">
            <a:avLst>
              <a:gd name="adj" fmla="val 2779"/>
            </a:avLst>
          </a:prstGeom>
          <a:solidFill>
            <a:srgbClr val="FFFDF8"/>
          </a:solidFill>
          <a:ln>
            <a:noFill/>
          </a:ln>
        </p:spPr>
        <p:txBody>
          <a:bodyPr rtlCol="0" anchor="ctr"/>
          <a:lstStyle/>
          <a:p>
            <a:pPr algn="ctr"/>
          </a:p>
        </p:txBody>
      </p:sp>
      <p:sp>
        <p:nvSpPr>
          <p:cNvPr id="22" name="Rule 21"/>
          <p:cNvSpPr/>
          <p:nvPr/>
        </p:nvSpPr>
        <p:spPr>
          <a:xfrm>
            <a:off x="812800" y="1657945"/>
            <a:ext cx="5219700" cy="50800"/>
          </a:xfrm>
          <a:prstGeom prst="rect">
            <a:avLst/>
          </a:prstGeom>
          <a:solidFill>
            <a:srgbClr val="5A3F87"/>
          </a:solidFill>
          <a:ln>
            <a:noFill/>
          </a:ln>
        </p:spPr>
        <p:txBody>
          <a:bodyPr rtlCol="0" anchor="ctr"/>
          <a:lstStyle/>
          <a:p>
            <a:pPr algn="ctr"/>
          </a:p>
        </p:txBody>
      </p:sp>
      <p:sp>
        <p:nvSpPr>
          <p:cNvPr id="23" name="Rule 22"/>
          <p:cNvSpPr/>
          <p:nvPr/>
        </p:nvSpPr>
        <p:spPr>
          <a:xfrm>
            <a:off x="6026150" y="1657945"/>
            <a:ext cx="6350" cy="4112518"/>
          </a:xfrm>
          <a:prstGeom prst="rect">
            <a:avLst/>
          </a:prstGeom>
          <a:solidFill>
            <a:srgbClr val="E1DBCD"/>
          </a:solidFill>
          <a:ln>
            <a:noFill/>
          </a:ln>
        </p:spPr>
        <p:txBody>
          <a:bodyPr rtlCol="0" anchor="ctr"/>
          <a:lstStyle/>
          <a:p>
            <a:pPr algn="ctr"/>
          </a:p>
        </p:txBody>
      </p:sp>
      <p:sp>
        <p:nvSpPr>
          <p:cNvPr id="24" name="Rule 23"/>
          <p:cNvSpPr/>
          <p:nvPr/>
        </p:nvSpPr>
        <p:spPr>
          <a:xfrm>
            <a:off x="812800" y="5764113"/>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812800" y="1657945"/>
            <a:ext cx="6350" cy="4112518"/>
          </a:xfrm>
          <a:prstGeom prst="rect">
            <a:avLst/>
          </a:prstGeom>
          <a:solidFill>
            <a:srgbClr val="E1DBCD"/>
          </a:solidFill>
          <a:ln>
            <a:noFill/>
          </a:ln>
        </p:spPr>
        <p:txBody>
          <a:bodyPr rtlCol="0" anchor="ctr"/>
          <a:lstStyle/>
          <a:p>
            <a:pPr algn="ctr"/>
          </a:p>
        </p:txBody>
      </p:sp>
      <p:sp>
        <p:nvSpPr>
          <p:cNvPr id="26" name="Text 25"/>
          <p:cNvSpPr txBox="1"/>
          <p:nvPr/>
        </p:nvSpPr>
        <p:spPr>
          <a:xfrm>
            <a:off x="4600456" y="1864828"/>
            <a:ext cx="1247894"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5A3F87"/>
                </a:solidFill>
                <a:latin typeface="Readex Pro"/>
                <a:ea typeface="Readex Pro"/>
                <a:cs typeface="Readex Pro"/>
              </a:rPr>
              <a:t>CIPM</a:t>
            </a:r>
          </a:p>
        </p:txBody>
      </p:sp>
      <p:sp>
        <p:nvSpPr>
          <p:cNvPr id="27" name="Text 26"/>
          <p:cNvSpPr txBox="1"/>
          <p:nvPr/>
        </p:nvSpPr>
        <p:spPr>
          <a:xfrm>
            <a:off x="4033064" y="1871956"/>
            <a:ext cx="69947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IAPP</a:t>
            </a:r>
          </a:p>
        </p:txBody>
      </p:sp>
      <p:sp>
        <p:nvSpPr>
          <p:cNvPr id="28" name="Text 27"/>
          <p:cNvSpPr txBox="1"/>
          <p:nvPr/>
        </p:nvSpPr>
        <p:spPr>
          <a:xfrm>
            <a:off x="8382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Privacy Manager</a:t>
            </a:r>
          </a:p>
        </p:txBody>
      </p:sp>
      <p:sp>
        <p:nvSpPr>
          <p:cNvPr id="29" name="Text 28"/>
          <p:cNvSpPr txBox="1"/>
          <p:nvPr/>
        </p:nvSpPr>
        <p:spPr>
          <a:xfrm>
            <a:off x="4378960" y="2640064"/>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لمن؟</a:t>
            </a:r>
          </a:p>
        </p:txBody>
      </p:sp>
      <p:sp>
        <p:nvSpPr>
          <p:cNvPr id="30" name="Text 29"/>
          <p:cNvSpPr txBox="1"/>
          <p:nvPr/>
        </p:nvSpPr>
        <p:spPr>
          <a:xfrm>
            <a:off x="893890" y="2640064"/>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من يدير برنامج الخصوصية في جهة.</a:t>
            </a:r>
          </a:p>
        </p:txBody>
      </p:sp>
      <p:sp>
        <p:nvSpPr>
          <p:cNvPr id="31" name="Text 30"/>
          <p:cNvSpPr txBox="1"/>
          <p:nvPr/>
        </p:nvSpPr>
        <p:spPr>
          <a:xfrm>
            <a:off x="4378960" y="348580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ماذا تعلّم؟</a:t>
            </a:r>
          </a:p>
        </p:txBody>
      </p:sp>
      <p:sp>
        <p:nvSpPr>
          <p:cNvPr id="32" name="Text 31"/>
          <p:cNvSpPr txBox="1"/>
          <p:nvPr/>
        </p:nvSpPr>
        <p:spPr>
          <a:xfrm>
            <a:off x="893890" y="3485805"/>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بناء برنامج الخصوصية وتشغيله، غير مرتبطة بقانون دولة واحدة.</a:t>
            </a:r>
          </a:p>
        </p:txBody>
      </p:sp>
      <p:sp>
        <p:nvSpPr>
          <p:cNvPr id="33" name="Text 32"/>
          <p:cNvSpPr txBox="1"/>
          <p:nvPr/>
        </p:nvSpPr>
        <p:spPr>
          <a:xfrm>
            <a:off x="4378960" y="433154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الخبرة</a:t>
            </a:r>
          </a:p>
        </p:txBody>
      </p:sp>
      <p:sp>
        <p:nvSpPr>
          <p:cNvPr id="34" name="Text 33"/>
          <p:cNvSpPr txBox="1"/>
          <p:nvPr/>
        </p:nvSpPr>
        <p:spPr>
          <a:xfrm>
            <a:off x="838200" y="4331545"/>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لا شرط مذكور.</a:t>
            </a:r>
          </a:p>
        </p:txBody>
      </p:sp>
      <p:sp>
        <p:nvSpPr>
          <p:cNvPr id="35" name="Text 34"/>
          <p:cNvSpPr txBox="1"/>
          <p:nvPr/>
        </p:nvSpPr>
        <p:spPr>
          <a:xfrm>
            <a:off x="4378960" y="4786166"/>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5A3F87"/>
                </a:solidFill>
                <a:latin typeface="IBM Plex Sans Arabic"/>
                <a:ea typeface="IBM Plex Sans Arabic"/>
                <a:cs typeface="IBM Plex Sans Arabic"/>
              </a:rPr>
              <a:t>متى؟</a:t>
            </a:r>
          </a:p>
        </p:txBody>
      </p:sp>
      <p:sp>
        <p:nvSpPr>
          <p:cNvPr id="36" name="Text 35"/>
          <p:cNvSpPr txBox="1"/>
          <p:nvPr/>
        </p:nvSpPr>
        <p:spPr>
          <a:xfrm>
            <a:off x="893890" y="4786166"/>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مناسبة للعمل على الخصوصية عملياً.</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(2 من 2): CDPSE، وكيف تختار</a:t>
            </a:r>
          </a:p>
        </p:txBody>
      </p:sp>
      <p:sp>
        <p:nvSpPr>
          <p:cNvPr id="5" name="Box 4"/>
          <p:cNvSpPr/>
          <p:nvPr/>
        </p:nvSpPr>
        <p:spPr>
          <a:xfrm>
            <a:off x="6159500" y="1657945"/>
            <a:ext cx="5219700" cy="3330277"/>
          </a:xfrm>
          <a:prstGeom prst="roundRect">
            <a:avLst>
              <a:gd name="adj" fmla="val 3432"/>
            </a:avLst>
          </a:prstGeom>
          <a:solidFill>
            <a:srgbClr val="FFFDF8"/>
          </a:solidFill>
          <a:ln>
            <a:noFill/>
          </a:ln>
        </p:spPr>
        <p:txBody>
          <a:bodyPr rtlCol="0" anchor="ctr"/>
          <a:lstStyle/>
          <a:p>
            <a:pPr algn="ctr"/>
          </a:p>
        </p:txBody>
      </p:sp>
      <p:sp>
        <p:nvSpPr>
          <p:cNvPr id="6" name="Rule 5"/>
          <p:cNvSpPr/>
          <p:nvPr/>
        </p:nvSpPr>
        <p:spPr>
          <a:xfrm>
            <a:off x="6159500" y="1657945"/>
            <a:ext cx="5219700" cy="50800"/>
          </a:xfrm>
          <a:prstGeom prst="rect">
            <a:avLst/>
          </a:prstGeom>
          <a:solidFill>
            <a:srgbClr val="0E6B5C"/>
          </a:solidFill>
          <a:ln>
            <a:noFill/>
          </a:ln>
        </p:spPr>
        <p:txBody>
          <a:bodyPr rtlCol="0" anchor="ctr"/>
          <a:lstStyle/>
          <a:p>
            <a:pPr algn="ctr"/>
          </a:p>
        </p:txBody>
      </p:sp>
      <p:sp>
        <p:nvSpPr>
          <p:cNvPr id="7" name="Rule 6"/>
          <p:cNvSpPr/>
          <p:nvPr/>
        </p:nvSpPr>
        <p:spPr>
          <a:xfrm>
            <a:off x="11372850" y="1657945"/>
            <a:ext cx="6350" cy="3330277"/>
          </a:xfrm>
          <a:prstGeom prst="rect">
            <a:avLst/>
          </a:prstGeom>
          <a:solidFill>
            <a:srgbClr val="E1DBCD"/>
          </a:solidFill>
          <a:ln>
            <a:noFill/>
          </a:ln>
        </p:spPr>
        <p:txBody>
          <a:bodyPr rtlCol="0" anchor="ctr"/>
          <a:lstStyle/>
          <a:p>
            <a:pPr algn="ctr"/>
          </a:p>
        </p:txBody>
      </p:sp>
      <p:sp>
        <p:nvSpPr>
          <p:cNvPr id="8" name="Rule 7"/>
          <p:cNvSpPr/>
          <p:nvPr/>
        </p:nvSpPr>
        <p:spPr>
          <a:xfrm>
            <a:off x="6159500" y="4981873"/>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657945"/>
            <a:ext cx="6350" cy="3330277"/>
          </a:xfrm>
          <a:prstGeom prst="rect">
            <a:avLst/>
          </a:prstGeom>
          <a:solidFill>
            <a:srgbClr val="E1DBCD"/>
          </a:solidFill>
          <a:ln>
            <a:noFill/>
          </a:ln>
        </p:spPr>
        <p:txBody>
          <a:bodyPr rtlCol="0" anchor="ctr"/>
          <a:lstStyle/>
          <a:p>
            <a:pPr algn="ctr"/>
          </a:p>
        </p:txBody>
      </p:sp>
      <p:sp>
        <p:nvSpPr>
          <p:cNvPr id="10" name="Text 9"/>
          <p:cNvSpPr txBox="1"/>
          <p:nvPr/>
        </p:nvSpPr>
        <p:spPr>
          <a:xfrm>
            <a:off x="9719250" y="1864828"/>
            <a:ext cx="1475800" cy="423466"/>
          </a:xfrm>
          <a:prstGeom prst="rect">
            <a:avLst/>
          </a:prstGeom>
          <a:noFill/>
        </p:spPr>
        <p:txBody>
          <a:bodyPr wrap="square" tIns="0" rIns="0" bIns="0" lIns="0" anchor="t" rtlCol="0" anchorCtr="0">
            <a:noAutofit/>
          </a:bodyPr>
          <a:lstStyle/>
          <a:p>
            <a:pPr algn="r">
              <a:lnSpc>
                <a:spcPts val="3335"/>
              </a:lnSpc>
              <a:spcBef>
                <a:spcPts val="0"/>
              </a:spcBef>
              <a:spcAft>
                <a:spcPts val="0"/>
              </a:spcAft>
            </a:pPr>
            <a:r>
              <a:rPr sz="2900" b="1" i="0">
                <a:solidFill>
                  <a:srgbClr val="0E6B5C"/>
                </a:solidFill>
                <a:latin typeface="Readex Pro"/>
                <a:ea typeface="Readex Pro"/>
                <a:cs typeface="Readex Pro"/>
              </a:rPr>
              <a:t>CDPSE</a:t>
            </a:r>
          </a:p>
        </p:txBody>
      </p:sp>
      <p:sp>
        <p:nvSpPr>
          <p:cNvPr id="11" name="Text 10"/>
          <p:cNvSpPr txBox="1"/>
          <p:nvPr/>
        </p:nvSpPr>
        <p:spPr>
          <a:xfrm>
            <a:off x="9008289" y="1871956"/>
            <a:ext cx="843042" cy="328910"/>
          </a:xfrm>
          <a:prstGeom prst="rect">
            <a:avLst/>
          </a:prstGeom>
          <a:noFill/>
        </p:spPr>
        <p:txBody>
          <a:bodyPr wrap="square" tIns="0" rIns="0" bIns="0" lIns="0" anchor="t" rtlCol="0" anchorCtr="0">
            <a:noAutofit/>
          </a:bodyPr>
          <a:lstStyle/>
          <a:p>
            <a:pPr algn="r">
              <a:lnSpc>
                <a:spcPts val="2590"/>
              </a:lnSpc>
              <a:spcBef>
                <a:spcPts val="0"/>
              </a:spcBef>
              <a:spcAft>
                <a:spcPts val="0"/>
              </a:spcAft>
            </a:pPr>
            <a:r>
              <a:rPr sz="1850" b="1" i="0">
                <a:solidFill>
                  <a:srgbClr val="4E5A66"/>
                </a:solidFill>
                <a:latin typeface="IBM Plex Sans Arabic"/>
                <a:ea typeface="IBM Plex Sans Arabic"/>
                <a:cs typeface="IBM Plex Sans Arabic"/>
              </a:rPr>
              <a:t>ISACA</a:t>
            </a:r>
          </a:p>
        </p:txBody>
      </p:sp>
      <p:sp>
        <p:nvSpPr>
          <p:cNvPr id="12" name="Text 11"/>
          <p:cNvSpPr txBox="1"/>
          <p:nvPr/>
        </p:nvSpPr>
        <p:spPr>
          <a:xfrm>
            <a:off x="6184900" y="2282452"/>
            <a:ext cx="501015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Data Privacy Solutions Engineer</a:t>
            </a:r>
          </a:p>
        </p:txBody>
      </p:sp>
      <p:sp>
        <p:nvSpPr>
          <p:cNvPr id="13" name="Text 12"/>
          <p:cNvSpPr txBox="1"/>
          <p:nvPr/>
        </p:nvSpPr>
        <p:spPr>
          <a:xfrm>
            <a:off x="9725660" y="2640064"/>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6B5C"/>
                </a:solidFill>
                <a:latin typeface="IBM Plex Sans Arabic"/>
                <a:ea typeface="IBM Plex Sans Arabic"/>
                <a:cs typeface="IBM Plex Sans Arabic"/>
              </a:rPr>
              <a:t>لمن؟</a:t>
            </a:r>
          </a:p>
        </p:txBody>
      </p:sp>
      <p:sp>
        <p:nvSpPr>
          <p:cNvPr id="14" name="Text 13"/>
          <p:cNvSpPr txBox="1"/>
          <p:nvPr/>
        </p:nvSpPr>
        <p:spPr>
          <a:xfrm>
            <a:off x="6184900" y="2640064"/>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الجانب التقني للخصوصية.</a:t>
            </a:r>
          </a:p>
        </p:txBody>
      </p:sp>
      <p:sp>
        <p:nvSpPr>
          <p:cNvPr id="15" name="Text 14"/>
          <p:cNvSpPr txBox="1"/>
          <p:nvPr/>
        </p:nvSpPr>
        <p:spPr>
          <a:xfrm>
            <a:off x="9725660" y="3094684"/>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6B5C"/>
                </a:solidFill>
                <a:latin typeface="IBM Plex Sans Arabic"/>
                <a:ea typeface="IBM Plex Sans Arabic"/>
                <a:cs typeface="IBM Plex Sans Arabic"/>
              </a:rPr>
              <a:t>ماذا تعلّم؟</a:t>
            </a:r>
          </a:p>
        </p:txBody>
      </p:sp>
      <p:sp>
        <p:nvSpPr>
          <p:cNvPr id="16" name="Text 15"/>
          <p:cNvSpPr txBox="1"/>
          <p:nvPr/>
        </p:nvSpPr>
        <p:spPr>
          <a:xfrm>
            <a:off x="6240590" y="3094684"/>
            <a:ext cx="3538410" cy="782241"/>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هندسة الخصوصية في الأنظمة ودورة حياة البيانات.</a:t>
            </a:r>
          </a:p>
        </p:txBody>
      </p:sp>
      <p:sp>
        <p:nvSpPr>
          <p:cNvPr id="17" name="Text 16"/>
          <p:cNvSpPr txBox="1"/>
          <p:nvPr/>
        </p:nvSpPr>
        <p:spPr>
          <a:xfrm>
            <a:off x="9725660" y="394042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6B5C"/>
                </a:solidFill>
                <a:latin typeface="IBM Plex Sans Arabic"/>
                <a:ea typeface="IBM Plex Sans Arabic"/>
                <a:cs typeface="IBM Plex Sans Arabic"/>
              </a:rPr>
              <a:t>الخبرة</a:t>
            </a:r>
          </a:p>
        </p:txBody>
      </p:sp>
      <p:sp>
        <p:nvSpPr>
          <p:cNvPr id="18" name="Text 17"/>
          <p:cNvSpPr txBox="1"/>
          <p:nvPr/>
        </p:nvSpPr>
        <p:spPr>
          <a:xfrm>
            <a:off x="6184900" y="3940425"/>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3 سنوات، بلا إعفاء.</a:t>
            </a:r>
          </a:p>
        </p:txBody>
      </p:sp>
      <p:sp>
        <p:nvSpPr>
          <p:cNvPr id="19" name="Text 18"/>
          <p:cNvSpPr txBox="1"/>
          <p:nvPr/>
        </p:nvSpPr>
        <p:spPr>
          <a:xfrm>
            <a:off x="9725660" y="4395045"/>
            <a:ext cx="146939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0E6B5C"/>
                </a:solidFill>
                <a:latin typeface="IBM Plex Sans Arabic"/>
                <a:ea typeface="IBM Plex Sans Arabic"/>
                <a:cs typeface="IBM Plex Sans Arabic"/>
              </a:rPr>
              <a:t>متى؟</a:t>
            </a:r>
          </a:p>
        </p:txBody>
      </p:sp>
      <p:sp>
        <p:nvSpPr>
          <p:cNvPr id="20" name="Text 19"/>
          <p:cNvSpPr txBox="1"/>
          <p:nvPr/>
        </p:nvSpPr>
        <p:spPr>
          <a:xfrm>
            <a:off x="6184900" y="4395045"/>
            <a:ext cx="35941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بعد خبرة في الخصوصية.</a:t>
            </a:r>
          </a:p>
        </p:txBody>
      </p:sp>
      <p:sp>
        <p:nvSpPr>
          <p:cNvPr id="21" name="Box 20"/>
          <p:cNvSpPr/>
          <p:nvPr/>
        </p:nvSpPr>
        <p:spPr>
          <a:xfrm>
            <a:off x="815975" y="1661120"/>
            <a:ext cx="5213350" cy="3323927"/>
          </a:xfrm>
          <a:prstGeom prst="roundRect">
            <a:avLst>
              <a:gd name="adj" fmla="val 3432"/>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38200" y="1816695"/>
            <a:ext cx="50101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5A3F87"/>
                </a:solidFill>
                <a:latin typeface="Readex Pro"/>
                <a:ea typeface="Readex Pro"/>
                <a:cs typeface="Readex Pro"/>
              </a:rPr>
              <a:t>قبل أن تختار</a:t>
            </a:r>
          </a:p>
        </p:txBody>
      </p:sp>
      <p:pic>
        <p:nvPicPr>
          <p:cNvPr id="23" name="Icon Lock 22" descr="icon061.png"/>
          <p:cNvPicPr>
            <a:picLocks noChangeAspect="1"/>
          </p:cNvPicPr>
          <p:nvPr/>
        </p:nvPicPr>
        <p:blipFill>
          <a:blip r:embed="rId2"/>
          <a:stretch>
            <a:fillRect/>
          </a:stretch>
        </p:blipFill>
        <p:spPr>
          <a:xfrm>
            <a:off x="5607050" y="2315170"/>
            <a:ext cx="241300" cy="241300"/>
          </a:xfrm>
          <a:prstGeom prst="rect">
            <a:avLst/>
          </a:prstGeom>
        </p:spPr>
      </p:pic>
      <p:sp>
        <p:nvSpPr>
          <p:cNvPr id="24" name="Text 23"/>
          <p:cNvSpPr txBox="1"/>
          <p:nvPr/>
        </p:nvSpPr>
        <p:spPr>
          <a:xfrm>
            <a:off x="862076" y="2274816"/>
            <a:ext cx="4630674"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لـ CIPP ستة تركيزات إقليمية: آسيا، وأستراليا، وكندا، والصين، وأوروبا، والولايات المتحدة.</a:t>
            </a:r>
          </a:p>
        </p:txBody>
      </p:sp>
      <p:pic>
        <p:nvPicPr>
          <p:cNvPr id="25" name="Icon Lock 24" descr="icon061.png"/>
          <p:cNvPicPr>
            <a:picLocks noChangeAspect="1"/>
          </p:cNvPicPr>
          <p:nvPr/>
        </p:nvPicPr>
        <p:blipFill>
          <a:blip r:embed="rId2"/>
          <a:stretch>
            <a:fillRect/>
          </a:stretch>
        </p:blipFill>
        <p:spPr>
          <a:xfrm>
            <a:off x="5607050" y="3120231"/>
            <a:ext cx="241300" cy="241300"/>
          </a:xfrm>
          <a:prstGeom prst="rect">
            <a:avLst/>
          </a:prstGeom>
        </p:spPr>
      </p:pic>
      <p:sp>
        <p:nvSpPr>
          <p:cNvPr id="26" name="Text 25"/>
          <p:cNvSpPr txBox="1"/>
          <p:nvPr/>
        </p:nvSpPr>
        <p:spPr>
          <a:xfrm>
            <a:off x="838200" y="3079877"/>
            <a:ext cx="46545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لا توجد بينها شهادة خاصة بالنظام السعودي.</a:t>
            </a:r>
          </a:p>
        </p:txBody>
      </p:sp>
      <p:pic>
        <p:nvPicPr>
          <p:cNvPr id="27" name="Icon Lock 26" descr="icon061.png"/>
          <p:cNvPicPr>
            <a:picLocks noChangeAspect="1"/>
          </p:cNvPicPr>
          <p:nvPr/>
        </p:nvPicPr>
        <p:blipFill>
          <a:blip r:embed="rId2"/>
          <a:stretch>
            <a:fillRect/>
          </a:stretch>
        </p:blipFill>
        <p:spPr>
          <a:xfrm>
            <a:off x="5607050" y="3560862"/>
            <a:ext cx="241300" cy="241300"/>
          </a:xfrm>
          <a:prstGeom prst="rect">
            <a:avLst/>
          </a:prstGeom>
        </p:spPr>
      </p:pic>
      <p:sp>
        <p:nvSpPr>
          <p:cNvPr id="28" name="Text 27"/>
          <p:cNvSpPr txBox="1"/>
          <p:nvPr/>
        </p:nvSpPr>
        <p:spPr>
          <a:xfrm>
            <a:off x="862076" y="3520507"/>
            <a:ext cx="4630674" cy="109329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في السعودية الأساس نظام حماية البيانات الشخصية ولوائحه. الشهادة الدولية تبني عليه ولا تغني عنه.</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المقارنة: كم سنة خبرة تحتاج؟</a:t>
            </a:r>
          </a:p>
        </p:txBody>
      </p:sp>
      <p:sp>
        <p:nvSpPr>
          <p:cNvPr id="5" name="Box 4"/>
          <p:cNvSpPr/>
          <p:nvPr/>
        </p:nvSpPr>
        <p:spPr>
          <a:xfrm>
            <a:off x="8813800" y="1657945"/>
            <a:ext cx="2565400" cy="3391694"/>
          </a:xfrm>
          <a:prstGeom prst="roundRect">
            <a:avLst>
              <a:gd name="adj" fmla="val 4455"/>
            </a:avLst>
          </a:prstGeom>
          <a:solidFill>
            <a:srgbClr val="FFFDF8"/>
          </a:solidFill>
          <a:ln>
            <a:noFill/>
          </a:ln>
        </p:spPr>
        <p:txBody>
          <a:bodyPr rtlCol="0" anchor="ctr"/>
          <a:lstStyle/>
          <a:p>
            <a:pPr algn="ctr"/>
          </a:p>
        </p:txBody>
      </p:sp>
      <p:sp>
        <p:nvSpPr>
          <p:cNvPr id="6" name="Rule 5"/>
          <p:cNvSpPr/>
          <p:nvPr/>
        </p:nvSpPr>
        <p:spPr>
          <a:xfrm>
            <a:off x="8813800" y="1657945"/>
            <a:ext cx="2565400"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391694"/>
          </a:xfrm>
          <a:prstGeom prst="rect">
            <a:avLst/>
          </a:prstGeom>
          <a:solidFill>
            <a:srgbClr val="E1DBCD"/>
          </a:solidFill>
          <a:ln>
            <a:noFill/>
          </a:ln>
        </p:spPr>
        <p:txBody>
          <a:bodyPr rtlCol="0" anchor="ctr"/>
          <a:lstStyle/>
          <a:p>
            <a:pPr algn="ctr"/>
          </a:p>
        </p:txBody>
      </p:sp>
      <p:sp>
        <p:nvSpPr>
          <p:cNvPr id="8" name="Rule 7"/>
          <p:cNvSpPr/>
          <p:nvPr/>
        </p:nvSpPr>
        <p:spPr>
          <a:xfrm>
            <a:off x="8813800" y="5043289"/>
            <a:ext cx="2565400" cy="6350"/>
          </a:xfrm>
          <a:prstGeom prst="rect">
            <a:avLst/>
          </a:prstGeom>
          <a:solidFill>
            <a:srgbClr val="E1DBCD"/>
          </a:solidFill>
          <a:ln>
            <a:noFill/>
          </a:ln>
        </p:spPr>
        <p:txBody>
          <a:bodyPr rtlCol="0" anchor="ctr"/>
          <a:lstStyle/>
          <a:p>
            <a:pPr algn="ctr"/>
          </a:p>
        </p:txBody>
      </p:sp>
      <p:sp>
        <p:nvSpPr>
          <p:cNvPr id="9" name="Rule 8"/>
          <p:cNvSpPr/>
          <p:nvPr/>
        </p:nvSpPr>
        <p:spPr>
          <a:xfrm>
            <a:off x="8813800" y="1657945"/>
            <a:ext cx="6350" cy="3391694"/>
          </a:xfrm>
          <a:prstGeom prst="rect">
            <a:avLst/>
          </a:prstGeom>
          <a:solidFill>
            <a:srgbClr val="E1DBCD"/>
          </a:solidFill>
          <a:ln>
            <a:noFill/>
          </a:ln>
        </p:spPr>
        <p:txBody>
          <a:bodyPr rtlCol="0" anchor="ctr"/>
          <a:lstStyle/>
          <a:p>
            <a:pPr algn="ctr"/>
          </a:p>
        </p:txBody>
      </p:sp>
      <p:sp>
        <p:nvSpPr>
          <p:cNvPr id="10" name="Text 9"/>
          <p:cNvSpPr txBox="1"/>
          <p:nvPr/>
        </p:nvSpPr>
        <p:spPr>
          <a:xfrm>
            <a:off x="10748466" y="1880830"/>
            <a:ext cx="484684"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a:t>
            </a:r>
          </a:p>
        </p:txBody>
      </p:sp>
      <p:sp>
        <p:nvSpPr>
          <p:cNvPr id="11" name="Text 10"/>
          <p:cNvSpPr txBox="1"/>
          <p:nvPr/>
        </p:nvSpPr>
        <p:spPr>
          <a:xfrm>
            <a:off x="10198517" y="1913489"/>
            <a:ext cx="702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بلا خبرة</a:t>
            </a:r>
          </a:p>
        </p:txBody>
      </p:sp>
      <p:sp>
        <p:nvSpPr>
          <p:cNvPr id="12" name="Text box 11"/>
          <p:cNvSpPr/>
          <p:nvPr/>
        </p:nvSpPr>
        <p:spPr>
          <a:xfrm>
            <a:off x="8959850" y="2292945"/>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CC</a:t>
            </a:r>
          </a:p>
        </p:txBody>
      </p:sp>
      <p:sp>
        <p:nvSpPr>
          <p:cNvPr id="13" name="Text box 12"/>
          <p:cNvSpPr/>
          <p:nvPr/>
        </p:nvSpPr>
        <p:spPr>
          <a:xfrm>
            <a:off x="8959850" y="2738636"/>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Security+</a:t>
            </a:r>
          </a:p>
        </p:txBody>
      </p:sp>
      <p:sp>
        <p:nvSpPr>
          <p:cNvPr id="14" name="Text box 13"/>
          <p:cNvSpPr/>
          <p:nvPr/>
        </p:nvSpPr>
        <p:spPr>
          <a:xfrm>
            <a:off x="8959850" y="3184327"/>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IT Risk Fund.</a:t>
            </a:r>
          </a:p>
        </p:txBody>
      </p:sp>
      <p:sp>
        <p:nvSpPr>
          <p:cNvPr id="15" name="Text box 14"/>
          <p:cNvSpPr/>
          <p:nvPr/>
        </p:nvSpPr>
        <p:spPr>
          <a:xfrm>
            <a:off x="8959850" y="3630017"/>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GRCP</a:t>
            </a:r>
          </a:p>
        </p:txBody>
      </p:sp>
      <p:sp>
        <p:nvSpPr>
          <p:cNvPr id="16" name="Text box 15"/>
          <p:cNvSpPr/>
          <p:nvPr/>
        </p:nvSpPr>
        <p:spPr>
          <a:xfrm>
            <a:off x="8959850" y="4075708"/>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CIPP/E · CIPM</a:t>
            </a:r>
          </a:p>
        </p:txBody>
      </p:sp>
      <p:sp>
        <p:nvSpPr>
          <p:cNvPr id="17" name="Text box 16"/>
          <p:cNvSpPr/>
          <p:nvPr/>
        </p:nvSpPr>
        <p:spPr>
          <a:xfrm>
            <a:off x="8959850" y="4521398"/>
            <a:ext cx="2273300" cy="382191"/>
          </a:xfrm>
          <a:prstGeom prst="roundRect">
            <a:avLst>
              <a:gd name="adj" fmla="val 16614"/>
            </a:avLst>
          </a:prstGeom>
          <a:solidFill>
            <a:srgbClr val="E3F1ED"/>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ISO Provisional</a:t>
            </a:r>
          </a:p>
        </p:txBody>
      </p:sp>
      <p:sp>
        <p:nvSpPr>
          <p:cNvPr id="18" name="Box 17"/>
          <p:cNvSpPr/>
          <p:nvPr/>
        </p:nvSpPr>
        <p:spPr>
          <a:xfrm>
            <a:off x="6146800" y="1657945"/>
            <a:ext cx="2565400" cy="3391694"/>
          </a:xfrm>
          <a:prstGeom prst="roundRect">
            <a:avLst>
              <a:gd name="adj" fmla="val 4455"/>
            </a:avLst>
          </a:prstGeom>
          <a:solidFill>
            <a:srgbClr val="FFFDF8"/>
          </a:solidFill>
          <a:ln>
            <a:noFill/>
          </a:ln>
        </p:spPr>
        <p:txBody>
          <a:bodyPr rtlCol="0" anchor="ctr"/>
          <a:lstStyle/>
          <a:p>
            <a:pPr algn="ctr"/>
          </a:p>
        </p:txBody>
      </p:sp>
      <p:sp>
        <p:nvSpPr>
          <p:cNvPr id="19" name="Rule 18"/>
          <p:cNvSpPr/>
          <p:nvPr/>
        </p:nvSpPr>
        <p:spPr>
          <a:xfrm>
            <a:off x="6146800" y="1657945"/>
            <a:ext cx="2565400" cy="50800"/>
          </a:xfrm>
          <a:prstGeom prst="rect">
            <a:avLst/>
          </a:prstGeom>
          <a:solidFill>
            <a:srgbClr val="24506B"/>
          </a:solidFill>
          <a:ln>
            <a:noFill/>
          </a:ln>
        </p:spPr>
        <p:txBody>
          <a:bodyPr rtlCol="0" anchor="ctr"/>
          <a:lstStyle/>
          <a:p>
            <a:pPr algn="ctr"/>
          </a:p>
        </p:txBody>
      </p:sp>
      <p:sp>
        <p:nvSpPr>
          <p:cNvPr id="20" name="Rule 19"/>
          <p:cNvSpPr/>
          <p:nvPr/>
        </p:nvSpPr>
        <p:spPr>
          <a:xfrm>
            <a:off x="8705850" y="1657945"/>
            <a:ext cx="6350" cy="3391694"/>
          </a:xfrm>
          <a:prstGeom prst="rect">
            <a:avLst/>
          </a:prstGeom>
          <a:solidFill>
            <a:srgbClr val="E1DBCD"/>
          </a:solidFill>
          <a:ln>
            <a:noFill/>
          </a:ln>
        </p:spPr>
        <p:txBody>
          <a:bodyPr rtlCol="0" anchor="ctr"/>
          <a:lstStyle/>
          <a:p>
            <a:pPr algn="ctr"/>
          </a:p>
        </p:txBody>
      </p:sp>
      <p:sp>
        <p:nvSpPr>
          <p:cNvPr id="21" name="Rule 20"/>
          <p:cNvSpPr/>
          <p:nvPr/>
        </p:nvSpPr>
        <p:spPr>
          <a:xfrm>
            <a:off x="6146800" y="5043289"/>
            <a:ext cx="2565400" cy="6350"/>
          </a:xfrm>
          <a:prstGeom prst="rect">
            <a:avLst/>
          </a:prstGeom>
          <a:solidFill>
            <a:srgbClr val="E1DBCD"/>
          </a:solidFill>
          <a:ln>
            <a:noFill/>
          </a:ln>
        </p:spPr>
        <p:txBody>
          <a:bodyPr rtlCol="0" anchor="ctr"/>
          <a:lstStyle/>
          <a:p>
            <a:pPr algn="ctr"/>
          </a:p>
        </p:txBody>
      </p:sp>
      <p:sp>
        <p:nvSpPr>
          <p:cNvPr id="22" name="Rule 21"/>
          <p:cNvSpPr/>
          <p:nvPr/>
        </p:nvSpPr>
        <p:spPr>
          <a:xfrm>
            <a:off x="6146800" y="1657945"/>
            <a:ext cx="6350" cy="3391694"/>
          </a:xfrm>
          <a:prstGeom prst="rect">
            <a:avLst/>
          </a:prstGeom>
          <a:solidFill>
            <a:srgbClr val="E1DBCD"/>
          </a:solidFill>
          <a:ln>
            <a:noFill/>
          </a:ln>
        </p:spPr>
        <p:txBody>
          <a:bodyPr rtlCol="0" anchor="ctr"/>
          <a:lstStyle/>
          <a:p>
            <a:pPr algn="ctr"/>
          </a:p>
        </p:txBody>
      </p:sp>
      <p:sp>
        <p:nvSpPr>
          <p:cNvPr id="23" name="Text 22"/>
          <p:cNvSpPr txBox="1"/>
          <p:nvPr/>
        </p:nvSpPr>
        <p:spPr>
          <a:xfrm>
            <a:off x="8128695" y="1880830"/>
            <a:ext cx="43745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24506B"/>
                </a:solidFill>
                <a:latin typeface="Readex Pro"/>
                <a:ea typeface="Readex Pro"/>
                <a:cs typeface="Readex Pro"/>
              </a:rPr>
              <a:t>2</a:t>
            </a:r>
          </a:p>
        </p:txBody>
      </p:sp>
      <p:sp>
        <p:nvSpPr>
          <p:cNvPr id="24" name="Text 23"/>
          <p:cNvSpPr txBox="1"/>
          <p:nvPr/>
        </p:nvSpPr>
        <p:spPr>
          <a:xfrm>
            <a:off x="7678757" y="1913489"/>
            <a:ext cx="60233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سنتان</a:t>
            </a:r>
          </a:p>
        </p:txBody>
      </p:sp>
      <p:sp>
        <p:nvSpPr>
          <p:cNvPr id="25" name="Text box 24"/>
          <p:cNvSpPr/>
          <p:nvPr/>
        </p:nvSpPr>
        <p:spPr>
          <a:xfrm>
            <a:off x="6292850" y="2292945"/>
            <a:ext cx="2273300" cy="382191"/>
          </a:xfrm>
          <a:prstGeom prst="roundRect">
            <a:avLst>
              <a:gd name="adj" fmla="val 16614"/>
            </a:avLst>
          </a:prstGeom>
          <a:solidFill>
            <a:srgbClr val="E6EDF4"/>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CGRC</a:t>
            </a:r>
          </a:p>
        </p:txBody>
      </p:sp>
      <p:sp>
        <p:nvSpPr>
          <p:cNvPr id="26" name="Text box 25"/>
          <p:cNvSpPr/>
          <p:nvPr/>
        </p:nvSpPr>
        <p:spPr>
          <a:xfrm>
            <a:off x="6292850" y="2738636"/>
            <a:ext cx="2273300" cy="382191"/>
          </a:xfrm>
          <a:prstGeom prst="roundRect">
            <a:avLst>
              <a:gd name="adj" fmla="val 16614"/>
            </a:avLst>
          </a:prstGeom>
          <a:solidFill>
            <a:srgbClr val="E6EDF4"/>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ISO Implementer</a:t>
            </a:r>
          </a:p>
        </p:txBody>
      </p:sp>
      <p:sp>
        <p:nvSpPr>
          <p:cNvPr id="27" name="Box 26"/>
          <p:cNvSpPr/>
          <p:nvPr/>
        </p:nvSpPr>
        <p:spPr>
          <a:xfrm>
            <a:off x="3479800" y="1657945"/>
            <a:ext cx="2565400" cy="3391694"/>
          </a:xfrm>
          <a:prstGeom prst="roundRect">
            <a:avLst>
              <a:gd name="adj" fmla="val 4455"/>
            </a:avLst>
          </a:prstGeom>
          <a:solidFill>
            <a:srgbClr val="FFFDF8"/>
          </a:solidFill>
          <a:ln>
            <a:noFill/>
          </a:ln>
        </p:spPr>
        <p:txBody>
          <a:bodyPr rtlCol="0" anchor="ctr"/>
          <a:lstStyle/>
          <a:p>
            <a:pPr algn="ctr"/>
          </a:p>
        </p:txBody>
      </p:sp>
      <p:sp>
        <p:nvSpPr>
          <p:cNvPr id="28" name="Rule 27"/>
          <p:cNvSpPr/>
          <p:nvPr/>
        </p:nvSpPr>
        <p:spPr>
          <a:xfrm>
            <a:off x="3479800" y="1657945"/>
            <a:ext cx="2565400" cy="50800"/>
          </a:xfrm>
          <a:prstGeom prst="rect">
            <a:avLst/>
          </a:prstGeom>
          <a:solidFill>
            <a:srgbClr val="5A3F87"/>
          </a:solidFill>
          <a:ln>
            <a:noFill/>
          </a:ln>
        </p:spPr>
        <p:txBody>
          <a:bodyPr rtlCol="0" anchor="ctr"/>
          <a:lstStyle/>
          <a:p>
            <a:pPr algn="ctr"/>
          </a:p>
        </p:txBody>
      </p:sp>
      <p:sp>
        <p:nvSpPr>
          <p:cNvPr id="29" name="Rule 28"/>
          <p:cNvSpPr/>
          <p:nvPr/>
        </p:nvSpPr>
        <p:spPr>
          <a:xfrm>
            <a:off x="6038850" y="1657945"/>
            <a:ext cx="6350" cy="3391694"/>
          </a:xfrm>
          <a:prstGeom prst="rect">
            <a:avLst/>
          </a:prstGeom>
          <a:solidFill>
            <a:srgbClr val="E1DBCD"/>
          </a:solidFill>
          <a:ln>
            <a:noFill/>
          </a:ln>
        </p:spPr>
        <p:txBody>
          <a:bodyPr rtlCol="0" anchor="ctr"/>
          <a:lstStyle/>
          <a:p>
            <a:pPr algn="ctr"/>
          </a:p>
        </p:txBody>
      </p:sp>
      <p:sp>
        <p:nvSpPr>
          <p:cNvPr id="30" name="Rule 29"/>
          <p:cNvSpPr/>
          <p:nvPr/>
        </p:nvSpPr>
        <p:spPr>
          <a:xfrm>
            <a:off x="3479800" y="5043289"/>
            <a:ext cx="2565400" cy="6350"/>
          </a:xfrm>
          <a:prstGeom prst="rect">
            <a:avLst/>
          </a:prstGeom>
          <a:solidFill>
            <a:srgbClr val="E1DBCD"/>
          </a:solidFill>
          <a:ln>
            <a:noFill/>
          </a:ln>
        </p:spPr>
        <p:txBody>
          <a:bodyPr rtlCol="0" anchor="ctr"/>
          <a:lstStyle/>
          <a:p>
            <a:pPr algn="ctr"/>
          </a:p>
        </p:txBody>
      </p:sp>
      <p:sp>
        <p:nvSpPr>
          <p:cNvPr id="31" name="Rule 30"/>
          <p:cNvSpPr/>
          <p:nvPr/>
        </p:nvSpPr>
        <p:spPr>
          <a:xfrm>
            <a:off x="3479800" y="1657945"/>
            <a:ext cx="6350" cy="3391694"/>
          </a:xfrm>
          <a:prstGeom prst="rect">
            <a:avLst/>
          </a:prstGeom>
          <a:solidFill>
            <a:srgbClr val="E1DBCD"/>
          </a:solidFill>
          <a:ln>
            <a:noFill/>
          </a:ln>
        </p:spPr>
        <p:txBody>
          <a:bodyPr rtlCol="0" anchor="ctr"/>
          <a:lstStyle/>
          <a:p>
            <a:pPr algn="ctr"/>
          </a:p>
        </p:txBody>
      </p:sp>
      <p:sp>
        <p:nvSpPr>
          <p:cNvPr id="32" name="Text 31"/>
          <p:cNvSpPr txBox="1"/>
          <p:nvPr/>
        </p:nvSpPr>
        <p:spPr>
          <a:xfrm>
            <a:off x="5446117" y="1880830"/>
            <a:ext cx="453033"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5A3F87"/>
                </a:solidFill>
                <a:latin typeface="Readex Pro"/>
                <a:ea typeface="Readex Pro"/>
                <a:cs typeface="Readex Pro"/>
              </a:rPr>
              <a:t>3</a:t>
            </a:r>
          </a:p>
        </p:txBody>
      </p:sp>
      <p:sp>
        <p:nvSpPr>
          <p:cNvPr id="33" name="Text 32"/>
          <p:cNvSpPr txBox="1"/>
          <p:nvPr/>
        </p:nvSpPr>
        <p:spPr>
          <a:xfrm>
            <a:off x="4935458" y="1913489"/>
            <a:ext cx="663059"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سنوات</a:t>
            </a:r>
          </a:p>
        </p:txBody>
      </p:sp>
      <p:sp>
        <p:nvSpPr>
          <p:cNvPr id="34" name="Text box 33"/>
          <p:cNvSpPr/>
          <p:nvPr/>
        </p:nvSpPr>
        <p:spPr>
          <a:xfrm>
            <a:off x="3625850" y="2292945"/>
            <a:ext cx="2273300" cy="382191"/>
          </a:xfrm>
          <a:prstGeom prst="roundRect">
            <a:avLst>
              <a:gd name="adj" fmla="val 16614"/>
            </a:avLst>
          </a:prstGeom>
          <a:solidFill>
            <a:srgbClr val="ECE6F4"/>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CRISC</a:t>
            </a:r>
          </a:p>
        </p:txBody>
      </p:sp>
      <p:sp>
        <p:nvSpPr>
          <p:cNvPr id="35" name="Text box 34"/>
          <p:cNvSpPr/>
          <p:nvPr/>
        </p:nvSpPr>
        <p:spPr>
          <a:xfrm>
            <a:off x="3625850" y="2738636"/>
            <a:ext cx="2273300" cy="382191"/>
          </a:xfrm>
          <a:prstGeom prst="roundRect">
            <a:avLst>
              <a:gd name="adj" fmla="val 16614"/>
            </a:avLst>
          </a:prstGeom>
          <a:solidFill>
            <a:srgbClr val="ECE6F4"/>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CDPSE</a:t>
            </a:r>
          </a:p>
        </p:txBody>
      </p:sp>
      <p:sp>
        <p:nvSpPr>
          <p:cNvPr id="36" name="Box 35"/>
          <p:cNvSpPr/>
          <p:nvPr/>
        </p:nvSpPr>
        <p:spPr>
          <a:xfrm>
            <a:off x="812800" y="1657945"/>
            <a:ext cx="2565400" cy="3391694"/>
          </a:xfrm>
          <a:prstGeom prst="roundRect">
            <a:avLst>
              <a:gd name="adj" fmla="val 4455"/>
            </a:avLst>
          </a:prstGeom>
          <a:solidFill>
            <a:srgbClr val="FFFDF8"/>
          </a:solidFill>
          <a:ln>
            <a:noFill/>
          </a:ln>
        </p:spPr>
        <p:txBody>
          <a:bodyPr rtlCol="0" anchor="ctr"/>
          <a:lstStyle/>
          <a:p>
            <a:pPr algn="ctr"/>
          </a:p>
        </p:txBody>
      </p:sp>
      <p:sp>
        <p:nvSpPr>
          <p:cNvPr id="37" name="Rule 36"/>
          <p:cNvSpPr/>
          <p:nvPr/>
        </p:nvSpPr>
        <p:spPr>
          <a:xfrm>
            <a:off x="812800" y="1657945"/>
            <a:ext cx="2565400" cy="50800"/>
          </a:xfrm>
          <a:prstGeom prst="rect">
            <a:avLst/>
          </a:prstGeom>
          <a:solidFill>
            <a:srgbClr val="8A4B12"/>
          </a:solidFill>
          <a:ln>
            <a:noFill/>
          </a:ln>
        </p:spPr>
        <p:txBody>
          <a:bodyPr rtlCol="0" anchor="ctr"/>
          <a:lstStyle/>
          <a:p>
            <a:pPr algn="ctr"/>
          </a:p>
        </p:txBody>
      </p:sp>
      <p:sp>
        <p:nvSpPr>
          <p:cNvPr id="38" name="Rule 37"/>
          <p:cNvSpPr/>
          <p:nvPr/>
        </p:nvSpPr>
        <p:spPr>
          <a:xfrm>
            <a:off x="3371850" y="1657945"/>
            <a:ext cx="6350" cy="3391694"/>
          </a:xfrm>
          <a:prstGeom prst="rect">
            <a:avLst/>
          </a:prstGeom>
          <a:solidFill>
            <a:srgbClr val="E1DBCD"/>
          </a:solidFill>
          <a:ln>
            <a:noFill/>
          </a:ln>
        </p:spPr>
        <p:txBody>
          <a:bodyPr rtlCol="0" anchor="ctr"/>
          <a:lstStyle/>
          <a:p>
            <a:pPr algn="ctr"/>
          </a:p>
        </p:txBody>
      </p:sp>
      <p:sp>
        <p:nvSpPr>
          <p:cNvPr id="39" name="Rule 38"/>
          <p:cNvSpPr/>
          <p:nvPr/>
        </p:nvSpPr>
        <p:spPr>
          <a:xfrm>
            <a:off x="812800" y="5043289"/>
            <a:ext cx="2565400" cy="6350"/>
          </a:xfrm>
          <a:prstGeom prst="rect">
            <a:avLst/>
          </a:prstGeom>
          <a:solidFill>
            <a:srgbClr val="E1DBCD"/>
          </a:solidFill>
          <a:ln>
            <a:noFill/>
          </a:ln>
        </p:spPr>
        <p:txBody>
          <a:bodyPr rtlCol="0" anchor="ctr"/>
          <a:lstStyle/>
          <a:p>
            <a:pPr algn="ctr"/>
          </a:p>
        </p:txBody>
      </p:sp>
      <p:sp>
        <p:nvSpPr>
          <p:cNvPr id="40" name="Rule 39"/>
          <p:cNvSpPr/>
          <p:nvPr/>
        </p:nvSpPr>
        <p:spPr>
          <a:xfrm>
            <a:off x="812800" y="1657945"/>
            <a:ext cx="6350" cy="3391694"/>
          </a:xfrm>
          <a:prstGeom prst="rect">
            <a:avLst/>
          </a:prstGeom>
          <a:solidFill>
            <a:srgbClr val="E1DBCD"/>
          </a:solidFill>
          <a:ln>
            <a:noFill/>
          </a:ln>
        </p:spPr>
        <p:txBody>
          <a:bodyPr rtlCol="0" anchor="ctr"/>
          <a:lstStyle/>
          <a:p>
            <a:pPr algn="ctr"/>
          </a:p>
        </p:txBody>
      </p:sp>
      <p:sp>
        <p:nvSpPr>
          <p:cNvPr id="41" name="Text 40"/>
          <p:cNvSpPr txBox="1"/>
          <p:nvPr/>
        </p:nvSpPr>
        <p:spPr>
          <a:xfrm>
            <a:off x="2776835" y="1880830"/>
            <a:ext cx="45531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8A4B12"/>
                </a:solidFill>
                <a:latin typeface="Readex Pro"/>
                <a:ea typeface="Readex Pro"/>
                <a:cs typeface="Readex Pro"/>
              </a:rPr>
              <a:t>5</a:t>
            </a:r>
          </a:p>
        </p:txBody>
      </p:sp>
      <p:sp>
        <p:nvSpPr>
          <p:cNvPr id="42" name="Text 41"/>
          <p:cNvSpPr txBox="1"/>
          <p:nvPr/>
        </p:nvSpPr>
        <p:spPr>
          <a:xfrm>
            <a:off x="2266176" y="1913489"/>
            <a:ext cx="663059"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سنوات</a:t>
            </a:r>
          </a:p>
        </p:txBody>
      </p:sp>
      <p:sp>
        <p:nvSpPr>
          <p:cNvPr id="43" name="Text box 42"/>
          <p:cNvSpPr/>
          <p:nvPr/>
        </p:nvSpPr>
        <p:spPr>
          <a:xfrm>
            <a:off x="958850" y="2292945"/>
            <a:ext cx="2273300" cy="382191"/>
          </a:xfrm>
          <a:prstGeom prst="roundRect">
            <a:avLst>
              <a:gd name="adj" fmla="val 16614"/>
            </a:avLst>
          </a:prstGeom>
          <a:solidFill>
            <a:srgbClr val="F6ECDA"/>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CISA</a:t>
            </a:r>
          </a:p>
        </p:txBody>
      </p:sp>
      <p:sp>
        <p:nvSpPr>
          <p:cNvPr id="44" name="Text box 43"/>
          <p:cNvSpPr/>
          <p:nvPr/>
        </p:nvSpPr>
        <p:spPr>
          <a:xfrm>
            <a:off x="958850" y="2738636"/>
            <a:ext cx="2273300" cy="382191"/>
          </a:xfrm>
          <a:prstGeom prst="roundRect">
            <a:avLst>
              <a:gd name="adj" fmla="val 16614"/>
            </a:avLst>
          </a:prstGeom>
          <a:solidFill>
            <a:srgbClr val="F6ECDA"/>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CISM</a:t>
            </a:r>
          </a:p>
        </p:txBody>
      </p:sp>
      <p:sp>
        <p:nvSpPr>
          <p:cNvPr id="45" name="Text box 44"/>
          <p:cNvSpPr/>
          <p:nvPr/>
        </p:nvSpPr>
        <p:spPr>
          <a:xfrm>
            <a:off x="958850" y="3184327"/>
            <a:ext cx="2273300" cy="382191"/>
          </a:xfrm>
          <a:prstGeom prst="roundRect">
            <a:avLst>
              <a:gd name="adj" fmla="val 16614"/>
            </a:avLst>
          </a:prstGeom>
          <a:solidFill>
            <a:srgbClr val="F6ECDA"/>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CGEIT</a:t>
            </a:r>
          </a:p>
        </p:txBody>
      </p:sp>
      <p:sp>
        <p:nvSpPr>
          <p:cNvPr id="46" name="Text box 45"/>
          <p:cNvSpPr/>
          <p:nvPr/>
        </p:nvSpPr>
        <p:spPr>
          <a:xfrm>
            <a:off x="958850" y="3630017"/>
            <a:ext cx="2273300" cy="382191"/>
          </a:xfrm>
          <a:prstGeom prst="roundRect">
            <a:avLst>
              <a:gd name="adj" fmla="val 16614"/>
            </a:avLst>
          </a:prstGeom>
          <a:solidFill>
            <a:srgbClr val="F6ECDA"/>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CISSP</a:t>
            </a:r>
          </a:p>
        </p:txBody>
      </p:sp>
      <p:sp>
        <p:nvSpPr>
          <p:cNvPr id="47" name="Text box 46"/>
          <p:cNvSpPr/>
          <p:nvPr/>
        </p:nvSpPr>
        <p:spPr>
          <a:xfrm>
            <a:off x="958850" y="4075708"/>
            <a:ext cx="2273300" cy="382191"/>
          </a:xfrm>
          <a:prstGeom prst="roundRect">
            <a:avLst>
              <a:gd name="adj" fmla="val 16614"/>
            </a:avLst>
          </a:prstGeom>
          <a:solidFill>
            <a:srgbClr val="F6ECDA"/>
          </a:solidFill>
          <a:ln>
            <a:noFill/>
          </a:ln>
        </p:spPr>
        <p:txBody>
          <a:bodyPr rtlCol="0" anchor="ctr" wrap="square" tIns="18168" rIns="83001" bIns="46235" lIns="0" anchorCtr="0">
            <a:noAutofit/>
          </a:bodyPr>
          <a:lstStyle/>
          <a:p>
            <a:pPr algn="r">
              <a:lnSpc>
                <a:spcPts val="2210"/>
              </a:lnSpc>
              <a:spcBef>
                <a:spcPts val="0"/>
              </a:spcBef>
              <a:spcAft>
                <a:spcPts val="0"/>
              </a:spcAft>
            </a:pPr>
            <a:r>
              <a:rPr sz="1700" b="1" i="0">
                <a:solidFill>
                  <a:srgbClr val="172433"/>
                </a:solidFill>
                <a:latin typeface="Readex Pro"/>
                <a:ea typeface="Readex Pro"/>
                <a:cs typeface="Readex Pro"/>
              </a:rPr>
              <a:t>ISO Lead</a:t>
            </a:r>
          </a:p>
        </p:txBody>
      </p:sp>
      <p:sp>
        <p:nvSpPr>
          <p:cNvPr id="48" name="Text 47"/>
          <p:cNvSpPr txBox="1"/>
          <p:nvPr/>
        </p:nvSpPr>
        <p:spPr>
          <a:xfrm>
            <a:off x="0" y="5211596"/>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0" i="0">
                <a:solidFill>
                  <a:srgbClr val="4E5A66"/>
                </a:solidFill>
                <a:latin typeface="IBM Plex Sans Arabic"/>
                <a:ea typeface="IBM Plex Sans Arabic"/>
                <a:cs typeface="IBM Plex Sans Arabic"/>
              </a:rPr>
              <a:t>الخبرة المطلوبة قبل منح الشهادة، مع الإعفاءات المتاحة. الرسوم والتجديد في الملحق: الشريحة 155.</a:t>
            </a:r>
          </a:p>
        </p:txBody>
      </p:sp>
      <p:sp>
        <p:nvSpPr>
          <p:cNvPr id="49" name="Text 4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50" name="Text 4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تختار: ابدأ من الوظيفة، لا من الشهادة</a:t>
            </a:r>
          </a:p>
        </p:txBody>
      </p:sp>
      <p:sp>
        <p:nvSpPr>
          <p:cNvPr id="5" name="Text 4"/>
          <p:cNvSpPr txBox="1"/>
          <p:nvPr/>
        </p:nvSpPr>
        <p:spPr>
          <a:xfrm>
            <a:off x="8773160" y="1630386"/>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5E6A75"/>
                </a:solidFill>
                <a:latin typeface="IBM Plex Sans Arabic"/>
                <a:ea typeface="IBM Plex Sans Arabic"/>
                <a:cs typeface="IBM Plex Sans Arabic"/>
              </a:rPr>
              <a:t>الوظيفة المستهدفة</a:t>
            </a:r>
          </a:p>
        </p:txBody>
      </p:sp>
      <p:sp>
        <p:nvSpPr>
          <p:cNvPr id="6" name="Text 5"/>
          <p:cNvSpPr txBox="1"/>
          <p:nvPr/>
        </p:nvSpPr>
        <p:spPr>
          <a:xfrm>
            <a:off x="60380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0E7C6B"/>
                </a:solidFill>
                <a:latin typeface="IBM Plex Sans Arabic"/>
                <a:ea typeface="IBM Plex Sans Arabic"/>
                <a:cs typeface="IBM Plex Sans Arabic"/>
              </a:rPr>
              <a:t>مدخل</a:t>
            </a:r>
          </a:p>
        </p:txBody>
      </p:sp>
      <p:sp>
        <p:nvSpPr>
          <p:cNvPr id="7" name="Text 6"/>
          <p:cNvSpPr txBox="1"/>
          <p:nvPr/>
        </p:nvSpPr>
        <p:spPr>
          <a:xfrm>
            <a:off x="33202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24506B"/>
                </a:solidFill>
                <a:latin typeface="IBM Plex Sans Arabic"/>
                <a:ea typeface="IBM Plex Sans Arabic"/>
                <a:cs typeface="IBM Plex Sans Arabic"/>
              </a:rPr>
              <a:t>تخصص</a:t>
            </a:r>
          </a:p>
        </p:txBody>
      </p:sp>
      <p:sp>
        <p:nvSpPr>
          <p:cNvPr id="8" name="Text 7"/>
          <p:cNvSpPr txBox="1"/>
          <p:nvPr/>
        </p:nvSpPr>
        <p:spPr>
          <a:xfrm>
            <a:off x="6024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8A4B12"/>
                </a:solidFill>
                <a:latin typeface="IBM Plex Sans Arabic"/>
                <a:ea typeface="IBM Plex Sans Arabic"/>
                <a:cs typeface="IBM Plex Sans Arabic"/>
              </a:rPr>
              <a:t>بعد اكتمال الخبرة</a:t>
            </a:r>
          </a:p>
        </p:txBody>
      </p:sp>
      <p:sp>
        <p:nvSpPr>
          <p:cNvPr id="9" name="Box 8"/>
          <p:cNvSpPr/>
          <p:nvPr/>
        </p:nvSpPr>
        <p:spPr>
          <a:xfrm>
            <a:off x="815975" y="1986161"/>
            <a:ext cx="10560050" cy="709216"/>
          </a:xfrm>
          <a:prstGeom prst="roundRect">
            <a:avLst>
              <a:gd name="adj" fmla="val 12423"/>
            </a:avLst>
          </a:prstGeom>
          <a:solidFill>
            <a:srgbClr val="FFFDF8"/>
          </a:solidFill>
          <a:ln w="6350">
            <a:solidFill>
              <a:srgbClr val="E1DBCD"/>
            </a:solidFill>
          </a:ln>
        </p:spPr>
        <p:txBody>
          <a:bodyPr rtlCol="0" anchor="ctr"/>
          <a:lstStyle/>
          <a:p>
            <a:pPr algn="ctr"/>
          </a:p>
        </p:txBody>
      </p:sp>
      <p:sp>
        <p:nvSpPr>
          <p:cNvPr id="10" name="Text 9"/>
          <p:cNvSpPr txBox="1"/>
          <p:nvPr/>
        </p:nvSpPr>
        <p:spPr>
          <a:xfrm>
            <a:off x="8652510" y="2056233"/>
            <a:ext cx="2606040" cy="272355"/>
          </a:xfrm>
          <a:prstGeom prst="rect">
            <a:avLst/>
          </a:prstGeom>
          <a:noFill/>
        </p:spPr>
        <p:txBody>
          <a:bodyPr wrap="square" tIns="0" rIns="0" bIns="0" lIns="0" anchor="t" rtlCol="0" anchorCtr="0">
            <a:noAutofit/>
          </a:bodyPr>
          <a:lstStyle/>
          <a:p>
            <a:pPr algn="r" rtl="1">
              <a:lnSpc>
                <a:spcPts val="2145"/>
              </a:lnSpc>
              <a:spcBef>
                <a:spcPts val="0"/>
              </a:spcBef>
              <a:spcAft>
                <a:spcPts val="0"/>
              </a:spcAft>
            </a:pPr>
            <a:r>
              <a:rPr sz="1650" b="1" i="0">
                <a:solidFill>
                  <a:srgbClr val="172433"/>
                </a:solidFill>
                <a:latin typeface="IBM Plex Sans Arabic"/>
                <a:ea typeface="IBM Plex Sans Arabic"/>
                <a:cs typeface="IBM Plex Sans Arabic"/>
              </a:rPr>
              <a:t>محلل GRC وامتثال</a:t>
            </a:r>
          </a:p>
        </p:txBody>
      </p:sp>
      <p:sp>
        <p:nvSpPr>
          <p:cNvPr id="11" name="Text 10"/>
          <p:cNvSpPr txBox="1"/>
          <p:nvPr/>
        </p:nvSpPr>
        <p:spPr>
          <a:xfrm>
            <a:off x="8652510" y="2336717"/>
            <a:ext cx="260604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الخط الثاني</a:t>
            </a:r>
          </a:p>
        </p:txBody>
      </p:sp>
      <p:sp>
        <p:nvSpPr>
          <p:cNvPr id="12" name="Text box 11"/>
          <p:cNvSpPr/>
          <p:nvPr/>
        </p:nvSpPr>
        <p:spPr>
          <a:xfrm>
            <a:off x="6208216" y="2143919"/>
            <a:ext cx="2548434" cy="393700"/>
          </a:xfrm>
          <a:prstGeom prst="roundRect">
            <a:avLst>
              <a:gd name="adj" fmla="val 16129"/>
            </a:avLst>
          </a:prstGeom>
          <a:solidFill>
            <a:srgbClr val="E3F1ED"/>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CC أو Security+</a:t>
            </a:r>
          </a:p>
        </p:txBody>
      </p:sp>
      <p:sp>
        <p:nvSpPr>
          <p:cNvPr id="13" name="Text box 12"/>
          <p:cNvSpPr/>
          <p:nvPr/>
        </p:nvSpPr>
        <p:spPr>
          <a:xfrm>
            <a:off x="3570883" y="2143919"/>
            <a:ext cx="2548434" cy="393700"/>
          </a:xfrm>
          <a:prstGeom prst="roundRect">
            <a:avLst>
              <a:gd name="adj" fmla="val 16129"/>
            </a:avLst>
          </a:prstGeom>
          <a:solidFill>
            <a:srgbClr val="E6EDF4"/>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ISO 27001 LI أو GRCP</a:t>
            </a:r>
          </a:p>
        </p:txBody>
      </p:sp>
      <p:sp>
        <p:nvSpPr>
          <p:cNvPr id="14" name="Text box 13"/>
          <p:cNvSpPr/>
          <p:nvPr/>
        </p:nvSpPr>
        <p:spPr>
          <a:xfrm>
            <a:off x="933549" y="2143919"/>
            <a:ext cx="2548434" cy="393700"/>
          </a:xfrm>
          <a:prstGeom prst="roundRect">
            <a:avLst>
              <a:gd name="adj" fmla="val 16129"/>
            </a:avLst>
          </a:prstGeom>
          <a:solidFill>
            <a:srgbClr val="F6ECDA"/>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CRISC أو CGRC</a:t>
            </a:r>
          </a:p>
        </p:txBody>
      </p:sp>
      <p:sp>
        <p:nvSpPr>
          <p:cNvPr id="15" name="Box 14"/>
          <p:cNvSpPr/>
          <p:nvPr/>
        </p:nvSpPr>
        <p:spPr>
          <a:xfrm>
            <a:off x="815975" y="2777927"/>
            <a:ext cx="10560050" cy="709216"/>
          </a:xfrm>
          <a:prstGeom prst="roundRect">
            <a:avLst>
              <a:gd name="adj" fmla="val 12423"/>
            </a:avLst>
          </a:prstGeom>
          <a:solidFill>
            <a:srgbClr val="FFFDF8"/>
          </a:solidFill>
          <a:ln w="6350">
            <a:solidFill>
              <a:srgbClr val="E1DBCD"/>
            </a:solidFill>
          </a:ln>
        </p:spPr>
        <p:txBody>
          <a:bodyPr rtlCol="0" anchor="ctr"/>
          <a:lstStyle/>
          <a:p>
            <a:pPr algn="ctr"/>
          </a:p>
        </p:txBody>
      </p:sp>
      <p:sp>
        <p:nvSpPr>
          <p:cNvPr id="16" name="Text 15"/>
          <p:cNvSpPr txBox="1"/>
          <p:nvPr/>
        </p:nvSpPr>
        <p:spPr>
          <a:xfrm>
            <a:off x="8652510" y="2847999"/>
            <a:ext cx="2606040" cy="272355"/>
          </a:xfrm>
          <a:prstGeom prst="rect">
            <a:avLst/>
          </a:prstGeom>
          <a:noFill/>
        </p:spPr>
        <p:txBody>
          <a:bodyPr wrap="square" tIns="0" rIns="0" bIns="0" lIns="0" anchor="t" rtlCol="0" anchorCtr="0">
            <a:noAutofit/>
          </a:bodyPr>
          <a:lstStyle/>
          <a:p>
            <a:pPr algn="r" rtl="1">
              <a:lnSpc>
                <a:spcPts val="2145"/>
              </a:lnSpc>
              <a:spcBef>
                <a:spcPts val="0"/>
              </a:spcBef>
              <a:spcAft>
                <a:spcPts val="0"/>
              </a:spcAft>
            </a:pPr>
            <a:r>
              <a:rPr sz="1650" b="1" i="0">
                <a:solidFill>
                  <a:srgbClr val="172433"/>
                </a:solidFill>
                <a:latin typeface="IBM Plex Sans Arabic"/>
                <a:ea typeface="IBM Plex Sans Arabic"/>
                <a:cs typeface="IBM Plex Sans Arabic"/>
              </a:rPr>
              <a:t>مدقق تقنية معلومات</a:t>
            </a:r>
          </a:p>
        </p:txBody>
      </p:sp>
      <p:sp>
        <p:nvSpPr>
          <p:cNvPr id="17" name="Text 16"/>
          <p:cNvSpPr txBox="1"/>
          <p:nvPr/>
        </p:nvSpPr>
        <p:spPr>
          <a:xfrm>
            <a:off x="8652510" y="3128482"/>
            <a:ext cx="260604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الخط الثالث</a:t>
            </a:r>
          </a:p>
        </p:txBody>
      </p:sp>
      <p:sp>
        <p:nvSpPr>
          <p:cNvPr id="18" name="Text box 17"/>
          <p:cNvSpPr/>
          <p:nvPr/>
        </p:nvSpPr>
        <p:spPr>
          <a:xfrm>
            <a:off x="6208216" y="2935684"/>
            <a:ext cx="2548434" cy="393700"/>
          </a:xfrm>
          <a:prstGeom prst="roundRect">
            <a:avLst>
              <a:gd name="adj" fmla="val 16129"/>
            </a:avLst>
          </a:prstGeom>
          <a:solidFill>
            <a:srgbClr val="E3F1ED"/>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CC أو IT Audit Fund.</a:t>
            </a:r>
          </a:p>
        </p:txBody>
      </p:sp>
      <p:sp>
        <p:nvSpPr>
          <p:cNvPr id="19" name="Text box 18"/>
          <p:cNvSpPr/>
          <p:nvPr/>
        </p:nvSpPr>
        <p:spPr>
          <a:xfrm>
            <a:off x="3570883" y="2935684"/>
            <a:ext cx="2548434" cy="393700"/>
          </a:xfrm>
          <a:prstGeom prst="roundRect">
            <a:avLst>
              <a:gd name="adj" fmla="val 16129"/>
            </a:avLst>
          </a:prstGeom>
          <a:solidFill>
            <a:srgbClr val="E6EDF4"/>
          </a:solidFill>
          <a:ln>
            <a:noFill/>
          </a:ln>
        </p:spPr>
        <p:txBody>
          <a:bodyPr rtlCol="0" anchor="ctr" wrap="square" tIns="15374" rIns="70301" bIns="74429" lIns="0" anchorCtr="0">
            <a:noAutofit/>
          </a:bodyPr>
          <a:lstStyle/>
          <a:p>
            <a:pPr algn="r">
              <a:lnSpc>
                <a:spcPts val="2100"/>
              </a:lnSpc>
              <a:spcBef>
                <a:spcPts val="0"/>
              </a:spcBef>
              <a:spcAft>
                <a:spcPts val="0"/>
              </a:spcAft>
            </a:pPr>
            <a:r>
              <a:rPr sz="1500" b="1" i="0">
                <a:solidFill>
                  <a:srgbClr val="172433"/>
                </a:solidFill>
                <a:latin typeface="IBM Plex Sans Arabic"/>
                <a:ea typeface="IBM Plex Sans Arabic"/>
                <a:cs typeface="IBM Plex Sans Arabic"/>
              </a:rPr>
              <a:t>ISO 27001 LA</a:t>
            </a:r>
          </a:p>
        </p:txBody>
      </p:sp>
      <p:sp>
        <p:nvSpPr>
          <p:cNvPr id="20" name="Text box 19"/>
          <p:cNvSpPr/>
          <p:nvPr/>
        </p:nvSpPr>
        <p:spPr>
          <a:xfrm>
            <a:off x="933549" y="2935684"/>
            <a:ext cx="2548434" cy="393700"/>
          </a:xfrm>
          <a:prstGeom prst="roundRect">
            <a:avLst>
              <a:gd name="adj" fmla="val 16129"/>
            </a:avLst>
          </a:prstGeom>
          <a:solidFill>
            <a:srgbClr val="F6ECDA"/>
          </a:solidFill>
          <a:ln>
            <a:noFill/>
          </a:ln>
        </p:spPr>
        <p:txBody>
          <a:bodyPr rtlCol="0" anchor="ctr" wrap="square" tIns="15374" rIns="70301" bIns="74429" lIns="0" anchorCtr="0">
            <a:noAutofit/>
          </a:bodyPr>
          <a:lstStyle/>
          <a:p>
            <a:pPr algn="r">
              <a:lnSpc>
                <a:spcPts val="2100"/>
              </a:lnSpc>
              <a:spcBef>
                <a:spcPts val="0"/>
              </a:spcBef>
              <a:spcAft>
                <a:spcPts val="0"/>
              </a:spcAft>
            </a:pPr>
            <a:r>
              <a:rPr sz="1500" b="1" i="0">
                <a:solidFill>
                  <a:srgbClr val="172433"/>
                </a:solidFill>
                <a:latin typeface="IBM Plex Sans Arabic"/>
                <a:ea typeface="IBM Plex Sans Arabic"/>
                <a:cs typeface="IBM Plex Sans Arabic"/>
              </a:rPr>
              <a:t>CISA</a:t>
            </a:r>
          </a:p>
        </p:txBody>
      </p:sp>
      <p:sp>
        <p:nvSpPr>
          <p:cNvPr id="21" name="Box 20"/>
          <p:cNvSpPr/>
          <p:nvPr/>
        </p:nvSpPr>
        <p:spPr>
          <a:xfrm>
            <a:off x="815975" y="3569692"/>
            <a:ext cx="10560050" cy="709216"/>
          </a:xfrm>
          <a:prstGeom prst="roundRect">
            <a:avLst>
              <a:gd name="adj" fmla="val 12423"/>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652510" y="3639764"/>
            <a:ext cx="2606040" cy="272355"/>
          </a:xfrm>
          <a:prstGeom prst="rect">
            <a:avLst/>
          </a:prstGeom>
          <a:noFill/>
        </p:spPr>
        <p:txBody>
          <a:bodyPr wrap="square" tIns="0" rIns="0" bIns="0" lIns="0" anchor="t" rtlCol="0" anchorCtr="0">
            <a:noAutofit/>
          </a:bodyPr>
          <a:lstStyle/>
          <a:p>
            <a:pPr algn="r" rtl="1">
              <a:lnSpc>
                <a:spcPts val="2145"/>
              </a:lnSpc>
              <a:spcBef>
                <a:spcPts val="0"/>
              </a:spcBef>
              <a:spcAft>
                <a:spcPts val="0"/>
              </a:spcAft>
            </a:pPr>
            <a:r>
              <a:rPr sz="1650" b="1" i="0">
                <a:solidFill>
                  <a:srgbClr val="172433"/>
                </a:solidFill>
                <a:latin typeface="IBM Plex Sans Arabic"/>
                <a:ea typeface="IBM Plex Sans Arabic"/>
                <a:cs typeface="IBM Plex Sans Arabic"/>
              </a:rPr>
              <a:t>الخصوصية وحماية البيانات</a:t>
            </a:r>
          </a:p>
        </p:txBody>
      </p:sp>
      <p:sp>
        <p:nvSpPr>
          <p:cNvPr id="23" name="Text 22"/>
          <p:cNvSpPr txBox="1"/>
          <p:nvPr/>
        </p:nvSpPr>
        <p:spPr>
          <a:xfrm>
            <a:off x="8652510" y="3920248"/>
            <a:ext cx="260604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مثل مسؤول حماية البيانات</a:t>
            </a:r>
          </a:p>
        </p:txBody>
      </p:sp>
      <p:sp>
        <p:nvSpPr>
          <p:cNvPr id="24" name="Text box 23"/>
          <p:cNvSpPr/>
          <p:nvPr/>
        </p:nvSpPr>
        <p:spPr>
          <a:xfrm>
            <a:off x="6208216" y="3727450"/>
            <a:ext cx="2548434" cy="393700"/>
          </a:xfrm>
          <a:prstGeom prst="roundRect">
            <a:avLst>
              <a:gd name="adj" fmla="val 16129"/>
            </a:avLst>
          </a:prstGeom>
          <a:solidFill>
            <a:srgbClr val="E3F1ED"/>
          </a:solidFill>
          <a:ln>
            <a:noFill/>
          </a:ln>
        </p:spPr>
        <p:txBody>
          <a:bodyPr rtlCol="0" anchor="ctr" wrap="square" tIns="15374" rIns="70301" bIns="74429" lIns="0" anchorCtr="0">
            <a:noAutofit/>
          </a:bodyPr>
          <a:lstStyle/>
          <a:p>
            <a:pPr algn="r">
              <a:lnSpc>
                <a:spcPts val="2100"/>
              </a:lnSpc>
              <a:spcBef>
                <a:spcPts val="0"/>
              </a:spcBef>
              <a:spcAft>
                <a:spcPts val="0"/>
              </a:spcAft>
            </a:pPr>
            <a:r>
              <a:rPr sz="1500" b="1" i="0">
                <a:solidFill>
                  <a:srgbClr val="172433"/>
                </a:solidFill>
                <a:latin typeface="IBM Plex Sans Arabic"/>
                <a:ea typeface="IBM Plex Sans Arabic"/>
                <a:cs typeface="IBM Plex Sans Arabic"/>
              </a:rPr>
              <a:t>CC</a:t>
            </a:r>
          </a:p>
        </p:txBody>
      </p:sp>
      <p:sp>
        <p:nvSpPr>
          <p:cNvPr id="25" name="Text box 24"/>
          <p:cNvSpPr/>
          <p:nvPr/>
        </p:nvSpPr>
        <p:spPr>
          <a:xfrm>
            <a:off x="3570883" y="3727450"/>
            <a:ext cx="2548434" cy="393700"/>
          </a:xfrm>
          <a:prstGeom prst="roundRect">
            <a:avLst>
              <a:gd name="adj" fmla="val 16129"/>
            </a:avLst>
          </a:prstGeom>
          <a:solidFill>
            <a:srgbClr val="E6EDF4"/>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CIPM أو ‎CIPP/E‎</a:t>
            </a:r>
          </a:p>
        </p:txBody>
      </p:sp>
      <p:sp>
        <p:nvSpPr>
          <p:cNvPr id="26" name="Text box 25"/>
          <p:cNvSpPr/>
          <p:nvPr/>
        </p:nvSpPr>
        <p:spPr>
          <a:xfrm>
            <a:off x="933549" y="3727450"/>
            <a:ext cx="2548434" cy="393700"/>
          </a:xfrm>
          <a:prstGeom prst="roundRect">
            <a:avLst>
              <a:gd name="adj" fmla="val 16129"/>
            </a:avLst>
          </a:prstGeom>
          <a:solidFill>
            <a:srgbClr val="F6ECDA"/>
          </a:solidFill>
          <a:ln>
            <a:noFill/>
          </a:ln>
        </p:spPr>
        <p:txBody>
          <a:bodyPr rtlCol="0" anchor="ctr" wrap="square" tIns="15374" rIns="70301" bIns="74429" lIns="0" anchorCtr="0">
            <a:noAutofit/>
          </a:bodyPr>
          <a:lstStyle/>
          <a:p>
            <a:pPr algn="r">
              <a:lnSpc>
                <a:spcPts val="2100"/>
              </a:lnSpc>
              <a:spcBef>
                <a:spcPts val="0"/>
              </a:spcBef>
              <a:spcAft>
                <a:spcPts val="0"/>
              </a:spcAft>
            </a:pPr>
            <a:r>
              <a:rPr sz="1500" b="1" i="0">
                <a:solidFill>
                  <a:srgbClr val="172433"/>
                </a:solidFill>
                <a:latin typeface="IBM Plex Sans Arabic"/>
                <a:ea typeface="IBM Plex Sans Arabic"/>
                <a:cs typeface="IBM Plex Sans Arabic"/>
              </a:rPr>
              <a:t>CDPSE</a:t>
            </a:r>
          </a:p>
        </p:txBody>
      </p:sp>
      <p:sp>
        <p:nvSpPr>
          <p:cNvPr id="27" name="Box 26"/>
          <p:cNvSpPr/>
          <p:nvPr/>
        </p:nvSpPr>
        <p:spPr>
          <a:xfrm>
            <a:off x="815975" y="4361458"/>
            <a:ext cx="10560050" cy="709216"/>
          </a:xfrm>
          <a:prstGeom prst="roundRect">
            <a:avLst>
              <a:gd name="adj" fmla="val 12423"/>
            </a:avLst>
          </a:prstGeom>
          <a:solidFill>
            <a:srgbClr val="FFFDF8"/>
          </a:solidFill>
          <a:ln w="6350">
            <a:solidFill>
              <a:srgbClr val="E1DBCD"/>
            </a:solidFill>
          </a:ln>
        </p:spPr>
        <p:txBody>
          <a:bodyPr rtlCol="0" anchor="ctr"/>
          <a:lstStyle/>
          <a:p>
            <a:pPr algn="ctr"/>
          </a:p>
        </p:txBody>
      </p:sp>
      <p:sp>
        <p:nvSpPr>
          <p:cNvPr id="28" name="Text 27"/>
          <p:cNvSpPr txBox="1"/>
          <p:nvPr/>
        </p:nvSpPr>
        <p:spPr>
          <a:xfrm>
            <a:off x="8652510" y="4431530"/>
            <a:ext cx="2606040" cy="272355"/>
          </a:xfrm>
          <a:prstGeom prst="rect">
            <a:avLst/>
          </a:prstGeom>
          <a:noFill/>
        </p:spPr>
        <p:txBody>
          <a:bodyPr wrap="square" tIns="0" rIns="0" bIns="0" lIns="0" anchor="t" rtlCol="0" anchorCtr="0">
            <a:noAutofit/>
          </a:bodyPr>
          <a:lstStyle/>
          <a:p>
            <a:pPr algn="r" rtl="1">
              <a:lnSpc>
                <a:spcPts val="2145"/>
              </a:lnSpc>
              <a:spcBef>
                <a:spcPts val="0"/>
              </a:spcBef>
              <a:spcAft>
                <a:spcPts val="0"/>
              </a:spcAft>
            </a:pPr>
            <a:r>
              <a:rPr sz="1650" b="1" i="0">
                <a:solidFill>
                  <a:srgbClr val="172433"/>
                </a:solidFill>
                <a:latin typeface="IBM Plex Sans Arabic"/>
                <a:ea typeface="IBM Plex Sans Arabic"/>
                <a:cs typeface="IBM Plex Sans Arabic"/>
              </a:rPr>
              <a:t>قيادة الأمن والحوكمة</a:t>
            </a:r>
          </a:p>
        </p:txBody>
      </p:sp>
      <p:sp>
        <p:nvSpPr>
          <p:cNvPr id="29" name="Text 28"/>
          <p:cNvSpPr txBox="1"/>
          <p:nvPr/>
        </p:nvSpPr>
        <p:spPr>
          <a:xfrm>
            <a:off x="8652510" y="4712014"/>
            <a:ext cx="260604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هدف بعيد</a:t>
            </a:r>
          </a:p>
        </p:txBody>
      </p:sp>
      <p:sp>
        <p:nvSpPr>
          <p:cNvPr id="30" name="Text box 29"/>
          <p:cNvSpPr/>
          <p:nvPr/>
        </p:nvSpPr>
        <p:spPr>
          <a:xfrm>
            <a:off x="6208216" y="4519216"/>
            <a:ext cx="2548434" cy="393700"/>
          </a:xfrm>
          <a:prstGeom prst="roundRect">
            <a:avLst>
              <a:gd name="adj" fmla="val 16129"/>
            </a:avLst>
          </a:prstGeom>
          <a:solidFill>
            <a:srgbClr val="E3F1ED"/>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أي مسار مما سبق</a:t>
            </a:r>
          </a:p>
        </p:txBody>
      </p:sp>
      <p:sp>
        <p:nvSpPr>
          <p:cNvPr id="31" name="Text box 30"/>
          <p:cNvSpPr/>
          <p:nvPr/>
        </p:nvSpPr>
        <p:spPr>
          <a:xfrm>
            <a:off x="3570883" y="4519216"/>
            <a:ext cx="2548434" cy="393700"/>
          </a:xfrm>
          <a:prstGeom prst="roundRect">
            <a:avLst>
              <a:gd name="adj" fmla="val 16129"/>
            </a:avLst>
          </a:prstGeom>
          <a:solidFill>
            <a:srgbClr val="E6EDF4"/>
          </a:solidFill>
          <a:ln>
            <a:noFill/>
          </a:ln>
        </p:spPr>
        <p:txBody>
          <a:bodyPr rtlCol="0" anchor="ctr" wrap="square" tIns="15374" rIns="70301" bIns="74429" lIns="0" anchorCtr="0">
            <a:noAutofit/>
          </a:bodyPr>
          <a:lstStyle/>
          <a:p>
            <a:pPr algn="r" rtl="1">
              <a:lnSpc>
                <a:spcPts val="2100"/>
              </a:lnSpc>
              <a:spcBef>
                <a:spcPts val="0"/>
              </a:spcBef>
              <a:spcAft>
                <a:spcPts val="0"/>
              </a:spcAft>
            </a:pPr>
            <a:r>
              <a:rPr sz="1500" b="1" i="0">
                <a:solidFill>
                  <a:srgbClr val="172433"/>
                </a:solidFill>
                <a:latin typeface="IBM Plex Sans Arabic"/>
                <a:ea typeface="IBM Plex Sans Arabic"/>
                <a:cs typeface="IBM Plex Sans Arabic"/>
              </a:rPr>
              <a:t>CISM أو CISSP</a:t>
            </a:r>
          </a:p>
        </p:txBody>
      </p:sp>
      <p:sp>
        <p:nvSpPr>
          <p:cNvPr id="32" name="Text box 31"/>
          <p:cNvSpPr/>
          <p:nvPr/>
        </p:nvSpPr>
        <p:spPr>
          <a:xfrm>
            <a:off x="933549" y="4519216"/>
            <a:ext cx="2548434" cy="393700"/>
          </a:xfrm>
          <a:prstGeom prst="roundRect">
            <a:avLst>
              <a:gd name="adj" fmla="val 16129"/>
            </a:avLst>
          </a:prstGeom>
          <a:solidFill>
            <a:srgbClr val="F6ECDA"/>
          </a:solidFill>
          <a:ln>
            <a:noFill/>
          </a:ln>
        </p:spPr>
        <p:txBody>
          <a:bodyPr rtlCol="0" anchor="ctr" wrap="square" tIns="15374" rIns="70301" bIns="74429" lIns="0" anchorCtr="0">
            <a:noAutofit/>
          </a:bodyPr>
          <a:lstStyle/>
          <a:p>
            <a:pPr algn="r">
              <a:lnSpc>
                <a:spcPts val="2100"/>
              </a:lnSpc>
              <a:spcBef>
                <a:spcPts val="0"/>
              </a:spcBef>
              <a:spcAft>
                <a:spcPts val="0"/>
              </a:spcAft>
            </a:pPr>
            <a:r>
              <a:rPr sz="1500" b="1" i="0">
                <a:solidFill>
                  <a:srgbClr val="172433"/>
                </a:solidFill>
                <a:latin typeface="IBM Plex Sans Arabic"/>
                <a:ea typeface="IBM Plex Sans Arabic"/>
                <a:cs typeface="IBM Plex Sans Arabic"/>
              </a:rPr>
              <a:t>CGEIT</a:t>
            </a:r>
          </a:p>
        </p:txBody>
      </p:sp>
      <p:sp>
        <p:nvSpPr>
          <p:cNvPr id="33" name="Box 32"/>
          <p:cNvSpPr/>
          <p:nvPr/>
        </p:nvSpPr>
        <p:spPr>
          <a:xfrm>
            <a:off x="812800" y="5264348"/>
            <a:ext cx="10566400" cy="538460"/>
          </a:xfrm>
          <a:prstGeom prst="roundRect">
            <a:avLst>
              <a:gd name="adj" fmla="val 18868"/>
            </a:avLst>
          </a:prstGeom>
          <a:solidFill>
            <a:srgbClr val="172433"/>
          </a:solidFill>
          <a:ln>
            <a:noFill/>
          </a:ln>
        </p:spPr>
        <p:txBody>
          <a:bodyPr rtlCol="0" anchor="ctr"/>
          <a:lstStyle/>
          <a:p>
            <a:pPr algn="ctr"/>
          </a:p>
        </p:txBody>
      </p:sp>
      <p:pic>
        <p:nvPicPr>
          <p:cNvPr id="34" name="Icon Star 33" descr="icon062.png"/>
          <p:cNvPicPr>
            <a:picLocks noChangeAspect="1"/>
          </p:cNvPicPr>
          <p:nvPr/>
        </p:nvPicPr>
        <p:blipFill>
          <a:blip r:embed="rId2"/>
          <a:stretch>
            <a:fillRect/>
          </a:stretch>
        </p:blipFill>
        <p:spPr>
          <a:xfrm>
            <a:off x="10991850" y="5428754"/>
            <a:ext cx="209550" cy="209550"/>
          </a:xfrm>
          <a:prstGeom prst="rect">
            <a:avLst/>
          </a:prstGeom>
        </p:spPr>
      </p:pic>
      <p:sp>
        <p:nvSpPr>
          <p:cNvPr id="35" name="Text 34"/>
          <p:cNvSpPr txBox="1"/>
          <p:nvPr/>
        </p:nvSpPr>
        <p:spPr>
          <a:xfrm>
            <a:off x="838200" y="5359852"/>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F3EFE6"/>
                </a:solidFill>
                <a:latin typeface="IBM Plex Sans Arabic"/>
                <a:ea typeface="IBM Plex Sans Arabic"/>
                <a:cs typeface="IBM Plex Sans Arabic"/>
              </a:rPr>
              <a:t>شهادة واحدة لكل مرحلة. ما بين المراحل خبرة ومشاريع، لا شهادة إضافية.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لغة التدريب ولغة الاختبار</a:t>
            </a:r>
          </a:p>
        </p:txBody>
      </p:sp>
      <p:sp>
        <p:nvSpPr>
          <p:cNvPr id="5" name="Box 4"/>
          <p:cNvSpPr/>
          <p:nvPr/>
        </p:nvSpPr>
        <p:spPr>
          <a:xfrm>
            <a:off x="6436320" y="1661120"/>
            <a:ext cx="4939705" cy="2983309"/>
          </a:xfrm>
          <a:prstGeom prst="roundRect">
            <a:avLst>
              <a:gd name="adj" fmla="val 3823"/>
            </a:avLst>
          </a:prstGeom>
          <a:solidFill>
            <a:srgbClr val="FFFDF8"/>
          </a:solidFill>
          <a:ln w="6350">
            <a:solidFill>
              <a:srgbClr val="E1DBCD"/>
            </a:solidFill>
          </a:ln>
        </p:spPr>
        <p:txBody>
          <a:bodyPr rtlCol="0" anchor="ctr"/>
          <a:lstStyle/>
          <a:p>
            <a:pPr algn="ctr"/>
          </a:p>
        </p:txBody>
      </p:sp>
      <p:sp>
        <p:nvSpPr>
          <p:cNvPr id="6" name="Text 5"/>
          <p:cNvSpPr txBox="1"/>
          <p:nvPr/>
        </p:nvSpPr>
        <p:spPr>
          <a:xfrm>
            <a:off x="6458545" y="1804249"/>
            <a:ext cx="4736505" cy="388938"/>
          </a:xfrm>
          <a:prstGeom prst="rect">
            <a:avLst/>
          </a:prstGeom>
          <a:noFill/>
        </p:spPr>
        <p:txBody>
          <a:bodyPr wrap="square" tIns="0" rIns="0" bIns="0" lIns="0" anchor="t" rtlCol="0" anchorCtr="0">
            <a:noAutofit/>
          </a:bodyPr>
          <a:lstStyle/>
          <a:p>
            <a:pPr algn="r" rtl="1">
              <a:lnSpc>
                <a:spcPts val="3062"/>
              </a:lnSpc>
              <a:spcBef>
                <a:spcPts val="0"/>
              </a:spcBef>
              <a:spcAft>
                <a:spcPts val="0"/>
              </a:spcAft>
            </a:pPr>
            <a:r>
              <a:rPr sz="2450" b="1" i="0">
                <a:solidFill>
                  <a:srgbClr val="0E7C6B"/>
                </a:solidFill>
                <a:latin typeface="Readex Pro"/>
                <a:ea typeface="Readex Pro"/>
                <a:cs typeface="Readex Pro"/>
              </a:rPr>
              <a:t>لغة التدريب ليست لغة الاختبار</a:t>
            </a:r>
          </a:p>
        </p:txBody>
      </p:sp>
      <p:pic>
        <p:nvPicPr>
          <p:cNvPr id="7" name="Icon Check 6" descr="icon022.png"/>
          <p:cNvPicPr>
            <a:picLocks noChangeAspect="1"/>
          </p:cNvPicPr>
          <p:nvPr/>
        </p:nvPicPr>
        <p:blipFill>
          <a:blip r:embed="rId2"/>
          <a:stretch>
            <a:fillRect/>
          </a:stretch>
        </p:blipFill>
        <p:spPr>
          <a:xfrm>
            <a:off x="10966450" y="2281833"/>
            <a:ext cx="228600" cy="228600"/>
          </a:xfrm>
          <a:prstGeom prst="rect">
            <a:avLst/>
          </a:prstGeom>
        </p:spPr>
      </p:pic>
      <p:sp>
        <p:nvSpPr>
          <p:cNvPr id="8" name="Text 7"/>
          <p:cNvSpPr txBox="1"/>
          <p:nvPr/>
        </p:nvSpPr>
        <p:spPr>
          <a:xfrm>
            <a:off x="6490250" y="2243447"/>
            <a:ext cx="436190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قد تجد دورة تُشرح بالعربية، والاختبار بالإنجليزية.</a:t>
            </a:r>
          </a:p>
        </p:txBody>
      </p:sp>
      <p:pic>
        <p:nvPicPr>
          <p:cNvPr id="9" name="Icon Check 8" descr="icon022.png"/>
          <p:cNvPicPr>
            <a:picLocks noChangeAspect="1"/>
          </p:cNvPicPr>
          <p:nvPr/>
        </p:nvPicPr>
        <p:blipFill>
          <a:blip r:embed="rId2"/>
          <a:stretch>
            <a:fillRect/>
          </a:stretch>
        </p:blipFill>
        <p:spPr>
          <a:xfrm>
            <a:off x="10966450" y="3038673"/>
            <a:ext cx="228600" cy="228600"/>
          </a:xfrm>
          <a:prstGeom prst="rect">
            <a:avLst/>
          </a:prstGeom>
        </p:spPr>
      </p:pic>
      <p:sp>
        <p:nvSpPr>
          <p:cNvPr id="10" name="Text 9"/>
          <p:cNvSpPr txBox="1"/>
          <p:nvPr/>
        </p:nvSpPr>
        <p:spPr>
          <a:xfrm>
            <a:off x="6490250" y="3000288"/>
            <a:ext cx="436190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تحقق من لغة الاختبار في صفحة الجهة المانحة قبل الحجز.</a:t>
            </a:r>
          </a:p>
        </p:txBody>
      </p:sp>
      <p:pic>
        <p:nvPicPr>
          <p:cNvPr id="11" name="Icon Check 10" descr="icon022.png"/>
          <p:cNvPicPr>
            <a:picLocks noChangeAspect="1"/>
          </p:cNvPicPr>
          <p:nvPr/>
        </p:nvPicPr>
        <p:blipFill>
          <a:blip r:embed="rId2"/>
          <a:stretch>
            <a:fillRect/>
          </a:stretch>
        </p:blipFill>
        <p:spPr>
          <a:xfrm>
            <a:off x="10966450" y="3795514"/>
            <a:ext cx="228600" cy="228600"/>
          </a:xfrm>
          <a:prstGeom prst="rect">
            <a:avLst/>
          </a:prstGeom>
        </p:spPr>
      </p:pic>
      <p:sp>
        <p:nvSpPr>
          <p:cNvPr id="12" name="Text 11"/>
          <p:cNvSpPr txBox="1"/>
          <p:nvPr/>
        </p:nvSpPr>
        <p:spPr>
          <a:xfrm>
            <a:off x="6490250" y="3757128"/>
            <a:ext cx="436190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1950" b="0" i="0">
                <a:solidFill>
                  <a:srgbClr val="172433"/>
                </a:solidFill>
                <a:latin typeface="IBM Plex Sans Arabic"/>
                <a:ea typeface="IBM Plex Sans Arabic"/>
                <a:cs typeface="IBM Plex Sans Arabic"/>
              </a:rPr>
              <a:t>بعض الجهات تمنح وقتاً إضافياً لمن يختبر بغير لغته الأم.</a:t>
            </a:r>
          </a:p>
        </p:txBody>
      </p:sp>
      <p:graphicFrame>
        <p:nvGraphicFramePr>
          <p:cNvPr id="13" name="Table 12"/>
          <p:cNvGraphicFramePr>
            <a:graphicFrameLocks noGrp="1"/>
          </p:cNvGraphicFramePr>
          <p:nvPr/>
        </p:nvGraphicFramePr>
        <p:xfrm>
          <a:off x="815975" y="1661120"/>
          <a:ext cx="5486995" cy="3466306"/>
        </p:xfrm>
        <a:graphic>
          <a:graphicData uri="http://schemas.openxmlformats.org/drawingml/2006/table">
            <a:tbl>
              <a:tblPr firstRow="0" bandRow="0" lastRow="0" firstCol="0" lastCol="0" bandCol="0">
                <a:tableStyleId>{2D5ABB26-0587-4C30-8999-92F81FD0307C}</a:tableStyleId>
              </a:tblPr>
              <a:tblGrid>
                <a:gridCol w="2962910"/>
                <a:gridCol w="252408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CGRC: 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ISC2: CC وCISSP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اللغات تختلف لكل شهادة</a:t>
                      </a:r>
                    </a:p>
                  </a:txBody>
                  <a:tcPr marT="96355" marR="137160" marB="63665" marL="565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ISACA: الشهادات الخمس</a:t>
                      </a:r>
                    </a:p>
                  </a:txBody>
                  <a:tcPr marT="96355" marR="137160" marB="63665" marL="6966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في الإصدار الحالي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CompTIA Security+</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IAPP: ‎CIPP/E‎ وCIPM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لم نتحقق. راجع صفحة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PECB وOCEG وIT Risk Fund.</a:t>
                      </a:r>
                    </a:p>
                  </a:txBody>
                  <a:tcPr marT="96355" marR="137160" marB="63665" marL="6966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4" name="Text 13"/>
          <p:cNvSpPr txBox="1"/>
          <p:nvPr/>
        </p:nvSpPr>
        <p:spPr>
          <a:xfrm>
            <a:off x="0" y="5283700"/>
            <a:ext cx="113792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القائمة الكاملة للغات كل اختبار في الملحق: الشريحتان 158 و159.</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تذاكر لأي شهادة: أربع خطوات</a:t>
            </a:r>
          </a:p>
        </p:txBody>
      </p:sp>
      <p:sp>
        <p:nvSpPr>
          <p:cNvPr id="5" name="Box 4"/>
          <p:cNvSpPr/>
          <p:nvPr/>
        </p:nvSpPr>
        <p:spPr>
          <a:xfrm>
            <a:off x="9062045" y="1661120"/>
            <a:ext cx="2313980" cy="2684661"/>
          </a:xfrm>
          <a:prstGeom prst="roundRect">
            <a:avLst>
              <a:gd name="adj" fmla="val 4926"/>
            </a:avLst>
          </a:prstGeom>
          <a:solidFill>
            <a:srgbClr val="FFFDF8"/>
          </a:solidFill>
          <a:ln w="6350">
            <a:solidFill>
              <a:srgbClr val="E1DBCD"/>
            </a:solidFill>
          </a:ln>
        </p:spPr>
        <p:txBody>
          <a:bodyPr rtlCol="0" anchor="ctr"/>
          <a:lstStyle/>
          <a:p>
            <a:pPr algn="ctr"/>
          </a:p>
        </p:txBody>
      </p:sp>
      <p:sp>
        <p:nvSpPr>
          <p:cNvPr id="6" name="Text 5"/>
          <p:cNvSpPr txBox="1"/>
          <p:nvPr/>
        </p:nvSpPr>
        <p:spPr>
          <a:xfrm>
            <a:off x="9084270" y="1849620"/>
            <a:ext cx="2123480" cy="387350"/>
          </a:xfrm>
          <a:prstGeom prst="rect">
            <a:avLst/>
          </a:prstGeom>
          <a:noFill/>
        </p:spPr>
        <p:txBody>
          <a:bodyPr wrap="square" tIns="0" rIns="0" bIns="0" lIns="0" anchor="t" rtlCol="0" anchorCtr="0">
            <a:noAutofit/>
          </a:bodyPr>
          <a:lstStyle/>
          <a:p>
            <a:pPr algn="r">
              <a:lnSpc>
                <a:spcPts val="3050"/>
              </a:lnSpc>
              <a:spcBef>
                <a:spcPts val="0"/>
              </a:spcBef>
              <a:spcAft>
                <a:spcPts val="0"/>
              </a:spcAft>
            </a:pPr>
            <a:r>
              <a:rPr sz="3050" b="1" i="0">
                <a:solidFill>
                  <a:srgbClr val="0E7C6B"/>
                </a:solidFill>
                <a:latin typeface="Readex Pro"/>
                <a:ea typeface="Readex Pro"/>
                <a:cs typeface="Readex Pro"/>
              </a:rPr>
              <a:t>1</a:t>
            </a:r>
          </a:p>
        </p:txBody>
      </p:sp>
      <p:sp>
        <p:nvSpPr>
          <p:cNvPr id="7" name="Text 6"/>
          <p:cNvSpPr txBox="1"/>
          <p:nvPr/>
        </p:nvSpPr>
        <p:spPr>
          <a:xfrm>
            <a:off x="9154120" y="2247733"/>
            <a:ext cx="2053630" cy="792361"/>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Readex Pro"/>
                <a:ea typeface="Readex Pro"/>
                <a:cs typeface="Readex Pro"/>
              </a:rPr>
              <a:t>مخطط الاختبار</a:t>
            </a:r>
          </a:p>
        </p:txBody>
      </p:sp>
      <p:sp>
        <p:nvSpPr>
          <p:cNvPr id="8" name="Text 7"/>
          <p:cNvSpPr txBox="1"/>
          <p:nvPr/>
        </p:nvSpPr>
        <p:spPr>
          <a:xfrm>
            <a:off x="9166820" y="3084036"/>
            <a:ext cx="20409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Exam Outline مجاني. المجالات وأوزانها خطتك.</a:t>
            </a:r>
          </a:p>
        </p:txBody>
      </p:sp>
      <p:sp>
        <p:nvSpPr>
          <p:cNvPr id="9" name="Text 8"/>
          <p:cNvSpPr txBox="1"/>
          <p:nvPr/>
        </p:nvSpPr>
        <p:spPr>
          <a:xfrm>
            <a:off x="8504714" y="2850321"/>
            <a:ext cx="477957" cy="336550"/>
          </a:xfrm>
          <a:prstGeom prst="rect">
            <a:avLst/>
          </a:prstGeom>
          <a:noFill/>
        </p:spPr>
        <p:txBody>
          <a:bodyPr wrap="square" tIns="0" rIns="0" bIns="0" lIns="0" anchor="t" rtlCol="0" anchorCtr="0">
            <a:noAutofit/>
          </a:bodyPr>
          <a:lstStyle/>
          <a:p>
            <a:pPr algn="r">
              <a:lnSpc>
                <a:spcPts val="2650"/>
              </a:lnSpc>
              <a:spcBef>
                <a:spcPts val="0"/>
              </a:spcBef>
              <a:spcAft>
                <a:spcPts val="0"/>
              </a:spcAft>
            </a:pPr>
            <a:r>
              <a:rPr sz="2650" b="0" i="0">
                <a:solidFill>
                  <a:srgbClr val="93A3B1"/>
                </a:solidFill>
                <a:latin typeface="IBM Plex Sans Arabic"/>
                <a:ea typeface="IBM Plex Sans Arabic"/>
                <a:cs typeface="IBM Plex Sans Arabic"/>
              </a:rPr>
              <a:t>←</a:t>
            </a:r>
          </a:p>
        </p:txBody>
      </p:sp>
      <p:sp>
        <p:nvSpPr>
          <p:cNvPr id="10" name="Box 9"/>
          <p:cNvSpPr/>
          <p:nvPr/>
        </p:nvSpPr>
        <p:spPr>
          <a:xfrm>
            <a:off x="6313289" y="1661120"/>
            <a:ext cx="2313980" cy="2684661"/>
          </a:xfrm>
          <a:prstGeom prst="roundRect">
            <a:avLst>
              <a:gd name="adj" fmla="val 492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335514" y="1849620"/>
            <a:ext cx="2123480" cy="387350"/>
          </a:xfrm>
          <a:prstGeom prst="rect">
            <a:avLst/>
          </a:prstGeom>
          <a:noFill/>
        </p:spPr>
        <p:txBody>
          <a:bodyPr wrap="square" tIns="0" rIns="0" bIns="0" lIns="0" anchor="t" rtlCol="0" anchorCtr="0">
            <a:noAutofit/>
          </a:bodyPr>
          <a:lstStyle/>
          <a:p>
            <a:pPr algn="r">
              <a:lnSpc>
                <a:spcPts val="3050"/>
              </a:lnSpc>
              <a:spcBef>
                <a:spcPts val="0"/>
              </a:spcBef>
              <a:spcAft>
                <a:spcPts val="0"/>
              </a:spcAft>
            </a:pPr>
            <a:r>
              <a:rPr sz="3050" b="1" i="0">
                <a:solidFill>
                  <a:srgbClr val="0E7C6B"/>
                </a:solidFill>
                <a:latin typeface="Readex Pro"/>
                <a:ea typeface="Readex Pro"/>
                <a:cs typeface="Readex Pro"/>
              </a:rPr>
              <a:t>2</a:t>
            </a:r>
          </a:p>
        </p:txBody>
      </p:sp>
      <p:sp>
        <p:nvSpPr>
          <p:cNvPr id="12" name="Text 11"/>
          <p:cNvSpPr txBox="1"/>
          <p:nvPr/>
        </p:nvSpPr>
        <p:spPr>
          <a:xfrm>
            <a:off x="6405364" y="2247733"/>
            <a:ext cx="2053630" cy="792361"/>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Readex Pro"/>
                <a:ea typeface="Readex Pro"/>
                <a:cs typeface="Readex Pro"/>
              </a:rPr>
              <a:t>مصدر أساسي واحد</a:t>
            </a:r>
          </a:p>
        </p:txBody>
      </p:sp>
      <p:sp>
        <p:nvSpPr>
          <p:cNvPr id="13" name="Text 12"/>
          <p:cNvSpPr txBox="1"/>
          <p:nvPr/>
        </p:nvSpPr>
        <p:spPr>
          <a:xfrm>
            <a:off x="6418064" y="3084036"/>
            <a:ext cx="20409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الدليل الرسمي أو دورة معتمدة.</a:t>
            </a:r>
          </a:p>
        </p:txBody>
      </p:sp>
      <p:sp>
        <p:nvSpPr>
          <p:cNvPr id="14" name="Text 13"/>
          <p:cNvSpPr txBox="1"/>
          <p:nvPr/>
        </p:nvSpPr>
        <p:spPr>
          <a:xfrm>
            <a:off x="5755958" y="2850321"/>
            <a:ext cx="477957" cy="336550"/>
          </a:xfrm>
          <a:prstGeom prst="rect">
            <a:avLst/>
          </a:prstGeom>
          <a:noFill/>
        </p:spPr>
        <p:txBody>
          <a:bodyPr wrap="square" tIns="0" rIns="0" bIns="0" lIns="0" anchor="t" rtlCol="0" anchorCtr="0">
            <a:noAutofit/>
          </a:bodyPr>
          <a:lstStyle/>
          <a:p>
            <a:pPr algn="r">
              <a:lnSpc>
                <a:spcPts val="2650"/>
              </a:lnSpc>
              <a:spcBef>
                <a:spcPts val="0"/>
              </a:spcBef>
              <a:spcAft>
                <a:spcPts val="0"/>
              </a:spcAft>
            </a:pPr>
            <a:r>
              <a:rPr sz="2650" b="0" i="0">
                <a:solidFill>
                  <a:srgbClr val="93A3B1"/>
                </a:solidFill>
                <a:latin typeface="IBM Plex Sans Arabic"/>
                <a:ea typeface="IBM Plex Sans Arabic"/>
                <a:cs typeface="IBM Plex Sans Arabic"/>
              </a:rPr>
              <a:t>←</a:t>
            </a:r>
          </a:p>
        </p:txBody>
      </p:sp>
      <p:sp>
        <p:nvSpPr>
          <p:cNvPr id="15" name="Box 14"/>
          <p:cNvSpPr/>
          <p:nvPr/>
        </p:nvSpPr>
        <p:spPr>
          <a:xfrm>
            <a:off x="3564533" y="1661120"/>
            <a:ext cx="2313980" cy="2684661"/>
          </a:xfrm>
          <a:prstGeom prst="roundRect">
            <a:avLst>
              <a:gd name="adj" fmla="val 4926"/>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86758" y="1849620"/>
            <a:ext cx="2123480" cy="387350"/>
          </a:xfrm>
          <a:prstGeom prst="rect">
            <a:avLst/>
          </a:prstGeom>
          <a:noFill/>
        </p:spPr>
        <p:txBody>
          <a:bodyPr wrap="square" tIns="0" rIns="0" bIns="0" lIns="0" anchor="t" rtlCol="0" anchorCtr="0">
            <a:noAutofit/>
          </a:bodyPr>
          <a:lstStyle/>
          <a:p>
            <a:pPr algn="r">
              <a:lnSpc>
                <a:spcPts val="3050"/>
              </a:lnSpc>
              <a:spcBef>
                <a:spcPts val="0"/>
              </a:spcBef>
              <a:spcAft>
                <a:spcPts val="0"/>
              </a:spcAft>
            </a:pPr>
            <a:r>
              <a:rPr sz="3050" b="1" i="0">
                <a:solidFill>
                  <a:srgbClr val="0E7C6B"/>
                </a:solidFill>
                <a:latin typeface="Readex Pro"/>
                <a:ea typeface="Readex Pro"/>
                <a:cs typeface="Readex Pro"/>
              </a:rPr>
              <a:t>3</a:t>
            </a:r>
          </a:p>
        </p:txBody>
      </p:sp>
      <p:sp>
        <p:nvSpPr>
          <p:cNvPr id="17" name="Text 16"/>
          <p:cNvSpPr txBox="1"/>
          <p:nvPr/>
        </p:nvSpPr>
        <p:spPr>
          <a:xfrm>
            <a:off x="3656608" y="2247733"/>
            <a:ext cx="2053630" cy="792361"/>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Readex Pro"/>
                <a:ea typeface="Readex Pro"/>
                <a:cs typeface="Readex Pro"/>
              </a:rPr>
              <a:t>بنك أسئلة بفهم</a:t>
            </a:r>
          </a:p>
        </p:txBody>
      </p:sp>
      <p:sp>
        <p:nvSpPr>
          <p:cNvPr id="18" name="Text 17"/>
          <p:cNvSpPr txBox="1"/>
          <p:nvPr/>
        </p:nvSpPr>
        <p:spPr>
          <a:xfrm>
            <a:off x="3669308" y="3084036"/>
            <a:ext cx="20409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لماذا الصحيح صحيح، والباقي خطأ.</a:t>
            </a:r>
          </a:p>
        </p:txBody>
      </p:sp>
      <p:sp>
        <p:nvSpPr>
          <p:cNvPr id="19" name="Text 18"/>
          <p:cNvSpPr txBox="1"/>
          <p:nvPr/>
        </p:nvSpPr>
        <p:spPr>
          <a:xfrm>
            <a:off x="3007201" y="2850321"/>
            <a:ext cx="477957" cy="336550"/>
          </a:xfrm>
          <a:prstGeom prst="rect">
            <a:avLst/>
          </a:prstGeom>
          <a:noFill/>
        </p:spPr>
        <p:txBody>
          <a:bodyPr wrap="square" tIns="0" rIns="0" bIns="0" lIns="0" anchor="t" rtlCol="0" anchorCtr="0">
            <a:noAutofit/>
          </a:bodyPr>
          <a:lstStyle/>
          <a:p>
            <a:pPr algn="r">
              <a:lnSpc>
                <a:spcPts val="2650"/>
              </a:lnSpc>
              <a:spcBef>
                <a:spcPts val="0"/>
              </a:spcBef>
              <a:spcAft>
                <a:spcPts val="0"/>
              </a:spcAft>
            </a:pPr>
            <a:r>
              <a:rPr sz="2650" b="0" i="0">
                <a:solidFill>
                  <a:srgbClr val="93A3B1"/>
                </a:solidFill>
                <a:latin typeface="IBM Plex Sans Arabic"/>
                <a:ea typeface="IBM Plex Sans Arabic"/>
                <a:cs typeface="IBM Plex Sans Arabic"/>
              </a:rPr>
              <a:t>←</a:t>
            </a:r>
          </a:p>
        </p:txBody>
      </p:sp>
      <p:sp>
        <p:nvSpPr>
          <p:cNvPr id="20" name="Box 19"/>
          <p:cNvSpPr/>
          <p:nvPr/>
        </p:nvSpPr>
        <p:spPr>
          <a:xfrm>
            <a:off x="815777" y="1661120"/>
            <a:ext cx="2313980" cy="2684661"/>
          </a:xfrm>
          <a:prstGeom prst="roundRect">
            <a:avLst>
              <a:gd name="adj" fmla="val 4926"/>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002" y="1849620"/>
            <a:ext cx="2123480" cy="387350"/>
          </a:xfrm>
          <a:prstGeom prst="rect">
            <a:avLst/>
          </a:prstGeom>
          <a:noFill/>
        </p:spPr>
        <p:txBody>
          <a:bodyPr wrap="square" tIns="0" rIns="0" bIns="0" lIns="0" anchor="t" rtlCol="0" anchorCtr="0">
            <a:noAutofit/>
          </a:bodyPr>
          <a:lstStyle/>
          <a:p>
            <a:pPr algn="r">
              <a:lnSpc>
                <a:spcPts val="3050"/>
              </a:lnSpc>
              <a:spcBef>
                <a:spcPts val="0"/>
              </a:spcBef>
              <a:spcAft>
                <a:spcPts val="0"/>
              </a:spcAft>
            </a:pPr>
            <a:r>
              <a:rPr sz="3050" b="1" i="0">
                <a:solidFill>
                  <a:srgbClr val="0E7C6B"/>
                </a:solidFill>
                <a:latin typeface="Readex Pro"/>
                <a:ea typeface="Readex Pro"/>
                <a:cs typeface="Readex Pro"/>
              </a:rPr>
              <a:t>4</a:t>
            </a:r>
          </a:p>
        </p:txBody>
      </p:sp>
      <p:sp>
        <p:nvSpPr>
          <p:cNvPr id="22" name="Text 21"/>
          <p:cNvSpPr txBox="1"/>
          <p:nvPr/>
        </p:nvSpPr>
        <p:spPr>
          <a:xfrm>
            <a:off x="907852" y="2247733"/>
            <a:ext cx="2053630" cy="792361"/>
          </a:xfrm>
          <a:prstGeom prst="rect">
            <a:avLst/>
          </a:prstGeom>
          <a:noFill/>
        </p:spPr>
        <p:txBody>
          <a:bodyPr wrap="square" tIns="0" rIns="0" bIns="0" lIns="0" anchor="t" rtlCol="0" anchorCtr="0">
            <a:noAutofit/>
          </a:bodyPr>
          <a:lstStyle/>
          <a:p>
            <a:pPr algn="r" rtl="1">
              <a:lnSpc>
                <a:spcPts val="3120"/>
              </a:lnSpc>
              <a:spcBef>
                <a:spcPts val="0"/>
              </a:spcBef>
              <a:spcAft>
                <a:spcPts val="0"/>
              </a:spcAft>
            </a:pPr>
            <a:r>
              <a:rPr sz="2400" b="1" i="0">
                <a:solidFill>
                  <a:srgbClr val="172433"/>
                </a:solidFill>
                <a:latin typeface="Readex Pro"/>
                <a:ea typeface="Readex Pro"/>
                <a:cs typeface="Readex Pro"/>
              </a:rPr>
              <a:t>احجز حين تثبت درجاتك</a:t>
            </a:r>
          </a:p>
        </p:txBody>
      </p:sp>
      <p:sp>
        <p:nvSpPr>
          <p:cNvPr id="23" name="Text 22"/>
          <p:cNvSpPr txBox="1"/>
          <p:nvPr/>
        </p:nvSpPr>
        <p:spPr>
          <a:xfrm>
            <a:off x="920552" y="3084036"/>
            <a:ext cx="20409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تتجاوز حد النجاح مرة بعد مرة.</a:t>
            </a:r>
          </a:p>
        </p:txBody>
      </p:sp>
      <p:sp>
        <p:nvSpPr>
          <p:cNvPr id="24" name="Box 23"/>
          <p:cNvSpPr/>
          <p:nvPr/>
        </p:nvSpPr>
        <p:spPr>
          <a:xfrm>
            <a:off x="6476901" y="4539456"/>
            <a:ext cx="4902299" cy="929481"/>
          </a:xfrm>
          <a:prstGeom prst="roundRect">
            <a:avLst>
              <a:gd name="adj" fmla="val 10930"/>
            </a:avLst>
          </a:prstGeom>
          <a:solidFill>
            <a:srgbClr val="172433"/>
          </a:solidFill>
          <a:ln>
            <a:noFill/>
          </a:ln>
        </p:spPr>
        <p:txBody>
          <a:bodyPr rtlCol="0" anchor="ctr"/>
          <a:lstStyle/>
          <a:p>
            <a:pPr algn="ctr"/>
          </a:p>
        </p:txBody>
      </p:sp>
      <p:pic>
        <p:nvPicPr>
          <p:cNvPr id="25" name="Icon Users 24" descr="icon063.png"/>
          <p:cNvPicPr>
            <a:picLocks noChangeAspect="1"/>
          </p:cNvPicPr>
          <p:nvPr/>
        </p:nvPicPr>
        <p:blipFill>
          <a:blip r:embed="rId2"/>
          <a:stretch>
            <a:fillRect/>
          </a:stretch>
        </p:blipFill>
        <p:spPr>
          <a:xfrm>
            <a:off x="10947400" y="4877197"/>
            <a:ext cx="254000" cy="254000"/>
          </a:xfrm>
          <a:prstGeom prst="rect">
            <a:avLst/>
          </a:prstGeom>
        </p:spPr>
      </p:pic>
      <p:sp>
        <p:nvSpPr>
          <p:cNvPr id="26" name="Text 25"/>
          <p:cNvSpPr txBox="1"/>
          <p:nvPr/>
        </p:nvSpPr>
        <p:spPr>
          <a:xfrm>
            <a:off x="6529349" y="4629055"/>
            <a:ext cx="4303751"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F3EFE6"/>
                </a:solidFill>
                <a:latin typeface="IBM Plex Sans Arabic"/>
                <a:ea typeface="IBM Plex Sans Arabic"/>
                <a:cs typeface="IBM Plex Sans Arabic"/>
              </a:rPr>
              <a:t>فكّر كمدير: أسئلة ISACA وISC2 تسأل عن «الأفضل» أو «الأول» من منظور المخاطر.</a:t>
            </a:r>
          </a:p>
        </p:txBody>
      </p:sp>
      <p:sp>
        <p:nvSpPr>
          <p:cNvPr id="27" name="Box 26"/>
          <p:cNvSpPr/>
          <p:nvPr/>
        </p:nvSpPr>
        <p:spPr>
          <a:xfrm>
            <a:off x="812800" y="4539456"/>
            <a:ext cx="5562501" cy="929481"/>
          </a:xfrm>
          <a:prstGeom prst="roundRect">
            <a:avLst>
              <a:gd name="adj" fmla="val 10930"/>
            </a:avLst>
          </a:prstGeom>
          <a:solidFill>
            <a:srgbClr val="F6ECDA"/>
          </a:solidFill>
          <a:ln>
            <a:noFill/>
          </a:ln>
        </p:spPr>
        <p:txBody>
          <a:bodyPr rtlCol="0" anchor="ctr"/>
          <a:lstStyle/>
          <a:p>
            <a:pPr algn="ctr"/>
          </a:p>
        </p:txBody>
      </p:sp>
      <p:pic>
        <p:nvPicPr>
          <p:cNvPr id="28" name="Icon Clock 27" descr="icon064.png"/>
          <p:cNvPicPr>
            <a:picLocks noChangeAspect="1"/>
          </p:cNvPicPr>
          <p:nvPr/>
        </p:nvPicPr>
        <p:blipFill>
          <a:blip r:embed="rId3"/>
          <a:stretch>
            <a:fillRect/>
          </a:stretch>
        </p:blipFill>
        <p:spPr>
          <a:xfrm>
            <a:off x="5943501" y="4877197"/>
            <a:ext cx="254000" cy="254000"/>
          </a:xfrm>
          <a:prstGeom prst="rect">
            <a:avLst/>
          </a:prstGeom>
        </p:spPr>
      </p:pic>
      <p:sp>
        <p:nvSpPr>
          <p:cNvPr id="29" name="Text 28"/>
          <p:cNvSpPr txBox="1"/>
          <p:nvPr/>
        </p:nvSpPr>
        <p:spPr>
          <a:xfrm>
            <a:off x="845442" y="4629055"/>
            <a:ext cx="4983759"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طابق مادتك مع مخطط يوم اختبارك: CC وCISM وSecurity+ وCISSP تتغير بين 2026 و2027.</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box 3"/>
          <p:cNvSpPr/>
          <p:nvPr/>
        </p:nvSpPr>
        <p:spPr>
          <a:xfrm>
            <a:off x="805795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اختر الشهادة المناسبة</a:t>
            </a:r>
          </a:p>
        </p:txBody>
      </p:sp>
      <p:sp>
        <p:nvSpPr>
          <p:cNvPr id="6" name="Text 5"/>
          <p:cNvSpPr txBox="1"/>
          <p:nvPr/>
        </p:nvSpPr>
        <p:spPr>
          <a:xfrm>
            <a:off x="9937750" y="1613654"/>
            <a:ext cx="1441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سارة</a:t>
            </a:r>
          </a:p>
        </p:txBody>
      </p:sp>
      <p:sp>
        <p:nvSpPr>
          <p:cNvPr id="7" name="Text 6"/>
          <p:cNvSpPr txBox="1"/>
          <p:nvPr/>
        </p:nvSpPr>
        <p:spPr>
          <a:xfrm>
            <a:off x="78232" y="1613654"/>
            <a:ext cx="991666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خريجة نظم معلومات، بلا خبرة، تريد وظيفة محللة امتثال خلال سنة.</a:t>
            </a:r>
          </a:p>
        </p:txBody>
      </p:sp>
      <p:sp>
        <p:nvSpPr>
          <p:cNvPr id="8" name="Text 7"/>
          <p:cNvSpPr txBox="1"/>
          <p:nvPr/>
        </p:nvSpPr>
        <p:spPr>
          <a:xfrm>
            <a:off x="9937750" y="2128004"/>
            <a:ext cx="1441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عبدالله</a:t>
            </a:r>
          </a:p>
        </p:txBody>
      </p:sp>
      <p:sp>
        <p:nvSpPr>
          <p:cNvPr id="9" name="Text 8"/>
          <p:cNvSpPr txBox="1"/>
          <p:nvPr/>
        </p:nvSpPr>
        <p:spPr>
          <a:xfrm>
            <a:off x="78232" y="2128004"/>
            <a:ext cx="991666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محاسب بخبرة 4 سنوات في المراجعة الداخلية، يريد التحول إلى تدقيق تقنية المعلومات.</a:t>
            </a:r>
          </a:p>
        </p:txBody>
      </p:sp>
      <p:sp>
        <p:nvSpPr>
          <p:cNvPr id="10" name="Text 9"/>
          <p:cNvSpPr txBox="1"/>
          <p:nvPr/>
        </p:nvSpPr>
        <p:spPr>
          <a:xfrm>
            <a:off x="9937750" y="2642354"/>
            <a:ext cx="144145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5E6A75"/>
                </a:solidFill>
                <a:latin typeface="IBM Plex Sans Arabic"/>
                <a:ea typeface="IBM Plex Sans Arabic"/>
                <a:cs typeface="IBM Plex Sans Arabic"/>
              </a:rPr>
              <a:t>نورة</a:t>
            </a:r>
          </a:p>
        </p:txBody>
      </p:sp>
      <p:sp>
        <p:nvSpPr>
          <p:cNvPr id="11" name="Text 10"/>
          <p:cNvSpPr txBox="1"/>
          <p:nvPr/>
        </p:nvSpPr>
        <p:spPr>
          <a:xfrm>
            <a:off x="78232" y="2642354"/>
            <a:ext cx="9916668"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0" i="0">
                <a:solidFill>
                  <a:srgbClr val="172433"/>
                </a:solidFill>
                <a:latin typeface="IBM Plex Sans Arabic"/>
                <a:ea typeface="IBM Plex Sans Arabic"/>
                <a:cs typeface="IBM Plex Sans Arabic"/>
              </a:rPr>
              <a:t>محامية بخبرة سنتين، مهتمة بحماية البيانات الشخصية.</a:t>
            </a:r>
          </a:p>
        </p:txBody>
      </p:sp>
      <p:sp>
        <p:nvSpPr>
          <p:cNvPr id="12" name="Box 11"/>
          <p:cNvSpPr/>
          <p:nvPr/>
        </p:nvSpPr>
        <p:spPr>
          <a:xfrm>
            <a:off x="812800" y="3277195"/>
            <a:ext cx="10566400" cy="627360"/>
          </a:xfrm>
          <a:prstGeom prst="roundRect">
            <a:avLst>
              <a:gd name="adj" fmla="val 16194"/>
            </a:avLst>
          </a:prstGeom>
          <a:solidFill>
            <a:srgbClr val="F6ECDA"/>
          </a:solidFill>
          <a:ln>
            <a:noFill/>
          </a:ln>
        </p:spPr>
        <p:txBody>
          <a:bodyPr rtlCol="0" anchor="ctr"/>
          <a:lstStyle/>
          <a:p>
            <a:pPr algn="ctr"/>
          </a:p>
        </p:txBody>
      </p:sp>
      <p:pic>
        <p:nvPicPr>
          <p:cNvPr id="13" name="Icon Clock 12" descr="icon002.png"/>
          <p:cNvPicPr>
            <a:picLocks noChangeAspect="1"/>
          </p:cNvPicPr>
          <p:nvPr/>
        </p:nvPicPr>
        <p:blipFill>
          <a:blip r:embed="rId2"/>
          <a:stretch>
            <a:fillRect/>
          </a:stretch>
        </p:blipFill>
        <p:spPr>
          <a:xfrm>
            <a:off x="10922000" y="3451126"/>
            <a:ext cx="279400" cy="279400"/>
          </a:xfrm>
          <a:prstGeom prst="rect">
            <a:avLst/>
          </a:prstGeom>
        </p:spPr>
      </p:pic>
      <p:sp>
        <p:nvSpPr>
          <p:cNvPr id="14" name="Text 13"/>
          <p:cNvSpPr txBox="1"/>
          <p:nvPr/>
        </p:nvSpPr>
        <p:spPr>
          <a:xfrm>
            <a:off x="838200" y="3362857"/>
            <a:ext cx="9969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172433"/>
                </a:solidFill>
                <a:latin typeface="IBM Plex Sans Arabic"/>
                <a:ea typeface="IBM Plex Sans Arabic"/>
                <a:cs typeface="IBM Plex Sans Arabic"/>
              </a:rPr>
              <a:t>لكل شخص: شهادة الآن، وشهادة لاحقاً، وسبب من جملتين. 8 دقائق.</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box 3"/>
          <p:cNvSpPr/>
          <p:nvPr/>
        </p:nvSpPr>
        <p:spPr>
          <a:xfrm>
            <a:off x="826502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اقتراحات للأشخاص الثلاثة</a:t>
            </a:r>
          </a:p>
        </p:txBody>
      </p:sp>
      <p:graphicFrame>
        <p:nvGraphicFramePr>
          <p:cNvPr id="6" name="Table 5"/>
          <p:cNvGraphicFramePr>
            <a:graphicFrameLocks noGrp="1"/>
          </p:cNvGraphicFramePr>
          <p:nvPr/>
        </p:nvGraphicFramePr>
        <p:xfrm>
          <a:off x="815975" y="1661120"/>
          <a:ext cx="10560050" cy="3958233"/>
        </p:xfrm>
        <a:graphic>
          <a:graphicData uri="http://schemas.openxmlformats.org/drawingml/2006/table">
            <a:tbl>
              <a:tblPr firstRow="0" bandRow="0" lastRow="0" firstCol="0" lastCol="0" bandCol="0">
                <a:tableStyleId>{2D5ABB26-0587-4C30-8999-92F81FD0307C}</a:tableStyleId>
              </a:tblPr>
              <a:tblGrid>
                <a:gridCol w="4540885"/>
                <a:gridCol w="4540885"/>
                <a:gridCol w="1478280"/>
              </a:tblGrid>
              <a:tr h="500955">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لماذا</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الاقتراح</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565"/>
                        </a:lnSpc>
                        <a:spcBef>
                          <a:spcPts val="0"/>
                        </a:spcBef>
                        <a:spcAft>
                          <a:spcPts val="0"/>
                        </a:spcAft>
                      </a:pPr>
                      <a:r>
                        <a:rPr sz="1900" b="1" i="0">
                          <a:solidFill>
                            <a:srgbClr val="F3EFE6"/>
                          </a:solidFill>
                          <a:latin typeface="IBM Plex Sans Arabic"/>
                          <a:ea typeface="IBM Plex Sans Arabic"/>
                          <a:cs typeface="IBM Plex Sans Arabic"/>
                        </a:rPr>
                        <a:t>الشخص</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152426">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شهادة مدخل بلا شرط خبرة، ثم مهارة تطبيقية مطلوبة في الإعلانات.</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CC أو Security+ الآن، ثم ISO 27001 Lead Implementer أو GRCP. CRISC أو CGRC لاحقاً بعد اكتمال الخبرة.</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1" i="0">
                          <a:solidFill>
                            <a:srgbClr val="0E7C6B"/>
                          </a:solidFill>
                          <a:latin typeface="IBM Plex Sans Arabic"/>
                          <a:ea typeface="IBM Plex Sans Arabic"/>
                          <a:cs typeface="IBM Plex Sans Arabic"/>
                        </a:rPr>
                        <a:t>سارة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152426">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خبرته في المراجعة قد تُحتسب لشرط CISA بحسب قواعد ISACA، فتحقق منها. Lead Auditor يبني على مهارة التدقيق لديه.</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ISO 27001 Lead Auditor أو IT Audit Fundamentals الآن، وCISA هدفاً قريباً.</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565"/>
                        </a:lnSpc>
                        <a:spcBef>
                          <a:spcPts val="0"/>
                        </a:spcBef>
                        <a:spcAft>
                          <a:spcPts val="0"/>
                        </a:spcAft>
                      </a:pPr>
                      <a:r>
                        <a:rPr sz="1900" b="1" i="0">
                          <a:solidFill>
                            <a:srgbClr val="0E7C6B"/>
                          </a:solidFill>
                          <a:latin typeface="IBM Plex Sans Arabic"/>
                          <a:ea typeface="IBM Plex Sans Arabic"/>
                          <a:cs typeface="IBM Plex Sans Arabic"/>
                        </a:rPr>
                        <a:t>عبدالله</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152426">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خلفيتها القانونية تناسب ‎CIPP/E‎، وCIPM يضيف إدارة برنامج الخصوصية. لا تحتاج شهادة تقنية أولاً.</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0" i="0">
                          <a:solidFill>
                            <a:srgbClr val="172433"/>
                          </a:solidFill>
                          <a:latin typeface="IBM Plex Sans Arabic"/>
                          <a:ea typeface="IBM Plex Sans Arabic"/>
                          <a:cs typeface="IBM Plex Sans Arabic"/>
                        </a:rPr>
                        <a:t>‎CIPP/E‎ أو CIPM الآن، مع قراءة نظام حماية البيانات الشخصية ولوائحه.</a:t>
                      </a:r>
                    </a:p>
                  </a:txBody>
                  <a:tcPr marT="101708" marR="144780" marB="67202" marL="1724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565"/>
                        </a:lnSpc>
                        <a:spcBef>
                          <a:spcPts val="0"/>
                        </a:spcBef>
                        <a:spcAft>
                          <a:spcPts val="0"/>
                        </a:spcAft>
                      </a:pPr>
                      <a:r>
                        <a:rPr sz="1900" b="1" i="0">
                          <a:solidFill>
                            <a:srgbClr val="0E7C6B"/>
                          </a:solidFill>
                          <a:latin typeface="IBM Plex Sans Arabic"/>
                          <a:ea typeface="IBM Plex Sans Arabic"/>
                          <a:cs typeface="IBM Plex Sans Arabic"/>
                        </a:rPr>
                        <a:t>نورة</a:t>
                      </a:r>
                    </a:p>
                  </a:txBody>
                  <a:tcPr marT="101708" marR="144780" marB="6720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8070" y="1423690"/>
            <a:ext cx="23711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05</a:t>
            </a:r>
          </a:p>
        </p:txBody>
      </p:sp>
      <p:sp>
        <p:nvSpPr>
          <p:cNvPr id="4" name="Text 3"/>
          <p:cNvSpPr txBox="1"/>
          <p:nvPr/>
        </p:nvSpPr>
        <p:spPr>
          <a:xfrm>
            <a:off x="1657009" y="1845155"/>
            <a:ext cx="780826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خطة البداية وملف الأعمال</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الخبرة أكبر عائق للمبتدئ. هنا تحول تطبيقات الكورس إلى دليل على قدرتك قبل أول وظيفة.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تحول التطبيقات الأربعة إلى مشاريع منشورة.</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خطة 90 يوماً واقعية.</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صفحة تعريفية لكل مشروع.</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05 · خطة البداية وملف الأعمال</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90 يوماً: من الصفر إلى أول طلب توظيف</a:t>
            </a:r>
          </a:p>
        </p:txBody>
      </p:sp>
      <p:sp>
        <p:nvSpPr>
          <p:cNvPr id="5" name="Text 4"/>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على أساس 8 إلى 10 ساعات أسبوعياً تقريباً. عدّلها حسب وقتك.</a:t>
            </a:r>
          </a:p>
        </p:txBody>
      </p:sp>
      <p:sp>
        <p:nvSpPr>
          <p:cNvPr id="6" name="Box 5"/>
          <p:cNvSpPr/>
          <p:nvPr/>
        </p:nvSpPr>
        <p:spPr>
          <a:xfrm>
            <a:off x="7936409" y="2207220"/>
            <a:ext cx="3439616" cy="3210719"/>
          </a:xfrm>
          <a:prstGeom prst="roundRect">
            <a:avLst>
              <a:gd name="adj" fmla="val 3552"/>
            </a:avLst>
          </a:prstGeom>
          <a:solidFill>
            <a:srgbClr val="FFFDF8"/>
          </a:solidFill>
          <a:ln w="6350">
            <a:solidFill>
              <a:srgbClr val="E1DBCD"/>
            </a:solidFill>
          </a:ln>
        </p:spPr>
        <p:txBody>
          <a:bodyPr rtlCol="0" anchor="ctr"/>
          <a:lstStyle/>
          <a:p>
            <a:pPr algn="ctr"/>
          </a:p>
        </p:txBody>
      </p:sp>
      <p:sp>
        <p:nvSpPr>
          <p:cNvPr id="7" name="Text 6"/>
          <p:cNvSpPr txBox="1"/>
          <p:nvPr/>
        </p:nvSpPr>
        <p:spPr>
          <a:xfrm>
            <a:off x="9856668" y="2336633"/>
            <a:ext cx="1363782"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0E7C6B"/>
                </a:solidFill>
                <a:latin typeface="Readex Pro"/>
                <a:ea typeface="Readex Pro"/>
                <a:cs typeface="Readex Pro"/>
              </a:rPr>
              <a:t>الأساس</a:t>
            </a:r>
          </a:p>
        </p:txBody>
      </p:sp>
      <p:sp>
        <p:nvSpPr>
          <p:cNvPr id="8" name="Text box 7"/>
          <p:cNvSpPr/>
          <p:nvPr/>
        </p:nvSpPr>
        <p:spPr>
          <a:xfrm>
            <a:off x="8091984" y="2370534"/>
            <a:ext cx="1451769" cy="379710"/>
          </a:xfrm>
          <a:prstGeom prst="roundRect">
            <a:avLst>
              <a:gd name="adj" fmla="val 50000"/>
            </a:avLst>
          </a:prstGeom>
          <a:solidFill>
            <a:srgbClr val="DCEFEA"/>
          </a:solidFill>
          <a:ln>
            <a:noFill/>
          </a:ln>
        </p:spPr>
        <p:txBody>
          <a:bodyPr rtlCol="0" anchor="ctr" wrap="square" tIns="0" rIns="33293" bIns="72834" lIns="0" anchorCtr="0">
            <a:noAutofit/>
          </a:bodyPr>
          <a:lstStyle/>
          <a:p>
            <a:pPr algn="r" rtl="1">
              <a:lnSpc>
                <a:spcPts val="2590"/>
              </a:lnSpc>
              <a:spcBef>
                <a:spcPts val="0"/>
              </a:spcBef>
              <a:spcAft>
                <a:spcPts val="0"/>
              </a:spcAft>
            </a:pPr>
            <a:r>
              <a:rPr sz="1850" b="1" i="0">
                <a:solidFill>
                  <a:srgbClr val="0E7C6B"/>
                </a:solidFill>
                <a:latin typeface="IBM Plex Sans Arabic"/>
                <a:ea typeface="IBM Plex Sans Arabic"/>
                <a:cs typeface="IBM Plex Sans Arabic"/>
              </a:rPr>
              <a:t>الأيام 1 إلى 30</a:t>
            </a:r>
          </a:p>
        </p:txBody>
      </p:sp>
      <p:pic>
        <p:nvPicPr>
          <p:cNvPr id="9" name="Icon Check 8" descr="icon045.png"/>
          <p:cNvPicPr>
            <a:picLocks noChangeAspect="1"/>
          </p:cNvPicPr>
          <p:nvPr/>
        </p:nvPicPr>
        <p:blipFill>
          <a:blip r:embed="rId2"/>
          <a:stretch>
            <a:fillRect/>
          </a:stretch>
        </p:blipFill>
        <p:spPr>
          <a:xfrm>
            <a:off x="10985500" y="2846983"/>
            <a:ext cx="234950" cy="234950"/>
          </a:xfrm>
          <a:prstGeom prst="rect">
            <a:avLst/>
          </a:prstGeom>
        </p:spPr>
      </p:pic>
      <p:sp>
        <p:nvSpPr>
          <p:cNvPr id="10" name="Text 9"/>
          <p:cNvSpPr txBox="1"/>
          <p:nvPr/>
        </p:nvSpPr>
        <p:spPr>
          <a:xfrm>
            <a:off x="8008607" y="2807613"/>
            <a:ext cx="286259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الوحدات 1 إلى 3 والتطبيقات الأربعة</a:t>
            </a:r>
          </a:p>
        </p:txBody>
      </p:sp>
      <p:pic>
        <p:nvPicPr>
          <p:cNvPr id="11" name="Icon Check 10" descr="icon045.png"/>
          <p:cNvPicPr>
            <a:picLocks noChangeAspect="1"/>
          </p:cNvPicPr>
          <p:nvPr/>
        </p:nvPicPr>
        <p:blipFill>
          <a:blip r:embed="rId2"/>
          <a:stretch>
            <a:fillRect/>
          </a:stretch>
        </p:blipFill>
        <p:spPr>
          <a:xfrm>
            <a:off x="10985500" y="3608983"/>
            <a:ext cx="234950" cy="234950"/>
          </a:xfrm>
          <a:prstGeom prst="rect">
            <a:avLst/>
          </a:prstGeom>
        </p:spPr>
      </p:pic>
      <p:sp>
        <p:nvSpPr>
          <p:cNvPr id="12" name="Text 11"/>
          <p:cNvSpPr txBox="1"/>
          <p:nvPr/>
        </p:nvSpPr>
        <p:spPr>
          <a:xfrm>
            <a:off x="7958634" y="35696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NIST CSF 2.0</a:t>
            </a:r>
          </a:p>
        </p:txBody>
      </p:sp>
      <p:pic>
        <p:nvPicPr>
          <p:cNvPr id="13" name="Icon Check 12" descr="icon045.png"/>
          <p:cNvPicPr>
            <a:picLocks noChangeAspect="1"/>
          </p:cNvPicPr>
          <p:nvPr/>
        </p:nvPicPr>
        <p:blipFill>
          <a:blip r:embed="rId2"/>
          <a:stretch>
            <a:fillRect/>
          </a:stretch>
        </p:blipFill>
        <p:spPr>
          <a:xfrm>
            <a:off x="10985500" y="4015383"/>
            <a:ext cx="234950" cy="234950"/>
          </a:xfrm>
          <a:prstGeom prst="rect">
            <a:avLst/>
          </a:prstGeom>
        </p:spPr>
      </p:pic>
      <p:sp>
        <p:nvSpPr>
          <p:cNvPr id="14" name="Text 13"/>
          <p:cNvSpPr txBox="1"/>
          <p:nvPr/>
        </p:nvSpPr>
        <p:spPr>
          <a:xfrm>
            <a:off x="7958634" y="39760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بدء مذاكرة شهادة مدخل</a:t>
            </a:r>
          </a:p>
        </p:txBody>
      </p:sp>
      <p:sp>
        <p:nvSpPr>
          <p:cNvPr id="15" name="Text box 14"/>
          <p:cNvSpPr/>
          <p:nvPr/>
        </p:nvSpPr>
        <p:spPr>
          <a:xfrm>
            <a:off x="8091984" y="4447183"/>
            <a:ext cx="3128466" cy="827881"/>
          </a:xfrm>
          <a:prstGeom prst="roundRect">
            <a:avLst>
              <a:gd name="adj" fmla="val 9204"/>
            </a:avLst>
          </a:prstGeom>
          <a:solidFill>
            <a:srgbClr val="DCEFEA"/>
          </a:solidFill>
          <a:ln>
            <a:noFill/>
          </a:ln>
        </p:spPr>
        <p:txBody>
          <a:bodyPr rtlCol="0" anchor="ctr" wrap="square" tIns="16480" rIns="79282" bIns="91283" lIns="0" anchorCtr="0">
            <a:noAutofit/>
          </a:bodyPr>
          <a:lstStyle/>
          <a:p>
            <a:pPr algn="r" rtl="1">
              <a:lnSpc>
                <a:spcPts val="2660"/>
              </a:lnSpc>
              <a:spcBef>
                <a:spcPts val="0"/>
              </a:spcBef>
              <a:spcAft>
                <a:spcPts val="0"/>
              </a:spcAft>
            </a:pPr>
            <a:r>
              <a:rPr sz="1900" b="1" i="0">
                <a:solidFill>
                  <a:srgbClr val="172433"/>
                </a:solidFill>
                <a:latin typeface="IBM Plex Sans Arabic"/>
                <a:ea typeface="IBM Plex Sans Arabic"/>
                <a:cs typeface="IBM Plex Sans Arabic"/>
              </a:rPr>
              <a:t>المخرَج: تطبيقات مصححة في الكراسة.</a:t>
            </a:r>
          </a:p>
        </p:txBody>
      </p:sp>
      <p:sp>
        <p:nvSpPr>
          <p:cNvPr id="16" name="Box 15"/>
          <p:cNvSpPr/>
          <p:nvPr/>
        </p:nvSpPr>
        <p:spPr>
          <a:xfrm>
            <a:off x="4376142" y="2207220"/>
            <a:ext cx="3439616" cy="3210719"/>
          </a:xfrm>
          <a:prstGeom prst="roundRect">
            <a:avLst>
              <a:gd name="adj" fmla="val 3552"/>
            </a:avLst>
          </a:prstGeom>
          <a:solidFill>
            <a:srgbClr val="FFFDF8"/>
          </a:solidFill>
          <a:ln w="6350">
            <a:solidFill>
              <a:srgbClr val="E1DBCD"/>
            </a:solidFill>
          </a:ln>
        </p:spPr>
        <p:txBody>
          <a:bodyPr rtlCol="0" anchor="ctr"/>
          <a:lstStyle/>
          <a:p>
            <a:pPr algn="ctr"/>
          </a:p>
        </p:txBody>
      </p:sp>
      <p:sp>
        <p:nvSpPr>
          <p:cNvPr id="17" name="Text 16"/>
          <p:cNvSpPr txBox="1"/>
          <p:nvPr/>
        </p:nvSpPr>
        <p:spPr>
          <a:xfrm>
            <a:off x="6249670" y="2336633"/>
            <a:ext cx="1410514"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24506B"/>
                </a:solidFill>
                <a:latin typeface="Readex Pro"/>
                <a:ea typeface="Readex Pro"/>
                <a:cs typeface="Readex Pro"/>
              </a:rPr>
              <a:t>التطبيق</a:t>
            </a:r>
          </a:p>
        </p:txBody>
      </p:sp>
      <p:sp>
        <p:nvSpPr>
          <p:cNvPr id="18" name="Text box 17"/>
          <p:cNvSpPr/>
          <p:nvPr/>
        </p:nvSpPr>
        <p:spPr>
          <a:xfrm>
            <a:off x="4531717" y="2370534"/>
            <a:ext cx="1592759" cy="379710"/>
          </a:xfrm>
          <a:prstGeom prst="roundRect">
            <a:avLst>
              <a:gd name="adj" fmla="val 50000"/>
            </a:avLst>
          </a:prstGeom>
          <a:solidFill>
            <a:srgbClr val="E6EDF4"/>
          </a:solidFill>
          <a:ln>
            <a:noFill/>
          </a:ln>
        </p:spPr>
        <p:txBody>
          <a:bodyPr rtlCol="0" anchor="ctr" wrap="square" tIns="0" rIns="33293" bIns="72834" lIns="0" anchorCtr="0">
            <a:noAutofit/>
          </a:bodyPr>
          <a:lstStyle/>
          <a:p>
            <a:pPr algn="r" rtl="1">
              <a:lnSpc>
                <a:spcPts val="2590"/>
              </a:lnSpc>
              <a:spcBef>
                <a:spcPts val="0"/>
              </a:spcBef>
              <a:spcAft>
                <a:spcPts val="0"/>
              </a:spcAft>
            </a:pPr>
            <a:r>
              <a:rPr sz="1850" b="1" i="0">
                <a:solidFill>
                  <a:srgbClr val="24506B"/>
                </a:solidFill>
                <a:latin typeface="IBM Plex Sans Arabic"/>
                <a:ea typeface="IBM Plex Sans Arabic"/>
                <a:cs typeface="IBM Plex Sans Arabic"/>
              </a:rPr>
              <a:t>الأيام 31 إلى 60</a:t>
            </a:r>
          </a:p>
        </p:txBody>
      </p:sp>
      <p:pic>
        <p:nvPicPr>
          <p:cNvPr id="19" name="Icon Check 18" descr="icon065.png"/>
          <p:cNvPicPr>
            <a:picLocks noChangeAspect="1"/>
          </p:cNvPicPr>
          <p:nvPr/>
        </p:nvPicPr>
        <p:blipFill>
          <a:blip r:embed="rId3"/>
          <a:stretch>
            <a:fillRect/>
          </a:stretch>
        </p:blipFill>
        <p:spPr>
          <a:xfrm>
            <a:off x="7425234" y="2846983"/>
            <a:ext cx="234950" cy="234950"/>
          </a:xfrm>
          <a:prstGeom prst="rect">
            <a:avLst/>
          </a:prstGeom>
        </p:spPr>
      </p:pic>
      <p:sp>
        <p:nvSpPr>
          <p:cNvPr id="20" name="Text 19"/>
          <p:cNvSpPr txBox="1"/>
          <p:nvPr/>
        </p:nvSpPr>
        <p:spPr>
          <a:xfrm>
            <a:off x="4398367" y="28076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 الشريحة التالية</a:t>
            </a:r>
          </a:p>
        </p:txBody>
      </p:sp>
      <p:pic>
        <p:nvPicPr>
          <p:cNvPr id="21" name="Icon Check 20" descr="icon065.png"/>
          <p:cNvPicPr>
            <a:picLocks noChangeAspect="1"/>
          </p:cNvPicPr>
          <p:nvPr/>
        </p:nvPicPr>
        <p:blipFill>
          <a:blip r:embed="rId3"/>
          <a:stretch>
            <a:fillRect/>
          </a:stretch>
        </p:blipFill>
        <p:spPr>
          <a:xfrm>
            <a:off x="7425234" y="3253383"/>
            <a:ext cx="234950" cy="234950"/>
          </a:xfrm>
          <a:prstGeom prst="rect">
            <a:avLst/>
          </a:prstGeom>
        </p:spPr>
      </p:pic>
      <p:sp>
        <p:nvSpPr>
          <p:cNvPr id="22" name="Text 21"/>
          <p:cNvSpPr txBox="1"/>
          <p:nvPr/>
        </p:nvSpPr>
        <p:spPr>
          <a:xfrm>
            <a:off x="4398367" y="32140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إطار قطاعك</a:t>
            </a:r>
          </a:p>
        </p:txBody>
      </p:sp>
      <p:pic>
        <p:nvPicPr>
          <p:cNvPr id="23" name="Icon Check 22" descr="icon065.png"/>
          <p:cNvPicPr>
            <a:picLocks noChangeAspect="1"/>
          </p:cNvPicPr>
          <p:nvPr/>
        </p:nvPicPr>
        <p:blipFill>
          <a:blip r:embed="rId3"/>
          <a:stretch>
            <a:fillRect/>
          </a:stretch>
        </p:blipFill>
        <p:spPr>
          <a:xfrm>
            <a:off x="7425234" y="3659783"/>
            <a:ext cx="234950" cy="234950"/>
          </a:xfrm>
          <a:prstGeom prst="rect">
            <a:avLst/>
          </a:prstGeom>
        </p:spPr>
      </p:pic>
      <p:sp>
        <p:nvSpPr>
          <p:cNvPr id="24" name="Text 23"/>
          <p:cNvSpPr txBox="1"/>
          <p:nvPr/>
        </p:nvSpPr>
        <p:spPr>
          <a:xfrm>
            <a:off x="4398367" y="36204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حجز اختبار الشهادة</a:t>
            </a:r>
          </a:p>
        </p:txBody>
      </p:sp>
      <p:sp>
        <p:nvSpPr>
          <p:cNvPr id="25" name="Text box 24"/>
          <p:cNvSpPr/>
          <p:nvPr/>
        </p:nvSpPr>
        <p:spPr>
          <a:xfrm>
            <a:off x="4531717" y="4091583"/>
            <a:ext cx="3128466" cy="827881"/>
          </a:xfrm>
          <a:prstGeom prst="roundRect">
            <a:avLst>
              <a:gd name="adj" fmla="val 9204"/>
            </a:avLst>
          </a:prstGeom>
          <a:solidFill>
            <a:srgbClr val="E6EDF4"/>
          </a:solidFill>
          <a:ln>
            <a:noFill/>
          </a:ln>
        </p:spPr>
        <p:txBody>
          <a:bodyPr rtlCol="0" anchor="ctr" wrap="square" tIns="16480" rIns="79282" bIns="91283" lIns="0" anchorCtr="0">
            <a:noAutofit/>
          </a:bodyPr>
          <a:lstStyle/>
          <a:p>
            <a:pPr algn="r" rtl="1">
              <a:lnSpc>
                <a:spcPts val="2660"/>
              </a:lnSpc>
              <a:spcBef>
                <a:spcPts val="0"/>
              </a:spcBef>
              <a:spcAft>
                <a:spcPts val="0"/>
              </a:spcAft>
            </a:pPr>
            <a:r>
              <a:rPr sz="1900" b="1" i="0">
                <a:solidFill>
                  <a:srgbClr val="172433"/>
                </a:solidFill>
                <a:latin typeface="IBM Plex Sans Arabic"/>
                <a:ea typeface="IBM Plex Sans Arabic"/>
                <a:cs typeface="IBM Plex Sans Arabic"/>
              </a:rPr>
              <a:t>المخرَج: مشروعان منشوران بصفحتين تعريفيتين.</a:t>
            </a:r>
          </a:p>
        </p:txBody>
      </p:sp>
      <p:sp>
        <p:nvSpPr>
          <p:cNvPr id="26" name="Box 25"/>
          <p:cNvSpPr/>
          <p:nvPr/>
        </p:nvSpPr>
        <p:spPr>
          <a:xfrm>
            <a:off x="815876" y="2207220"/>
            <a:ext cx="3439616" cy="3210719"/>
          </a:xfrm>
          <a:prstGeom prst="roundRect">
            <a:avLst>
              <a:gd name="adj" fmla="val 3552"/>
            </a:avLst>
          </a:prstGeom>
          <a:solidFill>
            <a:srgbClr val="FFFDF8"/>
          </a:solidFill>
          <a:ln w="6350">
            <a:solidFill>
              <a:srgbClr val="E1DBCD"/>
            </a:solidFill>
          </a:ln>
        </p:spPr>
        <p:txBody>
          <a:bodyPr rtlCol="0" anchor="ctr"/>
          <a:lstStyle/>
          <a:p>
            <a:pPr algn="ctr"/>
          </a:p>
        </p:txBody>
      </p:sp>
      <p:sp>
        <p:nvSpPr>
          <p:cNvPr id="27" name="Text 26"/>
          <p:cNvSpPr txBox="1"/>
          <p:nvPr/>
        </p:nvSpPr>
        <p:spPr>
          <a:xfrm>
            <a:off x="2903418" y="2336633"/>
            <a:ext cx="1196499" cy="420688"/>
          </a:xfrm>
          <a:prstGeom prst="rect">
            <a:avLst/>
          </a:prstGeom>
          <a:noFill/>
        </p:spPr>
        <p:txBody>
          <a:bodyPr wrap="square" tIns="0" rIns="0" bIns="0" lIns="0" anchor="t" rtlCol="0" anchorCtr="0">
            <a:noAutofit/>
          </a:bodyPr>
          <a:lstStyle/>
          <a:p>
            <a:pPr algn="r" rtl="1">
              <a:lnSpc>
                <a:spcPts val="3311"/>
              </a:lnSpc>
              <a:spcBef>
                <a:spcPts val="0"/>
              </a:spcBef>
              <a:spcAft>
                <a:spcPts val="0"/>
              </a:spcAft>
            </a:pPr>
            <a:r>
              <a:rPr sz="2650" b="1" i="0">
                <a:solidFill>
                  <a:srgbClr val="8A4B12"/>
                </a:solidFill>
                <a:latin typeface="Readex Pro"/>
                <a:ea typeface="Readex Pro"/>
                <a:cs typeface="Readex Pro"/>
              </a:rPr>
              <a:t>السوق</a:t>
            </a:r>
          </a:p>
        </p:txBody>
      </p:sp>
      <p:sp>
        <p:nvSpPr>
          <p:cNvPr id="28" name="Text box 27"/>
          <p:cNvSpPr/>
          <p:nvPr/>
        </p:nvSpPr>
        <p:spPr>
          <a:xfrm>
            <a:off x="971451" y="2370534"/>
            <a:ext cx="1592759" cy="379710"/>
          </a:xfrm>
          <a:prstGeom prst="roundRect">
            <a:avLst>
              <a:gd name="adj" fmla="val 50000"/>
            </a:avLst>
          </a:prstGeom>
          <a:solidFill>
            <a:srgbClr val="F6ECDA"/>
          </a:solidFill>
          <a:ln>
            <a:noFill/>
          </a:ln>
        </p:spPr>
        <p:txBody>
          <a:bodyPr rtlCol="0" anchor="ctr" wrap="square" tIns="0" rIns="33293" bIns="72834" lIns="0" anchorCtr="0">
            <a:noAutofit/>
          </a:bodyPr>
          <a:lstStyle/>
          <a:p>
            <a:pPr algn="r" rtl="1">
              <a:lnSpc>
                <a:spcPts val="2590"/>
              </a:lnSpc>
              <a:spcBef>
                <a:spcPts val="0"/>
              </a:spcBef>
              <a:spcAft>
                <a:spcPts val="0"/>
              </a:spcAft>
            </a:pPr>
            <a:r>
              <a:rPr sz="1850" b="1" i="0">
                <a:solidFill>
                  <a:srgbClr val="8A4B12"/>
                </a:solidFill>
                <a:latin typeface="IBM Plex Sans Arabic"/>
                <a:ea typeface="IBM Plex Sans Arabic"/>
                <a:cs typeface="IBM Plex Sans Arabic"/>
              </a:rPr>
              <a:t>الأيام 61 إلى 90</a:t>
            </a:r>
          </a:p>
        </p:txBody>
      </p:sp>
      <p:pic>
        <p:nvPicPr>
          <p:cNvPr id="29" name="Icon Check 28" descr="icon066.png"/>
          <p:cNvPicPr>
            <a:picLocks noChangeAspect="1"/>
          </p:cNvPicPr>
          <p:nvPr/>
        </p:nvPicPr>
        <p:blipFill>
          <a:blip r:embed="rId4"/>
          <a:stretch>
            <a:fillRect/>
          </a:stretch>
        </p:blipFill>
        <p:spPr>
          <a:xfrm>
            <a:off x="3864967" y="2846983"/>
            <a:ext cx="234950" cy="234950"/>
          </a:xfrm>
          <a:prstGeom prst="rect">
            <a:avLst/>
          </a:prstGeom>
        </p:spPr>
      </p:pic>
      <p:sp>
        <p:nvSpPr>
          <p:cNvPr id="30" name="Text 29"/>
          <p:cNvSpPr txBox="1"/>
          <p:nvPr/>
        </p:nvSpPr>
        <p:spPr>
          <a:xfrm>
            <a:off x="838101" y="28076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السيرة ولينكدإن</a:t>
            </a:r>
          </a:p>
        </p:txBody>
      </p:sp>
      <p:pic>
        <p:nvPicPr>
          <p:cNvPr id="31" name="Icon Check 30" descr="icon066.png"/>
          <p:cNvPicPr>
            <a:picLocks noChangeAspect="1"/>
          </p:cNvPicPr>
          <p:nvPr/>
        </p:nvPicPr>
        <p:blipFill>
          <a:blip r:embed="rId4"/>
          <a:stretch>
            <a:fillRect/>
          </a:stretch>
        </p:blipFill>
        <p:spPr>
          <a:xfrm>
            <a:off x="3864967" y="3253383"/>
            <a:ext cx="234950" cy="234950"/>
          </a:xfrm>
          <a:prstGeom prst="rect">
            <a:avLst/>
          </a:prstGeom>
        </p:spPr>
      </p:pic>
      <p:sp>
        <p:nvSpPr>
          <p:cNvPr id="32" name="Text 31"/>
          <p:cNvSpPr txBox="1"/>
          <p:nvPr/>
        </p:nvSpPr>
        <p:spPr>
          <a:xfrm>
            <a:off x="888074" y="3214013"/>
            <a:ext cx="286259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أسبوعية ومحادثات تعريفية</a:t>
            </a:r>
          </a:p>
        </p:txBody>
      </p:sp>
      <p:pic>
        <p:nvPicPr>
          <p:cNvPr id="33" name="Icon Check 32" descr="icon066.png"/>
          <p:cNvPicPr>
            <a:picLocks noChangeAspect="1"/>
          </p:cNvPicPr>
          <p:nvPr/>
        </p:nvPicPr>
        <p:blipFill>
          <a:blip r:embed="rId4"/>
          <a:stretch>
            <a:fillRect/>
          </a:stretch>
        </p:blipFill>
        <p:spPr>
          <a:xfrm>
            <a:off x="3864967" y="4015383"/>
            <a:ext cx="234950" cy="234950"/>
          </a:xfrm>
          <a:prstGeom prst="rect">
            <a:avLst/>
          </a:prstGeom>
        </p:spPr>
      </p:pic>
      <p:sp>
        <p:nvSpPr>
          <p:cNvPr id="34" name="Text 33"/>
          <p:cNvSpPr txBox="1"/>
          <p:nvPr/>
        </p:nvSpPr>
        <p:spPr>
          <a:xfrm>
            <a:off x="838101" y="3976013"/>
            <a:ext cx="29125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خمس قصص STAR</a:t>
            </a:r>
          </a:p>
        </p:txBody>
      </p:sp>
      <p:sp>
        <p:nvSpPr>
          <p:cNvPr id="35" name="Text box 34"/>
          <p:cNvSpPr/>
          <p:nvPr/>
        </p:nvSpPr>
        <p:spPr>
          <a:xfrm>
            <a:off x="971451" y="4447183"/>
            <a:ext cx="3128466" cy="827881"/>
          </a:xfrm>
          <a:prstGeom prst="roundRect">
            <a:avLst>
              <a:gd name="adj" fmla="val 9204"/>
            </a:avLst>
          </a:prstGeom>
          <a:solidFill>
            <a:srgbClr val="F6ECDA"/>
          </a:solidFill>
          <a:ln>
            <a:noFill/>
          </a:ln>
        </p:spPr>
        <p:txBody>
          <a:bodyPr rtlCol="0" anchor="ctr" wrap="square" tIns="16480" rIns="79282" bIns="91283" lIns="0" anchorCtr="0">
            <a:noAutofit/>
          </a:bodyPr>
          <a:lstStyle/>
          <a:p>
            <a:pPr algn="r" rtl="1">
              <a:lnSpc>
                <a:spcPts val="2660"/>
              </a:lnSpc>
              <a:spcBef>
                <a:spcPts val="0"/>
              </a:spcBef>
              <a:spcAft>
                <a:spcPts val="0"/>
              </a:spcAft>
            </a:pPr>
            <a:r>
              <a:rPr sz="1900" b="1" i="0">
                <a:solidFill>
                  <a:srgbClr val="172433"/>
                </a:solidFill>
                <a:latin typeface="IBM Plex Sans Arabic"/>
                <a:ea typeface="IBM Plex Sans Arabic"/>
                <a:cs typeface="IBM Plex Sans Arabic"/>
              </a:rPr>
              <a:t>المخرَج: طلبات مقدمة واستعداد للمقابلة.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تطبيق صغير إلى مشروع في ملف أعمالك</a:t>
            </a:r>
          </a:p>
        </p:txBody>
      </p:sp>
      <p:graphicFrame>
        <p:nvGraphicFramePr>
          <p:cNvPr id="5" name="Table 4"/>
          <p:cNvGraphicFramePr>
            <a:graphicFrameLocks noGrp="1"/>
          </p:cNvGraphicFramePr>
          <p:nvPr/>
        </p:nvGraphicFramePr>
        <p:xfrm>
          <a:off x="815975" y="1661120"/>
          <a:ext cx="10560050" cy="3233734"/>
        </p:xfrm>
        <a:graphic>
          <a:graphicData uri="http://schemas.openxmlformats.org/drawingml/2006/table">
            <a:tbl>
              <a:tblPr firstRow="0" bandRow="0" lastRow="0" firstCol="0" lastCol="0" bandCol="0">
                <a:tableStyleId>{2D5ABB26-0587-4C30-8999-92F81FD0307C}</a:tableStyleId>
              </a:tblPr>
              <a:tblGrid>
                <a:gridCol w="6124575"/>
                <a:gridCol w="4435475"/>
              </a:tblGrid>
              <a:tr h="461962">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المشروع الأكبر لملف أعمالك</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362"/>
                        </a:lnSpc>
                        <a:spcBef>
                          <a:spcPts val="0"/>
                        </a:spcBef>
                        <a:spcAft>
                          <a:spcPts val="0"/>
                        </a:spcAft>
                      </a:pPr>
                      <a:r>
                        <a:rPr sz="1750" b="1" i="0">
                          <a:solidFill>
                            <a:srgbClr val="F3EFE6"/>
                          </a:solidFill>
                          <a:latin typeface="IBM Plex Sans Arabic"/>
                          <a:ea typeface="IBM Plex Sans Arabic"/>
                          <a:cs typeface="IBM Plex Sans Arabic"/>
                        </a:rPr>
                        <a:t>ما نفذته في الكورس</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حزمة: سياسة ومعيار وإجراء لموضوع واحد</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1. مسؤوليات وبند سياسة</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سجل مخاطر من 10 مخاطر، ثم 20</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2. خطر واحد</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تقييم مكوّن فرعي كامل من ECC، مثل ‎2-2‎</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3. تقييم ضابط</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تقرير تدقيق مصغر من 3 ملاحظات</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4. ملاحظة وخطة تصحيح</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استبيان تقييم مورد وتحليل ردوده</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مخاطر الأطراف الخارجية</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61962">
                <a:tc>
                  <a:txBody>
                    <a:bodyPr wrap="square"/>
                    <a:lstStyle/>
                    <a:p>
                      <a:pPr algn="r" rtl="1">
                        <a:lnSpc>
                          <a:spcPts val="2362"/>
                        </a:lnSpc>
                        <a:spcBef>
                          <a:spcPts val="0"/>
                        </a:spcBef>
                        <a:spcAft>
                          <a:spcPts val="0"/>
                        </a:spcAft>
                      </a:pPr>
                      <a:r>
                        <a:rPr sz="1750" b="0" i="0">
                          <a:solidFill>
                            <a:srgbClr val="172433"/>
                          </a:solidFill>
                          <a:latin typeface="IBM Plex Sans Arabic"/>
                          <a:ea typeface="IBM Plex Sans Arabic"/>
                          <a:cs typeface="IBM Plex Sans Arabic"/>
                        </a:rPr>
                        <a:t>مصفوفة مواءمة: ECC مقابل ISO 27001 وNIST CSF</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362"/>
                        </a:lnSpc>
                        <a:spcBef>
                          <a:spcPts val="0"/>
                        </a:spcBef>
                        <a:spcAft>
                          <a:spcPts val="0"/>
                        </a:spcAft>
                      </a:pPr>
                      <a:r>
                        <a:rPr sz="1750" b="1" i="0">
                          <a:solidFill>
                            <a:srgbClr val="0E7C6B"/>
                          </a:solidFill>
                          <a:latin typeface="IBM Plex Sans Arabic"/>
                          <a:ea typeface="IBM Plex Sans Arabic"/>
                          <a:cs typeface="IBM Plex Sans Arabic"/>
                        </a:rPr>
                        <a:t>الأطر</a:t>
                      </a:r>
                    </a:p>
                  </a:txBody>
                  <a:tcPr marT="93678" marR="133350" marB="6189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091708"/>
            <a:ext cx="10560050" cy="562570"/>
          </a:xfrm>
          <a:prstGeom prst="roundRect">
            <a:avLst>
              <a:gd name="adj" fmla="val 17858"/>
            </a:avLst>
          </a:prstGeom>
          <a:solidFill>
            <a:srgbClr val="FBEAE5"/>
          </a:solidFill>
          <a:ln w="6350">
            <a:solidFill>
              <a:srgbClr val="E7B8AC"/>
            </a:solidFill>
          </a:ln>
        </p:spPr>
        <p:txBody>
          <a:bodyPr rtlCol="0" anchor="ctr"/>
          <a:lstStyle/>
          <a:p>
            <a:pPr algn="ctr"/>
          </a:p>
        </p:txBody>
      </p:sp>
      <p:pic>
        <p:nvPicPr>
          <p:cNvPr id="7" name="Icon Warning 6" descr="icon067.png"/>
          <p:cNvPicPr>
            <a:picLocks noChangeAspect="1"/>
          </p:cNvPicPr>
          <p:nvPr/>
        </p:nvPicPr>
        <p:blipFill>
          <a:blip r:embed="rId2"/>
          <a:stretch>
            <a:fillRect/>
          </a:stretch>
        </p:blipFill>
        <p:spPr>
          <a:xfrm>
            <a:off x="10972800" y="5261868"/>
            <a:ext cx="222250" cy="222250"/>
          </a:xfrm>
          <a:prstGeom prst="rect">
            <a:avLst/>
          </a:prstGeom>
        </p:spPr>
      </p:pic>
      <p:sp>
        <p:nvSpPr>
          <p:cNvPr id="8" name="Text 7"/>
          <p:cNvSpPr txBox="1"/>
          <p:nvPr/>
        </p:nvSpPr>
        <p:spPr>
          <a:xfrm>
            <a:off x="838200" y="5188418"/>
            <a:ext cx="100203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رُفاد، أو جهة افتراضية مثلها، دائماً. لا تنشر وثائق أو بيانات من جهة حقيقية، حتى لو تدربت فيها.</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7518301"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صفحة تعريفية لكل مشروع</a:t>
            </a:r>
          </a:p>
        </p:txBody>
      </p:sp>
      <p:sp>
        <p:nvSpPr>
          <p:cNvPr id="6" name="Text 5"/>
          <p:cNvSpPr txBox="1"/>
          <p:nvPr/>
        </p:nvSpPr>
        <p:spPr>
          <a:xfrm>
            <a:off x="0" y="1616607"/>
            <a:ext cx="113792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0" i="0">
                <a:solidFill>
                  <a:srgbClr val="4E5A66"/>
                </a:solidFill>
                <a:latin typeface="IBM Plex Sans Arabic"/>
                <a:ea typeface="IBM Plex Sans Arabic"/>
                <a:cs typeface="IBM Plex Sans Arabic"/>
              </a:rPr>
              <a:t>صفحة واحدة في بداية كل مشروع: يقرؤها مسؤول التوظيف في دقيقة.</a:t>
            </a:r>
          </a:p>
        </p:txBody>
      </p:sp>
      <p:sp>
        <p:nvSpPr>
          <p:cNvPr id="7" name="Box 6"/>
          <p:cNvSpPr/>
          <p:nvPr/>
        </p:nvSpPr>
        <p:spPr>
          <a:xfrm>
            <a:off x="815975" y="2224980"/>
            <a:ext cx="10560050" cy="3154263"/>
          </a:xfrm>
          <a:prstGeom prst="roundRect">
            <a:avLst>
              <a:gd name="adj" fmla="val 3616"/>
            </a:avLst>
          </a:prstGeom>
          <a:solidFill>
            <a:srgbClr val="FFFDF8"/>
          </a:solidFill>
          <a:ln w="6350">
            <a:solidFill>
              <a:srgbClr val="E1DBCD"/>
            </a:solidFill>
          </a:ln>
        </p:spPr>
        <p:txBody>
          <a:bodyPr rtlCol="0" anchor="ctr"/>
          <a:lstStyle/>
          <a:p>
            <a:pPr algn="ctr"/>
          </a:p>
        </p:txBody>
      </p:sp>
      <p:sp>
        <p:nvSpPr>
          <p:cNvPr id="8" name="Text 7"/>
          <p:cNvSpPr txBox="1"/>
          <p:nvPr/>
        </p:nvSpPr>
        <p:spPr>
          <a:xfrm>
            <a:off x="9669462" y="2327501"/>
            <a:ext cx="15255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عنوان المشروع</a:t>
            </a:r>
          </a:p>
        </p:txBody>
      </p:sp>
      <p:sp>
        <p:nvSpPr>
          <p:cNvPr id="9" name="Text 8"/>
          <p:cNvSpPr txBox="1"/>
          <p:nvPr/>
        </p:nvSpPr>
        <p:spPr>
          <a:xfrm>
            <a:off x="838200" y="2327501"/>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سجل مخاطر مصغر لشركة لوجستية افتراضية</a:t>
            </a:r>
          </a:p>
        </p:txBody>
      </p:sp>
      <p:sp>
        <p:nvSpPr>
          <p:cNvPr id="10" name="Text 9"/>
          <p:cNvSpPr txBox="1"/>
          <p:nvPr/>
        </p:nvSpPr>
        <p:spPr>
          <a:xfrm>
            <a:off x="9578340" y="3119862"/>
            <a:ext cx="1616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المشكلة</a:t>
            </a:r>
          </a:p>
        </p:txBody>
      </p:sp>
      <p:sp>
        <p:nvSpPr>
          <p:cNvPr id="11" name="Text 10"/>
          <p:cNvSpPr txBox="1"/>
          <p:nvPr/>
        </p:nvSpPr>
        <p:spPr>
          <a:xfrm>
            <a:off x="838200" y="3119862"/>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لا يوجد سجل مخاطر، والإدارة لا تعرف أين تبدأ.</a:t>
            </a:r>
          </a:p>
        </p:txBody>
      </p:sp>
      <p:sp>
        <p:nvSpPr>
          <p:cNvPr id="12" name="Text 11"/>
          <p:cNvSpPr txBox="1"/>
          <p:nvPr/>
        </p:nvSpPr>
        <p:spPr>
          <a:xfrm>
            <a:off x="9578340" y="3547793"/>
            <a:ext cx="1616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ما فعلته</a:t>
            </a:r>
          </a:p>
        </p:txBody>
      </p:sp>
      <p:sp>
        <p:nvSpPr>
          <p:cNvPr id="13" name="Text 12"/>
          <p:cNvSpPr txBox="1"/>
          <p:nvPr/>
        </p:nvSpPr>
        <p:spPr>
          <a:xfrm>
            <a:off x="838200" y="3547793"/>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حددت 10 مخاطر، وقيمتها بمصفوفة NFCRM، واقترحت معالجة لكل خطر عالٍ.</a:t>
            </a:r>
          </a:p>
        </p:txBody>
      </p:sp>
      <p:sp>
        <p:nvSpPr>
          <p:cNvPr id="14" name="Text 13"/>
          <p:cNvSpPr txBox="1"/>
          <p:nvPr/>
        </p:nvSpPr>
        <p:spPr>
          <a:xfrm>
            <a:off x="9578340" y="3975723"/>
            <a:ext cx="1616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النتيجة</a:t>
            </a:r>
          </a:p>
        </p:txBody>
      </p:sp>
      <p:sp>
        <p:nvSpPr>
          <p:cNvPr id="15" name="Text 14"/>
          <p:cNvSpPr txBox="1"/>
          <p:nvPr/>
        </p:nvSpPr>
        <p:spPr>
          <a:xfrm>
            <a:off x="838200" y="3975723"/>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3 مخاطر عالية بخطط ومالكين ومواعيد.</a:t>
            </a:r>
          </a:p>
        </p:txBody>
      </p:sp>
      <p:sp>
        <p:nvSpPr>
          <p:cNvPr id="16" name="Text 15"/>
          <p:cNvSpPr txBox="1"/>
          <p:nvPr/>
        </p:nvSpPr>
        <p:spPr>
          <a:xfrm>
            <a:off x="9578340" y="4403654"/>
            <a:ext cx="1616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ما تعلمته</a:t>
            </a:r>
          </a:p>
        </p:txBody>
      </p:sp>
      <p:sp>
        <p:nvSpPr>
          <p:cNvPr id="17" name="Text 16"/>
          <p:cNvSpPr txBox="1"/>
          <p:nvPr/>
        </p:nvSpPr>
        <p:spPr>
          <a:xfrm>
            <a:off x="838200" y="4403654"/>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الضابط يغير الاحتمال أو الأثر، لا الاثنين دائماً.</a:t>
            </a:r>
          </a:p>
        </p:txBody>
      </p:sp>
      <p:sp>
        <p:nvSpPr>
          <p:cNvPr id="18" name="Text 17"/>
          <p:cNvSpPr txBox="1"/>
          <p:nvPr/>
        </p:nvSpPr>
        <p:spPr>
          <a:xfrm>
            <a:off x="9578340" y="4831584"/>
            <a:ext cx="1616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24506B"/>
                </a:solidFill>
                <a:latin typeface="IBM Plex Sans Arabic"/>
                <a:ea typeface="IBM Plex Sans Arabic"/>
                <a:cs typeface="IBM Plex Sans Arabic"/>
              </a:rPr>
              <a:t>الملفات</a:t>
            </a:r>
          </a:p>
        </p:txBody>
      </p:sp>
      <p:sp>
        <p:nvSpPr>
          <p:cNvPr id="19" name="Text 18"/>
          <p:cNvSpPr txBox="1"/>
          <p:nvPr/>
        </p:nvSpPr>
        <p:spPr>
          <a:xfrm>
            <a:off x="838200" y="4831584"/>
            <a:ext cx="8782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السجل، وصفحة المنهجية. بيانات افتراضية.</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المهارات المطلوبة، وكيف تتدرب عليها</a:t>
            </a:r>
          </a:p>
        </p:txBody>
      </p:sp>
      <p:sp>
        <p:nvSpPr>
          <p:cNvPr id="5" name="Box 4"/>
          <p:cNvSpPr/>
          <p:nvPr/>
        </p:nvSpPr>
        <p:spPr>
          <a:xfrm>
            <a:off x="6162675" y="1661120"/>
            <a:ext cx="5213350" cy="3479800"/>
          </a:xfrm>
          <a:prstGeom prst="roundRect">
            <a:avLst>
              <a:gd name="adj" fmla="val 3278"/>
            </a:avLst>
          </a:prstGeom>
          <a:solidFill>
            <a:srgbClr val="FFFDF8"/>
          </a:solidFill>
          <a:ln w="6350">
            <a:solidFill>
              <a:srgbClr val="E1DBCD"/>
            </a:solidFill>
          </a:ln>
        </p:spPr>
        <p:txBody>
          <a:bodyPr rtlCol="0" anchor="ctr"/>
          <a:lstStyle/>
          <a:p>
            <a:pPr algn="ctr"/>
          </a:p>
        </p:txBody>
      </p:sp>
      <p:sp>
        <p:nvSpPr>
          <p:cNvPr id="6" name="Text 5"/>
          <p:cNvSpPr txBox="1"/>
          <p:nvPr/>
        </p:nvSpPr>
        <p:spPr>
          <a:xfrm>
            <a:off x="6184900" y="1791295"/>
            <a:ext cx="502285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مهارات المجال</a:t>
            </a:r>
          </a:p>
        </p:txBody>
      </p:sp>
      <p:sp>
        <p:nvSpPr>
          <p:cNvPr id="7" name="Text 6"/>
          <p:cNvSpPr txBox="1"/>
          <p:nvPr/>
        </p:nvSpPr>
        <p:spPr>
          <a:xfrm>
            <a:off x="9340850" y="2225000"/>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قراءة الأطر</a:t>
            </a:r>
          </a:p>
        </p:txBody>
      </p:sp>
      <p:sp>
        <p:nvSpPr>
          <p:cNvPr id="8" name="Text 7"/>
          <p:cNvSpPr txBox="1"/>
          <p:nvPr/>
        </p:nvSpPr>
        <p:spPr>
          <a:xfrm>
            <a:off x="6184900" y="2225000"/>
            <a:ext cx="3194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الأسئلة الأربعة مع كل ضابط</a:t>
            </a:r>
          </a:p>
        </p:txBody>
      </p:sp>
      <p:sp>
        <p:nvSpPr>
          <p:cNvPr id="9" name="Text 8"/>
          <p:cNvSpPr txBox="1"/>
          <p:nvPr/>
        </p:nvSpPr>
        <p:spPr>
          <a:xfrm>
            <a:off x="9340850" y="2631400"/>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تقييم المخاطر</a:t>
            </a:r>
          </a:p>
        </p:txBody>
      </p:sp>
      <p:sp>
        <p:nvSpPr>
          <p:cNvPr id="10" name="Text 9"/>
          <p:cNvSpPr txBox="1"/>
          <p:nvPr/>
        </p:nvSpPr>
        <p:spPr>
          <a:xfrm>
            <a:off x="6184900" y="2631400"/>
            <a:ext cx="3194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2 ثم مشروع السجل</a:t>
            </a:r>
          </a:p>
        </p:txBody>
      </p:sp>
      <p:sp>
        <p:nvSpPr>
          <p:cNvPr id="11" name="Text 10"/>
          <p:cNvSpPr txBox="1"/>
          <p:nvPr/>
        </p:nvSpPr>
        <p:spPr>
          <a:xfrm>
            <a:off x="9340850" y="3037800"/>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فحص الأدلة</a:t>
            </a:r>
          </a:p>
        </p:txBody>
      </p:sp>
      <p:sp>
        <p:nvSpPr>
          <p:cNvPr id="12" name="Text 11"/>
          <p:cNvSpPr txBox="1"/>
          <p:nvPr/>
        </p:nvSpPr>
        <p:spPr>
          <a:xfrm>
            <a:off x="6184900" y="3037800"/>
            <a:ext cx="3194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3</a:t>
            </a:r>
          </a:p>
        </p:txBody>
      </p:sp>
      <p:sp>
        <p:nvSpPr>
          <p:cNvPr id="13" name="Text 12"/>
          <p:cNvSpPr txBox="1"/>
          <p:nvPr/>
        </p:nvSpPr>
        <p:spPr>
          <a:xfrm>
            <a:off x="9340850" y="3444200"/>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أساسيات تقنية</a:t>
            </a:r>
          </a:p>
        </p:txBody>
      </p:sp>
      <p:sp>
        <p:nvSpPr>
          <p:cNvPr id="14" name="Text 13"/>
          <p:cNvSpPr txBox="1"/>
          <p:nvPr/>
        </p:nvSpPr>
        <p:spPr>
          <a:xfrm>
            <a:off x="6184900" y="3444200"/>
            <a:ext cx="3194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الهويات والشبكات والسحابة</a:t>
            </a:r>
          </a:p>
        </p:txBody>
      </p:sp>
      <p:sp>
        <p:nvSpPr>
          <p:cNvPr id="15" name="Text 14"/>
          <p:cNvSpPr txBox="1"/>
          <p:nvPr/>
        </p:nvSpPr>
        <p:spPr>
          <a:xfrm>
            <a:off x="9340850" y="3850600"/>
            <a:ext cx="18669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5E6A75"/>
                </a:solidFill>
                <a:latin typeface="IBM Plex Sans Arabic"/>
                <a:ea typeface="IBM Plex Sans Arabic"/>
                <a:cs typeface="IBM Plex Sans Arabic"/>
              </a:rPr>
              <a:t>Excel</a:t>
            </a:r>
          </a:p>
        </p:txBody>
      </p:sp>
      <p:sp>
        <p:nvSpPr>
          <p:cNvPr id="16" name="Text 15"/>
          <p:cNvSpPr txBox="1"/>
          <p:nvPr/>
        </p:nvSpPr>
        <p:spPr>
          <a:xfrm>
            <a:off x="6239510" y="3850600"/>
            <a:ext cx="313944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الجداول المحورية والتنسيق الشرطي</a:t>
            </a:r>
          </a:p>
        </p:txBody>
      </p:sp>
      <p:sp>
        <p:nvSpPr>
          <p:cNvPr id="17" name="Box 16"/>
          <p:cNvSpPr/>
          <p:nvPr/>
        </p:nvSpPr>
        <p:spPr>
          <a:xfrm>
            <a:off x="815975" y="1661120"/>
            <a:ext cx="5213350" cy="3479800"/>
          </a:xfrm>
          <a:prstGeom prst="roundRect">
            <a:avLst>
              <a:gd name="adj" fmla="val 3278"/>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1791295"/>
            <a:ext cx="5022850" cy="793750"/>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مهارات شخصية، وغالباً هي الفارق</a:t>
            </a:r>
          </a:p>
        </p:txBody>
      </p:sp>
      <p:sp>
        <p:nvSpPr>
          <p:cNvPr id="19" name="Text 18"/>
          <p:cNvSpPr txBox="1"/>
          <p:nvPr/>
        </p:nvSpPr>
        <p:spPr>
          <a:xfrm>
            <a:off x="3803650" y="262187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الكتابة الواضحة</a:t>
            </a:r>
          </a:p>
        </p:txBody>
      </p:sp>
      <p:sp>
        <p:nvSpPr>
          <p:cNvPr id="20" name="Text 19"/>
          <p:cNvSpPr txBox="1"/>
          <p:nvPr/>
        </p:nvSpPr>
        <p:spPr>
          <a:xfrm>
            <a:off x="838200" y="2621875"/>
            <a:ext cx="3003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ملاحظة في 3 أسطر بدل 10</a:t>
            </a:r>
          </a:p>
        </p:txBody>
      </p:sp>
      <p:sp>
        <p:nvSpPr>
          <p:cNvPr id="21" name="Text 20"/>
          <p:cNvSpPr txBox="1"/>
          <p:nvPr/>
        </p:nvSpPr>
        <p:spPr>
          <a:xfrm>
            <a:off x="3892550" y="3028275"/>
            <a:ext cx="19685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شرح التقني لغير التقني</a:t>
            </a:r>
          </a:p>
        </p:txBody>
      </p:sp>
      <p:sp>
        <p:nvSpPr>
          <p:cNvPr id="22" name="Text 21"/>
          <p:cNvSpPr txBox="1"/>
          <p:nvPr/>
        </p:nvSpPr>
        <p:spPr>
          <a:xfrm>
            <a:off x="838200" y="3028275"/>
            <a:ext cx="3003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خطر في دقيقة لصديق</a:t>
            </a:r>
          </a:p>
        </p:txBody>
      </p:sp>
      <p:sp>
        <p:nvSpPr>
          <p:cNvPr id="23" name="Text 22"/>
          <p:cNvSpPr txBox="1"/>
          <p:nvPr/>
        </p:nvSpPr>
        <p:spPr>
          <a:xfrm>
            <a:off x="3803650" y="379027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الإقناع</a:t>
            </a:r>
          </a:p>
        </p:txBody>
      </p:sp>
      <p:sp>
        <p:nvSpPr>
          <p:cNvPr id="24" name="Text 23"/>
          <p:cNvSpPr txBox="1"/>
          <p:nvPr/>
        </p:nvSpPr>
        <p:spPr>
          <a:xfrm>
            <a:off x="838200" y="3790275"/>
            <a:ext cx="3003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اربط التوصية بأثر على العمل</a:t>
            </a:r>
          </a:p>
        </p:txBody>
      </p:sp>
      <p:sp>
        <p:nvSpPr>
          <p:cNvPr id="25" name="Text 24"/>
          <p:cNvSpPr txBox="1"/>
          <p:nvPr/>
        </p:nvSpPr>
        <p:spPr>
          <a:xfrm>
            <a:off x="3803650" y="419667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المتابعة</a:t>
            </a:r>
          </a:p>
        </p:txBody>
      </p:sp>
      <p:sp>
        <p:nvSpPr>
          <p:cNvPr id="26" name="Text 25"/>
          <p:cNvSpPr txBox="1"/>
          <p:nvPr/>
        </p:nvSpPr>
        <p:spPr>
          <a:xfrm>
            <a:off x="838200" y="4196675"/>
            <a:ext cx="3003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مالك وموعد لكل شيء</a:t>
            </a:r>
          </a:p>
        </p:txBody>
      </p:sp>
      <p:sp>
        <p:nvSpPr>
          <p:cNvPr id="27" name="Text 26"/>
          <p:cNvSpPr txBox="1"/>
          <p:nvPr/>
        </p:nvSpPr>
        <p:spPr>
          <a:xfrm>
            <a:off x="3803650" y="460307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النزاهة والسرية</a:t>
            </a:r>
          </a:p>
        </p:txBody>
      </p:sp>
      <p:sp>
        <p:nvSpPr>
          <p:cNvPr id="28" name="Text 27"/>
          <p:cNvSpPr txBox="1"/>
          <p:nvPr/>
        </p:nvSpPr>
        <p:spPr>
          <a:xfrm>
            <a:off x="838200" y="4603075"/>
            <a:ext cx="3003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مجاملة، ولا إفشاء</a:t>
            </a:r>
          </a:p>
        </p:txBody>
      </p:sp>
      <p:sp>
        <p:nvSpPr>
          <p:cNvPr id="29" name="Box 28"/>
          <p:cNvSpPr/>
          <p:nvPr/>
        </p:nvSpPr>
        <p:spPr>
          <a:xfrm>
            <a:off x="812800" y="5334595"/>
            <a:ext cx="10566400" cy="618430"/>
          </a:xfrm>
          <a:prstGeom prst="roundRect">
            <a:avLst>
              <a:gd name="adj" fmla="val 16428"/>
            </a:avLst>
          </a:prstGeom>
          <a:solidFill>
            <a:srgbClr val="172433"/>
          </a:solidFill>
          <a:ln>
            <a:noFill/>
          </a:ln>
        </p:spPr>
        <p:txBody>
          <a:bodyPr rtlCol="0" anchor="ctr"/>
          <a:lstStyle/>
          <a:p>
            <a:pPr algn="ctr"/>
          </a:p>
        </p:txBody>
      </p:sp>
      <p:pic>
        <p:nvPicPr>
          <p:cNvPr id="30" name="Icon Globe 29" descr="icon068.png"/>
          <p:cNvPicPr>
            <a:picLocks noChangeAspect="1"/>
          </p:cNvPicPr>
          <p:nvPr/>
        </p:nvPicPr>
        <p:blipFill>
          <a:blip r:embed="rId2"/>
          <a:stretch>
            <a:fillRect/>
          </a:stretch>
        </p:blipFill>
        <p:spPr>
          <a:xfrm>
            <a:off x="10934700" y="5510411"/>
            <a:ext cx="266700" cy="266700"/>
          </a:xfrm>
          <a:prstGeom prst="rect">
            <a:avLst/>
          </a:prstGeom>
        </p:spPr>
      </p:pic>
      <p:sp>
        <p:nvSpPr>
          <p:cNvPr id="31" name="Text 30"/>
          <p:cNvSpPr txBox="1"/>
          <p:nvPr/>
        </p:nvSpPr>
        <p:spPr>
          <a:xfrm>
            <a:off x="838200" y="5421241"/>
            <a:ext cx="9982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F3EFE6"/>
                </a:solidFill>
                <a:latin typeface="IBM Plex Sans Arabic"/>
                <a:ea typeface="IBM Plex Sans Arabic"/>
                <a:cs typeface="IBM Plex Sans Arabic"/>
              </a:rPr>
              <a:t>والإنجليزية: أغلب المعايير والاختبارات بها. اقرأ يومياً ولو صفحة.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69897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صفحة مشروع تقييم الصلاحيات</a:t>
            </a:r>
          </a:p>
        </p:txBody>
      </p:sp>
      <p:sp>
        <p:nvSpPr>
          <p:cNvPr id="6" name="Text 5"/>
          <p:cNvSpPr txBox="1"/>
          <p:nvPr/>
        </p:nvSpPr>
        <p:spPr>
          <a:xfrm>
            <a:off x="0" y="1624481"/>
            <a:ext cx="113792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اكتب صفحة تعريفية لمشروعك من التطبيقين 3 و4: تقييم مراجعة الصلاحيات في رُفاد.</a:t>
            </a:r>
          </a:p>
        </p:txBody>
      </p:sp>
      <p:sp>
        <p:nvSpPr>
          <p:cNvPr id="7" name="Text 6"/>
          <p:cNvSpPr txBox="1"/>
          <p:nvPr/>
        </p:nvSpPr>
        <p:spPr>
          <a:xfrm>
            <a:off x="9596120" y="2122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عنوان المشروع</a:t>
            </a:r>
          </a:p>
        </p:txBody>
      </p:sp>
      <p:sp>
        <p:nvSpPr>
          <p:cNvPr id="8" name="Box 7"/>
          <p:cNvSpPr/>
          <p:nvPr/>
        </p:nvSpPr>
        <p:spPr>
          <a:xfrm>
            <a:off x="819150" y="2157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596120" y="2630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المشكلة</a:t>
            </a:r>
          </a:p>
        </p:txBody>
      </p:sp>
      <p:sp>
        <p:nvSpPr>
          <p:cNvPr id="10" name="Box 9"/>
          <p:cNvSpPr/>
          <p:nvPr/>
        </p:nvSpPr>
        <p:spPr>
          <a:xfrm>
            <a:off x="819150" y="2665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596120" y="3138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ما فعلته</a:t>
            </a:r>
          </a:p>
        </p:txBody>
      </p:sp>
      <p:sp>
        <p:nvSpPr>
          <p:cNvPr id="12" name="Box 11"/>
          <p:cNvSpPr/>
          <p:nvPr/>
        </p:nvSpPr>
        <p:spPr>
          <a:xfrm>
            <a:off x="819150" y="3173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596120" y="3646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النتيجة</a:t>
            </a:r>
          </a:p>
        </p:txBody>
      </p:sp>
      <p:sp>
        <p:nvSpPr>
          <p:cNvPr id="14" name="Box 13"/>
          <p:cNvSpPr/>
          <p:nvPr/>
        </p:nvSpPr>
        <p:spPr>
          <a:xfrm>
            <a:off x="819150" y="3681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9596120" y="4154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ما تعلمته</a:t>
            </a:r>
          </a:p>
        </p:txBody>
      </p:sp>
      <p:sp>
        <p:nvSpPr>
          <p:cNvPr id="16" name="Box 15"/>
          <p:cNvSpPr/>
          <p:nvPr/>
        </p:nvSpPr>
        <p:spPr>
          <a:xfrm>
            <a:off x="819150" y="4189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7" name="Text 16"/>
          <p:cNvSpPr txBox="1"/>
          <p:nvPr/>
        </p:nvSpPr>
        <p:spPr>
          <a:xfrm>
            <a:off x="9596120" y="4662122"/>
            <a:ext cx="1783080" cy="44450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1" i="0">
                <a:solidFill>
                  <a:srgbClr val="172433"/>
                </a:solidFill>
                <a:latin typeface="IBM Plex Sans Arabic"/>
                <a:ea typeface="IBM Plex Sans Arabic"/>
                <a:cs typeface="IBM Plex Sans Arabic"/>
              </a:rPr>
              <a:t>الملفات المرفقة</a:t>
            </a:r>
          </a:p>
        </p:txBody>
      </p:sp>
      <p:sp>
        <p:nvSpPr>
          <p:cNvPr id="18" name="Box 17"/>
          <p:cNvSpPr/>
          <p:nvPr/>
        </p:nvSpPr>
        <p:spPr>
          <a:xfrm>
            <a:off x="819150" y="4697016"/>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0" y="5297122"/>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0" i="0">
                <a:solidFill>
                  <a:srgbClr val="4E5A66"/>
                </a:solidFill>
                <a:latin typeface="IBM Plex Sans Arabic"/>
                <a:ea typeface="IBM Plex Sans Arabic"/>
                <a:cs typeface="IBM Plex Sans Arabic"/>
              </a:rPr>
              <a:t>10 دقائق.</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719683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صفحة المشروع</a:t>
            </a:r>
          </a:p>
        </p:txBody>
      </p:sp>
      <p:sp>
        <p:nvSpPr>
          <p:cNvPr id="6" name="Box 5"/>
          <p:cNvSpPr/>
          <p:nvPr/>
        </p:nvSpPr>
        <p:spPr>
          <a:xfrm>
            <a:off x="815975" y="1661120"/>
            <a:ext cx="10560050" cy="3518694"/>
          </a:xfrm>
          <a:prstGeom prst="roundRect">
            <a:avLst>
              <a:gd name="adj" fmla="val 3242"/>
            </a:avLst>
          </a:prstGeom>
          <a:solidFill>
            <a:srgbClr val="FFFDF8"/>
          </a:solidFill>
          <a:ln w="6350">
            <a:solidFill>
              <a:srgbClr val="E1DBCD"/>
            </a:solidFill>
          </a:ln>
        </p:spPr>
        <p:txBody>
          <a:bodyPr rtlCol="0" anchor="ctr"/>
          <a:lstStyle/>
          <a:p>
            <a:pPr algn="ctr"/>
          </a:p>
        </p:txBody>
      </p:sp>
      <p:sp>
        <p:nvSpPr>
          <p:cNvPr id="7" name="Text 6"/>
          <p:cNvSpPr txBox="1"/>
          <p:nvPr/>
        </p:nvSpPr>
        <p:spPr>
          <a:xfrm>
            <a:off x="9451340" y="1763641"/>
            <a:ext cx="1743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عنوان المشروع</a:t>
            </a:r>
          </a:p>
        </p:txBody>
      </p:sp>
      <p:sp>
        <p:nvSpPr>
          <p:cNvPr id="8" name="Text 7"/>
          <p:cNvSpPr txBox="1"/>
          <p:nvPr/>
        </p:nvSpPr>
        <p:spPr>
          <a:xfrm>
            <a:off x="838200" y="1763641"/>
            <a:ext cx="8655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تقييم مراجعة الصلاحيات في نظام الرواتب، شركة افتراضية</a:t>
            </a:r>
          </a:p>
        </p:txBody>
      </p:sp>
      <p:sp>
        <p:nvSpPr>
          <p:cNvPr id="9" name="Text 8"/>
          <p:cNvSpPr txBox="1"/>
          <p:nvPr/>
        </p:nvSpPr>
        <p:spPr>
          <a:xfrm>
            <a:off x="9451340" y="2191572"/>
            <a:ext cx="1743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المشكلة</a:t>
            </a:r>
          </a:p>
        </p:txBody>
      </p:sp>
      <p:sp>
        <p:nvSpPr>
          <p:cNvPr id="10" name="Text 9"/>
          <p:cNvSpPr txBox="1"/>
          <p:nvPr/>
        </p:nvSpPr>
        <p:spPr>
          <a:xfrm>
            <a:off x="838200" y="2191572"/>
            <a:ext cx="8655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معيار يطلب مراجعة ربع سنوية، ولا نعرف هل تُنفذ فعلاً.</a:t>
            </a:r>
          </a:p>
        </p:txBody>
      </p:sp>
      <p:sp>
        <p:nvSpPr>
          <p:cNvPr id="11" name="Text 10"/>
          <p:cNvSpPr txBox="1"/>
          <p:nvPr/>
        </p:nvSpPr>
        <p:spPr>
          <a:xfrm>
            <a:off x="9451340" y="2619502"/>
            <a:ext cx="1743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ما فعلته</a:t>
            </a:r>
          </a:p>
        </p:txBody>
      </p:sp>
      <p:sp>
        <p:nvSpPr>
          <p:cNvPr id="12" name="Text 11"/>
          <p:cNvSpPr txBox="1"/>
          <p:nvPr/>
        </p:nvSpPr>
        <p:spPr>
          <a:xfrm>
            <a:off x="838200" y="2619502"/>
            <a:ext cx="8655050"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حللت 6 أدلة، وحددت نتيجة «مطبق جزئياً»، وكتبت ملاحظة وخطة تصحيح بأربعة إجراءات.</a:t>
            </a:r>
          </a:p>
        </p:txBody>
      </p:sp>
      <p:sp>
        <p:nvSpPr>
          <p:cNvPr id="13" name="Text 12"/>
          <p:cNvSpPr txBox="1"/>
          <p:nvPr/>
        </p:nvSpPr>
        <p:spPr>
          <a:xfrm>
            <a:off x="9451340" y="3411863"/>
            <a:ext cx="1743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النتيجة</a:t>
            </a:r>
          </a:p>
        </p:txBody>
      </p:sp>
      <p:sp>
        <p:nvSpPr>
          <p:cNvPr id="14" name="Text 13"/>
          <p:cNvSpPr txBox="1"/>
          <p:nvPr/>
        </p:nvSpPr>
        <p:spPr>
          <a:xfrm>
            <a:off x="838200" y="3411863"/>
            <a:ext cx="8655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ملاحظة واحدة بمالكين ومواعيد وأدلة إغلاق، و4 أسئلة متابعة قبل الإغلاق.</a:t>
            </a:r>
          </a:p>
        </p:txBody>
      </p:sp>
      <p:sp>
        <p:nvSpPr>
          <p:cNvPr id="15" name="Text 14"/>
          <p:cNvSpPr txBox="1"/>
          <p:nvPr/>
        </p:nvSpPr>
        <p:spPr>
          <a:xfrm>
            <a:off x="9451340" y="3839793"/>
            <a:ext cx="1743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ما تعلمته</a:t>
            </a:r>
          </a:p>
        </p:txBody>
      </p:sp>
      <p:sp>
        <p:nvSpPr>
          <p:cNvPr id="16" name="Text 15"/>
          <p:cNvSpPr txBox="1"/>
          <p:nvPr/>
        </p:nvSpPr>
        <p:spPr>
          <a:xfrm>
            <a:off x="838200" y="3839793"/>
            <a:ext cx="8655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وجود المعيار لا يثبت التشغيل، والسبب يحتاج تحققاً قبل كتابته.</a:t>
            </a:r>
          </a:p>
        </p:txBody>
      </p:sp>
      <p:sp>
        <p:nvSpPr>
          <p:cNvPr id="17" name="Text 16"/>
          <p:cNvSpPr txBox="1"/>
          <p:nvPr/>
        </p:nvSpPr>
        <p:spPr>
          <a:xfrm>
            <a:off x="9542462" y="4267724"/>
            <a:ext cx="1652588"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الملفات المرفقة</a:t>
            </a:r>
          </a:p>
        </p:txBody>
      </p:sp>
      <p:sp>
        <p:nvSpPr>
          <p:cNvPr id="18" name="Text 17"/>
          <p:cNvSpPr txBox="1"/>
          <p:nvPr/>
        </p:nvSpPr>
        <p:spPr>
          <a:xfrm>
            <a:off x="838200" y="4267724"/>
            <a:ext cx="865505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ورقة التقييم، ونص الملاحظة، وخطة التصحيح. كلها ببيانات افتراضية.</a:t>
            </a:r>
          </a:p>
        </p:txBody>
      </p:sp>
      <p:sp>
        <p:nvSpPr>
          <p:cNvPr id="19" name="Text 1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0" name="Text 1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0891" y="1423690"/>
            <a:ext cx="234830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06</a:t>
            </a:r>
          </a:p>
        </p:txBody>
      </p:sp>
      <p:sp>
        <p:nvSpPr>
          <p:cNvPr id="4" name="Text 3"/>
          <p:cNvSpPr txBox="1"/>
          <p:nvPr/>
        </p:nvSpPr>
        <p:spPr>
          <a:xfrm>
            <a:off x="5322649" y="1845155"/>
            <a:ext cx="416544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السيرة الذاتية</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سيرة تقرؤها الأنظمة والبشر، وتقول «أستطيع أن أفعل» لا «أنا مهتم».</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سيرة من صفحة واحدة بالترتيب المناسب للمبتدئ.</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إنجازات بالمعادلة: فعل، ثم ماذا، ثم كيف، ثم النتيجة.</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تتجنب الأخطاء الشائعة، وتصوغ خبرتك السابقة بلغة GRC.</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06 · السيرة الذاتية</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(1 من 2): الرأس والملخص والمهارات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7" name="Text 6"/>
          <p:cNvSpPr txBox="1"/>
          <p:nvPr/>
        </p:nvSpPr>
        <p:spPr>
          <a:xfrm>
            <a:off x="7858379" y="1586381"/>
            <a:ext cx="3152521"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العنوان: مسمى الوظيفة التي تستهدفها.</a:t>
            </a:r>
          </a:p>
        </p:txBody>
      </p:sp>
      <p:sp>
        <p:nvSpPr>
          <p:cNvPr id="8" name="Text box 7"/>
          <p:cNvSpPr/>
          <p:nvPr/>
        </p:nvSpPr>
        <p:spPr>
          <a:xfrm>
            <a:off x="11099800" y="235128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9" name="Text 8"/>
          <p:cNvSpPr txBox="1"/>
          <p:nvPr/>
        </p:nvSpPr>
        <p:spPr>
          <a:xfrm>
            <a:off x="7858379" y="2317821"/>
            <a:ext cx="3152521"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ملخص في سطرين: من أنت، وماذا تجيد.</a:t>
            </a:r>
          </a:p>
        </p:txBody>
      </p:sp>
      <p:sp>
        <p:nvSpPr>
          <p:cNvPr id="10" name="Text box 9"/>
          <p:cNvSpPr/>
          <p:nvPr/>
        </p:nvSpPr>
        <p:spPr>
          <a:xfrm>
            <a:off x="11099800" y="3082727"/>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11" name="Text 10"/>
          <p:cNvSpPr txBox="1"/>
          <p:nvPr/>
        </p:nvSpPr>
        <p:spPr>
          <a:xfrm>
            <a:off x="7858379" y="3049262"/>
            <a:ext cx="3152521"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المهارات بكلمات الإعلان نفسها، إن كانت صادقة عنك.</a:t>
            </a:r>
          </a:p>
        </p:txBody>
      </p:sp>
      <p:sp>
        <p:nvSpPr>
          <p:cNvPr id="12" name="Box 11"/>
          <p:cNvSpPr/>
          <p:nvPr/>
        </p:nvSpPr>
        <p:spPr>
          <a:xfrm>
            <a:off x="815975" y="1623020"/>
            <a:ext cx="6902450" cy="3776662"/>
          </a:xfrm>
          <a:prstGeom prst="roundRect">
            <a:avLst>
              <a:gd name="adj" fmla="val 1342"/>
            </a:avLst>
          </a:prstGeom>
          <a:solidFill>
            <a:srgbClr val="FFFFFF"/>
          </a:solidFill>
          <a:ln w="6350">
            <a:solidFill>
              <a:srgbClr val="D9D2C2"/>
            </a:solidFill>
          </a:ln>
        </p:spPr>
        <p:txBody>
          <a:bodyPr rtlCol="0" anchor="ctr"/>
          <a:lstStyle/>
          <a:p>
            <a:pPr algn="ctr"/>
          </a:p>
        </p:txBody>
      </p:sp>
      <p:sp>
        <p:nvSpPr>
          <p:cNvPr id="13" name="Rule 12"/>
          <p:cNvSpPr/>
          <p:nvPr/>
        </p:nvSpPr>
        <p:spPr>
          <a:xfrm>
            <a:off x="1047750" y="3256756"/>
            <a:ext cx="6438900" cy="12700"/>
          </a:xfrm>
          <a:prstGeom prst="rect">
            <a:avLst/>
          </a:prstGeom>
          <a:solidFill>
            <a:srgbClr val="172433"/>
          </a:solidFill>
          <a:ln>
            <a:noFill/>
          </a:ln>
        </p:spPr>
        <p:txBody>
          <a:bodyPr rtlCol="0" anchor="ctr"/>
          <a:lstStyle/>
          <a:p>
            <a:pPr algn="ctr"/>
          </a:p>
        </p:txBody>
      </p:sp>
      <p:sp>
        <p:nvSpPr>
          <p:cNvPr id="14" name="Text 13"/>
          <p:cNvSpPr txBox="1"/>
          <p:nvPr/>
        </p:nvSpPr>
        <p:spPr>
          <a:xfrm>
            <a:off x="1047750" y="1799233"/>
            <a:ext cx="6438900" cy="381000"/>
          </a:xfrm>
          <a:prstGeom prst="rect">
            <a:avLst/>
          </a:prstGeom>
          <a:noFill/>
        </p:spPr>
        <p:txBody>
          <a:bodyPr wrap="square" tIns="0" rIns="0" bIns="0" lIns="0" anchor="t" rtlCol="0" anchorCtr="0">
            <a:noAutofit/>
          </a:bodyPr>
          <a:lstStyle/>
          <a:p>
            <a:pPr algn="l">
              <a:lnSpc>
                <a:spcPts val="3000"/>
              </a:lnSpc>
              <a:spcBef>
                <a:spcPts val="0"/>
              </a:spcBef>
              <a:spcAft>
                <a:spcPts val="0"/>
              </a:spcAft>
            </a:pPr>
            <a:r>
              <a:rPr sz="2500" b="1" i="0">
                <a:solidFill>
                  <a:srgbClr val="172433"/>
                </a:solidFill>
                <a:latin typeface="Readex Pro"/>
                <a:ea typeface="Readex Pro"/>
                <a:cs typeface="Readex Pro"/>
              </a:rPr>
              <a:t>Sara Ahmed</a:t>
            </a:r>
          </a:p>
        </p:txBody>
      </p:sp>
      <p:sp>
        <p:nvSpPr>
          <p:cNvPr id="15" name="Text 14"/>
          <p:cNvSpPr txBox="1"/>
          <p:nvPr/>
        </p:nvSpPr>
        <p:spPr>
          <a:xfrm>
            <a:off x="1047750" y="2189631"/>
            <a:ext cx="5116818" cy="302220"/>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1" i="0">
                <a:solidFill>
                  <a:srgbClr val="0E7C6B"/>
                </a:solidFill>
                <a:latin typeface="IBM Plex Sans Arabic"/>
                <a:ea typeface="IBM Plex Sans Arabic"/>
                <a:cs typeface="IBM Plex Sans Arabic"/>
              </a:rPr>
              <a:t>Entry-Level GRC Analyst | Risk · Control Testing</a:t>
            </a:r>
          </a:p>
        </p:txBody>
      </p:sp>
      <p:sp>
        <p:nvSpPr>
          <p:cNvPr id="16" name="Text box 15"/>
          <p:cNvSpPr/>
          <p:nvPr/>
        </p:nvSpPr>
        <p:spPr>
          <a:xfrm>
            <a:off x="5861745" y="2247205"/>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17" name="Text 16"/>
          <p:cNvSpPr txBox="1"/>
          <p:nvPr/>
        </p:nvSpPr>
        <p:spPr>
          <a:xfrm>
            <a:off x="1047750" y="2529951"/>
            <a:ext cx="6438900"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5E6A75"/>
                </a:solidFill>
                <a:latin typeface="IBM Plex Sans Arabic"/>
                <a:ea typeface="IBM Plex Sans Arabic"/>
                <a:cs typeface="IBM Plex Sans Arabic"/>
              </a:rPr>
              <a:t>Riyadh · sara.ahmed@email.com · linkedin.com/in/sara-ahmed-grc</a:t>
            </a:r>
          </a:p>
        </p:txBody>
      </p:sp>
      <p:sp>
        <p:nvSpPr>
          <p:cNvPr id="18" name="Text 17"/>
          <p:cNvSpPr txBox="1"/>
          <p:nvPr/>
        </p:nvSpPr>
        <p:spPr>
          <a:xfrm>
            <a:off x="1047750" y="3337687"/>
            <a:ext cx="1131927" cy="255885"/>
          </a:xfrm>
          <a:prstGeom prst="rect">
            <a:avLst/>
          </a:prstGeom>
          <a:noFill/>
        </p:spPr>
        <p:txBody>
          <a:bodyPr wrap="square" tIns="0" rIns="0" bIns="0" lIns="0" anchor="t" rtlCol="0" anchorCtr="0">
            <a:noAutofit/>
          </a:bodyPr>
          <a:lstStyle/>
          <a:p>
            <a:pPr algn="l">
              <a:lnSpc>
                <a:spcPts val="2014"/>
              </a:lnSpc>
              <a:spcBef>
                <a:spcPts val="0"/>
              </a:spcBef>
              <a:spcAft>
                <a:spcPts val="0"/>
              </a:spcAft>
            </a:pPr>
            <a:r>
              <a:rPr sz="1550" b="1" i="0" spc="50">
                <a:solidFill>
                  <a:srgbClr val="172433"/>
                </a:solidFill>
                <a:latin typeface="IBM Plex Sans Arabic"/>
                <a:ea typeface="IBM Plex Sans Arabic"/>
                <a:cs typeface="IBM Plex Sans Arabic"/>
              </a:rPr>
              <a:t>SUMMARY</a:t>
            </a:r>
          </a:p>
        </p:txBody>
      </p:sp>
      <p:sp>
        <p:nvSpPr>
          <p:cNvPr id="19" name="Text box 18"/>
          <p:cNvSpPr/>
          <p:nvPr/>
        </p:nvSpPr>
        <p:spPr>
          <a:xfrm>
            <a:off x="2137767" y="3359249"/>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20" name="Text 19"/>
          <p:cNvSpPr txBox="1"/>
          <p:nvPr/>
        </p:nvSpPr>
        <p:spPr>
          <a:xfrm>
            <a:off x="1047750" y="3606177"/>
            <a:ext cx="6632067"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Entry-level GRC analyst with hands-on risk assessment and control testing projects. ISC2 CC.</a:t>
            </a:r>
          </a:p>
        </p:txBody>
      </p:sp>
      <p:sp>
        <p:nvSpPr>
          <p:cNvPr id="21" name="Text 20"/>
          <p:cNvSpPr txBox="1"/>
          <p:nvPr/>
        </p:nvSpPr>
        <p:spPr>
          <a:xfrm>
            <a:off x="1047750" y="4312313"/>
            <a:ext cx="832683" cy="255885"/>
          </a:xfrm>
          <a:prstGeom prst="rect">
            <a:avLst/>
          </a:prstGeom>
          <a:noFill/>
        </p:spPr>
        <p:txBody>
          <a:bodyPr wrap="square" tIns="0" rIns="0" bIns="0" lIns="0" anchor="t" rtlCol="0" anchorCtr="0">
            <a:noAutofit/>
          </a:bodyPr>
          <a:lstStyle/>
          <a:p>
            <a:pPr algn="l">
              <a:lnSpc>
                <a:spcPts val="2014"/>
              </a:lnSpc>
              <a:spcBef>
                <a:spcPts val="0"/>
              </a:spcBef>
              <a:spcAft>
                <a:spcPts val="0"/>
              </a:spcAft>
            </a:pPr>
            <a:r>
              <a:rPr sz="1550" b="1" i="0" spc="50">
                <a:solidFill>
                  <a:srgbClr val="172433"/>
                </a:solidFill>
                <a:latin typeface="IBM Plex Sans Arabic"/>
                <a:ea typeface="IBM Plex Sans Arabic"/>
                <a:cs typeface="IBM Plex Sans Arabic"/>
              </a:rPr>
              <a:t>SKILLS</a:t>
            </a:r>
          </a:p>
        </p:txBody>
      </p:sp>
      <p:sp>
        <p:nvSpPr>
          <p:cNvPr id="22" name="Text box 21"/>
          <p:cNvSpPr/>
          <p:nvPr/>
        </p:nvSpPr>
        <p:spPr>
          <a:xfrm>
            <a:off x="1838523" y="4333875"/>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23" name="Text 22"/>
          <p:cNvSpPr txBox="1"/>
          <p:nvPr/>
        </p:nvSpPr>
        <p:spPr>
          <a:xfrm>
            <a:off x="1047750" y="4580803"/>
            <a:ext cx="6632067"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Risk Assessment · Control Testing · ISO 27001 · NIST CSF · NCA ECC · Excel</a:t>
            </a:r>
          </a:p>
        </p:txBody>
      </p:sp>
      <p:sp>
        <p:nvSpPr>
          <p:cNvPr id="24" name="Text 23"/>
          <p:cNvSpPr txBox="1"/>
          <p:nvPr/>
        </p:nvSpPr>
        <p:spPr>
          <a:xfrm>
            <a:off x="260096" y="5439783"/>
            <a:ext cx="746150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الجزء الأعلى من سيرة من صفحة واحدة. الاسم والبيانات مثال.</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128</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(2 من 2): المشاريع والتعليم والشهادات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7" name="Text 6"/>
          <p:cNvSpPr txBox="1"/>
          <p:nvPr/>
        </p:nvSpPr>
        <p:spPr>
          <a:xfrm>
            <a:off x="7858379" y="1586381"/>
            <a:ext cx="3152521"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المشاريع قبل التعليم إن لم تكن لديك خبرة.</a:t>
            </a:r>
          </a:p>
        </p:txBody>
      </p:sp>
      <p:sp>
        <p:nvSpPr>
          <p:cNvPr id="8" name="Text box 7"/>
          <p:cNvSpPr/>
          <p:nvPr/>
        </p:nvSpPr>
        <p:spPr>
          <a:xfrm>
            <a:off x="11099800" y="235128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9" name="Text 8"/>
          <p:cNvSpPr txBox="1"/>
          <p:nvPr/>
        </p:nvSpPr>
        <p:spPr>
          <a:xfrm>
            <a:off x="7858379" y="2317821"/>
            <a:ext cx="3152521"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الشهادات باسمها والسنة. «قيد الدراسة» مع موعد مقبولة.</a:t>
            </a:r>
          </a:p>
        </p:txBody>
      </p:sp>
      <p:sp>
        <p:nvSpPr>
          <p:cNvPr id="10" name="Box 9"/>
          <p:cNvSpPr/>
          <p:nvPr/>
        </p:nvSpPr>
        <p:spPr>
          <a:xfrm>
            <a:off x="7950200" y="3082727"/>
            <a:ext cx="3429000" cy="1080591"/>
          </a:xfrm>
          <a:prstGeom prst="roundRect">
            <a:avLst>
              <a:gd name="adj" fmla="val 9402"/>
            </a:avLst>
          </a:prstGeom>
          <a:solidFill>
            <a:srgbClr val="172433"/>
          </a:solidFill>
          <a:ln>
            <a:noFill/>
          </a:ln>
        </p:spPr>
        <p:txBody>
          <a:bodyPr rtlCol="0" anchor="ctr"/>
          <a:lstStyle/>
          <a:p>
            <a:pPr algn="ctr"/>
          </a:p>
        </p:txBody>
      </p:sp>
      <p:pic>
        <p:nvPicPr>
          <p:cNvPr id="11" name="Icon Book 10" descr="icon069.png"/>
          <p:cNvPicPr>
            <a:picLocks noChangeAspect="1"/>
          </p:cNvPicPr>
          <p:nvPr/>
        </p:nvPicPr>
        <p:blipFill>
          <a:blip r:embed="rId2"/>
          <a:stretch>
            <a:fillRect/>
          </a:stretch>
        </p:blipFill>
        <p:spPr>
          <a:xfrm>
            <a:off x="10998200" y="3521373"/>
            <a:ext cx="203200" cy="203200"/>
          </a:xfrm>
          <a:prstGeom prst="rect">
            <a:avLst/>
          </a:prstGeom>
        </p:spPr>
      </p:pic>
      <p:sp>
        <p:nvSpPr>
          <p:cNvPr id="12" name="Text 11"/>
          <p:cNvSpPr txBox="1"/>
          <p:nvPr/>
        </p:nvSpPr>
        <p:spPr>
          <a:xfrm>
            <a:off x="8045323" y="3179215"/>
            <a:ext cx="2838577" cy="826591"/>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F3EFE6"/>
                </a:solidFill>
                <a:latin typeface="IBM Plex Sans Arabic"/>
                <a:ea typeface="IBM Plex Sans Arabic"/>
                <a:cs typeface="IBM Plex Sans Arabic"/>
              </a:rPr>
              <a:t>صفحة واحدة للمبتدئ. بلا صورة ولا عمر ولا حالة اجتماعية، إلا إن طلبها الإعلان.</a:t>
            </a:r>
          </a:p>
        </p:txBody>
      </p:sp>
      <p:sp>
        <p:nvSpPr>
          <p:cNvPr id="13" name="Box 12"/>
          <p:cNvSpPr/>
          <p:nvPr/>
        </p:nvSpPr>
        <p:spPr>
          <a:xfrm>
            <a:off x="815975" y="1623020"/>
            <a:ext cx="6902450" cy="3570883"/>
          </a:xfrm>
          <a:prstGeom prst="roundRect">
            <a:avLst>
              <a:gd name="adj" fmla="val 1420"/>
            </a:avLst>
          </a:prstGeom>
          <a:solidFill>
            <a:srgbClr val="FFFFFF"/>
          </a:solidFill>
          <a:ln w="6350">
            <a:solidFill>
              <a:srgbClr val="D9D2C2"/>
            </a:solidFill>
          </a:ln>
        </p:spPr>
        <p:txBody>
          <a:bodyPr rtlCol="0" anchor="ctr"/>
          <a:lstStyle/>
          <a:p>
            <a:pPr algn="ctr"/>
          </a:p>
        </p:txBody>
      </p:sp>
      <p:sp>
        <p:nvSpPr>
          <p:cNvPr id="14" name="Text 13"/>
          <p:cNvSpPr txBox="1"/>
          <p:nvPr/>
        </p:nvSpPr>
        <p:spPr>
          <a:xfrm>
            <a:off x="1047750" y="1783326"/>
            <a:ext cx="1156533" cy="255885"/>
          </a:xfrm>
          <a:prstGeom prst="rect">
            <a:avLst/>
          </a:prstGeom>
          <a:noFill/>
        </p:spPr>
        <p:txBody>
          <a:bodyPr wrap="square" tIns="0" rIns="0" bIns="0" lIns="0" anchor="t" rtlCol="0" anchorCtr="0">
            <a:noAutofit/>
          </a:bodyPr>
          <a:lstStyle/>
          <a:p>
            <a:pPr algn="l">
              <a:lnSpc>
                <a:spcPts val="2014"/>
              </a:lnSpc>
              <a:spcBef>
                <a:spcPts val="0"/>
              </a:spcBef>
              <a:spcAft>
                <a:spcPts val="0"/>
              </a:spcAft>
            </a:pPr>
            <a:r>
              <a:rPr sz="1550" b="1" i="0" spc="50">
                <a:solidFill>
                  <a:srgbClr val="172433"/>
                </a:solidFill>
                <a:latin typeface="IBM Plex Sans Arabic"/>
                <a:ea typeface="IBM Plex Sans Arabic"/>
                <a:cs typeface="IBM Plex Sans Arabic"/>
              </a:rPr>
              <a:t>PROJECTS</a:t>
            </a:r>
          </a:p>
        </p:txBody>
      </p:sp>
      <p:sp>
        <p:nvSpPr>
          <p:cNvPr id="15" name="Text box 14"/>
          <p:cNvSpPr/>
          <p:nvPr/>
        </p:nvSpPr>
        <p:spPr>
          <a:xfrm>
            <a:off x="2162373" y="1804888"/>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16" name="Text 15"/>
          <p:cNvSpPr txBox="1"/>
          <p:nvPr/>
        </p:nvSpPr>
        <p:spPr>
          <a:xfrm>
            <a:off x="1047750" y="2051816"/>
            <a:ext cx="6648450" cy="302220"/>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1" i="0">
                <a:solidFill>
                  <a:srgbClr val="172433"/>
                </a:solidFill>
                <a:latin typeface="IBM Plex Sans Arabic"/>
                <a:ea typeface="IBM Plex Sans Arabic"/>
                <a:cs typeface="IBM Plex Sans Arabic"/>
              </a:rPr>
              <a:t>Vendor Access Risk · Fictional 200-staff company</a:t>
            </a:r>
          </a:p>
        </p:txBody>
      </p:sp>
      <p:sp>
        <p:nvSpPr>
          <p:cNvPr id="17" name="Text 16"/>
          <p:cNvSpPr txBox="1"/>
          <p:nvPr/>
        </p:nvSpPr>
        <p:spPr>
          <a:xfrm>
            <a:off x="1047750" y="2379436"/>
            <a:ext cx="6632067"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 Rated a vendor remote-access risk High (16); proposed 5 actions with owners.</a:t>
            </a:r>
          </a:p>
        </p:txBody>
      </p:sp>
      <p:sp>
        <p:nvSpPr>
          <p:cNvPr id="18" name="Text 17"/>
          <p:cNvSpPr txBox="1"/>
          <p:nvPr/>
        </p:nvSpPr>
        <p:spPr>
          <a:xfrm>
            <a:off x="1047750" y="3009277"/>
            <a:ext cx="6648450" cy="302220"/>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1" i="0">
                <a:solidFill>
                  <a:srgbClr val="172433"/>
                </a:solidFill>
                <a:latin typeface="IBM Plex Sans Arabic"/>
                <a:ea typeface="IBM Plex Sans Arabic"/>
                <a:cs typeface="IBM Plex Sans Arabic"/>
              </a:rPr>
              <a:t>Access Review Assessment · Same company</a:t>
            </a:r>
          </a:p>
        </p:txBody>
      </p:sp>
      <p:sp>
        <p:nvSpPr>
          <p:cNvPr id="19" name="Text 18"/>
          <p:cNvSpPr txBox="1"/>
          <p:nvPr/>
        </p:nvSpPr>
        <p:spPr>
          <a:xfrm>
            <a:off x="1047750" y="3336897"/>
            <a:ext cx="6632067"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 Tested 6 evidence items; wrote a finding with a 4-step corrective plan.</a:t>
            </a:r>
          </a:p>
        </p:txBody>
      </p:sp>
      <p:sp>
        <p:nvSpPr>
          <p:cNvPr id="20" name="Text 19"/>
          <p:cNvSpPr txBox="1"/>
          <p:nvPr/>
        </p:nvSpPr>
        <p:spPr>
          <a:xfrm>
            <a:off x="1047750" y="4106533"/>
            <a:ext cx="1299508" cy="255885"/>
          </a:xfrm>
          <a:prstGeom prst="rect">
            <a:avLst/>
          </a:prstGeom>
          <a:noFill/>
        </p:spPr>
        <p:txBody>
          <a:bodyPr wrap="square" tIns="0" rIns="0" bIns="0" lIns="0" anchor="t" rtlCol="0" anchorCtr="0">
            <a:noAutofit/>
          </a:bodyPr>
          <a:lstStyle/>
          <a:p>
            <a:pPr algn="l">
              <a:lnSpc>
                <a:spcPts val="2014"/>
              </a:lnSpc>
              <a:spcBef>
                <a:spcPts val="0"/>
              </a:spcBef>
              <a:spcAft>
                <a:spcPts val="0"/>
              </a:spcAft>
            </a:pPr>
            <a:r>
              <a:rPr sz="1550" b="1" i="0" spc="50">
                <a:solidFill>
                  <a:srgbClr val="172433"/>
                </a:solidFill>
                <a:latin typeface="IBM Plex Sans Arabic"/>
                <a:ea typeface="IBM Plex Sans Arabic"/>
                <a:cs typeface="IBM Plex Sans Arabic"/>
              </a:rPr>
              <a:t>EDUCATION</a:t>
            </a:r>
          </a:p>
        </p:txBody>
      </p:sp>
      <p:sp>
        <p:nvSpPr>
          <p:cNvPr id="21" name="Text 20"/>
          <p:cNvSpPr txBox="1"/>
          <p:nvPr/>
        </p:nvSpPr>
        <p:spPr>
          <a:xfrm>
            <a:off x="1047750" y="4375023"/>
            <a:ext cx="3224466" cy="604441"/>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B.Sc. Information Systems, 2025</a:t>
            </a:r>
          </a:p>
        </p:txBody>
      </p:sp>
      <p:sp>
        <p:nvSpPr>
          <p:cNvPr id="22" name="Text 21"/>
          <p:cNvSpPr txBox="1"/>
          <p:nvPr/>
        </p:nvSpPr>
        <p:spPr>
          <a:xfrm>
            <a:off x="4356100" y="4106533"/>
            <a:ext cx="1855089" cy="255885"/>
          </a:xfrm>
          <a:prstGeom prst="rect">
            <a:avLst/>
          </a:prstGeom>
          <a:noFill/>
        </p:spPr>
        <p:txBody>
          <a:bodyPr wrap="square" tIns="0" rIns="0" bIns="0" lIns="0" anchor="t" rtlCol="0" anchorCtr="0">
            <a:noAutofit/>
          </a:bodyPr>
          <a:lstStyle/>
          <a:p>
            <a:pPr algn="l">
              <a:lnSpc>
                <a:spcPts val="2014"/>
              </a:lnSpc>
              <a:spcBef>
                <a:spcPts val="0"/>
              </a:spcBef>
              <a:spcAft>
                <a:spcPts val="0"/>
              </a:spcAft>
            </a:pPr>
            <a:r>
              <a:rPr sz="1550" b="1" i="0" spc="50">
                <a:solidFill>
                  <a:srgbClr val="172433"/>
                </a:solidFill>
                <a:latin typeface="IBM Plex Sans Arabic"/>
                <a:ea typeface="IBM Plex Sans Arabic"/>
                <a:cs typeface="IBM Plex Sans Arabic"/>
              </a:rPr>
              <a:t>CERTIFICATIONS</a:t>
            </a:r>
          </a:p>
        </p:txBody>
      </p:sp>
      <p:sp>
        <p:nvSpPr>
          <p:cNvPr id="23" name="Text box 22"/>
          <p:cNvSpPr/>
          <p:nvPr/>
        </p:nvSpPr>
        <p:spPr>
          <a:xfrm>
            <a:off x="6149975" y="4128095"/>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24" name="Text 23"/>
          <p:cNvSpPr txBox="1"/>
          <p:nvPr/>
        </p:nvSpPr>
        <p:spPr>
          <a:xfrm>
            <a:off x="4356100" y="4375023"/>
            <a:ext cx="3340100" cy="302220"/>
          </a:xfrm>
          <a:prstGeom prst="rect">
            <a:avLst/>
          </a:prstGeom>
          <a:noFill/>
        </p:spPr>
        <p:txBody>
          <a:bodyPr wrap="square" tIns="0" rIns="0" bIns="0" lIns="0" anchor="t" rtlCol="0" anchorCtr="0">
            <a:noAutofit/>
          </a:bodyPr>
          <a:lstStyle/>
          <a:p>
            <a:pPr algn="l">
              <a:lnSpc>
                <a:spcPts val="2380"/>
              </a:lnSpc>
              <a:spcBef>
                <a:spcPts val="0"/>
              </a:spcBef>
              <a:spcAft>
                <a:spcPts val="0"/>
              </a:spcAft>
            </a:pPr>
            <a:r>
              <a:rPr sz="1700" b="0" i="0">
                <a:solidFill>
                  <a:srgbClr val="172433"/>
                </a:solidFill>
                <a:latin typeface="IBM Plex Sans Arabic"/>
                <a:ea typeface="IBM Plex Sans Arabic"/>
                <a:cs typeface="IBM Plex Sans Arabic"/>
              </a:rPr>
              <a:t>ISC2 CC, 2026</a:t>
            </a:r>
          </a:p>
        </p:txBody>
      </p:sp>
      <p:sp>
        <p:nvSpPr>
          <p:cNvPr id="25" name="Text 24"/>
          <p:cNvSpPr txBox="1"/>
          <p:nvPr/>
        </p:nvSpPr>
        <p:spPr>
          <a:xfrm>
            <a:off x="260096" y="5234003"/>
            <a:ext cx="746150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350" b="0" i="0">
                <a:solidFill>
                  <a:srgbClr val="4E5A66"/>
                </a:solidFill>
                <a:latin typeface="IBM Plex Sans Arabic"/>
                <a:ea typeface="IBM Plex Sans Arabic"/>
                <a:cs typeface="IBM Plex Sans Arabic"/>
              </a:rPr>
              <a:t>بقية الصفحة نفسها.</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أنظمة الفرز (ATS): البسيط أضمن</a:t>
            </a:r>
          </a:p>
        </p:txBody>
      </p:sp>
      <p:sp>
        <p:nvSpPr>
          <p:cNvPr id="5" name="Box 4"/>
          <p:cNvSpPr/>
          <p:nvPr/>
        </p:nvSpPr>
        <p:spPr>
          <a:xfrm>
            <a:off x="9578479" y="1661120"/>
            <a:ext cx="1797546" cy="1221581"/>
          </a:xfrm>
          <a:prstGeom prst="roundRect">
            <a:avLst>
              <a:gd name="adj" fmla="val 9308"/>
            </a:avLst>
          </a:prstGeom>
          <a:solidFill>
            <a:srgbClr val="FFFDF8"/>
          </a:solidFill>
          <a:ln w="6350">
            <a:solidFill>
              <a:srgbClr val="E1DBCD"/>
            </a:solidFill>
          </a:ln>
        </p:spPr>
        <p:txBody>
          <a:bodyPr rtlCol="0" anchor="ctr"/>
          <a:lstStyle/>
          <a:p>
            <a:pPr algn="ctr"/>
          </a:p>
        </p:txBody>
      </p:sp>
      <p:sp>
        <p:nvSpPr>
          <p:cNvPr id="6" name="Text 5"/>
          <p:cNvSpPr txBox="1"/>
          <p:nvPr/>
        </p:nvSpPr>
        <p:spPr>
          <a:xfrm>
            <a:off x="9600704" y="1840984"/>
            <a:ext cx="1607046"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1" i="0">
                <a:solidFill>
                  <a:srgbClr val="0E7C6B"/>
                </a:solidFill>
                <a:latin typeface="Readex Pro"/>
                <a:ea typeface="Readex Pro"/>
                <a:cs typeface="Readex Pro"/>
              </a:rPr>
              <a:t>1</a:t>
            </a:r>
          </a:p>
        </p:txBody>
      </p:sp>
      <p:sp>
        <p:nvSpPr>
          <p:cNvPr id="7" name="Text 6"/>
          <p:cNvSpPr txBox="1"/>
          <p:nvPr/>
        </p:nvSpPr>
        <p:spPr>
          <a:xfrm>
            <a:off x="9617214" y="2151912"/>
            <a:ext cx="159053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Readex Pro"/>
                <a:ea typeface="Readex Pro"/>
                <a:cs typeface="Readex Pro"/>
              </a:rPr>
              <a:t>ترسل السيرة</a:t>
            </a:r>
          </a:p>
        </p:txBody>
      </p:sp>
      <p:sp>
        <p:nvSpPr>
          <p:cNvPr id="8" name="Text 7"/>
          <p:cNvSpPr txBox="1"/>
          <p:nvPr/>
        </p:nvSpPr>
        <p:spPr>
          <a:xfrm>
            <a:off x="9093299" y="2141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9" name="Box 8"/>
          <p:cNvSpPr/>
          <p:nvPr/>
        </p:nvSpPr>
        <p:spPr>
          <a:xfrm>
            <a:off x="7387828" y="1661120"/>
            <a:ext cx="1797546" cy="1221581"/>
          </a:xfrm>
          <a:prstGeom prst="roundRect">
            <a:avLst>
              <a:gd name="adj" fmla="val 9308"/>
            </a:avLst>
          </a:prstGeom>
          <a:solidFill>
            <a:srgbClr val="FFFDF8"/>
          </a:solidFill>
          <a:ln w="6350">
            <a:solidFill>
              <a:srgbClr val="E1DBCD"/>
            </a:solidFill>
          </a:ln>
        </p:spPr>
        <p:txBody>
          <a:bodyPr rtlCol="0" anchor="ctr"/>
          <a:lstStyle/>
          <a:p>
            <a:pPr algn="ctr"/>
          </a:p>
        </p:txBody>
      </p:sp>
      <p:sp>
        <p:nvSpPr>
          <p:cNvPr id="10" name="Text 9"/>
          <p:cNvSpPr txBox="1"/>
          <p:nvPr/>
        </p:nvSpPr>
        <p:spPr>
          <a:xfrm>
            <a:off x="7410053" y="1840984"/>
            <a:ext cx="1607046"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1" i="0">
                <a:solidFill>
                  <a:srgbClr val="0E7C6B"/>
                </a:solidFill>
                <a:latin typeface="Readex Pro"/>
                <a:ea typeface="Readex Pro"/>
                <a:cs typeface="Readex Pro"/>
              </a:rPr>
              <a:t>2</a:t>
            </a:r>
          </a:p>
        </p:txBody>
      </p:sp>
      <p:sp>
        <p:nvSpPr>
          <p:cNvPr id="11" name="Text 10"/>
          <p:cNvSpPr txBox="1"/>
          <p:nvPr/>
        </p:nvSpPr>
        <p:spPr>
          <a:xfrm>
            <a:off x="7502128" y="2151912"/>
            <a:ext cx="1514971" cy="56118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Readex Pro"/>
                <a:ea typeface="Readex Pro"/>
                <a:cs typeface="Readex Pro"/>
              </a:rPr>
              <a:t>يستخرج النظام النص</a:t>
            </a:r>
          </a:p>
        </p:txBody>
      </p:sp>
      <p:sp>
        <p:nvSpPr>
          <p:cNvPr id="12" name="Text 11"/>
          <p:cNvSpPr txBox="1"/>
          <p:nvPr/>
        </p:nvSpPr>
        <p:spPr>
          <a:xfrm>
            <a:off x="6902648" y="2141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13" name="Box 12"/>
          <p:cNvSpPr/>
          <p:nvPr/>
        </p:nvSpPr>
        <p:spPr>
          <a:xfrm>
            <a:off x="5197177" y="1661120"/>
            <a:ext cx="1797546" cy="1221581"/>
          </a:xfrm>
          <a:prstGeom prst="roundRect">
            <a:avLst>
              <a:gd name="adj" fmla="val 9308"/>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219402" y="1840984"/>
            <a:ext cx="1607046"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1" i="0">
                <a:solidFill>
                  <a:srgbClr val="0E7C6B"/>
                </a:solidFill>
                <a:latin typeface="Readex Pro"/>
                <a:ea typeface="Readex Pro"/>
                <a:cs typeface="Readex Pro"/>
              </a:rPr>
              <a:t>3</a:t>
            </a:r>
          </a:p>
        </p:txBody>
      </p:sp>
      <p:sp>
        <p:nvSpPr>
          <p:cNvPr id="15" name="Text 14"/>
          <p:cNvSpPr txBox="1"/>
          <p:nvPr/>
        </p:nvSpPr>
        <p:spPr>
          <a:xfrm>
            <a:off x="5235912" y="2151912"/>
            <a:ext cx="159053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Readex Pro"/>
                <a:ea typeface="Readex Pro"/>
                <a:cs typeface="Readex Pro"/>
              </a:rPr>
              <a:t>يقارن بالإعلان</a:t>
            </a:r>
          </a:p>
        </p:txBody>
      </p:sp>
      <p:sp>
        <p:nvSpPr>
          <p:cNvPr id="16" name="Text 15"/>
          <p:cNvSpPr txBox="1"/>
          <p:nvPr/>
        </p:nvSpPr>
        <p:spPr>
          <a:xfrm>
            <a:off x="4711998" y="2141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17" name="Box 16"/>
          <p:cNvSpPr/>
          <p:nvPr/>
        </p:nvSpPr>
        <p:spPr>
          <a:xfrm>
            <a:off x="3006527" y="1661120"/>
            <a:ext cx="1797546" cy="1221581"/>
          </a:xfrm>
          <a:prstGeom prst="roundRect">
            <a:avLst>
              <a:gd name="adj" fmla="val 9308"/>
            </a:avLst>
          </a:prstGeom>
          <a:solidFill>
            <a:srgbClr val="FFFDF8"/>
          </a:solidFill>
          <a:ln w="6350">
            <a:solidFill>
              <a:srgbClr val="E1DBCD"/>
            </a:solidFill>
          </a:ln>
        </p:spPr>
        <p:txBody>
          <a:bodyPr rtlCol="0" anchor="ctr"/>
          <a:lstStyle/>
          <a:p>
            <a:pPr algn="ctr"/>
          </a:p>
        </p:txBody>
      </p:sp>
      <p:sp>
        <p:nvSpPr>
          <p:cNvPr id="18" name="Text 17"/>
          <p:cNvSpPr txBox="1"/>
          <p:nvPr/>
        </p:nvSpPr>
        <p:spPr>
          <a:xfrm>
            <a:off x="3028752" y="1840984"/>
            <a:ext cx="1607046"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1" i="0">
                <a:solidFill>
                  <a:srgbClr val="0E7C6B"/>
                </a:solidFill>
                <a:latin typeface="Readex Pro"/>
                <a:ea typeface="Readex Pro"/>
                <a:cs typeface="Readex Pro"/>
              </a:rPr>
              <a:t>4</a:t>
            </a:r>
          </a:p>
        </p:txBody>
      </p:sp>
      <p:sp>
        <p:nvSpPr>
          <p:cNvPr id="19" name="Text 18"/>
          <p:cNvSpPr txBox="1"/>
          <p:nvPr/>
        </p:nvSpPr>
        <p:spPr>
          <a:xfrm>
            <a:off x="3045262" y="2151912"/>
            <a:ext cx="159053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Readex Pro"/>
                <a:ea typeface="Readex Pro"/>
                <a:cs typeface="Readex Pro"/>
              </a:rPr>
              <a:t>يرتب أو يصفّي</a:t>
            </a:r>
          </a:p>
        </p:txBody>
      </p:sp>
      <p:sp>
        <p:nvSpPr>
          <p:cNvPr id="20" name="Text 19"/>
          <p:cNvSpPr txBox="1"/>
          <p:nvPr/>
        </p:nvSpPr>
        <p:spPr>
          <a:xfrm>
            <a:off x="2521347" y="2141895"/>
            <a:ext cx="405805"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0" i="0">
                <a:solidFill>
                  <a:srgbClr val="93A3B1"/>
                </a:solidFill>
                <a:latin typeface="IBM Plex Sans Arabic"/>
                <a:ea typeface="IBM Plex Sans Arabic"/>
                <a:cs typeface="IBM Plex Sans Arabic"/>
              </a:rPr>
              <a:t>←</a:t>
            </a:r>
          </a:p>
        </p:txBody>
      </p:sp>
      <p:sp>
        <p:nvSpPr>
          <p:cNvPr id="21" name="Box 20"/>
          <p:cNvSpPr/>
          <p:nvPr/>
        </p:nvSpPr>
        <p:spPr>
          <a:xfrm>
            <a:off x="815876" y="1661120"/>
            <a:ext cx="1797546" cy="1221581"/>
          </a:xfrm>
          <a:prstGeom prst="roundRect">
            <a:avLst>
              <a:gd name="adj" fmla="val 9308"/>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38101" y="1840984"/>
            <a:ext cx="1607046"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2250" b="1" i="0">
                <a:solidFill>
                  <a:srgbClr val="0E7C6B"/>
                </a:solidFill>
                <a:latin typeface="Readex Pro"/>
                <a:ea typeface="Readex Pro"/>
                <a:cs typeface="Readex Pro"/>
              </a:rPr>
              <a:t>5</a:t>
            </a:r>
          </a:p>
        </p:txBody>
      </p:sp>
      <p:sp>
        <p:nvSpPr>
          <p:cNvPr id="23" name="Text 22"/>
          <p:cNvSpPr txBox="1"/>
          <p:nvPr/>
        </p:nvSpPr>
        <p:spPr>
          <a:xfrm>
            <a:off x="854611" y="2151912"/>
            <a:ext cx="159053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Readex Pro"/>
                <a:ea typeface="Readex Pro"/>
                <a:cs typeface="Readex Pro"/>
              </a:rPr>
              <a:t>يقرأ إنسان</a:t>
            </a:r>
          </a:p>
        </p:txBody>
      </p:sp>
      <p:sp>
        <p:nvSpPr>
          <p:cNvPr id="24" name="Box 23"/>
          <p:cNvSpPr/>
          <p:nvPr/>
        </p:nvSpPr>
        <p:spPr>
          <a:xfrm>
            <a:off x="6156325" y="3079552"/>
            <a:ext cx="5219700" cy="1974850"/>
          </a:xfrm>
          <a:prstGeom prst="roundRect">
            <a:avLst>
              <a:gd name="adj" fmla="val 5769"/>
            </a:avLst>
          </a:prstGeom>
          <a:solidFill>
            <a:srgbClr val="FFFDF8"/>
          </a:solidFill>
          <a:ln w="6350">
            <a:solidFill>
              <a:srgbClr val="E1DBCD"/>
            </a:solidFill>
          </a:ln>
        </p:spPr>
        <p:txBody>
          <a:bodyPr rtlCol="0" anchor="ctr"/>
          <a:lstStyle/>
          <a:p>
            <a:pPr algn="ctr"/>
          </a:p>
        </p:txBody>
      </p:sp>
      <p:sp>
        <p:nvSpPr>
          <p:cNvPr id="25" name="Text 24"/>
          <p:cNvSpPr txBox="1"/>
          <p:nvPr/>
        </p:nvSpPr>
        <p:spPr>
          <a:xfrm>
            <a:off x="6178550" y="3199313"/>
            <a:ext cx="5041900" cy="325438"/>
          </a:xfrm>
          <a:prstGeom prst="rect">
            <a:avLst/>
          </a:prstGeom>
          <a:noFill/>
        </p:spPr>
        <p:txBody>
          <a:bodyPr wrap="square" tIns="0" rIns="0" bIns="0" lIns="0" anchor="t" rtlCol="0" anchorCtr="0">
            <a:noAutofit/>
          </a:bodyPr>
          <a:lstStyle/>
          <a:p>
            <a:pPr algn="r" rtl="1">
              <a:lnSpc>
                <a:spcPts val="2562"/>
              </a:lnSpc>
              <a:spcBef>
                <a:spcPts val="0"/>
              </a:spcBef>
              <a:spcAft>
                <a:spcPts val="0"/>
              </a:spcAft>
            </a:pPr>
            <a:r>
              <a:rPr sz="2050" b="1" i="0">
                <a:solidFill>
                  <a:srgbClr val="0E7C6B"/>
                </a:solidFill>
                <a:latin typeface="Readex Pro"/>
                <a:ea typeface="Readex Pro"/>
                <a:cs typeface="Readex Pro"/>
              </a:rPr>
              <a:t>يقلل احتمال الخطأ</a:t>
            </a:r>
          </a:p>
        </p:txBody>
      </p:sp>
      <p:pic>
        <p:nvPicPr>
          <p:cNvPr id="26" name="Icon Check 25" descr="icon070.png"/>
          <p:cNvPicPr>
            <a:picLocks noChangeAspect="1"/>
          </p:cNvPicPr>
          <p:nvPr/>
        </p:nvPicPr>
        <p:blipFill>
          <a:blip r:embed="rId2"/>
          <a:stretch>
            <a:fillRect/>
          </a:stretch>
        </p:blipFill>
        <p:spPr>
          <a:xfrm>
            <a:off x="11023600" y="3598664"/>
            <a:ext cx="196850" cy="196850"/>
          </a:xfrm>
          <a:prstGeom prst="rect">
            <a:avLst/>
          </a:prstGeom>
        </p:spPr>
      </p:pic>
      <p:sp>
        <p:nvSpPr>
          <p:cNvPr id="27" name="Text 26"/>
          <p:cNvSpPr txBox="1"/>
          <p:nvPr/>
        </p:nvSpPr>
        <p:spPr>
          <a:xfrm>
            <a:off x="6178550" y="3566184"/>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ملف نصي، لا صورة ممسوحة</a:t>
            </a:r>
          </a:p>
        </p:txBody>
      </p:sp>
      <p:pic>
        <p:nvPicPr>
          <p:cNvPr id="28" name="Icon Check 27" descr="icon070.png"/>
          <p:cNvPicPr>
            <a:picLocks noChangeAspect="1"/>
          </p:cNvPicPr>
          <p:nvPr/>
        </p:nvPicPr>
        <p:blipFill>
          <a:blip r:embed="rId2"/>
          <a:stretch>
            <a:fillRect/>
          </a:stretch>
        </p:blipFill>
        <p:spPr>
          <a:xfrm>
            <a:off x="11023600" y="3942755"/>
            <a:ext cx="196850" cy="196850"/>
          </a:xfrm>
          <a:prstGeom prst="rect">
            <a:avLst/>
          </a:prstGeom>
        </p:spPr>
      </p:pic>
      <p:sp>
        <p:nvSpPr>
          <p:cNvPr id="29" name="Text 28"/>
          <p:cNvSpPr txBox="1"/>
          <p:nvPr/>
        </p:nvSpPr>
        <p:spPr>
          <a:xfrm>
            <a:off x="6178550" y="3910274"/>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عناوين قياسية: Experience وSkills</a:t>
            </a:r>
          </a:p>
        </p:txBody>
      </p:sp>
      <p:pic>
        <p:nvPicPr>
          <p:cNvPr id="30" name="Icon Check 29" descr="icon070.png"/>
          <p:cNvPicPr>
            <a:picLocks noChangeAspect="1"/>
          </p:cNvPicPr>
          <p:nvPr/>
        </p:nvPicPr>
        <p:blipFill>
          <a:blip r:embed="rId2"/>
          <a:stretch>
            <a:fillRect/>
          </a:stretch>
        </p:blipFill>
        <p:spPr>
          <a:xfrm>
            <a:off x="11023600" y="4286845"/>
            <a:ext cx="196850" cy="196850"/>
          </a:xfrm>
          <a:prstGeom prst="rect">
            <a:avLst/>
          </a:prstGeom>
        </p:spPr>
      </p:pic>
      <p:sp>
        <p:nvSpPr>
          <p:cNvPr id="31" name="Text 30"/>
          <p:cNvSpPr txBox="1"/>
          <p:nvPr/>
        </p:nvSpPr>
        <p:spPr>
          <a:xfrm>
            <a:off x="6178550" y="4254365"/>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مصطلحات الإعلان إن كانت صادقة عنك</a:t>
            </a:r>
          </a:p>
        </p:txBody>
      </p:sp>
      <p:pic>
        <p:nvPicPr>
          <p:cNvPr id="32" name="Icon Check 31" descr="icon070.png"/>
          <p:cNvPicPr>
            <a:picLocks noChangeAspect="1"/>
          </p:cNvPicPr>
          <p:nvPr/>
        </p:nvPicPr>
        <p:blipFill>
          <a:blip r:embed="rId2"/>
          <a:stretch>
            <a:fillRect/>
          </a:stretch>
        </p:blipFill>
        <p:spPr>
          <a:xfrm>
            <a:off x="11023600" y="4630936"/>
            <a:ext cx="196850" cy="196850"/>
          </a:xfrm>
          <a:prstGeom prst="rect">
            <a:avLst/>
          </a:prstGeom>
        </p:spPr>
      </p:pic>
      <p:sp>
        <p:nvSpPr>
          <p:cNvPr id="33" name="Text 32"/>
          <p:cNvSpPr txBox="1"/>
          <p:nvPr/>
        </p:nvSpPr>
        <p:spPr>
          <a:xfrm>
            <a:off x="6178550" y="4598456"/>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عمود واحد ومعلومات الاتصال في المتن</a:t>
            </a:r>
          </a:p>
        </p:txBody>
      </p:sp>
      <p:sp>
        <p:nvSpPr>
          <p:cNvPr id="34" name="Box 33"/>
          <p:cNvSpPr/>
          <p:nvPr/>
        </p:nvSpPr>
        <p:spPr>
          <a:xfrm>
            <a:off x="815975" y="3079552"/>
            <a:ext cx="5219700" cy="1974850"/>
          </a:xfrm>
          <a:prstGeom prst="roundRect">
            <a:avLst>
              <a:gd name="adj" fmla="val 576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838200" y="3199313"/>
            <a:ext cx="5041900" cy="325438"/>
          </a:xfrm>
          <a:prstGeom prst="rect">
            <a:avLst/>
          </a:prstGeom>
          <a:noFill/>
        </p:spPr>
        <p:txBody>
          <a:bodyPr wrap="square" tIns="0" rIns="0" bIns="0" lIns="0" anchor="t" rtlCol="0" anchorCtr="0">
            <a:noAutofit/>
          </a:bodyPr>
          <a:lstStyle/>
          <a:p>
            <a:pPr algn="r" rtl="1">
              <a:lnSpc>
                <a:spcPts val="2562"/>
              </a:lnSpc>
              <a:spcBef>
                <a:spcPts val="0"/>
              </a:spcBef>
              <a:spcAft>
                <a:spcPts val="0"/>
              </a:spcAft>
            </a:pPr>
            <a:r>
              <a:rPr sz="2050" b="1" i="0">
                <a:solidFill>
                  <a:srgbClr val="8A4B12"/>
                </a:solidFill>
                <a:latin typeface="Readex Pro"/>
                <a:ea typeface="Readex Pro"/>
                <a:cs typeface="Readex Pro"/>
              </a:rPr>
              <a:t>قد يسبب مشكلة في بعض الأنظمة</a:t>
            </a:r>
          </a:p>
        </p:txBody>
      </p:sp>
      <p:pic>
        <p:nvPicPr>
          <p:cNvPr id="36" name="Icon Warning 35" descr="icon071.png"/>
          <p:cNvPicPr>
            <a:picLocks noChangeAspect="1"/>
          </p:cNvPicPr>
          <p:nvPr/>
        </p:nvPicPr>
        <p:blipFill>
          <a:blip r:embed="rId3"/>
          <a:stretch>
            <a:fillRect/>
          </a:stretch>
        </p:blipFill>
        <p:spPr>
          <a:xfrm>
            <a:off x="5683250" y="3598664"/>
            <a:ext cx="196850" cy="196850"/>
          </a:xfrm>
          <a:prstGeom prst="rect">
            <a:avLst/>
          </a:prstGeom>
        </p:spPr>
      </p:pic>
      <p:sp>
        <p:nvSpPr>
          <p:cNvPr id="37" name="Text 36"/>
          <p:cNvSpPr txBox="1"/>
          <p:nvPr/>
        </p:nvSpPr>
        <p:spPr>
          <a:xfrm>
            <a:off x="838200" y="3566184"/>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نصوص داخل صور أو مربعات نص</a:t>
            </a:r>
          </a:p>
        </p:txBody>
      </p:sp>
      <p:pic>
        <p:nvPicPr>
          <p:cNvPr id="38" name="Icon Warning 37" descr="icon071.png"/>
          <p:cNvPicPr>
            <a:picLocks noChangeAspect="1"/>
          </p:cNvPicPr>
          <p:nvPr/>
        </p:nvPicPr>
        <p:blipFill>
          <a:blip r:embed="rId3"/>
          <a:stretch>
            <a:fillRect/>
          </a:stretch>
        </p:blipFill>
        <p:spPr>
          <a:xfrm>
            <a:off x="5683250" y="3942755"/>
            <a:ext cx="196850" cy="196850"/>
          </a:xfrm>
          <a:prstGeom prst="rect">
            <a:avLst/>
          </a:prstGeom>
        </p:spPr>
      </p:pic>
      <p:sp>
        <p:nvSpPr>
          <p:cNvPr id="39" name="Text 38"/>
          <p:cNvSpPr txBox="1"/>
          <p:nvPr/>
        </p:nvSpPr>
        <p:spPr>
          <a:xfrm>
            <a:off x="838200" y="3910274"/>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جداول وأعمدة معقدة</a:t>
            </a:r>
          </a:p>
        </p:txBody>
      </p:sp>
      <p:pic>
        <p:nvPicPr>
          <p:cNvPr id="40" name="Icon Warning 39" descr="icon071.png"/>
          <p:cNvPicPr>
            <a:picLocks noChangeAspect="1"/>
          </p:cNvPicPr>
          <p:nvPr/>
        </p:nvPicPr>
        <p:blipFill>
          <a:blip r:embed="rId3"/>
          <a:stretch>
            <a:fillRect/>
          </a:stretch>
        </p:blipFill>
        <p:spPr>
          <a:xfrm>
            <a:off x="5683250" y="4286845"/>
            <a:ext cx="196850" cy="196850"/>
          </a:xfrm>
          <a:prstGeom prst="rect">
            <a:avLst/>
          </a:prstGeom>
        </p:spPr>
      </p:pic>
      <p:sp>
        <p:nvSpPr>
          <p:cNvPr id="41" name="Text 40"/>
          <p:cNvSpPr txBox="1"/>
          <p:nvPr/>
        </p:nvSpPr>
        <p:spPr>
          <a:xfrm>
            <a:off x="838200" y="4254365"/>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أشرطة تقييم المهارات</a:t>
            </a:r>
          </a:p>
        </p:txBody>
      </p:sp>
      <p:pic>
        <p:nvPicPr>
          <p:cNvPr id="42" name="Icon Warning 41" descr="icon071.png"/>
          <p:cNvPicPr>
            <a:picLocks noChangeAspect="1"/>
          </p:cNvPicPr>
          <p:nvPr/>
        </p:nvPicPr>
        <p:blipFill>
          <a:blip r:embed="rId3"/>
          <a:stretch>
            <a:fillRect/>
          </a:stretch>
        </p:blipFill>
        <p:spPr>
          <a:xfrm>
            <a:off x="5683250" y="4630936"/>
            <a:ext cx="196850" cy="196850"/>
          </a:xfrm>
          <a:prstGeom prst="rect">
            <a:avLst/>
          </a:prstGeom>
        </p:spPr>
      </p:pic>
      <p:sp>
        <p:nvSpPr>
          <p:cNvPr id="43" name="Text 42"/>
          <p:cNvSpPr txBox="1"/>
          <p:nvPr/>
        </p:nvSpPr>
        <p:spPr>
          <a:xfrm>
            <a:off x="838200" y="4598456"/>
            <a:ext cx="473075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حشو كلمات لا تعرفها</a:t>
            </a:r>
          </a:p>
        </p:txBody>
      </p:sp>
      <p:sp>
        <p:nvSpPr>
          <p:cNvPr id="44" name="Text 43"/>
          <p:cNvSpPr txBox="1"/>
          <p:nvPr/>
        </p:nvSpPr>
        <p:spPr>
          <a:xfrm>
            <a:off x="0" y="5215596"/>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الأنظمة تختلف كثيراً، وبعضها يقرأ التنسيقات المعقدة جيداً. البسيط أضمن، لا أكثر.</a:t>
            </a:r>
          </a:p>
        </p:txBody>
      </p:sp>
      <p:sp>
        <p:nvSpPr>
          <p:cNvPr id="45" name="Text 4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46" name="Text 4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صياغة الإنجاز: قبل وبعد</a:t>
            </a:r>
          </a:p>
        </p:txBody>
      </p:sp>
      <p:sp>
        <p:nvSpPr>
          <p:cNvPr id="6" name="Box 5"/>
          <p:cNvSpPr/>
          <p:nvPr/>
        </p:nvSpPr>
        <p:spPr>
          <a:xfrm>
            <a:off x="812800" y="1657945"/>
            <a:ext cx="10566400" cy="647700"/>
          </a:xfrm>
          <a:prstGeom prst="roundRect">
            <a:avLst>
              <a:gd name="adj" fmla="val 13725"/>
            </a:avLst>
          </a:prstGeom>
          <a:solidFill>
            <a:srgbClr val="172433"/>
          </a:solidFill>
          <a:ln>
            <a:noFill/>
          </a:ln>
        </p:spPr>
        <p:txBody>
          <a:bodyPr rtlCol="0" anchor="ctr"/>
          <a:lstStyle/>
          <a:p>
            <a:pPr algn="ctr"/>
          </a:p>
        </p:txBody>
      </p:sp>
      <p:sp>
        <p:nvSpPr>
          <p:cNvPr id="7" name="Text box 6"/>
          <p:cNvSpPr/>
          <p:nvPr/>
        </p:nvSpPr>
        <p:spPr>
          <a:xfrm>
            <a:off x="10045402" y="1759545"/>
            <a:ext cx="1181398"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فعل قوي</a:t>
            </a:r>
          </a:p>
        </p:txBody>
      </p:sp>
      <p:sp>
        <p:nvSpPr>
          <p:cNvPr id="8" name="Text 7"/>
          <p:cNvSpPr txBox="1"/>
          <p:nvPr/>
        </p:nvSpPr>
        <p:spPr>
          <a:xfrm>
            <a:off x="9649142" y="1753727"/>
            <a:ext cx="320060" cy="373360"/>
          </a:xfrm>
          <a:prstGeom prst="rect">
            <a:avLst/>
          </a:prstGeom>
          <a:noFill/>
        </p:spPr>
        <p:txBody>
          <a:bodyPr wrap="square" tIns="0" rIns="0" bIns="0" lIns="0" anchor="t" rtlCol="0" anchorCtr="0">
            <a:noAutofit/>
          </a:bodyPr>
          <a:lstStyle/>
          <a:p>
            <a:pPr algn="r">
              <a:lnSpc>
                <a:spcPts val="2940"/>
              </a:lnSpc>
              <a:spcBef>
                <a:spcPts val="0"/>
              </a:spcBef>
              <a:spcAft>
                <a:spcPts val="0"/>
              </a:spcAft>
            </a:pPr>
            <a:r>
              <a:rPr sz="2100" b="0" i="0">
                <a:solidFill>
                  <a:srgbClr val="93A3B1"/>
                </a:solidFill>
                <a:latin typeface="IBM Plex Sans Arabic"/>
                <a:ea typeface="IBM Plex Sans Arabic"/>
                <a:cs typeface="IBM Plex Sans Arabic"/>
              </a:rPr>
              <a:t>+</a:t>
            </a:r>
          </a:p>
        </p:txBody>
      </p:sp>
      <p:sp>
        <p:nvSpPr>
          <p:cNvPr id="9" name="Text box 8"/>
          <p:cNvSpPr/>
          <p:nvPr/>
        </p:nvSpPr>
        <p:spPr>
          <a:xfrm>
            <a:off x="8461177" y="1759545"/>
            <a:ext cx="1271786"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فعلت</a:t>
            </a:r>
          </a:p>
        </p:txBody>
      </p:sp>
      <p:sp>
        <p:nvSpPr>
          <p:cNvPr id="10" name="Text 9"/>
          <p:cNvSpPr txBox="1"/>
          <p:nvPr/>
        </p:nvSpPr>
        <p:spPr>
          <a:xfrm>
            <a:off x="8064917" y="1753727"/>
            <a:ext cx="320060" cy="373360"/>
          </a:xfrm>
          <a:prstGeom prst="rect">
            <a:avLst/>
          </a:prstGeom>
          <a:noFill/>
        </p:spPr>
        <p:txBody>
          <a:bodyPr wrap="square" tIns="0" rIns="0" bIns="0" lIns="0" anchor="t" rtlCol="0" anchorCtr="0">
            <a:noAutofit/>
          </a:bodyPr>
          <a:lstStyle/>
          <a:p>
            <a:pPr algn="r">
              <a:lnSpc>
                <a:spcPts val="2940"/>
              </a:lnSpc>
              <a:spcBef>
                <a:spcPts val="0"/>
              </a:spcBef>
              <a:spcAft>
                <a:spcPts val="0"/>
              </a:spcAft>
            </a:pPr>
            <a:r>
              <a:rPr sz="2100" b="0" i="0">
                <a:solidFill>
                  <a:srgbClr val="93A3B1"/>
                </a:solidFill>
                <a:latin typeface="IBM Plex Sans Arabic"/>
                <a:ea typeface="IBM Plex Sans Arabic"/>
                <a:cs typeface="IBM Plex Sans Arabic"/>
              </a:rPr>
              <a:t>+</a:t>
            </a:r>
          </a:p>
        </p:txBody>
      </p:sp>
      <p:sp>
        <p:nvSpPr>
          <p:cNvPr id="11" name="Text box 10"/>
          <p:cNvSpPr/>
          <p:nvPr/>
        </p:nvSpPr>
        <p:spPr>
          <a:xfrm>
            <a:off x="6888559" y="1759545"/>
            <a:ext cx="1260177"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بأي طريقة</a:t>
            </a:r>
          </a:p>
        </p:txBody>
      </p:sp>
      <p:sp>
        <p:nvSpPr>
          <p:cNvPr id="12" name="Text 11"/>
          <p:cNvSpPr txBox="1"/>
          <p:nvPr/>
        </p:nvSpPr>
        <p:spPr>
          <a:xfrm>
            <a:off x="6492300" y="1753727"/>
            <a:ext cx="320060" cy="373360"/>
          </a:xfrm>
          <a:prstGeom prst="rect">
            <a:avLst/>
          </a:prstGeom>
          <a:noFill/>
        </p:spPr>
        <p:txBody>
          <a:bodyPr wrap="square" tIns="0" rIns="0" bIns="0" lIns="0" anchor="t" rtlCol="0" anchorCtr="0">
            <a:noAutofit/>
          </a:bodyPr>
          <a:lstStyle/>
          <a:p>
            <a:pPr algn="r">
              <a:lnSpc>
                <a:spcPts val="2940"/>
              </a:lnSpc>
              <a:spcBef>
                <a:spcPts val="0"/>
              </a:spcBef>
              <a:spcAft>
                <a:spcPts val="0"/>
              </a:spcAft>
            </a:pPr>
            <a:r>
              <a:rPr sz="2100" b="0" i="0">
                <a:solidFill>
                  <a:srgbClr val="93A3B1"/>
                </a:solidFill>
                <a:latin typeface="IBM Plex Sans Arabic"/>
                <a:ea typeface="IBM Plex Sans Arabic"/>
                <a:cs typeface="IBM Plex Sans Arabic"/>
              </a:rPr>
              <a:t>+</a:t>
            </a:r>
          </a:p>
        </p:txBody>
      </p:sp>
      <p:sp>
        <p:nvSpPr>
          <p:cNvPr id="13" name="Text box 12"/>
          <p:cNvSpPr/>
          <p:nvPr/>
        </p:nvSpPr>
        <p:spPr>
          <a:xfrm>
            <a:off x="4825504" y="1759545"/>
            <a:ext cx="1750616" cy="444500"/>
          </a:xfrm>
          <a:prstGeom prst="roundRect">
            <a:avLst>
              <a:gd name="adj" fmla="val 50000"/>
            </a:avLst>
          </a:prstGeom>
          <a:solidFill>
            <a:srgbClr val="F2C46D"/>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النتيجة أو الرقم</a:t>
            </a:r>
          </a:p>
        </p:txBody>
      </p:sp>
      <p:sp>
        <p:nvSpPr>
          <p:cNvPr id="14" name="Box 13"/>
          <p:cNvSpPr/>
          <p:nvPr/>
        </p:nvSpPr>
        <p:spPr>
          <a:xfrm>
            <a:off x="8080375" y="2499320"/>
            <a:ext cx="3295650" cy="1177230"/>
          </a:xfrm>
          <a:prstGeom prst="roundRect">
            <a:avLst>
              <a:gd name="adj" fmla="val 6438"/>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210550" y="2572599"/>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16" name="Text 15"/>
          <p:cNvSpPr txBox="1"/>
          <p:nvPr/>
        </p:nvSpPr>
        <p:spPr>
          <a:xfrm>
            <a:off x="8210550" y="2877538"/>
            <a:ext cx="3126359" cy="657820"/>
          </a:xfrm>
          <a:prstGeom prst="rect">
            <a:avLst/>
          </a:prstGeom>
          <a:noFill/>
        </p:spPr>
        <p:txBody>
          <a:bodyPr wrap="square" tIns="0" rIns="0" bIns="0" lIns="0" anchor="t" rtlCol="0" anchorCtr="0">
            <a:noAutofit/>
          </a:bodyPr>
          <a:lstStyle/>
          <a:p>
            <a:pPr algn="l">
              <a:lnSpc>
                <a:spcPts val="2590"/>
              </a:lnSpc>
              <a:spcBef>
                <a:spcPts val="0"/>
              </a:spcBef>
              <a:spcAft>
                <a:spcPts val="0"/>
              </a:spcAft>
            </a:pPr>
            <a:r>
              <a:rPr sz="1850" b="0" i="0">
                <a:solidFill>
                  <a:srgbClr val="172433"/>
                </a:solidFill>
                <a:latin typeface="IBM Plex Sans Arabic"/>
                <a:ea typeface="IBM Plex Sans Arabic"/>
                <a:cs typeface="IBM Plex Sans Arabic"/>
              </a:rPr>
              <a:t>Responsible for the RACI matrix.</a:t>
            </a:r>
          </a:p>
        </p:txBody>
      </p:sp>
      <p:sp>
        <p:nvSpPr>
          <p:cNvPr id="17" name="Box 16"/>
          <p:cNvSpPr/>
          <p:nvPr/>
        </p:nvSpPr>
        <p:spPr>
          <a:xfrm>
            <a:off x="815975" y="2499320"/>
            <a:ext cx="7156450" cy="1177230"/>
          </a:xfrm>
          <a:prstGeom prst="roundRect">
            <a:avLst>
              <a:gd name="adj" fmla="val 6438"/>
            </a:avLst>
          </a:prstGeom>
          <a:solidFill>
            <a:srgbClr val="E3F1ED"/>
          </a:solidFill>
          <a:ln w="6350">
            <a:solidFill>
              <a:srgbClr val="9FD1C5"/>
            </a:solidFill>
          </a:ln>
        </p:spPr>
        <p:txBody>
          <a:bodyPr rtlCol="0" anchor="ctr"/>
          <a:lstStyle/>
          <a:p>
            <a:pPr algn="ctr"/>
          </a:p>
        </p:txBody>
      </p:sp>
      <p:sp>
        <p:nvSpPr>
          <p:cNvPr id="18" name="Text 17"/>
          <p:cNvSpPr txBox="1"/>
          <p:nvPr/>
        </p:nvSpPr>
        <p:spPr>
          <a:xfrm>
            <a:off x="946150" y="2572599"/>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19" name="Text 18"/>
          <p:cNvSpPr txBox="1"/>
          <p:nvPr/>
        </p:nvSpPr>
        <p:spPr>
          <a:xfrm>
            <a:off x="946150" y="2877538"/>
            <a:ext cx="7004050" cy="657820"/>
          </a:xfrm>
          <a:prstGeom prst="rect">
            <a:avLst/>
          </a:prstGeom>
          <a:noFill/>
        </p:spPr>
        <p:txBody>
          <a:bodyPr wrap="square" tIns="0" rIns="0" bIns="0" lIns="0" anchor="t" rtlCol="0" anchorCtr="0">
            <a:noAutofit/>
          </a:bodyPr>
          <a:lstStyle/>
          <a:p>
            <a:pPr algn="l">
              <a:lnSpc>
                <a:spcPts val="2590"/>
              </a:lnSpc>
              <a:spcBef>
                <a:spcPts val="0"/>
              </a:spcBef>
              <a:spcAft>
                <a:spcPts val="0"/>
              </a:spcAft>
            </a:pPr>
            <a:r>
              <a:rPr sz="1850" b="0" i="0">
                <a:solidFill>
                  <a:srgbClr val="172433"/>
                </a:solidFill>
                <a:latin typeface="IBM Plex Sans Arabic"/>
                <a:ea typeface="IBM Plex Sans Arabic"/>
                <a:cs typeface="IBM Plex Sans Arabic"/>
              </a:rPr>
              <a:t>Built a 5-activity RACI for leaver access revocation and wrote a policy clause with owner, deadline and evidence.</a:t>
            </a:r>
          </a:p>
        </p:txBody>
      </p:sp>
      <p:sp>
        <p:nvSpPr>
          <p:cNvPr id="20" name="Box 19"/>
          <p:cNvSpPr/>
          <p:nvPr/>
        </p:nvSpPr>
        <p:spPr>
          <a:xfrm>
            <a:off x="8080375" y="3771801"/>
            <a:ext cx="3295650" cy="1177230"/>
          </a:xfrm>
          <a:prstGeom prst="roundRect">
            <a:avLst>
              <a:gd name="adj" fmla="val 6438"/>
            </a:avLst>
          </a:prstGeom>
          <a:solidFill>
            <a:srgbClr val="FBEAE5"/>
          </a:solidFill>
          <a:ln w="6350">
            <a:solidFill>
              <a:srgbClr val="E7B8AC"/>
            </a:solidFill>
          </a:ln>
        </p:spPr>
        <p:txBody>
          <a:bodyPr rtlCol="0" anchor="ctr"/>
          <a:lstStyle/>
          <a:p>
            <a:pPr algn="ctr"/>
          </a:p>
        </p:txBody>
      </p:sp>
      <p:sp>
        <p:nvSpPr>
          <p:cNvPr id="21" name="Text 20"/>
          <p:cNvSpPr txBox="1"/>
          <p:nvPr/>
        </p:nvSpPr>
        <p:spPr>
          <a:xfrm>
            <a:off x="8210550" y="3845080"/>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22" name="Text 21"/>
          <p:cNvSpPr txBox="1"/>
          <p:nvPr/>
        </p:nvSpPr>
        <p:spPr>
          <a:xfrm>
            <a:off x="8210550" y="4150019"/>
            <a:ext cx="3143250" cy="328910"/>
          </a:xfrm>
          <a:prstGeom prst="rect">
            <a:avLst/>
          </a:prstGeom>
          <a:noFill/>
        </p:spPr>
        <p:txBody>
          <a:bodyPr wrap="square" tIns="0" rIns="0" bIns="0" lIns="0" anchor="t" rtlCol="0" anchorCtr="0">
            <a:noAutofit/>
          </a:bodyPr>
          <a:lstStyle/>
          <a:p>
            <a:pPr algn="l">
              <a:lnSpc>
                <a:spcPts val="2590"/>
              </a:lnSpc>
              <a:spcBef>
                <a:spcPts val="0"/>
              </a:spcBef>
              <a:spcAft>
                <a:spcPts val="0"/>
              </a:spcAft>
            </a:pPr>
            <a:r>
              <a:rPr sz="1850" b="0" i="0">
                <a:solidFill>
                  <a:srgbClr val="172433"/>
                </a:solidFill>
                <a:latin typeface="IBM Plex Sans Arabic"/>
                <a:ea typeface="IBM Plex Sans Arabic"/>
                <a:cs typeface="IBM Plex Sans Arabic"/>
              </a:rPr>
              <a:t>Did risk assessment.</a:t>
            </a:r>
          </a:p>
        </p:txBody>
      </p:sp>
      <p:sp>
        <p:nvSpPr>
          <p:cNvPr id="23" name="Box 22"/>
          <p:cNvSpPr/>
          <p:nvPr/>
        </p:nvSpPr>
        <p:spPr>
          <a:xfrm>
            <a:off x="815975" y="3771801"/>
            <a:ext cx="7156450" cy="1177230"/>
          </a:xfrm>
          <a:prstGeom prst="roundRect">
            <a:avLst>
              <a:gd name="adj" fmla="val 6438"/>
            </a:avLst>
          </a:prstGeom>
          <a:solidFill>
            <a:srgbClr val="E3F1ED"/>
          </a:solidFill>
          <a:ln w="6350">
            <a:solidFill>
              <a:srgbClr val="9FD1C5"/>
            </a:solidFill>
          </a:ln>
        </p:spPr>
        <p:txBody>
          <a:bodyPr rtlCol="0" anchor="ctr"/>
          <a:lstStyle/>
          <a:p>
            <a:pPr algn="ctr"/>
          </a:p>
        </p:txBody>
      </p:sp>
      <p:sp>
        <p:nvSpPr>
          <p:cNvPr id="24" name="Text 23"/>
          <p:cNvSpPr txBox="1"/>
          <p:nvPr/>
        </p:nvSpPr>
        <p:spPr>
          <a:xfrm>
            <a:off x="946150" y="3845080"/>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25" name="Text 24"/>
          <p:cNvSpPr txBox="1"/>
          <p:nvPr/>
        </p:nvSpPr>
        <p:spPr>
          <a:xfrm>
            <a:off x="946150" y="4150019"/>
            <a:ext cx="7004050" cy="657820"/>
          </a:xfrm>
          <a:prstGeom prst="rect">
            <a:avLst/>
          </a:prstGeom>
          <a:noFill/>
        </p:spPr>
        <p:txBody>
          <a:bodyPr wrap="square" tIns="0" rIns="0" bIns="0" lIns="0" anchor="t" rtlCol="0" anchorCtr="0">
            <a:noAutofit/>
          </a:bodyPr>
          <a:lstStyle/>
          <a:p>
            <a:pPr algn="l">
              <a:lnSpc>
                <a:spcPts val="2590"/>
              </a:lnSpc>
              <a:spcBef>
                <a:spcPts val="0"/>
              </a:spcBef>
              <a:spcAft>
                <a:spcPts val="0"/>
              </a:spcAft>
            </a:pPr>
            <a:r>
              <a:rPr sz="1850" b="0" i="0">
                <a:solidFill>
                  <a:srgbClr val="172433"/>
                </a:solidFill>
                <a:latin typeface="IBM Plex Sans Arabic"/>
                <a:ea typeface="IBM Plex Sans Arabic"/>
                <a:cs typeface="IBM Plex Sans Arabic"/>
              </a:rPr>
              <a:t>Wrote and scored a payroll-laptop risk on the NCA 5×5 matrix (12, Medium) and planned encryption with a 30-day due date.</a:t>
            </a:r>
          </a:p>
        </p:txBody>
      </p:sp>
      <p:sp>
        <p:nvSpPr>
          <p:cNvPr id="26" name="Text 25"/>
          <p:cNvSpPr txBox="1"/>
          <p:nvPr/>
        </p:nvSpPr>
        <p:spPr>
          <a:xfrm>
            <a:off x="0" y="5105305"/>
            <a:ext cx="113792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الأرقام في سيرتك يجب أن تكون حقيقية: ستُسأل عن كل رقم.</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بلا خبرة في GRC؟ خبرتك أقرب مما تظن</a:t>
            </a:r>
          </a:p>
        </p:txBody>
      </p:sp>
      <p:sp>
        <p:nvSpPr>
          <p:cNvPr id="5" name="Box 4"/>
          <p:cNvSpPr/>
          <p:nvPr/>
        </p:nvSpPr>
        <p:spPr>
          <a:xfrm>
            <a:off x="5187355" y="1661120"/>
            <a:ext cx="6188670" cy="4213225"/>
          </a:xfrm>
          <a:prstGeom prst="roundRect">
            <a:avLst>
              <a:gd name="adj" fmla="val 2708"/>
            </a:avLst>
          </a:prstGeom>
          <a:solidFill>
            <a:srgbClr val="FFFDF8"/>
          </a:solidFill>
          <a:ln w="6350">
            <a:solidFill>
              <a:srgbClr val="E1DBCD"/>
            </a:solidFill>
          </a:ln>
        </p:spPr>
        <p:txBody>
          <a:bodyPr rtlCol="0" anchor="ctr"/>
          <a:lstStyle/>
          <a:p>
            <a:pPr algn="ctr"/>
          </a:p>
        </p:txBody>
      </p:sp>
      <p:sp>
        <p:nvSpPr>
          <p:cNvPr id="6" name="Text 5"/>
          <p:cNvSpPr txBox="1"/>
          <p:nvPr/>
        </p:nvSpPr>
        <p:spPr>
          <a:xfrm>
            <a:off x="5209580" y="1791295"/>
            <a:ext cx="599817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ترجم خلفيتك إلى لغة GRC</a:t>
            </a:r>
          </a:p>
        </p:txBody>
      </p:sp>
      <p:sp>
        <p:nvSpPr>
          <p:cNvPr id="7" name="Text 6"/>
          <p:cNvSpPr txBox="1"/>
          <p:nvPr/>
        </p:nvSpPr>
        <p:spPr>
          <a:xfrm>
            <a:off x="9213850" y="2237700"/>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الدعم الفني</a:t>
            </a:r>
          </a:p>
        </p:txBody>
      </p:sp>
      <p:sp>
        <p:nvSpPr>
          <p:cNvPr id="8" name="Text 7"/>
          <p:cNvSpPr txBox="1"/>
          <p:nvPr/>
        </p:nvSpPr>
        <p:spPr>
          <a:xfrm>
            <a:off x="5238740" y="2237700"/>
            <a:ext cx="401321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الصلاحيات، وسير الموافقات، والبلاغات</a:t>
            </a:r>
          </a:p>
        </p:txBody>
      </p:sp>
      <p:sp>
        <p:nvSpPr>
          <p:cNvPr id="9" name="Text 8"/>
          <p:cNvSpPr txBox="1"/>
          <p:nvPr/>
        </p:nvSpPr>
        <p:spPr>
          <a:xfrm>
            <a:off x="9302750" y="3012400"/>
            <a:ext cx="1905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المحاسبة والتدقيق</a:t>
            </a:r>
          </a:p>
        </p:txBody>
      </p:sp>
      <p:sp>
        <p:nvSpPr>
          <p:cNvPr id="10" name="Text 9"/>
          <p:cNvSpPr txBox="1"/>
          <p:nvPr/>
        </p:nvSpPr>
        <p:spPr>
          <a:xfrm>
            <a:off x="5209580" y="3012400"/>
            <a:ext cx="404237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الرقابة الداخلية، والأدلة، والعينات</a:t>
            </a:r>
          </a:p>
        </p:txBody>
      </p:sp>
      <p:sp>
        <p:nvSpPr>
          <p:cNvPr id="11" name="Text 10"/>
          <p:cNvSpPr txBox="1"/>
          <p:nvPr/>
        </p:nvSpPr>
        <p:spPr>
          <a:xfrm>
            <a:off x="9213850" y="3787100"/>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القانون</a:t>
            </a:r>
          </a:p>
        </p:txBody>
      </p:sp>
      <p:sp>
        <p:nvSpPr>
          <p:cNvPr id="12" name="Text 11"/>
          <p:cNvSpPr txBox="1"/>
          <p:nvPr/>
        </p:nvSpPr>
        <p:spPr>
          <a:xfrm>
            <a:off x="5209580" y="3787100"/>
            <a:ext cx="404237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الأنظمة واللوائح، والعقود، والخصوصية</a:t>
            </a:r>
          </a:p>
        </p:txBody>
      </p:sp>
      <p:sp>
        <p:nvSpPr>
          <p:cNvPr id="13" name="Text 12"/>
          <p:cNvSpPr txBox="1"/>
          <p:nvPr/>
        </p:nvSpPr>
        <p:spPr>
          <a:xfrm>
            <a:off x="9213850" y="4206200"/>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الجودة</a:t>
            </a:r>
          </a:p>
        </p:txBody>
      </p:sp>
      <p:sp>
        <p:nvSpPr>
          <p:cNvPr id="14" name="Text 13"/>
          <p:cNvSpPr txBox="1"/>
          <p:nvPr/>
        </p:nvSpPr>
        <p:spPr>
          <a:xfrm>
            <a:off x="5238740" y="4206200"/>
            <a:ext cx="401321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أنظمة الإدارة، والتدقيق الداخلي، والإجراءات</a:t>
            </a:r>
          </a:p>
        </p:txBody>
      </p:sp>
      <p:sp>
        <p:nvSpPr>
          <p:cNvPr id="15" name="Text 14"/>
          <p:cNvSpPr txBox="1"/>
          <p:nvPr/>
        </p:nvSpPr>
        <p:spPr>
          <a:xfrm>
            <a:off x="9213850" y="4980900"/>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المشاريع</a:t>
            </a:r>
          </a:p>
        </p:txBody>
      </p:sp>
      <p:sp>
        <p:nvSpPr>
          <p:cNvPr id="16" name="Text 15"/>
          <p:cNvSpPr txBox="1"/>
          <p:nvPr/>
        </p:nvSpPr>
        <p:spPr>
          <a:xfrm>
            <a:off x="5238740" y="4980900"/>
            <a:ext cx="401321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متابعة المعالجة بمالك وموعد، وتقارير الحالة</a:t>
            </a:r>
          </a:p>
        </p:txBody>
      </p:sp>
      <p:sp>
        <p:nvSpPr>
          <p:cNvPr id="17" name="Box 16"/>
          <p:cNvSpPr/>
          <p:nvPr/>
        </p:nvSpPr>
        <p:spPr>
          <a:xfrm>
            <a:off x="815975" y="1661120"/>
            <a:ext cx="4238030" cy="4213225"/>
          </a:xfrm>
          <a:prstGeom prst="roundRect">
            <a:avLst>
              <a:gd name="adj" fmla="val 2708"/>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1791803"/>
            <a:ext cx="404753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400" b="1" i="0">
                <a:solidFill>
                  <a:srgbClr val="8A4B12"/>
                </a:solidFill>
                <a:latin typeface="Readex Pro"/>
                <a:ea typeface="Readex Pro"/>
                <a:cs typeface="Readex Pro"/>
              </a:rPr>
              <a:t>أقسام تملأ مكان الخبرة</a:t>
            </a:r>
          </a:p>
        </p:txBody>
      </p:sp>
      <p:pic>
        <p:nvPicPr>
          <p:cNvPr id="19" name="Icon Check 18" descr="icon045.png"/>
          <p:cNvPicPr>
            <a:picLocks noChangeAspect="1"/>
          </p:cNvPicPr>
          <p:nvPr/>
        </p:nvPicPr>
        <p:blipFill>
          <a:blip r:embed="rId2"/>
          <a:stretch>
            <a:fillRect/>
          </a:stretch>
        </p:blipFill>
        <p:spPr>
          <a:xfrm>
            <a:off x="4650780" y="2261195"/>
            <a:ext cx="234950" cy="234950"/>
          </a:xfrm>
          <a:prstGeom prst="rect">
            <a:avLst/>
          </a:prstGeom>
        </p:spPr>
      </p:pic>
      <p:sp>
        <p:nvSpPr>
          <p:cNvPr id="20" name="Text 19"/>
          <p:cNvSpPr txBox="1"/>
          <p:nvPr/>
        </p:nvSpPr>
        <p:spPr>
          <a:xfrm>
            <a:off x="838200" y="2221825"/>
            <a:ext cx="36982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Projects: مشاريع الوحدة 5</a:t>
            </a:r>
          </a:p>
        </p:txBody>
      </p:sp>
      <p:pic>
        <p:nvPicPr>
          <p:cNvPr id="21" name="Icon Check 20" descr="icon045.png"/>
          <p:cNvPicPr>
            <a:picLocks noChangeAspect="1"/>
          </p:cNvPicPr>
          <p:nvPr/>
        </p:nvPicPr>
        <p:blipFill>
          <a:blip r:embed="rId2"/>
          <a:stretch>
            <a:fillRect/>
          </a:stretch>
        </p:blipFill>
        <p:spPr>
          <a:xfrm>
            <a:off x="4650780" y="2667595"/>
            <a:ext cx="234950" cy="234950"/>
          </a:xfrm>
          <a:prstGeom prst="rect">
            <a:avLst/>
          </a:prstGeom>
        </p:spPr>
      </p:pic>
      <p:sp>
        <p:nvSpPr>
          <p:cNvPr id="22" name="Text 21"/>
          <p:cNvSpPr txBox="1"/>
          <p:nvPr/>
        </p:nvSpPr>
        <p:spPr>
          <a:xfrm>
            <a:off x="838200" y="2628225"/>
            <a:ext cx="36982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Internship: التدريب التعاوني</a:t>
            </a:r>
          </a:p>
        </p:txBody>
      </p:sp>
      <p:pic>
        <p:nvPicPr>
          <p:cNvPr id="23" name="Icon Check 22" descr="icon045.png"/>
          <p:cNvPicPr>
            <a:picLocks noChangeAspect="1"/>
          </p:cNvPicPr>
          <p:nvPr/>
        </p:nvPicPr>
        <p:blipFill>
          <a:blip r:embed="rId2"/>
          <a:stretch>
            <a:fillRect/>
          </a:stretch>
        </p:blipFill>
        <p:spPr>
          <a:xfrm>
            <a:off x="4650780" y="3073995"/>
            <a:ext cx="234950" cy="234950"/>
          </a:xfrm>
          <a:prstGeom prst="rect">
            <a:avLst/>
          </a:prstGeom>
        </p:spPr>
      </p:pic>
      <p:sp>
        <p:nvSpPr>
          <p:cNvPr id="24" name="Text 23"/>
          <p:cNvSpPr txBox="1"/>
          <p:nvPr/>
        </p:nvSpPr>
        <p:spPr>
          <a:xfrm>
            <a:off x="838200" y="3034625"/>
            <a:ext cx="36982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Volunteering: سياسة لجمعية</a:t>
            </a:r>
          </a:p>
        </p:txBody>
      </p:sp>
      <p:pic>
        <p:nvPicPr>
          <p:cNvPr id="25" name="Icon Check 24" descr="icon045.png"/>
          <p:cNvPicPr>
            <a:picLocks noChangeAspect="1"/>
          </p:cNvPicPr>
          <p:nvPr/>
        </p:nvPicPr>
        <p:blipFill>
          <a:blip r:embed="rId2"/>
          <a:stretch>
            <a:fillRect/>
          </a:stretch>
        </p:blipFill>
        <p:spPr>
          <a:xfrm>
            <a:off x="4650780" y="3480395"/>
            <a:ext cx="234950" cy="234950"/>
          </a:xfrm>
          <a:prstGeom prst="rect">
            <a:avLst/>
          </a:prstGeom>
        </p:spPr>
      </p:pic>
      <p:sp>
        <p:nvSpPr>
          <p:cNvPr id="26" name="Text 25"/>
          <p:cNvSpPr txBox="1"/>
          <p:nvPr/>
        </p:nvSpPr>
        <p:spPr>
          <a:xfrm>
            <a:off x="838200" y="3441025"/>
            <a:ext cx="36982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Capstone: مشروع التخرج</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أخطاء شائعة، وتصحيح كل منها</a:t>
            </a:r>
          </a:p>
        </p:txBody>
      </p:sp>
      <p:graphicFrame>
        <p:nvGraphicFramePr>
          <p:cNvPr id="5" name="Table 4"/>
          <p:cNvGraphicFramePr>
            <a:graphicFrameLocks noGrp="1"/>
          </p:cNvGraphicFramePr>
          <p:nvPr/>
        </p:nvGraphicFramePr>
        <p:xfrm>
          <a:off x="815975" y="1661120"/>
          <a:ext cx="10560050" cy="3779636"/>
        </p:xfrm>
        <a:graphic>
          <a:graphicData uri="http://schemas.openxmlformats.org/drawingml/2006/table">
            <a:tbl>
              <a:tblPr firstRow="0" bandRow="0" lastRow="0" firstCol="0" lastCol="0" bandCol="0">
                <a:tableStyleId>{2D5ABB26-0587-4C30-8999-92F81FD0307C}</a:tableStyleId>
              </a:tblPr>
              <a:tblGrid>
                <a:gridCol w="5280025"/>
                <a:gridCol w="5280025"/>
              </a:tblGrid>
              <a:tr h="539948">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التصحيح</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68"/>
                        </a:lnSpc>
                        <a:spcBef>
                          <a:spcPts val="0"/>
                        </a:spcBef>
                        <a:spcAft>
                          <a:spcPts val="0"/>
                        </a:spcAft>
                      </a:pPr>
                      <a:r>
                        <a:rPr sz="2050" b="1" i="0">
                          <a:solidFill>
                            <a:srgbClr val="F3EFE6"/>
                          </a:solidFill>
                          <a:latin typeface="IBM Plex Sans Arabic"/>
                          <a:ea typeface="IBM Plex Sans Arabic"/>
                          <a:cs typeface="IBM Plex Sans Arabic"/>
                        </a:rPr>
                        <a:t>الخطأ</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صفحة واحدة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سيرة من ثلاث صفحات لمبتدئ</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فعل، ثم ماذا، ثم كيف، ثم النتيجة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«Responsible for…» في كل سطر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مدقق إملائي، ثم قراءة شخص آخر</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أخطاء إملائية في وظيفة تقوم على الدقة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عدّل الملخص والمهارات للإعلان المهم</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نسخة واحدة لكل الإعلانات</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ما حصلت عليه، أو «قيد الدراسة» مع موعد</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شهادة لم تحصل عليها</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39948">
                <a:tc>
                  <a:txBody>
                    <a:bodyPr wrap="square"/>
                    <a:lstStyle/>
                    <a:p>
                      <a:pPr algn="r" rtl="1">
                        <a:lnSpc>
                          <a:spcPts val="2768"/>
                        </a:lnSpc>
                        <a:spcBef>
                          <a:spcPts val="0"/>
                        </a:spcBef>
                        <a:spcAft>
                          <a:spcPts val="0"/>
                        </a:spcAft>
                      </a:pPr>
                      <a:r>
                        <a:rPr sz="2050" b="0" i="0">
                          <a:solidFill>
                            <a:srgbClr val="172433"/>
                          </a:solidFill>
                          <a:latin typeface="IBM Plex Sans Arabic"/>
                          <a:ea typeface="IBM Plex Sans Arabic"/>
                          <a:cs typeface="IBM Plex Sans Arabic"/>
                        </a:rPr>
                        <a:t>الاسم والمدينة ووسائل التواصل تكفي</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68"/>
                        </a:lnSpc>
                        <a:spcBef>
                          <a:spcPts val="0"/>
                        </a:spcBef>
                        <a:spcAft>
                          <a:spcPts val="0"/>
                        </a:spcAft>
                      </a:pPr>
                      <a:r>
                        <a:rPr sz="2050" b="1" i="0">
                          <a:solidFill>
                            <a:srgbClr val="B4412C"/>
                          </a:solidFill>
                          <a:latin typeface="IBM Plex Sans Arabic"/>
                          <a:ea typeface="IBM Plex Sans Arabic"/>
                          <a:cs typeface="IBM Plex Sans Arabic"/>
                        </a:rPr>
                        <a:t>رقم الهوية أو الجواز في السيرة</a:t>
                      </a:r>
                    </a:p>
                  </a:txBody>
                  <a:tcPr marT="109738" marR="156210" marB="7250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7" name="Text 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783093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أعد صياغة ثلاثة أسطر</a:t>
            </a:r>
          </a:p>
        </p:txBody>
      </p:sp>
      <p:sp>
        <p:nvSpPr>
          <p:cNvPr id="6" name="Text 5"/>
          <p:cNvSpPr txBox="1"/>
          <p:nvPr/>
        </p:nvSpPr>
        <p:spPr>
          <a:xfrm>
            <a:off x="0" y="1614638"/>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172433"/>
                </a:solidFill>
                <a:latin typeface="IBM Plex Sans Arabic"/>
                <a:ea typeface="IBM Plex Sans Arabic"/>
                <a:cs typeface="IBM Plex Sans Arabic"/>
              </a:rPr>
              <a:t>أعد صياغة كل سطر بالمعادلة، مستخدماً ما نفذته في التطبيقات 2 و3 و1.</a:t>
            </a:r>
          </a:p>
        </p:txBody>
      </p:sp>
      <p:graphicFrame>
        <p:nvGraphicFramePr>
          <p:cNvPr id="7" name="Table 6"/>
          <p:cNvGraphicFramePr>
            <a:graphicFrameLocks noGrp="1"/>
          </p:cNvGraphicFramePr>
          <p:nvPr/>
        </p:nvGraphicFramePr>
        <p:xfrm>
          <a:off x="815975" y="2242741"/>
          <a:ext cx="10560050" cy="2451100"/>
        </p:xfrm>
        <a:graphic>
          <a:graphicData uri="http://schemas.openxmlformats.org/drawingml/2006/table">
            <a:tbl>
              <a:tblPr firstRow="0" bandRow="0" lastRow="0" firstCol="0" lastCol="0" bandCol="0">
                <a:tableStyleId>{2D5ABB26-0587-4C30-8999-92F81FD0307C}</a:tableStyleId>
              </a:tblPr>
              <a:tblGrid>
                <a:gridCol w="6546850"/>
                <a:gridCol w="401320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صياغتك</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السطر الضعيف</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Responsible for risk assessment.</a:t>
                      </a:r>
                    </a:p>
                  </a:txBody>
                  <a:tcPr marT="107061" marR="152400" marB="70739" marL="4115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Helped with access review.</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Familiar with NCA ECC.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Box 7"/>
          <p:cNvSpPr/>
          <p:nvPr/>
        </p:nvSpPr>
        <p:spPr>
          <a:xfrm>
            <a:off x="812800" y="4887516"/>
            <a:ext cx="10566400" cy="609600"/>
          </a:xfrm>
          <a:prstGeom prst="roundRect">
            <a:avLst>
              <a:gd name="adj" fmla="val 16666"/>
            </a:avLst>
          </a:prstGeom>
          <a:solidFill>
            <a:srgbClr val="F6ECDA"/>
          </a:solidFill>
          <a:ln>
            <a:noFill/>
          </a:ln>
        </p:spPr>
        <p:txBody>
          <a:bodyPr rtlCol="0" anchor="ctr"/>
          <a:lstStyle/>
          <a:p>
            <a:pPr algn="ctr"/>
          </a:p>
        </p:txBody>
      </p:sp>
      <p:pic>
        <p:nvPicPr>
          <p:cNvPr id="9" name="Icon Clock 8" descr="icon072.png"/>
          <p:cNvPicPr>
            <a:picLocks noChangeAspect="1"/>
          </p:cNvPicPr>
          <p:nvPr/>
        </p:nvPicPr>
        <p:blipFill>
          <a:blip r:embed="rId2"/>
          <a:stretch>
            <a:fillRect/>
          </a:stretch>
        </p:blipFill>
        <p:spPr>
          <a:xfrm>
            <a:off x="10941050" y="5062141"/>
            <a:ext cx="260350" cy="260350"/>
          </a:xfrm>
          <a:prstGeom prst="rect">
            <a:avLst/>
          </a:prstGeom>
        </p:spPr>
      </p:pic>
      <p:sp>
        <p:nvSpPr>
          <p:cNvPr id="10" name="Text 9"/>
          <p:cNvSpPr txBox="1"/>
          <p:nvPr/>
        </p:nvSpPr>
        <p:spPr>
          <a:xfrm>
            <a:off x="838200" y="4975146"/>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بالإنجليزية، وبأرقام حقيقية من تطبيقاتك. 8 دقائق.</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038009"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ثلاثة أسطر بعد إعادة الصياغة</a:t>
            </a:r>
          </a:p>
        </p:txBody>
      </p:sp>
      <p:graphicFrame>
        <p:nvGraphicFramePr>
          <p:cNvPr id="6" name="Table 5"/>
          <p:cNvGraphicFramePr>
            <a:graphicFrameLocks noGrp="1"/>
          </p:cNvGraphicFramePr>
          <p:nvPr/>
        </p:nvGraphicFramePr>
        <p:xfrm>
          <a:off x="815975" y="1661120"/>
          <a:ext cx="10560050" cy="3536553"/>
        </p:xfrm>
        <a:graphic>
          <a:graphicData uri="http://schemas.openxmlformats.org/drawingml/2006/table">
            <a:tbl>
              <a:tblPr firstRow="0" bandRow="0" lastRow="0" firstCol="0" lastCol="0" bandCol="0">
                <a:tableStyleId>{2D5ABB26-0587-4C30-8999-92F81FD0307C}</a:tableStyleId>
              </a:tblPr>
              <a:tblGrid>
                <a:gridCol w="7603490"/>
                <a:gridCol w="2956560"/>
              </a:tblGrid>
              <a:tr h="487759">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بعد</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98"/>
                        </a:lnSpc>
                        <a:spcBef>
                          <a:spcPts val="0"/>
                        </a:spcBef>
                        <a:spcAft>
                          <a:spcPts val="0"/>
                        </a:spcAft>
                      </a:pPr>
                      <a:r>
                        <a:rPr sz="1850" b="1" i="0">
                          <a:solidFill>
                            <a:srgbClr val="F3EFE6"/>
                          </a:solidFill>
                          <a:latin typeface="IBM Plex Sans Arabic"/>
                          <a:ea typeface="IBM Plex Sans Arabic"/>
                          <a:cs typeface="IBM Plex Sans Arabic"/>
                        </a:rPr>
                        <a:t>قبل</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121966">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Assessed a vendor remote-access risk for a fictional 200-staff company; rated it High (16) and proposed 5 actions with owners and dates.</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Responsible for risk assessment.</a:t>
                      </a:r>
                    </a:p>
                  </a:txBody>
                  <a:tcPr marT="99031" marR="140970" marB="65434" marL="6072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121966">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Tested a quarterly access review against 6 evidence items; rated it partially implemented and wrote a finding with a 4-step corrective plan.</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Helped with access review.</a:t>
                      </a:r>
                    </a:p>
                  </a:txBody>
                  <a:tcPr marT="99031" marR="140970" marB="65434" marL="6072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04862">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Mapped ECC-2:2024 controls 2-2-3-2 and 2-2-3-5 to evidence requests and test steps for a training case.</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98"/>
                        </a:lnSpc>
                        <a:spcBef>
                          <a:spcPts val="0"/>
                        </a:spcBef>
                        <a:spcAft>
                          <a:spcPts val="0"/>
                        </a:spcAft>
                      </a:pPr>
                      <a:r>
                        <a:rPr sz="1850" b="0" i="0">
                          <a:solidFill>
                            <a:srgbClr val="172433"/>
                          </a:solidFill>
                          <a:latin typeface="IBM Plex Sans Arabic"/>
                          <a:ea typeface="IBM Plex Sans Arabic"/>
                          <a:cs typeface="IBM Plex Sans Arabic"/>
                        </a:rPr>
                        <a:t>Familiar with NCA ECC.</a:t>
                      </a:r>
                    </a:p>
                  </a:txBody>
                  <a:tcPr marT="99031" marR="140970" marB="65434"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5353947"/>
            <a:ext cx="113792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كل سطر يبدأ بفعل، ويذكر الطريقة، وينتهي بنتيجة أو رقم من عملك الفعلي على حالة تدريبية.</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58870" y="1423690"/>
            <a:ext cx="23203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07</a:t>
            </a:r>
          </a:p>
        </p:txBody>
      </p:sp>
      <p:sp>
        <p:nvSpPr>
          <p:cNvPr id="4" name="Text 3"/>
          <p:cNvSpPr txBox="1"/>
          <p:nvPr/>
        </p:nvSpPr>
        <p:spPr>
          <a:xfrm>
            <a:off x="4632484" y="1845155"/>
            <a:ext cx="4883587"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لينكدإن والفرص</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ملفك يعمل وأنت نائم: يجده مسؤول التوظيف حين يبحث، ويقرؤه قبل أن يتصل بك.</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تكمل ملفك: الصورة، والعنوان، والنبذة، وقسم Featured.</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شبكة وتنشر بطريقة آمنة ومهنية.</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تستخدم Open to Work والبحث بأكثر من مسمى.</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07 · لينكدإن والفرص</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ملف مكتمل</a:t>
            </a:r>
          </a:p>
        </p:txBody>
      </p:sp>
      <p:sp>
        <p:nvSpPr>
          <p:cNvPr id="6" name="Text box 5"/>
          <p:cNvSpPr/>
          <p:nvPr/>
        </p:nvSpPr>
        <p:spPr>
          <a:xfrm>
            <a:off x="11125200" y="1657945"/>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1</a:t>
            </a:r>
          </a:p>
        </p:txBody>
      </p:sp>
      <p:sp>
        <p:nvSpPr>
          <p:cNvPr id="7" name="Text 6"/>
          <p:cNvSpPr txBox="1"/>
          <p:nvPr/>
        </p:nvSpPr>
        <p:spPr>
          <a:xfrm>
            <a:off x="7726426" y="1624481"/>
            <a:ext cx="3322574"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الصورة: من 400×400 بكسل، حتى 8 ميغابايت، JPG أو PNG.</a:t>
            </a:r>
          </a:p>
        </p:txBody>
      </p:sp>
      <p:sp>
        <p:nvSpPr>
          <p:cNvPr id="8" name="Text box 7"/>
          <p:cNvSpPr/>
          <p:nvPr/>
        </p:nvSpPr>
        <p:spPr>
          <a:xfrm>
            <a:off x="11125200" y="2376686"/>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2</a:t>
            </a:r>
          </a:p>
        </p:txBody>
      </p:sp>
      <p:sp>
        <p:nvSpPr>
          <p:cNvPr id="9" name="Text 8"/>
          <p:cNvSpPr txBox="1"/>
          <p:nvPr/>
        </p:nvSpPr>
        <p:spPr>
          <a:xfrm>
            <a:off x="7726426" y="2343221"/>
            <a:ext cx="3322574"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الخلفية: المقاس الموصى به 1584×396 بكسل.</a:t>
            </a:r>
          </a:p>
        </p:txBody>
      </p:sp>
      <p:sp>
        <p:nvSpPr>
          <p:cNvPr id="10" name="Text box 9"/>
          <p:cNvSpPr/>
          <p:nvPr/>
        </p:nvSpPr>
        <p:spPr>
          <a:xfrm>
            <a:off x="11125200" y="3095427"/>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3</a:t>
            </a:r>
          </a:p>
        </p:txBody>
      </p:sp>
      <p:sp>
        <p:nvSpPr>
          <p:cNvPr id="11" name="Text 10"/>
          <p:cNvSpPr txBox="1"/>
          <p:nvPr/>
        </p:nvSpPr>
        <p:spPr>
          <a:xfrm>
            <a:off x="7726426" y="3061962"/>
            <a:ext cx="3322574"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العنوان المهني: الوظيفة المستهدفة وكلماتها.</a:t>
            </a:r>
          </a:p>
        </p:txBody>
      </p:sp>
      <p:sp>
        <p:nvSpPr>
          <p:cNvPr id="12" name="Text box 11"/>
          <p:cNvSpPr/>
          <p:nvPr/>
        </p:nvSpPr>
        <p:spPr>
          <a:xfrm>
            <a:off x="11125200" y="3814167"/>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4</a:t>
            </a:r>
          </a:p>
        </p:txBody>
      </p:sp>
      <p:sp>
        <p:nvSpPr>
          <p:cNvPr id="13" name="Text 12"/>
          <p:cNvSpPr txBox="1"/>
          <p:nvPr/>
        </p:nvSpPr>
        <p:spPr>
          <a:xfrm>
            <a:off x="7726426" y="3780703"/>
            <a:ext cx="3322574"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رابط مخصص: من 3 إلى 100 حرف، بلا مسافات أو رموز.</a:t>
            </a:r>
          </a:p>
        </p:txBody>
      </p:sp>
      <p:sp>
        <p:nvSpPr>
          <p:cNvPr id="14" name="Text box 13"/>
          <p:cNvSpPr/>
          <p:nvPr/>
        </p:nvSpPr>
        <p:spPr>
          <a:xfrm>
            <a:off x="11125200" y="4532908"/>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5</a:t>
            </a:r>
          </a:p>
        </p:txBody>
      </p:sp>
      <p:sp>
        <p:nvSpPr>
          <p:cNvPr id="15" name="Text 14"/>
          <p:cNvSpPr txBox="1"/>
          <p:nvPr/>
        </p:nvSpPr>
        <p:spPr>
          <a:xfrm>
            <a:off x="7565136" y="4499443"/>
            <a:ext cx="3483864"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Featured: مشاريعك أعلى الملف.</a:t>
            </a:r>
          </a:p>
        </p:txBody>
      </p:sp>
      <p:sp>
        <p:nvSpPr>
          <p:cNvPr id="16" name="Text box 15"/>
          <p:cNvSpPr/>
          <p:nvPr/>
        </p:nvSpPr>
        <p:spPr>
          <a:xfrm>
            <a:off x="11125200" y="4949428"/>
            <a:ext cx="254000" cy="254000"/>
          </a:xfrm>
          <a:prstGeom prst="roundRect">
            <a:avLst>
              <a:gd name="adj" fmla="val 50000"/>
            </a:avLst>
          </a:prstGeom>
          <a:solidFill>
            <a:srgbClr val="0E7C6B"/>
          </a:solidFill>
          <a:ln>
            <a:noFill/>
          </a:ln>
        </p:spPr>
        <p:txBody>
          <a:bodyPr rtlCol="0" anchor="ctr" wrap="square" tIns="0" rIns="0" bIns="74041" lIns="0" anchorCtr="0">
            <a:noAutofit/>
          </a:bodyPr>
          <a:lstStyle/>
          <a:p>
            <a:pPr algn="ctr">
              <a:lnSpc>
                <a:spcPts val="2000"/>
              </a:lnSpc>
              <a:spcBef>
                <a:spcPts val="0"/>
              </a:spcBef>
              <a:spcAft>
                <a:spcPts val="0"/>
              </a:spcAft>
            </a:pPr>
            <a:r>
              <a:rPr sz="1300" b="1" i="0">
                <a:solidFill>
                  <a:srgbClr val="FFFFFF"/>
                </a:solidFill>
                <a:latin typeface="IBM Plex Sans Arabic"/>
                <a:ea typeface="IBM Plex Sans Arabic"/>
                <a:cs typeface="IBM Plex Sans Arabic"/>
              </a:rPr>
              <a:t>6</a:t>
            </a:r>
          </a:p>
        </p:txBody>
      </p:sp>
      <p:sp>
        <p:nvSpPr>
          <p:cNvPr id="17" name="Text 16"/>
          <p:cNvSpPr txBox="1"/>
          <p:nvPr/>
        </p:nvSpPr>
        <p:spPr>
          <a:xfrm>
            <a:off x="7726426" y="4915964"/>
            <a:ext cx="3322574" cy="604441"/>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172433"/>
                </a:solidFill>
                <a:latin typeface="IBM Plex Sans Arabic"/>
                <a:ea typeface="IBM Plex Sans Arabic"/>
                <a:cs typeface="IBM Plex Sans Arabic"/>
              </a:rPr>
              <a:t>المهارات: حتى 100 مهارة. أهمها في الأعلى.</a:t>
            </a:r>
          </a:p>
        </p:txBody>
      </p:sp>
      <p:sp>
        <p:nvSpPr>
          <p:cNvPr id="18" name="Box 17"/>
          <p:cNvSpPr/>
          <p:nvPr/>
        </p:nvSpPr>
        <p:spPr>
          <a:xfrm>
            <a:off x="815975" y="1661120"/>
            <a:ext cx="6813550" cy="4165699"/>
          </a:xfrm>
          <a:prstGeom prst="roundRect">
            <a:avLst>
              <a:gd name="adj" fmla="val 2130"/>
            </a:avLst>
          </a:prstGeom>
          <a:solidFill>
            <a:srgbClr val="FFFFFF"/>
          </a:solidFill>
          <a:ln w="6350">
            <a:solidFill>
              <a:srgbClr val="D9D2C2"/>
            </a:solidFill>
          </a:ln>
        </p:spPr>
        <p:txBody>
          <a:bodyPr rtlCol="0" anchor="ctr"/>
          <a:lstStyle/>
          <a:p>
            <a:pPr algn="ctr"/>
          </a:p>
        </p:txBody>
      </p:sp>
      <p:sp>
        <p:nvSpPr>
          <p:cNvPr id="19" name="Text 18"/>
          <p:cNvSpPr txBox="1"/>
          <p:nvPr/>
        </p:nvSpPr>
        <p:spPr>
          <a:xfrm>
            <a:off x="3714909" y="1974898"/>
            <a:ext cx="3416141"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F3EFE6"/>
                </a:solidFill>
                <a:latin typeface="Readex Pro"/>
                <a:ea typeface="Readex Pro"/>
                <a:cs typeface="Readex Pro"/>
              </a:rPr>
              <a:t>Governance · Risk · Compliance</a:t>
            </a:r>
          </a:p>
        </p:txBody>
      </p:sp>
      <p:sp>
        <p:nvSpPr>
          <p:cNvPr id="20" name="Text box 19"/>
          <p:cNvSpPr/>
          <p:nvPr/>
        </p:nvSpPr>
        <p:spPr>
          <a:xfrm>
            <a:off x="7207250" y="2032595"/>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21" name="Box 20"/>
          <p:cNvSpPr/>
          <p:nvPr/>
        </p:nvSpPr>
        <p:spPr>
          <a:xfrm>
            <a:off x="1066800" y="2191345"/>
            <a:ext cx="850900" cy="850900"/>
          </a:xfrm>
          <a:prstGeom prst="roundRect">
            <a:avLst>
              <a:gd name="adj" fmla="val 50000"/>
            </a:avLst>
          </a:prstGeom>
          <a:solidFill>
            <a:srgbClr val="DCEFEA"/>
          </a:solidFill>
          <a:ln w="38100">
            <a:solidFill>
              <a:srgbClr val="FFFFFF"/>
            </a:solidFill>
          </a:ln>
        </p:spPr>
        <p:txBody>
          <a:bodyPr rtlCol="0" anchor="ctr"/>
          <a:lstStyle/>
          <a:p>
            <a:pPr algn="ctr"/>
          </a:p>
        </p:txBody>
      </p:sp>
      <p:sp>
        <p:nvSpPr>
          <p:cNvPr id="22" name="Text 21"/>
          <p:cNvSpPr txBox="1"/>
          <p:nvPr/>
        </p:nvSpPr>
        <p:spPr>
          <a:xfrm>
            <a:off x="1222296" y="2389104"/>
            <a:ext cx="539810" cy="391120"/>
          </a:xfrm>
          <a:prstGeom prst="rect">
            <a:avLst/>
          </a:prstGeom>
          <a:noFill/>
        </p:spPr>
        <p:txBody>
          <a:bodyPr wrap="square" tIns="0" rIns="0" bIns="0" lIns="0" anchor="t" rtlCol="0" anchorCtr="0">
            <a:noAutofit/>
          </a:bodyPr>
          <a:lstStyle/>
          <a:p>
            <a:pPr algn="ctr">
              <a:lnSpc>
                <a:spcPts val="3080"/>
              </a:lnSpc>
              <a:spcBef>
                <a:spcPts val="0"/>
              </a:spcBef>
              <a:spcAft>
                <a:spcPts val="0"/>
              </a:spcAft>
            </a:pPr>
            <a:r>
              <a:rPr sz="2200" b="1" i="0">
                <a:solidFill>
                  <a:srgbClr val="0E7C6B"/>
                </a:solidFill>
                <a:latin typeface="Readex Pro"/>
                <a:ea typeface="Readex Pro"/>
                <a:cs typeface="Readex Pro"/>
              </a:rPr>
              <a:t>SA</a:t>
            </a:r>
          </a:p>
        </p:txBody>
      </p:sp>
      <p:sp>
        <p:nvSpPr>
          <p:cNvPr id="23" name="Text box 22"/>
          <p:cNvSpPr/>
          <p:nvPr/>
        </p:nvSpPr>
        <p:spPr>
          <a:xfrm>
            <a:off x="1771650" y="2819995"/>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24" name="Text 23"/>
          <p:cNvSpPr txBox="1"/>
          <p:nvPr/>
        </p:nvSpPr>
        <p:spPr>
          <a:xfrm>
            <a:off x="1047750" y="3184295"/>
            <a:ext cx="65595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2100" b="1" i="0">
                <a:solidFill>
                  <a:srgbClr val="172433"/>
                </a:solidFill>
                <a:latin typeface="Readex Pro"/>
                <a:ea typeface="Readex Pro"/>
                <a:cs typeface="Readex Pro"/>
              </a:rPr>
              <a:t>Sara Ahmed</a:t>
            </a:r>
          </a:p>
        </p:txBody>
      </p:sp>
      <p:sp>
        <p:nvSpPr>
          <p:cNvPr id="25" name="Text 24"/>
          <p:cNvSpPr txBox="1"/>
          <p:nvPr/>
        </p:nvSpPr>
        <p:spPr>
          <a:xfrm>
            <a:off x="1047750" y="3532660"/>
            <a:ext cx="5688175" cy="274241"/>
          </a:xfrm>
          <a:prstGeom prst="rect">
            <a:avLst/>
          </a:prstGeom>
          <a:noFill/>
        </p:spPr>
        <p:txBody>
          <a:bodyPr wrap="square" tIns="0" rIns="0" bIns="0" lIns="0" anchor="t" rtlCol="0" anchorCtr="0">
            <a:noAutofit/>
          </a:bodyPr>
          <a:lstStyle/>
          <a:p>
            <a:pPr algn="l">
              <a:lnSpc>
                <a:spcPts val="2160"/>
              </a:lnSpc>
              <a:spcBef>
                <a:spcPts val="0"/>
              </a:spcBef>
              <a:spcAft>
                <a:spcPts val="0"/>
              </a:spcAft>
            </a:pPr>
            <a:r>
              <a:rPr sz="1600" b="0" i="0">
                <a:solidFill>
                  <a:srgbClr val="172433"/>
                </a:solidFill>
                <a:latin typeface="IBM Plex Sans Arabic"/>
                <a:ea typeface="IBM Plex Sans Arabic"/>
                <a:cs typeface="IBM Plex Sans Arabic"/>
              </a:rPr>
              <a:t>Entry-Level GRC Analyst | Risk · Control Testing · NCA ECC</a:t>
            </a:r>
          </a:p>
        </p:txBody>
      </p:sp>
      <p:sp>
        <p:nvSpPr>
          <p:cNvPr id="26" name="Text box 25"/>
          <p:cNvSpPr/>
          <p:nvPr/>
        </p:nvSpPr>
        <p:spPr>
          <a:xfrm>
            <a:off x="6378079" y="3588246"/>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27" name="Text 26"/>
          <p:cNvSpPr txBox="1"/>
          <p:nvPr/>
        </p:nvSpPr>
        <p:spPr>
          <a:xfrm>
            <a:off x="1047750" y="3858526"/>
            <a:ext cx="3908846" cy="265708"/>
          </a:xfrm>
          <a:prstGeom prst="rect">
            <a:avLst/>
          </a:prstGeom>
          <a:noFill/>
        </p:spPr>
        <p:txBody>
          <a:bodyPr wrap="square" tIns="0" rIns="0" bIns="0" lIns="0" anchor="t" rtlCol="0" anchorCtr="0">
            <a:noAutofit/>
          </a:bodyPr>
          <a:lstStyle/>
          <a:p>
            <a:pPr algn="l">
              <a:lnSpc>
                <a:spcPts val="2093"/>
              </a:lnSpc>
              <a:spcBef>
                <a:spcPts val="0"/>
              </a:spcBef>
              <a:spcAft>
                <a:spcPts val="0"/>
              </a:spcAft>
            </a:pPr>
            <a:r>
              <a:rPr sz="1550" b="0" i="0">
                <a:solidFill>
                  <a:srgbClr val="5E6A75"/>
                </a:solidFill>
                <a:latin typeface="IBM Plex Sans Arabic"/>
                <a:ea typeface="IBM Plex Sans Arabic"/>
                <a:cs typeface="IBM Plex Sans Arabic"/>
              </a:rPr>
              <a:t>Riyadh · linkedin.com/in/sara-ahmed-grc</a:t>
            </a:r>
          </a:p>
        </p:txBody>
      </p:sp>
      <p:sp>
        <p:nvSpPr>
          <p:cNvPr id="28" name="Text box 27"/>
          <p:cNvSpPr/>
          <p:nvPr/>
        </p:nvSpPr>
        <p:spPr>
          <a:xfrm>
            <a:off x="4730552" y="3909020"/>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29" name="Text 28"/>
          <p:cNvSpPr txBox="1"/>
          <p:nvPr/>
        </p:nvSpPr>
        <p:spPr>
          <a:xfrm>
            <a:off x="1047750" y="4207228"/>
            <a:ext cx="980658"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Featured</a:t>
            </a:r>
          </a:p>
        </p:txBody>
      </p:sp>
      <p:sp>
        <p:nvSpPr>
          <p:cNvPr id="30" name="Text box 29"/>
          <p:cNvSpPr/>
          <p:nvPr/>
        </p:nvSpPr>
        <p:spPr>
          <a:xfrm>
            <a:off x="1969988" y="4272955"/>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31" name="Box 30"/>
          <p:cNvSpPr/>
          <p:nvPr/>
        </p:nvSpPr>
        <p:spPr>
          <a:xfrm>
            <a:off x="1047750" y="4573984"/>
            <a:ext cx="3136900" cy="678160"/>
          </a:xfrm>
          <a:prstGeom prst="roundRect">
            <a:avLst>
              <a:gd name="adj" fmla="val 9363"/>
            </a:avLst>
          </a:prstGeom>
          <a:solidFill>
            <a:srgbClr val="F1ECE1"/>
          </a:solidFill>
          <a:ln>
            <a:noFill/>
          </a:ln>
        </p:spPr>
        <p:txBody>
          <a:bodyPr rtlCol="0" anchor="ctr"/>
          <a:lstStyle/>
          <a:p>
            <a:pPr algn="ctr"/>
          </a:p>
        </p:txBody>
      </p:sp>
      <p:sp>
        <p:nvSpPr>
          <p:cNvPr id="32" name="Text 31"/>
          <p:cNvSpPr txBox="1"/>
          <p:nvPr/>
        </p:nvSpPr>
        <p:spPr>
          <a:xfrm>
            <a:off x="1136650" y="4605988"/>
            <a:ext cx="30226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Vendor Access Risk</a:t>
            </a:r>
          </a:p>
        </p:txBody>
      </p:sp>
      <p:sp>
        <p:nvSpPr>
          <p:cNvPr id="33" name="Text 32"/>
          <p:cNvSpPr txBox="1"/>
          <p:nvPr/>
        </p:nvSpPr>
        <p:spPr>
          <a:xfrm>
            <a:off x="1136650" y="4892417"/>
            <a:ext cx="3022600" cy="266700"/>
          </a:xfrm>
          <a:prstGeom prst="rect">
            <a:avLst/>
          </a:prstGeom>
          <a:noFill/>
        </p:spPr>
        <p:txBody>
          <a:bodyPr wrap="square" tIns="0" rIns="0" bIns="0" lIns="0" anchor="t" rtlCol="0" anchorCtr="0">
            <a:noAutofit/>
          </a:bodyPr>
          <a:lstStyle/>
          <a:p>
            <a:pPr algn="l">
              <a:lnSpc>
                <a:spcPts val="2100"/>
              </a:lnSpc>
              <a:spcBef>
                <a:spcPts val="0"/>
              </a:spcBef>
              <a:spcAft>
                <a:spcPts val="0"/>
              </a:spcAft>
            </a:pPr>
            <a:r>
              <a:rPr sz="1500" b="0" i="0">
                <a:solidFill>
                  <a:srgbClr val="5E6A75"/>
                </a:solidFill>
                <a:latin typeface="IBM Plex Sans Arabic"/>
                <a:ea typeface="IBM Plex Sans Arabic"/>
                <a:cs typeface="IBM Plex Sans Arabic"/>
              </a:rPr>
              <a:t>Risk rated 16 · 5 actions</a:t>
            </a:r>
          </a:p>
        </p:txBody>
      </p:sp>
      <p:sp>
        <p:nvSpPr>
          <p:cNvPr id="34" name="Box 33"/>
          <p:cNvSpPr/>
          <p:nvPr/>
        </p:nvSpPr>
        <p:spPr>
          <a:xfrm>
            <a:off x="4260850" y="4573984"/>
            <a:ext cx="3136900" cy="678160"/>
          </a:xfrm>
          <a:prstGeom prst="roundRect">
            <a:avLst>
              <a:gd name="adj" fmla="val 9363"/>
            </a:avLst>
          </a:prstGeom>
          <a:solidFill>
            <a:srgbClr val="F1ECE1"/>
          </a:solidFill>
          <a:ln>
            <a:noFill/>
          </a:ln>
        </p:spPr>
        <p:txBody>
          <a:bodyPr rtlCol="0" anchor="ctr"/>
          <a:lstStyle/>
          <a:p>
            <a:pPr algn="ctr"/>
          </a:p>
        </p:txBody>
      </p:sp>
      <p:sp>
        <p:nvSpPr>
          <p:cNvPr id="35" name="Text 34"/>
          <p:cNvSpPr txBox="1"/>
          <p:nvPr/>
        </p:nvSpPr>
        <p:spPr>
          <a:xfrm>
            <a:off x="4349750" y="4605988"/>
            <a:ext cx="30226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Access Review Test</a:t>
            </a:r>
          </a:p>
        </p:txBody>
      </p:sp>
      <p:sp>
        <p:nvSpPr>
          <p:cNvPr id="36" name="Text 35"/>
          <p:cNvSpPr txBox="1"/>
          <p:nvPr/>
        </p:nvSpPr>
        <p:spPr>
          <a:xfrm>
            <a:off x="4349750" y="4892417"/>
            <a:ext cx="3022600" cy="266700"/>
          </a:xfrm>
          <a:prstGeom prst="rect">
            <a:avLst/>
          </a:prstGeom>
          <a:noFill/>
        </p:spPr>
        <p:txBody>
          <a:bodyPr wrap="square" tIns="0" rIns="0" bIns="0" lIns="0" anchor="t" rtlCol="0" anchorCtr="0">
            <a:noAutofit/>
          </a:bodyPr>
          <a:lstStyle/>
          <a:p>
            <a:pPr algn="l">
              <a:lnSpc>
                <a:spcPts val="2100"/>
              </a:lnSpc>
              <a:spcBef>
                <a:spcPts val="0"/>
              </a:spcBef>
              <a:spcAft>
                <a:spcPts val="0"/>
              </a:spcAft>
            </a:pPr>
            <a:r>
              <a:rPr sz="1500" b="0" i="0">
                <a:solidFill>
                  <a:srgbClr val="5E6A75"/>
                </a:solidFill>
                <a:latin typeface="IBM Plex Sans Arabic"/>
                <a:ea typeface="IBM Plex Sans Arabic"/>
                <a:cs typeface="IBM Plex Sans Arabic"/>
              </a:rPr>
              <a:t>Finding + corrective plan</a:t>
            </a:r>
          </a:p>
        </p:txBody>
      </p:sp>
      <p:sp>
        <p:nvSpPr>
          <p:cNvPr id="37" name="Text box 36"/>
          <p:cNvSpPr/>
          <p:nvPr/>
        </p:nvSpPr>
        <p:spPr>
          <a:xfrm>
            <a:off x="1047750" y="5398195"/>
            <a:ext cx="215900" cy="215900"/>
          </a:xfrm>
          <a:prstGeom prst="roundRect">
            <a:avLst>
              <a:gd name="adj" fmla="val 50000"/>
            </a:avLst>
          </a:prstGeom>
          <a:solidFill>
            <a:srgbClr val="F2C46D"/>
          </a:solidFill>
          <a:ln>
            <a:noFill/>
          </a:ln>
        </p:spPr>
        <p:txBody>
          <a:bodyPr rtlCol="0" anchor="ctr" wrap="square" tIns="0" rIns="0" bIns="49784" lIns="0" anchorCtr="0">
            <a:noAutofit/>
          </a:bodyPr>
          <a:lstStyle/>
          <a:p>
            <a:pPr algn="ctr">
              <a:lnSpc>
                <a:spcPts val="1700"/>
              </a:lnSpc>
              <a:spcBef>
                <a:spcPts val="0"/>
              </a:spcBef>
              <a:spcAft>
                <a:spcPts val="0"/>
              </a:spcAft>
            </a:pPr>
            <a:r>
              <a:rPr sz="1200" b="1" i="0">
                <a:solidFill>
                  <a:srgbClr val="172433"/>
                </a:solidFill>
                <a:latin typeface="IBM Plex Sans Arabic"/>
                <a:ea typeface="IBM Plex Sans Arabic"/>
                <a:cs typeface="IBM Plex Sans Arabic"/>
              </a:rPr>
              <a:t>6</a:t>
            </a:r>
          </a:p>
        </p:txBody>
      </p:sp>
      <p:sp>
        <p:nvSpPr>
          <p:cNvPr id="38" name="Text box 37"/>
          <p:cNvSpPr/>
          <p:nvPr/>
        </p:nvSpPr>
        <p:spPr>
          <a:xfrm>
            <a:off x="1330325" y="5344220"/>
            <a:ext cx="1633339" cy="323850"/>
          </a:xfrm>
          <a:prstGeom prst="roundRect">
            <a:avLst>
              <a:gd name="adj" fmla="val 50000"/>
            </a:avLst>
          </a:prstGeom>
          <a:noFill/>
          <a:ln w="6350">
            <a:solidFill>
              <a:srgbClr val="9FD1C5"/>
            </a:solidFill>
          </a:ln>
        </p:spPr>
        <p:txBody>
          <a:bodyPr rtlCol="0" anchor="ctr" wrap="square" tIns="0" rIns="0" bIns="59055" lIns="44649" anchorCtr="0">
            <a:noAutofit/>
          </a:bodyPr>
          <a:lstStyle/>
          <a:p>
            <a:pPr algn="l">
              <a:lnSpc>
                <a:spcPts val="2100"/>
              </a:lnSpc>
              <a:spcBef>
                <a:spcPts val="0"/>
              </a:spcBef>
              <a:spcAft>
                <a:spcPts val="0"/>
              </a:spcAft>
            </a:pPr>
            <a:r>
              <a:rPr sz="1500" b="0" i="0">
                <a:solidFill>
                  <a:srgbClr val="172433"/>
                </a:solidFill>
                <a:latin typeface="IBM Plex Sans Arabic"/>
                <a:ea typeface="IBM Plex Sans Arabic"/>
                <a:cs typeface="IBM Plex Sans Arabic"/>
              </a:rPr>
              <a:t>Risk Assessment</a:t>
            </a:r>
          </a:p>
        </p:txBody>
      </p:sp>
      <p:sp>
        <p:nvSpPr>
          <p:cNvPr id="39" name="Text box 38"/>
          <p:cNvSpPr/>
          <p:nvPr/>
        </p:nvSpPr>
        <p:spPr>
          <a:xfrm>
            <a:off x="3033514" y="5344220"/>
            <a:ext cx="1122362" cy="323850"/>
          </a:xfrm>
          <a:prstGeom prst="roundRect">
            <a:avLst>
              <a:gd name="adj" fmla="val 50000"/>
            </a:avLst>
          </a:prstGeom>
          <a:noFill/>
          <a:ln w="6350">
            <a:solidFill>
              <a:srgbClr val="9FD1C5"/>
            </a:solidFill>
          </a:ln>
        </p:spPr>
        <p:txBody>
          <a:bodyPr rtlCol="0" anchor="ctr" wrap="square" tIns="0" rIns="0" bIns="59055" lIns="44649" anchorCtr="0">
            <a:noAutofit/>
          </a:bodyPr>
          <a:lstStyle/>
          <a:p>
            <a:pPr algn="l">
              <a:lnSpc>
                <a:spcPts val="2100"/>
              </a:lnSpc>
              <a:spcBef>
                <a:spcPts val="0"/>
              </a:spcBef>
              <a:spcAft>
                <a:spcPts val="0"/>
              </a:spcAft>
            </a:pPr>
            <a:r>
              <a:rPr sz="1500" b="0" i="0">
                <a:solidFill>
                  <a:srgbClr val="172433"/>
                </a:solidFill>
                <a:latin typeface="IBM Plex Sans Arabic"/>
                <a:ea typeface="IBM Plex Sans Arabic"/>
                <a:cs typeface="IBM Plex Sans Arabic"/>
              </a:rPr>
              <a:t>ISO 27001</a:t>
            </a:r>
          </a:p>
        </p:txBody>
      </p:sp>
      <p:sp>
        <p:nvSpPr>
          <p:cNvPr id="40" name="Text box 39"/>
          <p:cNvSpPr/>
          <p:nvPr/>
        </p:nvSpPr>
        <p:spPr>
          <a:xfrm>
            <a:off x="4225727" y="5344220"/>
            <a:ext cx="992684" cy="323850"/>
          </a:xfrm>
          <a:prstGeom prst="roundRect">
            <a:avLst>
              <a:gd name="adj" fmla="val 50000"/>
            </a:avLst>
          </a:prstGeom>
          <a:noFill/>
          <a:ln w="6350">
            <a:solidFill>
              <a:srgbClr val="9FD1C5"/>
            </a:solidFill>
          </a:ln>
        </p:spPr>
        <p:txBody>
          <a:bodyPr rtlCol="0" anchor="ctr" wrap="square" tIns="0" rIns="0" bIns="59055" lIns="44649" anchorCtr="0">
            <a:noAutofit/>
          </a:bodyPr>
          <a:lstStyle/>
          <a:p>
            <a:pPr algn="l">
              <a:lnSpc>
                <a:spcPts val="2100"/>
              </a:lnSpc>
              <a:spcBef>
                <a:spcPts val="0"/>
              </a:spcBef>
              <a:spcAft>
                <a:spcPts val="0"/>
              </a:spcAft>
            </a:pPr>
            <a:r>
              <a:rPr sz="1500" b="0" i="0">
                <a:solidFill>
                  <a:srgbClr val="172433"/>
                </a:solidFill>
                <a:latin typeface="IBM Plex Sans Arabic"/>
                <a:ea typeface="IBM Plex Sans Arabic"/>
                <a:cs typeface="IBM Plex Sans Arabic"/>
              </a:rPr>
              <a:t>NIST CSF</a:t>
            </a:r>
          </a:p>
        </p:txBody>
      </p:sp>
      <p:sp>
        <p:nvSpPr>
          <p:cNvPr id="41" name="Text box 40"/>
          <p:cNvSpPr/>
          <p:nvPr/>
        </p:nvSpPr>
        <p:spPr>
          <a:xfrm>
            <a:off x="5288260" y="5344220"/>
            <a:ext cx="949424" cy="323850"/>
          </a:xfrm>
          <a:prstGeom prst="roundRect">
            <a:avLst>
              <a:gd name="adj" fmla="val 50000"/>
            </a:avLst>
          </a:prstGeom>
          <a:noFill/>
          <a:ln w="6350">
            <a:solidFill>
              <a:srgbClr val="9FD1C5"/>
            </a:solidFill>
          </a:ln>
        </p:spPr>
        <p:txBody>
          <a:bodyPr rtlCol="0" anchor="ctr" wrap="square" tIns="0" rIns="0" bIns="59055" lIns="44649" anchorCtr="0">
            <a:noAutofit/>
          </a:bodyPr>
          <a:lstStyle/>
          <a:p>
            <a:pPr algn="l">
              <a:lnSpc>
                <a:spcPts val="2100"/>
              </a:lnSpc>
              <a:spcBef>
                <a:spcPts val="0"/>
              </a:spcBef>
              <a:spcAft>
                <a:spcPts val="0"/>
              </a:spcAft>
            </a:pPr>
            <a:r>
              <a:rPr sz="1500" b="0" i="0">
                <a:solidFill>
                  <a:srgbClr val="172433"/>
                </a:solidFill>
                <a:latin typeface="IBM Plex Sans Arabic"/>
                <a:ea typeface="IBM Plex Sans Arabic"/>
                <a:cs typeface="IBM Plex Sans Arabic"/>
              </a:rPr>
              <a:t>NCA ECC</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137</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العنوان المهني: أهم سطر في ملفك</a:t>
            </a:r>
          </a:p>
        </p:txBody>
      </p:sp>
      <p:sp>
        <p:nvSpPr>
          <p:cNvPr id="6" name="Box 5"/>
          <p:cNvSpPr/>
          <p:nvPr/>
        </p:nvSpPr>
        <p:spPr>
          <a:xfrm>
            <a:off x="812800" y="1657945"/>
            <a:ext cx="10566400" cy="579041"/>
          </a:xfrm>
          <a:prstGeom prst="roundRect">
            <a:avLst>
              <a:gd name="adj" fmla="val 15352"/>
            </a:avLst>
          </a:prstGeom>
          <a:solidFill>
            <a:srgbClr val="172433"/>
          </a:solidFill>
          <a:ln>
            <a:noFill/>
          </a:ln>
        </p:spPr>
        <p:txBody>
          <a:bodyPr rtlCol="0" anchor="ctr"/>
          <a:lstStyle/>
          <a:p>
            <a:pPr algn="ctr"/>
          </a:p>
        </p:txBody>
      </p:sp>
      <p:sp>
        <p:nvSpPr>
          <p:cNvPr id="7" name="Text box 6"/>
          <p:cNvSpPr/>
          <p:nvPr/>
        </p:nvSpPr>
        <p:spPr>
          <a:xfrm>
            <a:off x="9433917" y="1759545"/>
            <a:ext cx="1792883"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الوظيفة المستهدفة</a:t>
            </a:r>
          </a:p>
        </p:txBody>
      </p:sp>
      <p:sp>
        <p:nvSpPr>
          <p:cNvPr id="8" name="Text 7"/>
          <p:cNvSpPr txBox="1"/>
          <p:nvPr/>
        </p:nvSpPr>
        <p:spPr>
          <a:xfrm>
            <a:off x="9160312" y="1762891"/>
            <a:ext cx="197406"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93A3B1"/>
                </a:solidFill>
                <a:latin typeface="IBM Plex Sans Arabic"/>
                <a:ea typeface="IBM Plex Sans Arabic"/>
                <a:cs typeface="IBM Plex Sans Arabic"/>
              </a:rPr>
              <a:t>|</a:t>
            </a:r>
          </a:p>
        </p:txBody>
      </p:sp>
      <p:sp>
        <p:nvSpPr>
          <p:cNvPr id="9" name="Text box 8"/>
          <p:cNvSpPr/>
          <p:nvPr/>
        </p:nvSpPr>
        <p:spPr>
          <a:xfrm>
            <a:off x="7832626" y="1759545"/>
            <a:ext cx="1381026"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مجالان أو ثلاثة</a:t>
            </a:r>
          </a:p>
        </p:txBody>
      </p:sp>
      <p:sp>
        <p:nvSpPr>
          <p:cNvPr id="10" name="Text 9"/>
          <p:cNvSpPr txBox="1"/>
          <p:nvPr/>
        </p:nvSpPr>
        <p:spPr>
          <a:xfrm>
            <a:off x="7559020" y="1762891"/>
            <a:ext cx="197406"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93A3B1"/>
                </a:solidFill>
                <a:latin typeface="IBM Plex Sans Arabic"/>
                <a:ea typeface="IBM Plex Sans Arabic"/>
                <a:cs typeface="IBM Plex Sans Arabic"/>
              </a:rPr>
              <a:t>|</a:t>
            </a:r>
          </a:p>
        </p:txBody>
      </p:sp>
      <p:sp>
        <p:nvSpPr>
          <p:cNvPr id="11" name="Text box 10"/>
          <p:cNvSpPr/>
          <p:nvPr/>
        </p:nvSpPr>
        <p:spPr>
          <a:xfrm>
            <a:off x="5571331" y="1759545"/>
            <a:ext cx="2041029" cy="375841"/>
          </a:xfrm>
          <a:prstGeom prst="roundRect">
            <a:avLst>
              <a:gd name="adj" fmla="val 50000"/>
            </a:avLst>
          </a:prstGeom>
          <a:solidFill>
            <a:srgbClr val="F2C46D"/>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شهادة أو مشروع</a:t>
            </a:r>
          </a:p>
        </p:txBody>
      </p:sp>
      <p:sp>
        <p:nvSpPr>
          <p:cNvPr id="12" name="Box 11"/>
          <p:cNvSpPr/>
          <p:nvPr/>
        </p:nvSpPr>
        <p:spPr>
          <a:xfrm>
            <a:off x="5023545" y="2430661"/>
            <a:ext cx="6352480" cy="2599928"/>
          </a:xfrm>
          <a:prstGeom prst="roundRect">
            <a:avLst>
              <a:gd name="adj" fmla="val 4385"/>
            </a:avLst>
          </a:prstGeom>
          <a:solidFill>
            <a:srgbClr val="FFFDF8"/>
          </a:solidFill>
          <a:ln w="6350">
            <a:solidFill>
              <a:srgbClr val="E1DBCD"/>
            </a:solidFill>
          </a:ln>
        </p:spPr>
        <p:txBody>
          <a:bodyPr rtlCol="0" anchor="ctr"/>
          <a:lstStyle/>
          <a:p>
            <a:pPr algn="ctr"/>
          </a:p>
        </p:txBody>
      </p:sp>
      <p:sp>
        <p:nvSpPr>
          <p:cNvPr id="13" name="Text 12"/>
          <p:cNvSpPr txBox="1"/>
          <p:nvPr/>
        </p:nvSpPr>
        <p:spPr>
          <a:xfrm>
            <a:off x="5045770" y="2551184"/>
            <a:ext cx="6174680" cy="301625"/>
          </a:xfrm>
          <a:prstGeom prst="rect">
            <a:avLst/>
          </a:prstGeom>
          <a:noFill/>
        </p:spPr>
        <p:txBody>
          <a:bodyPr wrap="square" tIns="0" rIns="0" bIns="0" lIns="0" anchor="t" rtlCol="0" anchorCtr="0">
            <a:noAutofit/>
          </a:bodyPr>
          <a:lstStyle/>
          <a:p>
            <a:pPr algn="r" rtl="1">
              <a:lnSpc>
                <a:spcPts val="2375"/>
              </a:lnSpc>
              <a:spcBef>
                <a:spcPts val="0"/>
              </a:spcBef>
              <a:spcAft>
                <a:spcPts val="0"/>
              </a:spcAft>
            </a:pPr>
            <a:r>
              <a:rPr sz="1900" b="1" i="0">
                <a:solidFill>
                  <a:srgbClr val="0E7C6B"/>
                </a:solidFill>
                <a:latin typeface="Readex Pro"/>
                <a:ea typeface="Readex Pro"/>
                <a:cs typeface="Readex Pro"/>
              </a:rPr>
              <a:t>قوي</a:t>
            </a:r>
          </a:p>
        </p:txBody>
      </p:sp>
      <p:sp>
        <p:nvSpPr>
          <p:cNvPr id="14" name="Text box 13"/>
          <p:cNvSpPr/>
          <p:nvPr/>
        </p:nvSpPr>
        <p:spPr>
          <a:xfrm>
            <a:off x="5179120" y="2925961"/>
            <a:ext cx="6041330" cy="713581"/>
          </a:xfrm>
          <a:prstGeom prst="roundRect">
            <a:avLst>
              <a:gd name="adj" fmla="val 8898"/>
            </a:avLst>
          </a:prstGeom>
          <a:solidFill>
            <a:srgbClr val="E3F1ED"/>
          </a:solidFill>
          <a:ln>
            <a:noFill/>
          </a:ln>
        </p:spPr>
        <p:txBody>
          <a:bodyPr rtlCol="0" anchor="ctr" wrap="square" tIns="12421" rIns="0" bIns="77382" lIns="83001" anchorCtr="0">
            <a:noAutofit/>
          </a:bodyPr>
          <a:lstStyle/>
          <a:p>
            <a:pPr algn="l">
              <a:lnSpc>
                <a:spcPts val="2310"/>
              </a:lnSpc>
              <a:spcBef>
                <a:spcPts val="0"/>
              </a:spcBef>
              <a:spcAft>
                <a:spcPts val="0"/>
              </a:spcAft>
            </a:pPr>
            <a:r>
              <a:rPr sz="1650" b="0" i="0">
                <a:solidFill>
                  <a:srgbClr val="172433"/>
                </a:solidFill>
                <a:latin typeface="IBM Plex Sans Arabic"/>
                <a:ea typeface="IBM Plex Sans Arabic"/>
                <a:cs typeface="IBM Plex Sans Arabic"/>
              </a:rPr>
              <a:t>Entry-Level GRC Analyst | Risk Assessment · ISO 27001 · NCA ECC | ISC2 CC</a:t>
            </a:r>
          </a:p>
        </p:txBody>
      </p:sp>
      <p:sp>
        <p:nvSpPr>
          <p:cNvPr id="15" name="Text box 14"/>
          <p:cNvSpPr/>
          <p:nvPr/>
        </p:nvSpPr>
        <p:spPr>
          <a:xfrm>
            <a:off x="5179120" y="3703042"/>
            <a:ext cx="6041330" cy="713581"/>
          </a:xfrm>
          <a:prstGeom prst="roundRect">
            <a:avLst>
              <a:gd name="adj" fmla="val 8898"/>
            </a:avLst>
          </a:prstGeom>
          <a:solidFill>
            <a:srgbClr val="E3F1ED"/>
          </a:solidFill>
          <a:ln>
            <a:noFill/>
          </a:ln>
        </p:spPr>
        <p:txBody>
          <a:bodyPr rtlCol="0" anchor="ctr" wrap="square" tIns="12421" rIns="0" bIns="77382" lIns="83001" anchorCtr="0">
            <a:noAutofit/>
          </a:bodyPr>
          <a:lstStyle/>
          <a:p>
            <a:pPr algn="l">
              <a:lnSpc>
                <a:spcPts val="2310"/>
              </a:lnSpc>
              <a:spcBef>
                <a:spcPts val="0"/>
              </a:spcBef>
              <a:spcAft>
                <a:spcPts val="0"/>
              </a:spcAft>
            </a:pPr>
            <a:r>
              <a:rPr sz="1650" b="0" i="0">
                <a:solidFill>
                  <a:srgbClr val="172433"/>
                </a:solidFill>
                <a:latin typeface="IBM Plex Sans Arabic"/>
                <a:ea typeface="IBM Plex Sans Arabic"/>
                <a:cs typeface="IBM Plex Sans Arabic"/>
              </a:rPr>
              <a:t>IT Support → GRC | Access Management · NIST CSF 2.0 | Security+</a:t>
            </a:r>
          </a:p>
        </p:txBody>
      </p:sp>
      <p:sp>
        <p:nvSpPr>
          <p:cNvPr id="16" name="Text box 15"/>
          <p:cNvSpPr/>
          <p:nvPr/>
        </p:nvSpPr>
        <p:spPr>
          <a:xfrm>
            <a:off x="5179120" y="4480123"/>
            <a:ext cx="6041330" cy="420291"/>
          </a:xfrm>
          <a:prstGeom prst="roundRect">
            <a:avLst>
              <a:gd name="adj" fmla="val 15108"/>
            </a:avLst>
          </a:prstGeom>
          <a:solidFill>
            <a:srgbClr val="E3F1ED"/>
          </a:solidFill>
          <a:ln>
            <a:noFill/>
          </a:ln>
        </p:spPr>
        <p:txBody>
          <a:bodyPr rtlCol="0" anchor="ctr" wrap="square" tIns="12421" rIns="83001" bIns="77382" lIns="0" anchorCtr="0">
            <a:noAutofit/>
          </a:bodyPr>
          <a:lstStyle/>
          <a:p>
            <a:pPr algn="r" rtl="1">
              <a:lnSpc>
                <a:spcPts val="2310"/>
              </a:lnSpc>
              <a:spcBef>
                <a:spcPts val="0"/>
              </a:spcBef>
              <a:spcAft>
                <a:spcPts val="0"/>
              </a:spcAft>
            </a:pPr>
            <a:r>
              <a:rPr sz="1650" b="0" i="0">
                <a:solidFill>
                  <a:srgbClr val="172433"/>
                </a:solidFill>
                <a:latin typeface="IBM Plex Sans Arabic"/>
                <a:ea typeface="IBM Plex Sans Arabic"/>
                <a:cs typeface="IBM Plex Sans Arabic"/>
              </a:rPr>
              <a:t>محلل حوكمة ومخاطر وامتثال | ECC · ISO 27001 | مشروعا تقييم</a:t>
            </a:r>
          </a:p>
        </p:txBody>
      </p:sp>
      <p:sp>
        <p:nvSpPr>
          <p:cNvPr id="17" name="Box 16"/>
          <p:cNvSpPr/>
          <p:nvPr/>
        </p:nvSpPr>
        <p:spPr>
          <a:xfrm>
            <a:off x="815975" y="2430661"/>
            <a:ext cx="4086920" cy="2599928"/>
          </a:xfrm>
          <a:prstGeom prst="roundRect">
            <a:avLst>
              <a:gd name="adj" fmla="val 4385"/>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2551184"/>
            <a:ext cx="3909120" cy="301625"/>
          </a:xfrm>
          <a:prstGeom prst="rect">
            <a:avLst/>
          </a:prstGeom>
          <a:noFill/>
        </p:spPr>
        <p:txBody>
          <a:bodyPr wrap="square" tIns="0" rIns="0" bIns="0" lIns="0" anchor="t" rtlCol="0" anchorCtr="0">
            <a:noAutofit/>
          </a:bodyPr>
          <a:lstStyle/>
          <a:p>
            <a:pPr algn="r" rtl="1">
              <a:lnSpc>
                <a:spcPts val="2375"/>
              </a:lnSpc>
              <a:spcBef>
                <a:spcPts val="0"/>
              </a:spcBef>
              <a:spcAft>
                <a:spcPts val="0"/>
              </a:spcAft>
            </a:pPr>
            <a:r>
              <a:rPr sz="1900" b="1" i="0">
                <a:solidFill>
                  <a:srgbClr val="B4412C"/>
                </a:solidFill>
                <a:latin typeface="Readex Pro"/>
                <a:ea typeface="Readex Pro"/>
                <a:cs typeface="Readex Pro"/>
              </a:rPr>
              <a:t>ضعيف</a:t>
            </a:r>
          </a:p>
        </p:txBody>
      </p:sp>
      <p:sp>
        <p:nvSpPr>
          <p:cNvPr id="19" name="Text box 18"/>
          <p:cNvSpPr/>
          <p:nvPr/>
        </p:nvSpPr>
        <p:spPr>
          <a:xfrm>
            <a:off x="971550" y="2925961"/>
            <a:ext cx="3775770" cy="420291"/>
          </a:xfrm>
          <a:prstGeom prst="roundRect">
            <a:avLst>
              <a:gd name="adj" fmla="val 15108"/>
            </a:avLst>
          </a:prstGeom>
          <a:solidFill>
            <a:srgbClr val="FBEAE5"/>
          </a:solidFill>
          <a:ln>
            <a:noFill/>
          </a:ln>
        </p:spPr>
        <p:txBody>
          <a:bodyPr rtlCol="0" anchor="ctr" wrap="square" tIns="12421" rIns="0" bIns="77382" lIns="83001" anchorCtr="0">
            <a:noAutofit/>
          </a:bodyPr>
          <a:lstStyle/>
          <a:p>
            <a:pPr algn="l">
              <a:lnSpc>
                <a:spcPts val="2310"/>
              </a:lnSpc>
              <a:spcBef>
                <a:spcPts val="0"/>
              </a:spcBef>
              <a:spcAft>
                <a:spcPts val="0"/>
              </a:spcAft>
            </a:pPr>
            <a:r>
              <a:rPr sz="1650" b="0" i="0">
                <a:solidFill>
                  <a:srgbClr val="172433"/>
                </a:solidFill>
                <a:latin typeface="IBM Plex Sans Arabic"/>
                <a:ea typeface="IBM Plex Sans Arabic"/>
                <a:cs typeface="IBM Plex Sans Arabic"/>
              </a:rPr>
              <a:t>Computer Science Student</a:t>
            </a:r>
          </a:p>
        </p:txBody>
      </p:sp>
      <p:sp>
        <p:nvSpPr>
          <p:cNvPr id="20" name="Text box 19"/>
          <p:cNvSpPr/>
          <p:nvPr/>
        </p:nvSpPr>
        <p:spPr>
          <a:xfrm>
            <a:off x="971550" y="3409752"/>
            <a:ext cx="3775770" cy="420291"/>
          </a:xfrm>
          <a:prstGeom prst="roundRect">
            <a:avLst>
              <a:gd name="adj" fmla="val 15108"/>
            </a:avLst>
          </a:prstGeom>
          <a:solidFill>
            <a:srgbClr val="FBEAE5"/>
          </a:solidFill>
          <a:ln>
            <a:noFill/>
          </a:ln>
        </p:spPr>
        <p:txBody>
          <a:bodyPr rtlCol="0" anchor="ctr" wrap="square" tIns="12421" rIns="0" bIns="77382" lIns="83001" anchorCtr="0">
            <a:noAutofit/>
          </a:bodyPr>
          <a:lstStyle/>
          <a:p>
            <a:pPr algn="l">
              <a:lnSpc>
                <a:spcPts val="2310"/>
              </a:lnSpc>
              <a:spcBef>
                <a:spcPts val="0"/>
              </a:spcBef>
              <a:spcAft>
                <a:spcPts val="0"/>
              </a:spcAft>
            </a:pPr>
            <a:r>
              <a:rPr sz="1650" b="0" i="0">
                <a:solidFill>
                  <a:srgbClr val="172433"/>
                </a:solidFill>
                <a:latin typeface="IBM Plex Sans Arabic"/>
                <a:ea typeface="IBM Plex Sans Arabic"/>
                <a:cs typeface="IBM Plex Sans Arabic"/>
              </a:rPr>
              <a:t>Looking for opportunities</a:t>
            </a:r>
          </a:p>
        </p:txBody>
      </p:sp>
      <p:sp>
        <p:nvSpPr>
          <p:cNvPr id="21" name="Text box 20"/>
          <p:cNvSpPr/>
          <p:nvPr/>
        </p:nvSpPr>
        <p:spPr>
          <a:xfrm>
            <a:off x="971550" y="3893542"/>
            <a:ext cx="3775770" cy="713581"/>
          </a:xfrm>
          <a:prstGeom prst="roundRect">
            <a:avLst>
              <a:gd name="adj" fmla="val 8898"/>
            </a:avLst>
          </a:prstGeom>
          <a:solidFill>
            <a:srgbClr val="FBEAE5"/>
          </a:solidFill>
          <a:ln>
            <a:noFill/>
          </a:ln>
        </p:spPr>
        <p:txBody>
          <a:bodyPr rtlCol="0" anchor="ctr" wrap="square" tIns="12421" rIns="0" bIns="77382" lIns="83001" anchorCtr="0">
            <a:noAutofit/>
          </a:bodyPr>
          <a:lstStyle/>
          <a:p>
            <a:pPr algn="l">
              <a:lnSpc>
                <a:spcPts val="2310"/>
              </a:lnSpc>
              <a:spcBef>
                <a:spcPts val="0"/>
              </a:spcBef>
              <a:spcAft>
                <a:spcPts val="0"/>
              </a:spcAft>
            </a:pPr>
            <a:r>
              <a:rPr sz="1650" b="0" i="0">
                <a:solidFill>
                  <a:srgbClr val="172433"/>
                </a:solidFill>
                <a:latin typeface="IBM Plex Sans Arabic"/>
                <a:ea typeface="IBM Plex Sans Arabic"/>
                <a:cs typeface="IBM Plex Sans Arabic"/>
              </a:rPr>
              <a:t>Cybersecurity enthusiast | Hard worker</a:t>
            </a:r>
          </a:p>
        </p:txBody>
      </p:sp>
      <p:sp>
        <p:nvSpPr>
          <p:cNvPr id="22" name="Text 21"/>
          <p:cNvSpPr txBox="1"/>
          <p:nvPr/>
        </p:nvSpPr>
        <p:spPr>
          <a:xfrm>
            <a:off x="0" y="5194737"/>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لم نجد حداً رسمياً لعدد الحروف في صفحات المساعدة. ضع أهم الكلمات في البداية.</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نبذة About: أربعة أجزاء في فقرات قصيرة</a:t>
            </a:r>
          </a:p>
        </p:txBody>
      </p:sp>
      <p:sp>
        <p:nvSpPr>
          <p:cNvPr id="6" name="Box 5"/>
          <p:cNvSpPr/>
          <p:nvPr/>
        </p:nvSpPr>
        <p:spPr>
          <a:xfrm>
            <a:off x="11315700" y="1657945"/>
            <a:ext cx="63500" cy="559991"/>
          </a:xfrm>
          <a:prstGeom prst="roundRect">
            <a:avLst>
              <a:gd name="adj" fmla="val 50000"/>
            </a:avLst>
          </a:prstGeom>
          <a:solidFill>
            <a:srgbClr val="0E7C6B"/>
          </a:solidFill>
          <a:ln>
            <a:noFill/>
          </a:ln>
        </p:spPr>
        <p:txBody>
          <a:bodyPr rtlCol="0" anchor="ctr"/>
          <a:lstStyle/>
          <a:p>
            <a:pPr algn="ctr"/>
          </a:p>
        </p:txBody>
      </p:sp>
      <p:sp>
        <p:nvSpPr>
          <p:cNvPr id="7" name="Text 6"/>
          <p:cNvSpPr txBox="1"/>
          <p:nvPr/>
        </p:nvSpPr>
        <p:spPr>
          <a:xfrm>
            <a:off x="7825232" y="1635276"/>
            <a:ext cx="3401568"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IBM Plex Sans Arabic"/>
                <a:ea typeface="IBM Plex Sans Arabic"/>
                <a:cs typeface="IBM Plex Sans Arabic"/>
              </a:rPr>
              <a:t>1. الافتتاح</a:t>
            </a:r>
          </a:p>
        </p:txBody>
      </p:sp>
      <p:sp>
        <p:nvSpPr>
          <p:cNvPr id="8" name="Text 7"/>
          <p:cNvSpPr txBox="1"/>
          <p:nvPr/>
        </p:nvSpPr>
        <p:spPr>
          <a:xfrm>
            <a:off x="7825232" y="1921708"/>
            <a:ext cx="3401568"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من أنت، وما تركيزك.</a:t>
            </a:r>
          </a:p>
        </p:txBody>
      </p:sp>
      <p:sp>
        <p:nvSpPr>
          <p:cNvPr id="9" name="Box 8"/>
          <p:cNvSpPr/>
          <p:nvPr/>
        </p:nvSpPr>
        <p:spPr>
          <a:xfrm>
            <a:off x="11315700" y="2319536"/>
            <a:ext cx="63500" cy="559991"/>
          </a:xfrm>
          <a:prstGeom prst="roundRect">
            <a:avLst>
              <a:gd name="adj" fmla="val 50000"/>
            </a:avLst>
          </a:prstGeom>
          <a:solidFill>
            <a:srgbClr val="24506B"/>
          </a:solidFill>
          <a:ln>
            <a:noFill/>
          </a:ln>
        </p:spPr>
        <p:txBody>
          <a:bodyPr rtlCol="0" anchor="ctr"/>
          <a:lstStyle/>
          <a:p>
            <a:pPr algn="ctr"/>
          </a:p>
        </p:txBody>
      </p:sp>
      <p:sp>
        <p:nvSpPr>
          <p:cNvPr id="10" name="Text 9"/>
          <p:cNvSpPr txBox="1"/>
          <p:nvPr/>
        </p:nvSpPr>
        <p:spPr>
          <a:xfrm>
            <a:off x="7825232" y="2296866"/>
            <a:ext cx="3401568"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IBM Plex Sans Arabic"/>
                <a:ea typeface="IBM Plex Sans Arabic"/>
                <a:cs typeface="IBM Plex Sans Arabic"/>
              </a:rPr>
              <a:t>2. الدليل</a:t>
            </a:r>
          </a:p>
        </p:txBody>
      </p:sp>
      <p:sp>
        <p:nvSpPr>
          <p:cNvPr id="11" name="Text 10"/>
          <p:cNvSpPr txBox="1"/>
          <p:nvPr/>
        </p:nvSpPr>
        <p:spPr>
          <a:xfrm>
            <a:off x="7825232" y="2583299"/>
            <a:ext cx="3401568"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مشروعان بنتائج محددة.</a:t>
            </a:r>
          </a:p>
        </p:txBody>
      </p:sp>
      <p:sp>
        <p:nvSpPr>
          <p:cNvPr id="12" name="Box 11"/>
          <p:cNvSpPr/>
          <p:nvPr/>
        </p:nvSpPr>
        <p:spPr>
          <a:xfrm>
            <a:off x="11315700" y="2981127"/>
            <a:ext cx="63500" cy="559991"/>
          </a:xfrm>
          <a:prstGeom prst="roundRect">
            <a:avLst>
              <a:gd name="adj" fmla="val 50000"/>
            </a:avLst>
          </a:prstGeom>
          <a:solidFill>
            <a:srgbClr val="5A3F87"/>
          </a:solidFill>
          <a:ln>
            <a:noFill/>
          </a:ln>
        </p:spPr>
        <p:txBody>
          <a:bodyPr rtlCol="0" anchor="ctr"/>
          <a:lstStyle/>
          <a:p>
            <a:pPr algn="ctr"/>
          </a:p>
        </p:txBody>
      </p:sp>
      <p:sp>
        <p:nvSpPr>
          <p:cNvPr id="13" name="Text 12"/>
          <p:cNvSpPr txBox="1"/>
          <p:nvPr/>
        </p:nvSpPr>
        <p:spPr>
          <a:xfrm>
            <a:off x="7825232" y="2958457"/>
            <a:ext cx="3401568"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IBM Plex Sans Arabic"/>
                <a:ea typeface="IBM Plex Sans Arabic"/>
                <a:cs typeface="IBM Plex Sans Arabic"/>
              </a:rPr>
              <a:t>3. المجالات والأطر</a:t>
            </a:r>
          </a:p>
        </p:txBody>
      </p:sp>
      <p:sp>
        <p:nvSpPr>
          <p:cNvPr id="14" name="Text 13"/>
          <p:cNvSpPr txBox="1"/>
          <p:nvPr/>
        </p:nvSpPr>
        <p:spPr>
          <a:xfrm>
            <a:off x="7825232" y="3244890"/>
            <a:ext cx="3401568"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كلمات البحث.</a:t>
            </a:r>
          </a:p>
        </p:txBody>
      </p:sp>
      <p:sp>
        <p:nvSpPr>
          <p:cNvPr id="15" name="Box 14"/>
          <p:cNvSpPr/>
          <p:nvPr/>
        </p:nvSpPr>
        <p:spPr>
          <a:xfrm>
            <a:off x="11315700" y="3642717"/>
            <a:ext cx="63500" cy="559991"/>
          </a:xfrm>
          <a:prstGeom prst="roundRect">
            <a:avLst>
              <a:gd name="adj" fmla="val 50000"/>
            </a:avLst>
          </a:prstGeom>
          <a:solidFill>
            <a:srgbClr val="8A4B12"/>
          </a:solidFill>
          <a:ln>
            <a:noFill/>
          </a:ln>
        </p:spPr>
        <p:txBody>
          <a:bodyPr rtlCol="0" anchor="ctr"/>
          <a:lstStyle/>
          <a:p>
            <a:pPr algn="ctr"/>
          </a:p>
        </p:txBody>
      </p:sp>
      <p:sp>
        <p:nvSpPr>
          <p:cNvPr id="16" name="Text 15"/>
          <p:cNvSpPr txBox="1"/>
          <p:nvPr/>
        </p:nvSpPr>
        <p:spPr>
          <a:xfrm>
            <a:off x="7825232" y="3620048"/>
            <a:ext cx="3401568"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a:solidFill>
                  <a:srgbClr val="172433"/>
                </a:solidFill>
                <a:latin typeface="IBM Plex Sans Arabic"/>
                <a:ea typeface="IBM Plex Sans Arabic"/>
                <a:cs typeface="IBM Plex Sans Arabic"/>
              </a:rPr>
              <a:t>4. الدعوة</a:t>
            </a:r>
          </a:p>
        </p:txBody>
      </p:sp>
      <p:sp>
        <p:nvSpPr>
          <p:cNvPr id="17" name="Text 16"/>
          <p:cNvSpPr txBox="1"/>
          <p:nvPr/>
        </p:nvSpPr>
        <p:spPr>
          <a:xfrm>
            <a:off x="7825232" y="3906480"/>
            <a:ext cx="3401568"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ماذا تبحث عنه، وكيف يتواصلون معك.</a:t>
            </a:r>
          </a:p>
        </p:txBody>
      </p:sp>
      <p:sp>
        <p:nvSpPr>
          <p:cNvPr id="18" name="Box 17"/>
          <p:cNvSpPr/>
          <p:nvPr/>
        </p:nvSpPr>
        <p:spPr>
          <a:xfrm>
            <a:off x="8077200" y="4304308"/>
            <a:ext cx="3302000" cy="769541"/>
          </a:xfrm>
          <a:prstGeom prst="roundRect">
            <a:avLst>
              <a:gd name="adj" fmla="val 13202"/>
            </a:avLst>
          </a:prstGeom>
          <a:solidFill>
            <a:srgbClr val="172433"/>
          </a:solidFill>
          <a:ln>
            <a:noFill/>
          </a:ln>
        </p:spPr>
        <p:txBody>
          <a:bodyPr rtlCol="0" anchor="ctr"/>
          <a:lstStyle/>
          <a:p>
            <a:pPr algn="ctr"/>
          </a:p>
        </p:txBody>
      </p:sp>
      <p:pic>
        <p:nvPicPr>
          <p:cNvPr id="19" name="Icon Book 18" descr="icon073.png"/>
          <p:cNvPicPr>
            <a:picLocks noChangeAspect="1"/>
          </p:cNvPicPr>
          <p:nvPr/>
        </p:nvPicPr>
        <p:blipFill>
          <a:blip r:embed="rId2"/>
          <a:stretch>
            <a:fillRect/>
          </a:stretch>
        </p:blipFill>
        <p:spPr>
          <a:xfrm>
            <a:off x="11010900" y="4593828"/>
            <a:ext cx="190500" cy="190500"/>
          </a:xfrm>
          <a:prstGeom prst="rect">
            <a:avLst/>
          </a:prstGeom>
        </p:spPr>
      </p:pic>
      <p:sp>
        <p:nvSpPr>
          <p:cNvPr id="20" name="Text 19"/>
          <p:cNvSpPr txBox="1"/>
          <p:nvPr/>
        </p:nvSpPr>
        <p:spPr>
          <a:xfrm>
            <a:off x="8175752" y="4402765"/>
            <a:ext cx="2720848"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50" b="0" i="0">
                <a:solidFill>
                  <a:srgbClr val="F3EFE6"/>
                </a:solidFill>
                <a:latin typeface="IBM Plex Sans Arabic"/>
                <a:ea typeface="IBM Plex Sans Arabic"/>
                <a:cs typeface="IBM Plex Sans Arabic"/>
              </a:rPr>
              <a:t>الحد 2,600 حرف، لكن 150 إلى 250 كلمة تكفي غالباً.</a:t>
            </a:r>
          </a:p>
        </p:txBody>
      </p:sp>
      <p:sp>
        <p:nvSpPr>
          <p:cNvPr id="21" name="Box 20"/>
          <p:cNvSpPr/>
          <p:nvPr/>
        </p:nvSpPr>
        <p:spPr>
          <a:xfrm>
            <a:off x="815975" y="1661120"/>
            <a:ext cx="7080250" cy="3788866"/>
          </a:xfrm>
          <a:prstGeom prst="roundRect">
            <a:avLst>
              <a:gd name="adj" fmla="val 3011"/>
            </a:avLst>
          </a:prstGeom>
          <a:solidFill>
            <a:srgbClr val="FFFFFF"/>
          </a:solidFill>
          <a:ln w="6350">
            <a:solidFill>
              <a:srgbClr val="E1DBCD"/>
            </a:solidFill>
          </a:ln>
        </p:spPr>
        <p:txBody>
          <a:bodyPr rtlCol="0" anchor="ctr"/>
          <a:lstStyle/>
          <a:p>
            <a:pPr algn="ctr"/>
          </a:p>
        </p:txBody>
      </p:sp>
      <p:sp>
        <p:nvSpPr>
          <p:cNvPr id="22" name="Text 21"/>
          <p:cNvSpPr txBox="1"/>
          <p:nvPr/>
        </p:nvSpPr>
        <p:spPr>
          <a:xfrm>
            <a:off x="1009650" y="1787485"/>
            <a:ext cx="6864350"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Readex Pro"/>
                <a:ea typeface="Readex Pro"/>
                <a:cs typeface="Readex Pro"/>
              </a:rPr>
              <a:t>About</a:t>
            </a:r>
          </a:p>
        </p:txBody>
      </p:sp>
      <p:sp>
        <p:nvSpPr>
          <p:cNvPr id="23" name="Text box 22"/>
          <p:cNvSpPr/>
          <p:nvPr/>
        </p:nvSpPr>
        <p:spPr>
          <a:xfrm>
            <a:off x="1009650" y="2248495"/>
            <a:ext cx="6692900" cy="626070"/>
          </a:xfrm>
          <a:prstGeom prst="rect">
            <a:avLst/>
          </a:prstGeom>
          <a:noFill/>
          <a:ln>
            <a:noFill/>
          </a:ln>
        </p:spPr>
        <p:txBody>
          <a:bodyPr rtlCol="0" anchor="ctr" wrap="square" tIns="0" rIns="0" bIns="77724" lIns="127000" anchorCtr="0">
            <a:noAutofit/>
          </a:bodyPr>
          <a:lstStyle/>
          <a:p>
            <a:pPr algn="l">
              <a:lnSpc>
                <a:spcPts val="2465"/>
              </a:lnSpc>
              <a:spcBef>
                <a:spcPts val="0"/>
              </a:spcBef>
              <a:spcAft>
                <a:spcPts val="0"/>
              </a:spcAft>
            </a:pPr>
            <a:r>
              <a:rPr sz="1700" b="0" i="0">
                <a:solidFill>
                  <a:srgbClr val="172433"/>
                </a:solidFill>
                <a:latin typeface="IBM Plex Sans Arabic"/>
                <a:ea typeface="IBM Plex Sans Arabic"/>
                <a:cs typeface="IBM Plex Sans Arabic"/>
              </a:rPr>
              <a:t>Entry-level GRC analyst focused on turning requirements into clear, testable controls.</a:t>
            </a:r>
          </a:p>
        </p:txBody>
      </p:sp>
      <p:sp>
        <p:nvSpPr>
          <p:cNvPr id="24" name="Rule 23"/>
          <p:cNvSpPr/>
          <p:nvPr/>
        </p:nvSpPr>
        <p:spPr>
          <a:xfrm>
            <a:off x="1009650" y="2248495"/>
            <a:ext cx="38100" cy="626070"/>
          </a:xfrm>
          <a:prstGeom prst="rect">
            <a:avLst/>
          </a:prstGeom>
          <a:solidFill>
            <a:srgbClr val="0E7C6B"/>
          </a:solidFill>
          <a:ln>
            <a:noFill/>
          </a:ln>
        </p:spPr>
        <p:txBody>
          <a:bodyPr rtlCol="0" anchor="ctr"/>
          <a:lstStyle/>
          <a:p>
            <a:pPr algn="ctr"/>
          </a:p>
        </p:txBody>
      </p:sp>
      <p:sp>
        <p:nvSpPr>
          <p:cNvPr id="25" name="Text box 24"/>
          <p:cNvSpPr/>
          <p:nvPr/>
        </p:nvSpPr>
        <p:spPr>
          <a:xfrm>
            <a:off x="1009650" y="2950766"/>
            <a:ext cx="6692900" cy="939105"/>
          </a:xfrm>
          <a:prstGeom prst="rect">
            <a:avLst/>
          </a:prstGeom>
          <a:noFill/>
          <a:ln>
            <a:noFill/>
          </a:ln>
        </p:spPr>
        <p:txBody>
          <a:bodyPr rtlCol="0" anchor="ctr" wrap="square" tIns="0" rIns="0" bIns="77724" lIns="127000" anchorCtr="0">
            <a:noAutofit/>
          </a:bodyPr>
          <a:lstStyle/>
          <a:p>
            <a:pPr algn="l">
              <a:lnSpc>
                <a:spcPts val="2465"/>
              </a:lnSpc>
              <a:spcBef>
                <a:spcPts val="0"/>
              </a:spcBef>
              <a:spcAft>
                <a:spcPts val="0"/>
              </a:spcAft>
            </a:pPr>
            <a:r>
              <a:rPr sz="1700" b="0" i="0">
                <a:solidFill>
                  <a:srgbClr val="172433"/>
                </a:solidFill>
                <a:latin typeface="IBM Plex Sans Arabic"/>
                <a:ea typeface="IBM Plex Sans Arabic"/>
                <a:cs typeface="IBM Plex Sans Arabic"/>
              </a:rPr>
              <a:t>In a training case for a 200-staff company, I rated a vendor access risk and tested a quarterly access review, then wrote a finding with a corrective plan.</a:t>
            </a:r>
          </a:p>
        </p:txBody>
      </p:sp>
      <p:sp>
        <p:nvSpPr>
          <p:cNvPr id="26" name="Rule 25"/>
          <p:cNvSpPr/>
          <p:nvPr/>
        </p:nvSpPr>
        <p:spPr>
          <a:xfrm>
            <a:off x="1009650" y="2950766"/>
            <a:ext cx="38100" cy="939105"/>
          </a:xfrm>
          <a:prstGeom prst="rect">
            <a:avLst/>
          </a:prstGeom>
          <a:solidFill>
            <a:srgbClr val="24506B"/>
          </a:solidFill>
          <a:ln>
            <a:noFill/>
          </a:ln>
        </p:spPr>
        <p:txBody>
          <a:bodyPr rtlCol="0" anchor="ctr"/>
          <a:lstStyle/>
          <a:p>
            <a:pPr algn="ctr"/>
          </a:p>
        </p:txBody>
      </p:sp>
      <p:sp>
        <p:nvSpPr>
          <p:cNvPr id="27" name="Text box 26"/>
          <p:cNvSpPr/>
          <p:nvPr/>
        </p:nvSpPr>
        <p:spPr>
          <a:xfrm>
            <a:off x="1009650" y="3966071"/>
            <a:ext cx="6692900" cy="626070"/>
          </a:xfrm>
          <a:prstGeom prst="rect">
            <a:avLst/>
          </a:prstGeom>
          <a:noFill/>
          <a:ln>
            <a:noFill/>
          </a:ln>
        </p:spPr>
        <p:txBody>
          <a:bodyPr rtlCol="0" anchor="ctr" wrap="square" tIns="0" rIns="0" bIns="77724" lIns="127000" anchorCtr="0">
            <a:noAutofit/>
          </a:bodyPr>
          <a:lstStyle/>
          <a:p>
            <a:pPr algn="l">
              <a:lnSpc>
                <a:spcPts val="2465"/>
              </a:lnSpc>
              <a:spcBef>
                <a:spcPts val="0"/>
              </a:spcBef>
              <a:spcAft>
                <a:spcPts val="0"/>
              </a:spcAft>
            </a:pPr>
            <a:r>
              <a:rPr sz="1700" b="0" i="0">
                <a:solidFill>
                  <a:srgbClr val="172433"/>
                </a:solidFill>
                <a:latin typeface="IBM Plex Sans Arabic"/>
                <a:ea typeface="IBM Plex Sans Arabic"/>
                <a:cs typeface="IBM Plex Sans Arabic"/>
              </a:rPr>
              <a:t>Focus: risk assessment · control testing · ISO/IEC 27001 · NIST CSF 2.0 · NCA ECC · ISC2 CC.</a:t>
            </a:r>
          </a:p>
        </p:txBody>
      </p:sp>
      <p:sp>
        <p:nvSpPr>
          <p:cNvPr id="28" name="Rule 27"/>
          <p:cNvSpPr/>
          <p:nvPr/>
        </p:nvSpPr>
        <p:spPr>
          <a:xfrm>
            <a:off x="1009650" y="3966071"/>
            <a:ext cx="38100" cy="626070"/>
          </a:xfrm>
          <a:prstGeom prst="rect">
            <a:avLst/>
          </a:prstGeom>
          <a:solidFill>
            <a:srgbClr val="5A3F87"/>
          </a:solidFill>
          <a:ln>
            <a:noFill/>
          </a:ln>
        </p:spPr>
        <p:txBody>
          <a:bodyPr rtlCol="0" anchor="ctr"/>
          <a:lstStyle/>
          <a:p>
            <a:pPr algn="ctr"/>
          </a:p>
        </p:txBody>
      </p:sp>
      <p:sp>
        <p:nvSpPr>
          <p:cNvPr id="29" name="Text box 28"/>
          <p:cNvSpPr/>
          <p:nvPr/>
        </p:nvSpPr>
        <p:spPr>
          <a:xfrm>
            <a:off x="1009650" y="4668341"/>
            <a:ext cx="6692900" cy="626070"/>
          </a:xfrm>
          <a:prstGeom prst="rect">
            <a:avLst/>
          </a:prstGeom>
          <a:noFill/>
          <a:ln>
            <a:noFill/>
          </a:ln>
        </p:spPr>
        <p:txBody>
          <a:bodyPr rtlCol="0" anchor="ctr" wrap="square" tIns="0" rIns="0" bIns="77724" lIns="127000" anchorCtr="0">
            <a:noAutofit/>
          </a:bodyPr>
          <a:lstStyle/>
          <a:p>
            <a:pPr algn="l">
              <a:lnSpc>
                <a:spcPts val="2465"/>
              </a:lnSpc>
              <a:spcBef>
                <a:spcPts val="0"/>
              </a:spcBef>
              <a:spcAft>
                <a:spcPts val="0"/>
              </a:spcAft>
            </a:pPr>
            <a:r>
              <a:rPr sz="1700" b="0" i="0">
                <a:solidFill>
                  <a:srgbClr val="172433"/>
                </a:solidFill>
                <a:latin typeface="IBM Plex Sans Arabic"/>
                <a:ea typeface="IBM Plex Sans Arabic"/>
                <a:cs typeface="IBM Plex Sans Arabic"/>
              </a:rPr>
              <a:t>Open to entry-level GRC and compliance roles in Riyadh. See my projects in Featured.</a:t>
            </a:r>
          </a:p>
        </p:txBody>
      </p:sp>
      <p:sp>
        <p:nvSpPr>
          <p:cNvPr id="30" name="Rule 29"/>
          <p:cNvSpPr/>
          <p:nvPr/>
        </p:nvSpPr>
        <p:spPr>
          <a:xfrm>
            <a:off x="1009650" y="4668341"/>
            <a:ext cx="38100" cy="626070"/>
          </a:xfrm>
          <a:prstGeom prst="rect">
            <a:avLst/>
          </a:prstGeom>
          <a:solidFill>
            <a:srgbClr val="8A4B12"/>
          </a:solidFill>
          <a:ln>
            <a:noFill/>
          </a:ln>
        </p:spPr>
        <p:txBody>
          <a:bodyPr rtlCol="0" anchor="ctr"/>
          <a:lstStyle/>
          <a:p>
            <a:pPr algn="ctr"/>
          </a:p>
        </p:txBody>
      </p:sp>
      <p:sp>
        <p:nvSpPr>
          <p:cNvPr id="31" name="Text 3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32" name="Text 3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الشبكة والنشر: كن مرئياً في مجالك</a:t>
            </a:r>
          </a:p>
        </p:txBody>
      </p:sp>
      <p:sp>
        <p:nvSpPr>
          <p:cNvPr id="5" name="Box 4"/>
          <p:cNvSpPr/>
          <p:nvPr/>
        </p:nvSpPr>
        <p:spPr>
          <a:xfrm>
            <a:off x="6156325" y="1661120"/>
            <a:ext cx="5219700" cy="2974975"/>
          </a:xfrm>
          <a:prstGeom prst="roundRect">
            <a:avLst>
              <a:gd name="adj" fmla="val 3833"/>
            </a:avLst>
          </a:prstGeom>
          <a:solidFill>
            <a:srgbClr val="FFFDF8"/>
          </a:solidFill>
          <a:ln w="6350">
            <a:solidFill>
              <a:srgbClr val="E1DBCD"/>
            </a:solidFill>
          </a:ln>
        </p:spPr>
        <p:txBody>
          <a:bodyPr rtlCol="0" anchor="ctr"/>
          <a:lstStyle/>
          <a:p>
            <a:pPr algn="ctr"/>
          </a:p>
        </p:txBody>
      </p:sp>
      <p:sp>
        <p:nvSpPr>
          <p:cNvPr id="6" name="Text 5"/>
          <p:cNvSpPr txBox="1"/>
          <p:nvPr/>
        </p:nvSpPr>
        <p:spPr>
          <a:xfrm>
            <a:off x="6178550" y="1791295"/>
            <a:ext cx="502920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من تضيف، وكيف</a:t>
            </a:r>
          </a:p>
        </p:txBody>
      </p:sp>
      <p:pic>
        <p:nvPicPr>
          <p:cNvPr id="7" name="Icon Users 6" descr="icon054.png"/>
          <p:cNvPicPr>
            <a:picLocks noChangeAspect="1"/>
          </p:cNvPicPr>
          <p:nvPr/>
        </p:nvPicPr>
        <p:blipFill>
          <a:blip r:embed="rId2"/>
          <a:stretch>
            <a:fillRect/>
          </a:stretch>
        </p:blipFill>
        <p:spPr>
          <a:xfrm>
            <a:off x="10972800" y="2277070"/>
            <a:ext cx="234950" cy="234950"/>
          </a:xfrm>
          <a:prstGeom prst="rect">
            <a:avLst/>
          </a:prstGeom>
        </p:spPr>
      </p:pic>
      <p:sp>
        <p:nvSpPr>
          <p:cNvPr id="8" name="Text 7"/>
          <p:cNvSpPr txBox="1"/>
          <p:nvPr/>
        </p:nvSpPr>
        <p:spPr>
          <a:xfrm>
            <a:off x="6178550" y="2237700"/>
            <a:ext cx="46799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مختصو GRC في الجهات التي تستهدفها</a:t>
            </a:r>
          </a:p>
        </p:txBody>
      </p:sp>
      <p:pic>
        <p:nvPicPr>
          <p:cNvPr id="9" name="Icon Users 8" descr="icon054.png"/>
          <p:cNvPicPr>
            <a:picLocks noChangeAspect="1"/>
          </p:cNvPicPr>
          <p:nvPr/>
        </p:nvPicPr>
        <p:blipFill>
          <a:blip r:embed="rId2"/>
          <a:stretch>
            <a:fillRect/>
          </a:stretch>
        </p:blipFill>
        <p:spPr>
          <a:xfrm>
            <a:off x="10972800" y="2683470"/>
            <a:ext cx="234950" cy="234950"/>
          </a:xfrm>
          <a:prstGeom prst="rect">
            <a:avLst/>
          </a:prstGeom>
        </p:spPr>
      </p:pic>
      <p:sp>
        <p:nvSpPr>
          <p:cNvPr id="10" name="Text 9"/>
          <p:cNvSpPr txBox="1"/>
          <p:nvPr/>
        </p:nvSpPr>
        <p:spPr>
          <a:xfrm>
            <a:off x="6178550" y="2644100"/>
            <a:ext cx="46799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مسؤولو التوظيف في الأمن السيبراني</a:t>
            </a:r>
          </a:p>
        </p:txBody>
      </p:sp>
      <p:pic>
        <p:nvPicPr>
          <p:cNvPr id="11" name="Icon Users 10" descr="icon054.png"/>
          <p:cNvPicPr>
            <a:picLocks noChangeAspect="1"/>
          </p:cNvPicPr>
          <p:nvPr/>
        </p:nvPicPr>
        <p:blipFill>
          <a:blip r:embed="rId2"/>
          <a:stretch>
            <a:fillRect/>
          </a:stretch>
        </p:blipFill>
        <p:spPr>
          <a:xfrm>
            <a:off x="10972800" y="3089870"/>
            <a:ext cx="234950" cy="234950"/>
          </a:xfrm>
          <a:prstGeom prst="rect">
            <a:avLst/>
          </a:prstGeom>
        </p:spPr>
      </p:pic>
      <p:sp>
        <p:nvSpPr>
          <p:cNvPr id="12" name="Text 11"/>
          <p:cNvSpPr txBox="1"/>
          <p:nvPr/>
        </p:nvSpPr>
        <p:spPr>
          <a:xfrm>
            <a:off x="6178550" y="3050500"/>
            <a:ext cx="46799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زملاء الدراسة والدورات والفعاليات</a:t>
            </a:r>
          </a:p>
        </p:txBody>
      </p:sp>
      <p:sp>
        <p:nvSpPr>
          <p:cNvPr id="13" name="Box 12"/>
          <p:cNvSpPr/>
          <p:nvPr/>
        </p:nvSpPr>
        <p:spPr>
          <a:xfrm>
            <a:off x="6324600" y="3521670"/>
            <a:ext cx="4883150" cy="971550"/>
          </a:xfrm>
          <a:prstGeom prst="roundRect">
            <a:avLst>
              <a:gd name="adj" fmla="val 9150"/>
            </a:avLst>
          </a:prstGeom>
          <a:solidFill>
            <a:srgbClr val="FFFFFF"/>
          </a:solidFill>
          <a:ln>
            <a:noFill/>
          </a:ln>
        </p:spPr>
        <p:txBody>
          <a:bodyPr rtlCol="0" anchor="ctr"/>
          <a:lstStyle/>
          <a:p>
            <a:pPr algn="ctr"/>
          </a:p>
        </p:txBody>
      </p:sp>
      <p:sp>
        <p:nvSpPr>
          <p:cNvPr id="14" name="Rule 13"/>
          <p:cNvSpPr/>
          <p:nvPr/>
        </p:nvSpPr>
        <p:spPr>
          <a:xfrm>
            <a:off x="6324600" y="3521670"/>
            <a:ext cx="4883150" cy="6350"/>
          </a:xfrm>
          <a:prstGeom prst="rect">
            <a:avLst/>
          </a:prstGeom>
          <a:solidFill>
            <a:srgbClr val="E1DBCD"/>
          </a:solidFill>
          <a:ln>
            <a:noFill/>
          </a:ln>
        </p:spPr>
        <p:txBody>
          <a:bodyPr rtlCol="0" anchor="ctr"/>
          <a:lstStyle/>
          <a:p>
            <a:pPr algn="ctr"/>
          </a:p>
        </p:txBody>
      </p:sp>
      <p:sp>
        <p:nvSpPr>
          <p:cNvPr id="15" name="Rule 14"/>
          <p:cNvSpPr/>
          <p:nvPr/>
        </p:nvSpPr>
        <p:spPr>
          <a:xfrm>
            <a:off x="11156950" y="3521670"/>
            <a:ext cx="50800" cy="971550"/>
          </a:xfrm>
          <a:prstGeom prst="rect">
            <a:avLst/>
          </a:prstGeom>
          <a:solidFill>
            <a:srgbClr val="0E7C6B"/>
          </a:solidFill>
          <a:ln>
            <a:noFill/>
          </a:ln>
        </p:spPr>
        <p:txBody>
          <a:bodyPr rtlCol="0" anchor="ctr"/>
          <a:lstStyle/>
          <a:p>
            <a:pPr algn="ctr"/>
          </a:p>
        </p:txBody>
      </p:sp>
      <p:sp>
        <p:nvSpPr>
          <p:cNvPr id="16" name="Rule 15"/>
          <p:cNvSpPr/>
          <p:nvPr/>
        </p:nvSpPr>
        <p:spPr>
          <a:xfrm>
            <a:off x="6324600" y="4486870"/>
            <a:ext cx="4883150" cy="6350"/>
          </a:xfrm>
          <a:prstGeom prst="rect">
            <a:avLst/>
          </a:prstGeom>
          <a:solidFill>
            <a:srgbClr val="E1DBCD"/>
          </a:solidFill>
          <a:ln>
            <a:noFill/>
          </a:ln>
        </p:spPr>
        <p:txBody>
          <a:bodyPr rtlCol="0" anchor="ctr"/>
          <a:lstStyle/>
          <a:p>
            <a:pPr algn="ctr"/>
          </a:p>
        </p:txBody>
      </p:sp>
      <p:sp>
        <p:nvSpPr>
          <p:cNvPr id="17" name="Rule 16"/>
          <p:cNvSpPr/>
          <p:nvPr/>
        </p:nvSpPr>
        <p:spPr>
          <a:xfrm>
            <a:off x="6324600" y="3521670"/>
            <a:ext cx="6350" cy="971550"/>
          </a:xfrm>
          <a:prstGeom prst="rect">
            <a:avLst/>
          </a:prstGeom>
          <a:solidFill>
            <a:srgbClr val="E1DBCD"/>
          </a:solidFill>
          <a:ln>
            <a:noFill/>
          </a:ln>
        </p:spPr>
        <p:txBody>
          <a:bodyPr rtlCol="0" anchor="ctr"/>
          <a:lstStyle/>
          <a:p>
            <a:pPr algn="ctr"/>
          </a:p>
        </p:txBody>
      </p:sp>
      <p:sp>
        <p:nvSpPr>
          <p:cNvPr id="18" name="Text 17"/>
          <p:cNvSpPr txBox="1"/>
          <p:nvPr/>
        </p:nvSpPr>
        <p:spPr>
          <a:xfrm>
            <a:off x="6374638" y="3606856"/>
            <a:ext cx="4604512" cy="704850"/>
          </a:xfrm>
          <a:prstGeom prst="rect">
            <a:avLst/>
          </a:prstGeom>
          <a:noFill/>
        </p:spPr>
        <p:txBody>
          <a:bodyPr wrap="square" tIns="0" rIns="0" bIns="0" lIns="0" anchor="t" rtlCol="0" anchorCtr="0">
            <a:noAutofit/>
          </a:bodyPr>
          <a:lstStyle/>
          <a:p>
            <a:pPr algn="r" rtl="1">
              <a:lnSpc>
                <a:spcPts val="2775"/>
              </a:lnSpc>
              <a:spcBef>
                <a:spcPts val="0"/>
              </a:spcBef>
              <a:spcAft>
                <a:spcPts val="0"/>
              </a:spcAft>
            </a:pPr>
            <a:r>
              <a:rPr sz="1850" b="0" i="0">
                <a:solidFill>
                  <a:srgbClr val="172433"/>
                </a:solidFill>
                <a:latin typeface="IBM Plex Sans Arabic"/>
                <a:ea typeface="IBM Plex Sans Arabic"/>
                <a:cs typeface="IBM Plex Sans Arabic"/>
              </a:rPr>
              <a:t>«أ. نورة، استفدت من منشورك عن تقييم الموردين. أنا في بداية مساري في GRC، ويسعدني التواصل.»</a:t>
            </a:r>
          </a:p>
        </p:txBody>
      </p:sp>
      <p:sp>
        <p:nvSpPr>
          <p:cNvPr id="19" name="Box 18"/>
          <p:cNvSpPr/>
          <p:nvPr/>
        </p:nvSpPr>
        <p:spPr>
          <a:xfrm>
            <a:off x="815975" y="1661120"/>
            <a:ext cx="5219700" cy="2974975"/>
          </a:xfrm>
          <a:prstGeom prst="roundRect">
            <a:avLst>
              <a:gd name="adj" fmla="val 3833"/>
            </a:avLst>
          </a:prstGeom>
          <a:solidFill>
            <a:srgbClr val="FFFDF8"/>
          </a:solidFill>
          <a:ln w="6350">
            <a:solidFill>
              <a:srgbClr val="E1DBCD"/>
            </a:solidFill>
          </a:ln>
        </p:spPr>
        <p:txBody>
          <a:bodyPr rtlCol="0" anchor="ctr"/>
          <a:lstStyle/>
          <a:p>
            <a:pPr algn="ctr"/>
          </a:p>
        </p:txBody>
      </p:sp>
      <p:sp>
        <p:nvSpPr>
          <p:cNvPr id="20" name="Text 19"/>
          <p:cNvSpPr txBox="1"/>
          <p:nvPr/>
        </p:nvSpPr>
        <p:spPr>
          <a:xfrm>
            <a:off x="838200" y="1791295"/>
            <a:ext cx="502920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ماذا تنشر</a:t>
            </a:r>
          </a:p>
        </p:txBody>
      </p:sp>
      <p:sp>
        <p:nvSpPr>
          <p:cNvPr id="21" name="Text 20"/>
          <p:cNvSpPr txBox="1"/>
          <p:nvPr/>
        </p:nvSpPr>
        <p:spPr>
          <a:xfrm>
            <a:off x="5486400" y="2247860"/>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22" name="Text 21"/>
          <p:cNvSpPr txBox="1"/>
          <p:nvPr/>
        </p:nvSpPr>
        <p:spPr>
          <a:xfrm>
            <a:off x="838200" y="2237700"/>
            <a:ext cx="463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ضابط واحد بمثال من الواقع</a:t>
            </a:r>
          </a:p>
        </p:txBody>
      </p:sp>
      <p:sp>
        <p:nvSpPr>
          <p:cNvPr id="23" name="Text 22"/>
          <p:cNvSpPr txBox="1"/>
          <p:nvPr/>
        </p:nvSpPr>
        <p:spPr>
          <a:xfrm>
            <a:off x="5486400" y="2654260"/>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4" name="Text 23"/>
          <p:cNvSpPr txBox="1"/>
          <p:nvPr/>
        </p:nvSpPr>
        <p:spPr>
          <a:xfrm>
            <a:off x="838200" y="2644100"/>
            <a:ext cx="463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 من ملف أعمالك وما تعلمته</a:t>
            </a:r>
          </a:p>
        </p:txBody>
      </p:sp>
      <p:sp>
        <p:nvSpPr>
          <p:cNvPr id="25" name="Text 24"/>
          <p:cNvSpPr txBox="1"/>
          <p:nvPr/>
        </p:nvSpPr>
        <p:spPr>
          <a:xfrm>
            <a:off x="5486400" y="3060660"/>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26" name="Text 25"/>
          <p:cNvSpPr txBox="1"/>
          <p:nvPr/>
        </p:nvSpPr>
        <p:spPr>
          <a:xfrm>
            <a:off x="838200" y="3050500"/>
            <a:ext cx="463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خلاصة فعالية حضرتها</a:t>
            </a:r>
          </a:p>
        </p:txBody>
      </p:sp>
      <p:sp>
        <p:nvSpPr>
          <p:cNvPr id="27" name="Text 26"/>
          <p:cNvSpPr txBox="1"/>
          <p:nvPr/>
        </p:nvSpPr>
        <p:spPr>
          <a:xfrm>
            <a:off x="5486400" y="3467060"/>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4</a:t>
            </a:r>
          </a:p>
        </p:txBody>
      </p:sp>
      <p:sp>
        <p:nvSpPr>
          <p:cNvPr id="28" name="Text 27"/>
          <p:cNvSpPr txBox="1"/>
          <p:nvPr/>
        </p:nvSpPr>
        <p:spPr>
          <a:xfrm>
            <a:off x="838200" y="3456900"/>
            <a:ext cx="463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تعليق مفيد على منشور مختص</a:t>
            </a:r>
          </a:p>
        </p:txBody>
      </p:sp>
      <p:sp>
        <p:nvSpPr>
          <p:cNvPr id="29" name="Box 28"/>
          <p:cNvSpPr/>
          <p:nvPr/>
        </p:nvSpPr>
        <p:spPr>
          <a:xfrm>
            <a:off x="815975" y="4832945"/>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30" name="Icon Warning 29" descr="icon001.png"/>
          <p:cNvPicPr>
            <a:picLocks noChangeAspect="1"/>
          </p:cNvPicPr>
          <p:nvPr/>
        </p:nvPicPr>
        <p:blipFill>
          <a:blip r:embed="rId3"/>
          <a:stretch>
            <a:fillRect/>
          </a:stretch>
        </p:blipFill>
        <p:spPr>
          <a:xfrm>
            <a:off x="10934700" y="5010745"/>
            <a:ext cx="260350" cy="260350"/>
          </a:xfrm>
          <a:prstGeom prst="rect">
            <a:avLst/>
          </a:prstGeom>
        </p:spPr>
      </p:pic>
      <p:sp>
        <p:nvSpPr>
          <p:cNvPr id="31" name="Text 30"/>
          <p:cNvSpPr txBox="1"/>
          <p:nvPr/>
        </p:nvSpPr>
        <p:spPr>
          <a:xfrm>
            <a:off x="838200" y="4923750"/>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تنشر أي تفصيل عن ضوابط أو ثغرات جهة عملت أو تدربت فيها.</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البحث عن الفرص: Open to Work والمسميات</a:t>
            </a:r>
          </a:p>
        </p:txBody>
      </p:sp>
      <p:sp>
        <p:nvSpPr>
          <p:cNvPr id="5" name="Box 4"/>
          <p:cNvSpPr/>
          <p:nvPr/>
        </p:nvSpPr>
        <p:spPr>
          <a:xfrm>
            <a:off x="6156325" y="1661120"/>
            <a:ext cx="5219700" cy="3842048"/>
          </a:xfrm>
          <a:prstGeom prst="roundRect">
            <a:avLst>
              <a:gd name="adj" fmla="val 2970"/>
            </a:avLst>
          </a:prstGeom>
          <a:solidFill>
            <a:srgbClr val="FFFDF8"/>
          </a:solidFill>
          <a:ln w="6350">
            <a:solidFill>
              <a:srgbClr val="E1DBCD"/>
            </a:solidFill>
          </a:ln>
        </p:spPr>
        <p:txBody>
          <a:bodyPr rtlCol="0" anchor="ctr"/>
          <a:lstStyle/>
          <a:p>
            <a:pPr algn="ctr"/>
          </a:p>
        </p:txBody>
      </p:sp>
      <p:sp>
        <p:nvSpPr>
          <p:cNvPr id="6" name="Text 5"/>
          <p:cNvSpPr txBox="1"/>
          <p:nvPr/>
        </p:nvSpPr>
        <p:spPr>
          <a:xfrm>
            <a:off x="6178550" y="1791295"/>
            <a:ext cx="502920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فعّل Open to Work</a:t>
            </a:r>
          </a:p>
        </p:txBody>
      </p:sp>
      <p:sp>
        <p:nvSpPr>
          <p:cNvPr id="7" name="Text 6"/>
          <p:cNvSpPr txBox="1"/>
          <p:nvPr/>
        </p:nvSpPr>
        <p:spPr>
          <a:xfrm>
            <a:off x="6324600" y="2240653"/>
            <a:ext cx="5029200" cy="657820"/>
          </a:xfrm>
          <a:prstGeom prst="rect">
            <a:avLst/>
          </a:prstGeom>
          <a:noFill/>
        </p:spPr>
        <p:txBody>
          <a:bodyPr wrap="square" tIns="0" rIns="0" bIns="0" lIns="0" anchor="t" rtlCol="0" anchorCtr="0">
            <a:noAutofit/>
          </a:bodyPr>
          <a:lstStyle/>
          <a:p>
            <a:pPr algn="l">
              <a:lnSpc>
                <a:spcPts val="2590"/>
              </a:lnSpc>
              <a:spcBef>
                <a:spcPts val="0"/>
              </a:spcBef>
              <a:spcAft>
                <a:spcPts val="0"/>
              </a:spcAft>
            </a:pPr>
            <a:r>
              <a:rPr sz="1850" b="0" i="0">
                <a:solidFill>
                  <a:srgbClr val="4E5A66"/>
                </a:solidFill>
                <a:latin typeface="IBM Plex Sans Arabic"/>
                <a:ea typeface="IBM Plex Sans Arabic"/>
                <a:cs typeface="IBM Plex Sans Arabic"/>
              </a:rPr>
              <a:t>Me → View profile → Open to → Finding a new job</a:t>
            </a:r>
          </a:p>
        </p:txBody>
      </p:sp>
      <p:sp>
        <p:nvSpPr>
          <p:cNvPr id="8" name="Text 7"/>
          <p:cNvSpPr txBox="1"/>
          <p:nvPr/>
        </p:nvSpPr>
        <p:spPr>
          <a:xfrm>
            <a:off x="9475470" y="2973689"/>
            <a:ext cx="173228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كل الأعضاء</a:t>
            </a:r>
          </a:p>
        </p:txBody>
      </p:sp>
      <p:sp>
        <p:nvSpPr>
          <p:cNvPr id="9" name="Text 8"/>
          <p:cNvSpPr txBox="1"/>
          <p:nvPr/>
        </p:nvSpPr>
        <p:spPr>
          <a:xfrm>
            <a:off x="6229160" y="2973689"/>
            <a:ext cx="327679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يراه الجميع، ويضيف إطار #OpenToWork.</a:t>
            </a:r>
          </a:p>
        </p:txBody>
      </p:sp>
      <p:sp>
        <p:nvSpPr>
          <p:cNvPr id="10" name="Text 9"/>
          <p:cNvSpPr txBox="1"/>
          <p:nvPr/>
        </p:nvSpPr>
        <p:spPr>
          <a:xfrm>
            <a:off x="9559925" y="3712670"/>
            <a:ext cx="1647825"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1" i="0">
                <a:solidFill>
                  <a:srgbClr val="5E6A75"/>
                </a:solidFill>
                <a:latin typeface="IBM Plex Sans Arabic"/>
                <a:ea typeface="IBM Plex Sans Arabic"/>
                <a:cs typeface="IBM Plex Sans Arabic"/>
              </a:rPr>
              <a:t>مسؤولو التوظيف فقط</a:t>
            </a:r>
          </a:p>
        </p:txBody>
      </p:sp>
      <p:sp>
        <p:nvSpPr>
          <p:cNvPr id="11" name="Text 10"/>
          <p:cNvSpPr txBox="1"/>
          <p:nvPr/>
        </p:nvSpPr>
        <p:spPr>
          <a:xfrm>
            <a:off x="6229160" y="3712670"/>
            <a:ext cx="3276790" cy="67548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172433"/>
                </a:solidFill>
                <a:latin typeface="IBM Plex Sans Arabic"/>
                <a:ea typeface="IBM Plex Sans Arabic"/>
                <a:cs typeface="IBM Plex Sans Arabic"/>
              </a:rPr>
              <a:t>لا تضمن LinkedIn إخفاءه تماماً عن جهتك الحالية.</a:t>
            </a:r>
          </a:p>
        </p:txBody>
      </p:sp>
      <p:sp>
        <p:nvSpPr>
          <p:cNvPr id="12" name="Box 11"/>
          <p:cNvSpPr/>
          <p:nvPr/>
        </p:nvSpPr>
        <p:spPr>
          <a:xfrm>
            <a:off x="815975" y="1661120"/>
            <a:ext cx="5219700" cy="3842048"/>
          </a:xfrm>
          <a:prstGeom prst="roundRect">
            <a:avLst>
              <a:gd name="adj" fmla="val 2970"/>
            </a:avLst>
          </a:prstGeom>
          <a:solidFill>
            <a:srgbClr val="FFFDF8"/>
          </a:solidFill>
          <a:ln w="6350">
            <a:solidFill>
              <a:srgbClr val="E1DBCD"/>
            </a:solidFill>
          </a:ln>
        </p:spPr>
        <p:txBody>
          <a:bodyPr rtlCol="0" anchor="ctr"/>
          <a:lstStyle/>
          <a:p>
            <a:pPr algn="ctr"/>
          </a:p>
        </p:txBody>
      </p:sp>
      <p:sp>
        <p:nvSpPr>
          <p:cNvPr id="13" name="Text 12"/>
          <p:cNvSpPr txBox="1"/>
          <p:nvPr/>
        </p:nvSpPr>
        <p:spPr>
          <a:xfrm>
            <a:off x="838200" y="1791295"/>
            <a:ext cx="5029200"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ابحث بأكثر من مسمى</a:t>
            </a:r>
          </a:p>
        </p:txBody>
      </p:sp>
      <p:sp>
        <p:nvSpPr>
          <p:cNvPr id="14" name="Text box 13"/>
          <p:cNvSpPr/>
          <p:nvPr/>
        </p:nvSpPr>
        <p:spPr>
          <a:xfrm>
            <a:off x="4394398" y="2280245"/>
            <a:ext cx="1469827"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GRC Analyst</a:t>
            </a:r>
          </a:p>
        </p:txBody>
      </p:sp>
      <p:sp>
        <p:nvSpPr>
          <p:cNvPr id="15" name="Text box 14"/>
          <p:cNvSpPr/>
          <p:nvPr/>
        </p:nvSpPr>
        <p:spPr>
          <a:xfrm>
            <a:off x="1433512" y="2280245"/>
            <a:ext cx="2891036"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Cybersecurity Compliance</a:t>
            </a:r>
          </a:p>
        </p:txBody>
      </p:sp>
      <p:sp>
        <p:nvSpPr>
          <p:cNvPr id="16" name="Text box 15"/>
          <p:cNvSpPr/>
          <p:nvPr/>
        </p:nvSpPr>
        <p:spPr>
          <a:xfrm>
            <a:off x="4129385" y="2752626"/>
            <a:ext cx="1734840"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IT Risk Analyst</a:t>
            </a:r>
          </a:p>
        </p:txBody>
      </p:sp>
      <p:sp>
        <p:nvSpPr>
          <p:cNvPr id="17" name="Text box 16"/>
          <p:cNvSpPr/>
          <p:nvPr/>
        </p:nvSpPr>
        <p:spPr>
          <a:xfrm>
            <a:off x="2818011" y="2752626"/>
            <a:ext cx="1241524"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IT Auditor</a:t>
            </a:r>
          </a:p>
        </p:txBody>
      </p:sp>
      <p:sp>
        <p:nvSpPr>
          <p:cNvPr id="18" name="Text box 17"/>
          <p:cNvSpPr/>
          <p:nvPr/>
        </p:nvSpPr>
        <p:spPr>
          <a:xfrm>
            <a:off x="2917329" y="3225006"/>
            <a:ext cx="2946896"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Security Controls Assessor</a:t>
            </a:r>
          </a:p>
        </p:txBody>
      </p:sp>
      <p:sp>
        <p:nvSpPr>
          <p:cNvPr id="19" name="Text box 18"/>
          <p:cNvSpPr/>
          <p:nvPr/>
        </p:nvSpPr>
        <p:spPr>
          <a:xfrm>
            <a:off x="2832795" y="3697387"/>
            <a:ext cx="3031430"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a:lnSpc>
                <a:spcPts val="2520"/>
              </a:lnSpc>
              <a:spcBef>
                <a:spcPts val="0"/>
              </a:spcBef>
              <a:spcAft>
                <a:spcPts val="0"/>
              </a:spcAft>
            </a:pPr>
            <a:r>
              <a:rPr sz="1800" b="0" i="0">
                <a:solidFill>
                  <a:srgbClr val="172433"/>
                </a:solidFill>
                <a:latin typeface="IBM Plex Sans Arabic"/>
                <a:ea typeface="IBM Plex Sans Arabic"/>
                <a:cs typeface="IBM Plex Sans Arabic"/>
              </a:rPr>
              <a:t>Cybersecurity Policy Officer</a:t>
            </a:r>
          </a:p>
        </p:txBody>
      </p:sp>
      <p:sp>
        <p:nvSpPr>
          <p:cNvPr id="20" name="Text box 19"/>
          <p:cNvSpPr/>
          <p:nvPr/>
        </p:nvSpPr>
        <p:spPr>
          <a:xfrm>
            <a:off x="3843635" y="4169767"/>
            <a:ext cx="2020590" cy="402530"/>
          </a:xfrm>
          <a:prstGeom prst="roundRect">
            <a:avLst>
              <a:gd name="adj" fmla="val 46590"/>
            </a:avLst>
          </a:prstGeom>
          <a:solidFill>
            <a:srgbClr val="FFFDF8"/>
          </a:solidFill>
          <a:ln w="6350">
            <a:solidFill>
              <a:srgbClr val="E1DBCD"/>
            </a:solidFill>
          </a:ln>
        </p:spPr>
        <p:txBody>
          <a:bodyPr rtlCol="0" anchor="ctr" wrap="square" tIns="0" rIns="49846" bIns="70866" lIns="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محلل حوكمة ومخاطر</a:t>
            </a:r>
          </a:p>
        </p:txBody>
      </p:sp>
      <p:pic>
        <p:nvPicPr>
          <p:cNvPr id="21" name="Icon Clock 20" descr="icon074.png"/>
          <p:cNvPicPr>
            <a:picLocks noChangeAspect="1"/>
          </p:cNvPicPr>
          <p:nvPr/>
        </p:nvPicPr>
        <p:blipFill>
          <a:blip r:embed="rId2"/>
          <a:stretch>
            <a:fillRect/>
          </a:stretch>
        </p:blipFill>
        <p:spPr>
          <a:xfrm>
            <a:off x="5651500" y="4651673"/>
            <a:ext cx="215900" cy="215900"/>
          </a:xfrm>
          <a:prstGeom prst="rect">
            <a:avLst/>
          </a:prstGeom>
        </p:spPr>
      </p:pic>
      <p:sp>
        <p:nvSpPr>
          <p:cNvPr id="22" name="Text 21"/>
          <p:cNvSpPr txBox="1"/>
          <p:nvPr/>
        </p:nvSpPr>
        <p:spPr>
          <a:xfrm>
            <a:off x="838200" y="4615255"/>
            <a:ext cx="46990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تنبيه وظائف لكل مسمى، وقدّم مبكراً.</a:t>
            </a:r>
          </a:p>
        </p:txBody>
      </p:sp>
      <p:pic>
        <p:nvPicPr>
          <p:cNvPr id="23" name="Icon Clock 22" descr="icon074.png"/>
          <p:cNvPicPr>
            <a:picLocks noChangeAspect="1"/>
          </p:cNvPicPr>
          <p:nvPr/>
        </p:nvPicPr>
        <p:blipFill>
          <a:blip r:embed="rId2"/>
          <a:stretch>
            <a:fillRect/>
          </a:stretch>
        </p:blipFill>
        <p:spPr>
          <a:xfrm>
            <a:off x="5651500" y="5031383"/>
            <a:ext cx="215900" cy="215900"/>
          </a:xfrm>
          <a:prstGeom prst="rect">
            <a:avLst/>
          </a:prstGeom>
        </p:spPr>
      </p:pic>
      <p:sp>
        <p:nvSpPr>
          <p:cNvPr id="24" name="Text 23"/>
          <p:cNvSpPr txBox="1"/>
          <p:nvPr/>
        </p:nvSpPr>
        <p:spPr>
          <a:xfrm>
            <a:off x="838200" y="4994966"/>
            <a:ext cx="4699000"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172433"/>
                </a:solidFill>
                <a:latin typeface="IBM Plex Sans Arabic"/>
                <a:ea typeface="IBM Plex Sans Arabic"/>
                <a:cs typeface="IBM Plex Sans Arabic"/>
              </a:rPr>
              <a:t>قدّم أيضاً من مواقع الجهات مباشرة.</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764470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عنوانك وافتتاح نبذتك</a:t>
            </a:r>
          </a:p>
        </p:txBody>
      </p:sp>
      <p:sp>
        <p:nvSpPr>
          <p:cNvPr id="6" name="Text 5"/>
          <p:cNvSpPr txBox="1"/>
          <p:nvPr/>
        </p:nvSpPr>
        <p:spPr>
          <a:xfrm>
            <a:off x="9291320" y="1610701"/>
            <a:ext cx="2087880" cy="629841"/>
          </a:xfrm>
          <a:prstGeom prst="rect">
            <a:avLst/>
          </a:prstGeom>
          <a:noFill/>
        </p:spPr>
        <p:txBody>
          <a:bodyPr wrap="square" tIns="0" rIns="0" bIns="0" lIns="0" anchor="t" rtlCol="0" anchorCtr="0">
            <a:noAutofit/>
          </a:bodyPr>
          <a:lstStyle/>
          <a:p>
            <a:pPr algn="r" rtl="1">
              <a:lnSpc>
                <a:spcPts val="3360"/>
              </a:lnSpc>
              <a:spcBef>
                <a:spcPts val="0"/>
              </a:spcBef>
              <a:spcAft>
                <a:spcPts val="0"/>
              </a:spcAft>
            </a:pPr>
            <a:r>
              <a:rPr sz="2400" b="1" i="0">
                <a:solidFill>
                  <a:srgbClr val="172433"/>
                </a:solidFill>
                <a:latin typeface="IBM Plex Sans Arabic"/>
                <a:ea typeface="IBM Plex Sans Arabic"/>
                <a:cs typeface="IBM Plex Sans Arabic"/>
              </a:rPr>
              <a:t>العنوان المهني</a:t>
            </a:r>
          </a:p>
        </p:txBody>
      </p:sp>
      <p:sp>
        <p:nvSpPr>
          <p:cNvPr id="7" name="Box 6"/>
          <p:cNvSpPr/>
          <p:nvPr/>
        </p:nvSpPr>
        <p:spPr>
          <a:xfrm>
            <a:off x="819150" y="1664295"/>
            <a:ext cx="8534400" cy="617141"/>
          </a:xfrm>
          <a:prstGeom prst="roundRect">
            <a:avLst>
              <a:gd name="adj" fmla="val 12098"/>
            </a:avLst>
          </a:prstGeom>
          <a:solidFill>
            <a:srgbClr val="FFFFFF"/>
          </a:solidFill>
          <a:ln w="12700">
            <a:solidFill>
              <a:srgbClr val="C9C0AC"/>
            </a:solidFill>
            <a:prstDash val="dash"/>
          </a:ln>
        </p:spPr>
        <p:txBody>
          <a:bodyPr rtlCol="0" anchor="ctr"/>
          <a:lstStyle/>
          <a:p>
            <a:pPr algn="ctr"/>
          </a:p>
        </p:txBody>
      </p:sp>
      <p:sp>
        <p:nvSpPr>
          <p:cNvPr id="8" name="Text 7"/>
          <p:cNvSpPr txBox="1"/>
          <p:nvPr/>
        </p:nvSpPr>
        <p:spPr>
          <a:xfrm>
            <a:off x="838200" y="1712301"/>
            <a:ext cx="8382000" cy="426641"/>
          </a:xfrm>
          <a:prstGeom prst="rect">
            <a:avLst/>
          </a:prstGeom>
          <a:noFill/>
        </p:spPr>
        <p:txBody>
          <a:bodyPr wrap="square" tIns="0" rIns="0" bIns="0" lIns="0" anchor="t" rtlCol="0" anchorCtr="0">
            <a:noAutofit/>
          </a:bodyPr>
          <a:lstStyle/>
          <a:p>
            <a:pPr algn="r" rtl="1">
              <a:lnSpc>
                <a:spcPts val="3360"/>
              </a:lnSpc>
              <a:spcBef>
                <a:spcPts val="0"/>
              </a:spcBef>
              <a:spcAft>
                <a:spcPts val="0"/>
              </a:spcAft>
            </a:pPr>
            <a:r>
              <a:rPr sz="2400" b="0" i="0">
                <a:solidFill>
                  <a:srgbClr val="9AA5AE"/>
                </a:solidFill>
                <a:latin typeface="IBM Plex Sans Arabic"/>
                <a:ea typeface="IBM Plex Sans Arabic"/>
                <a:cs typeface="IBM Plex Sans Arabic"/>
              </a:rPr>
              <a:t>الوظيفة | مجالان أو ثلاثة | دليل</a:t>
            </a:r>
          </a:p>
        </p:txBody>
      </p:sp>
      <p:sp>
        <p:nvSpPr>
          <p:cNvPr id="9" name="Text 8"/>
          <p:cNvSpPr txBox="1"/>
          <p:nvPr/>
        </p:nvSpPr>
        <p:spPr>
          <a:xfrm>
            <a:off x="9291320" y="2392942"/>
            <a:ext cx="2087880" cy="629841"/>
          </a:xfrm>
          <a:prstGeom prst="rect">
            <a:avLst/>
          </a:prstGeom>
          <a:noFill/>
        </p:spPr>
        <p:txBody>
          <a:bodyPr wrap="square" tIns="0" rIns="0" bIns="0" lIns="0" anchor="t" rtlCol="0" anchorCtr="0">
            <a:noAutofit/>
          </a:bodyPr>
          <a:lstStyle/>
          <a:p>
            <a:pPr algn="r" rtl="1">
              <a:lnSpc>
                <a:spcPts val="3360"/>
              </a:lnSpc>
              <a:spcBef>
                <a:spcPts val="0"/>
              </a:spcBef>
              <a:spcAft>
                <a:spcPts val="0"/>
              </a:spcAft>
            </a:pPr>
            <a:r>
              <a:rPr sz="2400" b="1" i="0">
                <a:solidFill>
                  <a:srgbClr val="172433"/>
                </a:solidFill>
                <a:latin typeface="IBM Plex Sans Arabic"/>
                <a:ea typeface="IBM Plex Sans Arabic"/>
                <a:cs typeface="IBM Plex Sans Arabic"/>
              </a:rPr>
              <a:t>افتتاح النبذة</a:t>
            </a:r>
          </a:p>
        </p:txBody>
      </p:sp>
      <p:sp>
        <p:nvSpPr>
          <p:cNvPr id="10" name="Box 9"/>
          <p:cNvSpPr/>
          <p:nvPr/>
        </p:nvSpPr>
        <p:spPr>
          <a:xfrm>
            <a:off x="819150" y="2446536"/>
            <a:ext cx="8534400" cy="617141"/>
          </a:xfrm>
          <a:prstGeom prst="roundRect">
            <a:avLst>
              <a:gd name="adj" fmla="val 12098"/>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494542"/>
            <a:ext cx="8382000" cy="426641"/>
          </a:xfrm>
          <a:prstGeom prst="rect">
            <a:avLst/>
          </a:prstGeom>
          <a:noFill/>
        </p:spPr>
        <p:txBody>
          <a:bodyPr wrap="square" tIns="0" rIns="0" bIns="0" lIns="0" anchor="t" rtlCol="0" anchorCtr="0">
            <a:noAutofit/>
          </a:bodyPr>
          <a:lstStyle/>
          <a:p>
            <a:pPr algn="r" rtl="1">
              <a:lnSpc>
                <a:spcPts val="3360"/>
              </a:lnSpc>
              <a:spcBef>
                <a:spcPts val="0"/>
              </a:spcBef>
              <a:spcAft>
                <a:spcPts val="0"/>
              </a:spcAft>
            </a:pPr>
            <a:r>
              <a:rPr sz="2400" b="0" i="0">
                <a:solidFill>
                  <a:srgbClr val="9AA5AE"/>
                </a:solidFill>
                <a:latin typeface="IBM Plex Sans Arabic"/>
                <a:ea typeface="IBM Plex Sans Arabic"/>
                <a:cs typeface="IBM Plex Sans Arabic"/>
              </a:rPr>
              <a:t>جملتان: من أنت، وأقوى دليل من مشاريعك</a:t>
            </a:r>
          </a:p>
        </p:txBody>
      </p:sp>
      <p:sp>
        <p:nvSpPr>
          <p:cNvPr id="12" name="Box 11"/>
          <p:cNvSpPr/>
          <p:nvPr/>
        </p:nvSpPr>
        <p:spPr>
          <a:xfrm>
            <a:off x="812800" y="3260527"/>
            <a:ext cx="10566400" cy="618430"/>
          </a:xfrm>
          <a:prstGeom prst="roundRect">
            <a:avLst>
              <a:gd name="adj" fmla="val 16428"/>
            </a:avLst>
          </a:prstGeom>
          <a:solidFill>
            <a:srgbClr val="F6ECDA"/>
          </a:solidFill>
          <a:ln>
            <a:noFill/>
          </a:ln>
        </p:spPr>
        <p:txBody>
          <a:bodyPr rtlCol="0" anchor="ctr"/>
          <a:lstStyle/>
          <a:p>
            <a:pPr algn="ctr"/>
          </a:p>
        </p:txBody>
      </p:sp>
      <p:pic>
        <p:nvPicPr>
          <p:cNvPr id="13" name="Icon Clock 12" descr="icon075.png"/>
          <p:cNvPicPr>
            <a:picLocks noChangeAspect="1"/>
          </p:cNvPicPr>
          <p:nvPr/>
        </p:nvPicPr>
        <p:blipFill>
          <a:blip r:embed="rId2"/>
          <a:stretch>
            <a:fillRect/>
          </a:stretch>
        </p:blipFill>
        <p:spPr>
          <a:xfrm>
            <a:off x="10934700" y="3436342"/>
            <a:ext cx="266700" cy="266700"/>
          </a:xfrm>
          <a:prstGeom prst="rect">
            <a:avLst/>
          </a:prstGeom>
        </p:spPr>
      </p:pic>
      <p:sp>
        <p:nvSpPr>
          <p:cNvPr id="14" name="Text 13"/>
          <p:cNvSpPr txBox="1"/>
          <p:nvPr/>
        </p:nvSpPr>
        <p:spPr>
          <a:xfrm>
            <a:off x="838200" y="3347172"/>
            <a:ext cx="9982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بالإنجليزية، ومن مشاريعك الفعلية. 8 دقائق.</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785177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عنوان وافتتاح نموذجيان</a:t>
            </a:r>
          </a:p>
        </p:txBody>
      </p:sp>
      <p:sp>
        <p:nvSpPr>
          <p:cNvPr id="6" name="Text 5"/>
          <p:cNvSpPr txBox="1"/>
          <p:nvPr/>
        </p:nvSpPr>
        <p:spPr>
          <a:xfrm>
            <a:off x="9889490" y="1617591"/>
            <a:ext cx="1489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العنوان</a:t>
            </a:r>
          </a:p>
        </p:txBody>
      </p:sp>
      <p:sp>
        <p:nvSpPr>
          <p:cNvPr id="7" name="Text 6"/>
          <p:cNvSpPr txBox="1"/>
          <p:nvPr/>
        </p:nvSpPr>
        <p:spPr>
          <a:xfrm>
            <a:off x="539242" y="1617591"/>
            <a:ext cx="9392158" cy="728861"/>
          </a:xfrm>
          <a:prstGeom prst="rect">
            <a:avLst/>
          </a:prstGeom>
          <a:noFill/>
        </p:spPr>
        <p:txBody>
          <a:bodyPr wrap="square" tIns="0" rIns="0" bIns="0" lIns="0" anchor="t" rtlCol="0" anchorCtr="0">
            <a:noAutofit/>
          </a:bodyPr>
          <a:lstStyle/>
          <a:p>
            <a:pPr algn="r">
              <a:lnSpc>
                <a:spcPts val="2870"/>
              </a:lnSpc>
              <a:spcBef>
                <a:spcPts val="0"/>
              </a:spcBef>
              <a:spcAft>
                <a:spcPts val="0"/>
              </a:spcAft>
            </a:pPr>
            <a:r>
              <a:rPr sz="2050" b="0" i="0">
                <a:solidFill>
                  <a:srgbClr val="172433"/>
                </a:solidFill>
                <a:latin typeface="IBM Plex Sans Arabic"/>
                <a:ea typeface="IBM Plex Sans Arabic"/>
                <a:cs typeface="IBM Plex Sans Arabic"/>
              </a:rPr>
              <a:t>Entry-Level GRC Analyst | Risk Assessment · Control Testing · NCA ECC | ISC2 CC</a:t>
            </a:r>
          </a:p>
        </p:txBody>
      </p:sp>
      <p:sp>
        <p:nvSpPr>
          <p:cNvPr id="8" name="Text 7"/>
          <p:cNvSpPr txBox="1"/>
          <p:nvPr/>
        </p:nvSpPr>
        <p:spPr>
          <a:xfrm>
            <a:off x="9889490" y="2473452"/>
            <a:ext cx="148971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1" i="0">
                <a:solidFill>
                  <a:srgbClr val="0E7C6B"/>
                </a:solidFill>
                <a:latin typeface="IBM Plex Sans Arabic"/>
                <a:ea typeface="IBM Plex Sans Arabic"/>
                <a:cs typeface="IBM Plex Sans Arabic"/>
              </a:rPr>
              <a:t>الافتتاح</a:t>
            </a:r>
          </a:p>
        </p:txBody>
      </p:sp>
      <p:sp>
        <p:nvSpPr>
          <p:cNvPr id="9" name="Text 8"/>
          <p:cNvSpPr txBox="1"/>
          <p:nvPr/>
        </p:nvSpPr>
        <p:spPr>
          <a:xfrm>
            <a:off x="539242" y="2473452"/>
            <a:ext cx="9392158" cy="1093291"/>
          </a:xfrm>
          <a:prstGeom prst="rect">
            <a:avLst/>
          </a:prstGeom>
          <a:noFill/>
        </p:spPr>
        <p:txBody>
          <a:bodyPr wrap="square" tIns="0" rIns="0" bIns="0" lIns="0" anchor="t" rtlCol="0" anchorCtr="0">
            <a:noAutofit/>
          </a:bodyPr>
          <a:lstStyle/>
          <a:p>
            <a:pPr algn="r">
              <a:lnSpc>
                <a:spcPts val="2870"/>
              </a:lnSpc>
              <a:spcBef>
                <a:spcPts val="0"/>
              </a:spcBef>
              <a:spcAft>
                <a:spcPts val="0"/>
              </a:spcAft>
            </a:pPr>
            <a:r>
              <a:rPr sz="2050" b="0" i="0">
                <a:solidFill>
                  <a:srgbClr val="172433"/>
                </a:solidFill>
                <a:latin typeface="IBM Plex Sans Arabic"/>
                <a:ea typeface="IBM Plex Sans Arabic"/>
                <a:cs typeface="IBM Plex Sans Arabic"/>
              </a:rPr>
              <a:t>Entry-level GRC analyst who turns requirements into clear, testable controls. In a training case for a 200-staff company, I rated a vendor access risk, tested an access review, and wrote a finding with a corrective plan.</a:t>
            </a:r>
          </a:p>
        </p:txBody>
      </p:sp>
      <p:sp>
        <p:nvSpPr>
          <p:cNvPr id="10" name="Box 9"/>
          <p:cNvSpPr/>
          <p:nvPr/>
        </p:nvSpPr>
        <p:spPr>
          <a:xfrm>
            <a:off x="812800" y="3797598"/>
            <a:ext cx="10566400" cy="982861"/>
          </a:xfrm>
          <a:prstGeom prst="roundRect">
            <a:avLst>
              <a:gd name="adj" fmla="val 10337"/>
            </a:avLst>
          </a:prstGeom>
          <a:solidFill>
            <a:srgbClr val="E3F1ED"/>
          </a:solidFill>
          <a:ln>
            <a:noFill/>
          </a:ln>
        </p:spPr>
        <p:txBody>
          <a:bodyPr rtlCol="0" anchor="ctr"/>
          <a:lstStyle/>
          <a:p>
            <a:pPr algn="ctr"/>
          </a:p>
        </p:txBody>
      </p:sp>
      <p:pic>
        <p:nvPicPr>
          <p:cNvPr id="11" name="Icon Lightbulb 10" descr="icon031.png"/>
          <p:cNvPicPr>
            <a:picLocks noChangeAspect="1"/>
          </p:cNvPicPr>
          <p:nvPr/>
        </p:nvPicPr>
        <p:blipFill>
          <a:blip r:embed="rId2"/>
          <a:stretch>
            <a:fillRect/>
          </a:stretch>
        </p:blipFill>
        <p:spPr>
          <a:xfrm>
            <a:off x="10934700" y="4155678"/>
            <a:ext cx="266700" cy="266700"/>
          </a:xfrm>
          <a:prstGeom prst="rect">
            <a:avLst/>
          </a:prstGeom>
        </p:spPr>
      </p:pic>
      <p:sp>
        <p:nvSpPr>
          <p:cNvPr id="12" name="Text 11"/>
          <p:cNvSpPr txBox="1"/>
          <p:nvPr/>
        </p:nvSpPr>
        <p:spPr>
          <a:xfrm>
            <a:off x="838200" y="3884243"/>
            <a:ext cx="9982200"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172433"/>
                </a:solidFill>
                <a:latin typeface="IBM Plex Sans Arabic"/>
                <a:ea typeface="IBM Plex Sans Arabic"/>
                <a:cs typeface="IBM Plex Sans Arabic"/>
              </a:rPr>
              <a:t>كلمات البحث في البداية، ودليل حقيقي، ولا مبالغة: «training case» تقول الحقيقة وتحميك في المقابلة.</a:t>
            </a:r>
          </a:p>
        </p:txBody>
      </p:sp>
      <p:sp>
        <p:nvSpPr>
          <p:cNvPr id="13" name="Text 1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14" name="Text 1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4201" y="1423690"/>
            <a:ext cx="23749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08</a:t>
            </a:r>
          </a:p>
        </p:txBody>
      </p:sp>
      <p:sp>
        <p:nvSpPr>
          <p:cNvPr id="4" name="Text 3"/>
          <p:cNvSpPr txBox="1"/>
          <p:nvPr/>
        </p:nvSpPr>
        <p:spPr>
          <a:xfrm>
            <a:off x="4220067" y="1845155"/>
            <a:ext cx="524133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المقابلة والانطلاق</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كل ما تعلمته يُختبر في ساعة واحدة. استعد لها كما تستعد لاختبار الشهادة.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8.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تجيب عن الأسئلة المتوقعة بأمثلة من رُفاد.</a:t>
            </a:r>
          </a:p>
        </p:txBody>
      </p:sp>
      <p:pic>
        <p:nvPicPr>
          <p:cNvPr id="10" name="Icon CheckCircle 9" descr="icon008.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تحكي قصصك بطريقة STAR.</a:t>
            </a:r>
          </a:p>
        </p:txBody>
      </p:sp>
      <p:pic>
        <p:nvPicPr>
          <p:cNvPr id="12" name="Icon CheckCircle 11" descr="icon008.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تنطلق بخطة واضحة لما بعد الكورس.</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08 · المقابلة والانطلاق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ثمانية أسئلة متوقعة، وأين جوابها</a:t>
            </a:r>
          </a:p>
        </p:txBody>
      </p:sp>
      <p:sp>
        <p:nvSpPr>
          <p:cNvPr id="5" name="Box 4"/>
          <p:cNvSpPr/>
          <p:nvPr/>
        </p:nvSpPr>
        <p:spPr>
          <a:xfrm>
            <a:off x="6153150" y="1657945"/>
            <a:ext cx="5226050" cy="929580"/>
          </a:xfrm>
          <a:prstGeom prst="roundRect">
            <a:avLst>
              <a:gd name="adj" fmla="val 12295"/>
            </a:avLst>
          </a:prstGeom>
          <a:solidFill>
            <a:srgbClr val="FFFDF8"/>
          </a:solidFill>
          <a:ln>
            <a:noFill/>
          </a:ln>
        </p:spPr>
        <p:txBody>
          <a:bodyPr rtlCol="0" anchor="ctr"/>
          <a:lstStyle/>
          <a:p>
            <a:pPr algn="ctr"/>
          </a:p>
        </p:txBody>
      </p:sp>
      <p:sp>
        <p:nvSpPr>
          <p:cNvPr id="6" name="Rule 5"/>
          <p:cNvSpPr/>
          <p:nvPr/>
        </p:nvSpPr>
        <p:spPr>
          <a:xfrm>
            <a:off x="6153150" y="1657945"/>
            <a:ext cx="5226050" cy="6350"/>
          </a:xfrm>
          <a:prstGeom prst="rect">
            <a:avLst/>
          </a:prstGeom>
          <a:solidFill>
            <a:srgbClr val="E1DBCD"/>
          </a:solidFill>
          <a:ln>
            <a:noFill/>
          </a:ln>
        </p:spPr>
        <p:txBody>
          <a:bodyPr rtlCol="0" anchor="ctr"/>
          <a:lstStyle/>
          <a:p>
            <a:pPr algn="ctr"/>
          </a:p>
        </p:txBody>
      </p:sp>
      <p:sp>
        <p:nvSpPr>
          <p:cNvPr id="7" name="Rule 6"/>
          <p:cNvSpPr/>
          <p:nvPr/>
        </p:nvSpPr>
        <p:spPr>
          <a:xfrm>
            <a:off x="11328400" y="1657945"/>
            <a:ext cx="50800" cy="929580"/>
          </a:xfrm>
          <a:prstGeom prst="rect">
            <a:avLst/>
          </a:prstGeom>
          <a:solidFill>
            <a:srgbClr val="0E7C6B"/>
          </a:solidFill>
          <a:ln>
            <a:noFill/>
          </a:ln>
        </p:spPr>
        <p:txBody>
          <a:bodyPr rtlCol="0" anchor="ctr"/>
          <a:lstStyle/>
          <a:p>
            <a:pPr algn="ctr"/>
          </a:p>
        </p:txBody>
      </p:sp>
      <p:sp>
        <p:nvSpPr>
          <p:cNvPr id="8" name="Rule 7"/>
          <p:cNvSpPr/>
          <p:nvPr/>
        </p:nvSpPr>
        <p:spPr>
          <a:xfrm>
            <a:off x="6153150" y="2581176"/>
            <a:ext cx="5226050" cy="6350"/>
          </a:xfrm>
          <a:prstGeom prst="rect">
            <a:avLst/>
          </a:prstGeom>
          <a:solidFill>
            <a:srgbClr val="E1DBCD"/>
          </a:solidFill>
          <a:ln>
            <a:noFill/>
          </a:ln>
        </p:spPr>
        <p:txBody>
          <a:bodyPr rtlCol="0" anchor="ctr"/>
          <a:lstStyle/>
          <a:p>
            <a:pPr algn="ctr"/>
          </a:p>
        </p:txBody>
      </p:sp>
      <p:sp>
        <p:nvSpPr>
          <p:cNvPr id="9" name="Rule 8"/>
          <p:cNvSpPr/>
          <p:nvPr/>
        </p:nvSpPr>
        <p:spPr>
          <a:xfrm>
            <a:off x="6153150" y="1657945"/>
            <a:ext cx="6350" cy="929580"/>
          </a:xfrm>
          <a:prstGeom prst="rect">
            <a:avLst/>
          </a:prstGeom>
          <a:solidFill>
            <a:srgbClr val="E1DBCD"/>
          </a:solidFill>
          <a:ln>
            <a:noFill/>
          </a:ln>
        </p:spPr>
        <p:txBody>
          <a:bodyPr rtlCol="0" anchor="ctr"/>
          <a:lstStyle/>
          <a:p>
            <a:pPr algn="ctr"/>
          </a:p>
        </p:txBody>
      </p:sp>
      <p:sp>
        <p:nvSpPr>
          <p:cNvPr id="10" name="Text 9"/>
          <p:cNvSpPr txBox="1"/>
          <p:nvPr/>
        </p:nvSpPr>
        <p:spPr>
          <a:xfrm>
            <a:off x="6178550" y="1726525"/>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التهديد والثغرة والخطر؟»</a:t>
            </a:r>
          </a:p>
        </p:txBody>
      </p:sp>
      <p:sp>
        <p:nvSpPr>
          <p:cNvPr id="11" name="Text 10"/>
          <p:cNvSpPr txBox="1"/>
          <p:nvPr/>
        </p:nvSpPr>
        <p:spPr>
          <a:xfrm>
            <a:off x="6286623" y="2124162"/>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المفاهيم</a:t>
            </a:r>
          </a:p>
        </p:txBody>
      </p:sp>
      <p:sp>
        <p:nvSpPr>
          <p:cNvPr id="12" name="Text 11"/>
          <p:cNvSpPr txBox="1"/>
          <p:nvPr/>
        </p:nvSpPr>
        <p:spPr>
          <a:xfrm>
            <a:off x="6178550" y="2124162"/>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39</a:t>
            </a:r>
          </a:p>
        </p:txBody>
      </p:sp>
      <p:sp>
        <p:nvSpPr>
          <p:cNvPr id="13" name="Box 12"/>
          <p:cNvSpPr/>
          <p:nvPr/>
        </p:nvSpPr>
        <p:spPr>
          <a:xfrm>
            <a:off x="6153150" y="2663726"/>
            <a:ext cx="5226050" cy="929580"/>
          </a:xfrm>
          <a:prstGeom prst="roundRect">
            <a:avLst>
              <a:gd name="adj" fmla="val 12295"/>
            </a:avLst>
          </a:prstGeom>
          <a:solidFill>
            <a:srgbClr val="FFFDF8"/>
          </a:solidFill>
          <a:ln>
            <a:noFill/>
          </a:ln>
        </p:spPr>
        <p:txBody>
          <a:bodyPr rtlCol="0" anchor="ctr"/>
          <a:lstStyle/>
          <a:p>
            <a:pPr algn="ctr"/>
          </a:p>
        </p:txBody>
      </p:sp>
      <p:sp>
        <p:nvSpPr>
          <p:cNvPr id="14" name="Rule 13"/>
          <p:cNvSpPr/>
          <p:nvPr/>
        </p:nvSpPr>
        <p:spPr>
          <a:xfrm>
            <a:off x="6153150" y="2663726"/>
            <a:ext cx="5226050" cy="6350"/>
          </a:xfrm>
          <a:prstGeom prst="rect">
            <a:avLst/>
          </a:prstGeom>
          <a:solidFill>
            <a:srgbClr val="E1DBCD"/>
          </a:solidFill>
          <a:ln>
            <a:noFill/>
          </a:ln>
        </p:spPr>
        <p:txBody>
          <a:bodyPr rtlCol="0" anchor="ctr"/>
          <a:lstStyle/>
          <a:p>
            <a:pPr algn="ctr"/>
          </a:p>
        </p:txBody>
      </p:sp>
      <p:sp>
        <p:nvSpPr>
          <p:cNvPr id="15" name="Rule 14"/>
          <p:cNvSpPr/>
          <p:nvPr/>
        </p:nvSpPr>
        <p:spPr>
          <a:xfrm>
            <a:off x="11328400" y="2663726"/>
            <a:ext cx="50800" cy="929580"/>
          </a:xfrm>
          <a:prstGeom prst="rect">
            <a:avLst/>
          </a:prstGeom>
          <a:solidFill>
            <a:srgbClr val="0E7C6B"/>
          </a:solidFill>
          <a:ln>
            <a:noFill/>
          </a:ln>
        </p:spPr>
        <p:txBody>
          <a:bodyPr rtlCol="0" anchor="ctr"/>
          <a:lstStyle/>
          <a:p>
            <a:pPr algn="ctr"/>
          </a:p>
        </p:txBody>
      </p:sp>
      <p:sp>
        <p:nvSpPr>
          <p:cNvPr id="16" name="Rule 15"/>
          <p:cNvSpPr/>
          <p:nvPr/>
        </p:nvSpPr>
        <p:spPr>
          <a:xfrm>
            <a:off x="6153150" y="3586956"/>
            <a:ext cx="5226050" cy="6350"/>
          </a:xfrm>
          <a:prstGeom prst="rect">
            <a:avLst/>
          </a:prstGeom>
          <a:solidFill>
            <a:srgbClr val="E1DBCD"/>
          </a:solidFill>
          <a:ln>
            <a:noFill/>
          </a:ln>
        </p:spPr>
        <p:txBody>
          <a:bodyPr rtlCol="0" anchor="ctr"/>
          <a:lstStyle/>
          <a:p>
            <a:pPr algn="ctr"/>
          </a:p>
        </p:txBody>
      </p:sp>
      <p:sp>
        <p:nvSpPr>
          <p:cNvPr id="17" name="Rule 16"/>
          <p:cNvSpPr/>
          <p:nvPr/>
        </p:nvSpPr>
        <p:spPr>
          <a:xfrm>
            <a:off x="6153150" y="2663726"/>
            <a:ext cx="6350" cy="929580"/>
          </a:xfrm>
          <a:prstGeom prst="rect">
            <a:avLst/>
          </a:prstGeom>
          <a:solidFill>
            <a:srgbClr val="E1DBCD"/>
          </a:solidFill>
          <a:ln>
            <a:noFill/>
          </a:ln>
        </p:spPr>
        <p:txBody>
          <a:bodyPr rtlCol="0" anchor="ctr"/>
          <a:lstStyle/>
          <a:p>
            <a:pPr algn="ctr"/>
          </a:p>
        </p:txBody>
      </p:sp>
      <p:sp>
        <p:nvSpPr>
          <p:cNvPr id="18" name="Text 17"/>
          <p:cNvSpPr txBox="1"/>
          <p:nvPr/>
        </p:nvSpPr>
        <p:spPr>
          <a:xfrm>
            <a:off x="6178550" y="2732306"/>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تقيّم خطراً وترتبه؟»</a:t>
            </a:r>
          </a:p>
        </p:txBody>
      </p:sp>
      <p:sp>
        <p:nvSpPr>
          <p:cNvPr id="19" name="Text 18"/>
          <p:cNvSpPr txBox="1"/>
          <p:nvPr/>
        </p:nvSpPr>
        <p:spPr>
          <a:xfrm>
            <a:off x="6286623" y="3129943"/>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المصفوفة والمبرر</a:t>
            </a:r>
          </a:p>
        </p:txBody>
      </p:sp>
      <p:sp>
        <p:nvSpPr>
          <p:cNvPr id="20" name="Text 19"/>
          <p:cNvSpPr txBox="1"/>
          <p:nvPr/>
        </p:nvSpPr>
        <p:spPr>
          <a:xfrm>
            <a:off x="6178550" y="3129943"/>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44</a:t>
            </a:r>
          </a:p>
        </p:txBody>
      </p:sp>
      <p:sp>
        <p:nvSpPr>
          <p:cNvPr id="21" name="Box 20"/>
          <p:cNvSpPr/>
          <p:nvPr/>
        </p:nvSpPr>
        <p:spPr>
          <a:xfrm>
            <a:off x="6153150" y="3669506"/>
            <a:ext cx="5226050" cy="929580"/>
          </a:xfrm>
          <a:prstGeom prst="roundRect">
            <a:avLst>
              <a:gd name="adj" fmla="val 12295"/>
            </a:avLst>
          </a:prstGeom>
          <a:solidFill>
            <a:srgbClr val="FFFDF8"/>
          </a:solidFill>
          <a:ln>
            <a:noFill/>
          </a:ln>
        </p:spPr>
        <p:txBody>
          <a:bodyPr rtlCol="0" anchor="ctr"/>
          <a:lstStyle/>
          <a:p>
            <a:pPr algn="ctr"/>
          </a:p>
        </p:txBody>
      </p:sp>
      <p:sp>
        <p:nvSpPr>
          <p:cNvPr id="22" name="Rule 21"/>
          <p:cNvSpPr/>
          <p:nvPr/>
        </p:nvSpPr>
        <p:spPr>
          <a:xfrm>
            <a:off x="6153150" y="3669506"/>
            <a:ext cx="5226050" cy="6350"/>
          </a:xfrm>
          <a:prstGeom prst="rect">
            <a:avLst/>
          </a:prstGeom>
          <a:solidFill>
            <a:srgbClr val="E1DBCD"/>
          </a:solidFill>
          <a:ln>
            <a:noFill/>
          </a:ln>
        </p:spPr>
        <p:txBody>
          <a:bodyPr rtlCol="0" anchor="ctr"/>
          <a:lstStyle/>
          <a:p>
            <a:pPr algn="ctr"/>
          </a:p>
        </p:txBody>
      </p:sp>
      <p:sp>
        <p:nvSpPr>
          <p:cNvPr id="23" name="Rule 22"/>
          <p:cNvSpPr/>
          <p:nvPr/>
        </p:nvSpPr>
        <p:spPr>
          <a:xfrm>
            <a:off x="11328400" y="3669506"/>
            <a:ext cx="50800" cy="929580"/>
          </a:xfrm>
          <a:prstGeom prst="rect">
            <a:avLst/>
          </a:prstGeom>
          <a:solidFill>
            <a:srgbClr val="0E7C6B"/>
          </a:solidFill>
          <a:ln>
            <a:noFill/>
          </a:ln>
        </p:spPr>
        <p:txBody>
          <a:bodyPr rtlCol="0" anchor="ctr"/>
          <a:lstStyle/>
          <a:p>
            <a:pPr algn="ctr"/>
          </a:p>
        </p:txBody>
      </p:sp>
      <p:sp>
        <p:nvSpPr>
          <p:cNvPr id="24" name="Rule 23"/>
          <p:cNvSpPr/>
          <p:nvPr/>
        </p:nvSpPr>
        <p:spPr>
          <a:xfrm>
            <a:off x="6153150" y="4592737"/>
            <a:ext cx="5226050" cy="6350"/>
          </a:xfrm>
          <a:prstGeom prst="rect">
            <a:avLst/>
          </a:prstGeom>
          <a:solidFill>
            <a:srgbClr val="E1DBCD"/>
          </a:solidFill>
          <a:ln>
            <a:noFill/>
          </a:ln>
        </p:spPr>
        <p:txBody>
          <a:bodyPr rtlCol="0" anchor="ctr"/>
          <a:lstStyle/>
          <a:p>
            <a:pPr algn="ctr"/>
          </a:p>
        </p:txBody>
      </p:sp>
      <p:sp>
        <p:nvSpPr>
          <p:cNvPr id="25" name="Rule 24"/>
          <p:cNvSpPr/>
          <p:nvPr/>
        </p:nvSpPr>
        <p:spPr>
          <a:xfrm>
            <a:off x="6153150" y="3669506"/>
            <a:ext cx="6350" cy="929580"/>
          </a:xfrm>
          <a:prstGeom prst="rect">
            <a:avLst/>
          </a:prstGeom>
          <a:solidFill>
            <a:srgbClr val="E1DBCD"/>
          </a:solidFill>
          <a:ln>
            <a:noFill/>
          </a:ln>
        </p:spPr>
        <p:txBody>
          <a:bodyPr rtlCol="0" anchor="ctr"/>
          <a:lstStyle/>
          <a:p>
            <a:pPr algn="ctr"/>
          </a:p>
        </p:txBody>
      </p:sp>
      <p:sp>
        <p:nvSpPr>
          <p:cNvPr id="26" name="Text 25"/>
          <p:cNvSpPr txBox="1"/>
          <p:nvPr/>
        </p:nvSpPr>
        <p:spPr>
          <a:xfrm>
            <a:off x="6178550" y="3738086"/>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السياسة والمعيار والإجراء؟»</a:t>
            </a:r>
          </a:p>
        </p:txBody>
      </p:sp>
      <p:sp>
        <p:nvSpPr>
          <p:cNvPr id="27" name="Text 26"/>
          <p:cNvSpPr txBox="1"/>
          <p:nvPr/>
        </p:nvSpPr>
        <p:spPr>
          <a:xfrm>
            <a:off x="6286623" y="4135723"/>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هرم الوثائق</a:t>
            </a:r>
          </a:p>
        </p:txBody>
      </p:sp>
      <p:sp>
        <p:nvSpPr>
          <p:cNvPr id="28" name="Text 27"/>
          <p:cNvSpPr txBox="1"/>
          <p:nvPr/>
        </p:nvSpPr>
        <p:spPr>
          <a:xfrm>
            <a:off x="6178550" y="4135723"/>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25</a:t>
            </a:r>
          </a:p>
        </p:txBody>
      </p:sp>
      <p:sp>
        <p:nvSpPr>
          <p:cNvPr id="29" name="Box 28"/>
          <p:cNvSpPr/>
          <p:nvPr/>
        </p:nvSpPr>
        <p:spPr>
          <a:xfrm>
            <a:off x="6153150" y="4675287"/>
            <a:ext cx="5226050" cy="929580"/>
          </a:xfrm>
          <a:prstGeom prst="roundRect">
            <a:avLst>
              <a:gd name="adj" fmla="val 12295"/>
            </a:avLst>
          </a:prstGeom>
          <a:solidFill>
            <a:srgbClr val="FFFDF8"/>
          </a:solidFill>
          <a:ln>
            <a:noFill/>
          </a:ln>
        </p:spPr>
        <p:txBody>
          <a:bodyPr rtlCol="0" anchor="ctr"/>
          <a:lstStyle/>
          <a:p>
            <a:pPr algn="ctr"/>
          </a:p>
        </p:txBody>
      </p:sp>
      <p:sp>
        <p:nvSpPr>
          <p:cNvPr id="30" name="Rule 29"/>
          <p:cNvSpPr/>
          <p:nvPr/>
        </p:nvSpPr>
        <p:spPr>
          <a:xfrm>
            <a:off x="6153150" y="4675287"/>
            <a:ext cx="5226050" cy="6350"/>
          </a:xfrm>
          <a:prstGeom prst="rect">
            <a:avLst/>
          </a:prstGeom>
          <a:solidFill>
            <a:srgbClr val="E1DBCD"/>
          </a:solidFill>
          <a:ln>
            <a:noFill/>
          </a:ln>
        </p:spPr>
        <p:txBody>
          <a:bodyPr rtlCol="0" anchor="ctr"/>
          <a:lstStyle/>
          <a:p>
            <a:pPr algn="ctr"/>
          </a:p>
        </p:txBody>
      </p:sp>
      <p:sp>
        <p:nvSpPr>
          <p:cNvPr id="31" name="Rule 30"/>
          <p:cNvSpPr/>
          <p:nvPr/>
        </p:nvSpPr>
        <p:spPr>
          <a:xfrm>
            <a:off x="11328400" y="4675287"/>
            <a:ext cx="50800" cy="929580"/>
          </a:xfrm>
          <a:prstGeom prst="rect">
            <a:avLst/>
          </a:prstGeom>
          <a:solidFill>
            <a:srgbClr val="0E7C6B"/>
          </a:solidFill>
          <a:ln>
            <a:noFill/>
          </a:ln>
        </p:spPr>
        <p:txBody>
          <a:bodyPr rtlCol="0" anchor="ctr"/>
          <a:lstStyle/>
          <a:p>
            <a:pPr algn="ctr"/>
          </a:p>
        </p:txBody>
      </p:sp>
      <p:sp>
        <p:nvSpPr>
          <p:cNvPr id="32" name="Rule 31"/>
          <p:cNvSpPr/>
          <p:nvPr/>
        </p:nvSpPr>
        <p:spPr>
          <a:xfrm>
            <a:off x="6153150" y="5598517"/>
            <a:ext cx="5226050" cy="6350"/>
          </a:xfrm>
          <a:prstGeom prst="rect">
            <a:avLst/>
          </a:prstGeom>
          <a:solidFill>
            <a:srgbClr val="E1DBCD"/>
          </a:solidFill>
          <a:ln>
            <a:noFill/>
          </a:ln>
        </p:spPr>
        <p:txBody>
          <a:bodyPr rtlCol="0" anchor="ctr"/>
          <a:lstStyle/>
          <a:p>
            <a:pPr algn="ctr"/>
          </a:p>
        </p:txBody>
      </p:sp>
      <p:sp>
        <p:nvSpPr>
          <p:cNvPr id="33" name="Rule 32"/>
          <p:cNvSpPr/>
          <p:nvPr/>
        </p:nvSpPr>
        <p:spPr>
          <a:xfrm>
            <a:off x="6153150" y="4675287"/>
            <a:ext cx="6350" cy="929580"/>
          </a:xfrm>
          <a:prstGeom prst="rect">
            <a:avLst/>
          </a:prstGeom>
          <a:solidFill>
            <a:srgbClr val="E1DBCD"/>
          </a:solidFill>
          <a:ln>
            <a:noFill/>
          </a:ln>
        </p:spPr>
        <p:txBody>
          <a:bodyPr rtlCol="0" anchor="ctr"/>
          <a:lstStyle/>
          <a:p>
            <a:pPr algn="ctr"/>
          </a:p>
        </p:txBody>
      </p:sp>
      <p:sp>
        <p:nvSpPr>
          <p:cNvPr id="34" name="Text 33"/>
          <p:cNvSpPr txBox="1"/>
          <p:nvPr/>
        </p:nvSpPr>
        <p:spPr>
          <a:xfrm>
            <a:off x="6178550" y="4743867"/>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تتأكد أن ضابطاً مطبق فعلاً؟»</a:t>
            </a:r>
          </a:p>
        </p:txBody>
      </p:sp>
      <p:sp>
        <p:nvSpPr>
          <p:cNvPr id="35" name="Text 34"/>
          <p:cNvSpPr txBox="1"/>
          <p:nvPr/>
        </p:nvSpPr>
        <p:spPr>
          <a:xfrm>
            <a:off x="6286623" y="5141504"/>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الأدلة والفترة</a:t>
            </a:r>
          </a:p>
        </p:txBody>
      </p:sp>
      <p:sp>
        <p:nvSpPr>
          <p:cNvPr id="36" name="Text 35"/>
          <p:cNvSpPr txBox="1"/>
          <p:nvPr/>
        </p:nvSpPr>
        <p:spPr>
          <a:xfrm>
            <a:off x="6178550" y="5141504"/>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63</a:t>
            </a:r>
          </a:p>
        </p:txBody>
      </p:sp>
      <p:sp>
        <p:nvSpPr>
          <p:cNvPr id="37" name="Box 36"/>
          <p:cNvSpPr/>
          <p:nvPr/>
        </p:nvSpPr>
        <p:spPr>
          <a:xfrm>
            <a:off x="812800" y="1657945"/>
            <a:ext cx="5226050" cy="929580"/>
          </a:xfrm>
          <a:prstGeom prst="roundRect">
            <a:avLst>
              <a:gd name="adj" fmla="val 12295"/>
            </a:avLst>
          </a:prstGeom>
          <a:solidFill>
            <a:srgbClr val="FFFDF8"/>
          </a:solidFill>
          <a:ln>
            <a:noFill/>
          </a:ln>
        </p:spPr>
        <p:txBody>
          <a:bodyPr rtlCol="0" anchor="ctr"/>
          <a:lstStyle/>
          <a:p>
            <a:pPr algn="ctr"/>
          </a:p>
        </p:txBody>
      </p:sp>
      <p:sp>
        <p:nvSpPr>
          <p:cNvPr id="38" name="Rule 37"/>
          <p:cNvSpPr/>
          <p:nvPr/>
        </p:nvSpPr>
        <p:spPr>
          <a:xfrm>
            <a:off x="812800" y="1657945"/>
            <a:ext cx="5226050" cy="6350"/>
          </a:xfrm>
          <a:prstGeom prst="rect">
            <a:avLst/>
          </a:prstGeom>
          <a:solidFill>
            <a:srgbClr val="E1DBCD"/>
          </a:solidFill>
          <a:ln>
            <a:noFill/>
          </a:ln>
        </p:spPr>
        <p:txBody>
          <a:bodyPr rtlCol="0" anchor="ctr"/>
          <a:lstStyle/>
          <a:p>
            <a:pPr algn="ctr"/>
          </a:p>
        </p:txBody>
      </p:sp>
      <p:sp>
        <p:nvSpPr>
          <p:cNvPr id="39" name="Rule 38"/>
          <p:cNvSpPr/>
          <p:nvPr/>
        </p:nvSpPr>
        <p:spPr>
          <a:xfrm>
            <a:off x="5988050" y="1657945"/>
            <a:ext cx="50800" cy="929580"/>
          </a:xfrm>
          <a:prstGeom prst="rect">
            <a:avLst/>
          </a:prstGeom>
          <a:solidFill>
            <a:srgbClr val="0E7C6B"/>
          </a:solidFill>
          <a:ln>
            <a:noFill/>
          </a:ln>
        </p:spPr>
        <p:txBody>
          <a:bodyPr rtlCol="0" anchor="ctr"/>
          <a:lstStyle/>
          <a:p>
            <a:pPr algn="ctr"/>
          </a:p>
        </p:txBody>
      </p:sp>
      <p:sp>
        <p:nvSpPr>
          <p:cNvPr id="40" name="Rule 39"/>
          <p:cNvSpPr/>
          <p:nvPr/>
        </p:nvSpPr>
        <p:spPr>
          <a:xfrm>
            <a:off x="812800" y="2581176"/>
            <a:ext cx="5226050" cy="6350"/>
          </a:xfrm>
          <a:prstGeom prst="rect">
            <a:avLst/>
          </a:prstGeom>
          <a:solidFill>
            <a:srgbClr val="E1DBCD"/>
          </a:solidFill>
          <a:ln>
            <a:noFill/>
          </a:ln>
        </p:spPr>
        <p:txBody>
          <a:bodyPr rtlCol="0" anchor="ctr"/>
          <a:lstStyle/>
          <a:p>
            <a:pPr algn="ctr"/>
          </a:p>
        </p:txBody>
      </p:sp>
      <p:sp>
        <p:nvSpPr>
          <p:cNvPr id="41" name="Rule 40"/>
          <p:cNvSpPr/>
          <p:nvPr/>
        </p:nvSpPr>
        <p:spPr>
          <a:xfrm>
            <a:off x="812800" y="1657945"/>
            <a:ext cx="6350" cy="929580"/>
          </a:xfrm>
          <a:prstGeom prst="rect">
            <a:avLst/>
          </a:prstGeom>
          <a:solidFill>
            <a:srgbClr val="E1DBCD"/>
          </a:solidFill>
          <a:ln>
            <a:noFill/>
          </a:ln>
        </p:spPr>
        <p:txBody>
          <a:bodyPr rtlCol="0" anchor="ctr"/>
          <a:lstStyle/>
          <a:p>
            <a:pPr algn="ctr"/>
          </a:p>
        </p:txBody>
      </p:sp>
      <p:sp>
        <p:nvSpPr>
          <p:cNvPr id="42" name="Text 41"/>
          <p:cNvSpPr txBox="1"/>
          <p:nvPr/>
        </p:nvSpPr>
        <p:spPr>
          <a:xfrm>
            <a:off x="838200" y="1726525"/>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«مالك نظام يرفض تطبيق ضابط. ماذا تفعل؟»</a:t>
            </a:r>
          </a:p>
        </p:txBody>
      </p:sp>
      <p:sp>
        <p:nvSpPr>
          <p:cNvPr id="43" name="Text 42"/>
          <p:cNvSpPr txBox="1"/>
          <p:nvPr/>
        </p:nvSpPr>
        <p:spPr>
          <a:xfrm>
            <a:off x="1094470" y="2124162"/>
            <a:ext cx="475388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الإقناع والبدائل</a:t>
            </a:r>
          </a:p>
        </p:txBody>
      </p:sp>
      <p:sp>
        <p:nvSpPr>
          <p:cNvPr id="44" name="Text 43"/>
          <p:cNvSpPr txBox="1"/>
          <p:nvPr/>
        </p:nvSpPr>
        <p:spPr>
          <a:xfrm>
            <a:off x="838200" y="2124162"/>
            <a:ext cx="53220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146</a:t>
            </a:r>
          </a:p>
        </p:txBody>
      </p:sp>
      <p:sp>
        <p:nvSpPr>
          <p:cNvPr id="45" name="Box 44"/>
          <p:cNvSpPr/>
          <p:nvPr/>
        </p:nvSpPr>
        <p:spPr>
          <a:xfrm>
            <a:off x="812800" y="2663726"/>
            <a:ext cx="5226050" cy="929580"/>
          </a:xfrm>
          <a:prstGeom prst="roundRect">
            <a:avLst>
              <a:gd name="adj" fmla="val 12295"/>
            </a:avLst>
          </a:prstGeom>
          <a:solidFill>
            <a:srgbClr val="FFFDF8"/>
          </a:solidFill>
          <a:ln>
            <a:noFill/>
          </a:ln>
        </p:spPr>
        <p:txBody>
          <a:bodyPr rtlCol="0" anchor="ctr"/>
          <a:lstStyle/>
          <a:p>
            <a:pPr algn="ctr"/>
          </a:p>
        </p:txBody>
      </p:sp>
      <p:sp>
        <p:nvSpPr>
          <p:cNvPr id="46" name="Rule 45"/>
          <p:cNvSpPr/>
          <p:nvPr/>
        </p:nvSpPr>
        <p:spPr>
          <a:xfrm>
            <a:off x="812800" y="2663726"/>
            <a:ext cx="5226050" cy="6350"/>
          </a:xfrm>
          <a:prstGeom prst="rect">
            <a:avLst/>
          </a:prstGeom>
          <a:solidFill>
            <a:srgbClr val="E1DBCD"/>
          </a:solidFill>
          <a:ln>
            <a:noFill/>
          </a:ln>
        </p:spPr>
        <p:txBody>
          <a:bodyPr rtlCol="0" anchor="ctr"/>
          <a:lstStyle/>
          <a:p>
            <a:pPr algn="ctr"/>
          </a:p>
        </p:txBody>
      </p:sp>
      <p:sp>
        <p:nvSpPr>
          <p:cNvPr id="47" name="Rule 46"/>
          <p:cNvSpPr/>
          <p:nvPr/>
        </p:nvSpPr>
        <p:spPr>
          <a:xfrm>
            <a:off x="5988050" y="2663726"/>
            <a:ext cx="50800" cy="929580"/>
          </a:xfrm>
          <a:prstGeom prst="rect">
            <a:avLst/>
          </a:prstGeom>
          <a:solidFill>
            <a:srgbClr val="0E7C6B"/>
          </a:solidFill>
          <a:ln>
            <a:noFill/>
          </a:ln>
        </p:spPr>
        <p:txBody>
          <a:bodyPr rtlCol="0" anchor="ctr"/>
          <a:lstStyle/>
          <a:p>
            <a:pPr algn="ctr"/>
          </a:p>
        </p:txBody>
      </p:sp>
      <p:sp>
        <p:nvSpPr>
          <p:cNvPr id="48" name="Rule 47"/>
          <p:cNvSpPr/>
          <p:nvPr/>
        </p:nvSpPr>
        <p:spPr>
          <a:xfrm>
            <a:off x="812800" y="3586956"/>
            <a:ext cx="5226050" cy="6350"/>
          </a:xfrm>
          <a:prstGeom prst="rect">
            <a:avLst/>
          </a:prstGeom>
          <a:solidFill>
            <a:srgbClr val="E1DBCD"/>
          </a:solidFill>
          <a:ln>
            <a:noFill/>
          </a:ln>
        </p:spPr>
        <p:txBody>
          <a:bodyPr rtlCol="0" anchor="ctr"/>
          <a:lstStyle/>
          <a:p>
            <a:pPr algn="ctr"/>
          </a:p>
        </p:txBody>
      </p:sp>
      <p:sp>
        <p:nvSpPr>
          <p:cNvPr id="49" name="Rule 48"/>
          <p:cNvSpPr/>
          <p:nvPr/>
        </p:nvSpPr>
        <p:spPr>
          <a:xfrm>
            <a:off x="812800" y="2663726"/>
            <a:ext cx="6350" cy="929580"/>
          </a:xfrm>
          <a:prstGeom prst="rect">
            <a:avLst/>
          </a:prstGeom>
          <a:solidFill>
            <a:srgbClr val="E1DBCD"/>
          </a:solidFill>
          <a:ln>
            <a:noFill/>
          </a:ln>
        </p:spPr>
        <p:txBody>
          <a:bodyPr rtlCol="0" anchor="ctr"/>
          <a:lstStyle/>
          <a:p>
            <a:pPr algn="ctr"/>
          </a:p>
        </p:txBody>
      </p:sp>
      <p:sp>
        <p:nvSpPr>
          <p:cNvPr id="50" name="Text 49"/>
          <p:cNvSpPr txBox="1"/>
          <p:nvPr/>
        </p:nvSpPr>
        <p:spPr>
          <a:xfrm>
            <a:off x="838200" y="2732306"/>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الامتثال والمراجعة الداخلية؟»</a:t>
            </a:r>
          </a:p>
        </p:txBody>
      </p:sp>
      <p:sp>
        <p:nvSpPr>
          <p:cNvPr id="51" name="Text 50"/>
          <p:cNvSpPr txBox="1"/>
          <p:nvPr/>
        </p:nvSpPr>
        <p:spPr>
          <a:xfrm>
            <a:off x="946273" y="3129943"/>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الخطوط الثلاثة</a:t>
            </a:r>
          </a:p>
        </p:txBody>
      </p:sp>
      <p:sp>
        <p:nvSpPr>
          <p:cNvPr id="52" name="Text 51"/>
          <p:cNvSpPr txBox="1"/>
          <p:nvPr/>
        </p:nvSpPr>
        <p:spPr>
          <a:xfrm>
            <a:off x="838200" y="3129943"/>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24</a:t>
            </a:r>
          </a:p>
        </p:txBody>
      </p:sp>
      <p:sp>
        <p:nvSpPr>
          <p:cNvPr id="53" name="Box 52"/>
          <p:cNvSpPr/>
          <p:nvPr/>
        </p:nvSpPr>
        <p:spPr>
          <a:xfrm>
            <a:off x="812800" y="3669506"/>
            <a:ext cx="5226050" cy="929580"/>
          </a:xfrm>
          <a:prstGeom prst="roundRect">
            <a:avLst>
              <a:gd name="adj" fmla="val 12295"/>
            </a:avLst>
          </a:prstGeom>
          <a:solidFill>
            <a:srgbClr val="FFFDF8"/>
          </a:solidFill>
          <a:ln>
            <a:noFill/>
          </a:ln>
        </p:spPr>
        <p:txBody>
          <a:bodyPr rtlCol="0" anchor="ctr"/>
          <a:lstStyle/>
          <a:p>
            <a:pPr algn="ctr"/>
          </a:p>
        </p:txBody>
      </p:sp>
      <p:sp>
        <p:nvSpPr>
          <p:cNvPr id="54" name="Rule 53"/>
          <p:cNvSpPr/>
          <p:nvPr/>
        </p:nvSpPr>
        <p:spPr>
          <a:xfrm>
            <a:off x="812800" y="3669506"/>
            <a:ext cx="5226050" cy="6350"/>
          </a:xfrm>
          <a:prstGeom prst="rect">
            <a:avLst/>
          </a:prstGeom>
          <a:solidFill>
            <a:srgbClr val="E1DBCD"/>
          </a:solidFill>
          <a:ln>
            <a:noFill/>
          </a:ln>
        </p:spPr>
        <p:txBody>
          <a:bodyPr rtlCol="0" anchor="ctr"/>
          <a:lstStyle/>
          <a:p>
            <a:pPr algn="ctr"/>
          </a:p>
        </p:txBody>
      </p:sp>
      <p:sp>
        <p:nvSpPr>
          <p:cNvPr id="55" name="Rule 54"/>
          <p:cNvSpPr/>
          <p:nvPr/>
        </p:nvSpPr>
        <p:spPr>
          <a:xfrm>
            <a:off x="5988050" y="3669506"/>
            <a:ext cx="50800" cy="929580"/>
          </a:xfrm>
          <a:prstGeom prst="rect">
            <a:avLst/>
          </a:prstGeom>
          <a:solidFill>
            <a:srgbClr val="0E7C6B"/>
          </a:solidFill>
          <a:ln>
            <a:noFill/>
          </a:ln>
        </p:spPr>
        <p:txBody>
          <a:bodyPr rtlCol="0" anchor="ctr"/>
          <a:lstStyle/>
          <a:p>
            <a:pPr algn="ctr"/>
          </a:p>
        </p:txBody>
      </p:sp>
      <p:sp>
        <p:nvSpPr>
          <p:cNvPr id="56" name="Rule 55"/>
          <p:cNvSpPr/>
          <p:nvPr/>
        </p:nvSpPr>
        <p:spPr>
          <a:xfrm>
            <a:off x="812800" y="4592737"/>
            <a:ext cx="5226050" cy="6350"/>
          </a:xfrm>
          <a:prstGeom prst="rect">
            <a:avLst/>
          </a:prstGeom>
          <a:solidFill>
            <a:srgbClr val="E1DBCD"/>
          </a:solidFill>
          <a:ln>
            <a:noFill/>
          </a:ln>
        </p:spPr>
        <p:txBody>
          <a:bodyPr rtlCol="0" anchor="ctr"/>
          <a:lstStyle/>
          <a:p>
            <a:pPr algn="ctr"/>
          </a:p>
        </p:txBody>
      </p:sp>
      <p:sp>
        <p:nvSpPr>
          <p:cNvPr id="57" name="Rule 56"/>
          <p:cNvSpPr/>
          <p:nvPr/>
        </p:nvSpPr>
        <p:spPr>
          <a:xfrm>
            <a:off x="812800" y="3669506"/>
            <a:ext cx="6350" cy="929580"/>
          </a:xfrm>
          <a:prstGeom prst="rect">
            <a:avLst/>
          </a:prstGeom>
          <a:solidFill>
            <a:srgbClr val="E1DBCD"/>
          </a:solidFill>
          <a:ln>
            <a:noFill/>
          </a:ln>
        </p:spPr>
        <p:txBody>
          <a:bodyPr rtlCol="0" anchor="ctr"/>
          <a:lstStyle/>
          <a:p>
            <a:pPr algn="ctr"/>
          </a:p>
        </p:txBody>
      </p:sp>
      <p:sp>
        <p:nvSpPr>
          <p:cNvPr id="58" name="Text 57"/>
          <p:cNvSpPr txBox="1"/>
          <p:nvPr/>
        </p:nvSpPr>
        <p:spPr>
          <a:xfrm>
            <a:off x="838200" y="3738086"/>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«اشرح ECC أو ISO 27001 لمدير غير تقني»</a:t>
            </a:r>
          </a:p>
        </p:txBody>
      </p:sp>
      <p:sp>
        <p:nvSpPr>
          <p:cNvPr id="59" name="Text 58"/>
          <p:cNvSpPr txBox="1"/>
          <p:nvPr/>
        </p:nvSpPr>
        <p:spPr>
          <a:xfrm>
            <a:off x="946273" y="4135723"/>
            <a:ext cx="4902077"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التبسيط</a:t>
            </a:r>
          </a:p>
        </p:txBody>
      </p:sp>
      <p:sp>
        <p:nvSpPr>
          <p:cNvPr id="60" name="Text 59"/>
          <p:cNvSpPr txBox="1"/>
          <p:nvPr/>
        </p:nvSpPr>
        <p:spPr>
          <a:xfrm>
            <a:off x="838200" y="4135723"/>
            <a:ext cx="39499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0E7C6B"/>
                </a:solidFill>
                <a:latin typeface="IBM Plex Sans Arabic"/>
                <a:ea typeface="IBM Plex Sans Arabic"/>
                <a:cs typeface="IBM Plex Sans Arabic"/>
              </a:rPr>
              <a:t>95</a:t>
            </a:r>
          </a:p>
        </p:txBody>
      </p:sp>
      <p:sp>
        <p:nvSpPr>
          <p:cNvPr id="61" name="Box 60"/>
          <p:cNvSpPr/>
          <p:nvPr/>
        </p:nvSpPr>
        <p:spPr>
          <a:xfrm>
            <a:off x="812800" y="4675287"/>
            <a:ext cx="5226050" cy="929580"/>
          </a:xfrm>
          <a:prstGeom prst="roundRect">
            <a:avLst>
              <a:gd name="adj" fmla="val 12295"/>
            </a:avLst>
          </a:prstGeom>
          <a:solidFill>
            <a:srgbClr val="FFFDF8"/>
          </a:solidFill>
          <a:ln>
            <a:noFill/>
          </a:ln>
        </p:spPr>
        <p:txBody>
          <a:bodyPr rtlCol="0" anchor="ctr"/>
          <a:lstStyle/>
          <a:p>
            <a:pPr algn="ctr"/>
          </a:p>
        </p:txBody>
      </p:sp>
      <p:sp>
        <p:nvSpPr>
          <p:cNvPr id="62" name="Rule 61"/>
          <p:cNvSpPr/>
          <p:nvPr/>
        </p:nvSpPr>
        <p:spPr>
          <a:xfrm>
            <a:off x="812800" y="4675287"/>
            <a:ext cx="5226050" cy="6350"/>
          </a:xfrm>
          <a:prstGeom prst="rect">
            <a:avLst/>
          </a:prstGeom>
          <a:solidFill>
            <a:srgbClr val="E1DBCD"/>
          </a:solidFill>
          <a:ln>
            <a:noFill/>
          </a:ln>
        </p:spPr>
        <p:txBody>
          <a:bodyPr rtlCol="0" anchor="ctr"/>
          <a:lstStyle/>
          <a:p>
            <a:pPr algn="ctr"/>
          </a:p>
        </p:txBody>
      </p:sp>
      <p:sp>
        <p:nvSpPr>
          <p:cNvPr id="63" name="Rule 62"/>
          <p:cNvSpPr/>
          <p:nvPr/>
        </p:nvSpPr>
        <p:spPr>
          <a:xfrm>
            <a:off x="5988050" y="4675287"/>
            <a:ext cx="50800" cy="929580"/>
          </a:xfrm>
          <a:prstGeom prst="rect">
            <a:avLst/>
          </a:prstGeom>
          <a:solidFill>
            <a:srgbClr val="0E7C6B"/>
          </a:solidFill>
          <a:ln>
            <a:noFill/>
          </a:ln>
        </p:spPr>
        <p:txBody>
          <a:bodyPr rtlCol="0" anchor="ctr"/>
          <a:lstStyle/>
          <a:p>
            <a:pPr algn="ctr"/>
          </a:p>
        </p:txBody>
      </p:sp>
      <p:sp>
        <p:nvSpPr>
          <p:cNvPr id="64" name="Rule 63"/>
          <p:cNvSpPr/>
          <p:nvPr/>
        </p:nvSpPr>
        <p:spPr>
          <a:xfrm>
            <a:off x="812800" y="5598517"/>
            <a:ext cx="5226050" cy="6350"/>
          </a:xfrm>
          <a:prstGeom prst="rect">
            <a:avLst/>
          </a:prstGeom>
          <a:solidFill>
            <a:srgbClr val="E1DBCD"/>
          </a:solidFill>
          <a:ln>
            <a:noFill/>
          </a:ln>
        </p:spPr>
        <p:txBody>
          <a:bodyPr rtlCol="0" anchor="ctr"/>
          <a:lstStyle/>
          <a:p>
            <a:pPr algn="ctr"/>
          </a:p>
        </p:txBody>
      </p:sp>
      <p:sp>
        <p:nvSpPr>
          <p:cNvPr id="65" name="Rule 64"/>
          <p:cNvSpPr/>
          <p:nvPr/>
        </p:nvSpPr>
        <p:spPr>
          <a:xfrm>
            <a:off x="812800" y="4675287"/>
            <a:ext cx="6350" cy="929580"/>
          </a:xfrm>
          <a:prstGeom prst="rect">
            <a:avLst/>
          </a:prstGeom>
          <a:solidFill>
            <a:srgbClr val="E1DBCD"/>
          </a:solidFill>
          <a:ln>
            <a:noFill/>
          </a:ln>
        </p:spPr>
        <p:txBody>
          <a:bodyPr rtlCol="0" anchor="ctr"/>
          <a:lstStyle/>
          <a:p>
            <a:pPr algn="ctr"/>
          </a:p>
        </p:txBody>
      </p:sp>
      <p:sp>
        <p:nvSpPr>
          <p:cNvPr id="66" name="Text 65"/>
          <p:cNvSpPr txBox="1"/>
          <p:nvPr/>
        </p:nvSpPr>
        <p:spPr>
          <a:xfrm>
            <a:off x="838200" y="4743867"/>
            <a:ext cx="501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«لماذا GRC؟ ولماذا جهتنا؟»</a:t>
            </a:r>
          </a:p>
        </p:txBody>
      </p:sp>
      <p:sp>
        <p:nvSpPr>
          <p:cNvPr id="67" name="Text 66"/>
          <p:cNvSpPr txBox="1"/>
          <p:nvPr/>
        </p:nvSpPr>
        <p:spPr>
          <a:xfrm>
            <a:off x="1897606" y="5141504"/>
            <a:ext cx="395074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دافعك وبحثك</a:t>
            </a:r>
          </a:p>
        </p:txBody>
      </p:sp>
      <p:sp>
        <p:nvSpPr>
          <p:cNvPr id="68" name="Text 67"/>
          <p:cNvSpPr txBox="1"/>
          <p:nvPr/>
        </p:nvSpPr>
        <p:spPr>
          <a:xfrm>
            <a:off x="838200" y="5141504"/>
            <a:ext cx="127585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جهّزه بنفسك</a:t>
            </a:r>
          </a:p>
        </p:txBody>
      </p:sp>
      <p:sp>
        <p:nvSpPr>
          <p:cNvPr id="69" name="Text 6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70" name="Text 6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145</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إجابة نموذجية: مالك نظام يرفض الضابط</a:t>
            </a:r>
          </a:p>
        </p:txBody>
      </p:sp>
      <p:sp>
        <p:nvSpPr>
          <p:cNvPr id="6" name="Text 5"/>
          <p:cNvSpPr txBox="1"/>
          <p:nvPr/>
        </p:nvSpPr>
        <p:spPr>
          <a:xfrm>
            <a:off x="495808" y="1617591"/>
            <a:ext cx="10883392" cy="728861"/>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السؤال: «مالك نظام يرفض تطبيق ضابط. ماذا تفعل؟» مثال من رُفاد: سلمان يرفض فرض التحقق على حساب المورد خوفاً من تعطل الدعم.</a:t>
            </a:r>
          </a:p>
        </p:txBody>
      </p:sp>
      <p:sp>
        <p:nvSpPr>
          <p:cNvPr id="7" name="Text 6"/>
          <p:cNvSpPr txBox="1"/>
          <p:nvPr/>
        </p:nvSpPr>
        <p:spPr>
          <a:xfrm>
            <a:off x="10994390" y="2546636"/>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0E7C6B"/>
                </a:solidFill>
                <a:latin typeface="Readex Pro"/>
                <a:ea typeface="Readex Pro"/>
                <a:cs typeface="Readex Pro"/>
              </a:rPr>
              <a:t>1</a:t>
            </a:r>
          </a:p>
        </p:txBody>
      </p:sp>
      <p:sp>
        <p:nvSpPr>
          <p:cNvPr id="8" name="Text 7"/>
          <p:cNvSpPr txBox="1"/>
          <p:nvPr/>
        </p:nvSpPr>
        <p:spPr>
          <a:xfrm>
            <a:off x="0" y="2535968"/>
            <a:ext cx="10985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افهم السبب:</a:t>
            </a:r>
            <a:r>
              <a:rPr sz="2100" b="0" i="0">
                <a:solidFill>
                  <a:srgbClr val="172433"/>
                </a:solidFill>
                <a:latin typeface="IBM Plex Sans Arabic"/>
                <a:ea typeface="IBM Plex Sans Arabic"/>
                <a:cs typeface="IBM Plex Sans Arabic"/>
              </a:rPr>
              <a:t> «ما الذي يمنع التطبيق؟ تكلفة، أم تعطّل عمل، أم سوء فهم؟»</a:t>
            </a:r>
          </a:p>
        </p:txBody>
      </p:sp>
      <p:sp>
        <p:nvSpPr>
          <p:cNvPr id="9" name="Text 8"/>
          <p:cNvSpPr txBox="1"/>
          <p:nvPr/>
        </p:nvSpPr>
        <p:spPr>
          <a:xfrm>
            <a:off x="10994390" y="2996196"/>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0E7C6B"/>
                </a:solidFill>
                <a:latin typeface="Readex Pro"/>
                <a:ea typeface="Readex Pro"/>
                <a:cs typeface="Readex Pro"/>
              </a:rPr>
              <a:t>2</a:t>
            </a:r>
          </a:p>
        </p:txBody>
      </p:sp>
      <p:sp>
        <p:nvSpPr>
          <p:cNvPr id="10" name="Text 9"/>
          <p:cNvSpPr txBox="1"/>
          <p:nvPr/>
        </p:nvSpPr>
        <p:spPr>
          <a:xfrm>
            <a:off x="0" y="2985528"/>
            <a:ext cx="10985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اشرح الخطر بلغة العمل:</a:t>
            </a:r>
            <a:r>
              <a:rPr sz="2100" b="0" i="0">
                <a:solidFill>
                  <a:srgbClr val="172433"/>
                </a:solidFill>
                <a:latin typeface="IBM Plex Sans Arabic"/>
                <a:ea typeface="IBM Plex Sans Arabic"/>
                <a:cs typeface="IBM Plex Sans Arabic"/>
              </a:rPr>
              <a:t> «حساب مشترك بلا تحقق قد يكشف بيانات 50 ألف مستلم.»</a:t>
            </a:r>
          </a:p>
        </p:txBody>
      </p:sp>
      <p:sp>
        <p:nvSpPr>
          <p:cNvPr id="11" name="Text 10"/>
          <p:cNvSpPr txBox="1"/>
          <p:nvPr/>
        </p:nvSpPr>
        <p:spPr>
          <a:xfrm>
            <a:off x="10994390" y="3445756"/>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0E7C6B"/>
                </a:solidFill>
                <a:latin typeface="Readex Pro"/>
                <a:ea typeface="Readex Pro"/>
                <a:cs typeface="Readex Pro"/>
              </a:rPr>
              <a:t>3</a:t>
            </a:r>
          </a:p>
        </p:txBody>
      </p:sp>
      <p:sp>
        <p:nvSpPr>
          <p:cNvPr id="12" name="Text 11"/>
          <p:cNvSpPr txBox="1"/>
          <p:nvPr/>
        </p:nvSpPr>
        <p:spPr>
          <a:xfrm>
            <a:off x="0" y="3435088"/>
            <a:ext cx="10985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اقترح بديلاً:</a:t>
            </a:r>
            <a:r>
              <a:rPr sz="2100" b="0" i="0">
                <a:solidFill>
                  <a:srgbClr val="172433"/>
                </a:solidFill>
                <a:latin typeface="IBM Plex Sans Arabic"/>
                <a:ea typeface="IBM Plex Sans Arabic"/>
                <a:cs typeface="IBM Plex Sans Arabic"/>
              </a:rPr>
              <a:t> ضابط تعويضي، أو تطبيق مرحلي بموعد.</a:t>
            </a:r>
          </a:p>
        </p:txBody>
      </p:sp>
      <p:sp>
        <p:nvSpPr>
          <p:cNvPr id="13" name="Text 12"/>
          <p:cNvSpPr txBox="1"/>
          <p:nvPr/>
        </p:nvSpPr>
        <p:spPr>
          <a:xfrm>
            <a:off x="10994390" y="3895316"/>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0E7C6B"/>
                </a:solidFill>
                <a:latin typeface="Readex Pro"/>
                <a:ea typeface="Readex Pro"/>
                <a:cs typeface="Readex Pro"/>
              </a:rPr>
              <a:t>4</a:t>
            </a:r>
          </a:p>
        </p:txBody>
      </p:sp>
      <p:sp>
        <p:nvSpPr>
          <p:cNvPr id="14" name="Text 13"/>
          <p:cNvSpPr txBox="1"/>
          <p:nvPr/>
        </p:nvSpPr>
        <p:spPr>
          <a:xfrm>
            <a:off x="0" y="3884648"/>
            <a:ext cx="10985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إن تعذر: استثناء موثق:</a:t>
            </a:r>
            <a:r>
              <a:rPr sz="2100" b="0" i="0">
                <a:solidFill>
                  <a:srgbClr val="172433"/>
                </a:solidFill>
                <a:latin typeface="IBM Plex Sans Arabic"/>
                <a:ea typeface="IBM Plex Sans Arabic"/>
                <a:cs typeface="IBM Plex Sans Arabic"/>
              </a:rPr>
              <a:t> مؤقت، بموافقة صاحب الصلاحية، ومراجعة دورية.</a:t>
            </a:r>
          </a:p>
        </p:txBody>
      </p:sp>
      <p:sp>
        <p:nvSpPr>
          <p:cNvPr id="15" name="Text 14"/>
          <p:cNvSpPr txBox="1"/>
          <p:nvPr/>
        </p:nvSpPr>
        <p:spPr>
          <a:xfrm>
            <a:off x="10994390" y="4344876"/>
            <a:ext cx="464820" cy="373360"/>
          </a:xfrm>
          <a:prstGeom prst="rect">
            <a:avLst/>
          </a:prstGeom>
          <a:noFill/>
        </p:spPr>
        <p:txBody>
          <a:bodyPr wrap="square" tIns="0" rIns="0" bIns="0" lIns="0" anchor="t" rtlCol="0" anchorCtr="0">
            <a:noAutofit/>
          </a:bodyPr>
          <a:lstStyle/>
          <a:p>
            <a:pPr algn="ctr">
              <a:lnSpc>
                <a:spcPts val="2940"/>
              </a:lnSpc>
              <a:spcBef>
                <a:spcPts val="0"/>
              </a:spcBef>
              <a:spcAft>
                <a:spcPts val="0"/>
              </a:spcAft>
            </a:pPr>
            <a:r>
              <a:rPr sz="2100" b="1" i="0">
                <a:solidFill>
                  <a:srgbClr val="0E7C6B"/>
                </a:solidFill>
                <a:latin typeface="Readex Pro"/>
                <a:ea typeface="Readex Pro"/>
                <a:cs typeface="Readex Pro"/>
              </a:rPr>
              <a:t>5</a:t>
            </a:r>
          </a:p>
        </p:txBody>
      </p:sp>
      <p:sp>
        <p:nvSpPr>
          <p:cNvPr id="16" name="Text 15"/>
          <p:cNvSpPr txBox="1"/>
          <p:nvPr/>
        </p:nvSpPr>
        <p:spPr>
          <a:xfrm>
            <a:off x="0" y="4334208"/>
            <a:ext cx="1098550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التصعيد آخر خطوة:</a:t>
            </a:r>
            <a:r>
              <a:rPr sz="2100" b="0" i="0">
                <a:solidFill>
                  <a:srgbClr val="172433"/>
                </a:solidFill>
                <a:latin typeface="IBM Plex Sans Arabic"/>
                <a:ea typeface="IBM Plex Sans Arabic"/>
                <a:cs typeface="IBM Plex Sans Arabic"/>
              </a:rPr>
              <a:t> للجنة، بالحقائق لا بالشكوى.</a:t>
            </a:r>
          </a:p>
        </p:txBody>
      </p:sp>
      <p:sp>
        <p:nvSpPr>
          <p:cNvPr id="17" name="Box 16"/>
          <p:cNvSpPr/>
          <p:nvPr/>
        </p:nvSpPr>
        <p:spPr>
          <a:xfrm>
            <a:off x="812800" y="4939407"/>
            <a:ext cx="10566400" cy="609600"/>
          </a:xfrm>
          <a:prstGeom prst="roundRect">
            <a:avLst>
              <a:gd name="adj" fmla="val 16666"/>
            </a:avLst>
          </a:prstGeom>
          <a:solidFill>
            <a:srgbClr val="172433"/>
          </a:solidFill>
          <a:ln>
            <a:noFill/>
          </a:ln>
        </p:spPr>
        <p:txBody>
          <a:bodyPr rtlCol="0" anchor="ctr"/>
          <a:lstStyle/>
          <a:p>
            <a:pPr algn="ctr"/>
          </a:p>
        </p:txBody>
      </p:sp>
      <p:pic>
        <p:nvPicPr>
          <p:cNvPr id="18" name="Icon Lightbulb 17" descr="icon076.png"/>
          <p:cNvPicPr>
            <a:picLocks noChangeAspect="1"/>
          </p:cNvPicPr>
          <p:nvPr/>
        </p:nvPicPr>
        <p:blipFill>
          <a:blip r:embed="rId2"/>
          <a:stretch>
            <a:fillRect/>
          </a:stretch>
        </p:blipFill>
        <p:spPr>
          <a:xfrm>
            <a:off x="10941050" y="5114032"/>
            <a:ext cx="260350" cy="260350"/>
          </a:xfrm>
          <a:prstGeom prst="rect">
            <a:avLst/>
          </a:prstGeom>
        </p:spPr>
      </p:pic>
      <p:sp>
        <p:nvSpPr>
          <p:cNvPr id="19" name="Text 18"/>
          <p:cNvSpPr txBox="1"/>
          <p:nvPr/>
        </p:nvSpPr>
        <p:spPr>
          <a:xfrm>
            <a:off x="838200" y="5027037"/>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ما يقيسه السؤال: هل تعالج الخلاف بفهم المخاطر والعلاقة، لا بالمادة والنص فقط؟</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طريقة STAR: قصة قصيرة بنتيجة واضحة</a:t>
            </a:r>
          </a:p>
        </p:txBody>
      </p:sp>
      <p:sp>
        <p:nvSpPr>
          <p:cNvPr id="6" name="Text 5"/>
          <p:cNvSpPr txBox="1"/>
          <p:nvPr/>
        </p:nvSpPr>
        <p:spPr>
          <a:xfrm>
            <a:off x="0" y="1617591"/>
            <a:ext cx="11379200" cy="364430"/>
          </a:xfrm>
          <a:prstGeom prst="rect">
            <a:avLst/>
          </a:prstGeom>
          <a:noFill/>
        </p:spPr>
        <p:txBody>
          <a:bodyPr wrap="square" tIns="0" rIns="0" bIns="0" lIns="0" anchor="t" rtlCol="0" anchorCtr="0">
            <a:noAutofit/>
          </a:bodyPr>
          <a:lstStyle/>
          <a:p>
            <a:pPr algn="r" rtl="1">
              <a:lnSpc>
                <a:spcPts val="2870"/>
              </a:lnSpc>
              <a:spcBef>
                <a:spcPts val="0"/>
              </a:spcBef>
              <a:spcAft>
                <a:spcPts val="0"/>
              </a:spcAft>
            </a:pPr>
            <a:r>
              <a:rPr sz="2050" b="0" i="0">
                <a:solidFill>
                  <a:srgbClr val="4E5A66"/>
                </a:solidFill>
                <a:latin typeface="IBM Plex Sans Arabic"/>
                <a:ea typeface="IBM Plex Sans Arabic"/>
                <a:cs typeface="IBM Plex Sans Arabic"/>
              </a:rPr>
              <a:t>السؤال: «حدثنا عن مرة حللت فيها مشكلة معقدة.» مثال محلول من التطبيق 2.</a:t>
            </a:r>
          </a:p>
        </p:txBody>
      </p:sp>
      <p:sp>
        <p:nvSpPr>
          <p:cNvPr id="7" name="Box 6"/>
          <p:cNvSpPr/>
          <p:nvPr/>
        </p:nvSpPr>
        <p:spPr>
          <a:xfrm>
            <a:off x="8804275" y="2212876"/>
            <a:ext cx="2574925" cy="2301081"/>
          </a:xfrm>
          <a:prstGeom prst="roundRect">
            <a:avLst>
              <a:gd name="adj" fmla="val 4967"/>
            </a:avLst>
          </a:prstGeom>
          <a:solidFill>
            <a:srgbClr val="FFFDF8"/>
          </a:solidFill>
          <a:ln>
            <a:noFill/>
          </a:ln>
        </p:spPr>
        <p:txBody>
          <a:bodyPr rtlCol="0" anchor="ctr"/>
          <a:lstStyle/>
          <a:p>
            <a:pPr algn="ctr"/>
          </a:p>
        </p:txBody>
      </p:sp>
      <p:sp>
        <p:nvSpPr>
          <p:cNvPr id="8" name="Rule 7"/>
          <p:cNvSpPr/>
          <p:nvPr/>
        </p:nvSpPr>
        <p:spPr>
          <a:xfrm>
            <a:off x="8804275" y="2212876"/>
            <a:ext cx="2574925" cy="50800"/>
          </a:xfrm>
          <a:prstGeom prst="rect">
            <a:avLst/>
          </a:prstGeom>
          <a:solidFill>
            <a:srgbClr val="24506B"/>
          </a:solidFill>
          <a:ln>
            <a:noFill/>
          </a:ln>
        </p:spPr>
        <p:txBody>
          <a:bodyPr rtlCol="0" anchor="ctr"/>
          <a:lstStyle/>
          <a:p>
            <a:pPr algn="ctr"/>
          </a:p>
        </p:txBody>
      </p:sp>
      <p:sp>
        <p:nvSpPr>
          <p:cNvPr id="9" name="Rule 8"/>
          <p:cNvSpPr/>
          <p:nvPr/>
        </p:nvSpPr>
        <p:spPr>
          <a:xfrm>
            <a:off x="11372850" y="2212876"/>
            <a:ext cx="6350" cy="2301081"/>
          </a:xfrm>
          <a:prstGeom prst="rect">
            <a:avLst/>
          </a:prstGeom>
          <a:solidFill>
            <a:srgbClr val="E1DBCD"/>
          </a:solidFill>
          <a:ln>
            <a:noFill/>
          </a:ln>
        </p:spPr>
        <p:txBody>
          <a:bodyPr rtlCol="0" anchor="ctr"/>
          <a:lstStyle/>
          <a:p>
            <a:pPr algn="ctr"/>
          </a:p>
        </p:txBody>
      </p:sp>
      <p:sp>
        <p:nvSpPr>
          <p:cNvPr id="10" name="Rule 9"/>
          <p:cNvSpPr/>
          <p:nvPr/>
        </p:nvSpPr>
        <p:spPr>
          <a:xfrm>
            <a:off x="8804275" y="4507607"/>
            <a:ext cx="2574925" cy="6350"/>
          </a:xfrm>
          <a:prstGeom prst="rect">
            <a:avLst/>
          </a:prstGeom>
          <a:solidFill>
            <a:srgbClr val="E1DBCD"/>
          </a:solidFill>
          <a:ln>
            <a:noFill/>
          </a:ln>
        </p:spPr>
        <p:txBody>
          <a:bodyPr rtlCol="0" anchor="ctr"/>
          <a:lstStyle/>
          <a:p>
            <a:pPr algn="ctr"/>
          </a:p>
        </p:txBody>
      </p:sp>
      <p:sp>
        <p:nvSpPr>
          <p:cNvPr id="11" name="Rule 10"/>
          <p:cNvSpPr/>
          <p:nvPr/>
        </p:nvSpPr>
        <p:spPr>
          <a:xfrm>
            <a:off x="8804275" y="2212876"/>
            <a:ext cx="6350" cy="2301081"/>
          </a:xfrm>
          <a:prstGeom prst="rect">
            <a:avLst/>
          </a:prstGeom>
          <a:solidFill>
            <a:srgbClr val="E1DBCD"/>
          </a:solidFill>
          <a:ln>
            <a:noFill/>
          </a:ln>
        </p:spPr>
        <p:txBody>
          <a:bodyPr rtlCol="0" anchor="ctr"/>
          <a:lstStyle/>
          <a:p>
            <a:pPr algn="ctr"/>
          </a:p>
        </p:txBody>
      </p:sp>
      <p:sp>
        <p:nvSpPr>
          <p:cNvPr id="12" name="Text 11"/>
          <p:cNvSpPr txBox="1"/>
          <p:nvPr/>
        </p:nvSpPr>
        <p:spPr>
          <a:xfrm>
            <a:off x="10600869" y="2446016"/>
            <a:ext cx="619581" cy="501650"/>
          </a:xfrm>
          <a:prstGeom prst="rect">
            <a:avLst/>
          </a:prstGeom>
          <a:noFill/>
        </p:spPr>
        <p:txBody>
          <a:bodyPr wrap="square" tIns="0" rIns="0" bIns="0" lIns="0" anchor="t" rtlCol="0" anchorCtr="0">
            <a:noAutofit/>
          </a:bodyPr>
          <a:lstStyle/>
          <a:p>
            <a:pPr algn="r">
              <a:lnSpc>
                <a:spcPts val="3950"/>
              </a:lnSpc>
              <a:spcBef>
                <a:spcPts val="0"/>
              </a:spcBef>
              <a:spcAft>
                <a:spcPts val="0"/>
              </a:spcAft>
            </a:pPr>
            <a:r>
              <a:rPr sz="3950" b="1" i="0">
                <a:solidFill>
                  <a:srgbClr val="24506B"/>
                </a:solidFill>
                <a:latin typeface="Readex Pro"/>
                <a:ea typeface="Readex Pro"/>
                <a:cs typeface="Readex Pro"/>
              </a:rPr>
              <a:t>S</a:t>
            </a:r>
          </a:p>
        </p:txBody>
      </p:sp>
      <p:sp>
        <p:nvSpPr>
          <p:cNvPr id="13" name="Text 12"/>
          <p:cNvSpPr txBox="1"/>
          <p:nvPr/>
        </p:nvSpPr>
        <p:spPr>
          <a:xfrm>
            <a:off x="9823073" y="2426133"/>
            <a:ext cx="1002586"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الموقف</a:t>
            </a:r>
          </a:p>
        </p:txBody>
      </p:sp>
      <p:sp>
        <p:nvSpPr>
          <p:cNvPr id="14" name="Text 13"/>
          <p:cNvSpPr txBox="1"/>
          <p:nvPr/>
        </p:nvSpPr>
        <p:spPr>
          <a:xfrm>
            <a:off x="8895302" y="2925092"/>
            <a:ext cx="2325148" cy="139938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172433"/>
                </a:solidFill>
                <a:latin typeface="IBM Plex Sans Arabic"/>
                <a:ea typeface="IBM Plex Sans Arabic"/>
                <a:cs typeface="IBM Plex Sans Arabic"/>
              </a:rPr>
              <a:t>في مشروع تدريبي، كان لمورد الدعم حساب إداري مشترك على أداة مكشوفة.</a:t>
            </a:r>
          </a:p>
        </p:txBody>
      </p:sp>
      <p:sp>
        <p:nvSpPr>
          <p:cNvPr id="15" name="Box 14"/>
          <p:cNvSpPr/>
          <p:nvPr/>
        </p:nvSpPr>
        <p:spPr>
          <a:xfrm>
            <a:off x="6140450" y="2212876"/>
            <a:ext cx="2574925" cy="2301081"/>
          </a:xfrm>
          <a:prstGeom prst="roundRect">
            <a:avLst>
              <a:gd name="adj" fmla="val 4967"/>
            </a:avLst>
          </a:prstGeom>
          <a:solidFill>
            <a:srgbClr val="FFFDF8"/>
          </a:solidFill>
          <a:ln>
            <a:noFill/>
          </a:ln>
        </p:spPr>
        <p:txBody>
          <a:bodyPr rtlCol="0" anchor="ctr"/>
          <a:lstStyle/>
          <a:p>
            <a:pPr algn="ctr"/>
          </a:p>
        </p:txBody>
      </p:sp>
      <p:sp>
        <p:nvSpPr>
          <p:cNvPr id="16" name="Rule 15"/>
          <p:cNvSpPr/>
          <p:nvPr/>
        </p:nvSpPr>
        <p:spPr>
          <a:xfrm>
            <a:off x="6140450" y="2212876"/>
            <a:ext cx="2574925" cy="50800"/>
          </a:xfrm>
          <a:prstGeom prst="rect">
            <a:avLst/>
          </a:prstGeom>
          <a:solidFill>
            <a:srgbClr val="5A3F87"/>
          </a:solidFill>
          <a:ln>
            <a:noFill/>
          </a:ln>
        </p:spPr>
        <p:txBody>
          <a:bodyPr rtlCol="0" anchor="ctr"/>
          <a:lstStyle/>
          <a:p>
            <a:pPr algn="ctr"/>
          </a:p>
        </p:txBody>
      </p:sp>
      <p:sp>
        <p:nvSpPr>
          <p:cNvPr id="17" name="Rule 16"/>
          <p:cNvSpPr/>
          <p:nvPr/>
        </p:nvSpPr>
        <p:spPr>
          <a:xfrm>
            <a:off x="8709025" y="2212876"/>
            <a:ext cx="6350" cy="2301081"/>
          </a:xfrm>
          <a:prstGeom prst="rect">
            <a:avLst/>
          </a:prstGeom>
          <a:solidFill>
            <a:srgbClr val="E1DBCD"/>
          </a:solidFill>
          <a:ln>
            <a:noFill/>
          </a:ln>
        </p:spPr>
        <p:txBody>
          <a:bodyPr rtlCol="0" anchor="ctr"/>
          <a:lstStyle/>
          <a:p>
            <a:pPr algn="ctr"/>
          </a:p>
        </p:txBody>
      </p:sp>
      <p:sp>
        <p:nvSpPr>
          <p:cNvPr id="18" name="Rule 17"/>
          <p:cNvSpPr/>
          <p:nvPr/>
        </p:nvSpPr>
        <p:spPr>
          <a:xfrm>
            <a:off x="6140450" y="4507607"/>
            <a:ext cx="2574925" cy="6350"/>
          </a:xfrm>
          <a:prstGeom prst="rect">
            <a:avLst/>
          </a:prstGeom>
          <a:solidFill>
            <a:srgbClr val="E1DBCD"/>
          </a:solidFill>
          <a:ln>
            <a:noFill/>
          </a:ln>
        </p:spPr>
        <p:txBody>
          <a:bodyPr rtlCol="0" anchor="ctr"/>
          <a:lstStyle/>
          <a:p>
            <a:pPr algn="ctr"/>
          </a:p>
        </p:txBody>
      </p:sp>
      <p:sp>
        <p:nvSpPr>
          <p:cNvPr id="19" name="Rule 18"/>
          <p:cNvSpPr/>
          <p:nvPr/>
        </p:nvSpPr>
        <p:spPr>
          <a:xfrm>
            <a:off x="6140450" y="2212876"/>
            <a:ext cx="6350" cy="2301081"/>
          </a:xfrm>
          <a:prstGeom prst="rect">
            <a:avLst/>
          </a:prstGeom>
          <a:solidFill>
            <a:srgbClr val="E1DBCD"/>
          </a:solidFill>
          <a:ln>
            <a:noFill/>
          </a:ln>
        </p:spPr>
        <p:txBody>
          <a:bodyPr rtlCol="0" anchor="ctr"/>
          <a:lstStyle/>
          <a:p>
            <a:pPr algn="ctr"/>
          </a:p>
        </p:txBody>
      </p:sp>
      <p:sp>
        <p:nvSpPr>
          <p:cNvPr id="20" name="Text 19"/>
          <p:cNvSpPr txBox="1"/>
          <p:nvPr/>
        </p:nvSpPr>
        <p:spPr>
          <a:xfrm>
            <a:off x="7927022" y="2446016"/>
            <a:ext cx="629602" cy="501650"/>
          </a:xfrm>
          <a:prstGeom prst="rect">
            <a:avLst/>
          </a:prstGeom>
          <a:noFill/>
        </p:spPr>
        <p:txBody>
          <a:bodyPr wrap="square" tIns="0" rIns="0" bIns="0" lIns="0" anchor="t" rtlCol="0" anchorCtr="0">
            <a:noAutofit/>
          </a:bodyPr>
          <a:lstStyle/>
          <a:p>
            <a:pPr algn="r">
              <a:lnSpc>
                <a:spcPts val="3950"/>
              </a:lnSpc>
              <a:spcBef>
                <a:spcPts val="0"/>
              </a:spcBef>
              <a:spcAft>
                <a:spcPts val="0"/>
              </a:spcAft>
            </a:pPr>
            <a:r>
              <a:rPr sz="3950" b="1" i="0">
                <a:solidFill>
                  <a:srgbClr val="5A3F87"/>
                </a:solidFill>
                <a:latin typeface="Readex Pro"/>
                <a:ea typeface="Readex Pro"/>
                <a:cs typeface="Readex Pro"/>
              </a:rPr>
              <a:t>T</a:t>
            </a:r>
          </a:p>
        </p:txBody>
      </p:sp>
      <p:sp>
        <p:nvSpPr>
          <p:cNvPr id="21" name="Text 20"/>
          <p:cNvSpPr txBox="1"/>
          <p:nvPr/>
        </p:nvSpPr>
        <p:spPr>
          <a:xfrm>
            <a:off x="7248942" y="2426133"/>
            <a:ext cx="902871"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المهمة</a:t>
            </a:r>
          </a:p>
        </p:txBody>
      </p:sp>
      <p:sp>
        <p:nvSpPr>
          <p:cNvPr id="22" name="Text 21"/>
          <p:cNvSpPr txBox="1"/>
          <p:nvPr/>
        </p:nvSpPr>
        <p:spPr>
          <a:xfrm>
            <a:off x="6231477" y="2925092"/>
            <a:ext cx="2325148" cy="69969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172433"/>
                </a:solidFill>
                <a:latin typeface="IBM Plex Sans Arabic"/>
                <a:ea typeface="IBM Plex Sans Arabic"/>
                <a:cs typeface="IBM Plex Sans Arabic"/>
              </a:rPr>
              <a:t>تقييم الخطر واقتراح معالجة.</a:t>
            </a:r>
          </a:p>
        </p:txBody>
      </p:sp>
      <p:sp>
        <p:nvSpPr>
          <p:cNvPr id="23" name="Box 22"/>
          <p:cNvSpPr/>
          <p:nvPr/>
        </p:nvSpPr>
        <p:spPr>
          <a:xfrm>
            <a:off x="3476625" y="2212876"/>
            <a:ext cx="2574925" cy="2301081"/>
          </a:xfrm>
          <a:prstGeom prst="roundRect">
            <a:avLst>
              <a:gd name="adj" fmla="val 4967"/>
            </a:avLst>
          </a:prstGeom>
          <a:solidFill>
            <a:srgbClr val="FFFDF8"/>
          </a:solidFill>
          <a:ln>
            <a:noFill/>
          </a:ln>
        </p:spPr>
        <p:txBody>
          <a:bodyPr rtlCol="0" anchor="ctr"/>
          <a:lstStyle/>
          <a:p>
            <a:pPr algn="ctr"/>
          </a:p>
        </p:txBody>
      </p:sp>
      <p:sp>
        <p:nvSpPr>
          <p:cNvPr id="24" name="Rule 23"/>
          <p:cNvSpPr/>
          <p:nvPr/>
        </p:nvSpPr>
        <p:spPr>
          <a:xfrm>
            <a:off x="3476625" y="2212876"/>
            <a:ext cx="2574925" cy="50800"/>
          </a:xfrm>
          <a:prstGeom prst="rect">
            <a:avLst/>
          </a:prstGeom>
          <a:solidFill>
            <a:srgbClr val="0E7C6B"/>
          </a:solidFill>
          <a:ln>
            <a:noFill/>
          </a:ln>
        </p:spPr>
        <p:txBody>
          <a:bodyPr rtlCol="0" anchor="ctr"/>
          <a:lstStyle/>
          <a:p>
            <a:pPr algn="ctr"/>
          </a:p>
        </p:txBody>
      </p:sp>
      <p:sp>
        <p:nvSpPr>
          <p:cNvPr id="25" name="Rule 24"/>
          <p:cNvSpPr/>
          <p:nvPr/>
        </p:nvSpPr>
        <p:spPr>
          <a:xfrm>
            <a:off x="6045200" y="2212876"/>
            <a:ext cx="6350" cy="2301081"/>
          </a:xfrm>
          <a:prstGeom prst="rect">
            <a:avLst/>
          </a:prstGeom>
          <a:solidFill>
            <a:srgbClr val="E1DBCD"/>
          </a:solidFill>
          <a:ln>
            <a:noFill/>
          </a:ln>
        </p:spPr>
        <p:txBody>
          <a:bodyPr rtlCol="0" anchor="ctr"/>
          <a:lstStyle/>
          <a:p>
            <a:pPr algn="ctr"/>
          </a:p>
        </p:txBody>
      </p:sp>
      <p:sp>
        <p:nvSpPr>
          <p:cNvPr id="26" name="Rule 25"/>
          <p:cNvSpPr/>
          <p:nvPr/>
        </p:nvSpPr>
        <p:spPr>
          <a:xfrm>
            <a:off x="3476625" y="4507607"/>
            <a:ext cx="2574925" cy="6350"/>
          </a:xfrm>
          <a:prstGeom prst="rect">
            <a:avLst/>
          </a:prstGeom>
          <a:solidFill>
            <a:srgbClr val="E1DBCD"/>
          </a:solidFill>
          <a:ln>
            <a:noFill/>
          </a:ln>
        </p:spPr>
        <p:txBody>
          <a:bodyPr rtlCol="0" anchor="ctr"/>
          <a:lstStyle/>
          <a:p>
            <a:pPr algn="ctr"/>
          </a:p>
        </p:txBody>
      </p:sp>
      <p:sp>
        <p:nvSpPr>
          <p:cNvPr id="27" name="Rule 26"/>
          <p:cNvSpPr/>
          <p:nvPr/>
        </p:nvSpPr>
        <p:spPr>
          <a:xfrm>
            <a:off x="3476625" y="2212876"/>
            <a:ext cx="6350" cy="2301081"/>
          </a:xfrm>
          <a:prstGeom prst="rect">
            <a:avLst/>
          </a:prstGeom>
          <a:solidFill>
            <a:srgbClr val="E1DBCD"/>
          </a:solidFill>
          <a:ln>
            <a:noFill/>
          </a:ln>
        </p:spPr>
        <p:txBody>
          <a:bodyPr rtlCol="0" anchor="ctr"/>
          <a:lstStyle/>
          <a:p>
            <a:pPr algn="ctr"/>
          </a:p>
        </p:txBody>
      </p:sp>
      <p:sp>
        <p:nvSpPr>
          <p:cNvPr id="28" name="Text 27"/>
          <p:cNvSpPr txBox="1"/>
          <p:nvPr/>
        </p:nvSpPr>
        <p:spPr>
          <a:xfrm>
            <a:off x="5242064" y="2446016"/>
            <a:ext cx="650736" cy="501650"/>
          </a:xfrm>
          <a:prstGeom prst="rect">
            <a:avLst/>
          </a:prstGeom>
          <a:noFill/>
        </p:spPr>
        <p:txBody>
          <a:bodyPr wrap="square" tIns="0" rIns="0" bIns="0" lIns="0" anchor="t" rtlCol="0" anchorCtr="0">
            <a:noAutofit/>
          </a:bodyPr>
          <a:lstStyle/>
          <a:p>
            <a:pPr algn="r">
              <a:lnSpc>
                <a:spcPts val="3950"/>
              </a:lnSpc>
              <a:spcBef>
                <a:spcPts val="0"/>
              </a:spcBef>
              <a:spcAft>
                <a:spcPts val="0"/>
              </a:spcAft>
            </a:pPr>
            <a:r>
              <a:rPr sz="3950" b="1" i="0">
                <a:solidFill>
                  <a:srgbClr val="0E7C6B"/>
                </a:solidFill>
                <a:latin typeface="Readex Pro"/>
                <a:ea typeface="Readex Pro"/>
                <a:cs typeface="Readex Pro"/>
              </a:rPr>
              <a:t>A</a:t>
            </a:r>
          </a:p>
        </p:txBody>
      </p:sp>
      <p:sp>
        <p:nvSpPr>
          <p:cNvPr id="29" name="Text 28"/>
          <p:cNvSpPr txBox="1"/>
          <p:nvPr/>
        </p:nvSpPr>
        <p:spPr>
          <a:xfrm>
            <a:off x="4161552" y="2426133"/>
            <a:ext cx="1305302"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ما فعلته أنا</a:t>
            </a:r>
          </a:p>
        </p:txBody>
      </p:sp>
      <p:sp>
        <p:nvSpPr>
          <p:cNvPr id="30" name="Text 29"/>
          <p:cNvSpPr txBox="1"/>
          <p:nvPr/>
        </p:nvSpPr>
        <p:spPr>
          <a:xfrm>
            <a:off x="3567652" y="2925092"/>
            <a:ext cx="2325148" cy="1399381"/>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172433"/>
                </a:solidFill>
                <a:latin typeface="IBM Plex Sans Arabic"/>
                <a:ea typeface="IBM Plex Sans Arabic"/>
                <a:cs typeface="IBM Plex Sans Arabic"/>
              </a:rPr>
              <a:t>كتبت الخطر، وقيمته بمصفوفة الهيئة مع مبرر كل درجة، واقترحت 5 إجراءات بمالكين ومواعيد.</a:t>
            </a:r>
          </a:p>
        </p:txBody>
      </p:sp>
      <p:sp>
        <p:nvSpPr>
          <p:cNvPr id="31" name="Box 30"/>
          <p:cNvSpPr/>
          <p:nvPr/>
        </p:nvSpPr>
        <p:spPr>
          <a:xfrm>
            <a:off x="812800" y="2212876"/>
            <a:ext cx="2574925" cy="2301081"/>
          </a:xfrm>
          <a:prstGeom prst="roundRect">
            <a:avLst>
              <a:gd name="adj" fmla="val 4967"/>
            </a:avLst>
          </a:prstGeom>
          <a:solidFill>
            <a:srgbClr val="FFFDF8"/>
          </a:solidFill>
          <a:ln>
            <a:noFill/>
          </a:ln>
        </p:spPr>
        <p:txBody>
          <a:bodyPr rtlCol="0" anchor="ctr"/>
          <a:lstStyle/>
          <a:p>
            <a:pPr algn="ctr"/>
          </a:p>
        </p:txBody>
      </p:sp>
      <p:sp>
        <p:nvSpPr>
          <p:cNvPr id="32" name="Rule 31"/>
          <p:cNvSpPr/>
          <p:nvPr/>
        </p:nvSpPr>
        <p:spPr>
          <a:xfrm>
            <a:off x="812800" y="2212876"/>
            <a:ext cx="2574925" cy="50800"/>
          </a:xfrm>
          <a:prstGeom prst="rect">
            <a:avLst/>
          </a:prstGeom>
          <a:solidFill>
            <a:srgbClr val="8A4B12"/>
          </a:solidFill>
          <a:ln>
            <a:noFill/>
          </a:ln>
        </p:spPr>
        <p:txBody>
          <a:bodyPr rtlCol="0" anchor="ctr"/>
          <a:lstStyle/>
          <a:p>
            <a:pPr algn="ctr"/>
          </a:p>
        </p:txBody>
      </p:sp>
      <p:sp>
        <p:nvSpPr>
          <p:cNvPr id="33" name="Rule 32"/>
          <p:cNvSpPr/>
          <p:nvPr/>
        </p:nvSpPr>
        <p:spPr>
          <a:xfrm>
            <a:off x="3381375" y="2212876"/>
            <a:ext cx="6350" cy="2301081"/>
          </a:xfrm>
          <a:prstGeom prst="rect">
            <a:avLst/>
          </a:prstGeom>
          <a:solidFill>
            <a:srgbClr val="E1DBCD"/>
          </a:solidFill>
          <a:ln>
            <a:noFill/>
          </a:ln>
        </p:spPr>
        <p:txBody>
          <a:bodyPr rtlCol="0" anchor="ctr"/>
          <a:lstStyle/>
          <a:p>
            <a:pPr algn="ctr"/>
          </a:p>
        </p:txBody>
      </p:sp>
      <p:sp>
        <p:nvSpPr>
          <p:cNvPr id="34" name="Rule 33"/>
          <p:cNvSpPr/>
          <p:nvPr/>
        </p:nvSpPr>
        <p:spPr>
          <a:xfrm>
            <a:off x="812800" y="4507607"/>
            <a:ext cx="2574925" cy="6350"/>
          </a:xfrm>
          <a:prstGeom prst="rect">
            <a:avLst/>
          </a:prstGeom>
          <a:solidFill>
            <a:srgbClr val="E1DBCD"/>
          </a:solidFill>
          <a:ln>
            <a:noFill/>
          </a:ln>
        </p:spPr>
        <p:txBody>
          <a:bodyPr rtlCol="0" anchor="ctr"/>
          <a:lstStyle/>
          <a:p>
            <a:pPr algn="ctr"/>
          </a:p>
        </p:txBody>
      </p:sp>
      <p:sp>
        <p:nvSpPr>
          <p:cNvPr id="35" name="Rule 34"/>
          <p:cNvSpPr/>
          <p:nvPr/>
        </p:nvSpPr>
        <p:spPr>
          <a:xfrm>
            <a:off x="812800" y="2212876"/>
            <a:ext cx="6350" cy="2301081"/>
          </a:xfrm>
          <a:prstGeom prst="rect">
            <a:avLst/>
          </a:prstGeom>
          <a:solidFill>
            <a:srgbClr val="E1DBCD"/>
          </a:solidFill>
          <a:ln>
            <a:noFill/>
          </a:ln>
        </p:spPr>
        <p:txBody>
          <a:bodyPr rtlCol="0" anchor="ctr"/>
          <a:lstStyle/>
          <a:p>
            <a:pPr algn="ctr"/>
          </a:p>
        </p:txBody>
      </p:sp>
      <p:sp>
        <p:nvSpPr>
          <p:cNvPr id="36" name="Text 35"/>
          <p:cNvSpPr txBox="1"/>
          <p:nvPr/>
        </p:nvSpPr>
        <p:spPr>
          <a:xfrm>
            <a:off x="2574766" y="2446016"/>
            <a:ext cx="654209" cy="501650"/>
          </a:xfrm>
          <a:prstGeom prst="rect">
            <a:avLst/>
          </a:prstGeom>
          <a:noFill/>
        </p:spPr>
        <p:txBody>
          <a:bodyPr wrap="square" tIns="0" rIns="0" bIns="0" lIns="0" anchor="t" rtlCol="0" anchorCtr="0">
            <a:noAutofit/>
          </a:bodyPr>
          <a:lstStyle/>
          <a:p>
            <a:pPr algn="r">
              <a:lnSpc>
                <a:spcPts val="3950"/>
              </a:lnSpc>
              <a:spcBef>
                <a:spcPts val="0"/>
              </a:spcBef>
              <a:spcAft>
                <a:spcPts val="0"/>
              </a:spcAft>
            </a:pPr>
            <a:r>
              <a:rPr sz="3950" b="1" i="0">
                <a:solidFill>
                  <a:srgbClr val="8A4B12"/>
                </a:solidFill>
                <a:latin typeface="Readex Pro"/>
                <a:ea typeface="Readex Pro"/>
                <a:cs typeface="Readex Pro"/>
              </a:rPr>
              <a:t>R</a:t>
            </a:r>
          </a:p>
        </p:txBody>
      </p:sp>
      <p:sp>
        <p:nvSpPr>
          <p:cNvPr id="37" name="Text 36"/>
          <p:cNvSpPr txBox="1"/>
          <p:nvPr/>
        </p:nvSpPr>
        <p:spPr>
          <a:xfrm>
            <a:off x="1914346" y="2426133"/>
            <a:ext cx="885210" cy="373360"/>
          </a:xfrm>
          <a:prstGeom prst="rect">
            <a:avLst/>
          </a:prstGeom>
          <a:noFill/>
        </p:spPr>
        <p:txBody>
          <a:bodyPr wrap="square" tIns="0" rIns="0" bIns="0" lIns="0" anchor="t" rtlCol="0" anchorCtr="0">
            <a:noAutofit/>
          </a:bodyPr>
          <a:lstStyle/>
          <a:p>
            <a:pPr algn="r" rtl="1">
              <a:lnSpc>
                <a:spcPts val="2940"/>
              </a:lnSpc>
              <a:spcBef>
                <a:spcPts val="0"/>
              </a:spcBef>
              <a:spcAft>
                <a:spcPts val="0"/>
              </a:spcAft>
            </a:pPr>
            <a:r>
              <a:rPr sz="2100" b="1" i="0">
                <a:solidFill>
                  <a:srgbClr val="172433"/>
                </a:solidFill>
                <a:latin typeface="IBM Plex Sans Arabic"/>
                <a:ea typeface="IBM Plex Sans Arabic"/>
                <a:cs typeface="IBM Plex Sans Arabic"/>
              </a:rPr>
              <a:t>النتيجة</a:t>
            </a:r>
          </a:p>
        </p:txBody>
      </p:sp>
      <p:sp>
        <p:nvSpPr>
          <p:cNvPr id="38" name="Text 37"/>
          <p:cNvSpPr txBox="1"/>
          <p:nvPr/>
        </p:nvSpPr>
        <p:spPr>
          <a:xfrm>
            <a:off x="903827" y="2925092"/>
            <a:ext cx="2325148" cy="1049536"/>
          </a:xfrm>
          <a:prstGeom prst="rect">
            <a:avLst/>
          </a:prstGeom>
          <a:noFill/>
        </p:spPr>
        <p:txBody>
          <a:bodyPr wrap="square" tIns="0" rIns="0" bIns="0" lIns="0" anchor="t" rtlCol="0" anchorCtr="0">
            <a:noAutofit/>
          </a:bodyPr>
          <a:lstStyle/>
          <a:p>
            <a:pPr algn="r" rtl="1">
              <a:lnSpc>
                <a:spcPts val="2755"/>
              </a:lnSpc>
              <a:spcBef>
                <a:spcPts val="0"/>
              </a:spcBef>
              <a:spcAft>
                <a:spcPts val="0"/>
              </a:spcAft>
            </a:pPr>
            <a:r>
              <a:rPr sz="1900" b="0" i="0">
                <a:solidFill>
                  <a:srgbClr val="172433"/>
                </a:solidFill>
                <a:latin typeface="IBM Plex Sans Arabic"/>
                <a:ea typeface="IBM Plex Sans Arabic"/>
                <a:cs typeface="IBM Plex Sans Arabic"/>
              </a:rPr>
              <a:t>خطر عالٍ (16) بخطة تنزله إلى متوسط، وقرار مطلوب من الإدارة للباقي.</a:t>
            </a:r>
          </a:p>
        </p:txBody>
      </p:sp>
      <p:sp>
        <p:nvSpPr>
          <p:cNvPr id="39" name="Box 38"/>
          <p:cNvSpPr/>
          <p:nvPr/>
        </p:nvSpPr>
        <p:spPr>
          <a:xfrm>
            <a:off x="9081988" y="4704457"/>
            <a:ext cx="2297212" cy="591741"/>
          </a:xfrm>
          <a:prstGeom prst="roundRect">
            <a:avLst>
              <a:gd name="adj" fmla="val 17169"/>
            </a:avLst>
          </a:prstGeom>
          <a:solidFill>
            <a:srgbClr val="172433"/>
          </a:solidFill>
          <a:ln>
            <a:noFill/>
          </a:ln>
        </p:spPr>
        <p:txBody>
          <a:bodyPr rtlCol="0" anchor="ctr"/>
          <a:lstStyle/>
          <a:p>
            <a:pPr algn="ctr"/>
          </a:p>
        </p:txBody>
      </p:sp>
      <p:pic>
        <p:nvPicPr>
          <p:cNvPr id="40" name="Icon Clock 39" descr="icon077.png"/>
          <p:cNvPicPr>
            <a:picLocks noChangeAspect="1"/>
          </p:cNvPicPr>
          <p:nvPr/>
        </p:nvPicPr>
        <p:blipFill>
          <a:blip r:embed="rId2"/>
          <a:stretch>
            <a:fillRect/>
          </a:stretch>
        </p:blipFill>
        <p:spPr>
          <a:xfrm>
            <a:off x="10947400" y="4873327"/>
            <a:ext cx="254000" cy="254000"/>
          </a:xfrm>
          <a:prstGeom prst="rect">
            <a:avLst/>
          </a:prstGeom>
        </p:spPr>
      </p:pic>
      <p:sp>
        <p:nvSpPr>
          <p:cNvPr id="41" name="Text 40"/>
          <p:cNvSpPr txBox="1"/>
          <p:nvPr/>
        </p:nvSpPr>
        <p:spPr>
          <a:xfrm>
            <a:off x="9115008" y="4794056"/>
            <a:ext cx="1718092"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F3EFE6"/>
                </a:solidFill>
                <a:latin typeface="IBM Plex Sans Arabic"/>
                <a:ea typeface="IBM Plex Sans Arabic"/>
                <a:cs typeface="IBM Plex Sans Arabic"/>
              </a:rPr>
              <a:t>دقيقة إلى دقيقتين</a:t>
            </a:r>
          </a:p>
        </p:txBody>
      </p:sp>
      <p:sp>
        <p:nvSpPr>
          <p:cNvPr id="42" name="Box 41"/>
          <p:cNvSpPr/>
          <p:nvPr/>
        </p:nvSpPr>
        <p:spPr>
          <a:xfrm>
            <a:off x="6050161" y="4704457"/>
            <a:ext cx="2942927" cy="591741"/>
          </a:xfrm>
          <a:prstGeom prst="roundRect">
            <a:avLst>
              <a:gd name="adj" fmla="val 17169"/>
            </a:avLst>
          </a:prstGeom>
          <a:solidFill>
            <a:srgbClr val="172433"/>
          </a:solidFill>
          <a:ln>
            <a:noFill/>
          </a:ln>
        </p:spPr>
        <p:txBody>
          <a:bodyPr rtlCol="0" anchor="ctr"/>
          <a:lstStyle/>
          <a:p>
            <a:pPr algn="ctr"/>
          </a:p>
        </p:txBody>
      </p:sp>
      <p:pic>
        <p:nvPicPr>
          <p:cNvPr id="43" name="Icon Users 42" descr="icon063.png"/>
          <p:cNvPicPr>
            <a:picLocks noChangeAspect="1"/>
          </p:cNvPicPr>
          <p:nvPr/>
        </p:nvPicPr>
        <p:blipFill>
          <a:blip r:embed="rId3"/>
          <a:stretch>
            <a:fillRect/>
          </a:stretch>
        </p:blipFill>
        <p:spPr>
          <a:xfrm>
            <a:off x="8561288" y="4873327"/>
            <a:ext cx="254000" cy="254000"/>
          </a:xfrm>
          <a:prstGeom prst="rect">
            <a:avLst/>
          </a:prstGeom>
        </p:spPr>
      </p:pic>
      <p:sp>
        <p:nvSpPr>
          <p:cNvPr id="44" name="Text 43"/>
          <p:cNvSpPr txBox="1"/>
          <p:nvPr/>
        </p:nvSpPr>
        <p:spPr>
          <a:xfrm>
            <a:off x="6075561" y="4794056"/>
            <a:ext cx="2371427"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F3EFE6"/>
                </a:solidFill>
                <a:latin typeface="IBM Plex Sans Arabic"/>
                <a:ea typeface="IBM Plex Sans Arabic"/>
                <a:cs typeface="IBM Plex Sans Arabic"/>
              </a:rPr>
              <a:t>«أنا» في الإجراء، لا «نحن»</a:t>
            </a:r>
          </a:p>
        </p:txBody>
      </p:sp>
      <p:sp>
        <p:nvSpPr>
          <p:cNvPr id="45" name="Box 44"/>
          <p:cNvSpPr/>
          <p:nvPr/>
        </p:nvSpPr>
        <p:spPr>
          <a:xfrm>
            <a:off x="3396357" y="4704457"/>
            <a:ext cx="2564904" cy="591741"/>
          </a:xfrm>
          <a:prstGeom prst="roundRect">
            <a:avLst>
              <a:gd name="adj" fmla="val 17169"/>
            </a:avLst>
          </a:prstGeom>
          <a:solidFill>
            <a:srgbClr val="172433"/>
          </a:solidFill>
          <a:ln>
            <a:noFill/>
          </a:ln>
        </p:spPr>
        <p:txBody>
          <a:bodyPr rtlCol="0" anchor="ctr"/>
          <a:lstStyle/>
          <a:p>
            <a:pPr algn="ctr"/>
          </a:p>
        </p:txBody>
      </p:sp>
      <p:pic>
        <p:nvPicPr>
          <p:cNvPr id="46" name="Icon Book 45" descr="icon078.png"/>
          <p:cNvPicPr>
            <a:picLocks noChangeAspect="1"/>
          </p:cNvPicPr>
          <p:nvPr/>
        </p:nvPicPr>
        <p:blipFill>
          <a:blip r:embed="rId4"/>
          <a:stretch>
            <a:fillRect/>
          </a:stretch>
        </p:blipFill>
        <p:spPr>
          <a:xfrm>
            <a:off x="5529461" y="4873327"/>
            <a:ext cx="254000" cy="254000"/>
          </a:xfrm>
          <a:prstGeom prst="rect">
            <a:avLst/>
          </a:prstGeom>
        </p:spPr>
      </p:pic>
      <p:sp>
        <p:nvSpPr>
          <p:cNvPr id="47" name="Text 46"/>
          <p:cNvSpPr txBox="1"/>
          <p:nvPr/>
        </p:nvSpPr>
        <p:spPr>
          <a:xfrm>
            <a:off x="3426877" y="4794056"/>
            <a:ext cx="1988284"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F3EFE6"/>
                </a:solidFill>
                <a:latin typeface="IBM Plex Sans Arabic"/>
                <a:ea typeface="IBM Plex Sans Arabic"/>
                <a:cs typeface="IBM Plex Sans Arabic"/>
              </a:rPr>
              <a:t>جهّز 5 قصص مسبقاً</a:t>
            </a:r>
          </a:p>
        </p:txBody>
      </p:sp>
      <p:sp>
        <p:nvSpPr>
          <p:cNvPr id="48" name="Text 4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49" name="Text 4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755421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قصتك بطريقة STAR</a:t>
            </a:r>
          </a:p>
        </p:txBody>
      </p:sp>
      <p:sp>
        <p:nvSpPr>
          <p:cNvPr id="6" name="Text 5"/>
          <p:cNvSpPr txBox="1"/>
          <p:nvPr/>
        </p:nvSpPr>
        <p:spPr>
          <a:xfrm>
            <a:off x="0" y="1613654"/>
            <a:ext cx="11379200" cy="400050"/>
          </a:xfrm>
          <a:prstGeom prst="rect">
            <a:avLst/>
          </a:prstGeom>
          <a:noFill/>
        </p:spPr>
        <p:txBody>
          <a:bodyPr wrap="square" tIns="0" rIns="0" bIns="0" lIns="0" anchor="t" rtlCol="0" anchorCtr="0">
            <a:noAutofit/>
          </a:bodyPr>
          <a:lstStyle/>
          <a:p>
            <a:pPr algn="r" rtl="1">
              <a:lnSpc>
                <a:spcPts val="3150"/>
              </a:lnSpc>
              <a:spcBef>
                <a:spcPts val="0"/>
              </a:spcBef>
              <a:spcAft>
                <a:spcPts val="0"/>
              </a:spcAft>
            </a:pPr>
            <a:r>
              <a:rPr sz="2250" b="1" i="0">
                <a:solidFill>
                  <a:srgbClr val="172433"/>
                </a:solidFill>
                <a:latin typeface="IBM Plex Sans Arabic"/>
                <a:ea typeface="IBM Plex Sans Arabic"/>
                <a:cs typeface="IBM Plex Sans Arabic"/>
              </a:rPr>
              <a:t>السؤال: «حدثنا عن مرة اكتشفت فيها مشكلة في ضابط ولم يكن الدليل واضحاً.»</a:t>
            </a:r>
          </a:p>
        </p:txBody>
      </p:sp>
      <p:sp>
        <p:nvSpPr>
          <p:cNvPr id="7" name="Text 6"/>
          <p:cNvSpPr txBox="1"/>
          <p:nvPr/>
        </p:nvSpPr>
        <p:spPr>
          <a:xfrm>
            <a:off x="9639300" y="220912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S الموقف</a:t>
            </a:r>
          </a:p>
        </p:txBody>
      </p:sp>
      <p:sp>
        <p:nvSpPr>
          <p:cNvPr id="8" name="Box 7"/>
          <p:cNvSpPr/>
          <p:nvPr/>
        </p:nvSpPr>
        <p:spPr>
          <a:xfrm>
            <a:off x="819150" y="225484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639300" y="274252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T المهمة</a:t>
            </a:r>
          </a:p>
        </p:txBody>
      </p:sp>
      <p:sp>
        <p:nvSpPr>
          <p:cNvPr id="10" name="Box 9"/>
          <p:cNvSpPr/>
          <p:nvPr/>
        </p:nvSpPr>
        <p:spPr>
          <a:xfrm>
            <a:off x="819150" y="278824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639300" y="327592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A ما فعلته أنا</a:t>
            </a:r>
          </a:p>
        </p:txBody>
      </p:sp>
      <p:sp>
        <p:nvSpPr>
          <p:cNvPr id="12" name="Box 11"/>
          <p:cNvSpPr/>
          <p:nvPr/>
        </p:nvSpPr>
        <p:spPr>
          <a:xfrm>
            <a:off x="819150" y="332164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639300" y="380932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R النتيجة</a:t>
            </a:r>
          </a:p>
        </p:txBody>
      </p:sp>
      <p:sp>
        <p:nvSpPr>
          <p:cNvPr id="14" name="Box 13"/>
          <p:cNvSpPr/>
          <p:nvPr/>
        </p:nvSpPr>
        <p:spPr>
          <a:xfrm>
            <a:off x="819150" y="385504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0" y="4458994"/>
            <a:ext cx="11379200" cy="337741"/>
          </a:xfrm>
          <a:prstGeom prst="rect">
            <a:avLst/>
          </a:prstGeom>
          <a:noFill/>
        </p:spPr>
        <p:txBody>
          <a:bodyPr wrap="square" tIns="0" rIns="0" bIns="0" lIns="0" anchor="t" rtlCol="0" anchorCtr="0">
            <a:noAutofit/>
          </a:bodyPr>
          <a:lstStyle/>
          <a:p>
            <a:pPr algn="r" rtl="1">
              <a:lnSpc>
                <a:spcPts val="2660"/>
              </a:lnSpc>
              <a:spcBef>
                <a:spcPts val="0"/>
              </a:spcBef>
              <a:spcAft>
                <a:spcPts val="0"/>
              </a:spcAft>
            </a:pPr>
            <a:r>
              <a:rPr sz="1900" b="0" i="0">
                <a:solidFill>
                  <a:srgbClr val="4E5A66"/>
                </a:solidFill>
                <a:latin typeface="IBM Plex Sans Arabic"/>
                <a:ea typeface="IBM Plex Sans Arabic"/>
                <a:cs typeface="IBM Plex Sans Arabic"/>
              </a:rPr>
              <a:t>استخدم التطبيقين 3 و4. 8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776128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قصة STAR نموذجية</a:t>
            </a:r>
          </a:p>
        </p:txBody>
      </p:sp>
      <p:sp>
        <p:nvSpPr>
          <p:cNvPr id="6" name="Box 5"/>
          <p:cNvSpPr/>
          <p:nvPr/>
        </p:nvSpPr>
        <p:spPr>
          <a:xfrm>
            <a:off x="815975" y="16611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7" name="Text 6"/>
          <p:cNvSpPr txBox="1"/>
          <p:nvPr/>
        </p:nvSpPr>
        <p:spPr>
          <a:xfrm>
            <a:off x="10624820" y="1799900"/>
            <a:ext cx="621030"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S</a:t>
            </a:r>
          </a:p>
        </p:txBody>
      </p:sp>
      <p:sp>
        <p:nvSpPr>
          <p:cNvPr id="8" name="Text 7"/>
          <p:cNvSpPr txBox="1"/>
          <p:nvPr/>
        </p:nvSpPr>
        <p:spPr>
          <a:xfrm>
            <a:off x="9353550" y="17265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الموقف</a:t>
            </a:r>
          </a:p>
        </p:txBody>
      </p:sp>
      <p:sp>
        <p:nvSpPr>
          <p:cNvPr id="9" name="Text 8"/>
          <p:cNvSpPr txBox="1"/>
          <p:nvPr/>
        </p:nvSpPr>
        <p:spPr>
          <a:xfrm>
            <a:off x="838200" y="17201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مشروع تدريبي لشركة افتراضية، كان المطلوب تقييم مراجعة الصلاحيات الفصلية في نظام الرواتب.</a:t>
            </a:r>
          </a:p>
        </p:txBody>
      </p:sp>
      <p:sp>
        <p:nvSpPr>
          <p:cNvPr id="10" name="Box 9"/>
          <p:cNvSpPr/>
          <p:nvPr/>
        </p:nvSpPr>
        <p:spPr>
          <a:xfrm>
            <a:off x="815975" y="2689820"/>
            <a:ext cx="10560050" cy="609600"/>
          </a:xfrm>
          <a:prstGeom prst="roundRect">
            <a:avLst>
              <a:gd name="adj" fmla="val 14432"/>
            </a:avLst>
          </a:prstGeom>
          <a:solidFill>
            <a:srgbClr val="FFFDF8"/>
          </a:solidFill>
          <a:ln w="6350">
            <a:solidFill>
              <a:srgbClr val="E1DBCD"/>
            </a:solidFill>
          </a:ln>
        </p:spPr>
        <p:txBody>
          <a:bodyPr rtlCol="0" anchor="ctr"/>
          <a:lstStyle/>
          <a:p>
            <a:pPr algn="ctr"/>
          </a:p>
        </p:txBody>
      </p:sp>
      <p:sp>
        <p:nvSpPr>
          <p:cNvPr id="11" name="Text 10"/>
          <p:cNvSpPr txBox="1"/>
          <p:nvPr/>
        </p:nvSpPr>
        <p:spPr>
          <a:xfrm>
            <a:off x="10624820" y="2828600"/>
            <a:ext cx="621030"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T</a:t>
            </a:r>
          </a:p>
        </p:txBody>
      </p:sp>
      <p:sp>
        <p:nvSpPr>
          <p:cNvPr id="12" name="Text 11"/>
          <p:cNvSpPr txBox="1"/>
          <p:nvPr/>
        </p:nvSpPr>
        <p:spPr>
          <a:xfrm>
            <a:off x="9353550" y="27552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المهمة</a:t>
            </a:r>
          </a:p>
        </p:txBody>
      </p:sp>
      <p:sp>
        <p:nvSpPr>
          <p:cNvPr id="13" name="Text 12"/>
          <p:cNvSpPr txBox="1"/>
          <p:nvPr/>
        </p:nvSpPr>
        <p:spPr>
          <a:xfrm>
            <a:off x="838200" y="2748875"/>
            <a:ext cx="85788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تحديد نتيجة التقييم من 6 أدلة متفاوتة.</a:t>
            </a:r>
          </a:p>
        </p:txBody>
      </p:sp>
      <p:sp>
        <p:nvSpPr>
          <p:cNvPr id="14" name="Box 13"/>
          <p:cNvSpPr/>
          <p:nvPr/>
        </p:nvSpPr>
        <p:spPr>
          <a:xfrm>
            <a:off x="815975" y="338197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10624820" y="3520750"/>
            <a:ext cx="621030"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A</a:t>
            </a:r>
          </a:p>
        </p:txBody>
      </p:sp>
      <p:sp>
        <p:nvSpPr>
          <p:cNvPr id="16" name="Text 15"/>
          <p:cNvSpPr txBox="1"/>
          <p:nvPr/>
        </p:nvSpPr>
        <p:spPr>
          <a:xfrm>
            <a:off x="9353550" y="344737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فعلته أنا</a:t>
            </a:r>
          </a:p>
        </p:txBody>
      </p:sp>
      <p:sp>
        <p:nvSpPr>
          <p:cNvPr id="17" name="Text 16"/>
          <p:cNvSpPr txBox="1"/>
          <p:nvPr/>
        </p:nvSpPr>
        <p:spPr>
          <a:xfrm>
            <a:off x="838200" y="344102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ربطت كل دليل بما يثبته، فوجدت أن الربع الثاني لم يُنفذ وأن حسابين لمغادرين بقيا نشطين، ثم طلبت سجل الترحيل للتحقق من السبب بدل الاعتماد على البريد.</a:t>
            </a:r>
          </a:p>
        </p:txBody>
      </p:sp>
      <p:sp>
        <p:nvSpPr>
          <p:cNvPr id="18" name="Box 17"/>
          <p:cNvSpPr/>
          <p:nvPr/>
        </p:nvSpPr>
        <p:spPr>
          <a:xfrm>
            <a:off x="815975" y="441067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10624820" y="4549450"/>
            <a:ext cx="621030" cy="400050"/>
          </a:xfrm>
          <a:prstGeom prst="rect">
            <a:avLst/>
          </a:prstGeom>
          <a:noFill/>
        </p:spPr>
        <p:txBody>
          <a:bodyPr wrap="square" tIns="0" rIns="0" bIns="0" lIns="0" anchor="t" rtlCol="0" anchorCtr="0">
            <a:noAutofit/>
          </a:bodyPr>
          <a:lstStyle/>
          <a:p>
            <a:pPr algn="r">
              <a:lnSpc>
                <a:spcPts val="3150"/>
              </a:lnSpc>
              <a:spcBef>
                <a:spcPts val="0"/>
              </a:spcBef>
              <a:spcAft>
                <a:spcPts val="0"/>
              </a:spcAft>
            </a:pPr>
            <a:r>
              <a:rPr sz="3150" b="1" i="0">
                <a:solidFill>
                  <a:srgbClr val="0E7C6B"/>
                </a:solidFill>
                <a:latin typeface="Readex Pro"/>
                <a:ea typeface="Readex Pro"/>
                <a:cs typeface="Readex Pro"/>
              </a:rPr>
              <a:t>R</a:t>
            </a:r>
          </a:p>
        </p:txBody>
      </p:sp>
      <p:sp>
        <p:nvSpPr>
          <p:cNvPr id="20" name="Text 19"/>
          <p:cNvSpPr txBox="1"/>
          <p:nvPr/>
        </p:nvSpPr>
        <p:spPr>
          <a:xfrm>
            <a:off x="9353550" y="447607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21" name="Text 20"/>
          <p:cNvSpPr txBox="1"/>
          <p:nvPr/>
        </p:nvSpPr>
        <p:spPr>
          <a:xfrm>
            <a:off x="838200" y="446972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قيّمت الضابط «مطبقاً جزئياً» وكتبت ملاحظة بخطة تصحيح من 4 إجراءات، ونشرت المشروع في ملف أعمالي.</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قائمة المراجعة: هل أنت جاهز للتقديم؟</a:t>
            </a:r>
          </a:p>
        </p:txBody>
      </p:sp>
      <p:sp>
        <p:nvSpPr>
          <p:cNvPr id="5" name="Box 4"/>
          <p:cNvSpPr/>
          <p:nvPr/>
        </p:nvSpPr>
        <p:spPr>
          <a:xfrm>
            <a:off x="8804275" y="1657945"/>
            <a:ext cx="2574925" cy="3133725"/>
          </a:xfrm>
          <a:prstGeom prst="roundRect">
            <a:avLst>
              <a:gd name="adj" fmla="val 4438"/>
            </a:avLst>
          </a:prstGeom>
          <a:solidFill>
            <a:srgbClr val="FFFDF8"/>
          </a:solidFill>
          <a:ln>
            <a:noFill/>
          </a:ln>
        </p:spPr>
        <p:txBody>
          <a:bodyPr rtlCol="0" anchor="ctr"/>
          <a:lstStyle/>
          <a:p>
            <a:pPr algn="ctr"/>
          </a:p>
        </p:txBody>
      </p:sp>
      <p:sp>
        <p:nvSpPr>
          <p:cNvPr id="6" name="Rule 5"/>
          <p:cNvSpPr/>
          <p:nvPr/>
        </p:nvSpPr>
        <p:spPr>
          <a:xfrm>
            <a:off x="8804275" y="1657945"/>
            <a:ext cx="2574925" cy="50800"/>
          </a:xfrm>
          <a:prstGeom prst="rect">
            <a:avLst/>
          </a:prstGeom>
          <a:solidFill>
            <a:srgbClr val="0E7C6B"/>
          </a:solidFill>
          <a:ln>
            <a:noFill/>
          </a:ln>
        </p:spPr>
        <p:txBody>
          <a:bodyPr rtlCol="0" anchor="ctr"/>
          <a:lstStyle/>
          <a:p>
            <a:pPr algn="ctr"/>
          </a:p>
        </p:txBody>
      </p:sp>
      <p:sp>
        <p:nvSpPr>
          <p:cNvPr id="7" name="Rule 6"/>
          <p:cNvSpPr/>
          <p:nvPr/>
        </p:nvSpPr>
        <p:spPr>
          <a:xfrm>
            <a:off x="11372850" y="1657945"/>
            <a:ext cx="6350" cy="3133725"/>
          </a:xfrm>
          <a:prstGeom prst="rect">
            <a:avLst/>
          </a:prstGeom>
          <a:solidFill>
            <a:srgbClr val="E1DBCD"/>
          </a:solidFill>
          <a:ln>
            <a:noFill/>
          </a:ln>
        </p:spPr>
        <p:txBody>
          <a:bodyPr rtlCol="0" anchor="ctr"/>
          <a:lstStyle/>
          <a:p>
            <a:pPr algn="ctr"/>
          </a:p>
        </p:txBody>
      </p:sp>
      <p:sp>
        <p:nvSpPr>
          <p:cNvPr id="8" name="Rule 7"/>
          <p:cNvSpPr/>
          <p:nvPr/>
        </p:nvSpPr>
        <p:spPr>
          <a:xfrm>
            <a:off x="8804275" y="4785320"/>
            <a:ext cx="2574925" cy="6350"/>
          </a:xfrm>
          <a:prstGeom prst="rect">
            <a:avLst/>
          </a:prstGeom>
          <a:solidFill>
            <a:srgbClr val="E1DBCD"/>
          </a:solidFill>
          <a:ln>
            <a:noFill/>
          </a:ln>
        </p:spPr>
        <p:txBody>
          <a:bodyPr rtlCol="0" anchor="ctr"/>
          <a:lstStyle/>
          <a:p>
            <a:pPr algn="ctr"/>
          </a:p>
        </p:txBody>
      </p:sp>
      <p:sp>
        <p:nvSpPr>
          <p:cNvPr id="9" name="Rule 8"/>
          <p:cNvSpPr/>
          <p:nvPr/>
        </p:nvSpPr>
        <p:spPr>
          <a:xfrm>
            <a:off x="8804275" y="1657945"/>
            <a:ext cx="6350" cy="3133725"/>
          </a:xfrm>
          <a:prstGeom prst="rect">
            <a:avLst/>
          </a:prstGeom>
          <a:solidFill>
            <a:srgbClr val="E1DBCD"/>
          </a:solidFill>
          <a:ln>
            <a:noFill/>
          </a:ln>
        </p:spPr>
        <p:txBody>
          <a:bodyPr rtlCol="0" anchor="ctr"/>
          <a:lstStyle/>
          <a:p>
            <a:pPr algn="ctr"/>
          </a:p>
        </p:txBody>
      </p:sp>
      <p:sp>
        <p:nvSpPr>
          <p:cNvPr id="10" name="Text 9"/>
          <p:cNvSpPr txBox="1"/>
          <p:nvPr/>
        </p:nvSpPr>
        <p:spPr>
          <a:xfrm>
            <a:off x="8829675" y="1835745"/>
            <a:ext cx="2390775"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0E7C6B"/>
                </a:solidFill>
                <a:latin typeface="Readex Pro"/>
                <a:ea typeface="Readex Pro"/>
                <a:cs typeface="Readex Pro"/>
              </a:rPr>
              <a:t>المعرفة</a:t>
            </a:r>
          </a:p>
        </p:txBody>
      </p:sp>
      <p:sp>
        <p:nvSpPr>
          <p:cNvPr id="11" name="Box 10"/>
          <p:cNvSpPr/>
          <p:nvPr/>
        </p:nvSpPr>
        <p:spPr>
          <a:xfrm>
            <a:off x="11039475" y="2343745"/>
            <a:ext cx="171450" cy="171450"/>
          </a:xfrm>
          <a:prstGeom prst="roundRect">
            <a:avLst>
              <a:gd name="adj" fmla="val 20000"/>
            </a:avLst>
          </a:prstGeom>
          <a:noFill/>
          <a:ln w="19050">
            <a:solidFill>
              <a:srgbClr val="0E7C6B"/>
            </a:solidFill>
          </a:ln>
        </p:spPr>
        <p:txBody>
          <a:bodyPr rtlCol="0" anchor="ctr"/>
          <a:lstStyle/>
          <a:p>
            <a:pPr algn="ctr"/>
          </a:p>
        </p:txBody>
      </p:sp>
      <p:sp>
        <p:nvSpPr>
          <p:cNvPr id="12" name="Text 11"/>
          <p:cNvSpPr txBox="1"/>
          <p:nvPr/>
        </p:nvSpPr>
        <p:spPr>
          <a:xfrm>
            <a:off x="8899525" y="22948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أشرح مصطلحات المخاطر بمثال</a:t>
            </a:r>
          </a:p>
        </p:txBody>
      </p:sp>
      <p:sp>
        <p:nvSpPr>
          <p:cNvPr id="13" name="Box 12"/>
          <p:cNvSpPr/>
          <p:nvPr/>
        </p:nvSpPr>
        <p:spPr>
          <a:xfrm>
            <a:off x="11039475" y="3143845"/>
            <a:ext cx="171450" cy="171450"/>
          </a:xfrm>
          <a:prstGeom prst="roundRect">
            <a:avLst>
              <a:gd name="adj" fmla="val 20000"/>
            </a:avLst>
          </a:prstGeom>
          <a:noFill/>
          <a:ln w="19050">
            <a:solidFill>
              <a:srgbClr val="0E7C6B"/>
            </a:solidFill>
          </a:ln>
        </p:spPr>
        <p:txBody>
          <a:bodyPr rtlCol="0" anchor="ctr"/>
          <a:lstStyle/>
          <a:p>
            <a:pPr algn="ctr"/>
          </a:p>
        </p:txBody>
      </p:sp>
      <p:sp>
        <p:nvSpPr>
          <p:cNvPr id="14" name="Text 13"/>
          <p:cNvSpPr txBox="1"/>
          <p:nvPr/>
        </p:nvSpPr>
        <p:spPr>
          <a:xfrm>
            <a:off x="8899525" y="30949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أفرق بين السياسة والمعيار والإجراء</a:t>
            </a:r>
          </a:p>
        </p:txBody>
      </p:sp>
      <p:sp>
        <p:nvSpPr>
          <p:cNvPr id="15" name="Box 14"/>
          <p:cNvSpPr/>
          <p:nvPr/>
        </p:nvSpPr>
        <p:spPr>
          <a:xfrm>
            <a:off x="11039475" y="3943945"/>
            <a:ext cx="171450" cy="171450"/>
          </a:xfrm>
          <a:prstGeom prst="roundRect">
            <a:avLst>
              <a:gd name="adj" fmla="val 20000"/>
            </a:avLst>
          </a:prstGeom>
          <a:noFill/>
          <a:ln w="19050">
            <a:solidFill>
              <a:srgbClr val="0E7C6B"/>
            </a:solidFill>
          </a:ln>
        </p:spPr>
        <p:txBody>
          <a:bodyPr rtlCol="0" anchor="ctr"/>
          <a:lstStyle/>
          <a:p>
            <a:pPr algn="ctr"/>
          </a:p>
        </p:txBody>
      </p:sp>
      <p:sp>
        <p:nvSpPr>
          <p:cNvPr id="16" name="Text 15"/>
          <p:cNvSpPr txBox="1"/>
          <p:nvPr/>
        </p:nvSpPr>
        <p:spPr>
          <a:xfrm>
            <a:off x="8899525" y="38950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أعرف ما ينطبق على قطاعي</a:t>
            </a:r>
          </a:p>
        </p:txBody>
      </p:sp>
      <p:sp>
        <p:nvSpPr>
          <p:cNvPr id="17" name="Box 16"/>
          <p:cNvSpPr/>
          <p:nvPr/>
        </p:nvSpPr>
        <p:spPr>
          <a:xfrm>
            <a:off x="6140450" y="1657945"/>
            <a:ext cx="2574925" cy="3133725"/>
          </a:xfrm>
          <a:prstGeom prst="roundRect">
            <a:avLst>
              <a:gd name="adj" fmla="val 4438"/>
            </a:avLst>
          </a:prstGeom>
          <a:solidFill>
            <a:srgbClr val="FFFDF8"/>
          </a:solidFill>
          <a:ln>
            <a:noFill/>
          </a:ln>
        </p:spPr>
        <p:txBody>
          <a:bodyPr rtlCol="0" anchor="ctr"/>
          <a:lstStyle/>
          <a:p>
            <a:pPr algn="ctr"/>
          </a:p>
        </p:txBody>
      </p:sp>
      <p:sp>
        <p:nvSpPr>
          <p:cNvPr id="18" name="Rule 17"/>
          <p:cNvSpPr/>
          <p:nvPr/>
        </p:nvSpPr>
        <p:spPr>
          <a:xfrm>
            <a:off x="6140450" y="1657945"/>
            <a:ext cx="2574925" cy="50800"/>
          </a:xfrm>
          <a:prstGeom prst="rect">
            <a:avLst/>
          </a:prstGeom>
          <a:solidFill>
            <a:srgbClr val="24506B"/>
          </a:solidFill>
          <a:ln>
            <a:noFill/>
          </a:ln>
        </p:spPr>
        <p:txBody>
          <a:bodyPr rtlCol="0" anchor="ctr"/>
          <a:lstStyle/>
          <a:p>
            <a:pPr algn="ctr"/>
          </a:p>
        </p:txBody>
      </p:sp>
      <p:sp>
        <p:nvSpPr>
          <p:cNvPr id="19" name="Rule 18"/>
          <p:cNvSpPr/>
          <p:nvPr/>
        </p:nvSpPr>
        <p:spPr>
          <a:xfrm>
            <a:off x="8709025" y="1657945"/>
            <a:ext cx="6350" cy="3133725"/>
          </a:xfrm>
          <a:prstGeom prst="rect">
            <a:avLst/>
          </a:prstGeom>
          <a:solidFill>
            <a:srgbClr val="E1DBCD"/>
          </a:solidFill>
          <a:ln>
            <a:noFill/>
          </a:ln>
        </p:spPr>
        <p:txBody>
          <a:bodyPr rtlCol="0" anchor="ctr"/>
          <a:lstStyle/>
          <a:p>
            <a:pPr algn="ctr"/>
          </a:p>
        </p:txBody>
      </p:sp>
      <p:sp>
        <p:nvSpPr>
          <p:cNvPr id="20" name="Rule 19"/>
          <p:cNvSpPr/>
          <p:nvPr/>
        </p:nvSpPr>
        <p:spPr>
          <a:xfrm>
            <a:off x="6140450" y="4785320"/>
            <a:ext cx="2574925" cy="6350"/>
          </a:xfrm>
          <a:prstGeom prst="rect">
            <a:avLst/>
          </a:prstGeom>
          <a:solidFill>
            <a:srgbClr val="E1DBCD"/>
          </a:solidFill>
          <a:ln>
            <a:noFill/>
          </a:ln>
        </p:spPr>
        <p:txBody>
          <a:bodyPr rtlCol="0" anchor="ctr"/>
          <a:lstStyle/>
          <a:p>
            <a:pPr algn="ctr"/>
          </a:p>
        </p:txBody>
      </p:sp>
      <p:sp>
        <p:nvSpPr>
          <p:cNvPr id="21" name="Rule 20"/>
          <p:cNvSpPr/>
          <p:nvPr/>
        </p:nvSpPr>
        <p:spPr>
          <a:xfrm>
            <a:off x="6140450" y="1657945"/>
            <a:ext cx="6350" cy="3133725"/>
          </a:xfrm>
          <a:prstGeom prst="rect">
            <a:avLst/>
          </a:prstGeom>
          <a:solidFill>
            <a:srgbClr val="E1DBCD"/>
          </a:solidFill>
          <a:ln>
            <a:noFill/>
          </a:ln>
        </p:spPr>
        <p:txBody>
          <a:bodyPr rtlCol="0" anchor="ctr"/>
          <a:lstStyle/>
          <a:p>
            <a:pPr algn="ctr"/>
          </a:p>
        </p:txBody>
      </p:sp>
      <p:sp>
        <p:nvSpPr>
          <p:cNvPr id="22" name="Text 21"/>
          <p:cNvSpPr txBox="1"/>
          <p:nvPr/>
        </p:nvSpPr>
        <p:spPr>
          <a:xfrm>
            <a:off x="6165850" y="1835745"/>
            <a:ext cx="2390775"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24506B"/>
                </a:solidFill>
                <a:latin typeface="Readex Pro"/>
                <a:ea typeface="Readex Pro"/>
                <a:cs typeface="Readex Pro"/>
              </a:rPr>
              <a:t>التطبيق</a:t>
            </a:r>
          </a:p>
        </p:txBody>
      </p:sp>
      <p:sp>
        <p:nvSpPr>
          <p:cNvPr id="23" name="Box 22"/>
          <p:cNvSpPr/>
          <p:nvPr/>
        </p:nvSpPr>
        <p:spPr>
          <a:xfrm>
            <a:off x="8375650" y="2343745"/>
            <a:ext cx="171450" cy="171450"/>
          </a:xfrm>
          <a:prstGeom prst="roundRect">
            <a:avLst>
              <a:gd name="adj" fmla="val 20000"/>
            </a:avLst>
          </a:prstGeom>
          <a:noFill/>
          <a:ln w="19050">
            <a:solidFill>
              <a:srgbClr val="24506B"/>
            </a:solidFill>
          </a:ln>
        </p:spPr>
        <p:txBody>
          <a:bodyPr rtlCol="0" anchor="ctr"/>
          <a:lstStyle/>
          <a:p>
            <a:pPr algn="ctr"/>
          </a:p>
        </p:txBody>
      </p:sp>
      <p:sp>
        <p:nvSpPr>
          <p:cNvPr id="24" name="Text 23"/>
          <p:cNvSpPr txBox="1"/>
          <p:nvPr/>
        </p:nvSpPr>
        <p:spPr>
          <a:xfrm>
            <a:off x="6235700" y="22948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أنهيت التطبيقات الأربعة وصححتها</a:t>
            </a:r>
          </a:p>
        </p:txBody>
      </p:sp>
      <p:sp>
        <p:nvSpPr>
          <p:cNvPr id="25" name="Box 24"/>
          <p:cNvSpPr/>
          <p:nvPr/>
        </p:nvSpPr>
        <p:spPr>
          <a:xfrm>
            <a:off x="8375650" y="3143845"/>
            <a:ext cx="171450" cy="171450"/>
          </a:xfrm>
          <a:prstGeom prst="roundRect">
            <a:avLst>
              <a:gd name="adj" fmla="val 20000"/>
            </a:avLst>
          </a:prstGeom>
          <a:noFill/>
          <a:ln w="19050">
            <a:solidFill>
              <a:srgbClr val="24506B"/>
            </a:solidFill>
          </a:ln>
        </p:spPr>
        <p:txBody>
          <a:bodyPr rtlCol="0" anchor="ctr"/>
          <a:lstStyle/>
          <a:p>
            <a:pPr algn="ctr"/>
          </a:p>
        </p:txBody>
      </p:sp>
      <p:sp>
        <p:nvSpPr>
          <p:cNvPr id="26" name="Text 25"/>
          <p:cNvSpPr txBox="1"/>
          <p:nvPr/>
        </p:nvSpPr>
        <p:spPr>
          <a:xfrm>
            <a:off x="6235700" y="30949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منشوران بصفحتين</a:t>
            </a:r>
          </a:p>
        </p:txBody>
      </p:sp>
      <p:sp>
        <p:nvSpPr>
          <p:cNvPr id="27" name="Box 26"/>
          <p:cNvSpPr/>
          <p:nvPr/>
        </p:nvSpPr>
        <p:spPr>
          <a:xfrm>
            <a:off x="8375650" y="3943945"/>
            <a:ext cx="171450" cy="171450"/>
          </a:xfrm>
          <a:prstGeom prst="roundRect">
            <a:avLst>
              <a:gd name="adj" fmla="val 20000"/>
            </a:avLst>
          </a:prstGeom>
          <a:noFill/>
          <a:ln w="19050">
            <a:solidFill>
              <a:srgbClr val="24506B"/>
            </a:solidFill>
          </a:ln>
        </p:spPr>
        <p:txBody>
          <a:bodyPr rtlCol="0" anchor="ctr"/>
          <a:lstStyle/>
          <a:p>
            <a:pPr algn="ctr"/>
          </a:p>
        </p:txBody>
      </p:sp>
      <p:sp>
        <p:nvSpPr>
          <p:cNvPr id="28" name="Text 27"/>
          <p:cNvSpPr txBox="1"/>
          <p:nvPr/>
        </p:nvSpPr>
        <p:spPr>
          <a:xfrm>
            <a:off x="6235700" y="38950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بيانات لجهة حقيقية</a:t>
            </a:r>
          </a:p>
        </p:txBody>
      </p:sp>
      <p:sp>
        <p:nvSpPr>
          <p:cNvPr id="29" name="Box 28"/>
          <p:cNvSpPr/>
          <p:nvPr/>
        </p:nvSpPr>
        <p:spPr>
          <a:xfrm>
            <a:off x="3476625" y="1657945"/>
            <a:ext cx="2574925" cy="3133725"/>
          </a:xfrm>
          <a:prstGeom prst="roundRect">
            <a:avLst>
              <a:gd name="adj" fmla="val 4438"/>
            </a:avLst>
          </a:prstGeom>
          <a:solidFill>
            <a:srgbClr val="FFFDF8"/>
          </a:solidFill>
          <a:ln>
            <a:noFill/>
          </a:ln>
        </p:spPr>
        <p:txBody>
          <a:bodyPr rtlCol="0" anchor="ctr"/>
          <a:lstStyle/>
          <a:p>
            <a:pPr algn="ctr"/>
          </a:p>
        </p:txBody>
      </p:sp>
      <p:sp>
        <p:nvSpPr>
          <p:cNvPr id="30" name="Rule 29"/>
          <p:cNvSpPr/>
          <p:nvPr/>
        </p:nvSpPr>
        <p:spPr>
          <a:xfrm>
            <a:off x="3476625" y="1657945"/>
            <a:ext cx="2574925" cy="50800"/>
          </a:xfrm>
          <a:prstGeom prst="rect">
            <a:avLst/>
          </a:prstGeom>
          <a:solidFill>
            <a:srgbClr val="5A3F87"/>
          </a:solidFill>
          <a:ln>
            <a:noFill/>
          </a:ln>
        </p:spPr>
        <p:txBody>
          <a:bodyPr rtlCol="0" anchor="ctr"/>
          <a:lstStyle/>
          <a:p>
            <a:pPr algn="ctr"/>
          </a:p>
        </p:txBody>
      </p:sp>
      <p:sp>
        <p:nvSpPr>
          <p:cNvPr id="31" name="Rule 30"/>
          <p:cNvSpPr/>
          <p:nvPr/>
        </p:nvSpPr>
        <p:spPr>
          <a:xfrm>
            <a:off x="6045200" y="1657945"/>
            <a:ext cx="6350" cy="3133725"/>
          </a:xfrm>
          <a:prstGeom prst="rect">
            <a:avLst/>
          </a:prstGeom>
          <a:solidFill>
            <a:srgbClr val="E1DBCD"/>
          </a:solidFill>
          <a:ln>
            <a:noFill/>
          </a:ln>
        </p:spPr>
        <p:txBody>
          <a:bodyPr rtlCol="0" anchor="ctr"/>
          <a:lstStyle/>
          <a:p>
            <a:pPr algn="ctr"/>
          </a:p>
        </p:txBody>
      </p:sp>
      <p:sp>
        <p:nvSpPr>
          <p:cNvPr id="32" name="Rule 31"/>
          <p:cNvSpPr/>
          <p:nvPr/>
        </p:nvSpPr>
        <p:spPr>
          <a:xfrm>
            <a:off x="3476625" y="4785320"/>
            <a:ext cx="2574925" cy="6350"/>
          </a:xfrm>
          <a:prstGeom prst="rect">
            <a:avLst/>
          </a:prstGeom>
          <a:solidFill>
            <a:srgbClr val="E1DBCD"/>
          </a:solidFill>
          <a:ln>
            <a:noFill/>
          </a:ln>
        </p:spPr>
        <p:txBody>
          <a:bodyPr rtlCol="0" anchor="ctr"/>
          <a:lstStyle/>
          <a:p>
            <a:pPr algn="ctr"/>
          </a:p>
        </p:txBody>
      </p:sp>
      <p:sp>
        <p:nvSpPr>
          <p:cNvPr id="33" name="Rule 32"/>
          <p:cNvSpPr/>
          <p:nvPr/>
        </p:nvSpPr>
        <p:spPr>
          <a:xfrm>
            <a:off x="3476625" y="1657945"/>
            <a:ext cx="6350" cy="3133725"/>
          </a:xfrm>
          <a:prstGeom prst="rect">
            <a:avLst/>
          </a:prstGeom>
          <a:solidFill>
            <a:srgbClr val="E1DBCD"/>
          </a:solidFill>
          <a:ln>
            <a:noFill/>
          </a:ln>
        </p:spPr>
        <p:txBody>
          <a:bodyPr rtlCol="0" anchor="ctr"/>
          <a:lstStyle/>
          <a:p>
            <a:pPr algn="ctr"/>
          </a:p>
        </p:txBody>
      </p:sp>
      <p:sp>
        <p:nvSpPr>
          <p:cNvPr id="34" name="Text 33"/>
          <p:cNvSpPr txBox="1"/>
          <p:nvPr/>
        </p:nvSpPr>
        <p:spPr>
          <a:xfrm>
            <a:off x="3502025" y="1835745"/>
            <a:ext cx="2390775"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5A3F87"/>
                </a:solidFill>
                <a:latin typeface="Readex Pro"/>
                <a:ea typeface="Readex Pro"/>
                <a:cs typeface="Readex Pro"/>
              </a:rPr>
              <a:t>الشهادة</a:t>
            </a:r>
          </a:p>
        </p:txBody>
      </p:sp>
      <p:sp>
        <p:nvSpPr>
          <p:cNvPr id="35" name="Box 34"/>
          <p:cNvSpPr/>
          <p:nvPr/>
        </p:nvSpPr>
        <p:spPr>
          <a:xfrm>
            <a:off x="5711825" y="2343745"/>
            <a:ext cx="171450" cy="171450"/>
          </a:xfrm>
          <a:prstGeom prst="roundRect">
            <a:avLst>
              <a:gd name="adj" fmla="val 20000"/>
            </a:avLst>
          </a:prstGeom>
          <a:noFill/>
          <a:ln w="19050">
            <a:solidFill>
              <a:srgbClr val="5A3F87"/>
            </a:solidFill>
          </a:ln>
        </p:spPr>
        <p:txBody>
          <a:bodyPr rtlCol="0" anchor="ctr"/>
          <a:lstStyle/>
          <a:p>
            <a:pPr algn="ctr"/>
          </a:p>
        </p:txBody>
      </p:sp>
      <p:sp>
        <p:nvSpPr>
          <p:cNvPr id="36" name="Text 35"/>
          <p:cNvSpPr txBox="1"/>
          <p:nvPr/>
        </p:nvSpPr>
        <p:spPr>
          <a:xfrm>
            <a:off x="3571875" y="22948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اخترت شهادة مدخل واحدة</a:t>
            </a:r>
          </a:p>
        </p:txBody>
      </p:sp>
      <p:sp>
        <p:nvSpPr>
          <p:cNvPr id="37" name="Box 36"/>
          <p:cNvSpPr/>
          <p:nvPr/>
        </p:nvSpPr>
        <p:spPr>
          <a:xfrm>
            <a:off x="5711825" y="3143845"/>
            <a:ext cx="171450" cy="171450"/>
          </a:xfrm>
          <a:prstGeom prst="roundRect">
            <a:avLst>
              <a:gd name="adj" fmla="val 20000"/>
            </a:avLst>
          </a:prstGeom>
          <a:noFill/>
          <a:ln w="19050">
            <a:solidFill>
              <a:srgbClr val="5A3F87"/>
            </a:solidFill>
          </a:ln>
        </p:spPr>
        <p:txBody>
          <a:bodyPr rtlCol="0" anchor="ctr"/>
          <a:lstStyle/>
          <a:p>
            <a:pPr algn="ctr"/>
          </a:p>
        </p:txBody>
      </p:sp>
      <p:sp>
        <p:nvSpPr>
          <p:cNvPr id="38" name="Text 37"/>
          <p:cNvSpPr txBox="1"/>
          <p:nvPr/>
        </p:nvSpPr>
        <p:spPr>
          <a:xfrm>
            <a:off x="3571875" y="30949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قرأت مخطط اختبارها الحالي</a:t>
            </a:r>
          </a:p>
        </p:txBody>
      </p:sp>
      <p:sp>
        <p:nvSpPr>
          <p:cNvPr id="39" name="Box 38"/>
          <p:cNvSpPr/>
          <p:nvPr/>
        </p:nvSpPr>
        <p:spPr>
          <a:xfrm>
            <a:off x="5711825" y="3943945"/>
            <a:ext cx="171450" cy="171450"/>
          </a:xfrm>
          <a:prstGeom prst="roundRect">
            <a:avLst>
              <a:gd name="adj" fmla="val 20000"/>
            </a:avLst>
          </a:prstGeom>
          <a:noFill/>
          <a:ln w="19050">
            <a:solidFill>
              <a:srgbClr val="5A3F87"/>
            </a:solidFill>
          </a:ln>
        </p:spPr>
        <p:txBody>
          <a:bodyPr rtlCol="0" anchor="ctr"/>
          <a:lstStyle/>
          <a:p>
            <a:pPr algn="ctr"/>
          </a:p>
        </p:txBody>
      </p:sp>
      <p:sp>
        <p:nvSpPr>
          <p:cNvPr id="40" name="Text 39"/>
          <p:cNvSpPr txBox="1"/>
          <p:nvPr/>
        </p:nvSpPr>
        <p:spPr>
          <a:xfrm>
            <a:off x="3571875" y="38950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تحققت من الرسوم واللغة</a:t>
            </a:r>
          </a:p>
        </p:txBody>
      </p:sp>
      <p:sp>
        <p:nvSpPr>
          <p:cNvPr id="41" name="Box 40"/>
          <p:cNvSpPr/>
          <p:nvPr/>
        </p:nvSpPr>
        <p:spPr>
          <a:xfrm>
            <a:off x="812800" y="1657945"/>
            <a:ext cx="2574925" cy="3133725"/>
          </a:xfrm>
          <a:prstGeom prst="roundRect">
            <a:avLst>
              <a:gd name="adj" fmla="val 4438"/>
            </a:avLst>
          </a:prstGeom>
          <a:solidFill>
            <a:srgbClr val="FFFDF8"/>
          </a:solidFill>
          <a:ln>
            <a:noFill/>
          </a:ln>
        </p:spPr>
        <p:txBody>
          <a:bodyPr rtlCol="0" anchor="ctr"/>
          <a:lstStyle/>
          <a:p>
            <a:pPr algn="ctr"/>
          </a:p>
        </p:txBody>
      </p:sp>
      <p:sp>
        <p:nvSpPr>
          <p:cNvPr id="42" name="Rule 41"/>
          <p:cNvSpPr/>
          <p:nvPr/>
        </p:nvSpPr>
        <p:spPr>
          <a:xfrm>
            <a:off x="812800" y="1657945"/>
            <a:ext cx="2574925" cy="50800"/>
          </a:xfrm>
          <a:prstGeom prst="rect">
            <a:avLst/>
          </a:prstGeom>
          <a:solidFill>
            <a:srgbClr val="8A4B12"/>
          </a:solidFill>
          <a:ln>
            <a:noFill/>
          </a:ln>
        </p:spPr>
        <p:txBody>
          <a:bodyPr rtlCol="0" anchor="ctr"/>
          <a:lstStyle/>
          <a:p>
            <a:pPr algn="ctr"/>
          </a:p>
        </p:txBody>
      </p:sp>
      <p:sp>
        <p:nvSpPr>
          <p:cNvPr id="43" name="Rule 42"/>
          <p:cNvSpPr/>
          <p:nvPr/>
        </p:nvSpPr>
        <p:spPr>
          <a:xfrm>
            <a:off x="3381375" y="1657945"/>
            <a:ext cx="6350" cy="3133725"/>
          </a:xfrm>
          <a:prstGeom prst="rect">
            <a:avLst/>
          </a:prstGeom>
          <a:solidFill>
            <a:srgbClr val="E1DBCD"/>
          </a:solidFill>
          <a:ln>
            <a:noFill/>
          </a:ln>
        </p:spPr>
        <p:txBody>
          <a:bodyPr rtlCol="0" anchor="ctr"/>
          <a:lstStyle/>
          <a:p>
            <a:pPr algn="ctr"/>
          </a:p>
        </p:txBody>
      </p:sp>
      <p:sp>
        <p:nvSpPr>
          <p:cNvPr id="44" name="Rule 43"/>
          <p:cNvSpPr/>
          <p:nvPr/>
        </p:nvSpPr>
        <p:spPr>
          <a:xfrm>
            <a:off x="812800" y="4785320"/>
            <a:ext cx="2574925" cy="6350"/>
          </a:xfrm>
          <a:prstGeom prst="rect">
            <a:avLst/>
          </a:prstGeom>
          <a:solidFill>
            <a:srgbClr val="E1DBCD"/>
          </a:solidFill>
          <a:ln>
            <a:noFill/>
          </a:ln>
        </p:spPr>
        <p:txBody>
          <a:bodyPr rtlCol="0" anchor="ctr"/>
          <a:lstStyle/>
          <a:p>
            <a:pPr algn="ctr"/>
          </a:p>
        </p:txBody>
      </p:sp>
      <p:sp>
        <p:nvSpPr>
          <p:cNvPr id="45" name="Rule 44"/>
          <p:cNvSpPr/>
          <p:nvPr/>
        </p:nvSpPr>
        <p:spPr>
          <a:xfrm>
            <a:off x="812800" y="1657945"/>
            <a:ext cx="6350" cy="3133725"/>
          </a:xfrm>
          <a:prstGeom prst="rect">
            <a:avLst/>
          </a:prstGeom>
          <a:solidFill>
            <a:srgbClr val="E1DBCD"/>
          </a:solidFill>
          <a:ln>
            <a:noFill/>
          </a:ln>
        </p:spPr>
        <p:txBody>
          <a:bodyPr rtlCol="0" anchor="ctr"/>
          <a:lstStyle/>
          <a:p>
            <a:pPr algn="ctr"/>
          </a:p>
        </p:txBody>
      </p:sp>
      <p:sp>
        <p:nvSpPr>
          <p:cNvPr id="46" name="Text 45"/>
          <p:cNvSpPr txBox="1"/>
          <p:nvPr/>
        </p:nvSpPr>
        <p:spPr>
          <a:xfrm>
            <a:off x="838200" y="1835745"/>
            <a:ext cx="2390775" cy="396875"/>
          </a:xfrm>
          <a:prstGeom prst="rect">
            <a:avLst/>
          </a:prstGeom>
          <a:noFill/>
        </p:spPr>
        <p:txBody>
          <a:bodyPr wrap="square" tIns="0" rIns="0" bIns="0" lIns="0" anchor="t" rtlCol="0" anchorCtr="0">
            <a:noAutofit/>
          </a:bodyPr>
          <a:lstStyle/>
          <a:p>
            <a:pPr algn="r" rtl="1">
              <a:lnSpc>
                <a:spcPts val="3125"/>
              </a:lnSpc>
              <a:spcBef>
                <a:spcPts val="0"/>
              </a:spcBef>
              <a:spcAft>
                <a:spcPts val="0"/>
              </a:spcAft>
            </a:pPr>
            <a:r>
              <a:rPr sz="2500" b="1" i="0">
                <a:solidFill>
                  <a:srgbClr val="8A4B12"/>
                </a:solidFill>
                <a:latin typeface="Readex Pro"/>
                <a:ea typeface="Readex Pro"/>
                <a:cs typeface="Readex Pro"/>
              </a:rPr>
              <a:t>السوق</a:t>
            </a:r>
          </a:p>
        </p:txBody>
      </p:sp>
      <p:sp>
        <p:nvSpPr>
          <p:cNvPr id="47" name="Box 46"/>
          <p:cNvSpPr/>
          <p:nvPr/>
        </p:nvSpPr>
        <p:spPr>
          <a:xfrm>
            <a:off x="3048000" y="2343745"/>
            <a:ext cx="171450" cy="171450"/>
          </a:xfrm>
          <a:prstGeom prst="roundRect">
            <a:avLst>
              <a:gd name="adj" fmla="val 20000"/>
            </a:avLst>
          </a:prstGeom>
          <a:noFill/>
          <a:ln w="19050">
            <a:solidFill>
              <a:srgbClr val="8A4B12"/>
            </a:solidFill>
          </a:ln>
        </p:spPr>
        <p:txBody>
          <a:bodyPr rtlCol="0" anchor="ctr"/>
          <a:lstStyle/>
          <a:p>
            <a:pPr algn="ctr"/>
          </a:p>
        </p:txBody>
      </p:sp>
      <p:sp>
        <p:nvSpPr>
          <p:cNvPr id="48" name="Text 47"/>
          <p:cNvSpPr txBox="1"/>
          <p:nvPr/>
        </p:nvSpPr>
        <p:spPr>
          <a:xfrm>
            <a:off x="908050" y="22948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سيرة صفحة واحدة بإنجازات</a:t>
            </a:r>
          </a:p>
        </p:txBody>
      </p:sp>
      <p:sp>
        <p:nvSpPr>
          <p:cNvPr id="49" name="Box 48"/>
          <p:cNvSpPr/>
          <p:nvPr/>
        </p:nvSpPr>
        <p:spPr>
          <a:xfrm>
            <a:off x="3048000" y="3143845"/>
            <a:ext cx="171450" cy="171450"/>
          </a:xfrm>
          <a:prstGeom prst="roundRect">
            <a:avLst>
              <a:gd name="adj" fmla="val 20000"/>
            </a:avLst>
          </a:prstGeom>
          <a:noFill/>
          <a:ln w="19050">
            <a:solidFill>
              <a:srgbClr val="8A4B12"/>
            </a:solidFill>
          </a:ln>
        </p:spPr>
        <p:txBody>
          <a:bodyPr rtlCol="0" anchor="ctr"/>
          <a:lstStyle/>
          <a:p>
            <a:pPr algn="ctr"/>
          </a:p>
        </p:txBody>
      </p:sp>
      <p:sp>
        <p:nvSpPr>
          <p:cNvPr id="50" name="Text 49"/>
          <p:cNvSpPr txBox="1"/>
          <p:nvPr/>
        </p:nvSpPr>
        <p:spPr>
          <a:xfrm>
            <a:off x="838200" y="3094950"/>
            <a:ext cx="21240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ملف لينكدإن مكتمل</a:t>
            </a:r>
          </a:p>
        </p:txBody>
      </p:sp>
      <p:sp>
        <p:nvSpPr>
          <p:cNvPr id="51" name="Box 50"/>
          <p:cNvSpPr/>
          <p:nvPr/>
        </p:nvSpPr>
        <p:spPr>
          <a:xfrm>
            <a:off x="3048000" y="3588345"/>
            <a:ext cx="171450" cy="171450"/>
          </a:xfrm>
          <a:prstGeom prst="roundRect">
            <a:avLst>
              <a:gd name="adj" fmla="val 20000"/>
            </a:avLst>
          </a:prstGeom>
          <a:noFill/>
          <a:ln w="19050">
            <a:solidFill>
              <a:srgbClr val="8A4B12"/>
            </a:solidFill>
          </a:ln>
        </p:spPr>
        <p:txBody>
          <a:bodyPr rtlCol="0" anchor="ctr"/>
          <a:lstStyle/>
          <a:p>
            <a:pPr algn="ctr"/>
          </a:p>
        </p:txBody>
      </p:sp>
      <p:sp>
        <p:nvSpPr>
          <p:cNvPr id="52" name="Text 51"/>
          <p:cNvSpPr txBox="1"/>
          <p:nvPr/>
        </p:nvSpPr>
        <p:spPr>
          <a:xfrm>
            <a:off x="908050" y="3539450"/>
            <a:ext cx="20542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قصص STAR جاهزة</a:t>
            </a:r>
          </a:p>
        </p:txBody>
      </p:sp>
      <p:sp>
        <p:nvSpPr>
          <p:cNvPr id="53" name="Text 5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54" name="Text 5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836668" y="1952284"/>
            <a:ext cx="654253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نهاية الكورس، وبداية المسار</a:t>
            </a:r>
          </a:p>
        </p:txBody>
      </p:sp>
      <p:sp>
        <p:nvSpPr>
          <p:cNvPr id="4" name="Text 3"/>
          <p:cNvSpPr txBox="1"/>
          <p:nvPr/>
        </p:nvSpPr>
        <p:spPr>
          <a:xfrm>
            <a:off x="5139563" y="2465090"/>
            <a:ext cx="6239637" cy="1460500"/>
          </a:xfrm>
          <a:prstGeom prst="rect">
            <a:avLst/>
          </a:prstGeom>
          <a:noFill/>
        </p:spPr>
        <p:txBody>
          <a:bodyPr wrap="square" tIns="0" rIns="0" bIns="0" lIns="0" anchor="t" rtlCol="0" anchorCtr="0">
            <a:noAutofit/>
          </a:bodyPr>
          <a:lstStyle/>
          <a:p>
            <a:pPr algn="r" rtl="1">
              <a:lnSpc>
                <a:spcPts val="5750"/>
              </a:lnSpc>
              <a:spcBef>
                <a:spcPts val="0"/>
              </a:spcBef>
              <a:spcAft>
                <a:spcPts val="0"/>
              </a:spcAft>
            </a:pPr>
            <a:r>
              <a:rPr sz="5000" b="1" i="0">
                <a:solidFill>
                  <a:srgbClr val="F3EFE6"/>
                </a:solidFill>
                <a:latin typeface="Readex Pro"/>
                <a:ea typeface="Readex Pro"/>
                <a:cs typeface="Readex Pro"/>
              </a:rPr>
              <a:t>ابدأ هذا الأسبوع بثلاث خطوات</a:t>
            </a:r>
          </a:p>
        </p:txBody>
      </p:sp>
      <p:sp>
        <p:nvSpPr>
          <p:cNvPr id="5" name="Text 4"/>
          <p:cNvSpPr txBox="1"/>
          <p:nvPr/>
        </p:nvSpPr>
        <p:spPr>
          <a:xfrm>
            <a:off x="4836668" y="4062877"/>
            <a:ext cx="6542532"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D9E2E6"/>
                </a:solidFill>
                <a:latin typeface="IBM Plex Sans Arabic"/>
                <a:ea typeface="IBM Plex Sans Arabic"/>
                <a:cs typeface="IBM Plex Sans Arabic"/>
              </a:rPr>
              <a:t>لا تنتظر أن تكتمل الصورة. خطوة كل أسبوع، ودليل تراه أنت وغيرك.</a:t>
            </a:r>
          </a:p>
        </p:txBody>
      </p:sp>
      <p:sp>
        <p:nvSpPr>
          <p:cNvPr id="6" name="Text 5"/>
          <p:cNvSpPr txBox="1"/>
          <p:nvPr/>
        </p:nvSpPr>
        <p:spPr>
          <a:xfrm>
            <a:off x="4836668" y="4617549"/>
            <a:ext cx="654253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0" i="0">
                <a:solidFill>
                  <a:srgbClr val="93A3B1"/>
                </a:solidFill>
                <a:latin typeface="IBM Plex Sans Arabic"/>
                <a:ea typeface="IBM Plex Sans Arabic"/>
                <a:cs typeface="IBM Plex Sans Arabic"/>
              </a:rPr>
              <a:t>الأسعار والشروط والإصدارات كما في 27 أكتوبر 2026. تحقق منها قبل التسجيل.</a:t>
            </a:r>
          </a:p>
        </p:txBody>
      </p:sp>
      <p:sp>
        <p:nvSpPr>
          <p:cNvPr id="7" name="Box 6"/>
          <p:cNvSpPr/>
          <p:nvPr/>
        </p:nvSpPr>
        <p:spPr>
          <a:xfrm>
            <a:off x="812800" y="1884859"/>
            <a:ext cx="3937000" cy="944761"/>
          </a:xfrm>
          <a:prstGeom prst="roundRect">
            <a:avLst>
              <a:gd name="adj" fmla="val 13442"/>
            </a:avLst>
          </a:prstGeom>
          <a:solidFill>
            <a:srgbClr val="22344A"/>
          </a:solidFill>
          <a:ln>
            <a:noFill/>
          </a:ln>
        </p:spPr>
        <p:txBody>
          <a:bodyPr rtlCol="0" anchor="ctr"/>
          <a:lstStyle/>
          <a:p>
            <a:pPr algn="ctr"/>
          </a:p>
        </p:txBody>
      </p:sp>
      <p:sp>
        <p:nvSpPr>
          <p:cNvPr id="8" name="Rule 7"/>
          <p:cNvSpPr/>
          <p:nvPr/>
        </p:nvSpPr>
        <p:spPr>
          <a:xfrm>
            <a:off x="4699000" y="1884859"/>
            <a:ext cx="50800" cy="944761"/>
          </a:xfrm>
          <a:prstGeom prst="rect">
            <a:avLst/>
          </a:prstGeom>
          <a:solidFill>
            <a:srgbClr val="0E7C6B"/>
          </a:solidFill>
          <a:ln>
            <a:noFill/>
          </a:ln>
        </p:spPr>
        <p:txBody>
          <a:bodyPr rtlCol="0" anchor="ctr"/>
          <a:lstStyle/>
          <a:p>
            <a:pPr algn="ctr"/>
          </a:p>
        </p:txBody>
      </p:sp>
      <p:sp>
        <p:nvSpPr>
          <p:cNvPr id="9" name="Text 8"/>
          <p:cNvSpPr txBox="1"/>
          <p:nvPr/>
        </p:nvSpPr>
        <p:spPr>
          <a:xfrm>
            <a:off x="3929380" y="2188583"/>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1</a:t>
            </a:r>
          </a:p>
        </p:txBody>
      </p:sp>
      <p:sp>
        <p:nvSpPr>
          <p:cNvPr id="10" name="Text 9"/>
          <p:cNvSpPr txBox="1"/>
          <p:nvPr/>
        </p:nvSpPr>
        <p:spPr>
          <a:xfrm>
            <a:off x="838200" y="2034274"/>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اختر شهادة المدخل</a:t>
            </a:r>
          </a:p>
        </p:txBody>
      </p:sp>
      <p:sp>
        <p:nvSpPr>
          <p:cNvPr id="11" name="Text 10"/>
          <p:cNvSpPr txBox="1"/>
          <p:nvPr/>
        </p:nvSpPr>
        <p:spPr>
          <a:xfrm>
            <a:off x="838200" y="2358477"/>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واقرأ مخطط اختبارها الرسمي</a:t>
            </a:r>
          </a:p>
        </p:txBody>
      </p:sp>
      <p:sp>
        <p:nvSpPr>
          <p:cNvPr id="12" name="Box 11"/>
          <p:cNvSpPr/>
          <p:nvPr/>
        </p:nvSpPr>
        <p:spPr>
          <a:xfrm>
            <a:off x="812800" y="2956620"/>
            <a:ext cx="3937000" cy="944761"/>
          </a:xfrm>
          <a:prstGeom prst="roundRect">
            <a:avLst>
              <a:gd name="adj" fmla="val 13442"/>
            </a:avLst>
          </a:prstGeom>
          <a:solidFill>
            <a:srgbClr val="22344A"/>
          </a:solidFill>
          <a:ln>
            <a:noFill/>
          </a:ln>
        </p:spPr>
        <p:txBody>
          <a:bodyPr rtlCol="0" anchor="ctr"/>
          <a:lstStyle/>
          <a:p>
            <a:pPr algn="ctr"/>
          </a:p>
        </p:txBody>
      </p:sp>
      <p:sp>
        <p:nvSpPr>
          <p:cNvPr id="13" name="Rule 12"/>
          <p:cNvSpPr/>
          <p:nvPr/>
        </p:nvSpPr>
        <p:spPr>
          <a:xfrm>
            <a:off x="4699000" y="2956620"/>
            <a:ext cx="50800" cy="944761"/>
          </a:xfrm>
          <a:prstGeom prst="rect">
            <a:avLst/>
          </a:prstGeom>
          <a:solidFill>
            <a:srgbClr val="E0A33A"/>
          </a:solidFill>
          <a:ln>
            <a:noFill/>
          </a:ln>
        </p:spPr>
        <p:txBody>
          <a:bodyPr rtlCol="0" anchor="ctr"/>
          <a:lstStyle/>
          <a:p>
            <a:pPr algn="ctr"/>
          </a:p>
        </p:txBody>
      </p:sp>
      <p:sp>
        <p:nvSpPr>
          <p:cNvPr id="14" name="Text 13"/>
          <p:cNvSpPr txBox="1"/>
          <p:nvPr/>
        </p:nvSpPr>
        <p:spPr>
          <a:xfrm>
            <a:off x="3929380" y="326034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2</a:t>
            </a:r>
          </a:p>
        </p:txBody>
      </p:sp>
      <p:sp>
        <p:nvSpPr>
          <p:cNvPr id="15" name="Text 14"/>
          <p:cNvSpPr txBox="1"/>
          <p:nvPr/>
        </p:nvSpPr>
        <p:spPr>
          <a:xfrm>
            <a:off x="838200" y="3106035"/>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وسّع التطبيق 2</a:t>
            </a:r>
          </a:p>
        </p:txBody>
      </p:sp>
      <p:sp>
        <p:nvSpPr>
          <p:cNvPr id="16" name="Text 15"/>
          <p:cNvSpPr txBox="1"/>
          <p:nvPr/>
        </p:nvSpPr>
        <p:spPr>
          <a:xfrm>
            <a:off x="838200" y="3430238"/>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إلى سجل من 10 مخاطر</a:t>
            </a:r>
          </a:p>
        </p:txBody>
      </p:sp>
      <p:sp>
        <p:nvSpPr>
          <p:cNvPr id="17" name="Box 16"/>
          <p:cNvSpPr/>
          <p:nvPr/>
        </p:nvSpPr>
        <p:spPr>
          <a:xfrm>
            <a:off x="812800" y="4028380"/>
            <a:ext cx="3937000" cy="944761"/>
          </a:xfrm>
          <a:prstGeom prst="roundRect">
            <a:avLst>
              <a:gd name="adj" fmla="val 13442"/>
            </a:avLst>
          </a:prstGeom>
          <a:solidFill>
            <a:srgbClr val="22344A"/>
          </a:solidFill>
          <a:ln>
            <a:noFill/>
          </a:ln>
        </p:spPr>
        <p:txBody>
          <a:bodyPr rtlCol="0" anchor="ctr"/>
          <a:lstStyle/>
          <a:p>
            <a:pPr algn="ctr"/>
          </a:p>
        </p:txBody>
      </p:sp>
      <p:sp>
        <p:nvSpPr>
          <p:cNvPr id="18" name="Rule 17"/>
          <p:cNvSpPr/>
          <p:nvPr/>
        </p:nvSpPr>
        <p:spPr>
          <a:xfrm>
            <a:off x="4699000" y="4028380"/>
            <a:ext cx="50800" cy="944761"/>
          </a:xfrm>
          <a:prstGeom prst="rect">
            <a:avLst/>
          </a:prstGeom>
          <a:solidFill>
            <a:srgbClr val="6E9BD1"/>
          </a:solidFill>
          <a:ln>
            <a:noFill/>
          </a:ln>
        </p:spPr>
        <p:txBody>
          <a:bodyPr rtlCol="0" anchor="ctr"/>
          <a:lstStyle/>
          <a:p>
            <a:pPr algn="ctr"/>
          </a:p>
        </p:txBody>
      </p:sp>
      <p:sp>
        <p:nvSpPr>
          <p:cNvPr id="19" name="Text 18"/>
          <p:cNvSpPr txBox="1"/>
          <p:nvPr/>
        </p:nvSpPr>
        <p:spPr>
          <a:xfrm>
            <a:off x="3929380" y="433210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3</a:t>
            </a:r>
          </a:p>
        </p:txBody>
      </p:sp>
      <p:sp>
        <p:nvSpPr>
          <p:cNvPr id="20" name="Text 19"/>
          <p:cNvSpPr txBox="1"/>
          <p:nvPr/>
        </p:nvSpPr>
        <p:spPr>
          <a:xfrm>
            <a:off x="838200" y="4177796"/>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حدّث عنوانك في لينكدإن</a:t>
            </a:r>
          </a:p>
        </p:txBody>
      </p:sp>
      <p:sp>
        <p:nvSpPr>
          <p:cNvPr id="21" name="Text 20"/>
          <p:cNvSpPr txBox="1"/>
          <p:nvPr/>
        </p:nvSpPr>
        <p:spPr>
          <a:xfrm>
            <a:off x="838200" y="4501999"/>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بالمعادلة من الشريحة 138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0" y="2419136"/>
            <a:ext cx="113792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الملحق المرجعي</a:t>
            </a:r>
          </a:p>
        </p:txBody>
      </p:sp>
      <p:sp>
        <p:nvSpPr>
          <p:cNvPr id="4" name="Text 3"/>
          <p:cNvSpPr txBox="1"/>
          <p:nvPr/>
        </p:nvSpPr>
        <p:spPr>
          <a:xfrm>
            <a:off x="527050" y="336165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جداول وأرقام تتغير، فصلناها عن الدروس لتحدّثها بسهولة: القاموس، ورسوم الشهادات، وصيغ الاختبارات ولغاتها، والمراجع السعودية، والروابط.</a:t>
            </a:r>
          </a:p>
        </p:txBody>
      </p:sp>
      <p:sp>
        <p:nvSpPr>
          <p:cNvPr id="5" name="Text 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الملحق المرجعي</a:t>
            </a:r>
          </a:p>
        </p:txBody>
      </p:sp>
      <p:sp>
        <p:nvSpPr>
          <p:cNvPr id="6" name="Text 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152</a:t>
            </a:r>
          </a:p>
        </p:txBody>
      </p:sp>
    </p:spTree>
  </p:cSld>
  <p:clrMapOvr>
    <a:masterClrMapping/>
  </p:clrMapOvr>
  <p:transition spd="med">
    <p:fade/>
  </p:transition>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(1 من 2)</a:t>
            </a:r>
          </a:p>
        </p:txBody>
      </p:sp>
      <p:sp>
        <p:nvSpPr>
          <p:cNvPr id="6" name="Box 5"/>
          <p:cNvSpPr/>
          <p:nvPr/>
        </p:nvSpPr>
        <p:spPr>
          <a:xfrm>
            <a:off x="7919541" y="1661120"/>
            <a:ext cx="3456484" cy="1252141"/>
          </a:xfrm>
          <a:prstGeom prst="roundRect">
            <a:avLst>
              <a:gd name="adj" fmla="val 9082"/>
            </a:avLst>
          </a:prstGeom>
          <a:solidFill>
            <a:srgbClr val="FFFDF8"/>
          </a:solidFill>
          <a:ln w="6350">
            <a:solidFill>
              <a:srgbClr val="E1DBCD"/>
            </a:solidFill>
          </a:ln>
        </p:spPr>
        <p:txBody>
          <a:bodyPr rtlCol="0" anchor="ctr"/>
          <a:lstStyle/>
          <a:p>
            <a:pPr algn="ctr"/>
          </a:p>
        </p:txBody>
      </p:sp>
      <p:sp>
        <p:nvSpPr>
          <p:cNvPr id="7" name="Text 6"/>
          <p:cNvSpPr txBox="1"/>
          <p:nvPr/>
        </p:nvSpPr>
        <p:spPr>
          <a:xfrm>
            <a:off x="9611439" y="1737892"/>
            <a:ext cx="1634411"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سجل المخاطر</a:t>
            </a:r>
          </a:p>
        </p:txBody>
      </p:sp>
      <p:sp>
        <p:nvSpPr>
          <p:cNvPr id="8" name="Text 7"/>
          <p:cNvSpPr txBox="1"/>
          <p:nvPr/>
        </p:nvSpPr>
        <p:spPr>
          <a:xfrm>
            <a:off x="7941766" y="1763292"/>
            <a:ext cx="1474688"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Risk Register</a:t>
            </a:r>
          </a:p>
        </p:txBody>
      </p:sp>
      <p:sp>
        <p:nvSpPr>
          <p:cNvPr id="9" name="Text 8"/>
          <p:cNvSpPr txBox="1"/>
          <p:nvPr/>
        </p:nvSpPr>
        <p:spPr>
          <a:xfrm>
            <a:off x="7953832" y="2114248"/>
            <a:ext cx="3292018"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قائمة المخاطر بالمالك والدرجة والمعالجة</a:t>
            </a:r>
          </a:p>
        </p:txBody>
      </p:sp>
      <p:sp>
        <p:nvSpPr>
          <p:cNvPr id="10" name="Box 9"/>
          <p:cNvSpPr/>
          <p:nvPr/>
        </p:nvSpPr>
        <p:spPr>
          <a:xfrm>
            <a:off x="4367808" y="1661120"/>
            <a:ext cx="3456484" cy="1252141"/>
          </a:xfrm>
          <a:prstGeom prst="roundRect">
            <a:avLst>
              <a:gd name="adj" fmla="val 9082"/>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067147" y="1737892"/>
            <a:ext cx="1626969"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شهية المخاطر</a:t>
            </a:r>
          </a:p>
        </p:txBody>
      </p:sp>
      <p:sp>
        <p:nvSpPr>
          <p:cNvPr id="12" name="Text 11"/>
          <p:cNvSpPr txBox="1"/>
          <p:nvPr/>
        </p:nvSpPr>
        <p:spPr>
          <a:xfrm>
            <a:off x="4390033" y="1763292"/>
            <a:ext cx="1505942"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Risk Appetite</a:t>
            </a:r>
          </a:p>
        </p:txBody>
      </p:sp>
      <p:sp>
        <p:nvSpPr>
          <p:cNvPr id="13" name="Text 12"/>
          <p:cNvSpPr txBox="1"/>
          <p:nvPr/>
        </p:nvSpPr>
        <p:spPr>
          <a:xfrm>
            <a:off x="4390033" y="2114248"/>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حجم الخطر الذي تقبله الجهة عموماً</a:t>
            </a:r>
          </a:p>
        </p:txBody>
      </p:sp>
      <p:sp>
        <p:nvSpPr>
          <p:cNvPr id="14" name="Box 13"/>
          <p:cNvSpPr/>
          <p:nvPr/>
        </p:nvSpPr>
        <p:spPr>
          <a:xfrm>
            <a:off x="816074" y="1661120"/>
            <a:ext cx="3456484" cy="1252141"/>
          </a:xfrm>
          <a:prstGeom prst="roundRect">
            <a:avLst>
              <a:gd name="adj" fmla="val 9082"/>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551232" y="1737892"/>
            <a:ext cx="1591151"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حدود التحمل</a:t>
            </a:r>
          </a:p>
        </p:txBody>
      </p:sp>
      <p:sp>
        <p:nvSpPr>
          <p:cNvPr id="16" name="Text 15"/>
          <p:cNvSpPr txBox="1"/>
          <p:nvPr/>
        </p:nvSpPr>
        <p:spPr>
          <a:xfrm>
            <a:off x="838299" y="1763292"/>
            <a:ext cx="1586706"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Risk Tolerance</a:t>
            </a:r>
          </a:p>
        </p:txBody>
      </p:sp>
      <p:sp>
        <p:nvSpPr>
          <p:cNvPr id="17" name="Text 16"/>
          <p:cNvSpPr txBox="1"/>
          <p:nvPr/>
        </p:nvSpPr>
        <p:spPr>
          <a:xfrm>
            <a:off x="838299" y="2114248"/>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حدود قابلة للقياس لخطر أو مؤشر</a:t>
            </a:r>
          </a:p>
        </p:txBody>
      </p:sp>
      <p:sp>
        <p:nvSpPr>
          <p:cNvPr id="18" name="Box 17"/>
          <p:cNvSpPr/>
          <p:nvPr/>
        </p:nvSpPr>
        <p:spPr>
          <a:xfrm>
            <a:off x="7919541" y="3008511"/>
            <a:ext cx="3456484" cy="923230"/>
          </a:xfrm>
          <a:prstGeom prst="roundRect">
            <a:avLst>
              <a:gd name="adj" fmla="val 12295"/>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518670" y="3085282"/>
            <a:ext cx="1727180"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الخطر المتأصل</a:t>
            </a:r>
          </a:p>
        </p:txBody>
      </p:sp>
      <p:sp>
        <p:nvSpPr>
          <p:cNvPr id="20" name="Text 19"/>
          <p:cNvSpPr txBox="1"/>
          <p:nvPr/>
        </p:nvSpPr>
        <p:spPr>
          <a:xfrm>
            <a:off x="7941766" y="3110682"/>
            <a:ext cx="1511300"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Inherent Risk</a:t>
            </a:r>
          </a:p>
        </p:txBody>
      </p:sp>
      <p:sp>
        <p:nvSpPr>
          <p:cNvPr id="21" name="Text 20"/>
          <p:cNvSpPr txBox="1"/>
          <p:nvPr/>
        </p:nvSpPr>
        <p:spPr>
          <a:xfrm>
            <a:off x="7941766" y="3461639"/>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قبل تنفيذ خطط المعالجة</a:t>
            </a:r>
          </a:p>
        </p:txBody>
      </p:sp>
      <p:sp>
        <p:nvSpPr>
          <p:cNvPr id="22" name="Box 21"/>
          <p:cNvSpPr/>
          <p:nvPr/>
        </p:nvSpPr>
        <p:spPr>
          <a:xfrm>
            <a:off x="4367808" y="3008511"/>
            <a:ext cx="3456484" cy="923230"/>
          </a:xfrm>
          <a:prstGeom prst="roundRect">
            <a:avLst>
              <a:gd name="adj" fmla="val 12295"/>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060500" y="3085282"/>
            <a:ext cx="1633617"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الخطر المتبقي</a:t>
            </a:r>
          </a:p>
        </p:txBody>
      </p:sp>
      <p:sp>
        <p:nvSpPr>
          <p:cNvPr id="24" name="Text 23"/>
          <p:cNvSpPr txBox="1"/>
          <p:nvPr/>
        </p:nvSpPr>
        <p:spPr>
          <a:xfrm>
            <a:off x="4390033" y="3110682"/>
            <a:ext cx="1480641"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Residual Risk</a:t>
            </a:r>
          </a:p>
        </p:txBody>
      </p:sp>
      <p:sp>
        <p:nvSpPr>
          <p:cNvPr id="25" name="Text 24"/>
          <p:cNvSpPr txBox="1"/>
          <p:nvPr/>
        </p:nvSpPr>
        <p:spPr>
          <a:xfrm>
            <a:off x="4390033" y="3461639"/>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بعد احتساب خطط المعالجة</a:t>
            </a:r>
          </a:p>
        </p:txBody>
      </p:sp>
      <p:sp>
        <p:nvSpPr>
          <p:cNvPr id="26" name="Box 25"/>
          <p:cNvSpPr/>
          <p:nvPr/>
        </p:nvSpPr>
        <p:spPr>
          <a:xfrm>
            <a:off x="816074" y="3008511"/>
            <a:ext cx="3456484" cy="923230"/>
          </a:xfrm>
          <a:prstGeom prst="roundRect">
            <a:avLst>
              <a:gd name="adj" fmla="val 12295"/>
            </a:avLst>
          </a:prstGeom>
          <a:solidFill>
            <a:srgbClr val="FFFDF8"/>
          </a:solidFill>
          <a:ln w="6350">
            <a:solidFill>
              <a:srgbClr val="E1DBCD"/>
            </a:solidFill>
          </a:ln>
        </p:spPr>
        <p:txBody>
          <a:bodyPr rtlCol="0" anchor="ctr"/>
          <a:lstStyle/>
          <a:p>
            <a:pPr algn="ctr"/>
          </a:p>
        </p:txBody>
      </p:sp>
      <p:sp>
        <p:nvSpPr>
          <p:cNvPr id="27" name="Text 26"/>
          <p:cNvSpPr txBox="1"/>
          <p:nvPr/>
        </p:nvSpPr>
        <p:spPr>
          <a:xfrm>
            <a:off x="1658287" y="3085282"/>
            <a:ext cx="2484096"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مؤشر المخاطر الرئيسي</a:t>
            </a:r>
          </a:p>
        </p:txBody>
      </p:sp>
      <p:sp>
        <p:nvSpPr>
          <p:cNvPr id="28" name="Text 27"/>
          <p:cNvSpPr txBox="1"/>
          <p:nvPr/>
        </p:nvSpPr>
        <p:spPr>
          <a:xfrm>
            <a:off x="838299" y="3110682"/>
            <a:ext cx="519311"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KRI</a:t>
            </a:r>
          </a:p>
        </p:txBody>
      </p:sp>
      <p:sp>
        <p:nvSpPr>
          <p:cNvPr id="29" name="Text 28"/>
          <p:cNvSpPr txBox="1"/>
          <p:nvPr/>
        </p:nvSpPr>
        <p:spPr>
          <a:xfrm>
            <a:off x="838299" y="3461639"/>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رقم ينبه مبكراً إلى ارتفاع خطر</a:t>
            </a:r>
          </a:p>
        </p:txBody>
      </p:sp>
      <p:sp>
        <p:nvSpPr>
          <p:cNvPr id="30" name="Box 29"/>
          <p:cNvSpPr/>
          <p:nvPr/>
        </p:nvSpPr>
        <p:spPr>
          <a:xfrm>
            <a:off x="7919541" y="4026991"/>
            <a:ext cx="3456484" cy="1269901"/>
          </a:xfrm>
          <a:prstGeom prst="roundRect">
            <a:avLst>
              <a:gd name="adj" fmla="val 8955"/>
            </a:avLst>
          </a:prstGeom>
          <a:solidFill>
            <a:srgbClr val="FFFDF8"/>
          </a:solidFill>
          <a:ln w="6350">
            <a:solidFill>
              <a:srgbClr val="E1DBCD"/>
            </a:solidFill>
          </a:ln>
        </p:spPr>
        <p:txBody>
          <a:bodyPr rtlCol="0" anchor="ctr"/>
          <a:lstStyle/>
          <a:p>
            <a:pPr algn="ctr"/>
          </a:p>
        </p:txBody>
      </p:sp>
      <p:sp>
        <p:nvSpPr>
          <p:cNvPr id="31" name="Text 30"/>
          <p:cNvSpPr txBox="1"/>
          <p:nvPr/>
        </p:nvSpPr>
        <p:spPr>
          <a:xfrm>
            <a:off x="9705380" y="4103763"/>
            <a:ext cx="1540470" cy="693341"/>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تقييم الفجوات</a:t>
            </a:r>
          </a:p>
        </p:txBody>
      </p:sp>
      <p:sp>
        <p:nvSpPr>
          <p:cNvPr id="32" name="Text 31"/>
          <p:cNvSpPr txBox="1"/>
          <p:nvPr/>
        </p:nvSpPr>
        <p:spPr>
          <a:xfrm>
            <a:off x="7995741" y="4151388"/>
            <a:ext cx="1712813" cy="604441"/>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Gap Assessment</a:t>
            </a:r>
          </a:p>
        </p:txBody>
      </p:sp>
      <p:sp>
        <p:nvSpPr>
          <p:cNvPr id="33" name="Text 32"/>
          <p:cNvSpPr txBox="1"/>
          <p:nvPr/>
        </p:nvSpPr>
        <p:spPr>
          <a:xfrm>
            <a:off x="7941766" y="4826790"/>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مقارنة الوضع القائم بمتطلبات مرجع</a:t>
            </a:r>
          </a:p>
        </p:txBody>
      </p:sp>
      <p:sp>
        <p:nvSpPr>
          <p:cNvPr id="34" name="Box 33"/>
          <p:cNvSpPr/>
          <p:nvPr/>
        </p:nvSpPr>
        <p:spPr>
          <a:xfrm>
            <a:off x="4367808" y="4026991"/>
            <a:ext cx="3456484" cy="1269901"/>
          </a:xfrm>
          <a:prstGeom prst="roundRect">
            <a:avLst>
              <a:gd name="adj" fmla="val 8955"/>
            </a:avLst>
          </a:prstGeom>
          <a:solidFill>
            <a:srgbClr val="FFFDF8"/>
          </a:solidFill>
          <a:ln w="6350">
            <a:solidFill>
              <a:srgbClr val="E1DBCD"/>
            </a:solidFill>
          </a:ln>
        </p:spPr>
        <p:txBody>
          <a:bodyPr rtlCol="0" anchor="ctr"/>
          <a:lstStyle/>
          <a:p>
            <a:pPr algn="ctr"/>
          </a:p>
        </p:txBody>
      </p:sp>
      <p:sp>
        <p:nvSpPr>
          <p:cNvPr id="35" name="Text 34"/>
          <p:cNvSpPr txBox="1"/>
          <p:nvPr/>
        </p:nvSpPr>
        <p:spPr>
          <a:xfrm>
            <a:off x="5578594" y="4103763"/>
            <a:ext cx="2115522"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بيان قابلية التطبيق</a:t>
            </a:r>
          </a:p>
        </p:txBody>
      </p:sp>
      <p:sp>
        <p:nvSpPr>
          <p:cNvPr id="36" name="Text 35"/>
          <p:cNvSpPr txBox="1"/>
          <p:nvPr/>
        </p:nvSpPr>
        <p:spPr>
          <a:xfrm>
            <a:off x="4390033" y="4129163"/>
            <a:ext cx="526653"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SoA</a:t>
            </a:r>
          </a:p>
        </p:txBody>
      </p:sp>
      <p:sp>
        <p:nvSpPr>
          <p:cNvPr id="37" name="Text 36"/>
          <p:cNvSpPr txBox="1"/>
          <p:nvPr/>
        </p:nvSpPr>
        <p:spPr>
          <a:xfrm>
            <a:off x="4402099" y="4480119"/>
            <a:ext cx="3292018" cy="65782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ضوابط ISO 27001 المطبقة والمستبعدة ولماذا</a:t>
            </a:r>
          </a:p>
        </p:txBody>
      </p:sp>
      <p:sp>
        <p:nvSpPr>
          <p:cNvPr id="38" name="Box 37"/>
          <p:cNvSpPr/>
          <p:nvPr/>
        </p:nvSpPr>
        <p:spPr>
          <a:xfrm>
            <a:off x="816074" y="4026991"/>
            <a:ext cx="3456484" cy="1269901"/>
          </a:xfrm>
          <a:prstGeom prst="roundRect">
            <a:avLst>
              <a:gd name="adj" fmla="val 8955"/>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616021" y="4103763"/>
            <a:ext cx="1526361" cy="346670"/>
          </a:xfrm>
          <a:prstGeom prst="rect">
            <a:avLst/>
          </a:prstGeom>
          <a:noFill/>
        </p:spPr>
        <p:txBody>
          <a:bodyPr wrap="square" tIns="0" rIns="0" bIns="0" lIns="0" anchor="t" rtlCol="0" anchorCtr="0">
            <a:noAutofit/>
          </a:bodyPr>
          <a:lstStyle/>
          <a:p>
            <a:pPr algn="r" rtl="1">
              <a:lnSpc>
                <a:spcPts val="2730"/>
              </a:lnSpc>
              <a:spcBef>
                <a:spcPts val="0"/>
              </a:spcBef>
              <a:spcAft>
                <a:spcPts val="0"/>
              </a:spcAft>
            </a:pPr>
            <a:r>
              <a:rPr sz="2100" b="1" i="0">
                <a:solidFill>
                  <a:srgbClr val="172433"/>
                </a:solidFill>
                <a:latin typeface="IBM Plex Sans Arabic"/>
                <a:ea typeface="IBM Plex Sans Arabic"/>
                <a:cs typeface="IBM Plex Sans Arabic"/>
              </a:rPr>
              <a:t>مالك الضابط</a:t>
            </a:r>
          </a:p>
        </p:txBody>
      </p:sp>
      <p:sp>
        <p:nvSpPr>
          <p:cNvPr id="40" name="Text 39"/>
          <p:cNvSpPr txBox="1"/>
          <p:nvPr/>
        </p:nvSpPr>
        <p:spPr>
          <a:xfrm>
            <a:off x="838299" y="4129163"/>
            <a:ext cx="1611908" cy="302220"/>
          </a:xfrm>
          <a:prstGeom prst="rect">
            <a:avLst/>
          </a:prstGeom>
          <a:noFill/>
        </p:spPr>
        <p:txBody>
          <a:bodyPr wrap="square" tIns="0" rIns="0" bIns="0" lIns="0" anchor="t" rtlCol="0" anchorCtr="0">
            <a:noAutofit/>
          </a:bodyPr>
          <a:lstStyle/>
          <a:p>
            <a:pPr algn="r">
              <a:lnSpc>
                <a:spcPts val="2380"/>
              </a:lnSpc>
              <a:spcBef>
                <a:spcPts val="0"/>
              </a:spcBef>
              <a:spcAft>
                <a:spcPts val="0"/>
              </a:spcAft>
            </a:pPr>
            <a:r>
              <a:rPr sz="1700" b="0" i="0">
                <a:solidFill>
                  <a:srgbClr val="0E7C6B"/>
                </a:solidFill>
                <a:latin typeface="Readex Pro"/>
                <a:ea typeface="Readex Pro"/>
                <a:cs typeface="Readex Pro"/>
              </a:rPr>
              <a:t>Control Owner</a:t>
            </a:r>
          </a:p>
        </p:txBody>
      </p:sp>
      <p:sp>
        <p:nvSpPr>
          <p:cNvPr id="41" name="Text 40"/>
          <p:cNvSpPr txBox="1"/>
          <p:nvPr/>
        </p:nvSpPr>
        <p:spPr>
          <a:xfrm>
            <a:off x="838299" y="4480119"/>
            <a:ext cx="3304084" cy="328910"/>
          </a:xfrm>
          <a:prstGeom prst="rect">
            <a:avLst/>
          </a:prstGeom>
          <a:noFill/>
        </p:spPr>
        <p:txBody>
          <a:bodyPr wrap="square" tIns="0" rIns="0" bIns="0" lIns="0" anchor="t" rtlCol="0" anchorCtr="0">
            <a:noAutofit/>
          </a:bodyPr>
          <a:lstStyle/>
          <a:p>
            <a:pPr algn="r" rtl="1">
              <a:lnSpc>
                <a:spcPts val="2590"/>
              </a:lnSpc>
              <a:spcBef>
                <a:spcPts val="0"/>
              </a:spcBef>
              <a:spcAft>
                <a:spcPts val="0"/>
              </a:spcAft>
            </a:pPr>
            <a:r>
              <a:rPr sz="1850" b="0" i="0">
                <a:solidFill>
                  <a:srgbClr val="4E5A66"/>
                </a:solidFill>
                <a:latin typeface="IBM Plex Sans Arabic"/>
                <a:ea typeface="IBM Plex Sans Arabic"/>
                <a:cs typeface="IBM Plex Sans Arabic"/>
              </a:rPr>
              <a:t>من يطبق الضابط ويحتفظ بأدلته</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153</a:t>
            </a:r>
          </a:p>
        </p:txBody>
      </p:sp>
    </p:spTree>
  </p:cSld>
  <p:clrMapOvr>
    <a:masterClrMapping/>
  </p:clrMapOvr>
  <p:transition spd="med">
    <p:fade/>
  </p:transition>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(2 من 2)</a:t>
            </a:r>
          </a:p>
        </p:txBody>
      </p:sp>
      <p:sp>
        <p:nvSpPr>
          <p:cNvPr id="6" name="Box 5"/>
          <p:cNvSpPr/>
          <p:nvPr/>
        </p:nvSpPr>
        <p:spPr>
          <a:xfrm>
            <a:off x="7919541" y="16611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7" name="Text 6"/>
          <p:cNvSpPr txBox="1"/>
          <p:nvPr/>
        </p:nvSpPr>
        <p:spPr>
          <a:xfrm>
            <a:off x="9938742" y="1739225"/>
            <a:ext cx="1307108"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ضابط تعويضي</a:t>
            </a:r>
          </a:p>
        </p:txBody>
      </p:sp>
      <p:sp>
        <p:nvSpPr>
          <p:cNvPr id="8" name="Text 7"/>
          <p:cNvSpPr txBox="1"/>
          <p:nvPr/>
        </p:nvSpPr>
        <p:spPr>
          <a:xfrm>
            <a:off x="7993046" y="1788267"/>
            <a:ext cx="1945697"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Compensating Control</a:t>
            </a:r>
          </a:p>
        </p:txBody>
      </p:sp>
      <p:sp>
        <p:nvSpPr>
          <p:cNvPr id="9" name="Text 8"/>
          <p:cNvSpPr txBox="1"/>
          <p:nvPr/>
        </p:nvSpPr>
        <p:spPr>
          <a:xfrm>
            <a:off x="7941766" y="24299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بديل يحقق الهدف حين يتعذر الأصلي</a:t>
            </a:r>
          </a:p>
        </p:txBody>
      </p:sp>
      <p:sp>
        <p:nvSpPr>
          <p:cNvPr id="10" name="Box 9"/>
          <p:cNvSpPr/>
          <p:nvPr/>
        </p:nvSpPr>
        <p:spPr>
          <a:xfrm>
            <a:off x="4367808" y="16611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848475" y="1739225"/>
            <a:ext cx="84564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استثناء</a:t>
            </a:r>
          </a:p>
        </p:txBody>
      </p:sp>
      <p:sp>
        <p:nvSpPr>
          <p:cNvPr id="12" name="Text 11"/>
          <p:cNvSpPr txBox="1"/>
          <p:nvPr/>
        </p:nvSpPr>
        <p:spPr>
          <a:xfrm>
            <a:off x="4390033" y="1765348"/>
            <a:ext cx="1717179"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Policy Exception</a:t>
            </a:r>
          </a:p>
        </p:txBody>
      </p:sp>
      <p:sp>
        <p:nvSpPr>
          <p:cNvPr id="13" name="Text 12"/>
          <p:cNvSpPr txBox="1"/>
          <p:nvPr/>
        </p:nvSpPr>
        <p:spPr>
          <a:xfrm>
            <a:off x="4390033" y="20997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إعفاء داخلي موثق ومؤقت من متطلب</a:t>
            </a:r>
          </a:p>
        </p:txBody>
      </p:sp>
      <p:sp>
        <p:nvSpPr>
          <p:cNvPr id="14" name="Box 13"/>
          <p:cNvSpPr/>
          <p:nvPr/>
        </p:nvSpPr>
        <p:spPr>
          <a:xfrm>
            <a:off x="816074" y="16611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739727" y="1739225"/>
            <a:ext cx="14026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فصل المهام</a:t>
            </a:r>
          </a:p>
        </p:txBody>
      </p:sp>
      <p:sp>
        <p:nvSpPr>
          <p:cNvPr id="16" name="Text 15"/>
          <p:cNvSpPr txBox="1"/>
          <p:nvPr/>
        </p:nvSpPr>
        <p:spPr>
          <a:xfrm>
            <a:off x="838299" y="1765348"/>
            <a:ext cx="51177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SoD</a:t>
            </a:r>
          </a:p>
        </p:txBody>
      </p:sp>
      <p:sp>
        <p:nvSpPr>
          <p:cNvPr id="17" name="Text 16"/>
          <p:cNvSpPr txBox="1"/>
          <p:nvPr/>
        </p:nvSpPr>
        <p:spPr>
          <a:xfrm>
            <a:off x="838299" y="20997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لا ينفذ شخص واحد العملية ويعتمدها</a:t>
            </a:r>
          </a:p>
        </p:txBody>
      </p:sp>
      <p:sp>
        <p:nvSpPr>
          <p:cNvPr id="18" name="Box 17"/>
          <p:cNvSpPr/>
          <p:nvPr/>
        </p:nvSpPr>
        <p:spPr>
          <a:xfrm>
            <a:off x="7919541" y="297557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885362" y="3053675"/>
            <a:ext cx="136048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أقل صلاحية</a:t>
            </a:r>
          </a:p>
        </p:txBody>
      </p:sp>
      <p:sp>
        <p:nvSpPr>
          <p:cNvPr id="20" name="Text 19"/>
          <p:cNvSpPr txBox="1"/>
          <p:nvPr/>
        </p:nvSpPr>
        <p:spPr>
          <a:xfrm>
            <a:off x="7941766" y="3079798"/>
            <a:ext cx="154364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Least Privilege</a:t>
            </a:r>
          </a:p>
        </p:txBody>
      </p:sp>
      <p:sp>
        <p:nvSpPr>
          <p:cNvPr id="21" name="Text 20"/>
          <p:cNvSpPr txBox="1"/>
          <p:nvPr/>
        </p:nvSpPr>
        <p:spPr>
          <a:xfrm>
            <a:off x="7941766" y="341419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صلاحيات بقدر حاجة العمل فقط</a:t>
            </a:r>
          </a:p>
        </p:txBody>
      </p:sp>
      <p:sp>
        <p:nvSpPr>
          <p:cNvPr id="22" name="Box 21"/>
          <p:cNvSpPr/>
          <p:nvPr/>
        </p:nvSpPr>
        <p:spPr>
          <a:xfrm>
            <a:off x="4367808" y="297557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45709" y="3053675"/>
            <a:ext cx="154840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العناية الواجبة</a:t>
            </a:r>
          </a:p>
        </p:txBody>
      </p:sp>
      <p:sp>
        <p:nvSpPr>
          <p:cNvPr id="24" name="Text 23"/>
          <p:cNvSpPr txBox="1"/>
          <p:nvPr/>
        </p:nvSpPr>
        <p:spPr>
          <a:xfrm>
            <a:off x="4390033" y="3079798"/>
            <a:ext cx="147449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Due Diligence</a:t>
            </a:r>
          </a:p>
        </p:txBody>
      </p:sp>
      <p:sp>
        <p:nvSpPr>
          <p:cNvPr id="25" name="Text 24"/>
          <p:cNvSpPr txBox="1"/>
          <p:nvPr/>
        </p:nvSpPr>
        <p:spPr>
          <a:xfrm>
            <a:off x="4390033" y="341419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التحقق من المورد قبل التعاقد</a:t>
            </a:r>
          </a:p>
        </p:txBody>
      </p:sp>
      <p:sp>
        <p:nvSpPr>
          <p:cNvPr id="26" name="Box 25"/>
          <p:cNvSpPr/>
          <p:nvPr/>
        </p:nvSpPr>
        <p:spPr>
          <a:xfrm>
            <a:off x="816074" y="297557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27" name="Text 26"/>
          <p:cNvSpPr txBox="1"/>
          <p:nvPr/>
        </p:nvSpPr>
        <p:spPr>
          <a:xfrm>
            <a:off x="2679402" y="3053675"/>
            <a:ext cx="146298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المجتمع والعينة</a:t>
            </a:r>
          </a:p>
        </p:txBody>
      </p:sp>
      <p:sp>
        <p:nvSpPr>
          <p:cNvPr id="28" name="Text 27"/>
          <p:cNvSpPr txBox="1"/>
          <p:nvPr/>
        </p:nvSpPr>
        <p:spPr>
          <a:xfrm>
            <a:off x="894255" y="3102717"/>
            <a:ext cx="1785148"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Population / Sample</a:t>
            </a:r>
          </a:p>
        </p:txBody>
      </p:sp>
      <p:sp>
        <p:nvSpPr>
          <p:cNvPr id="29" name="Text 28"/>
          <p:cNvSpPr txBox="1"/>
          <p:nvPr/>
        </p:nvSpPr>
        <p:spPr>
          <a:xfrm>
            <a:off x="838299" y="374439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كل الحالات، وجزء مختار منها</a:t>
            </a:r>
          </a:p>
        </p:txBody>
      </p:sp>
      <p:sp>
        <p:nvSpPr>
          <p:cNvPr id="30" name="Box 29"/>
          <p:cNvSpPr/>
          <p:nvPr/>
        </p:nvSpPr>
        <p:spPr>
          <a:xfrm>
            <a:off x="7919541" y="42900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31" name="Text 30"/>
          <p:cNvSpPr txBox="1"/>
          <p:nvPr/>
        </p:nvSpPr>
        <p:spPr>
          <a:xfrm>
            <a:off x="10153848" y="4368125"/>
            <a:ext cx="1092002"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الملاحظة</a:t>
            </a:r>
          </a:p>
        </p:txBody>
      </p:sp>
      <p:sp>
        <p:nvSpPr>
          <p:cNvPr id="32" name="Text 31"/>
          <p:cNvSpPr txBox="1"/>
          <p:nvPr/>
        </p:nvSpPr>
        <p:spPr>
          <a:xfrm>
            <a:off x="7941766" y="4394248"/>
            <a:ext cx="84584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Finding</a:t>
            </a:r>
          </a:p>
        </p:txBody>
      </p:sp>
      <p:sp>
        <p:nvSpPr>
          <p:cNvPr id="33" name="Text 32"/>
          <p:cNvSpPr txBox="1"/>
          <p:nvPr/>
        </p:nvSpPr>
        <p:spPr>
          <a:xfrm>
            <a:off x="7941766" y="47286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فجوة بين الوضع القائم والمعيار</a:t>
            </a:r>
          </a:p>
        </p:txBody>
      </p:sp>
      <p:sp>
        <p:nvSpPr>
          <p:cNvPr id="34" name="Box 33"/>
          <p:cNvSpPr/>
          <p:nvPr/>
        </p:nvSpPr>
        <p:spPr>
          <a:xfrm>
            <a:off x="4367808" y="42900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35" name="Text 34"/>
          <p:cNvSpPr txBox="1"/>
          <p:nvPr/>
        </p:nvSpPr>
        <p:spPr>
          <a:xfrm>
            <a:off x="6388497" y="4368125"/>
            <a:ext cx="130562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خطة التصحيح</a:t>
            </a:r>
          </a:p>
        </p:txBody>
      </p:sp>
      <p:sp>
        <p:nvSpPr>
          <p:cNvPr id="36" name="Text 35"/>
          <p:cNvSpPr txBox="1"/>
          <p:nvPr/>
        </p:nvSpPr>
        <p:spPr>
          <a:xfrm>
            <a:off x="4441267" y="4417167"/>
            <a:ext cx="1947229"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Corrective Action Plan</a:t>
            </a:r>
          </a:p>
        </p:txBody>
      </p:sp>
      <p:sp>
        <p:nvSpPr>
          <p:cNvPr id="37" name="Text 36"/>
          <p:cNvSpPr txBox="1"/>
          <p:nvPr/>
        </p:nvSpPr>
        <p:spPr>
          <a:xfrm>
            <a:off x="4390033" y="50588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إجراء ومالك وموعد ودليل إغلاق</a:t>
            </a:r>
          </a:p>
        </p:txBody>
      </p:sp>
      <p:sp>
        <p:nvSpPr>
          <p:cNvPr id="38" name="Box 37"/>
          <p:cNvSpPr/>
          <p:nvPr/>
        </p:nvSpPr>
        <p:spPr>
          <a:xfrm>
            <a:off x="816074" y="4290020"/>
            <a:ext cx="3456484" cy="1219200"/>
          </a:xfrm>
          <a:prstGeom prst="roundRect">
            <a:avLst>
              <a:gd name="adj" fmla="val 9326"/>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306638" y="4368125"/>
            <a:ext cx="183574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تحليل أثر الأعمال</a:t>
            </a:r>
          </a:p>
        </p:txBody>
      </p:sp>
      <p:sp>
        <p:nvSpPr>
          <p:cNvPr id="40" name="Text 39"/>
          <p:cNvSpPr txBox="1"/>
          <p:nvPr/>
        </p:nvSpPr>
        <p:spPr>
          <a:xfrm>
            <a:off x="838299" y="4394248"/>
            <a:ext cx="48577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BIA</a:t>
            </a:r>
          </a:p>
        </p:txBody>
      </p:sp>
      <p:sp>
        <p:nvSpPr>
          <p:cNvPr id="41" name="Text 40"/>
          <p:cNvSpPr txBox="1"/>
          <p:nvPr/>
        </p:nvSpPr>
        <p:spPr>
          <a:xfrm>
            <a:off x="838299" y="4728647"/>
            <a:ext cx="3304084" cy="311150"/>
          </a:xfrm>
          <a:prstGeom prst="rect">
            <a:avLst/>
          </a:prstGeom>
          <a:noFill/>
        </p:spPr>
        <p:txBody>
          <a:bodyPr wrap="square" tIns="0" rIns="0" bIns="0" lIns="0" anchor="t" rtlCol="0" anchorCtr="0">
            <a:noAutofit/>
          </a:bodyPr>
          <a:lstStyle/>
          <a:p>
            <a:pPr algn="r" rtl="1">
              <a:lnSpc>
                <a:spcPts val="2450"/>
              </a:lnSpc>
              <a:spcBef>
                <a:spcPts val="0"/>
              </a:spcBef>
              <a:spcAft>
                <a:spcPts val="0"/>
              </a:spcAft>
            </a:pPr>
            <a:r>
              <a:rPr sz="1750" b="0" i="0">
                <a:solidFill>
                  <a:srgbClr val="4E5A66"/>
                </a:solidFill>
                <a:latin typeface="IBM Plex Sans Arabic"/>
                <a:ea typeface="IBM Plex Sans Arabic"/>
                <a:cs typeface="IBM Plex Sans Arabic"/>
              </a:rPr>
              <a:t>أهم الخدمات وكم تتحمل الجهة توقفها</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(1 من 2)</a:t>
            </a:r>
          </a:p>
        </p:txBody>
      </p:sp>
      <p:graphicFrame>
        <p:nvGraphicFramePr>
          <p:cNvPr id="6" name="Table 5"/>
          <p:cNvGraphicFramePr>
            <a:graphicFrameLocks noGrp="1"/>
          </p:cNvGraphicFramePr>
          <p:nvPr/>
        </p:nvGraphicFramePr>
        <p:xfrm>
          <a:off x="815975" y="1661120"/>
          <a:ext cx="10560050" cy="3232944"/>
        </p:xfrm>
        <a:graphic>
          <a:graphicData uri="http://schemas.openxmlformats.org/drawingml/2006/table">
            <a:tbl>
              <a:tblPr firstRow="0" bandRow="0" lastRow="0" firstCol="0" lastCol="0" bandCol="0">
                <a:tableStyleId>{2D5ABB26-0587-4C30-8999-92F81FD0307C}</a:tableStyleId>
              </a:tblPr>
              <a:tblGrid>
                <a:gridCol w="3590290"/>
                <a:gridCol w="3168015"/>
                <a:gridCol w="380174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المحافظة والتجديد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رسم الاختبار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سنوياً، و45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199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و60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599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و120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749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 أو 85 سنوياً، و120 ساعة CPE كل 3 سنوات</a:t>
                      </a:r>
                    </a:p>
                  </a:txBody>
                  <a:tcPr marT="85649" marR="121920" marB="56591" marL="2152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575 للأعضاء، 760 لغيرهم، و50 للطلب</a:t>
                      </a:r>
                    </a:p>
                  </a:txBody>
                  <a:tcPr marT="85649" marR="121920" marB="56591" marL="3419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 · CRISC · CGEIT · 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تذكره الصفحة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175 للأعضاء، 225 لغيرهم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 Audit Fundamentals · ISACA</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وحدة CEU و150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نتحقق: يُعرض حسب الدولة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 · CompTIA</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057227"/>
            <a:ext cx="113792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4E5A66"/>
                </a:solidFill>
                <a:latin typeface="IBM Plex Sans Arabic"/>
                <a:ea typeface="IBM Plex Sans Arabic"/>
                <a:cs typeface="IBM Plex Sans Arabic"/>
              </a:rPr>
              <a:t>تاريخ التحقق:‏ 27 أكتوبر 2026. راجع الصفحة الرسمية قبل الدفع أو التسجيل. المصادر في الملاحظات.</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(2 من 2)</a:t>
            </a:r>
          </a:p>
        </p:txBody>
      </p:sp>
      <p:graphicFrame>
        <p:nvGraphicFramePr>
          <p:cNvPr id="6" name="Table 5"/>
          <p:cNvGraphicFramePr>
            <a:graphicFrameLocks noGrp="1"/>
          </p:cNvGraphicFramePr>
          <p:nvPr/>
        </p:nvGraphicFramePr>
        <p:xfrm>
          <a:off x="815975" y="1661120"/>
          <a:ext cx="10560050" cy="2825154"/>
        </p:xfrm>
        <a:graphic>
          <a:graphicData uri="http://schemas.openxmlformats.org/drawingml/2006/table">
            <a:tbl>
              <a:tblPr firstRow="0" bandRow="0" lastRow="0" firstCol="0" lastCol="0" bandCol="0">
                <a:tableStyleId>{2D5ABB26-0587-4C30-8999-92F81FD0307C}</a:tableStyleId>
              </a:tblPr>
              <a:tblGrid>
                <a:gridCol w="4012565"/>
                <a:gridCol w="3801745"/>
                <a:gridCol w="274574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المحافظة والتجديد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رسم الاختبار (دولار)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الشهادة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250 كل سنتين و20 ساعة CPE، أو عضوية 295 سنوياً</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550 للأعضاء وغيرهم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CIPP/E · CIPM · IAPP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 الاشتراك. الصفحة تذكر قاعدتين متعارضتين</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ضمن اشتراك 499 أول سنة، ثم 399</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OCEG</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3 سنوات بساعات CPD ورسم سنوي لم نتحقق من قيمته</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حسب مقدم التدريب. بلا تدريب:‏ 1,000 للاختبار و500 للطلب</a:t>
                      </a:r>
                    </a:p>
                  </a:txBody>
                  <a:tcPr marT="96355" marR="137160" marB="63665" marL="313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ISO 27001 LI/LA · PECB</a:t>
                      </a:r>
                    </a:p>
                  </a:txBody>
                  <a:tcPr marT="96355" marR="137160" marB="63665" marL="6301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4679950"/>
            <a:ext cx="10566400" cy="573980"/>
          </a:xfrm>
          <a:prstGeom prst="roundRect">
            <a:avLst>
              <a:gd name="adj" fmla="val 17700"/>
            </a:avLst>
          </a:prstGeom>
          <a:solidFill>
            <a:srgbClr val="F6ECDA"/>
          </a:solidFill>
          <a:ln>
            <a:noFill/>
          </a:ln>
        </p:spPr>
        <p:txBody>
          <a:bodyPr rtlCol="0" anchor="ctr"/>
          <a:lstStyle/>
          <a:p>
            <a:pPr algn="ctr"/>
          </a:p>
        </p:txBody>
      </p:sp>
      <p:pic>
        <p:nvPicPr>
          <p:cNvPr id="8" name="Icon Warning 7" descr="icon079.png"/>
          <p:cNvPicPr>
            <a:picLocks noChangeAspect="1"/>
          </p:cNvPicPr>
          <p:nvPr/>
        </p:nvPicPr>
        <p:blipFill>
          <a:blip r:embed="rId2"/>
          <a:stretch>
            <a:fillRect/>
          </a:stretch>
        </p:blipFill>
        <p:spPr>
          <a:xfrm>
            <a:off x="10966450" y="4849416"/>
            <a:ext cx="234950" cy="234950"/>
          </a:xfrm>
          <a:prstGeom prst="rect">
            <a:avLst/>
          </a:prstGeom>
        </p:spPr>
      </p:pic>
      <p:sp>
        <p:nvSpPr>
          <p:cNvPr id="9" name="Text 8"/>
          <p:cNvSpPr txBox="1"/>
          <p:nvPr/>
        </p:nvSpPr>
        <p:spPr>
          <a:xfrm>
            <a:off x="838200" y="4771517"/>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سعر إعادة اختبار IAPP كان 375 دولاراً في دليل 2022، ولم نتحقق من السعر الحالي.</a:t>
            </a:r>
          </a:p>
        </p:txBody>
      </p:sp>
      <p:sp>
        <p:nvSpPr>
          <p:cNvPr id="10" name="Text 9"/>
          <p:cNvSpPr txBox="1"/>
          <p:nvPr/>
        </p:nvSpPr>
        <p:spPr>
          <a:xfrm>
            <a:off x="0" y="5411950"/>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صيغ الاختبارات: الأسئلة والمدة والنجاح</a:t>
            </a:r>
          </a:p>
        </p:txBody>
      </p:sp>
      <p:graphicFrame>
        <p:nvGraphicFramePr>
          <p:cNvPr id="6" name="Table 5"/>
          <p:cNvGraphicFramePr>
            <a:graphicFrameLocks noGrp="1"/>
          </p:cNvGraphicFramePr>
          <p:nvPr/>
        </p:nvGraphicFramePr>
        <p:xfrm>
          <a:off x="6156325" y="1661120"/>
          <a:ext cx="5219700" cy="3781424"/>
        </p:xfrm>
        <a:graphic>
          <a:graphicData uri="http://schemas.openxmlformats.org/drawingml/2006/table">
            <a:tbl>
              <a:tblPr firstRow="0" bandRow="0" lastRow="0" firstCol="0" lastCol="0" bandCol="0">
                <a:tableStyleId>{2D5ABB26-0587-4C30-8999-92F81FD0307C}</a:tableStyleId>
              </a:tblPr>
              <a:tblGrid>
                <a:gridCol w="1461770"/>
                <a:gridCol w="2400935"/>
                <a:gridCol w="13569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125 · ساعتان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125 · 3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150 · 3 ساعات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750 من 900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حتى 90 · 90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65%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غير مذكور · ساعتان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Fund.</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 سؤالاً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محتسبة · 120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GRCP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graphicFrame>
        <p:nvGraphicFramePr>
          <p:cNvPr id="7" name="Table 6"/>
          <p:cNvGraphicFramePr>
            <a:graphicFrameLocks noGrp="1"/>
          </p:cNvGraphicFramePr>
          <p:nvPr/>
        </p:nvGraphicFramePr>
        <p:xfrm>
          <a:off x="815975" y="1661120"/>
          <a:ext cx="5219700" cy="3358752"/>
        </p:xfrm>
        <a:graphic>
          <a:graphicData uri="http://schemas.openxmlformats.org/drawingml/2006/table">
            <a:tbl>
              <a:tblPr firstRow="0" bandRow="0" lastRow="0" firstCol="0" lastCol="0" bandCol="0">
                <a:tableStyleId>{2D5ABB26-0587-4C30-8999-92F81FD0307C}</a:tableStyleId>
              </a:tblPr>
              <a:tblGrid>
                <a:gridCol w="1565910"/>
                <a:gridCol w="2087880"/>
                <a:gridCol w="156591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CRISC · CGEIT</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120 · 3.5 ساعة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300 من 500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90 · ساعتان ونصف</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CIPP/E · CIPM</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80 · كتاب مفتوح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PECB ISO 27001</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5603740"/>
            <a:ext cx="11379200" cy="293291"/>
          </a:xfrm>
          <a:prstGeom prst="rect">
            <a:avLst/>
          </a:prstGeom>
          <a:noFill/>
        </p:spPr>
        <p:txBody>
          <a:bodyPr wrap="square" tIns="0" rIns="0" bIns="0" lIns="0" anchor="t" rtlCol="0" anchorCtr="0">
            <a:noAutofit/>
          </a:bodyPr>
          <a:lstStyle/>
          <a:p>
            <a:pPr algn="r" rtl="1">
              <a:lnSpc>
                <a:spcPts val="2310"/>
              </a:lnSpc>
              <a:spcBef>
                <a:spcPts val="0"/>
              </a:spcBef>
              <a:spcAft>
                <a:spcPts val="0"/>
              </a:spcAft>
            </a:pPr>
            <a:r>
              <a:rPr sz="1650" b="0" i="0">
                <a:solidFill>
                  <a:srgbClr val="4E5A66"/>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(1 من 2): ISC2 وCompTIA وIAPP</a:t>
            </a:r>
          </a:p>
        </p:txBody>
      </p:sp>
      <p:graphicFrame>
        <p:nvGraphicFramePr>
          <p:cNvPr id="6" name="Table 5"/>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7603490"/>
                <a:gridCol w="295656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لغات 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الصينية، اليابانية، الألمانية، الإسبانية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الصينية، الألمانية، اليابانية، الإسبانية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CISSP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CGRC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اليابانية، البرتغالية، الإسبانية، التايلندية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Security+ SY0-701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الفرنسية، الألمانية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CIPP/E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الفرنسية، الألمانية، البرتغالية البرازيلية، الصينية المبسطة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CIPM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149294"/>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لغة الاختبار تختلف عن لغة التدريب.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(2 من 2): ISACA وغيرها</a:t>
            </a:r>
          </a:p>
        </p:txBody>
      </p:sp>
      <p:graphicFrame>
        <p:nvGraphicFramePr>
          <p:cNvPr id="6" name="Table 5"/>
          <p:cNvGraphicFramePr>
            <a:graphicFrameLocks noGrp="1"/>
          </p:cNvGraphicFramePr>
          <p:nvPr/>
        </p:nvGraphicFramePr>
        <p:xfrm>
          <a:off x="815975" y="1661120"/>
          <a:ext cx="10560050" cy="3632597"/>
        </p:xfrm>
        <a:graphic>
          <a:graphicData uri="http://schemas.openxmlformats.org/drawingml/2006/table">
            <a:tbl>
              <a:tblPr firstRow="0" bandRow="0" lastRow="0" firstCol="0" lastCol="0" bandCol="0">
                <a:tableStyleId>{2D5ABB26-0587-4C30-8999-92F81FD0307C}</a:tableStyleId>
              </a:tblPr>
              <a:tblGrid>
                <a:gridCol w="7392035"/>
                <a:gridCol w="31680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لغات 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الفرنسية، الألمانية، الكورية،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اليابانية، الفرنسية، الألمانية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CRISC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الصينية المبسطة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CGEIT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CDPSE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غير مذكورة في الصفحات التي راجعناها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IT Risk Fund. · PECB</a:t>
                      </a:r>
                    </a:p>
                  </a:txBody>
                  <a:tcPr marT="96355" marR="137160" marB="63665" marL="5034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457865"/>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0" i="0">
                <a:solidFill>
                  <a:srgbClr val="4E5A66"/>
                </a:solidFill>
                <a:latin typeface="IBM Plex Sans Arabic"/>
                <a:ea typeface="IBM Plex Sans Arabic"/>
                <a:cs typeface="IBM Plex Sans Arabic"/>
              </a:rPr>
              <a:t>لم نجد العربية في أي من الاختبارات التي تحققنا منها.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(1 من 2): ضوابط الهيئة وإطار المخاطر</a:t>
            </a:r>
          </a:p>
        </p:txBody>
      </p:sp>
      <p:graphicFrame>
        <p:nvGraphicFramePr>
          <p:cNvPr id="6" name="Table 5"/>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النطاق المختصر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المرجع والإصدار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الجهات الحكومية والتابعة، والبنية التحتية الوطنية الحساسة</a:t>
                      </a:r>
                    </a:p>
                  </a:txBody>
                  <a:tcPr marT="96355" marR="137160" marB="63665" marL="4084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ECC-2:2024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نطاق ECC نفسه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NFCRM-1:2025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CCC-2:2024 · DCC-1:2022 · CSCC-1:2019</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OTCC-1:2022 · TCC-1:2021 · OSMACC-1:2021</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124299"/>
            <a:ext cx="113792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4E5A66"/>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(2 من 2): الكوادر وساما وحماية البيانات</a:t>
            </a:r>
          </a:p>
        </p:txBody>
      </p:sp>
      <p:graphicFrame>
        <p:nvGraphicFramePr>
          <p:cNvPr id="6" name="Table 5"/>
          <p:cNvGraphicFramePr>
            <a:graphicFrameLocks noGrp="1"/>
          </p:cNvGraphicFramePr>
          <p:nvPr/>
        </p:nvGraphicFramePr>
        <p:xfrm>
          <a:off x="815975" y="1661120"/>
          <a:ext cx="10560050" cy="2692895"/>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578941">
                <a:tc>
                  <a:txBody>
                    <a:bodyPr wrap="square"/>
                    <a:lstStyle/>
                    <a:p>
                      <a:pPr algn="r" rtl="1">
                        <a:lnSpc>
                          <a:spcPts val="2970"/>
                        </a:lnSpc>
                        <a:spcBef>
                          <a:spcPts val="0"/>
                        </a:spcBef>
                        <a:spcAft>
                          <a:spcPts val="0"/>
                        </a:spcAft>
                      </a:pPr>
                      <a:r>
                        <a:rPr sz="2200" b="1" i="0">
                          <a:solidFill>
                            <a:srgbClr val="F3EFE6"/>
                          </a:solidFill>
                          <a:latin typeface="IBM Plex Sans Arabic"/>
                          <a:ea typeface="IBM Plex Sans Arabic"/>
                          <a:cs typeface="IBM Plex Sans Arabic"/>
                        </a:rPr>
                        <a:t>النطاق المختصر</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70"/>
                        </a:lnSpc>
                        <a:spcBef>
                          <a:spcPts val="0"/>
                        </a:spcBef>
                        <a:spcAft>
                          <a:spcPts val="0"/>
                        </a:spcAft>
                      </a:pPr>
                      <a:r>
                        <a:rPr sz="2200" b="1" i="0">
                          <a:solidFill>
                            <a:srgbClr val="F3EFE6"/>
                          </a:solidFill>
                          <a:latin typeface="IBM Plex Sans Arabic"/>
                          <a:ea typeface="IBM Plex Sans Arabic"/>
                          <a:cs typeface="IBM Plex Sans Arabic"/>
                        </a:rPr>
                        <a:t>الجهة</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970"/>
                        </a:lnSpc>
                        <a:spcBef>
                          <a:spcPts val="0"/>
                        </a:spcBef>
                        <a:spcAft>
                          <a:spcPts val="0"/>
                        </a:spcAft>
                      </a:pPr>
                      <a:r>
                        <a:rPr sz="2200" b="1" i="0">
                          <a:solidFill>
                            <a:srgbClr val="F3EFE6"/>
                          </a:solidFill>
                          <a:latin typeface="IBM Plex Sans Arabic"/>
                          <a:ea typeface="IBM Plex Sans Arabic"/>
                          <a:cs typeface="IBM Plex Sans Arabic"/>
                        </a:rPr>
                        <a:t>المرجع والإصدار</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56072">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الأدوار الوظيفية ومهامها</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الهيئة الوطنية للأمن السيبراني</a:t>
                      </a:r>
                    </a:p>
                  </a:txBody>
                  <a:tcPr marT="117767" marR="167640" marB="77813" marL="921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970"/>
                        </a:lnSpc>
                        <a:spcBef>
                          <a:spcPts val="0"/>
                        </a:spcBef>
                        <a:spcAft>
                          <a:spcPts val="0"/>
                        </a:spcAft>
                      </a:pPr>
                      <a:r>
                        <a:rPr sz="2200" b="1" i="0">
                          <a:solidFill>
                            <a:srgbClr val="172433"/>
                          </a:solidFill>
                          <a:latin typeface="IBM Plex Sans Arabic"/>
                          <a:ea typeface="IBM Plex Sans Arabic"/>
                          <a:cs typeface="IBM Plex Sans Arabic"/>
                        </a:rPr>
                        <a:t>SCyWF-1.5:2026</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78941">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الجهات الخاضعة لإشرافه</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البنك المركزي السعودي</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970"/>
                        </a:lnSpc>
                        <a:spcBef>
                          <a:spcPts val="0"/>
                        </a:spcBef>
                        <a:spcAft>
                          <a:spcPts val="0"/>
                        </a:spcAft>
                      </a:pPr>
                      <a:r>
                        <a:rPr sz="2200" b="1" i="0">
                          <a:solidFill>
                            <a:srgbClr val="172433"/>
                          </a:solidFill>
                          <a:latin typeface="IBM Plex Sans Arabic"/>
                          <a:ea typeface="IBM Plex Sans Arabic"/>
                          <a:cs typeface="IBM Plex Sans Arabic"/>
                        </a:rPr>
                        <a:t>SAMA CSF 1.0 (2017)</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78941">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نافذ منذ 14 سبتمبر 2023</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70"/>
                        </a:lnSpc>
                        <a:spcBef>
                          <a:spcPts val="0"/>
                        </a:spcBef>
                        <a:spcAft>
                          <a:spcPts val="0"/>
                        </a:spcAft>
                      </a:pPr>
                      <a:r>
                        <a:rPr sz="2200" b="0" i="0">
                          <a:solidFill>
                            <a:srgbClr val="172433"/>
                          </a:solidFill>
                          <a:latin typeface="IBM Plex Sans Arabic"/>
                          <a:ea typeface="IBM Plex Sans Arabic"/>
                          <a:cs typeface="IBM Plex Sans Arabic"/>
                        </a:rPr>
                        <a:t>سدايا</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970"/>
                        </a:lnSpc>
                        <a:spcBef>
                          <a:spcPts val="0"/>
                        </a:spcBef>
                        <a:spcAft>
                          <a:spcPts val="0"/>
                        </a:spcAft>
                      </a:pPr>
                      <a:r>
                        <a:rPr sz="2200" b="1" i="0">
                          <a:solidFill>
                            <a:srgbClr val="172433"/>
                          </a:solidFill>
                          <a:latin typeface="IBM Plex Sans Arabic"/>
                          <a:ea typeface="IBM Plex Sans Arabic"/>
                          <a:cs typeface="IBM Plex Sans Arabic"/>
                        </a:rPr>
                        <a:t>نظام حماية البيانات الشخصية</a:t>
                      </a:r>
                    </a:p>
                  </a:txBody>
                  <a:tcPr marT="117767" marR="167640" marB="7781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4512258"/>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الأطر والمراجع</a:t>
            </a:r>
          </a:p>
        </p:txBody>
      </p:sp>
      <p:sp>
        <p:nvSpPr>
          <p:cNvPr id="6" name="Text 5"/>
          <p:cNvSpPr txBox="1"/>
          <p:nvPr/>
        </p:nvSpPr>
        <p:spPr>
          <a:xfrm>
            <a:off x="6578600" y="1614638"/>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الهيئة الوطنية للأمن السيبراني</a:t>
            </a:r>
          </a:p>
        </p:txBody>
      </p:sp>
      <p:sp>
        <p:nvSpPr>
          <p:cNvPr id="7" name="Text 6"/>
          <p:cNvSpPr txBox="1"/>
          <p:nvPr/>
        </p:nvSpPr>
        <p:spPr>
          <a:xfrm>
            <a:off x="332232" y="1614638"/>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2"/>
              </a:rPr>
              <a:t>nca.gov.sa</a:t>
            </a:r>
          </a:p>
        </p:txBody>
      </p:sp>
      <p:sp>
        <p:nvSpPr>
          <p:cNvPr id="8" name="Text 7"/>
          <p:cNvSpPr txBox="1"/>
          <p:nvPr/>
        </p:nvSpPr>
        <p:spPr>
          <a:xfrm>
            <a:off x="6578600" y="212005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الإطار الوطني لإدارة المخاطر NFCRM</a:t>
            </a:r>
          </a:p>
        </p:txBody>
      </p:sp>
      <p:sp>
        <p:nvSpPr>
          <p:cNvPr id="9" name="Text 8"/>
          <p:cNvSpPr txBox="1"/>
          <p:nvPr/>
        </p:nvSpPr>
        <p:spPr>
          <a:xfrm>
            <a:off x="332232" y="2120059"/>
            <a:ext cx="648766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3"/>
              </a:rPr>
              <a:t>صفحة الإطار</a:t>
            </a:r>
          </a:p>
        </p:txBody>
      </p:sp>
      <p:sp>
        <p:nvSpPr>
          <p:cNvPr id="10" name="Text 9"/>
          <p:cNvSpPr txBox="1"/>
          <p:nvPr/>
        </p:nvSpPr>
        <p:spPr>
          <a:xfrm>
            <a:off x="6578600" y="262547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الضوابط الأساسية ECC</a:t>
            </a:r>
          </a:p>
        </p:txBody>
      </p:sp>
      <p:sp>
        <p:nvSpPr>
          <p:cNvPr id="11" name="Text 10"/>
          <p:cNvSpPr txBox="1"/>
          <p:nvPr/>
        </p:nvSpPr>
        <p:spPr>
          <a:xfrm>
            <a:off x="332232" y="2625479"/>
            <a:ext cx="648766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4"/>
              </a:rPr>
              <a:t>صفحة الضوابط</a:t>
            </a:r>
          </a:p>
        </p:txBody>
      </p:sp>
      <p:sp>
        <p:nvSpPr>
          <p:cNvPr id="12" name="Text 11"/>
          <p:cNvSpPr txBox="1"/>
          <p:nvPr/>
        </p:nvSpPr>
        <p:spPr>
          <a:xfrm>
            <a:off x="6578600" y="313089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الإطار السعودي لكوادر الأمن السيبراني</a:t>
            </a:r>
          </a:p>
        </p:txBody>
      </p:sp>
      <p:sp>
        <p:nvSpPr>
          <p:cNvPr id="13" name="Text 12"/>
          <p:cNvSpPr txBox="1"/>
          <p:nvPr/>
        </p:nvSpPr>
        <p:spPr>
          <a:xfrm>
            <a:off x="332232" y="3130899"/>
            <a:ext cx="648766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5"/>
              </a:rPr>
              <a:t>صفحة SCyWF</a:t>
            </a:r>
          </a:p>
        </p:txBody>
      </p:sp>
      <p:sp>
        <p:nvSpPr>
          <p:cNvPr id="14" name="Text 13"/>
          <p:cNvSpPr txBox="1"/>
          <p:nvPr/>
        </p:nvSpPr>
        <p:spPr>
          <a:xfrm>
            <a:off x="6578600" y="3636320"/>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إطار ساما للأمن السيبراني</a:t>
            </a:r>
          </a:p>
        </p:txBody>
      </p:sp>
      <p:sp>
        <p:nvSpPr>
          <p:cNvPr id="15" name="Text 14"/>
          <p:cNvSpPr txBox="1"/>
          <p:nvPr/>
        </p:nvSpPr>
        <p:spPr>
          <a:xfrm>
            <a:off x="332232" y="363632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6"/>
              </a:rPr>
              <a:t>rulebook.sama.gov.sa</a:t>
            </a:r>
          </a:p>
        </p:txBody>
      </p:sp>
      <p:sp>
        <p:nvSpPr>
          <p:cNvPr id="16" name="Text 15"/>
          <p:cNvSpPr txBox="1"/>
          <p:nvPr/>
        </p:nvSpPr>
        <p:spPr>
          <a:xfrm>
            <a:off x="6578600" y="414174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NIST CSF 2.0</a:t>
            </a:r>
          </a:p>
        </p:txBody>
      </p:sp>
      <p:sp>
        <p:nvSpPr>
          <p:cNvPr id="17" name="Text 16"/>
          <p:cNvSpPr txBox="1"/>
          <p:nvPr/>
        </p:nvSpPr>
        <p:spPr>
          <a:xfrm>
            <a:off x="332232" y="414174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7"/>
              </a:rPr>
              <a:t>nist.gov/cyberframework</a:t>
            </a:r>
          </a:p>
        </p:txBody>
      </p:sp>
      <p:sp>
        <p:nvSpPr>
          <p:cNvPr id="18" name="Text 17"/>
          <p:cNvSpPr txBox="1"/>
          <p:nvPr/>
        </p:nvSpPr>
        <p:spPr>
          <a:xfrm>
            <a:off x="6578600" y="4647160"/>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دليل NIST لاستخدام Tiers</a:t>
            </a:r>
          </a:p>
        </p:txBody>
      </p:sp>
      <p:sp>
        <p:nvSpPr>
          <p:cNvPr id="19" name="Text 18"/>
          <p:cNvSpPr txBox="1"/>
          <p:nvPr/>
        </p:nvSpPr>
        <p:spPr>
          <a:xfrm>
            <a:off x="332232" y="464716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8"/>
              </a:rPr>
              <a:t>SP 1302</a:t>
            </a:r>
          </a:p>
        </p:txBody>
      </p:sp>
      <p:sp>
        <p:nvSpPr>
          <p:cNvPr id="20" name="Text 19"/>
          <p:cNvSpPr txBox="1"/>
          <p:nvPr/>
        </p:nvSpPr>
        <p:spPr>
          <a:xfrm>
            <a:off x="6578600" y="515258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ISO/IEC 27001</a:t>
            </a:r>
          </a:p>
        </p:txBody>
      </p:sp>
      <p:sp>
        <p:nvSpPr>
          <p:cNvPr id="21" name="Text 20"/>
          <p:cNvSpPr txBox="1"/>
          <p:nvPr/>
        </p:nvSpPr>
        <p:spPr>
          <a:xfrm>
            <a:off x="332232" y="515258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9"/>
              </a:rPr>
              <a:t>iso.org</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الشهادات</a:t>
            </a:r>
          </a:p>
        </p:txBody>
      </p:sp>
      <p:sp>
        <p:nvSpPr>
          <p:cNvPr id="6" name="Text 5"/>
          <p:cNvSpPr txBox="1"/>
          <p:nvPr/>
        </p:nvSpPr>
        <p:spPr>
          <a:xfrm>
            <a:off x="6578600" y="1614638"/>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ISC2: الشهادات</a:t>
            </a:r>
          </a:p>
        </p:txBody>
      </p:sp>
      <p:sp>
        <p:nvSpPr>
          <p:cNvPr id="7" name="Text 6"/>
          <p:cNvSpPr txBox="1"/>
          <p:nvPr/>
        </p:nvSpPr>
        <p:spPr>
          <a:xfrm>
            <a:off x="332232" y="1614638"/>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2"/>
              </a:rPr>
              <a:t>isc2.org/certifications</a:t>
            </a:r>
          </a:p>
        </p:txBody>
      </p:sp>
      <p:sp>
        <p:nvSpPr>
          <p:cNvPr id="8" name="Text 7"/>
          <p:cNvSpPr txBox="1"/>
          <p:nvPr/>
        </p:nvSpPr>
        <p:spPr>
          <a:xfrm>
            <a:off x="6578600" y="212005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ISC2: أسعار الاختبارات</a:t>
            </a:r>
          </a:p>
        </p:txBody>
      </p:sp>
      <p:sp>
        <p:nvSpPr>
          <p:cNvPr id="9" name="Text 8"/>
          <p:cNvSpPr txBox="1"/>
          <p:nvPr/>
        </p:nvSpPr>
        <p:spPr>
          <a:xfrm>
            <a:off x="332232" y="2120059"/>
            <a:ext cx="648766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3"/>
              </a:rPr>
              <a:t>صفحة الأسعار</a:t>
            </a:r>
          </a:p>
        </p:txBody>
      </p:sp>
      <p:sp>
        <p:nvSpPr>
          <p:cNvPr id="10" name="Text 9"/>
          <p:cNvSpPr txBox="1"/>
          <p:nvPr/>
        </p:nvSpPr>
        <p:spPr>
          <a:xfrm>
            <a:off x="6578600" y="262547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ISACA: الشهادات</a:t>
            </a:r>
          </a:p>
        </p:txBody>
      </p:sp>
      <p:sp>
        <p:nvSpPr>
          <p:cNvPr id="11" name="Text 10"/>
          <p:cNvSpPr txBox="1"/>
          <p:nvPr/>
        </p:nvSpPr>
        <p:spPr>
          <a:xfrm>
            <a:off x="332232" y="2625479"/>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4"/>
              </a:rPr>
              <a:t>isaca.org/credentialing</a:t>
            </a:r>
          </a:p>
        </p:txBody>
      </p:sp>
      <p:sp>
        <p:nvSpPr>
          <p:cNvPr id="12" name="Text 11"/>
          <p:cNvSpPr txBox="1"/>
          <p:nvPr/>
        </p:nvSpPr>
        <p:spPr>
          <a:xfrm>
            <a:off x="6578600" y="3130899"/>
            <a:ext cx="48006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ISACA: تحديث مخطط CISM</a:t>
            </a:r>
          </a:p>
        </p:txBody>
      </p:sp>
      <p:sp>
        <p:nvSpPr>
          <p:cNvPr id="13" name="Text 12"/>
          <p:cNvSpPr txBox="1"/>
          <p:nvPr/>
        </p:nvSpPr>
        <p:spPr>
          <a:xfrm>
            <a:off x="332232" y="3130899"/>
            <a:ext cx="648766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5"/>
              </a:rPr>
              <a:t>البيان الصحفي 2026</a:t>
            </a:r>
          </a:p>
        </p:txBody>
      </p:sp>
      <p:sp>
        <p:nvSpPr>
          <p:cNvPr id="14" name="Text 13"/>
          <p:cNvSpPr txBox="1"/>
          <p:nvPr/>
        </p:nvSpPr>
        <p:spPr>
          <a:xfrm>
            <a:off x="6578600" y="363632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CompTIA Security+</a:t>
            </a:r>
          </a:p>
        </p:txBody>
      </p:sp>
      <p:sp>
        <p:nvSpPr>
          <p:cNvPr id="15" name="Text 14"/>
          <p:cNvSpPr txBox="1"/>
          <p:nvPr/>
        </p:nvSpPr>
        <p:spPr>
          <a:xfrm>
            <a:off x="332232" y="363632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6"/>
              </a:rPr>
              <a:t>comptia.org</a:t>
            </a:r>
          </a:p>
        </p:txBody>
      </p:sp>
      <p:sp>
        <p:nvSpPr>
          <p:cNvPr id="16" name="Text 15"/>
          <p:cNvSpPr txBox="1"/>
          <p:nvPr/>
        </p:nvSpPr>
        <p:spPr>
          <a:xfrm>
            <a:off x="6578600" y="414174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IAPP</a:t>
            </a:r>
          </a:p>
        </p:txBody>
      </p:sp>
      <p:sp>
        <p:nvSpPr>
          <p:cNvPr id="17" name="Text 16"/>
          <p:cNvSpPr txBox="1"/>
          <p:nvPr/>
        </p:nvSpPr>
        <p:spPr>
          <a:xfrm>
            <a:off x="332232" y="414174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7"/>
              </a:rPr>
              <a:t>iapp.org/certify</a:t>
            </a:r>
          </a:p>
        </p:txBody>
      </p:sp>
      <p:sp>
        <p:nvSpPr>
          <p:cNvPr id="18" name="Text 17"/>
          <p:cNvSpPr txBox="1"/>
          <p:nvPr/>
        </p:nvSpPr>
        <p:spPr>
          <a:xfrm>
            <a:off x="6578600" y="464716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OCEG GRCP</a:t>
            </a:r>
          </a:p>
        </p:txBody>
      </p:sp>
      <p:sp>
        <p:nvSpPr>
          <p:cNvPr id="19" name="Text 18"/>
          <p:cNvSpPr txBox="1"/>
          <p:nvPr/>
        </p:nvSpPr>
        <p:spPr>
          <a:xfrm>
            <a:off x="332232" y="464716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8"/>
              </a:rPr>
              <a:t>oceg.org</a:t>
            </a:r>
          </a:p>
        </p:txBody>
      </p:sp>
      <p:sp>
        <p:nvSpPr>
          <p:cNvPr id="20" name="Text 19"/>
          <p:cNvSpPr txBox="1"/>
          <p:nvPr/>
        </p:nvSpPr>
        <p:spPr>
          <a:xfrm>
            <a:off x="6578600" y="5152580"/>
            <a:ext cx="480060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PECB</a:t>
            </a:r>
          </a:p>
        </p:txBody>
      </p:sp>
      <p:sp>
        <p:nvSpPr>
          <p:cNvPr id="21" name="Text 20"/>
          <p:cNvSpPr txBox="1"/>
          <p:nvPr/>
        </p:nvSpPr>
        <p:spPr>
          <a:xfrm>
            <a:off x="332232" y="5152580"/>
            <a:ext cx="648766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9"/>
              </a:rPr>
              <a:t>pecb.com</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الخصوصية والقطاعات ولينكدإن</a:t>
            </a:r>
          </a:p>
        </p:txBody>
      </p:sp>
      <p:sp>
        <p:nvSpPr>
          <p:cNvPr id="6" name="Text 5"/>
          <p:cNvSpPr txBox="1"/>
          <p:nvPr/>
        </p:nvSpPr>
        <p:spPr>
          <a:xfrm>
            <a:off x="6167120" y="1614638"/>
            <a:ext cx="521208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دليل سدايا لنظام حماية البيانات الشخصية</a:t>
            </a:r>
          </a:p>
        </p:txBody>
      </p:sp>
      <p:sp>
        <p:nvSpPr>
          <p:cNvPr id="7" name="Text 6"/>
          <p:cNvSpPr txBox="1"/>
          <p:nvPr/>
        </p:nvSpPr>
        <p:spPr>
          <a:xfrm>
            <a:off x="362712" y="1614638"/>
            <a:ext cx="607618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2"/>
              </a:rPr>
              <a:t>dgp.sdaia.gov.sa</a:t>
            </a:r>
          </a:p>
        </p:txBody>
      </p:sp>
      <p:sp>
        <p:nvSpPr>
          <p:cNvPr id="8" name="Text 7"/>
          <p:cNvSpPr txBox="1"/>
          <p:nvPr/>
        </p:nvSpPr>
        <p:spPr>
          <a:xfrm>
            <a:off x="6167120" y="2145459"/>
            <a:ext cx="521208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PCI DSS: مكتبة الوثائق</a:t>
            </a:r>
          </a:p>
        </p:txBody>
      </p:sp>
      <p:sp>
        <p:nvSpPr>
          <p:cNvPr id="9" name="Text 8"/>
          <p:cNvSpPr txBox="1"/>
          <p:nvPr/>
        </p:nvSpPr>
        <p:spPr>
          <a:xfrm>
            <a:off x="362712" y="2145459"/>
            <a:ext cx="607618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3"/>
              </a:rPr>
              <a:t>pcisecuritystandards.org</a:t>
            </a:r>
          </a:p>
        </p:txBody>
      </p:sp>
      <p:sp>
        <p:nvSpPr>
          <p:cNvPr id="10" name="Text 9"/>
          <p:cNvSpPr txBox="1"/>
          <p:nvPr/>
        </p:nvSpPr>
        <p:spPr>
          <a:xfrm>
            <a:off x="6167120" y="2676279"/>
            <a:ext cx="521208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COBIT</a:t>
            </a:r>
          </a:p>
        </p:txBody>
      </p:sp>
      <p:sp>
        <p:nvSpPr>
          <p:cNvPr id="11" name="Text 10"/>
          <p:cNvSpPr txBox="1"/>
          <p:nvPr/>
        </p:nvSpPr>
        <p:spPr>
          <a:xfrm>
            <a:off x="362712" y="2676279"/>
            <a:ext cx="6076188"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4"/>
              </a:rPr>
              <a:t>isaca.org/resources/cobit</a:t>
            </a:r>
          </a:p>
        </p:txBody>
      </p:sp>
      <p:sp>
        <p:nvSpPr>
          <p:cNvPr id="12" name="Text 11"/>
          <p:cNvSpPr txBox="1"/>
          <p:nvPr/>
        </p:nvSpPr>
        <p:spPr>
          <a:xfrm>
            <a:off x="6167120" y="3207099"/>
            <a:ext cx="5212080" cy="391120"/>
          </a:xfrm>
          <a:prstGeom prst="rect">
            <a:avLst/>
          </a:prstGeom>
          <a:noFill/>
        </p:spPr>
        <p:txBody>
          <a:bodyPr wrap="square" tIns="0" rIns="0" bIns="0" lIns="0" anchor="t" rtlCol="0" anchorCtr="0">
            <a:noAutofit/>
          </a:bodyPr>
          <a:lstStyle/>
          <a:p>
            <a:pPr algn="r">
              <a:lnSpc>
                <a:spcPts val="3080"/>
              </a:lnSpc>
              <a:spcBef>
                <a:spcPts val="0"/>
              </a:spcBef>
              <a:spcAft>
                <a:spcPts val="0"/>
              </a:spcAft>
            </a:pPr>
            <a:r>
              <a:rPr sz="2200" b="1" i="0">
                <a:solidFill>
                  <a:srgbClr val="172433"/>
                </a:solidFill>
                <a:latin typeface="IBM Plex Sans Arabic"/>
                <a:ea typeface="IBM Plex Sans Arabic"/>
                <a:cs typeface="IBM Plex Sans Arabic"/>
              </a:rPr>
              <a:t>LinkedIn: Open to Work</a:t>
            </a:r>
          </a:p>
        </p:txBody>
      </p:sp>
      <p:sp>
        <p:nvSpPr>
          <p:cNvPr id="13" name="Text 12"/>
          <p:cNvSpPr txBox="1"/>
          <p:nvPr/>
        </p:nvSpPr>
        <p:spPr>
          <a:xfrm>
            <a:off x="362712" y="3207099"/>
            <a:ext cx="607618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5"/>
              </a:rPr>
              <a:t>صفحة المساعدة</a:t>
            </a:r>
          </a:p>
        </p:txBody>
      </p:sp>
      <p:sp>
        <p:nvSpPr>
          <p:cNvPr id="14" name="Text 13"/>
          <p:cNvSpPr txBox="1"/>
          <p:nvPr/>
        </p:nvSpPr>
        <p:spPr>
          <a:xfrm>
            <a:off x="6167120" y="3737920"/>
            <a:ext cx="521208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LinkedIn: الرابط المخصص</a:t>
            </a:r>
          </a:p>
        </p:txBody>
      </p:sp>
      <p:sp>
        <p:nvSpPr>
          <p:cNvPr id="15" name="Text 14"/>
          <p:cNvSpPr txBox="1"/>
          <p:nvPr/>
        </p:nvSpPr>
        <p:spPr>
          <a:xfrm>
            <a:off x="362712" y="3737920"/>
            <a:ext cx="607618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6"/>
              </a:rPr>
              <a:t>صفحة المساعدة</a:t>
            </a:r>
          </a:p>
        </p:txBody>
      </p:sp>
      <p:sp>
        <p:nvSpPr>
          <p:cNvPr id="16" name="Text 15"/>
          <p:cNvSpPr txBox="1"/>
          <p:nvPr/>
        </p:nvSpPr>
        <p:spPr>
          <a:xfrm>
            <a:off x="6167120" y="4268740"/>
            <a:ext cx="521208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1" i="0">
                <a:solidFill>
                  <a:srgbClr val="172433"/>
                </a:solidFill>
                <a:latin typeface="IBM Plex Sans Arabic"/>
                <a:ea typeface="IBM Plex Sans Arabic"/>
                <a:cs typeface="IBM Plex Sans Arabic"/>
              </a:rPr>
              <a:t>LinkedIn: المهارات</a:t>
            </a:r>
          </a:p>
        </p:txBody>
      </p:sp>
      <p:sp>
        <p:nvSpPr>
          <p:cNvPr id="17" name="Text 16"/>
          <p:cNvSpPr txBox="1"/>
          <p:nvPr/>
        </p:nvSpPr>
        <p:spPr>
          <a:xfrm>
            <a:off x="362712" y="4268740"/>
            <a:ext cx="6076188"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u="sng">
                <a:solidFill>
                  <a:srgbClr val="24506B"/>
                </a:solidFill>
                <a:latin typeface="IBM Plex Sans Arabic"/>
                <a:ea typeface="IBM Plex Sans Arabic"/>
                <a:cs typeface="IBM Plex Sans Arabic"/>
                <a:hlinkClick r:id="rId7"/>
              </a:rPr>
              <a:t>صفحة المساعدة</a:t>
            </a:r>
          </a:p>
        </p:txBody>
      </p:sp>
      <p:sp>
        <p:nvSpPr>
          <p:cNvPr id="18" name="Text 1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9" name="Text 1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 يحتاج تحديثاً دورياً</a:t>
            </a:r>
          </a:p>
        </p:txBody>
      </p:sp>
      <p:graphicFrame>
        <p:nvGraphicFramePr>
          <p:cNvPr id="6" name="Table 5"/>
          <p:cNvGraphicFramePr>
            <a:graphicFrameLocks noGrp="1"/>
          </p:cNvGraphicFramePr>
          <p:nvPr/>
        </p:nvGraphicFramePr>
        <p:xfrm>
          <a:off x="815975" y="1661120"/>
          <a:ext cx="10560050" cy="3798888"/>
        </p:xfrm>
        <a:graphic>
          <a:graphicData uri="http://schemas.openxmlformats.org/drawingml/2006/table">
            <a:tbl>
              <a:tblPr firstRow="0" bandRow="0" lastRow="0" firstCol="0" lastCol="0" bandCol="0">
                <a:tableStyleId>{2D5ABB26-0587-4C30-8999-92F81FD0307C}</a:tableStyleId>
              </a:tblPr>
              <a:tblGrid>
                <a:gridCol w="3168015"/>
                <a:gridCol w="2956560"/>
                <a:gridCol w="44354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الشرائح</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متى تراجعها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المعلومة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الشريحتان 155 و156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رسوم الشهادات وتجديدها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110 و117 و157 إلى 159</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 وقبل كل تسجيل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مخططات الاختبارات ولغاتها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95 و96 و160 و161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إصدارات الضوابط والأطر السعودية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41 إلى 44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عند أي تحديث من الهيئة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الإطار الوطني لإدارة المخاطر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89 إلى 94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سنوياً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إصدارات ISO وNIST وPCI DSS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137 و141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سنوياً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حدود لينكدإن ومساراته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59</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نظام حماية البيانات وجهة الإشراف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Readex Pro"/>
        <a:ea typeface=""/>
        <a:cs typeface="Readex Pro"/>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كيف تبدأ في GRC</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