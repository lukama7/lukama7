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مرحباً. هذا الكورس لمن يريد أن يبدأ مساره في الحوكمة والمخاطر والامتثال، أو ما يُختصر بـ GRC، حتى لو لم يعمل في الأمن السيبراني من قبل. سنبدأ بالمفاهيم بلغة بسيطة، ثم الأطر والمعايير التي ستسمع عنها في كل إعلان وظيفي، ثم الشهادات وكيف تختار بينها، ثم الجزء العملي: خطة 90 يوماً، ومشاريع تبني بها خبرة، وكيف تكتب سيرتك وتضبط ملفك في لينكدإن وتستعد للمقابلة. الحروف الثلاثة على اليمين هي الفكرة كلها: الحوكمة تحدد من يقرر وبأي قواعد، والمخاطر تسأل ما الذي قد يحدث وماذا نفعل حياله، والامتثال يسأل هل نلتزم بالقواعد وكيف نثبت ذلك.</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الكورس قسمان. الوحدات الأربع الأولى معرفة: ماذا يعني GRC، والمفاهيم التي ستستخدمها كل يوم، والأطر التي تُذكر في الإعلانات الوظيفية، والشهادات وكيف تختار بينها. والوحدات الأربع الأخيرة عملية: كيف تبني خبرة قبل الوظيفة الأولى، وكيف تكتب سيرة ذاتية تجتاز الفرز الآلي، وكيف تضبط لينكدإن، وكيف تستعد للمقابلة. إن كان وقتك محدوداً فابدأ بالوحدتين 01 و02 ثم انتقل مباشرة إلى 05؛ الخطة العملية أهم من حفظ أسماء الأطر.</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GRC من أكثر مسارات الأمن السيبراني ترحيباً بالقادمين من تخصصات مختلفة، لأنه يجمع الفهم التقني بالكتابة والتحليل والتواصل. الخريج الجديد يبدأ عادة محللاً مبتدئاً، وموظف التقنية يملك ميزة فهم الأنظمة، ومختص التدقيق أو القانون أو الجودة يملك نصف المهارة أصلاً: قراءة النصوص، والأدلة، والعمليات. في نهاية الكورس يجب أن تملك ستة مخرجات ملموسة، لا معلومات فقط. أنصح أن تفتح ملفاً الآن تكتب فيه كل مخرج حين تنجزه.</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الوحدة الأولى تجيب عن سؤال واحد: ما الذي سأفعله فعلاً لو عملت في GRC؟ كثيرون يدخلون هذا المسار بصورة خاطئة: إما أنه «أوراق وسياسات» فقط، أو أنه يحتاج سنوات من الخبرة التقنية. الحقيقة بين الاثنين، وسنراها في خمس شرائح.</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احفظ الأسئلة الثلاثة، فهي أسهل طريقة لشرح GRC في مقابلة. الحوكمة: من يقرر وبأي قواعد وكيف نتابع؟ مثالها قرار تشكيل لجنة إشرافية واعتماد السياسات. المخاطر: ما الذي قد يضرنا، وما احتماله وأثره، وماذا نفعل؟ مثالها سجل مخاطر فيه خطر «حسابات مميزة بلا تحقق متعدد العوامل» بخطة معالجة ومالك وموعد. الامتثال: هل نلتزم بالأنظمة والمعايير وسياساتنا، وكيف نثبت؟ مثاله تقييم فجوات مقابل ضوابط الهيئة الوطنية للأمن السيبراني وسجل أدلة. الفكرة الأهم في الشريط السفلي: الثلاثة ليست أقساماً منفصلة. السياسة بلا تقييم مخاطر تحمي ما لا يهم، والامتثال بلا حوكمة يتحول إلى تعبئة نماذج.</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ثلاثة أسباب تجعل وظائف GRC مستمرة حتى حين تتغير التقنيات. الأول الأنظمة: في المملكة مثلاً تلتزم الجهات الحكومية والجهات المشمولة بضوابط الهيئة الوطنية للأمن السيبراني، ويلتزم من يعالج بيانات شخصية بنظام حماية البيانات الشخصية. النص وحده لا يطبق نفسه؛ أحد يجب أن يقرأه ويحوله إلى خطة وأدلة. الثاني الموارد: الميزانية محدودة دائماً، وتقييم المخاطر هو ما يجيب عن سؤال الإدارة: أين نصرف أولاً؟ الثالث الثقة: حين تتعاقد جهة مع مورد، أو تخضع لتقييم، يُطلب الدليل. لاحظ أننا لم نذكر أرقاماً عن حجم السوق أو الرواتب؛ هذه تتغير بسرعة، وابحث عنها في مصادر حديثة إن احتجتها.</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هذه المقارنة تساعدك أن تختار بوعي. إن كنت تحب الكتابة والتحليل والعمل مع الإدارات المختلفة، فـ GRC مناسب لك. وإن كنت تحب التحقيق اللحظي فمركز العمليات أقرب، أو الاختراق إن كنت تحب كسر الأنظمة، أو الهندسة إن كنت تحب البناء. لكن انتبه للملاحظة في الأسفل: أضعف مختصي GRC هم من لا يفهمون التقنية إطلاقاً، فيقبلون أي لقطة شاشة دليلاً. لا تحتاج أن تكون مهندساً، لكن تحتاج أن تعرف ما هو التحقق متعدد العوامل، وما هو سجل الأحداث، ولماذا يُفصل الشبكة إلى مناطق. والأدوار ليست جزراً معزولة: كثيرون بدؤوا في الدعم الفني أو مركز العمليات ثم انتقلوا إلى GRC، والعكس.</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هذا يوم مركّب من مهام شائعة لمحلل مبتدئ، وليس جدولاً ثابتاً. لاحظ ثلاثة أشياء. الأول: أغلب العمل تواصل ومتابعة؛ الأدلة لا تصل وحدها، والخطط لا تُنفذ دون من يتابعها. الثاني: هناك لحظة حكم مهني، مثل الساعة 12: هل لقطة الشاشة تكفي دليلاً؟ هنا تظهر قيمة فهمك التقني. الثالث: الكتابة حاضرة في كل شيء: إجراء، وتقرير، وشرائح للجنة. لذلك سنعطي السيرة الذاتية ولينكدإن وقتاً كاملاً لاحقاً؛ مهارة الكتابة نفسها تُقيَّم من سيرتك قبل أي مقابلة. والأدوات بسيطة غالباً: جداول البيانات والمستندات، وفي الجهات الكبيرة منصات GRC متخصصة.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الخرافة الأولى تجعل البعض يستخف بالمجال، والثانية تجعل البعض يدخله بلا أساس فيفشل في أول مراجعة دليل. الثالثة هي الأكثر ضرراً للخريجين: كثير من الإعلانات تطلب سنوات خبرة، لكن الجهات توظف مبتدئين أيضاً، وأحياناً بمسميات لا تحمل كلمة GRC: مساعد امتثال، أو محلل مخاطر مبتدئ، أو متدرب تدقيق تقنية المعلومات. والرابعة تجعل البعض يصرف ميزانيته على شهادات متتالية دون أن يبني ما يقوله في المقابلة. سنعالج كل خرافة عملياً في الوحدات القادمة: المفاهيم في الوحدة 02، والشهادات في 04، والمشاريع في 05.</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هذه أطول وحدة في الكورس وأهمها. كل مصطلح فيها ستراه في الإعلانات الوظيفية وفي أسئلة المقابلة وفي العمل اليومي. لا تحفظ التعريفات حرفياً؛ اربط كل مصطلح بمثال من حياتك أو من جهة تعرفها. في آخر الوحدة قاموس بالعربية والإنجليزية، لأن أغلب المصادر والإعلانات تستخدم المصطلحين معاً.</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ثلاثية السرية والسلامة والتوافر، وتُختصر بالإنجليزية CIA، هي أول سؤال في أغلب المقابلات المبتدئة. أجب بمثال لا بتعريف. السرية: ملف رواتب وصل إلى غير المخول. السلامة: أحدهم عدّل مبلغاً في أمر صرف دون أن يُكتشف. التوافر: البوابة الإلكترونية متوقفة بسبب برمجية فدية. لاحظ أن الحادثة الواحدة قد تمس أكثر من ركن: برمجية الفدية توقف الخدمة، وقد تسرب البيانات قبل تشفيرها. بعض المراجع تضيف مفاهيم مثل الأصالة وعدم الإنكار، لكن الثلاثة الأساسية تكفي للبداية.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استخدم مثالاً واحداً لكل المصطلحات، فهذا ما يثبتها في الذاكرة. الأصل الحاسوب وما عليه. التهديد شيء يأتي من الخارج أو من الظروف: سرقة، أو مهاجم، أو خطأ موظف. الثغرة شيء عندنا نستطيع إصلاحه: القرص غير مشفر. الاحتمال والأثر يقدّران الخطر. والخطر نفسه جملة تجمع الثلاثة الأولى. الخطأ الشائع في المقابلات: «التصيد ثغرة». لا؛ التصيد تهديد، والثغرة قد تكون ضعف التوعية أو غياب التحقق متعدد العوامل. وطريقة كتابة الخطر في السجل مهمة: «تسرب الرواتب بسبب سرقة حاسوب غير مشفر» أوضح بكثير من «خطر الحواسيب».</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المصفوفة أبسط أداة لترتيب المخاطر، وستراها في أغلب منهجيات الجهات. كل خطر يأخذ درجة احتمال ودرجة أثر من 1 إلى 5، والناتج يحدد مستواه. خطر الحاسوب في مثالنا: احتمال 3 لأن الموظف يتنقل، وأثر 4 لأن البيانات حساسة، فالناتج 12 وهو في المنطقة العالية، ومحاط بإطار في المصفوفة. نقطتان مهمتان. الأولى: الحدود والألوان قرار من الجهة في منهجيتها المعتمدة، وليست معياراً عالمياً ثابتاً. الثانية: الأرقام تقدير لا قياس دقيق؛ قيمتها في المقارنة بين المخاطر، وفي توحيد طريقة التفكير بين الإدارات. الألوان هنا تختلف في الإضاءة أيضاً، والمستوى مكتوب في المفتاح، فلا يعتمد القارئ على اللون وحده.</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بعد تقييم الخطر نختار واحداً من أربعة خيارات، وقد نجمع بينها. التخفيف هو الأكثر استخداماً: ضابط يقلل الاحتمال أو الأثر، مثل تشفير القرص؛ لو سُرق الحاسوب لا تُقرأ البيانات، فيهبط الأثر من 4 إلى 1. التجنب: نوقف النشاط نفسه. النقل: التأمين أو العقد يحمّل طرفاً آخر جزءاً من الأثر المالي، لكن انتبه: المسؤولية أمام الجهات الرقابية والسمعة لا تنتقل. القبول: مقبول فقط حين يكون قراراً موثقاً ممن يملك الصلاحية، وله مدة ومراجعة؛ «تجاهل الخطر» ليس قبولاً. الشريط السفلي فيه ثلاثة مصطلحات تُسأل كثيراً: الخطر المتأصل قبل أي ضابط، والمتبقي بعد الضوابط، وشهية المخاطر هي الحد الذي تقبله الإدارة.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الضابط هو أي إجراء أو آلية تقلل الخطر. نصنفه بطريقتين. الطبيعة: إداري مثل السياسات والتدريب، وتقني مثل التحقق متعدد العوامل والتشفير، ومادي مثل البطاقات والكاميرات. والوظيفة: وقائي يمنع، وكشفي يكتشف، وتصحيحي يعالج بعد الوقوع. في المقابلة قد يُطلب منك تصنيف ضابط، فاذكر الاثنين معاً: «التحقق متعدد العوامل ضابط تقني وقائي». والفكرة الأهم للعمل: لا تعتمد على نوع واحد. جهة عندها ضوابط وقائية ممتازة بلا ضوابط كشفية لن تعرف متى فشلت الوقاية. بعض المراجع تضيف أنواعاً أخرى مثل الضابط الرادع والتعويضي؛ التعويضي مهم في الامتثال: ضابط بديل حين لا يمكن تطبيق الأصلي.</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كثير من العمل في GRC كتابة ومراجعة لهذه الوثائق، فاعرف الفرق بينها. السياسة قصيرة وعامة: ماذا نريد ولماذا، ويعتمدها صاحب الصلاحية. المعيار يحول السياسة إلى قيم قابلة للقياس، مثل طول كلمة المرور. الإجراء يحول المعيار إلى خطوات بمسؤول وتوقيت. والإرشاد توصيات تساعد ولا تلزم. الخطأ الشائع: سياسة طولها عشرون صفحة فيها كل التفاصيل التقنية، فتحتاج اعتماداً من الرئيس التنفيذي كلما تغير رقم. فصل المستويات يجعل تحديث المعيار أسهل من تحديث السياسة. القيم في الشريحة أمثلة فقط؛ لا تنقلها كما هي إلى جهة حقيقية دون الرجوع إلى المتطلبات المنطبقة عليها.</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هذا النموذج من معهد المدققين الداخليين، وتستخدمه جهات كثيرة لتوزيع المسؤوليات. الخط الأول يملك المخاطر فعلاً: من يدير النظام هو من يطبق الضابط عليه. الخط الثاني، وفيه أغلب وظائف GRC، يضع الإطار والمنهجيات، ويدعم الخط الأول، ويراقب ويتحدى: هل الضابط مطبق فعلاً؟ والخط الثالث، المراجعة الداخلية، يعطي تأكيداً مستقلاً لمجلس الإدارة أو صاحب الصلاحية، ولذلك لا يصمم الضوابط ولا ينفذها. لماذا يهمك هذا؟ لأنه يحدد أين ستعمل: وظيفة «محلل امتثال الأمن السيبراني» خط ثانٍ غالباً، و«مدقق تقنية المعلومات» خط ثالث، ولكل منهما مسار شهادات مختلف قليلاً كما سنرى. التوزيع الدقيق يختلف من جهة لأخرى.</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الامتثال بلا دليل ادعاء. على اليمين أربعة أنواع من الأدلة مرتبة من الأضعف إلى الأقوى غالباً: الوثيقة تثبت أن القاعدة موجودة، والإعداد يثبت أن الضابط مضبوط، والسجلات تثبت أنه عمل فعلاً، والمقابلة والملاحظة تكمل الصورة. والدليل الجيد له أربع صفات: مرتبط بالضابط، ومؤرخ ضمن فترة التقييم، وصادر من مصدره، ويغطي المجتمع كله أو عينة مختارة بطريقة مبررة من قائمة مكتملة. وعلى اليسار عناصر الملاحظة كما يكتبها المدقق: الوضع القائم، والمعيار الذي يخالفه، والسبب، والأثر، والتوصية. تدرب على كتابة ملاحظاتك بهذا الشكل من الآن، فهذا ما يميز المحلل الجيد في أول تقرير يكتبه. إن أردت التعمق، فكورس ECC-2:2024 المرافق فيه تمارين كاملة على قراءة الأدلة.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إدارة مخاطر الأطراف الخارجية، وتختصر بالإنجليزية TPRM، من أسرع مجالات GRC نمواً، لأن الجهات تعتمد على السحابة ومراكز العمليات المُدارة والمطورين الخارجيين. الدورة خمس مراحل. الأهم المرحلتان الثانية والثالثة: تقييم المخاطر قبل التعاقد، وبنود العقد. بعد التوقيع يصعب أن تفرض على المورد شروطاً جديدة. وللمرحلة الأخيرة أهمية تُنسى: عند انتهاء العقد، أين بياناتنا؟ هل أُعيدت بصيغة قابلة للاستخدام؟ هل حُذفت بشهادة؟ هل أُلغيت حسابات فريق المورد؟ كثير من الوظائف المبتدئة في GRC تبدأ من هنا: إرسال الاستبيانات للموردين وتحليل ردودهم.</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مجالان قريبان من GRC، وكثير من الوظائف تجمعهما معه. الاستمرارية: تحليل أثر الأعمال يجيب عن سؤالين لكل خدمة مهمة. RTO هو أقصى مدة توقف مقبولة حتى تعود الخدمة. وRPO هو أقصى كمية بيانات مقبول خسارتها، وتقاس بالوقت إلى الوراء حتى آخر نسخة. في المثال، إن كانت النسخة يومية وRPO أربع ساعات فهناك فجوة، وهذه ملاحظة تدقيق. الخصوصية: نظام حماية البيانات الشخصية السعودي يطبق على من يعالج بيانات أفراد في المملكة، والجهة المختصة الهيئة السعودية للبيانات والذكاء الاصطناعي، سدايا. صدر بالمرسوم الملكي م/19 بتاريخ 9/2/1443هـ، ودخل حيز النفاذ في 14 سبتمبر 2023، مع مهلة سنة للالتزام انتهت في 14 سبتمبر 2024، بحسب دليل سدايا الرسمي للنظام. النقاط هنا مبادئ عامة مختصرة. مدد الإبلاغ والتفاصيل في اللائحة التنفيذية، وقد تتغير، فارجع دائماً إلى النص الرسمي في موقع سدايا قبل أي استخدام عملي.</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هذه مرجع سريع، لا تحاول حفظها دفعة واحدة. لاحظ أن الإعلانات الوظيفية في المنطقة تكتب كثيراً بالإنجليزية حتى لجهات محلية، فاعرف المصطلحين. ثلاثة منها تُسأل عنها كثيراً في المقابلات: سجل المخاطر، فاعرف أعمدته؛ وبيان قابلية التطبيق في ISO 27001؛ وفصل المهام، ومثاله الكلاسيكي أن من يطلب الدفعة المالية لا يعتمدها. وتمرين مقترح: افتح خمسة إعلانات وظيفية لـ GRC Analyst، وظلل كل مصطلح من هذه القائمة يظهر فيها. ستلاحظ أن هذه اللغة نفسها تتكرر.</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الإطار هو المرجع الذي نقيس عليه: قائمة متطلبات أو ضوابط مرتبة. بعض الأطر إلزامية على جهات معينة، مثل ضوابط الهيئة الوطنية للأمن السيبراني على الجهات الحكومية والبنية التحتية الحساسة، وبعضها اختياري تتبناه الجهة طوعاً أو لتحصل على شهادة، مثل ISO 27001. في هذه الوحدة نأخذ صورة عامة، ثم نتعمق في إطارين عالميين، ثم الأطر السعودية، وننتهي بتوصية: بأي إطار تبدأ دراستك.</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بدل حفظ أسماء الأطر، صنفها حسب السؤال الذي تجيب عنه. العمود الأول أنظمة إدارة من ISO تُمنح عليها شهادة من جهة مانحة معتمدة. الثاني أطر تساعد على اختيار الضوابط وترتيبها: NIST CSF لغة عامة، وNIST SP 800-53 قائمة ضوابط مفصلة جداً، وضوابط CIS قائمة عملية مرتبة بالأولوية. الثالث حوكمة: COBIT من ISACA، وهو أساس شهادة CGEIT، وCOSO للرقابة الداخلية، وتراه كثيراً في التدقيق المالي. الرابع متطلبات يفرضها القطاع أو العميل: PCI DSS على من يعالج بيانات البطاقات، وتقرير SOC 2 يطلبه العملاء من مزودي الخدمات السحابية، خاصة في السوق الأمريكي. وفي الواقع تعمل الجهة بعدة أطر معاً، فتبني مصفوفة مواءمة تربط كل ضابط داخلي بكل متطلب يحققه، فلا يتكرر العمل. أرقام الإصدارات تتغير، فتحقق من الإصدار الحالي في الموقع الرسمي لكل إطار.</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ISO/IEC 27001 أشهر معيار لأمن المعلومات في العالم، وهو قابل للشهادة. البنود من 4 إلى 10 هي متطلبات نظام الإدارة نفسه: حدد نطاقك، والتزام القيادة، وقيّم المخاطر، ووفر الموارد، وشغّل، وقِس ودقق داخلياً، وحسّن. هذه البنود إلزامية بالكامل لمن يريد الشهادة. أما الملحق A في إصدار 2022 فيضم 93 ضابطاً في أربعة محاور: 37 تنظيمية، و8 بشرية، و14 مادية، و34 تقنية. تختار منها ما يعالج مخاطرك، وتوثق القرار والمبرر في بيان قابلية التطبيق. أما المعيار المرافق ISO/IEC 27002 فيشرح كل ضابط بالتفصيل، وهو مفيد جداً للمذاكرة. وانتهت الفترة الانتقالية من إصدار 2013 في 31 أكتوبر 2025، فالشهادات السارية الآن على إصدار 2022. وصدر للمعيار تعديل صغير في 2024 يخص تغير المناخ، ولم يغير عدد الضوابط. ونسخة المعيار مدفوعة من موقع ISO، لكن ملخصات الضوابط متاحة في مصادر كثيرة.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إطار الأمن السيبراني من المعهد الوطني الأمريكي للمعايير والتقنية، NIST، طوعي، ويستخدم عالمياً كلغة مشتركة بين الفنيين والإدارة. صدر الإصدار 2.0 في فبراير 2024، وأهم تغيير فيه إضافة وظيفة سادسة هي الحوكمة، وتوضع في مركز الدائرة لأنها تحيط بالوظائف الخمس الأخرى. تحت الوظائف 22 فئة و106 فئات فرعية تصف النتائج المطلوبة، لا الأدوات. وأداتان مهمتان: الملف التعريفي الحالي والمستهدف، والفرق بينهما خطة عمل؛ والمستويات الأربعة: جزئي، ومطلع على المخاطر، وقابل للتكرار، ومتكيف. الإطار وكل وثائقه مجانية على موقع NIST، ولهذا أنصحك به كأول إطار تقرأه كاملاً. والملاحظة نفسها: تأكد من الإصدار الحالي قبل الاستشهاد به.</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إن كنت تستهدف سوق العمل السعودي فهذه الأطر أهم لك من أي إطار عالمي، لأن كثيراً منها إلزامي. الهيئة الوطنية للأمن السيبراني تصدر مجموعة ضوابط، أساسها الضوابط الأساسية ECC-2:2024، وتنطبق على الجهات الحكومية وجهاتها التابعة وجهات البنية التحتية الوطنية الحساسة. وبقية الضوابط تضيف متطلبات لسياقات محددة: السحابة، والبيانات، والأنظمة الحساسة، والتقنية التشغيلية، والعمل عن بعد، وحسابات التواصل الاجتماعي. أما ساما فلها إطارها الخاص للقطاع المالي الخاضع لإشرافها. والخصوصية عند سدايا. ولاحظ الإطار السعودي لكوادر الأمن السيبراني، وإصداره الحالي 1.5 لعام 2026: فيه فئة «الحوكمة والمخاطر والامتثال والأنظمة»، ومن أدوارها مسؤول مخاطر الأمن السيبراني، ومسؤول الامتثال، ومسؤول السياسات، ومقيّم الضوابط الأمنية، ومدقق الأمن السيبراني. استخدم أسماء هذه الأدوار ومهامها في سيرتك، لأنها لغة السوق المحلي. نطاق الانطباق هنا مختصر؛ النص الرسمي لكل ضابط يحدد نطاقه بدقة. الإصدارات تحققنا منها في 27 أكتوبر 2026 من nca.gov.sa وrulebook.sama.gov.sa، فراجعها قبل الاستشهاد بها.</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هذا ترتيب مقترح، وليس قاعدة. NIST CSF أولاً لأنه مجاني ومتاح كاملاً، ويعطيك خريطة ذهنية. ثم ISO 27001 لأنه يعلمك منطق نظام الإدارة: سياسة، ومخاطر، وتدقيق داخلي، ومراجعة إدارة، وتحسين، وهذه اللغة نفسها في كل وظيفة GRC. ثم إطار القطاع الذي تريد العمل فيه. وإن كنت في السعودية وتستهدف الحكومة، فلا مانع أن تبدأ بـ ECC مباشرة؛ الكورس المرافق عن ECC-2:2024 يشرحه ضابطاً ضابطاً. وأهم من الترتيب طريقة المذاكرة: الأسئلة الأربعة على اليسار. السؤال الرابع، المواءمة، هو ما يجعلك مفيداً لجهة تطبق أكثر من إطار.</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قبل أن ندخل في الشهادات، ثلاث حقائق. الأولى: الشهادة لا تعوض الفهم؛ المقابلة ستكشف الفرق خلال دقائق. الثانية: بعض الشهادات الكبيرة، مثل CISA وCISM وCISSP، تشترط سنوات خبرة قبل أن تُمنح، فلا تبدأ بها. الثالثة: الرسوم والشروط تتغير، والأرقام في هذه الوحدة من المواقع الرسمية وقت إعداد الكورس، فتحقق منها قبل التسجيل. الصور في هذه الوحدة بطاقات تعريفية صممناها للتوضيح، وليست شعارات الجهات المانحة.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هذه الخريطة كلها في شريحة واحدة، ثم نأخذ كل مجموعة بالتفصيل. المرحلة الأولى لمن لا خبرة له: شهادة واحدة تكفي غالباً، CC أو Security+. وأضفنا IT Risk Fundamentals من ISACA، وهي شهادة إتمام للمبتدئين حلت مع IT Audit Fundamentals محل شهادة ITCA التي أوقفتها ISACA. المرحلة الثانية تعطيك مهارة محددة: ISO 27001 منفذ رئيسي أو مدقق رئيسي، وتقدمها جهات تدريب معتمدة؛ أو GRCP من OCEG؛ أو شهادات الخصوصية من IAPP. والمرحلة الثالثة شهادات قوية في السوق، لكن الجهات المانحة تشترط سنوات خبرة موثقة قبل منحها، ولو نجحت في الاختبار. وضع CGRC هنا لأنه يشترط خبرة أيضاً، وإن كانت أقل من CISSP. التفاصيل الدقيقة لكل شهادة في الشرائح التالية.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شهادة واحدة من هذه تكفي للبداية. CC من ISC2 مصممة للمبتدئين تماماً، ومخطط اختبارها الجديد منذ 1 سبتمبر 2026 أضاف مجالاً للحوكمة الأمنية بنسبة 17.3%، وهذا مناسب لمن يتجه إلى GRC. تنبيه مهم: برنامج المليون شهادة المجانية انتهى. أعلنت ISC2 ذلك في 22 أبريل 2026، وأوقفت التسجيل في 20 مايو 2026، ومن لديه رمز اختبار مجاني سارٍ يجب أن يختبر قبل 31 ديسمبر 2026. Security+ أوسع وأعمق تقنياً، ومطلوبة كثيراً في الإعلانات. السعر الرسمي لم نتمكن من قراءته لأن موقع CompTIA يعرضه ديناميكياً حسب الدولة؛ مواقع غير رسمية تذكر نحو 425 دولاراً، ولم نتحقق من ذلك، فراجع موقع CompTIA. ولا يُقدَّم أي من الاختبارين بالعربية. المصادر: isc2.org/certifications/cc وصفحة أسعار اختبارات ISC2 وصفحة إعلان انتهاء البرنامج؛ comptia.org/en-us/certifications/security؛ isaca.org/credentialing/it-risk-fundamentals-certificate. تاريخ التحقق 27 أكتوبر 2026.</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GRCP من OCEG من الشهادات القليلة المصممة لـ GRC نفسه، ومبنية على نموذج OCEG للقدرات: 30% مفاهيم أساسية و70% النموذج. لا تُباع منفصلة، بل ضمن اشتراك OCEG السنوي، وإعادة الاختبار مجانية. لاحظ أن صفحة OCEG تقول إن الشهادة تتجدد سنوياً مع الاشتراك، وفي الأسئلة الشائعة تقول إنك تحتاج النجاح مرة كل 5 سنوات؛ هذا تعارض في المصدر نفسه، فاسألهم. أما ISO 27001 فلا تصدرها ISO نفسها، بل جهات اعتماد وتدريب مثل PECB وBSI وغيرهما، ولكل جهة شروطها. أخذنا أرقام PECB مثالاً من أدلة المرشحين لعام 2026: الاختبار 80 سؤالاً بكتاب مفتوح، ودرجة Provisional لا تحتاج خبرة. مدة الاختبار ثلاث ساعات في كتيب 2024، ولم تُذكر في أدلة 2026. ولم نتحقق من قيمة الرسم السنوي ولا من توفر الاختبار بالعربية. سعر الدورة مع الاختبار يحدده مقدم التدريب. اختر Lead Implementer إن أردت تطبيق النظام في جهة، وLead Auditor إن أردت التدقيق. المصادر: oceg.org/certifications/grc-professional-certification؛ pecb.com وأدلة المرشحين؛ bsigroup.com. تاريخ التحقق 27 أكتوبر 2026.</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شهادات ISACA الأربع الكبيرة تشترك في الشكل: 150 سؤالاً في أربع ساعات، والنجاح 450 على مقياس من 200 إلى 800، والرسوم نفسها، ولكل محاولة رسم كامل، وحد أقصى أربع محاولات في 12 شهراً. الفرق في الخبرة والمحتوى. CISA للتدقيق، وهي الأشهر لوظائف المراجعة الداخلية لتقنية المعلومات، أي الخط الثالث. CRISC للمخاطر، وهي الأقرب لعمل محلل GRC في الخط الثاني، ومجالاتها: الحوكمة 26%، وتقييم المخاطر 22%، والاستجابة والتقارير 32%، والتقنية والأمن 20%. القاعدة المهمة للمبتدئ: ISACA تسمح لك بالاختبار قبل اكتمال الخبرة، ثم تقديم طلب الشهادة خلال 5 سنوات من النجاح. لكن لا تبدأ بها؛ ابدأ بشهادة مدخل وخبرة، ثم عد إليها. ولا تُقدَّم بالعربية. المصادر: isaca.org/credentialing/cisa وisaca.org/credentialing/crisc ودليل المرشح لعام 2026. تاريخ التحقق 27 أكتوبر 2026.</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CISM لمن يدير برنامج أمن المعلومات: الحوكمة، وإدارة المخاطر، والبرنامج، وإدارة الحوادث. أوزان المخطط الحالي: الحوكمة 17%، والمخاطر 20%، والبرنامج 33%، والحوادث 30%. لكن ISACA أعلنت مخطط اختبار جديداً يبدأ في 3 نوفمبر 2026، ولم تنشر أوزانه الجديدة في الصفحة وقت التحقق، فارجع إليها قبل أن تشتري أي مادة مذاكرة. CGEIT للقيادات التي تحكم تقنية المعلومات على مستوى الجهة، وتستند إلى COBIT، وشرط الخبرة فيها يشمل سنة على الأقل في المجال الأول، ولا إعفاء فيه. هاتان الشهادتان للمرحلة الثالثة؛ اعرفهما لتخطط، لا لتبدأ بهما. المصادر: isaca.org/credentialing/cism وisaca.org/credentialing/cgeit ودليل المرشح. تاريخ التحقق 27 أكتوبر 2026.</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CGRC هي الشهادة الوحيدة هنا التي تحمل GRC في اسمها، وكانت تسمى CAP حتى 15 فبراير 2023، وكانت مرتبطة بإطار إدارة المخاطر الأمريكي، فإن رأيت CAP في سيرة أحد فهي نفسها. شرط الخبرة سنتان فقط، والعمل بدوام جزئي والتدريب يُحتسبان بشروط. CISSP أوسع بكثير، ثماني مجالات تقنية وإدارية، ومجال الأمن وإدارة المخاطر فيها 16% فقط من الاختبار، فهي ليست شهادة GRC خالصة لكنها مطلوبة كثيراً للمناصب القيادية. وفي ISC2 مسار مفيد للمبتدئ: إن نجحت قبل اكتمال الخبرة تصبح Associate of ISC2 برسم سنوي 50 دولاراً، ثم تُمنح الشهادة عند اكتمال الخبرة: 3 سنوات مهلة في CGRC، و6 في CISSP. وتحتاج تزكية من عضو معتمد خلال 9 أشهر من النجاح. ولا تُقدَّمان بالعربية. المصادر: isc2.org/certifications/cgrc وisc2.org/certifications/cissp وisc2.org/certifications/associate وصفحة أسعار الاختبارات. تاريخ التحقق 27 أكتوبر 2026.</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إن كنت تميل إلى الخصوصية فهذه ثلاث شهادات معروفة. CIPP/E، أي Certified Information Privacy Professional/Europe، تركز على القانون: اللائحة الأوروبية GDPR. CIPM، أي Certified Information Privacy Manager، تركز على بناء برنامج الخصوصية وتشغيله داخل الجهة، وهي قريبة جداً من عمل GRC. وCDPSE من ISACA، أي Certified Data Privacy Solutions Engineer، للجانب التقني: كيف تصمم الأنظمة لتحمي الخصوصية. لم نجد في صفحات IAPP شرط خبرة لـ CIPP/E وCIPM. سعر إعادة الاختبار في IAPP كان 375 دولاراً في دليل المرشح لعام 2022، ولم نتحقق من السعر الحالي. ولا تُقدَّم أي منها بالعربية. وفي السعودية، الوظيفة المقابلة في الإطار السعودي لكوادر الأمن السيبراني هي مسؤول حماية البيانات. المصادر: iapp.org/certify/cippe وiapp.org/certify/cipm وstore.iapp.org وisaca.org/credentialing/cdpse. تاريخ التحقق 27 أكتوبر 2026.</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هذه الشريحة تلخص كل ما سبق في صورة واحدة: الأعمدة حسب سنوات الخبرة المطلوبة قبل منح الشهادة، والرقم بجانب كل شهادة رسم الاختبار لغير الأعضاء بالدولار. أعضاء ISACA يدفعون 575 بدل 760. وانتبه لثلاث ملاحظات. الأولى: Security+ سعرها الرسمي لم نتمكن من قراءته، فكتبنا «غير مؤكد». الثانية: GRCP لا تُباع منفصلة، بل ضمن اشتراك OCEG السنوي: 499 دولاراً أول سنة. الثالثة: ISO 27001 يحدد سعرها مقدم التدريب، ودرجة Provisional عند PECB لا تحتاج خبرة، بينما لقب Lead يحتاج 5 سنوات. وتذكر أن الرسم السنوي للمحافظة على الشهادة يتراكم: من 45 إلى 135 دولاراً سنوياً حسب الجهة. الأرقام من المواقع الرسمية في 27 أكتوبر 2026، وتتغير، فراجعها قبل الدفع.</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هذه مسارات نقترحها نحن، وليست شروطاً من أي جهة. الفكرة: حدد الوظيفة أولاً، ثم اختر الشهادة التي تخدمها. محلل الامتثال في الخط الثاني يستفيد من ISO 27001 منفذ رئيسي لأنه يعلمه كيف يُبنى النظام، ثم CRISC أو CGRC حين تكتمل خبرته. ومدقق تقنية المعلومات في الخط الثالث يبدأ بشهادة مدخل، أو بشهادة إتمام IT Audit Fundamentals من ISACA، ثم مدقق رئيسي ISO 27001، وهدفه CISA. ومن يميل إلى الخصوصية يتجه إلى IAPP ثم CDPSE. أما الشهادات القيادية فهدف بعيد لكل المسارات. والقاعدة في الأسفل مهمة: كثير من المبتدئين يجمعون أربع شهادات مدخل بلا مشروع واحد. شهادة واحدة ومشروعان أقوى في المقابلة من أربع شهادات وحدها.</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هذه طريقة عامة تصلح لأي شهادة. ابدأ دائماً بمخطط الاختبار الرسمي من موقع الجهة، فهو مجاني ويحدد المجالات ونسبة كل مجال؛ وزّع وقتك عليها بالنسبة نفسها. ثم مصدر أساسي واحد، وبنك أسئلة واحد. والخطأ الأشهر: حفظ إجابات بنك الأسئلة. الاختبار الحقيقي يصوغ الأسئلة بطريقة مختلفة، فافهم السبب. وفي شهادات ISACA وISC2 بالذات، كثير من الأسئلة تطلب أفضل إجراء أو أول إجراء، والإجابة الصحيحة غالباً هي التي تبدأ بفهم المخاطر أو بإشراك الإدارة، لا بالحل التقني المباشر. وانتبه للتواريخ التي تحققنا منها: مخطط CC الجديد منذ 1 سبتمبر 2026، وCISM من 3 نوفمبر 2026، وSecurity+ SY0-801 نحو 17 نوفمبر 2026، وCISSP من 15 أبريل 2027. إن اشتريت كتاباً قديماً لاختبار بعد هذه التواريخ فقد تذاكر محتوى تغير.</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كل الإعلانات تطلب خبرة، وكل مبتدئ يسأل: كيف أحصل على خبرة بلا وظيفة؟ الجواب في هذه الوحدة: مشاريع صغيرة واقعية تعملها بنفسك، وتنشرها، وتتكلم عنها في المقابلة بثقة. المدير الذي يقرأ سجل مخاطر كتبته أنت لشركة افتراضية يرى مهارتك مباشرة، وهذا أقوى من سطر في السيرة يقول «مهتم بـ GRC».</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هذه خطة مقترحة لمن يبدأ من الصفر، وليست وعداً بوظيفة خلال تسعين يوماً؛ مدة البحث عن عمل تختلف كثيراً حسب السوق والمدينة والتخصص. الفكرة أن كل مرحلة تنتهي بمخرَج ملموس تستطيع أن تريه لأحد. المرحلة الأولى بناء الأساس. الثانية تحويل المعرفة إلى عمل منشور، وهي الأهم. الثالثة دخول السوق: سيرة، وLinkedIn، وطلبات، ومحادثات تعريفية، وهي محادثة قصيرة تطلب فيها من مختص في المجال أن يحدثك عن عمله، لا أن يوظفك. ولا تؤجل التقديم حتى تحصل على الشهادة؛ قدّم بالتوازي.</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لا تحتاج المشاريع الستة كلها؛ مشروعان أو ثلاثة جيدة أفضل من ستة متسرعة. ابدأ بالأول والثاني لأنهما الأكثر طلباً. اخترع شركة افتراضية واحدة، مثلاً شركة توصيل متوسطة الحجم في الرياض بمئتي موظف، واستخدمها في كل المشاريع؛ هكذا تصبح قصة متكاملة تحكيها في المقابلة. اكتب في بداية كل مشروع صفحة قصيرة: المشكلة، وما فعلته، وما تعلمته. والتحذير مهم: لا تنشر أي وثيقة أو بيانات من جهة حقيقية، حتى من جهة تدربت فيها؛ هذا يخالف السرية، وهي أول قيمة في المهنة. تمارين كراسة ECC المرافقة تصلح نقطة انطلاق للمشروعين الثاني والسادس.</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المهارات في عمودين. مهارات المجال تتعلمها من هذا الكورس ومن المشاريع ومن مذاكرة الشهادة. منصات GRC التجارية كثيرة ومكلفة ولن تجدها مجاناً غالباً، فلا تقلق إن لم تجربها؛ يكفي أن تعرف ما تفعله: سجلات للمخاطر والضوابط، وتقييمات، وسير عمل للموافقات، ولوحات متابعة. وإن ذكرتها في المقابلة فقل بصدق إنك تعرف المفهوم ولم تستخدمها. أما المهارات الشخصية فهي في الغالب ما يميز محلل GRC الجيد: نصف العمل إقناع أشخاص لا يتبعون لك أن يغيروا طريقة عملهم. والإنجليزية ضرورية للمصادر والاختبارات، وكثير من الجهات تكتب تقاريرها بها.</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السيرة الذاتية وثيقة تسويقية، وليست سجلاً لكل ما فعلت. هدفها الوحيد أن تحصل على مقابلة. في هذه الوحدة نرى نموذج سيرة كاملة لمبتدئ في GRC، ثم كيف تمر من أنظمة الفرز الآلي، ثم كيف تكتب الإنجازات، ثم ماذا تكتب إن لم تكن لديك خبرة، وأخيراً أكثر الأخطاء شيوعاً. أغلب الإعلانات في المنطقة تطلب سيرة بالإنجليزية، فسنعرض النماذج بالإنجليزية.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على اليسار نموذج سيرة لمبتدئة افتراضية، والاسم والبيانات كلها مثال. لاحظ الترتيب: الاسم والعنوان المهني، ثم ملخص قصير، ثم المهارات، ثم المشاريع، وفي الأسفل التعليم والشهادات. اللغات تضيفها سطراً قصيراً إن كان لديك مكان. المبتدئ يقدم المشاريع على التعليم لأنها أقوى دليل عنده. وإن كانت لديك خبرة عمل، ولو في مجال قريب مثل الدعم الفني أو التدقيق المالي، فضع قسم الخبرة قبل المشاريع. وكل سطر في المشاريع يبدأ بفعل وينتهي بنتيجة أو رقم، وسنتدرب على ذلك بعد شريحتين. والقاعدة المهمة: لا تضع شهادة لم تحصل عليها. اكتب «قيد الدراسة» مع موعد الاختبار المتوقع، فهذا صادق ومقبول.</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كثير من الشركات تستخدم نظام تتبع المتقدمين، ATS، يستخرج النص من سيرتك ويقارنه بالإعلان قبل أن يراها إنسان. الأنظمة تختلف كثيراً، وبعضها الحديث يقرأ التنسيقات المعقدة جيداً، لكن البسيط أضمن دائماً. القاعدة: إن لم تستطع أن تنسخ نص سيرتك وتلصقه في ملف نصي فيظهر مرتباً، فقد يواجه النظام المشكلة نفسها. وتمرين المطابقة على اليسار مهم: إذا قال الإعلان risk assessment فاكتبها بالصيغة نفسها، لا بمرادف. لكن لا تكتب مصطلحاً لا تعرفه؛ النظام قد يمررك، والمقابلة لن تمررك. وأيضاً عدّل السيرة قليلاً لكل إعلان مهم، بدل إرسال نسخة واحدة للجميع.</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الجملة على اليمين تصف مهمة؛ الجملة على اليسار تثبت قدرة. والفرق في المعادلة: فعل قوي، ثم ماذا فعلت، ثم بأي طريقة، ثم النتيجة. المثال الثالث مهم لمن عنده خبرة في مجال قريب: الدعم الفني ليس بعيداً عن GRC؛ طلبات الصلاحيات وسير الموافقات ضوابط فعلية، فصِغها بلغة GRC. وتحذير ضروري: الأرقام في الأمثلة توضيحية. اكتب أرقامك الحقيقية فقط، فكل رقم في سيرتك قد تُسأل عنه في المقابلة: كيف حسبته؟ إن لم يكن لديك رقم فاكتب النتيجة النوعية، مثل «اعتمدتها الإدارة» أو «استُخدمت في التدقيق».</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كثير من العاملين في GRC جاؤوا من مجالات أخرى، فلا تكتب «لا خبرة» وأنت عملت في مجال قريب. على اليمين خمس خلفيات شائعة وما يقابلها في GRC. موظف الدعم الفني تعامل مع طلبات صلاحيات وموافقات، وهذه ضوابط وصول. والمحاسب يعرف الرقابة الداخلية والعينات والأدلة أكثر من كثير من التقنيين. والقانوني قريب جداً من الامتثال والخصوصية. صغ هذه الخبرة بلغة GRC كما تدربنا في شريحة الإنجازات. وإن لم تكن لديك أي خبرة عمل، فعلى اليسار أقسام بديلة: المشاريع، والتدريب التعاوني، والتطوع، ومشروع التخرج. التطوع خيار يُنسى: جمعية خيرية صغيرة قد تحتاج من يكتب لها سياسة كلمات مرور أو نسخ احتياطي، وهذه تجربة حقيقية تذكرها.</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راجع سيرتك على هذه القائمة قبل أن ترسلها. اثنان منها مهمان بالذات في GRC. الأول: الأخطاء الإملائية؛ وظيفتك ستكون مراجعة وثائق واكتشاف الأخطاء، فخطأ في سيرتك يرسل رسالة سيئة. الثاني: المعلومات الحساسة. لا تضع رقم الهوية أو الجواز أو تاريخ الميلاد إن لم يطلبها الإعلان؛ مختص حماية بيانات يضع بياناته الحساسة في ملف يرسله لعشرات الجهات يناقض ما يعمل عليه. والخطأ الذي لا يُغتفر: شهادة لم تحصل عليها. الجهات تتحقق، وسجلات حاملي الشهادات متاحة للتحقق لدى كثير من الجهات المانحة.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السيرة ترسلها أنت، أما LinkedIn فيجدك من خلاله الآخرون. مسؤولو التوظيف يبحثون بكلمات مثل GRC Analyst وISO 27001 وNCA ECC، فإن لم تكن هذه الكلمات في ملفك فلن تظهر لهم. في هذه الوحدة: شكل الملف المكتمل، ثم العنوان المهني، ثم النبذة، ثم كيف تبني شبكتك وتنشر، وأخيراً كيف تستخدم البحث عن الوظائف. الحدود والمقاسات المذكورة من صفحات مساعدة LinkedIn، وتحققنا منها في 27 أكتوبر 2026.</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على اليسار نموذج مبسط لملف مكتمل، رسمناه للتوضيح وليس لقطة من LinkedIn. الأرقام على اليمين من صفحات مساعدة LinkedIn: الصورة الشخصية بين 400×400 و7680×4320 بكسل، وحتى 8 ميغابايت، بصيغة JPG أو PNG. وصورة الخلفية مقاسها الموصى به 1584×396 بكسل. والرابط المخصص من 3 إلى 100 حرف، بلا مسافات أو رموز، ولا يحتوي كلمة LinkedIn، وتستطيع تغييره حتى 5 مرات في 6 أشهر. وتستطيع إضافة حتى 100 مهارة. أما قسم Featured فيعرض منشوراتك ومقالاتك وروابط وملفات خارجية أعلى الملف، ولا يظهر إن كان فارغاً. والخلفية فرصة: ضع فيها مجالك بكلمات قليلة. المصادر: صفحات مساعدة LinkedIn عن الصورة والخلفية والمهارات والرابط وقسم Featured، وتاريخ التحقق 27 أكتوبر 2026.</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العنوان المهني يظهر تحت اسمك في كل مكان: نتائج البحث، والتعليقات، وطلبات التواصل. لذلك هو أهم سطر. الأمثلة الضعيفة على اليمين لا تحتوي أي كلمة يبحث بها مسؤول التوظيف. والقوية تتبع المعادلة: الوظيفة المستهدفة، ثم مجالان أو ثلاثة، ثم دليل. كلمة Entry-Level صادقة وتوضح مستواك، فلا تكتب GRC Analyst وحدها إن لم تعمل بها بعد. والمثال الثاني لمن ينتقل من مجال قريب. والثالث بالعربية، ويصلح إن كانت الجهات التي تستهدفها تبحث بالعربية؛ ولا مانع من الدمج. عن الطول: لم نجد في صفحات مساعدة LinkedIn حداً رسمياً لعدد الحروف؛ مواقع غير رسمية تذكر 220 حرفاً، ولم نتحقق منه. والقاعدة العملية: ضع أهم الكلمات في البداية.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النبذة مساحة تقول فيها ما لا تتسع له السيرة، لكن بلا إطالة. أربعة أجزاء: افتتاح يقول من أنت، ودليل من مشاريعك، ومجالات وأطر بكلمات البحث، ودعوة للتواصل. النموذج على اليسار لمبتدئة افتراضية، والألوان تبين كل جزء. اكتب بصيغة المتكلم وبلغة بسيطة. الحد الأقصى 2,600 حرف بحسب مدونة LinkedIn الرسمية للتوظيف في أبريل 2024، وليس في صفحات المساعدة؛ ونقترح 150 إلى 250 كلمة لأنها تُقرأ كاملة، وهذا اقتراح منا لا قاعدة. وإن كنت تستهدف جهات محلية تقرأ بالعربية، فاكتب فقرة عربية قصيرة بعد الإنجليزية.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الشبكة ليست عدداً، بل أشخاص في المجال يعرفون اسمك. أضف من يعمل فيما تريد أن تعمل فيه، واكتب رسالة قصيرة مع طلب التواصل تذكر فيها سبباً حقيقياً، كما في المثال. الاسم في المثال افتراضي. ولا تطلب وظيفة في الرسالة الأولى. والنشر يجعلك مرئياً: لا تحتاج أن تكون خبيراً لتكتب؛ اكتب ما تعلمته هذا الأسبوع، فهذا يثبت أنك تتعلم باستمرار. اقتراحنا، وهو اقتراح لا قاعدة: منشور واحد أسبوعياً، وتعليقات مفيدة على منشورات المختصين. والتحذير مهم جداً في مجالنا: لا تكشف أي معلومة عن ضوابط جهة أو ثغراتها، حتى بنية حسنة. مسؤول التوظيف سيلاحظ ذلك، وسيقلقه.</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خاصية Open to Work تخبر مسؤولي التوظيف أنك متاح. المسار بحسب صفحة مساعدة LinkedIn: من Me، ثم View profile، ثم Open to، ثم Finding a new job، وتحدد المسميات والمواقع ونوع العمل وتاريخ البدء. وللظهور خياران: كل الأعضاء، ويضيف إطار OpenToWork إلى صورتك ويراه الجميع بمن فيهم زملاؤك الحاليون؛ أو مسؤولو التوظيف فقط، وتحاول LinkedIn إخفاءه عن مسؤولي التوظيف في جهتك الحالية لكنها تقول صراحة إنها لا تضمن ذلك تماماً. وفي البحث، لا تكتفِ بمسمى GRC Analyst؛ الجهات تسمي الوظيفة نفسها بأسماء مختلفة. ثلاثة من المسميات هنا من الإطار السعودي لكوادر الأمن السيبراني: مقيّم الضوابط الأمنية، ومسؤول سياسات الأمن السيبراني، ومدقق الأمن السيبراني، ومعها مسؤول المخاطر ومسؤول الامتثال. المصدر: صفحة مساعدة LinkedIn عن Open to Work، والإطار SCyWF-1.5:2026. تاريخ التحقق 27 أكتوبر 2026.</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الوحدة الأخيرة قصيرة وعملية. نبدأ بالأسئلة الأكثر تكراراً في مقابلات GRC للمبتدئين، ثم طريقة STAR للإجابة عن الأسئلة السلوكية، ثم قائمة مراجعة لكل ما في الكورس، ونختم بالخطوة التالية.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هذه أسئلة شائعة في مقابلات GRC للمبتدئين، وليست قائمة رسمية. الأخضر أسئلة معرفة، وجوابها في شرائح الكورس المذكورة. البرتقالي أسئلة تطبيق، وهي الأهم، لأنها تكشف هل تفهم أم تحفظ. مثال: مالك النظام الذي يرفض الضابط. الجواب الجيد لا يبدأ بالتصعيد؛ يبدأ بفهم السبب، ثم شرح الخطر بلغة العمل، ثم اقتراح بديل مثل ضابط تعويضي، فإن تعذر فاستثناء موثق ومؤقت يقبله صاحب الصلاحية، والتصعيد آخر الخيارات. والأزرق أسئلة عن دورك ودافعك. سؤال «لماذا جهتنا» لا جواب له في الكورس: اقرأ عن الجهة قبل المقابلة، وما الأطر التي تنطبق عليها، واذكرها.</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الأسئلة السلوكية تبدأ عادة بـ «حدثنا عن مرة…». أجب بطريقة STAR: الموقف باختصار، ثم المهمة، ثم ما فعلته أنت تحديداً، ثم النتيجة. الإجراء هو الجزء الأطول، والنتيجة هي ما ينساه أغلب الناس. المثال هنا توضيحي ومن الواقع العملي لـ GRC: مراجعة صلاحيات كشفت حسابات لموظفين غادروا، وهي ملاحظة كلاسيكية في التدقيق. جهّز خمس قصص مسبقاً: عمل جماعي، وخلاف أو رفض، وخطأ تعلمت منه، وموعد ضيق، وتعلم شيء جديد بسرعة. ومن لا خبرة عمل له يأخذ قصصه من مشاريع الوحدة 5، أو من الدراسة أو التطوع. وكن صادقاً: لا تخترع قصة؛ الأسئلة اللاحقة ستكشفها.</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هذه قائمة الكورس كله في شريحة واحدة. اطبعها أو انسخها، وضع علامة على كل بند تنجزه. لا تحتاج أن تكتمل كلها قبل أول طلب توظيف؛ إن أنجزت عمودي المعرفة والدليل، وكانت سيرتك وملفك جاهزين، فابدأ التقديم، والشهادة تأتي بالتوازي. ولاحظ بند «لا بيانات لجهة حقيقية»: هذا أهم من أي شهادة، لأنه يثبت أنك تفهم السرية، وهي أساس المهنة.</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SA" dirty="0" altLang="en-US"/>
              <a:t>وصلنا إلى النهاية. لخصنا كل شيء في ثلاث خطوات لهذا الأسبوع فقط: اختر شهادة مدخل واحدة واقرأ مخططها، وابدأ مشروع سجل المخاطر لشركة افتراضية، وحدّث عنوانك المهني في LinkedIn. بعدها اتبع خطة التسعين يوماً في الوحدة الخامسة. وإن أردت التعمق في الضوابط الأساسية للأمن السيبراني ECC-2:2024، فالكورس المرافق وكراسة التمارين يأخذانك من الفهم إلى التطبيق. وتذكير أخير: الرسوم والشروط والإصدارات في هذا الكورس تحققنا منها من المواقع الرسمية في 27 أكتوبر 2026، وهي تتغير، فراجعها دائماً قبل أن تدفع أو تسجل. بالتوفيق.</a:t>
            </a:r>
            <a:endParaRPr lang="ar-SA" dirty="0" altLang="en-US"/>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8520"/>
            <a:ext cx="10566400" cy="476250"/>
          </a:xfrm>
          <a:prstGeom prst="rect">
            <a:avLst/>
          </a:prstGeom>
          <a:noFill/>
          <a:ln/>
        </p:spPr>
        <p:txBody>
          <a:bodyPr wrap="square" lIns="0" tIns="0" rIns="0" bIns="0" rtlCol="0" anchor="t"/>
          <a:lstStyle>
            <a:lvl1pPr algn="l" indent="0" marL="0">
              <a:lnSpc>
                <a:spcPct val="115000"/>
              </a:lnSpc>
              <a:buNone/>
              <a:defRPr lang="en-US" sz="3000" dirty="0">
                <a:solidFill>
                  <a:srgbClr val="172433"/>
                </a:solidFill>
                <a:latin typeface="Readex Pro" pitchFamily="34" charset="0"/>
                <a:ea typeface="Readex Pro" pitchFamily="34" charset="-122"/>
                <a:cs typeface="Readex Pro"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59570"/>
            <a:ext cx="10566400" cy="4085630"/>
          </a:xfrm>
          <a:prstGeom prst="rect">
            <a:avLst/>
          </a:prstGeom>
          <a:noFill/>
          <a:ln/>
        </p:spPr>
        <p:txBody>
          <a:bodyPr wrap="square" lIns="0" tIns="0" rIns="0" bIns="0" rtlCol="0" anchor="t"/>
          <a:lstStyle>
            <a:lvl1pPr algn="l" indent="0" marL="0">
              <a:lnSpc>
                <a:spcPct val="140000"/>
              </a:lnSpc>
              <a:buNone/>
              <a:defRPr lang="en-US" sz="1600" dirty="0">
                <a:solidFill>
                  <a:srgbClr val="172433"/>
                </a:solidFill>
                <a:latin typeface="IBM Plex Sans Arabic" pitchFamily="34" charset="0"/>
                <a:ea typeface="IBM Plex Sans Arabic" pitchFamily="34" charset="-122"/>
                <a:cs typeface="IBM Plex Sans Arabic"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8520"/>
            <a:ext cx="10566400" cy="476250"/>
          </a:xfrm>
          <a:prstGeom prst="rect">
            <a:avLst/>
          </a:prstGeom>
          <a:noFill/>
          <a:ln/>
        </p:spPr>
        <p:txBody>
          <a:bodyPr wrap="square" lIns="0" tIns="0" rIns="0" bIns="0" rtlCol="0" anchor="t"/>
          <a:lstStyle>
            <a:lvl1pPr algn="l" indent="0" marL="0">
              <a:lnSpc>
                <a:spcPct val="115000"/>
              </a:lnSpc>
              <a:buNone/>
              <a:defRPr lang="en-US" sz="3000" dirty="0">
                <a:solidFill>
                  <a:srgbClr val="172433"/>
                </a:solidFill>
                <a:latin typeface="Readex Pro" pitchFamily="34" charset="0"/>
                <a:ea typeface="Readex Pro" pitchFamily="34" charset="-122"/>
                <a:cs typeface="Readex Pro"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59570"/>
            <a:ext cx="10566400" cy="4085630"/>
          </a:xfrm>
          <a:prstGeom prst="rect">
            <a:avLst/>
          </a:prstGeom>
          <a:noFill/>
          <a:ln/>
        </p:spPr>
        <p:txBody>
          <a:bodyPr wrap="square" lIns="0" tIns="0" rIns="0" bIns="0" rtlCol="0" anchor="t"/>
          <a:lstStyle>
            <a:lvl1pPr algn="l" indent="0" marL="0">
              <a:lnSpc>
                <a:spcPct val="140000"/>
              </a:lnSpc>
              <a:buNone/>
              <a:defRPr lang="en-US" sz="1600" dirty="0">
                <a:solidFill>
                  <a:srgbClr val="172433"/>
                </a:solidFill>
                <a:latin typeface="IBM Plex Sans Arabic" pitchFamily="34" charset="0"/>
                <a:ea typeface="IBM Plex Sans Arabic" pitchFamily="34" charset="-122"/>
                <a:cs typeface="IBM Plex Sans Arabic"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image" Target="../media/image-40-11.png"/><Relationship Id="rId12" Type="http://schemas.openxmlformats.org/officeDocument/2006/relationships/image" Target="../media/image-40-12.png"/><Relationship Id="rId13" Type="http://schemas.openxmlformats.org/officeDocument/2006/relationships/slideLayout" Target="../slideLayouts/slideLayout2.xml"/><Relationship Id="rId1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2.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2.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2.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2.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slideLayout" Target="../slideLayouts/slideLayout2.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433"/>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0E7C6B"/>
          </a:solidFill>
          <a:ln/>
        </p:spPr>
      </p:sp>
      <p:sp>
        <p:nvSpPr>
          <p:cNvPr id="3" name="Shape 1"/>
          <p:cNvSpPr/>
          <p:nvPr/>
        </p:nvSpPr>
        <p:spPr>
          <a:xfrm>
            <a:off x="812800" y="1964779"/>
            <a:ext cx="3556000" cy="891480"/>
          </a:xfrm>
          <a:prstGeom prst="roundRect">
            <a:avLst>
              <a:gd name="adj" fmla="val 14246"/>
            </a:avLst>
          </a:prstGeom>
          <a:solidFill>
            <a:srgbClr val="22344A"/>
          </a:solidFill>
          <a:ln/>
        </p:spPr>
      </p:sp>
      <p:sp>
        <p:nvSpPr>
          <p:cNvPr id="4" name="Shape 2"/>
          <p:cNvSpPr/>
          <p:nvPr/>
        </p:nvSpPr>
        <p:spPr>
          <a:xfrm>
            <a:off x="812800" y="1964779"/>
            <a:ext cx="3556000" cy="891480"/>
          </a:xfrm>
          <a:custGeom>
            <a:avLst/>
            <a:gdLst/>
            <a:ahLst/>
            <a:cxnLst/>
            <a:rect l="l" t="t" r="r" b="b"/>
            <a:pathLst>
              <a:path w="3556000" h="891480">
                <a:moveTo>
                  <a:pt x="3429000" y="0"/>
                </a:moveTo>
                <a:lnTo>
                  <a:pt x="3429000" y="0"/>
                </a:lnTo>
                <a:arcTo hR="127000" wR="127000" stAng="16200000" swAng="5400000"/>
                <a:lnTo>
                  <a:pt x="3556000" y="764480"/>
                </a:lnTo>
                <a:arcTo hR="127000" wR="127000" stAng="0" swAng="5400000"/>
                <a:lnTo>
                  <a:pt x="3429000" y="891480"/>
                </a:lnTo>
                <a:arcTo hR="127000" wR="76200" stAng="5400000" swAng="-5400000"/>
                <a:lnTo>
                  <a:pt x="3505200" y="127000"/>
                </a:lnTo>
                <a:arcTo hR="127000" wR="76200" stAng="0" swAng="-5400000"/>
                <a:close/>
              </a:path>
            </a:pathLst>
          </a:custGeom>
          <a:solidFill>
            <a:srgbClr val="0E7C6B"/>
          </a:solidFill>
          <a:ln/>
        </p:spPr>
      </p:sp>
      <p:sp>
        <p:nvSpPr>
          <p:cNvPr id="5" name="Text 3"/>
          <p:cNvSpPr/>
          <p:nvPr/>
        </p:nvSpPr>
        <p:spPr>
          <a:xfrm>
            <a:off x="941324" y="2142579"/>
            <a:ext cx="2563876" cy="322560"/>
          </a:xfrm>
          <a:prstGeom prst="rect">
            <a:avLst/>
          </a:prstGeom>
          <a:noFill/>
          <a:ln/>
        </p:spPr>
        <p:txBody>
          <a:bodyPr wrap="square" lIns="0" tIns="0" rIns="0" bIns="0" rtlCol="0" anchor="t">
            <a:normAutofit/>
          </a:bodyPr>
          <a:lstStyle/>
          <a:p>
            <a:pPr algn="r" indent="0" marL="0" rtl="1">
              <a:lnSpc>
                <a:spcPts val="2340"/>
              </a:lnSpc>
              <a:buNone/>
            </a:pPr>
            <a:r>
              <a:rPr lang="ar-SA" sz="1800" b="1" dirty="0" altLang="en-US">
                <a:solidFill>
                  <a:srgbClr val="F3EFE6"/>
                </a:solidFill>
                <a:latin typeface="Readex Pro" pitchFamily="34" charset="0"/>
                <a:ea typeface="Readex Pro" pitchFamily="34" charset="-122"/>
                <a:cs typeface="Readex Pro" pitchFamily="34" charset="-120"/>
              </a:rPr>
              <a:t>الحوكمة</a:t>
            </a:r>
            <a:endParaRPr lang="ar-SA" sz="1800" dirty="0" altLang="en-US"/>
          </a:p>
        </p:txBody>
      </p:sp>
      <p:sp>
        <p:nvSpPr>
          <p:cNvPr id="6" name="Text 4"/>
          <p:cNvSpPr/>
          <p:nvPr/>
        </p:nvSpPr>
        <p:spPr>
          <a:xfrm>
            <a:off x="941324" y="2465139"/>
            <a:ext cx="256387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B9C4CC"/>
                </a:solidFill>
                <a:latin typeface="IBM Plex Sans Arabic" pitchFamily="34" charset="0"/>
                <a:ea typeface="IBM Plex Sans Arabic" pitchFamily="34" charset="-122"/>
                <a:cs typeface="IBM Plex Sans Arabic" pitchFamily="34" charset="-120"/>
              </a:rPr>
              <a:t>من يقرر، وبأي قواعد</a:t>
            </a:r>
            <a:endParaRPr lang="ar-SA" sz="1200" dirty="0" altLang="en-US"/>
          </a:p>
        </p:txBody>
      </p:sp>
      <p:sp>
        <p:nvSpPr>
          <p:cNvPr id="7" name="Text 5"/>
          <p:cNvSpPr/>
          <p:nvPr/>
        </p:nvSpPr>
        <p:spPr>
          <a:xfrm>
            <a:off x="3632200" y="2207320"/>
            <a:ext cx="5080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7FD3C3"/>
                </a:solidFill>
                <a:latin typeface="Readex Pro" pitchFamily="34" charset="0"/>
                <a:ea typeface="Readex Pro" pitchFamily="34" charset="-122"/>
                <a:cs typeface="Readex Pro" pitchFamily="34" charset="-120"/>
              </a:rPr>
              <a:t>G</a:t>
            </a:r>
            <a:endParaRPr lang="en-US" sz="3200" dirty="0"/>
          </a:p>
        </p:txBody>
      </p:sp>
      <p:sp>
        <p:nvSpPr>
          <p:cNvPr id="8" name="Shape 6"/>
          <p:cNvSpPr/>
          <p:nvPr/>
        </p:nvSpPr>
        <p:spPr>
          <a:xfrm>
            <a:off x="812800" y="2983260"/>
            <a:ext cx="3556000" cy="891480"/>
          </a:xfrm>
          <a:prstGeom prst="roundRect">
            <a:avLst>
              <a:gd name="adj" fmla="val 14246"/>
            </a:avLst>
          </a:prstGeom>
          <a:solidFill>
            <a:srgbClr val="22344A"/>
          </a:solidFill>
          <a:ln/>
        </p:spPr>
      </p:sp>
      <p:sp>
        <p:nvSpPr>
          <p:cNvPr id="9" name="Shape 7"/>
          <p:cNvSpPr/>
          <p:nvPr/>
        </p:nvSpPr>
        <p:spPr>
          <a:xfrm>
            <a:off x="812800" y="2983260"/>
            <a:ext cx="3556000" cy="891480"/>
          </a:xfrm>
          <a:custGeom>
            <a:avLst/>
            <a:gdLst/>
            <a:ahLst/>
            <a:cxnLst/>
            <a:rect l="l" t="t" r="r" b="b"/>
            <a:pathLst>
              <a:path w="3556000" h="891480">
                <a:moveTo>
                  <a:pt x="3429000" y="0"/>
                </a:moveTo>
                <a:lnTo>
                  <a:pt x="3429000" y="0"/>
                </a:lnTo>
                <a:arcTo hR="127000" wR="127000" stAng="16200000" swAng="5400000"/>
                <a:lnTo>
                  <a:pt x="3556000" y="764480"/>
                </a:lnTo>
                <a:arcTo hR="127000" wR="127000" stAng="0" swAng="5400000"/>
                <a:lnTo>
                  <a:pt x="3429000" y="891480"/>
                </a:lnTo>
                <a:arcTo hR="127000" wR="76200" stAng="5400000" swAng="-5400000"/>
                <a:lnTo>
                  <a:pt x="3505200" y="127000"/>
                </a:lnTo>
                <a:arcTo hR="127000" wR="76200" stAng="0" swAng="-5400000"/>
                <a:close/>
              </a:path>
            </a:pathLst>
          </a:custGeom>
          <a:solidFill>
            <a:srgbClr val="E0A33A"/>
          </a:solidFill>
          <a:ln/>
        </p:spPr>
      </p:sp>
      <p:sp>
        <p:nvSpPr>
          <p:cNvPr id="10" name="Text 8"/>
          <p:cNvSpPr/>
          <p:nvPr/>
        </p:nvSpPr>
        <p:spPr>
          <a:xfrm>
            <a:off x="941324" y="3161060"/>
            <a:ext cx="2563876" cy="322560"/>
          </a:xfrm>
          <a:prstGeom prst="rect">
            <a:avLst/>
          </a:prstGeom>
          <a:noFill/>
          <a:ln/>
        </p:spPr>
        <p:txBody>
          <a:bodyPr wrap="square" lIns="0" tIns="0" rIns="0" bIns="0" rtlCol="0" anchor="t">
            <a:normAutofit/>
          </a:bodyPr>
          <a:lstStyle/>
          <a:p>
            <a:pPr algn="r" indent="0" marL="0" rtl="1">
              <a:lnSpc>
                <a:spcPts val="2340"/>
              </a:lnSpc>
              <a:buNone/>
            </a:pPr>
            <a:r>
              <a:rPr lang="ar-SA" sz="1800" b="1" dirty="0" altLang="en-US">
                <a:solidFill>
                  <a:srgbClr val="F3EFE6"/>
                </a:solidFill>
                <a:latin typeface="Readex Pro" pitchFamily="34" charset="0"/>
                <a:ea typeface="Readex Pro" pitchFamily="34" charset="-122"/>
                <a:cs typeface="Readex Pro" pitchFamily="34" charset="-120"/>
              </a:rPr>
              <a:t>المخاطر</a:t>
            </a:r>
            <a:endParaRPr lang="ar-SA" sz="1800" dirty="0" altLang="en-US"/>
          </a:p>
        </p:txBody>
      </p:sp>
      <p:sp>
        <p:nvSpPr>
          <p:cNvPr id="11" name="Text 9"/>
          <p:cNvSpPr/>
          <p:nvPr/>
        </p:nvSpPr>
        <p:spPr>
          <a:xfrm>
            <a:off x="941324" y="3483620"/>
            <a:ext cx="256387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B9C4CC"/>
                </a:solidFill>
                <a:latin typeface="IBM Plex Sans Arabic" pitchFamily="34" charset="0"/>
                <a:ea typeface="IBM Plex Sans Arabic" pitchFamily="34" charset="-122"/>
                <a:cs typeface="IBM Plex Sans Arabic" pitchFamily="34" charset="-120"/>
              </a:rPr>
              <a:t>ما الذي قد يحدث، وماذا نفعل</a:t>
            </a:r>
            <a:endParaRPr lang="ar-SA" sz="1200" dirty="0" altLang="en-US"/>
          </a:p>
        </p:txBody>
      </p:sp>
      <p:sp>
        <p:nvSpPr>
          <p:cNvPr id="12" name="Text 10"/>
          <p:cNvSpPr/>
          <p:nvPr/>
        </p:nvSpPr>
        <p:spPr>
          <a:xfrm>
            <a:off x="3632200" y="3225800"/>
            <a:ext cx="5080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F2C46D"/>
                </a:solidFill>
                <a:latin typeface="Readex Pro" pitchFamily="34" charset="0"/>
                <a:ea typeface="Readex Pro" pitchFamily="34" charset="-122"/>
                <a:cs typeface="Readex Pro" pitchFamily="34" charset="-120"/>
              </a:rPr>
              <a:t>R</a:t>
            </a:r>
            <a:endParaRPr lang="en-US" sz="3200" dirty="0"/>
          </a:p>
        </p:txBody>
      </p:sp>
      <p:sp>
        <p:nvSpPr>
          <p:cNvPr id="13" name="Shape 11"/>
          <p:cNvSpPr/>
          <p:nvPr/>
        </p:nvSpPr>
        <p:spPr>
          <a:xfrm>
            <a:off x="812800" y="4001740"/>
            <a:ext cx="3556000" cy="891480"/>
          </a:xfrm>
          <a:prstGeom prst="roundRect">
            <a:avLst>
              <a:gd name="adj" fmla="val 14246"/>
            </a:avLst>
          </a:prstGeom>
          <a:solidFill>
            <a:srgbClr val="22344A"/>
          </a:solidFill>
          <a:ln/>
        </p:spPr>
      </p:sp>
      <p:sp>
        <p:nvSpPr>
          <p:cNvPr id="14" name="Shape 12"/>
          <p:cNvSpPr/>
          <p:nvPr/>
        </p:nvSpPr>
        <p:spPr>
          <a:xfrm>
            <a:off x="812800" y="4001740"/>
            <a:ext cx="3556000" cy="891480"/>
          </a:xfrm>
          <a:custGeom>
            <a:avLst/>
            <a:gdLst/>
            <a:ahLst/>
            <a:cxnLst/>
            <a:rect l="l" t="t" r="r" b="b"/>
            <a:pathLst>
              <a:path w="3556000" h="891480">
                <a:moveTo>
                  <a:pt x="3429000" y="0"/>
                </a:moveTo>
                <a:lnTo>
                  <a:pt x="3429000" y="0"/>
                </a:lnTo>
                <a:arcTo hR="127000" wR="127000" stAng="16200000" swAng="5400000"/>
                <a:lnTo>
                  <a:pt x="3556000" y="764480"/>
                </a:lnTo>
                <a:arcTo hR="127000" wR="127000" stAng="0" swAng="5400000"/>
                <a:lnTo>
                  <a:pt x="3429000" y="891480"/>
                </a:lnTo>
                <a:arcTo hR="127000" wR="76200" stAng="5400000" swAng="-5400000"/>
                <a:lnTo>
                  <a:pt x="3505200" y="127000"/>
                </a:lnTo>
                <a:arcTo hR="127000" wR="76200" stAng="0" swAng="-5400000"/>
                <a:close/>
              </a:path>
            </a:pathLst>
          </a:custGeom>
          <a:solidFill>
            <a:srgbClr val="6E9BD1"/>
          </a:solidFill>
          <a:ln/>
        </p:spPr>
      </p:sp>
      <p:sp>
        <p:nvSpPr>
          <p:cNvPr id="15" name="Text 13"/>
          <p:cNvSpPr/>
          <p:nvPr/>
        </p:nvSpPr>
        <p:spPr>
          <a:xfrm>
            <a:off x="941324" y="4179540"/>
            <a:ext cx="2563876" cy="322560"/>
          </a:xfrm>
          <a:prstGeom prst="rect">
            <a:avLst/>
          </a:prstGeom>
          <a:noFill/>
          <a:ln/>
        </p:spPr>
        <p:txBody>
          <a:bodyPr wrap="square" lIns="0" tIns="0" rIns="0" bIns="0" rtlCol="0" anchor="t">
            <a:normAutofit/>
          </a:bodyPr>
          <a:lstStyle/>
          <a:p>
            <a:pPr algn="r" indent="0" marL="0" rtl="1">
              <a:lnSpc>
                <a:spcPts val="2340"/>
              </a:lnSpc>
              <a:buNone/>
            </a:pPr>
            <a:r>
              <a:rPr lang="ar-SA" sz="1800" b="1" dirty="0" altLang="en-US">
                <a:solidFill>
                  <a:srgbClr val="F3EFE6"/>
                </a:solidFill>
                <a:latin typeface="Readex Pro" pitchFamily="34" charset="0"/>
                <a:ea typeface="Readex Pro" pitchFamily="34" charset="-122"/>
                <a:cs typeface="Readex Pro" pitchFamily="34" charset="-120"/>
              </a:rPr>
              <a:t>الامتثال</a:t>
            </a:r>
            <a:endParaRPr lang="ar-SA" sz="1800" dirty="0" altLang="en-US"/>
          </a:p>
        </p:txBody>
      </p:sp>
      <p:sp>
        <p:nvSpPr>
          <p:cNvPr id="16" name="Text 14"/>
          <p:cNvSpPr/>
          <p:nvPr/>
        </p:nvSpPr>
        <p:spPr>
          <a:xfrm>
            <a:off x="941324" y="4502100"/>
            <a:ext cx="256387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B9C4CC"/>
                </a:solidFill>
                <a:latin typeface="IBM Plex Sans Arabic" pitchFamily="34" charset="0"/>
                <a:ea typeface="IBM Plex Sans Arabic" pitchFamily="34" charset="-122"/>
                <a:cs typeface="IBM Plex Sans Arabic" pitchFamily="34" charset="-120"/>
              </a:rPr>
              <a:t>هل نلتزم، وكيف نثبت</a:t>
            </a:r>
            <a:endParaRPr lang="ar-SA" sz="1200" dirty="0" altLang="en-US"/>
          </a:p>
        </p:txBody>
      </p:sp>
      <p:sp>
        <p:nvSpPr>
          <p:cNvPr id="17" name="Text 15"/>
          <p:cNvSpPr/>
          <p:nvPr/>
        </p:nvSpPr>
        <p:spPr>
          <a:xfrm>
            <a:off x="3632200" y="4244280"/>
            <a:ext cx="5080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A9C6EA"/>
                </a:solidFill>
                <a:latin typeface="Readex Pro" pitchFamily="34" charset="0"/>
                <a:ea typeface="Readex Pro" pitchFamily="34" charset="-122"/>
                <a:cs typeface="Readex Pro" pitchFamily="34" charset="-120"/>
              </a:rPr>
              <a:t>C</a:t>
            </a:r>
            <a:endParaRPr lang="en-US" sz="3200" dirty="0"/>
          </a:p>
        </p:txBody>
      </p:sp>
      <p:sp>
        <p:nvSpPr>
          <p:cNvPr id="18" name="Text 16"/>
          <p:cNvSpPr/>
          <p:nvPr/>
        </p:nvSpPr>
        <p:spPr>
          <a:xfrm>
            <a:off x="4786376" y="2092970"/>
            <a:ext cx="6592824" cy="256530"/>
          </a:xfrm>
          <a:prstGeom prst="rect">
            <a:avLst/>
          </a:prstGeom>
          <a:noFill/>
          <a:ln/>
        </p:spPr>
        <p:txBody>
          <a:bodyPr wrap="square" lIns="0" tIns="0" rIns="0" bIns="0" rtlCol="0" anchor="t">
            <a:normAutofit/>
          </a:bodyPr>
          <a:lstStyle/>
          <a:p>
            <a:pPr algn="r" indent="0" marL="0" rtl="1">
              <a:lnSpc>
                <a:spcPts val="1820"/>
              </a:lnSpc>
              <a:buNone/>
            </a:pPr>
            <a:r>
              <a:rPr lang="ar-SA" sz="1300" b="1" dirty="0" altLang="en-US">
                <a:solidFill>
                  <a:srgbClr val="7FD3C3"/>
                </a:solidFill>
                <a:latin typeface="IBM Plex Sans Arabic" pitchFamily="34" charset="0"/>
                <a:ea typeface="IBM Plex Sans Arabic" pitchFamily="34" charset="-122"/>
                <a:cs typeface="IBM Plex Sans Arabic" pitchFamily="34" charset="-120"/>
              </a:rPr>
              <a:t>كورس عملي للمبتدئين والخريجين</a:t>
            </a:r>
            <a:endParaRPr lang="ar-SA" sz="1300" dirty="0" altLang="en-US"/>
          </a:p>
        </p:txBody>
      </p:sp>
      <p:sp>
        <p:nvSpPr>
          <p:cNvPr id="19" name="Text 17"/>
          <p:cNvSpPr/>
          <p:nvPr>
            <p:ph type="title"/>
          </p:nvPr>
        </p:nvSpPr>
        <p:spPr>
          <a:xfrm>
            <a:off x="4786376" y="2527300"/>
            <a:ext cx="6592824" cy="843260"/>
          </a:xfrm>
          <a:prstGeom prst="rect">
            <a:avLst/>
          </a:prstGeom>
          <a:noFill/>
          <a:ln/>
        </p:spPr>
        <p:txBody>
          <a:bodyPr wrap="square" lIns="0" tIns="0" rIns="0" bIns="0" rtlCol="0" anchor="t">
            <a:normAutofit/>
          </a:bodyPr>
          <a:lstStyle/>
          <a:p>
            <a:pPr algn="r" indent="0" marL="0" rtl="1">
              <a:lnSpc>
                <a:spcPts val="6440"/>
              </a:lnSpc>
              <a:buNone/>
            </a:pPr>
            <a:r>
              <a:rPr lang="ar-SA" sz="5600" b="1" i="0" dirty="0" altLang="en-US">
                <a:solidFill>
                  <a:srgbClr val="F3EFE6"/>
                </a:solidFill>
                <a:latin typeface="Readex Pro" pitchFamily="34" charset="0"/>
                <a:ea typeface="Readex Pro" pitchFamily="34" charset="-122"/>
                <a:cs typeface="Readex Pro" pitchFamily="34" charset="-120"/>
              </a:rPr>
              <a:t>كيف تبدأ في GRC</a:t>
            </a:r>
            <a:endParaRPr lang="ar-SA" sz="5600" dirty="0" altLang="en-US"/>
          </a:p>
        </p:txBody>
      </p:sp>
      <p:sp>
        <p:nvSpPr>
          <p:cNvPr id="20" name="Text 18"/>
          <p:cNvSpPr/>
          <p:nvPr/>
        </p:nvSpPr>
        <p:spPr>
          <a:xfrm>
            <a:off x="4786376" y="3548360"/>
            <a:ext cx="6592824" cy="711200"/>
          </a:xfrm>
          <a:prstGeom prst="rect">
            <a:avLst/>
          </a:prstGeom>
          <a:noFill/>
          <a:ln/>
        </p:spPr>
        <p:txBody>
          <a:bodyPr wrap="square" lIns="0" tIns="0" rIns="0" bIns="0" rtlCol="0" anchor="t">
            <a:normAutofit/>
          </a:bodyPr>
          <a:lstStyle/>
          <a:p>
            <a:pPr algn="r" indent="0" marL="0" rtl="1">
              <a:lnSpc>
                <a:spcPts val="2700"/>
              </a:lnSpc>
              <a:buNone/>
            </a:pPr>
            <a:r>
              <a:rPr lang="ar-SA" sz="1800" dirty="0" altLang="en-US">
                <a:solidFill>
                  <a:srgbClr val="D9E2E6"/>
                </a:solidFill>
                <a:latin typeface="IBM Plex Sans Arabic" pitchFamily="34" charset="0"/>
                <a:ea typeface="IBM Plex Sans Arabic" pitchFamily="34" charset="-122"/>
                <a:cs typeface="IBM Plex Sans Arabic" pitchFamily="34" charset="-120"/>
              </a:rPr>
              <a:t>الحوكمة والمخاطر والامتثال من الصفر: المفاهيم، والأطر، والشهادات، ثم السيرة الذاتية ولينكدإن والمقابلة.</a:t>
            </a:r>
            <a:endParaRPr lang="ar-SA" sz="1800" dirty="0" altLang="en-US"/>
          </a:p>
        </p:txBody>
      </p:sp>
      <p:sp>
        <p:nvSpPr>
          <p:cNvPr id="21" name="Text 19"/>
          <p:cNvSpPr/>
          <p:nvPr/>
        </p:nvSpPr>
        <p:spPr>
          <a:xfrm>
            <a:off x="4981575" y="4440535"/>
            <a:ext cx="1036687" cy="321270"/>
          </a:xfrm>
          <a:prstGeom prst="roundRect">
            <a:avLst>
              <a:gd name="adj" fmla="val 50000"/>
            </a:avLst>
          </a:prstGeom>
          <a:noFill/>
          <a:ln w="6350">
            <a:solidFill>
              <a:srgbClr val="4B5B6C"/>
            </a:solidFill>
            <a:prstDash val="solid"/>
          </a:ln>
        </p:spPr>
        <p:txBody>
          <a:bodyPr wrap="none" lIns="0" tIns="0" rIns="0" bIns="0" rtlCol="0" anchor="ctr">
            <a:normAutofit/>
          </a:bodyPr>
          <a:lstStyle/>
          <a:p>
            <a:pPr algn="ctr" indent="0" marL="0" rtl="1">
              <a:lnSpc>
                <a:spcPts val="168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خطة 90 يوماً</a:t>
            </a:r>
            <a:endParaRPr lang="ar-SA" sz="1200" dirty="0" altLang="en-US"/>
          </a:p>
        </p:txBody>
      </p:sp>
      <p:sp>
        <p:nvSpPr>
          <p:cNvPr id="22" name="Text 20"/>
          <p:cNvSpPr/>
          <p:nvPr/>
        </p:nvSpPr>
        <p:spPr>
          <a:xfrm>
            <a:off x="6126212" y="4440535"/>
            <a:ext cx="1437630" cy="321270"/>
          </a:xfrm>
          <a:prstGeom prst="roundRect">
            <a:avLst>
              <a:gd name="adj" fmla="val 50000"/>
            </a:avLst>
          </a:prstGeom>
          <a:noFill/>
          <a:ln w="6350">
            <a:solidFill>
              <a:srgbClr val="4B5B6C"/>
            </a:solidFill>
            <a:prstDash val="solid"/>
          </a:ln>
        </p:spPr>
        <p:txBody>
          <a:bodyPr wrap="none" lIns="0" tIns="0" rIns="0" bIns="0" rtlCol="0" anchor="ctr">
            <a:normAutofit/>
          </a:bodyPr>
          <a:lstStyle/>
          <a:p>
            <a:pPr algn="ctr" indent="0" marL="0" rtl="1">
              <a:lnSpc>
                <a:spcPts val="168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نماذج سيرة ولينكدإن</a:t>
            </a:r>
            <a:endParaRPr lang="ar-SA" sz="1200" dirty="0" altLang="en-US"/>
          </a:p>
        </p:txBody>
      </p:sp>
      <p:sp>
        <p:nvSpPr>
          <p:cNvPr id="23" name="Text 21"/>
          <p:cNvSpPr/>
          <p:nvPr/>
        </p:nvSpPr>
        <p:spPr>
          <a:xfrm>
            <a:off x="7671792" y="4440535"/>
            <a:ext cx="1156742" cy="321270"/>
          </a:xfrm>
          <a:prstGeom prst="roundRect">
            <a:avLst>
              <a:gd name="adj" fmla="val 50000"/>
            </a:avLst>
          </a:prstGeom>
          <a:noFill/>
          <a:ln w="6350">
            <a:solidFill>
              <a:srgbClr val="4B5B6C"/>
            </a:solidFill>
            <a:prstDash val="solid"/>
          </a:ln>
        </p:spPr>
        <p:txBody>
          <a:bodyPr wrap="none" lIns="0" tIns="0" rIns="0" bIns="0" rtlCol="0" anchor="ctr">
            <a:normAutofit/>
          </a:bodyPr>
          <a:lstStyle/>
          <a:p>
            <a:pPr algn="ctr" indent="0" marL="0" rtl="1">
              <a:lnSpc>
                <a:spcPts val="168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خريطة شهادات</a:t>
            </a:r>
            <a:endParaRPr lang="ar-SA" sz="1200" dirty="0" altLang="en-US"/>
          </a:p>
        </p:txBody>
      </p:sp>
      <p:sp>
        <p:nvSpPr>
          <p:cNvPr id="24" name="Text 22"/>
          <p:cNvSpPr/>
          <p:nvPr/>
        </p:nvSpPr>
        <p:spPr>
          <a:xfrm>
            <a:off x="8936484" y="4440535"/>
            <a:ext cx="822127" cy="321270"/>
          </a:xfrm>
          <a:prstGeom prst="roundRect">
            <a:avLst>
              <a:gd name="adj" fmla="val 50000"/>
            </a:avLst>
          </a:prstGeom>
          <a:noFill/>
          <a:ln w="6350">
            <a:solidFill>
              <a:srgbClr val="4B5B6C"/>
            </a:solidFill>
            <a:prstDash val="solid"/>
          </a:ln>
        </p:spPr>
        <p:txBody>
          <a:bodyPr wrap="none" lIns="0" tIns="0" rIns="0" bIns="0" rtlCol="0" anchor="ctr">
            <a:normAutofit/>
          </a:bodyPr>
          <a:lstStyle/>
          <a:p>
            <a:pPr algn="ctr" indent="0" marL="0" rtl="1">
              <a:lnSpc>
                <a:spcPts val="168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8 وحدات</a:t>
            </a:r>
            <a:endParaRPr lang="ar-SA" sz="1200" dirty="0"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628154" cy="289520"/>
          </a:xfrm>
          <a:custGeom>
            <a:avLst/>
            <a:gdLst/>
            <a:ahLst/>
            <a:cxnLst/>
            <a:rect l="l" t="t" r="r" b="b"/>
            <a:pathLst>
              <a:path w="628154" h="289520">
                <a:moveTo>
                  <a:pt x="144760" y="0"/>
                </a:moveTo>
                <a:lnTo>
                  <a:pt x="483394" y="0"/>
                </a:lnTo>
                <a:arcTo hR="144760" wR="144760" stAng="16200000" swAng="5400000"/>
                <a:lnTo>
                  <a:pt x="628154"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البداية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خريطة الكورس: ثماني وحدات من الفكرة إلى الوظيفة</a:t>
            </a:r>
            <a:endParaRPr lang="ar-SA" sz="3000" dirty="0" altLang="en-US"/>
          </a:p>
        </p:txBody>
      </p:sp>
      <p:sp>
        <p:nvSpPr>
          <p:cNvPr id="5" name="Shape 3"/>
          <p:cNvSpPr/>
          <p:nvPr/>
        </p:nvSpPr>
        <p:spPr>
          <a:xfrm>
            <a:off x="815975" y="1911945"/>
            <a:ext cx="2520950" cy="1202630"/>
          </a:xfrm>
          <a:prstGeom prst="roundRect">
            <a:avLst>
              <a:gd name="adj" fmla="val 8184"/>
            </a:avLst>
          </a:prstGeom>
          <a:solidFill>
            <a:srgbClr val="FFFDF8"/>
          </a:solidFill>
          <a:ln w="6350">
            <a:solidFill>
              <a:srgbClr val="E1DBCD"/>
            </a:solidFill>
            <a:prstDash val="solid"/>
          </a:ln>
        </p:spPr>
      </p:sp>
      <p:sp>
        <p:nvSpPr>
          <p:cNvPr id="6" name="Text 4"/>
          <p:cNvSpPr/>
          <p:nvPr/>
        </p:nvSpPr>
        <p:spPr>
          <a:xfrm>
            <a:off x="932180" y="2092920"/>
            <a:ext cx="222377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0E7C6B"/>
                </a:solidFill>
                <a:latin typeface="Readex Pro" pitchFamily="34" charset="0"/>
                <a:ea typeface="Readex Pro" pitchFamily="34" charset="-122"/>
                <a:cs typeface="Readex Pro" pitchFamily="34" charset="-120"/>
              </a:rPr>
              <a:t>04</a:t>
            </a:r>
            <a:endParaRPr lang="en-US" sz="2000" dirty="0"/>
          </a:p>
        </p:txBody>
      </p:sp>
      <p:sp>
        <p:nvSpPr>
          <p:cNvPr id="7" name="Text 5"/>
          <p:cNvSpPr/>
          <p:nvPr/>
        </p:nvSpPr>
        <p:spPr>
          <a:xfrm>
            <a:off x="932180" y="2397720"/>
            <a:ext cx="2223770"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172433"/>
                </a:solidFill>
                <a:latin typeface="Readex Pro" pitchFamily="34" charset="0"/>
                <a:ea typeface="Readex Pro" pitchFamily="34" charset="-122"/>
                <a:cs typeface="Readex Pro" pitchFamily="34" charset="-120"/>
              </a:rPr>
              <a:t>الشهادات</a:t>
            </a:r>
            <a:endParaRPr lang="ar-SA" sz="1600" dirty="0" altLang="en-US"/>
          </a:p>
        </p:txBody>
      </p:sp>
      <p:sp>
        <p:nvSpPr>
          <p:cNvPr id="8" name="Text 6"/>
          <p:cNvSpPr/>
          <p:nvPr/>
        </p:nvSpPr>
        <p:spPr>
          <a:xfrm>
            <a:off x="932180" y="2712641"/>
            <a:ext cx="222377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المستويات، والتكلفة، وكيف تختار.</a:t>
            </a:r>
            <a:endParaRPr lang="ar-SA" sz="1200" dirty="0" altLang="en-US"/>
          </a:p>
        </p:txBody>
      </p:sp>
      <p:sp>
        <p:nvSpPr>
          <p:cNvPr id="9" name="Shape 7"/>
          <p:cNvSpPr/>
          <p:nvPr/>
        </p:nvSpPr>
        <p:spPr>
          <a:xfrm>
            <a:off x="3495675" y="1911945"/>
            <a:ext cx="2520950" cy="1202630"/>
          </a:xfrm>
          <a:prstGeom prst="roundRect">
            <a:avLst>
              <a:gd name="adj" fmla="val 8184"/>
            </a:avLst>
          </a:prstGeom>
          <a:solidFill>
            <a:srgbClr val="FFFDF8"/>
          </a:solidFill>
          <a:ln w="6350">
            <a:solidFill>
              <a:srgbClr val="E1DBCD"/>
            </a:solidFill>
            <a:prstDash val="solid"/>
          </a:ln>
        </p:spPr>
      </p:sp>
      <p:sp>
        <p:nvSpPr>
          <p:cNvPr id="10" name="Text 8"/>
          <p:cNvSpPr/>
          <p:nvPr/>
        </p:nvSpPr>
        <p:spPr>
          <a:xfrm>
            <a:off x="3611880" y="2092920"/>
            <a:ext cx="222377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0E7C6B"/>
                </a:solidFill>
                <a:latin typeface="Readex Pro" pitchFamily="34" charset="0"/>
                <a:ea typeface="Readex Pro" pitchFamily="34" charset="-122"/>
                <a:cs typeface="Readex Pro" pitchFamily="34" charset="-120"/>
              </a:rPr>
              <a:t>03</a:t>
            </a:r>
            <a:endParaRPr lang="en-US" sz="2000" dirty="0"/>
          </a:p>
        </p:txBody>
      </p:sp>
      <p:sp>
        <p:nvSpPr>
          <p:cNvPr id="11" name="Text 9"/>
          <p:cNvSpPr/>
          <p:nvPr/>
        </p:nvSpPr>
        <p:spPr>
          <a:xfrm>
            <a:off x="3611880" y="2397720"/>
            <a:ext cx="2223770"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172433"/>
                </a:solidFill>
                <a:latin typeface="Readex Pro" pitchFamily="34" charset="0"/>
                <a:ea typeface="Readex Pro" pitchFamily="34" charset="-122"/>
                <a:cs typeface="Readex Pro" pitchFamily="34" charset="-120"/>
              </a:rPr>
              <a:t>الأطر والمعايير</a:t>
            </a:r>
            <a:endParaRPr lang="ar-SA" sz="1600" dirty="0" altLang="en-US"/>
          </a:p>
        </p:txBody>
      </p:sp>
      <p:sp>
        <p:nvSpPr>
          <p:cNvPr id="12" name="Text 10"/>
          <p:cNvSpPr/>
          <p:nvPr/>
        </p:nvSpPr>
        <p:spPr>
          <a:xfrm>
            <a:off x="3611880" y="2712641"/>
            <a:ext cx="222377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العالمية والسعودية، ومن أين تبدأ.</a:t>
            </a:r>
            <a:endParaRPr lang="ar-SA" sz="1200" dirty="0" altLang="en-US"/>
          </a:p>
        </p:txBody>
      </p:sp>
      <p:sp>
        <p:nvSpPr>
          <p:cNvPr id="13" name="Shape 11"/>
          <p:cNvSpPr/>
          <p:nvPr/>
        </p:nvSpPr>
        <p:spPr>
          <a:xfrm>
            <a:off x="6175375" y="1911945"/>
            <a:ext cx="2520950" cy="1202630"/>
          </a:xfrm>
          <a:prstGeom prst="roundRect">
            <a:avLst>
              <a:gd name="adj" fmla="val 8184"/>
            </a:avLst>
          </a:prstGeom>
          <a:solidFill>
            <a:srgbClr val="FFFDF8"/>
          </a:solidFill>
          <a:ln w="6350">
            <a:solidFill>
              <a:srgbClr val="E1DBCD"/>
            </a:solidFill>
            <a:prstDash val="solid"/>
          </a:ln>
        </p:spPr>
      </p:sp>
      <p:sp>
        <p:nvSpPr>
          <p:cNvPr id="14" name="Text 12"/>
          <p:cNvSpPr/>
          <p:nvPr/>
        </p:nvSpPr>
        <p:spPr>
          <a:xfrm>
            <a:off x="6291580" y="2092920"/>
            <a:ext cx="222377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0E7C6B"/>
                </a:solidFill>
                <a:latin typeface="Readex Pro" pitchFamily="34" charset="0"/>
                <a:ea typeface="Readex Pro" pitchFamily="34" charset="-122"/>
                <a:cs typeface="Readex Pro" pitchFamily="34" charset="-120"/>
              </a:rPr>
              <a:t>02</a:t>
            </a:r>
            <a:endParaRPr lang="en-US" sz="2000" dirty="0"/>
          </a:p>
        </p:txBody>
      </p:sp>
      <p:sp>
        <p:nvSpPr>
          <p:cNvPr id="15" name="Text 13"/>
          <p:cNvSpPr/>
          <p:nvPr/>
        </p:nvSpPr>
        <p:spPr>
          <a:xfrm>
            <a:off x="6291580" y="2397720"/>
            <a:ext cx="2223770"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172433"/>
                </a:solidFill>
                <a:latin typeface="Readex Pro" pitchFamily="34" charset="0"/>
                <a:ea typeface="Readex Pro" pitchFamily="34" charset="-122"/>
                <a:cs typeface="Readex Pro" pitchFamily="34" charset="-120"/>
              </a:rPr>
              <a:t>المفاهيم الأساسية</a:t>
            </a:r>
            <a:endParaRPr lang="ar-SA" sz="1600" dirty="0" altLang="en-US"/>
          </a:p>
        </p:txBody>
      </p:sp>
      <p:sp>
        <p:nvSpPr>
          <p:cNvPr id="16" name="Text 14"/>
          <p:cNvSpPr/>
          <p:nvPr/>
        </p:nvSpPr>
        <p:spPr>
          <a:xfrm>
            <a:off x="6291580" y="2712641"/>
            <a:ext cx="222377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المخاطر، والضوابط، والوثائق، والأدلة.</a:t>
            </a:r>
            <a:endParaRPr lang="ar-SA" sz="1200" dirty="0" altLang="en-US"/>
          </a:p>
        </p:txBody>
      </p:sp>
      <p:sp>
        <p:nvSpPr>
          <p:cNvPr id="17" name="Shape 15"/>
          <p:cNvSpPr/>
          <p:nvPr/>
        </p:nvSpPr>
        <p:spPr>
          <a:xfrm>
            <a:off x="8855075" y="1911945"/>
            <a:ext cx="2520950" cy="1202630"/>
          </a:xfrm>
          <a:prstGeom prst="roundRect">
            <a:avLst>
              <a:gd name="adj" fmla="val 8184"/>
            </a:avLst>
          </a:prstGeom>
          <a:solidFill>
            <a:srgbClr val="FFFDF8"/>
          </a:solidFill>
          <a:ln w="6350">
            <a:solidFill>
              <a:srgbClr val="E1DBCD"/>
            </a:solidFill>
            <a:prstDash val="solid"/>
          </a:ln>
        </p:spPr>
      </p:sp>
      <p:sp>
        <p:nvSpPr>
          <p:cNvPr id="18" name="Text 16"/>
          <p:cNvSpPr/>
          <p:nvPr/>
        </p:nvSpPr>
        <p:spPr>
          <a:xfrm>
            <a:off x="8971280" y="2092920"/>
            <a:ext cx="222377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0E7C6B"/>
                </a:solidFill>
                <a:latin typeface="Readex Pro" pitchFamily="34" charset="0"/>
                <a:ea typeface="Readex Pro" pitchFamily="34" charset="-122"/>
                <a:cs typeface="Readex Pro" pitchFamily="34" charset="-120"/>
              </a:rPr>
              <a:t>01</a:t>
            </a:r>
            <a:endParaRPr lang="en-US" sz="2000" dirty="0"/>
          </a:p>
        </p:txBody>
      </p:sp>
      <p:sp>
        <p:nvSpPr>
          <p:cNvPr id="19" name="Text 17"/>
          <p:cNvSpPr/>
          <p:nvPr/>
        </p:nvSpPr>
        <p:spPr>
          <a:xfrm>
            <a:off x="8971280" y="2397720"/>
            <a:ext cx="2223770"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172433"/>
                </a:solidFill>
                <a:latin typeface="Readex Pro" pitchFamily="34" charset="0"/>
                <a:ea typeface="Readex Pro" pitchFamily="34" charset="-122"/>
                <a:cs typeface="Readex Pro" pitchFamily="34" charset="-120"/>
              </a:rPr>
              <a:t>ما هو GRC؟</a:t>
            </a:r>
            <a:endParaRPr lang="ar-SA" sz="1600" dirty="0" altLang="en-US"/>
          </a:p>
        </p:txBody>
      </p:sp>
      <p:sp>
        <p:nvSpPr>
          <p:cNvPr id="20" name="Text 18"/>
          <p:cNvSpPr/>
          <p:nvPr/>
        </p:nvSpPr>
        <p:spPr>
          <a:xfrm>
            <a:off x="8971280" y="2712641"/>
            <a:ext cx="222377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الفكرة، والأدوار، ويوم المختص.</a:t>
            </a:r>
            <a:endParaRPr lang="ar-SA" sz="1200" dirty="0" altLang="en-US"/>
          </a:p>
        </p:txBody>
      </p:sp>
      <p:sp>
        <p:nvSpPr>
          <p:cNvPr id="21" name="Shape 19"/>
          <p:cNvSpPr/>
          <p:nvPr/>
        </p:nvSpPr>
        <p:spPr>
          <a:xfrm>
            <a:off x="815975" y="3273326"/>
            <a:ext cx="2520950" cy="1202630"/>
          </a:xfrm>
          <a:prstGeom prst="roundRect">
            <a:avLst>
              <a:gd name="adj" fmla="val 8184"/>
            </a:avLst>
          </a:prstGeom>
          <a:solidFill>
            <a:srgbClr val="FFFDF8"/>
          </a:solidFill>
          <a:ln w="6350">
            <a:solidFill>
              <a:srgbClr val="E1DBCD"/>
            </a:solidFill>
            <a:prstDash val="solid"/>
          </a:ln>
        </p:spPr>
      </p:sp>
      <p:sp>
        <p:nvSpPr>
          <p:cNvPr id="22" name="Text 20"/>
          <p:cNvSpPr/>
          <p:nvPr/>
        </p:nvSpPr>
        <p:spPr>
          <a:xfrm>
            <a:off x="932180" y="3454301"/>
            <a:ext cx="222377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9A5F0F"/>
                </a:solidFill>
                <a:latin typeface="Readex Pro" pitchFamily="34" charset="0"/>
                <a:ea typeface="Readex Pro" pitchFamily="34" charset="-122"/>
                <a:cs typeface="Readex Pro" pitchFamily="34" charset="-120"/>
              </a:rPr>
              <a:t>08</a:t>
            </a:r>
            <a:endParaRPr lang="en-US" sz="2000" dirty="0"/>
          </a:p>
        </p:txBody>
      </p:sp>
      <p:sp>
        <p:nvSpPr>
          <p:cNvPr id="23" name="Text 21"/>
          <p:cNvSpPr/>
          <p:nvPr/>
        </p:nvSpPr>
        <p:spPr>
          <a:xfrm>
            <a:off x="819150" y="3759101"/>
            <a:ext cx="2336800"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172433"/>
                </a:solidFill>
                <a:latin typeface="Readex Pro" pitchFamily="34" charset="0"/>
                <a:ea typeface="Readex Pro" pitchFamily="34" charset="-122"/>
                <a:cs typeface="Readex Pro" pitchFamily="34" charset="-120"/>
              </a:rPr>
              <a:t>المقابلة والخطوة التالية</a:t>
            </a:r>
            <a:endParaRPr lang="ar-SA" sz="1600" dirty="0" altLang="en-US"/>
          </a:p>
        </p:txBody>
      </p:sp>
      <p:sp>
        <p:nvSpPr>
          <p:cNvPr id="24" name="Text 22"/>
          <p:cNvSpPr/>
          <p:nvPr/>
        </p:nvSpPr>
        <p:spPr>
          <a:xfrm>
            <a:off x="932180" y="4074021"/>
            <a:ext cx="222377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أسئلة شائعة وقائمة تحقق.</a:t>
            </a:r>
            <a:endParaRPr lang="ar-SA" sz="1200" dirty="0" altLang="en-US"/>
          </a:p>
        </p:txBody>
      </p:sp>
      <p:sp>
        <p:nvSpPr>
          <p:cNvPr id="25" name="Shape 23"/>
          <p:cNvSpPr/>
          <p:nvPr/>
        </p:nvSpPr>
        <p:spPr>
          <a:xfrm>
            <a:off x="3495675" y="3273326"/>
            <a:ext cx="2520950" cy="1202630"/>
          </a:xfrm>
          <a:prstGeom prst="roundRect">
            <a:avLst>
              <a:gd name="adj" fmla="val 8184"/>
            </a:avLst>
          </a:prstGeom>
          <a:solidFill>
            <a:srgbClr val="FFFDF8"/>
          </a:solidFill>
          <a:ln w="6350">
            <a:solidFill>
              <a:srgbClr val="E1DBCD"/>
            </a:solidFill>
            <a:prstDash val="solid"/>
          </a:ln>
        </p:spPr>
      </p:sp>
      <p:sp>
        <p:nvSpPr>
          <p:cNvPr id="26" name="Text 24"/>
          <p:cNvSpPr/>
          <p:nvPr/>
        </p:nvSpPr>
        <p:spPr>
          <a:xfrm>
            <a:off x="3611880" y="3454301"/>
            <a:ext cx="222377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9A5F0F"/>
                </a:solidFill>
                <a:latin typeface="Readex Pro" pitchFamily="34" charset="0"/>
                <a:ea typeface="Readex Pro" pitchFamily="34" charset="-122"/>
                <a:cs typeface="Readex Pro" pitchFamily="34" charset="-120"/>
              </a:rPr>
              <a:t>07</a:t>
            </a:r>
            <a:endParaRPr lang="en-US" sz="2000" dirty="0"/>
          </a:p>
        </p:txBody>
      </p:sp>
      <p:sp>
        <p:nvSpPr>
          <p:cNvPr id="27" name="Text 25"/>
          <p:cNvSpPr/>
          <p:nvPr/>
        </p:nvSpPr>
        <p:spPr>
          <a:xfrm>
            <a:off x="3611880" y="3759101"/>
            <a:ext cx="2223770"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172433"/>
                </a:solidFill>
                <a:latin typeface="Readex Pro" pitchFamily="34" charset="0"/>
                <a:ea typeface="Readex Pro" pitchFamily="34" charset="-122"/>
                <a:cs typeface="Readex Pro" pitchFamily="34" charset="-120"/>
              </a:rPr>
              <a:t>لينكدإن</a:t>
            </a:r>
            <a:endParaRPr lang="ar-SA" sz="1600" dirty="0" altLang="en-US"/>
          </a:p>
        </p:txBody>
      </p:sp>
      <p:sp>
        <p:nvSpPr>
          <p:cNvPr id="28" name="Text 26"/>
          <p:cNvSpPr/>
          <p:nvPr/>
        </p:nvSpPr>
        <p:spPr>
          <a:xfrm>
            <a:off x="3611880" y="4074021"/>
            <a:ext cx="222377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ملف يجده مسؤول التوظيف.</a:t>
            </a:r>
            <a:endParaRPr lang="ar-SA" sz="1200" dirty="0" altLang="en-US"/>
          </a:p>
        </p:txBody>
      </p:sp>
      <p:sp>
        <p:nvSpPr>
          <p:cNvPr id="29" name="Shape 27"/>
          <p:cNvSpPr/>
          <p:nvPr/>
        </p:nvSpPr>
        <p:spPr>
          <a:xfrm>
            <a:off x="6175375" y="3273326"/>
            <a:ext cx="2520950" cy="1202630"/>
          </a:xfrm>
          <a:prstGeom prst="roundRect">
            <a:avLst>
              <a:gd name="adj" fmla="val 8184"/>
            </a:avLst>
          </a:prstGeom>
          <a:solidFill>
            <a:srgbClr val="FFFDF8"/>
          </a:solidFill>
          <a:ln w="6350">
            <a:solidFill>
              <a:srgbClr val="E1DBCD"/>
            </a:solidFill>
            <a:prstDash val="solid"/>
          </a:ln>
        </p:spPr>
      </p:sp>
      <p:sp>
        <p:nvSpPr>
          <p:cNvPr id="30" name="Text 28"/>
          <p:cNvSpPr/>
          <p:nvPr/>
        </p:nvSpPr>
        <p:spPr>
          <a:xfrm>
            <a:off x="6291580" y="3454301"/>
            <a:ext cx="222377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9A5F0F"/>
                </a:solidFill>
                <a:latin typeface="Readex Pro" pitchFamily="34" charset="0"/>
                <a:ea typeface="Readex Pro" pitchFamily="34" charset="-122"/>
                <a:cs typeface="Readex Pro" pitchFamily="34" charset="-120"/>
              </a:rPr>
              <a:t>06</a:t>
            </a:r>
            <a:endParaRPr lang="en-US" sz="2000" dirty="0"/>
          </a:p>
        </p:txBody>
      </p:sp>
      <p:sp>
        <p:nvSpPr>
          <p:cNvPr id="31" name="Text 29"/>
          <p:cNvSpPr/>
          <p:nvPr/>
        </p:nvSpPr>
        <p:spPr>
          <a:xfrm>
            <a:off x="6291580" y="3759101"/>
            <a:ext cx="2223770"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172433"/>
                </a:solidFill>
                <a:latin typeface="Readex Pro" pitchFamily="34" charset="0"/>
                <a:ea typeface="Readex Pro" pitchFamily="34" charset="-122"/>
                <a:cs typeface="Readex Pro" pitchFamily="34" charset="-120"/>
              </a:rPr>
              <a:t>السيرة الذاتية</a:t>
            </a:r>
            <a:endParaRPr lang="ar-SA" sz="1600" dirty="0" altLang="en-US"/>
          </a:p>
        </p:txBody>
      </p:sp>
      <p:sp>
        <p:nvSpPr>
          <p:cNvPr id="32" name="Text 30"/>
          <p:cNvSpPr/>
          <p:nvPr/>
        </p:nvSpPr>
        <p:spPr>
          <a:xfrm>
            <a:off x="6291580" y="4074021"/>
            <a:ext cx="222377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بنية واضحة وإنجازات تُقرأ.</a:t>
            </a:r>
            <a:endParaRPr lang="ar-SA" sz="1200" dirty="0" altLang="en-US"/>
          </a:p>
        </p:txBody>
      </p:sp>
      <p:sp>
        <p:nvSpPr>
          <p:cNvPr id="33" name="Shape 31"/>
          <p:cNvSpPr/>
          <p:nvPr/>
        </p:nvSpPr>
        <p:spPr>
          <a:xfrm>
            <a:off x="8855075" y="3273326"/>
            <a:ext cx="2520950" cy="1202630"/>
          </a:xfrm>
          <a:prstGeom prst="roundRect">
            <a:avLst>
              <a:gd name="adj" fmla="val 8184"/>
            </a:avLst>
          </a:prstGeom>
          <a:solidFill>
            <a:srgbClr val="FFFDF8"/>
          </a:solidFill>
          <a:ln w="6350">
            <a:solidFill>
              <a:srgbClr val="E1DBCD"/>
            </a:solidFill>
            <a:prstDash val="solid"/>
          </a:ln>
        </p:spPr>
      </p:sp>
      <p:sp>
        <p:nvSpPr>
          <p:cNvPr id="34" name="Text 32"/>
          <p:cNvSpPr/>
          <p:nvPr/>
        </p:nvSpPr>
        <p:spPr>
          <a:xfrm>
            <a:off x="8971280" y="3454301"/>
            <a:ext cx="222377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9A5F0F"/>
                </a:solidFill>
                <a:latin typeface="Readex Pro" pitchFamily="34" charset="0"/>
                <a:ea typeface="Readex Pro" pitchFamily="34" charset="-122"/>
                <a:cs typeface="Readex Pro" pitchFamily="34" charset="-120"/>
              </a:rPr>
              <a:t>05</a:t>
            </a:r>
            <a:endParaRPr lang="en-US" sz="2000" dirty="0"/>
          </a:p>
        </p:txBody>
      </p:sp>
      <p:sp>
        <p:nvSpPr>
          <p:cNvPr id="35" name="Text 33"/>
          <p:cNvSpPr/>
          <p:nvPr/>
        </p:nvSpPr>
        <p:spPr>
          <a:xfrm>
            <a:off x="8971280" y="3759101"/>
            <a:ext cx="2223770"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172433"/>
                </a:solidFill>
                <a:latin typeface="Readex Pro" pitchFamily="34" charset="0"/>
                <a:ea typeface="Readex Pro" pitchFamily="34" charset="-122"/>
                <a:cs typeface="Readex Pro" pitchFamily="34" charset="-120"/>
              </a:rPr>
              <a:t>خطة البداية</a:t>
            </a:r>
            <a:endParaRPr lang="ar-SA" sz="1600" dirty="0" altLang="en-US"/>
          </a:p>
        </p:txBody>
      </p:sp>
      <p:sp>
        <p:nvSpPr>
          <p:cNvPr id="36" name="Text 34"/>
          <p:cNvSpPr/>
          <p:nvPr/>
        </p:nvSpPr>
        <p:spPr>
          <a:xfrm>
            <a:off x="8971280" y="4074021"/>
            <a:ext cx="222377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90 يوماً ومشاريع تبني خبرتك.</a:t>
            </a:r>
            <a:endParaRPr lang="ar-SA" sz="1200" dirty="0" altLang="en-US"/>
          </a:p>
        </p:txBody>
      </p:sp>
      <p:sp>
        <p:nvSpPr>
          <p:cNvPr id="37" name="Text 35"/>
          <p:cNvSpPr/>
          <p:nvPr/>
        </p:nvSpPr>
        <p:spPr>
          <a:xfrm>
            <a:off x="357555" y="4733131"/>
            <a:ext cx="2731472"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الوحدات 05 إلى 08: الوصول إلى الوظيفة</a:t>
            </a:r>
            <a:endParaRPr lang="ar-SA" sz="1200" dirty="0" altLang="en-US"/>
          </a:p>
        </p:txBody>
      </p:sp>
      <p:sp>
        <p:nvSpPr>
          <p:cNvPr id="38" name="Shape 36"/>
          <p:cNvSpPr/>
          <p:nvPr/>
        </p:nvSpPr>
        <p:spPr>
          <a:xfrm>
            <a:off x="3165227" y="4814391"/>
            <a:ext cx="177800" cy="50800"/>
          </a:xfrm>
          <a:prstGeom prst="roundRect">
            <a:avLst>
              <a:gd name="adj" fmla="val 50000"/>
            </a:avLst>
          </a:prstGeom>
          <a:solidFill>
            <a:srgbClr val="C27A16"/>
          </a:solidFill>
          <a:ln/>
        </p:spPr>
      </p:sp>
      <p:sp>
        <p:nvSpPr>
          <p:cNvPr id="39" name="Text 37"/>
          <p:cNvSpPr/>
          <p:nvPr/>
        </p:nvSpPr>
        <p:spPr>
          <a:xfrm>
            <a:off x="3343027" y="4733131"/>
            <a:ext cx="1854051"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الوحدات 01 إلى 04: المعرفة</a:t>
            </a:r>
            <a:endParaRPr lang="ar-SA" sz="1200" dirty="0" altLang="en-US"/>
          </a:p>
        </p:txBody>
      </p:sp>
      <p:sp>
        <p:nvSpPr>
          <p:cNvPr id="40" name="Shape 38"/>
          <p:cNvSpPr/>
          <p:nvPr/>
        </p:nvSpPr>
        <p:spPr>
          <a:xfrm>
            <a:off x="5273278" y="4814391"/>
            <a:ext cx="177800" cy="50800"/>
          </a:xfrm>
          <a:prstGeom prst="roundRect">
            <a:avLst>
              <a:gd name="adj" fmla="val 50000"/>
            </a:avLst>
          </a:prstGeom>
          <a:solidFill>
            <a:srgbClr val="0E7C6B"/>
          </a:solidFill>
          <a:ln/>
        </p:spPr>
      </p:sp>
      <p:sp>
        <p:nvSpPr>
          <p:cNvPr id="41" name="Text 39"/>
          <p:cNvSpPr/>
          <p:nvPr/>
        </p:nvSpPr>
        <p:spPr>
          <a:xfrm>
            <a:off x="76200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2</a:t>
            </a:r>
            <a:endParaRPr lang="en-US" sz="1200" dirty="0"/>
          </a:p>
        </p:txBody>
      </p:sp>
      <p:sp>
        <p:nvSpPr>
          <p:cNvPr id="42" name="Text 40"/>
          <p:cNvSpPr/>
          <p:nvPr/>
        </p:nvSpPr>
        <p:spPr>
          <a:xfrm>
            <a:off x="747004" y="6238280"/>
            <a:ext cx="106321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البداية</a:t>
            </a:r>
            <a:endParaRPr lang="ar-SA" sz="1200" dirty="0"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628154" cy="289520"/>
          </a:xfrm>
          <a:custGeom>
            <a:avLst/>
            <a:gdLst/>
            <a:ahLst/>
            <a:cxnLst/>
            <a:rect l="l" t="t" r="r" b="b"/>
            <a:pathLst>
              <a:path w="628154" h="289520">
                <a:moveTo>
                  <a:pt x="144760" y="0"/>
                </a:moveTo>
                <a:lnTo>
                  <a:pt x="483394" y="0"/>
                </a:lnTo>
                <a:arcTo hR="144760" wR="144760" stAng="16200000" swAng="5400000"/>
                <a:lnTo>
                  <a:pt x="628154"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البداية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لمن هذا الكورس، وماذا ستملك في نهايته</a:t>
            </a:r>
            <a:endParaRPr lang="ar-SA" sz="3000" dirty="0" altLang="en-US"/>
          </a:p>
        </p:txBody>
      </p:sp>
      <p:sp>
        <p:nvSpPr>
          <p:cNvPr id="5" name="Shape 3"/>
          <p:cNvSpPr/>
          <p:nvPr/>
        </p:nvSpPr>
        <p:spPr>
          <a:xfrm>
            <a:off x="812800" y="1908770"/>
            <a:ext cx="5384800" cy="3169841"/>
          </a:xfrm>
          <a:prstGeom prst="roundRect">
            <a:avLst>
              <a:gd name="adj" fmla="val 4007"/>
            </a:avLst>
          </a:prstGeom>
          <a:solidFill>
            <a:srgbClr val="172433"/>
          </a:solidFill>
          <a:ln/>
        </p:spPr>
      </p:sp>
      <p:sp>
        <p:nvSpPr>
          <p:cNvPr id="6" name="Text 4"/>
          <p:cNvSpPr/>
          <p:nvPr/>
        </p:nvSpPr>
        <p:spPr>
          <a:xfrm>
            <a:off x="920496" y="2137370"/>
            <a:ext cx="5023104" cy="322560"/>
          </a:xfrm>
          <a:prstGeom prst="rect">
            <a:avLst/>
          </a:prstGeom>
          <a:noFill/>
          <a:ln/>
        </p:spPr>
        <p:txBody>
          <a:bodyPr wrap="square" lIns="0" tIns="0" rIns="0" bIns="0" rtlCol="0" anchor="t">
            <a:normAutofit/>
          </a:bodyPr>
          <a:lstStyle/>
          <a:p>
            <a:pPr algn="r" indent="0" marL="0" rtl="1">
              <a:lnSpc>
                <a:spcPts val="2340"/>
              </a:lnSpc>
              <a:buNone/>
            </a:pPr>
            <a:r>
              <a:rPr lang="ar-SA" sz="1800" b="1" dirty="0" altLang="en-US">
                <a:solidFill>
                  <a:srgbClr val="7FD3C3"/>
                </a:solidFill>
                <a:latin typeface="Readex Pro" pitchFamily="34" charset="0"/>
                <a:ea typeface="Readex Pro" pitchFamily="34" charset="-122"/>
                <a:cs typeface="Readex Pro" pitchFamily="34" charset="-120"/>
              </a:rPr>
              <a:t>ستخرج بستة أشياء</a:t>
            </a:r>
            <a:endParaRPr lang="ar-SA" sz="1800" dirty="0" altLang="en-US"/>
          </a:p>
        </p:txBody>
      </p:sp>
      <p:sp>
        <p:nvSpPr>
          <p:cNvPr id="7" name="Text 5"/>
          <p:cNvSpPr/>
          <p:nvPr/>
        </p:nvSpPr>
        <p:spPr>
          <a:xfrm>
            <a:off x="930402" y="2561530"/>
            <a:ext cx="4682998" cy="283170"/>
          </a:xfrm>
          <a:prstGeom prst="rect">
            <a:avLst/>
          </a:prstGeom>
          <a:noFill/>
          <a:ln/>
        </p:spPr>
        <p:txBody>
          <a:bodyPr wrap="square" lIns="0" tIns="0" rIns="0" bIns="0" rtlCol="0" anchor="t">
            <a:normAutofit/>
          </a:bodyPr>
          <a:lstStyle/>
          <a:p>
            <a:pPr algn="r" indent="0" marL="0" rtl="1">
              <a:lnSpc>
                <a:spcPts val="2030"/>
              </a:lnSpc>
              <a:buNone/>
            </a:pPr>
            <a:r>
              <a:rPr lang="ar-SA" sz="1400" dirty="0" altLang="en-US">
                <a:solidFill>
                  <a:srgbClr val="F3EFE6"/>
                </a:solidFill>
                <a:latin typeface="IBM Plex Sans Arabic" pitchFamily="34" charset="0"/>
                <a:ea typeface="IBM Plex Sans Arabic" pitchFamily="34" charset="-122"/>
                <a:cs typeface="IBM Plex Sans Arabic" pitchFamily="34" charset="-120"/>
              </a:rPr>
              <a:t>خريطة شهادات مناسبة لوضعك</a:t>
            </a:r>
            <a:endParaRPr lang="ar-SA" sz="1400" dirty="0" altLang="en-US"/>
          </a:p>
        </p:txBody>
      </p:sp>
      <p:pic>
        <p:nvPicPr>
          <p:cNvPr id="8" name="Image 0" descr="CheckCircle">    </p:cNvPr>
          <p:cNvPicPr>
            <a:picLocks noChangeAspect="1"/>
          </p:cNvPicPr>
          <p:nvPr/>
        </p:nvPicPr>
        <p:blipFill>
          <a:blip r:embed="rId1"/>
          <a:srcRect l="0" r="0" t="0" b="0"/>
          <a:stretch/>
        </p:blipFill>
        <p:spPr>
          <a:xfrm>
            <a:off x="5715000" y="2576116"/>
            <a:ext cx="228600" cy="228600"/>
          </a:xfrm>
          <a:prstGeom prst="rect">
            <a:avLst/>
          </a:prstGeom>
        </p:spPr>
      </p:pic>
      <p:sp>
        <p:nvSpPr>
          <p:cNvPr id="9" name="Text 6"/>
          <p:cNvSpPr/>
          <p:nvPr/>
        </p:nvSpPr>
        <p:spPr>
          <a:xfrm>
            <a:off x="930402" y="2946301"/>
            <a:ext cx="4682998" cy="283170"/>
          </a:xfrm>
          <a:prstGeom prst="rect">
            <a:avLst/>
          </a:prstGeom>
          <a:noFill/>
          <a:ln/>
        </p:spPr>
        <p:txBody>
          <a:bodyPr wrap="square" lIns="0" tIns="0" rIns="0" bIns="0" rtlCol="0" anchor="t">
            <a:normAutofit/>
          </a:bodyPr>
          <a:lstStyle/>
          <a:p>
            <a:pPr algn="r" indent="0" marL="0" rtl="1">
              <a:lnSpc>
                <a:spcPts val="2030"/>
              </a:lnSpc>
              <a:buNone/>
            </a:pPr>
            <a:r>
              <a:rPr lang="ar-SA" sz="1400" dirty="0" altLang="en-US">
                <a:solidFill>
                  <a:srgbClr val="F3EFE6"/>
                </a:solidFill>
                <a:latin typeface="IBM Plex Sans Arabic" pitchFamily="34" charset="0"/>
                <a:ea typeface="IBM Plex Sans Arabic" pitchFamily="34" charset="-122"/>
                <a:cs typeface="IBM Plex Sans Arabic" pitchFamily="34" charset="-120"/>
              </a:rPr>
              <a:t>خطة 90 يوماً مكتوبة</a:t>
            </a:r>
            <a:endParaRPr lang="ar-SA" sz="1400" dirty="0" altLang="en-US"/>
          </a:p>
        </p:txBody>
      </p:sp>
      <p:pic>
        <p:nvPicPr>
          <p:cNvPr id="10" name="Image 1" descr="CheckCircle">    </p:cNvPr>
          <p:cNvPicPr>
            <a:picLocks noChangeAspect="1"/>
          </p:cNvPicPr>
          <p:nvPr/>
        </p:nvPicPr>
        <p:blipFill>
          <a:blip r:embed="rId2"/>
          <a:srcRect l="0" r="0" t="0" b="0"/>
          <a:stretch/>
        </p:blipFill>
        <p:spPr>
          <a:xfrm>
            <a:off x="5715000" y="2960886"/>
            <a:ext cx="228600" cy="228600"/>
          </a:xfrm>
          <a:prstGeom prst="rect">
            <a:avLst/>
          </a:prstGeom>
        </p:spPr>
      </p:pic>
      <p:sp>
        <p:nvSpPr>
          <p:cNvPr id="11" name="Text 7"/>
          <p:cNvSpPr/>
          <p:nvPr/>
        </p:nvSpPr>
        <p:spPr>
          <a:xfrm>
            <a:off x="930402" y="3331071"/>
            <a:ext cx="4682998" cy="283170"/>
          </a:xfrm>
          <a:prstGeom prst="rect">
            <a:avLst/>
          </a:prstGeom>
          <a:noFill/>
          <a:ln/>
        </p:spPr>
        <p:txBody>
          <a:bodyPr wrap="square" lIns="0" tIns="0" rIns="0" bIns="0" rtlCol="0" anchor="t">
            <a:normAutofit/>
          </a:bodyPr>
          <a:lstStyle/>
          <a:p>
            <a:pPr algn="r" indent="0" marL="0" rtl="1">
              <a:lnSpc>
                <a:spcPts val="2030"/>
              </a:lnSpc>
              <a:buNone/>
            </a:pPr>
            <a:r>
              <a:rPr lang="ar-SA" sz="1400" dirty="0" altLang="en-US">
                <a:solidFill>
                  <a:srgbClr val="F3EFE6"/>
                </a:solidFill>
                <a:latin typeface="IBM Plex Sans Arabic" pitchFamily="34" charset="0"/>
                <a:ea typeface="IBM Plex Sans Arabic" pitchFamily="34" charset="-122"/>
                <a:cs typeface="IBM Plex Sans Arabic" pitchFamily="34" charset="-120"/>
              </a:rPr>
              <a:t>مشروعان في ملف أعمال</a:t>
            </a:r>
            <a:endParaRPr lang="ar-SA" sz="1400" dirty="0" altLang="en-US"/>
          </a:p>
        </p:txBody>
      </p:sp>
      <p:pic>
        <p:nvPicPr>
          <p:cNvPr id="12" name="Image 2" descr="CheckCircle">    </p:cNvPr>
          <p:cNvPicPr>
            <a:picLocks noChangeAspect="1"/>
          </p:cNvPicPr>
          <p:nvPr/>
        </p:nvPicPr>
        <p:blipFill>
          <a:blip r:embed="rId3"/>
          <a:srcRect l="0" r="0" t="0" b="0"/>
          <a:stretch/>
        </p:blipFill>
        <p:spPr>
          <a:xfrm>
            <a:off x="5715000" y="3345656"/>
            <a:ext cx="228600" cy="228600"/>
          </a:xfrm>
          <a:prstGeom prst="rect">
            <a:avLst/>
          </a:prstGeom>
        </p:spPr>
      </p:pic>
      <p:sp>
        <p:nvSpPr>
          <p:cNvPr id="13" name="Text 8"/>
          <p:cNvSpPr/>
          <p:nvPr/>
        </p:nvSpPr>
        <p:spPr>
          <a:xfrm>
            <a:off x="930402" y="3715841"/>
            <a:ext cx="4682998" cy="283170"/>
          </a:xfrm>
          <a:prstGeom prst="rect">
            <a:avLst/>
          </a:prstGeom>
          <a:noFill/>
          <a:ln/>
        </p:spPr>
        <p:txBody>
          <a:bodyPr wrap="square" lIns="0" tIns="0" rIns="0" bIns="0" rtlCol="0" anchor="t">
            <a:normAutofit/>
          </a:bodyPr>
          <a:lstStyle/>
          <a:p>
            <a:pPr algn="r" indent="0" marL="0" rtl="1">
              <a:lnSpc>
                <a:spcPts val="2030"/>
              </a:lnSpc>
              <a:buNone/>
            </a:pPr>
            <a:r>
              <a:rPr lang="ar-SA" sz="1400" dirty="0" altLang="en-US">
                <a:solidFill>
                  <a:srgbClr val="F3EFE6"/>
                </a:solidFill>
                <a:latin typeface="IBM Plex Sans Arabic" pitchFamily="34" charset="0"/>
                <a:ea typeface="IBM Plex Sans Arabic" pitchFamily="34" charset="-122"/>
                <a:cs typeface="IBM Plex Sans Arabic" pitchFamily="34" charset="-120"/>
              </a:rPr>
              <a:t>سيرة ذاتية تقرؤها أنظمة الفرز</a:t>
            </a:r>
            <a:endParaRPr lang="ar-SA" sz="1400" dirty="0" altLang="en-US"/>
          </a:p>
        </p:txBody>
      </p:sp>
      <p:pic>
        <p:nvPicPr>
          <p:cNvPr id="14" name="Image 3" descr="CheckCircle">    </p:cNvPr>
          <p:cNvPicPr>
            <a:picLocks noChangeAspect="1"/>
          </p:cNvPicPr>
          <p:nvPr/>
        </p:nvPicPr>
        <p:blipFill>
          <a:blip r:embed="rId4"/>
          <a:srcRect l="0" r="0" t="0" b="0"/>
          <a:stretch/>
        </p:blipFill>
        <p:spPr>
          <a:xfrm>
            <a:off x="5715000" y="3730427"/>
            <a:ext cx="228600" cy="228600"/>
          </a:xfrm>
          <a:prstGeom prst="rect">
            <a:avLst/>
          </a:prstGeom>
        </p:spPr>
      </p:pic>
      <p:sp>
        <p:nvSpPr>
          <p:cNvPr id="15" name="Text 9"/>
          <p:cNvSpPr/>
          <p:nvPr/>
        </p:nvSpPr>
        <p:spPr>
          <a:xfrm>
            <a:off x="930402" y="4100612"/>
            <a:ext cx="4682998" cy="283170"/>
          </a:xfrm>
          <a:prstGeom prst="rect">
            <a:avLst/>
          </a:prstGeom>
          <a:noFill/>
          <a:ln/>
        </p:spPr>
        <p:txBody>
          <a:bodyPr wrap="square" lIns="0" tIns="0" rIns="0" bIns="0" rtlCol="0" anchor="t">
            <a:normAutofit/>
          </a:bodyPr>
          <a:lstStyle/>
          <a:p>
            <a:pPr algn="r" indent="0" marL="0" rtl="1">
              <a:lnSpc>
                <a:spcPts val="2030"/>
              </a:lnSpc>
              <a:buNone/>
            </a:pPr>
            <a:r>
              <a:rPr lang="ar-SA" sz="1400" dirty="0" altLang="en-US">
                <a:solidFill>
                  <a:srgbClr val="F3EFE6"/>
                </a:solidFill>
                <a:latin typeface="IBM Plex Sans Arabic" pitchFamily="34" charset="0"/>
                <a:ea typeface="IBM Plex Sans Arabic" pitchFamily="34" charset="-122"/>
                <a:cs typeface="IBM Plex Sans Arabic" pitchFamily="34" charset="-120"/>
              </a:rPr>
              <a:t>ملف لينكدإن مكتمل</a:t>
            </a:r>
            <a:endParaRPr lang="ar-SA" sz="1400" dirty="0" altLang="en-US"/>
          </a:p>
        </p:txBody>
      </p:sp>
      <p:pic>
        <p:nvPicPr>
          <p:cNvPr id="16" name="Image 4" descr="CheckCircle">    </p:cNvPr>
          <p:cNvPicPr>
            <a:picLocks noChangeAspect="1"/>
          </p:cNvPicPr>
          <p:nvPr/>
        </p:nvPicPr>
        <p:blipFill>
          <a:blip r:embed="rId5"/>
          <a:srcRect l="0" r="0" t="0" b="0"/>
          <a:stretch/>
        </p:blipFill>
        <p:spPr>
          <a:xfrm>
            <a:off x="5715000" y="4115197"/>
            <a:ext cx="228600" cy="228600"/>
          </a:xfrm>
          <a:prstGeom prst="rect">
            <a:avLst/>
          </a:prstGeom>
        </p:spPr>
      </p:pic>
      <p:sp>
        <p:nvSpPr>
          <p:cNvPr id="17" name="Text 10"/>
          <p:cNvSpPr/>
          <p:nvPr/>
        </p:nvSpPr>
        <p:spPr>
          <a:xfrm>
            <a:off x="930402" y="4485382"/>
            <a:ext cx="4682998" cy="283170"/>
          </a:xfrm>
          <a:prstGeom prst="rect">
            <a:avLst/>
          </a:prstGeom>
          <a:noFill/>
          <a:ln/>
        </p:spPr>
        <p:txBody>
          <a:bodyPr wrap="square" lIns="0" tIns="0" rIns="0" bIns="0" rtlCol="0" anchor="t">
            <a:normAutofit/>
          </a:bodyPr>
          <a:lstStyle/>
          <a:p>
            <a:pPr algn="r" indent="0" marL="0" rtl="1">
              <a:lnSpc>
                <a:spcPts val="2030"/>
              </a:lnSpc>
              <a:buNone/>
            </a:pPr>
            <a:r>
              <a:rPr lang="ar-SA" sz="1400" dirty="0" altLang="en-US">
                <a:solidFill>
                  <a:srgbClr val="F3EFE6"/>
                </a:solidFill>
                <a:latin typeface="IBM Plex Sans Arabic" pitchFamily="34" charset="0"/>
                <a:ea typeface="IBM Plex Sans Arabic" pitchFamily="34" charset="-122"/>
                <a:cs typeface="IBM Plex Sans Arabic" pitchFamily="34" charset="-120"/>
              </a:rPr>
              <a:t>إجابات جاهزة لأسئلة المقابلة</a:t>
            </a:r>
            <a:endParaRPr lang="ar-SA" sz="1400" dirty="0" altLang="en-US"/>
          </a:p>
        </p:txBody>
      </p:sp>
      <p:pic>
        <p:nvPicPr>
          <p:cNvPr id="18" name="Image 5" descr="CheckCircle">    </p:cNvPr>
          <p:cNvPicPr>
            <a:picLocks noChangeAspect="1"/>
          </p:cNvPicPr>
          <p:nvPr/>
        </p:nvPicPr>
        <p:blipFill>
          <a:blip r:embed="rId6"/>
          <a:srcRect l="0" r="0" t="0" b="0"/>
          <a:stretch/>
        </p:blipFill>
        <p:spPr>
          <a:xfrm>
            <a:off x="5715000" y="4499967"/>
            <a:ext cx="228600" cy="228600"/>
          </a:xfrm>
          <a:prstGeom prst="rect">
            <a:avLst/>
          </a:prstGeom>
        </p:spPr>
      </p:pic>
      <p:sp>
        <p:nvSpPr>
          <p:cNvPr id="19" name="Text 11"/>
          <p:cNvSpPr/>
          <p:nvPr/>
        </p:nvSpPr>
        <p:spPr>
          <a:xfrm>
            <a:off x="6356096" y="1908770"/>
            <a:ext cx="5023104" cy="322560"/>
          </a:xfrm>
          <a:prstGeom prst="rect">
            <a:avLst/>
          </a:prstGeom>
          <a:noFill/>
          <a:ln/>
        </p:spPr>
        <p:txBody>
          <a:bodyPr wrap="square" lIns="0" tIns="0" rIns="0" bIns="0" rtlCol="0" anchor="t">
            <a:normAutofit/>
          </a:bodyPr>
          <a:lstStyle/>
          <a:p>
            <a:pPr algn="r" indent="0" marL="0" rtl="1">
              <a:lnSpc>
                <a:spcPts val="2340"/>
              </a:lnSpc>
              <a:buNone/>
            </a:pPr>
            <a:r>
              <a:rPr lang="ar-SA" sz="1800" b="1" dirty="0" altLang="en-US">
                <a:solidFill>
                  <a:srgbClr val="0E7C6B"/>
                </a:solidFill>
                <a:latin typeface="Readex Pro" pitchFamily="34" charset="0"/>
                <a:ea typeface="Readex Pro" pitchFamily="34" charset="-122"/>
                <a:cs typeface="Readex Pro" pitchFamily="34" charset="-120"/>
              </a:rPr>
              <a:t>لمن؟</a:t>
            </a:r>
            <a:endParaRPr lang="ar-SA" sz="1800" dirty="0" altLang="en-US"/>
          </a:p>
        </p:txBody>
      </p:sp>
      <p:sp>
        <p:nvSpPr>
          <p:cNvPr id="20" name="Shape 12"/>
          <p:cNvSpPr/>
          <p:nvPr/>
        </p:nvSpPr>
        <p:spPr>
          <a:xfrm>
            <a:off x="6505575" y="2336105"/>
            <a:ext cx="4870450" cy="824210"/>
          </a:xfrm>
          <a:prstGeom prst="roundRect">
            <a:avLst>
              <a:gd name="adj" fmla="val 11942"/>
            </a:avLst>
          </a:prstGeom>
          <a:solidFill>
            <a:srgbClr val="FFFDF8"/>
          </a:solidFill>
          <a:ln w="6350">
            <a:solidFill>
              <a:srgbClr val="E1DBCD"/>
            </a:solidFill>
            <a:prstDash val="solid"/>
          </a:ln>
        </p:spPr>
      </p:sp>
      <p:sp>
        <p:nvSpPr>
          <p:cNvPr id="21" name="Text 13"/>
          <p:cNvSpPr/>
          <p:nvPr/>
        </p:nvSpPr>
        <p:spPr>
          <a:xfrm>
            <a:off x="6563487" y="2491680"/>
            <a:ext cx="4225163" cy="292100"/>
          </a:xfrm>
          <a:prstGeom prst="rect">
            <a:avLst/>
          </a:prstGeom>
          <a:noFill/>
          <a:ln/>
        </p:spPr>
        <p:txBody>
          <a:bodyPr wrap="square" lIns="0" tIns="0" rIns="0" bIns="0" rtlCol="0" anchor="t">
            <a:normAutofit/>
          </a:bodyPr>
          <a:lstStyle/>
          <a:p>
            <a:pPr algn="r" indent="0" marL="0" rtl="1">
              <a:lnSpc>
                <a:spcPts val="2100"/>
              </a:lnSpc>
              <a:buNone/>
            </a:pPr>
            <a:r>
              <a:rPr lang="ar-SA" sz="1500" b="1" dirty="0" altLang="en-US">
                <a:solidFill>
                  <a:srgbClr val="172433"/>
                </a:solidFill>
                <a:latin typeface="IBM Plex Sans Arabic" pitchFamily="34" charset="0"/>
                <a:ea typeface="IBM Plex Sans Arabic" pitchFamily="34" charset="-122"/>
                <a:cs typeface="IBM Plex Sans Arabic" pitchFamily="34" charset="-120"/>
              </a:rPr>
              <a:t>خريج جديد بلا خبرة</a:t>
            </a:r>
            <a:endParaRPr lang="ar-SA" sz="1500" dirty="0" altLang="en-US"/>
          </a:p>
        </p:txBody>
      </p:sp>
      <p:sp>
        <p:nvSpPr>
          <p:cNvPr id="22" name="Text 14"/>
          <p:cNvSpPr/>
          <p:nvPr/>
        </p:nvSpPr>
        <p:spPr>
          <a:xfrm>
            <a:off x="6563487" y="2783780"/>
            <a:ext cx="4225163"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من أي تخصص: حاسب، أو نظم، أو إدارة، أو قانون، أو محاسبة.</a:t>
            </a:r>
            <a:endParaRPr lang="ar-SA" sz="1200" dirty="0" altLang="en-US"/>
          </a:p>
        </p:txBody>
      </p:sp>
      <p:pic>
        <p:nvPicPr>
          <p:cNvPr id="23" name="Image 6" descr="GraduationCap">    </p:cNvPr>
          <p:cNvPicPr>
            <a:picLocks noChangeAspect="1"/>
          </p:cNvPicPr>
          <p:nvPr/>
        </p:nvPicPr>
        <p:blipFill>
          <a:blip r:embed="rId7"/>
          <a:srcRect l="0" r="0" t="0" b="0"/>
          <a:stretch/>
        </p:blipFill>
        <p:spPr>
          <a:xfrm>
            <a:off x="10915650" y="2491680"/>
            <a:ext cx="279400" cy="279400"/>
          </a:xfrm>
          <a:prstGeom prst="rect">
            <a:avLst/>
          </a:prstGeom>
        </p:spPr>
      </p:pic>
      <p:sp>
        <p:nvSpPr>
          <p:cNvPr id="24" name="Shape 15"/>
          <p:cNvSpPr/>
          <p:nvPr/>
        </p:nvSpPr>
        <p:spPr>
          <a:xfrm>
            <a:off x="6505575" y="3293666"/>
            <a:ext cx="4870450" cy="824210"/>
          </a:xfrm>
          <a:prstGeom prst="roundRect">
            <a:avLst>
              <a:gd name="adj" fmla="val 11942"/>
            </a:avLst>
          </a:prstGeom>
          <a:solidFill>
            <a:srgbClr val="FFFDF8"/>
          </a:solidFill>
          <a:ln w="6350">
            <a:solidFill>
              <a:srgbClr val="E1DBCD"/>
            </a:solidFill>
            <a:prstDash val="solid"/>
          </a:ln>
        </p:spPr>
      </p:sp>
      <p:sp>
        <p:nvSpPr>
          <p:cNvPr id="25" name="Text 16"/>
          <p:cNvSpPr/>
          <p:nvPr/>
        </p:nvSpPr>
        <p:spPr>
          <a:xfrm>
            <a:off x="6563487" y="3449241"/>
            <a:ext cx="4225163" cy="292100"/>
          </a:xfrm>
          <a:prstGeom prst="rect">
            <a:avLst/>
          </a:prstGeom>
          <a:noFill/>
          <a:ln/>
        </p:spPr>
        <p:txBody>
          <a:bodyPr wrap="square" lIns="0" tIns="0" rIns="0" bIns="0" rtlCol="0" anchor="t">
            <a:normAutofit/>
          </a:bodyPr>
          <a:lstStyle/>
          <a:p>
            <a:pPr algn="r" indent="0" marL="0" rtl="1">
              <a:lnSpc>
                <a:spcPts val="2100"/>
              </a:lnSpc>
              <a:buNone/>
            </a:pPr>
            <a:r>
              <a:rPr lang="ar-SA" sz="1500" b="1" dirty="0" altLang="en-US">
                <a:solidFill>
                  <a:srgbClr val="172433"/>
                </a:solidFill>
                <a:latin typeface="IBM Plex Sans Arabic" pitchFamily="34" charset="0"/>
                <a:ea typeface="IBM Plex Sans Arabic" pitchFamily="34" charset="-122"/>
                <a:cs typeface="IBM Plex Sans Arabic" pitchFamily="34" charset="-120"/>
              </a:rPr>
              <a:t>موظف تقنية يريد التحول</a:t>
            </a:r>
            <a:endParaRPr lang="ar-SA" sz="1500" dirty="0" altLang="en-US"/>
          </a:p>
        </p:txBody>
      </p:sp>
      <p:sp>
        <p:nvSpPr>
          <p:cNvPr id="26" name="Text 17"/>
          <p:cNvSpPr/>
          <p:nvPr/>
        </p:nvSpPr>
        <p:spPr>
          <a:xfrm>
            <a:off x="6563487" y="3741341"/>
            <a:ext cx="4225163"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دعم فني، أو شبكات، أو تطوير، ويريد مساراً إدارياً تقنياً.</a:t>
            </a:r>
            <a:endParaRPr lang="ar-SA" sz="1200" dirty="0" altLang="en-US"/>
          </a:p>
        </p:txBody>
      </p:sp>
      <p:pic>
        <p:nvPicPr>
          <p:cNvPr id="27" name="Image 7" descr="Wrench">    </p:cNvPr>
          <p:cNvPicPr>
            <a:picLocks noChangeAspect="1"/>
          </p:cNvPicPr>
          <p:nvPr/>
        </p:nvPicPr>
        <p:blipFill>
          <a:blip r:embed="rId8"/>
          <a:srcRect l="0" r="0" t="0" b="0"/>
          <a:stretch/>
        </p:blipFill>
        <p:spPr>
          <a:xfrm>
            <a:off x="10915650" y="3449241"/>
            <a:ext cx="279400" cy="279400"/>
          </a:xfrm>
          <a:prstGeom prst="rect">
            <a:avLst/>
          </a:prstGeom>
        </p:spPr>
      </p:pic>
      <p:sp>
        <p:nvSpPr>
          <p:cNvPr id="28" name="Shape 18"/>
          <p:cNvSpPr/>
          <p:nvPr/>
        </p:nvSpPr>
        <p:spPr>
          <a:xfrm>
            <a:off x="6505575" y="4251226"/>
            <a:ext cx="4870450" cy="824210"/>
          </a:xfrm>
          <a:prstGeom prst="roundRect">
            <a:avLst>
              <a:gd name="adj" fmla="val 11942"/>
            </a:avLst>
          </a:prstGeom>
          <a:solidFill>
            <a:srgbClr val="FFFDF8"/>
          </a:solidFill>
          <a:ln w="6350">
            <a:solidFill>
              <a:srgbClr val="E1DBCD"/>
            </a:solidFill>
            <a:prstDash val="solid"/>
          </a:ln>
        </p:spPr>
      </p:sp>
      <p:sp>
        <p:nvSpPr>
          <p:cNvPr id="29" name="Text 19"/>
          <p:cNvSpPr/>
          <p:nvPr/>
        </p:nvSpPr>
        <p:spPr>
          <a:xfrm>
            <a:off x="6563487" y="4406801"/>
            <a:ext cx="4225163" cy="292100"/>
          </a:xfrm>
          <a:prstGeom prst="rect">
            <a:avLst/>
          </a:prstGeom>
          <a:noFill/>
          <a:ln/>
        </p:spPr>
        <p:txBody>
          <a:bodyPr wrap="square" lIns="0" tIns="0" rIns="0" bIns="0" rtlCol="0" anchor="t">
            <a:normAutofit/>
          </a:bodyPr>
          <a:lstStyle/>
          <a:p>
            <a:pPr algn="r" indent="0" marL="0" rtl="1">
              <a:lnSpc>
                <a:spcPts val="2100"/>
              </a:lnSpc>
              <a:buNone/>
            </a:pPr>
            <a:r>
              <a:rPr lang="ar-SA" sz="1500" b="1" dirty="0" altLang="en-US">
                <a:solidFill>
                  <a:srgbClr val="172433"/>
                </a:solidFill>
                <a:latin typeface="IBM Plex Sans Arabic" pitchFamily="34" charset="0"/>
                <a:ea typeface="IBM Plex Sans Arabic" pitchFamily="34" charset="-122"/>
                <a:cs typeface="IBM Plex Sans Arabic" pitchFamily="34" charset="-120"/>
              </a:rPr>
              <a:t>مختص تدقيق أو قانون أو جودة</a:t>
            </a:r>
            <a:endParaRPr lang="ar-SA" sz="1500" dirty="0" altLang="en-US"/>
          </a:p>
        </p:txBody>
      </p:sp>
      <p:sp>
        <p:nvSpPr>
          <p:cNvPr id="30" name="Text 20"/>
          <p:cNvSpPr/>
          <p:nvPr/>
        </p:nvSpPr>
        <p:spPr>
          <a:xfrm>
            <a:off x="6563487" y="4698901"/>
            <a:ext cx="4225163"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يملك نصف المهارة، ويحتاج لغة الأمن السيبراني.</a:t>
            </a:r>
            <a:endParaRPr lang="ar-SA" sz="1200" dirty="0" altLang="en-US"/>
          </a:p>
        </p:txBody>
      </p:sp>
      <p:pic>
        <p:nvPicPr>
          <p:cNvPr id="31" name="Image 8" descr="Book">    </p:cNvPr>
          <p:cNvPicPr>
            <a:picLocks noChangeAspect="1"/>
          </p:cNvPicPr>
          <p:nvPr/>
        </p:nvPicPr>
        <p:blipFill>
          <a:blip r:embed="rId9"/>
          <a:srcRect l="0" r="0" t="0" b="0"/>
          <a:stretch/>
        </p:blipFill>
        <p:spPr>
          <a:xfrm>
            <a:off x="10915650" y="4406801"/>
            <a:ext cx="279400" cy="279400"/>
          </a:xfrm>
          <a:prstGeom prst="rect">
            <a:avLst/>
          </a:prstGeom>
        </p:spPr>
      </p:pic>
      <p:sp>
        <p:nvSpPr>
          <p:cNvPr id="32" name="Text 21"/>
          <p:cNvSpPr/>
          <p:nvPr/>
        </p:nvSpPr>
        <p:spPr>
          <a:xfrm>
            <a:off x="76200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3</a:t>
            </a:r>
            <a:endParaRPr lang="en-US" sz="1200" dirty="0"/>
          </a:p>
        </p:txBody>
      </p:sp>
      <p:sp>
        <p:nvSpPr>
          <p:cNvPr id="33" name="Text 22"/>
          <p:cNvSpPr/>
          <p:nvPr/>
        </p:nvSpPr>
        <p:spPr>
          <a:xfrm>
            <a:off x="747004" y="6238280"/>
            <a:ext cx="106321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البداية</a:t>
            </a:r>
            <a:endParaRPr lang="ar-SA" sz="1200" dirty="0"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2433"/>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0E7C6B"/>
          </a:solidFill>
          <a:ln/>
        </p:spPr>
      </p:sp>
      <p:sp>
        <p:nvSpPr>
          <p:cNvPr id="3" name="Text 1"/>
          <p:cNvSpPr/>
          <p:nvPr>
            <p:ph type="title"/>
          </p:nvPr>
        </p:nvSpPr>
        <p:spPr>
          <a:xfrm>
            <a:off x="146616" y="2505720"/>
            <a:ext cx="3997107" cy="756890"/>
          </a:xfrm>
          <a:prstGeom prst="rect">
            <a:avLst/>
          </a:prstGeom>
          <a:noFill/>
          <a:ln/>
        </p:spPr>
        <p:txBody>
          <a:bodyPr wrap="square" lIns="0" tIns="0" rIns="0" bIns="0" rtlCol="0" anchor="t">
            <a:normAutofit/>
          </a:bodyPr>
          <a:lstStyle/>
          <a:p>
            <a:pPr algn="r" indent="0" marL="0" rtl="1">
              <a:lnSpc>
                <a:spcPts val="5760"/>
              </a:lnSpc>
              <a:buNone/>
            </a:pPr>
            <a:r>
              <a:rPr lang="ar-SA" sz="4800" b="1" i="0" dirty="0" altLang="en-US">
                <a:solidFill>
                  <a:srgbClr val="F3EFE6"/>
                </a:solidFill>
                <a:latin typeface="Readex Pro" pitchFamily="34" charset="0"/>
                <a:ea typeface="Readex Pro" pitchFamily="34" charset="-122"/>
                <a:cs typeface="Readex Pro" pitchFamily="34" charset="-120"/>
              </a:rPr>
              <a:t>ما هو GRC؟</a:t>
            </a:r>
            <a:endParaRPr lang="ar-SA" sz="4800" dirty="0" altLang="en-US"/>
          </a:p>
        </p:txBody>
      </p:sp>
      <p:sp>
        <p:nvSpPr>
          <p:cNvPr id="4" name="Text 2"/>
          <p:cNvSpPr/>
          <p:nvPr/>
        </p:nvSpPr>
        <p:spPr>
          <a:xfrm>
            <a:off x="4143722" y="1967210"/>
            <a:ext cx="182245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0E7C6B"/>
                </a:solidFill>
                <a:latin typeface="Readex Pro" pitchFamily="34" charset="0"/>
                <a:ea typeface="Readex Pro" pitchFamily="34" charset="-122"/>
                <a:cs typeface="Readex Pro" pitchFamily="34" charset="-120"/>
              </a:rPr>
              <a:t>01</a:t>
            </a:r>
            <a:endParaRPr lang="en-US" sz="10000" dirty="0"/>
          </a:p>
        </p:txBody>
      </p:sp>
      <p:sp>
        <p:nvSpPr>
          <p:cNvPr id="5" name="Text 3"/>
          <p:cNvSpPr/>
          <p:nvPr/>
        </p:nvSpPr>
        <p:spPr>
          <a:xfrm>
            <a:off x="546100" y="3440410"/>
            <a:ext cx="9156700" cy="711200"/>
          </a:xfrm>
          <a:prstGeom prst="rect">
            <a:avLst/>
          </a:prstGeom>
          <a:noFill/>
          <a:ln/>
        </p:spPr>
        <p:txBody>
          <a:bodyPr wrap="square" lIns="0" tIns="0" rIns="0" bIns="0" rtlCol="0" anchor="t">
            <a:normAutofit/>
          </a:bodyPr>
          <a:lstStyle/>
          <a:p>
            <a:pPr algn="r" indent="0" marL="0" rtl="1">
              <a:lnSpc>
                <a:spcPts val="2700"/>
              </a:lnSpc>
              <a:buNone/>
            </a:pPr>
            <a:r>
              <a:rPr lang="ar-SA" sz="1800" dirty="0" altLang="en-US">
                <a:solidFill>
                  <a:srgbClr val="D9E2E6"/>
                </a:solidFill>
                <a:latin typeface="IBM Plex Sans Arabic" pitchFamily="34" charset="0"/>
                <a:ea typeface="IBM Plex Sans Arabic" pitchFamily="34" charset="-122"/>
                <a:cs typeface="IBM Plex Sans Arabic" pitchFamily="34" charset="-120"/>
              </a:rPr>
              <a:t>قبل الشهادات والسيرة الذاتية: افهم ما الذي يفعله مختص الحوكمة والمخاطر والامتثال، ولماذا تحتاجه كل جهة.</a:t>
            </a:r>
            <a:endParaRPr lang="ar-SA" sz="1800" dirty="0" altLang="en-US"/>
          </a:p>
        </p:txBody>
      </p:sp>
      <p:sp>
        <p:nvSpPr>
          <p:cNvPr id="6" name="Text 4"/>
          <p:cNvSpPr/>
          <p:nvPr/>
        </p:nvSpPr>
        <p:spPr>
          <a:xfrm>
            <a:off x="812800" y="4329410"/>
            <a:ext cx="1019225"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أربع خرافات</a:t>
            </a:r>
            <a:endParaRPr lang="ar-SA" sz="1300" dirty="0" altLang="en-US"/>
          </a:p>
        </p:txBody>
      </p:sp>
      <p:sp>
        <p:nvSpPr>
          <p:cNvPr id="7" name="Text 5"/>
          <p:cNvSpPr/>
          <p:nvPr/>
        </p:nvSpPr>
        <p:spPr>
          <a:xfrm>
            <a:off x="1933625" y="4329410"/>
            <a:ext cx="1073051"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يوم في العمل</a:t>
            </a:r>
            <a:endParaRPr lang="ar-SA" sz="1300" dirty="0" altLang="en-US"/>
          </a:p>
        </p:txBody>
      </p:sp>
      <p:sp>
        <p:nvSpPr>
          <p:cNvPr id="8" name="Text 6"/>
          <p:cNvSpPr/>
          <p:nvPr/>
        </p:nvSpPr>
        <p:spPr>
          <a:xfrm>
            <a:off x="3108275" y="4329410"/>
            <a:ext cx="1686074"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الفرق عن الأدوار التقنية</a:t>
            </a:r>
            <a:endParaRPr lang="ar-SA" sz="1300" dirty="0" altLang="en-US"/>
          </a:p>
        </p:txBody>
      </p:sp>
      <p:sp>
        <p:nvSpPr>
          <p:cNvPr id="9" name="Text 7"/>
          <p:cNvSpPr/>
          <p:nvPr/>
        </p:nvSpPr>
        <p:spPr>
          <a:xfrm>
            <a:off x="4895949" y="4329410"/>
            <a:ext cx="1553964"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لماذا تحتاجه الجهات</a:t>
            </a:r>
            <a:endParaRPr lang="ar-SA" sz="1300" dirty="0" altLang="en-US"/>
          </a:p>
        </p:txBody>
      </p:sp>
      <p:sp>
        <p:nvSpPr>
          <p:cNvPr id="10" name="Text 8"/>
          <p:cNvSpPr/>
          <p:nvPr/>
        </p:nvSpPr>
        <p:spPr>
          <a:xfrm>
            <a:off x="6551513" y="4329410"/>
            <a:ext cx="784920"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التعريف</a:t>
            </a:r>
            <a:endParaRPr lang="ar-SA" sz="1300" dirty="0" altLang="en-US"/>
          </a:p>
        </p:txBody>
      </p:sp>
      <p:sp>
        <p:nvSpPr>
          <p:cNvPr id="11" name="Text 9"/>
          <p:cNvSpPr/>
          <p:nvPr/>
        </p:nvSpPr>
        <p:spPr>
          <a:xfrm>
            <a:off x="76200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3A3B1"/>
                </a:solidFill>
                <a:latin typeface="IBM Plex Sans Arabic" pitchFamily="34" charset="0"/>
                <a:ea typeface="IBM Plex Sans Arabic" pitchFamily="34" charset="-122"/>
                <a:cs typeface="IBM Plex Sans Arabic" pitchFamily="34" charset="-120"/>
              </a:rPr>
              <a:t>4</a:t>
            </a:r>
            <a:endParaRPr lang="en-US" sz="1200" dirty="0"/>
          </a:p>
        </p:txBody>
      </p:sp>
      <p:sp>
        <p:nvSpPr>
          <p:cNvPr id="12" name="Text 10"/>
          <p:cNvSpPr/>
          <p:nvPr/>
        </p:nvSpPr>
        <p:spPr>
          <a:xfrm>
            <a:off x="747004" y="6238280"/>
            <a:ext cx="106321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93A3B1"/>
                </a:solidFill>
                <a:latin typeface="IBM Plex Sans Arabic" pitchFamily="34" charset="0"/>
                <a:ea typeface="IBM Plex Sans Arabic" pitchFamily="34" charset="-122"/>
                <a:cs typeface="IBM Plex Sans Arabic" pitchFamily="34" charset="-120"/>
              </a:rPr>
              <a:t>كيف تبدأ في GRC · الوحدة 01</a:t>
            </a:r>
            <a:endParaRPr lang="ar-SA" sz="1200" dirty="0"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756470" cy="289520"/>
          </a:xfrm>
          <a:custGeom>
            <a:avLst/>
            <a:gdLst/>
            <a:ahLst/>
            <a:cxnLst/>
            <a:rect l="l" t="t" r="r" b="b"/>
            <a:pathLst>
              <a:path w="1756470" h="289520">
                <a:moveTo>
                  <a:pt x="144760" y="0"/>
                </a:moveTo>
                <a:lnTo>
                  <a:pt x="1611709" y="0"/>
                </a:lnTo>
                <a:arcTo hR="144760" wR="144760" stAng="16200000" swAng="5400000"/>
                <a:lnTo>
                  <a:pt x="1756470"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01 · ما هو GRC؟</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ثلاث كلمات، وسؤال لكل منها</a:t>
            </a:r>
            <a:endParaRPr lang="ar-SA" sz="3000" dirty="0" altLang="en-US"/>
          </a:p>
        </p:txBody>
      </p:sp>
      <p:sp>
        <p:nvSpPr>
          <p:cNvPr id="5" name="Shape 3"/>
          <p:cNvSpPr/>
          <p:nvPr/>
        </p:nvSpPr>
        <p:spPr>
          <a:xfrm>
            <a:off x="815975" y="1911945"/>
            <a:ext cx="3397250" cy="2642791"/>
          </a:xfrm>
          <a:prstGeom prst="roundRect">
            <a:avLst>
              <a:gd name="adj" fmla="val 4205"/>
            </a:avLst>
          </a:prstGeom>
          <a:solidFill>
            <a:srgbClr val="FFFDF8"/>
          </a:solidFill>
          <a:ln w="6350">
            <a:solidFill>
              <a:srgbClr val="E1DBCD"/>
            </a:solidFill>
            <a:prstDash val="solid"/>
          </a:ln>
        </p:spPr>
      </p:sp>
      <p:sp>
        <p:nvSpPr>
          <p:cNvPr id="6" name="Text 4"/>
          <p:cNvSpPr/>
          <p:nvPr/>
        </p:nvSpPr>
        <p:spPr>
          <a:xfrm>
            <a:off x="932815" y="2118320"/>
            <a:ext cx="307403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2F5C92"/>
                </a:solidFill>
                <a:latin typeface="Readex Pro" pitchFamily="34" charset="0"/>
                <a:ea typeface="Readex Pro" pitchFamily="34" charset="-122"/>
                <a:cs typeface="Readex Pro" pitchFamily="34" charset="-120"/>
              </a:rPr>
              <a:t>Compliance</a:t>
            </a:r>
            <a:endParaRPr lang="en-US" sz="1300" dirty="0"/>
          </a:p>
        </p:txBody>
      </p:sp>
      <p:sp>
        <p:nvSpPr>
          <p:cNvPr id="7" name="Text 5"/>
          <p:cNvSpPr/>
          <p:nvPr/>
        </p:nvSpPr>
        <p:spPr>
          <a:xfrm>
            <a:off x="932815" y="2434530"/>
            <a:ext cx="3074035" cy="360660"/>
          </a:xfrm>
          <a:prstGeom prst="rect">
            <a:avLst/>
          </a:prstGeom>
          <a:noFill/>
          <a:ln/>
        </p:spPr>
        <p:txBody>
          <a:bodyPr wrap="square" lIns="0" tIns="0" rIns="0" bIns="0" rtlCol="0" anchor="t">
            <a:normAutofit/>
          </a:bodyPr>
          <a:lstStyle/>
          <a:p>
            <a:pPr algn="r" indent="0" marL="0" rtl="1">
              <a:lnSpc>
                <a:spcPts val="2640"/>
              </a:lnSpc>
              <a:buNone/>
            </a:pPr>
            <a:r>
              <a:rPr lang="ar-SA" sz="2200" b="1" dirty="0" altLang="en-US">
                <a:solidFill>
                  <a:srgbClr val="172433"/>
                </a:solidFill>
                <a:latin typeface="Readex Pro" pitchFamily="34" charset="0"/>
                <a:ea typeface="Readex Pro" pitchFamily="34" charset="-122"/>
                <a:cs typeface="Readex Pro" pitchFamily="34" charset="-120"/>
              </a:rPr>
              <a:t>الامتثال</a:t>
            </a:r>
            <a:endParaRPr lang="ar-SA" sz="2200" dirty="0" altLang="en-US"/>
          </a:p>
        </p:txBody>
      </p:sp>
      <p:sp>
        <p:nvSpPr>
          <p:cNvPr id="8" name="Text 6"/>
          <p:cNvSpPr/>
          <p:nvPr/>
        </p:nvSpPr>
        <p:spPr>
          <a:xfrm>
            <a:off x="932815" y="2871391"/>
            <a:ext cx="3074035" cy="5588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172433"/>
                </a:solidFill>
                <a:latin typeface="IBM Plex Sans Arabic" pitchFamily="34" charset="0"/>
                <a:ea typeface="IBM Plex Sans Arabic" pitchFamily="34" charset="-122"/>
                <a:cs typeface="IBM Plex Sans Arabic" pitchFamily="34" charset="-120"/>
              </a:rPr>
              <a:t>هل نلتزم بالأنظمة والمعايير وسياساتنا، وكيف نثبت ذلك؟</a:t>
            </a:r>
            <a:endParaRPr lang="ar-SA" sz="1400" dirty="0" altLang="en-US"/>
          </a:p>
        </p:txBody>
      </p:sp>
      <p:sp>
        <p:nvSpPr>
          <p:cNvPr id="9" name="Shape 7"/>
          <p:cNvSpPr/>
          <p:nvPr/>
        </p:nvSpPr>
        <p:spPr>
          <a:xfrm>
            <a:off x="1022350" y="3509566"/>
            <a:ext cx="2984500" cy="0"/>
          </a:xfrm>
          <a:prstGeom prst="line">
            <a:avLst/>
          </a:prstGeom>
          <a:noFill/>
          <a:ln w="6350">
            <a:solidFill>
              <a:srgbClr val="E1DBCD"/>
            </a:solidFill>
            <a:prstDash val="solid"/>
          </a:ln>
        </p:spPr>
      </p:sp>
      <p:sp>
        <p:nvSpPr>
          <p:cNvPr id="10" name="Text 8"/>
          <p:cNvSpPr/>
          <p:nvPr/>
        </p:nvSpPr>
        <p:spPr>
          <a:xfrm>
            <a:off x="932815" y="3601641"/>
            <a:ext cx="3074035"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4E5A66"/>
                </a:solidFill>
                <a:latin typeface="IBM Plex Sans Arabic" pitchFamily="34" charset="0"/>
                <a:ea typeface="IBM Plex Sans Arabic" pitchFamily="34" charset="-122"/>
                <a:cs typeface="IBM Plex Sans Arabic" pitchFamily="34" charset="-120"/>
              </a:rPr>
              <a:t>ما تنتجه</a:t>
            </a:r>
            <a:endParaRPr lang="ar-SA" sz="1200" dirty="0" altLang="en-US"/>
          </a:p>
        </p:txBody>
      </p:sp>
      <p:sp>
        <p:nvSpPr>
          <p:cNvPr id="11" name="Text 9"/>
          <p:cNvSpPr/>
          <p:nvPr/>
        </p:nvSpPr>
        <p:spPr>
          <a:xfrm>
            <a:off x="932815" y="3853061"/>
            <a:ext cx="3074035" cy="520700"/>
          </a:xfrm>
          <a:prstGeom prst="rect">
            <a:avLst/>
          </a:prstGeom>
          <a:noFill/>
          <a:ln/>
        </p:spPr>
        <p:txBody>
          <a:bodyPr wrap="square" lIns="0" tIns="0" rIns="0" bIns="0" rtlCol="0" anchor="t">
            <a:normAutofit/>
          </a:bodyPr>
          <a:lstStyle/>
          <a:p>
            <a:pPr algn="r" indent="0" marL="0" rtl="1">
              <a:lnSpc>
                <a:spcPts val="1950"/>
              </a:lnSpc>
              <a:buNone/>
            </a:pPr>
            <a:r>
              <a:rPr lang="ar-SA" sz="1300" dirty="0" altLang="en-US">
                <a:solidFill>
                  <a:srgbClr val="4E5A66"/>
                </a:solidFill>
                <a:latin typeface="IBM Plex Sans Arabic" pitchFamily="34" charset="0"/>
                <a:ea typeface="IBM Plex Sans Arabic" pitchFamily="34" charset="-122"/>
                <a:cs typeface="IBM Plex Sans Arabic" pitchFamily="34" charset="-120"/>
              </a:rPr>
              <a:t>تقييم فجوات، وسجل أدلة، وتقارير امتثال، ومتابعة ملاحظات التدقيق.</a:t>
            </a:r>
            <a:endParaRPr lang="ar-SA" sz="1300" dirty="0" altLang="en-US"/>
          </a:p>
        </p:txBody>
      </p:sp>
      <p:sp>
        <p:nvSpPr>
          <p:cNvPr id="12" name="Shape 10"/>
          <p:cNvSpPr/>
          <p:nvPr/>
        </p:nvSpPr>
        <p:spPr>
          <a:xfrm>
            <a:off x="4397375" y="1911945"/>
            <a:ext cx="3397250" cy="2642791"/>
          </a:xfrm>
          <a:prstGeom prst="roundRect">
            <a:avLst>
              <a:gd name="adj" fmla="val 4205"/>
            </a:avLst>
          </a:prstGeom>
          <a:solidFill>
            <a:srgbClr val="FFFDF8"/>
          </a:solidFill>
          <a:ln w="6350">
            <a:solidFill>
              <a:srgbClr val="E1DBCD"/>
            </a:solidFill>
            <a:prstDash val="solid"/>
          </a:ln>
        </p:spPr>
      </p:sp>
      <p:sp>
        <p:nvSpPr>
          <p:cNvPr id="13" name="Text 11"/>
          <p:cNvSpPr/>
          <p:nvPr/>
        </p:nvSpPr>
        <p:spPr>
          <a:xfrm>
            <a:off x="4514215" y="2118320"/>
            <a:ext cx="307403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9A5F0F"/>
                </a:solidFill>
                <a:latin typeface="Readex Pro" pitchFamily="34" charset="0"/>
                <a:ea typeface="Readex Pro" pitchFamily="34" charset="-122"/>
                <a:cs typeface="Readex Pro" pitchFamily="34" charset="-120"/>
              </a:rPr>
              <a:t>Risk</a:t>
            </a:r>
            <a:endParaRPr lang="en-US" sz="1300" dirty="0"/>
          </a:p>
        </p:txBody>
      </p:sp>
      <p:sp>
        <p:nvSpPr>
          <p:cNvPr id="14" name="Text 12"/>
          <p:cNvSpPr/>
          <p:nvPr/>
        </p:nvSpPr>
        <p:spPr>
          <a:xfrm>
            <a:off x="4514215" y="2434530"/>
            <a:ext cx="3074035" cy="360660"/>
          </a:xfrm>
          <a:prstGeom prst="rect">
            <a:avLst/>
          </a:prstGeom>
          <a:noFill/>
          <a:ln/>
        </p:spPr>
        <p:txBody>
          <a:bodyPr wrap="square" lIns="0" tIns="0" rIns="0" bIns="0" rtlCol="0" anchor="t">
            <a:normAutofit/>
          </a:bodyPr>
          <a:lstStyle/>
          <a:p>
            <a:pPr algn="r" indent="0" marL="0" rtl="1">
              <a:lnSpc>
                <a:spcPts val="2640"/>
              </a:lnSpc>
              <a:buNone/>
            </a:pPr>
            <a:r>
              <a:rPr lang="ar-SA" sz="2200" b="1" dirty="0" altLang="en-US">
                <a:solidFill>
                  <a:srgbClr val="172433"/>
                </a:solidFill>
                <a:latin typeface="Readex Pro" pitchFamily="34" charset="0"/>
                <a:ea typeface="Readex Pro" pitchFamily="34" charset="-122"/>
                <a:cs typeface="Readex Pro" pitchFamily="34" charset="-120"/>
              </a:rPr>
              <a:t>المخاطر</a:t>
            </a:r>
            <a:endParaRPr lang="ar-SA" sz="2200" dirty="0" altLang="en-US"/>
          </a:p>
        </p:txBody>
      </p:sp>
      <p:sp>
        <p:nvSpPr>
          <p:cNvPr id="15" name="Text 13"/>
          <p:cNvSpPr/>
          <p:nvPr/>
        </p:nvSpPr>
        <p:spPr>
          <a:xfrm>
            <a:off x="4514215" y="2871391"/>
            <a:ext cx="3074035" cy="5588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172433"/>
                </a:solidFill>
                <a:latin typeface="IBM Plex Sans Arabic" pitchFamily="34" charset="0"/>
                <a:ea typeface="IBM Plex Sans Arabic" pitchFamily="34" charset="-122"/>
                <a:cs typeface="IBM Plex Sans Arabic" pitchFamily="34" charset="-120"/>
              </a:rPr>
              <a:t>ما الذي قد يضرنا، وما احتماله وأثره، وماذا نفعل حياله؟</a:t>
            </a:r>
            <a:endParaRPr lang="ar-SA" sz="1400" dirty="0" altLang="en-US"/>
          </a:p>
        </p:txBody>
      </p:sp>
      <p:sp>
        <p:nvSpPr>
          <p:cNvPr id="16" name="Shape 14"/>
          <p:cNvSpPr/>
          <p:nvPr/>
        </p:nvSpPr>
        <p:spPr>
          <a:xfrm>
            <a:off x="4603750" y="3509566"/>
            <a:ext cx="2984500" cy="0"/>
          </a:xfrm>
          <a:prstGeom prst="line">
            <a:avLst/>
          </a:prstGeom>
          <a:noFill/>
          <a:ln w="6350">
            <a:solidFill>
              <a:srgbClr val="E1DBCD"/>
            </a:solidFill>
            <a:prstDash val="solid"/>
          </a:ln>
        </p:spPr>
      </p:sp>
      <p:sp>
        <p:nvSpPr>
          <p:cNvPr id="17" name="Text 15"/>
          <p:cNvSpPr/>
          <p:nvPr/>
        </p:nvSpPr>
        <p:spPr>
          <a:xfrm>
            <a:off x="4514215" y="3601641"/>
            <a:ext cx="3074035"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4E5A66"/>
                </a:solidFill>
                <a:latin typeface="IBM Plex Sans Arabic" pitchFamily="34" charset="0"/>
                <a:ea typeface="IBM Plex Sans Arabic" pitchFamily="34" charset="-122"/>
                <a:cs typeface="IBM Plex Sans Arabic" pitchFamily="34" charset="-120"/>
              </a:rPr>
              <a:t>ما تنتجه</a:t>
            </a:r>
            <a:endParaRPr lang="ar-SA" sz="1200" dirty="0" altLang="en-US"/>
          </a:p>
        </p:txBody>
      </p:sp>
      <p:sp>
        <p:nvSpPr>
          <p:cNvPr id="18" name="Text 16"/>
          <p:cNvSpPr/>
          <p:nvPr/>
        </p:nvSpPr>
        <p:spPr>
          <a:xfrm>
            <a:off x="4514215" y="3853061"/>
            <a:ext cx="3074035" cy="520700"/>
          </a:xfrm>
          <a:prstGeom prst="rect">
            <a:avLst/>
          </a:prstGeom>
          <a:noFill/>
          <a:ln/>
        </p:spPr>
        <p:txBody>
          <a:bodyPr wrap="square" lIns="0" tIns="0" rIns="0" bIns="0" rtlCol="0" anchor="t">
            <a:normAutofit/>
          </a:bodyPr>
          <a:lstStyle/>
          <a:p>
            <a:pPr algn="r" indent="0" marL="0" rtl="1">
              <a:lnSpc>
                <a:spcPts val="1950"/>
              </a:lnSpc>
              <a:buNone/>
            </a:pPr>
            <a:r>
              <a:rPr lang="ar-SA" sz="1300" dirty="0" altLang="en-US">
                <a:solidFill>
                  <a:srgbClr val="4E5A66"/>
                </a:solidFill>
                <a:latin typeface="IBM Plex Sans Arabic" pitchFamily="34" charset="0"/>
                <a:ea typeface="IBM Plex Sans Arabic" pitchFamily="34" charset="-122"/>
                <a:cs typeface="IBM Plex Sans Arabic" pitchFamily="34" charset="-120"/>
              </a:rPr>
              <a:t>تقييم مخاطر، وسجل مخاطر، وخطط معالجة، وشهية للمخاطر.</a:t>
            </a:r>
            <a:endParaRPr lang="ar-SA" sz="1300" dirty="0" altLang="en-US"/>
          </a:p>
        </p:txBody>
      </p:sp>
      <p:sp>
        <p:nvSpPr>
          <p:cNvPr id="19" name="Shape 17"/>
          <p:cNvSpPr/>
          <p:nvPr/>
        </p:nvSpPr>
        <p:spPr>
          <a:xfrm>
            <a:off x="7978775" y="1911945"/>
            <a:ext cx="3397250" cy="2642791"/>
          </a:xfrm>
          <a:prstGeom prst="roundRect">
            <a:avLst>
              <a:gd name="adj" fmla="val 4205"/>
            </a:avLst>
          </a:prstGeom>
          <a:solidFill>
            <a:srgbClr val="FFFDF8"/>
          </a:solidFill>
          <a:ln w="6350">
            <a:solidFill>
              <a:srgbClr val="E1DBCD"/>
            </a:solidFill>
            <a:prstDash val="solid"/>
          </a:ln>
        </p:spPr>
      </p:sp>
      <p:sp>
        <p:nvSpPr>
          <p:cNvPr id="20" name="Text 18"/>
          <p:cNvSpPr/>
          <p:nvPr/>
        </p:nvSpPr>
        <p:spPr>
          <a:xfrm>
            <a:off x="8095615" y="2118320"/>
            <a:ext cx="307403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0E7C6B"/>
                </a:solidFill>
                <a:latin typeface="Readex Pro" pitchFamily="34" charset="0"/>
                <a:ea typeface="Readex Pro" pitchFamily="34" charset="-122"/>
                <a:cs typeface="Readex Pro" pitchFamily="34" charset="-120"/>
              </a:rPr>
              <a:t>Governance</a:t>
            </a:r>
            <a:endParaRPr lang="en-US" sz="1300" dirty="0"/>
          </a:p>
        </p:txBody>
      </p:sp>
      <p:sp>
        <p:nvSpPr>
          <p:cNvPr id="21" name="Text 19"/>
          <p:cNvSpPr/>
          <p:nvPr/>
        </p:nvSpPr>
        <p:spPr>
          <a:xfrm>
            <a:off x="8095615" y="2434530"/>
            <a:ext cx="3074035" cy="360660"/>
          </a:xfrm>
          <a:prstGeom prst="rect">
            <a:avLst/>
          </a:prstGeom>
          <a:noFill/>
          <a:ln/>
        </p:spPr>
        <p:txBody>
          <a:bodyPr wrap="square" lIns="0" tIns="0" rIns="0" bIns="0" rtlCol="0" anchor="t">
            <a:normAutofit/>
          </a:bodyPr>
          <a:lstStyle/>
          <a:p>
            <a:pPr algn="r" indent="0" marL="0" rtl="1">
              <a:lnSpc>
                <a:spcPts val="2640"/>
              </a:lnSpc>
              <a:buNone/>
            </a:pPr>
            <a:r>
              <a:rPr lang="ar-SA" sz="2200" b="1" dirty="0" altLang="en-US">
                <a:solidFill>
                  <a:srgbClr val="172433"/>
                </a:solidFill>
                <a:latin typeface="Readex Pro" pitchFamily="34" charset="0"/>
                <a:ea typeface="Readex Pro" pitchFamily="34" charset="-122"/>
                <a:cs typeface="Readex Pro" pitchFamily="34" charset="-120"/>
              </a:rPr>
              <a:t>الحوكمة</a:t>
            </a:r>
            <a:endParaRPr lang="ar-SA" sz="2200" dirty="0" altLang="en-US"/>
          </a:p>
        </p:txBody>
      </p:sp>
      <p:sp>
        <p:nvSpPr>
          <p:cNvPr id="22" name="Text 20"/>
          <p:cNvSpPr/>
          <p:nvPr/>
        </p:nvSpPr>
        <p:spPr>
          <a:xfrm>
            <a:off x="8095615" y="2871391"/>
            <a:ext cx="3074035" cy="2921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172433"/>
                </a:solidFill>
                <a:latin typeface="IBM Plex Sans Arabic" pitchFamily="34" charset="0"/>
                <a:ea typeface="IBM Plex Sans Arabic" pitchFamily="34" charset="-122"/>
                <a:cs typeface="IBM Plex Sans Arabic" pitchFamily="34" charset="-120"/>
              </a:rPr>
              <a:t>من يقرر، وبأي قواعد، وكيف نتابع التنفيذ؟</a:t>
            </a:r>
            <a:endParaRPr lang="ar-SA" sz="1400" dirty="0" altLang="en-US"/>
          </a:p>
        </p:txBody>
      </p:sp>
      <p:sp>
        <p:nvSpPr>
          <p:cNvPr id="23" name="Shape 21"/>
          <p:cNvSpPr/>
          <p:nvPr/>
        </p:nvSpPr>
        <p:spPr>
          <a:xfrm>
            <a:off x="8185150" y="3242866"/>
            <a:ext cx="2984500" cy="0"/>
          </a:xfrm>
          <a:prstGeom prst="line">
            <a:avLst/>
          </a:prstGeom>
          <a:noFill/>
          <a:ln w="6350">
            <a:solidFill>
              <a:srgbClr val="E1DBCD"/>
            </a:solidFill>
            <a:prstDash val="solid"/>
          </a:ln>
        </p:spPr>
      </p:sp>
      <p:sp>
        <p:nvSpPr>
          <p:cNvPr id="24" name="Text 22"/>
          <p:cNvSpPr/>
          <p:nvPr/>
        </p:nvSpPr>
        <p:spPr>
          <a:xfrm>
            <a:off x="8095615" y="3334941"/>
            <a:ext cx="3074035"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4E5A66"/>
                </a:solidFill>
                <a:latin typeface="IBM Plex Sans Arabic" pitchFamily="34" charset="0"/>
                <a:ea typeface="IBM Plex Sans Arabic" pitchFamily="34" charset="-122"/>
                <a:cs typeface="IBM Plex Sans Arabic" pitchFamily="34" charset="-120"/>
              </a:rPr>
              <a:t>ما تنتجه</a:t>
            </a:r>
            <a:endParaRPr lang="ar-SA" sz="1200" dirty="0" altLang="en-US"/>
          </a:p>
        </p:txBody>
      </p:sp>
      <p:sp>
        <p:nvSpPr>
          <p:cNvPr id="25" name="Text 23"/>
          <p:cNvSpPr/>
          <p:nvPr/>
        </p:nvSpPr>
        <p:spPr>
          <a:xfrm>
            <a:off x="8095615" y="3586361"/>
            <a:ext cx="3074035" cy="520700"/>
          </a:xfrm>
          <a:prstGeom prst="rect">
            <a:avLst/>
          </a:prstGeom>
          <a:noFill/>
          <a:ln/>
        </p:spPr>
        <p:txBody>
          <a:bodyPr wrap="square" lIns="0" tIns="0" rIns="0" bIns="0" rtlCol="0" anchor="t">
            <a:normAutofit/>
          </a:bodyPr>
          <a:lstStyle/>
          <a:p>
            <a:pPr algn="r" indent="0" marL="0" rtl="1">
              <a:lnSpc>
                <a:spcPts val="1950"/>
              </a:lnSpc>
              <a:buNone/>
            </a:pPr>
            <a:r>
              <a:rPr lang="ar-SA" sz="1300" dirty="0" altLang="en-US">
                <a:solidFill>
                  <a:srgbClr val="4E5A66"/>
                </a:solidFill>
                <a:latin typeface="IBM Plex Sans Arabic" pitchFamily="34" charset="0"/>
                <a:ea typeface="IBM Plex Sans Arabic" pitchFamily="34" charset="-122"/>
                <a:cs typeface="IBM Plex Sans Arabic" pitchFamily="34" charset="-120"/>
              </a:rPr>
              <a:t>استراتيجية، وسياسات معتمدة، ولجنة إشرافية، وأدوار ومسؤوليات.</a:t>
            </a:r>
            <a:endParaRPr lang="ar-SA" sz="1300" dirty="0" altLang="en-US"/>
          </a:p>
        </p:txBody>
      </p:sp>
      <p:sp>
        <p:nvSpPr>
          <p:cNvPr id="26" name="Shape 24"/>
          <p:cNvSpPr/>
          <p:nvPr/>
        </p:nvSpPr>
        <p:spPr>
          <a:xfrm>
            <a:off x="812800" y="4811911"/>
            <a:ext cx="10566400" cy="571500"/>
          </a:xfrm>
          <a:prstGeom prst="roundRect">
            <a:avLst>
              <a:gd name="adj" fmla="val 17778"/>
            </a:avLst>
          </a:prstGeom>
          <a:solidFill>
            <a:srgbClr val="172433"/>
          </a:solidFill>
          <a:ln/>
        </p:spPr>
      </p:sp>
      <p:sp>
        <p:nvSpPr>
          <p:cNvPr id="27" name="Text 25"/>
          <p:cNvSpPr/>
          <p:nvPr/>
        </p:nvSpPr>
        <p:spPr>
          <a:xfrm>
            <a:off x="722630" y="4964311"/>
            <a:ext cx="10072370" cy="2921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F3EFE6"/>
                </a:solidFill>
                <a:latin typeface="IBM Plex Sans Arabic" pitchFamily="34" charset="0"/>
                <a:ea typeface="IBM Plex Sans Arabic" pitchFamily="34" charset="-122"/>
                <a:cs typeface="IBM Plex Sans Arabic" pitchFamily="34" charset="-120"/>
              </a:rPr>
              <a:t>الحوكمة تضع القواعد، والمخاطر تحدد الأولويات، والامتثال يثبت التطبيق. قوة GRC في ربط الثلاثة معاً.</a:t>
            </a:r>
            <a:endParaRPr lang="ar-SA" sz="1400" dirty="0" altLang="en-US"/>
          </a:p>
        </p:txBody>
      </p:sp>
      <p:pic>
        <p:nvPicPr>
          <p:cNvPr id="28" name="Image 0" descr="Link">    </p:cNvPr>
          <p:cNvPicPr>
            <a:picLocks noChangeAspect="1"/>
          </p:cNvPicPr>
          <p:nvPr/>
        </p:nvPicPr>
        <p:blipFill>
          <a:blip r:embed="rId1"/>
          <a:srcRect l="0" r="0" t="0" b="0"/>
          <a:stretch/>
        </p:blipFill>
        <p:spPr>
          <a:xfrm>
            <a:off x="10922000" y="4970661"/>
            <a:ext cx="254000" cy="254000"/>
          </a:xfrm>
          <a:prstGeom prst="rect">
            <a:avLst/>
          </a:prstGeom>
        </p:spPr>
      </p:pic>
      <p:sp>
        <p:nvSpPr>
          <p:cNvPr id="29" name="Text 26"/>
          <p:cNvSpPr/>
          <p:nvPr/>
        </p:nvSpPr>
        <p:spPr>
          <a:xfrm>
            <a:off x="76200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5</a:t>
            </a:r>
            <a:endParaRPr lang="en-US" sz="1200" dirty="0"/>
          </a:p>
        </p:txBody>
      </p:sp>
      <p:sp>
        <p:nvSpPr>
          <p:cNvPr id="30" name="Text 27"/>
          <p:cNvSpPr/>
          <p:nvPr/>
        </p:nvSpPr>
        <p:spPr>
          <a:xfrm>
            <a:off x="747004" y="6238280"/>
            <a:ext cx="106321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01 · ما هو GRC؟</a:t>
            </a:r>
            <a:endParaRPr lang="ar-SA" sz="1200" dirty="0"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7C6B"/>
        </a:solidFill>
      </p:bgPr>
    </p:bg>
    <p:spTree>
      <p:nvGrpSpPr>
        <p:cNvPr id="1" name=""/>
        <p:cNvGrpSpPr/>
        <p:nvPr/>
      </p:nvGrpSpPr>
      <p:grpSpPr>
        <a:xfrm>
          <a:off x="0" y="0"/>
          <a:ext cx="0" cy="0"/>
          <a:chOff x="0" y="0"/>
          <a:chExt cx="0" cy="0"/>
        </a:xfrm>
      </p:grpSpPr>
      <p:sp>
        <p:nvSpPr>
          <p:cNvPr id="2" name="Text 0"/>
          <p:cNvSpPr/>
          <p:nvPr/>
        </p:nvSpPr>
        <p:spPr>
          <a:xfrm>
            <a:off x="812800" y="812800"/>
            <a:ext cx="1756470" cy="289520"/>
          </a:xfrm>
          <a:custGeom>
            <a:avLst/>
            <a:gdLst/>
            <a:ahLst/>
            <a:cxnLst/>
            <a:rect l="l" t="t" r="r" b="b"/>
            <a:pathLst>
              <a:path w="1756470" h="289520">
                <a:moveTo>
                  <a:pt x="144760" y="0"/>
                </a:moveTo>
                <a:lnTo>
                  <a:pt x="1611709" y="0"/>
                </a:lnTo>
                <a:arcTo hR="144760" wR="144760" stAng="16200000" swAng="5400000"/>
                <a:lnTo>
                  <a:pt x="1756470" y="144760"/>
                </a:lnTo>
                <a:arcTo hR="144760" wR="144760" stAng="0" swAng="5400000"/>
                <a:lnTo>
                  <a:pt x="144760" y="289520"/>
                </a:lnTo>
                <a:arcTo hR="144760" wR="144760" stAng="5400000" swAng="5400000"/>
                <a:lnTo>
                  <a:pt x="0" y="144760"/>
                </a:lnTo>
                <a:arcTo hR="144760" wR="144760" stAng="10800000" swAng="5400000"/>
                <a:close/>
              </a:path>
            </a:pathLst>
          </a:custGeom>
          <a:solidFill>
            <a:srgbClr val="CFEDE6"/>
          </a:solidFill>
          <a:ln/>
        </p:spPr>
        <p:txBody>
          <a:bodyPr wrap="none" lIns="0" tIns="0" rIns="0" bIns="0" rtlCol="0" anchor="ctr">
            <a:normAutofit/>
          </a:bodyPr>
          <a:lstStyle/>
          <a:p>
            <a:pPr algn="ctr" indent="0" marL="0" rtl="1">
              <a:lnSpc>
                <a:spcPts val="1680"/>
              </a:lnSpc>
              <a:buNone/>
            </a:pPr>
            <a:r>
              <a:rPr lang="ar-SA" sz="1200" b="1" dirty="0" altLang="en-US">
                <a:solidFill>
                  <a:srgbClr val="0B5E52"/>
                </a:solidFill>
                <a:latin typeface="IBM Plex Sans Arabic" pitchFamily="34" charset="0"/>
                <a:ea typeface="IBM Plex Sans Arabic" pitchFamily="34" charset="-122"/>
                <a:cs typeface="IBM Plex Sans Arabic" pitchFamily="34" charset="-120"/>
              </a:rPr>
              <a:t>الوحدة 01 · ما هو GRC؟</a:t>
            </a:r>
            <a:endParaRPr lang="ar-SA" sz="1200" dirty="0" altLang="en-US"/>
          </a:p>
        </p:txBody>
      </p:sp>
      <p:sp>
        <p:nvSpPr>
          <p:cNvPr id="3" name="Text 1"/>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FBF8F1"/>
                </a:solidFill>
                <a:latin typeface="Readex Pro" pitchFamily="34" charset="0"/>
                <a:ea typeface="Readex Pro" pitchFamily="34" charset="-122"/>
                <a:cs typeface="Readex Pro" pitchFamily="34" charset="-120"/>
              </a:rPr>
              <a:t>لماذا تحتاج كل جهة من يعمل في GRC؟</a:t>
            </a:r>
            <a:endParaRPr lang="ar-SA" sz="3000" dirty="0" altLang="en-US"/>
          </a:p>
        </p:txBody>
      </p:sp>
      <p:sp>
        <p:nvSpPr>
          <p:cNvPr id="4" name="Shape 2"/>
          <p:cNvSpPr/>
          <p:nvPr/>
        </p:nvSpPr>
        <p:spPr>
          <a:xfrm>
            <a:off x="812800" y="1969095"/>
            <a:ext cx="3386634" cy="0"/>
          </a:xfrm>
          <a:prstGeom prst="line">
            <a:avLst/>
          </a:prstGeom>
          <a:noFill/>
          <a:ln w="19050">
            <a:solidFill>
              <a:srgbClr val="9FE0D2"/>
            </a:solidFill>
            <a:prstDash val="solid"/>
          </a:ln>
        </p:spPr>
      </p:sp>
      <p:sp>
        <p:nvSpPr>
          <p:cNvPr id="5" name="Text 3"/>
          <p:cNvSpPr/>
          <p:nvPr/>
        </p:nvSpPr>
        <p:spPr>
          <a:xfrm>
            <a:off x="711201" y="2131020"/>
            <a:ext cx="3488233" cy="482600"/>
          </a:xfrm>
          <a:prstGeom prst="rect">
            <a:avLst/>
          </a:prstGeom>
          <a:noFill/>
          <a:ln/>
        </p:spPr>
        <p:txBody>
          <a:bodyPr wrap="square" lIns="0" tIns="0" rIns="0" bIns="0" rtlCol="0" anchor="t">
            <a:normAutofit/>
          </a:bodyPr>
          <a:lstStyle/>
          <a:p>
            <a:pPr algn="r" indent="0" marL="0">
              <a:lnSpc>
                <a:spcPts val="3600"/>
              </a:lnSpc>
              <a:buNone/>
            </a:pPr>
            <a:r>
              <a:rPr lang="en-US" sz="3600" b="1" dirty="0">
                <a:solidFill>
                  <a:srgbClr val="CFEDE6"/>
                </a:solidFill>
                <a:latin typeface="Readex Pro" pitchFamily="34" charset="0"/>
                <a:ea typeface="Readex Pro" pitchFamily="34" charset="-122"/>
                <a:cs typeface="Readex Pro" pitchFamily="34" charset="-120"/>
              </a:rPr>
              <a:t>3</a:t>
            </a:r>
            <a:endParaRPr lang="en-US" sz="3600" dirty="0"/>
          </a:p>
        </p:txBody>
      </p:sp>
      <p:sp>
        <p:nvSpPr>
          <p:cNvPr id="6" name="Text 4"/>
          <p:cNvSpPr/>
          <p:nvPr/>
        </p:nvSpPr>
        <p:spPr>
          <a:xfrm>
            <a:off x="711201" y="2689820"/>
            <a:ext cx="3488233" cy="355600"/>
          </a:xfrm>
          <a:prstGeom prst="rect">
            <a:avLst/>
          </a:prstGeom>
          <a:noFill/>
          <a:ln/>
        </p:spPr>
        <p:txBody>
          <a:bodyPr wrap="square" lIns="0" tIns="0" rIns="0" bIns="0" rtlCol="0" anchor="t">
            <a:normAutofit/>
          </a:bodyPr>
          <a:lstStyle/>
          <a:p>
            <a:pPr algn="r" indent="0" marL="0" rtl="1">
              <a:lnSpc>
                <a:spcPts val="2600"/>
              </a:lnSpc>
              <a:buNone/>
            </a:pPr>
            <a:r>
              <a:rPr lang="ar-SA" sz="2000" b="1" dirty="0" altLang="en-US">
                <a:solidFill>
                  <a:srgbClr val="FBF8F1"/>
                </a:solidFill>
                <a:latin typeface="Readex Pro" pitchFamily="34" charset="0"/>
                <a:ea typeface="Readex Pro" pitchFamily="34" charset="-122"/>
                <a:cs typeface="Readex Pro" pitchFamily="34" charset="-120"/>
              </a:rPr>
              <a:t>ثقة تحتاج دليلاً</a:t>
            </a:r>
            <a:endParaRPr lang="ar-SA" sz="2000" dirty="0" altLang="en-US"/>
          </a:p>
        </p:txBody>
      </p:sp>
      <p:sp>
        <p:nvSpPr>
          <p:cNvPr id="7" name="Text 5"/>
          <p:cNvSpPr/>
          <p:nvPr/>
        </p:nvSpPr>
        <p:spPr>
          <a:xfrm>
            <a:off x="711201" y="3121620"/>
            <a:ext cx="3488233" cy="576560"/>
          </a:xfrm>
          <a:prstGeom prst="rect">
            <a:avLst/>
          </a:prstGeom>
          <a:noFill/>
          <a:ln/>
        </p:spPr>
        <p:txBody>
          <a:bodyPr wrap="square" lIns="0" tIns="0" rIns="0" bIns="0" rtlCol="0" anchor="t">
            <a:normAutofit/>
          </a:bodyPr>
          <a:lstStyle/>
          <a:p>
            <a:pPr algn="r" indent="0" marL="0" rtl="1">
              <a:lnSpc>
                <a:spcPts val="2170"/>
              </a:lnSpc>
              <a:buNone/>
            </a:pPr>
            <a:r>
              <a:rPr lang="ar-SA" sz="1400" dirty="0" altLang="en-US">
                <a:solidFill>
                  <a:srgbClr val="E6F4F0"/>
                </a:solidFill>
                <a:latin typeface="IBM Plex Sans Arabic" pitchFamily="34" charset="0"/>
                <a:ea typeface="IBM Plex Sans Arabic" pitchFamily="34" charset="-122"/>
                <a:cs typeface="IBM Plex Sans Arabic" pitchFamily="34" charset="-120"/>
              </a:rPr>
              <a:t>الجهات الرقابية والعملاء والشركاء يطلبون إثباتاً لا وعداً: سياسات معتمدة، وأدلة تطبيق، وتقارير تدقيق.</a:t>
            </a:r>
            <a:endParaRPr lang="ar-SA" sz="1400" dirty="0" altLang="en-US"/>
          </a:p>
        </p:txBody>
      </p:sp>
      <p:sp>
        <p:nvSpPr>
          <p:cNvPr id="8" name="Shape 6"/>
          <p:cNvSpPr/>
          <p:nvPr/>
        </p:nvSpPr>
        <p:spPr>
          <a:xfrm>
            <a:off x="4402634" y="1969095"/>
            <a:ext cx="3386683" cy="0"/>
          </a:xfrm>
          <a:prstGeom prst="line">
            <a:avLst/>
          </a:prstGeom>
          <a:noFill/>
          <a:ln w="19050">
            <a:solidFill>
              <a:srgbClr val="9FE0D2"/>
            </a:solidFill>
            <a:prstDash val="solid"/>
          </a:ln>
        </p:spPr>
      </p:sp>
      <p:sp>
        <p:nvSpPr>
          <p:cNvPr id="9" name="Text 7"/>
          <p:cNvSpPr/>
          <p:nvPr/>
        </p:nvSpPr>
        <p:spPr>
          <a:xfrm>
            <a:off x="4301033" y="2131020"/>
            <a:ext cx="3488284" cy="482600"/>
          </a:xfrm>
          <a:prstGeom prst="rect">
            <a:avLst/>
          </a:prstGeom>
          <a:noFill/>
          <a:ln/>
        </p:spPr>
        <p:txBody>
          <a:bodyPr wrap="square" lIns="0" tIns="0" rIns="0" bIns="0" rtlCol="0" anchor="t">
            <a:normAutofit/>
          </a:bodyPr>
          <a:lstStyle/>
          <a:p>
            <a:pPr algn="r" indent="0" marL="0">
              <a:lnSpc>
                <a:spcPts val="3600"/>
              </a:lnSpc>
              <a:buNone/>
            </a:pPr>
            <a:r>
              <a:rPr lang="en-US" sz="3600" b="1" dirty="0">
                <a:solidFill>
                  <a:srgbClr val="CFEDE6"/>
                </a:solidFill>
                <a:latin typeface="Readex Pro" pitchFamily="34" charset="0"/>
                <a:ea typeface="Readex Pro" pitchFamily="34" charset="-122"/>
                <a:cs typeface="Readex Pro" pitchFamily="34" charset="-120"/>
              </a:rPr>
              <a:t>2</a:t>
            </a:r>
            <a:endParaRPr lang="en-US" sz="3600" dirty="0"/>
          </a:p>
        </p:txBody>
      </p:sp>
      <p:sp>
        <p:nvSpPr>
          <p:cNvPr id="10" name="Text 8"/>
          <p:cNvSpPr/>
          <p:nvPr/>
        </p:nvSpPr>
        <p:spPr>
          <a:xfrm>
            <a:off x="4301033" y="2689820"/>
            <a:ext cx="3488284" cy="355600"/>
          </a:xfrm>
          <a:prstGeom prst="rect">
            <a:avLst/>
          </a:prstGeom>
          <a:noFill/>
          <a:ln/>
        </p:spPr>
        <p:txBody>
          <a:bodyPr wrap="square" lIns="0" tIns="0" rIns="0" bIns="0" rtlCol="0" anchor="t">
            <a:normAutofit/>
          </a:bodyPr>
          <a:lstStyle/>
          <a:p>
            <a:pPr algn="r" indent="0" marL="0" rtl="1">
              <a:lnSpc>
                <a:spcPts val="2600"/>
              </a:lnSpc>
              <a:buNone/>
            </a:pPr>
            <a:r>
              <a:rPr lang="ar-SA" sz="2000" b="1" dirty="0" altLang="en-US">
                <a:solidFill>
                  <a:srgbClr val="FBF8F1"/>
                </a:solidFill>
                <a:latin typeface="Readex Pro" pitchFamily="34" charset="0"/>
                <a:ea typeface="Readex Pro" pitchFamily="34" charset="-122"/>
                <a:cs typeface="Readex Pro" pitchFamily="34" charset="-120"/>
              </a:rPr>
              <a:t>موارد محدودة</a:t>
            </a:r>
            <a:endParaRPr lang="ar-SA" sz="2000" dirty="0" altLang="en-US"/>
          </a:p>
        </p:txBody>
      </p:sp>
      <p:sp>
        <p:nvSpPr>
          <p:cNvPr id="11" name="Text 9"/>
          <p:cNvSpPr/>
          <p:nvPr/>
        </p:nvSpPr>
        <p:spPr>
          <a:xfrm>
            <a:off x="4301033" y="3121620"/>
            <a:ext cx="3488284" cy="576560"/>
          </a:xfrm>
          <a:prstGeom prst="rect">
            <a:avLst/>
          </a:prstGeom>
          <a:noFill/>
          <a:ln/>
        </p:spPr>
        <p:txBody>
          <a:bodyPr wrap="square" lIns="0" tIns="0" rIns="0" bIns="0" rtlCol="0" anchor="t">
            <a:normAutofit/>
          </a:bodyPr>
          <a:lstStyle/>
          <a:p>
            <a:pPr algn="r" indent="0" marL="0" rtl="1">
              <a:lnSpc>
                <a:spcPts val="2170"/>
              </a:lnSpc>
              <a:buNone/>
            </a:pPr>
            <a:r>
              <a:rPr lang="ar-SA" sz="1400" dirty="0" altLang="en-US">
                <a:solidFill>
                  <a:srgbClr val="E6F4F0"/>
                </a:solidFill>
                <a:latin typeface="IBM Plex Sans Arabic" pitchFamily="34" charset="0"/>
                <a:ea typeface="IBM Plex Sans Arabic" pitchFamily="34" charset="-122"/>
                <a:cs typeface="IBM Plex Sans Arabic" pitchFamily="34" charset="-120"/>
              </a:rPr>
              <a:t>لا تستطيع جهة أن تحمي كل شيء بالقدر نفسه. تقييم المخاطر يحدد أين تُصرف الميزانية والجهد أولاً.</a:t>
            </a:r>
            <a:endParaRPr lang="ar-SA" sz="1400" dirty="0" altLang="en-US"/>
          </a:p>
        </p:txBody>
      </p:sp>
      <p:sp>
        <p:nvSpPr>
          <p:cNvPr id="12" name="Shape 10"/>
          <p:cNvSpPr/>
          <p:nvPr/>
        </p:nvSpPr>
        <p:spPr>
          <a:xfrm>
            <a:off x="7992517" y="1969095"/>
            <a:ext cx="3386683" cy="0"/>
          </a:xfrm>
          <a:prstGeom prst="line">
            <a:avLst/>
          </a:prstGeom>
          <a:noFill/>
          <a:ln w="19050">
            <a:solidFill>
              <a:srgbClr val="9FE0D2"/>
            </a:solidFill>
            <a:prstDash val="solid"/>
          </a:ln>
        </p:spPr>
      </p:sp>
      <p:sp>
        <p:nvSpPr>
          <p:cNvPr id="13" name="Text 11"/>
          <p:cNvSpPr/>
          <p:nvPr/>
        </p:nvSpPr>
        <p:spPr>
          <a:xfrm>
            <a:off x="7890916" y="2131020"/>
            <a:ext cx="3488284" cy="482600"/>
          </a:xfrm>
          <a:prstGeom prst="rect">
            <a:avLst/>
          </a:prstGeom>
          <a:noFill/>
          <a:ln/>
        </p:spPr>
        <p:txBody>
          <a:bodyPr wrap="square" lIns="0" tIns="0" rIns="0" bIns="0" rtlCol="0" anchor="t">
            <a:normAutofit/>
          </a:bodyPr>
          <a:lstStyle/>
          <a:p>
            <a:pPr algn="r" indent="0" marL="0">
              <a:lnSpc>
                <a:spcPts val="3600"/>
              </a:lnSpc>
              <a:buNone/>
            </a:pPr>
            <a:r>
              <a:rPr lang="en-US" sz="3600" b="1" dirty="0">
                <a:solidFill>
                  <a:srgbClr val="CFEDE6"/>
                </a:solidFill>
                <a:latin typeface="Readex Pro" pitchFamily="34" charset="0"/>
                <a:ea typeface="Readex Pro" pitchFamily="34" charset="-122"/>
                <a:cs typeface="Readex Pro" pitchFamily="34" charset="-120"/>
              </a:rPr>
              <a:t>1</a:t>
            </a:r>
            <a:endParaRPr lang="en-US" sz="3600" dirty="0"/>
          </a:p>
        </p:txBody>
      </p:sp>
      <p:sp>
        <p:nvSpPr>
          <p:cNvPr id="14" name="Text 12"/>
          <p:cNvSpPr/>
          <p:nvPr/>
        </p:nvSpPr>
        <p:spPr>
          <a:xfrm>
            <a:off x="7890916" y="2689820"/>
            <a:ext cx="3488284" cy="355600"/>
          </a:xfrm>
          <a:prstGeom prst="rect">
            <a:avLst/>
          </a:prstGeom>
          <a:noFill/>
          <a:ln/>
        </p:spPr>
        <p:txBody>
          <a:bodyPr wrap="square" lIns="0" tIns="0" rIns="0" bIns="0" rtlCol="0" anchor="t">
            <a:normAutofit/>
          </a:bodyPr>
          <a:lstStyle/>
          <a:p>
            <a:pPr algn="r" indent="0" marL="0" rtl="1">
              <a:lnSpc>
                <a:spcPts val="2600"/>
              </a:lnSpc>
              <a:buNone/>
            </a:pPr>
            <a:r>
              <a:rPr lang="ar-SA" sz="2000" b="1" dirty="0" altLang="en-US">
                <a:solidFill>
                  <a:srgbClr val="FBF8F1"/>
                </a:solidFill>
                <a:latin typeface="Readex Pro" pitchFamily="34" charset="0"/>
                <a:ea typeface="Readex Pro" pitchFamily="34" charset="-122"/>
                <a:cs typeface="Readex Pro" pitchFamily="34" charset="-120"/>
              </a:rPr>
              <a:t>أنظمة ملزمة</a:t>
            </a:r>
            <a:endParaRPr lang="ar-SA" sz="2000" dirty="0" altLang="en-US"/>
          </a:p>
        </p:txBody>
      </p:sp>
      <p:sp>
        <p:nvSpPr>
          <p:cNvPr id="15" name="Text 13"/>
          <p:cNvSpPr/>
          <p:nvPr/>
        </p:nvSpPr>
        <p:spPr>
          <a:xfrm>
            <a:off x="7890916" y="3121620"/>
            <a:ext cx="3488284" cy="1127720"/>
          </a:xfrm>
          <a:prstGeom prst="rect">
            <a:avLst/>
          </a:prstGeom>
          <a:noFill/>
          <a:ln/>
        </p:spPr>
        <p:txBody>
          <a:bodyPr wrap="square" lIns="0" tIns="0" rIns="0" bIns="0" rtlCol="0" anchor="t">
            <a:normAutofit/>
          </a:bodyPr>
          <a:lstStyle/>
          <a:p>
            <a:pPr algn="r" indent="0" marL="0" rtl="1">
              <a:lnSpc>
                <a:spcPts val="2170"/>
              </a:lnSpc>
              <a:buNone/>
            </a:pPr>
            <a:r>
              <a:rPr lang="ar-SA" sz="1400" dirty="0" altLang="en-US">
                <a:solidFill>
                  <a:srgbClr val="E6F4F0"/>
                </a:solidFill>
                <a:latin typeface="IBM Plex Sans Arabic" pitchFamily="34" charset="0"/>
                <a:ea typeface="IBM Plex Sans Arabic" pitchFamily="34" charset="-122"/>
                <a:cs typeface="IBM Plex Sans Arabic" pitchFamily="34" charset="-120"/>
              </a:rPr>
              <a:t>الجهات المشمولة ملزمة بضوابط وتشريعات، مثل ضوابط الهيئة الوطنية للأمن السيبراني ونظام حماية البيانات الشخصية. أحدٌ ما يجب أن يحوّل النص إلى تطبيق.</a:t>
            </a:r>
            <a:endParaRPr lang="ar-SA" sz="1400" dirty="0" altLang="en-US"/>
          </a:p>
        </p:txBody>
      </p:sp>
      <p:sp>
        <p:nvSpPr>
          <p:cNvPr id="16" name="Text 14"/>
          <p:cNvSpPr/>
          <p:nvPr/>
        </p:nvSpPr>
        <p:spPr>
          <a:xfrm>
            <a:off x="76200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DE6"/>
                </a:solidFill>
                <a:latin typeface="IBM Plex Sans Arabic" pitchFamily="34" charset="0"/>
                <a:ea typeface="IBM Plex Sans Arabic" pitchFamily="34" charset="-122"/>
                <a:cs typeface="IBM Plex Sans Arabic" pitchFamily="34" charset="-120"/>
              </a:rPr>
              <a:t>6</a:t>
            </a:r>
            <a:endParaRPr lang="en-US" sz="1200" dirty="0"/>
          </a:p>
        </p:txBody>
      </p:sp>
      <p:sp>
        <p:nvSpPr>
          <p:cNvPr id="17" name="Text 15"/>
          <p:cNvSpPr/>
          <p:nvPr/>
        </p:nvSpPr>
        <p:spPr>
          <a:xfrm>
            <a:off x="747004" y="6238280"/>
            <a:ext cx="106321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CFEDE6"/>
                </a:solidFill>
                <a:latin typeface="IBM Plex Sans Arabic" pitchFamily="34" charset="0"/>
                <a:ea typeface="IBM Plex Sans Arabic" pitchFamily="34" charset="-122"/>
                <a:cs typeface="IBM Plex Sans Arabic" pitchFamily="34" charset="-120"/>
              </a:rPr>
              <a:t>كيف تبدأ في GRC · الوحدة 01 · ما هو GRC؟</a:t>
            </a:r>
            <a:endParaRPr lang="ar-SA" sz="1200" dirty="0"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756470" cy="289520"/>
          </a:xfrm>
          <a:custGeom>
            <a:avLst/>
            <a:gdLst/>
            <a:ahLst/>
            <a:cxnLst/>
            <a:rect l="l" t="t" r="r" b="b"/>
            <a:pathLst>
              <a:path w="1756470" h="289520">
                <a:moveTo>
                  <a:pt x="144760" y="0"/>
                </a:moveTo>
                <a:lnTo>
                  <a:pt x="1611709" y="0"/>
                </a:lnTo>
                <a:arcTo hR="144760" wR="144760" stAng="16200000" swAng="5400000"/>
                <a:lnTo>
                  <a:pt x="1756470"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01 · ما هو GRC؟</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أين يقع GRC بين أدوار الأمن السيبراني</a:t>
            </a:r>
            <a:endParaRPr lang="ar-SA" sz="3000" dirty="0" altLang="en-US"/>
          </a:p>
        </p:txBody>
      </p:sp>
      <p:sp>
        <p:nvSpPr>
          <p:cNvPr id="5" name="Shape 3"/>
          <p:cNvSpPr/>
          <p:nvPr/>
        </p:nvSpPr>
        <p:spPr>
          <a:xfrm>
            <a:off x="11376025" y="1883370"/>
            <a:ext cx="0" cy="1971675"/>
          </a:xfrm>
          <a:prstGeom prst="line">
            <a:avLst/>
          </a:prstGeom>
          <a:noFill/>
          <a:ln w="6350">
            <a:solidFill>
              <a:srgbClr val="D9D2C2"/>
            </a:solidFill>
            <a:prstDash val="solid"/>
          </a:ln>
        </p:spPr>
      </p:sp>
      <p:sp>
        <p:nvSpPr>
          <p:cNvPr id="6" name="Shape 4"/>
          <p:cNvSpPr/>
          <p:nvPr/>
        </p:nvSpPr>
        <p:spPr>
          <a:xfrm>
            <a:off x="812800" y="3851870"/>
            <a:ext cx="10566400" cy="0"/>
          </a:xfrm>
          <a:prstGeom prst="line">
            <a:avLst/>
          </a:prstGeom>
          <a:noFill/>
          <a:ln w="6350">
            <a:solidFill>
              <a:srgbClr val="D9D2C2"/>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96070"/>
          <a:ext cx="10547350" cy="1952625"/>
        </p:xfrm>
        <a:graphic>
          <a:graphicData uri="http://schemas.openxmlformats.org/drawingml/2006/table">
            <a:tbl>
              <a:tblPr/>
              <a:tblGrid>
                <a:gridCol w="2953258"/>
                <a:gridCol w="3164205"/>
                <a:gridCol w="2742311"/>
                <a:gridCol w="1687576"/>
              </a:tblGrid>
              <a:tr h="346075">
                <a:tc>
                  <a:txBody>
                    <a:bodyPr/>
                    <a:lstStyle/>
                    <a:p>
                      <a:pPr algn="r" indent="0" marL="0" rtl="1">
                        <a:lnSpc>
                          <a:spcPts val="1750"/>
                        </a:lnSpc>
                        <a:buNone/>
                      </a:pPr>
                      <a:r>
                        <a:rPr lang="ar-SA" sz="1250" b="1" dirty="0" altLang="en-US">
                          <a:solidFill>
                            <a:srgbClr val="F3EFE6"/>
                          </a:solidFill>
                          <a:latin typeface="IBM Plex Sans Arabic" pitchFamily="34" charset="0"/>
                          <a:ea typeface="IBM Plex Sans Arabic" pitchFamily="34" charset="-122"/>
                          <a:cs typeface="IBM Plex Sans Arabic" pitchFamily="34" charset="-120"/>
                        </a:rPr>
                        <a:t>المهارات الأهم</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c>
                  <a:txBody>
                    <a:bodyPr/>
                    <a:lstStyle/>
                    <a:p>
                      <a:pPr algn="r" indent="0" marL="0" rtl="1">
                        <a:lnSpc>
                          <a:spcPts val="1750"/>
                        </a:lnSpc>
                        <a:buNone/>
                      </a:pPr>
                      <a:r>
                        <a:rPr lang="ar-SA" sz="1250" b="1" dirty="0" altLang="en-US">
                          <a:solidFill>
                            <a:srgbClr val="F3EFE6"/>
                          </a:solidFill>
                          <a:latin typeface="IBM Plex Sans Arabic" pitchFamily="34" charset="0"/>
                          <a:ea typeface="IBM Plex Sans Arabic" pitchFamily="34" charset="-122"/>
                          <a:cs typeface="IBM Plex Sans Arabic" pitchFamily="34" charset="-120"/>
                        </a:rPr>
                        <a:t>يوم العمل</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16202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c>
                  <a:txBody>
                    <a:bodyPr/>
                    <a:lstStyle/>
                    <a:p>
                      <a:pPr algn="r" indent="0" marL="0" rtl="1">
                        <a:lnSpc>
                          <a:spcPts val="1750"/>
                        </a:lnSpc>
                        <a:buNone/>
                      </a:pPr>
                      <a:r>
                        <a:rPr lang="ar-SA" sz="1250" b="1" dirty="0" altLang="en-US">
                          <a:solidFill>
                            <a:srgbClr val="F3EFE6"/>
                          </a:solidFill>
                          <a:latin typeface="IBM Plex Sans Arabic" pitchFamily="34" charset="0"/>
                          <a:ea typeface="IBM Plex Sans Arabic" pitchFamily="34" charset="-122"/>
                          <a:cs typeface="IBM Plex Sans Arabic" pitchFamily="34" charset="-120"/>
                        </a:rPr>
                        <a:t>السؤال الذي يجيب عنه</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16202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c>
                  <a:txBody>
                    <a:bodyPr/>
                    <a:lstStyle/>
                    <a:p>
                      <a:pPr algn="r" indent="0" marL="0" rtl="1">
                        <a:lnSpc>
                          <a:spcPts val="1750"/>
                        </a:lnSpc>
                        <a:buNone/>
                      </a:pPr>
                      <a:r>
                        <a:rPr lang="ar-SA" sz="1250" b="1" dirty="0" altLang="en-US">
                          <a:solidFill>
                            <a:srgbClr val="F3EFE6"/>
                          </a:solidFill>
                          <a:latin typeface="IBM Plex Sans Arabic" pitchFamily="34" charset="0"/>
                          <a:ea typeface="IBM Plex Sans Arabic" pitchFamily="34" charset="-122"/>
                          <a:cs typeface="IBM Plex Sans Arabic" pitchFamily="34" charset="-120"/>
                        </a:rPr>
                        <a:t>الدور</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16202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r>
              <a:tr h="568325">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الكتابة، والتحليل، وفهم الأطر، والتواصل</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B5C0BD"/>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B5C0BD"/>
                      </a:solidFill>
                      <a:prstDash val="solid"/>
                      <a:round/>
                      <a:headEnd type="none" w="med" len="med"/>
                      <a:tailEnd type="none" w="med" len="med"/>
                    </a:lnB>
                    <a:solidFill>
                      <a:srgbClr val="E3F1ED"/>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تقييم فجوات، وسجل مخاطر، وسياسات، ومتابعة أدلة</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B5C0BD"/>
                      </a:solidFill>
                      <a:prstDash val="solid"/>
                      <a:round/>
                      <a:headEnd type="none" w="med" len="med"/>
                      <a:tailEnd type="none" w="med" len="med"/>
                    </a:lnL>
                    <a:lnR w="12700" cap="flat" cmpd="sng" algn="ctr">
                      <a:solidFill>
                        <a:srgbClr val="B5C0BD"/>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B5C0BD"/>
                      </a:solidFill>
                      <a:prstDash val="solid"/>
                      <a:round/>
                      <a:headEnd type="none" w="med" len="med"/>
                      <a:tailEnd type="none" w="med" len="med"/>
                    </a:lnB>
                    <a:solidFill>
                      <a:srgbClr val="E3F1ED"/>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هل نحمي ما يهم، وهل نلتزم ونثبت؟</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B5C0BD"/>
                      </a:solidFill>
                      <a:prstDash val="solid"/>
                      <a:round/>
                      <a:headEnd type="none" w="med" len="med"/>
                      <a:tailEnd type="none" w="med" len="med"/>
                    </a:lnL>
                    <a:lnR w="12700" cap="flat" cmpd="sng" algn="ctr">
                      <a:solidFill>
                        <a:srgbClr val="B5C0BD"/>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B5C0BD"/>
                      </a:solidFill>
                      <a:prstDash val="solid"/>
                      <a:round/>
                      <a:headEnd type="none" w="med" len="med"/>
                      <a:tailEnd type="none" w="med" len="med"/>
                    </a:lnB>
                    <a:solidFill>
                      <a:srgbClr val="E3F1ED"/>
                    </a:solidFill>
                  </a:tcPr>
                </a:tc>
                <a:tc>
                  <a:txBody>
                    <a:bodyPr/>
                    <a:lstStyle/>
                    <a:p>
                      <a:pPr algn="r" indent="0" marL="0">
                        <a:lnSpc>
                          <a:spcPts val="1750"/>
                        </a:lnSpc>
                        <a:buNone/>
                      </a:pPr>
                      <a:r>
                        <a:rPr lang="en-US" sz="1250" dirty="0">
                          <a:solidFill>
                            <a:srgbClr val="172433"/>
                          </a:solidFill>
                          <a:latin typeface="IBM Plex Sans Arabic" pitchFamily="34" charset="0"/>
                          <a:ea typeface="IBM Plex Sans Arabic" pitchFamily="34" charset="-122"/>
                          <a:cs typeface="IBM Plex Sans Arabic" pitchFamily="34" charset="-120"/>
                        </a:rPr>
                        <a:t>GRC</a:t>
                      </a:r>
                      <a:endParaRPr lang="en-US" sz="1250" dirty="0">
                        <a:latin typeface="IBM Plex Sans Arabic" charset="0"/>
                        <a:ea typeface="IBM Plex Sans Arabic" charset="0"/>
                        <a:cs typeface="IBM Plex Sans Arabic" charset="0"/>
                      </a:endParaRPr>
                    </a:p>
                  </a:txBody>
                  <a:tcPr marL="55563" marR="55563" marT="55563" marB="55563" anchor="t">
                    <a:lnL w="12700" cap="flat" cmpd="sng" algn="ctr">
                      <a:solidFill>
                        <a:srgbClr val="B5C0BD"/>
                      </a:solidFill>
                      <a:prstDash val="solid"/>
                      <a:round/>
                      <a:headEnd type="none" w="med" len="med"/>
                      <a:tailEnd type="none" w="med" len="med"/>
                    </a:lnL>
                    <a:lnR w="12700" cap="flat" cmpd="sng" algn="ctr">
                      <a:solidFill>
                        <a:srgbClr val="B5C0BD"/>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B5C0BD"/>
                      </a:solidFill>
                      <a:prstDash val="solid"/>
                      <a:round/>
                      <a:headEnd type="none" w="med" len="med"/>
                      <a:tailEnd type="none" w="med" len="med"/>
                    </a:lnB>
                    <a:solidFill>
                      <a:srgbClr val="E3F1ED"/>
                    </a:solidFill>
                  </a:tcPr>
                </a:tc>
              </a:tr>
              <a:tr h="346075">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الشبكات، والسجلات، والتحليل السريع</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5C0BD"/>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فرز التنبيهات، والتحقيق، والتصعيد</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5C0BD"/>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هل يحدث هجوم الآن؟</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5C0BD"/>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مركز العمليات</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5C0BD"/>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46075">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الأنظمة، والبرمجة، والتفكير الهجومي</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اختبار الأنظمة واكتشاف الثغرات وكتابة التقارير</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كيف يمكن اختراقنا؟</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اختبار الاختراق</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r>
              <a:tr h="346075">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البنية التحتية، والسحابة، والأتمتة</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تصميم الضوابط التقنية وتشغيلها</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كيف نبني الحماية؟</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هندسة الأمن</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8" name="Shape 5"/>
          <p:cNvSpPr/>
          <p:nvPr/>
        </p:nvSpPr>
        <p:spPr>
          <a:xfrm>
            <a:off x="815975" y="4086820"/>
            <a:ext cx="10560050" cy="542925"/>
          </a:xfrm>
          <a:prstGeom prst="roundRect">
            <a:avLst>
              <a:gd name="adj" fmla="val 15789"/>
            </a:avLst>
          </a:prstGeom>
          <a:solidFill>
            <a:srgbClr val="FFFDF8"/>
          </a:solidFill>
          <a:ln w="6350">
            <a:solidFill>
              <a:srgbClr val="E1DBCD"/>
            </a:solidFill>
            <a:prstDash val="solid"/>
          </a:ln>
        </p:spPr>
      </p:sp>
      <p:sp>
        <p:nvSpPr>
          <p:cNvPr id="9" name="Text 6"/>
          <p:cNvSpPr/>
          <p:nvPr/>
        </p:nvSpPr>
        <p:spPr>
          <a:xfrm>
            <a:off x="702437" y="4229695"/>
            <a:ext cx="10111613" cy="282575"/>
          </a:xfrm>
          <a:prstGeom prst="rect">
            <a:avLst/>
          </a:prstGeom>
          <a:noFill/>
          <a:ln/>
        </p:spPr>
        <p:txBody>
          <a:bodyPr wrap="square" lIns="0" tIns="0" rIns="0" bIns="0" rtlCol="0" anchor="t">
            <a:normAutofit/>
          </a:bodyPr>
          <a:lstStyle/>
          <a:p>
            <a:pPr algn="r" indent="0" marL="0" rtl="1">
              <a:lnSpc>
                <a:spcPts val="2025"/>
              </a:lnSpc>
              <a:buNone/>
            </a:pPr>
            <a:r>
              <a:rPr lang="ar-SA" sz="1350" dirty="0" altLang="en-US">
                <a:solidFill>
                  <a:srgbClr val="172433"/>
                </a:solidFill>
                <a:latin typeface="IBM Plex Sans Arabic" pitchFamily="34" charset="0"/>
                <a:ea typeface="IBM Plex Sans Arabic" pitchFamily="34" charset="-122"/>
                <a:cs typeface="IBM Plex Sans Arabic" pitchFamily="34" charset="-120"/>
              </a:rPr>
              <a:t>مختص GRC لا ينفذ الضوابط التقنية بنفسه غالباً، لكنه يجب أن يفهمها بما يكفي ليسأل الأسئلة الصحيحة ويقرأ الدليل.</a:t>
            </a:r>
            <a:endParaRPr lang="ar-SA" sz="1350" dirty="0" altLang="en-US"/>
          </a:p>
        </p:txBody>
      </p:sp>
      <p:pic>
        <p:nvPicPr>
          <p:cNvPr id="10" name="Image 0" descr="Lightbulb">    </p:cNvPr>
          <p:cNvPicPr>
            <a:picLocks noChangeAspect="1"/>
          </p:cNvPicPr>
          <p:nvPr/>
        </p:nvPicPr>
        <p:blipFill>
          <a:blip r:embed="rId1"/>
          <a:srcRect l="0" r="0" t="0" b="0"/>
          <a:stretch/>
        </p:blipFill>
        <p:spPr>
          <a:xfrm>
            <a:off x="10941050" y="4231283"/>
            <a:ext cx="254000" cy="254000"/>
          </a:xfrm>
          <a:prstGeom prst="rect">
            <a:avLst/>
          </a:prstGeom>
        </p:spPr>
      </p:pic>
      <p:sp>
        <p:nvSpPr>
          <p:cNvPr id="11" name="Text 7"/>
          <p:cNvSpPr/>
          <p:nvPr/>
        </p:nvSpPr>
        <p:spPr>
          <a:xfrm>
            <a:off x="76200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7</a:t>
            </a:r>
            <a:endParaRPr lang="en-US" sz="1200" dirty="0"/>
          </a:p>
        </p:txBody>
      </p:sp>
      <p:sp>
        <p:nvSpPr>
          <p:cNvPr id="12" name="Text 8"/>
          <p:cNvSpPr/>
          <p:nvPr/>
        </p:nvSpPr>
        <p:spPr>
          <a:xfrm>
            <a:off x="747004" y="6238280"/>
            <a:ext cx="106321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01 · ما هو GRC؟</a:t>
            </a:r>
            <a:endParaRPr lang="ar-SA" sz="1200" dirty="0"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756470" cy="289520"/>
          </a:xfrm>
          <a:custGeom>
            <a:avLst/>
            <a:gdLst/>
            <a:ahLst/>
            <a:cxnLst/>
            <a:rect l="l" t="t" r="r" b="b"/>
            <a:pathLst>
              <a:path w="1756470" h="289520">
                <a:moveTo>
                  <a:pt x="144760" y="0"/>
                </a:moveTo>
                <a:lnTo>
                  <a:pt x="1611709" y="0"/>
                </a:lnTo>
                <a:arcTo hR="144760" wR="144760" stAng="16200000" swAng="5400000"/>
                <a:lnTo>
                  <a:pt x="1756470"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01 · ما هو GRC؟</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يوم في عمل محلل GRC مبتدئ</a:t>
            </a:r>
            <a:endParaRPr lang="ar-SA" sz="3000" dirty="0" altLang="en-US"/>
          </a:p>
        </p:txBody>
      </p:sp>
      <p:sp>
        <p:nvSpPr>
          <p:cNvPr id="5" name="Shape 3"/>
          <p:cNvSpPr/>
          <p:nvPr/>
        </p:nvSpPr>
        <p:spPr>
          <a:xfrm>
            <a:off x="812800" y="1908770"/>
            <a:ext cx="10566400" cy="38100"/>
          </a:xfrm>
          <a:prstGeom prst="roundRect">
            <a:avLst>
              <a:gd name="adj" fmla="val 50000"/>
            </a:avLst>
          </a:prstGeom>
          <a:solidFill>
            <a:srgbClr val="CFC6B3"/>
          </a:solidFill>
          <a:ln/>
        </p:spPr>
      </p:sp>
      <p:sp>
        <p:nvSpPr>
          <p:cNvPr id="6" name="Text 4"/>
          <p:cNvSpPr/>
          <p:nvPr/>
        </p:nvSpPr>
        <p:spPr>
          <a:xfrm>
            <a:off x="762000" y="2061170"/>
            <a:ext cx="1716584" cy="29969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0E7C6B"/>
                </a:solidFill>
                <a:latin typeface="Readex Pro" pitchFamily="34" charset="0"/>
                <a:ea typeface="Readex Pro" pitchFamily="34" charset="-122"/>
                <a:cs typeface="Readex Pro" pitchFamily="34" charset="-120"/>
              </a:rPr>
              <a:t>15:30</a:t>
            </a:r>
            <a:endParaRPr lang="en-US" sz="1800" dirty="0"/>
          </a:p>
        </p:txBody>
      </p:sp>
      <p:sp>
        <p:nvSpPr>
          <p:cNvPr id="7" name="Text 5"/>
          <p:cNvSpPr/>
          <p:nvPr/>
        </p:nvSpPr>
        <p:spPr>
          <a:xfrm>
            <a:off x="762000" y="2398961"/>
            <a:ext cx="1716584" cy="501650"/>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شريحتان لتقرير اللجنة: المؤشرات والفجوات.</a:t>
            </a:r>
            <a:endParaRPr lang="ar-SA" sz="1250" dirty="0" altLang="en-US"/>
          </a:p>
        </p:txBody>
      </p:sp>
      <p:sp>
        <p:nvSpPr>
          <p:cNvPr id="8" name="Text 6"/>
          <p:cNvSpPr/>
          <p:nvPr/>
        </p:nvSpPr>
        <p:spPr>
          <a:xfrm>
            <a:off x="2542084" y="2061170"/>
            <a:ext cx="1716633" cy="29969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0E7C6B"/>
                </a:solidFill>
                <a:latin typeface="Readex Pro" pitchFamily="34" charset="0"/>
                <a:ea typeface="Readex Pro" pitchFamily="34" charset="-122"/>
                <a:cs typeface="Readex Pro" pitchFamily="34" charset="-120"/>
              </a:rPr>
              <a:t>14:00</a:t>
            </a:r>
            <a:endParaRPr lang="en-US" sz="1800" dirty="0"/>
          </a:p>
        </p:txBody>
      </p:sp>
      <p:sp>
        <p:nvSpPr>
          <p:cNvPr id="9" name="Text 7"/>
          <p:cNvSpPr/>
          <p:nvPr/>
        </p:nvSpPr>
        <p:spPr>
          <a:xfrm>
            <a:off x="2542084" y="2398961"/>
            <a:ext cx="1716633" cy="501650"/>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مسودة إجراء لمراجعة الصلاحيات دورياً.</a:t>
            </a:r>
            <a:endParaRPr lang="ar-SA" sz="1250" dirty="0" altLang="en-US"/>
          </a:p>
        </p:txBody>
      </p:sp>
      <p:sp>
        <p:nvSpPr>
          <p:cNvPr id="10" name="Text 8"/>
          <p:cNvSpPr/>
          <p:nvPr/>
        </p:nvSpPr>
        <p:spPr>
          <a:xfrm>
            <a:off x="4322217" y="2061170"/>
            <a:ext cx="1716584" cy="29969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0E7C6B"/>
                </a:solidFill>
                <a:latin typeface="Readex Pro" pitchFamily="34" charset="0"/>
                <a:ea typeface="Readex Pro" pitchFamily="34" charset="-122"/>
                <a:cs typeface="Readex Pro" pitchFamily="34" charset="-120"/>
              </a:rPr>
              <a:t>12:00</a:t>
            </a:r>
            <a:endParaRPr lang="en-US" sz="1800" dirty="0"/>
          </a:p>
        </p:txBody>
      </p:sp>
      <p:sp>
        <p:nvSpPr>
          <p:cNvPr id="11" name="Text 9"/>
          <p:cNvSpPr/>
          <p:nvPr/>
        </p:nvSpPr>
        <p:spPr>
          <a:xfrm>
            <a:off x="4322217" y="2398961"/>
            <a:ext cx="1716584" cy="739775"/>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مراجعة دليل: هل تكفي لقطة الإعداد، أم نطلب سجلات؟</a:t>
            </a:r>
            <a:endParaRPr lang="ar-SA" sz="1250" dirty="0" altLang="en-US"/>
          </a:p>
        </p:txBody>
      </p:sp>
      <p:sp>
        <p:nvSpPr>
          <p:cNvPr id="12" name="Text 10"/>
          <p:cNvSpPr/>
          <p:nvPr/>
        </p:nvSpPr>
        <p:spPr>
          <a:xfrm>
            <a:off x="6102300" y="2061170"/>
            <a:ext cx="1716633" cy="29969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0E7C6B"/>
                </a:solidFill>
                <a:latin typeface="Readex Pro" pitchFamily="34" charset="0"/>
                <a:ea typeface="Readex Pro" pitchFamily="34" charset="-122"/>
                <a:cs typeface="Readex Pro" pitchFamily="34" charset="-120"/>
              </a:rPr>
              <a:t>10:30</a:t>
            </a:r>
            <a:endParaRPr lang="en-US" sz="1800" dirty="0"/>
          </a:p>
        </p:txBody>
      </p:sp>
      <p:sp>
        <p:nvSpPr>
          <p:cNvPr id="13" name="Text 11"/>
          <p:cNvSpPr/>
          <p:nvPr/>
        </p:nvSpPr>
        <p:spPr>
          <a:xfrm>
            <a:off x="6102300" y="2398961"/>
            <a:ext cx="1716633" cy="501650"/>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تحديث سجل المخاطر بخطر جديد من مشروع تطبيق.</a:t>
            </a:r>
            <a:endParaRPr lang="ar-SA" sz="1250" dirty="0" altLang="en-US"/>
          </a:p>
        </p:txBody>
      </p:sp>
      <p:sp>
        <p:nvSpPr>
          <p:cNvPr id="14" name="Text 12"/>
          <p:cNvSpPr/>
          <p:nvPr/>
        </p:nvSpPr>
        <p:spPr>
          <a:xfrm>
            <a:off x="7882434" y="2061170"/>
            <a:ext cx="1716633" cy="29969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0E7C6B"/>
                </a:solidFill>
                <a:latin typeface="Readex Pro" pitchFamily="34" charset="0"/>
                <a:ea typeface="Readex Pro" pitchFamily="34" charset="-122"/>
                <a:cs typeface="Readex Pro" pitchFamily="34" charset="-120"/>
              </a:rPr>
              <a:t>09:00</a:t>
            </a:r>
            <a:endParaRPr lang="en-US" sz="1800" dirty="0"/>
          </a:p>
        </p:txBody>
      </p:sp>
      <p:sp>
        <p:nvSpPr>
          <p:cNvPr id="15" name="Text 13"/>
          <p:cNvSpPr/>
          <p:nvPr/>
        </p:nvSpPr>
        <p:spPr>
          <a:xfrm>
            <a:off x="7882434" y="2398961"/>
            <a:ext cx="1716633" cy="739775"/>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اجتماع قصير مع تقنية المعلومات لمتابعة خطة معالجة ثغرات.</a:t>
            </a:r>
            <a:endParaRPr lang="ar-SA" sz="1250" dirty="0" altLang="en-US"/>
          </a:p>
        </p:txBody>
      </p:sp>
      <p:sp>
        <p:nvSpPr>
          <p:cNvPr id="16" name="Text 14"/>
          <p:cNvSpPr/>
          <p:nvPr/>
        </p:nvSpPr>
        <p:spPr>
          <a:xfrm>
            <a:off x="9662567" y="2061170"/>
            <a:ext cx="1716633" cy="29969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0E7C6B"/>
                </a:solidFill>
                <a:latin typeface="Readex Pro" pitchFamily="34" charset="0"/>
                <a:ea typeface="Readex Pro" pitchFamily="34" charset="-122"/>
                <a:cs typeface="Readex Pro" pitchFamily="34" charset="-120"/>
              </a:rPr>
              <a:t>08:00</a:t>
            </a:r>
            <a:endParaRPr lang="en-US" sz="1800" dirty="0"/>
          </a:p>
        </p:txBody>
      </p:sp>
      <p:sp>
        <p:nvSpPr>
          <p:cNvPr id="17" name="Text 15"/>
          <p:cNvSpPr/>
          <p:nvPr/>
        </p:nvSpPr>
        <p:spPr>
          <a:xfrm>
            <a:off x="9662567" y="2398961"/>
            <a:ext cx="1716633" cy="739775"/>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البريد وطلبات الأدلة: ثلاث إدارات أرسلت ملفات، وواحدة تأخرت.</a:t>
            </a:r>
            <a:endParaRPr lang="ar-SA" sz="1250" dirty="0" altLang="en-US"/>
          </a:p>
        </p:txBody>
      </p:sp>
      <p:sp>
        <p:nvSpPr>
          <p:cNvPr id="18" name="Shape 16"/>
          <p:cNvSpPr/>
          <p:nvPr/>
        </p:nvSpPr>
        <p:spPr>
          <a:xfrm>
            <a:off x="815975" y="3370511"/>
            <a:ext cx="5200650" cy="490538"/>
          </a:xfrm>
          <a:prstGeom prst="roundRect">
            <a:avLst>
              <a:gd name="adj" fmla="val 17476"/>
            </a:avLst>
          </a:prstGeom>
          <a:solidFill>
            <a:srgbClr val="FFFDF8"/>
          </a:solidFill>
          <a:ln w="6350">
            <a:solidFill>
              <a:srgbClr val="E1DBCD"/>
            </a:solidFill>
            <a:prstDash val="solid"/>
          </a:ln>
        </p:spPr>
      </p:sp>
      <p:sp>
        <p:nvSpPr>
          <p:cNvPr id="19" name="Text 17"/>
          <p:cNvSpPr/>
          <p:nvPr/>
        </p:nvSpPr>
        <p:spPr>
          <a:xfrm>
            <a:off x="834771" y="3500686"/>
            <a:ext cx="4696079"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4E5A66"/>
                </a:solidFill>
                <a:latin typeface="IBM Plex Sans Arabic" pitchFamily="34" charset="0"/>
                <a:ea typeface="IBM Plex Sans Arabic" pitchFamily="34" charset="-122"/>
                <a:cs typeface="IBM Plex Sans Arabic" pitchFamily="34" charset="-120"/>
              </a:rPr>
              <a:t>من تعمل معهم: التقنية، والموارد البشرية، والمشتريات، والقانونية، والإدارة.</a:t>
            </a:r>
            <a:endParaRPr lang="ar-SA" sz="1250" dirty="0" altLang="en-US"/>
          </a:p>
        </p:txBody>
      </p:sp>
      <p:pic>
        <p:nvPicPr>
          <p:cNvPr id="20" name="Image 0" descr="Users">    </p:cNvPr>
          <p:cNvPicPr>
            <a:picLocks noChangeAspect="1"/>
          </p:cNvPicPr>
          <p:nvPr/>
        </p:nvPicPr>
        <p:blipFill>
          <a:blip r:embed="rId1"/>
          <a:srcRect l="0" r="0" t="0" b="0"/>
          <a:stretch/>
        </p:blipFill>
        <p:spPr>
          <a:xfrm>
            <a:off x="5632450" y="3501479"/>
            <a:ext cx="228600" cy="228600"/>
          </a:xfrm>
          <a:prstGeom prst="rect">
            <a:avLst/>
          </a:prstGeom>
        </p:spPr>
      </p:pic>
      <p:sp>
        <p:nvSpPr>
          <p:cNvPr id="21" name="Shape 18"/>
          <p:cNvSpPr/>
          <p:nvPr/>
        </p:nvSpPr>
        <p:spPr>
          <a:xfrm>
            <a:off x="6175375" y="3370511"/>
            <a:ext cx="5200650" cy="490538"/>
          </a:xfrm>
          <a:prstGeom prst="roundRect">
            <a:avLst>
              <a:gd name="adj" fmla="val 17476"/>
            </a:avLst>
          </a:prstGeom>
          <a:solidFill>
            <a:srgbClr val="FFFDF8"/>
          </a:solidFill>
          <a:ln w="6350">
            <a:solidFill>
              <a:srgbClr val="E1DBCD"/>
            </a:solidFill>
            <a:prstDash val="solid"/>
          </a:ln>
        </p:spPr>
      </p:sp>
      <p:sp>
        <p:nvSpPr>
          <p:cNvPr id="22" name="Text 19"/>
          <p:cNvSpPr/>
          <p:nvPr/>
        </p:nvSpPr>
        <p:spPr>
          <a:xfrm>
            <a:off x="6194171" y="3500686"/>
            <a:ext cx="4696079"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4E5A66"/>
                </a:solidFill>
                <a:latin typeface="IBM Plex Sans Arabic" pitchFamily="34" charset="0"/>
                <a:ea typeface="IBM Plex Sans Arabic" pitchFamily="34" charset="-122"/>
                <a:cs typeface="IBM Plex Sans Arabic" pitchFamily="34" charset="-120"/>
              </a:rPr>
              <a:t>الأدوات: Excel وWord وPowerPoint، ونظام التذاكر، وأحياناً منصة GRC.</a:t>
            </a:r>
            <a:endParaRPr lang="ar-SA" sz="1250" dirty="0" altLang="en-US"/>
          </a:p>
        </p:txBody>
      </p:sp>
      <p:pic>
        <p:nvPicPr>
          <p:cNvPr id="23" name="Image 1" descr="Tool">    </p:cNvPr>
          <p:cNvPicPr>
            <a:picLocks noChangeAspect="1"/>
          </p:cNvPicPr>
          <p:nvPr/>
        </p:nvPicPr>
        <p:blipFill>
          <a:blip r:embed="rId2"/>
          <a:srcRect l="0" r="0" t="0" b="0"/>
          <a:stretch/>
        </p:blipFill>
        <p:spPr>
          <a:xfrm>
            <a:off x="10991850" y="3501479"/>
            <a:ext cx="228600" cy="228600"/>
          </a:xfrm>
          <a:prstGeom prst="rect">
            <a:avLst/>
          </a:prstGeom>
        </p:spPr>
      </p:pic>
      <p:sp>
        <p:nvSpPr>
          <p:cNvPr id="24" name="Text 20"/>
          <p:cNvSpPr/>
          <p:nvPr/>
        </p:nvSpPr>
        <p:spPr>
          <a:xfrm>
            <a:off x="495808" y="4118223"/>
            <a:ext cx="10883392"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6B7680"/>
                </a:solidFill>
                <a:latin typeface="IBM Plex Sans Arabic" pitchFamily="34" charset="0"/>
                <a:ea typeface="IBM Plex Sans Arabic" pitchFamily="34" charset="-122"/>
                <a:cs typeface="IBM Plex Sans Arabic" pitchFamily="34" charset="-120"/>
              </a:rPr>
              <a:t>مثال توضيحي؛ اليوم الفعلي يختلف حسب الجهة وحجمها وموسم التقييم.</a:t>
            </a:r>
            <a:endParaRPr lang="ar-SA" sz="1200" dirty="0" altLang="en-US"/>
          </a:p>
        </p:txBody>
      </p:sp>
      <p:sp>
        <p:nvSpPr>
          <p:cNvPr id="25" name="Text 21"/>
          <p:cNvSpPr/>
          <p:nvPr/>
        </p:nvSpPr>
        <p:spPr>
          <a:xfrm>
            <a:off x="76200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8</a:t>
            </a:r>
            <a:endParaRPr lang="en-US" sz="1200" dirty="0"/>
          </a:p>
        </p:txBody>
      </p:sp>
      <p:sp>
        <p:nvSpPr>
          <p:cNvPr id="26" name="Text 22"/>
          <p:cNvSpPr/>
          <p:nvPr/>
        </p:nvSpPr>
        <p:spPr>
          <a:xfrm>
            <a:off x="747004" y="6238280"/>
            <a:ext cx="106321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01 · ما هو GRC؟</a:t>
            </a:r>
            <a:endParaRPr lang="ar-SA" sz="1200" dirty="0"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8D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756470" cy="289520"/>
          </a:xfrm>
          <a:custGeom>
            <a:avLst/>
            <a:gdLst/>
            <a:ahLst/>
            <a:cxnLst/>
            <a:rect l="l" t="t" r="r" b="b"/>
            <a:pathLst>
              <a:path w="1756470" h="289520">
                <a:moveTo>
                  <a:pt x="144760" y="0"/>
                </a:moveTo>
                <a:lnTo>
                  <a:pt x="1611709" y="0"/>
                </a:lnTo>
                <a:arcTo hR="144760" wR="144760" stAng="16200000" swAng="5400000"/>
                <a:lnTo>
                  <a:pt x="1756470"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01 · ما هو GRC؟</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أربع خرافات تؤخر البداية</a:t>
            </a:r>
            <a:endParaRPr lang="ar-SA" sz="3000" dirty="0" altLang="en-US"/>
          </a:p>
        </p:txBody>
      </p:sp>
      <p:sp>
        <p:nvSpPr>
          <p:cNvPr id="5" name="Shape 3"/>
          <p:cNvSpPr/>
          <p:nvPr/>
        </p:nvSpPr>
        <p:spPr>
          <a:xfrm>
            <a:off x="812800" y="1883370"/>
            <a:ext cx="5207000" cy="1195040"/>
          </a:xfrm>
          <a:prstGeom prst="roundRect">
            <a:avLst>
              <a:gd name="adj" fmla="val 8502"/>
            </a:avLst>
          </a:prstGeom>
          <a:solidFill>
            <a:srgbClr val="FFFDF8"/>
          </a:solidFill>
          <a:ln/>
        </p:spPr>
      </p:sp>
      <p:sp>
        <p:nvSpPr>
          <p:cNvPr id="6" name="Text 4"/>
          <p:cNvSpPr/>
          <p:nvPr/>
        </p:nvSpPr>
        <p:spPr>
          <a:xfrm>
            <a:off x="871982" y="2061170"/>
            <a:ext cx="4944618" cy="274290"/>
          </a:xfrm>
          <a:prstGeom prst="rect">
            <a:avLst/>
          </a:prstGeom>
          <a:noFill/>
          <a:ln/>
        </p:spPr>
        <p:txBody>
          <a:bodyPr wrap="square" lIns="0" tIns="0" rIns="0" bIns="0" rtlCol="0" anchor="t">
            <a:normAutofit/>
          </a:bodyPr>
          <a:lstStyle/>
          <a:p>
            <a:pPr algn="r" indent="0" marL="0" rtl="1">
              <a:lnSpc>
                <a:spcPts val="1960"/>
              </a:lnSpc>
              <a:buNone/>
            </a:pPr>
            <a:r>
              <a:rPr lang="ar-SA" sz="1400" b="1" strike="sngStrike" dirty="0" altLang="en-US">
                <a:solidFill>
                  <a:srgbClr val="8A4B12"/>
                </a:solidFill>
                <a:latin typeface="IBM Plex Sans Arabic" pitchFamily="34" charset="0"/>
                <a:ea typeface="IBM Plex Sans Arabic" pitchFamily="34" charset="-122"/>
                <a:cs typeface="IBM Plex Sans Arabic" pitchFamily="34" charset="-120"/>
              </a:rPr>
              <a:t>«لا يحتاج أي معرفة تقنية»</a:t>
            </a:r>
            <a:endParaRPr lang="ar-SA" sz="1400" dirty="0" altLang="en-US"/>
          </a:p>
        </p:txBody>
      </p:sp>
      <p:sp>
        <p:nvSpPr>
          <p:cNvPr id="7" name="Text 5"/>
          <p:cNvSpPr/>
          <p:nvPr/>
        </p:nvSpPr>
        <p:spPr>
          <a:xfrm>
            <a:off x="871982" y="2386261"/>
            <a:ext cx="4944618" cy="539750"/>
          </a:xfrm>
          <a:prstGeom prst="rect">
            <a:avLst/>
          </a:prstGeom>
          <a:noFill/>
          <a:ln/>
        </p:spPr>
        <p:txBody>
          <a:bodyPr wrap="square" lIns="0" tIns="0" rIns="0" bIns="0" rtlCol="0" anchor="t">
            <a:normAutofit/>
          </a:bodyPr>
          <a:lstStyle/>
          <a:p>
            <a:pPr algn="r" indent="0" marL="0" rtl="1">
              <a:lnSpc>
                <a:spcPts val="2025"/>
              </a:lnSpc>
              <a:buNone/>
            </a:pPr>
            <a:r>
              <a:rPr lang="ar-SA" sz="1350" dirty="0" altLang="en-US">
                <a:solidFill>
                  <a:srgbClr val="172433"/>
                </a:solidFill>
                <a:latin typeface="IBM Plex Sans Arabic" pitchFamily="34" charset="0"/>
                <a:ea typeface="IBM Plex Sans Arabic" pitchFamily="34" charset="-122"/>
                <a:cs typeface="IBM Plex Sans Arabic" pitchFamily="34" charset="-120"/>
              </a:rPr>
              <a:t>تحتاج أساسيات تكفي لتسأل وتفهم الدليل: الشبكات، والهويات، والسجلات، والسحابة.</a:t>
            </a:r>
            <a:endParaRPr lang="ar-SA" sz="1350" dirty="0" altLang="en-US"/>
          </a:p>
        </p:txBody>
      </p:sp>
      <p:sp>
        <p:nvSpPr>
          <p:cNvPr id="8" name="Shape 6"/>
          <p:cNvSpPr/>
          <p:nvPr/>
        </p:nvSpPr>
        <p:spPr>
          <a:xfrm>
            <a:off x="6172200" y="1883370"/>
            <a:ext cx="5207000" cy="1195040"/>
          </a:xfrm>
          <a:prstGeom prst="roundRect">
            <a:avLst>
              <a:gd name="adj" fmla="val 8502"/>
            </a:avLst>
          </a:prstGeom>
          <a:solidFill>
            <a:srgbClr val="FFFDF8"/>
          </a:solidFill>
          <a:ln/>
        </p:spPr>
      </p:sp>
      <p:sp>
        <p:nvSpPr>
          <p:cNvPr id="9" name="Text 7"/>
          <p:cNvSpPr/>
          <p:nvPr/>
        </p:nvSpPr>
        <p:spPr>
          <a:xfrm>
            <a:off x="6231382" y="2061170"/>
            <a:ext cx="4944618" cy="274290"/>
          </a:xfrm>
          <a:prstGeom prst="rect">
            <a:avLst/>
          </a:prstGeom>
          <a:noFill/>
          <a:ln/>
        </p:spPr>
        <p:txBody>
          <a:bodyPr wrap="square" lIns="0" tIns="0" rIns="0" bIns="0" rtlCol="0" anchor="t">
            <a:normAutofit/>
          </a:bodyPr>
          <a:lstStyle/>
          <a:p>
            <a:pPr algn="r" indent="0" marL="0" rtl="1">
              <a:lnSpc>
                <a:spcPts val="1960"/>
              </a:lnSpc>
              <a:buNone/>
            </a:pPr>
            <a:r>
              <a:rPr lang="ar-SA" sz="1400" b="1" strike="sngStrike" dirty="0" altLang="en-US">
                <a:solidFill>
                  <a:srgbClr val="8A4B12"/>
                </a:solidFill>
                <a:latin typeface="IBM Plex Sans Arabic" pitchFamily="34" charset="0"/>
                <a:ea typeface="IBM Plex Sans Arabic" pitchFamily="34" charset="-122"/>
                <a:cs typeface="IBM Plex Sans Arabic" pitchFamily="34" charset="-120"/>
              </a:rPr>
              <a:t>«GRC أوراق وسياسات فقط»</a:t>
            </a:r>
            <a:endParaRPr lang="ar-SA" sz="1400" dirty="0" altLang="en-US"/>
          </a:p>
        </p:txBody>
      </p:sp>
      <p:sp>
        <p:nvSpPr>
          <p:cNvPr id="10" name="Text 8"/>
          <p:cNvSpPr/>
          <p:nvPr/>
        </p:nvSpPr>
        <p:spPr>
          <a:xfrm>
            <a:off x="6231382" y="2386261"/>
            <a:ext cx="4944618" cy="539750"/>
          </a:xfrm>
          <a:prstGeom prst="rect">
            <a:avLst/>
          </a:prstGeom>
          <a:noFill/>
          <a:ln/>
        </p:spPr>
        <p:txBody>
          <a:bodyPr wrap="square" lIns="0" tIns="0" rIns="0" bIns="0" rtlCol="0" anchor="t">
            <a:normAutofit/>
          </a:bodyPr>
          <a:lstStyle/>
          <a:p>
            <a:pPr algn="r" indent="0" marL="0" rtl="1">
              <a:lnSpc>
                <a:spcPts val="2025"/>
              </a:lnSpc>
              <a:buNone/>
            </a:pPr>
            <a:r>
              <a:rPr lang="ar-SA" sz="1350" dirty="0" altLang="en-US">
                <a:solidFill>
                  <a:srgbClr val="172433"/>
                </a:solidFill>
                <a:latin typeface="IBM Plex Sans Arabic" pitchFamily="34" charset="0"/>
                <a:ea typeface="IBM Plex Sans Arabic" pitchFamily="34" charset="-122"/>
                <a:cs typeface="IBM Plex Sans Arabic" pitchFamily="34" charset="-120"/>
              </a:rPr>
              <a:t>السياسة بداية العمل لا نهايته. الجزء الأكبر هو التحقق من تطبيقها: أدلة، ومقابلات، وأنظمة.</a:t>
            </a:r>
            <a:endParaRPr lang="ar-SA" sz="1350" dirty="0" altLang="en-US"/>
          </a:p>
        </p:txBody>
      </p:sp>
      <p:sp>
        <p:nvSpPr>
          <p:cNvPr id="11" name="Shape 9"/>
          <p:cNvSpPr/>
          <p:nvPr/>
        </p:nvSpPr>
        <p:spPr>
          <a:xfrm>
            <a:off x="812800" y="3230811"/>
            <a:ext cx="5207000" cy="1195040"/>
          </a:xfrm>
          <a:prstGeom prst="roundRect">
            <a:avLst>
              <a:gd name="adj" fmla="val 8502"/>
            </a:avLst>
          </a:prstGeom>
          <a:solidFill>
            <a:srgbClr val="FFFDF8"/>
          </a:solidFill>
          <a:ln/>
        </p:spPr>
      </p:sp>
      <p:sp>
        <p:nvSpPr>
          <p:cNvPr id="12" name="Text 10"/>
          <p:cNvSpPr/>
          <p:nvPr/>
        </p:nvSpPr>
        <p:spPr>
          <a:xfrm>
            <a:off x="871982" y="3408611"/>
            <a:ext cx="4944618" cy="274290"/>
          </a:xfrm>
          <a:prstGeom prst="rect">
            <a:avLst/>
          </a:prstGeom>
          <a:noFill/>
          <a:ln/>
        </p:spPr>
        <p:txBody>
          <a:bodyPr wrap="square" lIns="0" tIns="0" rIns="0" bIns="0" rtlCol="0" anchor="t">
            <a:normAutofit/>
          </a:bodyPr>
          <a:lstStyle/>
          <a:p>
            <a:pPr algn="r" indent="0" marL="0" rtl="1">
              <a:lnSpc>
                <a:spcPts val="1960"/>
              </a:lnSpc>
              <a:buNone/>
            </a:pPr>
            <a:r>
              <a:rPr lang="ar-SA" sz="1400" b="1" strike="sngStrike" dirty="0" altLang="en-US">
                <a:solidFill>
                  <a:srgbClr val="8A4B12"/>
                </a:solidFill>
                <a:latin typeface="IBM Plex Sans Arabic" pitchFamily="34" charset="0"/>
                <a:ea typeface="IBM Plex Sans Arabic" pitchFamily="34" charset="-122"/>
                <a:cs typeface="IBM Plex Sans Arabic" pitchFamily="34" charset="-120"/>
              </a:rPr>
              <a:t>«تكفي شهادة واحدة»</a:t>
            </a:r>
            <a:endParaRPr lang="ar-SA" sz="1400" dirty="0" altLang="en-US"/>
          </a:p>
        </p:txBody>
      </p:sp>
      <p:sp>
        <p:nvSpPr>
          <p:cNvPr id="13" name="Text 11"/>
          <p:cNvSpPr/>
          <p:nvPr/>
        </p:nvSpPr>
        <p:spPr>
          <a:xfrm>
            <a:off x="871982" y="3733701"/>
            <a:ext cx="4944618" cy="282575"/>
          </a:xfrm>
          <a:prstGeom prst="rect">
            <a:avLst/>
          </a:prstGeom>
          <a:noFill/>
          <a:ln/>
        </p:spPr>
        <p:txBody>
          <a:bodyPr wrap="square" lIns="0" tIns="0" rIns="0" bIns="0" rtlCol="0" anchor="t">
            <a:normAutofit/>
          </a:bodyPr>
          <a:lstStyle/>
          <a:p>
            <a:pPr algn="r" indent="0" marL="0" rtl="1">
              <a:lnSpc>
                <a:spcPts val="2025"/>
              </a:lnSpc>
              <a:buNone/>
            </a:pPr>
            <a:r>
              <a:rPr lang="ar-SA" sz="1350" dirty="0" altLang="en-US">
                <a:solidFill>
                  <a:srgbClr val="172433"/>
                </a:solidFill>
                <a:latin typeface="IBM Plex Sans Arabic" pitchFamily="34" charset="0"/>
                <a:ea typeface="IBM Plex Sans Arabic" pitchFamily="34" charset="-122"/>
                <a:cs typeface="IBM Plex Sans Arabic" pitchFamily="34" charset="-120"/>
              </a:rPr>
              <a:t>الشهادة تفتح باب المقابلة. ما يقنع المقابِل هو أن تشرح مثالاً عملياً بلغتك.</a:t>
            </a:r>
            <a:endParaRPr lang="ar-SA" sz="1350" dirty="0" altLang="en-US"/>
          </a:p>
        </p:txBody>
      </p:sp>
      <p:sp>
        <p:nvSpPr>
          <p:cNvPr id="14" name="Shape 12"/>
          <p:cNvSpPr/>
          <p:nvPr/>
        </p:nvSpPr>
        <p:spPr>
          <a:xfrm>
            <a:off x="6172200" y="3230811"/>
            <a:ext cx="5207000" cy="1195040"/>
          </a:xfrm>
          <a:prstGeom prst="roundRect">
            <a:avLst>
              <a:gd name="adj" fmla="val 8502"/>
            </a:avLst>
          </a:prstGeom>
          <a:solidFill>
            <a:srgbClr val="FFFDF8"/>
          </a:solidFill>
          <a:ln/>
        </p:spPr>
      </p:sp>
      <p:sp>
        <p:nvSpPr>
          <p:cNvPr id="15" name="Text 13"/>
          <p:cNvSpPr/>
          <p:nvPr/>
        </p:nvSpPr>
        <p:spPr>
          <a:xfrm>
            <a:off x="6231382" y="3408611"/>
            <a:ext cx="4944618" cy="274290"/>
          </a:xfrm>
          <a:prstGeom prst="rect">
            <a:avLst/>
          </a:prstGeom>
          <a:noFill/>
          <a:ln/>
        </p:spPr>
        <p:txBody>
          <a:bodyPr wrap="square" lIns="0" tIns="0" rIns="0" bIns="0" rtlCol="0" anchor="t">
            <a:normAutofit/>
          </a:bodyPr>
          <a:lstStyle/>
          <a:p>
            <a:pPr algn="r" indent="0" marL="0" rtl="1">
              <a:lnSpc>
                <a:spcPts val="1960"/>
              </a:lnSpc>
              <a:buNone/>
            </a:pPr>
            <a:r>
              <a:rPr lang="ar-SA" sz="1400" b="1" strike="sngStrike" dirty="0" altLang="en-US">
                <a:solidFill>
                  <a:srgbClr val="8A4B12"/>
                </a:solidFill>
                <a:latin typeface="IBM Plex Sans Arabic" pitchFamily="34" charset="0"/>
                <a:ea typeface="IBM Plex Sans Arabic" pitchFamily="34" charset="-122"/>
                <a:cs typeface="IBM Plex Sans Arabic" pitchFamily="34" charset="-120"/>
              </a:rPr>
              <a:t>«لا يدخله إلا أصحاب الخبرة الطويلة»</a:t>
            </a:r>
            <a:endParaRPr lang="ar-SA" sz="1400" dirty="0" altLang="en-US"/>
          </a:p>
        </p:txBody>
      </p:sp>
      <p:sp>
        <p:nvSpPr>
          <p:cNvPr id="16" name="Text 14"/>
          <p:cNvSpPr/>
          <p:nvPr/>
        </p:nvSpPr>
        <p:spPr>
          <a:xfrm>
            <a:off x="6231382" y="3733701"/>
            <a:ext cx="4944618" cy="539750"/>
          </a:xfrm>
          <a:prstGeom prst="rect">
            <a:avLst/>
          </a:prstGeom>
          <a:noFill/>
          <a:ln/>
        </p:spPr>
        <p:txBody>
          <a:bodyPr wrap="square" lIns="0" tIns="0" rIns="0" bIns="0" rtlCol="0" anchor="t">
            <a:normAutofit/>
          </a:bodyPr>
          <a:lstStyle/>
          <a:p>
            <a:pPr algn="r" indent="0" marL="0" rtl="1">
              <a:lnSpc>
                <a:spcPts val="2025"/>
              </a:lnSpc>
              <a:buNone/>
            </a:pPr>
            <a:r>
              <a:rPr lang="ar-SA" sz="1350" dirty="0" altLang="en-US">
                <a:solidFill>
                  <a:srgbClr val="172433"/>
                </a:solidFill>
                <a:latin typeface="IBM Plex Sans Arabic" pitchFamily="34" charset="0"/>
                <a:ea typeface="IBM Plex Sans Arabic" pitchFamily="34" charset="-122"/>
                <a:cs typeface="IBM Plex Sans Arabic" pitchFamily="34" charset="-120"/>
              </a:rPr>
              <a:t>توجد وظائف مبتدئة مثل محلل أو مساعد امتثال، والمشاريع الشخصية تعوض جزءاً من الخبرة.</a:t>
            </a:r>
            <a:endParaRPr lang="ar-SA" sz="1350" dirty="0" altLang="en-US"/>
          </a:p>
        </p:txBody>
      </p:sp>
      <p:sp>
        <p:nvSpPr>
          <p:cNvPr id="17" name="Text 15"/>
          <p:cNvSpPr/>
          <p:nvPr/>
        </p:nvSpPr>
        <p:spPr>
          <a:xfrm>
            <a:off x="76200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9</a:t>
            </a:r>
            <a:endParaRPr lang="en-US" sz="1200" dirty="0"/>
          </a:p>
        </p:txBody>
      </p:sp>
      <p:sp>
        <p:nvSpPr>
          <p:cNvPr id="18" name="Text 16"/>
          <p:cNvSpPr/>
          <p:nvPr/>
        </p:nvSpPr>
        <p:spPr>
          <a:xfrm>
            <a:off x="747004" y="6238280"/>
            <a:ext cx="106321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01 · ما هو GRC؟</a:t>
            </a:r>
            <a:endParaRPr lang="ar-SA" sz="1200" dirty="0"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433"/>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0E7C6B"/>
          </a:solidFill>
          <a:ln/>
        </p:spPr>
      </p:sp>
      <p:sp>
        <p:nvSpPr>
          <p:cNvPr id="3" name="Text 1"/>
          <p:cNvSpPr/>
          <p:nvPr>
            <p:ph type="title"/>
          </p:nvPr>
        </p:nvSpPr>
        <p:spPr>
          <a:xfrm>
            <a:off x="0" y="2447330"/>
            <a:ext cx="5916414" cy="756890"/>
          </a:xfrm>
          <a:prstGeom prst="rect">
            <a:avLst/>
          </a:prstGeom>
          <a:noFill/>
          <a:ln/>
        </p:spPr>
        <p:txBody>
          <a:bodyPr wrap="square" lIns="0" tIns="0" rIns="0" bIns="0" rtlCol="0" anchor="t">
            <a:normAutofit/>
          </a:bodyPr>
          <a:lstStyle/>
          <a:p>
            <a:pPr algn="r" indent="0" marL="0" rtl="1">
              <a:lnSpc>
                <a:spcPts val="5760"/>
              </a:lnSpc>
              <a:buNone/>
            </a:pPr>
            <a:r>
              <a:rPr lang="ar-SA" sz="4800" b="1" i="0" dirty="0" altLang="en-US">
                <a:solidFill>
                  <a:srgbClr val="F3EFE6"/>
                </a:solidFill>
                <a:latin typeface="Readex Pro" pitchFamily="34" charset="0"/>
                <a:ea typeface="Readex Pro" pitchFamily="34" charset="-122"/>
                <a:cs typeface="Readex Pro" pitchFamily="34" charset="-120"/>
              </a:rPr>
              <a:t>المفاهيم الأساسية</a:t>
            </a:r>
            <a:endParaRPr lang="ar-SA" sz="4800" dirty="0" altLang="en-US"/>
          </a:p>
        </p:txBody>
      </p:sp>
      <p:sp>
        <p:nvSpPr>
          <p:cNvPr id="4" name="Text 2"/>
          <p:cNvSpPr/>
          <p:nvPr/>
        </p:nvSpPr>
        <p:spPr>
          <a:xfrm>
            <a:off x="5916414" y="1908820"/>
            <a:ext cx="180340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0E7C6B"/>
                </a:solidFill>
                <a:latin typeface="Readex Pro" pitchFamily="34" charset="0"/>
                <a:ea typeface="Readex Pro" pitchFamily="34" charset="-122"/>
                <a:cs typeface="Readex Pro" pitchFamily="34" charset="-120"/>
              </a:rPr>
              <a:t>02</a:t>
            </a:r>
            <a:endParaRPr lang="en-US" sz="10000" dirty="0"/>
          </a:p>
        </p:txBody>
      </p:sp>
      <p:sp>
        <p:nvSpPr>
          <p:cNvPr id="5" name="Text 3"/>
          <p:cNvSpPr/>
          <p:nvPr/>
        </p:nvSpPr>
        <p:spPr>
          <a:xfrm>
            <a:off x="546100" y="3382020"/>
            <a:ext cx="9156700" cy="368300"/>
          </a:xfrm>
          <a:prstGeom prst="rect">
            <a:avLst/>
          </a:prstGeom>
          <a:noFill/>
          <a:ln/>
        </p:spPr>
        <p:txBody>
          <a:bodyPr wrap="square" lIns="0" tIns="0" rIns="0" bIns="0" rtlCol="0" anchor="t">
            <a:normAutofit/>
          </a:bodyPr>
          <a:lstStyle/>
          <a:p>
            <a:pPr algn="r" indent="0" marL="0" rtl="1">
              <a:lnSpc>
                <a:spcPts val="2700"/>
              </a:lnSpc>
              <a:buNone/>
            </a:pPr>
            <a:r>
              <a:rPr lang="ar-SA" sz="1800" dirty="0" altLang="en-US">
                <a:solidFill>
                  <a:srgbClr val="D9E2E6"/>
                </a:solidFill>
                <a:latin typeface="IBM Plex Sans Arabic" pitchFamily="34" charset="0"/>
                <a:ea typeface="IBM Plex Sans Arabic" pitchFamily="34" charset="-122"/>
                <a:cs typeface="IBM Plex Sans Arabic" pitchFamily="34" charset="-120"/>
              </a:rPr>
              <a:t>اللغة التي ستستخدمها كل يوم، وستُسأل عنها في كل مقابلة: المخاطر، والضوابط، والوثائق، والأدلة.</a:t>
            </a:r>
            <a:endParaRPr lang="ar-SA" sz="1800" dirty="0" altLang="en-US"/>
          </a:p>
        </p:txBody>
      </p:sp>
      <p:sp>
        <p:nvSpPr>
          <p:cNvPr id="6" name="Text 4"/>
          <p:cNvSpPr/>
          <p:nvPr/>
        </p:nvSpPr>
        <p:spPr>
          <a:xfrm>
            <a:off x="812800" y="3928120"/>
            <a:ext cx="1572320"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قاموس المصطلحات</a:t>
            </a:r>
            <a:endParaRPr lang="ar-SA" sz="1300" dirty="0" altLang="en-US"/>
          </a:p>
        </p:txBody>
      </p:sp>
      <p:sp>
        <p:nvSpPr>
          <p:cNvPr id="7" name="Text 5"/>
          <p:cNvSpPr/>
          <p:nvPr/>
        </p:nvSpPr>
        <p:spPr>
          <a:xfrm>
            <a:off x="2486720" y="3928120"/>
            <a:ext cx="1749772"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الاستمرارية والخصوصية</a:t>
            </a:r>
            <a:endParaRPr lang="ar-SA" sz="1300" dirty="0" altLang="en-US"/>
          </a:p>
        </p:txBody>
      </p:sp>
      <p:sp>
        <p:nvSpPr>
          <p:cNvPr id="8" name="Text 6"/>
          <p:cNvSpPr/>
          <p:nvPr/>
        </p:nvSpPr>
        <p:spPr>
          <a:xfrm>
            <a:off x="4338092" y="3928120"/>
            <a:ext cx="1324322"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الأطراف الخارجية</a:t>
            </a:r>
            <a:endParaRPr lang="ar-SA" sz="1300" dirty="0" altLang="en-US"/>
          </a:p>
        </p:txBody>
      </p:sp>
      <p:sp>
        <p:nvSpPr>
          <p:cNvPr id="9" name="Text 7"/>
          <p:cNvSpPr/>
          <p:nvPr/>
        </p:nvSpPr>
        <p:spPr>
          <a:xfrm>
            <a:off x="5764014" y="3928120"/>
            <a:ext cx="1205111"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الأدلة والتدقيق</a:t>
            </a:r>
            <a:endParaRPr lang="ar-SA" sz="1300" dirty="0" altLang="en-US"/>
          </a:p>
        </p:txBody>
      </p:sp>
      <p:sp>
        <p:nvSpPr>
          <p:cNvPr id="10" name="Text 8"/>
          <p:cNvSpPr/>
          <p:nvPr/>
        </p:nvSpPr>
        <p:spPr>
          <a:xfrm>
            <a:off x="7070725" y="3928120"/>
            <a:ext cx="1536799"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خطوط الدفاع الثلاثة</a:t>
            </a:r>
            <a:endParaRPr lang="ar-SA" sz="1300" dirty="0" altLang="en-US"/>
          </a:p>
        </p:txBody>
      </p:sp>
      <p:sp>
        <p:nvSpPr>
          <p:cNvPr id="11" name="Text 9"/>
          <p:cNvSpPr/>
          <p:nvPr/>
        </p:nvSpPr>
        <p:spPr>
          <a:xfrm>
            <a:off x="8709124" y="3928120"/>
            <a:ext cx="992783"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هرم الوثائق</a:t>
            </a:r>
            <a:endParaRPr lang="ar-SA" sz="1300" dirty="0" altLang="en-US"/>
          </a:p>
        </p:txBody>
      </p:sp>
      <p:sp>
        <p:nvSpPr>
          <p:cNvPr id="12" name="Text 10"/>
          <p:cNvSpPr/>
          <p:nvPr/>
        </p:nvSpPr>
        <p:spPr>
          <a:xfrm>
            <a:off x="812800" y="4387850"/>
            <a:ext cx="1138932"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أنواع الضوابط</a:t>
            </a:r>
            <a:endParaRPr lang="ar-SA" sz="1300" dirty="0" altLang="en-US"/>
          </a:p>
        </p:txBody>
      </p:sp>
      <p:sp>
        <p:nvSpPr>
          <p:cNvPr id="13" name="Text 11"/>
          <p:cNvSpPr/>
          <p:nvPr/>
        </p:nvSpPr>
        <p:spPr>
          <a:xfrm>
            <a:off x="2053332" y="4387850"/>
            <a:ext cx="1266676"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معالجة المخاطر</a:t>
            </a:r>
            <a:endParaRPr lang="ar-SA" sz="1300" dirty="0" altLang="en-US"/>
          </a:p>
        </p:txBody>
      </p:sp>
      <p:sp>
        <p:nvSpPr>
          <p:cNvPr id="14" name="Text 12"/>
          <p:cNvSpPr/>
          <p:nvPr/>
        </p:nvSpPr>
        <p:spPr>
          <a:xfrm>
            <a:off x="3421608" y="4387850"/>
            <a:ext cx="1353393"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مصفوفة المخاطر</a:t>
            </a:r>
            <a:endParaRPr lang="ar-SA" sz="1300" dirty="0" altLang="en-US"/>
          </a:p>
        </p:txBody>
      </p:sp>
      <p:sp>
        <p:nvSpPr>
          <p:cNvPr id="15" name="Text 13"/>
          <p:cNvSpPr/>
          <p:nvPr/>
        </p:nvSpPr>
        <p:spPr>
          <a:xfrm>
            <a:off x="4876602" y="4387850"/>
            <a:ext cx="1511201"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مصطلحات المخاطر</a:t>
            </a:r>
            <a:endParaRPr lang="ar-SA" sz="1300" dirty="0" altLang="en-US"/>
          </a:p>
        </p:txBody>
      </p:sp>
      <p:sp>
        <p:nvSpPr>
          <p:cNvPr id="16" name="Text 14"/>
          <p:cNvSpPr/>
          <p:nvPr/>
        </p:nvSpPr>
        <p:spPr>
          <a:xfrm>
            <a:off x="6489402" y="4387850"/>
            <a:ext cx="970359"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ثلاثية الأمن</a:t>
            </a:r>
            <a:endParaRPr lang="ar-SA" sz="1300" dirty="0" altLang="en-US"/>
          </a:p>
        </p:txBody>
      </p:sp>
      <p:sp>
        <p:nvSpPr>
          <p:cNvPr id="17" name="Text 15"/>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3A3B1"/>
                </a:solidFill>
                <a:latin typeface="IBM Plex Sans Arabic" pitchFamily="34" charset="0"/>
                <a:ea typeface="IBM Plex Sans Arabic" pitchFamily="34" charset="-122"/>
                <a:cs typeface="IBM Plex Sans Arabic" pitchFamily="34" charset="-120"/>
              </a:rPr>
              <a:t>10</a:t>
            </a:r>
            <a:endParaRPr lang="en-US" sz="1200" dirty="0"/>
          </a:p>
        </p:txBody>
      </p:sp>
      <p:sp>
        <p:nvSpPr>
          <p:cNvPr id="18" name="Text 16"/>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93A3B1"/>
                </a:solidFill>
                <a:latin typeface="IBM Plex Sans Arabic" pitchFamily="34" charset="0"/>
                <a:ea typeface="IBM Plex Sans Arabic" pitchFamily="34" charset="-122"/>
                <a:cs typeface="IBM Plex Sans Arabic" pitchFamily="34" charset="-120"/>
              </a:rPr>
              <a:t>كيف تبدأ في GRC · الوحدة 02</a:t>
            </a:r>
            <a:endParaRPr lang="ar-SA" sz="1200" dirty="0"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ثلاثية الأمن: ما الذي نحميه في المعلومات؟</a:t>
            </a:r>
            <a:endParaRPr lang="ar-SA" sz="3000" dirty="0" altLang="en-US"/>
          </a:p>
        </p:txBody>
      </p:sp>
      <p:sp>
        <p:nvSpPr>
          <p:cNvPr id="5" name="Shape 3"/>
          <p:cNvSpPr/>
          <p:nvPr/>
        </p:nvSpPr>
        <p:spPr>
          <a:xfrm>
            <a:off x="815975" y="1911945"/>
            <a:ext cx="3397250" cy="1638300"/>
          </a:xfrm>
          <a:prstGeom prst="roundRect">
            <a:avLst>
              <a:gd name="adj" fmla="val 6783"/>
            </a:avLst>
          </a:prstGeom>
          <a:solidFill>
            <a:srgbClr val="FFFDF8"/>
          </a:solidFill>
          <a:ln w="6350">
            <a:solidFill>
              <a:srgbClr val="E1DBCD"/>
            </a:solidFill>
            <a:prstDash val="solid"/>
          </a:ln>
        </p:spPr>
      </p:sp>
      <p:sp>
        <p:nvSpPr>
          <p:cNvPr id="6" name="Text 4"/>
          <p:cNvSpPr/>
          <p:nvPr/>
        </p:nvSpPr>
        <p:spPr>
          <a:xfrm>
            <a:off x="873115" y="2164060"/>
            <a:ext cx="8954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BM Plex Sans Arabic" pitchFamily="34" charset="0"/>
                <a:ea typeface="IBM Plex Sans Arabic" pitchFamily="34" charset="-122"/>
                <a:cs typeface="IBM Plex Sans Arabic" pitchFamily="34" charset="-120"/>
              </a:rPr>
              <a:t>Availability</a:t>
            </a:r>
            <a:endParaRPr lang="en-US" sz="1200" dirty="0"/>
          </a:p>
        </p:txBody>
      </p:sp>
      <p:sp>
        <p:nvSpPr>
          <p:cNvPr id="7" name="Text 5"/>
          <p:cNvSpPr/>
          <p:nvPr/>
        </p:nvSpPr>
        <p:spPr>
          <a:xfrm>
            <a:off x="1768525" y="2118320"/>
            <a:ext cx="858044" cy="330200"/>
          </a:xfrm>
          <a:prstGeom prst="rect">
            <a:avLst/>
          </a:prstGeom>
          <a:noFill/>
          <a:ln/>
        </p:spPr>
        <p:txBody>
          <a:bodyPr wrap="square" lIns="0" tIns="0" rIns="0" bIns="0" rtlCol="0" anchor="t">
            <a:normAutofit/>
          </a:bodyPr>
          <a:lstStyle/>
          <a:p>
            <a:pPr algn="r" indent="0" marL="0" rtl="1">
              <a:lnSpc>
                <a:spcPts val="2400"/>
              </a:lnSpc>
              <a:buNone/>
            </a:pPr>
            <a:r>
              <a:rPr lang="ar-SA" sz="2000" b="1" dirty="0" altLang="en-US">
                <a:solidFill>
                  <a:srgbClr val="172433"/>
                </a:solidFill>
                <a:latin typeface="Readex Pro" pitchFamily="34" charset="0"/>
                <a:ea typeface="Readex Pro" pitchFamily="34" charset="-122"/>
                <a:cs typeface="Readex Pro" pitchFamily="34" charset="-120"/>
              </a:rPr>
              <a:t>التوافر</a:t>
            </a:r>
            <a:endParaRPr lang="ar-SA" sz="2000" dirty="0" altLang="en-US"/>
          </a:p>
        </p:txBody>
      </p:sp>
      <p:pic>
        <p:nvPicPr>
          <p:cNvPr id="8" name="Image 0" descr="Activity">    </p:cNvPr>
          <p:cNvPicPr>
            <a:picLocks noChangeAspect="1"/>
          </p:cNvPicPr>
          <p:nvPr/>
        </p:nvPicPr>
        <p:blipFill>
          <a:blip r:embed="rId1"/>
          <a:srcRect l="0" r="0" t="0" b="0"/>
          <a:stretch/>
        </p:blipFill>
        <p:spPr>
          <a:xfrm>
            <a:off x="2728168" y="2131020"/>
            <a:ext cx="279400" cy="279400"/>
          </a:xfrm>
          <a:prstGeom prst="rect">
            <a:avLst/>
          </a:prstGeom>
        </p:spPr>
      </p:pic>
      <p:sp>
        <p:nvSpPr>
          <p:cNvPr id="9" name="Text 6"/>
          <p:cNvSpPr/>
          <p:nvPr/>
        </p:nvSpPr>
        <p:spPr>
          <a:xfrm>
            <a:off x="932815" y="2512020"/>
            <a:ext cx="3074035" cy="2921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172433"/>
                </a:solidFill>
                <a:latin typeface="IBM Plex Sans Arabic" pitchFamily="34" charset="0"/>
                <a:ea typeface="IBM Plex Sans Arabic" pitchFamily="34" charset="-122"/>
                <a:cs typeface="IBM Plex Sans Arabic" pitchFamily="34" charset="-120"/>
              </a:rPr>
              <a:t>المعلومة والخدمة متاحتان وقت الحاجة.</a:t>
            </a:r>
            <a:endParaRPr lang="ar-SA" sz="1400" dirty="0" altLang="en-US"/>
          </a:p>
        </p:txBody>
      </p:sp>
      <p:sp>
        <p:nvSpPr>
          <p:cNvPr id="10" name="Text 7"/>
          <p:cNvSpPr/>
          <p:nvPr/>
        </p:nvSpPr>
        <p:spPr>
          <a:xfrm>
            <a:off x="932815" y="2867620"/>
            <a:ext cx="3074035" cy="501650"/>
          </a:xfrm>
          <a:prstGeom prst="rect">
            <a:avLst/>
          </a:prstGeom>
          <a:noFill/>
          <a:ln/>
        </p:spPr>
        <p:txBody>
          <a:bodyPr wrap="square" lIns="0" tIns="0" rIns="0" bIns="0" rtlCol="0" anchor="t">
            <a:normAutofit/>
          </a:bodyPr>
          <a:lstStyle/>
          <a:p>
            <a:pPr algn="r" indent="0" marL="0" rtl="1">
              <a:lnSpc>
                <a:spcPts val="1875"/>
              </a:lnSpc>
              <a:buNone/>
            </a:pPr>
            <a:r>
              <a:rPr lang="ar-SA" sz="1250" b="1" dirty="0" altLang="en-US">
                <a:solidFill>
                  <a:srgbClr val="4E5A66"/>
                </a:solidFill>
                <a:latin typeface="IBM Plex Sans Arabic" pitchFamily="34" charset="0"/>
                <a:ea typeface="IBM Plex Sans Arabic" pitchFamily="34" charset="-122"/>
                <a:cs typeface="IBM Plex Sans Arabic" pitchFamily="34" charset="-120"/>
              </a:rPr>
              <a:t>ما يهدده:</a:t>
            </a:r>
            <a:r>
              <a:rPr lang="ar-SA" sz="1250" dirty="0" altLang="en-US">
                <a:solidFill>
                  <a:srgbClr val="4E5A66"/>
                </a:solidFill>
                <a:latin typeface="IBM Plex Sans Arabic" pitchFamily="34" charset="0"/>
                <a:ea typeface="IBM Plex Sans Arabic" pitchFamily="34" charset="-122"/>
                <a:cs typeface="IBM Plex Sans Arabic" pitchFamily="34" charset="-120"/>
              </a:rPr>
              <a:t> برمجية فدية توقف البوابة.</a:t>
            </a:r>
            <a:endParaRPr lang="ar-SA" sz="1250" dirty="0" altLang="en-US"/>
          </a:p>
          <a:p>
            <a:pPr algn="r" indent="0" marL="0" rtl="1">
              <a:lnSpc>
                <a:spcPts val="1875"/>
              </a:lnSpc>
              <a:buNone/>
            </a:pPr>
            <a:r>
              <a:rPr lang="ar-SA" sz="1250" b="1" dirty="0" altLang="en-US">
                <a:solidFill>
                  <a:srgbClr val="4E5A66"/>
                </a:solidFill>
                <a:latin typeface="IBM Plex Sans Arabic" pitchFamily="34" charset="0"/>
                <a:ea typeface="IBM Plex Sans Arabic" pitchFamily="34" charset="-122"/>
                <a:cs typeface="IBM Plex Sans Arabic" pitchFamily="34" charset="-120"/>
              </a:rPr>
              <a:t>ما يحميه:</a:t>
            </a:r>
            <a:r>
              <a:rPr lang="ar-SA" sz="1250" dirty="0" altLang="en-US">
                <a:solidFill>
                  <a:srgbClr val="4E5A66"/>
                </a:solidFill>
                <a:latin typeface="IBM Plex Sans Arabic" pitchFamily="34" charset="0"/>
                <a:ea typeface="IBM Plex Sans Arabic" pitchFamily="34" charset="-122"/>
                <a:cs typeface="IBM Plex Sans Arabic" pitchFamily="34" charset="-120"/>
              </a:rPr>
              <a:t> النسخ الاحتياطي وخطط التعافي.</a:t>
            </a:r>
            <a:endParaRPr lang="ar-SA" sz="1250" dirty="0" altLang="en-US"/>
          </a:p>
        </p:txBody>
      </p:sp>
      <p:sp>
        <p:nvSpPr>
          <p:cNvPr id="11" name="Shape 8"/>
          <p:cNvSpPr/>
          <p:nvPr/>
        </p:nvSpPr>
        <p:spPr>
          <a:xfrm>
            <a:off x="4397375" y="1911945"/>
            <a:ext cx="3397250" cy="1638300"/>
          </a:xfrm>
          <a:prstGeom prst="roundRect">
            <a:avLst>
              <a:gd name="adj" fmla="val 6783"/>
            </a:avLst>
          </a:prstGeom>
          <a:solidFill>
            <a:srgbClr val="FFFDF8"/>
          </a:solidFill>
          <a:ln w="6350">
            <a:solidFill>
              <a:srgbClr val="E1DBCD"/>
            </a:solidFill>
            <a:prstDash val="solid"/>
          </a:ln>
        </p:spPr>
      </p:sp>
      <p:sp>
        <p:nvSpPr>
          <p:cNvPr id="12" name="Text 9"/>
          <p:cNvSpPr/>
          <p:nvPr/>
        </p:nvSpPr>
        <p:spPr>
          <a:xfrm>
            <a:off x="4486126" y="2164060"/>
            <a:ext cx="70574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BM Plex Sans Arabic" pitchFamily="34" charset="0"/>
                <a:ea typeface="IBM Plex Sans Arabic" pitchFamily="34" charset="-122"/>
                <a:cs typeface="IBM Plex Sans Arabic" pitchFamily="34" charset="-120"/>
              </a:rPr>
              <a:t>Integrity</a:t>
            </a:r>
            <a:endParaRPr lang="en-US" sz="1200" dirty="0"/>
          </a:p>
        </p:txBody>
      </p:sp>
      <p:sp>
        <p:nvSpPr>
          <p:cNvPr id="13" name="Text 10"/>
          <p:cNvSpPr/>
          <p:nvPr/>
        </p:nvSpPr>
        <p:spPr>
          <a:xfrm>
            <a:off x="5191869" y="2118320"/>
            <a:ext cx="970806" cy="330200"/>
          </a:xfrm>
          <a:prstGeom prst="rect">
            <a:avLst/>
          </a:prstGeom>
          <a:noFill/>
          <a:ln/>
        </p:spPr>
        <p:txBody>
          <a:bodyPr wrap="square" lIns="0" tIns="0" rIns="0" bIns="0" rtlCol="0" anchor="t">
            <a:normAutofit/>
          </a:bodyPr>
          <a:lstStyle/>
          <a:p>
            <a:pPr algn="r" indent="0" marL="0" rtl="1">
              <a:lnSpc>
                <a:spcPts val="2400"/>
              </a:lnSpc>
              <a:buNone/>
            </a:pPr>
            <a:r>
              <a:rPr lang="ar-SA" sz="2000" b="1" dirty="0" altLang="en-US">
                <a:solidFill>
                  <a:srgbClr val="172433"/>
                </a:solidFill>
                <a:latin typeface="Readex Pro" pitchFamily="34" charset="0"/>
                <a:ea typeface="Readex Pro" pitchFamily="34" charset="-122"/>
                <a:cs typeface="Readex Pro" pitchFamily="34" charset="-120"/>
              </a:rPr>
              <a:t>السلامة</a:t>
            </a:r>
            <a:endParaRPr lang="ar-SA" sz="2000" dirty="0" altLang="en-US"/>
          </a:p>
        </p:txBody>
      </p:sp>
      <p:pic>
        <p:nvPicPr>
          <p:cNvPr id="14" name="Image 1" descr="Verified">    </p:cNvPr>
          <p:cNvPicPr>
            <a:picLocks noChangeAspect="1"/>
          </p:cNvPicPr>
          <p:nvPr/>
        </p:nvPicPr>
        <p:blipFill>
          <a:blip r:embed="rId2"/>
          <a:srcRect l="0" r="0" t="0" b="0"/>
          <a:stretch/>
        </p:blipFill>
        <p:spPr>
          <a:xfrm>
            <a:off x="6264275" y="2131020"/>
            <a:ext cx="279400" cy="279400"/>
          </a:xfrm>
          <a:prstGeom prst="rect">
            <a:avLst/>
          </a:prstGeom>
        </p:spPr>
      </p:pic>
      <p:sp>
        <p:nvSpPr>
          <p:cNvPr id="15" name="Text 11"/>
          <p:cNvSpPr/>
          <p:nvPr/>
        </p:nvSpPr>
        <p:spPr>
          <a:xfrm>
            <a:off x="4514215" y="2512020"/>
            <a:ext cx="3074035" cy="2921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172433"/>
                </a:solidFill>
                <a:latin typeface="IBM Plex Sans Arabic" pitchFamily="34" charset="0"/>
                <a:ea typeface="IBM Plex Sans Arabic" pitchFamily="34" charset="-122"/>
                <a:cs typeface="IBM Plex Sans Arabic" pitchFamily="34" charset="-120"/>
              </a:rPr>
              <a:t>المعلومة صحيحة ولم تُغيَّر دون إذن.</a:t>
            </a:r>
            <a:endParaRPr lang="ar-SA" sz="1400" dirty="0" altLang="en-US"/>
          </a:p>
        </p:txBody>
      </p:sp>
      <p:sp>
        <p:nvSpPr>
          <p:cNvPr id="16" name="Text 12"/>
          <p:cNvSpPr/>
          <p:nvPr/>
        </p:nvSpPr>
        <p:spPr>
          <a:xfrm>
            <a:off x="4514215" y="2867620"/>
            <a:ext cx="3074035" cy="501650"/>
          </a:xfrm>
          <a:prstGeom prst="rect">
            <a:avLst/>
          </a:prstGeom>
          <a:noFill/>
          <a:ln/>
        </p:spPr>
        <p:txBody>
          <a:bodyPr wrap="square" lIns="0" tIns="0" rIns="0" bIns="0" rtlCol="0" anchor="t">
            <a:normAutofit/>
          </a:bodyPr>
          <a:lstStyle/>
          <a:p>
            <a:pPr algn="r" indent="0" marL="0" rtl="1">
              <a:lnSpc>
                <a:spcPts val="1875"/>
              </a:lnSpc>
              <a:buNone/>
            </a:pPr>
            <a:r>
              <a:rPr lang="ar-SA" sz="1250" b="1" dirty="0" altLang="en-US">
                <a:solidFill>
                  <a:srgbClr val="4E5A66"/>
                </a:solidFill>
                <a:latin typeface="IBM Plex Sans Arabic" pitchFamily="34" charset="0"/>
                <a:ea typeface="IBM Plex Sans Arabic" pitchFamily="34" charset="-122"/>
                <a:cs typeface="IBM Plex Sans Arabic" pitchFamily="34" charset="-120"/>
              </a:rPr>
              <a:t>ما يهددها:</a:t>
            </a:r>
            <a:r>
              <a:rPr lang="ar-SA" sz="1250" dirty="0" altLang="en-US">
                <a:solidFill>
                  <a:srgbClr val="4E5A66"/>
                </a:solidFill>
                <a:latin typeface="IBM Plex Sans Arabic" pitchFamily="34" charset="0"/>
                <a:ea typeface="IBM Plex Sans Arabic" pitchFamily="34" charset="-122"/>
                <a:cs typeface="IBM Plex Sans Arabic" pitchFamily="34" charset="-120"/>
              </a:rPr>
              <a:t> تعديل مبلغ في أمر صرف.</a:t>
            </a:r>
            <a:endParaRPr lang="ar-SA" sz="1250" dirty="0" altLang="en-US"/>
          </a:p>
          <a:p>
            <a:pPr algn="r" indent="0" marL="0" rtl="1">
              <a:lnSpc>
                <a:spcPts val="1875"/>
              </a:lnSpc>
              <a:buNone/>
            </a:pPr>
            <a:r>
              <a:rPr lang="ar-SA" sz="1250" b="1" dirty="0" altLang="en-US">
                <a:solidFill>
                  <a:srgbClr val="4E5A66"/>
                </a:solidFill>
                <a:latin typeface="IBM Plex Sans Arabic" pitchFamily="34" charset="0"/>
                <a:ea typeface="IBM Plex Sans Arabic" pitchFamily="34" charset="-122"/>
                <a:cs typeface="IBM Plex Sans Arabic" pitchFamily="34" charset="-120"/>
              </a:rPr>
              <a:t>ما يحميها:</a:t>
            </a:r>
            <a:r>
              <a:rPr lang="ar-SA" sz="1250" dirty="0" altLang="en-US">
                <a:solidFill>
                  <a:srgbClr val="4E5A66"/>
                </a:solidFill>
                <a:latin typeface="IBM Plex Sans Arabic" pitchFamily="34" charset="0"/>
                <a:ea typeface="IBM Plex Sans Arabic" pitchFamily="34" charset="-122"/>
                <a:cs typeface="IBM Plex Sans Arabic" pitchFamily="34" charset="-120"/>
              </a:rPr>
              <a:t> فصل المهام والسجلات.</a:t>
            </a:r>
            <a:endParaRPr lang="ar-SA" sz="1250" dirty="0" altLang="en-US"/>
          </a:p>
        </p:txBody>
      </p:sp>
      <p:sp>
        <p:nvSpPr>
          <p:cNvPr id="17" name="Shape 13"/>
          <p:cNvSpPr/>
          <p:nvPr/>
        </p:nvSpPr>
        <p:spPr>
          <a:xfrm>
            <a:off x="7978775" y="1911945"/>
            <a:ext cx="3397250" cy="1638300"/>
          </a:xfrm>
          <a:prstGeom prst="roundRect">
            <a:avLst>
              <a:gd name="adj" fmla="val 6783"/>
            </a:avLst>
          </a:prstGeom>
          <a:solidFill>
            <a:srgbClr val="FFFDF8"/>
          </a:solidFill>
          <a:ln w="6350">
            <a:solidFill>
              <a:srgbClr val="E1DBCD"/>
            </a:solidFill>
            <a:prstDash val="solid"/>
          </a:ln>
        </p:spPr>
      </p:sp>
      <p:sp>
        <p:nvSpPr>
          <p:cNvPr id="18" name="Text 14"/>
          <p:cNvSpPr/>
          <p:nvPr/>
        </p:nvSpPr>
        <p:spPr>
          <a:xfrm>
            <a:off x="7986415" y="2164060"/>
            <a:ext cx="119241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BM Plex Sans Arabic" pitchFamily="34" charset="0"/>
                <a:ea typeface="IBM Plex Sans Arabic" pitchFamily="34" charset="-122"/>
                <a:cs typeface="IBM Plex Sans Arabic" pitchFamily="34" charset="-120"/>
              </a:rPr>
              <a:t>Confidentiality</a:t>
            </a:r>
            <a:endParaRPr lang="en-US" sz="1200" dirty="0"/>
          </a:p>
        </p:txBody>
      </p:sp>
      <p:sp>
        <p:nvSpPr>
          <p:cNvPr id="19" name="Text 15"/>
          <p:cNvSpPr/>
          <p:nvPr/>
        </p:nvSpPr>
        <p:spPr>
          <a:xfrm>
            <a:off x="9178826" y="2118320"/>
            <a:ext cx="878086" cy="330200"/>
          </a:xfrm>
          <a:prstGeom prst="rect">
            <a:avLst/>
          </a:prstGeom>
          <a:noFill/>
          <a:ln/>
        </p:spPr>
        <p:txBody>
          <a:bodyPr wrap="square" lIns="0" tIns="0" rIns="0" bIns="0" rtlCol="0" anchor="t">
            <a:normAutofit/>
          </a:bodyPr>
          <a:lstStyle/>
          <a:p>
            <a:pPr algn="r" indent="0" marL="0" rtl="1">
              <a:lnSpc>
                <a:spcPts val="2400"/>
              </a:lnSpc>
              <a:buNone/>
            </a:pPr>
            <a:r>
              <a:rPr lang="ar-SA" sz="2000" b="1" dirty="0" altLang="en-US">
                <a:solidFill>
                  <a:srgbClr val="172433"/>
                </a:solidFill>
                <a:latin typeface="Readex Pro" pitchFamily="34" charset="0"/>
                <a:ea typeface="Readex Pro" pitchFamily="34" charset="-122"/>
                <a:cs typeface="Readex Pro" pitchFamily="34" charset="-120"/>
              </a:rPr>
              <a:t>السرية</a:t>
            </a:r>
            <a:endParaRPr lang="ar-SA" sz="2000" dirty="0" altLang="en-US"/>
          </a:p>
        </p:txBody>
      </p:sp>
      <p:pic>
        <p:nvPicPr>
          <p:cNvPr id="20" name="Image 2" descr="Lock">    </p:cNvPr>
          <p:cNvPicPr>
            <a:picLocks noChangeAspect="1"/>
          </p:cNvPicPr>
          <p:nvPr/>
        </p:nvPicPr>
        <p:blipFill>
          <a:blip r:embed="rId3"/>
          <a:srcRect l="0" r="0" t="0" b="0"/>
          <a:stretch/>
        </p:blipFill>
        <p:spPr>
          <a:xfrm>
            <a:off x="10158512" y="2131020"/>
            <a:ext cx="279400" cy="279400"/>
          </a:xfrm>
          <a:prstGeom prst="rect">
            <a:avLst/>
          </a:prstGeom>
        </p:spPr>
      </p:pic>
      <p:sp>
        <p:nvSpPr>
          <p:cNvPr id="21" name="Text 16"/>
          <p:cNvSpPr/>
          <p:nvPr/>
        </p:nvSpPr>
        <p:spPr>
          <a:xfrm>
            <a:off x="8095615" y="2512020"/>
            <a:ext cx="3074035" cy="2921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172433"/>
                </a:solidFill>
                <a:latin typeface="IBM Plex Sans Arabic" pitchFamily="34" charset="0"/>
                <a:ea typeface="IBM Plex Sans Arabic" pitchFamily="34" charset="-122"/>
                <a:cs typeface="IBM Plex Sans Arabic" pitchFamily="34" charset="-120"/>
              </a:rPr>
              <a:t>لا يطّلع على المعلومة إلا المخول.</a:t>
            </a:r>
            <a:endParaRPr lang="ar-SA" sz="1400" dirty="0" altLang="en-US"/>
          </a:p>
        </p:txBody>
      </p:sp>
      <p:sp>
        <p:nvSpPr>
          <p:cNvPr id="22" name="Text 17"/>
          <p:cNvSpPr/>
          <p:nvPr/>
        </p:nvSpPr>
        <p:spPr>
          <a:xfrm>
            <a:off x="8095615" y="2867620"/>
            <a:ext cx="3074035" cy="501650"/>
          </a:xfrm>
          <a:prstGeom prst="rect">
            <a:avLst/>
          </a:prstGeom>
          <a:noFill/>
          <a:ln/>
        </p:spPr>
        <p:txBody>
          <a:bodyPr wrap="square" lIns="0" tIns="0" rIns="0" bIns="0" rtlCol="0" anchor="t">
            <a:normAutofit/>
          </a:bodyPr>
          <a:lstStyle/>
          <a:p>
            <a:pPr algn="r" indent="0" marL="0" rtl="1">
              <a:lnSpc>
                <a:spcPts val="1875"/>
              </a:lnSpc>
              <a:buNone/>
            </a:pPr>
            <a:r>
              <a:rPr lang="ar-SA" sz="1250" b="1" dirty="0" altLang="en-US">
                <a:solidFill>
                  <a:srgbClr val="4E5A66"/>
                </a:solidFill>
                <a:latin typeface="IBM Plex Sans Arabic" pitchFamily="34" charset="0"/>
                <a:ea typeface="IBM Plex Sans Arabic" pitchFamily="34" charset="-122"/>
                <a:cs typeface="IBM Plex Sans Arabic" pitchFamily="34" charset="-120"/>
              </a:rPr>
              <a:t>ما يهددها:</a:t>
            </a:r>
            <a:r>
              <a:rPr lang="ar-SA" sz="1250" dirty="0" altLang="en-US">
                <a:solidFill>
                  <a:srgbClr val="4E5A66"/>
                </a:solidFill>
                <a:latin typeface="IBM Plex Sans Arabic" pitchFamily="34" charset="0"/>
                <a:ea typeface="IBM Plex Sans Arabic" pitchFamily="34" charset="-122"/>
                <a:cs typeface="IBM Plex Sans Arabic" pitchFamily="34" charset="-120"/>
              </a:rPr>
              <a:t> تسرب ملف رواتب.</a:t>
            </a:r>
            <a:endParaRPr lang="ar-SA" sz="1250" dirty="0" altLang="en-US"/>
          </a:p>
          <a:p>
            <a:pPr algn="r" indent="0" marL="0" rtl="1">
              <a:lnSpc>
                <a:spcPts val="1875"/>
              </a:lnSpc>
              <a:buNone/>
            </a:pPr>
            <a:r>
              <a:rPr lang="ar-SA" sz="1250" b="1" dirty="0" altLang="en-US">
                <a:solidFill>
                  <a:srgbClr val="4E5A66"/>
                </a:solidFill>
                <a:latin typeface="IBM Plex Sans Arabic" pitchFamily="34" charset="0"/>
                <a:ea typeface="IBM Plex Sans Arabic" pitchFamily="34" charset="-122"/>
                <a:cs typeface="IBM Plex Sans Arabic" pitchFamily="34" charset="-120"/>
              </a:rPr>
              <a:t>ما يحميها:</a:t>
            </a:r>
            <a:r>
              <a:rPr lang="ar-SA" sz="1250" dirty="0" altLang="en-US">
                <a:solidFill>
                  <a:srgbClr val="4E5A66"/>
                </a:solidFill>
                <a:latin typeface="IBM Plex Sans Arabic" pitchFamily="34" charset="0"/>
                <a:ea typeface="IBM Plex Sans Arabic" pitchFamily="34" charset="-122"/>
                <a:cs typeface="IBM Plex Sans Arabic" pitchFamily="34" charset="-120"/>
              </a:rPr>
              <a:t> الصلاحيات والتشفير.</a:t>
            </a:r>
            <a:endParaRPr lang="ar-SA" sz="1250" dirty="0" altLang="en-US"/>
          </a:p>
        </p:txBody>
      </p:sp>
      <p:sp>
        <p:nvSpPr>
          <p:cNvPr id="23" name="Shape 18"/>
          <p:cNvSpPr/>
          <p:nvPr/>
        </p:nvSpPr>
        <p:spPr>
          <a:xfrm>
            <a:off x="812800" y="3807420"/>
            <a:ext cx="10566400" cy="561975"/>
          </a:xfrm>
          <a:prstGeom prst="roundRect">
            <a:avLst>
              <a:gd name="adj" fmla="val 18079"/>
            </a:avLst>
          </a:prstGeom>
          <a:solidFill>
            <a:srgbClr val="172433"/>
          </a:solidFill>
          <a:ln/>
        </p:spPr>
      </p:sp>
      <p:sp>
        <p:nvSpPr>
          <p:cNvPr id="24" name="Text 19"/>
          <p:cNvSpPr/>
          <p:nvPr/>
        </p:nvSpPr>
        <p:spPr>
          <a:xfrm>
            <a:off x="722630" y="3959820"/>
            <a:ext cx="10072370" cy="282575"/>
          </a:xfrm>
          <a:prstGeom prst="rect">
            <a:avLst/>
          </a:prstGeom>
          <a:noFill/>
          <a:ln/>
        </p:spPr>
        <p:txBody>
          <a:bodyPr wrap="square" lIns="0" tIns="0" rIns="0" bIns="0" rtlCol="0" anchor="t">
            <a:normAutofit/>
          </a:bodyPr>
          <a:lstStyle/>
          <a:p>
            <a:pPr algn="r" indent="0" marL="0" rtl="1">
              <a:lnSpc>
                <a:spcPts val="2025"/>
              </a:lnSpc>
              <a:buNone/>
            </a:pPr>
            <a:r>
              <a:rPr lang="ar-SA" sz="1350" dirty="0" altLang="en-US">
                <a:solidFill>
                  <a:srgbClr val="F3EFE6"/>
                </a:solidFill>
                <a:latin typeface="IBM Plex Sans Arabic" pitchFamily="34" charset="0"/>
                <a:ea typeface="IBM Plex Sans Arabic" pitchFamily="34" charset="-122"/>
                <a:cs typeface="IBM Plex Sans Arabic" pitchFamily="34" charset="-120"/>
              </a:rPr>
              <a:t>في كل خطر اسأل: أي الثلاثة يمس؟ الإجابة تحدد الضابط المناسب وحجم الأثر.</a:t>
            </a:r>
            <a:endParaRPr lang="ar-SA" sz="1350" dirty="0" altLang="en-US"/>
          </a:p>
        </p:txBody>
      </p:sp>
      <p:pic>
        <p:nvPicPr>
          <p:cNvPr id="25" name="Image 3" descr="Lightbulb">    </p:cNvPr>
          <p:cNvPicPr>
            <a:picLocks noChangeAspect="1"/>
          </p:cNvPicPr>
          <p:nvPr/>
        </p:nvPicPr>
        <p:blipFill>
          <a:blip r:embed="rId4"/>
          <a:srcRect l="0" r="0" t="0" b="0"/>
          <a:stretch/>
        </p:blipFill>
        <p:spPr>
          <a:xfrm>
            <a:off x="10922000" y="3961408"/>
            <a:ext cx="254000" cy="254000"/>
          </a:xfrm>
          <a:prstGeom prst="rect">
            <a:avLst/>
          </a:prstGeom>
        </p:spPr>
      </p:pic>
      <p:sp>
        <p:nvSpPr>
          <p:cNvPr id="26" name="Text 20"/>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11</a:t>
            </a:r>
            <a:endParaRPr lang="en-US" sz="1200" dirty="0"/>
          </a:p>
        </p:txBody>
      </p:sp>
      <p:sp>
        <p:nvSpPr>
          <p:cNvPr id="27" name="Text 21"/>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ستة مصطلحات للمخاطر، بمثال واحد</a:t>
            </a:r>
            <a:endParaRPr lang="ar-SA" sz="3000" dirty="0" altLang="en-US"/>
          </a:p>
        </p:txBody>
      </p:sp>
      <p:sp>
        <p:nvSpPr>
          <p:cNvPr id="5" name="Text 3"/>
          <p:cNvSpPr/>
          <p:nvPr/>
        </p:nvSpPr>
        <p:spPr>
          <a:xfrm>
            <a:off x="495808" y="1857970"/>
            <a:ext cx="10883392" cy="2921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4E5A66"/>
                </a:solidFill>
                <a:latin typeface="IBM Plex Sans Arabic" pitchFamily="34" charset="0"/>
                <a:ea typeface="IBM Plex Sans Arabic" pitchFamily="34" charset="-122"/>
                <a:cs typeface="IBM Plex Sans Arabic" pitchFamily="34" charset="-120"/>
              </a:rPr>
              <a:t>المثال: حاسوب محمول لموظف في المالية، عليه ملفات رواتب الموظفين.</a:t>
            </a:r>
            <a:endParaRPr lang="ar-SA" sz="1400" dirty="0" altLang="en-US"/>
          </a:p>
        </p:txBody>
      </p:sp>
      <p:sp>
        <p:nvSpPr>
          <p:cNvPr id="6" name="Shape 4"/>
          <p:cNvSpPr/>
          <p:nvPr/>
        </p:nvSpPr>
        <p:spPr>
          <a:xfrm>
            <a:off x="815975" y="2331045"/>
            <a:ext cx="3431084" cy="1128018"/>
          </a:xfrm>
          <a:prstGeom prst="roundRect">
            <a:avLst>
              <a:gd name="adj" fmla="val 8725"/>
            </a:avLst>
          </a:prstGeom>
          <a:solidFill>
            <a:srgbClr val="FFFDF8"/>
          </a:solidFill>
          <a:ln w="6350">
            <a:solidFill>
              <a:srgbClr val="E1DBCD"/>
            </a:solidFill>
            <a:prstDash val="solid"/>
          </a:ln>
        </p:spPr>
      </p:sp>
      <p:sp>
        <p:nvSpPr>
          <p:cNvPr id="7" name="Text 5"/>
          <p:cNvSpPr/>
          <p:nvPr/>
        </p:nvSpPr>
        <p:spPr>
          <a:xfrm>
            <a:off x="904876" y="2486620"/>
            <a:ext cx="3161208"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0E7C6B"/>
                </a:solidFill>
                <a:latin typeface="Readex Pro" pitchFamily="34" charset="0"/>
                <a:ea typeface="Readex Pro" pitchFamily="34" charset="-122"/>
                <a:cs typeface="Readex Pro" pitchFamily="34" charset="-120"/>
              </a:rPr>
              <a:t>الثغرة </a:t>
            </a:r>
            <a:r>
              <a:rPr lang="ar-SA" sz="1600" b="1" dirty="0" altLang="en-US">
                <a:solidFill>
                  <a:srgbClr val="6B7680"/>
                </a:solidFill>
                <a:latin typeface="Readex Pro" pitchFamily="34" charset="0"/>
                <a:ea typeface="Readex Pro" pitchFamily="34" charset="-122"/>
                <a:cs typeface="Readex Pro" pitchFamily="34" charset="-120"/>
              </a:rPr>
              <a:t>· Vulnerability</a:t>
            </a:r>
            <a:endParaRPr lang="ar-SA" sz="1600" dirty="0" altLang="en-US"/>
          </a:p>
        </p:txBody>
      </p:sp>
      <p:sp>
        <p:nvSpPr>
          <p:cNvPr id="8" name="Text 6"/>
          <p:cNvSpPr/>
          <p:nvPr/>
        </p:nvSpPr>
        <p:spPr>
          <a:xfrm>
            <a:off x="904876" y="2801541"/>
            <a:ext cx="3161208"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ضعف يسهّل الضرر.</a:t>
            </a:r>
            <a:endParaRPr lang="ar-SA" sz="1250" dirty="0" altLang="en-US"/>
          </a:p>
        </p:txBody>
      </p:sp>
      <p:sp>
        <p:nvSpPr>
          <p:cNvPr id="9" name="Text 7"/>
          <p:cNvSpPr/>
          <p:nvPr/>
        </p:nvSpPr>
        <p:spPr>
          <a:xfrm>
            <a:off x="904876" y="3082528"/>
            <a:ext cx="316120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القرص غير مشفر.</a:t>
            </a:r>
            <a:endParaRPr lang="ar-SA" sz="1200" dirty="0" altLang="en-US"/>
          </a:p>
        </p:txBody>
      </p:sp>
      <p:sp>
        <p:nvSpPr>
          <p:cNvPr id="10" name="Shape 8"/>
          <p:cNvSpPr/>
          <p:nvPr/>
        </p:nvSpPr>
        <p:spPr>
          <a:xfrm>
            <a:off x="4380409" y="2331045"/>
            <a:ext cx="3431133" cy="1128018"/>
          </a:xfrm>
          <a:prstGeom prst="roundRect">
            <a:avLst>
              <a:gd name="adj" fmla="val 8725"/>
            </a:avLst>
          </a:prstGeom>
          <a:solidFill>
            <a:srgbClr val="FFFDF8"/>
          </a:solidFill>
          <a:ln w="6350">
            <a:solidFill>
              <a:srgbClr val="E1DBCD"/>
            </a:solidFill>
            <a:prstDash val="solid"/>
          </a:ln>
        </p:spPr>
      </p:sp>
      <p:sp>
        <p:nvSpPr>
          <p:cNvPr id="11" name="Text 9"/>
          <p:cNvSpPr/>
          <p:nvPr/>
        </p:nvSpPr>
        <p:spPr>
          <a:xfrm>
            <a:off x="4469308" y="2486620"/>
            <a:ext cx="3161259"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0E7C6B"/>
                </a:solidFill>
                <a:latin typeface="Readex Pro" pitchFamily="34" charset="0"/>
                <a:ea typeface="Readex Pro" pitchFamily="34" charset="-122"/>
                <a:cs typeface="Readex Pro" pitchFamily="34" charset="-120"/>
              </a:rPr>
              <a:t>التهديد </a:t>
            </a:r>
            <a:r>
              <a:rPr lang="ar-SA" sz="1600" b="1" dirty="0" altLang="en-US">
                <a:solidFill>
                  <a:srgbClr val="6B7680"/>
                </a:solidFill>
                <a:latin typeface="Readex Pro" pitchFamily="34" charset="0"/>
                <a:ea typeface="Readex Pro" pitchFamily="34" charset="-122"/>
                <a:cs typeface="Readex Pro" pitchFamily="34" charset="-120"/>
              </a:rPr>
              <a:t>· Threat</a:t>
            </a:r>
            <a:endParaRPr lang="ar-SA" sz="1600" dirty="0" altLang="en-US"/>
          </a:p>
        </p:txBody>
      </p:sp>
      <p:sp>
        <p:nvSpPr>
          <p:cNvPr id="12" name="Text 10"/>
          <p:cNvSpPr/>
          <p:nvPr/>
        </p:nvSpPr>
        <p:spPr>
          <a:xfrm>
            <a:off x="4469308" y="2801541"/>
            <a:ext cx="3161259"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ما قد يسبب الضرر.</a:t>
            </a:r>
            <a:endParaRPr lang="ar-SA" sz="1250" dirty="0" altLang="en-US"/>
          </a:p>
        </p:txBody>
      </p:sp>
      <p:sp>
        <p:nvSpPr>
          <p:cNvPr id="13" name="Text 11"/>
          <p:cNvSpPr/>
          <p:nvPr/>
        </p:nvSpPr>
        <p:spPr>
          <a:xfrm>
            <a:off x="4469308" y="3082528"/>
            <a:ext cx="3161259"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سرقة الحاسوب من السيارة.</a:t>
            </a:r>
            <a:endParaRPr lang="ar-SA" sz="1200" dirty="0" altLang="en-US"/>
          </a:p>
        </p:txBody>
      </p:sp>
      <p:sp>
        <p:nvSpPr>
          <p:cNvPr id="14" name="Shape 12"/>
          <p:cNvSpPr/>
          <p:nvPr/>
        </p:nvSpPr>
        <p:spPr>
          <a:xfrm>
            <a:off x="7944892" y="2331045"/>
            <a:ext cx="3431133" cy="1128018"/>
          </a:xfrm>
          <a:prstGeom prst="roundRect">
            <a:avLst>
              <a:gd name="adj" fmla="val 8725"/>
            </a:avLst>
          </a:prstGeom>
          <a:solidFill>
            <a:srgbClr val="FFFDF8"/>
          </a:solidFill>
          <a:ln w="6350">
            <a:solidFill>
              <a:srgbClr val="E1DBCD"/>
            </a:solidFill>
            <a:prstDash val="solid"/>
          </a:ln>
        </p:spPr>
      </p:sp>
      <p:sp>
        <p:nvSpPr>
          <p:cNvPr id="15" name="Text 13"/>
          <p:cNvSpPr/>
          <p:nvPr/>
        </p:nvSpPr>
        <p:spPr>
          <a:xfrm>
            <a:off x="8033791" y="2486620"/>
            <a:ext cx="3161259"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0E7C6B"/>
                </a:solidFill>
                <a:latin typeface="Readex Pro" pitchFamily="34" charset="0"/>
                <a:ea typeface="Readex Pro" pitchFamily="34" charset="-122"/>
                <a:cs typeface="Readex Pro" pitchFamily="34" charset="-120"/>
              </a:rPr>
              <a:t>الأصل </a:t>
            </a:r>
            <a:r>
              <a:rPr lang="ar-SA" sz="1600" b="1" dirty="0" altLang="en-US">
                <a:solidFill>
                  <a:srgbClr val="6B7680"/>
                </a:solidFill>
                <a:latin typeface="Readex Pro" pitchFamily="34" charset="0"/>
                <a:ea typeface="Readex Pro" pitchFamily="34" charset="-122"/>
                <a:cs typeface="Readex Pro" pitchFamily="34" charset="-120"/>
              </a:rPr>
              <a:t>· Asset</a:t>
            </a:r>
            <a:endParaRPr lang="ar-SA" sz="1600" dirty="0" altLang="en-US"/>
          </a:p>
        </p:txBody>
      </p:sp>
      <p:sp>
        <p:nvSpPr>
          <p:cNvPr id="16" name="Text 14"/>
          <p:cNvSpPr/>
          <p:nvPr/>
        </p:nvSpPr>
        <p:spPr>
          <a:xfrm>
            <a:off x="8033791" y="2801541"/>
            <a:ext cx="3161259"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ما له قيمة للجهة.</a:t>
            </a:r>
            <a:endParaRPr lang="ar-SA" sz="1250" dirty="0" altLang="en-US"/>
          </a:p>
        </p:txBody>
      </p:sp>
      <p:sp>
        <p:nvSpPr>
          <p:cNvPr id="17" name="Text 15"/>
          <p:cNvSpPr/>
          <p:nvPr/>
        </p:nvSpPr>
        <p:spPr>
          <a:xfrm>
            <a:off x="8033791" y="3082528"/>
            <a:ext cx="3161259"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الحاسوب وملفات الرواتب.</a:t>
            </a:r>
            <a:endParaRPr lang="ar-SA" sz="1200" dirty="0" altLang="en-US"/>
          </a:p>
        </p:txBody>
      </p:sp>
      <p:sp>
        <p:nvSpPr>
          <p:cNvPr id="18" name="Shape 16"/>
          <p:cNvSpPr/>
          <p:nvPr/>
        </p:nvSpPr>
        <p:spPr>
          <a:xfrm>
            <a:off x="812800" y="3589238"/>
            <a:ext cx="3429000" cy="1134368"/>
          </a:xfrm>
          <a:prstGeom prst="roundRect">
            <a:avLst>
              <a:gd name="adj" fmla="val 8957"/>
            </a:avLst>
          </a:prstGeom>
          <a:solidFill>
            <a:srgbClr val="172433"/>
          </a:solidFill>
          <a:ln/>
        </p:spPr>
      </p:sp>
      <p:sp>
        <p:nvSpPr>
          <p:cNvPr id="19" name="Text 17"/>
          <p:cNvSpPr/>
          <p:nvPr/>
        </p:nvSpPr>
        <p:spPr>
          <a:xfrm>
            <a:off x="898398" y="3741638"/>
            <a:ext cx="3165602"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7FD3C3"/>
                </a:solidFill>
                <a:latin typeface="Readex Pro" pitchFamily="34" charset="0"/>
                <a:ea typeface="Readex Pro" pitchFamily="34" charset="-122"/>
                <a:cs typeface="Readex Pro" pitchFamily="34" charset="-120"/>
              </a:rPr>
              <a:t>الخطر </a:t>
            </a:r>
            <a:r>
              <a:rPr lang="ar-SA" sz="1600" b="1" dirty="0" altLang="en-US">
                <a:solidFill>
                  <a:srgbClr val="B9C4CC"/>
                </a:solidFill>
                <a:latin typeface="Readex Pro" pitchFamily="34" charset="0"/>
                <a:ea typeface="Readex Pro" pitchFamily="34" charset="-122"/>
                <a:cs typeface="Readex Pro" pitchFamily="34" charset="-120"/>
              </a:rPr>
              <a:t>· Risk</a:t>
            </a:r>
            <a:endParaRPr lang="ar-SA" sz="1600" dirty="0" altLang="en-US"/>
          </a:p>
        </p:txBody>
      </p:sp>
      <p:sp>
        <p:nvSpPr>
          <p:cNvPr id="20" name="Text 18"/>
          <p:cNvSpPr/>
          <p:nvPr/>
        </p:nvSpPr>
        <p:spPr>
          <a:xfrm>
            <a:off x="898398" y="4056559"/>
            <a:ext cx="3165602"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تهديد يستغل ثغرة في أصل.</a:t>
            </a:r>
            <a:endParaRPr lang="ar-SA" sz="1250" dirty="0" altLang="en-US"/>
          </a:p>
        </p:txBody>
      </p:sp>
      <p:sp>
        <p:nvSpPr>
          <p:cNvPr id="21" name="Text 19"/>
          <p:cNvSpPr/>
          <p:nvPr/>
        </p:nvSpPr>
        <p:spPr>
          <a:xfrm>
            <a:off x="898398" y="4337546"/>
            <a:ext cx="3165602"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B9C4CC"/>
                </a:solidFill>
                <a:latin typeface="IBM Plex Sans Arabic" pitchFamily="34" charset="0"/>
                <a:ea typeface="IBM Plex Sans Arabic" pitchFamily="34" charset="-122"/>
                <a:cs typeface="IBM Plex Sans Arabic" pitchFamily="34" charset="-120"/>
              </a:rPr>
              <a:t>«تسرب الرواتب بسرقة حاسوب غير مشفر».</a:t>
            </a:r>
            <a:endParaRPr lang="ar-SA" sz="1200" dirty="0" altLang="en-US"/>
          </a:p>
        </p:txBody>
      </p:sp>
      <p:sp>
        <p:nvSpPr>
          <p:cNvPr id="22" name="Shape 20"/>
          <p:cNvSpPr/>
          <p:nvPr/>
        </p:nvSpPr>
        <p:spPr>
          <a:xfrm>
            <a:off x="4371975" y="3592413"/>
            <a:ext cx="3435350" cy="1128018"/>
          </a:xfrm>
          <a:prstGeom prst="roundRect">
            <a:avLst>
              <a:gd name="adj" fmla="val 8725"/>
            </a:avLst>
          </a:prstGeom>
          <a:solidFill>
            <a:srgbClr val="FFFDF8"/>
          </a:solidFill>
          <a:ln w="6350">
            <a:solidFill>
              <a:srgbClr val="E1DBCD"/>
            </a:solidFill>
            <a:prstDash val="solid"/>
          </a:ln>
        </p:spPr>
      </p:sp>
      <p:sp>
        <p:nvSpPr>
          <p:cNvPr id="23" name="Text 21"/>
          <p:cNvSpPr/>
          <p:nvPr/>
        </p:nvSpPr>
        <p:spPr>
          <a:xfrm>
            <a:off x="4460748" y="3747988"/>
            <a:ext cx="3165602"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9A5F0F"/>
                </a:solidFill>
                <a:latin typeface="Readex Pro" pitchFamily="34" charset="0"/>
                <a:ea typeface="Readex Pro" pitchFamily="34" charset="-122"/>
                <a:cs typeface="Readex Pro" pitchFamily="34" charset="-120"/>
              </a:rPr>
              <a:t>الأثر </a:t>
            </a:r>
            <a:r>
              <a:rPr lang="ar-SA" sz="1600" b="1" dirty="0" altLang="en-US">
                <a:solidFill>
                  <a:srgbClr val="6B7680"/>
                </a:solidFill>
                <a:latin typeface="Readex Pro" pitchFamily="34" charset="0"/>
                <a:ea typeface="Readex Pro" pitchFamily="34" charset="-122"/>
                <a:cs typeface="Readex Pro" pitchFamily="34" charset="-120"/>
              </a:rPr>
              <a:t>· Impact</a:t>
            </a:r>
            <a:endParaRPr lang="ar-SA" sz="1600" dirty="0" altLang="en-US"/>
          </a:p>
        </p:txBody>
      </p:sp>
      <p:sp>
        <p:nvSpPr>
          <p:cNvPr id="24" name="Text 22"/>
          <p:cNvSpPr/>
          <p:nvPr/>
        </p:nvSpPr>
        <p:spPr>
          <a:xfrm>
            <a:off x="4460748" y="4062909"/>
            <a:ext cx="3165602"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حجم الضرر إن حدث.</a:t>
            </a:r>
            <a:endParaRPr lang="ar-SA" sz="1250" dirty="0" altLang="en-US"/>
          </a:p>
        </p:txBody>
      </p:sp>
      <p:sp>
        <p:nvSpPr>
          <p:cNvPr id="25" name="Text 23"/>
          <p:cNvSpPr/>
          <p:nvPr/>
        </p:nvSpPr>
        <p:spPr>
          <a:xfrm>
            <a:off x="4460748" y="4343896"/>
            <a:ext cx="3165602"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عالٍ: تسرب رواتب كل الموظفين.</a:t>
            </a:r>
            <a:endParaRPr lang="ar-SA" sz="1200" dirty="0" altLang="en-US"/>
          </a:p>
        </p:txBody>
      </p:sp>
      <p:sp>
        <p:nvSpPr>
          <p:cNvPr id="26" name="Shape 24"/>
          <p:cNvSpPr/>
          <p:nvPr/>
        </p:nvSpPr>
        <p:spPr>
          <a:xfrm>
            <a:off x="7940675" y="3592413"/>
            <a:ext cx="3435350" cy="1128018"/>
          </a:xfrm>
          <a:prstGeom prst="roundRect">
            <a:avLst>
              <a:gd name="adj" fmla="val 8725"/>
            </a:avLst>
          </a:prstGeom>
          <a:solidFill>
            <a:srgbClr val="FFFDF8"/>
          </a:solidFill>
          <a:ln w="6350">
            <a:solidFill>
              <a:srgbClr val="E1DBCD"/>
            </a:solidFill>
            <a:prstDash val="solid"/>
          </a:ln>
        </p:spPr>
      </p:sp>
      <p:sp>
        <p:nvSpPr>
          <p:cNvPr id="27" name="Text 25"/>
          <p:cNvSpPr/>
          <p:nvPr/>
        </p:nvSpPr>
        <p:spPr>
          <a:xfrm>
            <a:off x="8029448" y="3747988"/>
            <a:ext cx="3165602"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9A5F0F"/>
                </a:solidFill>
                <a:latin typeface="Readex Pro" pitchFamily="34" charset="0"/>
                <a:ea typeface="Readex Pro" pitchFamily="34" charset="-122"/>
                <a:cs typeface="Readex Pro" pitchFamily="34" charset="-120"/>
              </a:rPr>
              <a:t>الاحتمال </a:t>
            </a:r>
            <a:r>
              <a:rPr lang="ar-SA" sz="1600" b="1" dirty="0" altLang="en-US">
                <a:solidFill>
                  <a:srgbClr val="6B7680"/>
                </a:solidFill>
                <a:latin typeface="Readex Pro" pitchFamily="34" charset="0"/>
                <a:ea typeface="Readex Pro" pitchFamily="34" charset="-122"/>
                <a:cs typeface="Readex Pro" pitchFamily="34" charset="-120"/>
              </a:rPr>
              <a:t>· Likelihood</a:t>
            </a:r>
            <a:endParaRPr lang="ar-SA" sz="1600" dirty="0" altLang="en-US"/>
          </a:p>
        </p:txBody>
      </p:sp>
      <p:sp>
        <p:nvSpPr>
          <p:cNvPr id="28" name="Text 26"/>
          <p:cNvSpPr/>
          <p:nvPr/>
        </p:nvSpPr>
        <p:spPr>
          <a:xfrm>
            <a:off x="8029448" y="4062909"/>
            <a:ext cx="3165602"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فرصة حدوث الضرر.</a:t>
            </a:r>
            <a:endParaRPr lang="ar-SA" sz="1250" dirty="0" altLang="en-US"/>
          </a:p>
        </p:txBody>
      </p:sp>
      <p:sp>
        <p:nvSpPr>
          <p:cNvPr id="29" name="Text 27"/>
          <p:cNvSpPr/>
          <p:nvPr/>
        </p:nvSpPr>
        <p:spPr>
          <a:xfrm>
            <a:off x="8029448" y="4343896"/>
            <a:ext cx="3165602"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متوسط: الموظف يتنقل كثيراً.</a:t>
            </a:r>
            <a:endParaRPr lang="ar-SA" sz="1200" dirty="0" altLang="en-US"/>
          </a:p>
        </p:txBody>
      </p:sp>
      <p:sp>
        <p:nvSpPr>
          <p:cNvPr id="30" name="Text 28"/>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12</a:t>
            </a:r>
            <a:endParaRPr lang="en-US" sz="1200" dirty="0"/>
          </a:p>
        </p:txBody>
      </p:sp>
      <p:sp>
        <p:nvSpPr>
          <p:cNvPr id="31" name="Text 29"/>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مصفوفة المخاطر: الاحتمال × الأثر</a:t>
            </a:r>
            <a:endParaRPr lang="ar-SA" sz="3000" dirty="0" altLang="en-US"/>
          </a:p>
        </p:txBody>
      </p:sp>
      <p:sp>
        <p:nvSpPr>
          <p:cNvPr id="5" name="Text 3"/>
          <p:cNvSpPr/>
          <p:nvPr/>
        </p:nvSpPr>
        <p:spPr>
          <a:xfrm>
            <a:off x="812800" y="1857970"/>
            <a:ext cx="584200" cy="533400"/>
          </a:xfrm>
          <a:prstGeom prst="roundRect">
            <a:avLst>
              <a:gd name="adj" fmla="val 7143"/>
            </a:avLst>
          </a:prstGeom>
          <a:solidFill>
            <a:srgbClr val="B8432F"/>
          </a:solidFill>
          <a:ln/>
        </p:spPr>
        <p:txBody>
          <a:bodyPr wrap="square" lIns="0" tIns="0" rIns="0" bIns="0" rtlCol="0" anchor="ctr">
            <a:normAutofit/>
          </a:bodyPr>
          <a:lstStyle/>
          <a:p>
            <a:pPr algn="ctr" indent="0" marL="0">
              <a:lnSpc>
                <a:spcPts val="1300"/>
              </a:lnSpc>
              <a:buNone/>
            </a:pPr>
            <a:r>
              <a:rPr lang="en-US" sz="1300" b="1" dirty="0">
                <a:solidFill>
                  <a:srgbClr val="FBF8F1"/>
                </a:solidFill>
                <a:latin typeface="IBM Plex Sans Arabic" pitchFamily="34" charset="0"/>
                <a:ea typeface="IBM Plex Sans Arabic" pitchFamily="34" charset="-122"/>
                <a:cs typeface="IBM Plex Sans Arabic" pitchFamily="34" charset="-120"/>
              </a:rPr>
              <a:t>25</a:t>
            </a:r>
            <a:endParaRPr lang="en-US" sz="1300" dirty="0"/>
          </a:p>
        </p:txBody>
      </p:sp>
      <p:sp>
        <p:nvSpPr>
          <p:cNvPr id="6" name="Text 4"/>
          <p:cNvSpPr/>
          <p:nvPr/>
        </p:nvSpPr>
        <p:spPr>
          <a:xfrm>
            <a:off x="1435100" y="1857970"/>
            <a:ext cx="584200" cy="533400"/>
          </a:xfrm>
          <a:prstGeom prst="roundRect">
            <a:avLst>
              <a:gd name="adj" fmla="val 7143"/>
            </a:avLst>
          </a:prstGeom>
          <a:solidFill>
            <a:srgbClr val="B8432F"/>
          </a:solidFill>
          <a:ln/>
        </p:spPr>
        <p:txBody>
          <a:bodyPr wrap="square" lIns="0" tIns="0" rIns="0" bIns="0" rtlCol="0" anchor="ctr">
            <a:normAutofit/>
          </a:bodyPr>
          <a:lstStyle/>
          <a:p>
            <a:pPr algn="ctr" indent="0" marL="0">
              <a:lnSpc>
                <a:spcPts val="1300"/>
              </a:lnSpc>
              <a:buNone/>
            </a:pPr>
            <a:r>
              <a:rPr lang="en-US" sz="1300" b="1" dirty="0">
                <a:solidFill>
                  <a:srgbClr val="FBF8F1"/>
                </a:solidFill>
                <a:latin typeface="IBM Plex Sans Arabic" pitchFamily="34" charset="0"/>
                <a:ea typeface="IBM Plex Sans Arabic" pitchFamily="34" charset="-122"/>
                <a:cs typeface="IBM Plex Sans Arabic" pitchFamily="34" charset="-120"/>
              </a:rPr>
              <a:t>20</a:t>
            </a:r>
            <a:endParaRPr lang="en-US" sz="1300" dirty="0"/>
          </a:p>
        </p:txBody>
      </p:sp>
      <p:sp>
        <p:nvSpPr>
          <p:cNvPr id="7" name="Text 5"/>
          <p:cNvSpPr/>
          <p:nvPr/>
        </p:nvSpPr>
        <p:spPr>
          <a:xfrm>
            <a:off x="2057400" y="1857970"/>
            <a:ext cx="584200" cy="533400"/>
          </a:xfrm>
          <a:prstGeom prst="roundRect">
            <a:avLst>
              <a:gd name="adj" fmla="val 7143"/>
            </a:avLst>
          </a:prstGeom>
          <a:solidFill>
            <a:srgbClr val="E9A56B"/>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15</a:t>
            </a:r>
            <a:endParaRPr lang="en-US" sz="1300" dirty="0"/>
          </a:p>
        </p:txBody>
      </p:sp>
      <p:sp>
        <p:nvSpPr>
          <p:cNvPr id="8" name="Text 6"/>
          <p:cNvSpPr/>
          <p:nvPr/>
        </p:nvSpPr>
        <p:spPr>
          <a:xfrm>
            <a:off x="2679700" y="1857970"/>
            <a:ext cx="584200" cy="533400"/>
          </a:xfrm>
          <a:prstGeom prst="roundRect">
            <a:avLst>
              <a:gd name="adj" fmla="val 7143"/>
            </a:avLst>
          </a:prstGeom>
          <a:solidFill>
            <a:srgbClr val="E9A56B"/>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10</a:t>
            </a:r>
            <a:endParaRPr lang="en-US" sz="1300" dirty="0"/>
          </a:p>
        </p:txBody>
      </p:sp>
      <p:sp>
        <p:nvSpPr>
          <p:cNvPr id="9" name="Text 7"/>
          <p:cNvSpPr/>
          <p:nvPr/>
        </p:nvSpPr>
        <p:spPr>
          <a:xfrm>
            <a:off x="3302000" y="1857970"/>
            <a:ext cx="584200" cy="533400"/>
          </a:xfrm>
          <a:prstGeom prst="roundRect">
            <a:avLst>
              <a:gd name="adj" fmla="val 7143"/>
            </a:avLst>
          </a:prstGeom>
          <a:solidFill>
            <a:srgbClr val="F4DEAA"/>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5</a:t>
            </a:r>
            <a:endParaRPr lang="en-US" sz="1300" dirty="0"/>
          </a:p>
        </p:txBody>
      </p:sp>
      <p:sp>
        <p:nvSpPr>
          <p:cNvPr id="10" name="Text 8"/>
          <p:cNvSpPr/>
          <p:nvPr/>
        </p:nvSpPr>
        <p:spPr>
          <a:xfrm>
            <a:off x="3898900" y="2048470"/>
            <a:ext cx="228600"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4E5A66"/>
                </a:solidFill>
                <a:latin typeface="IBM Plex Sans Arabic" pitchFamily="34" charset="0"/>
                <a:ea typeface="IBM Plex Sans Arabic" pitchFamily="34" charset="-122"/>
                <a:cs typeface="IBM Plex Sans Arabic" pitchFamily="34" charset="-120"/>
              </a:rPr>
              <a:t>5</a:t>
            </a:r>
            <a:endParaRPr lang="en-US" sz="1200" dirty="0"/>
          </a:p>
        </p:txBody>
      </p:sp>
      <p:sp>
        <p:nvSpPr>
          <p:cNvPr id="11" name="Text 9"/>
          <p:cNvSpPr/>
          <p:nvPr/>
        </p:nvSpPr>
        <p:spPr>
          <a:xfrm>
            <a:off x="812800" y="2429470"/>
            <a:ext cx="584200" cy="533400"/>
          </a:xfrm>
          <a:prstGeom prst="roundRect">
            <a:avLst>
              <a:gd name="adj" fmla="val 7143"/>
            </a:avLst>
          </a:prstGeom>
          <a:solidFill>
            <a:srgbClr val="B8432F"/>
          </a:solidFill>
          <a:ln/>
        </p:spPr>
        <p:txBody>
          <a:bodyPr wrap="square" lIns="0" tIns="0" rIns="0" bIns="0" rtlCol="0" anchor="ctr">
            <a:normAutofit/>
          </a:bodyPr>
          <a:lstStyle/>
          <a:p>
            <a:pPr algn="ctr" indent="0" marL="0">
              <a:lnSpc>
                <a:spcPts val="1300"/>
              </a:lnSpc>
              <a:buNone/>
            </a:pPr>
            <a:r>
              <a:rPr lang="en-US" sz="1300" b="1" dirty="0">
                <a:solidFill>
                  <a:srgbClr val="FBF8F1"/>
                </a:solidFill>
                <a:latin typeface="IBM Plex Sans Arabic" pitchFamily="34" charset="0"/>
                <a:ea typeface="IBM Plex Sans Arabic" pitchFamily="34" charset="-122"/>
                <a:cs typeface="IBM Plex Sans Arabic" pitchFamily="34" charset="-120"/>
              </a:rPr>
              <a:t>20</a:t>
            </a:r>
            <a:endParaRPr lang="en-US" sz="1300" dirty="0"/>
          </a:p>
        </p:txBody>
      </p:sp>
      <p:sp>
        <p:nvSpPr>
          <p:cNvPr id="12" name="Text 10"/>
          <p:cNvSpPr/>
          <p:nvPr/>
        </p:nvSpPr>
        <p:spPr>
          <a:xfrm>
            <a:off x="1435100" y="2429470"/>
            <a:ext cx="584200" cy="533400"/>
          </a:xfrm>
          <a:prstGeom prst="roundRect">
            <a:avLst>
              <a:gd name="adj" fmla="val 7143"/>
            </a:avLst>
          </a:prstGeom>
          <a:solidFill>
            <a:srgbClr val="E9A56B"/>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16</a:t>
            </a:r>
            <a:endParaRPr lang="en-US" sz="1300" dirty="0"/>
          </a:p>
        </p:txBody>
      </p:sp>
      <p:sp>
        <p:nvSpPr>
          <p:cNvPr id="13" name="Text 11"/>
          <p:cNvSpPr/>
          <p:nvPr/>
        </p:nvSpPr>
        <p:spPr>
          <a:xfrm>
            <a:off x="2070100" y="2442170"/>
            <a:ext cx="558800" cy="508000"/>
          </a:xfrm>
          <a:prstGeom prst="roundRect">
            <a:avLst>
              <a:gd name="adj" fmla="val 5000"/>
            </a:avLst>
          </a:prstGeom>
          <a:solidFill>
            <a:srgbClr val="E9A56B"/>
          </a:solidFill>
          <a:ln w="25400">
            <a:solidFill>
              <a:srgbClr val="172433"/>
            </a:solidFill>
            <a:prstDash val="solid"/>
          </a:ln>
        </p:spPr>
        <p:txBody>
          <a:bodyPr wrap="square" lIns="5261" tIns="5261" rIns="5261" bIns="5261"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12</a:t>
            </a:r>
            <a:endParaRPr lang="en-US" sz="1300" dirty="0"/>
          </a:p>
        </p:txBody>
      </p:sp>
      <p:sp>
        <p:nvSpPr>
          <p:cNvPr id="14" name="Text 12"/>
          <p:cNvSpPr/>
          <p:nvPr/>
        </p:nvSpPr>
        <p:spPr>
          <a:xfrm>
            <a:off x="2679700" y="2429470"/>
            <a:ext cx="584200" cy="533400"/>
          </a:xfrm>
          <a:prstGeom prst="roundRect">
            <a:avLst>
              <a:gd name="adj" fmla="val 7143"/>
            </a:avLst>
          </a:prstGeom>
          <a:solidFill>
            <a:srgbClr val="F4DEAA"/>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8</a:t>
            </a:r>
            <a:endParaRPr lang="en-US" sz="1300" dirty="0"/>
          </a:p>
        </p:txBody>
      </p:sp>
      <p:sp>
        <p:nvSpPr>
          <p:cNvPr id="15" name="Text 13"/>
          <p:cNvSpPr/>
          <p:nvPr/>
        </p:nvSpPr>
        <p:spPr>
          <a:xfrm>
            <a:off x="3302000" y="2429470"/>
            <a:ext cx="584200" cy="533400"/>
          </a:xfrm>
          <a:prstGeom prst="roundRect">
            <a:avLst>
              <a:gd name="adj" fmla="val 7143"/>
            </a:avLst>
          </a:prstGeom>
          <a:solidFill>
            <a:srgbClr val="D7ECE2"/>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4</a:t>
            </a:r>
            <a:endParaRPr lang="en-US" sz="1300" dirty="0"/>
          </a:p>
        </p:txBody>
      </p:sp>
      <p:sp>
        <p:nvSpPr>
          <p:cNvPr id="16" name="Text 14"/>
          <p:cNvSpPr/>
          <p:nvPr/>
        </p:nvSpPr>
        <p:spPr>
          <a:xfrm>
            <a:off x="3898900" y="2619970"/>
            <a:ext cx="228600"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4E5A66"/>
                </a:solidFill>
                <a:latin typeface="IBM Plex Sans Arabic" pitchFamily="34" charset="0"/>
                <a:ea typeface="IBM Plex Sans Arabic" pitchFamily="34" charset="-122"/>
                <a:cs typeface="IBM Plex Sans Arabic" pitchFamily="34" charset="-120"/>
              </a:rPr>
              <a:t>4</a:t>
            </a:r>
            <a:endParaRPr lang="en-US" sz="1200" dirty="0"/>
          </a:p>
        </p:txBody>
      </p:sp>
      <p:sp>
        <p:nvSpPr>
          <p:cNvPr id="17" name="Text 15"/>
          <p:cNvSpPr/>
          <p:nvPr/>
        </p:nvSpPr>
        <p:spPr>
          <a:xfrm>
            <a:off x="812800" y="3000970"/>
            <a:ext cx="584200" cy="533400"/>
          </a:xfrm>
          <a:prstGeom prst="roundRect">
            <a:avLst>
              <a:gd name="adj" fmla="val 7143"/>
            </a:avLst>
          </a:prstGeom>
          <a:solidFill>
            <a:srgbClr val="E9A56B"/>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15</a:t>
            </a:r>
            <a:endParaRPr lang="en-US" sz="1300" dirty="0"/>
          </a:p>
        </p:txBody>
      </p:sp>
      <p:sp>
        <p:nvSpPr>
          <p:cNvPr id="18" name="Text 16"/>
          <p:cNvSpPr/>
          <p:nvPr/>
        </p:nvSpPr>
        <p:spPr>
          <a:xfrm>
            <a:off x="1435100" y="3000970"/>
            <a:ext cx="584200" cy="533400"/>
          </a:xfrm>
          <a:prstGeom prst="roundRect">
            <a:avLst>
              <a:gd name="adj" fmla="val 7143"/>
            </a:avLst>
          </a:prstGeom>
          <a:solidFill>
            <a:srgbClr val="E9A56B"/>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12</a:t>
            </a:r>
            <a:endParaRPr lang="en-US" sz="1300" dirty="0"/>
          </a:p>
        </p:txBody>
      </p:sp>
      <p:sp>
        <p:nvSpPr>
          <p:cNvPr id="19" name="Text 17"/>
          <p:cNvSpPr/>
          <p:nvPr/>
        </p:nvSpPr>
        <p:spPr>
          <a:xfrm>
            <a:off x="2057400" y="3000970"/>
            <a:ext cx="584200" cy="533400"/>
          </a:xfrm>
          <a:prstGeom prst="roundRect">
            <a:avLst>
              <a:gd name="adj" fmla="val 7143"/>
            </a:avLst>
          </a:prstGeom>
          <a:solidFill>
            <a:srgbClr val="F4DEAA"/>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9</a:t>
            </a:r>
            <a:endParaRPr lang="en-US" sz="1300" dirty="0"/>
          </a:p>
        </p:txBody>
      </p:sp>
      <p:sp>
        <p:nvSpPr>
          <p:cNvPr id="20" name="Text 18"/>
          <p:cNvSpPr/>
          <p:nvPr/>
        </p:nvSpPr>
        <p:spPr>
          <a:xfrm>
            <a:off x="2679700" y="3000970"/>
            <a:ext cx="584200" cy="533400"/>
          </a:xfrm>
          <a:prstGeom prst="roundRect">
            <a:avLst>
              <a:gd name="adj" fmla="val 7143"/>
            </a:avLst>
          </a:prstGeom>
          <a:solidFill>
            <a:srgbClr val="F4DEAA"/>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6</a:t>
            </a:r>
            <a:endParaRPr lang="en-US" sz="1300" dirty="0"/>
          </a:p>
        </p:txBody>
      </p:sp>
      <p:sp>
        <p:nvSpPr>
          <p:cNvPr id="21" name="Text 19"/>
          <p:cNvSpPr/>
          <p:nvPr/>
        </p:nvSpPr>
        <p:spPr>
          <a:xfrm>
            <a:off x="3302000" y="3000970"/>
            <a:ext cx="584200" cy="533400"/>
          </a:xfrm>
          <a:prstGeom prst="roundRect">
            <a:avLst>
              <a:gd name="adj" fmla="val 7143"/>
            </a:avLst>
          </a:prstGeom>
          <a:solidFill>
            <a:srgbClr val="D7ECE2"/>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3</a:t>
            </a:r>
            <a:endParaRPr lang="en-US" sz="1300" dirty="0"/>
          </a:p>
        </p:txBody>
      </p:sp>
      <p:sp>
        <p:nvSpPr>
          <p:cNvPr id="22" name="Text 20"/>
          <p:cNvSpPr/>
          <p:nvPr/>
        </p:nvSpPr>
        <p:spPr>
          <a:xfrm>
            <a:off x="3898900" y="3191470"/>
            <a:ext cx="228600"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4E5A66"/>
                </a:solidFill>
                <a:latin typeface="IBM Plex Sans Arabic" pitchFamily="34" charset="0"/>
                <a:ea typeface="IBM Plex Sans Arabic" pitchFamily="34" charset="-122"/>
                <a:cs typeface="IBM Plex Sans Arabic" pitchFamily="34" charset="-120"/>
              </a:rPr>
              <a:t>3</a:t>
            </a:r>
            <a:endParaRPr lang="en-US" sz="1200" dirty="0"/>
          </a:p>
        </p:txBody>
      </p:sp>
      <p:sp>
        <p:nvSpPr>
          <p:cNvPr id="23" name="Text 21"/>
          <p:cNvSpPr/>
          <p:nvPr/>
        </p:nvSpPr>
        <p:spPr>
          <a:xfrm>
            <a:off x="812800" y="3572470"/>
            <a:ext cx="584200" cy="533400"/>
          </a:xfrm>
          <a:prstGeom prst="roundRect">
            <a:avLst>
              <a:gd name="adj" fmla="val 7143"/>
            </a:avLst>
          </a:prstGeom>
          <a:solidFill>
            <a:srgbClr val="E9A56B"/>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10</a:t>
            </a:r>
            <a:endParaRPr lang="en-US" sz="1300" dirty="0"/>
          </a:p>
        </p:txBody>
      </p:sp>
      <p:sp>
        <p:nvSpPr>
          <p:cNvPr id="24" name="Text 22"/>
          <p:cNvSpPr/>
          <p:nvPr/>
        </p:nvSpPr>
        <p:spPr>
          <a:xfrm>
            <a:off x="1435100" y="3572470"/>
            <a:ext cx="584200" cy="533400"/>
          </a:xfrm>
          <a:prstGeom prst="roundRect">
            <a:avLst>
              <a:gd name="adj" fmla="val 7143"/>
            </a:avLst>
          </a:prstGeom>
          <a:solidFill>
            <a:srgbClr val="F4DEAA"/>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8</a:t>
            </a:r>
            <a:endParaRPr lang="en-US" sz="1300" dirty="0"/>
          </a:p>
        </p:txBody>
      </p:sp>
      <p:sp>
        <p:nvSpPr>
          <p:cNvPr id="25" name="Text 23"/>
          <p:cNvSpPr/>
          <p:nvPr/>
        </p:nvSpPr>
        <p:spPr>
          <a:xfrm>
            <a:off x="2057400" y="3572470"/>
            <a:ext cx="584200" cy="533400"/>
          </a:xfrm>
          <a:prstGeom prst="roundRect">
            <a:avLst>
              <a:gd name="adj" fmla="val 7143"/>
            </a:avLst>
          </a:prstGeom>
          <a:solidFill>
            <a:srgbClr val="F4DEAA"/>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6</a:t>
            </a:r>
            <a:endParaRPr lang="en-US" sz="1300" dirty="0"/>
          </a:p>
        </p:txBody>
      </p:sp>
      <p:sp>
        <p:nvSpPr>
          <p:cNvPr id="26" name="Text 24"/>
          <p:cNvSpPr/>
          <p:nvPr/>
        </p:nvSpPr>
        <p:spPr>
          <a:xfrm>
            <a:off x="2679700" y="3572470"/>
            <a:ext cx="584200" cy="533400"/>
          </a:xfrm>
          <a:prstGeom prst="roundRect">
            <a:avLst>
              <a:gd name="adj" fmla="val 7143"/>
            </a:avLst>
          </a:prstGeom>
          <a:solidFill>
            <a:srgbClr val="D7ECE2"/>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4</a:t>
            </a:r>
            <a:endParaRPr lang="en-US" sz="1300" dirty="0"/>
          </a:p>
        </p:txBody>
      </p:sp>
      <p:sp>
        <p:nvSpPr>
          <p:cNvPr id="27" name="Text 25"/>
          <p:cNvSpPr/>
          <p:nvPr/>
        </p:nvSpPr>
        <p:spPr>
          <a:xfrm>
            <a:off x="3302000" y="3572470"/>
            <a:ext cx="584200" cy="533400"/>
          </a:xfrm>
          <a:prstGeom prst="roundRect">
            <a:avLst>
              <a:gd name="adj" fmla="val 7143"/>
            </a:avLst>
          </a:prstGeom>
          <a:solidFill>
            <a:srgbClr val="D7ECE2"/>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2</a:t>
            </a:r>
            <a:endParaRPr lang="en-US" sz="1300" dirty="0"/>
          </a:p>
        </p:txBody>
      </p:sp>
      <p:sp>
        <p:nvSpPr>
          <p:cNvPr id="28" name="Text 26"/>
          <p:cNvSpPr/>
          <p:nvPr/>
        </p:nvSpPr>
        <p:spPr>
          <a:xfrm>
            <a:off x="3898900" y="3762970"/>
            <a:ext cx="228600"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4E5A66"/>
                </a:solidFill>
                <a:latin typeface="IBM Plex Sans Arabic" pitchFamily="34" charset="0"/>
                <a:ea typeface="IBM Plex Sans Arabic" pitchFamily="34" charset="-122"/>
                <a:cs typeface="IBM Plex Sans Arabic" pitchFamily="34" charset="-120"/>
              </a:rPr>
              <a:t>2</a:t>
            </a:r>
            <a:endParaRPr lang="en-US" sz="1200" dirty="0"/>
          </a:p>
        </p:txBody>
      </p:sp>
      <p:sp>
        <p:nvSpPr>
          <p:cNvPr id="29" name="Text 27"/>
          <p:cNvSpPr/>
          <p:nvPr/>
        </p:nvSpPr>
        <p:spPr>
          <a:xfrm>
            <a:off x="812800" y="4143970"/>
            <a:ext cx="584200" cy="533400"/>
          </a:xfrm>
          <a:prstGeom prst="roundRect">
            <a:avLst>
              <a:gd name="adj" fmla="val 7143"/>
            </a:avLst>
          </a:prstGeom>
          <a:solidFill>
            <a:srgbClr val="F4DEAA"/>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5</a:t>
            </a:r>
            <a:endParaRPr lang="en-US" sz="1300" dirty="0"/>
          </a:p>
        </p:txBody>
      </p:sp>
      <p:sp>
        <p:nvSpPr>
          <p:cNvPr id="30" name="Text 28"/>
          <p:cNvSpPr/>
          <p:nvPr/>
        </p:nvSpPr>
        <p:spPr>
          <a:xfrm>
            <a:off x="1435100" y="4143970"/>
            <a:ext cx="584200" cy="533400"/>
          </a:xfrm>
          <a:prstGeom prst="roundRect">
            <a:avLst>
              <a:gd name="adj" fmla="val 7143"/>
            </a:avLst>
          </a:prstGeom>
          <a:solidFill>
            <a:srgbClr val="D7ECE2"/>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4</a:t>
            </a:r>
            <a:endParaRPr lang="en-US" sz="1300" dirty="0"/>
          </a:p>
        </p:txBody>
      </p:sp>
      <p:sp>
        <p:nvSpPr>
          <p:cNvPr id="31" name="Text 29"/>
          <p:cNvSpPr/>
          <p:nvPr/>
        </p:nvSpPr>
        <p:spPr>
          <a:xfrm>
            <a:off x="2057400" y="4143970"/>
            <a:ext cx="584200" cy="533400"/>
          </a:xfrm>
          <a:prstGeom prst="roundRect">
            <a:avLst>
              <a:gd name="adj" fmla="val 7143"/>
            </a:avLst>
          </a:prstGeom>
          <a:solidFill>
            <a:srgbClr val="D7ECE2"/>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3</a:t>
            </a:r>
            <a:endParaRPr lang="en-US" sz="1300" dirty="0"/>
          </a:p>
        </p:txBody>
      </p:sp>
      <p:sp>
        <p:nvSpPr>
          <p:cNvPr id="32" name="Text 30"/>
          <p:cNvSpPr/>
          <p:nvPr/>
        </p:nvSpPr>
        <p:spPr>
          <a:xfrm>
            <a:off x="2679700" y="4143970"/>
            <a:ext cx="584200" cy="533400"/>
          </a:xfrm>
          <a:prstGeom prst="roundRect">
            <a:avLst>
              <a:gd name="adj" fmla="val 7143"/>
            </a:avLst>
          </a:prstGeom>
          <a:solidFill>
            <a:srgbClr val="D7ECE2"/>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2</a:t>
            </a:r>
            <a:endParaRPr lang="en-US" sz="1300" dirty="0"/>
          </a:p>
        </p:txBody>
      </p:sp>
      <p:sp>
        <p:nvSpPr>
          <p:cNvPr id="33" name="Text 31"/>
          <p:cNvSpPr/>
          <p:nvPr/>
        </p:nvSpPr>
        <p:spPr>
          <a:xfrm>
            <a:off x="3302000" y="4143970"/>
            <a:ext cx="584200" cy="533400"/>
          </a:xfrm>
          <a:prstGeom prst="roundRect">
            <a:avLst>
              <a:gd name="adj" fmla="val 7143"/>
            </a:avLst>
          </a:prstGeom>
          <a:solidFill>
            <a:srgbClr val="D7ECE2"/>
          </a:solidFill>
          <a:ln/>
        </p:spPr>
        <p:txBody>
          <a:bodyPr wrap="square" lIns="0" tIns="0" rIns="0" bIns="0" rtlCol="0" anchor="ctr">
            <a:normAutofit/>
          </a:bodyPr>
          <a:lstStyle/>
          <a:p>
            <a:pPr algn="ctr" indent="0" marL="0">
              <a:lnSpc>
                <a:spcPts val="1300"/>
              </a:lnSpc>
              <a:buNone/>
            </a:pPr>
            <a:r>
              <a:rPr lang="en-US" sz="1300" b="1" dirty="0">
                <a:solidFill>
                  <a:srgbClr val="172433"/>
                </a:solidFill>
                <a:latin typeface="IBM Plex Sans Arabic" pitchFamily="34" charset="0"/>
                <a:ea typeface="IBM Plex Sans Arabic" pitchFamily="34" charset="-122"/>
                <a:cs typeface="IBM Plex Sans Arabic" pitchFamily="34" charset="-120"/>
              </a:rPr>
              <a:t>1</a:t>
            </a:r>
            <a:endParaRPr lang="en-US" sz="1300" dirty="0"/>
          </a:p>
        </p:txBody>
      </p:sp>
      <p:sp>
        <p:nvSpPr>
          <p:cNvPr id="34" name="Text 32"/>
          <p:cNvSpPr/>
          <p:nvPr/>
        </p:nvSpPr>
        <p:spPr>
          <a:xfrm>
            <a:off x="3898900" y="4334470"/>
            <a:ext cx="228600"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4E5A66"/>
                </a:solidFill>
                <a:latin typeface="IBM Plex Sans Arabic" pitchFamily="34" charset="0"/>
                <a:ea typeface="IBM Plex Sans Arabic" pitchFamily="34" charset="-122"/>
                <a:cs typeface="IBM Plex Sans Arabic" pitchFamily="34" charset="-120"/>
              </a:rPr>
              <a:t>1</a:t>
            </a:r>
            <a:endParaRPr lang="en-US" sz="1200" dirty="0"/>
          </a:p>
        </p:txBody>
      </p:sp>
      <p:sp>
        <p:nvSpPr>
          <p:cNvPr id="35" name="Text 33"/>
          <p:cNvSpPr/>
          <p:nvPr/>
        </p:nvSpPr>
        <p:spPr>
          <a:xfrm>
            <a:off x="787400" y="4715470"/>
            <a:ext cx="635000"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4E5A66"/>
                </a:solidFill>
                <a:latin typeface="IBM Plex Sans Arabic" pitchFamily="34" charset="0"/>
                <a:ea typeface="IBM Plex Sans Arabic" pitchFamily="34" charset="-122"/>
                <a:cs typeface="IBM Plex Sans Arabic" pitchFamily="34" charset="-120"/>
              </a:rPr>
              <a:t>5</a:t>
            </a:r>
            <a:endParaRPr lang="en-US" sz="1200" dirty="0"/>
          </a:p>
        </p:txBody>
      </p:sp>
      <p:sp>
        <p:nvSpPr>
          <p:cNvPr id="36" name="Text 34"/>
          <p:cNvSpPr/>
          <p:nvPr/>
        </p:nvSpPr>
        <p:spPr>
          <a:xfrm>
            <a:off x="1409700" y="4715470"/>
            <a:ext cx="635000"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4E5A66"/>
                </a:solidFill>
                <a:latin typeface="IBM Plex Sans Arabic" pitchFamily="34" charset="0"/>
                <a:ea typeface="IBM Plex Sans Arabic" pitchFamily="34" charset="-122"/>
                <a:cs typeface="IBM Plex Sans Arabic" pitchFamily="34" charset="-120"/>
              </a:rPr>
              <a:t>4</a:t>
            </a:r>
            <a:endParaRPr lang="en-US" sz="1200" dirty="0"/>
          </a:p>
        </p:txBody>
      </p:sp>
      <p:sp>
        <p:nvSpPr>
          <p:cNvPr id="37" name="Text 35"/>
          <p:cNvSpPr/>
          <p:nvPr/>
        </p:nvSpPr>
        <p:spPr>
          <a:xfrm>
            <a:off x="2032000" y="4715470"/>
            <a:ext cx="635000"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4E5A66"/>
                </a:solidFill>
                <a:latin typeface="IBM Plex Sans Arabic" pitchFamily="34" charset="0"/>
                <a:ea typeface="IBM Plex Sans Arabic" pitchFamily="34" charset="-122"/>
                <a:cs typeface="IBM Plex Sans Arabic" pitchFamily="34" charset="-120"/>
              </a:rPr>
              <a:t>3</a:t>
            </a:r>
            <a:endParaRPr lang="en-US" sz="1200" dirty="0"/>
          </a:p>
        </p:txBody>
      </p:sp>
      <p:sp>
        <p:nvSpPr>
          <p:cNvPr id="38" name="Text 36"/>
          <p:cNvSpPr/>
          <p:nvPr/>
        </p:nvSpPr>
        <p:spPr>
          <a:xfrm>
            <a:off x="2654300" y="4715470"/>
            <a:ext cx="635000"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4E5A66"/>
                </a:solidFill>
                <a:latin typeface="IBM Plex Sans Arabic" pitchFamily="34" charset="0"/>
                <a:ea typeface="IBM Plex Sans Arabic" pitchFamily="34" charset="-122"/>
                <a:cs typeface="IBM Plex Sans Arabic" pitchFamily="34" charset="-120"/>
              </a:rPr>
              <a:t>2</a:t>
            </a:r>
            <a:endParaRPr lang="en-US" sz="1200" dirty="0"/>
          </a:p>
        </p:txBody>
      </p:sp>
      <p:sp>
        <p:nvSpPr>
          <p:cNvPr id="39" name="Text 37"/>
          <p:cNvSpPr/>
          <p:nvPr/>
        </p:nvSpPr>
        <p:spPr>
          <a:xfrm>
            <a:off x="3276600" y="4715470"/>
            <a:ext cx="635000"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4E5A66"/>
                </a:solidFill>
                <a:latin typeface="IBM Plex Sans Arabic" pitchFamily="34" charset="0"/>
                <a:ea typeface="IBM Plex Sans Arabic" pitchFamily="34" charset="-122"/>
                <a:cs typeface="IBM Plex Sans Arabic" pitchFamily="34" charset="-120"/>
              </a:rPr>
              <a:t>1</a:t>
            </a:r>
            <a:endParaRPr lang="en-US" sz="1200" dirty="0"/>
          </a:p>
        </p:txBody>
      </p:sp>
      <p:sp>
        <p:nvSpPr>
          <p:cNvPr id="40" name="Text 38"/>
          <p:cNvSpPr/>
          <p:nvPr/>
        </p:nvSpPr>
        <p:spPr>
          <a:xfrm>
            <a:off x="763461" y="4905970"/>
            <a:ext cx="3387979" cy="223490"/>
          </a:xfrm>
          <a:prstGeom prst="rect">
            <a:avLst/>
          </a:prstGeom>
          <a:noFill/>
          <a:ln/>
        </p:spPr>
        <p:txBody>
          <a:bodyPr wrap="square" lIns="0" tIns="0" rIns="0" bIns="0" rtlCol="0" anchor="t">
            <a:normAutofit/>
          </a:bodyPr>
          <a:lstStyle/>
          <a:p>
            <a:pPr algn="ctr" indent="0" marL="0" rtl="1">
              <a:lnSpc>
                <a:spcPts val="1560"/>
              </a:lnSpc>
              <a:buNone/>
            </a:pPr>
            <a:r>
              <a:rPr lang="ar-SA" sz="1200" b="1" dirty="0" altLang="en-US">
                <a:solidFill>
                  <a:srgbClr val="4E5A66"/>
                </a:solidFill>
                <a:latin typeface="IBM Plex Sans Arabic" pitchFamily="34" charset="0"/>
                <a:ea typeface="IBM Plex Sans Arabic" pitchFamily="34" charset="-122"/>
                <a:cs typeface="IBM Plex Sans Arabic" pitchFamily="34" charset="-120"/>
              </a:rPr>
              <a:t>الاحتمال</a:t>
            </a:r>
            <a:endParaRPr lang="ar-SA" sz="1200" dirty="0" altLang="en-US"/>
          </a:p>
        </p:txBody>
      </p:sp>
      <p:sp>
        <p:nvSpPr>
          <p:cNvPr id="41" name="Text 39"/>
          <p:cNvSpPr/>
          <p:nvPr/>
        </p:nvSpPr>
        <p:spPr>
          <a:xfrm>
            <a:off x="4178300" y="3381970"/>
            <a:ext cx="431800" cy="223490"/>
          </a:xfrm>
          <a:prstGeom prst="rect">
            <a:avLst/>
          </a:prstGeom>
          <a:noFill/>
          <a:ln/>
        </p:spPr>
        <p:txBody>
          <a:bodyPr wrap="square" lIns="0" tIns="0" rIns="0" bIns="0" rtlCol="0" anchor="t">
            <a:normAutofit/>
          </a:bodyPr>
          <a:lstStyle/>
          <a:p>
            <a:pPr algn="ctr" indent="0" marL="0" rtl="1">
              <a:lnSpc>
                <a:spcPts val="1560"/>
              </a:lnSpc>
              <a:buNone/>
            </a:pPr>
            <a:r>
              <a:rPr lang="ar-SA" sz="1200" b="1" dirty="0" altLang="en-US">
                <a:solidFill>
                  <a:srgbClr val="4E5A66"/>
                </a:solidFill>
                <a:latin typeface="IBM Plex Sans Arabic" pitchFamily="34" charset="0"/>
                <a:ea typeface="IBM Plex Sans Arabic" pitchFamily="34" charset="-122"/>
                <a:cs typeface="IBM Plex Sans Arabic" pitchFamily="34" charset="-120"/>
              </a:rPr>
              <a:t>الأثر</a:t>
            </a:r>
            <a:endParaRPr lang="ar-SA" sz="1200" dirty="0" altLang="en-US"/>
          </a:p>
        </p:txBody>
      </p:sp>
      <p:sp>
        <p:nvSpPr>
          <p:cNvPr id="42" name="Text 40"/>
          <p:cNvSpPr/>
          <p:nvPr/>
        </p:nvSpPr>
        <p:spPr>
          <a:xfrm>
            <a:off x="4799457" y="1857970"/>
            <a:ext cx="6579743" cy="2921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172433"/>
                </a:solidFill>
                <a:latin typeface="IBM Plex Sans Arabic" pitchFamily="34" charset="0"/>
                <a:ea typeface="IBM Plex Sans Arabic" pitchFamily="34" charset="-122"/>
                <a:cs typeface="IBM Plex Sans Arabic" pitchFamily="34" charset="-120"/>
              </a:rPr>
              <a:t>نعطي الاحتمال والأثر درجة من 1 إلى 5، ونضربهما. الناتج يرتب المخاطر لنبدأ بالأعلى.</a:t>
            </a:r>
            <a:endParaRPr lang="ar-SA" sz="1400" dirty="0" altLang="en-US"/>
          </a:p>
        </p:txBody>
      </p:sp>
      <p:sp>
        <p:nvSpPr>
          <p:cNvPr id="43" name="Shape 41"/>
          <p:cNvSpPr/>
          <p:nvPr/>
        </p:nvSpPr>
        <p:spPr>
          <a:xfrm>
            <a:off x="4994275" y="2254845"/>
            <a:ext cx="6381750" cy="816570"/>
          </a:xfrm>
          <a:prstGeom prst="roundRect">
            <a:avLst>
              <a:gd name="adj" fmla="val 10498"/>
            </a:avLst>
          </a:prstGeom>
          <a:solidFill>
            <a:srgbClr val="FFFDF8"/>
          </a:solidFill>
          <a:ln w="6350">
            <a:solidFill>
              <a:srgbClr val="E1DBCD"/>
            </a:solidFill>
            <a:prstDash val="solid"/>
          </a:ln>
        </p:spPr>
      </p:sp>
      <p:sp>
        <p:nvSpPr>
          <p:cNvPr id="44" name="Text 42"/>
          <p:cNvSpPr/>
          <p:nvPr/>
        </p:nvSpPr>
        <p:spPr>
          <a:xfrm>
            <a:off x="4981194" y="2397720"/>
            <a:ext cx="6226556"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6B7680"/>
                </a:solidFill>
                <a:latin typeface="IBM Plex Sans Arabic" pitchFamily="34" charset="0"/>
                <a:ea typeface="IBM Plex Sans Arabic" pitchFamily="34" charset="-122"/>
                <a:cs typeface="IBM Plex Sans Arabic" pitchFamily="34" charset="-120"/>
              </a:rPr>
              <a:t>مثال الحاسوب</a:t>
            </a:r>
            <a:endParaRPr lang="ar-SA" sz="1200" dirty="0" altLang="en-US"/>
          </a:p>
        </p:txBody>
      </p:sp>
      <p:sp>
        <p:nvSpPr>
          <p:cNvPr id="45" name="Text 43"/>
          <p:cNvSpPr/>
          <p:nvPr/>
        </p:nvSpPr>
        <p:spPr>
          <a:xfrm>
            <a:off x="4981194" y="2661841"/>
            <a:ext cx="6226556" cy="2921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172433"/>
                </a:solidFill>
                <a:latin typeface="IBM Plex Sans Arabic" pitchFamily="34" charset="0"/>
                <a:ea typeface="IBM Plex Sans Arabic" pitchFamily="34" charset="-122"/>
                <a:cs typeface="IBM Plex Sans Arabic" pitchFamily="34" charset="-120"/>
              </a:rPr>
              <a:t>احتمال 3 × أثر 4 = </a:t>
            </a:r>
            <a:r>
              <a:rPr lang="ar-SA" sz="1400" b="1" dirty="0" altLang="en-US">
                <a:solidFill>
                  <a:srgbClr val="172433"/>
                </a:solidFill>
                <a:latin typeface="IBM Plex Sans Arabic" pitchFamily="34" charset="0"/>
                <a:ea typeface="IBM Plex Sans Arabic" pitchFamily="34" charset="-122"/>
                <a:cs typeface="IBM Plex Sans Arabic" pitchFamily="34" charset="-120"/>
              </a:rPr>
              <a:t>12</a:t>
            </a:r>
            <a:r>
              <a:rPr lang="ar-SA" sz="1400" dirty="0" altLang="en-US">
                <a:solidFill>
                  <a:srgbClr val="172433"/>
                </a:solidFill>
                <a:latin typeface="IBM Plex Sans Arabic" pitchFamily="34" charset="0"/>
                <a:ea typeface="IBM Plex Sans Arabic" pitchFamily="34" charset="-122"/>
                <a:cs typeface="IBM Plex Sans Arabic" pitchFamily="34" charset="-120"/>
              </a:rPr>
              <a:t>، خطر عالٍ.</a:t>
            </a:r>
            <a:endParaRPr lang="ar-SA" sz="1400" dirty="0" altLang="en-US"/>
          </a:p>
        </p:txBody>
      </p:sp>
      <p:sp>
        <p:nvSpPr>
          <p:cNvPr id="46" name="Text 44"/>
          <p:cNvSpPr/>
          <p:nvPr/>
        </p:nvSpPr>
        <p:spPr>
          <a:xfrm>
            <a:off x="4790966" y="3201591"/>
            <a:ext cx="1200805" cy="247650"/>
          </a:xfrm>
          <a:prstGeom prst="rect">
            <a:avLst/>
          </a:prstGeom>
          <a:noFill/>
          <a:ln/>
        </p:spPr>
        <p:txBody>
          <a:bodyPr wrap="square" lIns="0" tIns="0" rIns="0" bIns="0" rtlCol="0" anchor="t">
            <a:normAutofit/>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منخفض: 1 إلى 4</a:t>
            </a:r>
            <a:endParaRPr lang="ar-SA" sz="1250" dirty="0" altLang="en-US"/>
          </a:p>
        </p:txBody>
      </p:sp>
      <p:sp>
        <p:nvSpPr>
          <p:cNvPr id="47" name="Shape 45"/>
          <p:cNvSpPr/>
          <p:nvPr/>
        </p:nvSpPr>
        <p:spPr>
          <a:xfrm>
            <a:off x="6080671" y="3223816"/>
            <a:ext cx="254000" cy="177800"/>
          </a:xfrm>
          <a:prstGeom prst="roundRect">
            <a:avLst>
              <a:gd name="adj" fmla="val 21429"/>
            </a:avLst>
          </a:prstGeom>
          <a:solidFill>
            <a:srgbClr val="D7ECE2"/>
          </a:solidFill>
          <a:ln/>
        </p:spPr>
      </p:sp>
      <p:sp>
        <p:nvSpPr>
          <p:cNvPr id="48" name="Text 46"/>
          <p:cNvSpPr/>
          <p:nvPr/>
        </p:nvSpPr>
        <p:spPr>
          <a:xfrm>
            <a:off x="4802842" y="3487341"/>
            <a:ext cx="1129546" cy="247650"/>
          </a:xfrm>
          <a:prstGeom prst="rect">
            <a:avLst/>
          </a:prstGeom>
          <a:noFill/>
          <a:ln/>
        </p:spPr>
        <p:txBody>
          <a:bodyPr wrap="square" lIns="0" tIns="0" rIns="0" bIns="0" rtlCol="0" anchor="t">
            <a:normAutofit/>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متوسط: 5 إلى 9</a:t>
            </a:r>
            <a:endParaRPr lang="ar-SA" sz="1250" dirty="0" altLang="en-US"/>
          </a:p>
        </p:txBody>
      </p:sp>
      <p:sp>
        <p:nvSpPr>
          <p:cNvPr id="49" name="Shape 47"/>
          <p:cNvSpPr/>
          <p:nvPr/>
        </p:nvSpPr>
        <p:spPr>
          <a:xfrm>
            <a:off x="6021288" y="3509566"/>
            <a:ext cx="254000" cy="177800"/>
          </a:xfrm>
          <a:prstGeom prst="roundRect">
            <a:avLst>
              <a:gd name="adj" fmla="val 21429"/>
            </a:avLst>
          </a:prstGeom>
          <a:solidFill>
            <a:srgbClr val="F4DEAA"/>
          </a:solidFill>
          <a:ln/>
        </p:spPr>
      </p:sp>
      <p:sp>
        <p:nvSpPr>
          <p:cNvPr id="50" name="Text 48"/>
          <p:cNvSpPr/>
          <p:nvPr/>
        </p:nvSpPr>
        <p:spPr>
          <a:xfrm>
            <a:off x="4808399" y="3773091"/>
            <a:ext cx="1096208" cy="247650"/>
          </a:xfrm>
          <a:prstGeom prst="rect">
            <a:avLst/>
          </a:prstGeom>
          <a:noFill/>
          <a:ln/>
        </p:spPr>
        <p:txBody>
          <a:bodyPr wrap="square" lIns="0" tIns="0" rIns="0" bIns="0" rtlCol="0" anchor="t">
            <a:normAutofit/>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عالٍ: 10 إلى 16</a:t>
            </a:r>
            <a:endParaRPr lang="ar-SA" sz="1250" dirty="0" altLang="en-US"/>
          </a:p>
        </p:txBody>
      </p:sp>
      <p:sp>
        <p:nvSpPr>
          <p:cNvPr id="51" name="Shape 49"/>
          <p:cNvSpPr/>
          <p:nvPr/>
        </p:nvSpPr>
        <p:spPr>
          <a:xfrm>
            <a:off x="5993507" y="3795316"/>
            <a:ext cx="254000" cy="177800"/>
          </a:xfrm>
          <a:prstGeom prst="roundRect">
            <a:avLst>
              <a:gd name="adj" fmla="val 21429"/>
            </a:avLst>
          </a:prstGeom>
          <a:solidFill>
            <a:srgbClr val="E9A56B"/>
          </a:solidFill>
          <a:ln/>
        </p:spPr>
      </p:sp>
      <p:sp>
        <p:nvSpPr>
          <p:cNvPr id="52" name="Text 50"/>
          <p:cNvSpPr/>
          <p:nvPr/>
        </p:nvSpPr>
        <p:spPr>
          <a:xfrm>
            <a:off x="4803001" y="4058841"/>
            <a:ext cx="1128593" cy="247650"/>
          </a:xfrm>
          <a:prstGeom prst="rect">
            <a:avLst/>
          </a:prstGeom>
          <a:noFill/>
          <a:ln/>
        </p:spPr>
        <p:txBody>
          <a:bodyPr wrap="square" lIns="0" tIns="0" rIns="0" bIns="0" rtlCol="0" anchor="t">
            <a:normAutofit/>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حرج: 20 إلى 25</a:t>
            </a:r>
            <a:endParaRPr lang="ar-SA" sz="1250" dirty="0" altLang="en-US"/>
          </a:p>
        </p:txBody>
      </p:sp>
      <p:sp>
        <p:nvSpPr>
          <p:cNvPr id="53" name="Shape 51"/>
          <p:cNvSpPr/>
          <p:nvPr/>
        </p:nvSpPr>
        <p:spPr>
          <a:xfrm>
            <a:off x="6020495" y="4081066"/>
            <a:ext cx="254000" cy="177800"/>
          </a:xfrm>
          <a:prstGeom prst="roundRect">
            <a:avLst>
              <a:gd name="adj" fmla="val 21429"/>
            </a:avLst>
          </a:prstGeom>
          <a:solidFill>
            <a:srgbClr val="B8432F"/>
          </a:solidFill>
          <a:ln/>
        </p:spPr>
      </p:sp>
      <p:sp>
        <p:nvSpPr>
          <p:cNvPr id="54" name="Text 52"/>
          <p:cNvSpPr/>
          <p:nvPr/>
        </p:nvSpPr>
        <p:spPr>
          <a:xfrm>
            <a:off x="4799457" y="4408091"/>
            <a:ext cx="6579743"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6B7680"/>
                </a:solidFill>
                <a:latin typeface="IBM Plex Sans Arabic" pitchFamily="34" charset="0"/>
                <a:ea typeface="IBM Plex Sans Arabic" pitchFamily="34" charset="-122"/>
                <a:cs typeface="IBM Plex Sans Arabic" pitchFamily="34" charset="-120"/>
              </a:rPr>
              <a:t>الحدود هنا مثال؛ كل جهة تحددها في منهجية المخاطر المعتمدة لديها.</a:t>
            </a:r>
            <a:endParaRPr lang="ar-SA" sz="1200" dirty="0" altLang="en-US"/>
          </a:p>
        </p:txBody>
      </p:sp>
      <p:sp>
        <p:nvSpPr>
          <p:cNvPr id="55" name="Text 5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13</a:t>
            </a:r>
            <a:endParaRPr lang="en-US" sz="1200" dirty="0"/>
          </a:p>
        </p:txBody>
      </p:sp>
      <p:sp>
        <p:nvSpPr>
          <p:cNvPr id="56" name="Text 5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أربعة خيارات لمعالجة الخطر</a:t>
            </a:r>
            <a:endParaRPr lang="ar-SA" sz="3000" dirty="0" altLang="en-US"/>
          </a:p>
        </p:txBody>
      </p:sp>
      <p:sp>
        <p:nvSpPr>
          <p:cNvPr id="5" name="Shape 3"/>
          <p:cNvSpPr/>
          <p:nvPr/>
        </p:nvSpPr>
        <p:spPr>
          <a:xfrm>
            <a:off x="815975" y="1861145"/>
            <a:ext cx="2540000" cy="1421408"/>
          </a:xfrm>
          <a:prstGeom prst="roundRect">
            <a:avLst>
              <a:gd name="adj" fmla="val 6924"/>
            </a:avLst>
          </a:prstGeom>
          <a:solidFill>
            <a:srgbClr val="FFFDF8"/>
          </a:solidFill>
          <a:ln w="6350">
            <a:solidFill>
              <a:srgbClr val="E1DBCD"/>
            </a:solidFill>
            <a:prstDash val="solid"/>
          </a:ln>
        </p:spPr>
      </p:sp>
      <p:sp>
        <p:nvSpPr>
          <p:cNvPr id="6" name="Text 4"/>
          <p:cNvSpPr/>
          <p:nvPr/>
        </p:nvSpPr>
        <p:spPr>
          <a:xfrm>
            <a:off x="918147" y="2029420"/>
            <a:ext cx="2269554" cy="311150"/>
          </a:xfrm>
          <a:prstGeom prst="rect">
            <a:avLst/>
          </a:prstGeom>
          <a:noFill/>
          <a:ln/>
        </p:spPr>
        <p:txBody>
          <a:bodyPr wrap="square" lIns="0" tIns="0" rIns="0" bIns="0" rtlCol="0" anchor="t">
            <a:normAutofit/>
          </a:bodyPr>
          <a:lstStyle/>
          <a:p>
            <a:pPr algn="r" indent="0" marL="0" rtl="1">
              <a:lnSpc>
                <a:spcPts val="2250"/>
              </a:lnSpc>
              <a:buNone/>
            </a:pPr>
            <a:r>
              <a:rPr lang="ar-SA" sz="1800" b="1" dirty="0" altLang="en-US">
                <a:solidFill>
                  <a:srgbClr val="172433"/>
                </a:solidFill>
                <a:latin typeface="Readex Pro" pitchFamily="34" charset="0"/>
                <a:ea typeface="Readex Pro" pitchFamily="34" charset="-122"/>
                <a:cs typeface="Readex Pro" pitchFamily="34" charset="-120"/>
              </a:rPr>
              <a:t>القبول </a:t>
            </a:r>
            <a:r>
              <a:rPr lang="ar-SA" sz="1800" b="1" dirty="0" altLang="en-US">
                <a:solidFill>
                  <a:srgbClr val="6B7680"/>
                </a:solidFill>
                <a:latin typeface="Readex Pro" pitchFamily="34" charset="0"/>
                <a:ea typeface="Readex Pro" pitchFamily="34" charset="-122"/>
                <a:cs typeface="Readex Pro" pitchFamily="34" charset="-120"/>
              </a:rPr>
              <a:t>· Accept</a:t>
            </a:r>
            <a:endParaRPr lang="ar-SA" sz="1800" dirty="0" altLang="en-US"/>
          </a:p>
        </p:txBody>
      </p:sp>
      <p:sp>
        <p:nvSpPr>
          <p:cNvPr id="7" name="Text 5"/>
          <p:cNvSpPr/>
          <p:nvPr/>
        </p:nvSpPr>
        <p:spPr>
          <a:xfrm>
            <a:off x="918147" y="2378670"/>
            <a:ext cx="2269554"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قرار موثق ممن يملك الصلاحية.</a:t>
            </a:r>
            <a:endParaRPr lang="ar-SA" sz="1250" dirty="0" altLang="en-US"/>
          </a:p>
        </p:txBody>
      </p:sp>
      <p:sp>
        <p:nvSpPr>
          <p:cNvPr id="8" name="Text 6"/>
          <p:cNvSpPr/>
          <p:nvPr/>
        </p:nvSpPr>
        <p:spPr>
          <a:xfrm>
            <a:off x="918147" y="2672358"/>
            <a:ext cx="2269554"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قبول مؤقت لخادم قديم مع خطة استبداله.</a:t>
            </a:r>
            <a:endParaRPr lang="ar-SA" sz="1200" dirty="0" altLang="en-US"/>
          </a:p>
        </p:txBody>
      </p:sp>
      <p:sp>
        <p:nvSpPr>
          <p:cNvPr id="9" name="Shape 7"/>
          <p:cNvSpPr/>
          <p:nvPr/>
        </p:nvSpPr>
        <p:spPr>
          <a:xfrm>
            <a:off x="3489325" y="1861145"/>
            <a:ext cx="2540000" cy="1421408"/>
          </a:xfrm>
          <a:prstGeom prst="roundRect">
            <a:avLst>
              <a:gd name="adj" fmla="val 6924"/>
            </a:avLst>
          </a:prstGeom>
          <a:solidFill>
            <a:srgbClr val="FFFDF8"/>
          </a:solidFill>
          <a:ln w="6350">
            <a:solidFill>
              <a:srgbClr val="E1DBCD"/>
            </a:solidFill>
            <a:prstDash val="solid"/>
          </a:ln>
        </p:spPr>
      </p:sp>
      <p:sp>
        <p:nvSpPr>
          <p:cNvPr id="10" name="Text 8"/>
          <p:cNvSpPr/>
          <p:nvPr/>
        </p:nvSpPr>
        <p:spPr>
          <a:xfrm>
            <a:off x="3591497" y="2029420"/>
            <a:ext cx="2269554" cy="311150"/>
          </a:xfrm>
          <a:prstGeom prst="rect">
            <a:avLst/>
          </a:prstGeom>
          <a:noFill/>
          <a:ln/>
        </p:spPr>
        <p:txBody>
          <a:bodyPr wrap="square" lIns="0" tIns="0" rIns="0" bIns="0" rtlCol="0" anchor="t">
            <a:normAutofit/>
          </a:bodyPr>
          <a:lstStyle/>
          <a:p>
            <a:pPr algn="r" indent="0" marL="0" rtl="1">
              <a:lnSpc>
                <a:spcPts val="2250"/>
              </a:lnSpc>
              <a:buNone/>
            </a:pPr>
            <a:r>
              <a:rPr lang="ar-SA" sz="1800" b="1" dirty="0" altLang="en-US">
                <a:solidFill>
                  <a:srgbClr val="172433"/>
                </a:solidFill>
                <a:latin typeface="Readex Pro" pitchFamily="34" charset="0"/>
                <a:ea typeface="Readex Pro" pitchFamily="34" charset="-122"/>
                <a:cs typeface="Readex Pro" pitchFamily="34" charset="-120"/>
              </a:rPr>
              <a:t>النقل </a:t>
            </a:r>
            <a:r>
              <a:rPr lang="ar-SA" sz="1800" b="1" dirty="0" altLang="en-US">
                <a:solidFill>
                  <a:srgbClr val="6B7680"/>
                </a:solidFill>
                <a:latin typeface="Readex Pro" pitchFamily="34" charset="0"/>
                <a:ea typeface="Readex Pro" pitchFamily="34" charset="-122"/>
                <a:cs typeface="Readex Pro" pitchFamily="34" charset="-120"/>
              </a:rPr>
              <a:t>· Transfer</a:t>
            </a:r>
            <a:endParaRPr lang="ar-SA" sz="1800" dirty="0" altLang="en-US"/>
          </a:p>
        </p:txBody>
      </p:sp>
      <p:sp>
        <p:nvSpPr>
          <p:cNvPr id="11" name="Text 9"/>
          <p:cNvSpPr/>
          <p:nvPr/>
        </p:nvSpPr>
        <p:spPr>
          <a:xfrm>
            <a:off x="3591497" y="2378670"/>
            <a:ext cx="2269554"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تحميل جزء من الأثر المالي لطرف آخر.</a:t>
            </a:r>
            <a:endParaRPr lang="ar-SA" sz="1250" dirty="0" altLang="en-US"/>
          </a:p>
        </p:txBody>
      </p:sp>
      <p:sp>
        <p:nvSpPr>
          <p:cNvPr id="12" name="Text 10"/>
          <p:cNvSpPr/>
          <p:nvPr/>
        </p:nvSpPr>
        <p:spPr>
          <a:xfrm>
            <a:off x="3591497" y="2672358"/>
            <a:ext cx="2269554"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تأمين أو عقد خدمة. المسؤولية والسمعة لا تنتقلان.</a:t>
            </a:r>
            <a:endParaRPr lang="ar-SA" sz="1200" dirty="0" altLang="en-US"/>
          </a:p>
        </p:txBody>
      </p:sp>
      <p:sp>
        <p:nvSpPr>
          <p:cNvPr id="13" name="Shape 11"/>
          <p:cNvSpPr/>
          <p:nvPr/>
        </p:nvSpPr>
        <p:spPr>
          <a:xfrm>
            <a:off x="6162675" y="1861145"/>
            <a:ext cx="2540000" cy="1421408"/>
          </a:xfrm>
          <a:prstGeom prst="roundRect">
            <a:avLst>
              <a:gd name="adj" fmla="val 6924"/>
            </a:avLst>
          </a:prstGeom>
          <a:solidFill>
            <a:srgbClr val="FFFDF8"/>
          </a:solidFill>
          <a:ln w="6350">
            <a:solidFill>
              <a:srgbClr val="E1DBCD"/>
            </a:solidFill>
            <a:prstDash val="solid"/>
          </a:ln>
        </p:spPr>
      </p:sp>
      <p:sp>
        <p:nvSpPr>
          <p:cNvPr id="14" name="Text 12"/>
          <p:cNvSpPr/>
          <p:nvPr/>
        </p:nvSpPr>
        <p:spPr>
          <a:xfrm>
            <a:off x="6264847" y="2029420"/>
            <a:ext cx="2269554" cy="311150"/>
          </a:xfrm>
          <a:prstGeom prst="rect">
            <a:avLst/>
          </a:prstGeom>
          <a:noFill/>
          <a:ln/>
        </p:spPr>
        <p:txBody>
          <a:bodyPr wrap="square" lIns="0" tIns="0" rIns="0" bIns="0" rtlCol="0" anchor="t">
            <a:normAutofit/>
          </a:bodyPr>
          <a:lstStyle/>
          <a:p>
            <a:pPr algn="r" indent="0" marL="0" rtl="1">
              <a:lnSpc>
                <a:spcPts val="2250"/>
              </a:lnSpc>
              <a:buNone/>
            </a:pPr>
            <a:r>
              <a:rPr lang="ar-SA" sz="1800" b="1" dirty="0" altLang="en-US">
                <a:solidFill>
                  <a:srgbClr val="172433"/>
                </a:solidFill>
                <a:latin typeface="Readex Pro" pitchFamily="34" charset="0"/>
                <a:ea typeface="Readex Pro" pitchFamily="34" charset="-122"/>
                <a:cs typeface="Readex Pro" pitchFamily="34" charset="-120"/>
              </a:rPr>
              <a:t>التجنب </a:t>
            </a:r>
            <a:r>
              <a:rPr lang="ar-SA" sz="1800" b="1" dirty="0" altLang="en-US">
                <a:solidFill>
                  <a:srgbClr val="6B7680"/>
                </a:solidFill>
                <a:latin typeface="Readex Pro" pitchFamily="34" charset="0"/>
                <a:ea typeface="Readex Pro" pitchFamily="34" charset="-122"/>
                <a:cs typeface="Readex Pro" pitchFamily="34" charset="-120"/>
              </a:rPr>
              <a:t>· Avoid</a:t>
            </a:r>
            <a:endParaRPr lang="ar-SA" sz="1800" dirty="0" altLang="en-US"/>
          </a:p>
        </p:txBody>
      </p:sp>
      <p:sp>
        <p:nvSpPr>
          <p:cNvPr id="15" name="Text 13"/>
          <p:cNvSpPr/>
          <p:nvPr/>
        </p:nvSpPr>
        <p:spPr>
          <a:xfrm>
            <a:off x="6264847" y="2378670"/>
            <a:ext cx="2269554"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إيقاف النشاط الذي يسبب الخطر.</a:t>
            </a:r>
            <a:endParaRPr lang="ar-SA" sz="1250" dirty="0" altLang="en-US"/>
          </a:p>
        </p:txBody>
      </p:sp>
      <p:sp>
        <p:nvSpPr>
          <p:cNvPr id="16" name="Text 14"/>
          <p:cNvSpPr/>
          <p:nvPr/>
        </p:nvSpPr>
        <p:spPr>
          <a:xfrm>
            <a:off x="6264847" y="2672358"/>
            <a:ext cx="2269554"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منع حفظ ملفات الرواتب على الأجهزة المحمولة.</a:t>
            </a:r>
            <a:endParaRPr lang="ar-SA" sz="1200" dirty="0" altLang="en-US"/>
          </a:p>
        </p:txBody>
      </p:sp>
      <p:sp>
        <p:nvSpPr>
          <p:cNvPr id="17" name="Shape 15"/>
          <p:cNvSpPr/>
          <p:nvPr/>
        </p:nvSpPr>
        <p:spPr>
          <a:xfrm>
            <a:off x="8836025" y="1861145"/>
            <a:ext cx="2540000" cy="1421408"/>
          </a:xfrm>
          <a:prstGeom prst="roundRect">
            <a:avLst>
              <a:gd name="adj" fmla="val 6924"/>
            </a:avLst>
          </a:prstGeom>
          <a:solidFill>
            <a:srgbClr val="FFFDF8"/>
          </a:solidFill>
          <a:ln w="6350">
            <a:solidFill>
              <a:srgbClr val="E1DBCD"/>
            </a:solidFill>
            <a:prstDash val="solid"/>
          </a:ln>
        </p:spPr>
      </p:sp>
      <p:sp>
        <p:nvSpPr>
          <p:cNvPr id="18" name="Text 16"/>
          <p:cNvSpPr/>
          <p:nvPr/>
        </p:nvSpPr>
        <p:spPr>
          <a:xfrm>
            <a:off x="8938197" y="2029420"/>
            <a:ext cx="2269554" cy="311150"/>
          </a:xfrm>
          <a:prstGeom prst="rect">
            <a:avLst/>
          </a:prstGeom>
          <a:noFill/>
          <a:ln/>
        </p:spPr>
        <p:txBody>
          <a:bodyPr wrap="square" lIns="0" tIns="0" rIns="0" bIns="0" rtlCol="0" anchor="t">
            <a:normAutofit/>
          </a:bodyPr>
          <a:lstStyle/>
          <a:p>
            <a:pPr algn="r" indent="0" marL="0" rtl="1">
              <a:lnSpc>
                <a:spcPts val="2250"/>
              </a:lnSpc>
              <a:buNone/>
            </a:pPr>
            <a:r>
              <a:rPr lang="ar-SA" sz="1800" b="1" dirty="0" altLang="en-US">
                <a:solidFill>
                  <a:srgbClr val="172433"/>
                </a:solidFill>
                <a:latin typeface="Readex Pro" pitchFamily="34" charset="0"/>
                <a:ea typeface="Readex Pro" pitchFamily="34" charset="-122"/>
                <a:cs typeface="Readex Pro" pitchFamily="34" charset="-120"/>
              </a:rPr>
              <a:t>التخفيف </a:t>
            </a:r>
            <a:r>
              <a:rPr lang="ar-SA" sz="1800" b="1" dirty="0" altLang="en-US">
                <a:solidFill>
                  <a:srgbClr val="6B7680"/>
                </a:solidFill>
                <a:latin typeface="Readex Pro" pitchFamily="34" charset="0"/>
                <a:ea typeface="Readex Pro" pitchFamily="34" charset="-122"/>
                <a:cs typeface="Readex Pro" pitchFamily="34" charset="-120"/>
              </a:rPr>
              <a:t>· Mitigate</a:t>
            </a:r>
            <a:endParaRPr lang="ar-SA" sz="1800" dirty="0" altLang="en-US"/>
          </a:p>
        </p:txBody>
      </p:sp>
      <p:sp>
        <p:nvSpPr>
          <p:cNvPr id="19" name="Text 17"/>
          <p:cNvSpPr/>
          <p:nvPr/>
        </p:nvSpPr>
        <p:spPr>
          <a:xfrm>
            <a:off x="8938197" y="2378670"/>
            <a:ext cx="2269554"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ضوابط تقلل الاحتمال أو الأثر.</a:t>
            </a:r>
            <a:endParaRPr lang="ar-SA" sz="1250" dirty="0" altLang="en-US"/>
          </a:p>
        </p:txBody>
      </p:sp>
      <p:sp>
        <p:nvSpPr>
          <p:cNvPr id="20" name="Text 18"/>
          <p:cNvSpPr/>
          <p:nvPr/>
        </p:nvSpPr>
        <p:spPr>
          <a:xfrm>
            <a:off x="8938197" y="2672358"/>
            <a:ext cx="226955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تشفير القرص. الأكثر استخداماً.</a:t>
            </a:r>
            <a:endParaRPr lang="ar-SA" sz="1200" dirty="0" altLang="en-US"/>
          </a:p>
        </p:txBody>
      </p:sp>
      <p:sp>
        <p:nvSpPr>
          <p:cNvPr id="21" name="Shape 19"/>
          <p:cNvSpPr/>
          <p:nvPr/>
        </p:nvSpPr>
        <p:spPr>
          <a:xfrm>
            <a:off x="812800" y="3488928"/>
            <a:ext cx="10566400" cy="846386"/>
          </a:xfrm>
          <a:prstGeom prst="roundRect">
            <a:avLst>
              <a:gd name="adj" fmla="val 13504"/>
            </a:avLst>
          </a:prstGeom>
          <a:solidFill>
            <a:srgbClr val="172433"/>
          </a:solidFill>
          <a:ln/>
        </p:spPr>
      </p:sp>
      <p:sp>
        <p:nvSpPr>
          <p:cNvPr id="22" name="Text 20"/>
          <p:cNvSpPr/>
          <p:nvPr/>
        </p:nvSpPr>
        <p:spPr>
          <a:xfrm>
            <a:off x="903828" y="3666728"/>
            <a:ext cx="385123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A9C6EA"/>
                </a:solidFill>
                <a:latin typeface="IBM Plex Sans Arabic" pitchFamily="34" charset="0"/>
                <a:ea typeface="IBM Plex Sans Arabic" pitchFamily="34" charset="-122"/>
                <a:cs typeface="IBM Plex Sans Arabic" pitchFamily="34" charset="-120"/>
              </a:rPr>
              <a:t>شهية المخاطر</a:t>
            </a:r>
            <a:endParaRPr lang="ar-SA" sz="1200" dirty="0" altLang="en-US"/>
          </a:p>
        </p:txBody>
      </p:sp>
      <p:sp>
        <p:nvSpPr>
          <p:cNvPr id="23" name="Text 21"/>
          <p:cNvSpPr/>
          <p:nvPr/>
        </p:nvSpPr>
        <p:spPr>
          <a:xfrm>
            <a:off x="903828" y="3918148"/>
            <a:ext cx="3851230"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المستوى الذي تقبله الإدارة. ما فوقه يُعالج.</a:t>
            </a:r>
            <a:endParaRPr lang="ar-SA" sz="1300" dirty="0" altLang="en-US"/>
          </a:p>
        </p:txBody>
      </p:sp>
      <p:sp>
        <p:nvSpPr>
          <p:cNvPr id="24" name="Shape 22"/>
          <p:cNvSpPr/>
          <p:nvPr/>
        </p:nvSpPr>
        <p:spPr>
          <a:xfrm>
            <a:off x="4882059" y="3666728"/>
            <a:ext cx="12700" cy="490786"/>
          </a:xfrm>
          <a:prstGeom prst="rect">
            <a:avLst/>
          </a:prstGeom>
          <a:solidFill>
            <a:srgbClr val="4B5B6C"/>
          </a:solidFill>
          <a:ln/>
        </p:spPr>
      </p:sp>
      <p:sp>
        <p:nvSpPr>
          <p:cNvPr id="25" name="Text 23"/>
          <p:cNvSpPr/>
          <p:nvPr/>
        </p:nvSpPr>
        <p:spPr>
          <a:xfrm>
            <a:off x="4941637" y="3666728"/>
            <a:ext cx="2750842"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7FD3C3"/>
                </a:solidFill>
                <a:latin typeface="IBM Plex Sans Arabic" pitchFamily="34" charset="0"/>
                <a:ea typeface="IBM Plex Sans Arabic" pitchFamily="34" charset="-122"/>
                <a:cs typeface="IBM Plex Sans Arabic" pitchFamily="34" charset="-120"/>
              </a:rPr>
              <a:t>الخطر المتبقي</a:t>
            </a:r>
            <a:endParaRPr lang="ar-SA" sz="1200" dirty="0" altLang="en-US"/>
          </a:p>
        </p:txBody>
      </p:sp>
      <p:sp>
        <p:nvSpPr>
          <p:cNvPr id="26" name="Text 24"/>
          <p:cNvSpPr/>
          <p:nvPr/>
        </p:nvSpPr>
        <p:spPr>
          <a:xfrm>
            <a:off x="4941637" y="3918148"/>
            <a:ext cx="2750842"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بعد التشفير: 3 × 1 = 3</a:t>
            </a:r>
            <a:endParaRPr lang="ar-SA" sz="1300" dirty="0" altLang="en-US"/>
          </a:p>
        </p:txBody>
      </p:sp>
      <p:pic>
        <p:nvPicPr>
          <p:cNvPr id="27" name="Image 0" descr="arrow-left">    </p:cNvPr>
          <p:cNvPicPr>
            <a:picLocks noChangeAspect="1"/>
          </p:cNvPicPr>
          <p:nvPr/>
        </p:nvPicPr>
        <p:blipFill>
          <a:blip r:embed="rId1"/>
          <a:srcRect l="0" r="0" t="0" b="0"/>
          <a:stretch/>
        </p:blipFill>
        <p:spPr>
          <a:xfrm>
            <a:off x="7819479" y="3772396"/>
            <a:ext cx="558800" cy="279400"/>
          </a:xfrm>
          <a:prstGeom prst="rect">
            <a:avLst/>
          </a:prstGeom>
        </p:spPr>
      </p:pic>
      <p:sp>
        <p:nvSpPr>
          <p:cNvPr id="28" name="Text 25"/>
          <p:cNvSpPr/>
          <p:nvPr/>
        </p:nvSpPr>
        <p:spPr>
          <a:xfrm>
            <a:off x="8425158" y="3666728"/>
            <a:ext cx="2750842"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F2C46D"/>
                </a:solidFill>
                <a:latin typeface="IBM Plex Sans Arabic" pitchFamily="34" charset="0"/>
                <a:ea typeface="IBM Plex Sans Arabic" pitchFamily="34" charset="-122"/>
                <a:cs typeface="IBM Plex Sans Arabic" pitchFamily="34" charset="-120"/>
              </a:rPr>
              <a:t>الخطر المتأصل</a:t>
            </a:r>
            <a:endParaRPr lang="ar-SA" sz="1200" dirty="0" altLang="en-US"/>
          </a:p>
        </p:txBody>
      </p:sp>
      <p:sp>
        <p:nvSpPr>
          <p:cNvPr id="29" name="Text 26"/>
          <p:cNvSpPr/>
          <p:nvPr/>
        </p:nvSpPr>
        <p:spPr>
          <a:xfrm>
            <a:off x="8425158" y="3918148"/>
            <a:ext cx="2750842"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قبل الضوابط: 3 × 4 = 12</a:t>
            </a:r>
            <a:endParaRPr lang="ar-SA" sz="1300" dirty="0" altLang="en-US"/>
          </a:p>
        </p:txBody>
      </p:sp>
      <p:sp>
        <p:nvSpPr>
          <p:cNvPr id="30" name="Text 27"/>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14</a:t>
            </a:r>
            <a:endParaRPr lang="en-US" sz="1200" dirty="0"/>
          </a:p>
        </p:txBody>
      </p:sp>
      <p:sp>
        <p:nvSpPr>
          <p:cNvPr id="31" name="Text 28"/>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الضوابط: طبيعتها ووظيفتها</a:t>
            </a:r>
            <a:endParaRPr lang="ar-SA" sz="3000" dirty="0" altLang="en-US"/>
          </a:p>
        </p:txBody>
      </p:sp>
      <p:sp>
        <p:nvSpPr>
          <p:cNvPr id="5" name="Shape 3"/>
          <p:cNvSpPr/>
          <p:nvPr/>
        </p:nvSpPr>
        <p:spPr>
          <a:xfrm>
            <a:off x="11376025" y="1857970"/>
            <a:ext cx="0" cy="1728639"/>
          </a:xfrm>
          <a:prstGeom prst="line">
            <a:avLst/>
          </a:prstGeom>
          <a:noFill/>
          <a:ln w="6350">
            <a:solidFill>
              <a:srgbClr val="D9D2C2"/>
            </a:solidFill>
            <a:prstDash val="solid"/>
          </a:ln>
        </p:spPr>
      </p:sp>
      <p:sp>
        <p:nvSpPr>
          <p:cNvPr id="6" name="Shape 4"/>
          <p:cNvSpPr/>
          <p:nvPr/>
        </p:nvSpPr>
        <p:spPr>
          <a:xfrm>
            <a:off x="812800" y="3583434"/>
            <a:ext cx="10566400" cy="0"/>
          </a:xfrm>
          <a:prstGeom prst="line">
            <a:avLst/>
          </a:prstGeom>
          <a:noFill/>
          <a:ln w="6350">
            <a:solidFill>
              <a:srgbClr val="D9D2C2"/>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70670"/>
          <a:ext cx="10547350" cy="1709589"/>
        </p:xfrm>
        <a:graphic>
          <a:graphicData uri="http://schemas.openxmlformats.org/drawingml/2006/table">
            <a:tbl>
              <a:tblPr/>
              <a:tblGrid>
                <a:gridCol w="2953258"/>
                <a:gridCol w="2953258"/>
                <a:gridCol w="2953258"/>
                <a:gridCol w="1687576"/>
              </a:tblGrid>
              <a:tr h="367556">
                <a:tc>
                  <a:txBody>
                    <a:bodyPr/>
                    <a:lstStyle/>
                    <a:p>
                      <a:pPr algn="r" indent="0" marL="0" rtl="1">
                        <a:lnSpc>
                          <a:spcPts val="1820"/>
                        </a:lnSpc>
                        <a:buNone/>
                      </a:pPr>
                      <a:r>
                        <a:rPr lang="ar-SA" sz="1300" b="1" dirty="0" altLang="en-US">
                          <a:solidFill>
                            <a:srgbClr val="F3EFE6"/>
                          </a:solidFill>
                          <a:latin typeface="IBM Plex Sans Arabic" pitchFamily="34" charset="0"/>
                          <a:ea typeface="IBM Plex Sans Arabic" pitchFamily="34" charset="-122"/>
                          <a:cs typeface="IBM Plex Sans Arabic" pitchFamily="34" charset="-120"/>
                        </a:rPr>
                        <a:t>تصحيحي: يعالج الأثر</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5C3B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c>
                  <a:txBody>
                    <a:bodyPr/>
                    <a:lstStyle/>
                    <a:p>
                      <a:pPr algn="r" indent="0" marL="0" rtl="1">
                        <a:lnSpc>
                          <a:spcPts val="1820"/>
                        </a:lnSpc>
                        <a:buNone/>
                      </a:pPr>
                      <a:r>
                        <a:rPr lang="ar-SA" sz="1300" b="1" dirty="0" altLang="en-US">
                          <a:solidFill>
                            <a:srgbClr val="F3EFE6"/>
                          </a:solidFill>
                          <a:latin typeface="IBM Plex Sans Arabic" pitchFamily="34" charset="0"/>
                          <a:ea typeface="IBM Plex Sans Arabic" pitchFamily="34" charset="-122"/>
                          <a:cs typeface="IBM Plex Sans Arabic" pitchFamily="34" charset="-120"/>
                        </a:rPr>
                        <a:t>كشفي: يكتشف ما حدث</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16202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c>
                  <a:txBody>
                    <a:bodyPr/>
                    <a:lstStyle/>
                    <a:p>
                      <a:pPr algn="r" indent="0" marL="0" rtl="1">
                        <a:lnSpc>
                          <a:spcPts val="1820"/>
                        </a:lnSpc>
                        <a:buNone/>
                      </a:pPr>
                      <a:r>
                        <a:rPr lang="ar-SA" sz="1300" b="1" dirty="0" altLang="en-US">
                          <a:solidFill>
                            <a:srgbClr val="F3EFE6"/>
                          </a:solidFill>
                          <a:latin typeface="IBM Plex Sans Arabic" pitchFamily="34" charset="0"/>
                          <a:ea typeface="IBM Plex Sans Arabic" pitchFamily="34" charset="-122"/>
                          <a:cs typeface="IBM Plex Sans Arabic" pitchFamily="34" charset="-120"/>
                        </a:rPr>
                        <a:t>وقائي: يمنع الحدوث</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16202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c>
                  <a:txBody>
                    <a:bodyPr/>
                    <a:lstStyle/>
                    <a:p>
                      <a:pPr algn="r" indent="0" marL="0" rtl="1">
                        <a:lnSpc>
                          <a:spcPts val="1820"/>
                        </a:lnSpc>
                        <a:buNone/>
                      </a:pPr>
                      <a:r>
                        <a:rPr lang="ar-SA" sz="1300" b="1" dirty="0" altLang="en-US">
                          <a:solidFill>
                            <a:srgbClr val="F3EFE6"/>
                          </a:solidFill>
                          <a:latin typeface="IBM Plex Sans Arabic" pitchFamily="34" charset="0"/>
                          <a:ea typeface="IBM Plex Sans Arabic" pitchFamily="34" charset="-122"/>
                          <a:cs typeface="IBM Plex Sans Arabic" pitchFamily="34" charset="-120"/>
                        </a:rPr>
                        <a:t>الطبيعة</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16202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r>
              <a:tr h="367556">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خطة الاستجابة للحوادث</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مراجعة الصلاحيات الدورية، والتدقيق</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السياسات، والتوعية</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إداري</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606921">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الاستعادة من النسخ، والتحديثات</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5C3BC"/>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منصة سجلات الأحداث، وكشف التسلل</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التحقق متعدد العوامل، والتشفير، والجدار الناري</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تقني</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r>
              <a:tr h="367556">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إطفاء الحريق، وموقع التعافي</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كاميرات المراقبة، والحراسة</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البطاقات، والأقفال</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82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مادي</a:t>
                      </a:r>
                      <a:endParaRPr lang="ar-SA" sz="1300" dirty="0" altLang="en-US">
                        <a:latin typeface="IBM Plex Sans Arabic" charset="0"/>
                        <a:ea typeface="IBM Plex Sans Arabic" charset="0"/>
                        <a:cs typeface="IBM Plex Sans Arabic"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8" name="Shape 5"/>
          <p:cNvSpPr/>
          <p:nvPr/>
        </p:nvSpPr>
        <p:spPr>
          <a:xfrm>
            <a:off x="815975" y="3792984"/>
            <a:ext cx="5200650" cy="762000"/>
          </a:xfrm>
          <a:prstGeom prst="roundRect">
            <a:avLst>
              <a:gd name="adj" fmla="val 11250"/>
            </a:avLst>
          </a:prstGeom>
          <a:solidFill>
            <a:srgbClr val="FFFDF8"/>
          </a:solidFill>
          <a:ln w="6350">
            <a:solidFill>
              <a:srgbClr val="E1DBCD"/>
            </a:solidFill>
            <a:prstDash val="solid"/>
          </a:ln>
        </p:spPr>
      </p:sp>
      <p:sp>
        <p:nvSpPr>
          <p:cNvPr id="9" name="Text 6"/>
          <p:cNvSpPr/>
          <p:nvPr/>
        </p:nvSpPr>
        <p:spPr>
          <a:xfrm>
            <a:off x="848233" y="3935859"/>
            <a:ext cx="4669917" cy="501650"/>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الضابط الجيد يجمع الأنواع: وقائي يقلل الحدوث، وكشفي يرى ما فات، وتصحيحي يعيد الوضع.</a:t>
            </a:r>
            <a:endParaRPr lang="ar-SA" sz="1250" dirty="0" altLang="en-US"/>
          </a:p>
        </p:txBody>
      </p:sp>
      <p:pic>
        <p:nvPicPr>
          <p:cNvPr id="10" name="Image 0" descr="Search">    </p:cNvPr>
          <p:cNvPicPr>
            <a:picLocks noChangeAspect="1"/>
          </p:cNvPicPr>
          <p:nvPr/>
        </p:nvPicPr>
        <p:blipFill>
          <a:blip r:embed="rId1"/>
          <a:srcRect l="0" r="0" t="0" b="0"/>
          <a:stretch/>
        </p:blipFill>
        <p:spPr>
          <a:xfrm>
            <a:off x="5619750" y="3935859"/>
            <a:ext cx="228600" cy="228600"/>
          </a:xfrm>
          <a:prstGeom prst="rect">
            <a:avLst/>
          </a:prstGeom>
        </p:spPr>
      </p:pic>
      <p:sp>
        <p:nvSpPr>
          <p:cNvPr id="11" name="Shape 7"/>
          <p:cNvSpPr/>
          <p:nvPr/>
        </p:nvSpPr>
        <p:spPr>
          <a:xfrm>
            <a:off x="6175375" y="3792984"/>
            <a:ext cx="5200650" cy="762000"/>
          </a:xfrm>
          <a:prstGeom prst="roundRect">
            <a:avLst>
              <a:gd name="adj" fmla="val 11250"/>
            </a:avLst>
          </a:prstGeom>
          <a:solidFill>
            <a:srgbClr val="FFFDF8"/>
          </a:solidFill>
          <a:ln w="6350">
            <a:solidFill>
              <a:srgbClr val="E1DBCD"/>
            </a:solidFill>
            <a:prstDash val="solid"/>
          </a:ln>
        </p:spPr>
      </p:sp>
      <p:sp>
        <p:nvSpPr>
          <p:cNvPr id="12" name="Text 8"/>
          <p:cNvSpPr/>
          <p:nvPr/>
        </p:nvSpPr>
        <p:spPr>
          <a:xfrm>
            <a:off x="6207633" y="3935859"/>
            <a:ext cx="4669917" cy="501650"/>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الضابط الواحد قد يؤدي أكثر من وظيفة: منصة الحماية تمنع الملف الضار وتسجل المحاولة.</a:t>
            </a:r>
            <a:endParaRPr lang="ar-SA" sz="1250" dirty="0" altLang="en-US"/>
          </a:p>
        </p:txBody>
      </p:sp>
      <p:pic>
        <p:nvPicPr>
          <p:cNvPr id="13" name="Image 1" descr="Lightbulb">    </p:cNvPr>
          <p:cNvPicPr>
            <a:picLocks noChangeAspect="1"/>
          </p:cNvPicPr>
          <p:nvPr/>
        </p:nvPicPr>
        <p:blipFill>
          <a:blip r:embed="rId2"/>
          <a:srcRect l="0" r="0" t="0" b="0"/>
          <a:stretch/>
        </p:blipFill>
        <p:spPr>
          <a:xfrm>
            <a:off x="10979150" y="3935859"/>
            <a:ext cx="228600" cy="228600"/>
          </a:xfrm>
          <a:prstGeom prst="rect">
            <a:avLst/>
          </a:prstGeom>
        </p:spPr>
      </p:pic>
      <p:sp>
        <p:nvSpPr>
          <p:cNvPr id="14" name="Text 9"/>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15</a:t>
            </a:r>
            <a:endParaRPr lang="en-US" sz="1200" dirty="0"/>
          </a:p>
        </p:txBody>
      </p:sp>
      <p:sp>
        <p:nvSpPr>
          <p:cNvPr id="15" name="Text 10"/>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هرم الوثائق: من «لماذا» إلى «كيف»</a:t>
            </a:r>
            <a:endParaRPr lang="ar-SA" sz="3000" dirty="0" altLang="en-US"/>
          </a:p>
        </p:txBody>
      </p:sp>
      <p:sp>
        <p:nvSpPr>
          <p:cNvPr id="5" name="Text 3"/>
          <p:cNvSpPr/>
          <p:nvPr/>
        </p:nvSpPr>
        <p:spPr>
          <a:xfrm>
            <a:off x="495808" y="1857970"/>
            <a:ext cx="10883392"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4E5A66"/>
                </a:solidFill>
                <a:latin typeface="IBM Plex Sans Arabic" pitchFamily="34" charset="0"/>
                <a:ea typeface="IBM Plex Sans Arabic" pitchFamily="34" charset="-122"/>
                <a:cs typeface="IBM Plex Sans Arabic" pitchFamily="34" charset="-120"/>
              </a:rPr>
              <a:t>مثال واحد على أربعة مستويات: كلمات المرور. القيم أمثلة توضيحية، وكل جهة تحددها في وثائقها.</a:t>
            </a:r>
            <a:endParaRPr lang="ar-SA" sz="1300" dirty="0" altLang="en-US"/>
          </a:p>
        </p:txBody>
      </p:sp>
      <p:sp>
        <p:nvSpPr>
          <p:cNvPr id="6" name="Text 4"/>
          <p:cNvSpPr/>
          <p:nvPr/>
        </p:nvSpPr>
        <p:spPr>
          <a:xfrm>
            <a:off x="580390" y="2511971"/>
            <a:ext cx="7979410" cy="273050"/>
          </a:xfrm>
          <a:prstGeom prst="rect">
            <a:avLst/>
          </a:prstGeom>
          <a:noFill/>
          <a:ln/>
        </p:spPr>
        <p:txBody>
          <a:bodyPr wrap="square" lIns="0" tIns="0" rIns="0" bIns="0" rtlCol="0" anchor="t">
            <a:normAutofit/>
          </a:bodyPr>
          <a:lstStyle/>
          <a:p>
            <a:pPr algn="r" indent="0" marL="0" rtl="1">
              <a:lnSpc>
                <a:spcPts val="195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«يكون الدخول إلى الأنظمة بهوية فردية وكلمة مرور قوية، والتحقق متعدد العوامل إلزامي للدخول عن بعد.»</a:t>
            </a:r>
            <a:endParaRPr lang="ar-SA" sz="1300" dirty="0" altLang="en-US"/>
          </a:p>
        </p:txBody>
      </p:sp>
      <p:sp>
        <p:nvSpPr>
          <p:cNvPr id="7" name="Shape 5"/>
          <p:cNvSpPr/>
          <p:nvPr/>
        </p:nvSpPr>
        <p:spPr>
          <a:xfrm>
            <a:off x="8712200" y="2300536"/>
            <a:ext cx="2667000" cy="670520"/>
          </a:xfrm>
          <a:prstGeom prst="roundRect">
            <a:avLst>
              <a:gd name="adj" fmla="val 11364"/>
            </a:avLst>
          </a:prstGeom>
          <a:solidFill>
            <a:srgbClr val="172433"/>
          </a:solidFill>
          <a:ln/>
        </p:spPr>
      </p:sp>
      <p:sp>
        <p:nvSpPr>
          <p:cNvPr id="8" name="Text 6"/>
          <p:cNvSpPr/>
          <p:nvPr/>
        </p:nvSpPr>
        <p:spPr>
          <a:xfrm>
            <a:off x="8793734" y="2402136"/>
            <a:ext cx="2433066" cy="279400"/>
          </a:xfrm>
          <a:prstGeom prst="rect">
            <a:avLst/>
          </a:prstGeom>
          <a:noFill/>
          <a:ln/>
        </p:spPr>
        <p:txBody>
          <a:bodyPr wrap="square" lIns="0" tIns="0" rIns="0" bIns="0" rtlCol="0" anchor="t">
            <a:normAutofit/>
          </a:bodyPr>
          <a:lstStyle/>
          <a:p>
            <a:pPr algn="r" indent="0" marL="0" rtl="1">
              <a:lnSpc>
                <a:spcPts val="2000"/>
              </a:lnSpc>
              <a:buNone/>
            </a:pPr>
            <a:r>
              <a:rPr lang="ar-SA" sz="1600" b="1" dirty="0" altLang="en-US">
                <a:solidFill>
                  <a:srgbClr val="F3EFE6"/>
                </a:solidFill>
                <a:latin typeface="Readex Pro" pitchFamily="34" charset="0"/>
                <a:ea typeface="Readex Pro" pitchFamily="34" charset="-122"/>
                <a:cs typeface="Readex Pro" pitchFamily="34" charset="-120"/>
              </a:rPr>
              <a:t>السياسة</a:t>
            </a:r>
            <a:endParaRPr lang="ar-SA" sz="1600" dirty="0" altLang="en-US"/>
          </a:p>
        </p:txBody>
      </p:sp>
      <p:sp>
        <p:nvSpPr>
          <p:cNvPr id="9" name="Text 7"/>
          <p:cNvSpPr/>
          <p:nvPr/>
        </p:nvSpPr>
        <p:spPr>
          <a:xfrm>
            <a:off x="8793734" y="2656136"/>
            <a:ext cx="243306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B9C4CC"/>
                </a:solidFill>
                <a:latin typeface="IBM Plex Sans Arabic" pitchFamily="34" charset="0"/>
                <a:ea typeface="IBM Plex Sans Arabic" pitchFamily="34" charset="-122"/>
                <a:cs typeface="IBM Plex Sans Arabic" pitchFamily="34" charset="-120"/>
              </a:rPr>
              <a:t>ماذا ولماذا · يعتمدها صاحب الصلاحية</a:t>
            </a:r>
            <a:endParaRPr lang="ar-SA" sz="1200" dirty="0" altLang="en-US"/>
          </a:p>
        </p:txBody>
      </p:sp>
      <p:sp>
        <p:nvSpPr>
          <p:cNvPr id="10" name="Text 8"/>
          <p:cNvSpPr/>
          <p:nvPr/>
        </p:nvSpPr>
        <p:spPr>
          <a:xfrm>
            <a:off x="580390" y="3271391"/>
            <a:ext cx="7979410" cy="273050"/>
          </a:xfrm>
          <a:prstGeom prst="rect">
            <a:avLst/>
          </a:prstGeom>
          <a:noFill/>
          <a:ln/>
        </p:spPr>
        <p:txBody>
          <a:bodyPr wrap="square" lIns="0" tIns="0" rIns="0" bIns="0" rtlCol="0" anchor="t">
            <a:normAutofit/>
          </a:bodyPr>
          <a:lstStyle/>
          <a:p>
            <a:pPr algn="r" indent="0" marL="0" rtl="1">
              <a:lnSpc>
                <a:spcPts val="195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«12 حرفاً على الأقل، ويُقفل الحساب بعد 5 محاولات فاشلة.»</a:t>
            </a:r>
            <a:endParaRPr lang="ar-SA" sz="1300" dirty="0" altLang="en-US"/>
          </a:p>
        </p:txBody>
      </p:sp>
      <p:sp>
        <p:nvSpPr>
          <p:cNvPr id="11" name="Shape 9"/>
          <p:cNvSpPr/>
          <p:nvPr/>
        </p:nvSpPr>
        <p:spPr>
          <a:xfrm>
            <a:off x="8712200" y="3059956"/>
            <a:ext cx="2667000" cy="670520"/>
          </a:xfrm>
          <a:prstGeom prst="roundRect">
            <a:avLst>
              <a:gd name="adj" fmla="val 11364"/>
            </a:avLst>
          </a:prstGeom>
          <a:solidFill>
            <a:srgbClr val="24506B"/>
          </a:solidFill>
          <a:ln/>
        </p:spPr>
      </p:sp>
      <p:sp>
        <p:nvSpPr>
          <p:cNvPr id="12" name="Text 10"/>
          <p:cNvSpPr/>
          <p:nvPr/>
        </p:nvSpPr>
        <p:spPr>
          <a:xfrm>
            <a:off x="8793734" y="3161556"/>
            <a:ext cx="2433066" cy="279400"/>
          </a:xfrm>
          <a:prstGeom prst="rect">
            <a:avLst/>
          </a:prstGeom>
          <a:noFill/>
          <a:ln/>
        </p:spPr>
        <p:txBody>
          <a:bodyPr wrap="square" lIns="0" tIns="0" rIns="0" bIns="0" rtlCol="0" anchor="t">
            <a:normAutofit/>
          </a:bodyPr>
          <a:lstStyle/>
          <a:p>
            <a:pPr algn="r" indent="0" marL="0" rtl="1">
              <a:lnSpc>
                <a:spcPts val="2000"/>
              </a:lnSpc>
              <a:buNone/>
            </a:pPr>
            <a:r>
              <a:rPr lang="ar-SA" sz="1600" b="1" dirty="0" altLang="en-US">
                <a:solidFill>
                  <a:srgbClr val="F3EFE6"/>
                </a:solidFill>
                <a:latin typeface="Readex Pro" pitchFamily="34" charset="0"/>
                <a:ea typeface="Readex Pro" pitchFamily="34" charset="-122"/>
                <a:cs typeface="Readex Pro" pitchFamily="34" charset="-120"/>
              </a:rPr>
              <a:t>المعيار</a:t>
            </a:r>
            <a:endParaRPr lang="ar-SA" sz="1600" dirty="0" altLang="en-US"/>
          </a:p>
        </p:txBody>
      </p:sp>
      <p:sp>
        <p:nvSpPr>
          <p:cNvPr id="13" name="Text 11"/>
          <p:cNvSpPr/>
          <p:nvPr/>
        </p:nvSpPr>
        <p:spPr>
          <a:xfrm>
            <a:off x="8793734" y="3415556"/>
            <a:ext cx="243306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CFE0EA"/>
                </a:solidFill>
                <a:latin typeface="IBM Plex Sans Arabic" pitchFamily="34" charset="0"/>
                <a:ea typeface="IBM Plex Sans Arabic" pitchFamily="34" charset="-122"/>
                <a:cs typeface="IBM Plex Sans Arabic" pitchFamily="34" charset="-120"/>
              </a:rPr>
              <a:t>قيم ملزمة قابلة للقياس</a:t>
            </a:r>
            <a:endParaRPr lang="ar-SA" sz="1200" dirty="0" altLang="en-US"/>
          </a:p>
        </p:txBody>
      </p:sp>
      <p:sp>
        <p:nvSpPr>
          <p:cNvPr id="14" name="Text 12"/>
          <p:cNvSpPr/>
          <p:nvPr/>
        </p:nvSpPr>
        <p:spPr>
          <a:xfrm>
            <a:off x="580390" y="4030811"/>
            <a:ext cx="7979410" cy="273050"/>
          </a:xfrm>
          <a:prstGeom prst="rect">
            <a:avLst/>
          </a:prstGeom>
          <a:noFill/>
          <a:ln/>
        </p:spPr>
        <p:txBody>
          <a:bodyPr wrap="square" lIns="0" tIns="0" rIns="0" bIns="0" rtlCol="0" anchor="t">
            <a:normAutofit/>
          </a:bodyPr>
          <a:lstStyle/>
          <a:p>
            <a:pPr algn="r" indent="0" marL="0" rtl="1">
              <a:lnSpc>
                <a:spcPts val="195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«لإعادة تعيين كلمة المرور: يتحقق الدعم الفني من هوية الموظف بطريقة معتمدة، ثم يرسل رابطاً مؤقتاً، ويسجل الطلب.»</a:t>
            </a:r>
            <a:endParaRPr lang="ar-SA" sz="1300" dirty="0" altLang="en-US"/>
          </a:p>
        </p:txBody>
      </p:sp>
      <p:sp>
        <p:nvSpPr>
          <p:cNvPr id="15" name="Shape 13"/>
          <p:cNvSpPr/>
          <p:nvPr/>
        </p:nvSpPr>
        <p:spPr>
          <a:xfrm>
            <a:off x="8712200" y="3819376"/>
            <a:ext cx="2667000" cy="670520"/>
          </a:xfrm>
          <a:prstGeom prst="roundRect">
            <a:avLst>
              <a:gd name="adj" fmla="val 11364"/>
            </a:avLst>
          </a:prstGeom>
          <a:solidFill>
            <a:srgbClr val="0E7C6B"/>
          </a:solidFill>
          <a:ln/>
        </p:spPr>
      </p:sp>
      <p:sp>
        <p:nvSpPr>
          <p:cNvPr id="16" name="Text 14"/>
          <p:cNvSpPr/>
          <p:nvPr/>
        </p:nvSpPr>
        <p:spPr>
          <a:xfrm>
            <a:off x="8793734" y="3920976"/>
            <a:ext cx="2433066" cy="279400"/>
          </a:xfrm>
          <a:prstGeom prst="rect">
            <a:avLst/>
          </a:prstGeom>
          <a:noFill/>
          <a:ln/>
        </p:spPr>
        <p:txBody>
          <a:bodyPr wrap="square" lIns="0" tIns="0" rIns="0" bIns="0" rtlCol="0" anchor="t">
            <a:normAutofit/>
          </a:bodyPr>
          <a:lstStyle/>
          <a:p>
            <a:pPr algn="r" indent="0" marL="0" rtl="1">
              <a:lnSpc>
                <a:spcPts val="2000"/>
              </a:lnSpc>
              <a:buNone/>
            </a:pPr>
            <a:r>
              <a:rPr lang="ar-SA" sz="1600" b="1" dirty="0" altLang="en-US">
                <a:solidFill>
                  <a:srgbClr val="F3EFE6"/>
                </a:solidFill>
                <a:latin typeface="Readex Pro" pitchFamily="34" charset="0"/>
                <a:ea typeface="Readex Pro" pitchFamily="34" charset="-122"/>
                <a:cs typeface="Readex Pro" pitchFamily="34" charset="-120"/>
              </a:rPr>
              <a:t>الإجراء</a:t>
            </a:r>
            <a:endParaRPr lang="ar-SA" sz="1600" dirty="0" altLang="en-US"/>
          </a:p>
        </p:txBody>
      </p:sp>
      <p:sp>
        <p:nvSpPr>
          <p:cNvPr id="17" name="Text 15"/>
          <p:cNvSpPr/>
          <p:nvPr/>
        </p:nvSpPr>
        <p:spPr>
          <a:xfrm>
            <a:off x="8793734" y="4174976"/>
            <a:ext cx="243306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D3EFE8"/>
                </a:solidFill>
                <a:latin typeface="IBM Plex Sans Arabic" pitchFamily="34" charset="0"/>
                <a:ea typeface="IBM Plex Sans Arabic" pitchFamily="34" charset="-122"/>
                <a:cs typeface="IBM Plex Sans Arabic" pitchFamily="34" charset="-120"/>
              </a:rPr>
              <a:t>خطوات: من يفعل ماذا ومتى</a:t>
            </a:r>
            <a:endParaRPr lang="ar-SA" sz="1200" dirty="0" altLang="en-US"/>
          </a:p>
        </p:txBody>
      </p:sp>
      <p:sp>
        <p:nvSpPr>
          <p:cNvPr id="18" name="Text 16"/>
          <p:cNvSpPr/>
          <p:nvPr/>
        </p:nvSpPr>
        <p:spPr>
          <a:xfrm>
            <a:off x="580390" y="4790232"/>
            <a:ext cx="7979410" cy="273050"/>
          </a:xfrm>
          <a:prstGeom prst="rect">
            <a:avLst/>
          </a:prstGeom>
          <a:noFill/>
          <a:ln/>
        </p:spPr>
        <p:txBody>
          <a:bodyPr wrap="square" lIns="0" tIns="0" rIns="0" bIns="0" rtlCol="0" anchor="t">
            <a:normAutofit/>
          </a:bodyPr>
          <a:lstStyle/>
          <a:p>
            <a:pPr algn="r" indent="0" marL="0" rtl="1">
              <a:lnSpc>
                <a:spcPts val="195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«يُنصح باستخدام عبارة مرور من عدة كلمات، ومدير كلمات المرور المعتمد في الجهة.»</a:t>
            </a:r>
            <a:endParaRPr lang="ar-SA" sz="1300" dirty="0" altLang="en-US"/>
          </a:p>
        </p:txBody>
      </p:sp>
      <p:sp>
        <p:nvSpPr>
          <p:cNvPr id="19" name="Shape 17"/>
          <p:cNvSpPr/>
          <p:nvPr/>
        </p:nvSpPr>
        <p:spPr>
          <a:xfrm>
            <a:off x="8712200" y="4578796"/>
            <a:ext cx="2667000" cy="670520"/>
          </a:xfrm>
          <a:prstGeom prst="roundRect">
            <a:avLst>
              <a:gd name="adj" fmla="val 11364"/>
            </a:avLst>
          </a:prstGeom>
          <a:solidFill>
            <a:srgbClr val="E5DCC8"/>
          </a:solidFill>
          <a:ln/>
        </p:spPr>
      </p:sp>
      <p:sp>
        <p:nvSpPr>
          <p:cNvPr id="20" name="Text 18"/>
          <p:cNvSpPr/>
          <p:nvPr/>
        </p:nvSpPr>
        <p:spPr>
          <a:xfrm>
            <a:off x="8793734" y="4680396"/>
            <a:ext cx="2433066" cy="279400"/>
          </a:xfrm>
          <a:prstGeom prst="rect">
            <a:avLst/>
          </a:prstGeom>
          <a:noFill/>
          <a:ln/>
        </p:spPr>
        <p:txBody>
          <a:bodyPr wrap="square" lIns="0" tIns="0" rIns="0" bIns="0" rtlCol="0" anchor="t">
            <a:normAutofit/>
          </a:bodyPr>
          <a:lstStyle/>
          <a:p>
            <a:pPr algn="r" indent="0" marL="0" rtl="1">
              <a:lnSpc>
                <a:spcPts val="2000"/>
              </a:lnSpc>
              <a:buNone/>
            </a:pPr>
            <a:r>
              <a:rPr lang="ar-SA" sz="1600" b="1" dirty="0" altLang="en-US">
                <a:solidFill>
                  <a:srgbClr val="172433"/>
                </a:solidFill>
                <a:latin typeface="Readex Pro" pitchFamily="34" charset="0"/>
                <a:ea typeface="Readex Pro" pitchFamily="34" charset="-122"/>
                <a:cs typeface="Readex Pro" pitchFamily="34" charset="-120"/>
              </a:rPr>
              <a:t>الإرشاد</a:t>
            </a:r>
            <a:endParaRPr lang="ar-SA" sz="1600" dirty="0" altLang="en-US"/>
          </a:p>
        </p:txBody>
      </p:sp>
      <p:sp>
        <p:nvSpPr>
          <p:cNvPr id="21" name="Text 19"/>
          <p:cNvSpPr/>
          <p:nvPr/>
        </p:nvSpPr>
        <p:spPr>
          <a:xfrm>
            <a:off x="8793734" y="4934396"/>
            <a:ext cx="243306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توصيات غير ملزمة</a:t>
            </a:r>
            <a:endParaRPr lang="ar-SA" sz="1200" dirty="0" altLang="en-US"/>
          </a:p>
        </p:txBody>
      </p:sp>
      <p:sp>
        <p:nvSpPr>
          <p:cNvPr id="22" name="Text 20"/>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16</a:t>
            </a:r>
            <a:endParaRPr lang="en-US" sz="1200" dirty="0"/>
          </a:p>
        </p:txBody>
      </p:sp>
      <p:sp>
        <p:nvSpPr>
          <p:cNvPr id="23" name="Text 21"/>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نموذج الخطوط الثلاثة: من يفعل ماذا في المخاطر؟</a:t>
            </a:r>
            <a:endParaRPr lang="ar-SA" sz="3000" dirty="0" altLang="en-US"/>
          </a:p>
        </p:txBody>
      </p:sp>
      <p:sp>
        <p:nvSpPr>
          <p:cNvPr id="5" name="Shape 3"/>
          <p:cNvSpPr/>
          <p:nvPr/>
        </p:nvSpPr>
        <p:spPr>
          <a:xfrm>
            <a:off x="812800" y="1832570"/>
            <a:ext cx="10566400" cy="467965"/>
          </a:xfrm>
          <a:prstGeom prst="roundRect">
            <a:avLst>
              <a:gd name="adj" fmla="val 18997"/>
            </a:avLst>
          </a:prstGeom>
          <a:solidFill>
            <a:srgbClr val="172433"/>
          </a:solidFill>
          <a:ln/>
        </p:spPr>
      </p:sp>
      <p:sp>
        <p:nvSpPr>
          <p:cNvPr id="6" name="Text 4"/>
          <p:cNvSpPr/>
          <p:nvPr/>
        </p:nvSpPr>
        <p:spPr>
          <a:xfrm>
            <a:off x="694944" y="1946870"/>
            <a:ext cx="10150856"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
            </a:r>
            <a:r>
              <a:rPr lang="ar-SA" sz="1300" b="1" dirty="0" altLang="en-US">
                <a:solidFill>
                  <a:srgbClr val="F3EFE6"/>
                </a:solidFill>
                <a:latin typeface="IBM Plex Sans Arabic" pitchFamily="34" charset="0"/>
                <a:ea typeface="IBM Plex Sans Arabic" pitchFamily="34" charset="-122"/>
                <a:cs typeface="IBM Plex Sans Arabic" pitchFamily="34" charset="-120"/>
              </a:rPr>
              <a:t>جهة الحوكمة</a:t>
            </a:r>
            <a:r>
              <a:rPr lang="ar-SA" sz="1300" dirty="0" altLang="en-US">
                <a:solidFill>
                  <a:srgbClr val="F3EFE6"/>
                </a:solidFill>
                <a:latin typeface="IBM Plex Sans Arabic" pitchFamily="34" charset="0"/>
                <a:ea typeface="IBM Plex Sans Arabic" pitchFamily="34" charset="-122"/>
                <a:cs typeface="IBM Plex Sans Arabic" pitchFamily="34" charset="-120"/>
              </a:rPr>
              <a:t> (مجلس الإدارة أو صاحب الصلاحية واللجان): تحدد التوجه وتحاسب الجميع.</a:t>
            </a:r>
            <a:endParaRPr lang="ar-SA" sz="1300" dirty="0" altLang="en-US"/>
          </a:p>
        </p:txBody>
      </p:sp>
      <p:pic>
        <p:nvPicPr>
          <p:cNvPr id="7" name="Image 0" descr="Users">    </p:cNvPr>
          <p:cNvPicPr>
            <a:picLocks noChangeAspect="1"/>
          </p:cNvPicPr>
          <p:nvPr/>
        </p:nvPicPr>
        <p:blipFill>
          <a:blip r:embed="rId1"/>
          <a:srcRect l="0" r="0" t="0" b="0"/>
          <a:stretch/>
        </p:blipFill>
        <p:spPr>
          <a:xfrm>
            <a:off x="10972800" y="1952228"/>
            <a:ext cx="228600" cy="228600"/>
          </a:xfrm>
          <a:prstGeom prst="rect">
            <a:avLst/>
          </a:prstGeom>
        </p:spPr>
      </p:pic>
      <p:sp>
        <p:nvSpPr>
          <p:cNvPr id="8" name="Shape 5"/>
          <p:cNvSpPr/>
          <p:nvPr/>
        </p:nvSpPr>
        <p:spPr>
          <a:xfrm>
            <a:off x="815975" y="2481511"/>
            <a:ext cx="3426867" cy="1532186"/>
          </a:xfrm>
          <a:prstGeom prst="roundRect">
            <a:avLst>
              <a:gd name="adj" fmla="val 6424"/>
            </a:avLst>
          </a:prstGeom>
          <a:solidFill>
            <a:srgbClr val="FFFDF8"/>
          </a:solidFill>
          <a:ln w="6350">
            <a:solidFill>
              <a:srgbClr val="E1DBCD"/>
            </a:solidFill>
            <a:prstDash val="solid"/>
          </a:ln>
        </p:spPr>
      </p:sp>
      <p:sp>
        <p:nvSpPr>
          <p:cNvPr id="9" name="Text 6"/>
          <p:cNvSpPr/>
          <p:nvPr/>
        </p:nvSpPr>
        <p:spPr>
          <a:xfrm>
            <a:off x="891540" y="2649786"/>
            <a:ext cx="3183026"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9A5F0F"/>
                </a:solidFill>
                <a:latin typeface="Readex Pro" pitchFamily="34" charset="0"/>
                <a:ea typeface="Readex Pro" pitchFamily="34" charset="-122"/>
                <a:cs typeface="Readex Pro" pitchFamily="34" charset="-120"/>
              </a:rPr>
              <a:t>الخط الثالث</a:t>
            </a:r>
            <a:endParaRPr lang="ar-SA" sz="1300" dirty="0" altLang="en-US"/>
          </a:p>
        </p:txBody>
      </p:sp>
      <p:sp>
        <p:nvSpPr>
          <p:cNvPr id="10" name="Text 7"/>
          <p:cNvSpPr/>
          <p:nvPr/>
        </p:nvSpPr>
        <p:spPr>
          <a:xfrm>
            <a:off x="891540" y="2927896"/>
            <a:ext cx="3183026" cy="306040"/>
          </a:xfrm>
          <a:prstGeom prst="rect">
            <a:avLst/>
          </a:prstGeom>
          <a:noFill/>
          <a:ln/>
        </p:spPr>
        <p:txBody>
          <a:bodyPr wrap="square" lIns="0" tIns="0" rIns="0" bIns="0" rtlCol="0" anchor="t">
            <a:normAutofit/>
          </a:bodyPr>
          <a:lstStyle/>
          <a:p>
            <a:pPr algn="r" indent="0" marL="0" rtl="1">
              <a:lnSpc>
                <a:spcPts val="2210"/>
              </a:lnSpc>
              <a:buNone/>
            </a:pPr>
            <a:r>
              <a:rPr lang="ar-SA" sz="1700" b="1" dirty="0" altLang="en-US">
                <a:solidFill>
                  <a:srgbClr val="172433"/>
                </a:solidFill>
                <a:latin typeface="Readex Pro" pitchFamily="34" charset="0"/>
                <a:ea typeface="Readex Pro" pitchFamily="34" charset="-122"/>
                <a:cs typeface="Readex Pro" pitchFamily="34" charset="-120"/>
              </a:rPr>
              <a:t>المراجعة الداخلية</a:t>
            </a:r>
            <a:endParaRPr lang="ar-SA" sz="1700" dirty="0" altLang="en-US"/>
          </a:p>
        </p:txBody>
      </p:sp>
      <p:sp>
        <p:nvSpPr>
          <p:cNvPr id="11" name="Text 8"/>
          <p:cNvSpPr/>
          <p:nvPr/>
        </p:nvSpPr>
        <p:spPr>
          <a:xfrm>
            <a:off x="891540" y="3272036"/>
            <a:ext cx="3183026" cy="263525"/>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تأكيد مستقل لجهة الحوكمة.</a:t>
            </a:r>
            <a:endParaRPr lang="ar-SA" sz="1250" dirty="0" altLang="en-US"/>
          </a:p>
        </p:txBody>
      </p:sp>
      <p:sp>
        <p:nvSpPr>
          <p:cNvPr id="12" name="Text 9"/>
          <p:cNvSpPr/>
          <p:nvPr/>
        </p:nvSpPr>
        <p:spPr>
          <a:xfrm>
            <a:off x="891540" y="3573661"/>
            <a:ext cx="3183026"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لا تنفذ الضوابط ولا تصممها، لتبقى مستقلة.</a:t>
            </a:r>
            <a:endParaRPr lang="ar-SA" sz="1200" dirty="0" altLang="en-US"/>
          </a:p>
        </p:txBody>
      </p:sp>
      <p:sp>
        <p:nvSpPr>
          <p:cNvPr id="13" name="Shape 10"/>
          <p:cNvSpPr/>
          <p:nvPr/>
        </p:nvSpPr>
        <p:spPr>
          <a:xfrm>
            <a:off x="4373017" y="2478336"/>
            <a:ext cx="3445966" cy="1538536"/>
          </a:xfrm>
          <a:prstGeom prst="roundRect">
            <a:avLst>
              <a:gd name="adj" fmla="val 6604"/>
            </a:avLst>
          </a:prstGeom>
          <a:solidFill>
            <a:srgbClr val="E3F1ED"/>
          </a:solidFill>
          <a:ln/>
        </p:spPr>
      </p:sp>
      <p:sp>
        <p:nvSpPr>
          <p:cNvPr id="14" name="Shape 11"/>
          <p:cNvSpPr/>
          <p:nvPr/>
        </p:nvSpPr>
        <p:spPr>
          <a:xfrm>
            <a:off x="4373017" y="2478336"/>
            <a:ext cx="3445966" cy="1538536"/>
          </a:xfrm>
          <a:custGeom>
            <a:avLst/>
            <a:gdLst/>
            <a:ahLst/>
            <a:cxnLst/>
            <a:rect l="l" t="t" r="r" b="b"/>
            <a:pathLst>
              <a:path w="3445966" h="1538536">
                <a:moveTo>
                  <a:pt x="101600" y="0"/>
                </a:moveTo>
                <a:lnTo>
                  <a:pt x="3344366" y="0"/>
                </a:lnTo>
                <a:arcTo hR="101600" wR="101600" stAng="16200000" swAng="5400000"/>
                <a:lnTo>
                  <a:pt x="3445966" y="1436936"/>
                </a:lnTo>
                <a:arcTo hR="101600" wR="101600" stAng="0" swAng="5400000"/>
                <a:lnTo>
                  <a:pt x="101600" y="1538536"/>
                </a:lnTo>
                <a:arcTo hR="101600" wR="101600" stAng="5400000" swAng="5400000"/>
                <a:lnTo>
                  <a:pt x="0" y="101600"/>
                </a:lnTo>
                <a:arcTo hR="101600" wR="101600" stAng="10800000" swAng="5400000"/>
                <a:close/>
                <a:moveTo>
                  <a:pt x="101600" y="50800"/>
                </a:moveTo>
                <a:arcTo hR="50800" wR="88900" stAng="16200000" swAng="-5400000"/>
                <a:lnTo>
                  <a:pt x="12700" y="1436936"/>
                </a:lnTo>
                <a:arcTo hR="88900" wR="88900" stAng="10800000" swAng="-5400000"/>
                <a:lnTo>
                  <a:pt x="3344366" y="1525836"/>
                </a:lnTo>
                <a:arcTo hR="88900" wR="88900" stAng="5400000" swAng="-5400000"/>
                <a:lnTo>
                  <a:pt x="3433266" y="101600"/>
                </a:lnTo>
                <a:arcTo hR="50800" wR="88900" stAng="0" swAng="-5400000"/>
                <a:close/>
              </a:path>
            </a:pathLst>
          </a:custGeom>
          <a:solidFill>
            <a:srgbClr val="0E7C6B"/>
          </a:solidFill>
          <a:ln/>
        </p:spPr>
      </p:sp>
      <p:sp>
        <p:nvSpPr>
          <p:cNvPr id="15" name="Text 12"/>
          <p:cNvSpPr/>
          <p:nvPr/>
        </p:nvSpPr>
        <p:spPr>
          <a:xfrm>
            <a:off x="4458106" y="2694236"/>
            <a:ext cx="3183077"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0E7C6B"/>
                </a:solidFill>
                <a:latin typeface="Readex Pro" pitchFamily="34" charset="0"/>
                <a:ea typeface="Readex Pro" pitchFamily="34" charset="-122"/>
                <a:cs typeface="Readex Pro" pitchFamily="34" charset="-120"/>
              </a:rPr>
              <a:t>الخط الثاني · هنا يعمل GRC غالباً</a:t>
            </a:r>
            <a:endParaRPr lang="ar-SA" sz="1300" dirty="0" altLang="en-US"/>
          </a:p>
        </p:txBody>
      </p:sp>
      <p:sp>
        <p:nvSpPr>
          <p:cNvPr id="16" name="Text 13"/>
          <p:cNvSpPr/>
          <p:nvPr/>
        </p:nvSpPr>
        <p:spPr>
          <a:xfrm>
            <a:off x="4458106" y="2972346"/>
            <a:ext cx="3183077" cy="306040"/>
          </a:xfrm>
          <a:prstGeom prst="rect">
            <a:avLst/>
          </a:prstGeom>
          <a:noFill/>
          <a:ln/>
        </p:spPr>
        <p:txBody>
          <a:bodyPr wrap="square" lIns="0" tIns="0" rIns="0" bIns="0" rtlCol="0" anchor="t">
            <a:normAutofit/>
          </a:bodyPr>
          <a:lstStyle/>
          <a:p>
            <a:pPr algn="r" indent="0" marL="0" rtl="1">
              <a:lnSpc>
                <a:spcPts val="2210"/>
              </a:lnSpc>
              <a:buNone/>
            </a:pPr>
            <a:r>
              <a:rPr lang="ar-SA" sz="1700" b="1" dirty="0" altLang="en-US">
                <a:solidFill>
                  <a:srgbClr val="172433"/>
                </a:solidFill>
                <a:latin typeface="Readex Pro" pitchFamily="34" charset="0"/>
                <a:ea typeface="Readex Pro" pitchFamily="34" charset="-122"/>
                <a:cs typeface="Readex Pro" pitchFamily="34" charset="-120"/>
              </a:rPr>
              <a:t>المخاطر والامتثال</a:t>
            </a:r>
            <a:endParaRPr lang="ar-SA" sz="1700" dirty="0" altLang="en-US"/>
          </a:p>
        </p:txBody>
      </p:sp>
      <p:sp>
        <p:nvSpPr>
          <p:cNvPr id="17" name="Text 14"/>
          <p:cNvSpPr/>
          <p:nvPr/>
        </p:nvSpPr>
        <p:spPr>
          <a:xfrm>
            <a:off x="4458106" y="3316486"/>
            <a:ext cx="3183077" cy="263525"/>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يضع الإطار، ويدعم، ويراقب، ويتحدى.</a:t>
            </a:r>
            <a:endParaRPr lang="ar-SA" sz="1250" dirty="0" altLang="en-US"/>
          </a:p>
        </p:txBody>
      </p:sp>
      <p:sp>
        <p:nvSpPr>
          <p:cNvPr id="18" name="Text 15"/>
          <p:cNvSpPr/>
          <p:nvPr/>
        </p:nvSpPr>
        <p:spPr>
          <a:xfrm>
            <a:off x="4458106" y="3618111"/>
            <a:ext cx="3183077"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حوكمة الأمن السيبراني، وإدارة المخاطر، والامتثال.</a:t>
            </a:r>
            <a:endParaRPr lang="ar-SA" sz="1200" dirty="0" altLang="en-US"/>
          </a:p>
        </p:txBody>
      </p:sp>
      <p:sp>
        <p:nvSpPr>
          <p:cNvPr id="19" name="Shape 16"/>
          <p:cNvSpPr/>
          <p:nvPr/>
        </p:nvSpPr>
        <p:spPr>
          <a:xfrm>
            <a:off x="7949158" y="2481511"/>
            <a:ext cx="3426867" cy="1532186"/>
          </a:xfrm>
          <a:prstGeom prst="roundRect">
            <a:avLst>
              <a:gd name="adj" fmla="val 6424"/>
            </a:avLst>
          </a:prstGeom>
          <a:solidFill>
            <a:srgbClr val="FFFDF8"/>
          </a:solidFill>
          <a:ln w="6350">
            <a:solidFill>
              <a:srgbClr val="E1DBCD"/>
            </a:solidFill>
            <a:prstDash val="solid"/>
          </a:ln>
        </p:spPr>
      </p:sp>
      <p:sp>
        <p:nvSpPr>
          <p:cNvPr id="20" name="Text 17"/>
          <p:cNvSpPr/>
          <p:nvPr/>
        </p:nvSpPr>
        <p:spPr>
          <a:xfrm>
            <a:off x="8024724" y="2649786"/>
            <a:ext cx="3183026"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2F5C92"/>
                </a:solidFill>
                <a:latin typeface="Readex Pro" pitchFamily="34" charset="0"/>
                <a:ea typeface="Readex Pro" pitchFamily="34" charset="-122"/>
                <a:cs typeface="Readex Pro" pitchFamily="34" charset="-120"/>
              </a:rPr>
              <a:t>الخط الأول</a:t>
            </a:r>
            <a:endParaRPr lang="ar-SA" sz="1300" dirty="0" altLang="en-US"/>
          </a:p>
        </p:txBody>
      </p:sp>
      <p:sp>
        <p:nvSpPr>
          <p:cNvPr id="21" name="Text 18"/>
          <p:cNvSpPr/>
          <p:nvPr/>
        </p:nvSpPr>
        <p:spPr>
          <a:xfrm>
            <a:off x="8024724" y="2927896"/>
            <a:ext cx="3183026" cy="306040"/>
          </a:xfrm>
          <a:prstGeom prst="rect">
            <a:avLst/>
          </a:prstGeom>
          <a:noFill/>
          <a:ln/>
        </p:spPr>
        <p:txBody>
          <a:bodyPr wrap="square" lIns="0" tIns="0" rIns="0" bIns="0" rtlCol="0" anchor="t">
            <a:normAutofit/>
          </a:bodyPr>
          <a:lstStyle/>
          <a:p>
            <a:pPr algn="r" indent="0" marL="0" rtl="1">
              <a:lnSpc>
                <a:spcPts val="2210"/>
              </a:lnSpc>
              <a:buNone/>
            </a:pPr>
            <a:r>
              <a:rPr lang="ar-SA" sz="1700" b="1" dirty="0" altLang="en-US">
                <a:solidFill>
                  <a:srgbClr val="172433"/>
                </a:solidFill>
                <a:latin typeface="Readex Pro" pitchFamily="34" charset="0"/>
                <a:ea typeface="Readex Pro" pitchFamily="34" charset="-122"/>
                <a:cs typeface="Readex Pro" pitchFamily="34" charset="-120"/>
              </a:rPr>
              <a:t>الإدارة التشغيلية</a:t>
            </a:r>
            <a:endParaRPr lang="ar-SA" sz="1700" dirty="0" altLang="en-US"/>
          </a:p>
        </p:txBody>
      </p:sp>
      <p:sp>
        <p:nvSpPr>
          <p:cNvPr id="22" name="Text 19"/>
          <p:cNvSpPr/>
          <p:nvPr/>
        </p:nvSpPr>
        <p:spPr>
          <a:xfrm>
            <a:off x="8024724" y="3272036"/>
            <a:ext cx="3183026" cy="263525"/>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تملك المخاطر وتطبق الضوابط يومياً.</a:t>
            </a:r>
            <a:endParaRPr lang="ar-SA" sz="1250" dirty="0" altLang="en-US"/>
          </a:p>
        </p:txBody>
      </p:sp>
      <p:sp>
        <p:nvSpPr>
          <p:cNvPr id="23" name="Text 20"/>
          <p:cNvSpPr/>
          <p:nvPr/>
        </p:nvSpPr>
        <p:spPr>
          <a:xfrm>
            <a:off x="8024724" y="3573661"/>
            <a:ext cx="3183026"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تقنية المعلومات، وملاك الأنظمة، والموارد البشرية.</a:t>
            </a:r>
            <a:endParaRPr lang="ar-SA" sz="1200" dirty="0" altLang="en-US"/>
          </a:p>
        </p:txBody>
      </p:sp>
      <p:sp>
        <p:nvSpPr>
          <p:cNvPr id="24" name="Shape 21"/>
          <p:cNvSpPr/>
          <p:nvPr/>
        </p:nvSpPr>
        <p:spPr>
          <a:xfrm>
            <a:off x="819150" y="4201021"/>
            <a:ext cx="10553700" cy="446088"/>
          </a:xfrm>
          <a:prstGeom prst="roundRect">
            <a:avLst>
              <a:gd name="adj" fmla="val 18505"/>
            </a:avLst>
          </a:prstGeom>
          <a:noFill/>
          <a:ln w="12700">
            <a:solidFill>
              <a:srgbClr val="B9B09C"/>
            </a:solidFill>
            <a:prstDash val="dash"/>
          </a:ln>
        </p:spPr>
      </p:sp>
      <p:sp>
        <p:nvSpPr>
          <p:cNvPr id="25" name="Text 22"/>
          <p:cNvSpPr/>
          <p:nvPr/>
        </p:nvSpPr>
        <p:spPr>
          <a:xfrm>
            <a:off x="693420" y="4308971"/>
            <a:ext cx="10203180"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4E5A66"/>
                </a:solidFill>
                <a:latin typeface="IBM Plex Sans Arabic" pitchFamily="34" charset="0"/>
                <a:ea typeface="IBM Plex Sans Arabic" pitchFamily="34" charset="-122"/>
                <a:cs typeface="IBM Plex Sans Arabic" pitchFamily="34" charset="-120"/>
              </a:rPr>
              <a:t/>
            </a:r>
            <a:r>
              <a:rPr lang="ar-SA" sz="1250" b="1" dirty="0" altLang="en-US">
                <a:solidFill>
                  <a:srgbClr val="4E5A66"/>
                </a:solidFill>
                <a:latin typeface="IBM Plex Sans Arabic" pitchFamily="34" charset="0"/>
                <a:ea typeface="IBM Plex Sans Arabic" pitchFamily="34" charset="-122"/>
                <a:cs typeface="IBM Plex Sans Arabic" pitchFamily="34" charset="-120"/>
              </a:rPr>
              <a:t>من الخارج:</a:t>
            </a:r>
            <a:r>
              <a:rPr lang="ar-SA" sz="1250" dirty="0" altLang="en-US">
                <a:solidFill>
                  <a:srgbClr val="4E5A66"/>
                </a:solidFill>
                <a:latin typeface="IBM Plex Sans Arabic" pitchFamily="34" charset="0"/>
                <a:ea typeface="IBM Plex Sans Arabic" pitchFamily="34" charset="-122"/>
                <a:cs typeface="IBM Plex Sans Arabic" pitchFamily="34" charset="-120"/>
              </a:rPr>
              <a:t> المدقق الخارجي والجهات الرقابية يقدمون تأكيداً إضافياً.</a:t>
            </a:r>
            <a:endParaRPr lang="ar-SA" sz="1250" dirty="0" altLang="en-US"/>
          </a:p>
        </p:txBody>
      </p:sp>
      <p:pic>
        <p:nvPicPr>
          <p:cNvPr id="26" name="Image 1" descr="Globe">    </p:cNvPr>
          <p:cNvPicPr>
            <a:picLocks noChangeAspect="1"/>
          </p:cNvPicPr>
          <p:nvPr/>
        </p:nvPicPr>
        <p:blipFill>
          <a:blip r:embed="rId2"/>
          <a:srcRect l="0" r="0" t="0" b="0"/>
          <a:stretch/>
        </p:blipFill>
        <p:spPr>
          <a:xfrm>
            <a:off x="10998200" y="4322465"/>
            <a:ext cx="203200" cy="203200"/>
          </a:xfrm>
          <a:prstGeom prst="rect">
            <a:avLst/>
          </a:prstGeom>
        </p:spPr>
      </p:pic>
      <p:sp>
        <p:nvSpPr>
          <p:cNvPr id="27" name="Text 2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17</a:t>
            </a:r>
            <a:endParaRPr lang="en-US" sz="1200" dirty="0"/>
          </a:p>
        </p:txBody>
      </p:sp>
      <p:sp>
        <p:nvSpPr>
          <p:cNvPr id="28" name="Text 2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الأدلة والتدقيق: كيف نثبت أن الضابط يعمل؟</a:t>
            </a:r>
            <a:endParaRPr lang="ar-SA" sz="3000" dirty="0" altLang="en-US"/>
          </a:p>
        </p:txBody>
      </p:sp>
      <p:sp>
        <p:nvSpPr>
          <p:cNvPr id="5" name="Text 3"/>
          <p:cNvSpPr/>
          <p:nvPr/>
        </p:nvSpPr>
        <p:spPr>
          <a:xfrm>
            <a:off x="658114" y="1857970"/>
            <a:ext cx="5310886" cy="306040"/>
          </a:xfrm>
          <a:prstGeom prst="rect">
            <a:avLst/>
          </a:prstGeom>
          <a:noFill/>
          <a:ln/>
        </p:spPr>
        <p:txBody>
          <a:bodyPr wrap="square" lIns="0" tIns="0" rIns="0" bIns="0" rtlCol="0" anchor="t">
            <a:normAutofit/>
          </a:bodyPr>
          <a:lstStyle/>
          <a:p>
            <a:pPr algn="r" indent="0" marL="0" rtl="1">
              <a:lnSpc>
                <a:spcPts val="2210"/>
              </a:lnSpc>
              <a:buNone/>
            </a:pPr>
            <a:r>
              <a:rPr lang="ar-SA" sz="1700" b="1" dirty="0" altLang="en-US">
                <a:solidFill>
                  <a:srgbClr val="9A5F0F"/>
                </a:solidFill>
                <a:latin typeface="Readex Pro" pitchFamily="34" charset="0"/>
                <a:ea typeface="Readex Pro" pitchFamily="34" charset="-122"/>
                <a:cs typeface="Readex Pro" pitchFamily="34" charset="-120"/>
              </a:rPr>
              <a:t>عناصر الملاحظة المكتوبة</a:t>
            </a:r>
            <a:endParaRPr lang="ar-SA" sz="1700" dirty="0" altLang="en-US"/>
          </a:p>
        </p:txBody>
      </p:sp>
      <p:sp>
        <p:nvSpPr>
          <p:cNvPr id="6" name="Shape 4"/>
          <p:cNvSpPr/>
          <p:nvPr/>
        </p:nvSpPr>
        <p:spPr>
          <a:xfrm>
            <a:off x="5965825" y="2240211"/>
            <a:ext cx="0" cy="2095500"/>
          </a:xfrm>
          <a:prstGeom prst="line">
            <a:avLst/>
          </a:prstGeom>
          <a:noFill/>
          <a:ln w="6350">
            <a:solidFill>
              <a:srgbClr val="D9D2C2"/>
            </a:solidFill>
            <a:prstDash val="solid"/>
          </a:ln>
        </p:spPr>
      </p:sp>
      <p:sp>
        <p:nvSpPr>
          <p:cNvPr id="7" name="Shape 5"/>
          <p:cNvSpPr/>
          <p:nvPr/>
        </p:nvSpPr>
        <p:spPr>
          <a:xfrm>
            <a:off x="812800" y="4332536"/>
            <a:ext cx="5156200" cy="0"/>
          </a:xfrm>
          <a:prstGeom prst="line">
            <a:avLst/>
          </a:prstGeom>
          <a:noFill/>
          <a:ln w="6350">
            <a:solidFill>
              <a:srgbClr val="D9D2C2"/>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252911"/>
          <a:ext cx="5137150" cy="2076450"/>
        </p:xfrm>
        <a:graphic>
          <a:graphicData uri="http://schemas.openxmlformats.org/drawingml/2006/table">
            <a:tbl>
              <a:tblPr/>
              <a:tblGrid>
                <a:gridCol w="3185033"/>
                <a:gridCol w="1952117"/>
              </a:tblGrid>
              <a:tr h="346075">
                <a:tc>
                  <a:txBody>
                    <a:bodyPr/>
                    <a:lstStyle/>
                    <a:p>
                      <a:pPr algn="r" indent="0" marL="0" rtl="1">
                        <a:lnSpc>
                          <a:spcPts val="1750"/>
                        </a:lnSpc>
                        <a:buNone/>
                      </a:pPr>
                      <a:r>
                        <a:rPr lang="ar-SA" sz="1250" b="1" dirty="0" altLang="en-US">
                          <a:solidFill>
                            <a:srgbClr val="F3EFE6"/>
                          </a:solidFill>
                          <a:latin typeface="IBM Plex Sans Arabic" pitchFamily="34" charset="0"/>
                          <a:ea typeface="IBM Plex Sans Arabic" pitchFamily="34" charset="-122"/>
                          <a:cs typeface="IBM Plex Sans Arabic" pitchFamily="34" charset="-120"/>
                        </a:rPr>
                        <a:t>مثال</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c>
                  <a:txBody>
                    <a:bodyPr/>
                    <a:lstStyle/>
                    <a:p>
                      <a:pPr algn="r" indent="0" marL="0" rtl="1">
                        <a:lnSpc>
                          <a:spcPts val="1750"/>
                        </a:lnSpc>
                        <a:buNone/>
                      </a:pPr>
                      <a:r>
                        <a:rPr lang="ar-SA" sz="1250" b="1" dirty="0" altLang="en-US">
                          <a:solidFill>
                            <a:srgbClr val="F3EFE6"/>
                          </a:solidFill>
                          <a:latin typeface="IBM Plex Sans Arabic" pitchFamily="34" charset="0"/>
                          <a:ea typeface="IBM Plex Sans Arabic" pitchFamily="34" charset="-122"/>
                          <a:cs typeface="IBM Plex Sans Arabic" pitchFamily="34" charset="-120"/>
                        </a:rPr>
                        <a:t>العنصر</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16202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r>
              <a:tr h="346075">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13 حساباً مميزاً بلا تحقق متعدد العوامل</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الوضع القائم</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46075">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السياسة تشترطه لكل الحسابات المميزة</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المعيار</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r>
              <a:tr h="346075">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لا حصر دوري للحسابات المميزة</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السبب</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46075">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كلمة مرور مسروقة تكفي للسيطرة</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الأثر</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r>
              <a:tr h="346075">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إلزام فوري وحصر شهري، بمالك وموعد</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التوصية</a:t>
                      </a:r>
                      <a:endParaRPr lang="ar-SA" sz="1250" dirty="0" altLang="en-US">
                        <a:latin typeface="IBM Plex Sans Arabic" charset="0"/>
                        <a:ea typeface="IBM Plex Sans Arabic" charset="0"/>
                        <a:cs typeface="IBM Plex Sans Arabic" charset="0"/>
                      </a:endParaRPr>
                    </a:p>
                  </a:txBody>
                  <a:tcPr marL="55563" marR="55563" marT="55563" marB="55563"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9" name="Text 6"/>
          <p:cNvSpPr/>
          <p:nvPr/>
        </p:nvSpPr>
        <p:spPr>
          <a:xfrm>
            <a:off x="6068314" y="1857970"/>
            <a:ext cx="5310886" cy="306040"/>
          </a:xfrm>
          <a:prstGeom prst="rect">
            <a:avLst/>
          </a:prstGeom>
          <a:noFill/>
          <a:ln/>
        </p:spPr>
        <p:txBody>
          <a:bodyPr wrap="square" lIns="0" tIns="0" rIns="0" bIns="0" rtlCol="0" anchor="t">
            <a:normAutofit/>
          </a:bodyPr>
          <a:lstStyle/>
          <a:p>
            <a:pPr algn="r" indent="0" marL="0" rtl="1">
              <a:lnSpc>
                <a:spcPts val="2210"/>
              </a:lnSpc>
              <a:buNone/>
            </a:pPr>
            <a:r>
              <a:rPr lang="ar-SA" sz="1700" b="1" dirty="0" altLang="en-US">
                <a:solidFill>
                  <a:srgbClr val="0E7C6B"/>
                </a:solidFill>
                <a:latin typeface="Readex Pro" pitchFamily="34" charset="0"/>
                <a:ea typeface="Readex Pro" pitchFamily="34" charset="-122"/>
                <a:cs typeface="Readex Pro" pitchFamily="34" charset="-120"/>
              </a:rPr>
              <a:t>أنواع الأدلة</a:t>
            </a:r>
            <a:endParaRPr lang="ar-SA" sz="1700" dirty="0" altLang="en-US"/>
          </a:p>
        </p:txBody>
      </p:sp>
      <p:sp>
        <p:nvSpPr>
          <p:cNvPr id="10" name="Text 7"/>
          <p:cNvSpPr/>
          <p:nvPr/>
        </p:nvSpPr>
        <p:spPr>
          <a:xfrm>
            <a:off x="6076696" y="2240211"/>
            <a:ext cx="5023104"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وثيقة معتمدة: سياسة، أو محضر</a:t>
            </a:r>
            <a:endParaRPr lang="ar-SA" sz="1300" dirty="0" altLang="en-US"/>
          </a:p>
        </p:txBody>
      </p:sp>
      <p:pic>
        <p:nvPicPr>
          <p:cNvPr id="11" name="Image 0" descr="Book">    </p:cNvPr>
          <p:cNvPicPr>
            <a:picLocks noChangeAspect="1"/>
          </p:cNvPicPr>
          <p:nvPr/>
        </p:nvPicPr>
        <p:blipFill>
          <a:blip r:embed="rId1"/>
          <a:srcRect l="0" r="0" t="0" b="0"/>
          <a:stretch/>
        </p:blipFill>
        <p:spPr>
          <a:xfrm>
            <a:off x="11176000" y="2258268"/>
            <a:ext cx="203200" cy="203200"/>
          </a:xfrm>
          <a:prstGeom prst="rect">
            <a:avLst/>
          </a:prstGeom>
        </p:spPr>
      </p:pic>
      <p:sp>
        <p:nvSpPr>
          <p:cNvPr id="12" name="Text 8"/>
          <p:cNvSpPr/>
          <p:nvPr/>
        </p:nvSpPr>
        <p:spPr>
          <a:xfrm>
            <a:off x="6076696" y="2581176"/>
            <a:ext cx="5023104"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إعداد من النظام: تصدير مؤرخ</a:t>
            </a:r>
            <a:endParaRPr lang="ar-SA" sz="1300" dirty="0" altLang="en-US"/>
          </a:p>
        </p:txBody>
      </p:sp>
      <p:pic>
        <p:nvPicPr>
          <p:cNvPr id="13" name="Image 1" descr="Settings">    </p:cNvPr>
          <p:cNvPicPr>
            <a:picLocks noChangeAspect="1"/>
          </p:cNvPicPr>
          <p:nvPr/>
        </p:nvPicPr>
        <p:blipFill>
          <a:blip r:embed="rId2"/>
          <a:srcRect l="0" r="0" t="0" b="0"/>
          <a:stretch/>
        </p:blipFill>
        <p:spPr>
          <a:xfrm>
            <a:off x="11176000" y="2599234"/>
            <a:ext cx="203200" cy="203200"/>
          </a:xfrm>
          <a:prstGeom prst="rect">
            <a:avLst/>
          </a:prstGeom>
        </p:spPr>
      </p:pic>
      <p:sp>
        <p:nvSpPr>
          <p:cNvPr id="14" name="Text 9"/>
          <p:cNvSpPr/>
          <p:nvPr/>
        </p:nvSpPr>
        <p:spPr>
          <a:xfrm>
            <a:off x="6076696" y="2922141"/>
            <a:ext cx="5023104"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سجلات وتقارير: ما حدث فعلاً</a:t>
            </a:r>
            <a:endParaRPr lang="ar-SA" sz="1300" dirty="0" altLang="en-US"/>
          </a:p>
        </p:txBody>
      </p:sp>
      <p:pic>
        <p:nvPicPr>
          <p:cNvPr id="15" name="Image 2" descr="Database">    </p:cNvPr>
          <p:cNvPicPr>
            <a:picLocks noChangeAspect="1"/>
          </p:cNvPicPr>
          <p:nvPr/>
        </p:nvPicPr>
        <p:blipFill>
          <a:blip r:embed="rId3"/>
          <a:srcRect l="0" r="0" t="0" b="0"/>
          <a:stretch/>
        </p:blipFill>
        <p:spPr>
          <a:xfrm>
            <a:off x="11176000" y="2940199"/>
            <a:ext cx="203200" cy="203200"/>
          </a:xfrm>
          <a:prstGeom prst="rect">
            <a:avLst/>
          </a:prstGeom>
        </p:spPr>
      </p:pic>
      <p:sp>
        <p:nvSpPr>
          <p:cNvPr id="16" name="Text 10"/>
          <p:cNvSpPr/>
          <p:nvPr/>
        </p:nvSpPr>
        <p:spPr>
          <a:xfrm>
            <a:off x="6076696" y="3263106"/>
            <a:ext cx="5023104"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مقابلة أو ملاحظة مباشرة</a:t>
            </a:r>
            <a:endParaRPr lang="ar-SA" sz="1300" dirty="0" altLang="en-US"/>
          </a:p>
        </p:txBody>
      </p:sp>
      <p:pic>
        <p:nvPicPr>
          <p:cNvPr id="17" name="Image 3" descr="Chat">    </p:cNvPr>
          <p:cNvPicPr>
            <a:picLocks noChangeAspect="1"/>
          </p:cNvPicPr>
          <p:nvPr/>
        </p:nvPicPr>
        <p:blipFill>
          <a:blip r:embed="rId4"/>
          <a:srcRect l="0" r="0" t="0" b="0"/>
          <a:stretch/>
        </p:blipFill>
        <p:spPr>
          <a:xfrm>
            <a:off x="11176000" y="3281164"/>
            <a:ext cx="203200" cy="203200"/>
          </a:xfrm>
          <a:prstGeom prst="rect">
            <a:avLst/>
          </a:prstGeom>
        </p:spPr>
      </p:pic>
      <p:sp>
        <p:nvSpPr>
          <p:cNvPr id="18" name="Shape 11"/>
          <p:cNvSpPr/>
          <p:nvPr/>
        </p:nvSpPr>
        <p:spPr>
          <a:xfrm>
            <a:off x="6226175" y="3607246"/>
            <a:ext cx="5149850" cy="749895"/>
          </a:xfrm>
          <a:prstGeom prst="roundRect">
            <a:avLst>
              <a:gd name="adj" fmla="val 11432"/>
            </a:avLst>
          </a:prstGeom>
          <a:solidFill>
            <a:srgbClr val="FFFDF8"/>
          </a:solidFill>
          <a:ln w="6350">
            <a:solidFill>
              <a:srgbClr val="E1DBCD"/>
            </a:solidFill>
            <a:prstDash val="solid"/>
          </a:ln>
        </p:spPr>
      </p:sp>
      <p:sp>
        <p:nvSpPr>
          <p:cNvPr id="19" name="Text 12"/>
          <p:cNvSpPr/>
          <p:nvPr/>
        </p:nvSpPr>
        <p:spPr>
          <a:xfrm>
            <a:off x="6236589" y="3737421"/>
            <a:ext cx="4983861"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4E5A66"/>
                </a:solidFill>
                <a:latin typeface="IBM Plex Sans Arabic" pitchFamily="34" charset="0"/>
                <a:ea typeface="IBM Plex Sans Arabic" pitchFamily="34" charset="-122"/>
                <a:cs typeface="IBM Plex Sans Arabic" pitchFamily="34" charset="-120"/>
              </a:rPr>
              <a:t>الدليل الجيد</a:t>
            </a:r>
            <a:endParaRPr lang="ar-SA" sz="1200" dirty="0" altLang="en-US"/>
          </a:p>
        </p:txBody>
      </p:sp>
      <p:sp>
        <p:nvSpPr>
          <p:cNvPr id="20" name="Text 13"/>
          <p:cNvSpPr/>
          <p:nvPr/>
        </p:nvSpPr>
        <p:spPr>
          <a:xfrm>
            <a:off x="6229350" y="3988842"/>
            <a:ext cx="4991100" cy="263525"/>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مرتبط بالضابط، ومؤرخ ضمن الفترة، ومن مصدره، ويغطي المجتمع كله أو عينة مبررة.</a:t>
            </a:r>
            <a:endParaRPr lang="ar-SA" sz="1250" dirty="0" altLang="en-US"/>
          </a:p>
        </p:txBody>
      </p:sp>
      <p:sp>
        <p:nvSpPr>
          <p:cNvPr id="21" name="Text 14"/>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18</a:t>
            </a:r>
            <a:endParaRPr lang="en-US" sz="1200" dirty="0"/>
          </a:p>
        </p:txBody>
      </p:sp>
      <p:sp>
        <p:nvSpPr>
          <p:cNvPr id="22" name="Text 15"/>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مخاطر الأطراف الخارجية: دورة حياة المورد</a:t>
            </a:r>
            <a:endParaRPr lang="ar-SA" sz="3000" dirty="0" altLang="en-US"/>
          </a:p>
        </p:txBody>
      </p:sp>
      <p:sp>
        <p:nvSpPr>
          <p:cNvPr id="5" name="Text 3"/>
          <p:cNvSpPr/>
          <p:nvPr/>
        </p:nvSpPr>
        <p:spPr>
          <a:xfrm>
            <a:off x="495808" y="1883370"/>
            <a:ext cx="10883392" cy="292100"/>
          </a:xfrm>
          <a:prstGeom prst="rect">
            <a:avLst/>
          </a:prstGeom>
          <a:noFill/>
          <a:ln/>
        </p:spPr>
        <p:txBody>
          <a:bodyPr wrap="square" lIns="0" tIns="0" rIns="0" bIns="0" rtlCol="0" anchor="t">
            <a:normAutofit/>
          </a:bodyPr>
          <a:lstStyle/>
          <a:p>
            <a:pPr algn="r" indent="0" marL="0" rtl="1">
              <a:lnSpc>
                <a:spcPts val="2100"/>
              </a:lnSpc>
              <a:buNone/>
            </a:pPr>
            <a:r>
              <a:rPr lang="ar-SA" sz="1400" dirty="0" altLang="en-US">
                <a:solidFill>
                  <a:srgbClr val="4E5A66"/>
                </a:solidFill>
                <a:latin typeface="IBM Plex Sans Arabic" pitchFamily="34" charset="0"/>
                <a:ea typeface="IBM Plex Sans Arabic" pitchFamily="34" charset="-122"/>
                <a:cs typeface="IBM Plex Sans Arabic" pitchFamily="34" charset="-120"/>
              </a:rPr>
              <a:t>حين تُسند خدمة إلى مورد، ينتقل جزء من العمل، ولا تنتقل المسؤولية.</a:t>
            </a:r>
            <a:endParaRPr lang="ar-SA" sz="1400" dirty="0" altLang="en-US"/>
          </a:p>
        </p:txBody>
      </p:sp>
      <p:sp>
        <p:nvSpPr>
          <p:cNvPr id="6" name="Shape 4"/>
          <p:cNvSpPr/>
          <p:nvPr/>
        </p:nvSpPr>
        <p:spPr>
          <a:xfrm>
            <a:off x="815975" y="2381845"/>
            <a:ext cx="2035770" cy="1381720"/>
          </a:xfrm>
          <a:prstGeom prst="roundRect">
            <a:avLst>
              <a:gd name="adj" fmla="val 7123"/>
            </a:avLst>
          </a:prstGeom>
          <a:solidFill>
            <a:srgbClr val="FFFDF8"/>
          </a:solidFill>
          <a:ln w="6350">
            <a:solidFill>
              <a:srgbClr val="E1DBCD"/>
            </a:solidFill>
            <a:prstDash val="solid"/>
          </a:ln>
        </p:spPr>
      </p:sp>
      <p:sp>
        <p:nvSpPr>
          <p:cNvPr id="7" name="Text 5"/>
          <p:cNvSpPr/>
          <p:nvPr/>
        </p:nvSpPr>
        <p:spPr>
          <a:xfrm>
            <a:off x="919811" y="2537420"/>
            <a:ext cx="1776359"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0E7C6B"/>
                </a:solidFill>
                <a:latin typeface="Readex Pro" pitchFamily="34" charset="0"/>
                <a:ea typeface="Readex Pro" pitchFamily="34" charset="-122"/>
                <a:cs typeface="Readex Pro" pitchFamily="34" charset="-120"/>
              </a:rPr>
              <a:t>5</a:t>
            </a:r>
            <a:endParaRPr lang="en-US" sz="2000" dirty="0"/>
          </a:p>
        </p:txBody>
      </p:sp>
      <p:sp>
        <p:nvSpPr>
          <p:cNvPr id="8" name="Text 6"/>
          <p:cNvSpPr/>
          <p:nvPr/>
        </p:nvSpPr>
        <p:spPr>
          <a:xfrm>
            <a:off x="919811" y="2854920"/>
            <a:ext cx="1776359" cy="273050"/>
          </a:xfrm>
          <a:prstGeom prst="rect">
            <a:avLst/>
          </a:prstGeom>
          <a:noFill/>
          <a:ln/>
        </p:spPr>
        <p:txBody>
          <a:bodyPr wrap="square" lIns="0" tIns="0" rIns="0" bIns="0" rtlCol="0" anchor="t">
            <a:normAutofit/>
          </a:bodyPr>
          <a:lstStyle/>
          <a:p>
            <a:pPr algn="r" indent="0" marL="0" rtl="1">
              <a:lnSpc>
                <a:spcPts val="1950"/>
              </a:lnSpc>
              <a:buNone/>
            </a:pPr>
            <a:r>
              <a:rPr lang="ar-SA" sz="1500" b="1" dirty="0" altLang="en-US">
                <a:solidFill>
                  <a:srgbClr val="172433"/>
                </a:solidFill>
                <a:latin typeface="Readex Pro" pitchFamily="34" charset="0"/>
                <a:ea typeface="Readex Pro" pitchFamily="34" charset="-122"/>
                <a:cs typeface="Readex Pro" pitchFamily="34" charset="-120"/>
              </a:rPr>
              <a:t>الإنهاء</a:t>
            </a:r>
            <a:endParaRPr lang="ar-SA" sz="1500" dirty="0" altLang="en-US"/>
          </a:p>
        </p:txBody>
      </p:sp>
      <p:sp>
        <p:nvSpPr>
          <p:cNvPr id="9" name="Text 7"/>
          <p:cNvSpPr/>
          <p:nvPr/>
        </p:nvSpPr>
        <p:spPr>
          <a:xfrm>
            <a:off x="919811" y="3166070"/>
            <a:ext cx="1776359"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إعادة البيانات، وحذفها بشهادة، وإلغاء الصلاحيات.</a:t>
            </a:r>
            <a:endParaRPr lang="ar-SA" sz="1200" dirty="0" altLang="en-US"/>
          </a:p>
        </p:txBody>
      </p:sp>
      <p:sp>
        <p:nvSpPr>
          <p:cNvPr id="10" name="Shape 8"/>
          <p:cNvSpPr/>
          <p:nvPr/>
        </p:nvSpPr>
        <p:spPr>
          <a:xfrm>
            <a:off x="2946995" y="2381845"/>
            <a:ext cx="2035820" cy="1381720"/>
          </a:xfrm>
          <a:prstGeom prst="roundRect">
            <a:avLst>
              <a:gd name="adj" fmla="val 7123"/>
            </a:avLst>
          </a:prstGeom>
          <a:solidFill>
            <a:srgbClr val="FFFDF8"/>
          </a:solidFill>
          <a:ln w="6350">
            <a:solidFill>
              <a:srgbClr val="E1DBCD"/>
            </a:solidFill>
            <a:prstDash val="solid"/>
          </a:ln>
        </p:spPr>
      </p:sp>
      <p:sp>
        <p:nvSpPr>
          <p:cNvPr id="11" name="Text 9"/>
          <p:cNvSpPr/>
          <p:nvPr/>
        </p:nvSpPr>
        <p:spPr>
          <a:xfrm>
            <a:off x="3050830" y="2537420"/>
            <a:ext cx="177641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0E7C6B"/>
                </a:solidFill>
                <a:latin typeface="Readex Pro" pitchFamily="34" charset="0"/>
                <a:ea typeface="Readex Pro" pitchFamily="34" charset="-122"/>
                <a:cs typeface="Readex Pro" pitchFamily="34" charset="-120"/>
              </a:rPr>
              <a:t>4</a:t>
            </a:r>
            <a:endParaRPr lang="en-US" sz="2000" dirty="0"/>
          </a:p>
        </p:txBody>
      </p:sp>
      <p:sp>
        <p:nvSpPr>
          <p:cNvPr id="12" name="Text 10"/>
          <p:cNvSpPr/>
          <p:nvPr/>
        </p:nvSpPr>
        <p:spPr>
          <a:xfrm>
            <a:off x="3050830" y="2854920"/>
            <a:ext cx="1776410" cy="273050"/>
          </a:xfrm>
          <a:prstGeom prst="rect">
            <a:avLst/>
          </a:prstGeom>
          <a:noFill/>
          <a:ln/>
        </p:spPr>
        <p:txBody>
          <a:bodyPr wrap="square" lIns="0" tIns="0" rIns="0" bIns="0" rtlCol="0" anchor="t">
            <a:normAutofit/>
          </a:bodyPr>
          <a:lstStyle/>
          <a:p>
            <a:pPr algn="r" indent="0" marL="0" rtl="1">
              <a:lnSpc>
                <a:spcPts val="1950"/>
              </a:lnSpc>
              <a:buNone/>
            </a:pPr>
            <a:r>
              <a:rPr lang="ar-SA" sz="1500" b="1" dirty="0" altLang="en-US">
                <a:solidFill>
                  <a:srgbClr val="172433"/>
                </a:solidFill>
                <a:latin typeface="Readex Pro" pitchFamily="34" charset="0"/>
                <a:ea typeface="Readex Pro" pitchFamily="34" charset="-122"/>
                <a:cs typeface="Readex Pro" pitchFamily="34" charset="-120"/>
              </a:rPr>
              <a:t>المتابعة</a:t>
            </a:r>
            <a:endParaRPr lang="ar-SA" sz="1500" dirty="0" altLang="en-US"/>
          </a:p>
        </p:txBody>
      </p:sp>
      <p:sp>
        <p:nvSpPr>
          <p:cNvPr id="13" name="Text 11"/>
          <p:cNvSpPr/>
          <p:nvPr/>
        </p:nvSpPr>
        <p:spPr>
          <a:xfrm>
            <a:off x="3050830" y="3166070"/>
            <a:ext cx="1776410"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تقارير الخدمة، ومراجعة دورية، وتحديث التقييم.</a:t>
            </a:r>
            <a:endParaRPr lang="ar-SA" sz="1200" dirty="0" altLang="en-US"/>
          </a:p>
        </p:txBody>
      </p:sp>
      <p:sp>
        <p:nvSpPr>
          <p:cNvPr id="14" name="Shape 12"/>
          <p:cNvSpPr/>
          <p:nvPr/>
        </p:nvSpPr>
        <p:spPr>
          <a:xfrm>
            <a:off x="5078065" y="2381845"/>
            <a:ext cx="2035820" cy="1381720"/>
          </a:xfrm>
          <a:prstGeom prst="roundRect">
            <a:avLst>
              <a:gd name="adj" fmla="val 7123"/>
            </a:avLst>
          </a:prstGeom>
          <a:solidFill>
            <a:srgbClr val="FFFDF8"/>
          </a:solidFill>
          <a:ln w="6350">
            <a:solidFill>
              <a:srgbClr val="E1DBCD"/>
            </a:solidFill>
            <a:prstDash val="solid"/>
          </a:ln>
        </p:spPr>
      </p:sp>
      <p:sp>
        <p:nvSpPr>
          <p:cNvPr id="15" name="Text 13"/>
          <p:cNvSpPr/>
          <p:nvPr/>
        </p:nvSpPr>
        <p:spPr>
          <a:xfrm>
            <a:off x="5181900" y="2537420"/>
            <a:ext cx="177641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0E7C6B"/>
                </a:solidFill>
                <a:latin typeface="Readex Pro" pitchFamily="34" charset="0"/>
                <a:ea typeface="Readex Pro" pitchFamily="34" charset="-122"/>
                <a:cs typeface="Readex Pro" pitchFamily="34" charset="-120"/>
              </a:rPr>
              <a:t>3</a:t>
            </a:r>
            <a:endParaRPr lang="en-US" sz="2000" dirty="0"/>
          </a:p>
        </p:txBody>
      </p:sp>
      <p:sp>
        <p:nvSpPr>
          <p:cNvPr id="16" name="Text 14"/>
          <p:cNvSpPr/>
          <p:nvPr/>
        </p:nvSpPr>
        <p:spPr>
          <a:xfrm>
            <a:off x="5181900" y="2854920"/>
            <a:ext cx="1776410" cy="273050"/>
          </a:xfrm>
          <a:prstGeom prst="rect">
            <a:avLst/>
          </a:prstGeom>
          <a:noFill/>
          <a:ln/>
        </p:spPr>
        <p:txBody>
          <a:bodyPr wrap="square" lIns="0" tIns="0" rIns="0" bIns="0" rtlCol="0" anchor="t">
            <a:normAutofit/>
          </a:bodyPr>
          <a:lstStyle/>
          <a:p>
            <a:pPr algn="r" indent="0" marL="0" rtl="1">
              <a:lnSpc>
                <a:spcPts val="1950"/>
              </a:lnSpc>
              <a:buNone/>
            </a:pPr>
            <a:r>
              <a:rPr lang="ar-SA" sz="1500" b="1" dirty="0" altLang="en-US">
                <a:solidFill>
                  <a:srgbClr val="172433"/>
                </a:solidFill>
                <a:latin typeface="Readex Pro" pitchFamily="34" charset="0"/>
                <a:ea typeface="Readex Pro" pitchFamily="34" charset="-122"/>
                <a:cs typeface="Readex Pro" pitchFamily="34" charset="-120"/>
              </a:rPr>
              <a:t>العقد</a:t>
            </a:r>
            <a:endParaRPr lang="ar-SA" sz="1500" dirty="0" altLang="en-US"/>
          </a:p>
        </p:txBody>
      </p:sp>
      <p:sp>
        <p:nvSpPr>
          <p:cNvPr id="17" name="Text 15"/>
          <p:cNvSpPr/>
          <p:nvPr/>
        </p:nvSpPr>
        <p:spPr>
          <a:xfrm>
            <a:off x="5181900" y="3166070"/>
            <a:ext cx="1776410"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السرية، والإبلاغ عن الحوادث، وحق التدقيق، وحذف البيانات.</a:t>
            </a:r>
            <a:endParaRPr lang="ar-SA" sz="1200" dirty="0" altLang="en-US"/>
          </a:p>
        </p:txBody>
      </p:sp>
      <p:sp>
        <p:nvSpPr>
          <p:cNvPr id="18" name="Shape 16"/>
          <p:cNvSpPr/>
          <p:nvPr/>
        </p:nvSpPr>
        <p:spPr>
          <a:xfrm>
            <a:off x="7209135" y="2381845"/>
            <a:ext cx="2035820" cy="1381720"/>
          </a:xfrm>
          <a:prstGeom prst="roundRect">
            <a:avLst>
              <a:gd name="adj" fmla="val 7123"/>
            </a:avLst>
          </a:prstGeom>
          <a:solidFill>
            <a:srgbClr val="FFFDF8"/>
          </a:solidFill>
          <a:ln w="6350">
            <a:solidFill>
              <a:srgbClr val="E1DBCD"/>
            </a:solidFill>
            <a:prstDash val="solid"/>
          </a:ln>
        </p:spPr>
      </p:sp>
      <p:sp>
        <p:nvSpPr>
          <p:cNvPr id="19" name="Text 17"/>
          <p:cNvSpPr/>
          <p:nvPr/>
        </p:nvSpPr>
        <p:spPr>
          <a:xfrm>
            <a:off x="7312970" y="2537420"/>
            <a:ext cx="177641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0E7C6B"/>
                </a:solidFill>
                <a:latin typeface="Readex Pro" pitchFamily="34" charset="0"/>
                <a:ea typeface="Readex Pro" pitchFamily="34" charset="-122"/>
                <a:cs typeface="Readex Pro" pitchFamily="34" charset="-120"/>
              </a:rPr>
              <a:t>2</a:t>
            </a:r>
            <a:endParaRPr lang="en-US" sz="2000" dirty="0"/>
          </a:p>
        </p:txBody>
      </p:sp>
      <p:sp>
        <p:nvSpPr>
          <p:cNvPr id="20" name="Text 18"/>
          <p:cNvSpPr/>
          <p:nvPr/>
        </p:nvSpPr>
        <p:spPr>
          <a:xfrm>
            <a:off x="7212310" y="2854920"/>
            <a:ext cx="1877070" cy="273050"/>
          </a:xfrm>
          <a:prstGeom prst="rect">
            <a:avLst/>
          </a:prstGeom>
          <a:noFill/>
          <a:ln/>
        </p:spPr>
        <p:txBody>
          <a:bodyPr wrap="square" lIns="0" tIns="0" rIns="0" bIns="0" rtlCol="0" anchor="t">
            <a:normAutofit/>
          </a:bodyPr>
          <a:lstStyle/>
          <a:p>
            <a:pPr algn="r" indent="0" marL="0" rtl="1">
              <a:lnSpc>
                <a:spcPts val="1950"/>
              </a:lnSpc>
              <a:buNone/>
            </a:pPr>
            <a:r>
              <a:rPr lang="ar-SA" sz="1500" b="1" dirty="0" altLang="en-US">
                <a:solidFill>
                  <a:srgbClr val="172433"/>
                </a:solidFill>
                <a:latin typeface="Readex Pro" pitchFamily="34" charset="0"/>
                <a:ea typeface="Readex Pro" pitchFamily="34" charset="-122"/>
                <a:cs typeface="Readex Pro" pitchFamily="34" charset="-120"/>
              </a:rPr>
              <a:t>التقييم قبل التعاقد</a:t>
            </a:r>
            <a:endParaRPr lang="ar-SA" sz="1500" dirty="0" altLang="en-US"/>
          </a:p>
        </p:txBody>
      </p:sp>
      <p:sp>
        <p:nvSpPr>
          <p:cNvPr id="21" name="Text 19"/>
          <p:cNvSpPr/>
          <p:nvPr/>
        </p:nvSpPr>
        <p:spPr>
          <a:xfrm>
            <a:off x="7312970" y="3166070"/>
            <a:ext cx="1776410"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استبيان أمني، وأدلة، وتصنيف لمخاطر المورد.</a:t>
            </a:r>
            <a:endParaRPr lang="ar-SA" sz="1200" dirty="0" altLang="en-US"/>
          </a:p>
        </p:txBody>
      </p:sp>
      <p:sp>
        <p:nvSpPr>
          <p:cNvPr id="22" name="Shape 20"/>
          <p:cNvSpPr/>
          <p:nvPr/>
        </p:nvSpPr>
        <p:spPr>
          <a:xfrm>
            <a:off x="9340205" y="2381845"/>
            <a:ext cx="2035820" cy="1381720"/>
          </a:xfrm>
          <a:prstGeom prst="roundRect">
            <a:avLst>
              <a:gd name="adj" fmla="val 7123"/>
            </a:avLst>
          </a:prstGeom>
          <a:solidFill>
            <a:srgbClr val="FFFDF8"/>
          </a:solidFill>
          <a:ln w="6350">
            <a:solidFill>
              <a:srgbClr val="E1DBCD"/>
            </a:solidFill>
            <a:prstDash val="solid"/>
          </a:ln>
        </p:spPr>
      </p:sp>
      <p:sp>
        <p:nvSpPr>
          <p:cNvPr id="23" name="Text 21"/>
          <p:cNvSpPr/>
          <p:nvPr/>
        </p:nvSpPr>
        <p:spPr>
          <a:xfrm>
            <a:off x="9444040" y="2537420"/>
            <a:ext cx="1776410" cy="279400"/>
          </a:xfrm>
          <a:prstGeom prst="rect">
            <a:avLst/>
          </a:prstGeom>
          <a:noFill/>
          <a:ln/>
        </p:spPr>
        <p:txBody>
          <a:bodyPr wrap="square" lIns="0" tIns="0" rIns="0" bIns="0" rtlCol="0" anchor="t">
            <a:normAutofit/>
          </a:bodyPr>
          <a:lstStyle/>
          <a:p>
            <a:pPr algn="r" indent="0" marL="0">
              <a:lnSpc>
                <a:spcPts val="2000"/>
              </a:lnSpc>
              <a:buNone/>
            </a:pPr>
            <a:r>
              <a:rPr lang="en-US" sz="2000" b="1" dirty="0">
                <a:solidFill>
                  <a:srgbClr val="0E7C6B"/>
                </a:solidFill>
                <a:latin typeface="Readex Pro" pitchFamily="34" charset="0"/>
                <a:ea typeface="Readex Pro" pitchFamily="34" charset="-122"/>
                <a:cs typeface="Readex Pro" pitchFamily="34" charset="-120"/>
              </a:rPr>
              <a:t>1</a:t>
            </a:r>
            <a:endParaRPr lang="en-US" sz="2000" dirty="0"/>
          </a:p>
        </p:txBody>
      </p:sp>
      <p:sp>
        <p:nvSpPr>
          <p:cNvPr id="24" name="Text 22"/>
          <p:cNvSpPr/>
          <p:nvPr/>
        </p:nvSpPr>
        <p:spPr>
          <a:xfrm>
            <a:off x="9444040" y="2854920"/>
            <a:ext cx="1776410" cy="273050"/>
          </a:xfrm>
          <a:prstGeom prst="rect">
            <a:avLst/>
          </a:prstGeom>
          <a:noFill/>
          <a:ln/>
        </p:spPr>
        <p:txBody>
          <a:bodyPr wrap="square" lIns="0" tIns="0" rIns="0" bIns="0" rtlCol="0" anchor="t">
            <a:normAutofit/>
          </a:bodyPr>
          <a:lstStyle/>
          <a:p>
            <a:pPr algn="r" indent="0" marL="0" rtl="1">
              <a:lnSpc>
                <a:spcPts val="1950"/>
              </a:lnSpc>
              <a:buNone/>
            </a:pPr>
            <a:r>
              <a:rPr lang="ar-SA" sz="1500" b="1" dirty="0" altLang="en-US">
                <a:solidFill>
                  <a:srgbClr val="172433"/>
                </a:solidFill>
                <a:latin typeface="Readex Pro" pitchFamily="34" charset="0"/>
                <a:ea typeface="Readex Pro" pitchFamily="34" charset="-122"/>
                <a:cs typeface="Readex Pro" pitchFamily="34" charset="-120"/>
              </a:rPr>
              <a:t>التخطيط</a:t>
            </a:r>
            <a:endParaRPr lang="ar-SA" sz="1500" dirty="0" altLang="en-US"/>
          </a:p>
        </p:txBody>
      </p:sp>
      <p:sp>
        <p:nvSpPr>
          <p:cNvPr id="25" name="Text 23"/>
          <p:cNvSpPr/>
          <p:nvPr/>
        </p:nvSpPr>
        <p:spPr>
          <a:xfrm>
            <a:off x="9444040" y="3166070"/>
            <a:ext cx="1776410"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ما الخدمة، وما البيانات التي سيصل إليها المورد؟</a:t>
            </a:r>
            <a:endParaRPr lang="ar-SA" sz="1200" dirty="0" altLang="en-US"/>
          </a:p>
        </p:txBody>
      </p:sp>
      <p:sp>
        <p:nvSpPr>
          <p:cNvPr id="26" name="Shape 24"/>
          <p:cNvSpPr/>
          <p:nvPr/>
        </p:nvSpPr>
        <p:spPr>
          <a:xfrm>
            <a:off x="815975" y="3998516"/>
            <a:ext cx="10560050" cy="533400"/>
          </a:xfrm>
          <a:prstGeom prst="roundRect">
            <a:avLst>
              <a:gd name="adj" fmla="val 16071"/>
            </a:avLst>
          </a:prstGeom>
          <a:solidFill>
            <a:srgbClr val="FFFDF8"/>
          </a:solidFill>
          <a:ln w="6350">
            <a:solidFill>
              <a:srgbClr val="E1DBCD"/>
            </a:solidFill>
            <a:prstDash val="solid"/>
          </a:ln>
        </p:spPr>
      </p:sp>
      <p:sp>
        <p:nvSpPr>
          <p:cNvPr id="27" name="Text 25"/>
          <p:cNvSpPr/>
          <p:nvPr/>
        </p:nvSpPr>
        <p:spPr>
          <a:xfrm>
            <a:off x="701675" y="4141391"/>
            <a:ext cx="10137775" cy="273050"/>
          </a:xfrm>
          <a:prstGeom prst="rect">
            <a:avLst/>
          </a:prstGeom>
          <a:noFill/>
          <a:ln/>
        </p:spPr>
        <p:txBody>
          <a:bodyPr wrap="square" lIns="0" tIns="0" rIns="0" bIns="0" rtlCol="0" anchor="t">
            <a:normAutofit/>
          </a:bodyPr>
          <a:lstStyle/>
          <a:p>
            <a:pPr algn="r" indent="0" marL="0" rtl="1">
              <a:lnSpc>
                <a:spcPts val="1950"/>
              </a:lnSpc>
              <a:buNone/>
            </a:pPr>
            <a:r>
              <a:rPr lang="ar-SA" sz="1300" dirty="0" altLang="en-US">
                <a:solidFill>
                  <a:srgbClr val="172433"/>
                </a:solidFill>
                <a:latin typeface="IBM Plex Sans Arabic" pitchFamily="34" charset="0"/>
                <a:ea typeface="IBM Plex Sans Arabic" pitchFamily="34" charset="-122"/>
                <a:cs typeface="IBM Plex Sans Arabic" pitchFamily="34" charset="-120"/>
              </a:rPr>
              <a:t>أكثر خطأ شائع: التقييم بعد توقيع العقد. بعد التوقيع تفقد الجهة أغلب قدرتها على فرض الشروط.</a:t>
            </a:r>
            <a:endParaRPr lang="ar-SA" sz="1300" dirty="0" altLang="en-US"/>
          </a:p>
        </p:txBody>
      </p:sp>
      <p:pic>
        <p:nvPicPr>
          <p:cNvPr id="28" name="Image 0" descr="Warning">    </p:cNvPr>
          <p:cNvPicPr>
            <a:picLocks noChangeAspect="1"/>
          </p:cNvPicPr>
          <p:nvPr/>
        </p:nvPicPr>
        <p:blipFill>
          <a:blip r:embed="rId1"/>
          <a:srcRect l="0" r="0" t="0" b="0"/>
          <a:stretch/>
        </p:blipFill>
        <p:spPr>
          <a:xfrm>
            <a:off x="10966450" y="4150916"/>
            <a:ext cx="228600" cy="228600"/>
          </a:xfrm>
          <a:prstGeom prst="rect">
            <a:avLst/>
          </a:prstGeom>
        </p:spPr>
      </p:pic>
      <p:sp>
        <p:nvSpPr>
          <p:cNvPr id="29" name="Text 26"/>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19</a:t>
            </a:r>
            <a:endParaRPr lang="en-US" sz="1200" dirty="0"/>
          </a:p>
        </p:txBody>
      </p:sp>
      <p:sp>
        <p:nvSpPr>
          <p:cNvPr id="30" name="Text 27"/>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مجالان ستقابلهما مبكراً: الاستمرارية والخصوصية</a:t>
            </a:r>
            <a:endParaRPr lang="ar-SA" sz="3000" dirty="0" altLang="en-US"/>
          </a:p>
        </p:txBody>
      </p:sp>
      <p:sp>
        <p:nvSpPr>
          <p:cNvPr id="5" name="Shape 3"/>
          <p:cNvSpPr/>
          <p:nvPr/>
        </p:nvSpPr>
        <p:spPr>
          <a:xfrm>
            <a:off x="815975" y="1861145"/>
            <a:ext cx="5149850" cy="2732286"/>
          </a:xfrm>
          <a:prstGeom prst="roundRect">
            <a:avLst>
              <a:gd name="adj" fmla="val 3602"/>
            </a:avLst>
          </a:prstGeom>
          <a:solidFill>
            <a:srgbClr val="FFFDF8"/>
          </a:solidFill>
          <a:ln w="6350">
            <a:solidFill>
              <a:srgbClr val="E1DBCD"/>
            </a:solidFill>
            <a:prstDash val="solid"/>
          </a:ln>
        </p:spPr>
      </p:sp>
      <p:sp>
        <p:nvSpPr>
          <p:cNvPr id="6" name="Text 4"/>
          <p:cNvSpPr/>
          <p:nvPr/>
        </p:nvSpPr>
        <p:spPr>
          <a:xfrm>
            <a:off x="866775" y="2054820"/>
            <a:ext cx="4905375" cy="306040"/>
          </a:xfrm>
          <a:prstGeom prst="rect">
            <a:avLst/>
          </a:prstGeom>
          <a:noFill/>
          <a:ln/>
        </p:spPr>
        <p:txBody>
          <a:bodyPr wrap="square" lIns="0" tIns="0" rIns="0" bIns="0" rtlCol="0" anchor="t">
            <a:normAutofit/>
          </a:bodyPr>
          <a:lstStyle/>
          <a:p>
            <a:pPr algn="r" indent="0" marL="0" rtl="1">
              <a:lnSpc>
                <a:spcPts val="2210"/>
              </a:lnSpc>
              <a:buNone/>
            </a:pPr>
            <a:r>
              <a:rPr lang="ar-SA" sz="1700" b="1" dirty="0" altLang="en-US">
                <a:solidFill>
                  <a:srgbClr val="9A5F0F"/>
                </a:solidFill>
                <a:latin typeface="Readex Pro" pitchFamily="34" charset="0"/>
                <a:ea typeface="Readex Pro" pitchFamily="34" charset="-122"/>
                <a:cs typeface="Readex Pro" pitchFamily="34" charset="-120"/>
              </a:rPr>
              <a:t>حماية البيانات الشخصية</a:t>
            </a:r>
            <a:endParaRPr lang="ar-SA" sz="1700" dirty="0" altLang="en-US"/>
          </a:p>
        </p:txBody>
      </p:sp>
      <p:sp>
        <p:nvSpPr>
          <p:cNvPr id="7" name="Text 5"/>
          <p:cNvSpPr/>
          <p:nvPr/>
        </p:nvSpPr>
        <p:spPr>
          <a:xfrm>
            <a:off x="866775" y="2437061"/>
            <a:ext cx="4905375" cy="263525"/>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في المملكة: </a:t>
            </a:r>
            <a:r>
              <a:rPr lang="ar-SA" sz="1250" b="1" dirty="0" altLang="en-US">
                <a:solidFill>
                  <a:srgbClr val="172433"/>
                </a:solidFill>
                <a:latin typeface="IBM Plex Sans Arabic" pitchFamily="34" charset="0"/>
                <a:ea typeface="IBM Plex Sans Arabic" pitchFamily="34" charset="-122"/>
                <a:cs typeface="IBM Plex Sans Arabic" pitchFamily="34" charset="-120"/>
              </a:rPr>
              <a:t>نظام حماية البيانات الشخصية (PDPL)</a:t>
            </a:r>
            <a:r>
              <a:rPr lang="ar-SA" sz="1250" dirty="0" altLang="en-US">
                <a:solidFill>
                  <a:srgbClr val="172433"/>
                </a:solidFill>
                <a:latin typeface="IBM Plex Sans Arabic" pitchFamily="34" charset="0"/>
                <a:ea typeface="IBM Plex Sans Arabic" pitchFamily="34" charset="-122"/>
                <a:cs typeface="IBM Plex Sans Arabic" pitchFamily="34" charset="-120"/>
              </a:rPr>
              <a:t>، والجهة المختصة سدايا.</a:t>
            </a:r>
            <a:endParaRPr lang="ar-SA" sz="1250" dirty="0" altLang="en-US"/>
          </a:p>
        </p:txBody>
      </p:sp>
      <p:sp>
        <p:nvSpPr>
          <p:cNvPr id="8" name="Text 6"/>
          <p:cNvSpPr/>
          <p:nvPr/>
        </p:nvSpPr>
        <p:spPr>
          <a:xfrm>
            <a:off x="874776" y="2776786"/>
            <a:ext cx="463067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أساس نظامي لكل معالجة، وغرض محدد، وأقل قدر من البيانات</a:t>
            </a:r>
            <a:endParaRPr lang="ar-SA" sz="1200" dirty="0" altLang="en-US"/>
          </a:p>
        </p:txBody>
      </p:sp>
      <p:pic>
        <p:nvPicPr>
          <p:cNvPr id="9" name="Image 0" descr="Check">    </p:cNvPr>
          <p:cNvPicPr>
            <a:picLocks noChangeAspect="1"/>
          </p:cNvPicPr>
          <p:nvPr/>
        </p:nvPicPr>
        <p:blipFill>
          <a:blip r:embed="rId1"/>
          <a:srcRect l="0" r="0" t="0" b="0"/>
          <a:stretch/>
        </p:blipFill>
        <p:spPr>
          <a:xfrm>
            <a:off x="5581650" y="2776786"/>
            <a:ext cx="190500" cy="190500"/>
          </a:xfrm>
          <a:prstGeom prst="rect">
            <a:avLst/>
          </a:prstGeom>
        </p:spPr>
      </p:pic>
      <p:sp>
        <p:nvSpPr>
          <p:cNvPr id="10" name="Text 7"/>
          <p:cNvSpPr/>
          <p:nvPr/>
        </p:nvSpPr>
        <p:spPr>
          <a:xfrm>
            <a:off x="874776" y="3099346"/>
            <a:ext cx="463067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حقوق لصاحب البيانات: العلم، والوصول، والتصحيح، والإتلاف</a:t>
            </a:r>
            <a:endParaRPr lang="ar-SA" sz="1200" dirty="0" altLang="en-US"/>
          </a:p>
        </p:txBody>
      </p:sp>
      <p:pic>
        <p:nvPicPr>
          <p:cNvPr id="11" name="Image 1" descr="Check">    </p:cNvPr>
          <p:cNvPicPr>
            <a:picLocks noChangeAspect="1"/>
          </p:cNvPicPr>
          <p:nvPr/>
        </p:nvPicPr>
        <p:blipFill>
          <a:blip r:embed="rId2"/>
          <a:srcRect l="0" r="0" t="0" b="0"/>
          <a:stretch/>
        </p:blipFill>
        <p:spPr>
          <a:xfrm>
            <a:off x="5581650" y="3099346"/>
            <a:ext cx="190500" cy="190500"/>
          </a:xfrm>
          <a:prstGeom prst="rect">
            <a:avLst/>
          </a:prstGeom>
        </p:spPr>
      </p:pic>
      <p:sp>
        <p:nvSpPr>
          <p:cNvPr id="12" name="Text 8"/>
          <p:cNvSpPr/>
          <p:nvPr/>
        </p:nvSpPr>
        <p:spPr>
          <a:xfrm>
            <a:off x="874776" y="3421906"/>
            <a:ext cx="463067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سجل لأنشطة المعالجة، وتقييم أثر للمعالجات عالية المخاطر</a:t>
            </a:r>
            <a:endParaRPr lang="ar-SA" sz="1200" dirty="0" altLang="en-US"/>
          </a:p>
        </p:txBody>
      </p:sp>
      <p:pic>
        <p:nvPicPr>
          <p:cNvPr id="13" name="Image 2" descr="Check">    </p:cNvPr>
          <p:cNvPicPr>
            <a:picLocks noChangeAspect="1"/>
          </p:cNvPicPr>
          <p:nvPr/>
        </p:nvPicPr>
        <p:blipFill>
          <a:blip r:embed="rId3"/>
          <a:srcRect l="0" r="0" t="0" b="0"/>
          <a:stretch/>
        </p:blipFill>
        <p:spPr>
          <a:xfrm>
            <a:off x="5581650" y="3421906"/>
            <a:ext cx="190500" cy="190500"/>
          </a:xfrm>
          <a:prstGeom prst="rect">
            <a:avLst/>
          </a:prstGeom>
        </p:spPr>
      </p:pic>
      <p:sp>
        <p:nvSpPr>
          <p:cNvPr id="14" name="Text 9"/>
          <p:cNvSpPr/>
          <p:nvPr/>
        </p:nvSpPr>
        <p:spPr>
          <a:xfrm>
            <a:off x="874776" y="3744466"/>
            <a:ext cx="463067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إبلاغ الجهة المختصة عن حوادث التسرب خلال مدة محددة</a:t>
            </a:r>
            <a:endParaRPr lang="ar-SA" sz="1200" dirty="0" altLang="en-US"/>
          </a:p>
        </p:txBody>
      </p:sp>
      <p:pic>
        <p:nvPicPr>
          <p:cNvPr id="15" name="Image 3" descr="Check">    </p:cNvPr>
          <p:cNvPicPr>
            <a:picLocks noChangeAspect="1"/>
          </p:cNvPicPr>
          <p:nvPr/>
        </p:nvPicPr>
        <p:blipFill>
          <a:blip r:embed="rId4"/>
          <a:srcRect l="0" r="0" t="0" b="0"/>
          <a:stretch/>
        </p:blipFill>
        <p:spPr>
          <a:xfrm>
            <a:off x="5581650" y="3744466"/>
            <a:ext cx="190500" cy="190500"/>
          </a:xfrm>
          <a:prstGeom prst="rect">
            <a:avLst/>
          </a:prstGeom>
        </p:spPr>
      </p:pic>
      <p:sp>
        <p:nvSpPr>
          <p:cNvPr id="16" name="Text 10"/>
          <p:cNvSpPr/>
          <p:nvPr/>
        </p:nvSpPr>
        <p:spPr>
          <a:xfrm>
            <a:off x="866775" y="4067026"/>
            <a:ext cx="4905375"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وفي أوروبا: اللائحة العامة لحماية البيانات (GDPR).</a:t>
            </a:r>
            <a:endParaRPr lang="ar-SA" sz="1200" dirty="0" altLang="en-US"/>
          </a:p>
        </p:txBody>
      </p:sp>
      <p:sp>
        <p:nvSpPr>
          <p:cNvPr id="17" name="Shape 11"/>
          <p:cNvSpPr/>
          <p:nvPr/>
        </p:nvSpPr>
        <p:spPr>
          <a:xfrm>
            <a:off x="6226175" y="1861145"/>
            <a:ext cx="5149850" cy="2732286"/>
          </a:xfrm>
          <a:prstGeom prst="roundRect">
            <a:avLst>
              <a:gd name="adj" fmla="val 3602"/>
            </a:avLst>
          </a:prstGeom>
          <a:solidFill>
            <a:srgbClr val="FFFDF8"/>
          </a:solidFill>
          <a:ln w="6350">
            <a:solidFill>
              <a:srgbClr val="E1DBCD"/>
            </a:solidFill>
            <a:prstDash val="solid"/>
          </a:ln>
        </p:spPr>
      </p:sp>
      <p:sp>
        <p:nvSpPr>
          <p:cNvPr id="18" name="Text 12"/>
          <p:cNvSpPr/>
          <p:nvPr/>
        </p:nvSpPr>
        <p:spPr>
          <a:xfrm>
            <a:off x="6276975" y="2054820"/>
            <a:ext cx="4905375" cy="306040"/>
          </a:xfrm>
          <a:prstGeom prst="rect">
            <a:avLst/>
          </a:prstGeom>
          <a:noFill/>
          <a:ln/>
        </p:spPr>
        <p:txBody>
          <a:bodyPr wrap="square" lIns="0" tIns="0" rIns="0" bIns="0" rtlCol="0" anchor="t">
            <a:normAutofit/>
          </a:bodyPr>
          <a:lstStyle/>
          <a:p>
            <a:pPr algn="r" indent="0" marL="0" rtl="1">
              <a:lnSpc>
                <a:spcPts val="2210"/>
              </a:lnSpc>
              <a:buNone/>
            </a:pPr>
            <a:r>
              <a:rPr lang="ar-SA" sz="1700" b="1" dirty="0" altLang="en-US">
                <a:solidFill>
                  <a:srgbClr val="0E7C6B"/>
                </a:solidFill>
                <a:latin typeface="Readex Pro" pitchFamily="34" charset="0"/>
                <a:ea typeface="Readex Pro" pitchFamily="34" charset="-122"/>
                <a:cs typeface="Readex Pro" pitchFamily="34" charset="-120"/>
              </a:rPr>
              <a:t>استمرارية الأعمال</a:t>
            </a:r>
            <a:endParaRPr lang="ar-SA" sz="1700" dirty="0" altLang="en-US"/>
          </a:p>
        </p:txBody>
      </p:sp>
      <p:sp>
        <p:nvSpPr>
          <p:cNvPr id="19" name="Text 13"/>
          <p:cNvSpPr/>
          <p:nvPr/>
        </p:nvSpPr>
        <p:spPr>
          <a:xfrm>
            <a:off x="6276975" y="2462461"/>
            <a:ext cx="4905375" cy="263525"/>
          </a:xfrm>
          <a:prstGeom prst="rect">
            <a:avLst/>
          </a:prstGeom>
          <a:noFill/>
          <a:ln/>
        </p:spPr>
        <p:txBody>
          <a:bodyPr wrap="square" lIns="0" tIns="0" rIns="0" bIns="0" rtlCol="0" anchor="t">
            <a:normAutofit/>
          </a:bodyPr>
          <a:lstStyle/>
          <a:p>
            <a:pPr algn="r" indent="0" marL="0" rtl="1">
              <a:lnSpc>
                <a:spcPts val="1875"/>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
            </a:r>
            <a:r>
              <a:rPr lang="ar-SA" sz="1250" b="1" dirty="0" altLang="en-US">
                <a:solidFill>
                  <a:srgbClr val="172433"/>
                </a:solidFill>
                <a:latin typeface="IBM Plex Sans Arabic" pitchFamily="34" charset="0"/>
                <a:ea typeface="IBM Plex Sans Arabic" pitchFamily="34" charset="-122"/>
                <a:cs typeface="IBM Plex Sans Arabic" pitchFamily="34" charset="-120"/>
              </a:rPr>
              <a:t>تحليل أثر الأعمال (BIA)</a:t>
            </a:r>
            <a:r>
              <a:rPr lang="ar-SA" sz="1250" dirty="0" altLang="en-US">
                <a:solidFill>
                  <a:srgbClr val="172433"/>
                </a:solidFill>
                <a:latin typeface="IBM Plex Sans Arabic" pitchFamily="34" charset="0"/>
                <a:ea typeface="IBM Plex Sans Arabic" pitchFamily="34" charset="-122"/>
                <a:cs typeface="IBM Plex Sans Arabic" pitchFamily="34" charset="-120"/>
              </a:rPr>
              <a:t> يحدد أهم الخدمات، وكم تتحمل الجهة توقفها.</a:t>
            </a:r>
            <a:endParaRPr lang="ar-SA" sz="1250" dirty="0" altLang="en-US"/>
          </a:p>
        </p:txBody>
      </p:sp>
      <p:sp>
        <p:nvSpPr>
          <p:cNvPr id="20" name="Shape 14"/>
          <p:cNvSpPr/>
          <p:nvPr/>
        </p:nvSpPr>
        <p:spPr>
          <a:xfrm>
            <a:off x="6807200" y="3012976"/>
            <a:ext cx="177800" cy="177800"/>
          </a:xfrm>
          <a:prstGeom prst="roundRect">
            <a:avLst>
              <a:gd name="adj" fmla="val 50000"/>
            </a:avLst>
          </a:prstGeom>
          <a:solidFill>
            <a:srgbClr val="0E7C6B"/>
          </a:solidFill>
          <a:ln/>
        </p:spPr>
      </p:sp>
      <p:sp>
        <p:nvSpPr>
          <p:cNvPr id="21" name="Text 15"/>
          <p:cNvSpPr/>
          <p:nvPr/>
        </p:nvSpPr>
        <p:spPr>
          <a:xfrm>
            <a:off x="6463844" y="3228876"/>
            <a:ext cx="864513" cy="223490"/>
          </a:xfrm>
          <a:prstGeom prst="rect">
            <a:avLst/>
          </a:prstGeom>
          <a:noFill/>
          <a:ln/>
        </p:spPr>
        <p:txBody>
          <a:bodyPr wrap="square" lIns="0" tIns="0" rIns="0" bIns="0" rtlCol="0" anchor="t">
            <a:normAutofit/>
          </a:bodyPr>
          <a:lstStyle/>
          <a:p>
            <a:pPr algn="ctr" indent="0" marL="0" rtl="1">
              <a:lnSpc>
                <a:spcPts val="156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عودة الخدمة</a:t>
            </a:r>
            <a:endParaRPr lang="ar-SA" sz="1200" dirty="0" altLang="en-US"/>
          </a:p>
        </p:txBody>
      </p:sp>
      <p:sp>
        <p:nvSpPr>
          <p:cNvPr id="22" name="Text 16"/>
          <p:cNvSpPr/>
          <p:nvPr/>
        </p:nvSpPr>
        <p:spPr>
          <a:xfrm>
            <a:off x="7638638" y="2977406"/>
            <a:ext cx="419874"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0E7C6B"/>
                </a:solidFill>
                <a:latin typeface="Readex Pro" pitchFamily="34" charset="0"/>
                <a:ea typeface="Readex Pro" pitchFamily="34" charset="-122"/>
                <a:cs typeface="Readex Pro" pitchFamily="34" charset="-120"/>
              </a:rPr>
              <a:t>RTO</a:t>
            </a:r>
            <a:endParaRPr lang="en-US" sz="1300" dirty="0"/>
          </a:p>
        </p:txBody>
      </p:sp>
      <p:sp>
        <p:nvSpPr>
          <p:cNvPr id="23" name="Shape 17"/>
          <p:cNvSpPr/>
          <p:nvPr/>
        </p:nvSpPr>
        <p:spPr>
          <a:xfrm>
            <a:off x="7448550" y="3200896"/>
            <a:ext cx="800100" cy="38100"/>
          </a:xfrm>
          <a:prstGeom prst="roundRect">
            <a:avLst>
              <a:gd name="adj" fmla="val 50000"/>
            </a:avLst>
          </a:prstGeom>
          <a:solidFill>
            <a:srgbClr val="0E7C6B"/>
          </a:solidFill>
          <a:ln/>
        </p:spPr>
      </p:sp>
      <p:sp>
        <p:nvSpPr>
          <p:cNvPr id="24" name="Text 18"/>
          <p:cNvSpPr/>
          <p:nvPr/>
        </p:nvSpPr>
        <p:spPr>
          <a:xfrm>
            <a:off x="7515463" y="3264396"/>
            <a:ext cx="666274" cy="223490"/>
          </a:xfrm>
          <a:prstGeom prst="rect">
            <a:avLst/>
          </a:prstGeom>
          <a:noFill/>
          <a:ln/>
        </p:spPr>
        <p:txBody>
          <a:bodyPr wrap="square" lIns="0" tIns="0" rIns="0" bIns="0" rtlCol="0" anchor="t">
            <a:normAutofit/>
          </a:bodyPr>
          <a:lstStyle/>
          <a:p>
            <a:pPr algn="ctr" indent="0" marL="0" rtl="1">
              <a:lnSpc>
                <a:spcPts val="156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كم نتوقف</a:t>
            </a:r>
            <a:endParaRPr lang="ar-SA" sz="1200" dirty="0" altLang="en-US"/>
          </a:p>
        </p:txBody>
      </p:sp>
      <p:sp>
        <p:nvSpPr>
          <p:cNvPr id="25" name="Shape 19"/>
          <p:cNvSpPr/>
          <p:nvPr/>
        </p:nvSpPr>
        <p:spPr>
          <a:xfrm>
            <a:off x="8686800" y="2987576"/>
            <a:ext cx="228600" cy="228600"/>
          </a:xfrm>
          <a:prstGeom prst="roundRect">
            <a:avLst>
              <a:gd name="adj" fmla="val 50000"/>
            </a:avLst>
          </a:prstGeom>
          <a:solidFill>
            <a:srgbClr val="B4412C"/>
          </a:solidFill>
          <a:ln/>
        </p:spPr>
      </p:sp>
      <p:sp>
        <p:nvSpPr>
          <p:cNvPr id="26" name="Text 20"/>
          <p:cNvSpPr/>
          <p:nvPr/>
        </p:nvSpPr>
        <p:spPr>
          <a:xfrm>
            <a:off x="8548692" y="3254276"/>
            <a:ext cx="504765" cy="223490"/>
          </a:xfrm>
          <a:prstGeom prst="rect">
            <a:avLst/>
          </a:prstGeom>
          <a:noFill/>
          <a:ln/>
        </p:spPr>
        <p:txBody>
          <a:bodyPr wrap="square" lIns="0" tIns="0" rIns="0" bIns="0" rtlCol="0" anchor="t">
            <a:normAutofit/>
          </a:bodyPr>
          <a:lstStyle/>
          <a:p>
            <a:pPr algn="ctr" indent="0" marL="0" rtl="1">
              <a:lnSpc>
                <a:spcPts val="1560"/>
              </a:lnSpc>
              <a:buNone/>
            </a:pPr>
            <a:r>
              <a:rPr lang="ar-SA" sz="1200" b="1" dirty="0" altLang="en-US">
                <a:solidFill>
                  <a:srgbClr val="B4412C"/>
                </a:solidFill>
                <a:latin typeface="IBM Plex Sans Arabic" pitchFamily="34" charset="0"/>
                <a:ea typeface="IBM Plex Sans Arabic" pitchFamily="34" charset="-122"/>
                <a:cs typeface="IBM Plex Sans Arabic" pitchFamily="34" charset="-120"/>
              </a:rPr>
              <a:t>الحادثة</a:t>
            </a:r>
            <a:endParaRPr lang="ar-SA" sz="1200" dirty="0" altLang="en-US"/>
          </a:p>
        </p:txBody>
      </p:sp>
      <p:sp>
        <p:nvSpPr>
          <p:cNvPr id="27" name="Text 21"/>
          <p:cNvSpPr/>
          <p:nvPr/>
        </p:nvSpPr>
        <p:spPr>
          <a:xfrm>
            <a:off x="9538037" y="2878386"/>
            <a:ext cx="431125" cy="22349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24506B"/>
                </a:solidFill>
                <a:latin typeface="Readex Pro" pitchFamily="34" charset="0"/>
                <a:ea typeface="Readex Pro" pitchFamily="34" charset="-122"/>
                <a:cs typeface="Readex Pro" pitchFamily="34" charset="-120"/>
              </a:rPr>
              <a:t>RPO</a:t>
            </a:r>
            <a:endParaRPr lang="en-US" sz="1300" dirty="0"/>
          </a:p>
        </p:txBody>
      </p:sp>
      <p:sp>
        <p:nvSpPr>
          <p:cNvPr id="28" name="Shape 22"/>
          <p:cNvSpPr/>
          <p:nvPr/>
        </p:nvSpPr>
        <p:spPr>
          <a:xfrm>
            <a:off x="9353550" y="3101876"/>
            <a:ext cx="800100" cy="38100"/>
          </a:xfrm>
          <a:prstGeom prst="roundRect">
            <a:avLst>
              <a:gd name="adj" fmla="val 50000"/>
            </a:avLst>
          </a:prstGeom>
          <a:solidFill>
            <a:srgbClr val="24506B"/>
          </a:solidFill>
          <a:ln/>
        </p:spPr>
      </p:sp>
      <p:sp>
        <p:nvSpPr>
          <p:cNvPr id="29" name="Text 23"/>
          <p:cNvSpPr/>
          <p:nvPr/>
        </p:nvSpPr>
        <p:spPr>
          <a:xfrm>
            <a:off x="9302750" y="3165376"/>
            <a:ext cx="850900" cy="421580"/>
          </a:xfrm>
          <a:prstGeom prst="rect">
            <a:avLst/>
          </a:prstGeom>
          <a:noFill/>
          <a:ln/>
        </p:spPr>
        <p:txBody>
          <a:bodyPr wrap="square" lIns="0" tIns="0" rIns="0" bIns="0" rtlCol="0" anchor="t">
            <a:normAutofit/>
          </a:bodyPr>
          <a:lstStyle/>
          <a:p>
            <a:pPr algn="r" indent="0" marL="0" rtl="1">
              <a:lnSpc>
                <a:spcPts val="156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كم بيانات نخسر</a:t>
            </a:r>
            <a:endParaRPr lang="ar-SA" sz="1200" dirty="0" altLang="en-US"/>
          </a:p>
        </p:txBody>
      </p:sp>
      <p:sp>
        <p:nvSpPr>
          <p:cNvPr id="30" name="Shape 24"/>
          <p:cNvSpPr/>
          <p:nvPr/>
        </p:nvSpPr>
        <p:spPr>
          <a:xfrm>
            <a:off x="10617200" y="3012976"/>
            <a:ext cx="177800" cy="177800"/>
          </a:xfrm>
          <a:prstGeom prst="roundRect">
            <a:avLst>
              <a:gd name="adj" fmla="val 50000"/>
            </a:avLst>
          </a:prstGeom>
          <a:solidFill>
            <a:srgbClr val="24506B"/>
          </a:solidFill>
          <a:ln/>
        </p:spPr>
      </p:sp>
      <p:sp>
        <p:nvSpPr>
          <p:cNvPr id="31" name="Text 25"/>
          <p:cNvSpPr/>
          <p:nvPr/>
        </p:nvSpPr>
        <p:spPr>
          <a:xfrm>
            <a:off x="10373975" y="3228876"/>
            <a:ext cx="664250" cy="223490"/>
          </a:xfrm>
          <a:prstGeom prst="rect">
            <a:avLst/>
          </a:prstGeom>
          <a:noFill/>
          <a:ln/>
        </p:spPr>
        <p:txBody>
          <a:bodyPr wrap="square" lIns="0" tIns="0" rIns="0" bIns="0" rtlCol="0" anchor="t">
            <a:normAutofit/>
          </a:bodyPr>
          <a:lstStyle/>
          <a:p>
            <a:pPr algn="ctr" indent="0" marL="0" rtl="1">
              <a:lnSpc>
                <a:spcPts val="156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آخر نسخة</a:t>
            </a:r>
            <a:endParaRPr lang="ar-SA" sz="1200" dirty="0" altLang="en-US"/>
          </a:p>
        </p:txBody>
      </p:sp>
      <p:sp>
        <p:nvSpPr>
          <p:cNvPr id="32" name="Text 26"/>
          <p:cNvSpPr/>
          <p:nvPr/>
        </p:nvSpPr>
        <p:spPr>
          <a:xfrm>
            <a:off x="6419850" y="3739356"/>
            <a:ext cx="4762500" cy="660400"/>
          </a:xfrm>
          <a:prstGeom prst="roundRect">
            <a:avLst>
              <a:gd name="adj" fmla="val 11538"/>
            </a:avLst>
          </a:prstGeom>
          <a:solidFill>
            <a:srgbClr val="F1ECE1"/>
          </a:solidFill>
          <a:ln/>
        </p:spPr>
        <p:txBody>
          <a:bodyPr wrap="square" lIns="0" tIns="79282" rIns="117382" bIns="53882" rtlCol="0" anchor="t">
            <a:normAutofit/>
          </a:bodyPr>
          <a:lstStyle/>
          <a:p>
            <a:pPr algn="r" indent="0" marL="0" rtl="1">
              <a:lnSpc>
                <a:spcPts val="180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مثال: نظام الرواتب، RTO = 24 ساعة، وRPO = 4 ساعات. إذن نحتاج نسخة احتياطية كل 4 ساعات على الأقل، وخطة استعادة مجربة.</a:t>
            </a:r>
            <a:endParaRPr lang="ar-SA" sz="1200" dirty="0" altLang="en-US"/>
          </a:p>
        </p:txBody>
      </p:sp>
      <p:sp>
        <p:nvSpPr>
          <p:cNvPr id="33" name="Text 27"/>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20</a:t>
            </a:r>
            <a:endParaRPr lang="en-US" sz="1200" dirty="0"/>
          </a:p>
        </p:txBody>
      </p:sp>
      <p:sp>
        <p:nvSpPr>
          <p:cNvPr id="34" name="Text 28"/>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97832" cy="289520"/>
          </a:xfrm>
          <a:custGeom>
            <a:avLst/>
            <a:gdLst/>
            <a:ahLst/>
            <a:cxnLst/>
            <a:rect l="l" t="t" r="r" b="b"/>
            <a:pathLst>
              <a:path w="2097832" h="289520">
                <a:moveTo>
                  <a:pt x="144760" y="0"/>
                </a:moveTo>
                <a:lnTo>
                  <a:pt x="1953071" y="0"/>
                </a:lnTo>
                <a:arcTo hR="144760" wR="144760" stAng="16200000" swAng="5400000"/>
                <a:lnTo>
                  <a:pt x="2097832"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02 · المفاهيم الأساسية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قاموس: 12 مصطلحاً ستراها في كل إعلان</a:t>
            </a:r>
            <a:endParaRPr lang="ar-SA" sz="3000" dirty="0" altLang="en-US"/>
          </a:p>
        </p:txBody>
      </p:sp>
      <p:sp>
        <p:nvSpPr>
          <p:cNvPr id="5" name="Shape 3"/>
          <p:cNvSpPr/>
          <p:nvPr/>
        </p:nvSpPr>
        <p:spPr>
          <a:xfrm>
            <a:off x="815975" y="1835745"/>
            <a:ext cx="3456484" cy="671116"/>
          </a:xfrm>
          <a:prstGeom prst="roundRect">
            <a:avLst>
              <a:gd name="adj" fmla="val 12773"/>
            </a:avLst>
          </a:prstGeom>
          <a:solidFill>
            <a:srgbClr val="FFFDF8"/>
          </a:solidFill>
          <a:ln w="6350">
            <a:solidFill>
              <a:srgbClr val="E1DBCD"/>
            </a:solidFill>
            <a:prstDash val="solid"/>
          </a:ln>
        </p:spPr>
      </p:sp>
      <p:sp>
        <p:nvSpPr>
          <p:cNvPr id="6" name="Text 4"/>
          <p:cNvSpPr/>
          <p:nvPr/>
        </p:nvSpPr>
        <p:spPr>
          <a:xfrm>
            <a:off x="819150" y="1953220"/>
            <a:ext cx="110867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Residual Risk</a:t>
            </a:r>
            <a:endParaRPr lang="en-US" sz="1200" dirty="0"/>
          </a:p>
        </p:txBody>
      </p:sp>
      <p:sp>
        <p:nvSpPr>
          <p:cNvPr id="7" name="Text 5"/>
          <p:cNvSpPr/>
          <p:nvPr/>
        </p:nvSpPr>
        <p:spPr>
          <a:xfrm>
            <a:off x="2992834" y="1940520"/>
            <a:ext cx="1136749"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الخطر المتبقي</a:t>
            </a:r>
            <a:endParaRPr lang="ar-SA" sz="1350" dirty="0" altLang="en-US"/>
          </a:p>
        </p:txBody>
      </p:sp>
      <p:sp>
        <p:nvSpPr>
          <p:cNvPr id="8" name="Text 6"/>
          <p:cNvSpPr/>
          <p:nvPr/>
        </p:nvSpPr>
        <p:spPr>
          <a:xfrm>
            <a:off x="863728" y="2188766"/>
            <a:ext cx="326585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ما يبقى من الخطر بعد الضوابط</a:t>
            </a:r>
            <a:endParaRPr lang="ar-SA" sz="1200" dirty="0" altLang="en-US"/>
          </a:p>
        </p:txBody>
      </p:sp>
      <p:sp>
        <p:nvSpPr>
          <p:cNvPr id="9" name="Shape 7"/>
          <p:cNvSpPr/>
          <p:nvPr/>
        </p:nvSpPr>
        <p:spPr>
          <a:xfrm>
            <a:off x="4367709" y="1835745"/>
            <a:ext cx="3456533" cy="671116"/>
          </a:xfrm>
          <a:prstGeom prst="roundRect">
            <a:avLst>
              <a:gd name="adj" fmla="val 12773"/>
            </a:avLst>
          </a:prstGeom>
          <a:solidFill>
            <a:srgbClr val="FFFDF8"/>
          </a:solidFill>
          <a:ln w="6350">
            <a:solidFill>
              <a:srgbClr val="E1DBCD"/>
            </a:solidFill>
            <a:prstDash val="solid"/>
          </a:ln>
        </p:spPr>
      </p:sp>
      <p:sp>
        <p:nvSpPr>
          <p:cNvPr id="10" name="Text 8"/>
          <p:cNvSpPr/>
          <p:nvPr/>
        </p:nvSpPr>
        <p:spPr>
          <a:xfrm>
            <a:off x="4370884" y="1953220"/>
            <a:ext cx="112653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Risk Appetite</a:t>
            </a:r>
            <a:endParaRPr lang="en-US" sz="1200" dirty="0"/>
          </a:p>
        </p:txBody>
      </p:sp>
      <p:sp>
        <p:nvSpPr>
          <p:cNvPr id="11" name="Text 9"/>
          <p:cNvSpPr/>
          <p:nvPr/>
        </p:nvSpPr>
        <p:spPr>
          <a:xfrm>
            <a:off x="6549797" y="1940520"/>
            <a:ext cx="1131570"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شهية المخاطر</a:t>
            </a:r>
            <a:endParaRPr lang="ar-SA" sz="1350" dirty="0" altLang="en-US"/>
          </a:p>
        </p:txBody>
      </p:sp>
      <p:sp>
        <p:nvSpPr>
          <p:cNvPr id="12" name="Text 10"/>
          <p:cNvSpPr/>
          <p:nvPr/>
        </p:nvSpPr>
        <p:spPr>
          <a:xfrm>
            <a:off x="4415460" y="2188766"/>
            <a:ext cx="32659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مقدار الخطر الذي تقبله الإدارة</a:t>
            </a:r>
            <a:endParaRPr lang="ar-SA" sz="1200" dirty="0" altLang="en-US"/>
          </a:p>
        </p:txBody>
      </p:sp>
      <p:sp>
        <p:nvSpPr>
          <p:cNvPr id="13" name="Shape 11"/>
          <p:cNvSpPr/>
          <p:nvPr/>
        </p:nvSpPr>
        <p:spPr>
          <a:xfrm>
            <a:off x="7919492" y="1835745"/>
            <a:ext cx="3456533" cy="671116"/>
          </a:xfrm>
          <a:prstGeom prst="roundRect">
            <a:avLst>
              <a:gd name="adj" fmla="val 12773"/>
            </a:avLst>
          </a:prstGeom>
          <a:solidFill>
            <a:srgbClr val="FFFDF8"/>
          </a:solidFill>
          <a:ln w="6350">
            <a:solidFill>
              <a:srgbClr val="E1DBCD"/>
            </a:solidFill>
            <a:prstDash val="solid"/>
          </a:ln>
        </p:spPr>
      </p:sp>
      <p:sp>
        <p:nvSpPr>
          <p:cNvPr id="14" name="Text 12"/>
          <p:cNvSpPr/>
          <p:nvPr/>
        </p:nvSpPr>
        <p:spPr>
          <a:xfrm>
            <a:off x="7922667" y="1953220"/>
            <a:ext cx="1104404"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Risk Register</a:t>
            </a:r>
            <a:endParaRPr lang="en-US" sz="1200" dirty="0"/>
          </a:p>
        </p:txBody>
      </p:sp>
      <p:sp>
        <p:nvSpPr>
          <p:cNvPr id="15" name="Text 13"/>
          <p:cNvSpPr/>
          <p:nvPr/>
        </p:nvSpPr>
        <p:spPr>
          <a:xfrm>
            <a:off x="10095805" y="1940520"/>
            <a:ext cx="1137345"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سجل المخاطر</a:t>
            </a:r>
            <a:endParaRPr lang="ar-SA" sz="1350" dirty="0" altLang="en-US"/>
          </a:p>
        </p:txBody>
      </p:sp>
      <p:sp>
        <p:nvSpPr>
          <p:cNvPr id="16" name="Text 14"/>
          <p:cNvSpPr/>
          <p:nvPr/>
        </p:nvSpPr>
        <p:spPr>
          <a:xfrm>
            <a:off x="7967243" y="2188766"/>
            <a:ext cx="32659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قائمة المخاطر بمالكها ودرجتها ومعالجتها</a:t>
            </a:r>
            <a:endParaRPr lang="ar-SA" sz="1200" dirty="0" altLang="en-US"/>
          </a:p>
        </p:txBody>
      </p:sp>
      <p:sp>
        <p:nvSpPr>
          <p:cNvPr id="17" name="Shape 15"/>
          <p:cNvSpPr/>
          <p:nvPr/>
        </p:nvSpPr>
        <p:spPr>
          <a:xfrm>
            <a:off x="815975" y="2602111"/>
            <a:ext cx="3456484" cy="671116"/>
          </a:xfrm>
          <a:prstGeom prst="roundRect">
            <a:avLst>
              <a:gd name="adj" fmla="val 12773"/>
            </a:avLst>
          </a:prstGeom>
          <a:solidFill>
            <a:srgbClr val="FFFDF8"/>
          </a:solidFill>
          <a:ln w="6350">
            <a:solidFill>
              <a:srgbClr val="E1DBCD"/>
            </a:solidFill>
            <a:prstDash val="solid"/>
          </a:ln>
        </p:spPr>
      </p:sp>
      <p:sp>
        <p:nvSpPr>
          <p:cNvPr id="18" name="Text 16"/>
          <p:cNvSpPr/>
          <p:nvPr/>
        </p:nvSpPr>
        <p:spPr>
          <a:xfrm>
            <a:off x="899745" y="2719586"/>
            <a:ext cx="35462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SoA</a:t>
            </a:r>
            <a:endParaRPr lang="en-US" sz="1200" dirty="0"/>
          </a:p>
        </p:txBody>
      </p:sp>
      <p:sp>
        <p:nvSpPr>
          <p:cNvPr id="19" name="Text 17"/>
          <p:cNvSpPr/>
          <p:nvPr/>
        </p:nvSpPr>
        <p:spPr>
          <a:xfrm>
            <a:off x="2621062" y="2706886"/>
            <a:ext cx="1508522"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بيان قابلية التطبيق</a:t>
            </a:r>
            <a:endParaRPr lang="ar-SA" sz="1350" dirty="0" altLang="en-US"/>
          </a:p>
        </p:txBody>
      </p:sp>
      <p:sp>
        <p:nvSpPr>
          <p:cNvPr id="20" name="Text 18"/>
          <p:cNvSpPr/>
          <p:nvPr/>
        </p:nvSpPr>
        <p:spPr>
          <a:xfrm>
            <a:off x="863728" y="2955131"/>
            <a:ext cx="326585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أي ضوابط ISO 27001 تنطبق ولماذا</a:t>
            </a:r>
            <a:endParaRPr lang="ar-SA" sz="1200" dirty="0" altLang="en-US"/>
          </a:p>
        </p:txBody>
      </p:sp>
      <p:sp>
        <p:nvSpPr>
          <p:cNvPr id="21" name="Shape 19"/>
          <p:cNvSpPr/>
          <p:nvPr/>
        </p:nvSpPr>
        <p:spPr>
          <a:xfrm>
            <a:off x="4367709" y="2602111"/>
            <a:ext cx="3456533" cy="671116"/>
          </a:xfrm>
          <a:prstGeom prst="roundRect">
            <a:avLst>
              <a:gd name="adj" fmla="val 12773"/>
            </a:avLst>
          </a:prstGeom>
          <a:solidFill>
            <a:srgbClr val="FFFDF8"/>
          </a:solidFill>
          <a:ln w="6350">
            <a:solidFill>
              <a:srgbClr val="E1DBCD"/>
            </a:solidFill>
            <a:prstDash val="solid"/>
          </a:ln>
        </p:spPr>
      </p:sp>
      <p:sp>
        <p:nvSpPr>
          <p:cNvPr id="22" name="Text 20"/>
          <p:cNvSpPr/>
          <p:nvPr/>
        </p:nvSpPr>
        <p:spPr>
          <a:xfrm>
            <a:off x="4370884" y="2719586"/>
            <a:ext cx="1343521"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Gap Assessment</a:t>
            </a:r>
            <a:endParaRPr lang="en-US" sz="1200" dirty="0"/>
          </a:p>
        </p:txBody>
      </p:sp>
      <p:sp>
        <p:nvSpPr>
          <p:cNvPr id="23" name="Text 21"/>
          <p:cNvSpPr/>
          <p:nvPr/>
        </p:nvSpPr>
        <p:spPr>
          <a:xfrm>
            <a:off x="6512530" y="2706886"/>
            <a:ext cx="1168837"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تقييم الفجوات</a:t>
            </a:r>
            <a:endParaRPr lang="ar-SA" sz="1350" dirty="0" altLang="en-US"/>
          </a:p>
        </p:txBody>
      </p:sp>
      <p:sp>
        <p:nvSpPr>
          <p:cNvPr id="24" name="Text 22"/>
          <p:cNvSpPr/>
          <p:nvPr/>
        </p:nvSpPr>
        <p:spPr>
          <a:xfrm>
            <a:off x="4415460" y="2955131"/>
            <a:ext cx="32659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مقارنة الوضع القائم بمتطلبات إطار</a:t>
            </a:r>
            <a:endParaRPr lang="ar-SA" sz="1200" dirty="0" altLang="en-US"/>
          </a:p>
        </p:txBody>
      </p:sp>
      <p:sp>
        <p:nvSpPr>
          <p:cNvPr id="25" name="Shape 23"/>
          <p:cNvSpPr/>
          <p:nvPr/>
        </p:nvSpPr>
        <p:spPr>
          <a:xfrm>
            <a:off x="7919492" y="2602111"/>
            <a:ext cx="3456533" cy="671116"/>
          </a:xfrm>
          <a:prstGeom prst="roundRect">
            <a:avLst>
              <a:gd name="adj" fmla="val 12773"/>
            </a:avLst>
          </a:prstGeom>
          <a:solidFill>
            <a:srgbClr val="FFFDF8"/>
          </a:solidFill>
          <a:ln w="6350">
            <a:solidFill>
              <a:srgbClr val="E1DBCD"/>
            </a:solidFill>
            <a:prstDash val="solid"/>
          </a:ln>
        </p:spPr>
      </p:sp>
      <p:sp>
        <p:nvSpPr>
          <p:cNvPr id="26" name="Text 24"/>
          <p:cNvSpPr/>
          <p:nvPr/>
        </p:nvSpPr>
        <p:spPr>
          <a:xfrm>
            <a:off x="8004294" y="2719586"/>
            <a:ext cx="348436"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KRI</a:t>
            </a:r>
            <a:endParaRPr lang="en-US" sz="1200" dirty="0"/>
          </a:p>
        </p:txBody>
      </p:sp>
      <p:sp>
        <p:nvSpPr>
          <p:cNvPr id="27" name="Text 25"/>
          <p:cNvSpPr/>
          <p:nvPr/>
        </p:nvSpPr>
        <p:spPr>
          <a:xfrm>
            <a:off x="9458821" y="2706886"/>
            <a:ext cx="1774329"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مؤشر المخاطر الرئيسي</a:t>
            </a:r>
            <a:endParaRPr lang="ar-SA" sz="1350" dirty="0" altLang="en-US"/>
          </a:p>
        </p:txBody>
      </p:sp>
      <p:sp>
        <p:nvSpPr>
          <p:cNvPr id="28" name="Text 26"/>
          <p:cNvSpPr/>
          <p:nvPr/>
        </p:nvSpPr>
        <p:spPr>
          <a:xfrm>
            <a:off x="7967243" y="2955131"/>
            <a:ext cx="32659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رقم ينبه مبكراً إلى ارتفاع خطر</a:t>
            </a:r>
            <a:endParaRPr lang="ar-SA" sz="1200" dirty="0" altLang="en-US"/>
          </a:p>
        </p:txBody>
      </p:sp>
      <p:sp>
        <p:nvSpPr>
          <p:cNvPr id="29" name="Shape 27"/>
          <p:cNvSpPr/>
          <p:nvPr/>
        </p:nvSpPr>
        <p:spPr>
          <a:xfrm>
            <a:off x="815975" y="3368477"/>
            <a:ext cx="3456484" cy="671116"/>
          </a:xfrm>
          <a:prstGeom prst="roundRect">
            <a:avLst>
              <a:gd name="adj" fmla="val 12773"/>
            </a:avLst>
          </a:prstGeom>
          <a:solidFill>
            <a:srgbClr val="FFFDF8"/>
          </a:solidFill>
          <a:ln w="6350">
            <a:solidFill>
              <a:srgbClr val="E1DBCD"/>
            </a:solidFill>
            <a:prstDash val="solid"/>
          </a:ln>
        </p:spPr>
      </p:sp>
      <p:sp>
        <p:nvSpPr>
          <p:cNvPr id="30" name="Text 28"/>
          <p:cNvSpPr/>
          <p:nvPr/>
        </p:nvSpPr>
        <p:spPr>
          <a:xfrm>
            <a:off x="819150" y="3485952"/>
            <a:ext cx="1346597"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Policy Exception</a:t>
            </a:r>
            <a:endParaRPr lang="en-US" sz="1200" dirty="0"/>
          </a:p>
        </p:txBody>
      </p:sp>
      <p:sp>
        <p:nvSpPr>
          <p:cNvPr id="31" name="Text 29"/>
          <p:cNvSpPr/>
          <p:nvPr/>
        </p:nvSpPr>
        <p:spPr>
          <a:xfrm>
            <a:off x="3568085" y="3473252"/>
            <a:ext cx="561499"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استثناء</a:t>
            </a:r>
            <a:endParaRPr lang="ar-SA" sz="1350" dirty="0" altLang="en-US"/>
          </a:p>
        </p:txBody>
      </p:sp>
      <p:sp>
        <p:nvSpPr>
          <p:cNvPr id="32" name="Text 30"/>
          <p:cNvSpPr/>
          <p:nvPr/>
        </p:nvSpPr>
        <p:spPr>
          <a:xfrm>
            <a:off x="863728" y="3721497"/>
            <a:ext cx="326585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إعفاء موثق ومؤقت من متطلب</a:t>
            </a:r>
            <a:endParaRPr lang="ar-SA" sz="1200" dirty="0" altLang="en-US"/>
          </a:p>
        </p:txBody>
      </p:sp>
      <p:sp>
        <p:nvSpPr>
          <p:cNvPr id="33" name="Shape 31"/>
          <p:cNvSpPr/>
          <p:nvPr/>
        </p:nvSpPr>
        <p:spPr>
          <a:xfrm>
            <a:off x="4367709" y="3368477"/>
            <a:ext cx="3456533" cy="671116"/>
          </a:xfrm>
          <a:prstGeom prst="roundRect">
            <a:avLst>
              <a:gd name="adj" fmla="val 12773"/>
            </a:avLst>
          </a:prstGeom>
          <a:solidFill>
            <a:srgbClr val="FFFDF8"/>
          </a:solidFill>
          <a:ln w="6350">
            <a:solidFill>
              <a:srgbClr val="E1DBCD"/>
            </a:solidFill>
            <a:prstDash val="solid"/>
          </a:ln>
        </p:spPr>
      </p:sp>
      <p:sp>
        <p:nvSpPr>
          <p:cNvPr id="34" name="Text 32"/>
          <p:cNvSpPr/>
          <p:nvPr/>
        </p:nvSpPr>
        <p:spPr>
          <a:xfrm>
            <a:off x="4370884" y="3485952"/>
            <a:ext cx="1777405"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Compensating Control</a:t>
            </a:r>
            <a:endParaRPr lang="en-US" sz="1200" dirty="0"/>
          </a:p>
        </p:txBody>
      </p:sp>
      <p:sp>
        <p:nvSpPr>
          <p:cNvPr id="35" name="Text 33"/>
          <p:cNvSpPr/>
          <p:nvPr/>
        </p:nvSpPr>
        <p:spPr>
          <a:xfrm>
            <a:off x="6517055" y="3473252"/>
            <a:ext cx="1164312"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ضابط تعويضي</a:t>
            </a:r>
            <a:endParaRPr lang="ar-SA" sz="1350" dirty="0" altLang="en-US"/>
          </a:p>
        </p:txBody>
      </p:sp>
      <p:sp>
        <p:nvSpPr>
          <p:cNvPr id="36" name="Text 34"/>
          <p:cNvSpPr/>
          <p:nvPr/>
        </p:nvSpPr>
        <p:spPr>
          <a:xfrm>
            <a:off x="4415460" y="3721497"/>
            <a:ext cx="32659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بديل حين يتعذر الضابط الأصلي</a:t>
            </a:r>
            <a:endParaRPr lang="ar-SA" sz="1200" dirty="0" altLang="en-US"/>
          </a:p>
        </p:txBody>
      </p:sp>
      <p:sp>
        <p:nvSpPr>
          <p:cNvPr id="37" name="Shape 35"/>
          <p:cNvSpPr/>
          <p:nvPr/>
        </p:nvSpPr>
        <p:spPr>
          <a:xfrm>
            <a:off x="7919492" y="3368477"/>
            <a:ext cx="3456533" cy="671116"/>
          </a:xfrm>
          <a:prstGeom prst="roundRect">
            <a:avLst>
              <a:gd name="adj" fmla="val 12773"/>
            </a:avLst>
          </a:prstGeom>
          <a:solidFill>
            <a:srgbClr val="FFFDF8"/>
          </a:solidFill>
          <a:ln w="6350">
            <a:solidFill>
              <a:srgbClr val="E1DBCD"/>
            </a:solidFill>
            <a:prstDash val="solid"/>
          </a:ln>
        </p:spPr>
      </p:sp>
      <p:sp>
        <p:nvSpPr>
          <p:cNvPr id="38" name="Text 36"/>
          <p:cNvSpPr/>
          <p:nvPr/>
        </p:nvSpPr>
        <p:spPr>
          <a:xfrm>
            <a:off x="7922667" y="3485952"/>
            <a:ext cx="1201341"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Control Owner</a:t>
            </a:r>
            <a:endParaRPr lang="en-US" sz="1200" dirty="0"/>
          </a:p>
        </p:txBody>
      </p:sp>
      <p:sp>
        <p:nvSpPr>
          <p:cNvPr id="39" name="Text 37"/>
          <p:cNvSpPr/>
          <p:nvPr/>
        </p:nvSpPr>
        <p:spPr>
          <a:xfrm>
            <a:off x="10179090" y="3473252"/>
            <a:ext cx="1054060"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مالك الضابط</a:t>
            </a:r>
            <a:endParaRPr lang="ar-SA" sz="1350" dirty="0" altLang="en-US"/>
          </a:p>
        </p:txBody>
      </p:sp>
      <p:sp>
        <p:nvSpPr>
          <p:cNvPr id="40" name="Text 38"/>
          <p:cNvSpPr/>
          <p:nvPr/>
        </p:nvSpPr>
        <p:spPr>
          <a:xfrm>
            <a:off x="7967243" y="3721497"/>
            <a:ext cx="32659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المسؤول عن تطبيق الضابط وأدلته</a:t>
            </a:r>
            <a:endParaRPr lang="ar-SA" sz="1200" dirty="0" altLang="en-US"/>
          </a:p>
        </p:txBody>
      </p:sp>
      <p:sp>
        <p:nvSpPr>
          <p:cNvPr id="41" name="Shape 39"/>
          <p:cNvSpPr/>
          <p:nvPr/>
        </p:nvSpPr>
        <p:spPr>
          <a:xfrm>
            <a:off x="815975" y="4134842"/>
            <a:ext cx="3456484" cy="671116"/>
          </a:xfrm>
          <a:prstGeom prst="roundRect">
            <a:avLst>
              <a:gd name="adj" fmla="val 12773"/>
            </a:avLst>
          </a:prstGeom>
          <a:solidFill>
            <a:srgbClr val="FFFDF8"/>
          </a:solidFill>
          <a:ln w="6350">
            <a:solidFill>
              <a:srgbClr val="E1DBCD"/>
            </a:solidFill>
            <a:prstDash val="solid"/>
          </a:ln>
        </p:spPr>
      </p:sp>
      <p:sp>
        <p:nvSpPr>
          <p:cNvPr id="42" name="Text 40"/>
          <p:cNvSpPr/>
          <p:nvPr/>
        </p:nvSpPr>
        <p:spPr>
          <a:xfrm>
            <a:off x="819150" y="4252317"/>
            <a:ext cx="116463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Due Diligence</a:t>
            </a:r>
            <a:endParaRPr lang="en-US" sz="1200" dirty="0"/>
          </a:p>
        </p:txBody>
      </p:sp>
      <p:sp>
        <p:nvSpPr>
          <p:cNvPr id="43" name="Text 41"/>
          <p:cNvSpPr/>
          <p:nvPr/>
        </p:nvSpPr>
        <p:spPr>
          <a:xfrm>
            <a:off x="2998788" y="4239617"/>
            <a:ext cx="1130796"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العناية الواجبة</a:t>
            </a:r>
            <a:endParaRPr lang="ar-SA" sz="1350" dirty="0" altLang="en-US"/>
          </a:p>
        </p:txBody>
      </p:sp>
      <p:sp>
        <p:nvSpPr>
          <p:cNvPr id="44" name="Text 42"/>
          <p:cNvSpPr/>
          <p:nvPr/>
        </p:nvSpPr>
        <p:spPr>
          <a:xfrm>
            <a:off x="863728" y="4487863"/>
            <a:ext cx="326585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التحقق من المورد أو الشريك قبل التعامل</a:t>
            </a:r>
            <a:endParaRPr lang="ar-SA" sz="1200" dirty="0" altLang="en-US"/>
          </a:p>
        </p:txBody>
      </p:sp>
      <p:sp>
        <p:nvSpPr>
          <p:cNvPr id="45" name="Shape 43"/>
          <p:cNvSpPr/>
          <p:nvPr/>
        </p:nvSpPr>
        <p:spPr>
          <a:xfrm>
            <a:off x="4367709" y="4134842"/>
            <a:ext cx="3456533" cy="671116"/>
          </a:xfrm>
          <a:prstGeom prst="roundRect">
            <a:avLst>
              <a:gd name="adj" fmla="val 12773"/>
            </a:avLst>
          </a:prstGeom>
          <a:solidFill>
            <a:srgbClr val="FFFDF8"/>
          </a:solidFill>
          <a:ln w="6350">
            <a:solidFill>
              <a:srgbClr val="E1DBCD"/>
            </a:solidFill>
            <a:prstDash val="solid"/>
          </a:ln>
        </p:spPr>
      </p:sp>
      <p:sp>
        <p:nvSpPr>
          <p:cNvPr id="46" name="Text 44"/>
          <p:cNvSpPr/>
          <p:nvPr/>
        </p:nvSpPr>
        <p:spPr>
          <a:xfrm>
            <a:off x="4370884" y="4252317"/>
            <a:ext cx="1216422"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Least Privilege</a:t>
            </a:r>
            <a:endParaRPr lang="en-US" sz="1200" dirty="0"/>
          </a:p>
        </p:txBody>
      </p:sp>
      <p:sp>
        <p:nvSpPr>
          <p:cNvPr id="47" name="Text 45"/>
          <p:cNvSpPr/>
          <p:nvPr/>
        </p:nvSpPr>
        <p:spPr>
          <a:xfrm>
            <a:off x="6702852" y="4239617"/>
            <a:ext cx="978515"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أقل صلاحية</a:t>
            </a:r>
            <a:endParaRPr lang="ar-SA" sz="1350" dirty="0" altLang="en-US"/>
          </a:p>
        </p:txBody>
      </p:sp>
      <p:sp>
        <p:nvSpPr>
          <p:cNvPr id="48" name="Text 46"/>
          <p:cNvSpPr/>
          <p:nvPr/>
        </p:nvSpPr>
        <p:spPr>
          <a:xfrm>
            <a:off x="4415460" y="4487863"/>
            <a:ext cx="32659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صلاحيات بقدر حاجة العمل فقط</a:t>
            </a:r>
            <a:endParaRPr lang="ar-SA" sz="1200" dirty="0" altLang="en-US"/>
          </a:p>
        </p:txBody>
      </p:sp>
      <p:sp>
        <p:nvSpPr>
          <p:cNvPr id="49" name="Shape 47"/>
          <p:cNvSpPr/>
          <p:nvPr/>
        </p:nvSpPr>
        <p:spPr>
          <a:xfrm>
            <a:off x="7919492" y="4134842"/>
            <a:ext cx="3456533" cy="671116"/>
          </a:xfrm>
          <a:prstGeom prst="roundRect">
            <a:avLst>
              <a:gd name="adj" fmla="val 12773"/>
            </a:avLst>
          </a:prstGeom>
          <a:solidFill>
            <a:srgbClr val="FFFDF8"/>
          </a:solidFill>
          <a:ln w="6350">
            <a:solidFill>
              <a:srgbClr val="E1DBCD"/>
            </a:solidFill>
            <a:prstDash val="solid"/>
          </a:ln>
        </p:spPr>
      </p:sp>
      <p:sp>
        <p:nvSpPr>
          <p:cNvPr id="50" name="Text 48"/>
          <p:cNvSpPr/>
          <p:nvPr/>
        </p:nvSpPr>
        <p:spPr>
          <a:xfrm>
            <a:off x="8001794" y="4252317"/>
            <a:ext cx="36343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0E7C6B"/>
                </a:solidFill>
                <a:latin typeface="Readex Pro" pitchFamily="34" charset="0"/>
                <a:ea typeface="Readex Pro" pitchFamily="34" charset="-122"/>
                <a:cs typeface="Readex Pro" pitchFamily="34" charset="-120"/>
              </a:rPr>
              <a:t>SoD</a:t>
            </a:r>
            <a:endParaRPr lang="en-US" sz="1200" dirty="0"/>
          </a:p>
        </p:txBody>
      </p:sp>
      <p:sp>
        <p:nvSpPr>
          <p:cNvPr id="51" name="Text 49"/>
          <p:cNvSpPr/>
          <p:nvPr/>
        </p:nvSpPr>
        <p:spPr>
          <a:xfrm>
            <a:off x="10220464" y="4239617"/>
            <a:ext cx="1012686"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فصل المهام</a:t>
            </a:r>
            <a:endParaRPr lang="ar-SA" sz="1350" dirty="0" altLang="en-US"/>
          </a:p>
        </p:txBody>
      </p:sp>
      <p:sp>
        <p:nvSpPr>
          <p:cNvPr id="52" name="Text 50"/>
          <p:cNvSpPr/>
          <p:nvPr/>
        </p:nvSpPr>
        <p:spPr>
          <a:xfrm>
            <a:off x="7967243" y="4487863"/>
            <a:ext cx="32659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لا ينفذ شخص واحد العملية ويعتمدها</a:t>
            </a:r>
            <a:endParaRPr lang="ar-SA" sz="1200" dirty="0" altLang="en-US"/>
          </a:p>
        </p:txBody>
      </p:sp>
      <p:sp>
        <p:nvSpPr>
          <p:cNvPr id="53" name="Text 51"/>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21</a:t>
            </a:r>
            <a:endParaRPr lang="en-US" sz="1200" dirty="0"/>
          </a:p>
        </p:txBody>
      </p:sp>
      <p:sp>
        <p:nvSpPr>
          <p:cNvPr id="54" name="Text 52"/>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02 · المفاهيم الأساسية</a:t>
            </a:r>
            <a:endParaRPr lang="ar-SA" sz="1200" dirty="0"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72433"/>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0E7C6B"/>
          </a:solidFill>
          <a:ln/>
        </p:spPr>
      </p:sp>
      <p:sp>
        <p:nvSpPr>
          <p:cNvPr id="3" name="Text 1"/>
          <p:cNvSpPr/>
          <p:nvPr>
            <p:ph type="title"/>
          </p:nvPr>
        </p:nvSpPr>
        <p:spPr>
          <a:xfrm>
            <a:off x="3006" y="2677170"/>
            <a:ext cx="4858762" cy="756890"/>
          </a:xfrm>
          <a:prstGeom prst="rect">
            <a:avLst/>
          </a:prstGeom>
          <a:noFill/>
          <a:ln/>
        </p:spPr>
        <p:txBody>
          <a:bodyPr wrap="square" lIns="0" tIns="0" rIns="0" bIns="0" rtlCol="0" anchor="t">
            <a:normAutofit/>
          </a:bodyPr>
          <a:lstStyle/>
          <a:p>
            <a:pPr algn="r" indent="0" marL="0" rtl="1">
              <a:lnSpc>
                <a:spcPts val="5760"/>
              </a:lnSpc>
              <a:buNone/>
            </a:pPr>
            <a:r>
              <a:rPr lang="ar-SA" sz="4800" b="1" i="0" dirty="0" altLang="en-US">
                <a:solidFill>
                  <a:srgbClr val="F3EFE6"/>
                </a:solidFill>
                <a:latin typeface="Readex Pro" pitchFamily="34" charset="0"/>
                <a:ea typeface="Readex Pro" pitchFamily="34" charset="-122"/>
                <a:cs typeface="Readex Pro" pitchFamily="34" charset="-120"/>
              </a:rPr>
              <a:t>الأطر والمعايير</a:t>
            </a:r>
            <a:endParaRPr lang="ar-SA" sz="4800" dirty="0" altLang="en-US"/>
          </a:p>
        </p:txBody>
      </p:sp>
      <p:sp>
        <p:nvSpPr>
          <p:cNvPr id="4" name="Text 2"/>
          <p:cNvSpPr/>
          <p:nvPr/>
        </p:nvSpPr>
        <p:spPr>
          <a:xfrm>
            <a:off x="4861768" y="2138660"/>
            <a:ext cx="185549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0E7C6B"/>
                </a:solidFill>
                <a:latin typeface="Readex Pro" pitchFamily="34" charset="0"/>
                <a:ea typeface="Readex Pro" pitchFamily="34" charset="-122"/>
                <a:cs typeface="Readex Pro" pitchFamily="34" charset="-120"/>
              </a:rPr>
              <a:t>03</a:t>
            </a:r>
            <a:endParaRPr lang="en-US" sz="10000" dirty="0"/>
          </a:p>
        </p:txBody>
      </p:sp>
      <p:sp>
        <p:nvSpPr>
          <p:cNvPr id="5" name="Text 3"/>
          <p:cNvSpPr/>
          <p:nvPr/>
        </p:nvSpPr>
        <p:spPr>
          <a:xfrm>
            <a:off x="546100" y="3611860"/>
            <a:ext cx="9156700" cy="368300"/>
          </a:xfrm>
          <a:prstGeom prst="rect">
            <a:avLst/>
          </a:prstGeom>
          <a:noFill/>
          <a:ln/>
        </p:spPr>
        <p:txBody>
          <a:bodyPr wrap="square" lIns="0" tIns="0" rIns="0" bIns="0" rtlCol="0" anchor="t">
            <a:normAutofit/>
          </a:bodyPr>
          <a:lstStyle/>
          <a:p>
            <a:pPr algn="r" indent="0" marL="0" rtl="1">
              <a:lnSpc>
                <a:spcPts val="2700"/>
              </a:lnSpc>
              <a:buNone/>
            </a:pPr>
            <a:r>
              <a:rPr lang="ar-SA" sz="1800" dirty="0" altLang="en-US">
                <a:solidFill>
                  <a:srgbClr val="D9E2E6"/>
                </a:solidFill>
                <a:latin typeface="IBM Plex Sans Arabic" pitchFamily="34" charset="0"/>
                <a:ea typeface="IBM Plex Sans Arabic" pitchFamily="34" charset="-122"/>
                <a:cs typeface="IBM Plex Sans Arabic" pitchFamily="34" charset="-120"/>
              </a:rPr>
              <a:t>لا تحتاج أن تحفظ كل الأطر. تحتاج أن تعرف ماذا يفعل كل إطار، ولمن هو، وبأيها تبدأ.</a:t>
            </a:r>
            <a:endParaRPr lang="ar-SA" sz="1800" dirty="0" altLang="en-US"/>
          </a:p>
        </p:txBody>
      </p:sp>
      <p:sp>
        <p:nvSpPr>
          <p:cNvPr id="6" name="Text 4"/>
          <p:cNvSpPr/>
          <p:nvPr/>
        </p:nvSpPr>
        <p:spPr>
          <a:xfrm>
            <a:off x="812800" y="4157960"/>
            <a:ext cx="1123206"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بأي إطار تبدأ؟</a:t>
            </a:r>
            <a:endParaRPr lang="ar-SA" sz="1300" dirty="0" altLang="en-US"/>
          </a:p>
        </p:txBody>
      </p:sp>
      <p:sp>
        <p:nvSpPr>
          <p:cNvPr id="7" name="Text 5"/>
          <p:cNvSpPr/>
          <p:nvPr/>
        </p:nvSpPr>
        <p:spPr>
          <a:xfrm>
            <a:off x="2037606" y="4157960"/>
            <a:ext cx="1200348"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الأطر السعودية</a:t>
            </a:r>
            <a:endParaRPr lang="ar-SA" sz="1300" dirty="0" altLang="en-US"/>
          </a:p>
        </p:txBody>
      </p:sp>
      <p:sp>
        <p:nvSpPr>
          <p:cNvPr id="8" name="Text 6"/>
          <p:cNvSpPr/>
          <p:nvPr/>
        </p:nvSpPr>
        <p:spPr>
          <a:xfrm>
            <a:off x="3339554" y="4157960"/>
            <a:ext cx="1287512" cy="358130"/>
          </a:xfrm>
          <a:prstGeom prst="roundRect">
            <a:avLst>
              <a:gd name="adj" fmla="val 50000"/>
            </a:avLst>
          </a:prstGeom>
          <a:solidFill>
            <a:srgbClr val="22344A"/>
          </a:solidFill>
          <a:ln/>
        </p:spPr>
        <p:txBody>
          <a:bodyPr wrap="none" lIns="0" tIns="0" rIns="0" bIns="0" rtlCol="0" anchor="ctr">
            <a:normAutofit/>
          </a:bodyPr>
          <a:lstStyle/>
          <a:p>
            <a:pPr algn="ctr" indent="0" marL="0">
              <a:lnSpc>
                <a:spcPts val="1820"/>
              </a:lnSpc>
              <a:buNone/>
            </a:pPr>
            <a:r>
              <a:rPr lang="en-US" sz="1300" dirty="0">
                <a:solidFill>
                  <a:srgbClr val="F3EFE6"/>
                </a:solidFill>
                <a:latin typeface="IBM Plex Sans Arabic" pitchFamily="34" charset="0"/>
                <a:ea typeface="IBM Plex Sans Arabic" pitchFamily="34" charset="-122"/>
                <a:cs typeface="IBM Plex Sans Arabic" pitchFamily="34" charset="-120"/>
              </a:rPr>
              <a:t>NIST CSF 2.0</a:t>
            </a:r>
            <a:endParaRPr lang="en-US" sz="1300" dirty="0"/>
          </a:p>
        </p:txBody>
      </p:sp>
      <p:sp>
        <p:nvSpPr>
          <p:cNvPr id="9" name="Text 7"/>
          <p:cNvSpPr/>
          <p:nvPr/>
        </p:nvSpPr>
        <p:spPr>
          <a:xfrm>
            <a:off x="4728666" y="4157960"/>
            <a:ext cx="1444327" cy="358130"/>
          </a:xfrm>
          <a:prstGeom prst="roundRect">
            <a:avLst>
              <a:gd name="adj" fmla="val 50000"/>
            </a:avLst>
          </a:prstGeom>
          <a:solidFill>
            <a:srgbClr val="22344A"/>
          </a:solidFill>
          <a:ln/>
        </p:spPr>
        <p:txBody>
          <a:bodyPr wrap="none" lIns="0" tIns="0" rIns="0" bIns="0" rtlCol="0" anchor="ctr">
            <a:normAutofit/>
          </a:bodyPr>
          <a:lstStyle/>
          <a:p>
            <a:pPr algn="ctr" indent="0" marL="0">
              <a:lnSpc>
                <a:spcPts val="1820"/>
              </a:lnSpc>
              <a:buNone/>
            </a:pPr>
            <a:r>
              <a:rPr lang="en-US" sz="1300" dirty="0">
                <a:solidFill>
                  <a:srgbClr val="F3EFE6"/>
                </a:solidFill>
                <a:latin typeface="IBM Plex Sans Arabic" pitchFamily="34" charset="0"/>
                <a:ea typeface="IBM Plex Sans Arabic" pitchFamily="34" charset="-122"/>
                <a:cs typeface="IBM Plex Sans Arabic" pitchFamily="34" charset="-120"/>
              </a:rPr>
              <a:t>ISO/IEC 27001</a:t>
            </a:r>
            <a:endParaRPr lang="en-US" sz="1300" dirty="0"/>
          </a:p>
        </p:txBody>
      </p:sp>
      <p:sp>
        <p:nvSpPr>
          <p:cNvPr id="10" name="Text 8"/>
          <p:cNvSpPr/>
          <p:nvPr/>
        </p:nvSpPr>
        <p:spPr>
          <a:xfrm>
            <a:off x="6274594" y="4157960"/>
            <a:ext cx="1542405"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خريطة الأطر العالمية</a:t>
            </a:r>
            <a:endParaRPr lang="ar-SA" sz="1300" dirty="0" altLang="en-US"/>
          </a:p>
        </p:txBody>
      </p:sp>
      <p:sp>
        <p:nvSpPr>
          <p:cNvPr id="11" name="Text 9"/>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3A3B1"/>
                </a:solidFill>
                <a:latin typeface="IBM Plex Sans Arabic" pitchFamily="34" charset="0"/>
                <a:ea typeface="IBM Plex Sans Arabic" pitchFamily="34" charset="-122"/>
                <a:cs typeface="IBM Plex Sans Arabic" pitchFamily="34" charset="-120"/>
              </a:rPr>
              <a:t>22</a:t>
            </a:r>
            <a:endParaRPr lang="en-US" sz="1200" dirty="0"/>
          </a:p>
        </p:txBody>
      </p:sp>
      <p:sp>
        <p:nvSpPr>
          <p:cNvPr id="12" name="Text 10"/>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93A3B1"/>
                </a:solidFill>
                <a:latin typeface="IBM Plex Sans Arabic" pitchFamily="34" charset="0"/>
                <a:ea typeface="IBM Plex Sans Arabic" pitchFamily="34" charset="-122"/>
                <a:cs typeface="IBM Plex Sans Arabic" pitchFamily="34" charset="-120"/>
              </a:rPr>
              <a:t>كيف تبدأ في GRC · الوحدة 03</a:t>
            </a:r>
            <a:endParaRPr lang="ar-SA" sz="1200" dirty="0"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813123" cy="289520"/>
          </a:xfrm>
          <a:custGeom>
            <a:avLst/>
            <a:gdLst/>
            <a:ahLst/>
            <a:cxnLst/>
            <a:rect l="l" t="t" r="r" b="b"/>
            <a:pathLst>
              <a:path w="1813123" h="289520">
                <a:moveTo>
                  <a:pt x="144760" y="0"/>
                </a:moveTo>
                <a:lnTo>
                  <a:pt x="1668363" y="0"/>
                </a:lnTo>
                <a:arcTo hR="144760" wR="144760" stAng="16200000" swAng="5400000"/>
                <a:lnTo>
                  <a:pt x="1813123"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03 · الأطر والمعايير</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خريطة الأطر العالمية: كل إطار يجيب عن سؤال</a:t>
            </a:r>
            <a:endParaRPr lang="ar-SA" sz="3000" dirty="0" altLang="en-US"/>
          </a:p>
        </p:txBody>
      </p:sp>
      <p:sp>
        <p:nvSpPr>
          <p:cNvPr id="5" name="Shape 3"/>
          <p:cNvSpPr/>
          <p:nvPr/>
        </p:nvSpPr>
        <p:spPr>
          <a:xfrm>
            <a:off x="815975" y="1861145"/>
            <a:ext cx="2540000" cy="2464842"/>
          </a:xfrm>
          <a:prstGeom prst="roundRect">
            <a:avLst>
              <a:gd name="adj" fmla="val 3993"/>
            </a:avLst>
          </a:prstGeom>
          <a:solidFill>
            <a:srgbClr val="FFFDF8"/>
          </a:solidFill>
          <a:ln w="6350">
            <a:solidFill>
              <a:srgbClr val="E1DBCD"/>
            </a:solidFill>
            <a:prstDash val="solid"/>
          </a:ln>
        </p:spPr>
      </p:sp>
      <p:sp>
        <p:nvSpPr>
          <p:cNvPr id="6" name="Text 4"/>
          <p:cNvSpPr/>
          <p:nvPr/>
        </p:nvSpPr>
        <p:spPr>
          <a:xfrm>
            <a:off x="904685" y="2016720"/>
            <a:ext cx="2295715"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9A5F0F"/>
                </a:solidFill>
                <a:latin typeface="Readex Pro" pitchFamily="34" charset="0"/>
                <a:ea typeface="Readex Pro" pitchFamily="34" charset="-122"/>
                <a:cs typeface="Readex Pro" pitchFamily="34" charset="-120"/>
              </a:rPr>
              <a:t>قطاعية وتعاقدية</a:t>
            </a:r>
            <a:endParaRPr lang="ar-SA" sz="1400" dirty="0" altLang="en-US"/>
          </a:p>
        </p:txBody>
      </p:sp>
      <p:sp>
        <p:nvSpPr>
          <p:cNvPr id="7" name="Text 5"/>
          <p:cNvSpPr/>
          <p:nvPr/>
        </p:nvSpPr>
        <p:spPr>
          <a:xfrm>
            <a:off x="904685" y="2324050"/>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ماذا يطلب العميل أو القطاع؟</a:t>
            </a:r>
            <a:endParaRPr lang="ar-SA" sz="1200" dirty="0" altLang="en-US"/>
          </a:p>
        </p:txBody>
      </p:sp>
      <p:sp>
        <p:nvSpPr>
          <p:cNvPr id="8" name="Shape 6"/>
          <p:cNvSpPr/>
          <p:nvPr/>
        </p:nvSpPr>
        <p:spPr>
          <a:xfrm>
            <a:off x="971550" y="2616746"/>
            <a:ext cx="2228850" cy="0"/>
          </a:xfrm>
          <a:prstGeom prst="line">
            <a:avLst/>
          </a:prstGeom>
          <a:noFill/>
          <a:ln w="6350">
            <a:solidFill>
              <a:srgbClr val="E1DBCD"/>
            </a:solidFill>
            <a:prstDash val="solid"/>
          </a:ln>
        </p:spPr>
      </p:sp>
      <p:sp>
        <p:nvSpPr>
          <p:cNvPr id="9" name="Text 7"/>
          <p:cNvSpPr/>
          <p:nvPr/>
        </p:nvSpPr>
        <p:spPr>
          <a:xfrm>
            <a:off x="904685" y="2696121"/>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PCI DSS</a:t>
            </a:r>
            <a:endParaRPr lang="en-US" sz="1300" dirty="0"/>
          </a:p>
        </p:txBody>
      </p:sp>
      <p:sp>
        <p:nvSpPr>
          <p:cNvPr id="10" name="Text 8"/>
          <p:cNvSpPr/>
          <p:nvPr/>
        </p:nvSpPr>
        <p:spPr>
          <a:xfrm>
            <a:off x="904685" y="2923431"/>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لمن يعالج بيانات البطاقات</a:t>
            </a:r>
            <a:endParaRPr lang="ar-SA" sz="1200" dirty="0" altLang="en-US"/>
          </a:p>
        </p:txBody>
      </p:sp>
      <p:sp>
        <p:nvSpPr>
          <p:cNvPr id="11" name="Text 9"/>
          <p:cNvSpPr/>
          <p:nvPr/>
        </p:nvSpPr>
        <p:spPr>
          <a:xfrm>
            <a:off x="904685" y="3212951"/>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SOC 2</a:t>
            </a:r>
            <a:endParaRPr lang="en-US" sz="1300" dirty="0"/>
          </a:p>
        </p:txBody>
      </p:sp>
      <p:sp>
        <p:nvSpPr>
          <p:cNvPr id="12" name="Text 10"/>
          <p:cNvSpPr/>
          <p:nvPr/>
        </p:nvSpPr>
        <p:spPr>
          <a:xfrm>
            <a:off x="904685" y="3440261"/>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تقرير تأكيد لمزودي الخدمات</a:t>
            </a:r>
            <a:endParaRPr lang="ar-SA" sz="1200" dirty="0" altLang="en-US"/>
          </a:p>
        </p:txBody>
      </p:sp>
      <p:sp>
        <p:nvSpPr>
          <p:cNvPr id="13" name="Text 11"/>
          <p:cNvSpPr/>
          <p:nvPr/>
        </p:nvSpPr>
        <p:spPr>
          <a:xfrm>
            <a:off x="904685" y="3729782"/>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GDPR</a:t>
            </a:r>
            <a:endParaRPr lang="en-US" sz="1300" dirty="0"/>
          </a:p>
        </p:txBody>
      </p:sp>
      <p:sp>
        <p:nvSpPr>
          <p:cNvPr id="14" name="Text 12"/>
          <p:cNvSpPr/>
          <p:nvPr/>
        </p:nvSpPr>
        <p:spPr>
          <a:xfrm>
            <a:off x="904685" y="3957092"/>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حماية البيانات في أوروبا</a:t>
            </a:r>
            <a:endParaRPr lang="ar-SA" sz="1200" dirty="0" altLang="en-US"/>
          </a:p>
        </p:txBody>
      </p:sp>
      <p:sp>
        <p:nvSpPr>
          <p:cNvPr id="15" name="Shape 13"/>
          <p:cNvSpPr/>
          <p:nvPr/>
        </p:nvSpPr>
        <p:spPr>
          <a:xfrm>
            <a:off x="3489325" y="1861145"/>
            <a:ext cx="2540000" cy="2464842"/>
          </a:xfrm>
          <a:prstGeom prst="roundRect">
            <a:avLst>
              <a:gd name="adj" fmla="val 3993"/>
            </a:avLst>
          </a:prstGeom>
          <a:solidFill>
            <a:srgbClr val="FFFDF8"/>
          </a:solidFill>
          <a:ln w="6350">
            <a:solidFill>
              <a:srgbClr val="E1DBCD"/>
            </a:solidFill>
            <a:prstDash val="solid"/>
          </a:ln>
        </p:spPr>
      </p:sp>
      <p:sp>
        <p:nvSpPr>
          <p:cNvPr id="16" name="Text 14"/>
          <p:cNvSpPr/>
          <p:nvPr/>
        </p:nvSpPr>
        <p:spPr>
          <a:xfrm>
            <a:off x="3578035" y="2016720"/>
            <a:ext cx="2295715"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5A3F87"/>
                </a:solidFill>
                <a:latin typeface="Readex Pro" pitchFamily="34" charset="0"/>
                <a:ea typeface="Readex Pro" pitchFamily="34" charset="-122"/>
                <a:cs typeface="Readex Pro" pitchFamily="34" charset="-120"/>
              </a:rPr>
              <a:t>حوكمة التقنية</a:t>
            </a:r>
            <a:endParaRPr lang="ar-SA" sz="1400" dirty="0" altLang="en-US"/>
          </a:p>
        </p:txBody>
      </p:sp>
      <p:sp>
        <p:nvSpPr>
          <p:cNvPr id="17" name="Text 15"/>
          <p:cNvSpPr/>
          <p:nvPr/>
        </p:nvSpPr>
        <p:spPr>
          <a:xfrm>
            <a:off x="3578035" y="2324050"/>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هل تخدم التقنية أهداف الجهة؟</a:t>
            </a:r>
            <a:endParaRPr lang="ar-SA" sz="1200" dirty="0" altLang="en-US"/>
          </a:p>
        </p:txBody>
      </p:sp>
      <p:sp>
        <p:nvSpPr>
          <p:cNvPr id="18" name="Shape 16"/>
          <p:cNvSpPr/>
          <p:nvPr/>
        </p:nvSpPr>
        <p:spPr>
          <a:xfrm>
            <a:off x="3644900" y="2616746"/>
            <a:ext cx="2228850" cy="0"/>
          </a:xfrm>
          <a:prstGeom prst="line">
            <a:avLst/>
          </a:prstGeom>
          <a:noFill/>
          <a:ln w="6350">
            <a:solidFill>
              <a:srgbClr val="E1DBCD"/>
            </a:solidFill>
            <a:prstDash val="solid"/>
          </a:ln>
        </p:spPr>
      </p:sp>
      <p:sp>
        <p:nvSpPr>
          <p:cNvPr id="19" name="Text 17"/>
          <p:cNvSpPr/>
          <p:nvPr/>
        </p:nvSpPr>
        <p:spPr>
          <a:xfrm>
            <a:off x="3578035" y="2696121"/>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COBIT 2019</a:t>
            </a:r>
            <a:endParaRPr lang="en-US" sz="1300" dirty="0"/>
          </a:p>
        </p:txBody>
      </p:sp>
      <p:sp>
        <p:nvSpPr>
          <p:cNvPr id="20" name="Text 18"/>
          <p:cNvSpPr/>
          <p:nvPr/>
        </p:nvSpPr>
        <p:spPr>
          <a:xfrm>
            <a:off x="3578035" y="2923431"/>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من ISACA: أهداف حوكمة وإدارة</a:t>
            </a:r>
            <a:endParaRPr lang="ar-SA" sz="1200" dirty="0" altLang="en-US"/>
          </a:p>
        </p:txBody>
      </p:sp>
      <p:sp>
        <p:nvSpPr>
          <p:cNvPr id="21" name="Text 19"/>
          <p:cNvSpPr/>
          <p:nvPr/>
        </p:nvSpPr>
        <p:spPr>
          <a:xfrm>
            <a:off x="3578035" y="3212951"/>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COSO</a:t>
            </a:r>
            <a:endParaRPr lang="en-US" sz="1300" dirty="0"/>
          </a:p>
        </p:txBody>
      </p:sp>
      <p:sp>
        <p:nvSpPr>
          <p:cNvPr id="22" name="Text 20"/>
          <p:cNvSpPr/>
          <p:nvPr/>
        </p:nvSpPr>
        <p:spPr>
          <a:xfrm>
            <a:off x="3578035" y="3440261"/>
            <a:ext cx="2295715"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الرقابة الداخلية وإدارة المخاطر المؤسسية</a:t>
            </a:r>
            <a:endParaRPr lang="ar-SA" sz="1200" dirty="0" altLang="en-US"/>
          </a:p>
        </p:txBody>
      </p:sp>
      <p:sp>
        <p:nvSpPr>
          <p:cNvPr id="23" name="Shape 21"/>
          <p:cNvSpPr/>
          <p:nvPr/>
        </p:nvSpPr>
        <p:spPr>
          <a:xfrm>
            <a:off x="6162675" y="1861145"/>
            <a:ext cx="2540000" cy="2464842"/>
          </a:xfrm>
          <a:prstGeom prst="roundRect">
            <a:avLst>
              <a:gd name="adj" fmla="val 3993"/>
            </a:avLst>
          </a:prstGeom>
          <a:solidFill>
            <a:srgbClr val="FFFDF8"/>
          </a:solidFill>
          <a:ln w="6350">
            <a:solidFill>
              <a:srgbClr val="E1DBCD"/>
            </a:solidFill>
            <a:prstDash val="solid"/>
          </a:ln>
        </p:spPr>
      </p:sp>
      <p:sp>
        <p:nvSpPr>
          <p:cNvPr id="24" name="Text 22"/>
          <p:cNvSpPr/>
          <p:nvPr/>
        </p:nvSpPr>
        <p:spPr>
          <a:xfrm>
            <a:off x="6251385" y="2016720"/>
            <a:ext cx="2295715"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2F5C92"/>
                </a:solidFill>
                <a:latin typeface="Readex Pro" pitchFamily="34" charset="0"/>
                <a:ea typeface="Readex Pro" pitchFamily="34" charset="-122"/>
                <a:cs typeface="Readex Pro" pitchFamily="34" charset="-120"/>
              </a:rPr>
              <a:t>أطر مخاطر وضوابط</a:t>
            </a:r>
            <a:endParaRPr lang="ar-SA" sz="1400" dirty="0" altLang="en-US"/>
          </a:p>
        </p:txBody>
      </p:sp>
      <p:sp>
        <p:nvSpPr>
          <p:cNvPr id="25" name="Text 23"/>
          <p:cNvSpPr/>
          <p:nvPr/>
        </p:nvSpPr>
        <p:spPr>
          <a:xfrm>
            <a:off x="6251385" y="2324050"/>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ماذا نطبق، وبأي ترتيب؟</a:t>
            </a:r>
            <a:endParaRPr lang="ar-SA" sz="1200" dirty="0" altLang="en-US"/>
          </a:p>
        </p:txBody>
      </p:sp>
      <p:sp>
        <p:nvSpPr>
          <p:cNvPr id="26" name="Shape 24"/>
          <p:cNvSpPr/>
          <p:nvPr/>
        </p:nvSpPr>
        <p:spPr>
          <a:xfrm>
            <a:off x="6318250" y="2616746"/>
            <a:ext cx="2228850" cy="0"/>
          </a:xfrm>
          <a:prstGeom prst="line">
            <a:avLst/>
          </a:prstGeom>
          <a:noFill/>
          <a:ln w="6350">
            <a:solidFill>
              <a:srgbClr val="E1DBCD"/>
            </a:solidFill>
            <a:prstDash val="solid"/>
          </a:ln>
        </p:spPr>
      </p:sp>
      <p:sp>
        <p:nvSpPr>
          <p:cNvPr id="27" name="Text 25"/>
          <p:cNvSpPr/>
          <p:nvPr/>
        </p:nvSpPr>
        <p:spPr>
          <a:xfrm>
            <a:off x="6251385" y="2696121"/>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NIST CSF 2.0</a:t>
            </a:r>
            <a:endParaRPr lang="en-US" sz="1300" dirty="0"/>
          </a:p>
        </p:txBody>
      </p:sp>
      <p:sp>
        <p:nvSpPr>
          <p:cNvPr id="28" name="Text 26"/>
          <p:cNvSpPr/>
          <p:nvPr/>
        </p:nvSpPr>
        <p:spPr>
          <a:xfrm>
            <a:off x="6251385" y="2923431"/>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لغة مشتركة لإدارة المخاطر</a:t>
            </a:r>
            <a:endParaRPr lang="ar-SA" sz="1200" dirty="0" altLang="en-US"/>
          </a:p>
        </p:txBody>
      </p:sp>
      <p:sp>
        <p:nvSpPr>
          <p:cNvPr id="29" name="Text 27"/>
          <p:cNvSpPr/>
          <p:nvPr/>
        </p:nvSpPr>
        <p:spPr>
          <a:xfrm>
            <a:off x="6251385" y="3212951"/>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NIST SP 800-53</a:t>
            </a:r>
            <a:endParaRPr lang="en-US" sz="1300" dirty="0"/>
          </a:p>
        </p:txBody>
      </p:sp>
      <p:sp>
        <p:nvSpPr>
          <p:cNvPr id="30" name="Text 28"/>
          <p:cNvSpPr/>
          <p:nvPr/>
        </p:nvSpPr>
        <p:spPr>
          <a:xfrm>
            <a:off x="6251385" y="3440261"/>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كتالوج ضوابط تفصيلي</a:t>
            </a:r>
            <a:endParaRPr lang="ar-SA" sz="1200" dirty="0" altLang="en-US"/>
          </a:p>
        </p:txBody>
      </p:sp>
      <p:sp>
        <p:nvSpPr>
          <p:cNvPr id="31" name="Text 29"/>
          <p:cNvSpPr/>
          <p:nvPr/>
        </p:nvSpPr>
        <p:spPr>
          <a:xfrm>
            <a:off x="6251385" y="3729782"/>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CIS Controls</a:t>
            </a:r>
            <a:endParaRPr lang="en-US" sz="1300" dirty="0"/>
          </a:p>
        </p:txBody>
      </p:sp>
      <p:sp>
        <p:nvSpPr>
          <p:cNvPr id="32" name="Text 30"/>
          <p:cNvSpPr/>
          <p:nvPr/>
        </p:nvSpPr>
        <p:spPr>
          <a:xfrm>
            <a:off x="6251385" y="3957092"/>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18 ضابطاً مرتبة بالأولوية</a:t>
            </a:r>
            <a:endParaRPr lang="ar-SA" sz="1200" dirty="0" altLang="en-US"/>
          </a:p>
        </p:txBody>
      </p:sp>
      <p:sp>
        <p:nvSpPr>
          <p:cNvPr id="33" name="Shape 31"/>
          <p:cNvSpPr/>
          <p:nvPr/>
        </p:nvSpPr>
        <p:spPr>
          <a:xfrm>
            <a:off x="8836025" y="1861145"/>
            <a:ext cx="2540000" cy="2464842"/>
          </a:xfrm>
          <a:prstGeom prst="roundRect">
            <a:avLst>
              <a:gd name="adj" fmla="val 3993"/>
            </a:avLst>
          </a:prstGeom>
          <a:solidFill>
            <a:srgbClr val="FFFDF8"/>
          </a:solidFill>
          <a:ln w="6350">
            <a:solidFill>
              <a:srgbClr val="E1DBCD"/>
            </a:solidFill>
            <a:prstDash val="solid"/>
          </a:ln>
        </p:spPr>
      </p:sp>
      <p:sp>
        <p:nvSpPr>
          <p:cNvPr id="34" name="Text 32"/>
          <p:cNvSpPr/>
          <p:nvPr/>
        </p:nvSpPr>
        <p:spPr>
          <a:xfrm>
            <a:off x="8924735" y="2016720"/>
            <a:ext cx="2295715"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0E7C6B"/>
                </a:solidFill>
                <a:latin typeface="Readex Pro" pitchFamily="34" charset="0"/>
                <a:ea typeface="Readex Pro" pitchFamily="34" charset="-122"/>
                <a:cs typeface="Readex Pro" pitchFamily="34" charset="-120"/>
              </a:rPr>
              <a:t>نظام إدارة يُمنح شهادة</a:t>
            </a:r>
            <a:endParaRPr lang="ar-SA" sz="1400" dirty="0" altLang="en-US"/>
          </a:p>
        </p:txBody>
      </p:sp>
      <p:sp>
        <p:nvSpPr>
          <p:cNvPr id="35" name="Text 33"/>
          <p:cNvSpPr/>
          <p:nvPr/>
        </p:nvSpPr>
        <p:spPr>
          <a:xfrm>
            <a:off x="8924735" y="2324050"/>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كيف ندير الأمن بشكل مستمر؟</a:t>
            </a:r>
            <a:endParaRPr lang="ar-SA" sz="1200" dirty="0" altLang="en-US"/>
          </a:p>
        </p:txBody>
      </p:sp>
      <p:sp>
        <p:nvSpPr>
          <p:cNvPr id="36" name="Shape 34"/>
          <p:cNvSpPr/>
          <p:nvPr/>
        </p:nvSpPr>
        <p:spPr>
          <a:xfrm>
            <a:off x="8991600" y="2616746"/>
            <a:ext cx="2228850" cy="0"/>
          </a:xfrm>
          <a:prstGeom prst="line">
            <a:avLst/>
          </a:prstGeom>
          <a:noFill/>
          <a:ln w="6350">
            <a:solidFill>
              <a:srgbClr val="E1DBCD"/>
            </a:solidFill>
            <a:prstDash val="solid"/>
          </a:ln>
        </p:spPr>
      </p:sp>
      <p:sp>
        <p:nvSpPr>
          <p:cNvPr id="37" name="Text 35"/>
          <p:cNvSpPr/>
          <p:nvPr/>
        </p:nvSpPr>
        <p:spPr>
          <a:xfrm>
            <a:off x="8924735" y="2696121"/>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ISO/IEC 27001</a:t>
            </a:r>
            <a:endParaRPr lang="en-US" sz="1300" dirty="0"/>
          </a:p>
        </p:txBody>
      </p:sp>
      <p:sp>
        <p:nvSpPr>
          <p:cNvPr id="38" name="Text 36"/>
          <p:cNvSpPr/>
          <p:nvPr/>
        </p:nvSpPr>
        <p:spPr>
          <a:xfrm>
            <a:off x="8924735" y="2923431"/>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أمن المعلومات</a:t>
            </a:r>
            <a:endParaRPr lang="ar-SA" sz="1200" dirty="0" altLang="en-US"/>
          </a:p>
        </p:txBody>
      </p:sp>
      <p:sp>
        <p:nvSpPr>
          <p:cNvPr id="39" name="Text 37"/>
          <p:cNvSpPr/>
          <p:nvPr/>
        </p:nvSpPr>
        <p:spPr>
          <a:xfrm>
            <a:off x="8924735" y="3212951"/>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ISO 22301</a:t>
            </a:r>
            <a:endParaRPr lang="en-US" sz="1300" dirty="0"/>
          </a:p>
        </p:txBody>
      </p:sp>
      <p:sp>
        <p:nvSpPr>
          <p:cNvPr id="40" name="Text 38"/>
          <p:cNvSpPr/>
          <p:nvPr/>
        </p:nvSpPr>
        <p:spPr>
          <a:xfrm>
            <a:off x="8924735" y="3440261"/>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استمرارية الأعمال</a:t>
            </a:r>
            <a:endParaRPr lang="ar-SA" sz="1200" dirty="0" altLang="en-US"/>
          </a:p>
        </p:txBody>
      </p:sp>
      <p:sp>
        <p:nvSpPr>
          <p:cNvPr id="41" name="Text 39"/>
          <p:cNvSpPr/>
          <p:nvPr/>
        </p:nvSpPr>
        <p:spPr>
          <a:xfrm>
            <a:off x="8924735" y="3729782"/>
            <a:ext cx="229571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ISO/IEC 27701</a:t>
            </a:r>
            <a:endParaRPr lang="en-US" sz="1300" dirty="0"/>
          </a:p>
        </p:txBody>
      </p:sp>
      <p:sp>
        <p:nvSpPr>
          <p:cNvPr id="42" name="Text 40"/>
          <p:cNvSpPr/>
          <p:nvPr/>
        </p:nvSpPr>
        <p:spPr>
          <a:xfrm>
            <a:off x="8924735" y="3957092"/>
            <a:ext cx="229571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إدارة الخصوصية</a:t>
            </a:r>
            <a:endParaRPr lang="ar-SA" sz="1200" dirty="0" altLang="en-US"/>
          </a:p>
        </p:txBody>
      </p:sp>
      <p:sp>
        <p:nvSpPr>
          <p:cNvPr id="43" name="Shape 41"/>
          <p:cNvSpPr/>
          <p:nvPr/>
        </p:nvSpPr>
        <p:spPr>
          <a:xfrm>
            <a:off x="812800" y="4532362"/>
            <a:ext cx="10566400" cy="458788"/>
          </a:xfrm>
          <a:prstGeom prst="roundRect">
            <a:avLst>
              <a:gd name="adj" fmla="val 19377"/>
            </a:avLst>
          </a:prstGeom>
          <a:solidFill>
            <a:srgbClr val="172433"/>
          </a:solidFill>
          <a:ln/>
        </p:spPr>
      </p:sp>
      <p:sp>
        <p:nvSpPr>
          <p:cNvPr id="44" name="Text 42"/>
          <p:cNvSpPr/>
          <p:nvPr/>
        </p:nvSpPr>
        <p:spPr>
          <a:xfrm>
            <a:off x="693420" y="4646662"/>
            <a:ext cx="10203180"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الأطر تتداخل كثيراً. ضابط واحد، مثل التحقق متعدد العوامل، قد يحقق متطلبات في عدة أطر معاً. هذا الربط اسمه «المواءمة».</a:t>
            </a:r>
            <a:endParaRPr lang="ar-SA" sz="1250" dirty="0" altLang="en-US"/>
          </a:p>
        </p:txBody>
      </p:sp>
      <p:pic>
        <p:nvPicPr>
          <p:cNvPr id="45" name="Image 0" descr="Link">    </p:cNvPr>
          <p:cNvPicPr>
            <a:picLocks noChangeAspect="1"/>
          </p:cNvPicPr>
          <p:nvPr/>
        </p:nvPicPr>
        <p:blipFill>
          <a:blip r:embed="rId1"/>
          <a:srcRect l="0" r="0" t="0" b="0"/>
          <a:stretch/>
        </p:blipFill>
        <p:spPr>
          <a:xfrm>
            <a:off x="10998200" y="4660156"/>
            <a:ext cx="203200" cy="203200"/>
          </a:xfrm>
          <a:prstGeom prst="rect">
            <a:avLst/>
          </a:prstGeom>
        </p:spPr>
      </p:pic>
      <p:sp>
        <p:nvSpPr>
          <p:cNvPr id="46" name="Text 4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23</a:t>
            </a:r>
            <a:endParaRPr lang="en-US" sz="1200" dirty="0"/>
          </a:p>
        </p:txBody>
      </p:sp>
      <p:sp>
        <p:nvSpPr>
          <p:cNvPr id="47" name="Text 4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03 · الأطر والمعايير</a:t>
            </a:r>
            <a:endParaRPr lang="ar-SA" sz="1200" dirty="0"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813123" cy="289520"/>
          </a:xfrm>
          <a:custGeom>
            <a:avLst/>
            <a:gdLst/>
            <a:ahLst/>
            <a:cxnLst/>
            <a:rect l="l" t="t" r="r" b="b"/>
            <a:pathLst>
              <a:path w="1813123" h="289520">
                <a:moveTo>
                  <a:pt x="144760" y="0"/>
                </a:moveTo>
                <a:lnTo>
                  <a:pt x="1668363" y="0"/>
                </a:lnTo>
                <a:arcTo hR="144760" wR="144760" stAng="16200000" swAng="5400000"/>
                <a:lnTo>
                  <a:pt x="1813123"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03 · الأطر والمعايير</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ISO/IEC 27001:2022 في شريحة واحدة</a:t>
            </a:r>
            <a:endParaRPr lang="ar-SA" sz="3000" dirty="0" altLang="en-US"/>
          </a:p>
        </p:txBody>
      </p:sp>
      <p:sp>
        <p:nvSpPr>
          <p:cNvPr id="5" name="Shape 3"/>
          <p:cNvSpPr/>
          <p:nvPr/>
        </p:nvSpPr>
        <p:spPr>
          <a:xfrm>
            <a:off x="815975" y="1861145"/>
            <a:ext cx="5334000" cy="3242270"/>
          </a:xfrm>
          <a:prstGeom prst="roundRect">
            <a:avLst>
              <a:gd name="adj" fmla="val 3036"/>
            </a:avLst>
          </a:prstGeom>
          <a:solidFill>
            <a:srgbClr val="FFFDF8"/>
          </a:solidFill>
          <a:ln w="6350">
            <a:solidFill>
              <a:srgbClr val="E1DBCD"/>
            </a:solidFill>
            <a:prstDash val="solid"/>
          </a:ln>
        </p:spPr>
      </p:sp>
      <p:sp>
        <p:nvSpPr>
          <p:cNvPr id="6" name="Text 4"/>
          <p:cNvSpPr/>
          <p:nvPr/>
        </p:nvSpPr>
        <p:spPr>
          <a:xfrm>
            <a:off x="847789" y="2042120"/>
            <a:ext cx="5121212"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9A5F0F"/>
                </a:solidFill>
                <a:latin typeface="Readex Pro" pitchFamily="34" charset="0"/>
                <a:ea typeface="Readex Pro" pitchFamily="34" charset="-122"/>
                <a:cs typeface="Readex Pro" pitchFamily="34" charset="-120"/>
              </a:rPr>
              <a:t>الملحق A: 93 ضابطاً في 4 محاور</a:t>
            </a:r>
            <a:endParaRPr lang="ar-SA" sz="1600" dirty="0" altLang="en-US"/>
          </a:p>
        </p:txBody>
      </p:sp>
      <p:sp>
        <p:nvSpPr>
          <p:cNvPr id="7" name="Text 5"/>
          <p:cNvSpPr/>
          <p:nvPr/>
        </p:nvSpPr>
        <p:spPr>
          <a:xfrm>
            <a:off x="946150" y="2407841"/>
            <a:ext cx="232420" cy="239713"/>
          </a:xfrm>
          <a:prstGeom prst="rect">
            <a:avLst/>
          </a:prstGeom>
          <a:noFill/>
          <a:ln/>
        </p:spPr>
        <p:txBody>
          <a:bodyPr wrap="square" lIns="0" tIns="0" rIns="0" bIns="0" rtlCol="0" anchor="t">
            <a:normAutofit/>
          </a:bodyPr>
          <a:lstStyle/>
          <a:p>
            <a:pPr algn="r" indent="0" marL="0">
              <a:lnSpc>
                <a:spcPts val="1688"/>
              </a:lnSpc>
              <a:buNone/>
            </a:pPr>
            <a:r>
              <a:rPr lang="en-US" sz="1250" b="1" dirty="0">
                <a:solidFill>
                  <a:srgbClr val="172433"/>
                </a:solidFill>
                <a:latin typeface="Readex Pro" pitchFamily="34" charset="0"/>
                <a:ea typeface="Readex Pro" pitchFamily="34" charset="-122"/>
                <a:cs typeface="Readex Pro" pitchFamily="34" charset="-120"/>
              </a:rPr>
              <a:t>37</a:t>
            </a:r>
            <a:endParaRPr lang="en-US" sz="1250" dirty="0"/>
          </a:p>
        </p:txBody>
      </p:sp>
      <p:sp>
        <p:nvSpPr>
          <p:cNvPr id="8" name="Text 6"/>
          <p:cNvSpPr/>
          <p:nvPr/>
        </p:nvSpPr>
        <p:spPr>
          <a:xfrm>
            <a:off x="4958159" y="2407841"/>
            <a:ext cx="1010841" cy="239713"/>
          </a:xfrm>
          <a:prstGeom prst="rect">
            <a:avLst/>
          </a:prstGeom>
          <a:noFill/>
          <a:ln/>
        </p:spPr>
        <p:txBody>
          <a:bodyPr wrap="square" lIns="0" tIns="0" rIns="0" bIns="0" rtlCol="0" anchor="t">
            <a:normAutofit/>
          </a:bodyPr>
          <a:lstStyle/>
          <a:p>
            <a:pPr algn="r" indent="0" marL="0" rtl="1">
              <a:lnSpc>
                <a:spcPts val="1688"/>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تنظيمية (A.5)</a:t>
            </a:r>
            <a:endParaRPr lang="ar-SA" sz="1250" dirty="0" altLang="en-US"/>
          </a:p>
        </p:txBody>
      </p:sp>
      <p:sp>
        <p:nvSpPr>
          <p:cNvPr id="9" name="Shape 7"/>
          <p:cNvSpPr/>
          <p:nvPr/>
        </p:nvSpPr>
        <p:spPr>
          <a:xfrm>
            <a:off x="996950" y="2660253"/>
            <a:ext cx="3810000" cy="139700"/>
          </a:xfrm>
          <a:prstGeom prst="roundRect">
            <a:avLst>
              <a:gd name="adj" fmla="val 27273"/>
            </a:avLst>
          </a:prstGeom>
          <a:solidFill>
            <a:srgbClr val="0E7C6B"/>
          </a:solidFill>
          <a:ln/>
        </p:spPr>
      </p:sp>
      <p:sp>
        <p:nvSpPr>
          <p:cNvPr id="10" name="Text 8"/>
          <p:cNvSpPr/>
          <p:nvPr/>
        </p:nvSpPr>
        <p:spPr>
          <a:xfrm>
            <a:off x="946150" y="2901553"/>
            <a:ext cx="145752" cy="239713"/>
          </a:xfrm>
          <a:prstGeom prst="rect">
            <a:avLst/>
          </a:prstGeom>
          <a:noFill/>
          <a:ln/>
        </p:spPr>
        <p:txBody>
          <a:bodyPr wrap="square" lIns="0" tIns="0" rIns="0" bIns="0" rtlCol="0" anchor="t">
            <a:normAutofit/>
          </a:bodyPr>
          <a:lstStyle/>
          <a:p>
            <a:pPr algn="r" indent="0" marL="0">
              <a:lnSpc>
                <a:spcPts val="1688"/>
              </a:lnSpc>
              <a:buNone/>
            </a:pPr>
            <a:r>
              <a:rPr lang="en-US" sz="1250" b="1" dirty="0">
                <a:solidFill>
                  <a:srgbClr val="172433"/>
                </a:solidFill>
                <a:latin typeface="Readex Pro" pitchFamily="34" charset="0"/>
                <a:ea typeface="Readex Pro" pitchFamily="34" charset="-122"/>
                <a:cs typeface="Readex Pro" pitchFamily="34" charset="-120"/>
              </a:rPr>
              <a:t>8</a:t>
            </a:r>
            <a:endParaRPr lang="en-US" sz="1250" dirty="0"/>
          </a:p>
        </p:txBody>
      </p:sp>
      <p:sp>
        <p:nvSpPr>
          <p:cNvPr id="11" name="Text 9"/>
          <p:cNvSpPr/>
          <p:nvPr/>
        </p:nvSpPr>
        <p:spPr>
          <a:xfrm>
            <a:off x="5105440" y="2901553"/>
            <a:ext cx="863560" cy="239713"/>
          </a:xfrm>
          <a:prstGeom prst="rect">
            <a:avLst/>
          </a:prstGeom>
          <a:noFill/>
          <a:ln/>
        </p:spPr>
        <p:txBody>
          <a:bodyPr wrap="square" lIns="0" tIns="0" rIns="0" bIns="0" rtlCol="0" anchor="t">
            <a:normAutofit/>
          </a:bodyPr>
          <a:lstStyle/>
          <a:p>
            <a:pPr algn="r" indent="0" marL="0" rtl="1">
              <a:lnSpc>
                <a:spcPts val="1688"/>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بشرية (A.6)</a:t>
            </a:r>
            <a:endParaRPr lang="ar-SA" sz="1250" dirty="0" altLang="en-US"/>
          </a:p>
        </p:txBody>
      </p:sp>
      <p:sp>
        <p:nvSpPr>
          <p:cNvPr id="12" name="Shape 10"/>
          <p:cNvSpPr/>
          <p:nvPr/>
        </p:nvSpPr>
        <p:spPr>
          <a:xfrm>
            <a:off x="996950" y="3153966"/>
            <a:ext cx="825500" cy="139700"/>
          </a:xfrm>
          <a:prstGeom prst="roundRect">
            <a:avLst>
              <a:gd name="adj" fmla="val 27273"/>
            </a:avLst>
          </a:prstGeom>
          <a:solidFill>
            <a:srgbClr val="3E6FA8"/>
          </a:solidFill>
          <a:ln/>
        </p:spPr>
      </p:sp>
      <p:sp>
        <p:nvSpPr>
          <p:cNvPr id="13" name="Text 11"/>
          <p:cNvSpPr/>
          <p:nvPr/>
        </p:nvSpPr>
        <p:spPr>
          <a:xfrm>
            <a:off x="946150" y="3395266"/>
            <a:ext cx="245120" cy="239713"/>
          </a:xfrm>
          <a:prstGeom prst="rect">
            <a:avLst/>
          </a:prstGeom>
          <a:noFill/>
          <a:ln/>
        </p:spPr>
        <p:txBody>
          <a:bodyPr wrap="square" lIns="0" tIns="0" rIns="0" bIns="0" rtlCol="0" anchor="t">
            <a:normAutofit/>
          </a:bodyPr>
          <a:lstStyle/>
          <a:p>
            <a:pPr algn="r" indent="0" marL="0">
              <a:lnSpc>
                <a:spcPts val="1688"/>
              </a:lnSpc>
              <a:buNone/>
            </a:pPr>
            <a:r>
              <a:rPr lang="en-US" sz="1250" b="1" dirty="0">
                <a:solidFill>
                  <a:srgbClr val="172433"/>
                </a:solidFill>
                <a:latin typeface="Readex Pro" pitchFamily="34" charset="0"/>
                <a:ea typeface="Readex Pro" pitchFamily="34" charset="-122"/>
                <a:cs typeface="Readex Pro" pitchFamily="34" charset="-120"/>
              </a:rPr>
              <a:t>14</a:t>
            </a:r>
            <a:endParaRPr lang="en-US" sz="1250" dirty="0"/>
          </a:p>
        </p:txBody>
      </p:sp>
      <p:sp>
        <p:nvSpPr>
          <p:cNvPr id="14" name="Text 12"/>
          <p:cNvSpPr/>
          <p:nvPr/>
        </p:nvSpPr>
        <p:spPr>
          <a:xfrm>
            <a:off x="5133777" y="3395266"/>
            <a:ext cx="835223" cy="239713"/>
          </a:xfrm>
          <a:prstGeom prst="rect">
            <a:avLst/>
          </a:prstGeom>
          <a:noFill/>
          <a:ln/>
        </p:spPr>
        <p:txBody>
          <a:bodyPr wrap="square" lIns="0" tIns="0" rIns="0" bIns="0" rtlCol="0" anchor="t">
            <a:normAutofit/>
          </a:bodyPr>
          <a:lstStyle/>
          <a:p>
            <a:pPr algn="r" indent="0" marL="0" rtl="1">
              <a:lnSpc>
                <a:spcPts val="1688"/>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مادية (A.7)</a:t>
            </a:r>
            <a:endParaRPr lang="ar-SA" sz="1250" dirty="0" altLang="en-US"/>
          </a:p>
        </p:txBody>
      </p:sp>
      <p:sp>
        <p:nvSpPr>
          <p:cNvPr id="15" name="Shape 13"/>
          <p:cNvSpPr/>
          <p:nvPr/>
        </p:nvSpPr>
        <p:spPr>
          <a:xfrm>
            <a:off x="996950" y="3647678"/>
            <a:ext cx="1441450" cy="139700"/>
          </a:xfrm>
          <a:prstGeom prst="roundRect">
            <a:avLst>
              <a:gd name="adj" fmla="val 27273"/>
            </a:avLst>
          </a:prstGeom>
          <a:solidFill>
            <a:srgbClr val="C27A16"/>
          </a:solidFill>
          <a:ln/>
        </p:spPr>
      </p:sp>
      <p:sp>
        <p:nvSpPr>
          <p:cNvPr id="16" name="Text 14"/>
          <p:cNvSpPr/>
          <p:nvPr/>
        </p:nvSpPr>
        <p:spPr>
          <a:xfrm>
            <a:off x="946150" y="3888978"/>
            <a:ext cx="249237" cy="239713"/>
          </a:xfrm>
          <a:prstGeom prst="rect">
            <a:avLst/>
          </a:prstGeom>
          <a:noFill/>
          <a:ln/>
        </p:spPr>
        <p:txBody>
          <a:bodyPr wrap="square" lIns="0" tIns="0" rIns="0" bIns="0" rtlCol="0" anchor="t">
            <a:normAutofit/>
          </a:bodyPr>
          <a:lstStyle/>
          <a:p>
            <a:pPr algn="r" indent="0" marL="0">
              <a:lnSpc>
                <a:spcPts val="1688"/>
              </a:lnSpc>
              <a:buNone/>
            </a:pPr>
            <a:r>
              <a:rPr lang="en-US" sz="1250" b="1" dirty="0">
                <a:solidFill>
                  <a:srgbClr val="172433"/>
                </a:solidFill>
                <a:latin typeface="Readex Pro" pitchFamily="34" charset="0"/>
                <a:ea typeface="Readex Pro" pitchFamily="34" charset="-122"/>
                <a:cs typeface="Readex Pro" pitchFamily="34" charset="-120"/>
              </a:rPr>
              <a:t>34</a:t>
            </a:r>
            <a:endParaRPr lang="en-US" sz="1250" dirty="0"/>
          </a:p>
        </p:txBody>
      </p:sp>
      <p:sp>
        <p:nvSpPr>
          <p:cNvPr id="17" name="Text 15"/>
          <p:cNvSpPr/>
          <p:nvPr/>
        </p:nvSpPr>
        <p:spPr>
          <a:xfrm>
            <a:off x="5164078" y="3888978"/>
            <a:ext cx="804922" cy="239713"/>
          </a:xfrm>
          <a:prstGeom prst="rect">
            <a:avLst/>
          </a:prstGeom>
          <a:noFill/>
          <a:ln/>
        </p:spPr>
        <p:txBody>
          <a:bodyPr wrap="square" lIns="0" tIns="0" rIns="0" bIns="0" rtlCol="0" anchor="t">
            <a:normAutofit/>
          </a:bodyPr>
          <a:lstStyle/>
          <a:p>
            <a:pPr algn="r" indent="0" marL="0" rtl="1">
              <a:lnSpc>
                <a:spcPts val="1688"/>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تقنية (A.8)</a:t>
            </a:r>
            <a:endParaRPr lang="ar-SA" sz="1250" dirty="0" altLang="en-US"/>
          </a:p>
        </p:txBody>
      </p:sp>
      <p:sp>
        <p:nvSpPr>
          <p:cNvPr id="18" name="Shape 16"/>
          <p:cNvSpPr/>
          <p:nvPr/>
        </p:nvSpPr>
        <p:spPr>
          <a:xfrm>
            <a:off x="996950" y="4141391"/>
            <a:ext cx="3498850" cy="139700"/>
          </a:xfrm>
          <a:prstGeom prst="roundRect">
            <a:avLst>
              <a:gd name="adj" fmla="val 27273"/>
            </a:avLst>
          </a:prstGeom>
          <a:solidFill>
            <a:srgbClr val="6B4E9B"/>
          </a:solidFill>
          <a:ln/>
        </p:spPr>
      </p:sp>
      <p:sp>
        <p:nvSpPr>
          <p:cNvPr id="19" name="Shape 17"/>
          <p:cNvSpPr/>
          <p:nvPr/>
        </p:nvSpPr>
        <p:spPr>
          <a:xfrm>
            <a:off x="996950" y="4385866"/>
            <a:ext cx="4972050" cy="0"/>
          </a:xfrm>
          <a:prstGeom prst="line">
            <a:avLst/>
          </a:prstGeom>
          <a:noFill/>
          <a:ln w="6350">
            <a:solidFill>
              <a:srgbClr val="E1DBCD"/>
            </a:solidFill>
            <a:prstDash val="solid"/>
          </a:ln>
        </p:spPr>
      </p:sp>
      <p:sp>
        <p:nvSpPr>
          <p:cNvPr id="20" name="Text 18"/>
          <p:cNvSpPr/>
          <p:nvPr/>
        </p:nvSpPr>
        <p:spPr>
          <a:xfrm>
            <a:off x="847789" y="4465241"/>
            <a:ext cx="5121212" cy="482600"/>
          </a:xfrm>
          <a:prstGeom prst="rect">
            <a:avLst/>
          </a:prstGeom>
          <a:noFill/>
          <a:ln/>
        </p:spPr>
        <p:txBody>
          <a:bodyPr wrap="square" lIns="0" tIns="0" rIns="0" bIns="0" rtlCol="0" anchor="t">
            <a:normAutofit/>
          </a:bodyPr>
          <a:lstStyle/>
          <a:p>
            <a:pPr algn="r" indent="0" marL="0" rtl="1">
              <a:lnSpc>
                <a:spcPts val="180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لا تطبق كل الضوابط تلقائياً: تختار ما يلزم من تقييم المخاطر، وتبرر الاستبعاد في بيان قابلية التطبيق (SoA).</a:t>
            </a:r>
            <a:endParaRPr lang="ar-SA" sz="1200" dirty="0" altLang="en-US"/>
          </a:p>
        </p:txBody>
      </p:sp>
      <p:sp>
        <p:nvSpPr>
          <p:cNvPr id="21" name="Text 19"/>
          <p:cNvSpPr/>
          <p:nvPr/>
        </p:nvSpPr>
        <p:spPr>
          <a:xfrm>
            <a:off x="6257989" y="1857970"/>
            <a:ext cx="5121212"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0E7C6B"/>
                </a:solidFill>
                <a:latin typeface="Readex Pro" pitchFamily="34" charset="0"/>
                <a:ea typeface="Readex Pro" pitchFamily="34" charset="-122"/>
                <a:cs typeface="Readex Pro" pitchFamily="34" charset="-120"/>
              </a:rPr>
              <a:t>الجزء الإلزامي: البنود 4 إلى 10</a:t>
            </a:r>
            <a:endParaRPr lang="ar-SA" sz="1600" dirty="0" altLang="en-US"/>
          </a:p>
        </p:txBody>
      </p:sp>
      <p:sp>
        <p:nvSpPr>
          <p:cNvPr id="22" name="Shape 20"/>
          <p:cNvSpPr/>
          <p:nvPr/>
        </p:nvSpPr>
        <p:spPr>
          <a:xfrm>
            <a:off x="6410325" y="2214166"/>
            <a:ext cx="1189038" cy="830560"/>
          </a:xfrm>
          <a:prstGeom prst="roundRect">
            <a:avLst>
              <a:gd name="adj" fmla="val 8792"/>
            </a:avLst>
          </a:prstGeom>
          <a:solidFill>
            <a:srgbClr val="FFFDF8"/>
          </a:solidFill>
          <a:ln w="6350">
            <a:solidFill>
              <a:srgbClr val="E1DBCD"/>
            </a:solidFill>
            <a:prstDash val="solid"/>
          </a:ln>
        </p:spPr>
      </p:sp>
      <p:sp>
        <p:nvSpPr>
          <p:cNvPr id="23" name="Text 21"/>
          <p:cNvSpPr/>
          <p:nvPr/>
        </p:nvSpPr>
        <p:spPr>
          <a:xfrm>
            <a:off x="6464300" y="2306241"/>
            <a:ext cx="1030288" cy="234950"/>
          </a:xfrm>
          <a:prstGeom prst="rect">
            <a:avLst/>
          </a:prstGeom>
          <a:noFill/>
          <a:ln/>
        </p:spPr>
        <p:txBody>
          <a:bodyPr wrap="square" lIns="0" tIns="0" rIns="0" bIns="0" rtlCol="0" anchor="t">
            <a:normAutofit/>
          </a:bodyPr>
          <a:lstStyle/>
          <a:p>
            <a:pPr algn="r" indent="0" marL="0">
              <a:lnSpc>
                <a:spcPts val="1650"/>
              </a:lnSpc>
              <a:buNone/>
            </a:pPr>
            <a:r>
              <a:rPr lang="en-US" sz="1500" b="1" dirty="0">
                <a:solidFill>
                  <a:srgbClr val="0E7C6B"/>
                </a:solidFill>
                <a:latin typeface="Readex Pro" pitchFamily="34" charset="0"/>
                <a:ea typeface="Readex Pro" pitchFamily="34" charset="-122"/>
                <a:cs typeface="Readex Pro" pitchFamily="34" charset="-120"/>
              </a:rPr>
              <a:t>7</a:t>
            </a:r>
            <a:endParaRPr lang="en-US" sz="1500" dirty="0"/>
          </a:p>
        </p:txBody>
      </p:sp>
      <p:sp>
        <p:nvSpPr>
          <p:cNvPr id="24" name="Text 22"/>
          <p:cNvSpPr/>
          <p:nvPr/>
        </p:nvSpPr>
        <p:spPr>
          <a:xfrm>
            <a:off x="6464300" y="2541191"/>
            <a:ext cx="1030288"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الدعم والموارد</a:t>
            </a:r>
            <a:endParaRPr lang="ar-SA" sz="1200" dirty="0" altLang="en-US"/>
          </a:p>
        </p:txBody>
      </p:sp>
      <p:sp>
        <p:nvSpPr>
          <p:cNvPr id="25" name="Shape 23"/>
          <p:cNvSpPr/>
          <p:nvPr/>
        </p:nvSpPr>
        <p:spPr>
          <a:xfrm>
            <a:off x="7669213" y="2214166"/>
            <a:ext cx="1189038" cy="830560"/>
          </a:xfrm>
          <a:prstGeom prst="roundRect">
            <a:avLst>
              <a:gd name="adj" fmla="val 8792"/>
            </a:avLst>
          </a:prstGeom>
          <a:solidFill>
            <a:srgbClr val="FFFDF8"/>
          </a:solidFill>
          <a:ln w="6350">
            <a:solidFill>
              <a:srgbClr val="E1DBCD"/>
            </a:solidFill>
            <a:prstDash val="solid"/>
          </a:ln>
        </p:spPr>
      </p:sp>
      <p:sp>
        <p:nvSpPr>
          <p:cNvPr id="26" name="Text 24"/>
          <p:cNvSpPr/>
          <p:nvPr/>
        </p:nvSpPr>
        <p:spPr>
          <a:xfrm>
            <a:off x="7723188" y="2306241"/>
            <a:ext cx="1030288" cy="234950"/>
          </a:xfrm>
          <a:prstGeom prst="rect">
            <a:avLst/>
          </a:prstGeom>
          <a:noFill/>
          <a:ln/>
        </p:spPr>
        <p:txBody>
          <a:bodyPr wrap="square" lIns="0" tIns="0" rIns="0" bIns="0" rtlCol="0" anchor="t">
            <a:normAutofit/>
          </a:bodyPr>
          <a:lstStyle/>
          <a:p>
            <a:pPr algn="r" indent="0" marL="0">
              <a:lnSpc>
                <a:spcPts val="1650"/>
              </a:lnSpc>
              <a:buNone/>
            </a:pPr>
            <a:r>
              <a:rPr lang="en-US" sz="1500" b="1" dirty="0">
                <a:solidFill>
                  <a:srgbClr val="0E7C6B"/>
                </a:solidFill>
                <a:latin typeface="Readex Pro" pitchFamily="34" charset="0"/>
                <a:ea typeface="Readex Pro" pitchFamily="34" charset="-122"/>
                <a:cs typeface="Readex Pro" pitchFamily="34" charset="-120"/>
              </a:rPr>
              <a:t>6</a:t>
            </a:r>
            <a:endParaRPr lang="en-US" sz="1500" dirty="0"/>
          </a:p>
        </p:txBody>
      </p:sp>
      <p:sp>
        <p:nvSpPr>
          <p:cNvPr id="27" name="Text 25"/>
          <p:cNvSpPr/>
          <p:nvPr/>
        </p:nvSpPr>
        <p:spPr>
          <a:xfrm>
            <a:off x="7723188" y="2541191"/>
            <a:ext cx="1030288" cy="43686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التخطيط وتقييم المخاطر</a:t>
            </a:r>
            <a:endParaRPr lang="ar-SA" sz="1200" dirty="0" altLang="en-US"/>
          </a:p>
        </p:txBody>
      </p:sp>
      <p:sp>
        <p:nvSpPr>
          <p:cNvPr id="28" name="Shape 26"/>
          <p:cNvSpPr/>
          <p:nvPr/>
        </p:nvSpPr>
        <p:spPr>
          <a:xfrm>
            <a:off x="8928100" y="2214166"/>
            <a:ext cx="1189038" cy="830560"/>
          </a:xfrm>
          <a:prstGeom prst="roundRect">
            <a:avLst>
              <a:gd name="adj" fmla="val 8792"/>
            </a:avLst>
          </a:prstGeom>
          <a:solidFill>
            <a:srgbClr val="FFFDF8"/>
          </a:solidFill>
          <a:ln w="6350">
            <a:solidFill>
              <a:srgbClr val="E1DBCD"/>
            </a:solidFill>
            <a:prstDash val="solid"/>
          </a:ln>
        </p:spPr>
      </p:sp>
      <p:sp>
        <p:nvSpPr>
          <p:cNvPr id="29" name="Text 27"/>
          <p:cNvSpPr/>
          <p:nvPr/>
        </p:nvSpPr>
        <p:spPr>
          <a:xfrm>
            <a:off x="8982075" y="2306241"/>
            <a:ext cx="1030288" cy="234950"/>
          </a:xfrm>
          <a:prstGeom prst="rect">
            <a:avLst/>
          </a:prstGeom>
          <a:noFill/>
          <a:ln/>
        </p:spPr>
        <p:txBody>
          <a:bodyPr wrap="square" lIns="0" tIns="0" rIns="0" bIns="0" rtlCol="0" anchor="t">
            <a:normAutofit/>
          </a:bodyPr>
          <a:lstStyle/>
          <a:p>
            <a:pPr algn="r" indent="0" marL="0">
              <a:lnSpc>
                <a:spcPts val="1650"/>
              </a:lnSpc>
              <a:buNone/>
            </a:pPr>
            <a:r>
              <a:rPr lang="en-US" sz="1500" b="1" dirty="0">
                <a:solidFill>
                  <a:srgbClr val="0E7C6B"/>
                </a:solidFill>
                <a:latin typeface="Readex Pro" pitchFamily="34" charset="0"/>
                <a:ea typeface="Readex Pro" pitchFamily="34" charset="-122"/>
                <a:cs typeface="Readex Pro" pitchFamily="34" charset="-120"/>
              </a:rPr>
              <a:t>5</a:t>
            </a:r>
            <a:endParaRPr lang="en-US" sz="1500" dirty="0"/>
          </a:p>
        </p:txBody>
      </p:sp>
      <p:sp>
        <p:nvSpPr>
          <p:cNvPr id="30" name="Text 28"/>
          <p:cNvSpPr/>
          <p:nvPr/>
        </p:nvSpPr>
        <p:spPr>
          <a:xfrm>
            <a:off x="8982075" y="2541191"/>
            <a:ext cx="1030288"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القيادة والسياسة</a:t>
            </a:r>
            <a:endParaRPr lang="ar-SA" sz="1200" dirty="0" altLang="en-US"/>
          </a:p>
        </p:txBody>
      </p:sp>
      <p:sp>
        <p:nvSpPr>
          <p:cNvPr id="31" name="Shape 29"/>
          <p:cNvSpPr/>
          <p:nvPr/>
        </p:nvSpPr>
        <p:spPr>
          <a:xfrm>
            <a:off x="10186988" y="2214166"/>
            <a:ext cx="1189038" cy="830560"/>
          </a:xfrm>
          <a:prstGeom prst="roundRect">
            <a:avLst>
              <a:gd name="adj" fmla="val 8792"/>
            </a:avLst>
          </a:prstGeom>
          <a:solidFill>
            <a:srgbClr val="FFFDF8"/>
          </a:solidFill>
          <a:ln w="6350">
            <a:solidFill>
              <a:srgbClr val="E1DBCD"/>
            </a:solidFill>
            <a:prstDash val="solid"/>
          </a:ln>
        </p:spPr>
      </p:sp>
      <p:sp>
        <p:nvSpPr>
          <p:cNvPr id="32" name="Text 30"/>
          <p:cNvSpPr/>
          <p:nvPr/>
        </p:nvSpPr>
        <p:spPr>
          <a:xfrm>
            <a:off x="10240963" y="2306241"/>
            <a:ext cx="1030288" cy="234950"/>
          </a:xfrm>
          <a:prstGeom prst="rect">
            <a:avLst/>
          </a:prstGeom>
          <a:noFill/>
          <a:ln/>
        </p:spPr>
        <p:txBody>
          <a:bodyPr wrap="square" lIns="0" tIns="0" rIns="0" bIns="0" rtlCol="0" anchor="t">
            <a:normAutofit/>
          </a:bodyPr>
          <a:lstStyle/>
          <a:p>
            <a:pPr algn="r" indent="0" marL="0">
              <a:lnSpc>
                <a:spcPts val="1650"/>
              </a:lnSpc>
              <a:buNone/>
            </a:pPr>
            <a:r>
              <a:rPr lang="en-US" sz="1500" b="1" dirty="0">
                <a:solidFill>
                  <a:srgbClr val="0E7C6B"/>
                </a:solidFill>
                <a:latin typeface="Readex Pro" pitchFamily="34" charset="0"/>
                <a:ea typeface="Readex Pro" pitchFamily="34" charset="-122"/>
                <a:cs typeface="Readex Pro" pitchFamily="34" charset="-120"/>
              </a:rPr>
              <a:t>4</a:t>
            </a:r>
            <a:endParaRPr lang="en-US" sz="1500" dirty="0"/>
          </a:p>
        </p:txBody>
      </p:sp>
      <p:sp>
        <p:nvSpPr>
          <p:cNvPr id="33" name="Text 31"/>
          <p:cNvSpPr/>
          <p:nvPr/>
        </p:nvSpPr>
        <p:spPr>
          <a:xfrm>
            <a:off x="10240963" y="2541191"/>
            <a:ext cx="1030288"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السياق والنطاق</a:t>
            </a:r>
            <a:endParaRPr lang="ar-SA" sz="1200" dirty="0" altLang="en-US"/>
          </a:p>
        </p:txBody>
      </p:sp>
      <p:sp>
        <p:nvSpPr>
          <p:cNvPr id="34" name="Shape 32"/>
          <p:cNvSpPr/>
          <p:nvPr/>
        </p:nvSpPr>
        <p:spPr>
          <a:xfrm>
            <a:off x="6410325" y="3139976"/>
            <a:ext cx="1608634" cy="830560"/>
          </a:xfrm>
          <a:prstGeom prst="roundRect">
            <a:avLst>
              <a:gd name="adj" fmla="val 8792"/>
            </a:avLst>
          </a:prstGeom>
          <a:solidFill>
            <a:srgbClr val="FFFDF8"/>
          </a:solidFill>
          <a:ln w="6350">
            <a:solidFill>
              <a:srgbClr val="E1DBCD"/>
            </a:solidFill>
            <a:prstDash val="solid"/>
          </a:ln>
        </p:spPr>
      </p:sp>
      <p:sp>
        <p:nvSpPr>
          <p:cNvPr id="35" name="Text 33"/>
          <p:cNvSpPr/>
          <p:nvPr/>
        </p:nvSpPr>
        <p:spPr>
          <a:xfrm>
            <a:off x="6464300" y="3232051"/>
            <a:ext cx="1449884" cy="234950"/>
          </a:xfrm>
          <a:prstGeom prst="rect">
            <a:avLst/>
          </a:prstGeom>
          <a:noFill/>
          <a:ln/>
        </p:spPr>
        <p:txBody>
          <a:bodyPr wrap="square" lIns="0" tIns="0" rIns="0" bIns="0" rtlCol="0" anchor="t">
            <a:normAutofit/>
          </a:bodyPr>
          <a:lstStyle/>
          <a:p>
            <a:pPr algn="r" indent="0" marL="0">
              <a:lnSpc>
                <a:spcPts val="1650"/>
              </a:lnSpc>
              <a:buNone/>
            </a:pPr>
            <a:r>
              <a:rPr lang="en-US" sz="1500" b="1" dirty="0">
                <a:solidFill>
                  <a:srgbClr val="0E7C6B"/>
                </a:solidFill>
                <a:latin typeface="Readex Pro" pitchFamily="34" charset="0"/>
                <a:ea typeface="Readex Pro" pitchFamily="34" charset="-122"/>
                <a:cs typeface="Readex Pro" pitchFamily="34" charset="-120"/>
              </a:rPr>
              <a:t>10</a:t>
            </a:r>
            <a:endParaRPr lang="en-US" sz="1500" dirty="0"/>
          </a:p>
        </p:txBody>
      </p:sp>
      <p:sp>
        <p:nvSpPr>
          <p:cNvPr id="36" name="Text 34"/>
          <p:cNvSpPr/>
          <p:nvPr/>
        </p:nvSpPr>
        <p:spPr>
          <a:xfrm>
            <a:off x="6464300" y="3467001"/>
            <a:ext cx="1449884"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التحسين المستمر</a:t>
            </a:r>
            <a:endParaRPr lang="ar-SA" sz="1200" dirty="0" altLang="en-US"/>
          </a:p>
        </p:txBody>
      </p:sp>
      <p:sp>
        <p:nvSpPr>
          <p:cNvPr id="37" name="Shape 35"/>
          <p:cNvSpPr/>
          <p:nvPr/>
        </p:nvSpPr>
        <p:spPr>
          <a:xfrm>
            <a:off x="8088809" y="3139976"/>
            <a:ext cx="1608683" cy="830560"/>
          </a:xfrm>
          <a:prstGeom prst="roundRect">
            <a:avLst>
              <a:gd name="adj" fmla="val 8792"/>
            </a:avLst>
          </a:prstGeom>
          <a:solidFill>
            <a:srgbClr val="FFFDF8"/>
          </a:solidFill>
          <a:ln w="6350">
            <a:solidFill>
              <a:srgbClr val="E1DBCD"/>
            </a:solidFill>
            <a:prstDash val="solid"/>
          </a:ln>
        </p:spPr>
      </p:sp>
      <p:sp>
        <p:nvSpPr>
          <p:cNvPr id="38" name="Text 36"/>
          <p:cNvSpPr/>
          <p:nvPr/>
        </p:nvSpPr>
        <p:spPr>
          <a:xfrm>
            <a:off x="8142784" y="3232051"/>
            <a:ext cx="1449933" cy="234950"/>
          </a:xfrm>
          <a:prstGeom prst="rect">
            <a:avLst/>
          </a:prstGeom>
          <a:noFill/>
          <a:ln/>
        </p:spPr>
        <p:txBody>
          <a:bodyPr wrap="square" lIns="0" tIns="0" rIns="0" bIns="0" rtlCol="0" anchor="t">
            <a:normAutofit/>
          </a:bodyPr>
          <a:lstStyle/>
          <a:p>
            <a:pPr algn="r" indent="0" marL="0">
              <a:lnSpc>
                <a:spcPts val="1650"/>
              </a:lnSpc>
              <a:buNone/>
            </a:pPr>
            <a:r>
              <a:rPr lang="en-US" sz="1500" b="1" dirty="0">
                <a:solidFill>
                  <a:srgbClr val="0E7C6B"/>
                </a:solidFill>
                <a:latin typeface="Readex Pro" pitchFamily="34" charset="0"/>
                <a:ea typeface="Readex Pro" pitchFamily="34" charset="-122"/>
                <a:cs typeface="Readex Pro" pitchFamily="34" charset="-120"/>
              </a:rPr>
              <a:t>9</a:t>
            </a:r>
            <a:endParaRPr lang="en-US" sz="1500" dirty="0"/>
          </a:p>
        </p:txBody>
      </p:sp>
      <p:sp>
        <p:nvSpPr>
          <p:cNvPr id="39" name="Text 37"/>
          <p:cNvSpPr/>
          <p:nvPr/>
        </p:nvSpPr>
        <p:spPr>
          <a:xfrm>
            <a:off x="8142784" y="3467001"/>
            <a:ext cx="1449933" cy="43686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تقييم الأداء والتدقيق الداخلي</a:t>
            </a:r>
            <a:endParaRPr lang="ar-SA" sz="1200" dirty="0" altLang="en-US"/>
          </a:p>
        </p:txBody>
      </p:sp>
      <p:sp>
        <p:nvSpPr>
          <p:cNvPr id="40" name="Shape 38"/>
          <p:cNvSpPr/>
          <p:nvPr/>
        </p:nvSpPr>
        <p:spPr>
          <a:xfrm>
            <a:off x="9767342" y="3139976"/>
            <a:ext cx="1608683" cy="830560"/>
          </a:xfrm>
          <a:prstGeom prst="roundRect">
            <a:avLst>
              <a:gd name="adj" fmla="val 8792"/>
            </a:avLst>
          </a:prstGeom>
          <a:solidFill>
            <a:srgbClr val="FFFDF8"/>
          </a:solidFill>
          <a:ln w="6350">
            <a:solidFill>
              <a:srgbClr val="E1DBCD"/>
            </a:solidFill>
            <a:prstDash val="solid"/>
          </a:ln>
        </p:spPr>
      </p:sp>
      <p:sp>
        <p:nvSpPr>
          <p:cNvPr id="41" name="Text 39"/>
          <p:cNvSpPr/>
          <p:nvPr/>
        </p:nvSpPr>
        <p:spPr>
          <a:xfrm>
            <a:off x="9821317" y="3232051"/>
            <a:ext cx="1449933" cy="234950"/>
          </a:xfrm>
          <a:prstGeom prst="rect">
            <a:avLst/>
          </a:prstGeom>
          <a:noFill/>
          <a:ln/>
        </p:spPr>
        <p:txBody>
          <a:bodyPr wrap="square" lIns="0" tIns="0" rIns="0" bIns="0" rtlCol="0" anchor="t">
            <a:normAutofit/>
          </a:bodyPr>
          <a:lstStyle/>
          <a:p>
            <a:pPr algn="r" indent="0" marL="0">
              <a:lnSpc>
                <a:spcPts val="1650"/>
              </a:lnSpc>
              <a:buNone/>
            </a:pPr>
            <a:r>
              <a:rPr lang="en-US" sz="1500" b="1" dirty="0">
                <a:solidFill>
                  <a:srgbClr val="0E7C6B"/>
                </a:solidFill>
                <a:latin typeface="Readex Pro" pitchFamily="34" charset="0"/>
                <a:ea typeface="Readex Pro" pitchFamily="34" charset="-122"/>
                <a:cs typeface="Readex Pro" pitchFamily="34" charset="-120"/>
              </a:rPr>
              <a:t>8</a:t>
            </a:r>
            <a:endParaRPr lang="en-US" sz="1500" dirty="0"/>
          </a:p>
        </p:txBody>
      </p:sp>
      <p:sp>
        <p:nvSpPr>
          <p:cNvPr id="42" name="Text 40"/>
          <p:cNvSpPr/>
          <p:nvPr/>
        </p:nvSpPr>
        <p:spPr>
          <a:xfrm>
            <a:off x="9821317" y="3467001"/>
            <a:ext cx="1449933" cy="43686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التشغيل ومعالجة المخاطر</a:t>
            </a:r>
            <a:endParaRPr lang="ar-SA" sz="1200" dirty="0" altLang="en-US"/>
          </a:p>
        </p:txBody>
      </p:sp>
      <p:sp>
        <p:nvSpPr>
          <p:cNvPr id="43" name="Shape 41"/>
          <p:cNvSpPr/>
          <p:nvPr/>
        </p:nvSpPr>
        <p:spPr>
          <a:xfrm>
            <a:off x="6407150" y="4062611"/>
            <a:ext cx="4972050" cy="975320"/>
          </a:xfrm>
          <a:prstGeom prst="roundRect">
            <a:avLst>
              <a:gd name="adj" fmla="val 9115"/>
            </a:avLst>
          </a:prstGeom>
          <a:solidFill>
            <a:srgbClr val="172433"/>
          </a:solidFill>
          <a:ln/>
        </p:spPr>
      </p:sp>
      <p:sp>
        <p:nvSpPr>
          <p:cNvPr id="44" name="Text 42"/>
          <p:cNvSpPr/>
          <p:nvPr/>
        </p:nvSpPr>
        <p:spPr>
          <a:xfrm>
            <a:off x="6419533" y="4189611"/>
            <a:ext cx="4807268"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F2C46D"/>
                </a:solidFill>
                <a:latin typeface="IBM Plex Sans Arabic" pitchFamily="34" charset="0"/>
                <a:ea typeface="IBM Plex Sans Arabic" pitchFamily="34" charset="-122"/>
                <a:cs typeface="IBM Plex Sans Arabic" pitchFamily="34" charset="-120"/>
              </a:rPr>
              <a:t>مسار الشهادة</a:t>
            </a:r>
            <a:endParaRPr lang="ar-SA" sz="1200" dirty="0" altLang="en-US"/>
          </a:p>
        </p:txBody>
      </p:sp>
      <p:sp>
        <p:nvSpPr>
          <p:cNvPr id="45" name="Text 43"/>
          <p:cNvSpPr/>
          <p:nvPr/>
        </p:nvSpPr>
        <p:spPr>
          <a:xfrm>
            <a:off x="6419533" y="4453731"/>
            <a:ext cx="4807268" cy="482600"/>
          </a:xfrm>
          <a:prstGeom prst="rect">
            <a:avLst/>
          </a:prstGeom>
          <a:noFill/>
          <a:ln/>
        </p:spPr>
        <p:txBody>
          <a:bodyPr wrap="square" lIns="0" tIns="0" rIns="0" bIns="0" rtlCol="0" anchor="t">
            <a:normAutofit/>
          </a:bodyPr>
          <a:lstStyle/>
          <a:p>
            <a:pPr algn="r" indent="0" marL="0" rtl="1">
              <a:lnSpc>
                <a:spcPts val="180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تدقيق المرحلة 1 (الوثائق) ← المرحلة 2 (التطبيق) ← شهادة لثلاث سنوات، مع تدقيق متابعة سنوي.</a:t>
            </a:r>
            <a:endParaRPr lang="ar-SA" sz="1200" dirty="0" altLang="en-US"/>
          </a:p>
        </p:txBody>
      </p:sp>
      <p:sp>
        <p:nvSpPr>
          <p:cNvPr id="46" name="Text 44"/>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24</a:t>
            </a:r>
            <a:endParaRPr lang="en-US" sz="1200" dirty="0"/>
          </a:p>
        </p:txBody>
      </p:sp>
      <p:sp>
        <p:nvSpPr>
          <p:cNvPr id="47" name="Text 45"/>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03 · الأطر والمعايير</a:t>
            </a:r>
            <a:endParaRPr lang="ar-SA" sz="1200" dirty="0"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813123" cy="289520"/>
          </a:xfrm>
          <a:custGeom>
            <a:avLst/>
            <a:gdLst/>
            <a:ahLst/>
            <a:cxnLst/>
            <a:rect l="l" t="t" r="r" b="b"/>
            <a:pathLst>
              <a:path w="1813123" h="289520">
                <a:moveTo>
                  <a:pt x="144760" y="0"/>
                </a:moveTo>
                <a:lnTo>
                  <a:pt x="1668363" y="0"/>
                </a:lnTo>
                <a:arcTo hR="144760" wR="144760" stAng="16200000" swAng="5400000"/>
                <a:lnTo>
                  <a:pt x="1813123"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03 · الأطر والمعايير</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NIST CSF 2.0: ست وظائف، والحوكمة في المركز</a:t>
            </a:r>
            <a:endParaRPr lang="ar-SA" sz="3000" dirty="0" altLang="en-US"/>
          </a:p>
        </p:txBody>
      </p:sp>
      <p:sp>
        <p:nvSpPr>
          <p:cNvPr id="5" name="Shape 3"/>
          <p:cNvSpPr/>
          <p:nvPr/>
        </p:nvSpPr>
        <p:spPr>
          <a:xfrm>
            <a:off x="812800" y="1832570"/>
            <a:ext cx="10566400" cy="1039118"/>
          </a:xfrm>
          <a:prstGeom prst="roundRect">
            <a:avLst>
              <a:gd name="adj" fmla="val 9778"/>
            </a:avLst>
          </a:prstGeom>
          <a:solidFill>
            <a:srgbClr val="172433"/>
          </a:solidFill>
          <a:ln/>
        </p:spPr>
      </p:sp>
      <p:sp>
        <p:nvSpPr>
          <p:cNvPr id="6" name="Text 4"/>
          <p:cNvSpPr/>
          <p:nvPr/>
        </p:nvSpPr>
        <p:spPr>
          <a:xfrm>
            <a:off x="723265" y="1972270"/>
            <a:ext cx="9614535" cy="306040"/>
          </a:xfrm>
          <a:prstGeom prst="rect">
            <a:avLst/>
          </a:prstGeom>
          <a:noFill/>
          <a:ln/>
        </p:spPr>
        <p:txBody>
          <a:bodyPr wrap="square" lIns="0" tIns="0" rIns="0" bIns="0" rtlCol="0" anchor="t">
            <a:normAutofit/>
          </a:bodyPr>
          <a:lstStyle/>
          <a:p>
            <a:pPr algn="r" indent="0" marL="0" rtl="1">
              <a:lnSpc>
                <a:spcPts val="2210"/>
              </a:lnSpc>
              <a:buNone/>
            </a:pPr>
            <a:r>
              <a:rPr lang="ar-SA" sz="1700" b="1" dirty="0" altLang="en-US">
                <a:solidFill>
                  <a:srgbClr val="F3EFE6"/>
                </a:solidFill>
                <a:latin typeface="Readex Pro" pitchFamily="34" charset="0"/>
                <a:ea typeface="Readex Pro" pitchFamily="34" charset="-122"/>
                <a:cs typeface="Readex Pro" pitchFamily="34" charset="-120"/>
              </a:rPr>
              <a:t>الحوكمة · Govern</a:t>
            </a:r>
            <a:endParaRPr lang="ar-SA" sz="1700" dirty="0" altLang="en-US"/>
          </a:p>
        </p:txBody>
      </p:sp>
      <p:sp>
        <p:nvSpPr>
          <p:cNvPr id="7" name="Text 5"/>
          <p:cNvSpPr/>
          <p:nvPr/>
        </p:nvSpPr>
        <p:spPr>
          <a:xfrm>
            <a:off x="723265" y="2278311"/>
            <a:ext cx="9614535"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F2C46D"/>
                </a:solidFill>
                <a:latin typeface="IBM Plex Sans Arabic" pitchFamily="34" charset="0"/>
                <a:ea typeface="IBM Plex Sans Arabic" pitchFamily="34" charset="-122"/>
                <a:cs typeface="IBM Plex Sans Arabic" pitchFamily="34" charset="-120"/>
              </a:rPr>
              <a:t>وظيفة جديدة في الإصدار 2.0</a:t>
            </a:r>
            <a:endParaRPr lang="ar-SA" sz="1200" dirty="0" altLang="en-US"/>
          </a:p>
        </p:txBody>
      </p:sp>
      <p:sp>
        <p:nvSpPr>
          <p:cNvPr id="8" name="Text 6"/>
          <p:cNvSpPr/>
          <p:nvPr/>
        </p:nvSpPr>
        <p:spPr>
          <a:xfrm>
            <a:off x="723265" y="2501801"/>
            <a:ext cx="9614535"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D9E2E6"/>
                </a:solidFill>
                <a:latin typeface="IBM Plex Sans Arabic" pitchFamily="34" charset="0"/>
                <a:ea typeface="IBM Plex Sans Arabic" pitchFamily="34" charset="-122"/>
                <a:cs typeface="IBM Plex Sans Arabic" pitchFamily="34" charset="-120"/>
              </a:rPr>
              <a:t>الاستراتيجية، والأدوار، والسياسات، وإدارة مخاطر سلسلة الإمداد. هنا يعمل GRC بشكل مباشر.</a:t>
            </a:r>
            <a:endParaRPr lang="ar-SA" sz="1250" dirty="0" altLang="en-US"/>
          </a:p>
        </p:txBody>
      </p:sp>
      <p:sp>
        <p:nvSpPr>
          <p:cNvPr id="9" name="Text 7"/>
          <p:cNvSpPr/>
          <p:nvPr/>
        </p:nvSpPr>
        <p:spPr>
          <a:xfrm>
            <a:off x="10490200" y="2002879"/>
            <a:ext cx="698500" cy="698500"/>
          </a:xfrm>
          <a:prstGeom prst="roundRect">
            <a:avLst>
              <a:gd name="adj" fmla="val 50000"/>
            </a:avLst>
          </a:prstGeom>
          <a:solidFill>
            <a:srgbClr val="F2C46D"/>
          </a:solidFill>
          <a:ln/>
        </p:spPr>
        <p:txBody>
          <a:bodyPr wrap="square" lIns="0" tIns="0" rIns="0" bIns="0" rtlCol="0" anchor="ctr">
            <a:normAutofit/>
          </a:bodyPr>
          <a:lstStyle/>
          <a:p>
            <a:pPr algn="ctr" indent="0" marL="0">
              <a:lnSpc>
                <a:spcPts val="1700"/>
              </a:lnSpc>
              <a:buNone/>
            </a:pPr>
            <a:r>
              <a:rPr lang="en-US" sz="1700" b="1" dirty="0">
                <a:solidFill>
                  <a:srgbClr val="172433"/>
                </a:solidFill>
                <a:latin typeface="Readex Pro" pitchFamily="34" charset="0"/>
                <a:ea typeface="Readex Pro" pitchFamily="34" charset="-122"/>
                <a:cs typeface="Readex Pro" pitchFamily="34" charset="-120"/>
              </a:rPr>
              <a:t>GV</a:t>
            </a:r>
            <a:endParaRPr lang="en-US" sz="1700" dirty="0"/>
          </a:p>
        </p:txBody>
      </p:sp>
      <p:sp>
        <p:nvSpPr>
          <p:cNvPr id="10" name="Shape 8"/>
          <p:cNvSpPr/>
          <p:nvPr/>
        </p:nvSpPr>
        <p:spPr>
          <a:xfrm>
            <a:off x="815975" y="3052663"/>
            <a:ext cx="2035770" cy="1209526"/>
          </a:xfrm>
          <a:prstGeom prst="roundRect">
            <a:avLst>
              <a:gd name="adj" fmla="val 7087"/>
            </a:avLst>
          </a:prstGeom>
          <a:solidFill>
            <a:srgbClr val="FFFDF8"/>
          </a:solidFill>
          <a:ln w="6350">
            <a:solidFill>
              <a:srgbClr val="E1DBCD"/>
            </a:solidFill>
            <a:prstDash val="solid"/>
          </a:ln>
        </p:spPr>
      </p:sp>
      <p:sp>
        <p:nvSpPr>
          <p:cNvPr id="11" name="Text 9"/>
          <p:cNvSpPr/>
          <p:nvPr/>
        </p:nvSpPr>
        <p:spPr>
          <a:xfrm>
            <a:off x="892887" y="3182838"/>
            <a:ext cx="1828683" cy="22349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0E7C6B"/>
                </a:solidFill>
                <a:latin typeface="Readex Pro" pitchFamily="34" charset="0"/>
                <a:ea typeface="Readex Pro" pitchFamily="34" charset="-122"/>
                <a:cs typeface="Readex Pro" pitchFamily="34" charset="-120"/>
              </a:rPr>
              <a:t>RC</a:t>
            </a:r>
            <a:endParaRPr lang="en-US" sz="1300" dirty="0"/>
          </a:p>
        </p:txBody>
      </p:sp>
      <p:sp>
        <p:nvSpPr>
          <p:cNvPr id="12" name="Text 10"/>
          <p:cNvSpPr/>
          <p:nvPr/>
        </p:nvSpPr>
        <p:spPr>
          <a:xfrm>
            <a:off x="892887" y="3431729"/>
            <a:ext cx="1828683"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التعافي</a:t>
            </a:r>
            <a:endParaRPr lang="ar-SA" sz="1350" dirty="0" altLang="en-US"/>
          </a:p>
        </p:txBody>
      </p:sp>
      <p:sp>
        <p:nvSpPr>
          <p:cNvPr id="13" name="Text 11"/>
          <p:cNvSpPr/>
          <p:nvPr/>
        </p:nvSpPr>
        <p:spPr>
          <a:xfrm>
            <a:off x="892887" y="3705374"/>
            <a:ext cx="182868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استعادة الأصول والعمليات</a:t>
            </a:r>
            <a:endParaRPr lang="ar-SA" sz="1200" dirty="0" altLang="en-US"/>
          </a:p>
        </p:txBody>
      </p:sp>
      <p:sp>
        <p:nvSpPr>
          <p:cNvPr id="14" name="Shape 12"/>
          <p:cNvSpPr/>
          <p:nvPr/>
        </p:nvSpPr>
        <p:spPr>
          <a:xfrm>
            <a:off x="2946995" y="3052663"/>
            <a:ext cx="2035820" cy="1209526"/>
          </a:xfrm>
          <a:prstGeom prst="roundRect">
            <a:avLst>
              <a:gd name="adj" fmla="val 7087"/>
            </a:avLst>
          </a:prstGeom>
          <a:solidFill>
            <a:srgbClr val="FFFDF8"/>
          </a:solidFill>
          <a:ln w="6350">
            <a:solidFill>
              <a:srgbClr val="E1DBCD"/>
            </a:solidFill>
            <a:prstDash val="solid"/>
          </a:ln>
        </p:spPr>
      </p:sp>
      <p:sp>
        <p:nvSpPr>
          <p:cNvPr id="15" name="Text 13"/>
          <p:cNvSpPr/>
          <p:nvPr/>
        </p:nvSpPr>
        <p:spPr>
          <a:xfrm>
            <a:off x="3023906" y="3182838"/>
            <a:ext cx="1828734" cy="22349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B4412C"/>
                </a:solidFill>
                <a:latin typeface="Readex Pro" pitchFamily="34" charset="0"/>
                <a:ea typeface="Readex Pro" pitchFamily="34" charset="-122"/>
                <a:cs typeface="Readex Pro" pitchFamily="34" charset="-120"/>
              </a:rPr>
              <a:t>RS</a:t>
            </a:r>
            <a:endParaRPr lang="en-US" sz="1300" dirty="0"/>
          </a:p>
        </p:txBody>
      </p:sp>
      <p:sp>
        <p:nvSpPr>
          <p:cNvPr id="16" name="Text 14"/>
          <p:cNvSpPr/>
          <p:nvPr/>
        </p:nvSpPr>
        <p:spPr>
          <a:xfrm>
            <a:off x="3023906" y="3431729"/>
            <a:ext cx="1828734"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الاستجابة</a:t>
            </a:r>
            <a:endParaRPr lang="ar-SA" sz="1350" dirty="0" altLang="en-US"/>
          </a:p>
        </p:txBody>
      </p:sp>
      <p:sp>
        <p:nvSpPr>
          <p:cNvPr id="17" name="Text 15"/>
          <p:cNvSpPr/>
          <p:nvPr/>
        </p:nvSpPr>
        <p:spPr>
          <a:xfrm>
            <a:off x="3023906" y="3705374"/>
            <a:ext cx="1828734"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إدارة الحادثة، والتواصل، والاحتواء</a:t>
            </a:r>
            <a:endParaRPr lang="ar-SA" sz="1200" dirty="0" altLang="en-US"/>
          </a:p>
        </p:txBody>
      </p:sp>
      <p:sp>
        <p:nvSpPr>
          <p:cNvPr id="18" name="Shape 16"/>
          <p:cNvSpPr/>
          <p:nvPr/>
        </p:nvSpPr>
        <p:spPr>
          <a:xfrm>
            <a:off x="5078065" y="3052663"/>
            <a:ext cx="2035820" cy="1209526"/>
          </a:xfrm>
          <a:prstGeom prst="roundRect">
            <a:avLst>
              <a:gd name="adj" fmla="val 7087"/>
            </a:avLst>
          </a:prstGeom>
          <a:solidFill>
            <a:srgbClr val="FFFDF8"/>
          </a:solidFill>
          <a:ln w="6350">
            <a:solidFill>
              <a:srgbClr val="E1DBCD"/>
            </a:solidFill>
            <a:prstDash val="solid"/>
          </a:ln>
        </p:spPr>
      </p:sp>
      <p:sp>
        <p:nvSpPr>
          <p:cNvPr id="19" name="Text 17"/>
          <p:cNvSpPr/>
          <p:nvPr/>
        </p:nvSpPr>
        <p:spPr>
          <a:xfrm>
            <a:off x="5154976" y="3182838"/>
            <a:ext cx="1828734" cy="22349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9A5F0F"/>
                </a:solidFill>
                <a:latin typeface="Readex Pro" pitchFamily="34" charset="0"/>
                <a:ea typeface="Readex Pro" pitchFamily="34" charset="-122"/>
                <a:cs typeface="Readex Pro" pitchFamily="34" charset="-120"/>
              </a:rPr>
              <a:t>DE</a:t>
            </a:r>
            <a:endParaRPr lang="en-US" sz="1300" dirty="0"/>
          </a:p>
        </p:txBody>
      </p:sp>
      <p:sp>
        <p:nvSpPr>
          <p:cNvPr id="20" name="Text 18"/>
          <p:cNvSpPr/>
          <p:nvPr/>
        </p:nvSpPr>
        <p:spPr>
          <a:xfrm>
            <a:off x="5154976" y="3431729"/>
            <a:ext cx="1828734"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الاكتشاف</a:t>
            </a:r>
            <a:endParaRPr lang="ar-SA" sz="1350" dirty="0" altLang="en-US"/>
          </a:p>
        </p:txBody>
      </p:sp>
      <p:sp>
        <p:nvSpPr>
          <p:cNvPr id="21" name="Text 19"/>
          <p:cNvSpPr/>
          <p:nvPr/>
        </p:nvSpPr>
        <p:spPr>
          <a:xfrm>
            <a:off x="5154976" y="3705374"/>
            <a:ext cx="1828734"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المراقبة المستمرة وتحليل الأحداث</a:t>
            </a:r>
            <a:endParaRPr lang="ar-SA" sz="1200" dirty="0" altLang="en-US"/>
          </a:p>
        </p:txBody>
      </p:sp>
      <p:sp>
        <p:nvSpPr>
          <p:cNvPr id="22" name="Shape 20"/>
          <p:cNvSpPr/>
          <p:nvPr/>
        </p:nvSpPr>
        <p:spPr>
          <a:xfrm>
            <a:off x="7209135" y="3052663"/>
            <a:ext cx="2035820" cy="1209526"/>
          </a:xfrm>
          <a:prstGeom prst="roundRect">
            <a:avLst>
              <a:gd name="adj" fmla="val 7087"/>
            </a:avLst>
          </a:prstGeom>
          <a:solidFill>
            <a:srgbClr val="FFFDF8"/>
          </a:solidFill>
          <a:ln w="6350">
            <a:solidFill>
              <a:srgbClr val="E1DBCD"/>
            </a:solidFill>
            <a:prstDash val="solid"/>
          </a:ln>
        </p:spPr>
      </p:sp>
      <p:sp>
        <p:nvSpPr>
          <p:cNvPr id="23" name="Text 21"/>
          <p:cNvSpPr/>
          <p:nvPr/>
        </p:nvSpPr>
        <p:spPr>
          <a:xfrm>
            <a:off x="7286046" y="3182838"/>
            <a:ext cx="1828734" cy="22349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5A3F87"/>
                </a:solidFill>
                <a:latin typeface="Readex Pro" pitchFamily="34" charset="0"/>
                <a:ea typeface="Readex Pro" pitchFamily="34" charset="-122"/>
                <a:cs typeface="Readex Pro" pitchFamily="34" charset="-120"/>
              </a:rPr>
              <a:t>PR</a:t>
            </a:r>
            <a:endParaRPr lang="en-US" sz="1300" dirty="0"/>
          </a:p>
        </p:txBody>
      </p:sp>
      <p:sp>
        <p:nvSpPr>
          <p:cNvPr id="24" name="Text 22"/>
          <p:cNvSpPr/>
          <p:nvPr/>
        </p:nvSpPr>
        <p:spPr>
          <a:xfrm>
            <a:off x="7286046" y="3431729"/>
            <a:ext cx="1828734"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الحماية</a:t>
            </a:r>
            <a:endParaRPr lang="ar-SA" sz="1350" dirty="0" altLang="en-US"/>
          </a:p>
        </p:txBody>
      </p:sp>
      <p:sp>
        <p:nvSpPr>
          <p:cNvPr id="25" name="Text 23"/>
          <p:cNvSpPr/>
          <p:nvPr/>
        </p:nvSpPr>
        <p:spPr>
          <a:xfrm>
            <a:off x="7286046" y="3705374"/>
            <a:ext cx="1828734"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الهويات، والتوعية، وأمن البيانات والمنصات</a:t>
            </a:r>
            <a:endParaRPr lang="ar-SA" sz="1200" dirty="0" altLang="en-US"/>
          </a:p>
        </p:txBody>
      </p:sp>
      <p:sp>
        <p:nvSpPr>
          <p:cNvPr id="26" name="Shape 24"/>
          <p:cNvSpPr/>
          <p:nvPr/>
        </p:nvSpPr>
        <p:spPr>
          <a:xfrm>
            <a:off x="9340205" y="3052663"/>
            <a:ext cx="2035820" cy="1209526"/>
          </a:xfrm>
          <a:prstGeom prst="roundRect">
            <a:avLst>
              <a:gd name="adj" fmla="val 7087"/>
            </a:avLst>
          </a:prstGeom>
          <a:solidFill>
            <a:srgbClr val="FFFDF8"/>
          </a:solidFill>
          <a:ln w="6350">
            <a:solidFill>
              <a:srgbClr val="E1DBCD"/>
            </a:solidFill>
            <a:prstDash val="solid"/>
          </a:ln>
        </p:spPr>
      </p:sp>
      <p:sp>
        <p:nvSpPr>
          <p:cNvPr id="27" name="Text 25"/>
          <p:cNvSpPr/>
          <p:nvPr/>
        </p:nvSpPr>
        <p:spPr>
          <a:xfrm>
            <a:off x="9417116" y="3182838"/>
            <a:ext cx="1828734" cy="22349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2F5C92"/>
                </a:solidFill>
                <a:latin typeface="Readex Pro" pitchFamily="34" charset="0"/>
                <a:ea typeface="Readex Pro" pitchFamily="34" charset="-122"/>
                <a:cs typeface="Readex Pro" pitchFamily="34" charset="-120"/>
              </a:rPr>
              <a:t>ID</a:t>
            </a:r>
            <a:endParaRPr lang="en-US" sz="1300" dirty="0"/>
          </a:p>
        </p:txBody>
      </p:sp>
      <p:sp>
        <p:nvSpPr>
          <p:cNvPr id="28" name="Text 26"/>
          <p:cNvSpPr/>
          <p:nvPr/>
        </p:nvSpPr>
        <p:spPr>
          <a:xfrm>
            <a:off x="9417116" y="3431729"/>
            <a:ext cx="1828734"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التحديد</a:t>
            </a:r>
            <a:endParaRPr lang="ar-SA" sz="1350" dirty="0" altLang="en-US"/>
          </a:p>
        </p:txBody>
      </p:sp>
      <p:sp>
        <p:nvSpPr>
          <p:cNvPr id="29" name="Text 27"/>
          <p:cNvSpPr/>
          <p:nvPr/>
        </p:nvSpPr>
        <p:spPr>
          <a:xfrm>
            <a:off x="9417116" y="3705374"/>
            <a:ext cx="1828734"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الأصول، والمخاطر، وفرص التحسين</a:t>
            </a:r>
            <a:endParaRPr lang="ar-SA" sz="1200" dirty="0" altLang="en-US"/>
          </a:p>
        </p:txBody>
      </p:sp>
      <p:sp>
        <p:nvSpPr>
          <p:cNvPr id="30" name="Shape 28"/>
          <p:cNvSpPr/>
          <p:nvPr/>
        </p:nvSpPr>
        <p:spPr>
          <a:xfrm>
            <a:off x="815975" y="4446339"/>
            <a:ext cx="5213350" cy="676870"/>
          </a:xfrm>
          <a:prstGeom prst="roundRect">
            <a:avLst>
              <a:gd name="adj" fmla="val 12665"/>
            </a:avLst>
          </a:prstGeom>
          <a:solidFill>
            <a:srgbClr val="FFFDF8"/>
          </a:solidFill>
          <a:ln w="6350">
            <a:solidFill>
              <a:srgbClr val="E1DBCD"/>
            </a:solidFill>
            <a:prstDash val="solid"/>
          </a:ln>
        </p:spPr>
      </p:sp>
      <p:sp>
        <p:nvSpPr>
          <p:cNvPr id="31" name="Text 29"/>
          <p:cNvSpPr/>
          <p:nvPr/>
        </p:nvSpPr>
        <p:spPr>
          <a:xfrm>
            <a:off x="833247" y="4563814"/>
            <a:ext cx="4748403"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المستويات (Tiers):</a:t>
            </a:r>
            <a:r>
              <a:rPr lang="ar-SA" sz="1200" dirty="0" altLang="en-US">
                <a:solidFill>
                  <a:srgbClr val="172433"/>
                </a:solidFill>
                <a:latin typeface="IBM Plex Sans Arabic" pitchFamily="34" charset="0"/>
                <a:ea typeface="IBM Plex Sans Arabic" pitchFamily="34" charset="-122"/>
                <a:cs typeface="IBM Plex Sans Arabic" pitchFamily="34" charset="-120"/>
              </a:rPr>
              <a:t> من 1 جزئي إلى 4 متكيف، تصف نضج إدارة المخاطر.</a:t>
            </a:r>
            <a:endParaRPr lang="ar-SA" sz="1200" dirty="0" altLang="en-US"/>
          </a:p>
        </p:txBody>
      </p:sp>
      <p:pic>
        <p:nvPicPr>
          <p:cNvPr id="32" name="Image 0" descr="Chart">    </p:cNvPr>
          <p:cNvPicPr>
            <a:picLocks noChangeAspect="1"/>
          </p:cNvPicPr>
          <p:nvPr/>
        </p:nvPicPr>
        <p:blipFill>
          <a:blip r:embed="rId1"/>
          <a:srcRect l="0" r="0" t="0" b="0"/>
          <a:stretch/>
        </p:blipFill>
        <p:spPr>
          <a:xfrm>
            <a:off x="5670550" y="4563814"/>
            <a:ext cx="203200" cy="203200"/>
          </a:xfrm>
          <a:prstGeom prst="rect">
            <a:avLst/>
          </a:prstGeom>
        </p:spPr>
      </p:pic>
      <p:sp>
        <p:nvSpPr>
          <p:cNvPr id="33" name="Shape 30"/>
          <p:cNvSpPr/>
          <p:nvPr/>
        </p:nvSpPr>
        <p:spPr>
          <a:xfrm>
            <a:off x="6162675" y="4446339"/>
            <a:ext cx="5213350" cy="676870"/>
          </a:xfrm>
          <a:prstGeom prst="roundRect">
            <a:avLst>
              <a:gd name="adj" fmla="val 12665"/>
            </a:avLst>
          </a:prstGeom>
          <a:solidFill>
            <a:srgbClr val="FFFDF8"/>
          </a:solidFill>
          <a:ln w="6350">
            <a:solidFill>
              <a:srgbClr val="E1DBCD"/>
            </a:solidFill>
            <a:prstDash val="solid"/>
          </a:ln>
        </p:spPr>
      </p:sp>
      <p:sp>
        <p:nvSpPr>
          <p:cNvPr id="34" name="Text 31"/>
          <p:cNvSpPr/>
          <p:nvPr/>
        </p:nvSpPr>
        <p:spPr>
          <a:xfrm>
            <a:off x="6179947" y="4563814"/>
            <a:ext cx="4748403"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الملف التعريفي (Profile):</a:t>
            </a:r>
            <a:r>
              <a:rPr lang="ar-SA" sz="1200" dirty="0" altLang="en-US">
                <a:solidFill>
                  <a:srgbClr val="172433"/>
                </a:solidFill>
                <a:latin typeface="IBM Plex Sans Arabic" pitchFamily="34" charset="0"/>
                <a:ea typeface="IBM Plex Sans Arabic" pitchFamily="34" charset="-122"/>
                <a:cs typeface="IBM Plex Sans Arabic" pitchFamily="34" charset="-120"/>
              </a:rPr>
              <a:t> وضعك الحالي مقابل الوضع المستهدف، والفرق خطة عمل.</a:t>
            </a:r>
            <a:endParaRPr lang="ar-SA" sz="1200" dirty="0" altLang="en-US"/>
          </a:p>
        </p:txBody>
      </p:sp>
      <p:pic>
        <p:nvPicPr>
          <p:cNvPr id="35" name="Image 1" descr="Activity">    </p:cNvPr>
          <p:cNvPicPr>
            <a:picLocks noChangeAspect="1"/>
          </p:cNvPicPr>
          <p:nvPr/>
        </p:nvPicPr>
        <p:blipFill>
          <a:blip r:embed="rId2"/>
          <a:srcRect l="0" r="0" t="0" b="0"/>
          <a:stretch/>
        </p:blipFill>
        <p:spPr>
          <a:xfrm>
            <a:off x="11017250" y="4563814"/>
            <a:ext cx="203200" cy="203200"/>
          </a:xfrm>
          <a:prstGeom prst="rect">
            <a:avLst/>
          </a:prstGeom>
        </p:spPr>
      </p:pic>
      <p:sp>
        <p:nvSpPr>
          <p:cNvPr id="36" name="Text 32"/>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25</a:t>
            </a:r>
            <a:endParaRPr lang="en-US" sz="1200" dirty="0"/>
          </a:p>
        </p:txBody>
      </p:sp>
      <p:sp>
        <p:nvSpPr>
          <p:cNvPr id="37" name="Text 33"/>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03 · الأطر والمعايير</a:t>
            </a:r>
            <a:endParaRPr lang="ar-SA" sz="1200" dirty="0"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813123" cy="289520"/>
          </a:xfrm>
          <a:custGeom>
            <a:avLst/>
            <a:gdLst/>
            <a:ahLst/>
            <a:cxnLst/>
            <a:rect l="l" t="t" r="r" b="b"/>
            <a:pathLst>
              <a:path w="1813123" h="289520">
                <a:moveTo>
                  <a:pt x="144760" y="0"/>
                </a:moveTo>
                <a:lnTo>
                  <a:pt x="1668363" y="0"/>
                </a:lnTo>
                <a:arcTo hR="144760" wR="144760" stAng="16200000" swAng="5400000"/>
                <a:lnTo>
                  <a:pt x="1813123"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03 · الأطر والمعايير</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الأطر السعودية: من يصدرها، وعلى من تنطبق</a:t>
            </a:r>
            <a:endParaRPr lang="ar-SA" sz="3000" dirty="0" altLang="en-US"/>
          </a:p>
        </p:txBody>
      </p:sp>
      <p:sp>
        <p:nvSpPr>
          <p:cNvPr id="5" name="Shape 3"/>
          <p:cNvSpPr/>
          <p:nvPr/>
        </p:nvSpPr>
        <p:spPr>
          <a:xfrm>
            <a:off x="815975" y="1848445"/>
            <a:ext cx="4017020" cy="1083816"/>
          </a:xfrm>
          <a:prstGeom prst="roundRect">
            <a:avLst>
              <a:gd name="adj" fmla="val 9081"/>
            </a:avLst>
          </a:prstGeom>
          <a:solidFill>
            <a:srgbClr val="FFFDF8"/>
          </a:solidFill>
          <a:ln w="6350">
            <a:solidFill>
              <a:srgbClr val="E1DBCD"/>
            </a:solidFill>
            <a:prstDash val="solid"/>
          </a:ln>
        </p:spPr>
      </p:sp>
      <p:sp>
        <p:nvSpPr>
          <p:cNvPr id="6" name="Text 4"/>
          <p:cNvSpPr/>
          <p:nvPr/>
        </p:nvSpPr>
        <p:spPr>
          <a:xfrm>
            <a:off x="860374" y="2004020"/>
            <a:ext cx="3817046"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2F5C92"/>
                </a:solidFill>
                <a:latin typeface="Readex Pro" pitchFamily="34" charset="0"/>
                <a:ea typeface="Readex Pro" pitchFamily="34" charset="-122"/>
                <a:cs typeface="Readex Pro" pitchFamily="34" charset="-120"/>
              </a:rPr>
              <a:t>البنك المركزي السعودي (ساما)</a:t>
            </a:r>
            <a:endParaRPr lang="ar-SA" sz="1400" dirty="0" altLang="en-US"/>
          </a:p>
        </p:txBody>
      </p:sp>
      <p:sp>
        <p:nvSpPr>
          <p:cNvPr id="7" name="Text 5"/>
          <p:cNvSpPr/>
          <p:nvPr/>
        </p:nvSpPr>
        <p:spPr>
          <a:xfrm>
            <a:off x="860374" y="2285950"/>
            <a:ext cx="3817046"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إطار الأمن السيبراني (SAMA CSF)</a:t>
            </a:r>
            <a:r>
              <a:rPr lang="ar-SA" sz="1200" dirty="0" altLang="en-US">
                <a:solidFill>
                  <a:srgbClr val="172433"/>
                </a:solidFill>
                <a:latin typeface="IBM Plex Sans Arabic" pitchFamily="34" charset="0"/>
                <a:ea typeface="IBM Plex Sans Arabic" pitchFamily="34" charset="-122"/>
                <a:cs typeface="IBM Plex Sans Arabic" pitchFamily="34" charset="-120"/>
              </a:rPr>
              <a:t>، الإصدار 1.0 لعام 2017، للبنوك وشركات التأمين والتمويل الخاضعة لإشرافه.</a:t>
            </a:r>
            <a:endParaRPr lang="ar-SA" sz="1200" dirty="0" altLang="en-US"/>
          </a:p>
        </p:txBody>
      </p:sp>
      <p:sp>
        <p:nvSpPr>
          <p:cNvPr id="8" name="Shape 6"/>
          <p:cNvSpPr/>
          <p:nvPr/>
        </p:nvSpPr>
        <p:spPr>
          <a:xfrm>
            <a:off x="815975" y="3065611"/>
            <a:ext cx="4017020" cy="1083816"/>
          </a:xfrm>
          <a:prstGeom prst="roundRect">
            <a:avLst>
              <a:gd name="adj" fmla="val 9081"/>
            </a:avLst>
          </a:prstGeom>
          <a:solidFill>
            <a:srgbClr val="FFFDF8"/>
          </a:solidFill>
          <a:ln w="6350">
            <a:solidFill>
              <a:srgbClr val="E1DBCD"/>
            </a:solidFill>
            <a:prstDash val="solid"/>
          </a:ln>
        </p:spPr>
      </p:sp>
      <p:sp>
        <p:nvSpPr>
          <p:cNvPr id="9" name="Text 7"/>
          <p:cNvSpPr/>
          <p:nvPr/>
        </p:nvSpPr>
        <p:spPr>
          <a:xfrm>
            <a:off x="860374" y="3221186"/>
            <a:ext cx="3817046"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9A5F0F"/>
                </a:solidFill>
                <a:latin typeface="Readex Pro" pitchFamily="34" charset="0"/>
                <a:ea typeface="Readex Pro" pitchFamily="34" charset="-122"/>
                <a:cs typeface="Readex Pro" pitchFamily="34" charset="-120"/>
              </a:rPr>
              <a:t>سدايا ومكتب إدارة البيانات الوطنية</a:t>
            </a:r>
            <a:endParaRPr lang="ar-SA" sz="1400" dirty="0" altLang="en-US"/>
          </a:p>
        </p:txBody>
      </p:sp>
      <p:sp>
        <p:nvSpPr>
          <p:cNvPr id="10" name="Text 8"/>
          <p:cNvSpPr/>
          <p:nvPr/>
        </p:nvSpPr>
        <p:spPr>
          <a:xfrm>
            <a:off x="860374" y="3503116"/>
            <a:ext cx="3817046"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نظام حماية البيانات الشخصية</a:t>
            </a:r>
            <a:r>
              <a:rPr lang="ar-SA" sz="1200" dirty="0" altLang="en-US">
                <a:solidFill>
                  <a:srgbClr val="172433"/>
                </a:solidFill>
                <a:latin typeface="IBM Plex Sans Arabic" pitchFamily="34" charset="0"/>
                <a:ea typeface="IBM Plex Sans Arabic" pitchFamily="34" charset="-122"/>
                <a:cs typeface="IBM Plex Sans Arabic" pitchFamily="34" charset="-120"/>
              </a:rPr>
              <a:t> ولوائحه، و</a:t>
            </a:r>
            <a:r>
              <a:rPr lang="ar-SA" sz="1200" b="1" dirty="0" altLang="en-US">
                <a:solidFill>
                  <a:srgbClr val="172433"/>
                </a:solidFill>
                <a:latin typeface="IBM Plex Sans Arabic" pitchFamily="34" charset="0"/>
                <a:ea typeface="IBM Plex Sans Arabic" pitchFamily="34" charset="-122"/>
                <a:cs typeface="IBM Plex Sans Arabic" pitchFamily="34" charset="-120"/>
              </a:rPr>
              <a:t>معايير إدارة البيانات</a:t>
            </a:r>
            <a:r>
              <a:rPr lang="ar-SA" sz="1200" dirty="0" altLang="en-US">
                <a:solidFill>
                  <a:srgbClr val="172433"/>
                </a:solidFill>
                <a:latin typeface="IBM Plex Sans Arabic" pitchFamily="34" charset="0"/>
                <a:ea typeface="IBM Plex Sans Arabic" pitchFamily="34" charset="-122"/>
                <a:cs typeface="IBM Plex Sans Arabic" pitchFamily="34" charset="-120"/>
              </a:rPr>
              <a:t> الوطنية.</a:t>
            </a:r>
            <a:endParaRPr lang="ar-SA" sz="1200" dirty="0" altLang="en-US"/>
          </a:p>
        </p:txBody>
      </p:sp>
      <p:sp>
        <p:nvSpPr>
          <p:cNvPr id="11" name="Shape 9"/>
          <p:cNvSpPr/>
          <p:nvPr/>
        </p:nvSpPr>
        <p:spPr>
          <a:xfrm>
            <a:off x="812800" y="4279602"/>
            <a:ext cx="4023370" cy="891480"/>
          </a:xfrm>
          <a:prstGeom prst="roundRect">
            <a:avLst>
              <a:gd name="adj" fmla="val 9972"/>
            </a:avLst>
          </a:prstGeom>
          <a:solidFill>
            <a:srgbClr val="172433"/>
          </a:solidFill>
          <a:ln/>
        </p:spPr>
      </p:sp>
      <p:sp>
        <p:nvSpPr>
          <p:cNvPr id="12" name="Text 10"/>
          <p:cNvSpPr/>
          <p:nvPr/>
        </p:nvSpPr>
        <p:spPr>
          <a:xfrm>
            <a:off x="848944" y="4393902"/>
            <a:ext cx="3555426" cy="68828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
            </a:r>
            <a:r>
              <a:rPr lang="ar-SA" sz="1200" b="1" dirty="0" altLang="en-US">
                <a:solidFill>
                  <a:srgbClr val="F3EFE6"/>
                </a:solidFill>
                <a:latin typeface="IBM Plex Sans Arabic" pitchFamily="34" charset="0"/>
                <a:ea typeface="IBM Plex Sans Arabic" pitchFamily="34" charset="-122"/>
                <a:cs typeface="IBM Plex Sans Arabic" pitchFamily="34" charset="-120"/>
              </a:rPr>
              <a:t>للمسار المهني:</a:t>
            </a:r>
            <a:r>
              <a:rPr lang="ar-SA" sz="1200" dirty="0" altLang="en-US">
                <a:solidFill>
                  <a:srgbClr val="F3EFE6"/>
                </a:solidFill>
                <a:latin typeface="IBM Plex Sans Arabic" pitchFamily="34" charset="0"/>
                <a:ea typeface="IBM Plex Sans Arabic" pitchFamily="34" charset="-122"/>
                <a:cs typeface="IBM Plex Sans Arabic" pitchFamily="34" charset="-120"/>
              </a:rPr>
              <a:t> الإطار السعودي لكوادر الأمن السيبراني (SCyWF-1.5:2026) فيه فئة للحوكمة والمخاطر والامتثال بأدوارها.</a:t>
            </a:r>
            <a:endParaRPr lang="ar-SA" sz="1200" dirty="0" altLang="en-US"/>
          </a:p>
        </p:txBody>
      </p:sp>
      <p:pic>
        <p:nvPicPr>
          <p:cNvPr id="13" name="Image 0" descr="Users">    </p:cNvPr>
          <p:cNvPicPr>
            <a:picLocks noChangeAspect="1"/>
          </p:cNvPicPr>
          <p:nvPr/>
        </p:nvPicPr>
        <p:blipFill>
          <a:blip r:embed="rId1"/>
          <a:srcRect l="0" r="0" t="0" b="0"/>
          <a:stretch/>
        </p:blipFill>
        <p:spPr>
          <a:xfrm>
            <a:off x="4493270" y="4393902"/>
            <a:ext cx="203200" cy="203200"/>
          </a:xfrm>
          <a:prstGeom prst="rect">
            <a:avLst/>
          </a:prstGeom>
        </p:spPr>
      </p:pic>
      <p:sp>
        <p:nvSpPr>
          <p:cNvPr id="14" name="Shape 11"/>
          <p:cNvSpPr/>
          <p:nvPr/>
        </p:nvSpPr>
        <p:spPr>
          <a:xfrm>
            <a:off x="4994920" y="1851620"/>
            <a:ext cx="6377930" cy="3313113"/>
          </a:xfrm>
          <a:prstGeom prst="roundRect">
            <a:avLst>
              <a:gd name="adj" fmla="val 2875"/>
            </a:avLst>
          </a:prstGeom>
          <a:solidFill>
            <a:srgbClr val="FFFDF8"/>
          </a:solidFill>
          <a:ln w="12700">
            <a:solidFill>
              <a:srgbClr val="0E7C6B"/>
            </a:solidFill>
            <a:prstDash val="solid"/>
          </a:ln>
        </p:spPr>
      </p:sp>
      <p:sp>
        <p:nvSpPr>
          <p:cNvPr id="15" name="Text 12"/>
          <p:cNvSpPr/>
          <p:nvPr/>
        </p:nvSpPr>
        <p:spPr>
          <a:xfrm>
            <a:off x="4985319" y="2023070"/>
            <a:ext cx="6216081" cy="273050"/>
          </a:xfrm>
          <a:prstGeom prst="rect">
            <a:avLst/>
          </a:prstGeom>
          <a:noFill/>
          <a:ln/>
        </p:spPr>
        <p:txBody>
          <a:bodyPr wrap="square" lIns="0" tIns="0" rIns="0" bIns="0" rtlCol="0" anchor="t">
            <a:normAutofit/>
          </a:bodyPr>
          <a:lstStyle/>
          <a:p>
            <a:pPr algn="r" indent="0" marL="0" rtl="1">
              <a:lnSpc>
                <a:spcPts val="1950"/>
              </a:lnSpc>
              <a:buNone/>
            </a:pPr>
            <a:r>
              <a:rPr lang="ar-SA" sz="1500" b="1" dirty="0" altLang="en-US">
                <a:solidFill>
                  <a:srgbClr val="0E7C6B"/>
                </a:solidFill>
                <a:latin typeface="Readex Pro" pitchFamily="34" charset="0"/>
                <a:ea typeface="Readex Pro" pitchFamily="34" charset="-122"/>
                <a:cs typeface="Readex Pro" pitchFamily="34" charset="-120"/>
              </a:rPr>
              <a:t>الهيئة الوطنية للأمن السيبراني (NCA)</a:t>
            </a:r>
            <a:endParaRPr lang="ar-SA" sz="1500" dirty="0" altLang="en-US"/>
          </a:p>
        </p:txBody>
      </p:sp>
      <p:sp>
        <p:nvSpPr>
          <p:cNvPr id="16" name="Shape 13"/>
          <p:cNvSpPr/>
          <p:nvPr/>
        </p:nvSpPr>
        <p:spPr>
          <a:xfrm>
            <a:off x="5166370" y="2346920"/>
            <a:ext cx="6035030" cy="604441"/>
          </a:xfrm>
          <a:prstGeom prst="roundRect">
            <a:avLst>
              <a:gd name="adj" fmla="val 12607"/>
            </a:avLst>
          </a:prstGeom>
          <a:solidFill>
            <a:srgbClr val="E3F1ED"/>
          </a:solidFill>
          <a:ln/>
        </p:spPr>
      </p:sp>
      <p:sp>
        <p:nvSpPr>
          <p:cNvPr id="17" name="Text 14"/>
          <p:cNvSpPr/>
          <p:nvPr/>
        </p:nvSpPr>
        <p:spPr>
          <a:xfrm>
            <a:off x="5151054" y="2435820"/>
            <a:ext cx="4450146"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الضوابط الأساسية: 108 ضوابط، للجهات الحكومية وجهات البنية التحتية الوطنية الحساسة</a:t>
            </a:r>
            <a:endParaRPr lang="ar-SA" sz="1200" dirty="0" altLang="en-US"/>
          </a:p>
        </p:txBody>
      </p:sp>
      <p:sp>
        <p:nvSpPr>
          <p:cNvPr id="18" name="Text 15"/>
          <p:cNvSpPr/>
          <p:nvPr/>
        </p:nvSpPr>
        <p:spPr>
          <a:xfrm>
            <a:off x="9639300" y="2545953"/>
            <a:ext cx="1447800" cy="231775"/>
          </a:xfrm>
          <a:prstGeom prst="rect">
            <a:avLst/>
          </a:prstGeom>
          <a:noFill/>
          <a:ln/>
        </p:spPr>
        <p:txBody>
          <a:bodyPr wrap="square" lIns="0" tIns="0" rIns="0" bIns="0" rtlCol="0" anchor="t">
            <a:normAutofit/>
          </a:bodyPr>
          <a:lstStyle/>
          <a:p>
            <a:pPr algn="r" indent="0" marL="0">
              <a:lnSpc>
                <a:spcPts val="1625"/>
              </a:lnSpc>
              <a:buNone/>
            </a:pPr>
            <a:r>
              <a:rPr lang="en-US" sz="1250" b="1" dirty="0">
                <a:solidFill>
                  <a:srgbClr val="172433"/>
                </a:solidFill>
                <a:latin typeface="Readex Pro" pitchFamily="34" charset="0"/>
                <a:ea typeface="Readex Pro" pitchFamily="34" charset="-122"/>
                <a:cs typeface="Readex Pro" pitchFamily="34" charset="-120"/>
              </a:rPr>
              <a:t>ECC-2:2024</a:t>
            </a:r>
            <a:endParaRPr lang="en-US" sz="1250" dirty="0"/>
          </a:p>
        </p:txBody>
      </p:sp>
      <p:sp>
        <p:nvSpPr>
          <p:cNvPr id="19" name="Text 16"/>
          <p:cNvSpPr/>
          <p:nvPr/>
        </p:nvSpPr>
        <p:spPr>
          <a:xfrm>
            <a:off x="5151054" y="3052961"/>
            <a:ext cx="445014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الحوسبة السحابية: لمقدمي الخدمات السحابية والمستفيدين منها</a:t>
            </a:r>
            <a:endParaRPr lang="ar-SA" sz="1200" dirty="0" altLang="en-US"/>
          </a:p>
        </p:txBody>
      </p:sp>
      <p:sp>
        <p:nvSpPr>
          <p:cNvPr id="20" name="Text 17"/>
          <p:cNvSpPr/>
          <p:nvPr/>
        </p:nvSpPr>
        <p:spPr>
          <a:xfrm>
            <a:off x="9639300" y="3056434"/>
            <a:ext cx="1447800" cy="231775"/>
          </a:xfrm>
          <a:prstGeom prst="rect">
            <a:avLst/>
          </a:prstGeom>
          <a:noFill/>
          <a:ln/>
        </p:spPr>
        <p:txBody>
          <a:bodyPr wrap="square" lIns="0" tIns="0" rIns="0" bIns="0" rtlCol="0" anchor="t">
            <a:normAutofit/>
          </a:bodyPr>
          <a:lstStyle/>
          <a:p>
            <a:pPr algn="r" indent="0" marL="0">
              <a:lnSpc>
                <a:spcPts val="1625"/>
              </a:lnSpc>
              <a:buNone/>
            </a:pPr>
            <a:r>
              <a:rPr lang="en-US" sz="1250" b="1" dirty="0">
                <a:solidFill>
                  <a:srgbClr val="172433"/>
                </a:solidFill>
                <a:latin typeface="Readex Pro" pitchFamily="34" charset="0"/>
                <a:ea typeface="Readex Pro" pitchFamily="34" charset="-122"/>
                <a:cs typeface="Readex Pro" pitchFamily="34" charset="-120"/>
              </a:rPr>
              <a:t>CCC-2:2024</a:t>
            </a:r>
            <a:endParaRPr lang="en-US" sz="1250" dirty="0"/>
          </a:p>
        </p:txBody>
      </p:sp>
      <p:sp>
        <p:nvSpPr>
          <p:cNvPr id="21" name="Text 18"/>
          <p:cNvSpPr/>
          <p:nvPr/>
        </p:nvSpPr>
        <p:spPr>
          <a:xfrm>
            <a:off x="5151054" y="3393281"/>
            <a:ext cx="445014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البيانات: حماية البيانات في دورة حياتها</a:t>
            </a:r>
            <a:endParaRPr lang="ar-SA" sz="1200" dirty="0" altLang="en-US"/>
          </a:p>
        </p:txBody>
      </p:sp>
      <p:sp>
        <p:nvSpPr>
          <p:cNvPr id="22" name="Text 19"/>
          <p:cNvSpPr/>
          <p:nvPr/>
        </p:nvSpPr>
        <p:spPr>
          <a:xfrm>
            <a:off x="9639300" y="3396754"/>
            <a:ext cx="1447800" cy="231775"/>
          </a:xfrm>
          <a:prstGeom prst="rect">
            <a:avLst/>
          </a:prstGeom>
          <a:noFill/>
          <a:ln/>
        </p:spPr>
        <p:txBody>
          <a:bodyPr wrap="square" lIns="0" tIns="0" rIns="0" bIns="0" rtlCol="0" anchor="t">
            <a:normAutofit/>
          </a:bodyPr>
          <a:lstStyle/>
          <a:p>
            <a:pPr algn="r" indent="0" marL="0">
              <a:lnSpc>
                <a:spcPts val="1625"/>
              </a:lnSpc>
              <a:buNone/>
            </a:pPr>
            <a:r>
              <a:rPr lang="en-US" sz="1250" b="1" dirty="0">
                <a:solidFill>
                  <a:srgbClr val="172433"/>
                </a:solidFill>
                <a:latin typeface="Readex Pro" pitchFamily="34" charset="0"/>
                <a:ea typeface="Readex Pro" pitchFamily="34" charset="-122"/>
                <a:cs typeface="Readex Pro" pitchFamily="34" charset="-120"/>
              </a:rPr>
              <a:t>DCC-1:2022</a:t>
            </a:r>
            <a:endParaRPr lang="en-US" sz="1250" dirty="0"/>
          </a:p>
        </p:txBody>
      </p:sp>
      <p:sp>
        <p:nvSpPr>
          <p:cNvPr id="23" name="Text 20"/>
          <p:cNvSpPr/>
          <p:nvPr/>
        </p:nvSpPr>
        <p:spPr>
          <a:xfrm>
            <a:off x="5151054" y="3733602"/>
            <a:ext cx="445014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الأنظمة الحساسة الوطنية</a:t>
            </a:r>
            <a:endParaRPr lang="ar-SA" sz="1200" dirty="0" altLang="en-US"/>
          </a:p>
        </p:txBody>
      </p:sp>
      <p:sp>
        <p:nvSpPr>
          <p:cNvPr id="24" name="Text 21"/>
          <p:cNvSpPr/>
          <p:nvPr/>
        </p:nvSpPr>
        <p:spPr>
          <a:xfrm>
            <a:off x="9639300" y="3737074"/>
            <a:ext cx="1447800" cy="231775"/>
          </a:xfrm>
          <a:prstGeom prst="rect">
            <a:avLst/>
          </a:prstGeom>
          <a:noFill/>
          <a:ln/>
        </p:spPr>
        <p:txBody>
          <a:bodyPr wrap="square" lIns="0" tIns="0" rIns="0" bIns="0" rtlCol="0" anchor="t">
            <a:normAutofit/>
          </a:bodyPr>
          <a:lstStyle/>
          <a:p>
            <a:pPr algn="r" indent="0" marL="0">
              <a:lnSpc>
                <a:spcPts val="1625"/>
              </a:lnSpc>
              <a:buNone/>
            </a:pPr>
            <a:r>
              <a:rPr lang="en-US" sz="1250" b="1" dirty="0">
                <a:solidFill>
                  <a:srgbClr val="172433"/>
                </a:solidFill>
                <a:latin typeface="Readex Pro" pitchFamily="34" charset="0"/>
                <a:ea typeface="Readex Pro" pitchFamily="34" charset="-122"/>
                <a:cs typeface="Readex Pro" pitchFamily="34" charset="-120"/>
              </a:rPr>
              <a:t>CSCC-1:2019</a:t>
            </a:r>
            <a:endParaRPr lang="en-US" sz="1250" dirty="0"/>
          </a:p>
        </p:txBody>
      </p:sp>
      <p:sp>
        <p:nvSpPr>
          <p:cNvPr id="25" name="Text 22"/>
          <p:cNvSpPr/>
          <p:nvPr/>
        </p:nvSpPr>
        <p:spPr>
          <a:xfrm>
            <a:off x="5151054" y="4073922"/>
            <a:ext cx="445014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أنظمة التقنية التشغيلية والتحكم الصناعي</a:t>
            </a:r>
            <a:endParaRPr lang="ar-SA" sz="1200" dirty="0" altLang="en-US"/>
          </a:p>
        </p:txBody>
      </p:sp>
      <p:sp>
        <p:nvSpPr>
          <p:cNvPr id="26" name="Text 23"/>
          <p:cNvSpPr/>
          <p:nvPr/>
        </p:nvSpPr>
        <p:spPr>
          <a:xfrm>
            <a:off x="9639300" y="4077395"/>
            <a:ext cx="1447800" cy="231775"/>
          </a:xfrm>
          <a:prstGeom prst="rect">
            <a:avLst/>
          </a:prstGeom>
          <a:noFill/>
          <a:ln/>
        </p:spPr>
        <p:txBody>
          <a:bodyPr wrap="square" lIns="0" tIns="0" rIns="0" bIns="0" rtlCol="0" anchor="t">
            <a:normAutofit/>
          </a:bodyPr>
          <a:lstStyle/>
          <a:p>
            <a:pPr algn="r" indent="0" marL="0">
              <a:lnSpc>
                <a:spcPts val="1625"/>
              </a:lnSpc>
              <a:buNone/>
            </a:pPr>
            <a:r>
              <a:rPr lang="en-US" sz="1250" b="1" dirty="0">
                <a:solidFill>
                  <a:srgbClr val="172433"/>
                </a:solidFill>
                <a:latin typeface="Readex Pro" pitchFamily="34" charset="0"/>
                <a:ea typeface="Readex Pro" pitchFamily="34" charset="-122"/>
                <a:cs typeface="Readex Pro" pitchFamily="34" charset="-120"/>
              </a:rPr>
              <a:t>OTCC-1:2022</a:t>
            </a:r>
            <a:endParaRPr lang="en-US" sz="1250" dirty="0"/>
          </a:p>
        </p:txBody>
      </p:sp>
      <p:sp>
        <p:nvSpPr>
          <p:cNvPr id="27" name="Text 24"/>
          <p:cNvSpPr/>
          <p:nvPr/>
        </p:nvSpPr>
        <p:spPr>
          <a:xfrm>
            <a:off x="5151054" y="4414242"/>
            <a:ext cx="445014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العمل عن بعد</a:t>
            </a:r>
            <a:endParaRPr lang="ar-SA" sz="1200" dirty="0" altLang="en-US"/>
          </a:p>
        </p:txBody>
      </p:sp>
      <p:sp>
        <p:nvSpPr>
          <p:cNvPr id="28" name="Text 25"/>
          <p:cNvSpPr/>
          <p:nvPr/>
        </p:nvSpPr>
        <p:spPr>
          <a:xfrm>
            <a:off x="9639300" y="4417715"/>
            <a:ext cx="1447800" cy="231775"/>
          </a:xfrm>
          <a:prstGeom prst="rect">
            <a:avLst/>
          </a:prstGeom>
          <a:noFill/>
          <a:ln/>
        </p:spPr>
        <p:txBody>
          <a:bodyPr wrap="square" lIns="0" tIns="0" rIns="0" bIns="0" rtlCol="0" anchor="t">
            <a:normAutofit/>
          </a:bodyPr>
          <a:lstStyle/>
          <a:p>
            <a:pPr algn="r" indent="0" marL="0">
              <a:lnSpc>
                <a:spcPts val="1625"/>
              </a:lnSpc>
              <a:buNone/>
            </a:pPr>
            <a:r>
              <a:rPr lang="en-US" sz="1250" b="1" dirty="0">
                <a:solidFill>
                  <a:srgbClr val="172433"/>
                </a:solidFill>
                <a:latin typeface="Readex Pro" pitchFamily="34" charset="0"/>
                <a:ea typeface="Readex Pro" pitchFamily="34" charset="-122"/>
                <a:cs typeface="Readex Pro" pitchFamily="34" charset="-120"/>
              </a:rPr>
              <a:t>TCC-1:2021</a:t>
            </a:r>
            <a:endParaRPr lang="en-US" sz="1250" dirty="0"/>
          </a:p>
        </p:txBody>
      </p:sp>
      <p:sp>
        <p:nvSpPr>
          <p:cNvPr id="29" name="Text 26"/>
          <p:cNvSpPr/>
          <p:nvPr/>
        </p:nvSpPr>
        <p:spPr>
          <a:xfrm>
            <a:off x="5151054" y="4754563"/>
            <a:ext cx="445014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حسابات التواصل الاجتماعي للجهات</a:t>
            </a:r>
            <a:endParaRPr lang="ar-SA" sz="1200" dirty="0" altLang="en-US"/>
          </a:p>
        </p:txBody>
      </p:sp>
      <p:sp>
        <p:nvSpPr>
          <p:cNvPr id="30" name="Text 27"/>
          <p:cNvSpPr/>
          <p:nvPr/>
        </p:nvSpPr>
        <p:spPr>
          <a:xfrm>
            <a:off x="9639300" y="4758035"/>
            <a:ext cx="1447800" cy="231775"/>
          </a:xfrm>
          <a:prstGeom prst="rect">
            <a:avLst/>
          </a:prstGeom>
          <a:noFill/>
          <a:ln/>
        </p:spPr>
        <p:txBody>
          <a:bodyPr wrap="square" lIns="0" tIns="0" rIns="0" bIns="0" rtlCol="0" anchor="t">
            <a:normAutofit/>
          </a:bodyPr>
          <a:lstStyle/>
          <a:p>
            <a:pPr algn="r" indent="0" marL="0">
              <a:lnSpc>
                <a:spcPts val="1625"/>
              </a:lnSpc>
              <a:buNone/>
            </a:pPr>
            <a:r>
              <a:rPr lang="en-US" sz="1250" b="1" dirty="0">
                <a:solidFill>
                  <a:srgbClr val="172433"/>
                </a:solidFill>
                <a:latin typeface="Readex Pro" pitchFamily="34" charset="0"/>
                <a:ea typeface="Readex Pro" pitchFamily="34" charset="-122"/>
                <a:cs typeface="Readex Pro" pitchFamily="34" charset="-120"/>
              </a:rPr>
              <a:t>OSMACC-1:2021</a:t>
            </a:r>
            <a:endParaRPr lang="en-US" sz="1250" dirty="0"/>
          </a:p>
        </p:txBody>
      </p:sp>
      <p:sp>
        <p:nvSpPr>
          <p:cNvPr id="31" name="Text 28"/>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26</a:t>
            </a:r>
            <a:endParaRPr lang="en-US" sz="1200" dirty="0"/>
          </a:p>
        </p:txBody>
      </p:sp>
      <p:sp>
        <p:nvSpPr>
          <p:cNvPr id="32" name="Text 29"/>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03 · الأطر والمعايير</a:t>
            </a:r>
            <a:endParaRPr lang="ar-SA" sz="1200" dirty="0"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813123" cy="289520"/>
          </a:xfrm>
          <a:custGeom>
            <a:avLst/>
            <a:gdLst/>
            <a:ahLst/>
            <a:cxnLst/>
            <a:rect l="l" t="t" r="r" b="b"/>
            <a:pathLst>
              <a:path w="1813123" h="289520">
                <a:moveTo>
                  <a:pt x="144760" y="0"/>
                </a:moveTo>
                <a:lnTo>
                  <a:pt x="1668363" y="0"/>
                </a:lnTo>
                <a:arcTo hR="144760" wR="144760" stAng="16200000" swAng="5400000"/>
                <a:lnTo>
                  <a:pt x="1813123"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03 · الأطر والمعايير</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بأي إطار تبدأ؟ ترتيب مقترح، وطريقة مذاكرة</a:t>
            </a:r>
            <a:endParaRPr lang="ar-SA" sz="3000" dirty="0" altLang="en-US"/>
          </a:p>
        </p:txBody>
      </p:sp>
      <p:sp>
        <p:nvSpPr>
          <p:cNvPr id="5" name="Shape 3"/>
          <p:cNvSpPr/>
          <p:nvPr/>
        </p:nvSpPr>
        <p:spPr>
          <a:xfrm>
            <a:off x="812800" y="1857970"/>
            <a:ext cx="4895255" cy="2384276"/>
          </a:xfrm>
          <a:prstGeom prst="roundRect">
            <a:avLst>
              <a:gd name="adj" fmla="val 4261"/>
            </a:avLst>
          </a:prstGeom>
          <a:solidFill>
            <a:srgbClr val="172433"/>
          </a:solidFill>
          <a:ln/>
        </p:spPr>
      </p:sp>
      <p:sp>
        <p:nvSpPr>
          <p:cNvPr id="6" name="Text 4"/>
          <p:cNvSpPr/>
          <p:nvPr/>
        </p:nvSpPr>
        <p:spPr>
          <a:xfrm>
            <a:off x="867872" y="2048470"/>
            <a:ext cx="4649682" cy="273050"/>
          </a:xfrm>
          <a:prstGeom prst="rect">
            <a:avLst/>
          </a:prstGeom>
          <a:noFill/>
          <a:ln/>
        </p:spPr>
        <p:txBody>
          <a:bodyPr wrap="square" lIns="0" tIns="0" rIns="0" bIns="0" rtlCol="0" anchor="t">
            <a:normAutofit/>
          </a:bodyPr>
          <a:lstStyle/>
          <a:p>
            <a:pPr algn="r" indent="0" marL="0" rtl="1">
              <a:lnSpc>
                <a:spcPts val="1950"/>
              </a:lnSpc>
              <a:buNone/>
            </a:pPr>
            <a:r>
              <a:rPr lang="ar-SA" sz="1500" b="1" dirty="0" altLang="en-US">
                <a:solidFill>
                  <a:srgbClr val="F2C46D"/>
                </a:solidFill>
                <a:latin typeface="Readex Pro" pitchFamily="34" charset="0"/>
                <a:ea typeface="Readex Pro" pitchFamily="34" charset="-122"/>
                <a:cs typeface="Readex Pro" pitchFamily="34" charset="-120"/>
              </a:rPr>
              <a:t>مع كل ضابط تقرؤه، اسأل:</a:t>
            </a:r>
            <a:endParaRPr lang="ar-SA" sz="1500" dirty="0" altLang="en-US"/>
          </a:p>
        </p:txBody>
      </p:sp>
      <p:sp>
        <p:nvSpPr>
          <p:cNvPr id="7" name="Text 5"/>
          <p:cNvSpPr/>
          <p:nvPr/>
        </p:nvSpPr>
        <p:spPr>
          <a:xfrm>
            <a:off x="876635" y="2385020"/>
            <a:ext cx="4348819"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ما الخطر الذي يعالجه؟</a:t>
            </a:r>
            <a:endParaRPr lang="ar-SA" sz="1250" dirty="0" altLang="en-US"/>
          </a:p>
        </p:txBody>
      </p:sp>
      <p:sp>
        <p:nvSpPr>
          <p:cNvPr id="8" name="Text 6"/>
          <p:cNvSpPr/>
          <p:nvPr/>
        </p:nvSpPr>
        <p:spPr>
          <a:xfrm>
            <a:off x="5250855" y="2385020"/>
            <a:ext cx="266700" cy="25653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FC2AE"/>
                </a:solidFill>
                <a:latin typeface="Readex Pro" pitchFamily="34" charset="0"/>
                <a:ea typeface="Readex Pro" pitchFamily="34" charset="-122"/>
                <a:cs typeface="Readex Pro" pitchFamily="34" charset="-120"/>
              </a:rPr>
              <a:t>1</a:t>
            </a:r>
            <a:endParaRPr lang="en-US" sz="1300" dirty="0"/>
          </a:p>
        </p:txBody>
      </p:sp>
      <p:sp>
        <p:nvSpPr>
          <p:cNvPr id="9" name="Text 7"/>
          <p:cNvSpPr/>
          <p:nvPr/>
        </p:nvSpPr>
        <p:spPr>
          <a:xfrm>
            <a:off x="876635" y="2705050"/>
            <a:ext cx="4348819"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كيف يبدو تطبيقه في جهة حقيقية؟</a:t>
            </a:r>
            <a:endParaRPr lang="ar-SA" sz="1250" dirty="0" altLang="en-US"/>
          </a:p>
        </p:txBody>
      </p:sp>
      <p:sp>
        <p:nvSpPr>
          <p:cNvPr id="10" name="Text 8"/>
          <p:cNvSpPr/>
          <p:nvPr/>
        </p:nvSpPr>
        <p:spPr>
          <a:xfrm>
            <a:off x="5250855" y="2705050"/>
            <a:ext cx="266700" cy="25653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FC2AE"/>
                </a:solidFill>
                <a:latin typeface="Readex Pro" pitchFamily="34" charset="0"/>
                <a:ea typeface="Readex Pro" pitchFamily="34" charset="-122"/>
                <a:cs typeface="Readex Pro" pitchFamily="34" charset="-120"/>
              </a:rPr>
              <a:t>2</a:t>
            </a:r>
            <a:endParaRPr lang="en-US" sz="1300" dirty="0"/>
          </a:p>
        </p:txBody>
      </p:sp>
      <p:sp>
        <p:nvSpPr>
          <p:cNvPr id="11" name="Text 9"/>
          <p:cNvSpPr/>
          <p:nvPr/>
        </p:nvSpPr>
        <p:spPr>
          <a:xfrm>
            <a:off x="876635" y="3025080"/>
            <a:ext cx="4348819"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ما الدليل الذي يثبت تطبيقه؟</a:t>
            </a:r>
            <a:endParaRPr lang="ar-SA" sz="1250" dirty="0" altLang="en-US"/>
          </a:p>
        </p:txBody>
      </p:sp>
      <p:sp>
        <p:nvSpPr>
          <p:cNvPr id="12" name="Text 10"/>
          <p:cNvSpPr/>
          <p:nvPr/>
        </p:nvSpPr>
        <p:spPr>
          <a:xfrm>
            <a:off x="5250855" y="3025080"/>
            <a:ext cx="266700" cy="25653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FC2AE"/>
                </a:solidFill>
                <a:latin typeface="Readex Pro" pitchFamily="34" charset="0"/>
                <a:ea typeface="Readex Pro" pitchFamily="34" charset="-122"/>
                <a:cs typeface="Readex Pro" pitchFamily="34" charset="-120"/>
              </a:rPr>
              <a:t>3</a:t>
            </a:r>
            <a:endParaRPr lang="en-US" sz="1300" dirty="0"/>
          </a:p>
        </p:txBody>
      </p:sp>
      <p:sp>
        <p:nvSpPr>
          <p:cNvPr id="13" name="Text 11"/>
          <p:cNvSpPr/>
          <p:nvPr/>
        </p:nvSpPr>
        <p:spPr>
          <a:xfrm>
            <a:off x="876635" y="3345111"/>
            <a:ext cx="4348819"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ما الذي يقابله في إطار آخر؟</a:t>
            </a:r>
            <a:endParaRPr lang="ar-SA" sz="1250" dirty="0" altLang="en-US"/>
          </a:p>
        </p:txBody>
      </p:sp>
      <p:sp>
        <p:nvSpPr>
          <p:cNvPr id="14" name="Text 12"/>
          <p:cNvSpPr/>
          <p:nvPr/>
        </p:nvSpPr>
        <p:spPr>
          <a:xfrm>
            <a:off x="5250855" y="3345111"/>
            <a:ext cx="266700" cy="25653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FC2AE"/>
                </a:solidFill>
                <a:latin typeface="Readex Pro" pitchFamily="34" charset="0"/>
                <a:ea typeface="Readex Pro" pitchFamily="34" charset="-122"/>
                <a:cs typeface="Readex Pro" pitchFamily="34" charset="-120"/>
              </a:rPr>
              <a:t>4</a:t>
            </a:r>
            <a:endParaRPr lang="en-US" sz="1300" dirty="0"/>
          </a:p>
        </p:txBody>
      </p:sp>
      <p:sp>
        <p:nvSpPr>
          <p:cNvPr id="15" name="Shape 13"/>
          <p:cNvSpPr/>
          <p:nvPr/>
        </p:nvSpPr>
        <p:spPr>
          <a:xfrm>
            <a:off x="1003300" y="3668316"/>
            <a:ext cx="4514255" cy="0"/>
          </a:xfrm>
          <a:prstGeom prst="line">
            <a:avLst/>
          </a:prstGeom>
          <a:noFill/>
          <a:ln w="6350">
            <a:solidFill>
              <a:srgbClr val="34485F"/>
            </a:solidFill>
            <a:prstDash val="solid"/>
          </a:ln>
        </p:spPr>
      </p:sp>
      <p:sp>
        <p:nvSpPr>
          <p:cNvPr id="16" name="Text 14"/>
          <p:cNvSpPr/>
          <p:nvPr/>
        </p:nvSpPr>
        <p:spPr>
          <a:xfrm>
            <a:off x="867872" y="3747691"/>
            <a:ext cx="4649682"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B9C4CC"/>
                </a:solidFill>
                <a:latin typeface="IBM Plex Sans Arabic" pitchFamily="34" charset="0"/>
                <a:ea typeface="IBM Plex Sans Arabic" pitchFamily="34" charset="-122"/>
                <a:cs typeface="IBM Plex Sans Arabic" pitchFamily="34" charset="-120"/>
              </a:rPr>
              <a:t>من يجيب عن هذه الأسئلة الأربعة يفهم الضابط، ولا يكتفي بحفظه.</a:t>
            </a:r>
            <a:endParaRPr lang="ar-SA" sz="1200" dirty="0" altLang="en-US"/>
          </a:p>
        </p:txBody>
      </p:sp>
      <p:sp>
        <p:nvSpPr>
          <p:cNvPr id="17" name="Shape 15"/>
          <p:cNvSpPr/>
          <p:nvPr/>
        </p:nvSpPr>
        <p:spPr>
          <a:xfrm>
            <a:off x="5965230" y="1861145"/>
            <a:ext cx="4763095" cy="720675"/>
          </a:xfrm>
          <a:prstGeom prst="roundRect">
            <a:avLst>
              <a:gd name="adj" fmla="val 11895"/>
            </a:avLst>
          </a:prstGeom>
          <a:solidFill>
            <a:srgbClr val="FFFDF8"/>
          </a:solidFill>
          <a:ln w="6350">
            <a:solidFill>
              <a:srgbClr val="E1DBCD"/>
            </a:solidFill>
            <a:prstDash val="solid"/>
          </a:ln>
        </p:spPr>
      </p:sp>
      <p:sp>
        <p:nvSpPr>
          <p:cNvPr id="18" name="Text 16"/>
          <p:cNvSpPr/>
          <p:nvPr/>
        </p:nvSpPr>
        <p:spPr>
          <a:xfrm>
            <a:off x="5987246" y="1978620"/>
            <a:ext cx="4585504" cy="264765"/>
          </a:xfrm>
          <a:prstGeom prst="rect">
            <a:avLst/>
          </a:prstGeom>
          <a:noFill/>
          <a:ln/>
        </p:spPr>
        <p:txBody>
          <a:bodyPr wrap="square" lIns="0" tIns="0" rIns="0" bIns="0" rtlCol="0" anchor="t">
            <a:normAutofit/>
          </a:bodyPr>
          <a:lstStyle/>
          <a:p>
            <a:pPr algn="r" indent="0" marL="0" rtl="1">
              <a:lnSpc>
                <a:spcPts val="1885"/>
              </a:lnSpc>
              <a:buNone/>
            </a:pPr>
            <a:r>
              <a:rPr lang="ar-SA" sz="1450" b="1" dirty="0" altLang="en-US">
                <a:solidFill>
                  <a:srgbClr val="172433"/>
                </a:solidFill>
                <a:latin typeface="Readex Pro" pitchFamily="34" charset="0"/>
                <a:ea typeface="Readex Pro" pitchFamily="34" charset="-122"/>
                <a:cs typeface="Readex Pro" pitchFamily="34" charset="-120"/>
              </a:rPr>
              <a:t>NIST CSF 2.0 · الصورة الكاملة</a:t>
            </a:r>
            <a:endParaRPr lang="ar-SA" sz="1450" dirty="0" altLang="en-US"/>
          </a:p>
        </p:txBody>
      </p:sp>
      <p:sp>
        <p:nvSpPr>
          <p:cNvPr id="19" name="Text 17"/>
          <p:cNvSpPr/>
          <p:nvPr/>
        </p:nvSpPr>
        <p:spPr>
          <a:xfrm>
            <a:off x="5987246" y="2243386"/>
            <a:ext cx="458550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مجاني، وقصير نسبياً، ويعطيك هيكلاً تعلق عليه كل ما بعده.</a:t>
            </a:r>
            <a:endParaRPr lang="ar-SA" sz="1200" dirty="0" altLang="en-US"/>
          </a:p>
        </p:txBody>
      </p:sp>
      <p:sp>
        <p:nvSpPr>
          <p:cNvPr id="20" name="Text 18"/>
          <p:cNvSpPr/>
          <p:nvPr/>
        </p:nvSpPr>
        <p:spPr>
          <a:xfrm>
            <a:off x="10845800" y="1857970"/>
            <a:ext cx="533400" cy="727025"/>
          </a:xfrm>
          <a:prstGeom prst="roundRect">
            <a:avLst>
              <a:gd name="adj" fmla="val 16667"/>
            </a:avLst>
          </a:prstGeom>
          <a:solidFill>
            <a:srgbClr val="0E7C6B"/>
          </a:solidFill>
          <a:ln/>
        </p:spPr>
        <p:txBody>
          <a:bodyPr wrap="square" lIns="0" tIns="0" rIns="0" bIns="0" rtlCol="0" anchor="ctr">
            <a:normAutofit/>
          </a:bodyPr>
          <a:lstStyle/>
          <a:p>
            <a:pPr algn="ctr" indent="0" marL="0">
              <a:lnSpc>
                <a:spcPts val="2200"/>
              </a:lnSpc>
              <a:buNone/>
            </a:pPr>
            <a:r>
              <a:rPr lang="en-US" sz="2200" b="1" dirty="0">
                <a:solidFill>
                  <a:srgbClr val="FFFFFF"/>
                </a:solidFill>
                <a:latin typeface="Readex Pro" pitchFamily="34" charset="0"/>
                <a:ea typeface="Readex Pro" pitchFamily="34" charset="-122"/>
                <a:cs typeface="Readex Pro" pitchFamily="34" charset="-120"/>
              </a:rPr>
              <a:t>1</a:t>
            </a:r>
            <a:endParaRPr lang="en-US" sz="2200" dirty="0"/>
          </a:p>
        </p:txBody>
      </p:sp>
      <p:sp>
        <p:nvSpPr>
          <p:cNvPr id="21" name="Shape 19"/>
          <p:cNvSpPr/>
          <p:nvPr/>
        </p:nvSpPr>
        <p:spPr>
          <a:xfrm>
            <a:off x="5965230" y="2689771"/>
            <a:ext cx="4763095" cy="720675"/>
          </a:xfrm>
          <a:prstGeom prst="roundRect">
            <a:avLst>
              <a:gd name="adj" fmla="val 11895"/>
            </a:avLst>
          </a:prstGeom>
          <a:solidFill>
            <a:srgbClr val="FFFDF8"/>
          </a:solidFill>
          <a:ln w="6350">
            <a:solidFill>
              <a:srgbClr val="E1DBCD"/>
            </a:solidFill>
            <a:prstDash val="solid"/>
          </a:ln>
        </p:spPr>
      </p:sp>
      <p:sp>
        <p:nvSpPr>
          <p:cNvPr id="22" name="Text 20"/>
          <p:cNvSpPr/>
          <p:nvPr/>
        </p:nvSpPr>
        <p:spPr>
          <a:xfrm>
            <a:off x="5987246" y="2807246"/>
            <a:ext cx="4585504" cy="264765"/>
          </a:xfrm>
          <a:prstGeom prst="rect">
            <a:avLst/>
          </a:prstGeom>
          <a:noFill/>
          <a:ln/>
        </p:spPr>
        <p:txBody>
          <a:bodyPr wrap="square" lIns="0" tIns="0" rIns="0" bIns="0" rtlCol="0" anchor="t">
            <a:normAutofit/>
          </a:bodyPr>
          <a:lstStyle/>
          <a:p>
            <a:pPr algn="r" indent="0" marL="0" rtl="1">
              <a:lnSpc>
                <a:spcPts val="1885"/>
              </a:lnSpc>
              <a:buNone/>
            </a:pPr>
            <a:r>
              <a:rPr lang="ar-SA" sz="1450" b="1" dirty="0" altLang="en-US">
                <a:solidFill>
                  <a:srgbClr val="172433"/>
                </a:solidFill>
                <a:latin typeface="Readex Pro" pitchFamily="34" charset="0"/>
                <a:ea typeface="Readex Pro" pitchFamily="34" charset="-122"/>
                <a:cs typeface="Readex Pro" pitchFamily="34" charset="-120"/>
              </a:rPr>
              <a:t>ISO/IEC 27001 · نظام الإدارة</a:t>
            </a:r>
            <a:endParaRPr lang="ar-SA" sz="1450" dirty="0" altLang="en-US"/>
          </a:p>
        </p:txBody>
      </p:sp>
      <p:sp>
        <p:nvSpPr>
          <p:cNvPr id="23" name="Text 21"/>
          <p:cNvSpPr/>
          <p:nvPr/>
        </p:nvSpPr>
        <p:spPr>
          <a:xfrm>
            <a:off x="5987246" y="3072011"/>
            <a:ext cx="458550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البنود 4 إلى 10 تعلمك كيف «يدار» الأمن، وهو الأكثر طلباً في الإعلانات.</a:t>
            </a:r>
            <a:endParaRPr lang="ar-SA" sz="1200" dirty="0" altLang="en-US"/>
          </a:p>
        </p:txBody>
      </p:sp>
      <p:sp>
        <p:nvSpPr>
          <p:cNvPr id="24" name="Text 22"/>
          <p:cNvSpPr/>
          <p:nvPr/>
        </p:nvSpPr>
        <p:spPr>
          <a:xfrm>
            <a:off x="10845800" y="2686596"/>
            <a:ext cx="533400" cy="727025"/>
          </a:xfrm>
          <a:prstGeom prst="roundRect">
            <a:avLst>
              <a:gd name="adj" fmla="val 16667"/>
            </a:avLst>
          </a:prstGeom>
          <a:solidFill>
            <a:srgbClr val="24506B"/>
          </a:solidFill>
          <a:ln/>
        </p:spPr>
        <p:txBody>
          <a:bodyPr wrap="square" lIns="0" tIns="0" rIns="0" bIns="0" rtlCol="0" anchor="ctr">
            <a:normAutofit/>
          </a:bodyPr>
          <a:lstStyle/>
          <a:p>
            <a:pPr algn="ctr" indent="0" marL="0">
              <a:lnSpc>
                <a:spcPts val="2200"/>
              </a:lnSpc>
              <a:buNone/>
            </a:pPr>
            <a:r>
              <a:rPr lang="en-US" sz="2200" b="1" dirty="0">
                <a:solidFill>
                  <a:srgbClr val="FFFFFF"/>
                </a:solidFill>
                <a:latin typeface="Readex Pro" pitchFamily="34" charset="0"/>
                <a:ea typeface="Readex Pro" pitchFamily="34" charset="-122"/>
                <a:cs typeface="Readex Pro" pitchFamily="34" charset="-120"/>
              </a:rPr>
              <a:t>2</a:t>
            </a:r>
            <a:endParaRPr lang="en-US" sz="2200" dirty="0"/>
          </a:p>
        </p:txBody>
      </p:sp>
      <p:sp>
        <p:nvSpPr>
          <p:cNvPr id="25" name="Shape 23"/>
          <p:cNvSpPr/>
          <p:nvPr/>
        </p:nvSpPr>
        <p:spPr>
          <a:xfrm>
            <a:off x="5965230" y="3518396"/>
            <a:ext cx="4763095" cy="720675"/>
          </a:xfrm>
          <a:prstGeom prst="roundRect">
            <a:avLst>
              <a:gd name="adj" fmla="val 11895"/>
            </a:avLst>
          </a:prstGeom>
          <a:solidFill>
            <a:srgbClr val="FFFDF8"/>
          </a:solidFill>
          <a:ln w="6350">
            <a:solidFill>
              <a:srgbClr val="E1DBCD"/>
            </a:solidFill>
            <a:prstDash val="solid"/>
          </a:ln>
        </p:spPr>
      </p:sp>
      <p:sp>
        <p:nvSpPr>
          <p:cNvPr id="26" name="Text 24"/>
          <p:cNvSpPr/>
          <p:nvPr/>
        </p:nvSpPr>
        <p:spPr>
          <a:xfrm>
            <a:off x="5987246" y="3635871"/>
            <a:ext cx="4585504" cy="264765"/>
          </a:xfrm>
          <a:prstGeom prst="rect">
            <a:avLst/>
          </a:prstGeom>
          <a:noFill/>
          <a:ln/>
        </p:spPr>
        <p:txBody>
          <a:bodyPr wrap="square" lIns="0" tIns="0" rIns="0" bIns="0" rtlCol="0" anchor="t">
            <a:normAutofit/>
          </a:bodyPr>
          <a:lstStyle/>
          <a:p>
            <a:pPr algn="r" indent="0" marL="0" rtl="1">
              <a:lnSpc>
                <a:spcPts val="1885"/>
              </a:lnSpc>
              <a:buNone/>
            </a:pPr>
            <a:r>
              <a:rPr lang="ar-SA" sz="1450" b="1" dirty="0" altLang="en-US">
                <a:solidFill>
                  <a:srgbClr val="172433"/>
                </a:solidFill>
                <a:latin typeface="Readex Pro" pitchFamily="34" charset="0"/>
                <a:ea typeface="Readex Pro" pitchFamily="34" charset="-122"/>
                <a:cs typeface="Readex Pro" pitchFamily="34" charset="-120"/>
              </a:rPr>
              <a:t>إطار القطاع الذي تستهدفه</a:t>
            </a:r>
            <a:endParaRPr lang="ar-SA" sz="1450" dirty="0" altLang="en-US"/>
          </a:p>
        </p:txBody>
      </p:sp>
      <p:sp>
        <p:nvSpPr>
          <p:cNvPr id="27" name="Text 25"/>
          <p:cNvSpPr/>
          <p:nvPr/>
        </p:nvSpPr>
        <p:spPr>
          <a:xfrm>
            <a:off x="5987246" y="3900636"/>
            <a:ext cx="458550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حكومي: ECC. بنوك: SAMA CSF. مدفوعات: PCI DSS. سحابة: CCC.</a:t>
            </a:r>
            <a:endParaRPr lang="ar-SA" sz="1200" dirty="0" altLang="en-US"/>
          </a:p>
        </p:txBody>
      </p:sp>
      <p:sp>
        <p:nvSpPr>
          <p:cNvPr id="28" name="Text 26"/>
          <p:cNvSpPr/>
          <p:nvPr/>
        </p:nvSpPr>
        <p:spPr>
          <a:xfrm>
            <a:off x="10845800" y="3515221"/>
            <a:ext cx="533400" cy="727025"/>
          </a:xfrm>
          <a:prstGeom prst="roundRect">
            <a:avLst>
              <a:gd name="adj" fmla="val 16667"/>
            </a:avLst>
          </a:prstGeom>
          <a:solidFill>
            <a:srgbClr val="C27A16"/>
          </a:solidFill>
          <a:ln/>
        </p:spPr>
        <p:txBody>
          <a:bodyPr wrap="square" lIns="0" tIns="0" rIns="0" bIns="0" rtlCol="0" anchor="ctr">
            <a:normAutofit/>
          </a:bodyPr>
          <a:lstStyle/>
          <a:p>
            <a:pPr algn="ctr" indent="0" marL="0">
              <a:lnSpc>
                <a:spcPts val="2200"/>
              </a:lnSpc>
              <a:buNone/>
            </a:pPr>
            <a:r>
              <a:rPr lang="en-US" sz="2200" b="1" dirty="0">
                <a:solidFill>
                  <a:srgbClr val="FFFFFF"/>
                </a:solidFill>
                <a:latin typeface="Readex Pro" pitchFamily="34" charset="0"/>
                <a:ea typeface="Readex Pro" pitchFamily="34" charset="-122"/>
                <a:cs typeface="Readex Pro" pitchFamily="34" charset="-120"/>
              </a:rPr>
              <a:t>3</a:t>
            </a:r>
            <a:endParaRPr lang="en-US" sz="2200" dirty="0"/>
          </a:p>
        </p:txBody>
      </p:sp>
      <p:sp>
        <p:nvSpPr>
          <p:cNvPr id="29" name="Text 27"/>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27</a:t>
            </a:r>
            <a:endParaRPr lang="en-US" sz="1200" dirty="0"/>
          </a:p>
        </p:txBody>
      </p:sp>
      <p:sp>
        <p:nvSpPr>
          <p:cNvPr id="30" name="Text 28"/>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03 · الأطر والمعايير</a:t>
            </a:r>
            <a:endParaRPr lang="ar-SA" sz="1200" dirty="0"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72433"/>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0E7C6B"/>
          </a:solidFill>
          <a:ln/>
        </p:spPr>
      </p:sp>
      <p:sp>
        <p:nvSpPr>
          <p:cNvPr id="3" name="Text 1"/>
          <p:cNvSpPr/>
          <p:nvPr>
            <p:ph type="title"/>
          </p:nvPr>
        </p:nvSpPr>
        <p:spPr>
          <a:xfrm>
            <a:off x="295979" y="2447330"/>
            <a:ext cx="3100923" cy="756890"/>
          </a:xfrm>
          <a:prstGeom prst="rect">
            <a:avLst/>
          </a:prstGeom>
          <a:noFill/>
          <a:ln/>
        </p:spPr>
        <p:txBody>
          <a:bodyPr wrap="square" lIns="0" tIns="0" rIns="0" bIns="0" rtlCol="0" anchor="t">
            <a:normAutofit/>
          </a:bodyPr>
          <a:lstStyle/>
          <a:p>
            <a:pPr algn="r" indent="0" marL="0" rtl="1">
              <a:lnSpc>
                <a:spcPts val="5760"/>
              </a:lnSpc>
              <a:buNone/>
            </a:pPr>
            <a:r>
              <a:rPr lang="ar-SA" sz="4800" b="1" i="0" dirty="0" altLang="en-US">
                <a:solidFill>
                  <a:srgbClr val="F3EFE6"/>
                </a:solidFill>
                <a:latin typeface="Readex Pro" pitchFamily="34" charset="0"/>
                <a:ea typeface="Readex Pro" pitchFamily="34" charset="-122"/>
                <a:cs typeface="Readex Pro" pitchFamily="34" charset="-120"/>
              </a:rPr>
              <a:t>الشهادات</a:t>
            </a:r>
            <a:endParaRPr lang="ar-SA" sz="4800" dirty="0" altLang="en-US"/>
          </a:p>
        </p:txBody>
      </p:sp>
      <p:sp>
        <p:nvSpPr>
          <p:cNvPr id="4" name="Text 2"/>
          <p:cNvSpPr/>
          <p:nvPr/>
        </p:nvSpPr>
        <p:spPr>
          <a:xfrm>
            <a:off x="3396903" y="1908820"/>
            <a:ext cx="194692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0E7C6B"/>
                </a:solidFill>
                <a:latin typeface="Readex Pro" pitchFamily="34" charset="0"/>
                <a:ea typeface="Readex Pro" pitchFamily="34" charset="-122"/>
                <a:cs typeface="Readex Pro" pitchFamily="34" charset="-120"/>
              </a:rPr>
              <a:t>04</a:t>
            </a:r>
            <a:endParaRPr lang="en-US" sz="10000" dirty="0"/>
          </a:p>
        </p:txBody>
      </p:sp>
      <p:sp>
        <p:nvSpPr>
          <p:cNvPr id="5" name="Text 3"/>
          <p:cNvSpPr/>
          <p:nvPr/>
        </p:nvSpPr>
        <p:spPr>
          <a:xfrm>
            <a:off x="546100" y="3382020"/>
            <a:ext cx="9156700" cy="368300"/>
          </a:xfrm>
          <a:prstGeom prst="rect">
            <a:avLst/>
          </a:prstGeom>
          <a:noFill/>
          <a:ln/>
        </p:spPr>
        <p:txBody>
          <a:bodyPr wrap="square" lIns="0" tIns="0" rIns="0" bIns="0" rtlCol="0" anchor="t">
            <a:normAutofit/>
          </a:bodyPr>
          <a:lstStyle/>
          <a:p>
            <a:pPr algn="r" indent="0" marL="0" rtl="1">
              <a:lnSpc>
                <a:spcPts val="2700"/>
              </a:lnSpc>
              <a:buNone/>
            </a:pPr>
            <a:r>
              <a:rPr lang="ar-SA" sz="1800" dirty="0" altLang="en-US">
                <a:solidFill>
                  <a:srgbClr val="D9E2E6"/>
                </a:solidFill>
                <a:latin typeface="IBM Plex Sans Arabic" pitchFamily="34" charset="0"/>
                <a:ea typeface="IBM Plex Sans Arabic" pitchFamily="34" charset="-122"/>
                <a:cs typeface="IBM Plex Sans Arabic" pitchFamily="34" charset="-120"/>
              </a:rPr>
              <a:t>أي شهادة تناسب مرحلتك؟ ماذا تشترط، وكم تكلف، وكيف تذاكر لها، ومتى لا تحتاجها أصلاً.</a:t>
            </a:r>
            <a:endParaRPr lang="ar-SA" sz="1800" dirty="0" altLang="en-US"/>
          </a:p>
        </p:txBody>
      </p:sp>
      <p:sp>
        <p:nvSpPr>
          <p:cNvPr id="6" name="Text 4"/>
          <p:cNvSpPr/>
          <p:nvPr/>
        </p:nvSpPr>
        <p:spPr>
          <a:xfrm>
            <a:off x="812800" y="3928120"/>
            <a:ext cx="896193"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كيف تذاكر</a:t>
            </a:r>
            <a:endParaRPr lang="ar-SA" sz="1300" dirty="0" altLang="en-US"/>
          </a:p>
        </p:txBody>
      </p:sp>
      <p:sp>
        <p:nvSpPr>
          <p:cNvPr id="7" name="Text 5"/>
          <p:cNvSpPr/>
          <p:nvPr/>
        </p:nvSpPr>
        <p:spPr>
          <a:xfrm>
            <a:off x="1810593" y="3928120"/>
            <a:ext cx="899864"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كيف تختار</a:t>
            </a:r>
            <a:endParaRPr lang="ar-SA" sz="1300" dirty="0" altLang="en-US"/>
          </a:p>
        </p:txBody>
      </p:sp>
      <p:sp>
        <p:nvSpPr>
          <p:cNvPr id="8" name="Text 6"/>
          <p:cNvSpPr/>
          <p:nvPr/>
        </p:nvSpPr>
        <p:spPr>
          <a:xfrm>
            <a:off x="2812058" y="3928120"/>
            <a:ext cx="1083618"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مقارنة شاملة</a:t>
            </a:r>
            <a:endParaRPr lang="ar-SA" sz="1300" dirty="0" altLang="en-US"/>
          </a:p>
        </p:txBody>
      </p:sp>
      <p:sp>
        <p:nvSpPr>
          <p:cNvPr id="9" name="Text 7"/>
          <p:cNvSpPr/>
          <p:nvPr/>
        </p:nvSpPr>
        <p:spPr>
          <a:xfrm>
            <a:off x="3997275" y="3928120"/>
            <a:ext cx="983208"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الخصوصية</a:t>
            </a:r>
            <a:endParaRPr lang="ar-SA" sz="1300" dirty="0" altLang="en-US"/>
          </a:p>
        </p:txBody>
      </p:sp>
      <p:sp>
        <p:nvSpPr>
          <p:cNvPr id="10" name="Text 8"/>
          <p:cNvSpPr/>
          <p:nvPr/>
        </p:nvSpPr>
        <p:spPr>
          <a:xfrm>
            <a:off x="5082084" y="3928120"/>
            <a:ext cx="668387" cy="358130"/>
          </a:xfrm>
          <a:prstGeom prst="roundRect">
            <a:avLst>
              <a:gd name="adj" fmla="val 50000"/>
            </a:avLst>
          </a:prstGeom>
          <a:solidFill>
            <a:srgbClr val="22344A"/>
          </a:solidFill>
          <a:ln/>
        </p:spPr>
        <p:txBody>
          <a:bodyPr wrap="none" lIns="0" tIns="0" rIns="0" bIns="0" rtlCol="0" anchor="ctr">
            <a:normAutofit/>
          </a:bodyPr>
          <a:lstStyle/>
          <a:p>
            <a:pPr algn="ctr" indent="0" marL="0">
              <a:lnSpc>
                <a:spcPts val="1820"/>
              </a:lnSpc>
              <a:buNone/>
            </a:pPr>
            <a:r>
              <a:rPr lang="en-US" sz="1300" dirty="0">
                <a:solidFill>
                  <a:srgbClr val="F3EFE6"/>
                </a:solidFill>
                <a:latin typeface="IBM Plex Sans Arabic" pitchFamily="34" charset="0"/>
                <a:ea typeface="IBM Plex Sans Arabic" pitchFamily="34" charset="-122"/>
                <a:cs typeface="IBM Plex Sans Arabic" pitchFamily="34" charset="-120"/>
              </a:rPr>
              <a:t>ISC2</a:t>
            </a:r>
            <a:endParaRPr lang="en-US" sz="1300" dirty="0"/>
          </a:p>
        </p:txBody>
      </p:sp>
      <p:sp>
        <p:nvSpPr>
          <p:cNvPr id="11" name="Text 9"/>
          <p:cNvSpPr/>
          <p:nvPr/>
        </p:nvSpPr>
        <p:spPr>
          <a:xfrm>
            <a:off x="5852071" y="3928120"/>
            <a:ext cx="778520" cy="358130"/>
          </a:xfrm>
          <a:prstGeom prst="roundRect">
            <a:avLst>
              <a:gd name="adj" fmla="val 50000"/>
            </a:avLst>
          </a:prstGeom>
          <a:solidFill>
            <a:srgbClr val="22344A"/>
          </a:solidFill>
          <a:ln/>
        </p:spPr>
        <p:txBody>
          <a:bodyPr wrap="none" lIns="0" tIns="0" rIns="0" bIns="0" rtlCol="0" anchor="ctr">
            <a:normAutofit/>
          </a:bodyPr>
          <a:lstStyle/>
          <a:p>
            <a:pPr algn="ctr" indent="0" marL="0">
              <a:lnSpc>
                <a:spcPts val="1820"/>
              </a:lnSpc>
              <a:buNone/>
            </a:pPr>
            <a:r>
              <a:rPr lang="en-US" sz="1300" dirty="0">
                <a:solidFill>
                  <a:srgbClr val="F3EFE6"/>
                </a:solidFill>
                <a:latin typeface="IBM Plex Sans Arabic" pitchFamily="34" charset="0"/>
                <a:ea typeface="IBM Plex Sans Arabic" pitchFamily="34" charset="-122"/>
                <a:cs typeface="IBM Plex Sans Arabic" pitchFamily="34" charset="-120"/>
              </a:rPr>
              <a:t>ISACA</a:t>
            </a:r>
            <a:endParaRPr lang="en-US" sz="1300" dirty="0"/>
          </a:p>
        </p:txBody>
      </p:sp>
      <p:sp>
        <p:nvSpPr>
          <p:cNvPr id="12" name="Text 10"/>
          <p:cNvSpPr/>
          <p:nvPr/>
        </p:nvSpPr>
        <p:spPr>
          <a:xfrm>
            <a:off x="6732191" y="3928120"/>
            <a:ext cx="1556345"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شهادات GRC وISO</a:t>
            </a:r>
            <a:endParaRPr lang="ar-SA" sz="1300" dirty="0" altLang="en-US"/>
          </a:p>
        </p:txBody>
      </p:sp>
      <p:sp>
        <p:nvSpPr>
          <p:cNvPr id="13" name="Text 11"/>
          <p:cNvSpPr/>
          <p:nvPr/>
        </p:nvSpPr>
        <p:spPr>
          <a:xfrm>
            <a:off x="8390136" y="3928120"/>
            <a:ext cx="1219646"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شهادات البداية</a:t>
            </a:r>
            <a:endParaRPr lang="ar-SA" sz="1300" dirty="0" altLang="en-US"/>
          </a:p>
        </p:txBody>
      </p:sp>
      <p:sp>
        <p:nvSpPr>
          <p:cNvPr id="14" name="Text 12"/>
          <p:cNvSpPr/>
          <p:nvPr/>
        </p:nvSpPr>
        <p:spPr>
          <a:xfrm>
            <a:off x="812800" y="4387850"/>
            <a:ext cx="1142851"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خريطة المسار</a:t>
            </a:r>
            <a:endParaRPr lang="ar-SA" sz="1300" dirty="0" altLang="en-US"/>
          </a:p>
        </p:txBody>
      </p:sp>
      <p:sp>
        <p:nvSpPr>
          <p:cNvPr id="15" name="Text 1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3A3B1"/>
                </a:solidFill>
                <a:latin typeface="IBM Plex Sans Arabic" pitchFamily="34" charset="0"/>
                <a:ea typeface="IBM Plex Sans Arabic" pitchFamily="34" charset="-122"/>
                <a:cs typeface="IBM Plex Sans Arabic" pitchFamily="34" charset="-120"/>
              </a:rPr>
              <a:t>28</a:t>
            </a:r>
            <a:endParaRPr lang="en-US" sz="1200" dirty="0"/>
          </a:p>
        </p:txBody>
      </p:sp>
      <p:sp>
        <p:nvSpPr>
          <p:cNvPr id="16" name="Text 1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93A3B1"/>
                </a:solidFill>
                <a:latin typeface="IBM Plex Sans Arabic" pitchFamily="34" charset="0"/>
                <a:ea typeface="IBM Plex Sans Arabic" pitchFamily="34" charset="-122"/>
                <a:cs typeface="IBM Plex Sans Arabic" pitchFamily="34" charset="-120"/>
              </a:rPr>
              <a:t>كيف تبدأ في GRC · الوحدة 04</a:t>
            </a:r>
            <a:endParaRPr lang="ar-SA" sz="1200" dirty="0"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580257" cy="289520"/>
          </a:xfrm>
          <a:custGeom>
            <a:avLst/>
            <a:gdLst/>
            <a:ahLst/>
            <a:cxnLst/>
            <a:rect l="l" t="t" r="r" b="b"/>
            <a:pathLst>
              <a:path w="1580257" h="289520">
                <a:moveTo>
                  <a:pt x="144760" y="0"/>
                </a:moveTo>
                <a:lnTo>
                  <a:pt x="1435497" y="0"/>
                </a:lnTo>
                <a:arcTo hR="144760" wR="144760" stAng="16200000" swAng="5400000"/>
                <a:lnTo>
                  <a:pt x="158025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04 · الشهادات</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خريطة الشهادات: ثلاث مراحل، لا تقفز للأخيرة</a:t>
            </a:r>
            <a:endParaRPr lang="ar-SA" sz="3000" dirty="0" altLang="en-US"/>
          </a:p>
        </p:txBody>
      </p:sp>
      <p:sp>
        <p:nvSpPr>
          <p:cNvPr id="5" name="Text 3"/>
          <p:cNvSpPr/>
          <p:nvPr/>
        </p:nvSpPr>
        <p:spPr>
          <a:xfrm>
            <a:off x="812800" y="1857970"/>
            <a:ext cx="355600" cy="355600"/>
          </a:xfrm>
          <a:prstGeom prst="roundRect">
            <a:avLst>
              <a:gd name="adj" fmla="val 50000"/>
            </a:avLst>
          </a:prstGeom>
          <a:solidFill>
            <a:srgbClr val="C27A16"/>
          </a:solidFill>
          <a:ln/>
        </p:spPr>
        <p:txBody>
          <a:bodyPr wrap="square" lIns="0" tIns="0" rIns="0" bIns="0" rtlCol="0" anchor="ctr">
            <a:normAutofit/>
          </a:bodyPr>
          <a:lstStyle/>
          <a:p>
            <a:pPr algn="ctr" indent="0" marL="0">
              <a:lnSpc>
                <a:spcPts val="1400"/>
              </a:lnSpc>
              <a:buNone/>
            </a:pPr>
            <a:r>
              <a:rPr lang="en-US" sz="1400" b="1" dirty="0">
                <a:solidFill>
                  <a:srgbClr val="FFFFFF"/>
                </a:solidFill>
                <a:latin typeface="Readex Pro" pitchFamily="34" charset="0"/>
                <a:ea typeface="Readex Pro" pitchFamily="34" charset="-122"/>
                <a:cs typeface="Readex Pro" pitchFamily="34" charset="-120"/>
              </a:rPr>
              <a:t>3</a:t>
            </a:r>
            <a:endParaRPr lang="en-US" sz="1400" dirty="0"/>
          </a:p>
        </p:txBody>
      </p:sp>
      <p:sp>
        <p:nvSpPr>
          <p:cNvPr id="6" name="Shape 4"/>
          <p:cNvSpPr/>
          <p:nvPr/>
        </p:nvSpPr>
        <p:spPr>
          <a:xfrm>
            <a:off x="1168400" y="2010370"/>
            <a:ext cx="4749800" cy="50800"/>
          </a:xfrm>
          <a:prstGeom prst="rect">
            <a:avLst/>
          </a:prstGeom>
          <a:solidFill>
            <a:srgbClr val="24506B"/>
          </a:solidFill>
          <a:ln/>
        </p:spPr>
      </p:sp>
      <p:sp>
        <p:nvSpPr>
          <p:cNvPr id="7" name="Text 5"/>
          <p:cNvSpPr/>
          <p:nvPr/>
        </p:nvSpPr>
        <p:spPr>
          <a:xfrm>
            <a:off x="5918200" y="1857970"/>
            <a:ext cx="355600" cy="355600"/>
          </a:xfrm>
          <a:prstGeom prst="roundRect">
            <a:avLst>
              <a:gd name="adj" fmla="val 50000"/>
            </a:avLst>
          </a:prstGeom>
          <a:solidFill>
            <a:srgbClr val="24506B"/>
          </a:solidFill>
          <a:ln/>
        </p:spPr>
        <p:txBody>
          <a:bodyPr wrap="square" lIns="0" tIns="0" rIns="0" bIns="0" rtlCol="0" anchor="ctr">
            <a:normAutofit/>
          </a:bodyPr>
          <a:lstStyle/>
          <a:p>
            <a:pPr algn="ctr" indent="0" marL="0">
              <a:lnSpc>
                <a:spcPts val="1400"/>
              </a:lnSpc>
              <a:buNone/>
            </a:pPr>
            <a:r>
              <a:rPr lang="en-US" sz="1400" b="1" dirty="0">
                <a:solidFill>
                  <a:srgbClr val="FFFFFF"/>
                </a:solidFill>
                <a:latin typeface="Readex Pro" pitchFamily="34" charset="0"/>
                <a:ea typeface="Readex Pro" pitchFamily="34" charset="-122"/>
                <a:cs typeface="Readex Pro" pitchFamily="34" charset="-120"/>
              </a:rPr>
              <a:t>2</a:t>
            </a:r>
            <a:endParaRPr lang="en-US" sz="1400" dirty="0"/>
          </a:p>
        </p:txBody>
      </p:sp>
      <p:sp>
        <p:nvSpPr>
          <p:cNvPr id="8" name="Shape 6"/>
          <p:cNvSpPr/>
          <p:nvPr/>
        </p:nvSpPr>
        <p:spPr>
          <a:xfrm>
            <a:off x="6273800" y="2010370"/>
            <a:ext cx="4749800" cy="50800"/>
          </a:xfrm>
          <a:prstGeom prst="rect">
            <a:avLst/>
          </a:prstGeom>
          <a:solidFill>
            <a:srgbClr val="0E7C6B"/>
          </a:solidFill>
          <a:ln/>
        </p:spPr>
      </p:sp>
      <p:sp>
        <p:nvSpPr>
          <p:cNvPr id="9" name="Text 7"/>
          <p:cNvSpPr/>
          <p:nvPr/>
        </p:nvSpPr>
        <p:spPr>
          <a:xfrm>
            <a:off x="11023600" y="1857970"/>
            <a:ext cx="355600" cy="355600"/>
          </a:xfrm>
          <a:prstGeom prst="roundRect">
            <a:avLst>
              <a:gd name="adj" fmla="val 50000"/>
            </a:avLst>
          </a:prstGeom>
          <a:solidFill>
            <a:srgbClr val="0E7C6B"/>
          </a:solidFill>
          <a:ln/>
        </p:spPr>
        <p:txBody>
          <a:bodyPr wrap="square" lIns="0" tIns="0" rIns="0" bIns="0" rtlCol="0" anchor="ctr">
            <a:normAutofit/>
          </a:bodyPr>
          <a:lstStyle/>
          <a:p>
            <a:pPr algn="ctr" indent="0" marL="0">
              <a:lnSpc>
                <a:spcPts val="1400"/>
              </a:lnSpc>
              <a:buNone/>
            </a:pPr>
            <a:r>
              <a:rPr lang="en-US" sz="1400" b="1" dirty="0">
                <a:solidFill>
                  <a:srgbClr val="FFFFFF"/>
                </a:solidFill>
                <a:latin typeface="Readex Pro" pitchFamily="34" charset="0"/>
                <a:ea typeface="Readex Pro" pitchFamily="34" charset="-122"/>
                <a:cs typeface="Readex Pro" pitchFamily="34" charset="-120"/>
              </a:rPr>
              <a:t>1</a:t>
            </a:r>
            <a:endParaRPr lang="en-US" sz="1400" dirty="0"/>
          </a:p>
        </p:txBody>
      </p:sp>
      <p:sp>
        <p:nvSpPr>
          <p:cNvPr id="10" name="Shape 8"/>
          <p:cNvSpPr/>
          <p:nvPr/>
        </p:nvSpPr>
        <p:spPr>
          <a:xfrm>
            <a:off x="815975" y="2419945"/>
            <a:ext cx="3414167" cy="2168327"/>
          </a:xfrm>
          <a:prstGeom prst="roundRect">
            <a:avLst>
              <a:gd name="adj" fmla="val 4539"/>
            </a:avLst>
          </a:prstGeom>
          <a:solidFill>
            <a:srgbClr val="FFFDF8"/>
          </a:solidFill>
          <a:ln w="6350">
            <a:solidFill>
              <a:srgbClr val="E1DBCD"/>
            </a:solidFill>
            <a:prstDash val="solid"/>
          </a:ln>
        </p:spPr>
      </p:sp>
      <p:sp>
        <p:nvSpPr>
          <p:cNvPr id="11" name="Text 9"/>
          <p:cNvSpPr/>
          <p:nvPr/>
        </p:nvSpPr>
        <p:spPr>
          <a:xfrm>
            <a:off x="891921" y="2588220"/>
            <a:ext cx="3169945"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9A5F0F"/>
                </a:solidFill>
                <a:latin typeface="Readex Pro" pitchFamily="34" charset="0"/>
                <a:ea typeface="Readex Pro" pitchFamily="34" charset="-122"/>
                <a:cs typeface="Readex Pro" pitchFamily="34" charset="-120"/>
              </a:rPr>
              <a:t>المتقدم</a:t>
            </a:r>
            <a:endParaRPr lang="ar-SA" sz="1600" dirty="0" altLang="en-US"/>
          </a:p>
        </p:txBody>
      </p:sp>
      <p:sp>
        <p:nvSpPr>
          <p:cNvPr id="12" name="Text 10"/>
          <p:cNvSpPr/>
          <p:nvPr/>
        </p:nvSpPr>
        <p:spPr>
          <a:xfrm>
            <a:off x="891921" y="2941241"/>
            <a:ext cx="316994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تشترط سنوات خبرة قبل منحها.</a:t>
            </a:r>
            <a:endParaRPr lang="ar-SA" sz="1200" dirty="0" altLang="en-US"/>
          </a:p>
        </p:txBody>
      </p:sp>
      <p:sp>
        <p:nvSpPr>
          <p:cNvPr id="13" name="Shape 11"/>
          <p:cNvSpPr/>
          <p:nvPr/>
        </p:nvSpPr>
        <p:spPr>
          <a:xfrm>
            <a:off x="984250" y="3243461"/>
            <a:ext cx="3077617" cy="349845"/>
          </a:xfrm>
          <a:prstGeom prst="roundRect">
            <a:avLst>
              <a:gd name="adj" fmla="val 18151"/>
            </a:avLst>
          </a:prstGeom>
          <a:solidFill>
            <a:srgbClr val="F6ECDA"/>
          </a:solidFill>
          <a:ln/>
        </p:spPr>
      </p:sp>
      <p:sp>
        <p:nvSpPr>
          <p:cNvPr id="14" name="Text 12"/>
          <p:cNvSpPr/>
          <p:nvPr/>
        </p:nvSpPr>
        <p:spPr>
          <a:xfrm>
            <a:off x="998399" y="3319314"/>
            <a:ext cx="5247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ISACA</a:t>
            </a:r>
            <a:endParaRPr lang="en-US" sz="1200" dirty="0"/>
          </a:p>
        </p:txBody>
      </p:sp>
      <p:sp>
        <p:nvSpPr>
          <p:cNvPr id="15" name="Text 13"/>
          <p:cNvSpPr/>
          <p:nvPr/>
        </p:nvSpPr>
        <p:spPr>
          <a:xfrm>
            <a:off x="1818690" y="3306961"/>
            <a:ext cx="2141577" cy="248245"/>
          </a:xfrm>
          <a:prstGeom prst="rect">
            <a:avLst/>
          </a:prstGeom>
          <a:noFill/>
          <a:ln/>
        </p:spPr>
        <p:txBody>
          <a:bodyPr wrap="square" lIns="0" tIns="0" rIns="0" bIns="0" rtlCol="0" anchor="t">
            <a:normAutofit/>
          </a:bodyPr>
          <a:lstStyle/>
          <a:p>
            <a:pPr algn="r" indent="0" marL="0">
              <a:lnSpc>
                <a:spcPts val="1755"/>
              </a:lnSpc>
              <a:buNone/>
            </a:pPr>
            <a:r>
              <a:rPr lang="en-US" sz="1350" b="1" dirty="0">
                <a:solidFill>
                  <a:srgbClr val="172433"/>
                </a:solidFill>
                <a:latin typeface="Readex Pro" pitchFamily="34" charset="0"/>
                <a:ea typeface="Readex Pro" pitchFamily="34" charset="-122"/>
                <a:cs typeface="Readex Pro" pitchFamily="34" charset="-120"/>
              </a:rPr>
              <a:t>CISA · CRISC · CISM</a:t>
            </a:r>
            <a:endParaRPr lang="en-US" sz="1350" dirty="0"/>
          </a:p>
        </p:txBody>
      </p:sp>
      <p:sp>
        <p:nvSpPr>
          <p:cNvPr id="16" name="Shape 14"/>
          <p:cNvSpPr/>
          <p:nvPr/>
        </p:nvSpPr>
        <p:spPr>
          <a:xfrm>
            <a:off x="984250" y="3656806"/>
            <a:ext cx="3077617" cy="349845"/>
          </a:xfrm>
          <a:prstGeom prst="roundRect">
            <a:avLst>
              <a:gd name="adj" fmla="val 18151"/>
            </a:avLst>
          </a:prstGeom>
          <a:solidFill>
            <a:srgbClr val="F6ECDA"/>
          </a:solidFill>
          <a:ln/>
        </p:spPr>
      </p:sp>
      <p:sp>
        <p:nvSpPr>
          <p:cNvPr id="17" name="Text 15"/>
          <p:cNvSpPr/>
          <p:nvPr/>
        </p:nvSpPr>
        <p:spPr>
          <a:xfrm>
            <a:off x="1018729" y="3732659"/>
            <a:ext cx="402729"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ISC2</a:t>
            </a:r>
            <a:endParaRPr lang="en-US" sz="1200" dirty="0"/>
          </a:p>
        </p:txBody>
      </p:sp>
      <p:sp>
        <p:nvSpPr>
          <p:cNvPr id="18" name="Text 16"/>
          <p:cNvSpPr/>
          <p:nvPr/>
        </p:nvSpPr>
        <p:spPr>
          <a:xfrm>
            <a:off x="2533422" y="3720306"/>
            <a:ext cx="1426845" cy="248245"/>
          </a:xfrm>
          <a:prstGeom prst="rect">
            <a:avLst/>
          </a:prstGeom>
          <a:noFill/>
          <a:ln/>
        </p:spPr>
        <p:txBody>
          <a:bodyPr wrap="square" lIns="0" tIns="0" rIns="0" bIns="0" rtlCol="0" anchor="t">
            <a:normAutofit/>
          </a:bodyPr>
          <a:lstStyle/>
          <a:p>
            <a:pPr algn="r" indent="0" marL="0">
              <a:lnSpc>
                <a:spcPts val="1755"/>
              </a:lnSpc>
              <a:buNone/>
            </a:pPr>
            <a:r>
              <a:rPr lang="en-US" sz="1350" b="1" dirty="0">
                <a:solidFill>
                  <a:srgbClr val="172433"/>
                </a:solidFill>
                <a:latin typeface="Readex Pro" pitchFamily="34" charset="0"/>
                <a:ea typeface="Readex Pro" pitchFamily="34" charset="-122"/>
                <a:cs typeface="Readex Pro" pitchFamily="34" charset="-120"/>
              </a:rPr>
              <a:t>CGRC · CISSP</a:t>
            </a:r>
            <a:endParaRPr lang="en-US" sz="1350" dirty="0"/>
          </a:p>
        </p:txBody>
      </p:sp>
      <p:sp>
        <p:nvSpPr>
          <p:cNvPr id="19" name="Shape 17"/>
          <p:cNvSpPr/>
          <p:nvPr/>
        </p:nvSpPr>
        <p:spPr>
          <a:xfrm>
            <a:off x="984250" y="4070152"/>
            <a:ext cx="3077617" cy="349845"/>
          </a:xfrm>
          <a:prstGeom prst="roundRect">
            <a:avLst>
              <a:gd name="adj" fmla="val 18151"/>
            </a:avLst>
          </a:prstGeom>
          <a:solidFill>
            <a:srgbClr val="F6ECDA"/>
          </a:solidFill>
          <a:ln/>
        </p:spPr>
      </p:sp>
      <p:sp>
        <p:nvSpPr>
          <p:cNvPr id="20" name="Text 18"/>
          <p:cNvSpPr/>
          <p:nvPr/>
        </p:nvSpPr>
        <p:spPr>
          <a:xfrm>
            <a:off x="998399" y="4146004"/>
            <a:ext cx="5247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ISACA</a:t>
            </a:r>
            <a:endParaRPr lang="en-US" sz="1200" dirty="0"/>
          </a:p>
        </p:txBody>
      </p:sp>
      <p:sp>
        <p:nvSpPr>
          <p:cNvPr id="21" name="Text 19"/>
          <p:cNvSpPr/>
          <p:nvPr/>
        </p:nvSpPr>
        <p:spPr>
          <a:xfrm>
            <a:off x="2390428" y="4133652"/>
            <a:ext cx="1569839" cy="248245"/>
          </a:xfrm>
          <a:prstGeom prst="rect">
            <a:avLst/>
          </a:prstGeom>
          <a:noFill/>
          <a:ln/>
        </p:spPr>
        <p:txBody>
          <a:bodyPr wrap="square" lIns="0" tIns="0" rIns="0" bIns="0" rtlCol="0" anchor="t">
            <a:normAutofit/>
          </a:bodyPr>
          <a:lstStyle/>
          <a:p>
            <a:pPr algn="r" indent="0" marL="0">
              <a:lnSpc>
                <a:spcPts val="1755"/>
              </a:lnSpc>
              <a:buNone/>
            </a:pPr>
            <a:r>
              <a:rPr lang="en-US" sz="1350" b="1" dirty="0">
                <a:solidFill>
                  <a:srgbClr val="172433"/>
                </a:solidFill>
                <a:latin typeface="Readex Pro" pitchFamily="34" charset="0"/>
                <a:ea typeface="Readex Pro" pitchFamily="34" charset="-122"/>
                <a:cs typeface="Readex Pro" pitchFamily="34" charset="-120"/>
              </a:rPr>
              <a:t>CGEIT · CDPSE</a:t>
            </a:r>
            <a:endParaRPr lang="en-US" sz="1350" dirty="0"/>
          </a:p>
        </p:txBody>
      </p:sp>
      <p:sp>
        <p:nvSpPr>
          <p:cNvPr id="22" name="Shape 20"/>
          <p:cNvSpPr/>
          <p:nvPr/>
        </p:nvSpPr>
        <p:spPr>
          <a:xfrm>
            <a:off x="4388892" y="2419945"/>
            <a:ext cx="3414216" cy="2168327"/>
          </a:xfrm>
          <a:prstGeom prst="roundRect">
            <a:avLst>
              <a:gd name="adj" fmla="val 4539"/>
            </a:avLst>
          </a:prstGeom>
          <a:solidFill>
            <a:srgbClr val="FFFDF8"/>
          </a:solidFill>
          <a:ln w="6350">
            <a:solidFill>
              <a:srgbClr val="E1DBCD"/>
            </a:solidFill>
            <a:prstDash val="solid"/>
          </a:ln>
        </p:spPr>
      </p:sp>
      <p:sp>
        <p:nvSpPr>
          <p:cNvPr id="23" name="Text 21"/>
          <p:cNvSpPr/>
          <p:nvPr/>
        </p:nvSpPr>
        <p:spPr>
          <a:xfrm>
            <a:off x="4464837" y="2588220"/>
            <a:ext cx="3169996"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24506B"/>
                </a:solidFill>
                <a:latin typeface="Readex Pro" pitchFamily="34" charset="0"/>
                <a:ea typeface="Readex Pro" pitchFamily="34" charset="-122"/>
                <a:cs typeface="Readex Pro" pitchFamily="34" charset="-120"/>
              </a:rPr>
              <a:t>التخصص</a:t>
            </a:r>
            <a:endParaRPr lang="ar-SA" sz="1600" dirty="0" altLang="en-US"/>
          </a:p>
        </p:txBody>
      </p:sp>
      <p:sp>
        <p:nvSpPr>
          <p:cNvPr id="24" name="Text 22"/>
          <p:cNvSpPr/>
          <p:nvPr/>
        </p:nvSpPr>
        <p:spPr>
          <a:xfrm>
            <a:off x="4464837" y="2941241"/>
            <a:ext cx="31699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مهارة محددة في GRC أو معيار بعينه.</a:t>
            </a:r>
            <a:endParaRPr lang="ar-SA" sz="1200" dirty="0" altLang="en-US"/>
          </a:p>
        </p:txBody>
      </p:sp>
      <p:sp>
        <p:nvSpPr>
          <p:cNvPr id="25" name="Shape 23"/>
          <p:cNvSpPr/>
          <p:nvPr/>
        </p:nvSpPr>
        <p:spPr>
          <a:xfrm>
            <a:off x="4557167" y="3243461"/>
            <a:ext cx="3077666" cy="349845"/>
          </a:xfrm>
          <a:prstGeom prst="roundRect">
            <a:avLst>
              <a:gd name="adj" fmla="val 18151"/>
            </a:avLst>
          </a:prstGeom>
          <a:solidFill>
            <a:srgbClr val="E6EDF4"/>
          </a:solidFill>
          <a:ln/>
        </p:spPr>
      </p:sp>
      <p:sp>
        <p:nvSpPr>
          <p:cNvPr id="26" name="Text 24"/>
          <p:cNvSpPr/>
          <p:nvPr/>
        </p:nvSpPr>
        <p:spPr>
          <a:xfrm>
            <a:off x="4557167" y="3319314"/>
            <a:ext cx="826740" cy="223490"/>
          </a:xfrm>
          <a:prstGeom prst="rect">
            <a:avLst/>
          </a:prstGeom>
          <a:noFill/>
          <a:ln/>
        </p:spPr>
        <p:txBody>
          <a:bodyPr wrap="square" lIns="0" tIns="0" rIns="0" bIns="0" rtlCol="0" anchor="t">
            <a:normAutofit/>
          </a:bodyPr>
          <a:lstStyle/>
          <a:p>
            <a:pPr algn="r" indent="0" marL="0" rtl="1">
              <a:lnSpc>
                <a:spcPts val="156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جهات تدريب</a:t>
            </a:r>
            <a:endParaRPr lang="ar-SA" sz="1200" dirty="0" altLang="en-US"/>
          </a:p>
        </p:txBody>
      </p:sp>
      <p:sp>
        <p:nvSpPr>
          <p:cNvPr id="27" name="Text 25"/>
          <p:cNvSpPr/>
          <p:nvPr/>
        </p:nvSpPr>
        <p:spPr>
          <a:xfrm>
            <a:off x="5609302" y="3306961"/>
            <a:ext cx="1923931" cy="248245"/>
          </a:xfrm>
          <a:prstGeom prst="rect">
            <a:avLst/>
          </a:prstGeom>
          <a:noFill/>
          <a:ln/>
        </p:spPr>
        <p:txBody>
          <a:bodyPr wrap="square" lIns="0" tIns="0" rIns="0" bIns="0" rtlCol="0" anchor="t">
            <a:normAutofit/>
          </a:bodyPr>
          <a:lstStyle/>
          <a:p>
            <a:pPr algn="r" indent="0" marL="0">
              <a:lnSpc>
                <a:spcPts val="1755"/>
              </a:lnSpc>
              <a:buNone/>
            </a:pPr>
            <a:r>
              <a:rPr lang="en-US" sz="1350" b="1" dirty="0">
                <a:solidFill>
                  <a:srgbClr val="172433"/>
                </a:solidFill>
                <a:latin typeface="Readex Pro" pitchFamily="34" charset="0"/>
                <a:ea typeface="Readex Pro" pitchFamily="34" charset="-122"/>
                <a:cs typeface="Readex Pro" pitchFamily="34" charset="-120"/>
              </a:rPr>
              <a:t>ISO 27001 LI / LA</a:t>
            </a:r>
            <a:endParaRPr lang="en-US" sz="1350" dirty="0"/>
          </a:p>
        </p:txBody>
      </p:sp>
      <p:sp>
        <p:nvSpPr>
          <p:cNvPr id="28" name="Shape 26"/>
          <p:cNvSpPr/>
          <p:nvPr/>
        </p:nvSpPr>
        <p:spPr>
          <a:xfrm>
            <a:off x="4557167" y="3656806"/>
            <a:ext cx="3077666" cy="349845"/>
          </a:xfrm>
          <a:prstGeom prst="roundRect">
            <a:avLst>
              <a:gd name="adj" fmla="val 18151"/>
            </a:avLst>
          </a:prstGeom>
          <a:solidFill>
            <a:srgbClr val="E6EDF4"/>
          </a:solidFill>
          <a:ln/>
        </p:spPr>
      </p:sp>
      <p:sp>
        <p:nvSpPr>
          <p:cNvPr id="29" name="Text 27"/>
          <p:cNvSpPr/>
          <p:nvPr/>
        </p:nvSpPr>
        <p:spPr>
          <a:xfrm>
            <a:off x="4579303" y="3732659"/>
            <a:ext cx="476786"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OCEG</a:t>
            </a:r>
            <a:endParaRPr lang="en-US" sz="1200" dirty="0"/>
          </a:p>
        </p:txBody>
      </p:sp>
      <p:sp>
        <p:nvSpPr>
          <p:cNvPr id="30" name="Text 28"/>
          <p:cNvSpPr/>
          <p:nvPr/>
        </p:nvSpPr>
        <p:spPr>
          <a:xfrm>
            <a:off x="6950958" y="3720306"/>
            <a:ext cx="582275" cy="248245"/>
          </a:xfrm>
          <a:prstGeom prst="rect">
            <a:avLst/>
          </a:prstGeom>
          <a:noFill/>
          <a:ln/>
        </p:spPr>
        <p:txBody>
          <a:bodyPr wrap="square" lIns="0" tIns="0" rIns="0" bIns="0" rtlCol="0" anchor="t">
            <a:normAutofit/>
          </a:bodyPr>
          <a:lstStyle/>
          <a:p>
            <a:pPr algn="r" indent="0" marL="0">
              <a:lnSpc>
                <a:spcPts val="1755"/>
              </a:lnSpc>
              <a:buNone/>
            </a:pPr>
            <a:r>
              <a:rPr lang="en-US" sz="1350" b="1" dirty="0">
                <a:solidFill>
                  <a:srgbClr val="172433"/>
                </a:solidFill>
                <a:latin typeface="Readex Pro" pitchFamily="34" charset="0"/>
                <a:ea typeface="Readex Pro" pitchFamily="34" charset="-122"/>
                <a:cs typeface="Readex Pro" pitchFamily="34" charset="-120"/>
              </a:rPr>
              <a:t>GRCP</a:t>
            </a:r>
            <a:endParaRPr lang="en-US" sz="1350" dirty="0"/>
          </a:p>
        </p:txBody>
      </p:sp>
      <p:sp>
        <p:nvSpPr>
          <p:cNvPr id="31" name="Shape 29"/>
          <p:cNvSpPr/>
          <p:nvPr/>
        </p:nvSpPr>
        <p:spPr>
          <a:xfrm>
            <a:off x="4557167" y="4070152"/>
            <a:ext cx="3077666" cy="349845"/>
          </a:xfrm>
          <a:prstGeom prst="roundRect">
            <a:avLst>
              <a:gd name="adj" fmla="val 18151"/>
            </a:avLst>
          </a:prstGeom>
          <a:solidFill>
            <a:srgbClr val="E6EDF4"/>
          </a:solidFill>
          <a:ln/>
        </p:spPr>
      </p:sp>
      <p:sp>
        <p:nvSpPr>
          <p:cNvPr id="32" name="Text 30"/>
          <p:cNvSpPr/>
          <p:nvPr/>
        </p:nvSpPr>
        <p:spPr>
          <a:xfrm>
            <a:off x="4590088" y="4146004"/>
            <a:ext cx="412075"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IAPP</a:t>
            </a:r>
            <a:endParaRPr lang="en-US" sz="1200" dirty="0"/>
          </a:p>
        </p:txBody>
      </p:sp>
      <p:sp>
        <p:nvSpPr>
          <p:cNvPr id="33" name="Text 31"/>
          <p:cNvSpPr/>
          <p:nvPr/>
        </p:nvSpPr>
        <p:spPr>
          <a:xfrm>
            <a:off x="6008281" y="4133652"/>
            <a:ext cx="1524953" cy="248245"/>
          </a:xfrm>
          <a:prstGeom prst="rect">
            <a:avLst/>
          </a:prstGeom>
          <a:noFill/>
          <a:ln/>
        </p:spPr>
        <p:txBody>
          <a:bodyPr wrap="square" lIns="0" tIns="0" rIns="0" bIns="0" rtlCol="0" anchor="t">
            <a:normAutofit/>
          </a:bodyPr>
          <a:lstStyle/>
          <a:p>
            <a:pPr algn="r" indent="0" marL="0">
              <a:lnSpc>
                <a:spcPts val="1755"/>
              </a:lnSpc>
              <a:buNone/>
            </a:pPr>
            <a:r>
              <a:rPr lang="en-US" sz="1350" b="1" dirty="0">
                <a:solidFill>
                  <a:srgbClr val="172433"/>
                </a:solidFill>
                <a:latin typeface="Readex Pro" pitchFamily="34" charset="0"/>
                <a:ea typeface="Readex Pro" pitchFamily="34" charset="-122"/>
                <a:cs typeface="Readex Pro" pitchFamily="34" charset="-120"/>
              </a:rPr>
              <a:t>CIPP/E · CIPM</a:t>
            </a:r>
            <a:endParaRPr lang="en-US" sz="1350" dirty="0"/>
          </a:p>
        </p:txBody>
      </p:sp>
      <p:sp>
        <p:nvSpPr>
          <p:cNvPr id="34" name="Shape 32"/>
          <p:cNvSpPr/>
          <p:nvPr/>
        </p:nvSpPr>
        <p:spPr>
          <a:xfrm>
            <a:off x="7961858" y="2419945"/>
            <a:ext cx="3414167" cy="2168327"/>
          </a:xfrm>
          <a:prstGeom prst="roundRect">
            <a:avLst>
              <a:gd name="adj" fmla="val 4539"/>
            </a:avLst>
          </a:prstGeom>
          <a:solidFill>
            <a:srgbClr val="FFFDF8"/>
          </a:solidFill>
          <a:ln w="6350">
            <a:solidFill>
              <a:srgbClr val="E1DBCD"/>
            </a:solidFill>
            <a:prstDash val="solid"/>
          </a:ln>
        </p:spPr>
      </p:sp>
      <p:sp>
        <p:nvSpPr>
          <p:cNvPr id="35" name="Text 33"/>
          <p:cNvSpPr/>
          <p:nvPr/>
        </p:nvSpPr>
        <p:spPr>
          <a:xfrm>
            <a:off x="8037805" y="2588220"/>
            <a:ext cx="3169945"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0E7C6B"/>
                </a:solidFill>
                <a:latin typeface="Readex Pro" pitchFamily="34" charset="0"/>
                <a:ea typeface="Readex Pro" pitchFamily="34" charset="-122"/>
                <a:cs typeface="Readex Pro" pitchFamily="34" charset="-120"/>
              </a:rPr>
              <a:t>البداية</a:t>
            </a:r>
            <a:endParaRPr lang="ar-SA" sz="1600" dirty="0" altLang="en-US"/>
          </a:p>
        </p:txBody>
      </p:sp>
      <p:sp>
        <p:nvSpPr>
          <p:cNvPr id="36" name="Text 34"/>
          <p:cNvSpPr/>
          <p:nvPr/>
        </p:nvSpPr>
        <p:spPr>
          <a:xfrm>
            <a:off x="8037805" y="2941241"/>
            <a:ext cx="3169945"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بلا خبرة. تثبت أنك تعرف الأساسيات.</a:t>
            </a:r>
            <a:endParaRPr lang="ar-SA" sz="1200" dirty="0" altLang="en-US"/>
          </a:p>
        </p:txBody>
      </p:sp>
      <p:sp>
        <p:nvSpPr>
          <p:cNvPr id="37" name="Shape 35"/>
          <p:cNvSpPr/>
          <p:nvPr/>
        </p:nvSpPr>
        <p:spPr>
          <a:xfrm>
            <a:off x="8130133" y="3243461"/>
            <a:ext cx="3077617" cy="349845"/>
          </a:xfrm>
          <a:prstGeom prst="roundRect">
            <a:avLst>
              <a:gd name="adj" fmla="val 18151"/>
            </a:avLst>
          </a:prstGeom>
          <a:solidFill>
            <a:srgbClr val="E3F1ED"/>
          </a:solidFill>
          <a:ln/>
        </p:spPr>
      </p:sp>
      <p:sp>
        <p:nvSpPr>
          <p:cNvPr id="38" name="Text 36"/>
          <p:cNvSpPr/>
          <p:nvPr/>
        </p:nvSpPr>
        <p:spPr>
          <a:xfrm>
            <a:off x="8164612" y="3319314"/>
            <a:ext cx="402729"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ISC2</a:t>
            </a:r>
            <a:endParaRPr lang="en-US" sz="1200" dirty="0"/>
          </a:p>
        </p:txBody>
      </p:sp>
      <p:sp>
        <p:nvSpPr>
          <p:cNvPr id="39" name="Text 37"/>
          <p:cNvSpPr/>
          <p:nvPr/>
        </p:nvSpPr>
        <p:spPr>
          <a:xfrm>
            <a:off x="10817671" y="3306961"/>
            <a:ext cx="288479" cy="248245"/>
          </a:xfrm>
          <a:prstGeom prst="rect">
            <a:avLst/>
          </a:prstGeom>
          <a:noFill/>
          <a:ln/>
        </p:spPr>
        <p:txBody>
          <a:bodyPr wrap="square" lIns="0" tIns="0" rIns="0" bIns="0" rtlCol="0" anchor="t">
            <a:normAutofit/>
          </a:bodyPr>
          <a:lstStyle/>
          <a:p>
            <a:pPr algn="r" indent="0" marL="0">
              <a:lnSpc>
                <a:spcPts val="1755"/>
              </a:lnSpc>
              <a:buNone/>
            </a:pPr>
            <a:r>
              <a:rPr lang="en-US" sz="1350" b="1" dirty="0">
                <a:solidFill>
                  <a:srgbClr val="172433"/>
                </a:solidFill>
                <a:latin typeface="Readex Pro" pitchFamily="34" charset="0"/>
                <a:ea typeface="Readex Pro" pitchFamily="34" charset="-122"/>
                <a:cs typeface="Readex Pro" pitchFamily="34" charset="-120"/>
              </a:rPr>
              <a:t>CC</a:t>
            </a:r>
            <a:endParaRPr lang="en-US" sz="1350" dirty="0"/>
          </a:p>
        </p:txBody>
      </p:sp>
      <p:sp>
        <p:nvSpPr>
          <p:cNvPr id="40" name="Shape 38"/>
          <p:cNvSpPr/>
          <p:nvPr/>
        </p:nvSpPr>
        <p:spPr>
          <a:xfrm>
            <a:off x="8130133" y="3656806"/>
            <a:ext cx="3077617" cy="349845"/>
          </a:xfrm>
          <a:prstGeom prst="roundRect">
            <a:avLst>
              <a:gd name="adj" fmla="val 18151"/>
            </a:avLst>
          </a:prstGeom>
          <a:solidFill>
            <a:srgbClr val="E3F1ED"/>
          </a:solidFill>
          <a:ln/>
        </p:spPr>
      </p:sp>
      <p:sp>
        <p:nvSpPr>
          <p:cNvPr id="41" name="Text 39"/>
          <p:cNvSpPr/>
          <p:nvPr/>
        </p:nvSpPr>
        <p:spPr>
          <a:xfrm>
            <a:off x="8130133" y="3732659"/>
            <a:ext cx="737146"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CompTIA</a:t>
            </a:r>
            <a:endParaRPr lang="en-US" sz="1200" dirty="0"/>
          </a:p>
        </p:txBody>
      </p:sp>
      <p:sp>
        <p:nvSpPr>
          <p:cNvPr id="42" name="Text 40"/>
          <p:cNvSpPr/>
          <p:nvPr/>
        </p:nvSpPr>
        <p:spPr>
          <a:xfrm>
            <a:off x="10117753" y="3720306"/>
            <a:ext cx="988397" cy="248245"/>
          </a:xfrm>
          <a:prstGeom prst="rect">
            <a:avLst/>
          </a:prstGeom>
          <a:noFill/>
          <a:ln/>
        </p:spPr>
        <p:txBody>
          <a:bodyPr wrap="square" lIns="0" tIns="0" rIns="0" bIns="0" rtlCol="0" anchor="t">
            <a:normAutofit/>
          </a:bodyPr>
          <a:lstStyle/>
          <a:p>
            <a:pPr algn="r" indent="0" marL="0">
              <a:lnSpc>
                <a:spcPts val="1755"/>
              </a:lnSpc>
              <a:buNone/>
            </a:pPr>
            <a:r>
              <a:rPr lang="en-US" sz="1350" b="1" dirty="0">
                <a:solidFill>
                  <a:srgbClr val="172433"/>
                </a:solidFill>
                <a:latin typeface="Readex Pro" pitchFamily="34" charset="0"/>
                <a:ea typeface="Readex Pro" pitchFamily="34" charset="-122"/>
                <a:cs typeface="Readex Pro" pitchFamily="34" charset="-120"/>
              </a:rPr>
              <a:t>Security+</a:t>
            </a:r>
            <a:endParaRPr lang="en-US" sz="1350" dirty="0"/>
          </a:p>
        </p:txBody>
      </p:sp>
      <p:sp>
        <p:nvSpPr>
          <p:cNvPr id="43" name="Shape 41"/>
          <p:cNvSpPr/>
          <p:nvPr/>
        </p:nvSpPr>
        <p:spPr>
          <a:xfrm>
            <a:off x="8130133" y="4070152"/>
            <a:ext cx="3077617" cy="349845"/>
          </a:xfrm>
          <a:prstGeom prst="roundRect">
            <a:avLst>
              <a:gd name="adj" fmla="val 18151"/>
            </a:avLst>
          </a:prstGeom>
          <a:solidFill>
            <a:srgbClr val="E3F1ED"/>
          </a:solidFill>
          <a:ln/>
        </p:spPr>
      </p:sp>
      <p:sp>
        <p:nvSpPr>
          <p:cNvPr id="44" name="Text 42"/>
          <p:cNvSpPr/>
          <p:nvPr/>
        </p:nvSpPr>
        <p:spPr>
          <a:xfrm>
            <a:off x="8144282" y="4146004"/>
            <a:ext cx="5247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ISACA</a:t>
            </a:r>
            <a:endParaRPr lang="en-US" sz="1200" dirty="0"/>
          </a:p>
        </p:txBody>
      </p:sp>
      <p:sp>
        <p:nvSpPr>
          <p:cNvPr id="45" name="Text 43"/>
          <p:cNvSpPr/>
          <p:nvPr/>
        </p:nvSpPr>
        <p:spPr>
          <a:xfrm>
            <a:off x="8834557" y="4133652"/>
            <a:ext cx="2271593" cy="248245"/>
          </a:xfrm>
          <a:prstGeom prst="rect">
            <a:avLst/>
          </a:prstGeom>
          <a:noFill/>
          <a:ln/>
        </p:spPr>
        <p:txBody>
          <a:bodyPr wrap="square" lIns="0" tIns="0" rIns="0" bIns="0" rtlCol="0" anchor="t">
            <a:normAutofit/>
          </a:bodyPr>
          <a:lstStyle/>
          <a:p>
            <a:pPr algn="r" indent="0" marL="0">
              <a:lnSpc>
                <a:spcPts val="1755"/>
              </a:lnSpc>
              <a:buNone/>
            </a:pPr>
            <a:r>
              <a:rPr lang="en-US" sz="1350" b="1" dirty="0">
                <a:solidFill>
                  <a:srgbClr val="172433"/>
                </a:solidFill>
                <a:latin typeface="Readex Pro" pitchFamily="34" charset="0"/>
                <a:ea typeface="Readex Pro" pitchFamily="34" charset="-122"/>
                <a:cs typeface="Readex Pro" pitchFamily="34" charset="-120"/>
              </a:rPr>
              <a:t>IT Risk Fundamentals</a:t>
            </a:r>
            <a:endParaRPr lang="en-US" sz="1350" dirty="0"/>
          </a:p>
        </p:txBody>
      </p:sp>
      <p:sp>
        <p:nvSpPr>
          <p:cNvPr id="46" name="Text 44"/>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29</a:t>
            </a:r>
            <a:endParaRPr lang="en-US" sz="1200" dirty="0"/>
          </a:p>
        </p:txBody>
      </p:sp>
      <p:sp>
        <p:nvSpPr>
          <p:cNvPr id="47" name="Text 45"/>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04 · الشهادات</a:t>
            </a:r>
            <a:endParaRPr lang="ar-SA" sz="1200" dirty="0"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580257" cy="289520"/>
          </a:xfrm>
          <a:custGeom>
            <a:avLst/>
            <a:gdLst/>
            <a:ahLst/>
            <a:cxnLst/>
            <a:rect l="l" t="t" r="r" b="b"/>
            <a:pathLst>
              <a:path w="1580257" h="289520">
                <a:moveTo>
                  <a:pt x="144760" y="0"/>
                </a:moveTo>
                <a:lnTo>
                  <a:pt x="1435497" y="0"/>
                </a:lnTo>
                <a:arcTo hR="144760" wR="144760" stAng="16200000" swAng="5400000"/>
                <a:lnTo>
                  <a:pt x="158025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04 · الشهادات</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شهادات البداية: بلا خبرة سابقة</a:t>
            </a:r>
            <a:endParaRPr lang="ar-SA" sz="3000" dirty="0" altLang="en-US"/>
          </a:p>
        </p:txBody>
      </p:sp>
      <p:sp>
        <p:nvSpPr>
          <p:cNvPr id="5" name="Shape 3"/>
          <p:cNvSpPr/>
          <p:nvPr/>
        </p:nvSpPr>
        <p:spPr>
          <a:xfrm>
            <a:off x="815975" y="1810345"/>
            <a:ext cx="5187950" cy="3074392"/>
          </a:xfrm>
          <a:prstGeom prst="roundRect">
            <a:avLst>
              <a:gd name="adj" fmla="val 3615"/>
            </a:avLst>
          </a:prstGeom>
          <a:solidFill>
            <a:srgbClr val="FFFDF8"/>
          </a:solidFill>
          <a:ln w="6350">
            <a:solidFill>
              <a:srgbClr val="E1DBCD"/>
            </a:solidFill>
            <a:prstDash val="solid"/>
          </a:ln>
        </p:spPr>
      </p:sp>
      <p:sp>
        <p:nvSpPr>
          <p:cNvPr id="6" name="Shape 4"/>
          <p:cNvSpPr/>
          <p:nvPr/>
        </p:nvSpPr>
        <p:spPr>
          <a:xfrm>
            <a:off x="819150" y="1813520"/>
            <a:ext cx="5181600" cy="863600"/>
          </a:xfrm>
          <a:custGeom>
            <a:avLst/>
            <a:gdLst/>
            <a:ahLst/>
            <a:cxnLst/>
            <a:rect l="l" t="t" r="r" b="b"/>
            <a:pathLst>
              <a:path w="5181600" h="863600">
                <a:moveTo>
                  <a:pt x="0" y="107950"/>
                </a:moveTo>
                <a:arcTo hR="107950" wR="107950" stAng="10800000" swAng="5400000"/>
                <a:lnTo>
                  <a:pt x="5073650" y="0"/>
                </a:lnTo>
                <a:arcTo hR="107950" wR="107950" stAng="16200000" swAng="5400000"/>
                <a:lnTo>
                  <a:pt x="5181600" y="863600"/>
                </a:lnTo>
                <a:lnTo>
                  <a:pt x="0" y="863600"/>
                </a:lnTo>
                <a:close/>
              </a:path>
            </a:pathLst>
          </a:custGeom>
          <a:solidFill>
            <a:srgbClr val="8A4B12"/>
          </a:solidFill>
          <a:ln/>
        </p:spPr>
      </p:sp>
      <p:sp>
        <p:nvSpPr>
          <p:cNvPr id="7" name="Text 5"/>
          <p:cNvSpPr/>
          <p:nvPr/>
        </p:nvSpPr>
        <p:spPr>
          <a:xfrm>
            <a:off x="879221" y="2014190"/>
            <a:ext cx="4042029"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CompTIA Security+</a:t>
            </a:r>
            <a:endParaRPr lang="en-US" sz="1400" dirty="0"/>
          </a:p>
        </p:txBody>
      </p:sp>
      <p:sp>
        <p:nvSpPr>
          <p:cNvPr id="8" name="Text 6"/>
          <p:cNvSpPr/>
          <p:nvPr/>
        </p:nvSpPr>
        <p:spPr>
          <a:xfrm>
            <a:off x="879221" y="2270720"/>
            <a:ext cx="404202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F1DCC3"/>
                </a:solidFill>
                <a:latin typeface="IBM Plex Sans Arabic" pitchFamily="34" charset="0"/>
                <a:ea typeface="IBM Plex Sans Arabic" pitchFamily="34" charset="-122"/>
                <a:cs typeface="IBM Plex Sans Arabic" pitchFamily="34" charset="-120"/>
              </a:rPr>
              <a:t>CompTIA · أساس تقني أوسع</a:t>
            </a:r>
            <a:endParaRPr lang="ar-SA" sz="1200" dirty="0" altLang="en-US"/>
          </a:p>
        </p:txBody>
      </p:sp>
      <p:sp>
        <p:nvSpPr>
          <p:cNvPr id="9" name="Text 7"/>
          <p:cNvSpPr/>
          <p:nvPr/>
        </p:nvSpPr>
        <p:spPr>
          <a:xfrm>
            <a:off x="5060950" y="1940520"/>
            <a:ext cx="762000" cy="609600"/>
          </a:xfrm>
          <a:prstGeom prst="roundRect">
            <a:avLst>
              <a:gd name="adj" fmla="val 20833"/>
            </a:avLst>
          </a:prstGeom>
          <a:solidFill>
            <a:srgbClr val="FFFDF8"/>
          </a:solidFill>
          <a:ln/>
        </p:spPr>
        <p:txBody>
          <a:bodyPr wrap="square" lIns="0" tIns="0" rIns="0" bIns="0" rtlCol="0" anchor="ctr">
            <a:normAutofit/>
          </a:bodyPr>
          <a:lstStyle/>
          <a:p>
            <a:pPr algn="ctr" indent="0" marL="0">
              <a:lnSpc>
                <a:spcPts val="1700"/>
              </a:lnSpc>
              <a:buNone/>
            </a:pPr>
            <a:r>
              <a:rPr lang="en-US" sz="1700" b="1" dirty="0">
                <a:solidFill>
                  <a:srgbClr val="8A4B12"/>
                </a:solidFill>
                <a:latin typeface="Readex Pro" pitchFamily="34" charset="0"/>
                <a:ea typeface="Readex Pro" pitchFamily="34" charset="-122"/>
                <a:cs typeface="Readex Pro" pitchFamily="34" charset="-120"/>
              </a:rPr>
              <a:t>SEC+</a:t>
            </a:r>
            <a:endParaRPr lang="en-US" sz="1700" dirty="0"/>
          </a:p>
        </p:txBody>
      </p:sp>
      <p:sp>
        <p:nvSpPr>
          <p:cNvPr id="10" name="Text 8"/>
          <p:cNvSpPr/>
          <p:nvPr/>
        </p:nvSpPr>
        <p:spPr>
          <a:xfrm>
            <a:off x="879983" y="2816820"/>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لا شرط رسمي؛ يُنصح بـ Network+ وسنتين في الأنظمة أو الأمن</a:t>
            </a:r>
            <a:endParaRPr lang="ar-SA" sz="1200" dirty="0" altLang="en-US"/>
          </a:p>
        </p:txBody>
      </p:sp>
      <p:sp>
        <p:nvSpPr>
          <p:cNvPr id="11" name="Text 9"/>
          <p:cNvSpPr/>
          <p:nvPr/>
        </p:nvSpPr>
        <p:spPr>
          <a:xfrm>
            <a:off x="4946650" y="2816820"/>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12" name="Text 10"/>
          <p:cNvSpPr/>
          <p:nvPr/>
        </p:nvSpPr>
        <p:spPr>
          <a:xfrm>
            <a:off x="879983" y="3106341"/>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حتى 90 سؤالاً في 90 دقيقة، منها أسئلة أداء عملية، والنجاح 750 من 900</a:t>
            </a:r>
            <a:endParaRPr lang="ar-SA" sz="1200" dirty="0" altLang="en-US"/>
          </a:p>
        </p:txBody>
      </p:sp>
      <p:sp>
        <p:nvSpPr>
          <p:cNvPr id="13" name="Text 11"/>
          <p:cNvSpPr/>
          <p:nvPr/>
        </p:nvSpPr>
        <p:spPr>
          <a:xfrm>
            <a:off x="4946650" y="310634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14" name="Text 12"/>
          <p:cNvSpPr/>
          <p:nvPr/>
        </p:nvSpPr>
        <p:spPr>
          <a:xfrm>
            <a:off x="879983" y="360918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تختلف حسب الدولة. </a:t>
            </a:r>
            <a:r>
              <a:rPr lang="ar-SA" sz="1200" b="1" dirty="0" altLang="en-US">
                <a:solidFill>
                  <a:srgbClr val="172433"/>
                </a:solidFill>
                <a:latin typeface="IBM Plex Sans Arabic" pitchFamily="34" charset="0"/>
                <a:ea typeface="IBM Plex Sans Arabic" pitchFamily="34" charset="-122"/>
                <a:cs typeface="IBM Plex Sans Arabic" pitchFamily="34" charset="-120"/>
              </a:rPr>
              <a:t>لم نتحقق</a:t>
            </a:r>
            <a:r>
              <a:rPr lang="ar-SA" sz="1200" dirty="0" altLang="en-US">
                <a:solidFill>
                  <a:srgbClr val="172433"/>
                </a:solidFill>
                <a:latin typeface="IBM Plex Sans Arabic" pitchFamily="34" charset="0"/>
                <a:ea typeface="IBM Plex Sans Arabic" pitchFamily="34" charset="-122"/>
                <a:cs typeface="IBM Plex Sans Arabic" pitchFamily="34" charset="-120"/>
              </a:rPr>
              <a:t> من السعر الرسمي</a:t>
            </a:r>
            <a:endParaRPr lang="ar-SA" sz="1200" dirty="0" altLang="en-US"/>
          </a:p>
        </p:txBody>
      </p:sp>
      <p:sp>
        <p:nvSpPr>
          <p:cNvPr id="15" name="Text 13"/>
          <p:cNvSpPr/>
          <p:nvPr/>
        </p:nvSpPr>
        <p:spPr>
          <a:xfrm>
            <a:off x="4946650" y="360918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16" name="Text 14"/>
          <p:cNvSpPr/>
          <p:nvPr/>
        </p:nvSpPr>
        <p:spPr>
          <a:xfrm>
            <a:off x="879983" y="3898702"/>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كل 3 سنوات: 50 وحدة تعليم مستمر و150 دولاراً</a:t>
            </a:r>
            <a:endParaRPr lang="ar-SA" sz="1200" dirty="0" altLang="en-US"/>
          </a:p>
        </p:txBody>
      </p:sp>
      <p:sp>
        <p:nvSpPr>
          <p:cNvPr id="17" name="Text 15"/>
          <p:cNvSpPr/>
          <p:nvPr/>
        </p:nvSpPr>
        <p:spPr>
          <a:xfrm>
            <a:off x="4946650" y="3898702"/>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18" name="Shape 16"/>
          <p:cNvSpPr/>
          <p:nvPr/>
        </p:nvSpPr>
        <p:spPr>
          <a:xfrm>
            <a:off x="996950" y="4188222"/>
            <a:ext cx="4826000" cy="553641"/>
          </a:xfrm>
          <a:prstGeom prst="roundRect">
            <a:avLst>
              <a:gd name="adj" fmla="val 11470"/>
            </a:avLst>
          </a:prstGeom>
          <a:solidFill>
            <a:srgbClr val="F6ECDA"/>
          </a:solidFill>
          <a:ln/>
        </p:spPr>
      </p:sp>
      <p:sp>
        <p:nvSpPr>
          <p:cNvPr id="19" name="Text 17"/>
          <p:cNvSpPr/>
          <p:nvPr/>
        </p:nvSpPr>
        <p:spPr>
          <a:xfrm>
            <a:off x="953643" y="4251722"/>
            <a:ext cx="453910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إصدار جديد SY0-801 نحو 17 نوفمبر 2026، والحالي SY0-701 يتوقف بالإنجليزية في 11 يونيو 2027.</a:t>
            </a:r>
            <a:endParaRPr lang="ar-SA" sz="1200" dirty="0" altLang="en-US"/>
          </a:p>
        </p:txBody>
      </p:sp>
      <p:pic>
        <p:nvPicPr>
          <p:cNvPr id="20" name="Image 0" descr="Warning">    </p:cNvPr>
          <p:cNvPicPr>
            <a:picLocks noChangeAspect="1"/>
          </p:cNvPicPr>
          <p:nvPr/>
        </p:nvPicPr>
        <p:blipFill>
          <a:blip r:embed="rId1"/>
          <a:srcRect l="0" r="0" t="0" b="0"/>
          <a:stretch/>
        </p:blipFill>
        <p:spPr>
          <a:xfrm>
            <a:off x="5568950" y="4251722"/>
            <a:ext cx="165100" cy="165100"/>
          </a:xfrm>
          <a:prstGeom prst="rect">
            <a:avLst/>
          </a:prstGeom>
        </p:spPr>
      </p:pic>
      <p:sp>
        <p:nvSpPr>
          <p:cNvPr id="21" name="Shape 18"/>
          <p:cNvSpPr/>
          <p:nvPr/>
        </p:nvSpPr>
        <p:spPr>
          <a:xfrm>
            <a:off x="6188075" y="1810345"/>
            <a:ext cx="5187950" cy="3074392"/>
          </a:xfrm>
          <a:prstGeom prst="roundRect">
            <a:avLst>
              <a:gd name="adj" fmla="val 3615"/>
            </a:avLst>
          </a:prstGeom>
          <a:solidFill>
            <a:srgbClr val="FFFDF8"/>
          </a:solidFill>
          <a:ln w="6350">
            <a:solidFill>
              <a:srgbClr val="E1DBCD"/>
            </a:solidFill>
            <a:prstDash val="solid"/>
          </a:ln>
        </p:spPr>
      </p:sp>
      <p:sp>
        <p:nvSpPr>
          <p:cNvPr id="22" name="Shape 19"/>
          <p:cNvSpPr/>
          <p:nvPr/>
        </p:nvSpPr>
        <p:spPr>
          <a:xfrm>
            <a:off x="6191250" y="1813520"/>
            <a:ext cx="5181600" cy="863600"/>
          </a:xfrm>
          <a:custGeom>
            <a:avLst/>
            <a:gdLst/>
            <a:ahLst/>
            <a:cxnLst/>
            <a:rect l="l" t="t" r="r" b="b"/>
            <a:pathLst>
              <a:path w="5181600" h="863600">
                <a:moveTo>
                  <a:pt x="0" y="107950"/>
                </a:moveTo>
                <a:arcTo hR="107950" wR="107950" stAng="10800000" swAng="5400000"/>
                <a:lnTo>
                  <a:pt x="5073650" y="0"/>
                </a:lnTo>
                <a:arcTo hR="107950" wR="107950" stAng="16200000" swAng="5400000"/>
                <a:lnTo>
                  <a:pt x="5181600" y="863600"/>
                </a:lnTo>
                <a:lnTo>
                  <a:pt x="0" y="863600"/>
                </a:lnTo>
                <a:close/>
              </a:path>
            </a:pathLst>
          </a:custGeom>
          <a:solidFill>
            <a:srgbClr val="24506B"/>
          </a:solidFill>
          <a:ln/>
        </p:spPr>
      </p:sp>
      <p:sp>
        <p:nvSpPr>
          <p:cNvPr id="23" name="Text 20"/>
          <p:cNvSpPr/>
          <p:nvPr/>
        </p:nvSpPr>
        <p:spPr>
          <a:xfrm>
            <a:off x="6251321" y="2014190"/>
            <a:ext cx="4042029"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Certified in Cybersecurity</a:t>
            </a:r>
            <a:endParaRPr lang="en-US" sz="1400" dirty="0"/>
          </a:p>
        </p:txBody>
      </p:sp>
      <p:sp>
        <p:nvSpPr>
          <p:cNvPr id="24" name="Text 21"/>
          <p:cNvSpPr/>
          <p:nvPr/>
        </p:nvSpPr>
        <p:spPr>
          <a:xfrm>
            <a:off x="6251321" y="2270720"/>
            <a:ext cx="404202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CFE0EA"/>
                </a:solidFill>
                <a:latin typeface="IBM Plex Sans Arabic" pitchFamily="34" charset="0"/>
                <a:ea typeface="IBM Plex Sans Arabic" pitchFamily="34" charset="-122"/>
                <a:cs typeface="IBM Plex Sans Arabic" pitchFamily="34" charset="-120"/>
              </a:rPr>
              <a:t>ISC2 · أول شهادة لحديث التخرج</a:t>
            </a:r>
            <a:endParaRPr lang="ar-SA" sz="1200" dirty="0" altLang="en-US"/>
          </a:p>
        </p:txBody>
      </p:sp>
      <p:sp>
        <p:nvSpPr>
          <p:cNvPr id="25" name="Text 22"/>
          <p:cNvSpPr/>
          <p:nvPr/>
        </p:nvSpPr>
        <p:spPr>
          <a:xfrm>
            <a:off x="10433050" y="1940520"/>
            <a:ext cx="762000" cy="609600"/>
          </a:xfrm>
          <a:prstGeom prst="roundRect">
            <a:avLst>
              <a:gd name="adj" fmla="val 20833"/>
            </a:avLst>
          </a:prstGeom>
          <a:solidFill>
            <a:srgbClr val="FFFDF8"/>
          </a:solidFill>
          <a:ln/>
        </p:spPr>
        <p:txBody>
          <a:bodyPr wrap="square" lIns="0" tIns="0" rIns="0" bIns="0" rtlCol="0" anchor="ctr">
            <a:normAutofit/>
          </a:bodyPr>
          <a:lstStyle/>
          <a:p>
            <a:pPr algn="ctr" indent="0" marL="0">
              <a:lnSpc>
                <a:spcPts val="1700"/>
              </a:lnSpc>
              <a:buNone/>
            </a:pPr>
            <a:r>
              <a:rPr lang="en-US" sz="1700" b="1" dirty="0">
                <a:solidFill>
                  <a:srgbClr val="24506B"/>
                </a:solidFill>
                <a:latin typeface="Readex Pro" pitchFamily="34" charset="0"/>
                <a:ea typeface="Readex Pro" pitchFamily="34" charset="-122"/>
                <a:cs typeface="Readex Pro" pitchFamily="34" charset="-120"/>
              </a:rPr>
              <a:t>CC</a:t>
            </a:r>
            <a:endParaRPr lang="en-US" sz="1700" dirty="0"/>
          </a:p>
        </p:txBody>
      </p:sp>
      <p:sp>
        <p:nvSpPr>
          <p:cNvPr id="26" name="Text 23"/>
          <p:cNvSpPr/>
          <p:nvPr/>
        </p:nvSpPr>
        <p:spPr>
          <a:xfrm>
            <a:off x="6252083" y="2816820"/>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لا يشترط خبرة</a:t>
            </a:r>
            <a:endParaRPr lang="ar-SA" sz="1200" dirty="0" altLang="en-US"/>
          </a:p>
        </p:txBody>
      </p:sp>
      <p:sp>
        <p:nvSpPr>
          <p:cNvPr id="27" name="Text 24"/>
          <p:cNvSpPr/>
          <p:nvPr/>
        </p:nvSpPr>
        <p:spPr>
          <a:xfrm>
            <a:off x="10318750" y="2816820"/>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28" name="Text 25"/>
          <p:cNvSpPr/>
          <p:nvPr/>
        </p:nvSpPr>
        <p:spPr>
          <a:xfrm>
            <a:off x="6252083" y="3106341"/>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100 إلى 125 سؤالاً في ساعتين، تكيفي (CAT)، والنجاح 700 من 1000</a:t>
            </a:r>
            <a:endParaRPr lang="ar-SA" sz="1200" dirty="0" altLang="en-US"/>
          </a:p>
        </p:txBody>
      </p:sp>
      <p:sp>
        <p:nvSpPr>
          <p:cNvPr id="29" name="Text 26"/>
          <p:cNvSpPr/>
          <p:nvPr/>
        </p:nvSpPr>
        <p:spPr>
          <a:xfrm>
            <a:off x="10318750" y="310634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30" name="Text 27"/>
          <p:cNvSpPr/>
          <p:nvPr/>
        </p:nvSpPr>
        <p:spPr>
          <a:xfrm>
            <a:off x="6252083" y="360918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199 دولاراً للاختبار، ثم 50 دولاراً سنوياً بعد النجاح</a:t>
            </a:r>
            <a:endParaRPr lang="ar-SA" sz="1200" dirty="0" altLang="en-US"/>
          </a:p>
        </p:txBody>
      </p:sp>
      <p:sp>
        <p:nvSpPr>
          <p:cNvPr id="31" name="Text 28"/>
          <p:cNvSpPr/>
          <p:nvPr/>
        </p:nvSpPr>
        <p:spPr>
          <a:xfrm>
            <a:off x="10318750" y="360918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32" name="Text 29"/>
          <p:cNvSpPr/>
          <p:nvPr/>
        </p:nvSpPr>
        <p:spPr>
          <a:xfrm>
            <a:off x="6252083" y="3898702"/>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45 ساعة تعليم مستمر (CPE) كل 3 سنوات</a:t>
            </a:r>
            <a:endParaRPr lang="ar-SA" sz="1200" dirty="0" altLang="en-US"/>
          </a:p>
        </p:txBody>
      </p:sp>
      <p:sp>
        <p:nvSpPr>
          <p:cNvPr id="33" name="Text 30"/>
          <p:cNvSpPr/>
          <p:nvPr/>
        </p:nvSpPr>
        <p:spPr>
          <a:xfrm>
            <a:off x="10318750" y="3898702"/>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34" name="Shape 31"/>
          <p:cNvSpPr/>
          <p:nvPr/>
        </p:nvSpPr>
        <p:spPr>
          <a:xfrm>
            <a:off x="6369050" y="4188222"/>
            <a:ext cx="4826000" cy="340320"/>
          </a:xfrm>
          <a:prstGeom prst="roundRect">
            <a:avLst>
              <a:gd name="adj" fmla="val 18659"/>
            </a:avLst>
          </a:prstGeom>
          <a:solidFill>
            <a:srgbClr val="F6ECDA"/>
          </a:solidFill>
          <a:ln/>
        </p:spPr>
      </p:sp>
      <p:sp>
        <p:nvSpPr>
          <p:cNvPr id="35" name="Text 32"/>
          <p:cNvSpPr/>
          <p:nvPr/>
        </p:nvSpPr>
        <p:spPr>
          <a:xfrm>
            <a:off x="6325743" y="4251722"/>
            <a:ext cx="4539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انتهى عرض الاختبار المجاني، وأُغلق التسجيل فيه في 20 مايو 2026.</a:t>
            </a:r>
            <a:endParaRPr lang="ar-SA" sz="1200" dirty="0" altLang="en-US"/>
          </a:p>
        </p:txBody>
      </p:sp>
      <p:pic>
        <p:nvPicPr>
          <p:cNvPr id="36" name="Image 1" descr="Warning">    </p:cNvPr>
          <p:cNvPicPr>
            <a:picLocks noChangeAspect="1"/>
          </p:cNvPicPr>
          <p:nvPr/>
        </p:nvPicPr>
        <p:blipFill>
          <a:blip r:embed="rId2"/>
          <a:srcRect l="0" r="0" t="0" b="0"/>
          <a:stretch/>
        </p:blipFill>
        <p:spPr>
          <a:xfrm>
            <a:off x="10941050" y="4251722"/>
            <a:ext cx="165100" cy="165100"/>
          </a:xfrm>
          <a:prstGeom prst="rect">
            <a:avLst/>
          </a:prstGeom>
        </p:spPr>
      </p:pic>
      <p:sp>
        <p:nvSpPr>
          <p:cNvPr id="37" name="Shape 33"/>
          <p:cNvSpPr/>
          <p:nvPr/>
        </p:nvSpPr>
        <p:spPr>
          <a:xfrm>
            <a:off x="812800" y="5040313"/>
            <a:ext cx="10566400" cy="391120"/>
          </a:xfrm>
          <a:prstGeom prst="roundRect">
            <a:avLst>
              <a:gd name="adj" fmla="val 22730"/>
            </a:avLst>
          </a:prstGeom>
          <a:solidFill>
            <a:srgbClr val="E3F1ED"/>
          </a:solidFill>
          <a:ln/>
        </p:spPr>
      </p:sp>
      <p:sp>
        <p:nvSpPr>
          <p:cNvPr id="38" name="Text 34"/>
          <p:cNvSpPr/>
          <p:nvPr/>
        </p:nvSpPr>
        <p:spPr>
          <a:xfrm>
            <a:off x="665353" y="5129213"/>
            <a:ext cx="1029474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وأيضاً:</a:t>
            </a:r>
            <a:r>
              <a:rPr lang="ar-SA" sz="1200" dirty="0" altLang="en-US">
                <a:solidFill>
                  <a:srgbClr val="172433"/>
                </a:solidFill>
                <a:latin typeface="IBM Plex Sans Arabic" pitchFamily="34" charset="0"/>
                <a:ea typeface="IBM Plex Sans Arabic" pitchFamily="34" charset="-122"/>
                <a:cs typeface="IBM Plex Sans Arabic" pitchFamily="34" charset="-120"/>
              </a:rPr>
              <a:t> IT Risk Fundamentals من ISACA، شهادة إتمام بلا شروط، واختبار عن بعد مدته ساعتان، بـ 175 دولاراً للأعضاء و225 لغيرهم.</a:t>
            </a:r>
            <a:endParaRPr lang="ar-SA" sz="1200" dirty="0" altLang="en-US"/>
          </a:p>
        </p:txBody>
      </p:sp>
      <p:pic>
        <p:nvPicPr>
          <p:cNvPr id="39" name="Image 2" descr="Lightbulb">    </p:cNvPr>
          <p:cNvPicPr>
            <a:picLocks noChangeAspect="1"/>
          </p:cNvPicPr>
          <p:nvPr/>
        </p:nvPicPr>
        <p:blipFill>
          <a:blip r:embed="rId3"/>
          <a:srcRect l="0" r="0" t="0" b="0"/>
          <a:stretch/>
        </p:blipFill>
        <p:spPr>
          <a:xfrm>
            <a:off x="11049000" y="5146973"/>
            <a:ext cx="177800" cy="177800"/>
          </a:xfrm>
          <a:prstGeom prst="rect">
            <a:avLst/>
          </a:prstGeom>
        </p:spPr>
      </p:pic>
      <p:sp>
        <p:nvSpPr>
          <p:cNvPr id="40" name="Text 35"/>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30</a:t>
            </a:r>
            <a:endParaRPr lang="en-US" sz="1200" dirty="0"/>
          </a:p>
        </p:txBody>
      </p:sp>
      <p:sp>
        <p:nvSpPr>
          <p:cNvPr id="41" name="Text 36"/>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04 · الشهادات · الأسعار بالدولار الأمريكي كما في 27 أكتوبر 2026</a:t>
            </a:r>
            <a:endParaRPr lang="ar-SA" sz="1200" dirty="0"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580257" cy="289520"/>
          </a:xfrm>
          <a:custGeom>
            <a:avLst/>
            <a:gdLst/>
            <a:ahLst/>
            <a:cxnLst/>
            <a:rect l="l" t="t" r="r" b="b"/>
            <a:pathLst>
              <a:path w="1580257" h="289520">
                <a:moveTo>
                  <a:pt x="144760" y="0"/>
                </a:moveTo>
                <a:lnTo>
                  <a:pt x="1435497" y="0"/>
                </a:lnTo>
                <a:arcTo hR="144760" wR="144760" stAng="16200000" swAng="5400000"/>
                <a:lnTo>
                  <a:pt x="158025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04 · الشهادات</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شهادات متخصصة في GRC ومعيار ISO 27001</a:t>
            </a:r>
            <a:endParaRPr lang="ar-SA" sz="3000" dirty="0" altLang="en-US"/>
          </a:p>
        </p:txBody>
      </p:sp>
      <p:sp>
        <p:nvSpPr>
          <p:cNvPr id="5" name="Shape 3"/>
          <p:cNvSpPr/>
          <p:nvPr/>
        </p:nvSpPr>
        <p:spPr>
          <a:xfrm>
            <a:off x="815975" y="1810345"/>
            <a:ext cx="5187950" cy="3074392"/>
          </a:xfrm>
          <a:prstGeom prst="roundRect">
            <a:avLst>
              <a:gd name="adj" fmla="val 3615"/>
            </a:avLst>
          </a:prstGeom>
          <a:solidFill>
            <a:srgbClr val="FFFDF8"/>
          </a:solidFill>
          <a:ln w="6350">
            <a:solidFill>
              <a:srgbClr val="E1DBCD"/>
            </a:solidFill>
            <a:prstDash val="solid"/>
          </a:ln>
        </p:spPr>
      </p:sp>
      <p:sp>
        <p:nvSpPr>
          <p:cNvPr id="6" name="Shape 4"/>
          <p:cNvSpPr/>
          <p:nvPr/>
        </p:nvSpPr>
        <p:spPr>
          <a:xfrm>
            <a:off x="819150" y="1813520"/>
            <a:ext cx="5181600" cy="863600"/>
          </a:xfrm>
          <a:custGeom>
            <a:avLst/>
            <a:gdLst/>
            <a:ahLst/>
            <a:cxnLst/>
            <a:rect l="l" t="t" r="r" b="b"/>
            <a:pathLst>
              <a:path w="5181600" h="863600">
                <a:moveTo>
                  <a:pt x="0" y="107950"/>
                </a:moveTo>
                <a:arcTo hR="107950" wR="107950" stAng="10800000" swAng="5400000"/>
                <a:lnTo>
                  <a:pt x="5073650" y="0"/>
                </a:lnTo>
                <a:arcTo hR="107950" wR="107950" stAng="16200000" swAng="5400000"/>
                <a:lnTo>
                  <a:pt x="5181600" y="863600"/>
                </a:lnTo>
                <a:lnTo>
                  <a:pt x="0" y="863600"/>
                </a:lnTo>
                <a:close/>
              </a:path>
            </a:pathLst>
          </a:custGeom>
          <a:solidFill>
            <a:srgbClr val="7A4A0E"/>
          </a:solidFill>
          <a:ln/>
        </p:spPr>
      </p:sp>
      <p:sp>
        <p:nvSpPr>
          <p:cNvPr id="7" name="Text 5"/>
          <p:cNvSpPr/>
          <p:nvPr/>
        </p:nvSpPr>
        <p:spPr>
          <a:xfrm>
            <a:off x="879221" y="2014190"/>
            <a:ext cx="4042029"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ISO 27001 Lead Implementer / Auditor</a:t>
            </a:r>
            <a:endParaRPr lang="en-US" sz="1400" dirty="0"/>
          </a:p>
        </p:txBody>
      </p:sp>
      <p:sp>
        <p:nvSpPr>
          <p:cNvPr id="8" name="Text 6"/>
          <p:cNvSpPr/>
          <p:nvPr/>
        </p:nvSpPr>
        <p:spPr>
          <a:xfrm>
            <a:off x="879221" y="2270720"/>
            <a:ext cx="404202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F1DCC3"/>
                </a:solidFill>
                <a:latin typeface="IBM Plex Sans Arabic" pitchFamily="34" charset="0"/>
                <a:ea typeface="IBM Plex Sans Arabic" pitchFamily="34" charset="-122"/>
                <a:cs typeface="IBM Plex Sans Arabic" pitchFamily="34" charset="-120"/>
              </a:rPr>
              <a:t>PECB مثالاً · LI للتطبيق، LA للتدقيق</a:t>
            </a:r>
            <a:endParaRPr lang="ar-SA" sz="1200" dirty="0" altLang="en-US"/>
          </a:p>
        </p:txBody>
      </p:sp>
      <p:sp>
        <p:nvSpPr>
          <p:cNvPr id="9" name="Text 7"/>
          <p:cNvSpPr/>
          <p:nvPr/>
        </p:nvSpPr>
        <p:spPr>
          <a:xfrm>
            <a:off x="5060950" y="1940520"/>
            <a:ext cx="762000" cy="609600"/>
          </a:xfrm>
          <a:custGeom>
            <a:avLst/>
            <a:gdLst/>
            <a:ahLst/>
            <a:cxnLst/>
            <a:rect l="l" t="t" r="r" b="b"/>
            <a:pathLst>
              <a:path w="762000" h="609600">
                <a:moveTo>
                  <a:pt x="127000" y="0"/>
                </a:moveTo>
                <a:lnTo>
                  <a:pt x="635000" y="0"/>
                </a:lnTo>
                <a:arcTo hR="127000" wR="127000" stAng="16200000" swAng="5400000"/>
                <a:lnTo>
                  <a:pt x="762000" y="482600"/>
                </a:lnTo>
                <a:arcTo hR="127000" wR="127000" stAng="0" swAng="5400000"/>
                <a:lnTo>
                  <a:pt x="127000" y="609600"/>
                </a:lnTo>
                <a:arcTo hR="127000" wR="127000" stAng="5400000" swAng="5400000"/>
                <a:lnTo>
                  <a:pt x="0" y="127000"/>
                </a:lnTo>
                <a:arcTo hR="127000" wR="127000" stAng="10800000" swAng="5400000"/>
                <a:close/>
              </a:path>
            </a:pathLst>
          </a:custGeom>
          <a:solidFill>
            <a:srgbClr val="FFFDF8"/>
          </a:solidFill>
          <a:ln/>
        </p:spPr>
        <p:txBody>
          <a:bodyPr wrap="square" lIns="0" tIns="0" rIns="0" bIns="0" rtlCol="0" anchor="ctr">
            <a:normAutofit/>
          </a:bodyPr>
          <a:lstStyle/>
          <a:p>
            <a:pPr algn="ctr" indent="0" marL="0">
              <a:lnSpc>
                <a:spcPts val="1700"/>
              </a:lnSpc>
              <a:buNone/>
            </a:pPr>
            <a:r>
              <a:rPr lang="en-US" sz="1700" b="1" dirty="0">
                <a:solidFill>
                  <a:srgbClr val="7A4A0E"/>
                </a:solidFill>
                <a:latin typeface="Readex Pro" pitchFamily="34" charset="0"/>
                <a:ea typeface="Readex Pro" pitchFamily="34" charset="-122"/>
                <a:cs typeface="Readex Pro" pitchFamily="34" charset="-120"/>
              </a:rPr>
              <a:t>27001</a:t>
            </a:r>
            <a:endParaRPr lang="en-US" sz="1700" dirty="0"/>
          </a:p>
        </p:txBody>
      </p:sp>
      <p:sp>
        <p:nvSpPr>
          <p:cNvPr id="10" name="Text 8"/>
          <p:cNvSpPr/>
          <p:nvPr/>
        </p:nvSpPr>
        <p:spPr>
          <a:xfrm>
            <a:off x="879983" y="2816820"/>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درجة «Provisional» بالاختبار فقط. لقب «Lead» يحتاج 5 سنوات، منها سنتان في إدارة أمن المعلومات</a:t>
            </a:r>
            <a:endParaRPr lang="ar-SA" sz="1200" dirty="0" altLang="en-US"/>
          </a:p>
        </p:txBody>
      </p:sp>
      <p:sp>
        <p:nvSpPr>
          <p:cNvPr id="11" name="Text 9"/>
          <p:cNvSpPr/>
          <p:nvPr/>
        </p:nvSpPr>
        <p:spPr>
          <a:xfrm>
            <a:off x="4946650" y="2816820"/>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12" name="Text 10"/>
          <p:cNvSpPr/>
          <p:nvPr/>
        </p:nvSpPr>
        <p:spPr>
          <a:xfrm>
            <a:off x="879983" y="331966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80 سؤالاً، بكتاب مفتوح، والنجاح 70%</a:t>
            </a:r>
            <a:endParaRPr lang="ar-SA" sz="1200" dirty="0" altLang="en-US"/>
          </a:p>
        </p:txBody>
      </p:sp>
      <p:sp>
        <p:nvSpPr>
          <p:cNvPr id="13" name="Text 11"/>
          <p:cNvSpPr/>
          <p:nvPr/>
        </p:nvSpPr>
        <p:spPr>
          <a:xfrm>
            <a:off x="4946650" y="331966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14" name="Text 12"/>
          <p:cNvSpPr/>
          <p:nvPr/>
        </p:nvSpPr>
        <p:spPr>
          <a:xfrm>
            <a:off x="879983" y="3609181"/>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حسب جهة التدريب. بلا تدريب عند PECB: ‏1,000 دولار للاختبار و500 للطلب</a:t>
            </a:r>
            <a:endParaRPr lang="ar-SA" sz="1200" dirty="0" altLang="en-US"/>
          </a:p>
        </p:txBody>
      </p:sp>
      <p:sp>
        <p:nvSpPr>
          <p:cNvPr id="15" name="Text 13"/>
          <p:cNvSpPr/>
          <p:nvPr/>
        </p:nvSpPr>
        <p:spPr>
          <a:xfrm>
            <a:off x="4946650" y="360918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16" name="Text 14"/>
          <p:cNvSpPr/>
          <p:nvPr/>
        </p:nvSpPr>
        <p:spPr>
          <a:xfrm>
            <a:off x="879983" y="4112022"/>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كل 3 سنوات، بساعات تطوير مهني ورسم سنوي</a:t>
            </a:r>
            <a:endParaRPr lang="ar-SA" sz="1200" dirty="0" altLang="en-US"/>
          </a:p>
        </p:txBody>
      </p:sp>
      <p:sp>
        <p:nvSpPr>
          <p:cNvPr id="17" name="Text 15"/>
          <p:cNvSpPr/>
          <p:nvPr/>
        </p:nvSpPr>
        <p:spPr>
          <a:xfrm>
            <a:off x="4946650" y="4112022"/>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18" name="Shape 16"/>
          <p:cNvSpPr/>
          <p:nvPr/>
        </p:nvSpPr>
        <p:spPr>
          <a:xfrm>
            <a:off x="996950" y="4401542"/>
            <a:ext cx="4826000" cy="340320"/>
          </a:xfrm>
          <a:prstGeom prst="roundRect">
            <a:avLst>
              <a:gd name="adj" fmla="val 18659"/>
            </a:avLst>
          </a:prstGeom>
          <a:solidFill>
            <a:srgbClr val="E3F1ED"/>
          </a:solidFill>
          <a:ln/>
        </p:spPr>
      </p:sp>
      <p:sp>
        <p:nvSpPr>
          <p:cNvPr id="19" name="Text 17"/>
          <p:cNvSpPr/>
          <p:nvPr/>
        </p:nvSpPr>
        <p:spPr>
          <a:xfrm>
            <a:off x="953643" y="4465042"/>
            <a:ext cx="4539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الدورة 5 أيام عادة. وجهات أخرى، مثل BSI، تقدمها بشروط مختلفة.</a:t>
            </a:r>
            <a:endParaRPr lang="ar-SA" sz="1200" dirty="0" altLang="en-US"/>
          </a:p>
        </p:txBody>
      </p:sp>
      <p:pic>
        <p:nvPicPr>
          <p:cNvPr id="20" name="Image 0" descr="Lightbulb">    </p:cNvPr>
          <p:cNvPicPr>
            <a:picLocks noChangeAspect="1"/>
          </p:cNvPicPr>
          <p:nvPr/>
        </p:nvPicPr>
        <p:blipFill>
          <a:blip r:embed="rId1"/>
          <a:srcRect l="0" r="0" t="0" b="0"/>
          <a:stretch/>
        </p:blipFill>
        <p:spPr>
          <a:xfrm>
            <a:off x="5568950" y="4465042"/>
            <a:ext cx="165100" cy="165100"/>
          </a:xfrm>
          <a:prstGeom prst="rect">
            <a:avLst/>
          </a:prstGeom>
        </p:spPr>
      </p:pic>
      <p:sp>
        <p:nvSpPr>
          <p:cNvPr id="21" name="Shape 18"/>
          <p:cNvSpPr/>
          <p:nvPr/>
        </p:nvSpPr>
        <p:spPr>
          <a:xfrm>
            <a:off x="6188075" y="1810345"/>
            <a:ext cx="5187950" cy="3074392"/>
          </a:xfrm>
          <a:prstGeom prst="roundRect">
            <a:avLst>
              <a:gd name="adj" fmla="val 3615"/>
            </a:avLst>
          </a:prstGeom>
          <a:solidFill>
            <a:srgbClr val="FFFDF8"/>
          </a:solidFill>
          <a:ln w="6350">
            <a:solidFill>
              <a:srgbClr val="E1DBCD"/>
            </a:solidFill>
            <a:prstDash val="solid"/>
          </a:ln>
        </p:spPr>
      </p:sp>
      <p:sp>
        <p:nvSpPr>
          <p:cNvPr id="22" name="Shape 19"/>
          <p:cNvSpPr/>
          <p:nvPr/>
        </p:nvSpPr>
        <p:spPr>
          <a:xfrm>
            <a:off x="6191250" y="1813520"/>
            <a:ext cx="5181600" cy="863600"/>
          </a:xfrm>
          <a:custGeom>
            <a:avLst/>
            <a:gdLst/>
            <a:ahLst/>
            <a:cxnLst/>
            <a:rect l="l" t="t" r="r" b="b"/>
            <a:pathLst>
              <a:path w="5181600" h="863600">
                <a:moveTo>
                  <a:pt x="0" y="107950"/>
                </a:moveTo>
                <a:arcTo hR="107950" wR="107950" stAng="10800000" swAng="5400000"/>
                <a:lnTo>
                  <a:pt x="5073650" y="0"/>
                </a:lnTo>
                <a:arcTo hR="107950" wR="107950" stAng="16200000" swAng="5400000"/>
                <a:lnTo>
                  <a:pt x="5181600" y="863600"/>
                </a:lnTo>
                <a:lnTo>
                  <a:pt x="0" y="863600"/>
                </a:lnTo>
                <a:close/>
              </a:path>
            </a:pathLst>
          </a:custGeom>
          <a:solidFill>
            <a:srgbClr val="2F5C92"/>
          </a:solidFill>
          <a:ln/>
        </p:spPr>
      </p:sp>
      <p:sp>
        <p:nvSpPr>
          <p:cNvPr id="23" name="Text 20"/>
          <p:cNvSpPr/>
          <p:nvPr/>
        </p:nvSpPr>
        <p:spPr>
          <a:xfrm>
            <a:off x="6251321" y="2014190"/>
            <a:ext cx="4042029"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GRC Professional</a:t>
            </a:r>
            <a:endParaRPr lang="en-US" sz="1400" dirty="0"/>
          </a:p>
        </p:txBody>
      </p:sp>
      <p:sp>
        <p:nvSpPr>
          <p:cNvPr id="24" name="Text 21"/>
          <p:cNvSpPr/>
          <p:nvPr/>
        </p:nvSpPr>
        <p:spPr>
          <a:xfrm>
            <a:off x="6251321" y="2270720"/>
            <a:ext cx="404202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D6E2F0"/>
                </a:solidFill>
                <a:latin typeface="IBM Plex Sans Arabic" pitchFamily="34" charset="0"/>
                <a:ea typeface="IBM Plex Sans Arabic" pitchFamily="34" charset="-122"/>
                <a:cs typeface="IBM Plex Sans Arabic" pitchFamily="34" charset="-120"/>
              </a:rPr>
              <a:t>OCEG · مدخل متخصص في GRC</a:t>
            </a:r>
            <a:endParaRPr lang="ar-SA" sz="1200" dirty="0" altLang="en-US"/>
          </a:p>
        </p:txBody>
      </p:sp>
      <p:sp>
        <p:nvSpPr>
          <p:cNvPr id="25" name="Text 22"/>
          <p:cNvSpPr/>
          <p:nvPr/>
        </p:nvSpPr>
        <p:spPr>
          <a:xfrm>
            <a:off x="10433050" y="1940520"/>
            <a:ext cx="762000" cy="609600"/>
          </a:xfrm>
          <a:custGeom>
            <a:avLst/>
            <a:gdLst/>
            <a:ahLst/>
            <a:cxnLst/>
            <a:rect l="l" t="t" r="r" b="b"/>
            <a:pathLst>
              <a:path w="762000" h="609600">
                <a:moveTo>
                  <a:pt x="127000" y="0"/>
                </a:moveTo>
                <a:lnTo>
                  <a:pt x="635000" y="0"/>
                </a:lnTo>
                <a:arcTo hR="127000" wR="127000" stAng="16200000" swAng="5400000"/>
                <a:lnTo>
                  <a:pt x="762000" y="482600"/>
                </a:lnTo>
                <a:arcTo hR="127000" wR="127000" stAng="0" swAng="5400000"/>
                <a:lnTo>
                  <a:pt x="127000" y="609600"/>
                </a:lnTo>
                <a:arcTo hR="127000" wR="127000" stAng="5400000" swAng="5400000"/>
                <a:lnTo>
                  <a:pt x="0" y="127000"/>
                </a:lnTo>
                <a:arcTo hR="127000" wR="127000" stAng="10800000" swAng="5400000"/>
                <a:close/>
              </a:path>
            </a:pathLst>
          </a:custGeom>
          <a:solidFill>
            <a:srgbClr val="FFFDF8"/>
          </a:solidFill>
          <a:ln/>
        </p:spPr>
        <p:txBody>
          <a:bodyPr wrap="square" lIns="0" tIns="0" rIns="0" bIns="0" rtlCol="0" anchor="ctr">
            <a:normAutofit/>
          </a:bodyPr>
          <a:lstStyle/>
          <a:p>
            <a:pPr algn="ctr" indent="0" marL="0">
              <a:lnSpc>
                <a:spcPts val="1700"/>
              </a:lnSpc>
              <a:buNone/>
            </a:pPr>
            <a:r>
              <a:rPr lang="en-US" sz="1700" b="1" dirty="0">
                <a:solidFill>
                  <a:srgbClr val="2F5C92"/>
                </a:solidFill>
                <a:latin typeface="Readex Pro" pitchFamily="34" charset="0"/>
                <a:ea typeface="Readex Pro" pitchFamily="34" charset="-122"/>
                <a:cs typeface="Readex Pro" pitchFamily="34" charset="-120"/>
              </a:rPr>
              <a:t>GRCP</a:t>
            </a:r>
            <a:endParaRPr lang="en-US" sz="1700" dirty="0"/>
          </a:p>
        </p:txBody>
      </p:sp>
      <p:sp>
        <p:nvSpPr>
          <p:cNvPr id="26" name="Text 23"/>
          <p:cNvSpPr/>
          <p:nvPr/>
        </p:nvSpPr>
        <p:spPr>
          <a:xfrm>
            <a:off x="6252083" y="2816820"/>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لا يشترط خبرة ولا شهادة جامعية</a:t>
            </a:r>
            <a:endParaRPr lang="ar-SA" sz="1200" dirty="0" altLang="en-US"/>
          </a:p>
        </p:txBody>
      </p:sp>
      <p:sp>
        <p:nvSpPr>
          <p:cNvPr id="27" name="Text 24"/>
          <p:cNvSpPr/>
          <p:nvPr/>
        </p:nvSpPr>
        <p:spPr>
          <a:xfrm>
            <a:off x="10318750" y="2816820"/>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28" name="Text 25"/>
          <p:cNvSpPr/>
          <p:nvPr/>
        </p:nvSpPr>
        <p:spPr>
          <a:xfrm>
            <a:off x="6252083" y="3106341"/>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100 سؤال محتسب في 120 دقيقة، عن بعد وبكتاب مفتوح، والنجاح 70 سؤالاً</a:t>
            </a:r>
            <a:endParaRPr lang="ar-SA" sz="1200" dirty="0" altLang="en-US"/>
          </a:p>
        </p:txBody>
      </p:sp>
      <p:sp>
        <p:nvSpPr>
          <p:cNvPr id="29" name="Text 26"/>
          <p:cNvSpPr/>
          <p:nvPr/>
        </p:nvSpPr>
        <p:spPr>
          <a:xfrm>
            <a:off x="10318750" y="310634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30" name="Text 27"/>
          <p:cNvSpPr/>
          <p:nvPr/>
        </p:nvSpPr>
        <p:spPr>
          <a:xfrm>
            <a:off x="6252083" y="360918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ضمن اشتراك OCEG: ‏499 دولاراً أول سنة، ثم 399 سنوياً</a:t>
            </a:r>
            <a:endParaRPr lang="ar-SA" sz="1200" dirty="0" altLang="en-US"/>
          </a:p>
        </p:txBody>
      </p:sp>
      <p:sp>
        <p:nvSpPr>
          <p:cNvPr id="31" name="Text 28"/>
          <p:cNvSpPr/>
          <p:nvPr/>
        </p:nvSpPr>
        <p:spPr>
          <a:xfrm>
            <a:off x="10318750" y="360918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32" name="Text 29"/>
          <p:cNvSpPr/>
          <p:nvPr/>
        </p:nvSpPr>
        <p:spPr>
          <a:xfrm>
            <a:off x="6252083" y="3898702"/>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مع الاشتراك، و8 ساعات CPE سنوياً من السنة الثانية</a:t>
            </a:r>
            <a:endParaRPr lang="ar-SA" sz="1200" dirty="0" altLang="en-US"/>
          </a:p>
        </p:txBody>
      </p:sp>
      <p:sp>
        <p:nvSpPr>
          <p:cNvPr id="33" name="Text 30"/>
          <p:cNvSpPr/>
          <p:nvPr/>
        </p:nvSpPr>
        <p:spPr>
          <a:xfrm>
            <a:off x="10318750" y="3898702"/>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34" name="Shape 31"/>
          <p:cNvSpPr/>
          <p:nvPr/>
        </p:nvSpPr>
        <p:spPr>
          <a:xfrm>
            <a:off x="6369050" y="4188222"/>
            <a:ext cx="4826000" cy="340320"/>
          </a:xfrm>
          <a:prstGeom prst="roundRect">
            <a:avLst>
              <a:gd name="adj" fmla="val 18659"/>
            </a:avLst>
          </a:prstGeom>
          <a:solidFill>
            <a:srgbClr val="F6ECDA"/>
          </a:solidFill>
          <a:ln/>
        </p:spPr>
      </p:sp>
      <p:sp>
        <p:nvSpPr>
          <p:cNvPr id="35" name="Text 32"/>
          <p:cNvSpPr/>
          <p:nvPr/>
        </p:nvSpPr>
        <p:spPr>
          <a:xfrm>
            <a:off x="6325743" y="4251722"/>
            <a:ext cx="4539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صفحة OCEG تذكر قاعدتين مختلفتين للتجديد؛ اسألهم قبل الشراء.</a:t>
            </a:r>
            <a:endParaRPr lang="ar-SA" sz="1200" dirty="0" altLang="en-US"/>
          </a:p>
        </p:txBody>
      </p:sp>
      <p:pic>
        <p:nvPicPr>
          <p:cNvPr id="36" name="Image 1" descr="Warning">    </p:cNvPr>
          <p:cNvPicPr>
            <a:picLocks noChangeAspect="1"/>
          </p:cNvPicPr>
          <p:nvPr/>
        </p:nvPicPr>
        <p:blipFill>
          <a:blip r:embed="rId2"/>
          <a:srcRect l="0" r="0" t="0" b="0"/>
          <a:stretch/>
        </p:blipFill>
        <p:spPr>
          <a:xfrm>
            <a:off x="10941050" y="4251722"/>
            <a:ext cx="165100" cy="165100"/>
          </a:xfrm>
          <a:prstGeom prst="rect">
            <a:avLst/>
          </a:prstGeom>
        </p:spPr>
      </p:pic>
      <p:sp>
        <p:nvSpPr>
          <p:cNvPr id="37" name="Text 3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31</a:t>
            </a:r>
            <a:endParaRPr lang="en-US" sz="1200" dirty="0"/>
          </a:p>
        </p:txBody>
      </p:sp>
      <p:sp>
        <p:nvSpPr>
          <p:cNvPr id="38" name="Text 3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04 · الشهادات · الأسعار بالدولار الأمريكي كما في 27 أكتوبر 2026</a:t>
            </a:r>
            <a:endParaRPr lang="ar-SA" sz="1200" dirty="0"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580257" cy="289520"/>
          </a:xfrm>
          <a:custGeom>
            <a:avLst/>
            <a:gdLst/>
            <a:ahLst/>
            <a:cxnLst/>
            <a:rect l="l" t="t" r="r" b="b"/>
            <a:pathLst>
              <a:path w="1580257" h="289520">
                <a:moveTo>
                  <a:pt x="144760" y="0"/>
                </a:moveTo>
                <a:lnTo>
                  <a:pt x="1435497" y="0"/>
                </a:lnTo>
                <a:arcTo hR="144760" wR="144760" stAng="16200000" swAng="5400000"/>
                <a:lnTo>
                  <a:pt x="158025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04 · الشهادات</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ISACA (1 من 2): التدقيق والمخاطر</a:t>
            </a:r>
            <a:endParaRPr lang="ar-SA" sz="3000" dirty="0" altLang="en-US"/>
          </a:p>
        </p:txBody>
      </p:sp>
      <p:sp>
        <p:nvSpPr>
          <p:cNvPr id="5" name="Shape 3"/>
          <p:cNvSpPr/>
          <p:nvPr/>
        </p:nvSpPr>
        <p:spPr>
          <a:xfrm>
            <a:off x="815975" y="1810345"/>
            <a:ext cx="5187950" cy="3074392"/>
          </a:xfrm>
          <a:prstGeom prst="roundRect">
            <a:avLst>
              <a:gd name="adj" fmla="val 3615"/>
            </a:avLst>
          </a:prstGeom>
          <a:solidFill>
            <a:srgbClr val="FFFDF8"/>
          </a:solidFill>
          <a:ln w="6350">
            <a:solidFill>
              <a:srgbClr val="E1DBCD"/>
            </a:solidFill>
            <a:prstDash val="solid"/>
          </a:ln>
        </p:spPr>
      </p:sp>
      <p:sp>
        <p:nvSpPr>
          <p:cNvPr id="6" name="Shape 4"/>
          <p:cNvSpPr/>
          <p:nvPr/>
        </p:nvSpPr>
        <p:spPr>
          <a:xfrm>
            <a:off x="819150" y="1813520"/>
            <a:ext cx="5181600" cy="863600"/>
          </a:xfrm>
          <a:custGeom>
            <a:avLst/>
            <a:gdLst/>
            <a:ahLst/>
            <a:cxnLst/>
            <a:rect l="l" t="t" r="r" b="b"/>
            <a:pathLst>
              <a:path w="5181600" h="863600">
                <a:moveTo>
                  <a:pt x="0" y="107950"/>
                </a:moveTo>
                <a:arcTo hR="107950" wR="107950" stAng="10800000" swAng="5400000"/>
                <a:lnTo>
                  <a:pt x="5073650" y="0"/>
                </a:lnTo>
                <a:arcTo hR="107950" wR="107950" stAng="16200000" swAng="5400000"/>
                <a:lnTo>
                  <a:pt x="5181600" y="863600"/>
                </a:lnTo>
                <a:lnTo>
                  <a:pt x="0" y="863600"/>
                </a:lnTo>
                <a:close/>
              </a:path>
            </a:pathLst>
          </a:custGeom>
          <a:solidFill>
            <a:srgbClr val="0E6B5C"/>
          </a:solidFill>
          <a:ln/>
        </p:spPr>
      </p:sp>
      <p:sp>
        <p:nvSpPr>
          <p:cNvPr id="7" name="Text 5"/>
          <p:cNvSpPr/>
          <p:nvPr/>
        </p:nvSpPr>
        <p:spPr>
          <a:xfrm>
            <a:off x="879221" y="2014190"/>
            <a:ext cx="4042029"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Risk and Information Systems Control</a:t>
            </a:r>
            <a:endParaRPr lang="en-US" sz="1400" dirty="0"/>
          </a:p>
        </p:txBody>
      </p:sp>
      <p:sp>
        <p:nvSpPr>
          <p:cNvPr id="8" name="Text 6"/>
          <p:cNvSpPr/>
          <p:nvPr/>
        </p:nvSpPr>
        <p:spPr>
          <a:xfrm>
            <a:off x="879221" y="2270720"/>
            <a:ext cx="404202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CFEAE3"/>
                </a:solidFill>
                <a:latin typeface="IBM Plex Sans Arabic" pitchFamily="34" charset="0"/>
                <a:ea typeface="IBM Plex Sans Arabic" pitchFamily="34" charset="-122"/>
                <a:cs typeface="IBM Plex Sans Arabic" pitchFamily="34" charset="-120"/>
              </a:rPr>
              <a:t>ISACA · مخاطر تقنية المعلومات</a:t>
            </a:r>
            <a:endParaRPr lang="ar-SA" sz="1200" dirty="0" altLang="en-US"/>
          </a:p>
        </p:txBody>
      </p:sp>
      <p:sp>
        <p:nvSpPr>
          <p:cNvPr id="9" name="Text 7"/>
          <p:cNvSpPr/>
          <p:nvPr/>
        </p:nvSpPr>
        <p:spPr>
          <a:xfrm>
            <a:off x="5060950" y="1940520"/>
            <a:ext cx="762000" cy="609600"/>
          </a:xfrm>
          <a:custGeom>
            <a:avLst/>
            <a:gdLst/>
            <a:ahLst/>
            <a:cxnLst/>
            <a:rect l="l" t="t" r="r" b="b"/>
            <a:pathLst>
              <a:path w="762000" h="609600">
                <a:moveTo>
                  <a:pt x="127000" y="0"/>
                </a:moveTo>
                <a:lnTo>
                  <a:pt x="635000" y="0"/>
                </a:lnTo>
                <a:arcTo hR="127000" wR="127000" stAng="16200000" swAng="5400000"/>
                <a:lnTo>
                  <a:pt x="762000" y="482600"/>
                </a:lnTo>
                <a:arcTo hR="127000" wR="127000" stAng="0" swAng="5400000"/>
                <a:lnTo>
                  <a:pt x="127000" y="609600"/>
                </a:lnTo>
                <a:arcTo hR="127000" wR="127000" stAng="5400000" swAng="5400000"/>
                <a:lnTo>
                  <a:pt x="0" y="127000"/>
                </a:lnTo>
                <a:arcTo hR="127000" wR="127000" stAng="10800000" swAng="5400000"/>
                <a:close/>
              </a:path>
            </a:pathLst>
          </a:custGeom>
          <a:solidFill>
            <a:srgbClr val="FFFDF8"/>
          </a:solidFill>
          <a:ln/>
        </p:spPr>
        <p:txBody>
          <a:bodyPr wrap="square" lIns="0" tIns="0" rIns="0" bIns="0" rtlCol="0" anchor="ctr">
            <a:normAutofit/>
          </a:bodyPr>
          <a:lstStyle/>
          <a:p>
            <a:pPr algn="ctr" indent="0" marL="0">
              <a:lnSpc>
                <a:spcPts val="1700"/>
              </a:lnSpc>
              <a:buNone/>
            </a:pPr>
            <a:r>
              <a:rPr lang="en-US" sz="1700" b="1" dirty="0">
                <a:solidFill>
                  <a:srgbClr val="0E6B5C"/>
                </a:solidFill>
                <a:latin typeface="Readex Pro" pitchFamily="34" charset="0"/>
                <a:ea typeface="Readex Pro" pitchFamily="34" charset="-122"/>
                <a:cs typeface="Readex Pro" pitchFamily="34" charset="-120"/>
              </a:rPr>
              <a:t>CRISC</a:t>
            </a:r>
            <a:endParaRPr lang="en-US" sz="1700" dirty="0"/>
          </a:p>
        </p:txBody>
      </p:sp>
      <p:sp>
        <p:nvSpPr>
          <p:cNvPr id="10" name="Text 8"/>
          <p:cNvSpPr/>
          <p:nvPr/>
        </p:nvSpPr>
        <p:spPr>
          <a:xfrm>
            <a:off x="879983" y="2816820"/>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3 سنوات في مخاطر تقنية المعلومات والرقابة، في مجالين من 4؛ بلا إعفاء</a:t>
            </a:r>
            <a:endParaRPr lang="ar-SA" sz="1200" dirty="0" altLang="en-US"/>
          </a:p>
        </p:txBody>
      </p:sp>
      <p:sp>
        <p:nvSpPr>
          <p:cNvPr id="11" name="Text 9"/>
          <p:cNvSpPr/>
          <p:nvPr/>
        </p:nvSpPr>
        <p:spPr>
          <a:xfrm>
            <a:off x="4946650" y="2816820"/>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12" name="Text 10"/>
          <p:cNvSpPr/>
          <p:nvPr/>
        </p:nvSpPr>
        <p:spPr>
          <a:xfrm>
            <a:off x="879983" y="331966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150 سؤالاً في 4 ساعات، والنجاح 450 من 800</a:t>
            </a:r>
            <a:endParaRPr lang="ar-SA" sz="1200" dirty="0" altLang="en-US"/>
          </a:p>
        </p:txBody>
      </p:sp>
      <p:sp>
        <p:nvSpPr>
          <p:cNvPr id="13" name="Text 11"/>
          <p:cNvSpPr/>
          <p:nvPr/>
        </p:nvSpPr>
        <p:spPr>
          <a:xfrm>
            <a:off x="4946650" y="331966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14" name="Text 12"/>
          <p:cNvSpPr/>
          <p:nvPr/>
        </p:nvSpPr>
        <p:spPr>
          <a:xfrm>
            <a:off x="879983" y="360918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575 دولاراً للأعضاء و760 لغيرهم، و50 لطلب الشهادة</a:t>
            </a:r>
            <a:endParaRPr lang="ar-SA" sz="1200" dirty="0" altLang="en-US"/>
          </a:p>
        </p:txBody>
      </p:sp>
      <p:sp>
        <p:nvSpPr>
          <p:cNvPr id="15" name="Text 13"/>
          <p:cNvSpPr/>
          <p:nvPr/>
        </p:nvSpPr>
        <p:spPr>
          <a:xfrm>
            <a:off x="4946650" y="360918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16" name="Text 14"/>
          <p:cNvSpPr/>
          <p:nvPr/>
        </p:nvSpPr>
        <p:spPr>
          <a:xfrm>
            <a:off x="879983" y="3898702"/>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مثل CISA: ‏20 ساعة سنوياً و120 كل 3 سنوات، ورسم سنوي</a:t>
            </a:r>
            <a:endParaRPr lang="ar-SA" sz="1200" dirty="0" altLang="en-US"/>
          </a:p>
        </p:txBody>
      </p:sp>
      <p:sp>
        <p:nvSpPr>
          <p:cNvPr id="17" name="Text 15"/>
          <p:cNvSpPr/>
          <p:nvPr/>
        </p:nvSpPr>
        <p:spPr>
          <a:xfrm>
            <a:off x="4946650" y="3898702"/>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18" name="Shape 16"/>
          <p:cNvSpPr/>
          <p:nvPr/>
        </p:nvSpPr>
        <p:spPr>
          <a:xfrm>
            <a:off x="996950" y="4188222"/>
            <a:ext cx="4826000" cy="553641"/>
          </a:xfrm>
          <a:prstGeom prst="roundRect">
            <a:avLst>
              <a:gd name="adj" fmla="val 11470"/>
            </a:avLst>
          </a:prstGeom>
          <a:solidFill>
            <a:srgbClr val="E3F1ED"/>
          </a:solidFill>
          <a:ln/>
        </p:spPr>
      </p:sp>
      <p:sp>
        <p:nvSpPr>
          <p:cNvPr id="19" name="Text 17"/>
          <p:cNvSpPr/>
          <p:nvPr/>
        </p:nvSpPr>
        <p:spPr>
          <a:xfrm>
            <a:off x="953643" y="4251722"/>
            <a:ext cx="453910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الأقرب لوظائف المخاطر في GRC. أكبر مجال فيه: الاستجابة للمخاطر والتقارير، 32%.</a:t>
            </a:r>
            <a:endParaRPr lang="ar-SA" sz="1200" dirty="0" altLang="en-US"/>
          </a:p>
        </p:txBody>
      </p:sp>
      <p:pic>
        <p:nvPicPr>
          <p:cNvPr id="20" name="Image 0" descr="Lightbulb">    </p:cNvPr>
          <p:cNvPicPr>
            <a:picLocks noChangeAspect="1"/>
          </p:cNvPicPr>
          <p:nvPr/>
        </p:nvPicPr>
        <p:blipFill>
          <a:blip r:embed="rId1"/>
          <a:srcRect l="0" r="0" t="0" b="0"/>
          <a:stretch/>
        </p:blipFill>
        <p:spPr>
          <a:xfrm>
            <a:off x="5568950" y="4251722"/>
            <a:ext cx="165100" cy="165100"/>
          </a:xfrm>
          <a:prstGeom prst="rect">
            <a:avLst/>
          </a:prstGeom>
        </p:spPr>
      </p:pic>
      <p:sp>
        <p:nvSpPr>
          <p:cNvPr id="21" name="Shape 18"/>
          <p:cNvSpPr/>
          <p:nvPr/>
        </p:nvSpPr>
        <p:spPr>
          <a:xfrm>
            <a:off x="6188075" y="1810345"/>
            <a:ext cx="5187950" cy="3074392"/>
          </a:xfrm>
          <a:prstGeom prst="roundRect">
            <a:avLst>
              <a:gd name="adj" fmla="val 3615"/>
            </a:avLst>
          </a:prstGeom>
          <a:solidFill>
            <a:srgbClr val="FFFDF8"/>
          </a:solidFill>
          <a:ln w="6350">
            <a:solidFill>
              <a:srgbClr val="E1DBCD"/>
            </a:solidFill>
            <a:prstDash val="solid"/>
          </a:ln>
        </p:spPr>
      </p:sp>
      <p:sp>
        <p:nvSpPr>
          <p:cNvPr id="22" name="Shape 19"/>
          <p:cNvSpPr/>
          <p:nvPr/>
        </p:nvSpPr>
        <p:spPr>
          <a:xfrm>
            <a:off x="6191250" y="1813520"/>
            <a:ext cx="5181600" cy="863600"/>
          </a:xfrm>
          <a:custGeom>
            <a:avLst/>
            <a:gdLst/>
            <a:ahLst/>
            <a:cxnLst/>
            <a:rect l="l" t="t" r="r" b="b"/>
            <a:pathLst>
              <a:path w="5181600" h="863600">
                <a:moveTo>
                  <a:pt x="0" y="107950"/>
                </a:moveTo>
                <a:arcTo hR="107950" wR="107950" stAng="10800000" swAng="5400000"/>
                <a:lnTo>
                  <a:pt x="5073650" y="0"/>
                </a:lnTo>
                <a:arcTo hR="107950" wR="107950" stAng="16200000" swAng="5400000"/>
                <a:lnTo>
                  <a:pt x="5181600" y="863600"/>
                </a:lnTo>
                <a:lnTo>
                  <a:pt x="0" y="863600"/>
                </a:lnTo>
                <a:close/>
              </a:path>
            </a:pathLst>
          </a:custGeom>
          <a:solidFill>
            <a:srgbClr val="0E6B5C"/>
          </a:solidFill>
          <a:ln/>
        </p:spPr>
      </p:sp>
      <p:sp>
        <p:nvSpPr>
          <p:cNvPr id="23" name="Text 20"/>
          <p:cNvSpPr/>
          <p:nvPr/>
        </p:nvSpPr>
        <p:spPr>
          <a:xfrm>
            <a:off x="6251321" y="2014190"/>
            <a:ext cx="4042029"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Certified Information Systems Auditor</a:t>
            </a:r>
            <a:endParaRPr lang="en-US" sz="1400" dirty="0"/>
          </a:p>
        </p:txBody>
      </p:sp>
      <p:sp>
        <p:nvSpPr>
          <p:cNvPr id="24" name="Text 21"/>
          <p:cNvSpPr/>
          <p:nvPr/>
        </p:nvSpPr>
        <p:spPr>
          <a:xfrm>
            <a:off x="6251321" y="2270720"/>
            <a:ext cx="404202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CFEAE3"/>
                </a:solidFill>
                <a:latin typeface="IBM Plex Sans Arabic" pitchFamily="34" charset="0"/>
                <a:ea typeface="IBM Plex Sans Arabic" pitchFamily="34" charset="-122"/>
                <a:cs typeface="IBM Plex Sans Arabic" pitchFamily="34" charset="-120"/>
              </a:rPr>
              <a:t>ISACA · تدقيق تقنية المعلومات</a:t>
            </a:r>
            <a:endParaRPr lang="ar-SA" sz="1200" dirty="0" altLang="en-US"/>
          </a:p>
        </p:txBody>
      </p:sp>
      <p:sp>
        <p:nvSpPr>
          <p:cNvPr id="25" name="Text 22"/>
          <p:cNvSpPr/>
          <p:nvPr/>
        </p:nvSpPr>
        <p:spPr>
          <a:xfrm>
            <a:off x="10433050" y="1940520"/>
            <a:ext cx="762000" cy="609600"/>
          </a:xfrm>
          <a:prstGeom prst="roundRect">
            <a:avLst>
              <a:gd name="adj" fmla="val 20833"/>
            </a:avLst>
          </a:prstGeom>
          <a:solidFill>
            <a:srgbClr val="FFFDF8"/>
          </a:solidFill>
          <a:ln/>
        </p:spPr>
        <p:txBody>
          <a:bodyPr wrap="square" lIns="0" tIns="0" rIns="0" bIns="0" rtlCol="0" anchor="ctr">
            <a:normAutofit/>
          </a:bodyPr>
          <a:lstStyle/>
          <a:p>
            <a:pPr algn="ctr" indent="0" marL="0">
              <a:lnSpc>
                <a:spcPts val="1700"/>
              </a:lnSpc>
              <a:buNone/>
            </a:pPr>
            <a:r>
              <a:rPr lang="en-US" sz="1700" b="1" dirty="0">
                <a:solidFill>
                  <a:srgbClr val="0E6B5C"/>
                </a:solidFill>
                <a:latin typeface="Readex Pro" pitchFamily="34" charset="0"/>
                <a:ea typeface="Readex Pro" pitchFamily="34" charset="-122"/>
                <a:cs typeface="Readex Pro" pitchFamily="34" charset="-120"/>
              </a:rPr>
              <a:t>CISA</a:t>
            </a:r>
            <a:endParaRPr lang="en-US" sz="1700" dirty="0"/>
          </a:p>
        </p:txBody>
      </p:sp>
      <p:sp>
        <p:nvSpPr>
          <p:cNvPr id="26" name="Text 23"/>
          <p:cNvSpPr/>
          <p:nvPr/>
        </p:nvSpPr>
        <p:spPr>
          <a:xfrm>
            <a:off x="6252083" y="2816820"/>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 سنوات في تدقيق النظم أو الرقابة أو الأمن، خلال آخر 10 سنوات؛ إعفاء حتى 3 سنوات</a:t>
            </a:r>
            <a:endParaRPr lang="ar-SA" sz="1200" dirty="0" altLang="en-US"/>
          </a:p>
        </p:txBody>
      </p:sp>
      <p:sp>
        <p:nvSpPr>
          <p:cNvPr id="27" name="Text 24"/>
          <p:cNvSpPr/>
          <p:nvPr/>
        </p:nvSpPr>
        <p:spPr>
          <a:xfrm>
            <a:off x="10318750" y="2816820"/>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28" name="Text 25"/>
          <p:cNvSpPr/>
          <p:nvPr/>
        </p:nvSpPr>
        <p:spPr>
          <a:xfrm>
            <a:off x="6252083" y="331966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150 سؤالاً في 4 ساعات، والنجاح 450 من 800</a:t>
            </a:r>
            <a:endParaRPr lang="ar-SA" sz="1200" dirty="0" altLang="en-US"/>
          </a:p>
        </p:txBody>
      </p:sp>
      <p:sp>
        <p:nvSpPr>
          <p:cNvPr id="29" name="Text 26"/>
          <p:cNvSpPr/>
          <p:nvPr/>
        </p:nvSpPr>
        <p:spPr>
          <a:xfrm>
            <a:off x="10318750" y="331966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30" name="Text 27"/>
          <p:cNvSpPr/>
          <p:nvPr/>
        </p:nvSpPr>
        <p:spPr>
          <a:xfrm>
            <a:off x="6252083" y="360918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575 دولاراً للأعضاء و760 لغيرهم، و50 لطلب الشهادة</a:t>
            </a:r>
            <a:endParaRPr lang="ar-SA" sz="1200" dirty="0" altLang="en-US"/>
          </a:p>
        </p:txBody>
      </p:sp>
      <p:sp>
        <p:nvSpPr>
          <p:cNvPr id="31" name="Text 28"/>
          <p:cNvSpPr/>
          <p:nvPr/>
        </p:nvSpPr>
        <p:spPr>
          <a:xfrm>
            <a:off x="10318750" y="360918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32" name="Text 29"/>
          <p:cNvSpPr/>
          <p:nvPr/>
        </p:nvSpPr>
        <p:spPr>
          <a:xfrm>
            <a:off x="6252083" y="3898702"/>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20 ساعة CPE سنوياً و120 كل 3 سنوات، ورسم سنوي 45 دولاراً للأعضاء أو 85</a:t>
            </a:r>
            <a:endParaRPr lang="ar-SA" sz="1200" dirty="0" altLang="en-US"/>
          </a:p>
        </p:txBody>
      </p:sp>
      <p:sp>
        <p:nvSpPr>
          <p:cNvPr id="33" name="Text 30"/>
          <p:cNvSpPr/>
          <p:nvPr/>
        </p:nvSpPr>
        <p:spPr>
          <a:xfrm>
            <a:off x="10318750" y="3898702"/>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34" name="Shape 31"/>
          <p:cNvSpPr/>
          <p:nvPr/>
        </p:nvSpPr>
        <p:spPr>
          <a:xfrm>
            <a:off x="6369050" y="4401542"/>
            <a:ext cx="4826000" cy="340320"/>
          </a:xfrm>
          <a:prstGeom prst="roundRect">
            <a:avLst>
              <a:gd name="adj" fmla="val 18659"/>
            </a:avLst>
          </a:prstGeom>
          <a:solidFill>
            <a:srgbClr val="E3F1ED"/>
          </a:solidFill>
          <a:ln/>
        </p:spPr>
      </p:sp>
      <p:sp>
        <p:nvSpPr>
          <p:cNvPr id="35" name="Text 32"/>
          <p:cNvSpPr/>
          <p:nvPr/>
        </p:nvSpPr>
        <p:spPr>
          <a:xfrm>
            <a:off x="6325743" y="4465042"/>
            <a:ext cx="4539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تستطيع أن تختبر الآن، ثم تقدم طلب الشهادة خلال 5 سنوات من النجاح.</a:t>
            </a:r>
            <a:endParaRPr lang="ar-SA" sz="1200" dirty="0" altLang="en-US"/>
          </a:p>
        </p:txBody>
      </p:sp>
      <p:pic>
        <p:nvPicPr>
          <p:cNvPr id="36" name="Image 1" descr="Lightbulb">    </p:cNvPr>
          <p:cNvPicPr>
            <a:picLocks noChangeAspect="1"/>
          </p:cNvPicPr>
          <p:nvPr/>
        </p:nvPicPr>
        <p:blipFill>
          <a:blip r:embed="rId2"/>
          <a:srcRect l="0" r="0" t="0" b="0"/>
          <a:stretch/>
        </p:blipFill>
        <p:spPr>
          <a:xfrm>
            <a:off x="10941050" y="4465042"/>
            <a:ext cx="165100" cy="165100"/>
          </a:xfrm>
          <a:prstGeom prst="rect">
            <a:avLst/>
          </a:prstGeom>
        </p:spPr>
      </p:pic>
      <p:sp>
        <p:nvSpPr>
          <p:cNvPr id="37" name="Text 3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32</a:t>
            </a:r>
            <a:endParaRPr lang="en-US" sz="1200" dirty="0"/>
          </a:p>
        </p:txBody>
      </p:sp>
      <p:sp>
        <p:nvSpPr>
          <p:cNvPr id="38" name="Text 3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04 · الشهادات · الأسعار بالدولار الأمريكي كما في 27 أكتوبر 2026</a:t>
            </a:r>
            <a:endParaRPr lang="ar-SA" sz="1200" dirty="0"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580257" cy="289520"/>
          </a:xfrm>
          <a:custGeom>
            <a:avLst/>
            <a:gdLst/>
            <a:ahLst/>
            <a:cxnLst/>
            <a:rect l="l" t="t" r="r" b="b"/>
            <a:pathLst>
              <a:path w="1580257" h="289520">
                <a:moveTo>
                  <a:pt x="144760" y="0"/>
                </a:moveTo>
                <a:lnTo>
                  <a:pt x="1435497" y="0"/>
                </a:lnTo>
                <a:arcTo hR="144760" wR="144760" stAng="16200000" swAng="5400000"/>
                <a:lnTo>
                  <a:pt x="158025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04 · الشهادات</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ISACA (2 من 2): الإدارة والحوكمة</a:t>
            </a:r>
            <a:endParaRPr lang="ar-SA" sz="3000" dirty="0" altLang="en-US"/>
          </a:p>
        </p:txBody>
      </p:sp>
      <p:sp>
        <p:nvSpPr>
          <p:cNvPr id="5" name="Shape 3"/>
          <p:cNvSpPr/>
          <p:nvPr/>
        </p:nvSpPr>
        <p:spPr>
          <a:xfrm>
            <a:off x="815975" y="1810345"/>
            <a:ext cx="5187950" cy="2861072"/>
          </a:xfrm>
          <a:prstGeom prst="roundRect">
            <a:avLst>
              <a:gd name="adj" fmla="val 3884"/>
            </a:avLst>
          </a:prstGeom>
          <a:solidFill>
            <a:srgbClr val="FFFDF8"/>
          </a:solidFill>
          <a:ln w="6350">
            <a:solidFill>
              <a:srgbClr val="E1DBCD"/>
            </a:solidFill>
            <a:prstDash val="solid"/>
          </a:ln>
        </p:spPr>
      </p:sp>
      <p:sp>
        <p:nvSpPr>
          <p:cNvPr id="6" name="Shape 4"/>
          <p:cNvSpPr/>
          <p:nvPr/>
        </p:nvSpPr>
        <p:spPr>
          <a:xfrm>
            <a:off x="819150" y="1813520"/>
            <a:ext cx="5181600" cy="863600"/>
          </a:xfrm>
          <a:custGeom>
            <a:avLst/>
            <a:gdLst/>
            <a:ahLst/>
            <a:cxnLst/>
            <a:rect l="l" t="t" r="r" b="b"/>
            <a:pathLst>
              <a:path w="5181600" h="863600">
                <a:moveTo>
                  <a:pt x="0" y="107950"/>
                </a:moveTo>
                <a:arcTo hR="107950" wR="107950" stAng="10800000" swAng="5400000"/>
                <a:lnTo>
                  <a:pt x="5073650" y="0"/>
                </a:lnTo>
                <a:arcTo hR="107950" wR="107950" stAng="16200000" swAng="5400000"/>
                <a:lnTo>
                  <a:pt x="5181600" y="863600"/>
                </a:lnTo>
                <a:lnTo>
                  <a:pt x="0" y="863600"/>
                </a:lnTo>
                <a:close/>
              </a:path>
            </a:pathLst>
          </a:custGeom>
          <a:solidFill>
            <a:srgbClr val="0E6B5C"/>
          </a:solidFill>
          <a:ln/>
        </p:spPr>
      </p:sp>
      <p:sp>
        <p:nvSpPr>
          <p:cNvPr id="7" name="Text 5"/>
          <p:cNvSpPr/>
          <p:nvPr/>
        </p:nvSpPr>
        <p:spPr>
          <a:xfrm>
            <a:off x="879221" y="2014190"/>
            <a:ext cx="4042029"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Governance of Enterprise IT</a:t>
            </a:r>
            <a:endParaRPr lang="en-US" sz="1400" dirty="0"/>
          </a:p>
        </p:txBody>
      </p:sp>
      <p:sp>
        <p:nvSpPr>
          <p:cNvPr id="8" name="Text 6"/>
          <p:cNvSpPr/>
          <p:nvPr/>
        </p:nvSpPr>
        <p:spPr>
          <a:xfrm>
            <a:off x="879221" y="2270720"/>
            <a:ext cx="404202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CFEAE3"/>
                </a:solidFill>
                <a:latin typeface="IBM Plex Sans Arabic" pitchFamily="34" charset="0"/>
                <a:ea typeface="IBM Plex Sans Arabic" pitchFamily="34" charset="-122"/>
                <a:cs typeface="IBM Plex Sans Arabic" pitchFamily="34" charset="-120"/>
              </a:rPr>
              <a:t>ISACA · حوكمة تقنية المعلومات للقيادات</a:t>
            </a:r>
            <a:endParaRPr lang="ar-SA" sz="1200" dirty="0" altLang="en-US"/>
          </a:p>
        </p:txBody>
      </p:sp>
      <p:sp>
        <p:nvSpPr>
          <p:cNvPr id="9" name="Text 7"/>
          <p:cNvSpPr/>
          <p:nvPr/>
        </p:nvSpPr>
        <p:spPr>
          <a:xfrm>
            <a:off x="5060950" y="1940520"/>
            <a:ext cx="762000" cy="609600"/>
          </a:xfrm>
          <a:custGeom>
            <a:avLst/>
            <a:gdLst/>
            <a:ahLst/>
            <a:cxnLst/>
            <a:rect l="l" t="t" r="r" b="b"/>
            <a:pathLst>
              <a:path w="762000" h="609600">
                <a:moveTo>
                  <a:pt x="127000" y="0"/>
                </a:moveTo>
                <a:lnTo>
                  <a:pt x="635000" y="0"/>
                </a:lnTo>
                <a:arcTo hR="127000" wR="127000" stAng="16200000" swAng="5400000"/>
                <a:lnTo>
                  <a:pt x="762000" y="482600"/>
                </a:lnTo>
                <a:arcTo hR="127000" wR="127000" stAng="0" swAng="5400000"/>
                <a:lnTo>
                  <a:pt x="127000" y="609600"/>
                </a:lnTo>
                <a:arcTo hR="127000" wR="127000" stAng="5400000" swAng="5400000"/>
                <a:lnTo>
                  <a:pt x="0" y="127000"/>
                </a:lnTo>
                <a:arcTo hR="127000" wR="127000" stAng="10800000" swAng="5400000"/>
                <a:close/>
              </a:path>
            </a:pathLst>
          </a:custGeom>
          <a:solidFill>
            <a:srgbClr val="FFFDF8"/>
          </a:solidFill>
          <a:ln/>
        </p:spPr>
        <p:txBody>
          <a:bodyPr wrap="square" lIns="0" tIns="0" rIns="0" bIns="0" rtlCol="0" anchor="ctr">
            <a:normAutofit/>
          </a:bodyPr>
          <a:lstStyle/>
          <a:p>
            <a:pPr algn="ctr" indent="0" marL="0">
              <a:lnSpc>
                <a:spcPts val="1700"/>
              </a:lnSpc>
              <a:buNone/>
            </a:pPr>
            <a:r>
              <a:rPr lang="en-US" sz="1700" b="1" dirty="0">
                <a:solidFill>
                  <a:srgbClr val="0E6B5C"/>
                </a:solidFill>
                <a:latin typeface="Readex Pro" pitchFamily="34" charset="0"/>
                <a:ea typeface="Readex Pro" pitchFamily="34" charset="-122"/>
                <a:cs typeface="Readex Pro" pitchFamily="34" charset="-120"/>
              </a:rPr>
              <a:t>CGEIT</a:t>
            </a:r>
            <a:endParaRPr lang="en-US" sz="1700" dirty="0"/>
          </a:p>
        </p:txBody>
      </p:sp>
      <p:sp>
        <p:nvSpPr>
          <p:cNvPr id="10" name="Text 8"/>
          <p:cNvSpPr/>
          <p:nvPr/>
        </p:nvSpPr>
        <p:spPr>
          <a:xfrm>
            <a:off x="879983" y="2816820"/>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 سنوات في إدارة حوكمة تقنية المعلومات أو الاستشارة أو الإشراف عليها؛ بلا إعفاء</a:t>
            </a:r>
            <a:endParaRPr lang="ar-SA" sz="1200" dirty="0" altLang="en-US"/>
          </a:p>
        </p:txBody>
      </p:sp>
      <p:sp>
        <p:nvSpPr>
          <p:cNvPr id="11" name="Text 9"/>
          <p:cNvSpPr/>
          <p:nvPr/>
        </p:nvSpPr>
        <p:spPr>
          <a:xfrm>
            <a:off x="4946650" y="2816820"/>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12" name="Text 10"/>
          <p:cNvSpPr/>
          <p:nvPr/>
        </p:nvSpPr>
        <p:spPr>
          <a:xfrm>
            <a:off x="879983" y="331966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150 سؤالاً في 4 ساعات، والنجاح 450 من 800</a:t>
            </a:r>
            <a:endParaRPr lang="ar-SA" sz="1200" dirty="0" altLang="en-US"/>
          </a:p>
        </p:txBody>
      </p:sp>
      <p:sp>
        <p:nvSpPr>
          <p:cNvPr id="13" name="Text 11"/>
          <p:cNvSpPr/>
          <p:nvPr/>
        </p:nvSpPr>
        <p:spPr>
          <a:xfrm>
            <a:off x="4946650" y="331966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14" name="Text 12"/>
          <p:cNvSpPr/>
          <p:nvPr/>
        </p:nvSpPr>
        <p:spPr>
          <a:xfrm>
            <a:off x="879983" y="360918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575 دولاراً للأعضاء و760 لغيرهم، و50 لطلب الشهادة</a:t>
            </a:r>
            <a:endParaRPr lang="ar-SA" sz="1200" dirty="0" altLang="en-US"/>
          </a:p>
        </p:txBody>
      </p:sp>
      <p:sp>
        <p:nvSpPr>
          <p:cNvPr id="15" name="Text 13"/>
          <p:cNvSpPr/>
          <p:nvPr/>
        </p:nvSpPr>
        <p:spPr>
          <a:xfrm>
            <a:off x="4946650" y="360918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16" name="Text 14"/>
          <p:cNvSpPr/>
          <p:nvPr/>
        </p:nvSpPr>
        <p:spPr>
          <a:xfrm>
            <a:off x="879983" y="3898702"/>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20 ساعة CPE سنوياً و120 كل 3 سنوات، ورسم سنوي</a:t>
            </a:r>
            <a:endParaRPr lang="ar-SA" sz="1200" dirty="0" altLang="en-US"/>
          </a:p>
        </p:txBody>
      </p:sp>
      <p:sp>
        <p:nvSpPr>
          <p:cNvPr id="17" name="Text 15"/>
          <p:cNvSpPr/>
          <p:nvPr/>
        </p:nvSpPr>
        <p:spPr>
          <a:xfrm>
            <a:off x="4946650" y="3898702"/>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18" name="Shape 16"/>
          <p:cNvSpPr/>
          <p:nvPr/>
        </p:nvSpPr>
        <p:spPr>
          <a:xfrm>
            <a:off x="996950" y="4188222"/>
            <a:ext cx="4826000" cy="340320"/>
          </a:xfrm>
          <a:prstGeom prst="roundRect">
            <a:avLst>
              <a:gd name="adj" fmla="val 18659"/>
            </a:avLst>
          </a:prstGeom>
          <a:solidFill>
            <a:srgbClr val="E3F1ED"/>
          </a:solidFill>
          <a:ln/>
        </p:spPr>
      </p:sp>
      <p:sp>
        <p:nvSpPr>
          <p:cNvPr id="19" name="Text 17"/>
          <p:cNvSpPr/>
          <p:nvPr/>
        </p:nvSpPr>
        <p:spPr>
          <a:xfrm>
            <a:off x="953643" y="4251722"/>
            <a:ext cx="4539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للمستوى القيادي بعد سنوات، ومرتبطة بإطار COBIT.</a:t>
            </a:r>
            <a:endParaRPr lang="ar-SA" sz="1200" dirty="0" altLang="en-US"/>
          </a:p>
        </p:txBody>
      </p:sp>
      <p:pic>
        <p:nvPicPr>
          <p:cNvPr id="20" name="Image 0" descr="Lightbulb">    </p:cNvPr>
          <p:cNvPicPr>
            <a:picLocks noChangeAspect="1"/>
          </p:cNvPicPr>
          <p:nvPr/>
        </p:nvPicPr>
        <p:blipFill>
          <a:blip r:embed="rId1"/>
          <a:srcRect l="0" r="0" t="0" b="0"/>
          <a:stretch/>
        </p:blipFill>
        <p:spPr>
          <a:xfrm>
            <a:off x="5568950" y="4251722"/>
            <a:ext cx="165100" cy="165100"/>
          </a:xfrm>
          <a:prstGeom prst="rect">
            <a:avLst/>
          </a:prstGeom>
        </p:spPr>
      </p:pic>
      <p:sp>
        <p:nvSpPr>
          <p:cNvPr id="21" name="Shape 18"/>
          <p:cNvSpPr/>
          <p:nvPr/>
        </p:nvSpPr>
        <p:spPr>
          <a:xfrm>
            <a:off x="6188075" y="1810345"/>
            <a:ext cx="5187950" cy="2861072"/>
          </a:xfrm>
          <a:prstGeom prst="roundRect">
            <a:avLst>
              <a:gd name="adj" fmla="val 3884"/>
            </a:avLst>
          </a:prstGeom>
          <a:solidFill>
            <a:srgbClr val="FFFDF8"/>
          </a:solidFill>
          <a:ln w="6350">
            <a:solidFill>
              <a:srgbClr val="E1DBCD"/>
            </a:solidFill>
            <a:prstDash val="solid"/>
          </a:ln>
        </p:spPr>
      </p:sp>
      <p:sp>
        <p:nvSpPr>
          <p:cNvPr id="22" name="Shape 19"/>
          <p:cNvSpPr/>
          <p:nvPr/>
        </p:nvSpPr>
        <p:spPr>
          <a:xfrm>
            <a:off x="6191250" y="1813520"/>
            <a:ext cx="5181600" cy="863600"/>
          </a:xfrm>
          <a:custGeom>
            <a:avLst/>
            <a:gdLst/>
            <a:ahLst/>
            <a:cxnLst/>
            <a:rect l="l" t="t" r="r" b="b"/>
            <a:pathLst>
              <a:path w="5181600" h="863600">
                <a:moveTo>
                  <a:pt x="0" y="107950"/>
                </a:moveTo>
                <a:arcTo hR="107950" wR="107950" stAng="10800000" swAng="5400000"/>
                <a:lnTo>
                  <a:pt x="5073650" y="0"/>
                </a:lnTo>
                <a:arcTo hR="107950" wR="107950" stAng="16200000" swAng="5400000"/>
                <a:lnTo>
                  <a:pt x="5181600" y="863600"/>
                </a:lnTo>
                <a:lnTo>
                  <a:pt x="0" y="863600"/>
                </a:lnTo>
                <a:close/>
              </a:path>
            </a:pathLst>
          </a:custGeom>
          <a:solidFill>
            <a:srgbClr val="0E6B5C"/>
          </a:solidFill>
          <a:ln/>
        </p:spPr>
      </p:sp>
      <p:sp>
        <p:nvSpPr>
          <p:cNvPr id="23" name="Text 20"/>
          <p:cNvSpPr/>
          <p:nvPr/>
        </p:nvSpPr>
        <p:spPr>
          <a:xfrm>
            <a:off x="6251321" y="2014190"/>
            <a:ext cx="4042029"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Certified Information Security Manager</a:t>
            </a:r>
            <a:endParaRPr lang="en-US" sz="1400" dirty="0"/>
          </a:p>
        </p:txBody>
      </p:sp>
      <p:sp>
        <p:nvSpPr>
          <p:cNvPr id="24" name="Text 21"/>
          <p:cNvSpPr/>
          <p:nvPr/>
        </p:nvSpPr>
        <p:spPr>
          <a:xfrm>
            <a:off x="6251321" y="2270720"/>
            <a:ext cx="404202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CFEAE3"/>
                </a:solidFill>
                <a:latin typeface="IBM Plex Sans Arabic" pitchFamily="34" charset="0"/>
                <a:ea typeface="IBM Plex Sans Arabic" pitchFamily="34" charset="-122"/>
                <a:cs typeface="IBM Plex Sans Arabic" pitchFamily="34" charset="-120"/>
              </a:rPr>
              <a:t>ISACA · إدارة أمن المعلومات</a:t>
            </a:r>
            <a:endParaRPr lang="ar-SA" sz="1200" dirty="0" altLang="en-US"/>
          </a:p>
        </p:txBody>
      </p:sp>
      <p:sp>
        <p:nvSpPr>
          <p:cNvPr id="25" name="Text 22"/>
          <p:cNvSpPr/>
          <p:nvPr/>
        </p:nvSpPr>
        <p:spPr>
          <a:xfrm>
            <a:off x="10433050" y="1940520"/>
            <a:ext cx="762000" cy="609600"/>
          </a:xfrm>
          <a:custGeom>
            <a:avLst/>
            <a:gdLst/>
            <a:ahLst/>
            <a:cxnLst/>
            <a:rect l="l" t="t" r="r" b="b"/>
            <a:pathLst>
              <a:path w="762000" h="609600">
                <a:moveTo>
                  <a:pt x="127000" y="0"/>
                </a:moveTo>
                <a:lnTo>
                  <a:pt x="635000" y="0"/>
                </a:lnTo>
                <a:arcTo hR="127000" wR="127000" stAng="16200000" swAng="5400000"/>
                <a:lnTo>
                  <a:pt x="762000" y="482600"/>
                </a:lnTo>
                <a:arcTo hR="127000" wR="127000" stAng="0" swAng="5400000"/>
                <a:lnTo>
                  <a:pt x="127000" y="609600"/>
                </a:lnTo>
                <a:arcTo hR="127000" wR="127000" stAng="5400000" swAng="5400000"/>
                <a:lnTo>
                  <a:pt x="0" y="127000"/>
                </a:lnTo>
                <a:arcTo hR="127000" wR="127000" stAng="10800000" swAng="5400000"/>
                <a:close/>
              </a:path>
            </a:pathLst>
          </a:custGeom>
          <a:solidFill>
            <a:srgbClr val="FFFDF8"/>
          </a:solidFill>
          <a:ln/>
        </p:spPr>
        <p:txBody>
          <a:bodyPr wrap="square" lIns="0" tIns="0" rIns="0" bIns="0" rtlCol="0" anchor="ctr">
            <a:normAutofit/>
          </a:bodyPr>
          <a:lstStyle/>
          <a:p>
            <a:pPr algn="ctr" indent="0" marL="0">
              <a:lnSpc>
                <a:spcPts val="1700"/>
              </a:lnSpc>
              <a:buNone/>
            </a:pPr>
            <a:r>
              <a:rPr lang="en-US" sz="1700" b="1" dirty="0">
                <a:solidFill>
                  <a:srgbClr val="0E6B5C"/>
                </a:solidFill>
                <a:latin typeface="Readex Pro" pitchFamily="34" charset="0"/>
                <a:ea typeface="Readex Pro" pitchFamily="34" charset="-122"/>
                <a:cs typeface="Readex Pro" pitchFamily="34" charset="-120"/>
              </a:rPr>
              <a:t>CISM</a:t>
            </a:r>
            <a:endParaRPr lang="en-US" sz="1700" dirty="0"/>
          </a:p>
        </p:txBody>
      </p:sp>
      <p:sp>
        <p:nvSpPr>
          <p:cNvPr id="26" name="Text 23"/>
          <p:cNvSpPr/>
          <p:nvPr/>
        </p:nvSpPr>
        <p:spPr>
          <a:xfrm>
            <a:off x="6252083" y="2816820"/>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 سنوات في إدارة أمن المعلومات، في 3 مجالات من 4؛ إعفاء حتى سنتين</a:t>
            </a:r>
            <a:endParaRPr lang="ar-SA" sz="1200" dirty="0" altLang="en-US"/>
          </a:p>
        </p:txBody>
      </p:sp>
      <p:sp>
        <p:nvSpPr>
          <p:cNvPr id="27" name="Text 24"/>
          <p:cNvSpPr/>
          <p:nvPr/>
        </p:nvSpPr>
        <p:spPr>
          <a:xfrm>
            <a:off x="10318750" y="2816820"/>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28" name="Text 25"/>
          <p:cNvSpPr/>
          <p:nvPr/>
        </p:nvSpPr>
        <p:spPr>
          <a:xfrm>
            <a:off x="6252083" y="331966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150 سؤالاً في 4 ساعات، والنجاح 450 من 800</a:t>
            </a:r>
            <a:endParaRPr lang="ar-SA" sz="1200" dirty="0" altLang="en-US"/>
          </a:p>
        </p:txBody>
      </p:sp>
      <p:sp>
        <p:nvSpPr>
          <p:cNvPr id="29" name="Text 26"/>
          <p:cNvSpPr/>
          <p:nvPr/>
        </p:nvSpPr>
        <p:spPr>
          <a:xfrm>
            <a:off x="10318750" y="331966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30" name="Text 27"/>
          <p:cNvSpPr/>
          <p:nvPr/>
        </p:nvSpPr>
        <p:spPr>
          <a:xfrm>
            <a:off x="6252083" y="360918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575 دولاراً للأعضاء و760 لغيرهم، و50 لطلب الشهادة</a:t>
            </a:r>
            <a:endParaRPr lang="ar-SA" sz="1200" dirty="0" altLang="en-US"/>
          </a:p>
        </p:txBody>
      </p:sp>
      <p:sp>
        <p:nvSpPr>
          <p:cNvPr id="31" name="Text 28"/>
          <p:cNvSpPr/>
          <p:nvPr/>
        </p:nvSpPr>
        <p:spPr>
          <a:xfrm>
            <a:off x="10318750" y="360918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32" name="Text 29"/>
          <p:cNvSpPr/>
          <p:nvPr/>
        </p:nvSpPr>
        <p:spPr>
          <a:xfrm>
            <a:off x="6252083" y="3898702"/>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20 ساعة CPE سنوياً و120 كل 3 سنوات، ورسم سنوي</a:t>
            </a:r>
            <a:endParaRPr lang="ar-SA" sz="1200" dirty="0" altLang="en-US"/>
          </a:p>
        </p:txBody>
      </p:sp>
      <p:sp>
        <p:nvSpPr>
          <p:cNvPr id="33" name="Text 30"/>
          <p:cNvSpPr/>
          <p:nvPr/>
        </p:nvSpPr>
        <p:spPr>
          <a:xfrm>
            <a:off x="10318750" y="3898702"/>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34" name="Shape 31"/>
          <p:cNvSpPr/>
          <p:nvPr/>
        </p:nvSpPr>
        <p:spPr>
          <a:xfrm>
            <a:off x="6369050" y="4188222"/>
            <a:ext cx="4826000" cy="340320"/>
          </a:xfrm>
          <a:prstGeom prst="roundRect">
            <a:avLst>
              <a:gd name="adj" fmla="val 18659"/>
            </a:avLst>
          </a:prstGeom>
          <a:solidFill>
            <a:srgbClr val="F6ECDA"/>
          </a:solidFill>
          <a:ln/>
        </p:spPr>
      </p:sp>
      <p:sp>
        <p:nvSpPr>
          <p:cNvPr id="35" name="Text 32"/>
          <p:cNvSpPr/>
          <p:nvPr/>
        </p:nvSpPr>
        <p:spPr>
          <a:xfrm>
            <a:off x="6325743" y="4251722"/>
            <a:ext cx="4539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مخطط اختبار جديد من 3 نوفمبر 2026؛ راجع المجالات الجديدة قبل المذاكرة.</a:t>
            </a:r>
            <a:endParaRPr lang="ar-SA" sz="1200" dirty="0" altLang="en-US"/>
          </a:p>
        </p:txBody>
      </p:sp>
      <p:pic>
        <p:nvPicPr>
          <p:cNvPr id="36" name="Image 1" descr="Warning">    </p:cNvPr>
          <p:cNvPicPr>
            <a:picLocks noChangeAspect="1"/>
          </p:cNvPicPr>
          <p:nvPr/>
        </p:nvPicPr>
        <p:blipFill>
          <a:blip r:embed="rId2"/>
          <a:srcRect l="0" r="0" t="0" b="0"/>
          <a:stretch/>
        </p:blipFill>
        <p:spPr>
          <a:xfrm>
            <a:off x="10941050" y="4251722"/>
            <a:ext cx="165100" cy="165100"/>
          </a:xfrm>
          <a:prstGeom prst="rect">
            <a:avLst/>
          </a:prstGeom>
        </p:spPr>
      </p:pic>
      <p:sp>
        <p:nvSpPr>
          <p:cNvPr id="37" name="Text 3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33</a:t>
            </a:r>
            <a:endParaRPr lang="en-US" sz="1200" dirty="0"/>
          </a:p>
        </p:txBody>
      </p:sp>
      <p:sp>
        <p:nvSpPr>
          <p:cNvPr id="38" name="Text 3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04 · الشهادات · الأسعار بالدولار الأمريكي كما في 27 أكتوبر 2026</a:t>
            </a:r>
            <a:endParaRPr lang="ar-SA" sz="1200" dirty="0"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580257" cy="289520"/>
          </a:xfrm>
          <a:custGeom>
            <a:avLst/>
            <a:gdLst/>
            <a:ahLst/>
            <a:cxnLst/>
            <a:rect l="l" t="t" r="r" b="b"/>
            <a:pathLst>
              <a:path w="1580257" h="289520">
                <a:moveTo>
                  <a:pt x="144760" y="0"/>
                </a:moveTo>
                <a:lnTo>
                  <a:pt x="1435497" y="0"/>
                </a:lnTo>
                <a:arcTo hR="144760" wR="144760" stAng="16200000" swAng="5400000"/>
                <a:lnTo>
                  <a:pt x="158025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04 · الشهادات</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ISC2: الحوكمة والمخاطر، ثم القيادة</a:t>
            </a:r>
            <a:endParaRPr lang="ar-SA" sz="3000" dirty="0" altLang="en-US"/>
          </a:p>
        </p:txBody>
      </p:sp>
      <p:sp>
        <p:nvSpPr>
          <p:cNvPr id="5" name="Shape 3"/>
          <p:cNvSpPr/>
          <p:nvPr/>
        </p:nvSpPr>
        <p:spPr>
          <a:xfrm>
            <a:off x="815975" y="1810345"/>
            <a:ext cx="5187950" cy="2861072"/>
          </a:xfrm>
          <a:prstGeom prst="roundRect">
            <a:avLst>
              <a:gd name="adj" fmla="val 3884"/>
            </a:avLst>
          </a:prstGeom>
          <a:solidFill>
            <a:srgbClr val="FFFDF8"/>
          </a:solidFill>
          <a:ln w="6350">
            <a:solidFill>
              <a:srgbClr val="E1DBCD"/>
            </a:solidFill>
            <a:prstDash val="solid"/>
          </a:ln>
        </p:spPr>
      </p:sp>
      <p:sp>
        <p:nvSpPr>
          <p:cNvPr id="6" name="Shape 4"/>
          <p:cNvSpPr/>
          <p:nvPr/>
        </p:nvSpPr>
        <p:spPr>
          <a:xfrm>
            <a:off x="819150" y="1813520"/>
            <a:ext cx="5181600" cy="863600"/>
          </a:xfrm>
          <a:custGeom>
            <a:avLst/>
            <a:gdLst/>
            <a:ahLst/>
            <a:cxnLst/>
            <a:rect l="l" t="t" r="r" b="b"/>
            <a:pathLst>
              <a:path w="5181600" h="863600">
                <a:moveTo>
                  <a:pt x="0" y="107950"/>
                </a:moveTo>
                <a:arcTo hR="107950" wR="107950" stAng="10800000" swAng="5400000"/>
                <a:lnTo>
                  <a:pt x="5073650" y="0"/>
                </a:lnTo>
                <a:arcTo hR="107950" wR="107950" stAng="16200000" swAng="5400000"/>
                <a:lnTo>
                  <a:pt x="5181600" y="863600"/>
                </a:lnTo>
                <a:lnTo>
                  <a:pt x="0" y="863600"/>
                </a:lnTo>
                <a:close/>
              </a:path>
            </a:pathLst>
          </a:custGeom>
          <a:solidFill>
            <a:srgbClr val="24506B"/>
          </a:solidFill>
          <a:ln/>
        </p:spPr>
      </p:sp>
      <p:sp>
        <p:nvSpPr>
          <p:cNvPr id="7" name="Text 5"/>
          <p:cNvSpPr/>
          <p:nvPr/>
        </p:nvSpPr>
        <p:spPr>
          <a:xfrm>
            <a:off x="819150" y="2014190"/>
            <a:ext cx="4102100"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Information Systems Security Professional</a:t>
            </a:r>
            <a:endParaRPr lang="en-US" sz="1400" dirty="0"/>
          </a:p>
        </p:txBody>
      </p:sp>
      <p:sp>
        <p:nvSpPr>
          <p:cNvPr id="8" name="Text 6"/>
          <p:cNvSpPr/>
          <p:nvPr/>
        </p:nvSpPr>
        <p:spPr>
          <a:xfrm>
            <a:off x="879221" y="2270720"/>
            <a:ext cx="404202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CFE0EA"/>
                </a:solidFill>
                <a:latin typeface="IBM Plex Sans Arabic" pitchFamily="34" charset="0"/>
                <a:ea typeface="IBM Plex Sans Arabic" pitchFamily="34" charset="-122"/>
                <a:cs typeface="IBM Plex Sans Arabic" pitchFamily="34" charset="-120"/>
              </a:rPr>
              <a:t>ISC2 · للمستوى القيادي في الأمن</a:t>
            </a:r>
            <a:endParaRPr lang="ar-SA" sz="1200" dirty="0" altLang="en-US"/>
          </a:p>
        </p:txBody>
      </p:sp>
      <p:sp>
        <p:nvSpPr>
          <p:cNvPr id="9" name="Text 7"/>
          <p:cNvSpPr/>
          <p:nvPr/>
        </p:nvSpPr>
        <p:spPr>
          <a:xfrm>
            <a:off x="5060950" y="1940520"/>
            <a:ext cx="762000" cy="609600"/>
          </a:xfrm>
          <a:custGeom>
            <a:avLst/>
            <a:gdLst/>
            <a:ahLst/>
            <a:cxnLst/>
            <a:rect l="l" t="t" r="r" b="b"/>
            <a:pathLst>
              <a:path w="762000" h="609600">
                <a:moveTo>
                  <a:pt x="127000" y="0"/>
                </a:moveTo>
                <a:lnTo>
                  <a:pt x="635000" y="0"/>
                </a:lnTo>
                <a:arcTo hR="127000" wR="127000" stAng="16200000" swAng="5400000"/>
                <a:lnTo>
                  <a:pt x="762000" y="482600"/>
                </a:lnTo>
                <a:arcTo hR="127000" wR="127000" stAng="0" swAng="5400000"/>
                <a:lnTo>
                  <a:pt x="127000" y="609600"/>
                </a:lnTo>
                <a:arcTo hR="127000" wR="127000" stAng="5400000" swAng="5400000"/>
                <a:lnTo>
                  <a:pt x="0" y="127000"/>
                </a:lnTo>
                <a:arcTo hR="127000" wR="127000" stAng="10800000" swAng="5400000"/>
                <a:close/>
              </a:path>
            </a:pathLst>
          </a:custGeom>
          <a:solidFill>
            <a:srgbClr val="FFFDF8"/>
          </a:solidFill>
          <a:ln/>
        </p:spPr>
        <p:txBody>
          <a:bodyPr wrap="square" lIns="0" tIns="0" rIns="0" bIns="0" rtlCol="0" anchor="ctr">
            <a:normAutofit/>
          </a:bodyPr>
          <a:lstStyle/>
          <a:p>
            <a:pPr algn="ctr" indent="0" marL="0">
              <a:lnSpc>
                <a:spcPts val="1700"/>
              </a:lnSpc>
              <a:buNone/>
            </a:pPr>
            <a:r>
              <a:rPr lang="en-US" sz="1700" b="1" dirty="0">
                <a:solidFill>
                  <a:srgbClr val="24506B"/>
                </a:solidFill>
                <a:latin typeface="Readex Pro" pitchFamily="34" charset="0"/>
                <a:ea typeface="Readex Pro" pitchFamily="34" charset="-122"/>
                <a:cs typeface="Readex Pro" pitchFamily="34" charset="-120"/>
              </a:rPr>
              <a:t>CISSP</a:t>
            </a:r>
            <a:endParaRPr lang="en-US" sz="1700" dirty="0"/>
          </a:p>
        </p:txBody>
      </p:sp>
      <p:sp>
        <p:nvSpPr>
          <p:cNvPr id="10" name="Text 8"/>
          <p:cNvSpPr/>
          <p:nvPr/>
        </p:nvSpPr>
        <p:spPr>
          <a:xfrm>
            <a:off x="879983" y="2816820"/>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 سنوات في مجالين من 8؛ درجة أو شهادة معتمدة تعوض سنة</a:t>
            </a:r>
            <a:endParaRPr lang="ar-SA" sz="1200" dirty="0" altLang="en-US"/>
          </a:p>
        </p:txBody>
      </p:sp>
      <p:sp>
        <p:nvSpPr>
          <p:cNvPr id="11" name="Text 9"/>
          <p:cNvSpPr/>
          <p:nvPr/>
        </p:nvSpPr>
        <p:spPr>
          <a:xfrm>
            <a:off x="4946650" y="2816820"/>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12" name="Text 10"/>
          <p:cNvSpPr/>
          <p:nvPr/>
        </p:nvSpPr>
        <p:spPr>
          <a:xfrm>
            <a:off x="879983" y="310634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100 إلى 150 سؤالاً في 3 ساعات، تكيفي (CAT)</a:t>
            </a:r>
            <a:endParaRPr lang="ar-SA" sz="1200" dirty="0" altLang="en-US"/>
          </a:p>
        </p:txBody>
      </p:sp>
      <p:sp>
        <p:nvSpPr>
          <p:cNvPr id="13" name="Text 11"/>
          <p:cNvSpPr/>
          <p:nvPr/>
        </p:nvSpPr>
        <p:spPr>
          <a:xfrm>
            <a:off x="4946650" y="310634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14" name="Text 12"/>
          <p:cNvSpPr/>
          <p:nvPr/>
        </p:nvSpPr>
        <p:spPr>
          <a:xfrm>
            <a:off x="879983" y="339586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749 دولاراً للاختبار، ثم 135 سنوياً</a:t>
            </a:r>
            <a:endParaRPr lang="ar-SA" sz="1200" dirty="0" altLang="en-US"/>
          </a:p>
        </p:txBody>
      </p:sp>
      <p:sp>
        <p:nvSpPr>
          <p:cNvPr id="15" name="Text 13"/>
          <p:cNvSpPr/>
          <p:nvPr/>
        </p:nvSpPr>
        <p:spPr>
          <a:xfrm>
            <a:off x="4946650" y="339586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16" name="Text 14"/>
          <p:cNvSpPr/>
          <p:nvPr/>
        </p:nvSpPr>
        <p:spPr>
          <a:xfrm>
            <a:off x="879983" y="368538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120 ساعة CPE كل 3 سنوات</a:t>
            </a:r>
            <a:endParaRPr lang="ar-SA" sz="1200" dirty="0" altLang="en-US"/>
          </a:p>
        </p:txBody>
      </p:sp>
      <p:sp>
        <p:nvSpPr>
          <p:cNvPr id="17" name="Text 15"/>
          <p:cNvSpPr/>
          <p:nvPr/>
        </p:nvSpPr>
        <p:spPr>
          <a:xfrm>
            <a:off x="4946650" y="368538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18" name="Shape 16"/>
          <p:cNvSpPr/>
          <p:nvPr/>
        </p:nvSpPr>
        <p:spPr>
          <a:xfrm>
            <a:off x="996950" y="3974902"/>
            <a:ext cx="4826000" cy="553641"/>
          </a:xfrm>
          <a:prstGeom prst="roundRect">
            <a:avLst>
              <a:gd name="adj" fmla="val 11470"/>
            </a:avLst>
          </a:prstGeom>
          <a:solidFill>
            <a:srgbClr val="F6ECDA"/>
          </a:solidFill>
          <a:ln/>
        </p:spPr>
      </p:sp>
      <p:sp>
        <p:nvSpPr>
          <p:cNvPr id="19" name="Text 17"/>
          <p:cNvSpPr/>
          <p:nvPr/>
        </p:nvSpPr>
        <p:spPr>
          <a:xfrm>
            <a:off x="953643" y="4038402"/>
            <a:ext cx="453910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بلا خبرة تصبح Associate ولديك 6 سنوات. مخطط اختبار جديد من 15 أبريل 2027.</a:t>
            </a:r>
            <a:endParaRPr lang="ar-SA" sz="1200" dirty="0" altLang="en-US"/>
          </a:p>
        </p:txBody>
      </p:sp>
      <p:pic>
        <p:nvPicPr>
          <p:cNvPr id="20" name="Image 0" descr="Warning">    </p:cNvPr>
          <p:cNvPicPr>
            <a:picLocks noChangeAspect="1"/>
          </p:cNvPicPr>
          <p:nvPr/>
        </p:nvPicPr>
        <p:blipFill>
          <a:blip r:embed="rId1"/>
          <a:srcRect l="0" r="0" t="0" b="0"/>
          <a:stretch/>
        </p:blipFill>
        <p:spPr>
          <a:xfrm>
            <a:off x="5568950" y="4038402"/>
            <a:ext cx="165100" cy="165100"/>
          </a:xfrm>
          <a:prstGeom prst="rect">
            <a:avLst/>
          </a:prstGeom>
        </p:spPr>
      </p:pic>
      <p:sp>
        <p:nvSpPr>
          <p:cNvPr id="21" name="Shape 18"/>
          <p:cNvSpPr/>
          <p:nvPr/>
        </p:nvSpPr>
        <p:spPr>
          <a:xfrm>
            <a:off x="6188075" y="1810345"/>
            <a:ext cx="5187950" cy="2861072"/>
          </a:xfrm>
          <a:prstGeom prst="roundRect">
            <a:avLst>
              <a:gd name="adj" fmla="val 3884"/>
            </a:avLst>
          </a:prstGeom>
          <a:solidFill>
            <a:srgbClr val="FFFDF8"/>
          </a:solidFill>
          <a:ln w="6350">
            <a:solidFill>
              <a:srgbClr val="E1DBCD"/>
            </a:solidFill>
            <a:prstDash val="solid"/>
          </a:ln>
        </p:spPr>
      </p:sp>
      <p:sp>
        <p:nvSpPr>
          <p:cNvPr id="22" name="Shape 19"/>
          <p:cNvSpPr/>
          <p:nvPr/>
        </p:nvSpPr>
        <p:spPr>
          <a:xfrm>
            <a:off x="6191250" y="1813520"/>
            <a:ext cx="5181600" cy="863600"/>
          </a:xfrm>
          <a:custGeom>
            <a:avLst/>
            <a:gdLst/>
            <a:ahLst/>
            <a:cxnLst/>
            <a:rect l="l" t="t" r="r" b="b"/>
            <a:pathLst>
              <a:path w="5181600" h="863600">
                <a:moveTo>
                  <a:pt x="0" y="107950"/>
                </a:moveTo>
                <a:arcTo hR="107950" wR="107950" stAng="10800000" swAng="5400000"/>
                <a:lnTo>
                  <a:pt x="5073650" y="0"/>
                </a:lnTo>
                <a:arcTo hR="107950" wR="107950" stAng="16200000" swAng="5400000"/>
                <a:lnTo>
                  <a:pt x="5181600" y="863600"/>
                </a:lnTo>
                <a:lnTo>
                  <a:pt x="0" y="863600"/>
                </a:lnTo>
                <a:close/>
              </a:path>
            </a:pathLst>
          </a:custGeom>
          <a:solidFill>
            <a:srgbClr val="24506B"/>
          </a:solidFill>
          <a:ln/>
        </p:spPr>
      </p:sp>
      <p:sp>
        <p:nvSpPr>
          <p:cNvPr id="23" name="Text 20"/>
          <p:cNvSpPr/>
          <p:nvPr/>
        </p:nvSpPr>
        <p:spPr>
          <a:xfrm>
            <a:off x="6251321" y="2014190"/>
            <a:ext cx="4042029"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Governance, Risk and Compliance</a:t>
            </a:r>
            <a:endParaRPr lang="en-US" sz="1400" dirty="0"/>
          </a:p>
        </p:txBody>
      </p:sp>
      <p:sp>
        <p:nvSpPr>
          <p:cNvPr id="24" name="Text 21"/>
          <p:cNvSpPr/>
          <p:nvPr/>
        </p:nvSpPr>
        <p:spPr>
          <a:xfrm>
            <a:off x="6251321" y="2270720"/>
            <a:ext cx="404202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CFE0EA"/>
                </a:solidFill>
                <a:latin typeface="IBM Plex Sans Arabic" pitchFamily="34" charset="0"/>
                <a:ea typeface="IBM Plex Sans Arabic" pitchFamily="34" charset="-122"/>
                <a:cs typeface="IBM Plex Sans Arabic" pitchFamily="34" charset="-120"/>
              </a:rPr>
              <a:t>ISC2 · كانت تسمى CAP حتى 2023</a:t>
            </a:r>
            <a:endParaRPr lang="ar-SA" sz="1200" dirty="0" altLang="en-US"/>
          </a:p>
        </p:txBody>
      </p:sp>
      <p:sp>
        <p:nvSpPr>
          <p:cNvPr id="25" name="Text 22"/>
          <p:cNvSpPr/>
          <p:nvPr/>
        </p:nvSpPr>
        <p:spPr>
          <a:xfrm>
            <a:off x="10433050" y="1940520"/>
            <a:ext cx="762000" cy="609600"/>
          </a:xfrm>
          <a:custGeom>
            <a:avLst/>
            <a:gdLst/>
            <a:ahLst/>
            <a:cxnLst/>
            <a:rect l="l" t="t" r="r" b="b"/>
            <a:pathLst>
              <a:path w="762000" h="609600">
                <a:moveTo>
                  <a:pt x="127000" y="0"/>
                </a:moveTo>
                <a:lnTo>
                  <a:pt x="635000" y="0"/>
                </a:lnTo>
                <a:arcTo hR="127000" wR="127000" stAng="16200000" swAng="5400000"/>
                <a:lnTo>
                  <a:pt x="762000" y="482600"/>
                </a:lnTo>
                <a:arcTo hR="127000" wR="127000" stAng="0" swAng="5400000"/>
                <a:lnTo>
                  <a:pt x="127000" y="609600"/>
                </a:lnTo>
                <a:arcTo hR="127000" wR="127000" stAng="5400000" swAng="5400000"/>
                <a:lnTo>
                  <a:pt x="0" y="127000"/>
                </a:lnTo>
                <a:arcTo hR="127000" wR="127000" stAng="10800000" swAng="5400000"/>
                <a:close/>
              </a:path>
            </a:pathLst>
          </a:custGeom>
          <a:solidFill>
            <a:srgbClr val="FFFDF8"/>
          </a:solidFill>
          <a:ln/>
        </p:spPr>
        <p:txBody>
          <a:bodyPr wrap="square" lIns="0" tIns="0" rIns="0" bIns="0" rtlCol="0" anchor="ctr">
            <a:normAutofit/>
          </a:bodyPr>
          <a:lstStyle/>
          <a:p>
            <a:pPr algn="ctr" indent="0" marL="0">
              <a:lnSpc>
                <a:spcPts val="1700"/>
              </a:lnSpc>
              <a:buNone/>
            </a:pPr>
            <a:r>
              <a:rPr lang="en-US" sz="1700" b="1" dirty="0">
                <a:solidFill>
                  <a:srgbClr val="24506B"/>
                </a:solidFill>
                <a:latin typeface="Readex Pro" pitchFamily="34" charset="0"/>
                <a:ea typeface="Readex Pro" pitchFamily="34" charset="-122"/>
                <a:cs typeface="Readex Pro" pitchFamily="34" charset="-120"/>
              </a:rPr>
              <a:t>CGRC</a:t>
            </a:r>
            <a:endParaRPr lang="en-US" sz="1700" dirty="0"/>
          </a:p>
        </p:txBody>
      </p:sp>
      <p:sp>
        <p:nvSpPr>
          <p:cNvPr id="26" name="Text 23"/>
          <p:cNvSpPr/>
          <p:nvPr/>
        </p:nvSpPr>
        <p:spPr>
          <a:xfrm>
            <a:off x="6252083" y="2816820"/>
            <a:ext cx="401586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سنتان في مجال واحد على الأقل من 7؛ يُحتسب الدوام الجزئي والتدريب</a:t>
            </a:r>
            <a:endParaRPr lang="ar-SA" sz="1200" dirty="0" altLang="en-US"/>
          </a:p>
        </p:txBody>
      </p:sp>
      <p:sp>
        <p:nvSpPr>
          <p:cNvPr id="27" name="Text 24"/>
          <p:cNvSpPr/>
          <p:nvPr/>
        </p:nvSpPr>
        <p:spPr>
          <a:xfrm>
            <a:off x="10318750" y="2816820"/>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28" name="Text 25"/>
          <p:cNvSpPr/>
          <p:nvPr/>
        </p:nvSpPr>
        <p:spPr>
          <a:xfrm>
            <a:off x="6252083" y="331966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125 سؤالاً في 3 ساعات، والنجاح 700 من 1000</a:t>
            </a:r>
            <a:endParaRPr lang="ar-SA" sz="1200" dirty="0" altLang="en-US"/>
          </a:p>
        </p:txBody>
      </p:sp>
      <p:sp>
        <p:nvSpPr>
          <p:cNvPr id="29" name="Text 26"/>
          <p:cNvSpPr/>
          <p:nvPr/>
        </p:nvSpPr>
        <p:spPr>
          <a:xfrm>
            <a:off x="10318750" y="331966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30" name="Text 27"/>
          <p:cNvSpPr/>
          <p:nvPr/>
        </p:nvSpPr>
        <p:spPr>
          <a:xfrm>
            <a:off x="6252083" y="3609181"/>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599 دولاراً للاختبار، ثم 135 سنوياً</a:t>
            </a:r>
            <a:endParaRPr lang="ar-SA" sz="1200" dirty="0" altLang="en-US"/>
          </a:p>
        </p:txBody>
      </p:sp>
      <p:sp>
        <p:nvSpPr>
          <p:cNvPr id="31" name="Text 28"/>
          <p:cNvSpPr/>
          <p:nvPr/>
        </p:nvSpPr>
        <p:spPr>
          <a:xfrm>
            <a:off x="10318750" y="3609181"/>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32" name="Text 29"/>
          <p:cNvSpPr/>
          <p:nvPr/>
        </p:nvSpPr>
        <p:spPr>
          <a:xfrm>
            <a:off x="6252083" y="3898702"/>
            <a:ext cx="401586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60 ساعة CPE كل 3 سنوات</a:t>
            </a:r>
            <a:endParaRPr lang="ar-SA" sz="1200" dirty="0" altLang="en-US"/>
          </a:p>
        </p:txBody>
      </p:sp>
      <p:sp>
        <p:nvSpPr>
          <p:cNvPr id="33" name="Text 30"/>
          <p:cNvSpPr/>
          <p:nvPr/>
        </p:nvSpPr>
        <p:spPr>
          <a:xfrm>
            <a:off x="10318750" y="3898702"/>
            <a:ext cx="876300"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34" name="Shape 31"/>
          <p:cNvSpPr/>
          <p:nvPr/>
        </p:nvSpPr>
        <p:spPr>
          <a:xfrm>
            <a:off x="6369050" y="4188222"/>
            <a:ext cx="4826000" cy="340320"/>
          </a:xfrm>
          <a:prstGeom prst="roundRect">
            <a:avLst>
              <a:gd name="adj" fmla="val 18659"/>
            </a:avLst>
          </a:prstGeom>
          <a:solidFill>
            <a:srgbClr val="E3F1ED"/>
          </a:solidFill>
          <a:ln/>
        </p:spPr>
      </p:sp>
      <p:sp>
        <p:nvSpPr>
          <p:cNvPr id="35" name="Text 32"/>
          <p:cNvSpPr/>
          <p:nvPr/>
        </p:nvSpPr>
        <p:spPr>
          <a:xfrm>
            <a:off x="6325743" y="4251722"/>
            <a:ext cx="4539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تنجح بلا خبرة فتصبح Associate of ISC2، ولديك 3 سنوات لتكملها.</a:t>
            </a:r>
            <a:endParaRPr lang="ar-SA" sz="1200" dirty="0" altLang="en-US"/>
          </a:p>
        </p:txBody>
      </p:sp>
      <p:pic>
        <p:nvPicPr>
          <p:cNvPr id="36" name="Image 1" descr="Lightbulb">    </p:cNvPr>
          <p:cNvPicPr>
            <a:picLocks noChangeAspect="1"/>
          </p:cNvPicPr>
          <p:nvPr/>
        </p:nvPicPr>
        <p:blipFill>
          <a:blip r:embed="rId2"/>
          <a:srcRect l="0" r="0" t="0" b="0"/>
          <a:stretch/>
        </p:blipFill>
        <p:spPr>
          <a:xfrm>
            <a:off x="10941050" y="4251722"/>
            <a:ext cx="165100" cy="165100"/>
          </a:xfrm>
          <a:prstGeom prst="rect">
            <a:avLst/>
          </a:prstGeom>
        </p:spPr>
      </p:pic>
      <p:sp>
        <p:nvSpPr>
          <p:cNvPr id="37" name="Text 3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34</a:t>
            </a:r>
            <a:endParaRPr lang="en-US" sz="1200" dirty="0"/>
          </a:p>
        </p:txBody>
      </p:sp>
      <p:sp>
        <p:nvSpPr>
          <p:cNvPr id="38" name="Text 3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04 · الشهادات · الأسعار بالدولار الأمريكي كما في 27 أكتوبر 2026</a:t>
            </a:r>
            <a:endParaRPr lang="ar-SA" sz="1200" dirty="0"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580257" cy="289520"/>
          </a:xfrm>
          <a:custGeom>
            <a:avLst/>
            <a:gdLst/>
            <a:ahLst/>
            <a:cxnLst/>
            <a:rect l="l" t="t" r="r" b="b"/>
            <a:pathLst>
              <a:path w="1580257" h="289520">
                <a:moveTo>
                  <a:pt x="144760" y="0"/>
                </a:moveTo>
                <a:lnTo>
                  <a:pt x="1435497" y="0"/>
                </a:lnTo>
                <a:arcTo hR="144760" wR="144760" stAng="16200000" swAng="5400000"/>
                <a:lnTo>
                  <a:pt x="158025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04 · الشهادات</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شهادات الخصوصية وحماية البيانات</a:t>
            </a:r>
            <a:endParaRPr lang="ar-SA" sz="3000" dirty="0" altLang="en-US"/>
          </a:p>
        </p:txBody>
      </p:sp>
      <p:sp>
        <p:nvSpPr>
          <p:cNvPr id="5" name="Shape 3"/>
          <p:cNvSpPr/>
          <p:nvPr/>
        </p:nvSpPr>
        <p:spPr>
          <a:xfrm>
            <a:off x="815975" y="1810345"/>
            <a:ext cx="3414167" cy="3132733"/>
          </a:xfrm>
          <a:prstGeom prst="roundRect">
            <a:avLst>
              <a:gd name="adj" fmla="val 3547"/>
            </a:avLst>
          </a:prstGeom>
          <a:solidFill>
            <a:srgbClr val="FFFDF8"/>
          </a:solidFill>
          <a:ln w="6350">
            <a:solidFill>
              <a:srgbClr val="E1DBCD"/>
            </a:solidFill>
            <a:prstDash val="solid"/>
          </a:ln>
        </p:spPr>
      </p:sp>
      <p:sp>
        <p:nvSpPr>
          <p:cNvPr id="6" name="Shape 4"/>
          <p:cNvSpPr/>
          <p:nvPr/>
        </p:nvSpPr>
        <p:spPr>
          <a:xfrm>
            <a:off x="819150" y="1813520"/>
            <a:ext cx="3407817" cy="711200"/>
          </a:xfrm>
          <a:custGeom>
            <a:avLst/>
            <a:gdLst/>
            <a:ahLst/>
            <a:cxnLst/>
            <a:rect l="l" t="t" r="r" b="b"/>
            <a:pathLst>
              <a:path w="3407817" h="711200">
                <a:moveTo>
                  <a:pt x="0" y="107950"/>
                </a:moveTo>
                <a:arcTo hR="107950" wR="107950" stAng="10800000" swAng="5400000"/>
                <a:lnTo>
                  <a:pt x="3299867" y="0"/>
                </a:lnTo>
                <a:arcTo hR="107950" wR="107950" stAng="16200000" swAng="5400000"/>
                <a:lnTo>
                  <a:pt x="3407817" y="711200"/>
                </a:lnTo>
                <a:lnTo>
                  <a:pt x="0" y="711200"/>
                </a:lnTo>
                <a:close/>
              </a:path>
            </a:pathLst>
          </a:custGeom>
          <a:solidFill>
            <a:srgbClr val="0E6B5C"/>
          </a:solidFill>
          <a:ln/>
        </p:spPr>
      </p:sp>
      <p:sp>
        <p:nvSpPr>
          <p:cNvPr id="7" name="Text 5"/>
          <p:cNvSpPr/>
          <p:nvPr/>
        </p:nvSpPr>
        <p:spPr>
          <a:xfrm>
            <a:off x="904748" y="1944340"/>
            <a:ext cx="2293518"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ISACA</a:t>
            </a:r>
            <a:endParaRPr lang="en-US" sz="1400" dirty="0"/>
          </a:p>
        </p:txBody>
      </p:sp>
      <p:sp>
        <p:nvSpPr>
          <p:cNvPr id="8" name="Text 6"/>
          <p:cNvSpPr/>
          <p:nvPr/>
        </p:nvSpPr>
        <p:spPr>
          <a:xfrm>
            <a:off x="904748" y="2188170"/>
            <a:ext cx="2293518"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CFEAE3"/>
                </a:solidFill>
                <a:latin typeface="IBM Plex Sans Arabic" pitchFamily="34" charset="0"/>
                <a:ea typeface="IBM Plex Sans Arabic" pitchFamily="34" charset="-122"/>
                <a:cs typeface="IBM Plex Sans Arabic" pitchFamily="34" charset="-120"/>
              </a:rPr>
              <a:t>الهندسة التقنية للخصوصية</a:t>
            </a:r>
            <a:endParaRPr lang="ar-SA" sz="1200" dirty="0" altLang="en-US"/>
          </a:p>
        </p:txBody>
      </p:sp>
      <p:sp>
        <p:nvSpPr>
          <p:cNvPr id="9" name="Text 7"/>
          <p:cNvSpPr/>
          <p:nvPr/>
        </p:nvSpPr>
        <p:spPr>
          <a:xfrm>
            <a:off x="3312567" y="1927820"/>
            <a:ext cx="762000" cy="482600"/>
          </a:xfrm>
          <a:custGeom>
            <a:avLst/>
            <a:gdLst/>
            <a:ahLst/>
            <a:cxnLst/>
            <a:rect l="l" t="t" r="r" b="b"/>
            <a:pathLst>
              <a:path w="762000" h="482600">
                <a:moveTo>
                  <a:pt x="101600" y="0"/>
                </a:moveTo>
                <a:lnTo>
                  <a:pt x="660400" y="0"/>
                </a:lnTo>
                <a:arcTo hR="101600" wR="101600" stAng="16200000" swAng="5400000"/>
                <a:lnTo>
                  <a:pt x="762000" y="381000"/>
                </a:lnTo>
                <a:arcTo hR="101600" wR="101600" stAng="0" swAng="5400000"/>
                <a:lnTo>
                  <a:pt x="101600" y="482600"/>
                </a:lnTo>
                <a:arcTo hR="101600" wR="101600" stAng="5400000" swAng="5400000"/>
                <a:lnTo>
                  <a:pt x="0" y="101600"/>
                </a:lnTo>
                <a:arcTo hR="101600" wR="101600" stAng="10800000" swAng="5400000"/>
                <a:close/>
              </a:path>
            </a:pathLst>
          </a:custGeom>
          <a:solidFill>
            <a:srgbClr val="FFFDF8"/>
          </a:solidFill>
          <a:ln/>
        </p:spPr>
        <p:txBody>
          <a:bodyPr wrap="square" lIns="0" tIns="0" rIns="0" bIns="0" rtlCol="0" anchor="ctr">
            <a:normAutofit/>
          </a:bodyPr>
          <a:lstStyle/>
          <a:p>
            <a:pPr algn="ctr" indent="0" marL="0">
              <a:lnSpc>
                <a:spcPts val="1400"/>
              </a:lnSpc>
              <a:buNone/>
            </a:pPr>
            <a:r>
              <a:rPr lang="en-US" sz="1400" b="1" dirty="0">
                <a:solidFill>
                  <a:srgbClr val="0E6B5C"/>
                </a:solidFill>
                <a:latin typeface="Readex Pro" pitchFamily="34" charset="0"/>
                <a:ea typeface="Readex Pro" pitchFamily="34" charset="-122"/>
                <a:cs typeface="Readex Pro" pitchFamily="34" charset="-120"/>
              </a:rPr>
              <a:t>CDPSE</a:t>
            </a:r>
            <a:endParaRPr lang="en-US" sz="1400" dirty="0"/>
          </a:p>
        </p:txBody>
      </p:sp>
      <p:sp>
        <p:nvSpPr>
          <p:cNvPr id="10" name="Text 8"/>
          <p:cNvSpPr/>
          <p:nvPr/>
        </p:nvSpPr>
        <p:spPr>
          <a:xfrm>
            <a:off x="878459" y="2651720"/>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11" name="Text 9"/>
          <p:cNvSpPr/>
          <p:nvPr/>
        </p:nvSpPr>
        <p:spPr>
          <a:xfrm>
            <a:off x="878459" y="2877741"/>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3 سنوات في الخصوصية، بلا إعفاء</a:t>
            </a:r>
            <a:endParaRPr lang="ar-SA" sz="1200" dirty="0" altLang="en-US"/>
          </a:p>
        </p:txBody>
      </p:sp>
      <p:sp>
        <p:nvSpPr>
          <p:cNvPr id="12" name="Text 10"/>
          <p:cNvSpPr/>
          <p:nvPr/>
        </p:nvSpPr>
        <p:spPr>
          <a:xfrm>
            <a:off x="878459" y="3154561"/>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13" name="Text 11"/>
          <p:cNvSpPr/>
          <p:nvPr/>
        </p:nvSpPr>
        <p:spPr>
          <a:xfrm>
            <a:off x="878459" y="3380581"/>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120 سؤالاً في 3 ساعات ونصف</a:t>
            </a:r>
            <a:endParaRPr lang="ar-SA" sz="1200" dirty="0" altLang="en-US"/>
          </a:p>
        </p:txBody>
      </p:sp>
      <p:sp>
        <p:nvSpPr>
          <p:cNvPr id="14" name="Text 12"/>
          <p:cNvSpPr/>
          <p:nvPr/>
        </p:nvSpPr>
        <p:spPr>
          <a:xfrm>
            <a:off x="878459" y="3657402"/>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15" name="Text 13"/>
          <p:cNvSpPr/>
          <p:nvPr/>
        </p:nvSpPr>
        <p:spPr>
          <a:xfrm>
            <a:off x="878459" y="3883422"/>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575 دولاراً للأعضاء و760 لغيرهم</a:t>
            </a:r>
            <a:endParaRPr lang="ar-SA" sz="1200" dirty="0" altLang="en-US"/>
          </a:p>
        </p:txBody>
      </p:sp>
      <p:sp>
        <p:nvSpPr>
          <p:cNvPr id="16" name="Text 14"/>
          <p:cNvSpPr/>
          <p:nvPr/>
        </p:nvSpPr>
        <p:spPr>
          <a:xfrm>
            <a:off x="878459" y="4160242"/>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17" name="Text 15"/>
          <p:cNvSpPr/>
          <p:nvPr/>
        </p:nvSpPr>
        <p:spPr>
          <a:xfrm>
            <a:off x="878459" y="4386263"/>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20 ساعة CPE سنوياً، ورسم 45 أو 85 دولاراً</a:t>
            </a:r>
            <a:endParaRPr lang="ar-SA" sz="1200" dirty="0" altLang="en-US"/>
          </a:p>
        </p:txBody>
      </p:sp>
      <p:sp>
        <p:nvSpPr>
          <p:cNvPr id="18" name="Shape 16"/>
          <p:cNvSpPr/>
          <p:nvPr/>
        </p:nvSpPr>
        <p:spPr>
          <a:xfrm>
            <a:off x="4388892" y="1810345"/>
            <a:ext cx="3414216" cy="3132733"/>
          </a:xfrm>
          <a:prstGeom prst="roundRect">
            <a:avLst>
              <a:gd name="adj" fmla="val 3547"/>
            </a:avLst>
          </a:prstGeom>
          <a:solidFill>
            <a:srgbClr val="FFFDF8"/>
          </a:solidFill>
          <a:ln w="6350">
            <a:solidFill>
              <a:srgbClr val="E1DBCD"/>
            </a:solidFill>
            <a:prstDash val="solid"/>
          </a:ln>
        </p:spPr>
      </p:sp>
      <p:sp>
        <p:nvSpPr>
          <p:cNvPr id="19" name="Shape 17"/>
          <p:cNvSpPr/>
          <p:nvPr/>
        </p:nvSpPr>
        <p:spPr>
          <a:xfrm>
            <a:off x="4392067" y="1813520"/>
            <a:ext cx="3407866" cy="711200"/>
          </a:xfrm>
          <a:custGeom>
            <a:avLst/>
            <a:gdLst/>
            <a:ahLst/>
            <a:cxnLst/>
            <a:rect l="l" t="t" r="r" b="b"/>
            <a:pathLst>
              <a:path w="3407866" h="711200">
                <a:moveTo>
                  <a:pt x="0" y="107950"/>
                </a:moveTo>
                <a:arcTo hR="107950" wR="107950" stAng="10800000" swAng="5400000"/>
                <a:lnTo>
                  <a:pt x="3299916" y="0"/>
                </a:lnTo>
                <a:arcTo hR="107950" wR="107950" stAng="16200000" swAng="5400000"/>
                <a:lnTo>
                  <a:pt x="3407866" y="711200"/>
                </a:lnTo>
                <a:lnTo>
                  <a:pt x="0" y="711200"/>
                </a:lnTo>
                <a:close/>
              </a:path>
            </a:pathLst>
          </a:custGeom>
          <a:solidFill>
            <a:srgbClr val="5A3F87"/>
          </a:solidFill>
          <a:ln/>
        </p:spPr>
      </p:sp>
      <p:sp>
        <p:nvSpPr>
          <p:cNvPr id="20" name="Text 18"/>
          <p:cNvSpPr/>
          <p:nvPr/>
        </p:nvSpPr>
        <p:spPr>
          <a:xfrm>
            <a:off x="4477664" y="1944340"/>
            <a:ext cx="2293569"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IAPP</a:t>
            </a:r>
            <a:endParaRPr lang="en-US" sz="1400" dirty="0"/>
          </a:p>
        </p:txBody>
      </p:sp>
      <p:sp>
        <p:nvSpPr>
          <p:cNvPr id="21" name="Text 19"/>
          <p:cNvSpPr/>
          <p:nvPr/>
        </p:nvSpPr>
        <p:spPr>
          <a:xfrm>
            <a:off x="4477664" y="2188170"/>
            <a:ext cx="2293569"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E2D9F0"/>
                </a:solidFill>
                <a:latin typeface="IBM Plex Sans Arabic" pitchFamily="34" charset="0"/>
                <a:ea typeface="IBM Plex Sans Arabic" pitchFamily="34" charset="-122"/>
                <a:cs typeface="IBM Plex Sans Arabic" pitchFamily="34" charset="-120"/>
              </a:rPr>
              <a:t>إدارة برنامج الخصوصية في الجهة</a:t>
            </a:r>
            <a:endParaRPr lang="ar-SA" sz="1200" dirty="0" altLang="en-US"/>
          </a:p>
        </p:txBody>
      </p:sp>
      <p:sp>
        <p:nvSpPr>
          <p:cNvPr id="22" name="Text 20"/>
          <p:cNvSpPr/>
          <p:nvPr/>
        </p:nvSpPr>
        <p:spPr>
          <a:xfrm>
            <a:off x="6885533" y="1927820"/>
            <a:ext cx="762000" cy="482600"/>
          </a:xfrm>
          <a:prstGeom prst="roundRect">
            <a:avLst>
              <a:gd name="adj" fmla="val 21053"/>
            </a:avLst>
          </a:prstGeom>
          <a:solidFill>
            <a:srgbClr val="FFFDF8"/>
          </a:solidFill>
          <a:ln/>
        </p:spPr>
        <p:txBody>
          <a:bodyPr wrap="square" lIns="0" tIns="0" rIns="0" bIns="0" rtlCol="0" anchor="ctr">
            <a:normAutofit/>
          </a:bodyPr>
          <a:lstStyle/>
          <a:p>
            <a:pPr algn="ctr" indent="0" marL="0">
              <a:lnSpc>
                <a:spcPts val="1400"/>
              </a:lnSpc>
              <a:buNone/>
            </a:pPr>
            <a:r>
              <a:rPr lang="en-US" sz="1400" b="1" dirty="0">
                <a:solidFill>
                  <a:srgbClr val="5A3F87"/>
                </a:solidFill>
                <a:latin typeface="Readex Pro" pitchFamily="34" charset="0"/>
                <a:ea typeface="Readex Pro" pitchFamily="34" charset="-122"/>
                <a:cs typeface="Readex Pro" pitchFamily="34" charset="-120"/>
              </a:rPr>
              <a:t>CIPM</a:t>
            </a:r>
            <a:endParaRPr lang="en-US" sz="1400" dirty="0"/>
          </a:p>
        </p:txBody>
      </p:sp>
      <p:sp>
        <p:nvSpPr>
          <p:cNvPr id="23" name="Text 21"/>
          <p:cNvSpPr/>
          <p:nvPr/>
        </p:nvSpPr>
        <p:spPr>
          <a:xfrm>
            <a:off x="4451375" y="2651720"/>
            <a:ext cx="3196158"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24" name="Text 22"/>
          <p:cNvSpPr/>
          <p:nvPr/>
        </p:nvSpPr>
        <p:spPr>
          <a:xfrm>
            <a:off x="4451375" y="2877741"/>
            <a:ext cx="319615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لا شرط مذكور</a:t>
            </a:r>
            <a:endParaRPr lang="ar-SA" sz="1200" dirty="0" altLang="en-US"/>
          </a:p>
        </p:txBody>
      </p:sp>
      <p:sp>
        <p:nvSpPr>
          <p:cNvPr id="25" name="Text 23"/>
          <p:cNvSpPr/>
          <p:nvPr/>
        </p:nvSpPr>
        <p:spPr>
          <a:xfrm>
            <a:off x="4451375" y="3154561"/>
            <a:ext cx="3196158"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26" name="Text 24"/>
          <p:cNvSpPr/>
          <p:nvPr/>
        </p:nvSpPr>
        <p:spPr>
          <a:xfrm>
            <a:off x="4451375" y="3380581"/>
            <a:ext cx="319615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90 سؤالاً في ساعتين ونصف</a:t>
            </a:r>
            <a:endParaRPr lang="ar-SA" sz="1200" dirty="0" altLang="en-US"/>
          </a:p>
        </p:txBody>
      </p:sp>
      <p:sp>
        <p:nvSpPr>
          <p:cNvPr id="27" name="Text 25"/>
          <p:cNvSpPr/>
          <p:nvPr/>
        </p:nvSpPr>
        <p:spPr>
          <a:xfrm>
            <a:off x="4451375" y="3657402"/>
            <a:ext cx="3196158"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28" name="Text 26"/>
          <p:cNvSpPr/>
          <p:nvPr/>
        </p:nvSpPr>
        <p:spPr>
          <a:xfrm>
            <a:off x="4451375" y="3883422"/>
            <a:ext cx="319615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550 دولاراً للأعضاء وغيرهم</a:t>
            </a:r>
            <a:endParaRPr lang="ar-SA" sz="1200" dirty="0" altLang="en-US"/>
          </a:p>
        </p:txBody>
      </p:sp>
      <p:sp>
        <p:nvSpPr>
          <p:cNvPr id="29" name="Text 27"/>
          <p:cNvSpPr/>
          <p:nvPr/>
        </p:nvSpPr>
        <p:spPr>
          <a:xfrm>
            <a:off x="4451375" y="4160242"/>
            <a:ext cx="3196158"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30" name="Text 28"/>
          <p:cNvSpPr/>
          <p:nvPr/>
        </p:nvSpPr>
        <p:spPr>
          <a:xfrm>
            <a:off x="4451375" y="4386263"/>
            <a:ext cx="319615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مثل CIPP/E: كل سنتين</a:t>
            </a:r>
            <a:endParaRPr lang="ar-SA" sz="1200" dirty="0" altLang="en-US"/>
          </a:p>
        </p:txBody>
      </p:sp>
      <p:sp>
        <p:nvSpPr>
          <p:cNvPr id="31" name="Shape 29"/>
          <p:cNvSpPr/>
          <p:nvPr/>
        </p:nvSpPr>
        <p:spPr>
          <a:xfrm>
            <a:off x="7961858" y="1810345"/>
            <a:ext cx="3414167" cy="3132733"/>
          </a:xfrm>
          <a:prstGeom prst="roundRect">
            <a:avLst>
              <a:gd name="adj" fmla="val 3547"/>
            </a:avLst>
          </a:prstGeom>
          <a:solidFill>
            <a:srgbClr val="FFFDF8"/>
          </a:solidFill>
          <a:ln w="6350">
            <a:solidFill>
              <a:srgbClr val="E1DBCD"/>
            </a:solidFill>
            <a:prstDash val="solid"/>
          </a:ln>
        </p:spPr>
      </p:sp>
      <p:sp>
        <p:nvSpPr>
          <p:cNvPr id="32" name="Shape 30"/>
          <p:cNvSpPr/>
          <p:nvPr/>
        </p:nvSpPr>
        <p:spPr>
          <a:xfrm>
            <a:off x="7965033" y="1813520"/>
            <a:ext cx="3407817" cy="711200"/>
          </a:xfrm>
          <a:custGeom>
            <a:avLst/>
            <a:gdLst/>
            <a:ahLst/>
            <a:cxnLst/>
            <a:rect l="l" t="t" r="r" b="b"/>
            <a:pathLst>
              <a:path w="3407817" h="711200">
                <a:moveTo>
                  <a:pt x="0" y="107950"/>
                </a:moveTo>
                <a:arcTo hR="107950" wR="107950" stAng="10800000" swAng="5400000"/>
                <a:lnTo>
                  <a:pt x="3299867" y="0"/>
                </a:lnTo>
                <a:arcTo hR="107950" wR="107950" stAng="16200000" swAng="5400000"/>
                <a:lnTo>
                  <a:pt x="3407817" y="711200"/>
                </a:lnTo>
                <a:lnTo>
                  <a:pt x="0" y="711200"/>
                </a:lnTo>
                <a:close/>
              </a:path>
            </a:pathLst>
          </a:custGeom>
          <a:solidFill>
            <a:srgbClr val="5A3F87"/>
          </a:solidFill>
          <a:ln/>
        </p:spPr>
      </p:sp>
      <p:sp>
        <p:nvSpPr>
          <p:cNvPr id="33" name="Text 31"/>
          <p:cNvSpPr/>
          <p:nvPr/>
        </p:nvSpPr>
        <p:spPr>
          <a:xfrm>
            <a:off x="8050632" y="1944340"/>
            <a:ext cx="2293518" cy="256530"/>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F3EFE6"/>
                </a:solidFill>
                <a:latin typeface="Readex Pro" pitchFamily="34" charset="0"/>
                <a:ea typeface="Readex Pro" pitchFamily="34" charset="-122"/>
                <a:cs typeface="Readex Pro" pitchFamily="34" charset="-120"/>
              </a:rPr>
              <a:t>IAPP</a:t>
            </a:r>
            <a:endParaRPr lang="en-US" sz="1400" dirty="0"/>
          </a:p>
        </p:txBody>
      </p:sp>
      <p:sp>
        <p:nvSpPr>
          <p:cNvPr id="34" name="Text 32"/>
          <p:cNvSpPr/>
          <p:nvPr/>
        </p:nvSpPr>
        <p:spPr>
          <a:xfrm>
            <a:off x="8050632" y="2188170"/>
            <a:ext cx="2293518" cy="231130"/>
          </a:xfrm>
          <a:prstGeom prst="rect">
            <a:avLst/>
          </a:prstGeom>
          <a:noFill/>
          <a:ln/>
        </p:spPr>
        <p:txBody>
          <a:bodyPr wrap="square" lIns="0" tIns="0" rIns="0" bIns="0" rtlCol="0" anchor="t">
            <a:normAutofit/>
          </a:bodyPr>
          <a:lstStyle/>
          <a:p>
            <a:pPr algn="r" indent="0" marL="0" rtl="1">
              <a:lnSpc>
                <a:spcPts val="1620"/>
              </a:lnSpc>
              <a:buNone/>
            </a:pPr>
            <a:r>
              <a:rPr lang="ar-SA" sz="1200" dirty="0" altLang="en-US">
                <a:solidFill>
                  <a:srgbClr val="E2D9F0"/>
                </a:solidFill>
                <a:latin typeface="IBM Plex Sans Arabic" pitchFamily="34" charset="0"/>
                <a:ea typeface="IBM Plex Sans Arabic" pitchFamily="34" charset="-122"/>
                <a:cs typeface="IBM Plex Sans Arabic" pitchFamily="34" charset="-120"/>
              </a:rPr>
              <a:t>قانون الخصوصية الأوروبي GDPR</a:t>
            </a:r>
            <a:endParaRPr lang="ar-SA" sz="1200" dirty="0" altLang="en-US"/>
          </a:p>
        </p:txBody>
      </p:sp>
      <p:sp>
        <p:nvSpPr>
          <p:cNvPr id="35" name="Text 33"/>
          <p:cNvSpPr/>
          <p:nvPr/>
        </p:nvSpPr>
        <p:spPr>
          <a:xfrm>
            <a:off x="10458450" y="1927820"/>
            <a:ext cx="762000" cy="482600"/>
          </a:xfrm>
          <a:custGeom>
            <a:avLst/>
            <a:gdLst/>
            <a:ahLst/>
            <a:cxnLst/>
            <a:rect l="l" t="t" r="r" b="b"/>
            <a:pathLst>
              <a:path w="762000" h="482600">
                <a:moveTo>
                  <a:pt x="101600" y="0"/>
                </a:moveTo>
                <a:lnTo>
                  <a:pt x="660400" y="0"/>
                </a:lnTo>
                <a:arcTo hR="101600" wR="101600" stAng="16200000" swAng="5400000"/>
                <a:lnTo>
                  <a:pt x="762000" y="381000"/>
                </a:lnTo>
                <a:arcTo hR="101600" wR="101600" stAng="0" swAng="5400000"/>
                <a:lnTo>
                  <a:pt x="101600" y="482600"/>
                </a:lnTo>
                <a:arcTo hR="101600" wR="101600" stAng="5400000" swAng="5400000"/>
                <a:lnTo>
                  <a:pt x="0" y="101600"/>
                </a:lnTo>
                <a:arcTo hR="101600" wR="101600" stAng="10800000" swAng="5400000"/>
                <a:close/>
              </a:path>
            </a:pathLst>
          </a:custGeom>
          <a:solidFill>
            <a:srgbClr val="FFFDF8"/>
          </a:solidFill>
          <a:ln/>
        </p:spPr>
        <p:txBody>
          <a:bodyPr wrap="square" lIns="0" tIns="0" rIns="0" bIns="0" rtlCol="0" anchor="ctr">
            <a:normAutofit/>
          </a:bodyPr>
          <a:lstStyle/>
          <a:p>
            <a:pPr algn="ctr" indent="0" marL="0">
              <a:lnSpc>
                <a:spcPts val="1400"/>
              </a:lnSpc>
              <a:buNone/>
            </a:pPr>
            <a:r>
              <a:rPr lang="en-US" sz="1400" b="1" dirty="0">
                <a:solidFill>
                  <a:srgbClr val="5A3F87"/>
                </a:solidFill>
                <a:latin typeface="Readex Pro" pitchFamily="34" charset="0"/>
                <a:ea typeface="Readex Pro" pitchFamily="34" charset="-122"/>
                <a:cs typeface="Readex Pro" pitchFamily="34" charset="-120"/>
              </a:rPr>
              <a:t>CIPP/E</a:t>
            </a:r>
            <a:endParaRPr lang="en-US" sz="1400" dirty="0"/>
          </a:p>
        </p:txBody>
      </p:sp>
      <p:sp>
        <p:nvSpPr>
          <p:cNvPr id="36" name="Text 34"/>
          <p:cNvSpPr/>
          <p:nvPr/>
        </p:nvSpPr>
        <p:spPr>
          <a:xfrm>
            <a:off x="8024343" y="2651720"/>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الخبرة</a:t>
            </a:r>
            <a:endParaRPr lang="ar-SA" sz="1200" dirty="0" altLang="en-US"/>
          </a:p>
        </p:txBody>
      </p:sp>
      <p:sp>
        <p:nvSpPr>
          <p:cNvPr id="37" name="Text 35"/>
          <p:cNvSpPr/>
          <p:nvPr/>
        </p:nvSpPr>
        <p:spPr>
          <a:xfrm>
            <a:off x="8024343" y="2877741"/>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لا شرط مذكور</a:t>
            </a:r>
            <a:endParaRPr lang="ar-SA" sz="1200" dirty="0" altLang="en-US"/>
          </a:p>
        </p:txBody>
      </p:sp>
      <p:sp>
        <p:nvSpPr>
          <p:cNvPr id="38" name="Text 36"/>
          <p:cNvSpPr/>
          <p:nvPr/>
        </p:nvSpPr>
        <p:spPr>
          <a:xfrm>
            <a:off x="8024343" y="3154561"/>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الاختبار</a:t>
            </a:r>
            <a:endParaRPr lang="ar-SA" sz="1200" dirty="0" altLang="en-US"/>
          </a:p>
        </p:txBody>
      </p:sp>
      <p:sp>
        <p:nvSpPr>
          <p:cNvPr id="39" name="Text 37"/>
          <p:cNvSpPr/>
          <p:nvPr/>
        </p:nvSpPr>
        <p:spPr>
          <a:xfrm>
            <a:off x="8024343" y="3380581"/>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90 سؤالاً في ساعتين ونصف</a:t>
            </a:r>
            <a:endParaRPr lang="ar-SA" sz="1200" dirty="0" altLang="en-US"/>
          </a:p>
        </p:txBody>
      </p:sp>
      <p:sp>
        <p:nvSpPr>
          <p:cNvPr id="40" name="Text 38"/>
          <p:cNvSpPr/>
          <p:nvPr/>
        </p:nvSpPr>
        <p:spPr>
          <a:xfrm>
            <a:off x="8024343" y="3657402"/>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الرسوم</a:t>
            </a:r>
            <a:endParaRPr lang="ar-SA" sz="1200" dirty="0" altLang="en-US"/>
          </a:p>
        </p:txBody>
      </p:sp>
      <p:sp>
        <p:nvSpPr>
          <p:cNvPr id="41" name="Text 39"/>
          <p:cNvSpPr/>
          <p:nvPr/>
        </p:nvSpPr>
        <p:spPr>
          <a:xfrm>
            <a:off x="8024343" y="3883422"/>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550 دولاراً للأعضاء وغيرهم</a:t>
            </a:r>
            <a:endParaRPr lang="ar-SA" sz="1200" dirty="0" altLang="en-US"/>
          </a:p>
        </p:txBody>
      </p:sp>
      <p:sp>
        <p:nvSpPr>
          <p:cNvPr id="42" name="Text 40"/>
          <p:cNvSpPr/>
          <p:nvPr/>
        </p:nvSpPr>
        <p:spPr>
          <a:xfrm>
            <a:off x="8024343" y="4160242"/>
            <a:ext cx="3196107"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التجديد</a:t>
            </a:r>
            <a:endParaRPr lang="ar-SA" sz="1200" dirty="0" altLang="en-US"/>
          </a:p>
        </p:txBody>
      </p:sp>
      <p:sp>
        <p:nvSpPr>
          <p:cNvPr id="43" name="Text 41"/>
          <p:cNvSpPr/>
          <p:nvPr/>
        </p:nvSpPr>
        <p:spPr>
          <a:xfrm>
            <a:off x="8024343" y="4386263"/>
            <a:ext cx="319610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20 ساعة CPE و250 دولاراً كل سنتين، أو عضوية 295 سنوياً</a:t>
            </a:r>
            <a:endParaRPr lang="ar-SA" sz="1200" dirty="0" altLang="en-US"/>
          </a:p>
        </p:txBody>
      </p:sp>
      <p:sp>
        <p:nvSpPr>
          <p:cNvPr id="44" name="Shape 42"/>
          <p:cNvSpPr/>
          <p:nvPr/>
        </p:nvSpPr>
        <p:spPr>
          <a:xfrm>
            <a:off x="812800" y="5098653"/>
            <a:ext cx="10566400" cy="391120"/>
          </a:xfrm>
          <a:prstGeom prst="roundRect">
            <a:avLst>
              <a:gd name="adj" fmla="val 22730"/>
            </a:avLst>
          </a:prstGeom>
          <a:solidFill>
            <a:srgbClr val="172433"/>
          </a:solidFill>
          <a:ln/>
        </p:spPr>
      </p:sp>
      <p:sp>
        <p:nvSpPr>
          <p:cNvPr id="45" name="Text 43"/>
          <p:cNvSpPr/>
          <p:nvPr/>
        </p:nvSpPr>
        <p:spPr>
          <a:xfrm>
            <a:off x="665353" y="5187553"/>
            <a:ext cx="1029474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شهادات IAPP مبنية على GDPR. كثير من مبادئه قريبة من النظام السعودي، لكنها لا تغني عن قراءة نظام حماية البيانات الشخصية ولوائحه.</a:t>
            </a:r>
            <a:endParaRPr lang="ar-SA" sz="1200" dirty="0" altLang="en-US"/>
          </a:p>
        </p:txBody>
      </p:sp>
      <p:pic>
        <p:nvPicPr>
          <p:cNvPr id="46" name="Image 0" descr="Lock">    </p:cNvPr>
          <p:cNvPicPr>
            <a:picLocks noChangeAspect="1"/>
          </p:cNvPicPr>
          <p:nvPr/>
        </p:nvPicPr>
        <p:blipFill>
          <a:blip r:embed="rId1"/>
          <a:srcRect l="0" r="0" t="0" b="0"/>
          <a:stretch/>
        </p:blipFill>
        <p:spPr>
          <a:xfrm>
            <a:off x="11049000" y="5205313"/>
            <a:ext cx="177800" cy="177800"/>
          </a:xfrm>
          <a:prstGeom prst="rect">
            <a:avLst/>
          </a:prstGeom>
        </p:spPr>
      </p:pic>
      <p:sp>
        <p:nvSpPr>
          <p:cNvPr id="47" name="Text 44"/>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35</a:t>
            </a:r>
            <a:endParaRPr lang="en-US" sz="1200" dirty="0"/>
          </a:p>
        </p:txBody>
      </p:sp>
      <p:sp>
        <p:nvSpPr>
          <p:cNvPr id="48" name="Text 45"/>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04 · الشهادات · الأسعار بالدولار الأمريكي كما في 27 أكتوبر 2026</a:t>
            </a:r>
            <a:endParaRPr lang="ar-SA" sz="1200" dirty="0"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580257" cy="289520"/>
          </a:xfrm>
          <a:custGeom>
            <a:avLst/>
            <a:gdLst/>
            <a:ahLst/>
            <a:cxnLst/>
            <a:rect l="l" t="t" r="r" b="b"/>
            <a:pathLst>
              <a:path w="1580257" h="289520">
                <a:moveTo>
                  <a:pt x="144760" y="0"/>
                </a:moveTo>
                <a:lnTo>
                  <a:pt x="1435497" y="0"/>
                </a:lnTo>
                <a:arcTo hR="144760" wR="144760" stAng="16200000" swAng="5400000"/>
                <a:lnTo>
                  <a:pt x="158025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04 · الشهادات</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المقارنة: كم سنة خبرة تحتاج، وكم تدفع؟</a:t>
            </a:r>
            <a:endParaRPr lang="ar-SA" sz="3000" dirty="0" altLang="en-US"/>
          </a:p>
        </p:txBody>
      </p:sp>
      <p:sp>
        <p:nvSpPr>
          <p:cNvPr id="5" name="Shape 3"/>
          <p:cNvSpPr/>
          <p:nvPr/>
        </p:nvSpPr>
        <p:spPr>
          <a:xfrm>
            <a:off x="815975" y="1810345"/>
            <a:ext cx="2084040" cy="2203351"/>
          </a:xfrm>
          <a:prstGeom prst="roundRect">
            <a:avLst>
              <a:gd name="adj" fmla="val 4723"/>
            </a:avLst>
          </a:prstGeom>
          <a:solidFill>
            <a:srgbClr val="FFFDF8"/>
          </a:solidFill>
          <a:ln w="6350">
            <a:solidFill>
              <a:srgbClr val="E1DBCD"/>
            </a:solidFill>
            <a:prstDash val="solid"/>
          </a:ln>
        </p:spPr>
      </p:sp>
      <p:sp>
        <p:nvSpPr>
          <p:cNvPr id="6" name="Text 4"/>
          <p:cNvSpPr/>
          <p:nvPr/>
        </p:nvSpPr>
        <p:spPr>
          <a:xfrm>
            <a:off x="858212" y="2048470"/>
            <a:ext cx="527625"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سنوات</a:t>
            </a:r>
            <a:endParaRPr lang="ar-SA" sz="1300" dirty="0" altLang="en-US"/>
          </a:p>
        </p:txBody>
      </p:sp>
      <p:sp>
        <p:nvSpPr>
          <p:cNvPr id="7" name="Text 5"/>
          <p:cNvSpPr/>
          <p:nvPr/>
        </p:nvSpPr>
        <p:spPr>
          <a:xfrm>
            <a:off x="1411238" y="1940520"/>
            <a:ext cx="232172" cy="330200"/>
          </a:xfrm>
          <a:prstGeom prst="rect">
            <a:avLst/>
          </a:prstGeom>
          <a:noFill/>
          <a:ln/>
        </p:spPr>
        <p:txBody>
          <a:bodyPr wrap="square" lIns="0" tIns="0" rIns="0" bIns="0" rtlCol="0" anchor="t">
            <a:normAutofit/>
          </a:bodyPr>
          <a:lstStyle/>
          <a:p>
            <a:pPr algn="r" indent="0" marL="0">
              <a:lnSpc>
                <a:spcPts val="2400"/>
              </a:lnSpc>
              <a:buNone/>
            </a:pPr>
            <a:r>
              <a:rPr lang="en-US" sz="2400" b="1" dirty="0">
                <a:solidFill>
                  <a:srgbClr val="9A5F0F"/>
                </a:solidFill>
                <a:latin typeface="Readex Pro" pitchFamily="34" charset="0"/>
                <a:ea typeface="Readex Pro" pitchFamily="34" charset="-122"/>
                <a:cs typeface="Readex Pro" pitchFamily="34" charset="-120"/>
              </a:rPr>
              <a:t>5</a:t>
            </a:r>
            <a:endParaRPr lang="en-US" sz="2400" dirty="0"/>
          </a:p>
        </p:txBody>
      </p:sp>
      <p:sp>
        <p:nvSpPr>
          <p:cNvPr id="8" name="Shape 6"/>
          <p:cNvSpPr/>
          <p:nvPr/>
        </p:nvSpPr>
        <p:spPr>
          <a:xfrm>
            <a:off x="946150" y="2351980"/>
            <a:ext cx="1823690" cy="316210"/>
          </a:xfrm>
          <a:prstGeom prst="roundRect">
            <a:avLst>
              <a:gd name="adj" fmla="val 20082"/>
            </a:avLst>
          </a:prstGeom>
          <a:solidFill>
            <a:srgbClr val="F6ECDA"/>
          </a:solidFill>
          <a:ln/>
        </p:spPr>
      </p:sp>
      <p:sp>
        <p:nvSpPr>
          <p:cNvPr id="9" name="Text 7"/>
          <p:cNvSpPr/>
          <p:nvPr/>
        </p:nvSpPr>
        <p:spPr>
          <a:xfrm>
            <a:off x="992882" y="241101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760</a:t>
            </a:r>
            <a:endParaRPr lang="en-US" sz="1200" dirty="0"/>
          </a:p>
        </p:txBody>
      </p:sp>
      <p:sp>
        <p:nvSpPr>
          <p:cNvPr id="10" name="Text 8"/>
          <p:cNvSpPr/>
          <p:nvPr/>
        </p:nvSpPr>
        <p:spPr>
          <a:xfrm>
            <a:off x="2157045" y="2402780"/>
            <a:ext cx="51119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CISA</a:t>
            </a:r>
            <a:endParaRPr lang="en-US" sz="1300" dirty="0"/>
          </a:p>
        </p:txBody>
      </p:sp>
      <p:sp>
        <p:nvSpPr>
          <p:cNvPr id="11" name="Shape 9"/>
          <p:cNvSpPr/>
          <p:nvPr/>
        </p:nvSpPr>
        <p:spPr>
          <a:xfrm>
            <a:off x="946150" y="2757091"/>
            <a:ext cx="1823690" cy="316210"/>
          </a:xfrm>
          <a:prstGeom prst="roundRect">
            <a:avLst>
              <a:gd name="adj" fmla="val 20082"/>
            </a:avLst>
          </a:prstGeom>
          <a:solidFill>
            <a:srgbClr val="F6ECDA"/>
          </a:solidFill>
          <a:ln/>
        </p:spPr>
      </p:sp>
      <p:sp>
        <p:nvSpPr>
          <p:cNvPr id="12" name="Text 10"/>
          <p:cNvSpPr/>
          <p:nvPr/>
        </p:nvSpPr>
        <p:spPr>
          <a:xfrm>
            <a:off x="992882" y="281612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760</a:t>
            </a:r>
            <a:endParaRPr lang="en-US" sz="1200" dirty="0"/>
          </a:p>
        </p:txBody>
      </p:sp>
      <p:sp>
        <p:nvSpPr>
          <p:cNvPr id="13" name="Text 11"/>
          <p:cNvSpPr/>
          <p:nvPr/>
        </p:nvSpPr>
        <p:spPr>
          <a:xfrm>
            <a:off x="2121208" y="2807891"/>
            <a:ext cx="547033"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CISM</a:t>
            </a:r>
            <a:endParaRPr lang="en-US" sz="1300" dirty="0"/>
          </a:p>
        </p:txBody>
      </p:sp>
      <p:sp>
        <p:nvSpPr>
          <p:cNvPr id="14" name="Shape 12"/>
          <p:cNvSpPr/>
          <p:nvPr/>
        </p:nvSpPr>
        <p:spPr>
          <a:xfrm>
            <a:off x="946150" y="3162201"/>
            <a:ext cx="1823690" cy="316210"/>
          </a:xfrm>
          <a:prstGeom prst="roundRect">
            <a:avLst>
              <a:gd name="adj" fmla="val 20082"/>
            </a:avLst>
          </a:prstGeom>
          <a:solidFill>
            <a:srgbClr val="F6ECDA"/>
          </a:solidFill>
          <a:ln/>
        </p:spPr>
      </p:sp>
      <p:sp>
        <p:nvSpPr>
          <p:cNvPr id="15" name="Text 13"/>
          <p:cNvSpPr/>
          <p:nvPr/>
        </p:nvSpPr>
        <p:spPr>
          <a:xfrm>
            <a:off x="992882" y="322123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760</a:t>
            </a:r>
            <a:endParaRPr lang="en-US" sz="1200" dirty="0"/>
          </a:p>
        </p:txBody>
      </p:sp>
      <p:sp>
        <p:nvSpPr>
          <p:cNvPr id="16" name="Text 14"/>
          <p:cNvSpPr/>
          <p:nvPr/>
        </p:nvSpPr>
        <p:spPr>
          <a:xfrm>
            <a:off x="2008694" y="3213001"/>
            <a:ext cx="659547"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CGEIT</a:t>
            </a:r>
            <a:endParaRPr lang="en-US" sz="1300" dirty="0"/>
          </a:p>
        </p:txBody>
      </p:sp>
      <p:sp>
        <p:nvSpPr>
          <p:cNvPr id="17" name="Shape 15"/>
          <p:cNvSpPr/>
          <p:nvPr/>
        </p:nvSpPr>
        <p:spPr>
          <a:xfrm>
            <a:off x="946150" y="3567311"/>
            <a:ext cx="1823690" cy="316210"/>
          </a:xfrm>
          <a:prstGeom prst="roundRect">
            <a:avLst>
              <a:gd name="adj" fmla="val 20082"/>
            </a:avLst>
          </a:prstGeom>
          <a:solidFill>
            <a:srgbClr val="F6ECDA"/>
          </a:solidFill>
          <a:ln/>
        </p:spPr>
      </p:sp>
      <p:sp>
        <p:nvSpPr>
          <p:cNvPr id="18" name="Text 16"/>
          <p:cNvSpPr/>
          <p:nvPr/>
        </p:nvSpPr>
        <p:spPr>
          <a:xfrm>
            <a:off x="992882" y="362634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749</a:t>
            </a:r>
            <a:endParaRPr lang="en-US" sz="1200" dirty="0"/>
          </a:p>
        </p:txBody>
      </p:sp>
      <p:sp>
        <p:nvSpPr>
          <p:cNvPr id="19" name="Text 17"/>
          <p:cNvSpPr/>
          <p:nvPr/>
        </p:nvSpPr>
        <p:spPr>
          <a:xfrm>
            <a:off x="2038161" y="3618111"/>
            <a:ext cx="630079"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CISSP</a:t>
            </a:r>
            <a:endParaRPr lang="en-US" sz="1300" dirty="0"/>
          </a:p>
        </p:txBody>
      </p:sp>
      <p:sp>
        <p:nvSpPr>
          <p:cNvPr id="20" name="Shape 18"/>
          <p:cNvSpPr/>
          <p:nvPr/>
        </p:nvSpPr>
        <p:spPr>
          <a:xfrm>
            <a:off x="3033365" y="1810345"/>
            <a:ext cx="2084090" cy="2203351"/>
          </a:xfrm>
          <a:prstGeom prst="roundRect">
            <a:avLst>
              <a:gd name="adj" fmla="val 4723"/>
            </a:avLst>
          </a:prstGeom>
          <a:solidFill>
            <a:srgbClr val="FFFDF8"/>
          </a:solidFill>
          <a:ln w="6350">
            <a:solidFill>
              <a:srgbClr val="E1DBCD"/>
            </a:solidFill>
            <a:prstDash val="solid"/>
          </a:ln>
        </p:spPr>
      </p:sp>
      <p:sp>
        <p:nvSpPr>
          <p:cNvPr id="21" name="Text 19"/>
          <p:cNvSpPr/>
          <p:nvPr/>
        </p:nvSpPr>
        <p:spPr>
          <a:xfrm>
            <a:off x="3075603" y="2048470"/>
            <a:ext cx="527625"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سنوات</a:t>
            </a:r>
            <a:endParaRPr lang="ar-SA" sz="1300" dirty="0" altLang="en-US"/>
          </a:p>
        </p:txBody>
      </p:sp>
      <p:sp>
        <p:nvSpPr>
          <p:cNvPr id="22" name="Text 20"/>
          <p:cNvSpPr/>
          <p:nvPr/>
        </p:nvSpPr>
        <p:spPr>
          <a:xfrm>
            <a:off x="3628628" y="1940520"/>
            <a:ext cx="230336" cy="330200"/>
          </a:xfrm>
          <a:prstGeom prst="rect">
            <a:avLst/>
          </a:prstGeom>
          <a:noFill/>
          <a:ln/>
        </p:spPr>
        <p:txBody>
          <a:bodyPr wrap="square" lIns="0" tIns="0" rIns="0" bIns="0" rtlCol="0" anchor="t">
            <a:normAutofit/>
          </a:bodyPr>
          <a:lstStyle/>
          <a:p>
            <a:pPr algn="r" indent="0" marL="0">
              <a:lnSpc>
                <a:spcPts val="2400"/>
              </a:lnSpc>
              <a:buNone/>
            </a:pPr>
            <a:r>
              <a:rPr lang="en-US" sz="2400" b="1" dirty="0">
                <a:solidFill>
                  <a:srgbClr val="5A3F87"/>
                </a:solidFill>
                <a:latin typeface="Readex Pro" pitchFamily="34" charset="0"/>
                <a:ea typeface="Readex Pro" pitchFamily="34" charset="-122"/>
                <a:cs typeface="Readex Pro" pitchFamily="34" charset="-120"/>
              </a:rPr>
              <a:t>3</a:t>
            </a:r>
            <a:endParaRPr lang="en-US" sz="2400" dirty="0"/>
          </a:p>
        </p:txBody>
      </p:sp>
      <p:sp>
        <p:nvSpPr>
          <p:cNvPr id="23" name="Shape 21"/>
          <p:cNvSpPr/>
          <p:nvPr/>
        </p:nvSpPr>
        <p:spPr>
          <a:xfrm>
            <a:off x="3163540" y="2351980"/>
            <a:ext cx="1823740" cy="316210"/>
          </a:xfrm>
          <a:prstGeom prst="roundRect">
            <a:avLst>
              <a:gd name="adj" fmla="val 20082"/>
            </a:avLst>
          </a:prstGeom>
          <a:solidFill>
            <a:srgbClr val="ECE6F4"/>
          </a:solidFill>
          <a:ln/>
        </p:spPr>
      </p:sp>
      <p:sp>
        <p:nvSpPr>
          <p:cNvPr id="24" name="Text 22"/>
          <p:cNvSpPr/>
          <p:nvPr/>
        </p:nvSpPr>
        <p:spPr>
          <a:xfrm>
            <a:off x="3210272" y="241101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760</a:t>
            </a:r>
            <a:endParaRPr lang="en-US" sz="1200" dirty="0"/>
          </a:p>
        </p:txBody>
      </p:sp>
      <p:sp>
        <p:nvSpPr>
          <p:cNvPr id="25" name="Text 23"/>
          <p:cNvSpPr/>
          <p:nvPr/>
        </p:nvSpPr>
        <p:spPr>
          <a:xfrm>
            <a:off x="4235837" y="2402780"/>
            <a:ext cx="649843"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CRISC</a:t>
            </a:r>
            <a:endParaRPr lang="en-US" sz="1300" dirty="0"/>
          </a:p>
        </p:txBody>
      </p:sp>
      <p:sp>
        <p:nvSpPr>
          <p:cNvPr id="26" name="Shape 24"/>
          <p:cNvSpPr/>
          <p:nvPr/>
        </p:nvSpPr>
        <p:spPr>
          <a:xfrm>
            <a:off x="3163540" y="2757091"/>
            <a:ext cx="1823740" cy="316210"/>
          </a:xfrm>
          <a:prstGeom prst="roundRect">
            <a:avLst>
              <a:gd name="adj" fmla="val 20082"/>
            </a:avLst>
          </a:prstGeom>
          <a:solidFill>
            <a:srgbClr val="ECE6F4"/>
          </a:solidFill>
          <a:ln/>
        </p:spPr>
      </p:sp>
      <p:sp>
        <p:nvSpPr>
          <p:cNvPr id="27" name="Text 25"/>
          <p:cNvSpPr/>
          <p:nvPr/>
        </p:nvSpPr>
        <p:spPr>
          <a:xfrm>
            <a:off x="3210272" y="281612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760</a:t>
            </a:r>
            <a:endParaRPr lang="en-US" sz="1200" dirty="0"/>
          </a:p>
        </p:txBody>
      </p:sp>
      <p:sp>
        <p:nvSpPr>
          <p:cNvPr id="28" name="Text 26"/>
          <p:cNvSpPr/>
          <p:nvPr/>
        </p:nvSpPr>
        <p:spPr>
          <a:xfrm>
            <a:off x="4210655" y="2807891"/>
            <a:ext cx="67502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CDPSE</a:t>
            </a:r>
            <a:endParaRPr lang="en-US" sz="1300" dirty="0"/>
          </a:p>
        </p:txBody>
      </p:sp>
      <p:sp>
        <p:nvSpPr>
          <p:cNvPr id="29" name="Shape 27"/>
          <p:cNvSpPr/>
          <p:nvPr/>
        </p:nvSpPr>
        <p:spPr>
          <a:xfrm>
            <a:off x="5250805" y="1810345"/>
            <a:ext cx="2084090" cy="2203351"/>
          </a:xfrm>
          <a:prstGeom prst="roundRect">
            <a:avLst>
              <a:gd name="adj" fmla="val 4723"/>
            </a:avLst>
          </a:prstGeom>
          <a:solidFill>
            <a:srgbClr val="FFFDF8"/>
          </a:solidFill>
          <a:ln w="6350">
            <a:solidFill>
              <a:srgbClr val="E1DBCD"/>
            </a:solidFill>
            <a:prstDash val="solid"/>
          </a:ln>
        </p:spPr>
      </p:sp>
      <p:sp>
        <p:nvSpPr>
          <p:cNvPr id="30" name="Text 28"/>
          <p:cNvSpPr/>
          <p:nvPr/>
        </p:nvSpPr>
        <p:spPr>
          <a:xfrm>
            <a:off x="5302915" y="2048470"/>
            <a:ext cx="468392"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سنتان</a:t>
            </a:r>
            <a:endParaRPr lang="ar-SA" sz="1300" dirty="0" altLang="en-US"/>
          </a:p>
        </p:txBody>
      </p:sp>
      <p:sp>
        <p:nvSpPr>
          <p:cNvPr id="31" name="Text 29"/>
          <p:cNvSpPr/>
          <p:nvPr/>
        </p:nvSpPr>
        <p:spPr>
          <a:xfrm>
            <a:off x="5796707" y="1940520"/>
            <a:ext cx="217835" cy="330200"/>
          </a:xfrm>
          <a:prstGeom prst="rect">
            <a:avLst/>
          </a:prstGeom>
          <a:noFill/>
          <a:ln/>
        </p:spPr>
        <p:txBody>
          <a:bodyPr wrap="square" lIns="0" tIns="0" rIns="0" bIns="0" rtlCol="0" anchor="t">
            <a:normAutofit/>
          </a:bodyPr>
          <a:lstStyle/>
          <a:p>
            <a:pPr algn="r" indent="0" marL="0">
              <a:lnSpc>
                <a:spcPts val="2400"/>
              </a:lnSpc>
              <a:buNone/>
            </a:pPr>
            <a:r>
              <a:rPr lang="en-US" sz="2400" b="1" dirty="0">
                <a:solidFill>
                  <a:srgbClr val="2F5C92"/>
                </a:solidFill>
                <a:latin typeface="Readex Pro" pitchFamily="34" charset="0"/>
                <a:ea typeface="Readex Pro" pitchFamily="34" charset="-122"/>
                <a:cs typeface="Readex Pro" pitchFamily="34" charset="-120"/>
              </a:rPr>
              <a:t>2</a:t>
            </a:r>
            <a:endParaRPr lang="en-US" sz="2400" dirty="0"/>
          </a:p>
        </p:txBody>
      </p:sp>
      <p:sp>
        <p:nvSpPr>
          <p:cNvPr id="32" name="Shape 30"/>
          <p:cNvSpPr/>
          <p:nvPr/>
        </p:nvSpPr>
        <p:spPr>
          <a:xfrm>
            <a:off x="5380980" y="2351980"/>
            <a:ext cx="1823740" cy="316210"/>
          </a:xfrm>
          <a:prstGeom prst="roundRect">
            <a:avLst>
              <a:gd name="adj" fmla="val 20082"/>
            </a:avLst>
          </a:prstGeom>
          <a:solidFill>
            <a:srgbClr val="E6EDF4"/>
          </a:solidFill>
          <a:ln/>
        </p:spPr>
      </p:sp>
      <p:sp>
        <p:nvSpPr>
          <p:cNvPr id="33" name="Text 31"/>
          <p:cNvSpPr/>
          <p:nvPr/>
        </p:nvSpPr>
        <p:spPr>
          <a:xfrm>
            <a:off x="5427712" y="241101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599</a:t>
            </a:r>
            <a:endParaRPr lang="en-US" sz="1200" dirty="0"/>
          </a:p>
        </p:txBody>
      </p:sp>
      <p:sp>
        <p:nvSpPr>
          <p:cNvPr id="34" name="Text 32"/>
          <p:cNvSpPr/>
          <p:nvPr/>
        </p:nvSpPr>
        <p:spPr>
          <a:xfrm>
            <a:off x="6536263" y="2402780"/>
            <a:ext cx="566857"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CGRC</a:t>
            </a:r>
            <a:endParaRPr lang="en-US" sz="1300" dirty="0"/>
          </a:p>
        </p:txBody>
      </p:sp>
      <p:sp>
        <p:nvSpPr>
          <p:cNvPr id="35" name="Shape 33"/>
          <p:cNvSpPr/>
          <p:nvPr/>
        </p:nvSpPr>
        <p:spPr>
          <a:xfrm>
            <a:off x="7468245" y="1810345"/>
            <a:ext cx="3907780" cy="2203351"/>
          </a:xfrm>
          <a:prstGeom prst="roundRect">
            <a:avLst>
              <a:gd name="adj" fmla="val 4467"/>
            </a:avLst>
          </a:prstGeom>
          <a:solidFill>
            <a:srgbClr val="FFFDF8"/>
          </a:solidFill>
          <a:ln w="6350">
            <a:solidFill>
              <a:srgbClr val="E1DBCD"/>
            </a:solidFill>
            <a:prstDash val="solid"/>
          </a:ln>
        </p:spPr>
      </p:sp>
      <p:sp>
        <p:nvSpPr>
          <p:cNvPr id="36" name="Text 34"/>
          <p:cNvSpPr/>
          <p:nvPr/>
        </p:nvSpPr>
        <p:spPr>
          <a:xfrm>
            <a:off x="7504112" y="2048470"/>
            <a:ext cx="565845"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بلا خبرة</a:t>
            </a:r>
            <a:endParaRPr lang="ar-SA" sz="1300" dirty="0" altLang="en-US"/>
          </a:p>
        </p:txBody>
      </p:sp>
      <p:sp>
        <p:nvSpPr>
          <p:cNvPr id="37" name="Text 35"/>
          <p:cNvSpPr/>
          <p:nvPr/>
        </p:nvSpPr>
        <p:spPr>
          <a:xfrm>
            <a:off x="8095357" y="1940520"/>
            <a:ext cx="255637" cy="330200"/>
          </a:xfrm>
          <a:prstGeom prst="rect">
            <a:avLst/>
          </a:prstGeom>
          <a:noFill/>
          <a:ln/>
        </p:spPr>
        <p:txBody>
          <a:bodyPr wrap="square" lIns="0" tIns="0" rIns="0" bIns="0" rtlCol="0" anchor="t">
            <a:normAutofit/>
          </a:bodyPr>
          <a:lstStyle/>
          <a:p>
            <a:pPr algn="r" indent="0" marL="0">
              <a:lnSpc>
                <a:spcPts val="2400"/>
              </a:lnSpc>
              <a:buNone/>
            </a:pPr>
            <a:r>
              <a:rPr lang="en-US" sz="2400" b="1" dirty="0">
                <a:solidFill>
                  <a:srgbClr val="0E7C6B"/>
                </a:solidFill>
                <a:latin typeface="Readex Pro" pitchFamily="34" charset="0"/>
                <a:ea typeface="Readex Pro" pitchFamily="34" charset="-122"/>
                <a:cs typeface="Readex Pro" pitchFamily="34" charset="-120"/>
              </a:rPr>
              <a:t>0</a:t>
            </a:r>
            <a:endParaRPr lang="en-US" sz="2400" dirty="0"/>
          </a:p>
        </p:txBody>
      </p:sp>
      <p:sp>
        <p:nvSpPr>
          <p:cNvPr id="38" name="Shape 36"/>
          <p:cNvSpPr/>
          <p:nvPr/>
        </p:nvSpPr>
        <p:spPr>
          <a:xfrm>
            <a:off x="7598420" y="2351980"/>
            <a:ext cx="1785590" cy="316210"/>
          </a:xfrm>
          <a:prstGeom prst="roundRect">
            <a:avLst>
              <a:gd name="adj" fmla="val 20082"/>
            </a:avLst>
          </a:prstGeom>
          <a:solidFill>
            <a:srgbClr val="E3F1ED"/>
          </a:solidFill>
          <a:ln/>
        </p:spPr>
      </p:sp>
      <p:sp>
        <p:nvSpPr>
          <p:cNvPr id="39" name="Text 37"/>
          <p:cNvSpPr/>
          <p:nvPr/>
        </p:nvSpPr>
        <p:spPr>
          <a:xfrm>
            <a:off x="7645152" y="241101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550</a:t>
            </a:r>
            <a:endParaRPr lang="en-US" sz="1200" dirty="0"/>
          </a:p>
        </p:txBody>
      </p:sp>
      <p:sp>
        <p:nvSpPr>
          <p:cNvPr id="40" name="Text 38"/>
          <p:cNvSpPr/>
          <p:nvPr/>
        </p:nvSpPr>
        <p:spPr>
          <a:xfrm>
            <a:off x="8543389" y="2402780"/>
            <a:ext cx="739021"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CIPP/E</a:t>
            </a:r>
            <a:endParaRPr lang="en-US" sz="1300" dirty="0"/>
          </a:p>
        </p:txBody>
      </p:sp>
      <p:sp>
        <p:nvSpPr>
          <p:cNvPr id="41" name="Shape 39"/>
          <p:cNvSpPr/>
          <p:nvPr/>
        </p:nvSpPr>
        <p:spPr>
          <a:xfrm>
            <a:off x="7598420" y="2731691"/>
            <a:ext cx="1785590" cy="316210"/>
          </a:xfrm>
          <a:prstGeom prst="roundRect">
            <a:avLst>
              <a:gd name="adj" fmla="val 20082"/>
            </a:avLst>
          </a:prstGeom>
          <a:solidFill>
            <a:srgbClr val="E3F1ED"/>
          </a:solidFill>
          <a:ln/>
        </p:spPr>
      </p:sp>
      <p:sp>
        <p:nvSpPr>
          <p:cNvPr id="42" name="Text 40"/>
          <p:cNvSpPr/>
          <p:nvPr/>
        </p:nvSpPr>
        <p:spPr>
          <a:xfrm>
            <a:off x="7645152" y="279072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550</a:t>
            </a:r>
            <a:endParaRPr lang="en-US" sz="1200" dirty="0"/>
          </a:p>
        </p:txBody>
      </p:sp>
      <p:sp>
        <p:nvSpPr>
          <p:cNvPr id="43" name="Text 41"/>
          <p:cNvSpPr/>
          <p:nvPr/>
        </p:nvSpPr>
        <p:spPr>
          <a:xfrm>
            <a:off x="8730020" y="2782491"/>
            <a:ext cx="552390"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CIPM</a:t>
            </a:r>
            <a:endParaRPr lang="en-US" sz="1300" dirty="0"/>
          </a:p>
        </p:txBody>
      </p:sp>
      <p:sp>
        <p:nvSpPr>
          <p:cNvPr id="44" name="Shape 42"/>
          <p:cNvSpPr/>
          <p:nvPr/>
        </p:nvSpPr>
        <p:spPr>
          <a:xfrm>
            <a:off x="7598420" y="3111401"/>
            <a:ext cx="1785590" cy="530820"/>
          </a:xfrm>
          <a:prstGeom prst="roundRect">
            <a:avLst>
              <a:gd name="adj" fmla="val 11963"/>
            </a:avLst>
          </a:prstGeom>
          <a:solidFill>
            <a:srgbClr val="E3F1ED"/>
          </a:solidFill>
          <a:ln/>
        </p:spPr>
      </p:sp>
      <p:sp>
        <p:nvSpPr>
          <p:cNvPr id="45" name="Text 43"/>
          <p:cNvSpPr/>
          <p:nvPr/>
        </p:nvSpPr>
        <p:spPr>
          <a:xfrm>
            <a:off x="7649220" y="3178721"/>
            <a:ext cx="762248" cy="421580"/>
          </a:xfrm>
          <a:prstGeom prst="rect">
            <a:avLst/>
          </a:prstGeom>
          <a:noFill/>
          <a:ln/>
        </p:spPr>
        <p:txBody>
          <a:bodyPr wrap="square" lIns="0" tIns="0" rIns="0" bIns="0" rtlCol="0" anchor="t">
            <a:normAutofit/>
          </a:bodyPr>
          <a:lstStyle/>
          <a:p>
            <a:pPr algn="r" indent="0" marL="0" rtl="1">
              <a:lnSpc>
                <a:spcPts val="156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حسب الجهة</a:t>
            </a:r>
            <a:endParaRPr lang="ar-SA" sz="1200" dirty="0" altLang="en-US"/>
          </a:p>
        </p:txBody>
      </p:sp>
      <p:sp>
        <p:nvSpPr>
          <p:cNvPr id="46" name="Text 44"/>
          <p:cNvSpPr/>
          <p:nvPr/>
        </p:nvSpPr>
        <p:spPr>
          <a:xfrm>
            <a:off x="8360668" y="3162201"/>
            <a:ext cx="921742" cy="45462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ISO 27001</a:t>
            </a:r>
            <a:endParaRPr lang="en-US" sz="1300" dirty="0"/>
          </a:p>
        </p:txBody>
      </p:sp>
      <p:sp>
        <p:nvSpPr>
          <p:cNvPr id="47" name="Shape 45"/>
          <p:cNvSpPr/>
          <p:nvPr/>
        </p:nvSpPr>
        <p:spPr>
          <a:xfrm>
            <a:off x="9460210" y="2351980"/>
            <a:ext cx="1785640" cy="316210"/>
          </a:xfrm>
          <a:prstGeom prst="roundRect">
            <a:avLst>
              <a:gd name="adj" fmla="val 20082"/>
            </a:avLst>
          </a:prstGeom>
          <a:solidFill>
            <a:srgbClr val="E3F1ED"/>
          </a:solidFill>
          <a:ln/>
        </p:spPr>
      </p:sp>
      <p:sp>
        <p:nvSpPr>
          <p:cNvPr id="48" name="Text 46"/>
          <p:cNvSpPr/>
          <p:nvPr/>
        </p:nvSpPr>
        <p:spPr>
          <a:xfrm>
            <a:off x="9506942" y="241101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199</a:t>
            </a:r>
            <a:endParaRPr lang="en-US" sz="1200" dirty="0"/>
          </a:p>
        </p:txBody>
      </p:sp>
      <p:sp>
        <p:nvSpPr>
          <p:cNvPr id="49" name="Text 47"/>
          <p:cNvSpPr/>
          <p:nvPr/>
        </p:nvSpPr>
        <p:spPr>
          <a:xfrm>
            <a:off x="10864602" y="2402780"/>
            <a:ext cx="279648"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CC</a:t>
            </a:r>
            <a:endParaRPr lang="en-US" sz="1300" dirty="0"/>
          </a:p>
        </p:txBody>
      </p:sp>
      <p:sp>
        <p:nvSpPr>
          <p:cNvPr id="50" name="Shape 48"/>
          <p:cNvSpPr/>
          <p:nvPr/>
        </p:nvSpPr>
        <p:spPr>
          <a:xfrm>
            <a:off x="9460210" y="2731691"/>
            <a:ext cx="1785640" cy="316210"/>
          </a:xfrm>
          <a:prstGeom prst="roundRect">
            <a:avLst>
              <a:gd name="adj" fmla="val 20082"/>
            </a:avLst>
          </a:prstGeom>
          <a:solidFill>
            <a:srgbClr val="E3F1ED"/>
          </a:solidFill>
          <a:ln/>
        </p:spPr>
      </p:sp>
      <p:sp>
        <p:nvSpPr>
          <p:cNvPr id="51" name="Text 49"/>
          <p:cNvSpPr/>
          <p:nvPr/>
        </p:nvSpPr>
        <p:spPr>
          <a:xfrm>
            <a:off x="9467741" y="2790726"/>
            <a:ext cx="564416" cy="223490"/>
          </a:xfrm>
          <a:prstGeom prst="rect">
            <a:avLst/>
          </a:prstGeom>
          <a:noFill/>
          <a:ln/>
        </p:spPr>
        <p:txBody>
          <a:bodyPr wrap="square" lIns="0" tIns="0" rIns="0" bIns="0" rtlCol="0" anchor="t">
            <a:normAutofit/>
          </a:bodyPr>
          <a:lstStyle/>
          <a:p>
            <a:pPr algn="r" indent="0" marL="0" rtl="1">
              <a:lnSpc>
                <a:spcPts val="156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غير مؤكد</a:t>
            </a:r>
            <a:endParaRPr lang="ar-SA" sz="1200" dirty="0" altLang="en-US"/>
          </a:p>
        </p:txBody>
      </p:sp>
      <p:sp>
        <p:nvSpPr>
          <p:cNvPr id="52" name="Text 50"/>
          <p:cNvSpPr/>
          <p:nvPr/>
        </p:nvSpPr>
        <p:spPr>
          <a:xfrm>
            <a:off x="10192464" y="2782491"/>
            <a:ext cx="951786"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Security+</a:t>
            </a:r>
            <a:endParaRPr lang="en-US" sz="1300" dirty="0"/>
          </a:p>
        </p:txBody>
      </p:sp>
      <p:sp>
        <p:nvSpPr>
          <p:cNvPr id="53" name="Shape 51"/>
          <p:cNvSpPr/>
          <p:nvPr/>
        </p:nvSpPr>
        <p:spPr>
          <a:xfrm>
            <a:off x="9460210" y="3111401"/>
            <a:ext cx="1785640" cy="316210"/>
          </a:xfrm>
          <a:prstGeom prst="roundRect">
            <a:avLst>
              <a:gd name="adj" fmla="val 20082"/>
            </a:avLst>
          </a:prstGeom>
          <a:solidFill>
            <a:srgbClr val="E3F1ED"/>
          </a:solidFill>
          <a:ln/>
        </p:spPr>
      </p:sp>
      <p:sp>
        <p:nvSpPr>
          <p:cNvPr id="54" name="Text 52"/>
          <p:cNvSpPr/>
          <p:nvPr/>
        </p:nvSpPr>
        <p:spPr>
          <a:xfrm>
            <a:off x="9506942" y="3170436"/>
            <a:ext cx="329208"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E5A66"/>
                </a:solidFill>
                <a:latin typeface="IBM Plex Sans Arabic" pitchFamily="34" charset="0"/>
                <a:ea typeface="IBM Plex Sans Arabic" pitchFamily="34" charset="-122"/>
                <a:cs typeface="IBM Plex Sans Arabic" pitchFamily="34" charset="-120"/>
              </a:rPr>
              <a:t>225</a:t>
            </a:r>
            <a:endParaRPr lang="en-US" sz="1200" dirty="0"/>
          </a:p>
        </p:txBody>
      </p:sp>
      <p:sp>
        <p:nvSpPr>
          <p:cNvPr id="55" name="Text 53"/>
          <p:cNvSpPr/>
          <p:nvPr/>
        </p:nvSpPr>
        <p:spPr>
          <a:xfrm>
            <a:off x="9836150" y="3162201"/>
            <a:ext cx="1308100"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IT Risk Fund.</a:t>
            </a:r>
            <a:endParaRPr lang="en-US" sz="1300" dirty="0"/>
          </a:p>
        </p:txBody>
      </p:sp>
      <p:sp>
        <p:nvSpPr>
          <p:cNvPr id="56" name="Shape 54"/>
          <p:cNvSpPr/>
          <p:nvPr/>
        </p:nvSpPr>
        <p:spPr>
          <a:xfrm>
            <a:off x="9460210" y="3491111"/>
            <a:ext cx="1785640" cy="316210"/>
          </a:xfrm>
          <a:prstGeom prst="roundRect">
            <a:avLst>
              <a:gd name="adj" fmla="val 20082"/>
            </a:avLst>
          </a:prstGeom>
          <a:solidFill>
            <a:srgbClr val="E3F1ED"/>
          </a:solidFill>
          <a:ln/>
        </p:spPr>
      </p:sp>
      <p:sp>
        <p:nvSpPr>
          <p:cNvPr id="57" name="Text 55"/>
          <p:cNvSpPr/>
          <p:nvPr/>
        </p:nvSpPr>
        <p:spPr>
          <a:xfrm>
            <a:off x="9460210" y="3550146"/>
            <a:ext cx="796429" cy="223490"/>
          </a:xfrm>
          <a:prstGeom prst="rect">
            <a:avLst/>
          </a:prstGeom>
          <a:noFill/>
          <a:ln/>
        </p:spPr>
        <p:txBody>
          <a:bodyPr wrap="square" lIns="0" tIns="0" rIns="0" bIns="0" rtlCol="0" anchor="t">
            <a:normAutofit/>
          </a:bodyPr>
          <a:lstStyle/>
          <a:p>
            <a:pPr algn="r" indent="0" marL="0" rtl="1">
              <a:lnSpc>
                <a:spcPts val="156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499 اشتراك</a:t>
            </a:r>
            <a:endParaRPr lang="ar-SA" sz="1200" dirty="0" altLang="en-US"/>
          </a:p>
        </p:txBody>
      </p:sp>
      <p:sp>
        <p:nvSpPr>
          <p:cNvPr id="58" name="Text 56"/>
          <p:cNvSpPr/>
          <p:nvPr/>
        </p:nvSpPr>
        <p:spPr>
          <a:xfrm>
            <a:off x="10583525" y="3541911"/>
            <a:ext cx="560725"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72433"/>
                </a:solidFill>
                <a:latin typeface="Readex Pro" pitchFamily="34" charset="0"/>
                <a:ea typeface="Readex Pro" pitchFamily="34" charset="-122"/>
                <a:cs typeface="Readex Pro" pitchFamily="34" charset="-120"/>
              </a:rPr>
              <a:t>GRCP</a:t>
            </a:r>
            <a:endParaRPr lang="en-US" sz="1300" dirty="0"/>
          </a:p>
        </p:txBody>
      </p:sp>
      <p:sp>
        <p:nvSpPr>
          <p:cNvPr id="59" name="Shape 57"/>
          <p:cNvSpPr/>
          <p:nvPr/>
        </p:nvSpPr>
        <p:spPr>
          <a:xfrm>
            <a:off x="812800" y="4169271"/>
            <a:ext cx="10566400" cy="391120"/>
          </a:xfrm>
          <a:prstGeom prst="roundRect">
            <a:avLst>
              <a:gd name="adj" fmla="val 22730"/>
            </a:avLst>
          </a:prstGeom>
          <a:solidFill>
            <a:srgbClr val="172433"/>
          </a:solidFill>
          <a:ln/>
        </p:spPr>
      </p:sp>
      <p:sp>
        <p:nvSpPr>
          <p:cNvPr id="60" name="Text 58"/>
          <p:cNvSpPr/>
          <p:nvPr/>
        </p:nvSpPr>
        <p:spPr>
          <a:xfrm>
            <a:off x="665353" y="4258171"/>
            <a:ext cx="1029474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الأرقام رسم الاختبار لغير الأعضاء بالدولار. وفي أعمدة الخبرة تستطيع أن تختبر أولاً: ISC2 تمنحك صفة Associate، وISACA تمهلك 5 سنوات لتقديم الطلب.</a:t>
            </a:r>
            <a:endParaRPr lang="ar-SA" sz="1200" dirty="0" altLang="en-US"/>
          </a:p>
        </p:txBody>
      </p:sp>
      <p:pic>
        <p:nvPicPr>
          <p:cNvPr id="61" name="Image 0" descr="Lightbulb">    </p:cNvPr>
          <p:cNvPicPr>
            <a:picLocks noChangeAspect="1"/>
          </p:cNvPicPr>
          <p:nvPr/>
        </p:nvPicPr>
        <p:blipFill>
          <a:blip r:embed="rId1"/>
          <a:srcRect l="0" r="0" t="0" b="0"/>
          <a:stretch/>
        </p:blipFill>
        <p:spPr>
          <a:xfrm>
            <a:off x="11049000" y="4275931"/>
            <a:ext cx="177800" cy="177800"/>
          </a:xfrm>
          <a:prstGeom prst="rect">
            <a:avLst/>
          </a:prstGeom>
        </p:spPr>
      </p:pic>
      <p:sp>
        <p:nvSpPr>
          <p:cNvPr id="62" name="Text 59"/>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36</a:t>
            </a:r>
            <a:endParaRPr lang="en-US" sz="1200" dirty="0"/>
          </a:p>
        </p:txBody>
      </p:sp>
      <p:sp>
        <p:nvSpPr>
          <p:cNvPr id="63" name="Text 60"/>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04 · الشهادات · الأسعار بالدولار الأمريكي كما في 27 أكتوبر 2026</a:t>
            </a:r>
            <a:endParaRPr lang="ar-SA" sz="1200" dirty="0"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580257" cy="289520"/>
          </a:xfrm>
          <a:custGeom>
            <a:avLst/>
            <a:gdLst/>
            <a:ahLst/>
            <a:cxnLst/>
            <a:rect l="l" t="t" r="r" b="b"/>
            <a:pathLst>
              <a:path w="1580257" h="289520">
                <a:moveTo>
                  <a:pt x="144760" y="0"/>
                </a:moveTo>
                <a:lnTo>
                  <a:pt x="1435497" y="0"/>
                </a:lnTo>
                <a:arcTo hR="144760" wR="144760" stAng="16200000" swAng="5400000"/>
                <a:lnTo>
                  <a:pt x="158025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04 · الشهادات</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كيف تختار: ابدأ من الوظيفة، لا من الشهادة</a:t>
            </a:r>
            <a:endParaRPr lang="ar-SA" sz="3000" dirty="0" altLang="en-US"/>
          </a:p>
        </p:txBody>
      </p:sp>
      <p:sp>
        <p:nvSpPr>
          <p:cNvPr id="5" name="Text 3"/>
          <p:cNvSpPr/>
          <p:nvPr/>
        </p:nvSpPr>
        <p:spPr>
          <a:xfrm>
            <a:off x="767462" y="1807170"/>
            <a:ext cx="2428672"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9A5F0F"/>
                </a:solidFill>
                <a:latin typeface="IBM Plex Sans Arabic" pitchFamily="34" charset="0"/>
                <a:ea typeface="IBM Plex Sans Arabic" pitchFamily="34" charset="-122"/>
                <a:cs typeface="IBM Plex Sans Arabic" pitchFamily="34" charset="-120"/>
              </a:rPr>
              <a:t>بعد اكتمال الخبرة</a:t>
            </a:r>
            <a:endParaRPr lang="ar-SA" sz="1200" dirty="0" altLang="en-US"/>
          </a:p>
        </p:txBody>
      </p:sp>
      <p:sp>
        <p:nvSpPr>
          <p:cNvPr id="6" name="Text 4"/>
          <p:cNvSpPr/>
          <p:nvPr/>
        </p:nvSpPr>
        <p:spPr>
          <a:xfrm>
            <a:off x="3531794" y="1807170"/>
            <a:ext cx="2428723"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2F5C92"/>
                </a:solidFill>
                <a:latin typeface="IBM Plex Sans Arabic" pitchFamily="34" charset="0"/>
                <a:ea typeface="IBM Plex Sans Arabic" pitchFamily="34" charset="-122"/>
                <a:cs typeface="IBM Plex Sans Arabic" pitchFamily="34" charset="-120"/>
              </a:rPr>
              <a:t>تخصص</a:t>
            </a:r>
            <a:endParaRPr lang="ar-SA" sz="1200" dirty="0" altLang="en-US"/>
          </a:p>
        </p:txBody>
      </p:sp>
      <p:sp>
        <p:nvSpPr>
          <p:cNvPr id="7" name="Text 5"/>
          <p:cNvSpPr/>
          <p:nvPr/>
        </p:nvSpPr>
        <p:spPr>
          <a:xfrm>
            <a:off x="6296177" y="1807170"/>
            <a:ext cx="2428723"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مدخل</a:t>
            </a:r>
            <a:endParaRPr lang="ar-SA" sz="1200" dirty="0" altLang="en-US"/>
          </a:p>
        </p:txBody>
      </p:sp>
      <p:sp>
        <p:nvSpPr>
          <p:cNvPr id="8" name="Text 6"/>
          <p:cNvSpPr/>
          <p:nvPr/>
        </p:nvSpPr>
        <p:spPr>
          <a:xfrm>
            <a:off x="8737600" y="1807170"/>
            <a:ext cx="2616200"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الوظيفة المستهدفة</a:t>
            </a:r>
            <a:endParaRPr lang="ar-SA" sz="1200" dirty="0" altLang="en-US"/>
          </a:p>
        </p:txBody>
      </p:sp>
      <p:sp>
        <p:nvSpPr>
          <p:cNvPr id="9" name="Shape 7"/>
          <p:cNvSpPr/>
          <p:nvPr/>
        </p:nvSpPr>
        <p:spPr>
          <a:xfrm>
            <a:off x="815975" y="2160836"/>
            <a:ext cx="10560050" cy="643186"/>
          </a:xfrm>
          <a:prstGeom prst="roundRect">
            <a:avLst>
              <a:gd name="adj" fmla="val 13328"/>
            </a:avLst>
          </a:prstGeom>
          <a:solidFill>
            <a:srgbClr val="FFFDF8"/>
          </a:solidFill>
          <a:ln w="6350">
            <a:solidFill>
              <a:srgbClr val="E1DBCD"/>
            </a:solidFill>
            <a:prstDash val="solid"/>
          </a:ln>
        </p:spPr>
      </p:sp>
      <p:sp>
        <p:nvSpPr>
          <p:cNvPr id="10" name="Text 8"/>
          <p:cNvSpPr/>
          <p:nvPr/>
        </p:nvSpPr>
        <p:spPr>
          <a:xfrm>
            <a:off x="946150" y="2316063"/>
            <a:ext cx="2328317" cy="332730"/>
          </a:xfrm>
          <a:prstGeom prst="roundRect">
            <a:avLst>
              <a:gd name="adj" fmla="val 19085"/>
            </a:avLst>
          </a:prstGeom>
          <a:solidFill>
            <a:srgbClr val="F6ECDA"/>
          </a:solidFill>
          <a:ln/>
        </p:spPr>
        <p:txBody>
          <a:bodyPr wrap="square" lIns="5786" tIns="44901" rIns="70301" bIns="19501" rtlCol="0" anchor="t">
            <a:normAutofit/>
          </a:bodyPr>
          <a:lstStyle/>
          <a:p>
            <a:pPr algn="r" indent="0" marL="0" rtl="1">
              <a:lnSpc>
                <a:spcPts val="1620"/>
              </a:lnSpc>
              <a:buNone/>
            </a:pPr>
            <a:r>
              <a:rPr lang="ar-SA" sz="1200" b="1" dirty="0" altLang="en-US">
                <a:solidFill>
                  <a:srgbClr val="172433"/>
                </a:solidFill>
                <a:latin typeface="IBM Plex Sans Arabic" pitchFamily="34" charset="0"/>
                <a:ea typeface="IBM Plex Sans Arabic" pitchFamily="34" charset="-122"/>
                <a:cs typeface="IBM Plex Sans Arabic" pitchFamily="34" charset="-120"/>
              </a:rPr>
              <a:t>CRISC أو CGRC</a:t>
            </a:r>
            <a:endParaRPr lang="ar-SA" sz="1200" dirty="0" altLang="en-US"/>
          </a:p>
        </p:txBody>
      </p:sp>
      <p:sp>
        <p:nvSpPr>
          <p:cNvPr id="11" name="Text 9"/>
          <p:cNvSpPr/>
          <p:nvPr/>
        </p:nvSpPr>
        <p:spPr>
          <a:xfrm>
            <a:off x="3337967" y="2393504"/>
            <a:ext cx="279400" cy="203200"/>
          </a:xfrm>
          <a:prstGeom prst="rect">
            <a:avLst/>
          </a:prstGeom>
          <a:noFill/>
          <a:ln/>
        </p:spPr>
        <p:txBody>
          <a:bodyPr wrap="square" lIns="0" tIns="0" rIns="0" bIns="0" rtlCol="0" anchor="t">
            <a:normAutofit/>
          </a:bodyPr>
          <a:lstStyle/>
          <a:p>
            <a:pPr algn="ct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12" name="Text 10"/>
          <p:cNvSpPr/>
          <p:nvPr/>
        </p:nvSpPr>
        <p:spPr>
          <a:xfrm>
            <a:off x="3680867" y="2316063"/>
            <a:ext cx="2328366" cy="332730"/>
          </a:xfrm>
          <a:prstGeom prst="roundRect">
            <a:avLst>
              <a:gd name="adj" fmla="val 19085"/>
            </a:avLst>
          </a:prstGeom>
          <a:solidFill>
            <a:srgbClr val="E6EDF4"/>
          </a:solidFill>
          <a:ln/>
        </p:spPr>
        <p:txBody>
          <a:bodyPr wrap="square" lIns="5784" tIns="44901" rIns="70301" bIns="19501" rtlCol="0" anchor="t">
            <a:normAutofit/>
          </a:bodyPr>
          <a:lstStyle/>
          <a:p>
            <a:pPr algn="r" indent="0" marL="0" rtl="1">
              <a:lnSpc>
                <a:spcPts val="1620"/>
              </a:lnSpc>
              <a:buNone/>
            </a:pPr>
            <a:r>
              <a:rPr lang="ar-SA" sz="1200" b="1" dirty="0" altLang="en-US">
                <a:solidFill>
                  <a:srgbClr val="172433"/>
                </a:solidFill>
                <a:latin typeface="IBM Plex Sans Arabic" pitchFamily="34" charset="0"/>
                <a:ea typeface="IBM Plex Sans Arabic" pitchFamily="34" charset="-122"/>
                <a:cs typeface="IBM Plex Sans Arabic" pitchFamily="34" charset="-120"/>
              </a:rPr>
              <a:t>ISO 27001 LI أو GRCP</a:t>
            </a:r>
            <a:endParaRPr lang="ar-SA" sz="1200" dirty="0" altLang="en-US"/>
          </a:p>
        </p:txBody>
      </p:sp>
      <p:sp>
        <p:nvSpPr>
          <p:cNvPr id="13" name="Text 11"/>
          <p:cNvSpPr/>
          <p:nvPr/>
        </p:nvSpPr>
        <p:spPr>
          <a:xfrm>
            <a:off x="6072733" y="2393504"/>
            <a:ext cx="279400" cy="203200"/>
          </a:xfrm>
          <a:prstGeom prst="rect">
            <a:avLst/>
          </a:prstGeom>
          <a:noFill/>
          <a:ln/>
        </p:spPr>
        <p:txBody>
          <a:bodyPr wrap="square" lIns="0" tIns="0" rIns="0" bIns="0" rtlCol="0" anchor="t">
            <a:normAutofit/>
          </a:bodyPr>
          <a:lstStyle/>
          <a:p>
            <a:pPr algn="ct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14" name="Text 12"/>
          <p:cNvSpPr/>
          <p:nvPr/>
        </p:nvSpPr>
        <p:spPr>
          <a:xfrm>
            <a:off x="6415633" y="2316063"/>
            <a:ext cx="2328317" cy="332730"/>
          </a:xfrm>
          <a:prstGeom prst="roundRect">
            <a:avLst>
              <a:gd name="adj" fmla="val 19085"/>
            </a:avLst>
          </a:prstGeom>
          <a:solidFill>
            <a:srgbClr val="E3F1ED"/>
          </a:solidFill>
          <a:ln/>
        </p:spPr>
        <p:txBody>
          <a:bodyPr wrap="square" lIns="5786" tIns="44901" rIns="70301" bIns="19501" rtlCol="0" anchor="t">
            <a:normAutofit/>
          </a:bodyPr>
          <a:lstStyle/>
          <a:p>
            <a:pPr algn="r" indent="0" marL="0" rtl="1">
              <a:lnSpc>
                <a:spcPts val="1620"/>
              </a:lnSpc>
              <a:buNone/>
            </a:pPr>
            <a:r>
              <a:rPr lang="ar-SA" sz="1200" b="1" dirty="0" altLang="en-US">
                <a:solidFill>
                  <a:srgbClr val="172433"/>
                </a:solidFill>
                <a:latin typeface="IBM Plex Sans Arabic" pitchFamily="34" charset="0"/>
                <a:ea typeface="IBM Plex Sans Arabic" pitchFamily="34" charset="-122"/>
                <a:cs typeface="IBM Plex Sans Arabic" pitchFamily="34" charset="-120"/>
              </a:rPr>
              <a:t>CC أو Security+</a:t>
            </a:r>
            <a:endParaRPr lang="ar-SA" sz="1200" dirty="0" altLang="en-US"/>
          </a:p>
        </p:txBody>
      </p:sp>
      <p:sp>
        <p:nvSpPr>
          <p:cNvPr id="15" name="Text 13"/>
          <p:cNvSpPr/>
          <p:nvPr/>
        </p:nvSpPr>
        <p:spPr>
          <a:xfrm>
            <a:off x="8760460" y="2265611"/>
            <a:ext cx="2485390"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محلل GRC وامتثال</a:t>
            </a:r>
            <a:endParaRPr lang="ar-SA" sz="1350" dirty="0" altLang="en-US"/>
          </a:p>
        </p:txBody>
      </p:sp>
      <p:sp>
        <p:nvSpPr>
          <p:cNvPr id="16" name="Text 14"/>
          <p:cNvSpPr/>
          <p:nvPr/>
        </p:nvSpPr>
        <p:spPr>
          <a:xfrm>
            <a:off x="8760460" y="2501156"/>
            <a:ext cx="2485390" cy="223490"/>
          </a:xfrm>
          <a:prstGeom prst="rect">
            <a:avLst/>
          </a:prstGeom>
          <a:noFill/>
          <a:ln/>
        </p:spPr>
        <p:txBody>
          <a:bodyPr wrap="square" lIns="0" tIns="0" rIns="0" bIns="0" rtlCol="0" anchor="t">
            <a:normAutofit/>
          </a:bodyPr>
          <a:lstStyle/>
          <a:p>
            <a:pPr algn="r" indent="0" marL="0" rtl="1">
              <a:lnSpc>
                <a:spcPts val="156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الخط الثاني</a:t>
            </a:r>
            <a:endParaRPr lang="ar-SA" sz="1200" dirty="0" altLang="en-US"/>
          </a:p>
        </p:txBody>
      </p:sp>
      <p:sp>
        <p:nvSpPr>
          <p:cNvPr id="17" name="Shape 15"/>
          <p:cNvSpPr/>
          <p:nvPr/>
        </p:nvSpPr>
        <p:spPr>
          <a:xfrm>
            <a:off x="815975" y="2899271"/>
            <a:ext cx="10560050" cy="643186"/>
          </a:xfrm>
          <a:prstGeom prst="roundRect">
            <a:avLst>
              <a:gd name="adj" fmla="val 13328"/>
            </a:avLst>
          </a:prstGeom>
          <a:solidFill>
            <a:srgbClr val="FFFDF8"/>
          </a:solidFill>
          <a:ln w="6350">
            <a:solidFill>
              <a:srgbClr val="E1DBCD"/>
            </a:solidFill>
            <a:prstDash val="solid"/>
          </a:ln>
        </p:spPr>
      </p:sp>
      <p:sp>
        <p:nvSpPr>
          <p:cNvPr id="18" name="Text 16"/>
          <p:cNvSpPr/>
          <p:nvPr/>
        </p:nvSpPr>
        <p:spPr>
          <a:xfrm>
            <a:off x="946150" y="3054499"/>
            <a:ext cx="2328317" cy="332730"/>
          </a:xfrm>
          <a:prstGeom prst="roundRect">
            <a:avLst>
              <a:gd name="adj" fmla="val 19085"/>
            </a:avLst>
          </a:prstGeom>
          <a:solidFill>
            <a:srgbClr val="F6ECDA"/>
          </a:solidFill>
          <a:ln/>
        </p:spPr>
        <p:txBody>
          <a:bodyPr wrap="square" lIns="5786" tIns="44901" rIns="70301" bIns="19501" rtlCol="0" anchor="t">
            <a:normAutofit/>
          </a:bodyPr>
          <a:lstStyle/>
          <a:p>
            <a:pPr algn="r" indent="0" marL="0">
              <a:lnSpc>
                <a:spcPts val="1620"/>
              </a:lnSpc>
              <a:buNone/>
            </a:pPr>
            <a:r>
              <a:rPr lang="en-US" sz="1200" b="1" dirty="0">
                <a:solidFill>
                  <a:srgbClr val="172433"/>
                </a:solidFill>
                <a:latin typeface="IBM Plex Sans Arabic" pitchFamily="34" charset="0"/>
                <a:ea typeface="IBM Plex Sans Arabic" pitchFamily="34" charset="-122"/>
                <a:cs typeface="IBM Plex Sans Arabic" pitchFamily="34" charset="-120"/>
              </a:rPr>
              <a:t>CISA</a:t>
            </a:r>
            <a:endParaRPr lang="en-US" sz="1200" dirty="0"/>
          </a:p>
        </p:txBody>
      </p:sp>
      <p:sp>
        <p:nvSpPr>
          <p:cNvPr id="19" name="Text 17"/>
          <p:cNvSpPr/>
          <p:nvPr/>
        </p:nvSpPr>
        <p:spPr>
          <a:xfrm>
            <a:off x="3337967" y="3131939"/>
            <a:ext cx="279400" cy="203200"/>
          </a:xfrm>
          <a:prstGeom prst="rect">
            <a:avLst/>
          </a:prstGeom>
          <a:noFill/>
          <a:ln/>
        </p:spPr>
        <p:txBody>
          <a:bodyPr wrap="square" lIns="0" tIns="0" rIns="0" bIns="0" rtlCol="0" anchor="t">
            <a:normAutofit/>
          </a:bodyPr>
          <a:lstStyle/>
          <a:p>
            <a:pPr algn="ct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20" name="Text 18"/>
          <p:cNvSpPr/>
          <p:nvPr/>
        </p:nvSpPr>
        <p:spPr>
          <a:xfrm>
            <a:off x="3680867" y="3054499"/>
            <a:ext cx="2328366" cy="332730"/>
          </a:xfrm>
          <a:prstGeom prst="roundRect">
            <a:avLst>
              <a:gd name="adj" fmla="val 19085"/>
            </a:avLst>
          </a:prstGeom>
          <a:solidFill>
            <a:srgbClr val="E6EDF4"/>
          </a:solidFill>
          <a:ln/>
        </p:spPr>
        <p:txBody>
          <a:bodyPr wrap="square" lIns="5784" tIns="44901" rIns="70301" bIns="19501" rtlCol="0" anchor="t">
            <a:normAutofit/>
          </a:bodyPr>
          <a:lstStyle/>
          <a:p>
            <a:pPr algn="r" indent="0" marL="0">
              <a:lnSpc>
                <a:spcPts val="1620"/>
              </a:lnSpc>
              <a:buNone/>
            </a:pPr>
            <a:r>
              <a:rPr lang="en-US" sz="1200" b="1" dirty="0">
                <a:solidFill>
                  <a:srgbClr val="172433"/>
                </a:solidFill>
                <a:latin typeface="IBM Plex Sans Arabic" pitchFamily="34" charset="0"/>
                <a:ea typeface="IBM Plex Sans Arabic" pitchFamily="34" charset="-122"/>
                <a:cs typeface="IBM Plex Sans Arabic" pitchFamily="34" charset="-120"/>
              </a:rPr>
              <a:t>ISO 27001 LA</a:t>
            </a:r>
            <a:endParaRPr lang="en-US" sz="1200" dirty="0"/>
          </a:p>
        </p:txBody>
      </p:sp>
      <p:sp>
        <p:nvSpPr>
          <p:cNvPr id="21" name="Text 19"/>
          <p:cNvSpPr/>
          <p:nvPr/>
        </p:nvSpPr>
        <p:spPr>
          <a:xfrm>
            <a:off x="6072733" y="3131939"/>
            <a:ext cx="279400" cy="203200"/>
          </a:xfrm>
          <a:prstGeom prst="rect">
            <a:avLst/>
          </a:prstGeom>
          <a:noFill/>
          <a:ln/>
        </p:spPr>
        <p:txBody>
          <a:bodyPr wrap="square" lIns="0" tIns="0" rIns="0" bIns="0" rtlCol="0" anchor="t">
            <a:normAutofit/>
          </a:bodyPr>
          <a:lstStyle/>
          <a:p>
            <a:pPr algn="ct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22" name="Text 20"/>
          <p:cNvSpPr/>
          <p:nvPr/>
        </p:nvSpPr>
        <p:spPr>
          <a:xfrm>
            <a:off x="6415633" y="3054499"/>
            <a:ext cx="2328317" cy="332730"/>
          </a:xfrm>
          <a:prstGeom prst="roundRect">
            <a:avLst>
              <a:gd name="adj" fmla="val 19085"/>
            </a:avLst>
          </a:prstGeom>
          <a:solidFill>
            <a:srgbClr val="E3F1ED"/>
          </a:solidFill>
          <a:ln/>
        </p:spPr>
        <p:txBody>
          <a:bodyPr wrap="square" lIns="5786" tIns="44901" rIns="70301" bIns="19501" rtlCol="0" anchor="t">
            <a:normAutofit/>
          </a:bodyPr>
          <a:lstStyle/>
          <a:p>
            <a:pPr algn="r" indent="0" marL="0" rtl="1">
              <a:lnSpc>
                <a:spcPts val="1620"/>
              </a:lnSpc>
              <a:buNone/>
            </a:pPr>
            <a:r>
              <a:rPr lang="ar-SA" sz="1200" b="1" dirty="0" altLang="en-US">
                <a:solidFill>
                  <a:srgbClr val="172433"/>
                </a:solidFill>
                <a:latin typeface="IBM Plex Sans Arabic" pitchFamily="34" charset="0"/>
                <a:ea typeface="IBM Plex Sans Arabic" pitchFamily="34" charset="-122"/>
                <a:cs typeface="IBM Plex Sans Arabic" pitchFamily="34" charset="-120"/>
              </a:rPr>
              <a:t>CC أو IT Audit Fund.</a:t>
            </a:r>
            <a:endParaRPr lang="ar-SA" sz="1200" dirty="0" altLang="en-US"/>
          </a:p>
        </p:txBody>
      </p:sp>
      <p:sp>
        <p:nvSpPr>
          <p:cNvPr id="23" name="Text 21"/>
          <p:cNvSpPr/>
          <p:nvPr/>
        </p:nvSpPr>
        <p:spPr>
          <a:xfrm>
            <a:off x="8760460" y="3004046"/>
            <a:ext cx="2485390"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مدقق تقنية معلومات</a:t>
            </a:r>
            <a:endParaRPr lang="ar-SA" sz="1350" dirty="0" altLang="en-US"/>
          </a:p>
        </p:txBody>
      </p:sp>
      <p:sp>
        <p:nvSpPr>
          <p:cNvPr id="24" name="Text 22"/>
          <p:cNvSpPr/>
          <p:nvPr/>
        </p:nvSpPr>
        <p:spPr>
          <a:xfrm>
            <a:off x="8760460" y="3239591"/>
            <a:ext cx="2485390" cy="223490"/>
          </a:xfrm>
          <a:prstGeom prst="rect">
            <a:avLst/>
          </a:prstGeom>
          <a:noFill/>
          <a:ln/>
        </p:spPr>
        <p:txBody>
          <a:bodyPr wrap="square" lIns="0" tIns="0" rIns="0" bIns="0" rtlCol="0" anchor="t">
            <a:normAutofit/>
          </a:bodyPr>
          <a:lstStyle/>
          <a:p>
            <a:pPr algn="r" indent="0" marL="0" rtl="1">
              <a:lnSpc>
                <a:spcPts val="156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الخط الثالث</a:t>
            </a:r>
            <a:endParaRPr lang="ar-SA" sz="1200" dirty="0" altLang="en-US"/>
          </a:p>
        </p:txBody>
      </p:sp>
      <p:sp>
        <p:nvSpPr>
          <p:cNvPr id="25" name="Shape 23"/>
          <p:cNvSpPr/>
          <p:nvPr/>
        </p:nvSpPr>
        <p:spPr>
          <a:xfrm>
            <a:off x="815975" y="3637707"/>
            <a:ext cx="10560050" cy="643186"/>
          </a:xfrm>
          <a:prstGeom prst="roundRect">
            <a:avLst>
              <a:gd name="adj" fmla="val 13328"/>
            </a:avLst>
          </a:prstGeom>
          <a:solidFill>
            <a:srgbClr val="FFFDF8"/>
          </a:solidFill>
          <a:ln w="6350">
            <a:solidFill>
              <a:srgbClr val="E1DBCD"/>
            </a:solidFill>
            <a:prstDash val="solid"/>
          </a:ln>
        </p:spPr>
      </p:sp>
      <p:sp>
        <p:nvSpPr>
          <p:cNvPr id="26" name="Text 24"/>
          <p:cNvSpPr/>
          <p:nvPr/>
        </p:nvSpPr>
        <p:spPr>
          <a:xfrm>
            <a:off x="946150" y="3792934"/>
            <a:ext cx="2328317" cy="332730"/>
          </a:xfrm>
          <a:prstGeom prst="roundRect">
            <a:avLst>
              <a:gd name="adj" fmla="val 19085"/>
            </a:avLst>
          </a:prstGeom>
          <a:solidFill>
            <a:srgbClr val="F6ECDA"/>
          </a:solidFill>
          <a:ln/>
        </p:spPr>
        <p:txBody>
          <a:bodyPr wrap="square" lIns="5786" tIns="44901" rIns="70301" bIns="19501" rtlCol="0" anchor="t">
            <a:normAutofit/>
          </a:bodyPr>
          <a:lstStyle/>
          <a:p>
            <a:pPr algn="r" indent="0" marL="0">
              <a:lnSpc>
                <a:spcPts val="1620"/>
              </a:lnSpc>
              <a:buNone/>
            </a:pPr>
            <a:r>
              <a:rPr lang="en-US" sz="1200" b="1" dirty="0">
                <a:solidFill>
                  <a:srgbClr val="172433"/>
                </a:solidFill>
                <a:latin typeface="IBM Plex Sans Arabic" pitchFamily="34" charset="0"/>
                <a:ea typeface="IBM Plex Sans Arabic" pitchFamily="34" charset="-122"/>
                <a:cs typeface="IBM Plex Sans Arabic" pitchFamily="34" charset="-120"/>
              </a:rPr>
              <a:t>CDPSE</a:t>
            </a:r>
            <a:endParaRPr lang="en-US" sz="1200" dirty="0"/>
          </a:p>
        </p:txBody>
      </p:sp>
      <p:sp>
        <p:nvSpPr>
          <p:cNvPr id="27" name="Text 25"/>
          <p:cNvSpPr/>
          <p:nvPr/>
        </p:nvSpPr>
        <p:spPr>
          <a:xfrm>
            <a:off x="3337967" y="3870375"/>
            <a:ext cx="279400" cy="203200"/>
          </a:xfrm>
          <a:prstGeom prst="rect">
            <a:avLst/>
          </a:prstGeom>
          <a:noFill/>
          <a:ln/>
        </p:spPr>
        <p:txBody>
          <a:bodyPr wrap="square" lIns="0" tIns="0" rIns="0" bIns="0" rtlCol="0" anchor="t">
            <a:normAutofit/>
          </a:bodyPr>
          <a:lstStyle/>
          <a:p>
            <a:pPr algn="ct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28" name="Text 26"/>
          <p:cNvSpPr/>
          <p:nvPr/>
        </p:nvSpPr>
        <p:spPr>
          <a:xfrm>
            <a:off x="3680867" y="3792934"/>
            <a:ext cx="2328366" cy="332730"/>
          </a:xfrm>
          <a:prstGeom prst="roundRect">
            <a:avLst>
              <a:gd name="adj" fmla="val 19085"/>
            </a:avLst>
          </a:prstGeom>
          <a:solidFill>
            <a:srgbClr val="E6EDF4"/>
          </a:solidFill>
          <a:ln/>
        </p:spPr>
        <p:txBody>
          <a:bodyPr wrap="square" lIns="5784" tIns="44901" rIns="70301" bIns="19501" rtlCol="0" anchor="t">
            <a:normAutofit/>
          </a:bodyPr>
          <a:lstStyle/>
          <a:p>
            <a:pPr algn="r" indent="0" marL="0" rtl="1">
              <a:lnSpc>
                <a:spcPts val="1620"/>
              </a:lnSpc>
              <a:buNone/>
            </a:pPr>
            <a:r>
              <a:rPr lang="ar-SA" sz="1200" b="1" dirty="0" altLang="en-US">
                <a:solidFill>
                  <a:srgbClr val="172433"/>
                </a:solidFill>
                <a:latin typeface="IBM Plex Sans Arabic" pitchFamily="34" charset="0"/>
                <a:ea typeface="IBM Plex Sans Arabic" pitchFamily="34" charset="-122"/>
                <a:cs typeface="IBM Plex Sans Arabic" pitchFamily="34" charset="-120"/>
              </a:rPr>
              <a:t>CIPM أو CIPP/E</a:t>
            </a:r>
            <a:endParaRPr lang="ar-SA" sz="1200" dirty="0" altLang="en-US"/>
          </a:p>
        </p:txBody>
      </p:sp>
      <p:sp>
        <p:nvSpPr>
          <p:cNvPr id="29" name="Text 27"/>
          <p:cNvSpPr/>
          <p:nvPr/>
        </p:nvSpPr>
        <p:spPr>
          <a:xfrm>
            <a:off x="6072733" y="3870375"/>
            <a:ext cx="279400" cy="203200"/>
          </a:xfrm>
          <a:prstGeom prst="rect">
            <a:avLst/>
          </a:prstGeom>
          <a:noFill/>
          <a:ln/>
        </p:spPr>
        <p:txBody>
          <a:bodyPr wrap="square" lIns="0" tIns="0" rIns="0" bIns="0" rtlCol="0" anchor="t">
            <a:normAutofit/>
          </a:bodyPr>
          <a:lstStyle/>
          <a:p>
            <a:pPr algn="ct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30" name="Text 28"/>
          <p:cNvSpPr/>
          <p:nvPr/>
        </p:nvSpPr>
        <p:spPr>
          <a:xfrm>
            <a:off x="6415633" y="3792934"/>
            <a:ext cx="2328317" cy="332730"/>
          </a:xfrm>
          <a:prstGeom prst="roundRect">
            <a:avLst>
              <a:gd name="adj" fmla="val 19085"/>
            </a:avLst>
          </a:prstGeom>
          <a:solidFill>
            <a:srgbClr val="E3F1ED"/>
          </a:solidFill>
          <a:ln/>
        </p:spPr>
        <p:txBody>
          <a:bodyPr wrap="square" lIns="5786" tIns="44901" rIns="70301" bIns="19501" rtlCol="0" anchor="t">
            <a:normAutofit/>
          </a:bodyPr>
          <a:lstStyle/>
          <a:p>
            <a:pPr algn="r" indent="0" marL="0">
              <a:lnSpc>
                <a:spcPts val="1620"/>
              </a:lnSpc>
              <a:buNone/>
            </a:pPr>
            <a:r>
              <a:rPr lang="en-US" sz="1200" b="1" dirty="0">
                <a:solidFill>
                  <a:srgbClr val="172433"/>
                </a:solidFill>
                <a:latin typeface="IBM Plex Sans Arabic" pitchFamily="34" charset="0"/>
                <a:ea typeface="IBM Plex Sans Arabic" pitchFamily="34" charset="-122"/>
                <a:cs typeface="IBM Plex Sans Arabic" pitchFamily="34" charset="-120"/>
              </a:rPr>
              <a:t>CC</a:t>
            </a:r>
            <a:endParaRPr lang="en-US" sz="1200" dirty="0"/>
          </a:p>
        </p:txBody>
      </p:sp>
      <p:sp>
        <p:nvSpPr>
          <p:cNvPr id="31" name="Text 29"/>
          <p:cNvSpPr/>
          <p:nvPr/>
        </p:nvSpPr>
        <p:spPr>
          <a:xfrm>
            <a:off x="8760460" y="3742482"/>
            <a:ext cx="2485390"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الخصوصية وحماية البيانات</a:t>
            </a:r>
            <a:endParaRPr lang="ar-SA" sz="1350" dirty="0" altLang="en-US"/>
          </a:p>
        </p:txBody>
      </p:sp>
      <p:sp>
        <p:nvSpPr>
          <p:cNvPr id="32" name="Text 30"/>
          <p:cNvSpPr/>
          <p:nvPr/>
        </p:nvSpPr>
        <p:spPr>
          <a:xfrm>
            <a:off x="8760460" y="3978027"/>
            <a:ext cx="2485390" cy="223490"/>
          </a:xfrm>
          <a:prstGeom prst="rect">
            <a:avLst/>
          </a:prstGeom>
          <a:noFill/>
          <a:ln/>
        </p:spPr>
        <p:txBody>
          <a:bodyPr wrap="square" lIns="0" tIns="0" rIns="0" bIns="0" rtlCol="0" anchor="t">
            <a:normAutofit/>
          </a:bodyPr>
          <a:lstStyle/>
          <a:p>
            <a:pPr algn="r" indent="0" marL="0" rtl="1">
              <a:lnSpc>
                <a:spcPts val="156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مثل مسؤول حماية البيانات</a:t>
            </a:r>
            <a:endParaRPr lang="ar-SA" sz="1200" dirty="0" altLang="en-US"/>
          </a:p>
        </p:txBody>
      </p:sp>
      <p:sp>
        <p:nvSpPr>
          <p:cNvPr id="33" name="Shape 31"/>
          <p:cNvSpPr/>
          <p:nvPr/>
        </p:nvSpPr>
        <p:spPr>
          <a:xfrm>
            <a:off x="815975" y="4376142"/>
            <a:ext cx="10560050" cy="643186"/>
          </a:xfrm>
          <a:prstGeom prst="roundRect">
            <a:avLst>
              <a:gd name="adj" fmla="val 13328"/>
            </a:avLst>
          </a:prstGeom>
          <a:solidFill>
            <a:srgbClr val="FFFDF8"/>
          </a:solidFill>
          <a:ln w="6350">
            <a:solidFill>
              <a:srgbClr val="E1DBCD"/>
            </a:solidFill>
            <a:prstDash val="solid"/>
          </a:ln>
        </p:spPr>
      </p:sp>
      <p:sp>
        <p:nvSpPr>
          <p:cNvPr id="34" name="Text 32"/>
          <p:cNvSpPr/>
          <p:nvPr/>
        </p:nvSpPr>
        <p:spPr>
          <a:xfrm>
            <a:off x="946150" y="4531370"/>
            <a:ext cx="2328317" cy="332730"/>
          </a:xfrm>
          <a:prstGeom prst="roundRect">
            <a:avLst>
              <a:gd name="adj" fmla="val 19085"/>
            </a:avLst>
          </a:prstGeom>
          <a:solidFill>
            <a:srgbClr val="F6ECDA"/>
          </a:solidFill>
          <a:ln/>
        </p:spPr>
        <p:txBody>
          <a:bodyPr wrap="square" lIns="5786" tIns="44901" rIns="70301" bIns="19501" rtlCol="0" anchor="t">
            <a:normAutofit/>
          </a:bodyPr>
          <a:lstStyle/>
          <a:p>
            <a:pPr algn="r" indent="0" marL="0">
              <a:lnSpc>
                <a:spcPts val="1620"/>
              </a:lnSpc>
              <a:buNone/>
            </a:pPr>
            <a:r>
              <a:rPr lang="en-US" sz="1200" b="1" dirty="0">
                <a:solidFill>
                  <a:srgbClr val="172433"/>
                </a:solidFill>
                <a:latin typeface="IBM Plex Sans Arabic" pitchFamily="34" charset="0"/>
                <a:ea typeface="IBM Plex Sans Arabic" pitchFamily="34" charset="-122"/>
                <a:cs typeface="IBM Plex Sans Arabic" pitchFamily="34" charset="-120"/>
              </a:rPr>
              <a:t>CGEIT</a:t>
            </a:r>
            <a:endParaRPr lang="en-US" sz="1200" dirty="0"/>
          </a:p>
        </p:txBody>
      </p:sp>
      <p:sp>
        <p:nvSpPr>
          <p:cNvPr id="35" name="Text 33"/>
          <p:cNvSpPr/>
          <p:nvPr/>
        </p:nvSpPr>
        <p:spPr>
          <a:xfrm>
            <a:off x="3337967" y="4608810"/>
            <a:ext cx="279400" cy="203200"/>
          </a:xfrm>
          <a:prstGeom prst="rect">
            <a:avLst/>
          </a:prstGeom>
          <a:noFill/>
          <a:ln/>
        </p:spPr>
        <p:txBody>
          <a:bodyPr wrap="square" lIns="0" tIns="0" rIns="0" bIns="0" rtlCol="0" anchor="t">
            <a:normAutofit/>
          </a:bodyPr>
          <a:lstStyle/>
          <a:p>
            <a:pPr algn="ct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36" name="Text 34"/>
          <p:cNvSpPr/>
          <p:nvPr/>
        </p:nvSpPr>
        <p:spPr>
          <a:xfrm>
            <a:off x="3680867" y="4531370"/>
            <a:ext cx="2328366" cy="332730"/>
          </a:xfrm>
          <a:prstGeom prst="roundRect">
            <a:avLst>
              <a:gd name="adj" fmla="val 19085"/>
            </a:avLst>
          </a:prstGeom>
          <a:solidFill>
            <a:srgbClr val="E6EDF4"/>
          </a:solidFill>
          <a:ln/>
        </p:spPr>
        <p:txBody>
          <a:bodyPr wrap="square" lIns="5784" tIns="44901" rIns="70301" bIns="19501" rtlCol="0" anchor="t">
            <a:normAutofit/>
          </a:bodyPr>
          <a:lstStyle/>
          <a:p>
            <a:pPr algn="r" indent="0" marL="0" rtl="1">
              <a:lnSpc>
                <a:spcPts val="1620"/>
              </a:lnSpc>
              <a:buNone/>
            </a:pPr>
            <a:r>
              <a:rPr lang="ar-SA" sz="1200" b="1" dirty="0" altLang="en-US">
                <a:solidFill>
                  <a:srgbClr val="172433"/>
                </a:solidFill>
                <a:latin typeface="IBM Plex Sans Arabic" pitchFamily="34" charset="0"/>
                <a:ea typeface="IBM Plex Sans Arabic" pitchFamily="34" charset="-122"/>
                <a:cs typeface="IBM Plex Sans Arabic" pitchFamily="34" charset="-120"/>
              </a:rPr>
              <a:t>CISM أو CISSP</a:t>
            </a:r>
            <a:endParaRPr lang="ar-SA" sz="1200" dirty="0" altLang="en-US"/>
          </a:p>
        </p:txBody>
      </p:sp>
      <p:sp>
        <p:nvSpPr>
          <p:cNvPr id="37" name="Text 35"/>
          <p:cNvSpPr/>
          <p:nvPr/>
        </p:nvSpPr>
        <p:spPr>
          <a:xfrm>
            <a:off x="6072733" y="4608810"/>
            <a:ext cx="279400" cy="203200"/>
          </a:xfrm>
          <a:prstGeom prst="rect">
            <a:avLst/>
          </a:prstGeom>
          <a:noFill/>
          <a:ln/>
        </p:spPr>
        <p:txBody>
          <a:bodyPr wrap="square" lIns="0" tIns="0" rIns="0" bIns="0" rtlCol="0" anchor="t">
            <a:normAutofit/>
          </a:bodyPr>
          <a:lstStyle/>
          <a:p>
            <a:pPr algn="ct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38" name="Text 36"/>
          <p:cNvSpPr/>
          <p:nvPr/>
        </p:nvSpPr>
        <p:spPr>
          <a:xfrm>
            <a:off x="6415633" y="4531370"/>
            <a:ext cx="2328317" cy="332730"/>
          </a:xfrm>
          <a:prstGeom prst="roundRect">
            <a:avLst>
              <a:gd name="adj" fmla="val 19085"/>
            </a:avLst>
          </a:prstGeom>
          <a:solidFill>
            <a:srgbClr val="E3F1ED"/>
          </a:solidFill>
          <a:ln/>
        </p:spPr>
        <p:txBody>
          <a:bodyPr wrap="square" lIns="5786" tIns="44901" rIns="70301" bIns="19501" rtlCol="0" anchor="t">
            <a:normAutofit/>
          </a:bodyPr>
          <a:lstStyle/>
          <a:p>
            <a:pPr algn="r" indent="0" marL="0" rtl="1">
              <a:lnSpc>
                <a:spcPts val="1620"/>
              </a:lnSpc>
              <a:buNone/>
            </a:pPr>
            <a:r>
              <a:rPr lang="ar-SA" sz="1200" b="1" dirty="0" altLang="en-US">
                <a:solidFill>
                  <a:srgbClr val="172433"/>
                </a:solidFill>
                <a:latin typeface="IBM Plex Sans Arabic" pitchFamily="34" charset="0"/>
                <a:ea typeface="IBM Plex Sans Arabic" pitchFamily="34" charset="-122"/>
                <a:cs typeface="IBM Plex Sans Arabic" pitchFamily="34" charset="-120"/>
              </a:rPr>
              <a:t>أي مسار مما سبق</a:t>
            </a:r>
            <a:endParaRPr lang="ar-SA" sz="1200" dirty="0" altLang="en-US"/>
          </a:p>
        </p:txBody>
      </p:sp>
      <p:sp>
        <p:nvSpPr>
          <p:cNvPr id="39" name="Text 37"/>
          <p:cNvSpPr/>
          <p:nvPr/>
        </p:nvSpPr>
        <p:spPr>
          <a:xfrm>
            <a:off x="8760460" y="4480917"/>
            <a:ext cx="2485390"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قيادة الأمن والحوكمة</a:t>
            </a:r>
            <a:endParaRPr lang="ar-SA" sz="1350" dirty="0" altLang="en-US"/>
          </a:p>
        </p:txBody>
      </p:sp>
      <p:sp>
        <p:nvSpPr>
          <p:cNvPr id="40" name="Text 38"/>
          <p:cNvSpPr/>
          <p:nvPr/>
        </p:nvSpPr>
        <p:spPr>
          <a:xfrm>
            <a:off x="8760460" y="4716463"/>
            <a:ext cx="2485390" cy="223490"/>
          </a:xfrm>
          <a:prstGeom prst="rect">
            <a:avLst/>
          </a:prstGeom>
          <a:noFill/>
          <a:ln/>
        </p:spPr>
        <p:txBody>
          <a:bodyPr wrap="square" lIns="0" tIns="0" rIns="0" bIns="0" rtlCol="0" anchor="t">
            <a:normAutofit/>
          </a:bodyPr>
          <a:lstStyle/>
          <a:p>
            <a:pPr algn="r" indent="0" marL="0" rtl="1">
              <a:lnSpc>
                <a:spcPts val="156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هدف بعيد، بعد سنوات</a:t>
            </a:r>
            <a:endParaRPr lang="ar-SA" sz="1200" dirty="0" altLang="en-US"/>
          </a:p>
        </p:txBody>
      </p:sp>
      <p:sp>
        <p:nvSpPr>
          <p:cNvPr id="41" name="Shape 39"/>
          <p:cNvSpPr/>
          <p:nvPr/>
        </p:nvSpPr>
        <p:spPr>
          <a:xfrm>
            <a:off x="812800" y="5174903"/>
            <a:ext cx="10566400" cy="425450"/>
          </a:xfrm>
          <a:prstGeom prst="roundRect">
            <a:avLst>
              <a:gd name="adj" fmla="val 20896"/>
            </a:avLst>
          </a:prstGeom>
          <a:solidFill>
            <a:srgbClr val="172433"/>
          </a:solidFill>
          <a:ln/>
        </p:spPr>
      </p:sp>
      <p:sp>
        <p:nvSpPr>
          <p:cNvPr id="42" name="Text 40"/>
          <p:cNvSpPr/>
          <p:nvPr/>
        </p:nvSpPr>
        <p:spPr>
          <a:xfrm>
            <a:off x="665353" y="5276503"/>
            <a:ext cx="10294747" cy="247650"/>
          </a:xfrm>
          <a:prstGeom prst="rect">
            <a:avLst/>
          </a:prstGeom>
          <a:noFill/>
          <a:ln/>
        </p:spPr>
        <p:txBody>
          <a:bodyPr wrap="square" lIns="0" tIns="0" rIns="0" bIns="0" rtlCol="0" anchor="t">
            <a:normAutofit/>
          </a:bodyPr>
          <a:lstStyle/>
          <a:p>
            <a:pPr algn="r" indent="0" marL="0" rtl="1">
              <a:lnSpc>
                <a:spcPts val="1750"/>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شهادة واحدة لكل مرحلة. ما بين المراحل خبرة ومشاريع، لا شهادة إضافية.</a:t>
            </a:r>
            <a:endParaRPr lang="ar-SA" sz="1250" dirty="0" altLang="en-US"/>
          </a:p>
        </p:txBody>
      </p:sp>
      <p:pic>
        <p:nvPicPr>
          <p:cNvPr id="43" name="Image 0" descr="Star">    </p:cNvPr>
          <p:cNvPicPr>
            <a:picLocks noChangeAspect="1"/>
          </p:cNvPicPr>
          <p:nvPr/>
        </p:nvPicPr>
        <p:blipFill>
          <a:blip r:embed="rId1"/>
          <a:srcRect l="0" r="0" t="0" b="0"/>
          <a:stretch/>
        </p:blipFill>
        <p:spPr>
          <a:xfrm>
            <a:off x="11049000" y="5298728"/>
            <a:ext cx="177800" cy="177800"/>
          </a:xfrm>
          <a:prstGeom prst="rect">
            <a:avLst/>
          </a:prstGeom>
        </p:spPr>
      </p:pic>
      <p:sp>
        <p:nvSpPr>
          <p:cNvPr id="44" name="Text 41"/>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37</a:t>
            </a:r>
            <a:endParaRPr lang="en-US" sz="1200" dirty="0"/>
          </a:p>
        </p:txBody>
      </p:sp>
      <p:sp>
        <p:nvSpPr>
          <p:cNvPr id="45" name="Text 42"/>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04 · الشهادات</a:t>
            </a:r>
            <a:endParaRPr lang="ar-SA" sz="1200" dirty="0"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580257" cy="289520"/>
          </a:xfrm>
          <a:custGeom>
            <a:avLst/>
            <a:gdLst/>
            <a:ahLst/>
            <a:cxnLst/>
            <a:rect l="l" t="t" r="r" b="b"/>
            <a:pathLst>
              <a:path w="1580257" h="289520">
                <a:moveTo>
                  <a:pt x="144760" y="0"/>
                </a:moveTo>
                <a:lnTo>
                  <a:pt x="1435497" y="0"/>
                </a:lnTo>
                <a:arcTo hR="144760" wR="144760" stAng="16200000" swAng="5400000"/>
                <a:lnTo>
                  <a:pt x="158025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04 · الشهادات</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كيف تذاكر لأي شهادة: أربع خطوات</a:t>
            </a:r>
            <a:endParaRPr lang="ar-SA" sz="3000" dirty="0" altLang="en-US"/>
          </a:p>
        </p:txBody>
      </p:sp>
      <p:sp>
        <p:nvSpPr>
          <p:cNvPr id="5" name="Shape 3"/>
          <p:cNvSpPr/>
          <p:nvPr/>
        </p:nvSpPr>
        <p:spPr>
          <a:xfrm>
            <a:off x="819150" y="1838920"/>
            <a:ext cx="2562225" cy="1388666"/>
          </a:xfrm>
          <a:prstGeom prst="roundRect">
            <a:avLst>
              <a:gd name="adj" fmla="val 6859"/>
            </a:avLst>
          </a:prstGeom>
          <a:solidFill>
            <a:srgbClr val="E3F1ED"/>
          </a:solidFill>
          <a:ln w="12700">
            <a:solidFill>
              <a:srgbClr val="0E7C6B"/>
            </a:solidFill>
            <a:prstDash val="solid"/>
          </a:ln>
        </p:spPr>
      </p:sp>
      <p:sp>
        <p:nvSpPr>
          <p:cNvPr id="6" name="Text 4"/>
          <p:cNvSpPr/>
          <p:nvPr/>
        </p:nvSpPr>
        <p:spPr>
          <a:xfrm>
            <a:off x="910558" y="1997670"/>
            <a:ext cx="2312067"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0E7C6B"/>
                </a:solidFill>
                <a:latin typeface="Readex Pro" pitchFamily="34" charset="0"/>
                <a:ea typeface="Readex Pro" pitchFamily="34" charset="-122"/>
                <a:cs typeface="Readex Pro" pitchFamily="34" charset="-120"/>
              </a:rPr>
              <a:t>4</a:t>
            </a:r>
            <a:endParaRPr lang="en-US" sz="2200" dirty="0"/>
          </a:p>
        </p:txBody>
      </p:sp>
      <p:sp>
        <p:nvSpPr>
          <p:cNvPr id="7" name="Text 5"/>
          <p:cNvSpPr/>
          <p:nvPr/>
        </p:nvSpPr>
        <p:spPr>
          <a:xfrm>
            <a:off x="910558" y="2340570"/>
            <a:ext cx="2312067"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احجز حين تثبت درجاتك</a:t>
            </a:r>
            <a:endParaRPr lang="ar-SA" sz="1350" dirty="0" altLang="en-US"/>
          </a:p>
        </p:txBody>
      </p:sp>
      <p:sp>
        <p:nvSpPr>
          <p:cNvPr id="8" name="Text 6"/>
          <p:cNvSpPr/>
          <p:nvPr/>
        </p:nvSpPr>
        <p:spPr>
          <a:xfrm>
            <a:off x="910558" y="2626916"/>
            <a:ext cx="231206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حين تتجاوز حد النجاح في الاختبارات التجريبية مرة بعد مرة.</a:t>
            </a:r>
            <a:endParaRPr lang="ar-SA" sz="1200" dirty="0" altLang="en-US"/>
          </a:p>
        </p:txBody>
      </p:sp>
      <p:sp>
        <p:nvSpPr>
          <p:cNvPr id="9" name="Shape 7"/>
          <p:cNvSpPr/>
          <p:nvPr/>
        </p:nvSpPr>
        <p:spPr>
          <a:xfrm>
            <a:off x="3492500" y="1835745"/>
            <a:ext cx="2555875" cy="1395016"/>
          </a:xfrm>
          <a:prstGeom prst="roundRect">
            <a:avLst>
              <a:gd name="adj" fmla="val 7055"/>
            </a:avLst>
          </a:prstGeom>
          <a:solidFill>
            <a:srgbClr val="FFFDF8"/>
          </a:solidFill>
          <a:ln w="6350">
            <a:solidFill>
              <a:srgbClr val="E1DBCD"/>
            </a:solidFill>
            <a:prstDash val="solid"/>
          </a:ln>
        </p:spPr>
      </p:sp>
      <p:sp>
        <p:nvSpPr>
          <p:cNvPr id="10" name="Text 8"/>
          <p:cNvSpPr/>
          <p:nvPr/>
        </p:nvSpPr>
        <p:spPr>
          <a:xfrm>
            <a:off x="3580733" y="1991320"/>
            <a:ext cx="2312067"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0E7C6B"/>
                </a:solidFill>
                <a:latin typeface="Readex Pro" pitchFamily="34" charset="0"/>
                <a:ea typeface="Readex Pro" pitchFamily="34" charset="-122"/>
                <a:cs typeface="Readex Pro" pitchFamily="34" charset="-120"/>
              </a:rPr>
              <a:t>3</a:t>
            </a:r>
            <a:endParaRPr lang="en-US" sz="2200" dirty="0"/>
          </a:p>
        </p:txBody>
      </p:sp>
      <p:sp>
        <p:nvSpPr>
          <p:cNvPr id="11" name="Text 9"/>
          <p:cNvSpPr/>
          <p:nvPr/>
        </p:nvSpPr>
        <p:spPr>
          <a:xfrm>
            <a:off x="3580733" y="2334220"/>
            <a:ext cx="2312067"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بنك أسئلة بفهم</a:t>
            </a:r>
            <a:endParaRPr lang="ar-SA" sz="1350" dirty="0" altLang="en-US"/>
          </a:p>
        </p:txBody>
      </p:sp>
      <p:sp>
        <p:nvSpPr>
          <p:cNvPr id="12" name="Text 10"/>
          <p:cNvSpPr/>
          <p:nvPr/>
        </p:nvSpPr>
        <p:spPr>
          <a:xfrm>
            <a:off x="3580733" y="2620566"/>
            <a:ext cx="231206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لكل سؤال: لماذا الصحيح صحيح، ولماذا كل خيار آخر خطأ.</a:t>
            </a:r>
            <a:endParaRPr lang="ar-SA" sz="1200" dirty="0" altLang="en-US"/>
          </a:p>
        </p:txBody>
      </p:sp>
      <p:sp>
        <p:nvSpPr>
          <p:cNvPr id="13" name="Shape 11"/>
          <p:cNvSpPr/>
          <p:nvPr/>
        </p:nvSpPr>
        <p:spPr>
          <a:xfrm>
            <a:off x="6156325" y="1835745"/>
            <a:ext cx="2555875" cy="1395016"/>
          </a:xfrm>
          <a:prstGeom prst="roundRect">
            <a:avLst>
              <a:gd name="adj" fmla="val 7055"/>
            </a:avLst>
          </a:prstGeom>
          <a:solidFill>
            <a:srgbClr val="FFFDF8"/>
          </a:solidFill>
          <a:ln w="6350">
            <a:solidFill>
              <a:srgbClr val="E1DBCD"/>
            </a:solidFill>
            <a:prstDash val="solid"/>
          </a:ln>
        </p:spPr>
      </p:sp>
      <p:sp>
        <p:nvSpPr>
          <p:cNvPr id="14" name="Text 12"/>
          <p:cNvSpPr/>
          <p:nvPr/>
        </p:nvSpPr>
        <p:spPr>
          <a:xfrm>
            <a:off x="6244558" y="1991320"/>
            <a:ext cx="2312067"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0E7C6B"/>
                </a:solidFill>
                <a:latin typeface="Readex Pro" pitchFamily="34" charset="0"/>
                <a:ea typeface="Readex Pro" pitchFamily="34" charset="-122"/>
                <a:cs typeface="Readex Pro" pitchFamily="34" charset="-120"/>
              </a:rPr>
              <a:t>2</a:t>
            </a:r>
            <a:endParaRPr lang="en-US" sz="2200" dirty="0"/>
          </a:p>
        </p:txBody>
      </p:sp>
      <p:sp>
        <p:nvSpPr>
          <p:cNvPr id="15" name="Text 13"/>
          <p:cNvSpPr/>
          <p:nvPr/>
        </p:nvSpPr>
        <p:spPr>
          <a:xfrm>
            <a:off x="6244558" y="2334220"/>
            <a:ext cx="2312067"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مصدر أساسي واحد</a:t>
            </a:r>
            <a:endParaRPr lang="ar-SA" sz="1350" dirty="0" altLang="en-US"/>
          </a:p>
        </p:txBody>
      </p:sp>
      <p:sp>
        <p:nvSpPr>
          <p:cNvPr id="16" name="Text 14"/>
          <p:cNvSpPr/>
          <p:nvPr/>
        </p:nvSpPr>
        <p:spPr>
          <a:xfrm>
            <a:off x="6244558" y="2620566"/>
            <a:ext cx="231206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الدليل الرسمي أو دورة معتمدة. خمسة مصادر تشتت ولا تضيف.</a:t>
            </a:r>
            <a:endParaRPr lang="ar-SA" sz="1200" dirty="0" altLang="en-US"/>
          </a:p>
        </p:txBody>
      </p:sp>
      <p:sp>
        <p:nvSpPr>
          <p:cNvPr id="17" name="Shape 15"/>
          <p:cNvSpPr/>
          <p:nvPr/>
        </p:nvSpPr>
        <p:spPr>
          <a:xfrm>
            <a:off x="8820150" y="1835745"/>
            <a:ext cx="2555875" cy="1395016"/>
          </a:xfrm>
          <a:prstGeom prst="roundRect">
            <a:avLst>
              <a:gd name="adj" fmla="val 7055"/>
            </a:avLst>
          </a:prstGeom>
          <a:solidFill>
            <a:srgbClr val="FFFDF8"/>
          </a:solidFill>
          <a:ln w="6350">
            <a:solidFill>
              <a:srgbClr val="E1DBCD"/>
            </a:solidFill>
            <a:prstDash val="solid"/>
          </a:ln>
        </p:spPr>
      </p:sp>
      <p:sp>
        <p:nvSpPr>
          <p:cNvPr id="18" name="Text 16"/>
          <p:cNvSpPr/>
          <p:nvPr/>
        </p:nvSpPr>
        <p:spPr>
          <a:xfrm>
            <a:off x="8908383" y="1991320"/>
            <a:ext cx="2312067"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0E7C6B"/>
                </a:solidFill>
                <a:latin typeface="Readex Pro" pitchFamily="34" charset="0"/>
                <a:ea typeface="Readex Pro" pitchFamily="34" charset="-122"/>
                <a:cs typeface="Readex Pro" pitchFamily="34" charset="-120"/>
              </a:rPr>
              <a:t>1</a:t>
            </a:r>
            <a:endParaRPr lang="en-US" sz="2200" dirty="0"/>
          </a:p>
        </p:txBody>
      </p:sp>
      <p:sp>
        <p:nvSpPr>
          <p:cNvPr id="19" name="Text 17"/>
          <p:cNvSpPr/>
          <p:nvPr/>
        </p:nvSpPr>
        <p:spPr>
          <a:xfrm>
            <a:off x="8908383" y="2334220"/>
            <a:ext cx="2312067" cy="248245"/>
          </a:xfrm>
          <a:prstGeom prst="rect">
            <a:avLst/>
          </a:prstGeom>
          <a:noFill/>
          <a:ln/>
        </p:spPr>
        <p:txBody>
          <a:bodyPr wrap="square" lIns="0" tIns="0" rIns="0" bIns="0" rtlCol="0" anchor="t">
            <a:normAutofit/>
          </a:bodyPr>
          <a:lstStyle/>
          <a:p>
            <a:pPr algn="r" indent="0" marL="0" rtl="1">
              <a:lnSpc>
                <a:spcPts val="1755"/>
              </a:lnSpc>
              <a:buNone/>
            </a:pPr>
            <a:r>
              <a:rPr lang="ar-SA" sz="1350" b="1" dirty="0" altLang="en-US">
                <a:solidFill>
                  <a:srgbClr val="172433"/>
                </a:solidFill>
                <a:latin typeface="IBM Plex Sans Arabic" pitchFamily="34" charset="0"/>
                <a:ea typeface="IBM Plex Sans Arabic" pitchFamily="34" charset="-122"/>
                <a:cs typeface="IBM Plex Sans Arabic" pitchFamily="34" charset="-120"/>
              </a:rPr>
              <a:t>مخطط الاختبار الرسمي</a:t>
            </a:r>
            <a:endParaRPr lang="ar-SA" sz="1350" dirty="0" altLang="en-US"/>
          </a:p>
        </p:txBody>
      </p:sp>
      <p:sp>
        <p:nvSpPr>
          <p:cNvPr id="20" name="Text 18"/>
          <p:cNvSpPr/>
          <p:nvPr/>
        </p:nvSpPr>
        <p:spPr>
          <a:xfrm>
            <a:off x="8908383" y="2620566"/>
            <a:ext cx="231206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Exam Outline مجاني. المجالات وأوزانها هي خطة مذاكرتك.</a:t>
            </a:r>
            <a:endParaRPr lang="ar-SA" sz="1200" dirty="0" altLang="en-US"/>
          </a:p>
        </p:txBody>
      </p:sp>
      <p:sp>
        <p:nvSpPr>
          <p:cNvPr id="21" name="Shape 19"/>
          <p:cNvSpPr/>
          <p:nvPr/>
        </p:nvSpPr>
        <p:spPr>
          <a:xfrm>
            <a:off x="812800" y="3411736"/>
            <a:ext cx="3454400" cy="1194991"/>
          </a:xfrm>
          <a:prstGeom prst="roundRect">
            <a:avLst>
              <a:gd name="adj" fmla="val 7439"/>
            </a:avLst>
          </a:prstGeom>
          <a:solidFill>
            <a:srgbClr val="172433"/>
          </a:solidFill>
          <a:ln/>
        </p:spPr>
      </p:sp>
      <p:sp>
        <p:nvSpPr>
          <p:cNvPr id="22" name="Text 20"/>
          <p:cNvSpPr/>
          <p:nvPr/>
        </p:nvSpPr>
        <p:spPr>
          <a:xfrm>
            <a:off x="879475" y="3551436"/>
            <a:ext cx="2943225"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F2C46D"/>
                </a:solidFill>
                <a:latin typeface="IBM Plex Sans Arabic" pitchFamily="34" charset="0"/>
                <a:ea typeface="IBM Plex Sans Arabic" pitchFamily="34" charset="-122"/>
                <a:cs typeface="IBM Plex Sans Arabic" pitchFamily="34" charset="-120"/>
              </a:rPr>
              <a:t>طابق المخطط وموعدك</a:t>
            </a:r>
            <a:endParaRPr lang="ar-SA" sz="1300" dirty="0" altLang="en-US"/>
          </a:p>
        </p:txBody>
      </p:sp>
      <p:sp>
        <p:nvSpPr>
          <p:cNvPr id="23" name="Text 21"/>
          <p:cNvSpPr/>
          <p:nvPr/>
        </p:nvSpPr>
        <p:spPr>
          <a:xfrm>
            <a:off x="879475" y="3804146"/>
            <a:ext cx="2943225" cy="68828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مخططات CC وCISM وSecurity+ وCISSP تتغير بين 2026 و2027. مادتك يجب أن تطابق مخطط يوم اختبارك.</a:t>
            </a:r>
            <a:endParaRPr lang="ar-SA" sz="1200" dirty="0" altLang="en-US"/>
          </a:p>
        </p:txBody>
      </p:sp>
      <p:pic>
        <p:nvPicPr>
          <p:cNvPr id="24" name="Image 0" descr="Clock">    </p:cNvPr>
          <p:cNvPicPr>
            <a:picLocks noChangeAspect="1"/>
          </p:cNvPicPr>
          <p:nvPr/>
        </p:nvPicPr>
        <p:blipFill>
          <a:blip r:embed="rId1"/>
          <a:srcRect l="0" r="0" t="0" b="0"/>
          <a:stretch/>
        </p:blipFill>
        <p:spPr>
          <a:xfrm>
            <a:off x="3911600" y="3551436"/>
            <a:ext cx="203200" cy="203200"/>
          </a:xfrm>
          <a:prstGeom prst="rect">
            <a:avLst/>
          </a:prstGeom>
        </p:spPr>
      </p:pic>
      <p:sp>
        <p:nvSpPr>
          <p:cNvPr id="25" name="Shape 22"/>
          <p:cNvSpPr/>
          <p:nvPr/>
        </p:nvSpPr>
        <p:spPr>
          <a:xfrm>
            <a:off x="4368800" y="3411736"/>
            <a:ext cx="3454400" cy="1194991"/>
          </a:xfrm>
          <a:prstGeom prst="roundRect">
            <a:avLst>
              <a:gd name="adj" fmla="val 7439"/>
            </a:avLst>
          </a:prstGeom>
          <a:solidFill>
            <a:srgbClr val="172433"/>
          </a:solidFill>
          <a:ln/>
        </p:spPr>
      </p:sp>
      <p:sp>
        <p:nvSpPr>
          <p:cNvPr id="26" name="Text 23"/>
          <p:cNvSpPr/>
          <p:nvPr/>
        </p:nvSpPr>
        <p:spPr>
          <a:xfrm>
            <a:off x="4435475" y="3551436"/>
            <a:ext cx="2943225"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F2C46D"/>
                </a:solidFill>
                <a:latin typeface="IBM Plex Sans Arabic" pitchFamily="34" charset="0"/>
                <a:ea typeface="IBM Plex Sans Arabic" pitchFamily="34" charset="-122"/>
                <a:cs typeface="IBM Plex Sans Arabic" pitchFamily="34" charset="-120"/>
              </a:rPr>
              <a:t>الاختبار بالإنجليزية</a:t>
            </a:r>
            <a:endParaRPr lang="ar-SA" sz="1300" dirty="0" altLang="en-US"/>
          </a:p>
        </p:txBody>
      </p:sp>
      <p:sp>
        <p:nvSpPr>
          <p:cNvPr id="27" name="Text 24"/>
          <p:cNvSpPr/>
          <p:nvPr/>
        </p:nvSpPr>
        <p:spPr>
          <a:xfrm>
            <a:off x="4435475" y="3804146"/>
            <a:ext cx="2943225"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لا يقدم أي اختبار في هذه الوحدة بالعربية. ذاكر المصطلحات بالإنجليزية من اليوم الأول.</a:t>
            </a:r>
            <a:endParaRPr lang="ar-SA" sz="1200" dirty="0" altLang="en-US"/>
          </a:p>
        </p:txBody>
      </p:sp>
      <p:pic>
        <p:nvPicPr>
          <p:cNvPr id="28" name="Image 1" descr="Globe">    </p:cNvPr>
          <p:cNvPicPr>
            <a:picLocks noChangeAspect="1"/>
          </p:cNvPicPr>
          <p:nvPr/>
        </p:nvPicPr>
        <p:blipFill>
          <a:blip r:embed="rId2"/>
          <a:srcRect l="0" r="0" t="0" b="0"/>
          <a:stretch/>
        </p:blipFill>
        <p:spPr>
          <a:xfrm>
            <a:off x="7467600" y="3551436"/>
            <a:ext cx="203200" cy="203200"/>
          </a:xfrm>
          <a:prstGeom prst="rect">
            <a:avLst/>
          </a:prstGeom>
        </p:spPr>
      </p:pic>
      <p:sp>
        <p:nvSpPr>
          <p:cNvPr id="29" name="Shape 25"/>
          <p:cNvSpPr/>
          <p:nvPr/>
        </p:nvSpPr>
        <p:spPr>
          <a:xfrm>
            <a:off x="7924800" y="3411736"/>
            <a:ext cx="3454400" cy="1194991"/>
          </a:xfrm>
          <a:prstGeom prst="roundRect">
            <a:avLst>
              <a:gd name="adj" fmla="val 7439"/>
            </a:avLst>
          </a:prstGeom>
          <a:solidFill>
            <a:srgbClr val="172433"/>
          </a:solidFill>
          <a:ln/>
        </p:spPr>
      </p:sp>
      <p:sp>
        <p:nvSpPr>
          <p:cNvPr id="30" name="Text 26"/>
          <p:cNvSpPr/>
          <p:nvPr/>
        </p:nvSpPr>
        <p:spPr>
          <a:xfrm>
            <a:off x="7991475" y="3551436"/>
            <a:ext cx="2943225"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F2C46D"/>
                </a:solidFill>
                <a:latin typeface="IBM Plex Sans Arabic" pitchFamily="34" charset="0"/>
                <a:ea typeface="IBM Plex Sans Arabic" pitchFamily="34" charset="-122"/>
                <a:cs typeface="IBM Plex Sans Arabic" pitchFamily="34" charset="-120"/>
              </a:rPr>
              <a:t>فكّر كمدير</a:t>
            </a:r>
            <a:endParaRPr lang="ar-SA" sz="1300" dirty="0" altLang="en-US"/>
          </a:p>
        </p:txBody>
      </p:sp>
      <p:sp>
        <p:nvSpPr>
          <p:cNvPr id="31" name="Text 27"/>
          <p:cNvSpPr/>
          <p:nvPr/>
        </p:nvSpPr>
        <p:spPr>
          <a:xfrm>
            <a:off x="7991475" y="3804146"/>
            <a:ext cx="2943225" cy="68828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أسئلة ISACA وISC2 تسأل عن «الأفضل» أو «الأول» من منظور المخاطر والإدارة، لا الحل التقني الأسرع.</a:t>
            </a:r>
            <a:endParaRPr lang="ar-SA" sz="1200" dirty="0" altLang="en-US"/>
          </a:p>
        </p:txBody>
      </p:sp>
      <p:pic>
        <p:nvPicPr>
          <p:cNvPr id="32" name="Image 2" descr="Users">    </p:cNvPr>
          <p:cNvPicPr>
            <a:picLocks noChangeAspect="1"/>
          </p:cNvPicPr>
          <p:nvPr/>
        </p:nvPicPr>
        <p:blipFill>
          <a:blip r:embed="rId3"/>
          <a:srcRect l="0" r="0" t="0" b="0"/>
          <a:stretch/>
        </p:blipFill>
        <p:spPr>
          <a:xfrm>
            <a:off x="11023600" y="3551436"/>
            <a:ext cx="203200" cy="203200"/>
          </a:xfrm>
          <a:prstGeom prst="rect">
            <a:avLst/>
          </a:prstGeom>
        </p:spPr>
      </p:pic>
      <p:sp>
        <p:nvSpPr>
          <p:cNvPr id="33" name="Text 28"/>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38</a:t>
            </a:r>
            <a:endParaRPr lang="en-US" sz="1200" dirty="0"/>
          </a:p>
        </p:txBody>
      </p:sp>
      <p:sp>
        <p:nvSpPr>
          <p:cNvPr id="34" name="Text 29"/>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04 · الشهادات</a:t>
            </a:r>
            <a:endParaRPr lang="ar-SA" sz="1200" dirty="0"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72433"/>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0E7C6B"/>
          </a:solidFill>
          <a:ln/>
        </p:spPr>
      </p:sp>
      <p:sp>
        <p:nvSpPr>
          <p:cNvPr id="3" name="Text 1"/>
          <p:cNvSpPr/>
          <p:nvPr>
            <p:ph type="title"/>
          </p:nvPr>
        </p:nvSpPr>
        <p:spPr>
          <a:xfrm>
            <a:off x="25440" y="2677170"/>
            <a:ext cx="4724162" cy="756890"/>
          </a:xfrm>
          <a:prstGeom prst="rect">
            <a:avLst/>
          </a:prstGeom>
          <a:noFill/>
          <a:ln/>
        </p:spPr>
        <p:txBody>
          <a:bodyPr wrap="square" lIns="0" tIns="0" rIns="0" bIns="0" rtlCol="0" anchor="t">
            <a:normAutofit/>
          </a:bodyPr>
          <a:lstStyle/>
          <a:p>
            <a:pPr algn="r" indent="0" marL="0" rtl="1">
              <a:lnSpc>
                <a:spcPts val="5760"/>
              </a:lnSpc>
              <a:buNone/>
            </a:pPr>
            <a:r>
              <a:rPr lang="ar-SA" sz="4800" b="1" i="0" dirty="0" altLang="en-US">
                <a:solidFill>
                  <a:srgbClr val="F3EFE6"/>
                </a:solidFill>
                <a:latin typeface="Readex Pro" pitchFamily="34" charset="0"/>
                <a:ea typeface="Readex Pro" pitchFamily="34" charset="-122"/>
                <a:cs typeface="Readex Pro" pitchFamily="34" charset="-120"/>
              </a:rPr>
              <a:t>الخطة العملية</a:t>
            </a:r>
            <a:endParaRPr lang="ar-SA" sz="4800" dirty="0" altLang="en-US"/>
          </a:p>
        </p:txBody>
      </p:sp>
      <p:sp>
        <p:nvSpPr>
          <p:cNvPr id="4" name="Text 2"/>
          <p:cNvSpPr/>
          <p:nvPr/>
        </p:nvSpPr>
        <p:spPr>
          <a:xfrm>
            <a:off x="4749602" y="2138660"/>
            <a:ext cx="186313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0E7C6B"/>
                </a:solidFill>
                <a:latin typeface="Readex Pro" pitchFamily="34" charset="0"/>
                <a:ea typeface="Readex Pro" pitchFamily="34" charset="-122"/>
                <a:cs typeface="Readex Pro" pitchFamily="34" charset="-120"/>
              </a:rPr>
              <a:t>05</a:t>
            </a:r>
            <a:endParaRPr lang="en-US" sz="10000" dirty="0"/>
          </a:p>
        </p:txBody>
      </p:sp>
      <p:sp>
        <p:nvSpPr>
          <p:cNvPr id="5" name="Text 3"/>
          <p:cNvSpPr/>
          <p:nvPr/>
        </p:nvSpPr>
        <p:spPr>
          <a:xfrm>
            <a:off x="546100" y="3611860"/>
            <a:ext cx="9156700" cy="368300"/>
          </a:xfrm>
          <a:prstGeom prst="rect">
            <a:avLst/>
          </a:prstGeom>
          <a:noFill/>
          <a:ln/>
        </p:spPr>
        <p:txBody>
          <a:bodyPr wrap="square" lIns="0" tIns="0" rIns="0" bIns="0" rtlCol="0" anchor="t">
            <a:normAutofit/>
          </a:bodyPr>
          <a:lstStyle/>
          <a:p>
            <a:pPr algn="r" indent="0" marL="0" rtl="1">
              <a:lnSpc>
                <a:spcPts val="2700"/>
              </a:lnSpc>
              <a:buNone/>
            </a:pPr>
            <a:r>
              <a:rPr lang="ar-SA" sz="1800" dirty="0" altLang="en-US">
                <a:solidFill>
                  <a:srgbClr val="D9E2E6"/>
                </a:solidFill>
                <a:latin typeface="IBM Plex Sans Arabic" pitchFamily="34" charset="0"/>
                <a:ea typeface="IBM Plex Sans Arabic" pitchFamily="34" charset="-122"/>
                <a:cs typeface="IBM Plex Sans Arabic" pitchFamily="34" charset="-120"/>
              </a:rPr>
              <a:t>الخبرة هي العائق الأكبر للمبتدئ. هنا تصنع دليلاً على قدرتك قبل أول وظيفة.</a:t>
            </a:r>
            <a:endParaRPr lang="ar-SA" sz="1800" dirty="0" altLang="en-US"/>
          </a:p>
        </p:txBody>
      </p:sp>
      <p:sp>
        <p:nvSpPr>
          <p:cNvPr id="6" name="Text 4"/>
          <p:cNvSpPr/>
          <p:nvPr/>
        </p:nvSpPr>
        <p:spPr>
          <a:xfrm>
            <a:off x="812800" y="4157960"/>
            <a:ext cx="1380927"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المهارات المطلوبة</a:t>
            </a:r>
            <a:endParaRPr lang="ar-SA" sz="1300" dirty="0" altLang="en-US"/>
          </a:p>
        </p:txBody>
      </p:sp>
      <p:sp>
        <p:nvSpPr>
          <p:cNvPr id="7" name="Text 5"/>
          <p:cNvSpPr/>
          <p:nvPr/>
        </p:nvSpPr>
        <p:spPr>
          <a:xfrm>
            <a:off x="2295327" y="4157960"/>
            <a:ext cx="1623814"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مشاريع لملف أعمالك</a:t>
            </a:r>
            <a:endParaRPr lang="ar-SA" sz="1300" dirty="0" altLang="en-US"/>
          </a:p>
        </p:txBody>
      </p:sp>
      <p:sp>
        <p:nvSpPr>
          <p:cNvPr id="8" name="Text 6"/>
          <p:cNvSpPr/>
          <p:nvPr/>
        </p:nvSpPr>
        <p:spPr>
          <a:xfrm>
            <a:off x="4020741" y="4157960"/>
            <a:ext cx="1118295"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خطة 90 يوماً</a:t>
            </a:r>
            <a:endParaRPr lang="ar-SA" sz="1300" dirty="0" altLang="en-US"/>
          </a:p>
        </p:txBody>
      </p:sp>
      <p:sp>
        <p:nvSpPr>
          <p:cNvPr id="9" name="Text 7"/>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3A3B1"/>
                </a:solidFill>
                <a:latin typeface="IBM Plex Sans Arabic" pitchFamily="34" charset="0"/>
                <a:ea typeface="IBM Plex Sans Arabic" pitchFamily="34" charset="-122"/>
                <a:cs typeface="IBM Plex Sans Arabic" pitchFamily="34" charset="-120"/>
              </a:rPr>
              <a:t>39</a:t>
            </a:r>
            <a:endParaRPr lang="en-US" sz="1200" dirty="0"/>
          </a:p>
        </p:txBody>
      </p:sp>
      <p:sp>
        <p:nvSpPr>
          <p:cNvPr id="10" name="Text 8"/>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93A3B1"/>
                </a:solidFill>
                <a:latin typeface="IBM Plex Sans Arabic" pitchFamily="34" charset="0"/>
                <a:ea typeface="IBM Plex Sans Arabic" pitchFamily="34" charset="-122"/>
                <a:cs typeface="IBM Plex Sans Arabic" pitchFamily="34" charset="-120"/>
              </a:rPr>
              <a:t>كيف تبدأ في GRC · الوحدة 05</a:t>
            </a:r>
            <a:endParaRPr lang="ar-SA" sz="1200" dirty="0"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835249" cy="289520"/>
          </a:xfrm>
          <a:custGeom>
            <a:avLst/>
            <a:gdLst/>
            <a:ahLst/>
            <a:cxnLst/>
            <a:rect l="l" t="t" r="r" b="b"/>
            <a:pathLst>
              <a:path w="1835249" h="289520">
                <a:moveTo>
                  <a:pt x="144760" y="0"/>
                </a:moveTo>
                <a:lnTo>
                  <a:pt x="1690489" y="0"/>
                </a:lnTo>
                <a:arcTo hR="144760" wR="144760" stAng="16200000" swAng="5400000"/>
                <a:lnTo>
                  <a:pt x="1835249"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05 · الخطة العملية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خطة 90 يوماً: من الصفر إلى أول طلب توظيف</a:t>
            </a:r>
            <a:endParaRPr lang="ar-SA" sz="3000" dirty="0" altLang="en-US"/>
          </a:p>
        </p:txBody>
      </p:sp>
      <p:sp>
        <p:nvSpPr>
          <p:cNvPr id="5" name="Text 3"/>
          <p:cNvSpPr/>
          <p:nvPr/>
        </p:nvSpPr>
        <p:spPr>
          <a:xfrm>
            <a:off x="495808" y="1832570"/>
            <a:ext cx="10883392"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4E5A66"/>
                </a:solidFill>
                <a:latin typeface="IBM Plex Sans Arabic" pitchFamily="34" charset="0"/>
                <a:ea typeface="IBM Plex Sans Arabic" pitchFamily="34" charset="-122"/>
                <a:cs typeface="IBM Plex Sans Arabic" pitchFamily="34" charset="-120"/>
              </a:rPr>
              <a:t>مبنية على 8 إلى 10 ساعات أسبوعياً تقريباً. عدّلها حسب وقتك.</a:t>
            </a:r>
            <a:endParaRPr lang="ar-SA" sz="1300" dirty="0" altLang="en-US"/>
          </a:p>
        </p:txBody>
      </p:sp>
      <p:sp>
        <p:nvSpPr>
          <p:cNvPr id="6" name="Shape 4"/>
          <p:cNvSpPr/>
          <p:nvPr/>
        </p:nvSpPr>
        <p:spPr>
          <a:xfrm>
            <a:off x="815975" y="2252911"/>
            <a:ext cx="3422650" cy="2561431"/>
          </a:xfrm>
          <a:prstGeom prst="roundRect">
            <a:avLst>
              <a:gd name="adj" fmla="val 3843"/>
            </a:avLst>
          </a:prstGeom>
          <a:solidFill>
            <a:srgbClr val="FFFDF8"/>
          </a:solidFill>
          <a:ln w="6350">
            <a:solidFill>
              <a:srgbClr val="E1DBCD"/>
            </a:solidFill>
            <a:prstDash val="solid"/>
          </a:ln>
        </p:spPr>
      </p:sp>
      <p:sp>
        <p:nvSpPr>
          <p:cNvPr id="7" name="Text 5"/>
          <p:cNvSpPr/>
          <p:nvPr/>
        </p:nvSpPr>
        <p:spPr>
          <a:xfrm>
            <a:off x="984250" y="2428776"/>
            <a:ext cx="1095623" cy="248890"/>
          </a:xfrm>
          <a:custGeom>
            <a:avLst/>
            <a:gdLst/>
            <a:ahLst/>
            <a:cxnLst/>
            <a:rect l="l" t="t" r="r" b="b"/>
            <a:pathLst>
              <a:path w="1095623" h="248890">
                <a:moveTo>
                  <a:pt x="124445" y="0"/>
                </a:moveTo>
                <a:lnTo>
                  <a:pt x="971178" y="0"/>
                </a:lnTo>
                <a:arcTo hR="124445" wR="124445" stAng="16200000" swAng="5400000"/>
                <a:lnTo>
                  <a:pt x="1095623" y="124445"/>
                </a:lnTo>
                <a:arcTo hR="124445" wR="124445" stAng="0" swAng="5400000"/>
                <a:lnTo>
                  <a:pt x="124445" y="248890"/>
                </a:lnTo>
                <a:arcTo hR="124445" wR="124445" stAng="5400000" swAng="5400000"/>
                <a:lnTo>
                  <a:pt x="0" y="124445"/>
                </a:lnTo>
                <a:arcTo hR="124445" wR="124445" stAng="10800000" swAng="5400000"/>
                <a:close/>
              </a:path>
            </a:pathLst>
          </a:custGeom>
          <a:solidFill>
            <a:srgbClr val="F6ECDA"/>
          </a:solidFill>
          <a:ln/>
        </p:spPr>
        <p:txBody>
          <a:bodyPr wrap="none" lIns="0" tIns="0" rIns="0" bIns="0" rtlCol="0" anchor="ctr">
            <a:normAutofit/>
          </a:bodyPr>
          <a:lstStyle/>
          <a:p>
            <a:pPr algn="ctr" indent="0" marL="0" rtl="1">
              <a:lnSpc>
                <a:spcPts val="1560"/>
              </a:lnSpc>
              <a:buNone/>
            </a:pPr>
            <a:r>
              <a:rPr lang="ar-SA" sz="1200" b="1" dirty="0" altLang="en-US">
                <a:solidFill>
                  <a:srgbClr val="9A5F0F"/>
                </a:solidFill>
                <a:latin typeface="IBM Plex Sans Arabic" pitchFamily="34" charset="0"/>
                <a:ea typeface="IBM Plex Sans Arabic" pitchFamily="34" charset="-122"/>
                <a:cs typeface="IBM Plex Sans Arabic" pitchFamily="34" charset="-120"/>
              </a:rPr>
              <a:t>الأيام 61 إلى 90</a:t>
            </a:r>
            <a:endParaRPr lang="ar-SA" sz="1200" dirty="0" altLang="en-US"/>
          </a:p>
        </p:txBody>
      </p:sp>
      <p:sp>
        <p:nvSpPr>
          <p:cNvPr id="8" name="Text 6"/>
          <p:cNvSpPr/>
          <p:nvPr/>
        </p:nvSpPr>
        <p:spPr>
          <a:xfrm>
            <a:off x="3349784" y="2421186"/>
            <a:ext cx="720566"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9A5F0F"/>
                </a:solidFill>
                <a:latin typeface="Readex Pro" pitchFamily="34" charset="0"/>
                <a:ea typeface="Readex Pro" pitchFamily="34" charset="-122"/>
                <a:cs typeface="Readex Pro" pitchFamily="34" charset="-120"/>
              </a:rPr>
              <a:t>السوق</a:t>
            </a:r>
            <a:endParaRPr lang="ar-SA" sz="1600" dirty="0" altLang="en-US"/>
          </a:p>
        </p:txBody>
      </p:sp>
      <p:sp>
        <p:nvSpPr>
          <p:cNvPr id="9" name="Text 7"/>
          <p:cNvSpPr/>
          <p:nvPr/>
        </p:nvSpPr>
        <p:spPr>
          <a:xfrm>
            <a:off x="898906" y="276150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اضبط السيرة وLinkedIn (الوحدتان 6 و7)</a:t>
            </a:r>
            <a:endParaRPr lang="ar-SA" sz="1200" dirty="0" altLang="en-US"/>
          </a:p>
        </p:txBody>
      </p:sp>
      <p:pic>
        <p:nvPicPr>
          <p:cNvPr id="10" name="Image 0" descr="Check">    </p:cNvPr>
          <p:cNvPicPr>
            <a:picLocks noChangeAspect="1"/>
          </p:cNvPicPr>
          <p:nvPr/>
        </p:nvPicPr>
        <p:blipFill>
          <a:blip r:embed="rId1"/>
          <a:srcRect l="0" r="0" t="0" b="0"/>
          <a:stretch/>
        </p:blipFill>
        <p:spPr>
          <a:xfrm>
            <a:off x="3892550" y="2761506"/>
            <a:ext cx="177800" cy="177800"/>
          </a:xfrm>
          <a:prstGeom prst="rect">
            <a:avLst/>
          </a:prstGeom>
        </p:spPr>
      </p:pic>
      <p:sp>
        <p:nvSpPr>
          <p:cNvPr id="11" name="Text 8"/>
          <p:cNvSpPr/>
          <p:nvPr/>
        </p:nvSpPr>
        <p:spPr>
          <a:xfrm>
            <a:off x="898906" y="305866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قدّم على وظائف مناسبة كل أسبوع</a:t>
            </a:r>
            <a:endParaRPr lang="ar-SA" sz="1200" dirty="0" altLang="en-US"/>
          </a:p>
        </p:txBody>
      </p:sp>
      <p:pic>
        <p:nvPicPr>
          <p:cNvPr id="12" name="Image 1" descr="Check">    </p:cNvPr>
          <p:cNvPicPr>
            <a:picLocks noChangeAspect="1"/>
          </p:cNvPicPr>
          <p:nvPr/>
        </p:nvPicPr>
        <p:blipFill>
          <a:blip r:embed="rId2"/>
          <a:srcRect l="0" r="0" t="0" b="0"/>
          <a:stretch/>
        </p:blipFill>
        <p:spPr>
          <a:xfrm>
            <a:off x="3892550" y="3058666"/>
            <a:ext cx="177800" cy="177800"/>
          </a:xfrm>
          <a:prstGeom prst="rect">
            <a:avLst/>
          </a:prstGeom>
        </p:spPr>
      </p:pic>
      <p:sp>
        <p:nvSpPr>
          <p:cNvPr id="13" name="Text 9"/>
          <p:cNvSpPr/>
          <p:nvPr/>
        </p:nvSpPr>
        <p:spPr>
          <a:xfrm>
            <a:off x="898906" y="335582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محادثتان تعريفيتان أسبوعياً مع مختصين</a:t>
            </a:r>
            <a:endParaRPr lang="ar-SA" sz="1200" dirty="0" altLang="en-US"/>
          </a:p>
        </p:txBody>
      </p:sp>
      <p:pic>
        <p:nvPicPr>
          <p:cNvPr id="14" name="Image 2" descr="Check">    </p:cNvPr>
          <p:cNvPicPr>
            <a:picLocks noChangeAspect="1"/>
          </p:cNvPicPr>
          <p:nvPr/>
        </p:nvPicPr>
        <p:blipFill>
          <a:blip r:embed="rId3"/>
          <a:srcRect l="0" r="0" t="0" b="0"/>
          <a:stretch/>
        </p:blipFill>
        <p:spPr>
          <a:xfrm>
            <a:off x="3892550" y="3355826"/>
            <a:ext cx="177800" cy="177800"/>
          </a:xfrm>
          <a:prstGeom prst="rect">
            <a:avLst/>
          </a:prstGeom>
        </p:spPr>
      </p:pic>
      <p:sp>
        <p:nvSpPr>
          <p:cNvPr id="15" name="Text 10"/>
          <p:cNvSpPr/>
          <p:nvPr/>
        </p:nvSpPr>
        <p:spPr>
          <a:xfrm>
            <a:off x="898906" y="365298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جهّز 5 قصص بطريقة STAR</a:t>
            </a:r>
            <a:endParaRPr lang="ar-SA" sz="1200" dirty="0" altLang="en-US"/>
          </a:p>
        </p:txBody>
      </p:sp>
      <p:pic>
        <p:nvPicPr>
          <p:cNvPr id="16" name="Image 3" descr="Check">    </p:cNvPr>
          <p:cNvPicPr>
            <a:picLocks noChangeAspect="1"/>
          </p:cNvPicPr>
          <p:nvPr/>
        </p:nvPicPr>
        <p:blipFill>
          <a:blip r:embed="rId4"/>
          <a:srcRect l="0" r="0" t="0" b="0"/>
          <a:stretch/>
        </p:blipFill>
        <p:spPr>
          <a:xfrm>
            <a:off x="3892550" y="3652986"/>
            <a:ext cx="177800" cy="177800"/>
          </a:xfrm>
          <a:prstGeom prst="rect">
            <a:avLst/>
          </a:prstGeom>
        </p:spPr>
      </p:pic>
      <p:sp>
        <p:nvSpPr>
          <p:cNvPr id="17" name="Text 11"/>
          <p:cNvSpPr/>
          <p:nvPr/>
        </p:nvSpPr>
        <p:spPr>
          <a:xfrm>
            <a:off x="984250" y="4026346"/>
            <a:ext cx="3086100" cy="619720"/>
          </a:xfrm>
          <a:prstGeom prst="roundRect">
            <a:avLst>
              <a:gd name="adj" fmla="val 12296"/>
            </a:avLst>
          </a:prstGeom>
          <a:solidFill>
            <a:srgbClr val="F6ECDA"/>
          </a:solidFill>
          <a:ln/>
        </p:spPr>
        <p:txBody>
          <a:bodyPr wrap="square" lIns="6257" tIns="66582" rIns="91982" bIns="41182"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المخرَج:</a:t>
            </a:r>
            <a:r>
              <a:rPr lang="ar-SA" sz="1200" dirty="0" altLang="en-US">
                <a:solidFill>
                  <a:srgbClr val="172433"/>
                </a:solidFill>
                <a:latin typeface="IBM Plex Sans Arabic" pitchFamily="34" charset="0"/>
                <a:ea typeface="IBM Plex Sans Arabic" pitchFamily="34" charset="-122"/>
                <a:cs typeface="IBM Plex Sans Arabic" pitchFamily="34" charset="-120"/>
              </a:rPr>
              <a:t> طلبات مقدمة، وشبكة تعرفك، وجاهزية للمقابلة.</a:t>
            </a:r>
            <a:endParaRPr lang="ar-SA" sz="1200" dirty="0" altLang="en-US"/>
          </a:p>
        </p:txBody>
      </p:sp>
      <p:sp>
        <p:nvSpPr>
          <p:cNvPr id="18" name="Shape 12"/>
          <p:cNvSpPr/>
          <p:nvPr/>
        </p:nvSpPr>
        <p:spPr>
          <a:xfrm>
            <a:off x="4384675" y="2252911"/>
            <a:ext cx="3422650" cy="2561431"/>
          </a:xfrm>
          <a:prstGeom prst="roundRect">
            <a:avLst>
              <a:gd name="adj" fmla="val 3843"/>
            </a:avLst>
          </a:prstGeom>
          <a:solidFill>
            <a:srgbClr val="FFFDF8"/>
          </a:solidFill>
          <a:ln w="6350">
            <a:solidFill>
              <a:srgbClr val="E1DBCD"/>
            </a:solidFill>
            <a:prstDash val="solid"/>
          </a:ln>
        </p:spPr>
      </p:sp>
      <p:sp>
        <p:nvSpPr>
          <p:cNvPr id="19" name="Text 13"/>
          <p:cNvSpPr/>
          <p:nvPr/>
        </p:nvSpPr>
        <p:spPr>
          <a:xfrm>
            <a:off x="4552950" y="2428776"/>
            <a:ext cx="1095623" cy="248890"/>
          </a:xfrm>
          <a:custGeom>
            <a:avLst/>
            <a:gdLst/>
            <a:ahLst/>
            <a:cxnLst/>
            <a:rect l="l" t="t" r="r" b="b"/>
            <a:pathLst>
              <a:path w="1095623" h="248890">
                <a:moveTo>
                  <a:pt x="124445" y="0"/>
                </a:moveTo>
                <a:lnTo>
                  <a:pt x="971178" y="0"/>
                </a:lnTo>
                <a:arcTo hR="124445" wR="124445" stAng="16200000" swAng="5400000"/>
                <a:lnTo>
                  <a:pt x="1095623" y="124445"/>
                </a:lnTo>
                <a:arcTo hR="124445" wR="124445" stAng="0" swAng="5400000"/>
                <a:lnTo>
                  <a:pt x="124445" y="248890"/>
                </a:lnTo>
                <a:arcTo hR="124445" wR="124445" stAng="5400000" swAng="5400000"/>
                <a:lnTo>
                  <a:pt x="0" y="124445"/>
                </a:lnTo>
                <a:arcTo hR="124445" wR="124445" stAng="10800000" swAng="5400000"/>
                <a:close/>
              </a:path>
            </a:pathLst>
          </a:custGeom>
          <a:solidFill>
            <a:srgbClr val="E6EDF4"/>
          </a:solidFill>
          <a:ln/>
        </p:spPr>
        <p:txBody>
          <a:bodyPr wrap="none" lIns="0" tIns="0" rIns="0" bIns="0" rtlCol="0" anchor="ctr">
            <a:normAutofit/>
          </a:bodyPr>
          <a:lstStyle/>
          <a:p>
            <a:pPr algn="ctr" indent="0" marL="0" rtl="1">
              <a:lnSpc>
                <a:spcPts val="1560"/>
              </a:lnSpc>
              <a:buNone/>
            </a:pPr>
            <a:r>
              <a:rPr lang="ar-SA" sz="1200" b="1" dirty="0" altLang="en-US">
                <a:solidFill>
                  <a:srgbClr val="24506B"/>
                </a:solidFill>
                <a:latin typeface="IBM Plex Sans Arabic" pitchFamily="34" charset="0"/>
                <a:ea typeface="IBM Plex Sans Arabic" pitchFamily="34" charset="-122"/>
                <a:cs typeface="IBM Plex Sans Arabic" pitchFamily="34" charset="-120"/>
              </a:rPr>
              <a:t>الأيام 31 إلى 60</a:t>
            </a:r>
            <a:endParaRPr lang="ar-SA" sz="1200" dirty="0" altLang="en-US"/>
          </a:p>
        </p:txBody>
      </p:sp>
      <p:sp>
        <p:nvSpPr>
          <p:cNvPr id="20" name="Text 14"/>
          <p:cNvSpPr/>
          <p:nvPr/>
        </p:nvSpPr>
        <p:spPr>
          <a:xfrm>
            <a:off x="6763405" y="2421186"/>
            <a:ext cx="875645"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24506B"/>
                </a:solidFill>
                <a:latin typeface="Readex Pro" pitchFamily="34" charset="0"/>
                <a:ea typeface="Readex Pro" pitchFamily="34" charset="-122"/>
                <a:cs typeface="Readex Pro" pitchFamily="34" charset="-120"/>
              </a:rPr>
              <a:t>التطبيق</a:t>
            </a:r>
            <a:endParaRPr lang="ar-SA" sz="1600" dirty="0" altLang="en-US"/>
          </a:p>
        </p:txBody>
      </p:sp>
      <p:sp>
        <p:nvSpPr>
          <p:cNvPr id="21" name="Text 15"/>
          <p:cNvSpPr/>
          <p:nvPr/>
        </p:nvSpPr>
        <p:spPr>
          <a:xfrm>
            <a:off x="4467606" y="276150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نفّذ مشروعين من مشاريع الشريحة التالية</a:t>
            </a:r>
            <a:endParaRPr lang="ar-SA" sz="1200" dirty="0" altLang="en-US"/>
          </a:p>
        </p:txBody>
      </p:sp>
      <p:pic>
        <p:nvPicPr>
          <p:cNvPr id="22" name="Image 4" descr="Check">    </p:cNvPr>
          <p:cNvPicPr>
            <a:picLocks noChangeAspect="1"/>
          </p:cNvPicPr>
          <p:nvPr/>
        </p:nvPicPr>
        <p:blipFill>
          <a:blip r:embed="rId5"/>
          <a:srcRect l="0" r="0" t="0" b="0"/>
          <a:stretch/>
        </p:blipFill>
        <p:spPr>
          <a:xfrm>
            <a:off x="7461250" y="2761506"/>
            <a:ext cx="177800" cy="177800"/>
          </a:xfrm>
          <a:prstGeom prst="rect">
            <a:avLst/>
          </a:prstGeom>
        </p:spPr>
      </p:pic>
      <p:sp>
        <p:nvSpPr>
          <p:cNvPr id="23" name="Text 16"/>
          <p:cNvSpPr/>
          <p:nvPr/>
        </p:nvSpPr>
        <p:spPr>
          <a:xfrm>
            <a:off x="4467606" y="305866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اقرأ إطار قطاعك المستهدف</a:t>
            </a:r>
            <a:endParaRPr lang="ar-SA" sz="1200" dirty="0" altLang="en-US"/>
          </a:p>
        </p:txBody>
      </p:sp>
      <p:pic>
        <p:nvPicPr>
          <p:cNvPr id="24" name="Image 5" descr="Check">    </p:cNvPr>
          <p:cNvPicPr>
            <a:picLocks noChangeAspect="1"/>
          </p:cNvPicPr>
          <p:nvPr/>
        </p:nvPicPr>
        <p:blipFill>
          <a:blip r:embed="rId6"/>
          <a:srcRect l="0" r="0" t="0" b="0"/>
          <a:stretch/>
        </p:blipFill>
        <p:spPr>
          <a:xfrm>
            <a:off x="7461250" y="3058666"/>
            <a:ext cx="177800" cy="177800"/>
          </a:xfrm>
          <a:prstGeom prst="rect">
            <a:avLst/>
          </a:prstGeom>
        </p:spPr>
      </p:pic>
      <p:sp>
        <p:nvSpPr>
          <p:cNvPr id="25" name="Text 17"/>
          <p:cNvSpPr/>
          <p:nvPr/>
        </p:nvSpPr>
        <p:spPr>
          <a:xfrm>
            <a:off x="4467606" y="335582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احجز اختبار شهادة البداية وقدّمه</a:t>
            </a:r>
            <a:endParaRPr lang="ar-SA" sz="1200" dirty="0" altLang="en-US"/>
          </a:p>
        </p:txBody>
      </p:sp>
      <p:pic>
        <p:nvPicPr>
          <p:cNvPr id="26" name="Image 6" descr="Check">    </p:cNvPr>
          <p:cNvPicPr>
            <a:picLocks noChangeAspect="1"/>
          </p:cNvPicPr>
          <p:nvPr/>
        </p:nvPicPr>
        <p:blipFill>
          <a:blip r:embed="rId7"/>
          <a:srcRect l="0" r="0" t="0" b="0"/>
          <a:stretch/>
        </p:blipFill>
        <p:spPr>
          <a:xfrm>
            <a:off x="7461250" y="3355826"/>
            <a:ext cx="177800" cy="177800"/>
          </a:xfrm>
          <a:prstGeom prst="rect">
            <a:avLst/>
          </a:prstGeom>
        </p:spPr>
      </p:pic>
      <p:sp>
        <p:nvSpPr>
          <p:cNvPr id="27" name="Text 18"/>
          <p:cNvSpPr/>
          <p:nvPr/>
        </p:nvSpPr>
        <p:spPr>
          <a:xfrm>
            <a:off x="4467606" y="365298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انشر أول منشور عن ما تعلمته</a:t>
            </a:r>
            <a:endParaRPr lang="ar-SA" sz="1200" dirty="0" altLang="en-US"/>
          </a:p>
        </p:txBody>
      </p:sp>
      <p:pic>
        <p:nvPicPr>
          <p:cNvPr id="28" name="Image 7" descr="Check">    </p:cNvPr>
          <p:cNvPicPr>
            <a:picLocks noChangeAspect="1"/>
          </p:cNvPicPr>
          <p:nvPr/>
        </p:nvPicPr>
        <p:blipFill>
          <a:blip r:embed="rId8"/>
          <a:srcRect l="0" r="0" t="0" b="0"/>
          <a:stretch/>
        </p:blipFill>
        <p:spPr>
          <a:xfrm>
            <a:off x="7461250" y="3652986"/>
            <a:ext cx="177800" cy="177800"/>
          </a:xfrm>
          <a:prstGeom prst="rect">
            <a:avLst/>
          </a:prstGeom>
        </p:spPr>
      </p:pic>
      <p:sp>
        <p:nvSpPr>
          <p:cNvPr id="29" name="Text 19"/>
          <p:cNvSpPr/>
          <p:nvPr/>
        </p:nvSpPr>
        <p:spPr>
          <a:xfrm>
            <a:off x="4552950" y="4026346"/>
            <a:ext cx="3086100" cy="619720"/>
          </a:xfrm>
          <a:prstGeom prst="roundRect">
            <a:avLst>
              <a:gd name="adj" fmla="val 12296"/>
            </a:avLst>
          </a:prstGeom>
          <a:solidFill>
            <a:srgbClr val="E6EDF4"/>
          </a:solidFill>
          <a:ln/>
        </p:spPr>
        <p:txBody>
          <a:bodyPr wrap="square" lIns="6257" tIns="66582" rIns="91982" bIns="41182"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المخرَج:</a:t>
            </a:r>
            <a:r>
              <a:rPr lang="ar-SA" sz="1200" dirty="0" altLang="en-US">
                <a:solidFill>
                  <a:srgbClr val="172433"/>
                </a:solidFill>
                <a:latin typeface="IBM Plex Sans Arabic" pitchFamily="34" charset="0"/>
                <a:ea typeface="IBM Plex Sans Arabic" pitchFamily="34" charset="-122"/>
                <a:cs typeface="IBM Plex Sans Arabic" pitchFamily="34" charset="-120"/>
              </a:rPr>
              <a:t> مشروعان منشوران، وشهادة أولى أو موعد اختبار.</a:t>
            </a:r>
            <a:endParaRPr lang="ar-SA" sz="1200" dirty="0" altLang="en-US"/>
          </a:p>
        </p:txBody>
      </p:sp>
      <p:sp>
        <p:nvSpPr>
          <p:cNvPr id="30" name="Shape 20"/>
          <p:cNvSpPr/>
          <p:nvPr/>
        </p:nvSpPr>
        <p:spPr>
          <a:xfrm>
            <a:off x="7953375" y="2252911"/>
            <a:ext cx="3422650" cy="2561431"/>
          </a:xfrm>
          <a:prstGeom prst="roundRect">
            <a:avLst>
              <a:gd name="adj" fmla="val 3843"/>
            </a:avLst>
          </a:prstGeom>
          <a:solidFill>
            <a:srgbClr val="FFFDF8"/>
          </a:solidFill>
          <a:ln w="6350">
            <a:solidFill>
              <a:srgbClr val="E1DBCD"/>
            </a:solidFill>
            <a:prstDash val="solid"/>
          </a:ln>
        </p:spPr>
      </p:sp>
      <p:sp>
        <p:nvSpPr>
          <p:cNvPr id="31" name="Text 21"/>
          <p:cNvSpPr/>
          <p:nvPr/>
        </p:nvSpPr>
        <p:spPr>
          <a:xfrm>
            <a:off x="8121650" y="2428776"/>
            <a:ext cx="1004193" cy="248890"/>
          </a:xfrm>
          <a:custGeom>
            <a:avLst/>
            <a:gdLst/>
            <a:ahLst/>
            <a:cxnLst/>
            <a:rect l="l" t="t" r="r" b="b"/>
            <a:pathLst>
              <a:path w="1004193" h="248890">
                <a:moveTo>
                  <a:pt x="124445" y="0"/>
                </a:moveTo>
                <a:lnTo>
                  <a:pt x="879748" y="0"/>
                </a:lnTo>
                <a:arcTo hR="124445" wR="124445" stAng="16200000" swAng="5400000"/>
                <a:lnTo>
                  <a:pt x="1004193" y="124445"/>
                </a:lnTo>
                <a:arcTo hR="124445" wR="124445" stAng="0" swAng="5400000"/>
                <a:lnTo>
                  <a:pt x="124445" y="248890"/>
                </a:lnTo>
                <a:arcTo hR="124445" wR="124445" stAng="5400000" swAng="5400000"/>
                <a:lnTo>
                  <a:pt x="0" y="124445"/>
                </a:lnTo>
                <a:arcTo hR="124445" wR="124445" stAng="10800000" swAng="5400000"/>
                <a:close/>
              </a:path>
            </a:pathLst>
          </a:custGeom>
          <a:solidFill>
            <a:srgbClr val="DCEFEA"/>
          </a:solidFill>
          <a:ln/>
        </p:spPr>
        <p:txBody>
          <a:bodyPr wrap="none" lIns="0" tIns="0" rIns="0" bIns="0" rtlCol="0" anchor="ctr">
            <a:normAutofit/>
          </a:bodyPr>
          <a:lstStyle/>
          <a:p>
            <a:pPr algn="ctr" indent="0" marL="0" rtl="1">
              <a:lnSpc>
                <a:spcPts val="156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الأيام 1 إلى 30</a:t>
            </a:r>
            <a:endParaRPr lang="ar-SA" sz="1200" dirty="0" altLang="en-US"/>
          </a:p>
        </p:txBody>
      </p:sp>
      <p:sp>
        <p:nvSpPr>
          <p:cNvPr id="32" name="Text 22"/>
          <p:cNvSpPr/>
          <p:nvPr/>
        </p:nvSpPr>
        <p:spPr>
          <a:xfrm>
            <a:off x="10365978" y="2421186"/>
            <a:ext cx="841772"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0E7C6B"/>
                </a:solidFill>
                <a:latin typeface="Readex Pro" pitchFamily="34" charset="0"/>
                <a:ea typeface="Readex Pro" pitchFamily="34" charset="-122"/>
                <a:cs typeface="Readex Pro" pitchFamily="34" charset="-120"/>
              </a:rPr>
              <a:t>الأساس</a:t>
            </a:r>
            <a:endParaRPr lang="ar-SA" sz="1600" dirty="0" altLang="en-US"/>
          </a:p>
        </p:txBody>
      </p:sp>
      <p:sp>
        <p:nvSpPr>
          <p:cNvPr id="33" name="Text 23"/>
          <p:cNvSpPr/>
          <p:nvPr/>
        </p:nvSpPr>
        <p:spPr>
          <a:xfrm>
            <a:off x="8036306" y="276150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أنهِ الوحدتين 2 و3 من هذا الكورس</a:t>
            </a:r>
            <a:endParaRPr lang="ar-SA" sz="1200" dirty="0" altLang="en-US"/>
          </a:p>
        </p:txBody>
      </p:sp>
      <p:pic>
        <p:nvPicPr>
          <p:cNvPr id="34" name="Image 8" descr="Check">    </p:cNvPr>
          <p:cNvPicPr>
            <a:picLocks noChangeAspect="1"/>
          </p:cNvPicPr>
          <p:nvPr/>
        </p:nvPicPr>
        <p:blipFill>
          <a:blip r:embed="rId9"/>
          <a:srcRect l="0" r="0" t="0" b="0"/>
          <a:stretch/>
        </p:blipFill>
        <p:spPr>
          <a:xfrm>
            <a:off x="11029950" y="2761506"/>
            <a:ext cx="177800" cy="177800"/>
          </a:xfrm>
          <a:prstGeom prst="rect">
            <a:avLst/>
          </a:prstGeom>
        </p:spPr>
      </p:pic>
      <p:sp>
        <p:nvSpPr>
          <p:cNvPr id="35" name="Text 24"/>
          <p:cNvSpPr/>
          <p:nvPr/>
        </p:nvSpPr>
        <p:spPr>
          <a:xfrm>
            <a:off x="8036306" y="305866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اقرأ NIST CSF 2.0 كاملاً</a:t>
            </a:r>
            <a:endParaRPr lang="ar-SA" sz="1200" dirty="0" altLang="en-US"/>
          </a:p>
        </p:txBody>
      </p:sp>
      <p:pic>
        <p:nvPicPr>
          <p:cNvPr id="36" name="Image 9" descr="Check">    </p:cNvPr>
          <p:cNvPicPr>
            <a:picLocks noChangeAspect="1"/>
          </p:cNvPicPr>
          <p:nvPr/>
        </p:nvPicPr>
        <p:blipFill>
          <a:blip r:embed="rId10"/>
          <a:srcRect l="0" r="0" t="0" b="0"/>
          <a:stretch/>
        </p:blipFill>
        <p:spPr>
          <a:xfrm>
            <a:off x="11029950" y="3058666"/>
            <a:ext cx="177800" cy="177800"/>
          </a:xfrm>
          <a:prstGeom prst="rect">
            <a:avLst/>
          </a:prstGeom>
        </p:spPr>
      </p:pic>
      <p:sp>
        <p:nvSpPr>
          <p:cNvPr id="37" name="Text 25"/>
          <p:cNvSpPr/>
          <p:nvPr/>
        </p:nvSpPr>
        <p:spPr>
          <a:xfrm>
            <a:off x="8036306" y="335582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ابدأ مذاكرة CC أو Security+</a:t>
            </a:r>
            <a:endParaRPr lang="ar-SA" sz="1200" dirty="0" altLang="en-US"/>
          </a:p>
        </p:txBody>
      </p:sp>
      <p:pic>
        <p:nvPicPr>
          <p:cNvPr id="38" name="Image 10" descr="Check">    </p:cNvPr>
          <p:cNvPicPr>
            <a:picLocks noChangeAspect="1"/>
          </p:cNvPicPr>
          <p:nvPr/>
        </p:nvPicPr>
        <p:blipFill>
          <a:blip r:embed="rId11"/>
          <a:srcRect l="0" r="0" t="0" b="0"/>
          <a:stretch/>
        </p:blipFill>
        <p:spPr>
          <a:xfrm>
            <a:off x="11029950" y="3355826"/>
            <a:ext cx="177800" cy="177800"/>
          </a:xfrm>
          <a:prstGeom prst="rect">
            <a:avLst/>
          </a:prstGeom>
        </p:spPr>
      </p:pic>
      <p:sp>
        <p:nvSpPr>
          <p:cNvPr id="39" name="Text 26"/>
          <p:cNvSpPr/>
          <p:nvPr/>
        </p:nvSpPr>
        <p:spPr>
          <a:xfrm>
            <a:off x="8036306" y="3652986"/>
            <a:ext cx="293014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أنشئ حساب LinkedIn بصورة وعنوان مبدئي</a:t>
            </a:r>
            <a:endParaRPr lang="ar-SA" sz="1200" dirty="0" altLang="en-US"/>
          </a:p>
        </p:txBody>
      </p:sp>
      <p:pic>
        <p:nvPicPr>
          <p:cNvPr id="40" name="Image 11" descr="Check">    </p:cNvPr>
          <p:cNvPicPr>
            <a:picLocks noChangeAspect="1"/>
          </p:cNvPicPr>
          <p:nvPr/>
        </p:nvPicPr>
        <p:blipFill>
          <a:blip r:embed="rId12"/>
          <a:srcRect l="0" r="0" t="0" b="0"/>
          <a:stretch/>
        </p:blipFill>
        <p:spPr>
          <a:xfrm>
            <a:off x="11029950" y="3652986"/>
            <a:ext cx="177800" cy="177800"/>
          </a:xfrm>
          <a:prstGeom prst="rect">
            <a:avLst/>
          </a:prstGeom>
        </p:spPr>
      </p:pic>
      <p:sp>
        <p:nvSpPr>
          <p:cNvPr id="41" name="Text 27"/>
          <p:cNvSpPr/>
          <p:nvPr/>
        </p:nvSpPr>
        <p:spPr>
          <a:xfrm>
            <a:off x="8121650" y="4247307"/>
            <a:ext cx="3086100" cy="398760"/>
          </a:xfrm>
          <a:prstGeom prst="roundRect">
            <a:avLst>
              <a:gd name="adj" fmla="val 19109"/>
            </a:avLst>
          </a:prstGeom>
          <a:solidFill>
            <a:srgbClr val="E3F1ED"/>
          </a:solidFill>
          <a:ln/>
        </p:spPr>
        <p:txBody>
          <a:bodyPr wrap="square" lIns="6257" tIns="66582" rIns="91982" bIns="41182"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المخرَج:</a:t>
            </a:r>
            <a:r>
              <a:rPr lang="ar-SA" sz="1200" dirty="0" altLang="en-US">
                <a:solidFill>
                  <a:srgbClr val="172433"/>
                </a:solidFill>
                <a:latin typeface="IBM Plex Sans Arabic" pitchFamily="34" charset="0"/>
                <a:ea typeface="IBM Plex Sans Arabic" pitchFamily="34" charset="-122"/>
                <a:cs typeface="IBM Plex Sans Arabic" pitchFamily="34" charset="-120"/>
              </a:rPr>
              <a:t> ملخص بكلماتك لكل مفهوم في الوحدة 2.</a:t>
            </a:r>
            <a:endParaRPr lang="ar-SA" sz="1200" dirty="0" altLang="en-US"/>
          </a:p>
        </p:txBody>
      </p:sp>
      <p:sp>
        <p:nvSpPr>
          <p:cNvPr id="42" name="Text 28"/>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40</a:t>
            </a:r>
            <a:endParaRPr lang="en-US" sz="1200" dirty="0"/>
          </a:p>
        </p:txBody>
      </p:sp>
      <p:sp>
        <p:nvSpPr>
          <p:cNvPr id="43" name="Text 29"/>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05 · الخطة العملية</a:t>
            </a:r>
            <a:endParaRPr lang="ar-SA" sz="1200" dirty="0"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835249" cy="289520"/>
          </a:xfrm>
          <a:custGeom>
            <a:avLst/>
            <a:gdLst/>
            <a:ahLst/>
            <a:cxnLst/>
            <a:rect l="l" t="t" r="r" b="b"/>
            <a:pathLst>
              <a:path w="1835249" h="289520">
                <a:moveTo>
                  <a:pt x="144760" y="0"/>
                </a:moveTo>
                <a:lnTo>
                  <a:pt x="1690489" y="0"/>
                </a:lnTo>
                <a:arcTo hR="144760" wR="144760" stAng="16200000" swAng="5400000"/>
                <a:lnTo>
                  <a:pt x="1835249"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05 · الخطة العملية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ستة مشاريع تصنع لك خبرة قبل الوظيفة</a:t>
            </a:r>
            <a:endParaRPr lang="ar-SA" sz="3000" dirty="0" altLang="en-US"/>
          </a:p>
        </p:txBody>
      </p:sp>
      <p:sp>
        <p:nvSpPr>
          <p:cNvPr id="5" name="Shape 3"/>
          <p:cNvSpPr/>
          <p:nvPr/>
        </p:nvSpPr>
        <p:spPr>
          <a:xfrm>
            <a:off x="815975" y="1835745"/>
            <a:ext cx="3448050" cy="1233091"/>
          </a:xfrm>
          <a:prstGeom prst="roundRect">
            <a:avLst>
              <a:gd name="adj" fmla="val 6952"/>
            </a:avLst>
          </a:prstGeom>
          <a:solidFill>
            <a:srgbClr val="FFFDF8"/>
          </a:solidFill>
          <a:ln w="6350">
            <a:solidFill>
              <a:srgbClr val="E1DBCD"/>
            </a:solidFill>
            <a:prstDash val="solid"/>
          </a:ln>
        </p:spPr>
      </p:sp>
      <p:sp>
        <p:nvSpPr>
          <p:cNvPr id="6" name="Text 4"/>
          <p:cNvSpPr/>
          <p:nvPr/>
        </p:nvSpPr>
        <p:spPr>
          <a:xfrm>
            <a:off x="887897" y="1965920"/>
            <a:ext cx="2872097"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172433"/>
                </a:solidFill>
                <a:latin typeface="IBM Plex Sans Arabic" pitchFamily="34" charset="0"/>
                <a:ea typeface="IBM Plex Sans Arabic" pitchFamily="34" charset="-122"/>
                <a:cs typeface="IBM Plex Sans Arabic" pitchFamily="34" charset="-120"/>
              </a:rPr>
              <a:t>حزمة وثائق</a:t>
            </a:r>
            <a:endParaRPr lang="ar-SA" sz="1400" dirty="0" altLang="en-US"/>
          </a:p>
        </p:txBody>
      </p:sp>
      <p:sp>
        <p:nvSpPr>
          <p:cNvPr id="7" name="Text 5"/>
          <p:cNvSpPr/>
          <p:nvPr/>
        </p:nvSpPr>
        <p:spPr>
          <a:xfrm>
            <a:off x="3781742" y="1973511"/>
            <a:ext cx="326708" cy="241300"/>
          </a:xfrm>
          <a:prstGeom prst="rect">
            <a:avLst/>
          </a:prstGeom>
          <a:noFill/>
          <a:ln/>
        </p:spPr>
        <p:txBody>
          <a:bodyPr wrap="square" lIns="0" tIns="0" rIns="0" bIns="0" rtlCol="0" anchor="t">
            <a:normAutofit/>
          </a:bodyPr>
          <a:lstStyle/>
          <a:p>
            <a:pPr algn="r" indent="0" marL="0">
              <a:lnSpc>
                <a:spcPts val="1700"/>
              </a:lnSpc>
              <a:buNone/>
            </a:pPr>
            <a:r>
              <a:rPr lang="en-US" sz="1700" b="1" dirty="0">
                <a:solidFill>
                  <a:srgbClr val="0E7C6B"/>
                </a:solidFill>
                <a:latin typeface="Readex Pro" pitchFamily="34" charset="0"/>
                <a:ea typeface="Readex Pro" pitchFamily="34" charset="-122"/>
                <a:cs typeface="Readex Pro" pitchFamily="34" charset="-120"/>
              </a:rPr>
              <a:t>03</a:t>
            </a:r>
            <a:endParaRPr lang="en-US" sz="1700" dirty="0"/>
          </a:p>
        </p:txBody>
      </p:sp>
      <p:sp>
        <p:nvSpPr>
          <p:cNvPr id="8" name="Text 6"/>
          <p:cNvSpPr/>
          <p:nvPr/>
        </p:nvSpPr>
        <p:spPr>
          <a:xfrm>
            <a:off x="877443" y="2247850"/>
            <a:ext cx="323100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سياسة ومعيار وإجراء لموضوع واحد، مثل إدارة الصلاحيات.</a:t>
            </a:r>
            <a:endParaRPr lang="ar-SA" sz="1200" dirty="0" altLang="en-US"/>
          </a:p>
        </p:txBody>
      </p:sp>
      <p:sp>
        <p:nvSpPr>
          <p:cNvPr id="9" name="Text 7"/>
          <p:cNvSpPr/>
          <p:nvPr/>
        </p:nvSpPr>
        <p:spPr>
          <a:xfrm>
            <a:off x="877443" y="2740571"/>
            <a:ext cx="3231007"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يثبت: الكتابة المهنية</a:t>
            </a:r>
            <a:endParaRPr lang="ar-SA" sz="1200" dirty="0" altLang="en-US"/>
          </a:p>
        </p:txBody>
      </p:sp>
      <p:sp>
        <p:nvSpPr>
          <p:cNvPr id="10" name="Shape 8"/>
          <p:cNvSpPr/>
          <p:nvPr/>
        </p:nvSpPr>
        <p:spPr>
          <a:xfrm>
            <a:off x="4371975" y="1835745"/>
            <a:ext cx="3448050" cy="1233091"/>
          </a:xfrm>
          <a:prstGeom prst="roundRect">
            <a:avLst>
              <a:gd name="adj" fmla="val 6952"/>
            </a:avLst>
          </a:prstGeom>
          <a:solidFill>
            <a:srgbClr val="FFFDF8"/>
          </a:solidFill>
          <a:ln w="6350">
            <a:solidFill>
              <a:srgbClr val="E1DBCD"/>
            </a:solidFill>
            <a:prstDash val="solid"/>
          </a:ln>
        </p:spPr>
      </p:sp>
      <p:sp>
        <p:nvSpPr>
          <p:cNvPr id="11" name="Text 9"/>
          <p:cNvSpPr/>
          <p:nvPr/>
        </p:nvSpPr>
        <p:spPr>
          <a:xfrm>
            <a:off x="4443632" y="1965920"/>
            <a:ext cx="2881192"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172433"/>
                </a:solidFill>
                <a:latin typeface="IBM Plex Sans Arabic" pitchFamily="34" charset="0"/>
                <a:ea typeface="IBM Plex Sans Arabic" pitchFamily="34" charset="-122"/>
                <a:cs typeface="IBM Plex Sans Arabic" pitchFamily="34" charset="-120"/>
              </a:rPr>
              <a:t>تقييم فجوات</a:t>
            </a:r>
            <a:endParaRPr lang="ar-SA" sz="1400" dirty="0" altLang="en-US"/>
          </a:p>
        </p:txBody>
      </p:sp>
      <p:sp>
        <p:nvSpPr>
          <p:cNvPr id="12" name="Text 10"/>
          <p:cNvSpPr/>
          <p:nvPr/>
        </p:nvSpPr>
        <p:spPr>
          <a:xfrm>
            <a:off x="7348339" y="1973511"/>
            <a:ext cx="316111" cy="241300"/>
          </a:xfrm>
          <a:prstGeom prst="rect">
            <a:avLst/>
          </a:prstGeom>
          <a:noFill/>
          <a:ln/>
        </p:spPr>
        <p:txBody>
          <a:bodyPr wrap="square" lIns="0" tIns="0" rIns="0" bIns="0" rtlCol="0" anchor="t">
            <a:normAutofit/>
          </a:bodyPr>
          <a:lstStyle/>
          <a:p>
            <a:pPr algn="r" indent="0" marL="0">
              <a:lnSpc>
                <a:spcPts val="1700"/>
              </a:lnSpc>
              <a:buNone/>
            </a:pPr>
            <a:r>
              <a:rPr lang="en-US" sz="1700" b="1" dirty="0">
                <a:solidFill>
                  <a:srgbClr val="0E7C6B"/>
                </a:solidFill>
                <a:latin typeface="Readex Pro" pitchFamily="34" charset="0"/>
                <a:ea typeface="Readex Pro" pitchFamily="34" charset="-122"/>
                <a:cs typeface="Readex Pro" pitchFamily="34" charset="-120"/>
              </a:rPr>
              <a:t>02</a:t>
            </a:r>
            <a:endParaRPr lang="en-US" sz="1700" dirty="0"/>
          </a:p>
        </p:txBody>
      </p:sp>
      <p:sp>
        <p:nvSpPr>
          <p:cNvPr id="13" name="Text 11"/>
          <p:cNvSpPr/>
          <p:nvPr/>
        </p:nvSpPr>
        <p:spPr>
          <a:xfrm>
            <a:off x="4433443" y="2247850"/>
            <a:ext cx="323100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مكوّن واحد من ECC أو بنود ISO 27001، مع خطة معالجة.</a:t>
            </a:r>
            <a:endParaRPr lang="ar-SA" sz="1200" dirty="0" altLang="en-US"/>
          </a:p>
        </p:txBody>
      </p:sp>
      <p:sp>
        <p:nvSpPr>
          <p:cNvPr id="14" name="Text 12"/>
          <p:cNvSpPr/>
          <p:nvPr/>
        </p:nvSpPr>
        <p:spPr>
          <a:xfrm>
            <a:off x="4433443" y="2740571"/>
            <a:ext cx="3231007"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يثبت: فهم الأطر</a:t>
            </a:r>
            <a:endParaRPr lang="ar-SA" sz="1200" dirty="0" altLang="en-US"/>
          </a:p>
        </p:txBody>
      </p:sp>
      <p:sp>
        <p:nvSpPr>
          <p:cNvPr id="15" name="Shape 13"/>
          <p:cNvSpPr/>
          <p:nvPr/>
        </p:nvSpPr>
        <p:spPr>
          <a:xfrm>
            <a:off x="7927975" y="1835745"/>
            <a:ext cx="3448050" cy="1233091"/>
          </a:xfrm>
          <a:prstGeom prst="roundRect">
            <a:avLst>
              <a:gd name="adj" fmla="val 6952"/>
            </a:avLst>
          </a:prstGeom>
          <a:solidFill>
            <a:srgbClr val="FFFDF8"/>
          </a:solidFill>
          <a:ln w="6350">
            <a:solidFill>
              <a:srgbClr val="E1DBCD"/>
            </a:solidFill>
            <a:prstDash val="solid"/>
          </a:ln>
        </p:spPr>
      </p:sp>
      <p:sp>
        <p:nvSpPr>
          <p:cNvPr id="16" name="Text 14"/>
          <p:cNvSpPr/>
          <p:nvPr/>
        </p:nvSpPr>
        <p:spPr>
          <a:xfrm>
            <a:off x="7999729" y="1965920"/>
            <a:ext cx="2877871"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172433"/>
                </a:solidFill>
                <a:latin typeface="IBM Plex Sans Arabic" pitchFamily="34" charset="0"/>
                <a:ea typeface="IBM Plex Sans Arabic" pitchFamily="34" charset="-122"/>
                <a:cs typeface="IBM Plex Sans Arabic" pitchFamily="34" charset="-120"/>
              </a:rPr>
              <a:t>سجل مخاطر</a:t>
            </a:r>
            <a:endParaRPr lang="ar-SA" sz="1400" dirty="0" altLang="en-US"/>
          </a:p>
        </p:txBody>
      </p:sp>
      <p:sp>
        <p:nvSpPr>
          <p:cNvPr id="17" name="Text 15"/>
          <p:cNvSpPr/>
          <p:nvPr/>
        </p:nvSpPr>
        <p:spPr>
          <a:xfrm>
            <a:off x="10900470" y="1973511"/>
            <a:ext cx="319980" cy="241300"/>
          </a:xfrm>
          <a:prstGeom prst="rect">
            <a:avLst/>
          </a:prstGeom>
          <a:noFill/>
          <a:ln/>
        </p:spPr>
        <p:txBody>
          <a:bodyPr wrap="square" lIns="0" tIns="0" rIns="0" bIns="0" rtlCol="0" anchor="t">
            <a:normAutofit/>
          </a:bodyPr>
          <a:lstStyle/>
          <a:p>
            <a:pPr algn="r" indent="0" marL="0">
              <a:lnSpc>
                <a:spcPts val="1700"/>
              </a:lnSpc>
              <a:buNone/>
            </a:pPr>
            <a:r>
              <a:rPr lang="en-US" sz="1700" b="1" dirty="0">
                <a:solidFill>
                  <a:srgbClr val="0E7C6B"/>
                </a:solidFill>
                <a:latin typeface="Readex Pro" pitchFamily="34" charset="0"/>
                <a:ea typeface="Readex Pro" pitchFamily="34" charset="-122"/>
                <a:cs typeface="Readex Pro" pitchFamily="34" charset="-120"/>
              </a:rPr>
              <a:t>01</a:t>
            </a:r>
            <a:endParaRPr lang="en-US" sz="1700" dirty="0"/>
          </a:p>
        </p:txBody>
      </p:sp>
      <p:sp>
        <p:nvSpPr>
          <p:cNvPr id="18" name="Text 16"/>
          <p:cNvSpPr/>
          <p:nvPr/>
        </p:nvSpPr>
        <p:spPr>
          <a:xfrm>
            <a:off x="7989443" y="2247850"/>
            <a:ext cx="3231007"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20 خطراً لشركة افتراضية، بالدرجة والمالك والمعالجة.</a:t>
            </a:r>
            <a:endParaRPr lang="ar-SA" sz="1200" dirty="0" altLang="en-US"/>
          </a:p>
        </p:txBody>
      </p:sp>
      <p:sp>
        <p:nvSpPr>
          <p:cNvPr id="19" name="Text 17"/>
          <p:cNvSpPr/>
          <p:nvPr/>
        </p:nvSpPr>
        <p:spPr>
          <a:xfrm>
            <a:off x="7989443" y="2519611"/>
            <a:ext cx="3231007"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يثبت: تقييم المخاطر</a:t>
            </a:r>
            <a:endParaRPr lang="ar-SA" sz="1200" dirty="0" altLang="en-US"/>
          </a:p>
        </p:txBody>
      </p:sp>
      <p:sp>
        <p:nvSpPr>
          <p:cNvPr id="20" name="Shape 18"/>
          <p:cNvSpPr/>
          <p:nvPr/>
        </p:nvSpPr>
        <p:spPr>
          <a:xfrm>
            <a:off x="815975" y="3176786"/>
            <a:ext cx="3448050" cy="1233091"/>
          </a:xfrm>
          <a:prstGeom prst="roundRect">
            <a:avLst>
              <a:gd name="adj" fmla="val 6952"/>
            </a:avLst>
          </a:prstGeom>
          <a:solidFill>
            <a:srgbClr val="FFFDF8"/>
          </a:solidFill>
          <a:ln w="6350">
            <a:solidFill>
              <a:srgbClr val="E1DBCD"/>
            </a:solidFill>
            <a:prstDash val="solid"/>
          </a:ln>
        </p:spPr>
      </p:sp>
      <p:sp>
        <p:nvSpPr>
          <p:cNvPr id="21" name="Text 19"/>
          <p:cNvSpPr/>
          <p:nvPr/>
        </p:nvSpPr>
        <p:spPr>
          <a:xfrm>
            <a:off x="887819" y="3306961"/>
            <a:ext cx="2874754"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172433"/>
                </a:solidFill>
                <a:latin typeface="IBM Plex Sans Arabic" pitchFamily="34" charset="0"/>
                <a:ea typeface="IBM Plex Sans Arabic" pitchFamily="34" charset="-122"/>
                <a:cs typeface="IBM Plex Sans Arabic" pitchFamily="34" charset="-120"/>
              </a:rPr>
              <a:t>تقرير تدقيق مصغر</a:t>
            </a:r>
            <a:endParaRPr lang="ar-SA" sz="1400" dirty="0" altLang="en-US"/>
          </a:p>
        </p:txBody>
      </p:sp>
      <p:sp>
        <p:nvSpPr>
          <p:cNvPr id="22" name="Text 20"/>
          <p:cNvSpPr/>
          <p:nvPr/>
        </p:nvSpPr>
        <p:spPr>
          <a:xfrm>
            <a:off x="3784838" y="3314551"/>
            <a:ext cx="323612" cy="241300"/>
          </a:xfrm>
          <a:prstGeom prst="rect">
            <a:avLst/>
          </a:prstGeom>
          <a:noFill/>
          <a:ln/>
        </p:spPr>
        <p:txBody>
          <a:bodyPr wrap="square" lIns="0" tIns="0" rIns="0" bIns="0" rtlCol="0" anchor="t">
            <a:normAutofit/>
          </a:bodyPr>
          <a:lstStyle/>
          <a:p>
            <a:pPr algn="r" indent="0" marL="0">
              <a:lnSpc>
                <a:spcPts val="1700"/>
              </a:lnSpc>
              <a:buNone/>
            </a:pPr>
            <a:r>
              <a:rPr lang="en-US" sz="1700" b="1" dirty="0">
                <a:solidFill>
                  <a:srgbClr val="24506B"/>
                </a:solidFill>
                <a:latin typeface="Readex Pro" pitchFamily="34" charset="0"/>
                <a:ea typeface="Readex Pro" pitchFamily="34" charset="-122"/>
                <a:cs typeface="Readex Pro" pitchFamily="34" charset="-120"/>
              </a:rPr>
              <a:t>06</a:t>
            </a:r>
            <a:endParaRPr lang="en-US" sz="1700" dirty="0"/>
          </a:p>
        </p:txBody>
      </p:sp>
      <p:sp>
        <p:nvSpPr>
          <p:cNvPr id="23" name="Text 21"/>
          <p:cNvSpPr/>
          <p:nvPr/>
        </p:nvSpPr>
        <p:spPr>
          <a:xfrm>
            <a:off x="877443" y="3588891"/>
            <a:ext cx="323100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5 ملاحظات بالعناصر الخمسة: الوضع، والمعيار، والسبب، والأثر، والتوصية.</a:t>
            </a:r>
            <a:endParaRPr lang="ar-SA" sz="1200" dirty="0" altLang="en-US"/>
          </a:p>
        </p:txBody>
      </p:sp>
      <p:sp>
        <p:nvSpPr>
          <p:cNvPr id="24" name="Text 22"/>
          <p:cNvSpPr/>
          <p:nvPr/>
        </p:nvSpPr>
        <p:spPr>
          <a:xfrm>
            <a:off x="877443" y="4081611"/>
            <a:ext cx="3231007"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24506B"/>
                </a:solidFill>
                <a:latin typeface="IBM Plex Sans Arabic" pitchFamily="34" charset="0"/>
                <a:ea typeface="IBM Plex Sans Arabic" pitchFamily="34" charset="-122"/>
                <a:cs typeface="IBM Plex Sans Arabic" pitchFamily="34" charset="-120"/>
              </a:rPr>
              <a:t>يثبت: الأدلة والتقارير</a:t>
            </a:r>
            <a:endParaRPr lang="ar-SA" sz="1200" dirty="0" altLang="en-US"/>
          </a:p>
        </p:txBody>
      </p:sp>
      <p:sp>
        <p:nvSpPr>
          <p:cNvPr id="25" name="Shape 23"/>
          <p:cNvSpPr/>
          <p:nvPr/>
        </p:nvSpPr>
        <p:spPr>
          <a:xfrm>
            <a:off x="4371975" y="3176786"/>
            <a:ext cx="3448050" cy="1233091"/>
          </a:xfrm>
          <a:prstGeom prst="roundRect">
            <a:avLst>
              <a:gd name="adj" fmla="val 6952"/>
            </a:avLst>
          </a:prstGeom>
          <a:solidFill>
            <a:srgbClr val="FFFDF8"/>
          </a:solidFill>
          <a:ln w="6350">
            <a:solidFill>
              <a:srgbClr val="E1DBCD"/>
            </a:solidFill>
            <a:prstDash val="solid"/>
          </a:ln>
        </p:spPr>
      </p:sp>
      <p:sp>
        <p:nvSpPr>
          <p:cNvPr id="26" name="Text 24"/>
          <p:cNvSpPr/>
          <p:nvPr/>
        </p:nvSpPr>
        <p:spPr>
          <a:xfrm>
            <a:off x="4443935" y="3306961"/>
            <a:ext cx="2870769"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172433"/>
                </a:solidFill>
                <a:latin typeface="IBM Plex Sans Arabic" pitchFamily="34" charset="0"/>
                <a:ea typeface="IBM Plex Sans Arabic" pitchFamily="34" charset="-122"/>
                <a:cs typeface="IBM Plex Sans Arabic" pitchFamily="34" charset="-120"/>
              </a:rPr>
              <a:t>مصفوفة مواءمة</a:t>
            </a:r>
            <a:endParaRPr lang="ar-SA" sz="1400" dirty="0" altLang="en-US"/>
          </a:p>
        </p:txBody>
      </p:sp>
      <p:sp>
        <p:nvSpPr>
          <p:cNvPr id="27" name="Text 25"/>
          <p:cNvSpPr/>
          <p:nvPr/>
        </p:nvSpPr>
        <p:spPr>
          <a:xfrm>
            <a:off x="7336195" y="3314551"/>
            <a:ext cx="328255" cy="241300"/>
          </a:xfrm>
          <a:prstGeom prst="rect">
            <a:avLst/>
          </a:prstGeom>
          <a:noFill/>
          <a:ln/>
        </p:spPr>
        <p:txBody>
          <a:bodyPr wrap="square" lIns="0" tIns="0" rIns="0" bIns="0" rtlCol="0" anchor="t">
            <a:normAutofit/>
          </a:bodyPr>
          <a:lstStyle/>
          <a:p>
            <a:pPr algn="r" indent="0" marL="0">
              <a:lnSpc>
                <a:spcPts val="1700"/>
              </a:lnSpc>
              <a:buNone/>
            </a:pPr>
            <a:r>
              <a:rPr lang="en-US" sz="1700" b="1" dirty="0">
                <a:solidFill>
                  <a:srgbClr val="24506B"/>
                </a:solidFill>
                <a:latin typeface="Readex Pro" pitchFamily="34" charset="0"/>
                <a:ea typeface="Readex Pro" pitchFamily="34" charset="-122"/>
                <a:cs typeface="Readex Pro" pitchFamily="34" charset="-120"/>
              </a:rPr>
              <a:t>05</a:t>
            </a:r>
            <a:endParaRPr lang="en-US" sz="1700" dirty="0"/>
          </a:p>
        </p:txBody>
      </p:sp>
      <p:sp>
        <p:nvSpPr>
          <p:cNvPr id="28" name="Text 26"/>
          <p:cNvSpPr/>
          <p:nvPr/>
        </p:nvSpPr>
        <p:spPr>
          <a:xfrm>
            <a:off x="4433443" y="3588891"/>
            <a:ext cx="323100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20 ضابطاً من ECC وما يقابلها في ISO 27001 وNIST CSF.</a:t>
            </a:r>
            <a:endParaRPr lang="ar-SA" sz="1200" dirty="0" altLang="en-US"/>
          </a:p>
        </p:txBody>
      </p:sp>
      <p:sp>
        <p:nvSpPr>
          <p:cNvPr id="29" name="Text 27"/>
          <p:cNvSpPr/>
          <p:nvPr/>
        </p:nvSpPr>
        <p:spPr>
          <a:xfrm>
            <a:off x="4433443" y="4081611"/>
            <a:ext cx="3231007"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24506B"/>
                </a:solidFill>
                <a:latin typeface="IBM Plex Sans Arabic" pitchFamily="34" charset="0"/>
                <a:ea typeface="IBM Plex Sans Arabic" pitchFamily="34" charset="-122"/>
                <a:cs typeface="IBM Plex Sans Arabic" pitchFamily="34" charset="-120"/>
              </a:rPr>
              <a:t>يثبت: العمل بعدة أطر</a:t>
            </a:r>
            <a:endParaRPr lang="ar-SA" sz="1200" dirty="0" altLang="en-US"/>
          </a:p>
        </p:txBody>
      </p:sp>
      <p:sp>
        <p:nvSpPr>
          <p:cNvPr id="30" name="Shape 28"/>
          <p:cNvSpPr/>
          <p:nvPr/>
        </p:nvSpPr>
        <p:spPr>
          <a:xfrm>
            <a:off x="7927975" y="3176786"/>
            <a:ext cx="3448050" cy="1233091"/>
          </a:xfrm>
          <a:prstGeom prst="roundRect">
            <a:avLst>
              <a:gd name="adj" fmla="val 6952"/>
            </a:avLst>
          </a:prstGeom>
          <a:solidFill>
            <a:srgbClr val="FFFDF8"/>
          </a:solidFill>
          <a:ln w="6350">
            <a:solidFill>
              <a:srgbClr val="E1DBCD"/>
            </a:solidFill>
            <a:prstDash val="solid"/>
          </a:ln>
        </p:spPr>
      </p:sp>
      <p:sp>
        <p:nvSpPr>
          <p:cNvPr id="31" name="Text 29"/>
          <p:cNvSpPr/>
          <p:nvPr/>
        </p:nvSpPr>
        <p:spPr>
          <a:xfrm>
            <a:off x="8000364" y="3306961"/>
            <a:ext cx="2856052"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172433"/>
                </a:solidFill>
                <a:latin typeface="IBM Plex Sans Arabic" pitchFamily="34" charset="0"/>
                <a:ea typeface="IBM Plex Sans Arabic" pitchFamily="34" charset="-122"/>
                <a:cs typeface="IBM Plex Sans Arabic" pitchFamily="34" charset="-120"/>
              </a:rPr>
              <a:t>تقييم مورد</a:t>
            </a:r>
            <a:endParaRPr lang="ar-SA" sz="1400" dirty="0" altLang="en-US"/>
          </a:p>
        </p:txBody>
      </p:sp>
      <p:sp>
        <p:nvSpPr>
          <p:cNvPr id="32" name="Text 30"/>
          <p:cNvSpPr/>
          <p:nvPr/>
        </p:nvSpPr>
        <p:spPr>
          <a:xfrm>
            <a:off x="10875050" y="3314551"/>
            <a:ext cx="345400" cy="241300"/>
          </a:xfrm>
          <a:prstGeom prst="rect">
            <a:avLst/>
          </a:prstGeom>
          <a:noFill/>
          <a:ln/>
        </p:spPr>
        <p:txBody>
          <a:bodyPr wrap="square" lIns="0" tIns="0" rIns="0" bIns="0" rtlCol="0" anchor="t">
            <a:normAutofit/>
          </a:bodyPr>
          <a:lstStyle/>
          <a:p>
            <a:pPr algn="r" indent="0" marL="0">
              <a:lnSpc>
                <a:spcPts val="1700"/>
              </a:lnSpc>
              <a:buNone/>
            </a:pPr>
            <a:r>
              <a:rPr lang="en-US" sz="1700" b="1" dirty="0">
                <a:solidFill>
                  <a:srgbClr val="24506B"/>
                </a:solidFill>
                <a:latin typeface="Readex Pro" pitchFamily="34" charset="0"/>
                <a:ea typeface="Readex Pro" pitchFamily="34" charset="-122"/>
                <a:cs typeface="Readex Pro" pitchFamily="34" charset="-120"/>
              </a:rPr>
              <a:t>04</a:t>
            </a:r>
            <a:endParaRPr lang="en-US" sz="1700" dirty="0"/>
          </a:p>
        </p:txBody>
      </p:sp>
      <p:sp>
        <p:nvSpPr>
          <p:cNvPr id="33" name="Text 31"/>
          <p:cNvSpPr/>
          <p:nvPr/>
        </p:nvSpPr>
        <p:spPr>
          <a:xfrm>
            <a:off x="7989443" y="3588891"/>
            <a:ext cx="3231007"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استبيان من 25 سؤالاً، وتحليل ردود مورد افتراضي.</a:t>
            </a:r>
            <a:endParaRPr lang="ar-SA" sz="1200" dirty="0" altLang="en-US"/>
          </a:p>
        </p:txBody>
      </p:sp>
      <p:sp>
        <p:nvSpPr>
          <p:cNvPr id="34" name="Text 32"/>
          <p:cNvSpPr/>
          <p:nvPr/>
        </p:nvSpPr>
        <p:spPr>
          <a:xfrm>
            <a:off x="7989443" y="3860651"/>
            <a:ext cx="3231007"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24506B"/>
                </a:solidFill>
                <a:latin typeface="IBM Plex Sans Arabic" pitchFamily="34" charset="0"/>
                <a:ea typeface="IBM Plex Sans Arabic" pitchFamily="34" charset="-122"/>
                <a:cs typeface="IBM Plex Sans Arabic" pitchFamily="34" charset="-120"/>
              </a:rPr>
              <a:t>يثبت: مخاطر الأطراف الخارجية</a:t>
            </a:r>
            <a:endParaRPr lang="ar-SA" sz="1200" dirty="0" altLang="en-US"/>
          </a:p>
        </p:txBody>
      </p:sp>
      <p:sp>
        <p:nvSpPr>
          <p:cNvPr id="35" name="Shape 33"/>
          <p:cNvSpPr/>
          <p:nvPr/>
        </p:nvSpPr>
        <p:spPr>
          <a:xfrm>
            <a:off x="815975" y="4594027"/>
            <a:ext cx="5232400" cy="422870"/>
          </a:xfrm>
          <a:prstGeom prst="roundRect">
            <a:avLst>
              <a:gd name="adj" fmla="val 20272"/>
            </a:avLst>
          </a:prstGeom>
          <a:solidFill>
            <a:srgbClr val="FBEAE5"/>
          </a:solidFill>
          <a:ln w="6350">
            <a:solidFill>
              <a:srgbClr val="E7B8AC"/>
            </a:solidFill>
            <a:prstDash val="solid"/>
          </a:ln>
        </p:spPr>
      </p:sp>
      <p:sp>
        <p:nvSpPr>
          <p:cNvPr id="36" name="Text 34"/>
          <p:cNvSpPr/>
          <p:nvPr/>
        </p:nvSpPr>
        <p:spPr>
          <a:xfrm>
            <a:off x="832295" y="4698802"/>
            <a:ext cx="478110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جهة افتراضية دائماً. لا تنشر بيانات أو وثائق جهة حقيقية.</a:t>
            </a:r>
            <a:endParaRPr lang="ar-SA" sz="1200" dirty="0" altLang="en-US"/>
          </a:p>
        </p:txBody>
      </p:sp>
      <p:pic>
        <p:nvPicPr>
          <p:cNvPr id="37" name="Image 0" descr="Warning">    </p:cNvPr>
          <p:cNvPicPr>
            <a:picLocks noChangeAspect="1"/>
          </p:cNvPicPr>
          <p:nvPr/>
        </p:nvPicPr>
        <p:blipFill>
          <a:blip r:embed="rId1"/>
          <a:srcRect l="0" r="0" t="0" b="0"/>
          <a:stretch/>
        </p:blipFill>
        <p:spPr>
          <a:xfrm>
            <a:off x="5702300" y="4710212"/>
            <a:ext cx="190500" cy="190500"/>
          </a:xfrm>
          <a:prstGeom prst="rect">
            <a:avLst/>
          </a:prstGeom>
        </p:spPr>
      </p:pic>
      <p:sp>
        <p:nvSpPr>
          <p:cNvPr id="38" name="Shape 35"/>
          <p:cNvSpPr/>
          <p:nvPr/>
        </p:nvSpPr>
        <p:spPr>
          <a:xfrm>
            <a:off x="6153150" y="4590852"/>
            <a:ext cx="5226050" cy="429220"/>
          </a:xfrm>
          <a:prstGeom prst="roundRect">
            <a:avLst>
              <a:gd name="adj" fmla="val 20712"/>
            </a:avLst>
          </a:prstGeom>
          <a:solidFill>
            <a:srgbClr val="172433"/>
          </a:solidFill>
          <a:ln/>
        </p:spPr>
      </p:sp>
      <p:sp>
        <p:nvSpPr>
          <p:cNvPr id="39" name="Text 36"/>
          <p:cNvSpPr/>
          <p:nvPr/>
        </p:nvSpPr>
        <p:spPr>
          <a:xfrm>
            <a:off x="6166295" y="4698802"/>
            <a:ext cx="478110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انشر: قسم «مميز» في LinkedIn، أو GitHub، أو رابط عام في Drive.</a:t>
            </a:r>
            <a:endParaRPr lang="ar-SA" sz="1200" dirty="0" altLang="en-US"/>
          </a:p>
        </p:txBody>
      </p:sp>
      <p:pic>
        <p:nvPicPr>
          <p:cNvPr id="40" name="Image 1" descr="PaperPlane">    </p:cNvPr>
          <p:cNvPicPr>
            <a:picLocks noChangeAspect="1"/>
          </p:cNvPicPr>
          <p:nvPr/>
        </p:nvPicPr>
        <p:blipFill>
          <a:blip r:embed="rId2"/>
          <a:srcRect l="0" r="0" t="0" b="0"/>
          <a:stretch/>
        </p:blipFill>
        <p:spPr>
          <a:xfrm>
            <a:off x="11036300" y="4710212"/>
            <a:ext cx="190500" cy="190500"/>
          </a:xfrm>
          <a:prstGeom prst="rect">
            <a:avLst/>
          </a:prstGeom>
        </p:spPr>
      </p:pic>
      <p:sp>
        <p:nvSpPr>
          <p:cNvPr id="41" name="Text 37"/>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41</a:t>
            </a:r>
            <a:endParaRPr lang="en-US" sz="1200" dirty="0"/>
          </a:p>
        </p:txBody>
      </p:sp>
      <p:sp>
        <p:nvSpPr>
          <p:cNvPr id="42" name="Text 38"/>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05 · الخطة العملية</a:t>
            </a:r>
            <a:endParaRPr lang="ar-SA" sz="1200" dirty="0"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835249" cy="289520"/>
          </a:xfrm>
          <a:custGeom>
            <a:avLst/>
            <a:gdLst/>
            <a:ahLst/>
            <a:cxnLst/>
            <a:rect l="l" t="t" r="r" b="b"/>
            <a:pathLst>
              <a:path w="1835249" h="289520">
                <a:moveTo>
                  <a:pt x="144760" y="0"/>
                </a:moveTo>
                <a:lnTo>
                  <a:pt x="1690489" y="0"/>
                </a:lnTo>
                <a:arcTo hR="144760" wR="144760" stAng="16200000" swAng="5400000"/>
                <a:lnTo>
                  <a:pt x="1835249"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05 · الخطة العملية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المهارات المطلوبة، وكيف تتدرب على كل واحدة</a:t>
            </a:r>
            <a:endParaRPr lang="ar-SA" sz="3000" dirty="0" altLang="en-US"/>
          </a:p>
        </p:txBody>
      </p:sp>
      <p:sp>
        <p:nvSpPr>
          <p:cNvPr id="5" name="Text 3"/>
          <p:cNvSpPr/>
          <p:nvPr/>
        </p:nvSpPr>
        <p:spPr>
          <a:xfrm>
            <a:off x="657733" y="1819870"/>
            <a:ext cx="5323967"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9A5F0F"/>
                </a:solidFill>
                <a:latin typeface="Readex Pro" pitchFamily="34" charset="0"/>
                <a:ea typeface="Readex Pro" pitchFamily="34" charset="-122"/>
                <a:cs typeface="Readex Pro" pitchFamily="34" charset="-120"/>
              </a:rPr>
              <a:t>مهارات شخصية، وغالباً هي الفارق</a:t>
            </a:r>
            <a:endParaRPr lang="ar-SA" sz="1600" dirty="0" altLang="en-US"/>
          </a:p>
        </p:txBody>
      </p:sp>
      <p:sp>
        <p:nvSpPr>
          <p:cNvPr id="6" name="Shape 4"/>
          <p:cNvSpPr/>
          <p:nvPr/>
        </p:nvSpPr>
        <p:spPr>
          <a:xfrm>
            <a:off x="815975" y="2163366"/>
            <a:ext cx="5162550" cy="347663"/>
          </a:xfrm>
          <a:prstGeom prst="roundRect">
            <a:avLst>
              <a:gd name="adj" fmla="val 21005"/>
            </a:avLst>
          </a:prstGeom>
          <a:solidFill>
            <a:srgbClr val="FFFDF8"/>
          </a:solidFill>
          <a:ln w="6350">
            <a:solidFill>
              <a:srgbClr val="E1DBCD"/>
            </a:solidFill>
            <a:prstDash val="solid"/>
          </a:ln>
        </p:spPr>
      </p:sp>
      <p:sp>
        <p:nvSpPr>
          <p:cNvPr id="7" name="Text 5"/>
          <p:cNvSpPr/>
          <p:nvPr/>
        </p:nvSpPr>
        <p:spPr>
          <a:xfrm>
            <a:off x="849757" y="2230537"/>
            <a:ext cx="330949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أعد كتابة ملاحظة في 3 أسطر بدل 10</a:t>
            </a:r>
            <a:endParaRPr lang="ar-SA" sz="1200" dirty="0" altLang="en-US"/>
          </a:p>
        </p:txBody>
      </p:sp>
      <p:sp>
        <p:nvSpPr>
          <p:cNvPr id="8" name="Text 6"/>
          <p:cNvSpPr/>
          <p:nvPr/>
        </p:nvSpPr>
        <p:spPr>
          <a:xfrm>
            <a:off x="4210050" y="2230041"/>
            <a:ext cx="1638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الكتابة الواضحة</a:t>
            </a:r>
            <a:endParaRPr lang="ar-SA" sz="1250" dirty="0" altLang="en-US"/>
          </a:p>
        </p:txBody>
      </p:sp>
      <p:sp>
        <p:nvSpPr>
          <p:cNvPr id="9" name="Shape 7"/>
          <p:cNvSpPr/>
          <p:nvPr/>
        </p:nvSpPr>
        <p:spPr>
          <a:xfrm>
            <a:off x="815975" y="2593578"/>
            <a:ext cx="5162550" cy="347663"/>
          </a:xfrm>
          <a:prstGeom prst="roundRect">
            <a:avLst>
              <a:gd name="adj" fmla="val 21005"/>
            </a:avLst>
          </a:prstGeom>
          <a:solidFill>
            <a:srgbClr val="FFFDF8"/>
          </a:solidFill>
          <a:ln w="6350">
            <a:solidFill>
              <a:srgbClr val="E1DBCD"/>
            </a:solidFill>
            <a:prstDash val="solid"/>
          </a:ln>
        </p:spPr>
      </p:sp>
      <p:sp>
        <p:nvSpPr>
          <p:cNvPr id="10" name="Text 8"/>
          <p:cNvSpPr/>
          <p:nvPr/>
        </p:nvSpPr>
        <p:spPr>
          <a:xfrm>
            <a:off x="849757" y="2660749"/>
            <a:ext cx="330949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اشرح خطراً لصديق خارج المجال في دقيقة</a:t>
            </a:r>
            <a:endParaRPr lang="ar-SA" sz="1200" dirty="0" altLang="en-US"/>
          </a:p>
        </p:txBody>
      </p:sp>
      <p:sp>
        <p:nvSpPr>
          <p:cNvPr id="11" name="Text 9"/>
          <p:cNvSpPr/>
          <p:nvPr/>
        </p:nvSpPr>
        <p:spPr>
          <a:xfrm>
            <a:off x="4210050" y="2660253"/>
            <a:ext cx="1638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شرح التقني لغير التقني</a:t>
            </a:r>
            <a:endParaRPr lang="ar-SA" sz="1250" dirty="0" altLang="en-US"/>
          </a:p>
        </p:txBody>
      </p:sp>
      <p:sp>
        <p:nvSpPr>
          <p:cNvPr id="12" name="Shape 10"/>
          <p:cNvSpPr/>
          <p:nvPr/>
        </p:nvSpPr>
        <p:spPr>
          <a:xfrm>
            <a:off x="815975" y="3023791"/>
            <a:ext cx="5162550" cy="347663"/>
          </a:xfrm>
          <a:prstGeom prst="roundRect">
            <a:avLst>
              <a:gd name="adj" fmla="val 21005"/>
            </a:avLst>
          </a:prstGeom>
          <a:solidFill>
            <a:srgbClr val="FFFDF8"/>
          </a:solidFill>
          <a:ln w="6350">
            <a:solidFill>
              <a:srgbClr val="E1DBCD"/>
            </a:solidFill>
            <a:prstDash val="solid"/>
          </a:ln>
        </p:spPr>
      </p:sp>
      <p:sp>
        <p:nvSpPr>
          <p:cNvPr id="13" name="Text 11"/>
          <p:cNvSpPr/>
          <p:nvPr/>
        </p:nvSpPr>
        <p:spPr>
          <a:xfrm>
            <a:off x="849757" y="3090962"/>
            <a:ext cx="330949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اربط كل توصية بأثر على العمل، لا بالمتطلب وحده</a:t>
            </a:r>
            <a:endParaRPr lang="ar-SA" sz="1200" dirty="0" altLang="en-US"/>
          </a:p>
        </p:txBody>
      </p:sp>
      <p:sp>
        <p:nvSpPr>
          <p:cNvPr id="14" name="Text 12"/>
          <p:cNvSpPr/>
          <p:nvPr/>
        </p:nvSpPr>
        <p:spPr>
          <a:xfrm>
            <a:off x="4210050" y="3090466"/>
            <a:ext cx="1638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الإقناع</a:t>
            </a:r>
            <a:endParaRPr lang="ar-SA" sz="1250" dirty="0" altLang="en-US"/>
          </a:p>
        </p:txBody>
      </p:sp>
      <p:sp>
        <p:nvSpPr>
          <p:cNvPr id="15" name="Shape 13"/>
          <p:cNvSpPr/>
          <p:nvPr/>
        </p:nvSpPr>
        <p:spPr>
          <a:xfrm>
            <a:off x="815975" y="3454003"/>
            <a:ext cx="5162550" cy="347663"/>
          </a:xfrm>
          <a:prstGeom prst="roundRect">
            <a:avLst>
              <a:gd name="adj" fmla="val 21005"/>
            </a:avLst>
          </a:prstGeom>
          <a:solidFill>
            <a:srgbClr val="FFFDF8"/>
          </a:solidFill>
          <a:ln w="6350">
            <a:solidFill>
              <a:srgbClr val="E1DBCD"/>
            </a:solidFill>
            <a:prstDash val="solid"/>
          </a:ln>
        </p:spPr>
      </p:sp>
      <p:sp>
        <p:nvSpPr>
          <p:cNvPr id="16" name="Text 14"/>
          <p:cNvSpPr/>
          <p:nvPr/>
        </p:nvSpPr>
        <p:spPr>
          <a:xfrm>
            <a:off x="849757" y="3521174"/>
            <a:ext cx="330949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تتبع مشاريعك بمالك وموعد، كما تتبع الملاحظات</a:t>
            </a:r>
            <a:endParaRPr lang="ar-SA" sz="1200" dirty="0" altLang="en-US"/>
          </a:p>
        </p:txBody>
      </p:sp>
      <p:sp>
        <p:nvSpPr>
          <p:cNvPr id="17" name="Text 15"/>
          <p:cNvSpPr/>
          <p:nvPr/>
        </p:nvSpPr>
        <p:spPr>
          <a:xfrm>
            <a:off x="4210050" y="3520678"/>
            <a:ext cx="1638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المتابعة والتنظيم</a:t>
            </a:r>
            <a:endParaRPr lang="ar-SA" sz="1250" dirty="0" altLang="en-US"/>
          </a:p>
        </p:txBody>
      </p:sp>
      <p:sp>
        <p:nvSpPr>
          <p:cNvPr id="18" name="Shape 16"/>
          <p:cNvSpPr/>
          <p:nvPr/>
        </p:nvSpPr>
        <p:spPr>
          <a:xfrm>
            <a:off x="815975" y="3884216"/>
            <a:ext cx="5162550" cy="347663"/>
          </a:xfrm>
          <a:prstGeom prst="roundRect">
            <a:avLst>
              <a:gd name="adj" fmla="val 21005"/>
            </a:avLst>
          </a:prstGeom>
          <a:solidFill>
            <a:srgbClr val="FFFDF8"/>
          </a:solidFill>
          <a:ln w="6350">
            <a:solidFill>
              <a:srgbClr val="E1DBCD"/>
            </a:solidFill>
            <a:prstDash val="solid"/>
          </a:ln>
        </p:spPr>
      </p:sp>
      <p:sp>
        <p:nvSpPr>
          <p:cNvPr id="19" name="Text 17"/>
          <p:cNvSpPr/>
          <p:nvPr/>
        </p:nvSpPr>
        <p:spPr>
          <a:xfrm>
            <a:off x="849757" y="3951387"/>
            <a:ext cx="330949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لا مجاملة في التقييم، ولا إفشاء لما تطلع عليه</a:t>
            </a:r>
            <a:endParaRPr lang="ar-SA" sz="1200" dirty="0" altLang="en-US"/>
          </a:p>
        </p:txBody>
      </p:sp>
      <p:sp>
        <p:nvSpPr>
          <p:cNvPr id="20" name="Text 18"/>
          <p:cNvSpPr/>
          <p:nvPr/>
        </p:nvSpPr>
        <p:spPr>
          <a:xfrm>
            <a:off x="4210050" y="3950891"/>
            <a:ext cx="1638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النزاهة والسرية</a:t>
            </a:r>
            <a:endParaRPr lang="ar-SA" sz="1250" dirty="0" altLang="en-US"/>
          </a:p>
        </p:txBody>
      </p:sp>
      <p:sp>
        <p:nvSpPr>
          <p:cNvPr id="21" name="Text 19"/>
          <p:cNvSpPr/>
          <p:nvPr/>
        </p:nvSpPr>
        <p:spPr>
          <a:xfrm>
            <a:off x="6055233" y="1819870"/>
            <a:ext cx="5323967"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0E7C6B"/>
                </a:solidFill>
                <a:latin typeface="Readex Pro" pitchFamily="34" charset="0"/>
                <a:ea typeface="Readex Pro" pitchFamily="34" charset="-122"/>
                <a:cs typeface="Readex Pro" pitchFamily="34" charset="-120"/>
              </a:rPr>
              <a:t>مهارات المجال</a:t>
            </a:r>
            <a:endParaRPr lang="ar-SA" sz="1600" dirty="0" altLang="en-US"/>
          </a:p>
        </p:txBody>
      </p:sp>
      <p:sp>
        <p:nvSpPr>
          <p:cNvPr id="22" name="Shape 20"/>
          <p:cNvSpPr/>
          <p:nvPr/>
        </p:nvSpPr>
        <p:spPr>
          <a:xfrm>
            <a:off x="6213475" y="2163366"/>
            <a:ext cx="5162550" cy="347663"/>
          </a:xfrm>
          <a:prstGeom prst="roundRect">
            <a:avLst>
              <a:gd name="adj" fmla="val 21005"/>
            </a:avLst>
          </a:prstGeom>
          <a:solidFill>
            <a:srgbClr val="FFFDF8"/>
          </a:solidFill>
          <a:ln w="6350">
            <a:solidFill>
              <a:srgbClr val="E1DBCD"/>
            </a:solidFill>
            <a:prstDash val="solid"/>
          </a:ln>
        </p:spPr>
      </p:sp>
      <p:sp>
        <p:nvSpPr>
          <p:cNvPr id="23" name="Text 21"/>
          <p:cNvSpPr/>
          <p:nvPr/>
        </p:nvSpPr>
        <p:spPr>
          <a:xfrm>
            <a:off x="6247257" y="2230537"/>
            <a:ext cx="330949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الأسئلة الأربعة مع كل ضابط</a:t>
            </a:r>
            <a:endParaRPr lang="ar-SA" sz="1200" dirty="0" altLang="en-US"/>
          </a:p>
        </p:txBody>
      </p:sp>
      <p:sp>
        <p:nvSpPr>
          <p:cNvPr id="24" name="Text 22"/>
          <p:cNvSpPr/>
          <p:nvPr/>
        </p:nvSpPr>
        <p:spPr>
          <a:xfrm>
            <a:off x="9607550" y="2230041"/>
            <a:ext cx="1638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قراءة الأطر</a:t>
            </a:r>
            <a:endParaRPr lang="ar-SA" sz="1250" dirty="0" altLang="en-US"/>
          </a:p>
        </p:txBody>
      </p:sp>
      <p:sp>
        <p:nvSpPr>
          <p:cNvPr id="25" name="Shape 23"/>
          <p:cNvSpPr/>
          <p:nvPr/>
        </p:nvSpPr>
        <p:spPr>
          <a:xfrm>
            <a:off x="6213475" y="2593578"/>
            <a:ext cx="5162550" cy="347663"/>
          </a:xfrm>
          <a:prstGeom prst="roundRect">
            <a:avLst>
              <a:gd name="adj" fmla="val 21005"/>
            </a:avLst>
          </a:prstGeom>
          <a:solidFill>
            <a:srgbClr val="FFFDF8"/>
          </a:solidFill>
          <a:ln w="6350">
            <a:solidFill>
              <a:srgbClr val="E1DBCD"/>
            </a:solidFill>
            <a:prstDash val="solid"/>
          </a:ln>
        </p:spPr>
      </p:sp>
      <p:sp>
        <p:nvSpPr>
          <p:cNvPr id="26" name="Text 24"/>
          <p:cNvSpPr/>
          <p:nvPr/>
        </p:nvSpPr>
        <p:spPr>
          <a:xfrm>
            <a:off x="6247257" y="2660749"/>
            <a:ext cx="330949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مشروع سجل المخاطر</a:t>
            </a:r>
            <a:endParaRPr lang="ar-SA" sz="1200" dirty="0" altLang="en-US"/>
          </a:p>
        </p:txBody>
      </p:sp>
      <p:sp>
        <p:nvSpPr>
          <p:cNvPr id="27" name="Text 25"/>
          <p:cNvSpPr/>
          <p:nvPr/>
        </p:nvSpPr>
        <p:spPr>
          <a:xfrm>
            <a:off x="9607550" y="2660253"/>
            <a:ext cx="1638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تقييم المخاطر</a:t>
            </a:r>
            <a:endParaRPr lang="ar-SA" sz="1250" dirty="0" altLang="en-US"/>
          </a:p>
        </p:txBody>
      </p:sp>
      <p:sp>
        <p:nvSpPr>
          <p:cNvPr id="28" name="Shape 26"/>
          <p:cNvSpPr/>
          <p:nvPr/>
        </p:nvSpPr>
        <p:spPr>
          <a:xfrm>
            <a:off x="6213475" y="3023791"/>
            <a:ext cx="5162550" cy="347663"/>
          </a:xfrm>
          <a:prstGeom prst="roundRect">
            <a:avLst>
              <a:gd name="adj" fmla="val 21005"/>
            </a:avLst>
          </a:prstGeom>
          <a:solidFill>
            <a:srgbClr val="FFFDF8"/>
          </a:solidFill>
          <a:ln w="6350">
            <a:solidFill>
              <a:srgbClr val="E1DBCD"/>
            </a:solidFill>
            <a:prstDash val="solid"/>
          </a:ln>
        </p:spPr>
      </p:sp>
      <p:sp>
        <p:nvSpPr>
          <p:cNvPr id="29" name="Text 27"/>
          <p:cNvSpPr/>
          <p:nvPr/>
        </p:nvSpPr>
        <p:spPr>
          <a:xfrm>
            <a:off x="6247257" y="3090962"/>
            <a:ext cx="330949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الشبكات، والهويات، والسحابة: من مذاكرة Security+</a:t>
            </a:r>
            <a:endParaRPr lang="ar-SA" sz="1200" dirty="0" altLang="en-US"/>
          </a:p>
        </p:txBody>
      </p:sp>
      <p:sp>
        <p:nvSpPr>
          <p:cNvPr id="30" name="Text 28"/>
          <p:cNvSpPr/>
          <p:nvPr/>
        </p:nvSpPr>
        <p:spPr>
          <a:xfrm>
            <a:off x="9607550" y="3090466"/>
            <a:ext cx="1638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أساسيات تقنية</a:t>
            </a:r>
            <a:endParaRPr lang="ar-SA" sz="1250" dirty="0" altLang="en-US"/>
          </a:p>
        </p:txBody>
      </p:sp>
      <p:sp>
        <p:nvSpPr>
          <p:cNvPr id="31" name="Shape 29"/>
          <p:cNvSpPr/>
          <p:nvPr/>
        </p:nvSpPr>
        <p:spPr>
          <a:xfrm>
            <a:off x="6213475" y="3454003"/>
            <a:ext cx="5162550" cy="347663"/>
          </a:xfrm>
          <a:prstGeom prst="roundRect">
            <a:avLst>
              <a:gd name="adj" fmla="val 21005"/>
            </a:avLst>
          </a:prstGeom>
          <a:solidFill>
            <a:srgbClr val="FFFDF8"/>
          </a:solidFill>
          <a:ln w="6350">
            <a:solidFill>
              <a:srgbClr val="E1DBCD"/>
            </a:solidFill>
            <a:prstDash val="solid"/>
          </a:ln>
        </p:spPr>
      </p:sp>
      <p:sp>
        <p:nvSpPr>
          <p:cNvPr id="32" name="Text 30"/>
          <p:cNvSpPr/>
          <p:nvPr/>
        </p:nvSpPr>
        <p:spPr>
          <a:xfrm>
            <a:off x="6247257" y="3521174"/>
            <a:ext cx="330949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الجداول المحورية، والتنسيق الشرطي، وXLOOKUP</a:t>
            </a:r>
            <a:endParaRPr lang="ar-SA" sz="1200" dirty="0" altLang="en-US"/>
          </a:p>
        </p:txBody>
      </p:sp>
      <p:sp>
        <p:nvSpPr>
          <p:cNvPr id="33" name="Text 31"/>
          <p:cNvSpPr/>
          <p:nvPr/>
        </p:nvSpPr>
        <p:spPr>
          <a:xfrm>
            <a:off x="9607550" y="3520678"/>
            <a:ext cx="1638300" cy="239713"/>
          </a:xfrm>
          <a:prstGeom prst="rect">
            <a:avLst/>
          </a:prstGeom>
          <a:noFill/>
          <a:ln/>
        </p:spPr>
        <p:txBody>
          <a:bodyPr wrap="square" lIns="0" tIns="0" rIns="0" bIns="0" rtlCol="0" anchor="t">
            <a:normAutofit/>
          </a:bodyPr>
          <a:lstStyle/>
          <a:p>
            <a:pPr algn="r" indent="0" marL="0">
              <a:lnSpc>
                <a:spcPts val="1688"/>
              </a:lnSpc>
              <a:buNone/>
            </a:pPr>
            <a:r>
              <a:rPr lang="en-US" sz="1250" b="1" dirty="0">
                <a:solidFill>
                  <a:srgbClr val="172433"/>
                </a:solidFill>
                <a:latin typeface="IBM Plex Sans Arabic" pitchFamily="34" charset="0"/>
                <a:ea typeface="IBM Plex Sans Arabic" pitchFamily="34" charset="-122"/>
                <a:cs typeface="IBM Plex Sans Arabic" pitchFamily="34" charset="-120"/>
              </a:rPr>
              <a:t>Excel</a:t>
            </a:r>
            <a:endParaRPr lang="en-US" sz="1250" dirty="0"/>
          </a:p>
        </p:txBody>
      </p:sp>
      <p:sp>
        <p:nvSpPr>
          <p:cNvPr id="34" name="Shape 32"/>
          <p:cNvSpPr/>
          <p:nvPr/>
        </p:nvSpPr>
        <p:spPr>
          <a:xfrm>
            <a:off x="6213475" y="3884216"/>
            <a:ext cx="5162550" cy="347663"/>
          </a:xfrm>
          <a:prstGeom prst="roundRect">
            <a:avLst>
              <a:gd name="adj" fmla="val 21005"/>
            </a:avLst>
          </a:prstGeom>
          <a:solidFill>
            <a:srgbClr val="FFFDF8"/>
          </a:solidFill>
          <a:ln w="6350">
            <a:solidFill>
              <a:srgbClr val="E1DBCD"/>
            </a:solidFill>
            <a:prstDash val="solid"/>
          </a:ln>
        </p:spPr>
      </p:sp>
      <p:sp>
        <p:nvSpPr>
          <p:cNvPr id="35" name="Text 33"/>
          <p:cNvSpPr/>
          <p:nvPr/>
        </p:nvSpPr>
        <p:spPr>
          <a:xfrm>
            <a:off x="6247257" y="3951387"/>
            <a:ext cx="330949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اعرف فكرتها: سجلات، وتقييمات، وسير عمل، ولوحات</a:t>
            </a:r>
            <a:endParaRPr lang="ar-SA" sz="1200" dirty="0" altLang="en-US"/>
          </a:p>
        </p:txBody>
      </p:sp>
      <p:sp>
        <p:nvSpPr>
          <p:cNvPr id="36" name="Text 34"/>
          <p:cNvSpPr/>
          <p:nvPr/>
        </p:nvSpPr>
        <p:spPr>
          <a:xfrm>
            <a:off x="9607550" y="3950891"/>
            <a:ext cx="1638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منصات GRC</a:t>
            </a:r>
            <a:endParaRPr lang="ar-SA" sz="1250" dirty="0" altLang="en-US"/>
          </a:p>
        </p:txBody>
      </p:sp>
      <p:sp>
        <p:nvSpPr>
          <p:cNvPr id="37" name="Shape 35"/>
          <p:cNvSpPr/>
          <p:nvPr/>
        </p:nvSpPr>
        <p:spPr>
          <a:xfrm>
            <a:off x="812800" y="4400153"/>
            <a:ext cx="10566400" cy="458788"/>
          </a:xfrm>
          <a:prstGeom prst="roundRect">
            <a:avLst>
              <a:gd name="adj" fmla="val 19377"/>
            </a:avLst>
          </a:prstGeom>
          <a:solidFill>
            <a:srgbClr val="172433"/>
          </a:solidFill>
          <a:ln/>
        </p:spPr>
      </p:sp>
      <p:sp>
        <p:nvSpPr>
          <p:cNvPr id="38" name="Text 36"/>
          <p:cNvSpPr/>
          <p:nvPr/>
        </p:nvSpPr>
        <p:spPr>
          <a:xfrm>
            <a:off x="679958" y="4514453"/>
            <a:ext cx="10229342" cy="255588"/>
          </a:xfrm>
          <a:prstGeom prst="rect">
            <a:avLst/>
          </a:prstGeom>
          <a:noFill/>
          <a:ln/>
        </p:spPr>
        <p:txBody>
          <a:bodyPr wrap="square" lIns="0" tIns="0" rIns="0" bIns="0" rtlCol="0" anchor="t">
            <a:normAutofit/>
          </a:bodyPr>
          <a:lstStyle/>
          <a:p>
            <a:pPr algn="r" indent="0" marL="0" rtl="1">
              <a:lnSpc>
                <a:spcPts val="1813"/>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
            </a:r>
            <a:r>
              <a:rPr lang="ar-SA" sz="1250" b="1" dirty="0" altLang="en-US">
                <a:solidFill>
                  <a:srgbClr val="F3EFE6"/>
                </a:solidFill>
                <a:latin typeface="IBM Plex Sans Arabic" pitchFamily="34" charset="0"/>
                <a:ea typeface="IBM Plex Sans Arabic" pitchFamily="34" charset="-122"/>
                <a:cs typeface="IBM Plex Sans Arabic" pitchFamily="34" charset="-120"/>
              </a:rPr>
              <a:t>والإنجليزية:</a:t>
            </a:r>
            <a:r>
              <a:rPr lang="ar-SA" sz="1250" dirty="0" altLang="en-US">
                <a:solidFill>
                  <a:srgbClr val="F3EFE6"/>
                </a:solidFill>
                <a:latin typeface="IBM Plex Sans Arabic" pitchFamily="34" charset="0"/>
                <a:ea typeface="IBM Plex Sans Arabic" pitchFamily="34" charset="-122"/>
                <a:cs typeface="IBM Plex Sans Arabic" pitchFamily="34" charset="-120"/>
              </a:rPr>
              <a:t> أغلب المعايير والمصادر والاختبارات بها. اقرأ يومياً ولو صفحة واحدة.</a:t>
            </a:r>
            <a:endParaRPr lang="ar-SA" sz="1250" dirty="0" altLang="en-US"/>
          </a:p>
        </p:txBody>
      </p:sp>
      <p:pic>
        <p:nvPicPr>
          <p:cNvPr id="39" name="Image 0" descr="Globe">    </p:cNvPr>
          <p:cNvPicPr>
            <a:picLocks noChangeAspect="1"/>
          </p:cNvPicPr>
          <p:nvPr/>
        </p:nvPicPr>
        <p:blipFill>
          <a:blip r:embed="rId1"/>
          <a:srcRect l="0" r="0" t="0" b="0"/>
          <a:stretch/>
        </p:blipFill>
        <p:spPr>
          <a:xfrm>
            <a:off x="11010900" y="4527947"/>
            <a:ext cx="203200" cy="203200"/>
          </a:xfrm>
          <a:prstGeom prst="rect">
            <a:avLst/>
          </a:prstGeom>
        </p:spPr>
      </p:pic>
      <p:sp>
        <p:nvSpPr>
          <p:cNvPr id="40" name="Text 37"/>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42</a:t>
            </a:r>
            <a:endParaRPr lang="en-US" sz="1200" dirty="0"/>
          </a:p>
        </p:txBody>
      </p:sp>
      <p:sp>
        <p:nvSpPr>
          <p:cNvPr id="41" name="Text 38"/>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05 · الخطة العملية</a:t>
            </a:r>
            <a:endParaRPr lang="ar-SA" sz="1200" dirty="0"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72433"/>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0E7C6B"/>
          </a:solidFill>
          <a:ln/>
        </p:spPr>
      </p:sp>
      <p:sp>
        <p:nvSpPr>
          <p:cNvPr id="3" name="Text 1"/>
          <p:cNvSpPr/>
          <p:nvPr>
            <p:ph type="title"/>
          </p:nvPr>
        </p:nvSpPr>
        <p:spPr>
          <a:xfrm>
            <a:off x="52864" y="2677170"/>
            <a:ext cx="4559618" cy="756890"/>
          </a:xfrm>
          <a:prstGeom prst="rect">
            <a:avLst/>
          </a:prstGeom>
          <a:noFill/>
          <a:ln/>
        </p:spPr>
        <p:txBody>
          <a:bodyPr wrap="square" lIns="0" tIns="0" rIns="0" bIns="0" rtlCol="0" anchor="t">
            <a:normAutofit/>
          </a:bodyPr>
          <a:lstStyle/>
          <a:p>
            <a:pPr algn="r" indent="0" marL="0" rtl="1">
              <a:lnSpc>
                <a:spcPts val="5760"/>
              </a:lnSpc>
              <a:buNone/>
            </a:pPr>
            <a:r>
              <a:rPr lang="ar-SA" sz="4800" b="1" i="0" dirty="0" altLang="en-US">
                <a:solidFill>
                  <a:srgbClr val="F3EFE6"/>
                </a:solidFill>
                <a:latin typeface="Readex Pro" pitchFamily="34" charset="0"/>
                <a:ea typeface="Readex Pro" pitchFamily="34" charset="-122"/>
                <a:cs typeface="Readex Pro" pitchFamily="34" charset="-120"/>
              </a:rPr>
              <a:t>السيرة الذاتية</a:t>
            </a:r>
            <a:endParaRPr lang="ar-SA" sz="4800" dirty="0" altLang="en-US"/>
          </a:p>
        </p:txBody>
      </p:sp>
      <p:sp>
        <p:nvSpPr>
          <p:cNvPr id="4" name="Text 2"/>
          <p:cNvSpPr/>
          <p:nvPr/>
        </p:nvSpPr>
        <p:spPr>
          <a:xfrm>
            <a:off x="4612481" y="2138660"/>
            <a:ext cx="184026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0E7C6B"/>
                </a:solidFill>
                <a:latin typeface="Readex Pro" pitchFamily="34" charset="0"/>
                <a:ea typeface="Readex Pro" pitchFamily="34" charset="-122"/>
                <a:cs typeface="Readex Pro" pitchFamily="34" charset="-120"/>
              </a:rPr>
              <a:t>06</a:t>
            </a:r>
            <a:endParaRPr lang="en-US" sz="10000" dirty="0"/>
          </a:p>
        </p:txBody>
      </p:sp>
      <p:sp>
        <p:nvSpPr>
          <p:cNvPr id="5" name="Text 3"/>
          <p:cNvSpPr/>
          <p:nvPr/>
        </p:nvSpPr>
        <p:spPr>
          <a:xfrm>
            <a:off x="546100" y="3611860"/>
            <a:ext cx="9156700" cy="368300"/>
          </a:xfrm>
          <a:prstGeom prst="rect">
            <a:avLst/>
          </a:prstGeom>
          <a:noFill/>
          <a:ln/>
        </p:spPr>
        <p:txBody>
          <a:bodyPr wrap="square" lIns="0" tIns="0" rIns="0" bIns="0" rtlCol="0" anchor="t">
            <a:normAutofit/>
          </a:bodyPr>
          <a:lstStyle/>
          <a:p>
            <a:pPr algn="r" indent="0" marL="0" rtl="1">
              <a:lnSpc>
                <a:spcPts val="2700"/>
              </a:lnSpc>
              <a:buNone/>
            </a:pPr>
            <a:r>
              <a:rPr lang="ar-SA" sz="1800" dirty="0" altLang="en-US">
                <a:solidFill>
                  <a:srgbClr val="D9E2E6"/>
                </a:solidFill>
                <a:latin typeface="IBM Plex Sans Arabic" pitchFamily="34" charset="0"/>
                <a:ea typeface="IBM Plex Sans Arabic" pitchFamily="34" charset="-122"/>
                <a:cs typeface="IBM Plex Sans Arabic" pitchFamily="34" charset="-120"/>
              </a:rPr>
              <a:t>سيرة تقرؤها الأنظمة والبشر معاً، وتقول «أستطيع أن أفعل» لا «أنا مهتم».</a:t>
            </a:r>
            <a:endParaRPr lang="ar-SA" sz="1800" dirty="0" altLang="en-US"/>
          </a:p>
        </p:txBody>
      </p:sp>
      <p:sp>
        <p:nvSpPr>
          <p:cNvPr id="6" name="Text 4"/>
          <p:cNvSpPr/>
          <p:nvPr/>
        </p:nvSpPr>
        <p:spPr>
          <a:xfrm>
            <a:off x="812800" y="4157960"/>
            <a:ext cx="1075333"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أخطاء شائعة</a:t>
            </a:r>
            <a:endParaRPr lang="ar-SA" sz="1300" dirty="0" altLang="en-US"/>
          </a:p>
        </p:txBody>
      </p:sp>
      <p:sp>
        <p:nvSpPr>
          <p:cNvPr id="7" name="Text 5"/>
          <p:cNvSpPr/>
          <p:nvPr/>
        </p:nvSpPr>
        <p:spPr>
          <a:xfrm>
            <a:off x="1989733" y="4157960"/>
            <a:ext cx="831007"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بلا خبرة؟</a:t>
            </a:r>
            <a:endParaRPr lang="ar-SA" sz="1300" dirty="0" altLang="en-US"/>
          </a:p>
        </p:txBody>
      </p:sp>
      <p:sp>
        <p:nvSpPr>
          <p:cNvPr id="8" name="Text 6"/>
          <p:cNvSpPr/>
          <p:nvPr/>
        </p:nvSpPr>
        <p:spPr>
          <a:xfrm>
            <a:off x="2922339" y="4157960"/>
            <a:ext cx="1275953"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صياغة الإنجازات</a:t>
            </a:r>
            <a:endParaRPr lang="ar-SA" sz="1300" dirty="0" altLang="en-US"/>
          </a:p>
        </p:txBody>
      </p:sp>
      <p:sp>
        <p:nvSpPr>
          <p:cNvPr id="9" name="Text 7"/>
          <p:cNvSpPr/>
          <p:nvPr/>
        </p:nvSpPr>
        <p:spPr>
          <a:xfrm>
            <a:off x="4299893" y="4157960"/>
            <a:ext cx="1278136"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أنظمة الفرز ATS</a:t>
            </a:r>
            <a:endParaRPr lang="ar-SA" sz="1300" dirty="0" altLang="en-US"/>
          </a:p>
        </p:txBody>
      </p:sp>
      <p:sp>
        <p:nvSpPr>
          <p:cNvPr id="10" name="Text 8"/>
          <p:cNvSpPr/>
          <p:nvPr/>
        </p:nvSpPr>
        <p:spPr>
          <a:xfrm>
            <a:off x="5679629" y="4157960"/>
            <a:ext cx="1075680"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هيكل السيرة</a:t>
            </a:r>
            <a:endParaRPr lang="ar-SA" sz="1300" dirty="0" altLang="en-US"/>
          </a:p>
        </p:txBody>
      </p:sp>
      <p:sp>
        <p:nvSpPr>
          <p:cNvPr id="11" name="Text 9"/>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3A3B1"/>
                </a:solidFill>
                <a:latin typeface="IBM Plex Sans Arabic" pitchFamily="34" charset="0"/>
                <a:ea typeface="IBM Plex Sans Arabic" pitchFamily="34" charset="-122"/>
                <a:cs typeface="IBM Plex Sans Arabic" pitchFamily="34" charset="-120"/>
              </a:rPr>
              <a:t>43</a:t>
            </a:r>
            <a:endParaRPr lang="en-US" sz="1200" dirty="0"/>
          </a:p>
        </p:txBody>
      </p:sp>
      <p:sp>
        <p:nvSpPr>
          <p:cNvPr id="12" name="Text 10"/>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93A3B1"/>
                </a:solidFill>
                <a:latin typeface="IBM Plex Sans Arabic" pitchFamily="34" charset="0"/>
                <a:ea typeface="IBM Plex Sans Arabic" pitchFamily="34" charset="-122"/>
                <a:cs typeface="IBM Plex Sans Arabic" pitchFamily="34" charset="-120"/>
              </a:rPr>
              <a:t>كيف تبدأ في GRC · الوحدة 06</a:t>
            </a:r>
            <a:endParaRPr lang="ar-SA" sz="1200" dirty="0"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789807" cy="289520"/>
          </a:xfrm>
          <a:custGeom>
            <a:avLst/>
            <a:gdLst/>
            <a:ahLst/>
            <a:cxnLst/>
            <a:rect l="l" t="t" r="r" b="b"/>
            <a:pathLst>
              <a:path w="1789807" h="289520">
                <a:moveTo>
                  <a:pt x="144760" y="0"/>
                </a:moveTo>
                <a:lnTo>
                  <a:pt x="1645047" y="0"/>
                </a:lnTo>
                <a:arcTo hR="144760" wR="144760" stAng="16200000" swAng="5400000"/>
                <a:lnTo>
                  <a:pt x="178980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06 · السيرة الذاتية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تشريح سيرة مبتدئ في GRC</a:t>
            </a:r>
            <a:endParaRPr lang="ar-SA" sz="3000" dirty="0" altLang="en-US"/>
          </a:p>
        </p:txBody>
      </p:sp>
      <p:sp>
        <p:nvSpPr>
          <p:cNvPr id="5" name="Shape 3"/>
          <p:cNvSpPr/>
          <p:nvPr/>
        </p:nvSpPr>
        <p:spPr>
          <a:xfrm>
            <a:off x="815975" y="1784945"/>
            <a:ext cx="6775450" cy="3824188"/>
          </a:xfrm>
          <a:prstGeom prst="roundRect">
            <a:avLst>
              <a:gd name="adj" fmla="val 913"/>
            </a:avLst>
          </a:prstGeom>
          <a:solidFill>
            <a:srgbClr val="FFFFFF"/>
          </a:solidFill>
          <a:ln w="6350">
            <a:solidFill>
              <a:srgbClr val="D9D2C2"/>
            </a:solidFill>
            <a:prstDash val="solid"/>
          </a:ln>
        </p:spPr>
      </p:sp>
      <p:sp>
        <p:nvSpPr>
          <p:cNvPr id="6" name="Shape 4"/>
          <p:cNvSpPr/>
          <p:nvPr/>
        </p:nvSpPr>
        <p:spPr>
          <a:xfrm>
            <a:off x="1035050" y="2714526"/>
            <a:ext cx="6337300" cy="0"/>
          </a:xfrm>
          <a:prstGeom prst="line">
            <a:avLst/>
          </a:prstGeom>
          <a:noFill/>
          <a:ln w="12700">
            <a:solidFill>
              <a:srgbClr val="172433"/>
            </a:solidFill>
            <a:prstDash val="solid"/>
          </a:ln>
        </p:spPr>
      </p:sp>
      <p:sp>
        <p:nvSpPr>
          <p:cNvPr id="7" name="Text 5"/>
          <p:cNvSpPr/>
          <p:nvPr/>
        </p:nvSpPr>
        <p:spPr>
          <a:xfrm>
            <a:off x="1035050" y="1953220"/>
            <a:ext cx="6527419"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E2A36"/>
                </a:solidFill>
                <a:latin typeface="Readex Pro" pitchFamily="34" charset="0"/>
                <a:ea typeface="Readex Pro" pitchFamily="34" charset="-122"/>
                <a:cs typeface="Readex Pro" pitchFamily="34" charset="-120"/>
              </a:rPr>
              <a:t>Sara Ahmed</a:t>
            </a:r>
            <a:endParaRPr lang="en-US" sz="1700" dirty="0"/>
          </a:p>
        </p:txBody>
      </p:sp>
      <p:sp>
        <p:nvSpPr>
          <p:cNvPr id="8" name="Text 6"/>
          <p:cNvSpPr/>
          <p:nvPr/>
        </p:nvSpPr>
        <p:spPr>
          <a:xfrm>
            <a:off x="1035050" y="2235795"/>
            <a:ext cx="2940568"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E7C6B"/>
                </a:solidFill>
                <a:latin typeface="IBM Plex Sans Arabic" pitchFamily="34" charset="0"/>
                <a:ea typeface="IBM Plex Sans Arabic" pitchFamily="34" charset="-122"/>
                <a:cs typeface="IBM Plex Sans Arabic" pitchFamily="34" charset="-120"/>
              </a:rPr>
              <a:t>GRC Analyst | Cybersecurity Compliance</a:t>
            </a:r>
            <a:endParaRPr lang="en-US" sz="1200" dirty="0"/>
          </a:p>
        </p:txBody>
      </p:sp>
      <p:sp>
        <p:nvSpPr>
          <p:cNvPr id="9" name="Text 7"/>
          <p:cNvSpPr/>
          <p:nvPr/>
        </p:nvSpPr>
        <p:spPr>
          <a:xfrm>
            <a:off x="3953470" y="2239566"/>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0E7C6B"/>
          </a:solidFill>
          <a:ln/>
        </p:spPr>
        <p:txBody>
          <a:bodyPr wrap="square" lIns="0" tIns="0" rIns="0" bIns="0" rtlCol="0" anchor="t">
            <a:normAutofit/>
          </a:bodyPr>
          <a:lstStyle/>
          <a:p>
            <a:pPr algn="ctr" indent="0" marL="0">
              <a:lnSpc>
                <a:spcPts val="1500"/>
              </a:lnSpc>
              <a:buNone/>
            </a:pPr>
            <a:r>
              <a:rPr lang="en-US" sz="1200" b="1" dirty="0">
                <a:solidFill>
                  <a:srgbClr val="FFFFFF"/>
                </a:solidFill>
                <a:latin typeface="IBM Plex Sans Arabic" pitchFamily="34" charset="0"/>
                <a:ea typeface="IBM Plex Sans Arabic" pitchFamily="34" charset="-122"/>
                <a:cs typeface="IBM Plex Sans Arabic" pitchFamily="34" charset="-120"/>
              </a:rPr>
              <a:t>1</a:t>
            </a:r>
            <a:endParaRPr lang="en-US" sz="1200" dirty="0"/>
          </a:p>
        </p:txBody>
      </p:sp>
      <p:sp>
        <p:nvSpPr>
          <p:cNvPr id="10" name="Text 8"/>
          <p:cNvSpPr/>
          <p:nvPr/>
        </p:nvSpPr>
        <p:spPr>
          <a:xfrm>
            <a:off x="1035050" y="2446586"/>
            <a:ext cx="65274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75"/>
                </a:solidFill>
                <a:latin typeface="IBM Plex Sans Arabic" pitchFamily="34" charset="0"/>
                <a:ea typeface="IBM Plex Sans Arabic" pitchFamily="34" charset="-122"/>
                <a:cs typeface="IBM Plex Sans Arabic" pitchFamily="34" charset="-120"/>
              </a:rPr>
              <a:t>Riyadh · sara.ahmed@email.com · linkedin.com/in/sara-ahmed-grc</a:t>
            </a:r>
            <a:endParaRPr lang="en-US" sz="1200" dirty="0"/>
          </a:p>
        </p:txBody>
      </p:sp>
      <p:sp>
        <p:nvSpPr>
          <p:cNvPr id="11" name="Text 9"/>
          <p:cNvSpPr/>
          <p:nvPr/>
        </p:nvSpPr>
        <p:spPr>
          <a:xfrm>
            <a:off x="1035050" y="2784376"/>
            <a:ext cx="858391" cy="223490"/>
          </a:xfrm>
          <a:prstGeom prst="rect">
            <a:avLst/>
          </a:prstGeom>
          <a:noFill/>
          <a:ln/>
        </p:spPr>
        <p:txBody>
          <a:bodyPr wrap="square" lIns="0" tIns="0" rIns="0" bIns="0" rtlCol="0" anchor="t">
            <a:normAutofit/>
          </a:bodyPr>
          <a:lstStyle/>
          <a:p>
            <a:pPr algn="l" indent="0" marL="0">
              <a:lnSpc>
                <a:spcPts val="1560"/>
              </a:lnSpc>
              <a:buNone/>
            </a:pPr>
            <a:r>
              <a:rPr lang="en-US" sz="1200" b="1" spc="50" kern="0" dirty="0">
                <a:solidFill>
                  <a:srgbClr val="1E2A36"/>
                </a:solidFill>
                <a:latin typeface="IBM Plex Sans Arabic" pitchFamily="34" charset="0"/>
                <a:ea typeface="IBM Plex Sans Arabic" pitchFamily="34" charset="-122"/>
                <a:cs typeface="IBM Plex Sans Arabic" pitchFamily="34" charset="-120"/>
              </a:rPr>
              <a:t>SUMMARY</a:t>
            </a:r>
            <a:endParaRPr lang="en-US" sz="1200" dirty="0"/>
          </a:p>
        </p:txBody>
      </p:sp>
      <p:sp>
        <p:nvSpPr>
          <p:cNvPr id="12" name="Text 10"/>
          <p:cNvSpPr/>
          <p:nvPr/>
        </p:nvSpPr>
        <p:spPr>
          <a:xfrm>
            <a:off x="1893441" y="2788146"/>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0E7C6B"/>
          </a:solidFill>
          <a:ln/>
        </p:spPr>
        <p:txBody>
          <a:bodyPr wrap="square" lIns="0" tIns="0" rIns="0" bIns="0" rtlCol="0" anchor="t">
            <a:normAutofit/>
          </a:bodyPr>
          <a:lstStyle/>
          <a:p>
            <a:pPr algn="ctr" indent="0" marL="0">
              <a:lnSpc>
                <a:spcPts val="1500"/>
              </a:lnSpc>
              <a:buNone/>
            </a:pPr>
            <a:r>
              <a:rPr lang="en-US" sz="1200" b="1" dirty="0">
                <a:solidFill>
                  <a:srgbClr val="FFFFFF"/>
                </a:solidFill>
                <a:latin typeface="IBM Plex Sans Arabic" pitchFamily="34" charset="0"/>
                <a:ea typeface="IBM Plex Sans Arabic" pitchFamily="34" charset="-122"/>
                <a:cs typeface="IBM Plex Sans Arabic" pitchFamily="34" charset="-120"/>
              </a:rPr>
              <a:t>2</a:t>
            </a:r>
            <a:endParaRPr lang="en-US" sz="1200" dirty="0"/>
          </a:p>
        </p:txBody>
      </p:sp>
      <p:sp>
        <p:nvSpPr>
          <p:cNvPr id="13" name="Text 11"/>
          <p:cNvSpPr/>
          <p:nvPr/>
        </p:nvSpPr>
        <p:spPr>
          <a:xfrm>
            <a:off x="1035050" y="2995166"/>
            <a:ext cx="6527419"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Entry-level GRC analyst with hands-on risk assessment and NCA ECC-2:2024 gap analysis projects. ISC2 CC.</a:t>
            </a:r>
            <a:endParaRPr lang="en-US" sz="1200" dirty="0"/>
          </a:p>
        </p:txBody>
      </p:sp>
      <p:sp>
        <p:nvSpPr>
          <p:cNvPr id="14" name="Text 12"/>
          <p:cNvSpPr/>
          <p:nvPr/>
        </p:nvSpPr>
        <p:spPr>
          <a:xfrm>
            <a:off x="1035050" y="3454846"/>
            <a:ext cx="625277" cy="223490"/>
          </a:xfrm>
          <a:prstGeom prst="rect">
            <a:avLst/>
          </a:prstGeom>
          <a:noFill/>
          <a:ln/>
        </p:spPr>
        <p:txBody>
          <a:bodyPr wrap="square" lIns="0" tIns="0" rIns="0" bIns="0" rtlCol="0" anchor="t">
            <a:normAutofit/>
          </a:bodyPr>
          <a:lstStyle/>
          <a:p>
            <a:pPr algn="l" indent="0" marL="0">
              <a:lnSpc>
                <a:spcPts val="1560"/>
              </a:lnSpc>
              <a:buNone/>
            </a:pPr>
            <a:r>
              <a:rPr lang="en-US" sz="1200" b="1" spc="50" kern="0" dirty="0">
                <a:solidFill>
                  <a:srgbClr val="1E2A36"/>
                </a:solidFill>
                <a:latin typeface="IBM Plex Sans Arabic" pitchFamily="34" charset="0"/>
                <a:ea typeface="IBM Plex Sans Arabic" pitchFamily="34" charset="-122"/>
                <a:cs typeface="IBM Plex Sans Arabic" pitchFamily="34" charset="-120"/>
              </a:rPr>
              <a:t>SKILLS</a:t>
            </a:r>
            <a:endParaRPr lang="en-US" sz="1200" dirty="0"/>
          </a:p>
        </p:txBody>
      </p:sp>
      <p:sp>
        <p:nvSpPr>
          <p:cNvPr id="15" name="Text 13"/>
          <p:cNvSpPr/>
          <p:nvPr/>
        </p:nvSpPr>
        <p:spPr>
          <a:xfrm>
            <a:off x="1660327" y="3458617"/>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0E7C6B"/>
          </a:solidFill>
          <a:ln/>
        </p:spPr>
        <p:txBody>
          <a:bodyPr wrap="square" lIns="0" tIns="0" rIns="0" bIns="0" rtlCol="0" anchor="t">
            <a:normAutofit/>
          </a:bodyPr>
          <a:lstStyle/>
          <a:p>
            <a:pPr algn="ctr" indent="0" marL="0">
              <a:lnSpc>
                <a:spcPts val="1500"/>
              </a:lnSpc>
              <a:buNone/>
            </a:pPr>
            <a:r>
              <a:rPr lang="en-US" sz="1200" b="1" dirty="0">
                <a:solidFill>
                  <a:srgbClr val="FFFFFF"/>
                </a:solidFill>
                <a:latin typeface="IBM Plex Sans Arabic" pitchFamily="34" charset="0"/>
                <a:ea typeface="IBM Plex Sans Arabic" pitchFamily="34" charset="-122"/>
                <a:cs typeface="IBM Plex Sans Arabic" pitchFamily="34" charset="-120"/>
              </a:rPr>
              <a:t>3</a:t>
            </a:r>
            <a:endParaRPr lang="en-US" sz="1200" dirty="0"/>
          </a:p>
        </p:txBody>
      </p:sp>
      <p:sp>
        <p:nvSpPr>
          <p:cNvPr id="16" name="Text 14"/>
          <p:cNvSpPr/>
          <p:nvPr/>
        </p:nvSpPr>
        <p:spPr>
          <a:xfrm>
            <a:off x="1035050" y="3665637"/>
            <a:ext cx="65274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Risk Assessment · Gap Analysis · ISO 27001 · NIST CSF · NCA ECC · Excel</a:t>
            </a:r>
            <a:endParaRPr lang="en-US" sz="1200" dirty="0"/>
          </a:p>
        </p:txBody>
      </p:sp>
      <p:sp>
        <p:nvSpPr>
          <p:cNvPr id="17" name="Text 15"/>
          <p:cNvSpPr/>
          <p:nvPr/>
        </p:nvSpPr>
        <p:spPr>
          <a:xfrm>
            <a:off x="1035050" y="3927227"/>
            <a:ext cx="878929" cy="223490"/>
          </a:xfrm>
          <a:prstGeom prst="rect">
            <a:avLst/>
          </a:prstGeom>
          <a:noFill/>
          <a:ln/>
        </p:spPr>
        <p:txBody>
          <a:bodyPr wrap="square" lIns="0" tIns="0" rIns="0" bIns="0" rtlCol="0" anchor="t">
            <a:normAutofit/>
          </a:bodyPr>
          <a:lstStyle/>
          <a:p>
            <a:pPr algn="l" indent="0" marL="0">
              <a:lnSpc>
                <a:spcPts val="1560"/>
              </a:lnSpc>
              <a:buNone/>
            </a:pPr>
            <a:r>
              <a:rPr lang="en-US" sz="1200" b="1" spc="50" kern="0" dirty="0">
                <a:solidFill>
                  <a:srgbClr val="1E2A36"/>
                </a:solidFill>
                <a:latin typeface="IBM Plex Sans Arabic" pitchFamily="34" charset="0"/>
                <a:ea typeface="IBM Plex Sans Arabic" pitchFamily="34" charset="-122"/>
                <a:cs typeface="IBM Plex Sans Arabic" pitchFamily="34" charset="-120"/>
              </a:rPr>
              <a:t>PROJECTS</a:t>
            </a:r>
            <a:endParaRPr lang="en-US" sz="1200" dirty="0"/>
          </a:p>
        </p:txBody>
      </p:sp>
      <p:sp>
        <p:nvSpPr>
          <p:cNvPr id="18" name="Text 16"/>
          <p:cNvSpPr/>
          <p:nvPr/>
        </p:nvSpPr>
        <p:spPr>
          <a:xfrm>
            <a:off x="1913979" y="3930997"/>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0E7C6B"/>
          </a:solidFill>
          <a:ln/>
        </p:spPr>
        <p:txBody>
          <a:bodyPr wrap="square" lIns="0" tIns="0" rIns="0" bIns="0" rtlCol="0" anchor="t">
            <a:normAutofit/>
          </a:bodyPr>
          <a:lstStyle/>
          <a:p>
            <a:pPr algn="ctr" indent="0" marL="0">
              <a:lnSpc>
                <a:spcPts val="1500"/>
              </a:lnSpc>
              <a:buNone/>
            </a:pPr>
            <a:r>
              <a:rPr lang="en-US" sz="1200" b="1" dirty="0">
                <a:solidFill>
                  <a:srgbClr val="FFFFFF"/>
                </a:solidFill>
                <a:latin typeface="IBM Plex Sans Arabic" pitchFamily="34" charset="0"/>
                <a:ea typeface="IBM Plex Sans Arabic" pitchFamily="34" charset="-122"/>
                <a:cs typeface="IBM Plex Sans Arabic" pitchFamily="34" charset="-120"/>
              </a:rPr>
              <a:t>4</a:t>
            </a:r>
            <a:endParaRPr lang="en-US" sz="1200" dirty="0"/>
          </a:p>
        </p:txBody>
      </p:sp>
      <p:sp>
        <p:nvSpPr>
          <p:cNvPr id="19" name="Text 17"/>
          <p:cNvSpPr/>
          <p:nvPr/>
        </p:nvSpPr>
        <p:spPr>
          <a:xfrm>
            <a:off x="1035050" y="4138017"/>
            <a:ext cx="652741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36"/>
                </a:solidFill>
                <a:latin typeface="IBM Plex Sans Arabic" pitchFamily="34" charset="0"/>
                <a:ea typeface="IBM Plex Sans Arabic" pitchFamily="34" charset="-122"/>
                <a:cs typeface="IBM Plex Sans Arabic" pitchFamily="34" charset="-120"/>
              </a:rPr>
              <a:t>Risk Register · Fictional logistics company, 200 staff</a:t>
            </a:r>
            <a:endParaRPr lang="en-US" sz="1200" dirty="0"/>
          </a:p>
        </p:txBody>
      </p:sp>
      <p:sp>
        <p:nvSpPr>
          <p:cNvPr id="20" name="Text 18"/>
          <p:cNvSpPr/>
          <p:nvPr/>
        </p:nvSpPr>
        <p:spPr>
          <a:xfrm>
            <a:off x="1035050" y="4348807"/>
            <a:ext cx="65274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 Scored 20 risks on a 5×5 matrix; wrote treatment plans for the top 6.</a:t>
            </a:r>
            <a:endParaRPr lang="en-US" sz="1200" dirty="0"/>
          </a:p>
        </p:txBody>
      </p:sp>
      <p:sp>
        <p:nvSpPr>
          <p:cNvPr id="21" name="Text 19"/>
          <p:cNvSpPr/>
          <p:nvPr/>
        </p:nvSpPr>
        <p:spPr>
          <a:xfrm>
            <a:off x="1035050" y="4559598"/>
            <a:ext cx="652741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36"/>
                </a:solidFill>
                <a:latin typeface="IBM Plex Sans Arabic" pitchFamily="34" charset="0"/>
                <a:ea typeface="IBM Plex Sans Arabic" pitchFamily="34" charset="-122"/>
                <a:cs typeface="IBM Plex Sans Arabic" pitchFamily="34" charset="-120"/>
              </a:rPr>
              <a:t>ECC Gap Assessment · Same company</a:t>
            </a:r>
            <a:endParaRPr lang="en-US" sz="1200" dirty="0"/>
          </a:p>
        </p:txBody>
      </p:sp>
      <p:sp>
        <p:nvSpPr>
          <p:cNvPr id="22" name="Text 20"/>
          <p:cNvSpPr/>
          <p:nvPr/>
        </p:nvSpPr>
        <p:spPr>
          <a:xfrm>
            <a:off x="1035050" y="4770388"/>
            <a:ext cx="65274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 Assessed one ECC subdomain; documented 5 findings with owners.</a:t>
            </a:r>
            <a:endParaRPr lang="en-US" sz="1200" dirty="0"/>
          </a:p>
        </p:txBody>
      </p:sp>
      <p:sp>
        <p:nvSpPr>
          <p:cNvPr id="23" name="Text 21"/>
          <p:cNvSpPr/>
          <p:nvPr/>
        </p:nvSpPr>
        <p:spPr>
          <a:xfrm>
            <a:off x="1035050" y="5031978"/>
            <a:ext cx="3185224" cy="223490"/>
          </a:xfrm>
          <a:prstGeom prst="rect">
            <a:avLst/>
          </a:prstGeom>
          <a:noFill/>
          <a:ln/>
        </p:spPr>
        <p:txBody>
          <a:bodyPr wrap="square" lIns="0" tIns="0" rIns="0" bIns="0" rtlCol="0" anchor="t">
            <a:normAutofit/>
          </a:bodyPr>
          <a:lstStyle/>
          <a:p>
            <a:pPr algn="l" indent="0" marL="0">
              <a:lnSpc>
                <a:spcPts val="1560"/>
              </a:lnSpc>
              <a:buNone/>
            </a:pPr>
            <a:r>
              <a:rPr lang="en-US" sz="1200" b="1" spc="50" kern="0" dirty="0">
                <a:solidFill>
                  <a:srgbClr val="1E2A36"/>
                </a:solidFill>
                <a:latin typeface="IBM Plex Sans Arabic" pitchFamily="34" charset="0"/>
                <a:ea typeface="IBM Plex Sans Arabic" pitchFamily="34" charset="-122"/>
                <a:cs typeface="IBM Plex Sans Arabic" pitchFamily="34" charset="-120"/>
              </a:rPr>
              <a:t>EDUCATION</a:t>
            </a:r>
            <a:endParaRPr lang="en-US" sz="1200" dirty="0"/>
          </a:p>
        </p:txBody>
      </p:sp>
      <p:sp>
        <p:nvSpPr>
          <p:cNvPr id="24" name="Text 22"/>
          <p:cNvSpPr/>
          <p:nvPr/>
        </p:nvSpPr>
        <p:spPr>
          <a:xfrm>
            <a:off x="1035050" y="5242768"/>
            <a:ext cx="318522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B.Sc. Information Systems, 2025</a:t>
            </a:r>
            <a:endParaRPr lang="en-US" sz="1200" dirty="0"/>
          </a:p>
        </p:txBody>
      </p:sp>
      <p:sp>
        <p:nvSpPr>
          <p:cNvPr id="25" name="Text 23"/>
          <p:cNvSpPr/>
          <p:nvPr/>
        </p:nvSpPr>
        <p:spPr>
          <a:xfrm>
            <a:off x="4279900" y="5031978"/>
            <a:ext cx="1413371" cy="223490"/>
          </a:xfrm>
          <a:prstGeom prst="rect">
            <a:avLst/>
          </a:prstGeom>
          <a:noFill/>
          <a:ln/>
        </p:spPr>
        <p:txBody>
          <a:bodyPr wrap="square" lIns="0" tIns="0" rIns="0" bIns="0" rtlCol="0" anchor="t">
            <a:normAutofit/>
          </a:bodyPr>
          <a:lstStyle/>
          <a:p>
            <a:pPr algn="l" indent="0" marL="0">
              <a:lnSpc>
                <a:spcPts val="1560"/>
              </a:lnSpc>
              <a:buNone/>
            </a:pPr>
            <a:r>
              <a:rPr lang="en-US" sz="1200" b="1" spc="50" kern="0" dirty="0">
                <a:solidFill>
                  <a:srgbClr val="1E2A36"/>
                </a:solidFill>
                <a:latin typeface="IBM Plex Sans Arabic" pitchFamily="34" charset="0"/>
                <a:ea typeface="IBM Plex Sans Arabic" pitchFamily="34" charset="-122"/>
                <a:cs typeface="IBM Plex Sans Arabic" pitchFamily="34" charset="-120"/>
              </a:rPr>
              <a:t>CERTIFICATIONS</a:t>
            </a:r>
            <a:endParaRPr lang="en-US" sz="1200" dirty="0"/>
          </a:p>
        </p:txBody>
      </p:sp>
      <p:sp>
        <p:nvSpPr>
          <p:cNvPr id="26" name="Text 24"/>
          <p:cNvSpPr/>
          <p:nvPr/>
        </p:nvSpPr>
        <p:spPr>
          <a:xfrm>
            <a:off x="5693271" y="5035748"/>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0E7C6B"/>
          </a:solidFill>
          <a:ln/>
        </p:spPr>
        <p:txBody>
          <a:bodyPr wrap="square" lIns="0" tIns="0" rIns="0" bIns="0" rtlCol="0" anchor="t">
            <a:normAutofit/>
          </a:bodyPr>
          <a:lstStyle/>
          <a:p>
            <a:pPr algn="ctr" indent="0" marL="0">
              <a:lnSpc>
                <a:spcPts val="1500"/>
              </a:lnSpc>
              <a:buNone/>
            </a:pPr>
            <a:r>
              <a:rPr lang="en-US" sz="1200" b="1" dirty="0">
                <a:solidFill>
                  <a:srgbClr val="FFFFFF"/>
                </a:solidFill>
                <a:latin typeface="IBM Plex Sans Arabic" pitchFamily="34" charset="0"/>
                <a:ea typeface="IBM Plex Sans Arabic" pitchFamily="34" charset="-122"/>
                <a:cs typeface="IBM Plex Sans Arabic" pitchFamily="34" charset="-120"/>
              </a:rPr>
              <a:t>5</a:t>
            </a:r>
            <a:endParaRPr lang="en-US" sz="1200" dirty="0"/>
          </a:p>
        </p:txBody>
      </p:sp>
      <p:sp>
        <p:nvSpPr>
          <p:cNvPr id="27" name="Text 25"/>
          <p:cNvSpPr/>
          <p:nvPr/>
        </p:nvSpPr>
        <p:spPr>
          <a:xfrm>
            <a:off x="4279900" y="5242768"/>
            <a:ext cx="318522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ISC2 CC, 2026</a:t>
            </a:r>
            <a:endParaRPr lang="en-US" sz="1200" dirty="0"/>
          </a:p>
        </p:txBody>
      </p:sp>
      <p:sp>
        <p:nvSpPr>
          <p:cNvPr id="28" name="Text 26"/>
          <p:cNvSpPr/>
          <p:nvPr/>
        </p:nvSpPr>
        <p:spPr>
          <a:xfrm>
            <a:off x="7725283" y="1781770"/>
            <a:ext cx="3361817"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العنوان</a:t>
            </a:r>
            <a:r>
              <a:rPr lang="ar-SA" sz="1200" dirty="0" altLang="en-US">
                <a:solidFill>
                  <a:srgbClr val="172433"/>
                </a:solidFill>
                <a:latin typeface="IBM Plex Sans Arabic" pitchFamily="34" charset="0"/>
                <a:ea typeface="IBM Plex Sans Arabic" pitchFamily="34" charset="-122"/>
                <a:cs typeface="IBM Plex Sans Arabic" pitchFamily="34" charset="-120"/>
              </a:rPr>
              <a:t> نفس مسمى الوظيفة التي تستهدفها.</a:t>
            </a:r>
            <a:endParaRPr lang="ar-SA" sz="1200" dirty="0" altLang="en-US"/>
          </a:p>
        </p:txBody>
      </p:sp>
      <p:sp>
        <p:nvSpPr>
          <p:cNvPr id="29" name="Text 27"/>
          <p:cNvSpPr/>
          <p:nvPr/>
        </p:nvSpPr>
        <p:spPr>
          <a:xfrm>
            <a:off x="11163300" y="1781770"/>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1</a:t>
            </a:r>
            <a:endParaRPr lang="en-US" sz="1200" dirty="0"/>
          </a:p>
        </p:txBody>
      </p:sp>
      <p:sp>
        <p:nvSpPr>
          <p:cNvPr id="30" name="Text 28"/>
          <p:cNvSpPr/>
          <p:nvPr/>
        </p:nvSpPr>
        <p:spPr>
          <a:xfrm>
            <a:off x="7725283" y="2078930"/>
            <a:ext cx="3361817"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ملخص</a:t>
            </a:r>
            <a:r>
              <a:rPr lang="ar-SA" sz="1200" dirty="0" altLang="en-US">
                <a:solidFill>
                  <a:srgbClr val="172433"/>
                </a:solidFill>
                <a:latin typeface="IBM Plex Sans Arabic" pitchFamily="34" charset="0"/>
                <a:ea typeface="IBM Plex Sans Arabic" pitchFamily="34" charset="-122"/>
                <a:cs typeface="IBM Plex Sans Arabic" pitchFamily="34" charset="-120"/>
              </a:rPr>
              <a:t> في سطرين: من أنت، وماذا تجيد، وأقوى دليل.</a:t>
            </a:r>
            <a:endParaRPr lang="ar-SA" sz="1200" dirty="0" altLang="en-US"/>
          </a:p>
        </p:txBody>
      </p:sp>
      <p:sp>
        <p:nvSpPr>
          <p:cNvPr id="31" name="Text 29"/>
          <p:cNvSpPr/>
          <p:nvPr/>
        </p:nvSpPr>
        <p:spPr>
          <a:xfrm>
            <a:off x="11163300" y="2078930"/>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2</a:t>
            </a:r>
            <a:endParaRPr lang="en-US" sz="1200" dirty="0"/>
          </a:p>
        </p:txBody>
      </p:sp>
      <p:sp>
        <p:nvSpPr>
          <p:cNvPr id="32" name="Text 30"/>
          <p:cNvSpPr/>
          <p:nvPr/>
        </p:nvSpPr>
        <p:spPr>
          <a:xfrm>
            <a:off x="7725283" y="2376091"/>
            <a:ext cx="3361817"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المهارات</a:t>
            </a:r>
            <a:r>
              <a:rPr lang="ar-SA" sz="1200" dirty="0" altLang="en-US">
                <a:solidFill>
                  <a:srgbClr val="172433"/>
                </a:solidFill>
                <a:latin typeface="IBM Plex Sans Arabic" pitchFamily="34" charset="0"/>
                <a:ea typeface="IBM Plex Sans Arabic" pitchFamily="34" charset="-122"/>
                <a:cs typeface="IBM Plex Sans Arabic" pitchFamily="34" charset="-120"/>
              </a:rPr>
              <a:t> بكلمات الإعلان نفسها.</a:t>
            </a:r>
            <a:endParaRPr lang="ar-SA" sz="1200" dirty="0" altLang="en-US"/>
          </a:p>
        </p:txBody>
      </p:sp>
      <p:sp>
        <p:nvSpPr>
          <p:cNvPr id="33" name="Text 31"/>
          <p:cNvSpPr/>
          <p:nvPr/>
        </p:nvSpPr>
        <p:spPr>
          <a:xfrm>
            <a:off x="11163300" y="2376091"/>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3</a:t>
            </a:r>
            <a:endParaRPr lang="en-US" sz="1200" dirty="0"/>
          </a:p>
        </p:txBody>
      </p:sp>
      <p:sp>
        <p:nvSpPr>
          <p:cNvPr id="34" name="Text 32"/>
          <p:cNvSpPr/>
          <p:nvPr/>
        </p:nvSpPr>
        <p:spPr>
          <a:xfrm>
            <a:off x="7725283" y="2673251"/>
            <a:ext cx="336181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المشاريع</a:t>
            </a:r>
            <a:r>
              <a:rPr lang="ar-SA" sz="1200" dirty="0" altLang="en-US">
                <a:solidFill>
                  <a:srgbClr val="172433"/>
                </a:solidFill>
                <a:latin typeface="IBM Plex Sans Arabic" pitchFamily="34" charset="0"/>
                <a:ea typeface="IBM Plex Sans Arabic" pitchFamily="34" charset="-122"/>
                <a:cs typeface="IBM Plex Sans Arabic" pitchFamily="34" charset="-120"/>
              </a:rPr>
              <a:t> قبل التعليم إن لم تكن لديك خبرة. كل سطر: فعل ثم نتيجة.</a:t>
            </a:r>
            <a:endParaRPr lang="ar-SA" sz="1200" dirty="0" altLang="en-US"/>
          </a:p>
        </p:txBody>
      </p:sp>
      <p:sp>
        <p:nvSpPr>
          <p:cNvPr id="35" name="Text 33"/>
          <p:cNvSpPr/>
          <p:nvPr/>
        </p:nvSpPr>
        <p:spPr>
          <a:xfrm>
            <a:off x="11163300" y="2673251"/>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4</a:t>
            </a:r>
            <a:endParaRPr lang="en-US" sz="1200" dirty="0"/>
          </a:p>
        </p:txBody>
      </p:sp>
      <p:sp>
        <p:nvSpPr>
          <p:cNvPr id="36" name="Text 34"/>
          <p:cNvSpPr/>
          <p:nvPr/>
        </p:nvSpPr>
        <p:spPr>
          <a:xfrm>
            <a:off x="7725283" y="3191371"/>
            <a:ext cx="336181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الشهادات</a:t>
            </a:r>
            <a:r>
              <a:rPr lang="ar-SA" sz="1200" dirty="0" altLang="en-US">
                <a:solidFill>
                  <a:srgbClr val="172433"/>
                </a:solidFill>
                <a:latin typeface="IBM Plex Sans Arabic" pitchFamily="34" charset="0"/>
                <a:ea typeface="IBM Plex Sans Arabic" pitchFamily="34" charset="-122"/>
                <a:cs typeface="IBM Plex Sans Arabic" pitchFamily="34" charset="-120"/>
              </a:rPr>
              <a:t> باسمها والسنة. «قيد الدراسة» مع موعد متوقع مقبولة.</a:t>
            </a:r>
            <a:endParaRPr lang="ar-SA" sz="1200" dirty="0" altLang="en-US"/>
          </a:p>
        </p:txBody>
      </p:sp>
      <p:sp>
        <p:nvSpPr>
          <p:cNvPr id="37" name="Text 35"/>
          <p:cNvSpPr/>
          <p:nvPr/>
        </p:nvSpPr>
        <p:spPr>
          <a:xfrm>
            <a:off x="11163300" y="3191371"/>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5</a:t>
            </a:r>
            <a:endParaRPr lang="en-US" sz="1200" dirty="0"/>
          </a:p>
        </p:txBody>
      </p:sp>
      <p:sp>
        <p:nvSpPr>
          <p:cNvPr id="38" name="Shape 36"/>
          <p:cNvSpPr/>
          <p:nvPr/>
        </p:nvSpPr>
        <p:spPr>
          <a:xfrm>
            <a:off x="7823200" y="3709491"/>
            <a:ext cx="3556000" cy="594320"/>
          </a:xfrm>
          <a:prstGeom prst="roundRect">
            <a:avLst>
              <a:gd name="adj" fmla="val 12821"/>
            </a:avLst>
          </a:prstGeom>
          <a:solidFill>
            <a:srgbClr val="172433"/>
          </a:solidFill>
          <a:ln/>
        </p:spPr>
      </p:sp>
      <p:sp>
        <p:nvSpPr>
          <p:cNvPr id="39" name="Text 37"/>
          <p:cNvSpPr/>
          <p:nvPr/>
        </p:nvSpPr>
        <p:spPr>
          <a:xfrm>
            <a:off x="7831836" y="3785691"/>
            <a:ext cx="3191764"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صفحة واحدة للمبتدئ. بلا صورة ولا عمر ولا حالة اجتماعية، إلا إن طلبها الإعلان.</a:t>
            </a:r>
            <a:endParaRPr lang="ar-SA" sz="1200" dirty="0" altLang="en-US"/>
          </a:p>
        </p:txBody>
      </p:sp>
      <p:pic>
        <p:nvPicPr>
          <p:cNvPr id="40" name="Image 0" descr="Book">    </p:cNvPr>
          <p:cNvPicPr>
            <a:picLocks noChangeAspect="1"/>
          </p:cNvPicPr>
          <p:nvPr/>
        </p:nvPicPr>
        <p:blipFill>
          <a:blip r:embed="rId1"/>
          <a:srcRect l="0" r="0" t="0" b="0"/>
          <a:stretch/>
        </p:blipFill>
        <p:spPr>
          <a:xfrm>
            <a:off x="11099800" y="3785691"/>
            <a:ext cx="177800" cy="177800"/>
          </a:xfrm>
          <a:prstGeom prst="rect">
            <a:avLst/>
          </a:prstGeom>
        </p:spPr>
      </p:pic>
      <p:sp>
        <p:nvSpPr>
          <p:cNvPr id="41" name="Text 38"/>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44</a:t>
            </a:r>
            <a:endParaRPr lang="en-US" sz="1200" dirty="0"/>
          </a:p>
        </p:txBody>
      </p:sp>
      <p:sp>
        <p:nvSpPr>
          <p:cNvPr id="42" name="Text 39"/>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06 · السيرة الذاتية</a:t>
            </a:r>
            <a:endParaRPr lang="ar-SA" sz="1200" dirty="0"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789807" cy="289520"/>
          </a:xfrm>
          <a:custGeom>
            <a:avLst/>
            <a:gdLst/>
            <a:ahLst/>
            <a:cxnLst/>
            <a:rect l="l" t="t" r="r" b="b"/>
            <a:pathLst>
              <a:path w="1789807" h="289520">
                <a:moveTo>
                  <a:pt x="144760" y="0"/>
                </a:moveTo>
                <a:lnTo>
                  <a:pt x="1645047" y="0"/>
                </a:lnTo>
                <a:arcTo hR="144760" wR="144760" stAng="16200000" swAng="5400000"/>
                <a:lnTo>
                  <a:pt x="178980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06 · السيرة الذاتية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أنظمة الفرز (ATS): أول قارئ لسيرتك آلة</a:t>
            </a:r>
            <a:endParaRPr lang="ar-SA" sz="3000" dirty="0" altLang="en-US"/>
          </a:p>
        </p:txBody>
      </p:sp>
      <p:sp>
        <p:nvSpPr>
          <p:cNvPr id="5" name="Shape 3"/>
          <p:cNvSpPr/>
          <p:nvPr/>
        </p:nvSpPr>
        <p:spPr>
          <a:xfrm>
            <a:off x="815975" y="1835745"/>
            <a:ext cx="1874490" cy="618480"/>
          </a:xfrm>
          <a:prstGeom prst="roundRect">
            <a:avLst>
              <a:gd name="adj" fmla="val 11807"/>
            </a:avLst>
          </a:prstGeom>
          <a:solidFill>
            <a:srgbClr val="E3F1ED"/>
          </a:solidFill>
          <a:ln w="6350">
            <a:solidFill>
              <a:srgbClr val="0E7C6B"/>
            </a:solidFill>
            <a:prstDash val="solid"/>
          </a:ln>
        </p:spPr>
      </p:sp>
      <p:pic>
        <p:nvPicPr>
          <p:cNvPr id="6" name="Image 0" descr="Users">    </p:cNvPr>
          <p:cNvPicPr>
            <a:picLocks noChangeAspect="1"/>
          </p:cNvPicPr>
          <p:nvPr/>
        </p:nvPicPr>
        <p:blipFill>
          <a:blip r:embed="rId1"/>
          <a:srcRect l="0" r="0" t="0" b="0"/>
          <a:stretch/>
        </p:blipFill>
        <p:spPr>
          <a:xfrm>
            <a:off x="1657945" y="1927820"/>
            <a:ext cx="190500" cy="190500"/>
          </a:xfrm>
          <a:prstGeom prst="rect">
            <a:avLst/>
          </a:prstGeom>
        </p:spPr>
      </p:pic>
      <p:sp>
        <p:nvSpPr>
          <p:cNvPr id="7" name="Text 4"/>
          <p:cNvSpPr/>
          <p:nvPr/>
        </p:nvSpPr>
        <p:spPr>
          <a:xfrm>
            <a:off x="1067395" y="2156420"/>
            <a:ext cx="1371600" cy="231130"/>
          </a:xfrm>
          <a:prstGeom prst="rect">
            <a:avLst/>
          </a:prstGeom>
          <a:noFill/>
          <a:ln/>
        </p:spPr>
        <p:txBody>
          <a:bodyPr wrap="square" lIns="0" tIns="0" rIns="0" bIns="0" rtlCol="0" anchor="t">
            <a:normAutofit/>
          </a:bodyPr>
          <a:lstStyle/>
          <a:p>
            <a:pPr algn="ct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يقرأ موظف التوظيف</a:t>
            </a:r>
            <a:endParaRPr lang="ar-SA" sz="1200" dirty="0" altLang="en-US"/>
          </a:p>
        </p:txBody>
      </p:sp>
      <p:sp>
        <p:nvSpPr>
          <p:cNvPr id="8" name="Text 5"/>
          <p:cNvSpPr/>
          <p:nvPr/>
        </p:nvSpPr>
        <p:spPr>
          <a:xfrm>
            <a:off x="2706340" y="2056061"/>
            <a:ext cx="214313" cy="203200"/>
          </a:xfrm>
          <a:prstGeom prst="rect">
            <a:avLst/>
          </a:prstGeom>
          <a:noFill/>
          <a:ln/>
        </p:spPr>
        <p:txBody>
          <a:bodyPr wrap="square" lIns="0" tIns="0" rIns="0" bIns="0" rtlCol="0" anchor="t">
            <a:normAutofit/>
          </a:bodyPr>
          <a:lstStyle/>
          <a:p>
            <a:pPr algn="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9" name="Shape 6"/>
          <p:cNvSpPr/>
          <p:nvPr/>
        </p:nvSpPr>
        <p:spPr>
          <a:xfrm>
            <a:off x="2987328" y="1835745"/>
            <a:ext cx="1874540" cy="618480"/>
          </a:xfrm>
          <a:prstGeom prst="roundRect">
            <a:avLst>
              <a:gd name="adj" fmla="val 11807"/>
            </a:avLst>
          </a:prstGeom>
          <a:solidFill>
            <a:srgbClr val="FFFDF8"/>
          </a:solidFill>
          <a:ln w="6350">
            <a:solidFill>
              <a:srgbClr val="E1DBCD"/>
            </a:solidFill>
            <a:prstDash val="solid"/>
          </a:ln>
        </p:spPr>
      </p:sp>
      <p:pic>
        <p:nvPicPr>
          <p:cNvPr id="10" name="Image 1" descr="Chart">    </p:cNvPr>
          <p:cNvPicPr>
            <a:picLocks noChangeAspect="1"/>
          </p:cNvPicPr>
          <p:nvPr/>
        </p:nvPicPr>
        <p:blipFill>
          <a:blip r:embed="rId2"/>
          <a:srcRect l="0" r="0" t="0" b="0"/>
          <a:stretch/>
        </p:blipFill>
        <p:spPr>
          <a:xfrm>
            <a:off x="3829348" y="1927820"/>
            <a:ext cx="190500" cy="190500"/>
          </a:xfrm>
          <a:prstGeom prst="rect">
            <a:avLst/>
          </a:prstGeom>
        </p:spPr>
      </p:pic>
      <p:sp>
        <p:nvSpPr>
          <p:cNvPr id="11" name="Text 7"/>
          <p:cNvSpPr/>
          <p:nvPr/>
        </p:nvSpPr>
        <p:spPr>
          <a:xfrm>
            <a:off x="3400365" y="2156420"/>
            <a:ext cx="1048464" cy="231130"/>
          </a:xfrm>
          <a:prstGeom prst="rect">
            <a:avLst/>
          </a:prstGeom>
          <a:noFill/>
          <a:ln/>
        </p:spPr>
        <p:txBody>
          <a:bodyPr wrap="square" lIns="0" tIns="0" rIns="0" bIns="0" rtlCol="0" anchor="t">
            <a:normAutofit/>
          </a:bodyPr>
          <a:lstStyle/>
          <a:p>
            <a:pPr algn="ct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يرتب المتقدمين</a:t>
            </a:r>
            <a:endParaRPr lang="ar-SA" sz="1200" dirty="0" altLang="en-US"/>
          </a:p>
        </p:txBody>
      </p:sp>
      <p:sp>
        <p:nvSpPr>
          <p:cNvPr id="12" name="Text 8"/>
          <p:cNvSpPr/>
          <p:nvPr/>
        </p:nvSpPr>
        <p:spPr>
          <a:xfrm>
            <a:off x="4877743" y="2056061"/>
            <a:ext cx="214313" cy="203200"/>
          </a:xfrm>
          <a:prstGeom prst="rect">
            <a:avLst/>
          </a:prstGeom>
          <a:noFill/>
          <a:ln/>
        </p:spPr>
        <p:txBody>
          <a:bodyPr wrap="square" lIns="0" tIns="0" rIns="0" bIns="0" rtlCol="0" anchor="t">
            <a:normAutofit/>
          </a:bodyPr>
          <a:lstStyle/>
          <a:p>
            <a:pPr algn="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13" name="Shape 9"/>
          <p:cNvSpPr/>
          <p:nvPr/>
        </p:nvSpPr>
        <p:spPr>
          <a:xfrm>
            <a:off x="5158730" y="1835745"/>
            <a:ext cx="1874490" cy="618480"/>
          </a:xfrm>
          <a:prstGeom prst="roundRect">
            <a:avLst>
              <a:gd name="adj" fmla="val 11807"/>
            </a:avLst>
          </a:prstGeom>
          <a:solidFill>
            <a:srgbClr val="FFFDF8"/>
          </a:solidFill>
          <a:ln w="6350">
            <a:solidFill>
              <a:srgbClr val="E1DBCD"/>
            </a:solidFill>
            <a:prstDash val="solid"/>
          </a:ln>
        </p:spPr>
      </p:sp>
      <p:pic>
        <p:nvPicPr>
          <p:cNvPr id="14" name="Image 2" descr="Search">    </p:cNvPr>
          <p:cNvPicPr>
            <a:picLocks noChangeAspect="1"/>
          </p:cNvPicPr>
          <p:nvPr/>
        </p:nvPicPr>
        <p:blipFill>
          <a:blip r:embed="rId3"/>
          <a:srcRect l="0" r="0" t="0" b="0"/>
          <a:stretch/>
        </p:blipFill>
        <p:spPr>
          <a:xfrm>
            <a:off x="6000700" y="1927820"/>
            <a:ext cx="190500" cy="190500"/>
          </a:xfrm>
          <a:prstGeom prst="rect">
            <a:avLst/>
          </a:prstGeom>
        </p:spPr>
      </p:pic>
      <p:sp>
        <p:nvSpPr>
          <p:cNvPr id="15" name="Text 10"/>
          <p:cNvSpPr/>
          <p:nvPr/>
        </p:nvSpPr>
        <p:spPr>
          <a:xfrm>
            <a:off x="5422052" y="2156420"/>
            <a:ext cx="1347847" cy="231130"/>
          </a:xfrm>
          <a:prstGeom prst="rect">
            <a:avLst/>
          </a:prstGeom>
          <a:noFill/>
          <a:ln/>
        </p:spPr>
        <p:txBody>
          <a:bodyPr wrap="square" lIns="0" tIns="0" rIns="0" bIns="0" rtlCol="0" anchor="t">
            <a:normAutofit/>
          </a:bodyPr>
          <a:lstStyle/>
          <a:p>
            <a:pPr algn="ct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يطابق كلمات الإعلان</a:t>
            </a:r>
            <a:endParaRPr lang="ar-SA" sz="1200" dirty="0" altLang="en-US"/>
          </a:p>
        </p:txBody>
      </p:sp>
      <p:sp>
        <p:nvSpPr>
          <p:cNvPr id="16" name="Text 11"/>
          <p:cNvSpPr/>
          <p:nvPr/>
        </p:nvSpPr>
        <p:spPr>
          <a:xfrm>
            <a:off x="7049095" y="2056061"/>
            <a:ext cx="214313" cy="203200"/>
          </a:xfrm>
          <a:prstGeom prst="rect">
            <a:avLst/>
          </a:prstGeom>
          <a:noFill/>
          <a:ln/>
        </p:spPr>
        <p:txBody>
          <a:bodyPr wrap="square" lIns="0" tIns="0" rIns="0" bIns="0" rtlCol="0" anchor="t">
            <a:normAutofit/>
          </a:bodyPr>
          <a:lstStyle/>
          <a:p>
            <a:pPr algn="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17" name="Shape 12"/>
          <p:cNvSpPr/>
          <p:nvPr/>
        </p:nvSpPr>
        <p:spPr>
          <a:xfrm>
            <a:off x="7330083" y="1835745"/>
            <a:ext cx="1874540" cy="618480"/>
          </a:xfrm>
          <a:prstGeom prst="roundRect">
            <a:avLst>
              <a:gd name="adj" fmla="val 11807"/>
            </a:avLst>
          </a:prstGeom>
          <a:solidFill>
            <a:srgbClr val="FFFDF8"/>
          </a:solidFill>
          <a:ln w="6350">
            <a:solidFill>
              <a:srgbClr val="E1DBCD"/>
            </a:solidFill>
            <a:prstDash val="solid"/>
          </a:ln>
        </p:spPr>
      </p:sp>
      <p:pic>
        <p:nvPicPr>
          <p:cNvPr id="18" name="Image 3" descr="Code">    </p:cNvPr>
          <p:cNvPicPr>
            <a:picLocks noChangeAspect="1"/>
          </p:cNvPicPr>
          <p:nvPr/>
        </p:nvPicPr>
        <p:blipFill>
          <a:blip r:embed="rId4"/>
          <a:srcRect l="0" r="0" t="0" b="0"/>
          <a:stretch/>
        </p:blipFill>
        <p:spPr>
          <a:xfrm>
            <a:off x="8172103" y="1927820"/>
            <a:ext cx="190500" cy="190500"/>
          </a:xfrm>
          <a:prstGeom prst="rect">
            <a:avLst/>
          </a:prstGeom>
        </p:spPr>
      </p:pic>
      <p:sp>
        <p:nvSpPr>
          <p:cNvPr id="19" name="Text 13"/>
          <p:cNvSpPr/>
          <p:nvPr/>
        </p:nvSpPr>
        <p:spPr>
          <a:xfrm>
            <a:off x="7783899" y="2156420"/>
            <a:ext cx="966907" cy="231130"/>
          </a:xfrm>
          <a:prstGeom prst="rect">
            <a:avLst/>
          </a:prstGeom>
          <a:noFill/>
          <a:ln/>
        </p:spPr>
        <p:txBody>
          <a:bodyPr wrap="square" lIns="0" tIns="0" rIns="0" bIns="0" rtlCol="0" anchor="t">
            <a:normAutofit/>
          </a:bodyPr>
          <a:lstStyle/>
          <a:p>
            <a:pPr algn="ct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يستخرج النص</a:t>
            </a:r>
            <a:endParaRPr lang="ar-SA" sz="1200" dirty="0" altLang="en-US"/>
          </a:p>
        </p:txBody>
      </p:sp>
      <p:sp>
        <p:nvSpPr>
          <p:cNvPr id="20" name="Text 14"/>
          <p:cNvSpPr/>
          <p:nvPr/>
        </p:nvSpPr>
        <p:spPr>
          <a:xfrm>
            <a:off x="9220498" y="2056061"/>
            <a:ext cx="214313" cy="203200"/>
          </a:xfrm>
          <a:prstGeom prst="rect">
            <a:avLst/>
          </a:prstGeom>
          <a:noFill/>
          <a:ln/>
        </p:spPr>
        <p:txBody>
          <a:bodyPr wrap="square" lIns="0" tIns="0" rIns="0" bIns="0" rtlCol="0" anchor="t">
            <a:normAutofit/>
          </a:bodyPr>
          <a:lstStyle/>
          <a:p>
            <a:pPr algn="r" indent="0" marL="0">
              <a:lnSpc>
                <a:spcPts val="1400"/>
              </a:lnSpc>
              <a:buNone/>
            </a:pPr>
            <a:r>
              <a:rPr lang="en-US" sz="1400" dirty="0">
                <a:solidFill>
                  <a:srgbClr val="93A3B1"/>
                </a:solidFill>
                <a:latin typeface="IBM Plex Sans Arabic" pitchFamily="34" charset="0"/>
                <a:ea typeface="IBM Plex Sans Arabic" pitchFamily="34" charset="-122"/>
                <a:cs typeface="IBM Plex Sans Arabic" pitchFamily="34" charset="-120"/>
              </a:rPr>
              <a:t>←</a:t>
            </a:r>
            <a:endParaRPr lang="en-US" sz="1400" dirty="0"/>
          </a:p>
        </p:txBody>
      </p:sp>
      <p:sp>
        <p:nvSpPr>
          <p:cNvPr id="21" name="Shape 15"/>
          <p:cNvSpPr/>
          <p:nvPr/>
        </p:nvSpPr>
        <p:spPr>
          <a:xfrm>
            <a:off x="9501485" y="1835745"/>
            <a:ext cx="1874540" cy="618480"/>
          </a:xfrm>
          <a:prstGeom prst="roundRect">
            <a:avLst>
              <a:gd name="adj" fmla="val 11807"/>
            </a:avLst>
          </a:prstGeom>
          <a:solidFill>
            <a:srgbClr val="FFFDF8"/>
          </a:solidFill>
          <a:ln w="6350">
            <a:solidFill>
              <a:srgbClr val="E1DBCD"/>
            </a:solidFill>
            <a:prstDash val="solid"/>
          </a:ln>
        </p:spPr>
      </p:sp>
      <p:pic>
        <p:nvPicPr>
          <p:cNvPr id="22" name="Image 4" descr="PaperPlane">    </p:cNvPr>
          <p:cNvPicPr>
            <a:picLocks noChangeAspect="1"/>
          </p:cNvPicPr>
          <p:nvPr/>
        </p:nvPicPr>
        <p:blipFill>
          <a:blip r:embed="rId5"/>
          <a:srcRect l="0" r="0" t="0" b="0"/>
          <a:stretch/>
        </p:blipFill>
        <p:spPr>
          <a:xfrm>
            <a:off x="10343505" y="1927820"/>
            <a:ext cx="190500" cy="190500"/>
          </a:xfrm>
          <a:prstGeom prst="rect">
            <a:avLst/>
          </a:prstGeom>
        </p:spPr>
      </p:pic>
      <p:sp>
        <p:nvSpPr>
          <p:cNvPr id="23" name="Text 16"/>
          <p:cNvSpPr/>
          <p:nvPr/>
        </p:nvSpPr>
        <p:spPr>
          <a:xfrm>
            <a:off x="10017929" y="2156420"/>
            <a:ext cx="841653" cy="231130"/>
          </a:xfrm>
          <a:prstGeom prst="rect">
            <a:avLst/>
          </a:prstGeom>
          <a:noFill/>
          <a:ln/>
        </p:spPr>
        <p:txBody>
          <a:bodyPr wrap="square" lIns="0" tIns="0" rIns="0" bIns="0" rtlCol="0" anchor="t">
            <a:normAutofit/>
          </a:bodyPr>
          <a:lstStyle/>
          <a:p>
            <a:pPr algn="ctr" indent="0" marL="0" rtl="1">
              <a:lnSpc>
                <a:spcPts val="162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ترسل السيرة</a:t>
            </a:r>
            <a:endParaRPr lang="ar-SA" sz="1200" dirty="0" altLang="en-US"/>
          </a:p>
        </p:txBody>
      </p:sp>
      <p:sp>
        <p:nvSpPr>
          <p:cNvPr id="24" name="Shape 17"/>
          <p:cNvSpPr/>
          <p:nvPr/>
        </p:nvSpPr>
        <p:spPr>
          <a:xfrm>
            <a:off x="812800" y="2635200"/>
            <a:ext cx="3412034" cy="1882031"/>
          </a:xfrm>
          <a:prstGeom prst="roundRect">
            <a:avLst>
              <a:gd name="adj" fmla="val 4724"/>
            </a:avLst>
          </a:prstGeom>
          <a:solidFill>
            <a:srgbClr val="172433"/>
          </a:solidFill>
          <a:ln/>
        </p:spPr>
      </p:sp>
      <p:sp>
        <p:nvSpPr>
          <p:cNvPr id="25" name="Text 18"/>
          <p:cNvSpPr/>
          <p:nvPr/>
        </p:nvSpPr>
        <p:spPr>
          <a:xfrm>
            <a:off x="885445" y="2774900"/>
            <a:ext cx="3174289"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F2C46D"/>
                </a:solidFill>
                <a:latin typeface="Readex Pro" pitchFamily="34" charset="0"/>
                <a:ea typeface="Readex Pro" pitchFamily="34" charset="-122"/>
                <a:cs typeface="Readex Pro" pitchFamily="34" charset="-120"/>
              </a:rPr>
              <a:t>تمرين المطابقة</a:t>
            </a:r>
            <a:endParaRPr lang="ar-SA" sz="1400" dirty="0" altLang="en-US"/>
          </a:p>
        </p:txBody>
      </p:sp>
      <p:sp>
        <p:nvSpPr>
          <p:cNvPr id="26" name="Text 19"/>
          <p:cNvSpPr/>
          <p:nvPr/>
        </p:nvSpPr>
        <p:spPr>
          <a:xfrm>
            <a:off x="977900" y="3069530"/>
            <a:ext cx="3174289"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9E2E6"/>
                </a:solidFill>
                <a:latin typeface="IBM Plex Sans Arabic" pitchFamily="34" charset="0"/>
                <a:ea typeface="IBM Plex Sans Arabic" pitchFamily="34" charset="-122"/>
                <a:cs typeface="IBM Plex Sans Arabic" pitchFamily="34" charset="-120"/>
              </a:rPr>
              <a:t>Conduct </a:t>
            </a:r>
            <a:r>
              <a:rPr lang="en-US" sz="1200" b="1" u="sng" dirty="0">
                <a:solidFill>
                  <a:srgbClr val="F2C46D"/>
                </a:solidFill>
                <a:latin typeface="IBM Plex Sans Arabic" pitchFamily="34" charset="0"/>
                <a:ea typeface="IBM Plex Sans Arabic" pitchFamily="34" charset="-122"/>
                <a:cs typeface="IBM Plex Sans Arabic" pitchFamily="34" charset="-120"/>
              </a:rPr>
              <a:t>risk assessments</a:t>
            </a:r>
            <a:r>
              <a:rPr lang="en-US" sz="1200" dirty="0">
                <a:solidFill>
                  <a:srgbClr val="D9E2E6"/>
                </a:solidFill>
                <a:latin typeface="IBM Plex Sans Arabic" pitchFamily="34" charset="0"/>
                <a:ea typeface="IBM Plex Sans Arabic" pitchFamily="34" charset="-122"/>
                <a:cs typeface="IBM Plex Sans Arabic" pitchFamily="34" charset="-120"/>
              </a:rPr>
              <a:t> and support </a:t>
            </a:r>
            <a:r>
              <a:rPr lang="en-US" sz="1200" b="1" u="sng" dirty="0">
                <a:solidFill>
                  <a:srgbClr val="F2C46D"/>
                </a:solidFill>
                <a:latin typeface="IBM Plex Sans Arabic" pitchFamily="34" charset="0"/>
                <a:ea typeface="IBM Plex Sans Arabic" pitchFamily="34" charset="-122"/>
                <a:cs typeface="IBM Plex Sans Arabic" pitchFamily="34" charset="-120"/>
              </a:rPr>
              <a:t>ISO 27001</a:t>
            </a:r>
            <a:r>
              <a:rPr lang="en-US" sz="1200" dirty="0">
                <a:solidFill>
                  <a:srgbClr val="D9E2E6"/>
                </a:solidFill>
                <a:latin typeface="IBM Plex Sans Arabic" pitchFamily="34" charset="0"/>
                <a:ea typeface="IBM Plex Sans Arabic" pitchFamily="34" charset="-122"/>
                <a:cs typeface="IBM Plex Sans Arabic" pitchFamily="34" charset="-120"/>
              </a:rPr>
              <a:t> and </a:t>
            </a:r>
            <a:r>
              <a:rPr lang="en-US" sz="1200" b="1" u="sng" dirty="0">
                <a:solidFill>
                  <a:srgbClr val="F2C46D"/>
                </a:solidFill>
                <a:latin typeface="IBM Plex Sans Arabic" pitchFamily="34" charset="0"/>
                <a:ea typeface="IBM Plex Sans Arabic" pitchFamily="34" charset="-122"/>
                <a:cs typeface="IBM Plex Sans Arabic" pitchFamily="34" charset="-120"/>
              </a:rPr>
              <a:t>NCA ECC</a:t>
            </a:r>
            <a:r>
              <a:rPr lang="en-US" sz="1200" dirty="0">
                <a:solidFill>
                  <a:srgbClr val="D9E2E6"/>
                </a:solidFill>
                <a:latin typeface="IBM Plex Sans Arabic" pitchFamily="34" charset="0"/>
                <a:ea typeface="IBM Plex Sans Arabic" pitchFamily="34" charset="-122"/>
                <a:cs typeface="IBM Plex Sans Arabic" pitchFamily="34" charset="-120"/>
              </a:rPr>
              <a:t> compliance. Maintain </a:t>
            </a:r>
            <a:r>
              <a:rPr lang="en-US" sz="1200" b="1" u="sng" dirty="0">
                <a:solidFill>
                  <a:srgbClr val="F2C46D"/>
                </a:solidFill>
                <a:latin typeface="IBM Plex Sans Arabic" pitchFamily="34" charset="0"/>
                <a:ea typeface="IBM Plex Sans Arabic" pitchFamily="34" charset="-122"/>
                <a:cs typeface="IBM Plex Sans Arabic" pitchFamily="34" charset="-120"/>
              </a:rPr>
              <a:t>policies</a:t>
            </a:r>
            <a:r>
              <a:rPr lang="en-US" sz="1200" dirty="0">
                <a:solidFill>
                  <a:srgbClr val="D9E2E6"/>
                </a:solidFill>
                <a:latin typeface="IBM Plex Sans Arabic" pitchFamily="34" charset="0"/>
                <a:ea typeface="IBM Plex Sans Arabic" pitchFamily="34" charset="-122"/>
                <a:cs typeface="IBM Plex Sans Arabic" pitchFamily="34" charset="-120"/>
              </a:rPr>
              <a:t>.</a:t>
            </a:r>
            <a:endParaRPr lang="en-US" sz="1200" dirty="0"/>
          </a:p>
        </p:txBody>
      </p:sp>
      <p:sp>
        <p:nvSpPr>
          <p:cNvPr id="27" name="Text 20"/>
          <p:cNvSpPr/>
          <p:nvPr/>
        </p:nvSpPr>
        <p:spPr>
          <a:xfrm>
            <a:off x="885445" y="3818830"/>
            <a:ext cx="3174289"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ظلّل مصطلحات الإعلان، ثم تأكد أن كل مصطلح صادق عنك موجود في سيرتك.</a:t>
            </a:r>
            <a:endParaRPr lang="ar-SA" sz="1200" dirty="0" altLang="en-US"/>
          </a:p>
        </p:txBody>
      </p:sp>
      <p:sp>
        <p:nvSpPr>
          <p:cNvPr id="28" name="Shape 21"/>
          <p:cNvSpPr/>
          <p:nvPr/>
        </p:nvSpPr>
        <p:spPr>
          <a:xfrm>
            <a:off x="4380409" y="2638375"/>
            <a:ext cx="3418433" cy="1875681"/>
          </a:xfrm>
          <a:prstGeom prst="roundRect">
            <a:avLst>
              <a:gd name="adj" fmla="val 4570"/>
            </a:avLst>
          </a:prstGeom>
          <a:solidFill>
            <a:srgbClr val="FFFDF8"/>
          </a:solidFill>
          <a:ln w="6350">
            <a:solidFill>
              <a:srgbClr val="E1DBCD"/>
            </a:solidFill>
            <a:prstDash val="solid"/>
          </a:ln>
        </p:spPr>
      </p:sp>
      <p:sp>
        <p:nvSpPr>
          <p:cNvPr id="29" name="Text 22"/>
          <p:cNvSpPr/>
          <p:nvPr/>
        </p:nvSpPr>
        <p:spPr>
          <a:xfrm>
            <a:off x="4456227" y="2781250"/>
            <a:ext cx="3174340"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B4412C"/>
                </a:solidFill>
                <a:latin typeface="Readex Pro" pitchFamily="34" charset="0"/>
                <a:ea typeface="Readex Pro" pitchFamily="34" charset="-122"/>
                <a:cs typeface="Readex Pro" pitchFamily="34" charset="-120"/>
              </a:rPr>
              <a:t>تجنب</a:t>
            </a:r>
            <a:endParaRPr lang="ar-SA" sz="1400" dirty="0" altLang="en-US"/>
          </a:p>
        </p:txBody>
      </p:sp>
      <p:sp>
        <p:nvSpPr>
          <p:cNvPr id="30" name="Text 23"/>
          <p:cNvSpPr/>
          <p:nvPr/>
        </p:nvSpPr>
        <p:spPr>
          <a:xfrm>
            <a:off x="4456227" y="3075880"/>
            <a:ext cx="317434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نصوصاً داخل صور أو مربعات نص</a:t>
            </a:r>
            <a:endParaRPr lang="ar-SA" sz="1200" dirty="0" altLang="en-US"/>
          </a:p>
        </p:txBody>
      </p:sp>
      <p:sp>
        <p:nvSpPr>
          <p:cNvPr id="31" name="Text 24"/>
          <p:cNvSpPr/>
          <p:nvPr/>
        </p:nvSpPr>
        <p:spPr>
          <a:xfrm>
            <a:off x="4456227" y="3360341"/>
            <a:ext cx="317434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أعمدة وجداول معقدة للتنسيق</a:t>
            </a:r>
            <a:endParaRPr lang="ar-SA" sz="1200" dirty="0" altLang="en-US"/>
          </a:p>
        </p:txBody>
      </p:sp>
      <p:sp>
        <p:nvSpPr>
          <p:cNvPr id="32" name="Text 25"/>
          <p:cNvSpPr/>
          <p:nvPr/>
        </p:nvSpPr>
        <p:spPr>
          <a:xfrm>
            <a:off x="4456227" y="3644801"/>
            <a:ext cx="317434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أشرطة تقييم المهارات: «Excel ★★★★☆»</a:t>
            </a:r>
            <a:endParaRPr lang="ar-SA" sz="1200" dirty="0" altLang="en-US"/>
          </a:p>
        </p:txBody>
      </p:sp>
      <p:sp>
        <p:nvSpPr>
          <p:cNvPr id="33" name="Text 26"/>
          <p:cNvSpPr/>
          <p:nvPr/>
        </p:nvSpPr>
        <p:spPr>
          <a:xfrm>
            <a:off x="4456227" y="3929261"/>
            <a:ext cx="317434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حشو كلمات مفتاحية لا تعرفها؛ المقابلة ستكشفها</a:t>
            </a:r>
            <a:endParaRPr lang="ar-SA" sz="1200" dirty="0" altLang="en-US"/>
          </a:p>
        </p:txBody>
      </p:sp>
      <p:sp>
        <p:nvSpPr>
          <p:cNvPr id="34" name="Shape 27"/>
          <p:cNvSpPr/>
          <p:nvPr/>
        </p:nvSpPr>
        <p:spPr>
          <a:xfrm>
            <a:off x="7957592" y="2638375"/>
            <a:ext cx="3418433" cy="1875681"/>
          </a:xfrm>
          <a:prstGeom prst="roundRect">
            <a:avLst>
              <a:gd name="adj" fmla="val 4570"/>
            </a:avLst>
          </a:prstGeom>
          <a:solidFill>
            <a:srgbClr val="FFFDF8"/>
          </a:solidFill>
          <a:ln w="6350">
            <a:solidFill>
              <a:srgbClr val="E1DBCD"/>
            </a:solidFill>
            <a:prstDash val="solid"/>
          </a:ln>
        </p:spPr>
      </p:sp>
      <p:sp>
        <p:nvSpPr>
          <p:cNvPr id="35" name="Text 28"/>
          <p:cNvSpPr/>
          <p:nvPr/>
        </p:nvSpPr>
        <p:spPr>
          <a:xfrm>
            <a:off x="8033410" y="2781250"/>
            <a:ext cx="3174340"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0E7C6B"/>
                </a:solidFill>
                <a:latin typeface="Readex Pro" pitchFamily="34" charset="0"/>
                <a:ea typeface="Readex Pro" pitchFamily="34" charset="-122"/>
                <a:cs typeface="Readex Pro" pitchFamily="34" charset="-120"/>
              </a:rPr>
              <a:t>افعل</a:t>
            </a:r>
            <a:endParaRPr lang="ar-SA" sz="1400" dirty="0" altLang="en-US"/>
          </a:p>
        </p:txBody>
      </p:sp>
      <p:sp>
        <p:nvSpPr>
          <p:cNvPr id="36" name="Text 29"/>
          <p:cNvSpPr/>
          <p:nvPr/>
        </p:nvSpPr>
        <p:spPr>
          <a:xfrm>
            <a:off x="8033410" y="3075880"/>
            <a:ext cx="317434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ملف Word أو PDF نصي، لا صورة ممسوحة</a:t>
            </a:r>
            <a:endParaRPr lang="ar-SA" sz="1200" dirty="0" altLang="en-US"/>
          </a:p>
        </p:txBody>
      </p:sp>
      <p:sp>
        <p:nvSpPr>
          <p:cNvPr id="37" name="Text 30"/>
          <p:cNvSpPr/>
          <p:nvPr/>
        </p:nvSpPr>
        <p:spPr>
          <a:xfrm>
            <a:off x="8033410" y="3360341"/>
            <a:ext cx="317434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عناوين قياسية: Experience، Education، Skills</a:t>
            </a:r>
            <a:endParaRPr lang="ar-SA" sz="1200" dirty="0" altLang="en-US"/>
          </a:p>
        </p:txBody>
      </p:sp>
      <p:sp>
        <p:nvSpPr>
          <p:cNvPr id="38" name="Text 31"/>
          <p:cNvSpPr/>
          <p:nvPr/>
        </p:nvSpPr>
        <p:spPr>
          <a:xfrm>
            <a:off x="8033410" y="3644801"/>
            <a:ext cx="317434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نفس مصطلحات الإعلان إن كانت صادقة عنك</a:t>
            </a:r>
            <a:endParaRPr lang="ar-SA" sz="1200" dirty="0" altLang="en-US"/>
          </a:p>
        </p:txBody>
      </p:sp>
      <p:sp>
        <p:nvSpPr>
          <p:cNvPr id="39" name="Text 32"/>
          <p:cNvSpPr/>
          <p:nvPr/>
        </p:nvSpPr>
        <p:spPr>
          <a:xfrm>
            <a:off x="8033410" y="3929261"/>
            <a:ext cx="3174340"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عمود واحد، وخط عادي، ومعلومات الاتصال في متن الصفحة</a:t>
            </a:r>
            <a:endParaRPr lang="ar-SA" sz="1200" dirty="0" altLang="en-US"/>
          </a:p>
        </p:txBody>
      </p:sp>
      <p:sp>
        <p:nvSpPr>
          <p:cNvPr id="40" name="Text 3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45</a:t>
            </a:r>
            <a:endParaRPr lang="en-US" sz="1200" dirty="0"/>
          </a:p>
        </p:txBody>
      </p:sp>
      <p:sp>
        <p:nvSpPr>
          <p:cNvPr id="41" name="Text 3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06 · السيرة الذاتية</a:t>
            </a:r>
            <a:endParaRPr lang="ar-SA" sz="1200" dirty="0"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789807" cy="289520"/>
          </a:xfrm>
          <a:custGeom>
            <a:avLst/>
            <a:gdLst/>
            <a:ahLst/>
            <a:cxnLst/>
            <a:rect l="l" t="t" r="r" b="b"/>
            <a:pathLst>
              <a:path w="1789807" h="289520">
                <a:moveTo>
                  <a:pt x="144760" y="0"/>
                </a:moveTo>
                <a:lnTo>
                  <a:pt x="1645047" y="0"/>
                </a:lnTo>
                <a:arcTo hR="144760" wR="144760" stAng="16200000" swAng="5400000"/>
                <a:lnTo>
                  <a:pt x="178980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06 · السيرة الذاتية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صياغة الإنجاز: قبل وبعد</a:t>
            </a:r>
            <a:endParaRPr lang="ar-SA" sz="3000" dirty="0" altLang="en-US"/>
          </a:p>
        </p:txBody>
      </p:sp>
      <p:sp>
        <p:nvSpPr>
          <p:cNvPr id="5" name="Shape 3"/>
          <p:cNvSpPr/>
          <p:nvPr/>
        </p:nvSpPr>
        <p:spPr>
          <a:xfrm>
            <a:off x="812800" y="1819870"/>
            <a:ext cx="10566400" cy="476250"/>
          </a:xfrm>
          <a:prstGeom prst="roundRect">
            <a:avLst>
              <a:gd name="adj" fmla="val 18667"/>
            </a:avLst>
          </a:prstGeom>
          <a:solidFill>
            <a:srgbClr val="172433"/>
          </a:solidFill>
          <a:ln/>
        </p:spPr>
      </p:sp>
      <p:sp>
        <p:nvSpPr>
          <p:cNvPr id="6" name="Text 4"/>
          <p:cNvSpPr/>
          <p:nvPr/>
        </p:nvSpPr>
        <p:spPr>
          <a:xfrm>
            <a:off x="977900" y="1921470"/>
            <a:ext cx="1070322" cy="273050"/>
          </a:xfrm>
          <a:prstGeom prst="roundRect">
            <a:avLst>
              <a:gd name="adj" fmla="val 18605"/>
            </a:avLst>
          </a:prstGeom>
          <a:solidFill>
            <a:srgbClr val="F2C46D"/>
          </a:solidFill>
          <a:ln/>
        </p:spPr>
        <p:txBody>
          <a:bodyPr wrap="none" lIns="0" tIns="0" rIns="0" bIns="0" rtlCol="0" anchor="ctr">
            <a:normAutofit/>
          </a:bodyPr>
          <a:lstStyle/>
          <a:p>
            <a:pPr algn="ct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النتيجة أو الرقم</a:t>
            </a:r>
            <a:endParaRPr lang="ar-SA" sz="1250" dirty="0" altLang="en-US"/>
          </a:p>
        </p:txBody>
      </p:sp>
      <p:sp>
        <p:nvSpPr>
          <p:cNvPr id="7" name="Text 5"/>
          <p:cNvSpPr/>
          <p:nvPr/>
        </p:nvSpPr>
        <p:spPr>
          <a:xfrm>
            <a:off x="2073622" y="1938933"/>
            <a:ext cx="146050" cy="263525"/>
          </a:xfrm>
          <a:prstGeom prst="rect">
            <a:avLst/>
          </a:prstGeom>
          <a:noFill/>
          <a:ln/>
        </p:spPr>
        <p:txBody>
          <a:bodyPr wrap="square" lIns="0" tIns="0" rIns="0" bIns="0" rtlCol="0" anchor="t">
            <a:normAutofit/>
          </a:bodyPr>
          <a:lstStyle/>
          <a:p>
            <a:pPr algn="r" indent="0" marL="0">
              <a:lnSpc>
                <a:spcPts val="1875"/>
              </a:lnSpc>
              <a:buNone/>
            </a:pPr>
            <a:r>
              <a:rPr lang="en-US" sz="1250" dirty="0">
                <a:solidFill>
                  <a:srgbClr val="93A3B1"/>
                </a:solidFill>
                <a:latin typeface="IBM Plex Sans Arabic" pitchFamily="34" charset="0"/>
                <a:ea typeface="IBM Plex Sans Arabic" pitchFamily="34" charset="-122"/>
                <a:cs typeface="IBM Plex Sans Arabic" pitchFamily="34" charset="-120"/>
              </a:rPr>
              <a:t>+</a:t>
            </a:r>
            <a:endParaRPr lang="en-US" sz="1250" dirty="0"/>
          </a:p>
        </p:txBody>
      </p:sp>
      <p:sp>
        <p:nvSpPr>
          <p:cNvPr id="8" name="Text 6"/>
          <p:cNvSpPr/>
          <p:nvPr/>
        </p:nvSpPr>
        <p:spPr>
          <a:xfrm>
            <a:off x="2295872" y="1921470"/>
            <a:ext cx="1171922" cy="273050"/>
          </a:xfrm>
          <a:prstGeom prst="roundRect">
            <a:avLst>
              <a:gd name="adj" fmla="val 18605"/>
            </a:avLst>
          </a:prstGeom>
          <a:solidFill>
            <a:srgbClr val="22344A"/>
          </a:solidFill>
          <a:ln/>
        </p:spPr>
        <p:txBody>
          <a:bodyPr wrap="none" lIns="0" tIns="0" rIns="0" bIns="0" rtlCol="0" anchor="ctr">
            <a:normAutofit/>
          </a:bodyPr>
          <a:lstStyle/>
          <a:p>
            <a:pPr algn="ctr" indent="0" marL="0" rtl="1">
              <a:lnSpc>
                <a:spcPts val="1750"/>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بأي طريقة أو أداة</a:t>
            </a:r>
            <a:endParaRPr lang="ar-SA" sz="1250" dirty="0" altLang="en-US"/>
          </a:p>
        </p:txBody>
      </p:sp>
      <p:sp>
        <p:nvSpPr>
          <p:cNvPr id="9" name="Text 7"/>
          <p:cNvSpPr/>
          <p:nvPr/>
        </p:nvSpPr>
        <p:spPr>
          <a:xfrm>
            <a:off x="3493195" y="1938933"/>
            <a:ext cx="146050" cy="263525"/>
          </a:xfrm>
          <a:prstGeom prst="rect">
            <a:avLst/>
          </a:prstGeom>
          <a:noFill/>
          <a:ln/>
        </p:spPr>
        <p:txBody>
          <a:bodyPr wrap="square" lIns="0" tIns="0" rIns="0" bIns="0" rtlCol="0" anchor="t">
            <a:normAutofit/>
          </a:bodyPr>
          <a:lstStyle/>
          <a:p>
            <a:pPr algn="r" indent="0" marL="0">
              <a:lnSpc>
                <a:spcPts val="1875"/>
              </a:lnSpc>
              <a:buNone/>
            </a:pPr>
            <a:r>
              <a:rPr lang="en-US" sz="1250" dirty="0">
                <a:solidFill>
                  <a:srgbClr val="93A3B1"/>
                </a:solidFill>
                <a:latin typeface="IBM Plex Sans Arabic" pitchFamily="34" charset="0"/>
                <a:ea typeface="IBM Plex Sans Arabic" pitchFamily="34" charset="-122"/>
                <a:cs typeface="IBM Plex Sans Arabic" pitchFamily="34" charset="-120"/>
              </a:rPr>
              <a:t>+</a:t>
            </a:r>
            <a:endParaRPr lang="en-US" sz="1250" dirty="0"/>
          </a:p>
        </p:txBody>
      </p:sp>
      <p:sp>
        <p:nvSpPr>
          <p:cNvPr id="10" name="Text 8"/>
          <p:cNvSpPr/>
          <p:nvPr/>
        </p:nvSpPr>
        <p:spPr>
          <a:xfrm>
            <a:off x="3715445" y="1921470"/>
            <a:ext cx="787896" cy="273050"/>
          </a:xfrm>
          <a:prstGeom prst="roundRect">
            <a:avLst>
              <a:gd name="adj" fmla="val 18605"/>
            </a:avLst>
          </a:prstGeom>
          <a:solidFill>
            <a:srgbClr val="22344A"/>
          </a:solidFill>
          <a:ln/>
        </p:spPr>
        <p:txBody>
          <a:bodyPr wrap="none" lIns="0" tIns="0" rIns="0" bIns="0" rtlCol="0" anchor="ctr">
            <a:normAutofit/>
          </a:bodyPr>
          <a:lstStyle/>
          <a:p>
            <a:pPr algn="ctr" indent="0" marL="0" rtl="1">
              <a:lnSpc>
                <a:spcPts val="1750"/>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ماذا فعلت</a:t>
            </a:r>
            <a:endParaRPr lang="ar-SA" sz="1250" dirty="0" altLang="en-US"/>
          </a:p>
        </p:txBody>
      </p:sp>
      <p:sp>
        <p:nvSpPr>
          <p:cNvPr id="11" name="Text 9"/>
          <p:cNvSpPr/>
          <p:nvPr/>
        </p:nvSpPr>
        <p:spPr>
          <a:xfrm>
            <a:off x="4528741" y="1938933"/>
            <a:ext cx="146050" cy="263525"/>
          </a:xfrm>
          <a:prstGeom prst="rect">
            <a:avLst/>
          </a:prstGeom>
          <a:noFill/>
          <a:ln/>
        </p:spPr>
        <p:txBody>
          <a:bodyPr wrap="square" lIns="0" tIns="0" rIns="0" bIns="0" rtlCol="0" anchor="t">
            <a:normAutofit/>
          </a:bodyPr>
          <a:lstStyle/>
          <a:p>
            <a:pPr algn="r" indent="0" marL="0">
              <a:lnSpc>
                <a:spcPts val="1875"/>
              </a:lnSpc>
              <a:buNone/>
            </a:pPr>
            <a:r>
              <a:rPr lang="en-US" sz="1250" dirty="0">
                <a:solidFill>
                  <a:srgbClr val="93A3B1"/>
                </a:solidFill>
                <a:latin typeface="IBM Plex Sans Arabic" pitchFamily="34" charset="0"/>
                <a:ea typeface="IBM Plex Sans Arabic" pitchFamily="34" charset="-122"/>
                <a:cs typeface="IBM Plex Sans Arabic" pitchFamily="34" charset="-120"/>
              </a:rPr>
              <a:t>+</a:t>
            </a:r>
            <a:endParaRPr lang="en-US" sz="1250" dirty="0"/>
          </a:p>
        </p:txBody>
      </p:sp>
      <p:sp>
        <p:nvSpPr>
          <p:cNvPr id="12" name="Text 10"/>
          <p:cNvSpPr/>
          <p:nvPr/>
        </p:nvSpPr>
        <p:spPr>
          <a:xfrm>
            <a:off x="4750991" y="1921470"/>
            <a:ext cx="732482" cy="273050"/>
          </a:xfrm>
          <a:prstGeom prst="roundRect">
            <a:avLst>
              <a:gd name="adj" fmla="val 18605"/>
            </a:avLst>
          </a:prstGeom>
          <a:solidFill>
            <a:srgbClr val="22344A"/>
          </a:solidFill>
          <a:ln/>
        </p:spPr>
        <p:txBody>
          <a:bodyPr wrap="none" lIns="0" tIns="0" rIns="0" bIns="0" rtlCol="0" anchor="ctr">
            <a:normAutofit/>
          </a:bodyPr>
          <a:lstStyle/>
          <a:p>
            <a:pPr algn="ctr" indent="0" marL="0" rtl="1">
              <a:lnSpc>
                <a:spcPts val="1750"/>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فعل قوي</a:t>
            </a:r>
            <a:endParaRPr lang="ar-SA" sz="1250" dirty="0" altLang="en-US"/>
          </a:p>
        </p:txBody>
      </p:sp>
      <p:sp>
        <p:nvSpPr>
          <p:cNvPr id="13" name="Text 11"/>
          <p:cNvSpPr/>
          <p:nvPr/>
        </p:nvSpPr>
        <p:spPr>
          <a:xfrm>
            <a:off x="5483473" y="1946870"/>
            <a:ext cx="631031" cy="247650"/>
          </a:xfrm>
          <a:prstGeom prst="rect">
            <a:avLst/>
          </a:prstGeom>
          <a:noFill/>
          <a:ln/>
        </p:spPr>
        <p:txBody>
          <a:bodyPr wrap="square" lIns="0" tIns="0" rIns="0" bIns="0" rtlCol="0" anchor="t">
            <a:normAutofit/>
          </a:bodyPr>
          <a:lstStyle/>
          <a:p>
            <a:pPr algn="r" indent="0" marL="0" rtl="1">
              <a:lnSpc>
                <a:spcPts val="1750"/>
              </a:lnSpc>
              <a:buNone/>
            </a:pPr>
            <a:r>
              <a:rPr lang="ar-SA" sz="1250" b="1" dirty="0" altLang="en-US">
                <a:solidFill>
                  <a:srgbClr val="F2C46D"/>
                </a:solidFill>
                <a:latin typeface="IBM Plex Sans Arabic" pitchFamily="34" charset="0"/>
                <a:ea typeface="IBM Plex Sans Arabic" pitchFamily="34" charset="-122"/>
                <a:cs typeface="IBM Plex Sans Arabic" pitchFamily="34" charset="-120"/>
              </a:rPr>
              <a:t>المعادلة:</a:t>
            </a:r>
            <a:endParaRPr lang="ar-SA" sz="1250" dirty="0" altLang="en-US"/>
          </a:p>
        </p:txBody>
      </p:sp>
      <p:sp>
        <p:nvSpPr>
          <p:cNvPr id="14" name="Shape 12"/>
          <p:cNvSpPr/>
          <p:nvPr/>
        </p:nvSpPr>
        <p:spPr>
          <a:xfrm>
            <a:off x="815975" y="2464395"/>
            <a:ext cx="7169150" cy="610791"/>
          </a:xfrm>
          <a:prstGeom prst="roundRect">
            <a:avLst>
              <a:gd name="adj" fmla="val 11956"/>
            </a:avLst>
          </a:prstGeom>
          <a:solidFill>
            <a:srgbClr val="E3F1ED"/>
          </a:solidFill>
          <a:ln w="6350">
            <a:solidFill>
              <a:srgbClr val="9FD1C5"/>
            </a:solidFill>
            <a:prstDash val="solid"/>
          </a:ln>
        </p:spPr>
      </p:sp>
      <p:sp>
        <p:nvSpPr>
          <p:cNvPr id="15" name="Text 13"/>
          <p:cNvSpPr/>
          <p:nvPr/>
        </p:nvSpPr>
        <p:spPr>
          <a:xfrm>
            <a:off x="850592" y="2670721"/>
            <a:ext cx="573345" cy="22349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E7C6B"/>
                </a:solidFill>
                <a:latin typeface="IBM Plex Sans Arabic" pitchFamily="34" charset="0"/>
                <a:ea typeface="IBM Plex Sans Arabic" pitchFamily="34" charset="-122"/>
                <a:cs typeface="IBM Plex Sans Arabic" pitchFamily="34" charset="-120"/>
              </a:rPr>
              <a:t>AFTER</a:t>
            </a:r>
            <a:endParaRPr lang="en-US" sz="1200" dirty="0"/>
          </a:p>
        </p:txBody>
      </p:sp>
      <p:sp>
        <p:nvSpPr>
          <p:cNvPr id="16" name="Text 14"/>
          <p:cNvSpPr/>
          <p:nvPr/>
        </p:nvSpPr>
        <p:spPr>
          <a:xfrm>
            <a:off x="1500138" y="2556470"/>
            <a:ext cx="6545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Built a 20-risk register on a 5×5 matrix for a fictional 200-staff company; prioritized 6 high risks with treatment plans.</a:t>
            </a:r>
            <a:endParaRPr lang="en-US" sz="1200" dirty="0"/>
          </a:p>
        </p:txBody>
      </p:sp>
      <p:sp>
        <p:nvSpPr>
          <p:cNvPr id="17" name="Shape 15"/>
          <p:cNvSpPr/>
          <p:nvPr/>
        </p:nvSpPr>
        <p:spPr>
          <a:xfrm>
            <a:off x="8080375" y="2464395"/>
            <a:ext cx="3295650" cy="610791"/>
          </a:xfrm>
          <a:prstGeom prst="roundRect">
            <a:avLst>
              <a:gd name="adj" fmla="val 11956"/>
            </a:avLst>
          </a:prstGeom>
          <a:solidFill>
            <a:srgbClr val="FBEAE5"/>
          </a:solidFill>
          <a:ln w="6350">
            <a:solidFill>
              <a:srgbClr val="E7B8AC"/>
            </a:solidFill>
            <a:prstDash val="solid"/>
          </a:ln>
        </p:spPr>
      </p:sp>
      <p:sp>
        <p:nvSpPr>
          <p:cNvPr id="18" name="Text 16"/>
          <p:cNvSpPr/>
          <p:nvPr/>
        </p:nvSpPr>
        <p:spPr>
          <a:xfrm>
            <a:off x="8093988" y="2670721"/>
            <a:ext cx="699373" cy="22349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4412C"/>
                </a:solidFill>
                <a:latin typeface="IBM Plex Sans Arabic" pitchFamily="34" charset="0"/>
                <a:ea typeface="IBM Plex Sans Arabic" pitchFamily="34" charset="-122"/>
                <a:cs typeface="IBM Plex Sans Arabic" pitchFamily="34" charset="-120"/>
              </a:rPr>
              <a:t>BEFORE</a:t>
            </a:r>
            <a:endParaRPr lang="en-US" sz="1200" dirty="0"/>
          </a:p>
        </p:txBody>
      </p:sp>
      <p:sp>
        <p:nvSpPr>
          <p:cNvPr id="19" name="Text 17"/>
          <p:cNvSpPr/>
          <p:nvPr/>
        </p:nvSpPr>
        <p:spPr>
          <a:xfrm>
            <a:off x="8869561" y="2663130"/>
            <a:ext cx="24475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Responsible for the risk register.</a:t>
            </a:r>
            <a:endParaRPr lang="en-US" sz="1200" dirty="0"/>
          </a:p>
        </p:txBody>
      </p:sp>
      <p:sp>
        <p:nvSpPr>
          <p:cNvPr id="20" name="Shape 18"/>
          <p:cNvSpPr/>
          <p:nvPr/>
        </p:nvSpPr>
        <p:spPr>
          <a:xfrm>
            <a:off x="815975" y="3170436"/>
            <a:ext cx="7169150" cy="610791"/>
          </a:xfrm>
          <a:prstGeom prst="roundRect">
            <a:avLst>
              <a:gd name="adj" fmla="val 11956"/>
            </a:avLst>
          </a:prstGeom>
          <a:solidFill>
            <a:srgbClr val="E3F1ED"/>
          </a:solidFill>
          <a:ln w="6350">
            <a:solidFill>
              <a:srgbClr val="9FD1C5"/>
            </a:solidFill>
            <a:prstDash val="solid"/>
          </a:ln>
        </p:spPr>
      </p:sp>
      <p:sp>
        <p:nvSpPr>
          <p:cNvPr id="21" name="Text 19"/>
          <p:cNvSpPr/>
          <p:nvPr/>
        </p:nvSpPr>
        <p:spPr>
          <a:xfrm>
            <a:off x="850592" y="3376761"/>
            <a:ext cx="573345" cy="22349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E7C6B"/>
                </a:solidFill>
                <a:latin typeface="IBM Plex Sans Arabic" pitchFamily="34" charset="0"/>
                <a:ea typeface="IBM Plex Sans Arabic" pitchFamily="34" charset="-122"/>
                <a:cs typeface="IBM Plex Sans Arabic" pitchFamily="34" charset="-120"/>
              </a:rPr>
              <a:t>AFTER</a:t>
            </a:r>
            <a:endParaRPr lang="en-US" sz="1200" dirty="0"/>
          </a:p>
        </p:txBody>
      </p:sp>
      <p:sp>
        <p:nvSpPr>
          <p:cNvPr id="22" name="Text 20"/>
          <p:cNvSpPr/>
          <p:nvPr/>
        </p:nvSpPr>
        <p:spPr>
          <a:xfrm>
            <a:off x="1500138" y="3262511"/>
            <a:ext cx="6545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Mapped 30 ISO/IEC 27001:2022 Annex A controls to NCA ECC-2:2024 requirements, identifying 8 coverage gaps.</a:t>
            </a:r>
            <a:endParaRPr lang="en-US" sz="1200" dirty="0"/>
          </a:p>
        </p:txBody>
      </p:sp>
      <p:sp>
        <p:nvSpPr>
          <p:cNvPr id="23" name="Shape 21"/>
          <p:cNvSpPr/>
          <p:nvPr/>
        </p:nvSpPr>
        <p:spPr>
          <a:xfrm>
            <a:off x="8080375" y="3170436"/>
            <a:ext cx="3295650" cy="610791"/>
          </a:xfrm>
          <a:prstGeom prst="roundRect">
            <a:avLst>
              <a:gd name="adj" fmla="val 11956"/>
            </a:avLst>
          </a:prstGeom>
          <a:solidFill>
            <a:srgbClr val="FBEAE5"/>
          </a:solidFill>
          <a:ln w="6350">
            <a:solidFill>
              <a:srgbClr val="E7B8AC"/>
            </a:solidFill>
            <a:prstDash val="solid"/>
          </a:ln>
        </p:spPr>
      </p:sp>
      <p:sp>
        <p:nvSpPr>
          <p:cNvPr id="24" name="Text 22"/>
          <p:cNvSpPr/>
          <p:nvPr/>
        </p:nvSpPr>
        <p:spPr>
          <a:xfrm>
            <a:off x="8093988" y="3376761"/>
            <a:ext cx="699373" cy="22349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4412C"/>
                </a:solidFill>
                <a:latin typeface="IBM Plex Sans Arabic" pitchFamily="34" charset="0"/>
                <a:ea typeface="IBM Plex Sans Arabic" pitchFamily="34" charset="-122"/>
                <a:cs typeface="IBM Plex Sans Arabic" pitchFamily="34" charset="-120"/>
              </a:rPr>
              <a:t>BEFORE</a:t>
            </a:r>
            <a:endParaRPr lang="en-US" sz="1200" dirty="0"/>
          </a:p>
        </p:txBody>
      </p:sp>
      <p:sp>
        <p:nvSpPr>
          <p:cNvPr id="25" name="Text 23"/>
          <p:cNvSpPr/>
          <p:nvPr/>
        </p:nvSpPr>
        <p:spPr>
          <a:xfrm>
            <a:off x="8869561" y="3369171"/>
            <a:ext cx="24475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Familiar with ISO 27001.</a:t>
            </a:r>
            <a:endParaRPr lang="en-US" sz="1200" dirty="0"/>
          </a:p>
        </p:txBody>
      </p:sp>
      <p:sp>
        <p:nvSpPr>
          <p:cNvPr id="26" name="Shape 24"/>
          <p:cNvSpPr/>
          <p:nvPr/>
        </p:nvSpPr>
        <p:spPr>
          <a:xfrm>
            <a:off x="815975" y="3876477"/>
            <a:ext cx="7169150" cy="610791"/>
          </a:xfrm>
          <a:prstGeom prst="roundRect">
            <a:avLst>
              <a:gd name="adj" fmla="val 11956"/>
            </a:avLst>
          </a:prstGeom>
          <a:solidFill>
            <a:srgbClr val="E3F1ED"/>
          </a:solidFill>
          <a:ln w="6350">
            <a:solidFill>
              <a:srgbClr val="9FD1C5"/>
            </a:solidFill>
            <a:prstDash val="solid"/>
          </a:ln>
        </p:spPr>
      </p:sp>
      <p:sp>
        <p:nvSpPr>
          <p:cNvPr id="27" name="Text 25"/>
          <p:cNvSpPr/>
          <p:nvPr/>
        </p:nvSpPr>
        <p:spPr>
          <a:xfrm>
            <a:off x="850592" y="4082802"/>
            <a:ext cx="573345" cy="22349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0E7C6B"/>
                </a:solidFill>
                <a:latin typeface="IBM Plex Sans Arabic" pitchFamily="34" charset="0"/>
                <a:ea typeface="IBM Plex Sans Arabic" pitchFamily="34" charset="-122"/>
                <a:cs typeface="IBM Plex Sans Arabic" pitchFamily="34" charset="-120"/>
              </a:rPr>
              <a:t>AFTER</a:t>
            </a:r>
            <a:endParaRPr lang="en-US" sz="1200" dirty="0"/>
          </a:p>
        </p:txBody>
      </p:sp>
      <p:sp>
        <p:nvSpPr>
          <p:cNvPr id="28" name="Text 26"/>
          <p:cNvSpPr/>
          <p:nvPr/>
        </p:nvSpPr>
        <p:spPr>
          <a:xfrm>
            <a:off x="1500138" y="3968552"/>
            <a:ext cx="6545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Processed 25+ weekly access requests per the approval workflow; flagged 3 over-privileged accounts for review.</a:t>
            </a:r>
            <a:endParaRPr lang="en-US" sz="1200" dirty="0"/>
          </a:p>
        </p:txBody>
      </p:sp>
      <p:sp>
        <p:nvSpPr>
          <p:cNvPr id="29" name="Shape 27"/>
          <p:cNvSpPr/>
          <p:nvPr/>
        </p:nvSpPr>
        <p:spPr>
          <a:xfrm>
            <a:off x="8080375" y="3876477"/>
            <a:ext cx="3295650" cy="610791"/>
          </a:xfrm>
          <a:prstGeom prst="roundRect">
            <a:avLst>
              <a:gd name="adj" fmla="val 11956"/>
            </a:avLst>
          </a:prstGeom>
          <a:solidFill>
            <a:srgbClr val="FBEAE5"/>
          </a:solidFill>
          <a:ln w="6350">
            <a:solidFill>
              <a:srgbClr val="E7B8AC"/>
            </a:solidFill>
            <a:prstDash val="solid"/>
          </a:ln>
        </p:spPr>
      </p:sp>
      <p:sp>
        <p:nvSpPr>
          <p:cNvPr id="30" name="Text 28"/>
          <p:cNvSpPr/>
          <p:nvPr/>
        </p:nvSpPr>
        <p:spPr>
          <a:xfrm>
            <a:off x="8093988" y="4082802"/>
            <a:ext cx="699373" cy="22349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4412C"/>
                </a:solidFill>
                <a:latin typeface="IBM Plex Sans Arabic" pitchFamily="34" charset="0"/>
                <a:ea typeface="IBM Plex Sans Arabic" pitchFamily="34" charset="-122"/>
                <a:cs typeface="IBM Plex Sans Arabic" pitchFamily="34" charset="-120"/>
              </a:rPr>
              <a:t>BEFORE</a:t>
            </a:r>
            <a:endParaRPr lang="en-US" sz="1200" dirty="0"/>
          </a:p>
        </p:txBody>
      </p:sp>
      <p:sp>
        <p:nvSpPr>
          <p:cNvPr id="31" name="Text 29"/>
          <p:cNvSpPr/>
          <p:nvPr/>
        </p:nvSpPr>
        <p:spPr>
          <a:xfrm>
            <a:off x="8869561" y="4075212"/>
            <a:ext cx="24475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Worked on the IT help desk.</a:t>
            </a:r>
            <a:endParaRPr lang="en-US" sz="1200" dirty="0"/>
          </a:p>
        </p:txBody>
      </p:sp>
      <p:sp>
        <p:nvSpPr>
          <p:cNvPr id="32" name="Text 30"/>
          <p:cNvSpPr/>
          <p:nvPr/>
        </p:nvSpPr>
        <p:spPr>
          <a:xfrm>
            <a:off x="815975" y="4658717"/>
            <a:ext cx="1012627"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Remediated</a:t>
            </a:r>
            <a:endParaRPr lang="en-US" sz="1200" dirty="0"/>
          </a:p>
        </p:txBody>
      </p:sp>
      <p:sp>
        <p:nvSpPr>
          <p:cNvPr id="33" name="Text 31"/>
          <p:cNvSpPr/>
          <p:nvPr/>
        </p:nvSpPr>
        <p:spPr>
          <a:xfrm>
            <a:off x="1961952" y="4658717"/>
            <a:ext cx="727621"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Tracked</a:t>
            </a:r>
            <a:endParaRPr lang="en-US" sz="1200" dirty="0"/>
          </a:p>
        </p:txBody>
      </p:sp>
      <p:sp>
        <p:nvSpPr>
          <p:cNvPr id="34" name="Text 32"/>
          <p:cNvSpPr/>
          <p:nvPr/>
        </p:nvSpPr>
        <p:spPr>
          <a:xfrm>
            <a:off x="2822922" y="4658717"/>
            <a:ext cx="846187"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Reviewed</a:t>
            </a:r>
            <a:endParaRPr lang="en-US" sz="1200" dirty="0"/>
          </a:p>
        </p:txBody>
      </p:sp>
      <p:sp>
        <p:nvSpPr>
          <p:cNvPr id="35" name="Text 33"/>
          <p:cNvSpPr/>
          <p:nvPr/>
        </p:nvSpPr>
        <p:spPr>
          <a:xfrm>
            <a:off x="3802459" y="4658717"/>
            <a:ext cx="697458"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Drafted</a:t>
            </a:r>
            <a:endParaRPr lang="en-US" sz="1200" dirty="0"/>
          </a:p>
        </p:txBody>
      </p:sp>
      <p:sp>
        <p:nvSpPr>
          <p:cNvPr id="36" name="Text 34"/>
          <p:cNvSpPr/>
          <p:nvPr/>
        </p:nvSpPr>
        <p:spPr>
          <a:xfrm>
            <a:off x="4633268" y="4658717"/>
            <a:ext cx="738138"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Mapped</a:t>
            </a:r>
            <a:endParaRPr lang="en-US" sz="1200" dirty="0"/>
          </a:p>
        </p:txBody>
      </p:sp>
      <p:sp>
        <p:nvSpPr>
          <p:cNvPr id="37" name="Text 35"/>
          <p:cNvSpPr/>
          <p:nvPr/>
        </p:nvSpPr>
        <p:spPr>
          <a:xfrm>
            <a:off x="5504755" y="4658717"/>
            <a:ext cx="832644"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Assessed</a:t>
            </a:r>
            <a:endParaRPr lang="en-US" sz="1200" dirty="0"/>
          </a:p>
        </p:txBody>
      </p:sp>
      <p:sp>
        <p:nvSpPr>
          <p:cNvPr id="38" name="Text 36"/>
          <p:cNvSpPr/>
          <p:nvPr/>
        </p:nvSpPr>
        <p:spPr>
          <a:xfrm>
            <a:off x="6340574" y="4692352"/>
            <a:ext cx="1391989"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4E5A66"/>
                </a:solidFill>
                <a:latin typeface="IBM Plex Sans Arabic" pitchFamily="34" charset="0"/>
                <a:ea typeface="IBM Plex Sans Arabic" pitchFamily="34" charset="-122"/>
                <a:cs typeface="IBM Plex Sans Arabic" pitchFamily="34" charset="-120"/>
              </a:rPr>
              <a:t>أفعال مناسبة لـ GRC:</a:t>
            </a:r>
            <a:endParaRPr lang="ar-SA" sz="1200" dirty="0" altLang="en-US"/>
          </a:p>
        </p:txBody>
      </p:sp>
      <p:sp>
        <p:nvSpPr>
          <p:cNvPr id="39" name="Text 37"/>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46</a:t>
            </a:r>
            <a:endParaRPr lang="en-US" sz="1200" dirty="0"/>
          </a:p>
        </p:txBody>
      </p:sp>
      <p:sp>
        <p:nvSpPr>
          <p:cNvPr id="40" name="Text 38"/>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06 · السيرة الذاتية</a:t>
            </a:r>
            <a:endParaRPr lang="ar-SA" sz="1200" dirty="0"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789807" cy="289520"/>
          </a:xfrm>
          <a:custGeom>
            <a:avLst/>
            <a:gdLst/>
            <a:ahLst/>
            <a:cxnLst/>
            <a:rect l="l" t="t" r="r" b="b"/>
            <a:pathLst>
              <a:path w="1789807" h="289520">
                <a:moveTo>
                  <a:pt x="144760" y="0"/>
                </a:moveTo>
                <a:lnTo>
                  <a:pt x="1645047" y="0"/>
                </a:lnTo>
                <a:arcTo hR="144760" wR="144760" stAng="16200000" swAng="5400000"/>
                <a:lnTo>
                  <a:pt x="178980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06 · السيرة الذاتية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بلا خبرة في GRC؟ خبرتك أقرب مما تظن</a:t>
            </a:r>
            <a:endParaRPr lang="ar-SA" sz="3000" dirty="0" altLang="en-US"/>
          </a:p>
        </p:txBody>
      </p:sp>
      <p:sp>
        <p:nvSpPr>
          <p:cNvPr id="5" name="Shape 3"/>
          <p:cNvSpPr/>
          <p:nvPr/>
        </p:nvSpPr>
        <p:spPr>
          <a:xfrm>
            <a:off x="812800" y="1832570"/>
            <a:ext cx="4514850" cy="2542183"/>
          </a:xfrm>
          <a:prstGeom prst="roundRect">
            <a:avLst>
              <a:gd name="adj" fmla="val 3997"/>
            </a:avLst>
          </a:prstGeom>
          <a:solidFill>
            <a:srgbClr val="172433"/>
          </a:solidFill>
          <a:ln/>
        </p:spPr>
      </p:sp>
      <p:sp>
        <p:nvSpPr>
          <p:cNvPr id="6" name="Text 4"/>
          <p:cNvSpPr/>
          <p:nvPr/>
        </p:nvSpPr>
        <p:spPr>
          <a:xfrm>
            <a:off x="865822" y="2010370"/>
            <a:ext cx="4284028" cy="273050"/>
          </a:xfrm>
          <a:prstGeom prst="rect">
            <a:avLst/>
          </a:prstGeom>
          <a:noFill/>
          <a:ln/>
        </p:spPr>
        <p:txBody>
          <a:bodyPr wrap="square" lIns="0" tIns="0" rIns="0" bIns="0" rtlCol="0" anchor="t">
            <a:normAutofit/>
          </a:bodyPr>
          <a:lstStyle/>
          <a:p>
            <a:pPr algn="r" indent="0" marL="0" rtl="1">
              <a:lnSpc>
                <a:spcPts val="1950"/>
              </a:lnSpc>
              <a:buNone/>
            </a:pPr>
            <a:r>
              <a:rPr lang="ar-SA" sz="1500" b="1" dirty="0" altLang="en-US">
                <a:solidFill>
                  <a:srgbClr val="F2C46D"/>
                </a:solidFill>
                <a:latin typeface="Readex Pro" pitchFamily="34" charset="0"/>
                <a:ea typeface="Readex Pro" pitchFamily="34" charset="-122"/>
                <a:cs typeface="Readex Pro" pitchFamily="34" charset="-120"/>
              </a:rPr>
              <a:t>أقسام تملأ مكان «الخبرة»</a:t>
            </a:r>
            <a:endParaRPr lang="ar-SA" sz="1500" dirty="0" altLang="en-US"/>
          </a:p>
        </p:txBody>
      </p:sp>
      <p:sp>
        <p:nvSpPr>
          <p:cNvPr id="7" name="Text 5"/>
          <p:cNvSpPr/>
          <p:nvPr/>
        </p:nvSpPr>
        <p:spPr>
          <a:xfrm>
            <a:off x="873443" y="2346920"/>
            <a:ext cx="402240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
            </a:r>
            <a:r>
              <a:rPr lang="ar-SA" sz="1200" b="1" dirty="0" altLang="en-US">
                <a:solidFill>
                  <a:srgbClr val="F3EFE6"/>
                </a:solidFill>
                <a:latin typeface="IBM Plex Sans Arabic" pitchFamily="34" charset="0"/>
                <a:ea typeface="IBM Plex Sans Arabic" pitchFamily="34" charset="-122"/>
                <a:cs typeface="IBM Plex Sans Arabic" pitchFamily="34" charset="-120"/>
              </a:rPr>
              <a:t>Projects:</a:t>
            </a:r>
            <a:r>
              <a:rPr lang="ar-SA" sz="1200" dirty="0" altLang="en-US">
                <a:solidFill>
                  <a:srgbClr val="F3EFE6"/>
                </a:solidFill>
                <a:latin typeface="IBM Plex Sans Arabic" pitchFamily="34" charset="0"/>
                <a:ea typeface="IBM Plex Sans Arabic" pitchFamily="34" charset="-122"/>
                <a:cs typeface="IBM Plex Sans Arabic" pitchFamily="34" charset="-120"/>
              </a:rPr>
              <a:t> مشاريع الوحدة 5</a:t>
            </a:r>
            <a:endParaRPr lang="ar-SA" sz="1200" dirty="0" altLang="en-US"/>
          </a:p>
        </p:txBody>
      </p:sp>
      <p:pic>
        <p:nvPicPr>
          <p:cNvPr id="8" name="Image 0" descr="Check">    </p:cNvPr>
          <p:cNvPicPr>
            <a:picLocks noChangeAspect="1"/>
          </p:cNvPicPr>
          <p:nvPr/>
        </p:nvPicPr>
        <p:blipFill>
          <a:blip r:embed="rId1"/>
          <a:srcRect l="0" r="0" t="0" b="0"/>
          <a:stretch/>
        </p:blipFill>
        <p:spPr>
          <a:xfrm>
            <a:off x="4972050" y="2346920"/>
            <a:ext cx="177800" cy="177800"/>
          </a:xfrm>
          <a:prstGeom prst="rect">
            <a:avLst/>
          </a:prstGeom>
        </p:spPr>
      </p:pic>
      <p:sp>
        <p:nvSpPr>
          <p:cNvPr id="9" name="Text 6"/>
          <p:cNvSpPr/>
          <p:nvPr/>
        </p:nvSpPr>
        <p:spPr>
          <a:xfrm>
            <a:off x="873443" y="2656780"/>
            <a:ext cx="402240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
            </a:r>
            <a:r>
              <a:rPr lang="ar-SA" sz="1200" b="1" dirty="0" altLang="en-US">
                <a:solidFill>
                  <a:srgbClr val="F3EFE6"/>
                </a:solidFill>
                <a:latin typeface="IBM Plex Sans Arabic" pitchFamily="34" charset="0"/>
                <a:ea typeface="IBM Plex Sans Arabic" pitchFamily="34" charset="-122"/>
                <a:cs typeface="IBM Plex Sans Arabic" pitchFamily="34" charset="-120"/>
              </a:rPr>
              <a:t>Internship:</a:t>
            </a:r>
            <a:r>
              <a:rPr lang="ar-SA" sz="1200" dirty="0" altLang="en-US">
                <a:solidFill>
                  <a:srgbClr val="F3EFE6"/>
                </a:solidFill>
                <a:latin typeface="IBM Plex Sans Arabic" pitchFamily="34" charset="0"/>
                <a:ea typeface="IBM Plex Sans Arabic" pitchFamily="34" charset="-122"/>
                <a:cs typeface="IBM Plex Sans Arabic" pitchFamily="34" charset="-120"/>
              </a:rPr>
              <a:t> التدريب التعاوني، ولو قصيراً</a:t>
            </a:r>
            <a:endParaRPr lang="ar-SA" sz="1200" dirty="0" altLang="en-US"/>
          </a:p>
        </p:txBody>
      </p:sp>
      <p:pic>
        <p:nvPicPr>
          <p:cNvPr id="10" name="Image 1" descr="Check">    </p:cNvPr>
          <p:cNvPicPr>
            <a:picLocks noChangeAspect="1"/>
          </p:cNvPicPr>
          <p:nvPr/>
        </p:nvPicPr>
        <p:blipFill>
          <a:blip r:embed="rId2"/>
          <a:srcRect l="0" r="0" t="0" b="0"/>
          <a:stretch/>
        </p:blipFill>
        <p:spPr>
          <a:xfrm>
            <a:off x="4972050" y="2656780"/>
            <a:ext cx="177800" cy="177800"/>
          </a:xfrm>
          <a:prstGeom prst="rect">
            <a:avLst/>
          </a:prstGeom>
        </p:spPr>
      </p:pic>
      <p:sp>
        <p:nvSpPr>
          <p:cNvPr id="11" name="Text 7"/>
          <p:cNvSpPr/>
          <p:nvPr/>
        </p:nvSpPr>
        <p:spPr>
          <a:xfrm>
            <a:off x="873443" y="2966641"/>
            <a:ext cx="402240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
            </a:r>
            <a:r>
              <a:rPr lang="ar-SA" sz="1200" b="1" dirty="0" altLang="en-US">
                <a:solidFill>
                  <a:srgbClr val="F3EFE6"/>
                </a:solidFill>
                <a:latin typeface="IBM Plex Sans Arabic" pitchFamily="34" charset="0"/>
                <a:ea typeface="IBM Plex Sans Arabic" pitchFamily="34" charset="-122"/>
                <a:cs typeface="IBM Plex Sans Arabic" pitchFamily="34" charset="-120"/>
              </a:rPr>
              <a:t>Volunteering:</a:t>
            </a:r>
            <a:r>
              <a:rPr lang="ar-SA" sz="1200" dirty="0" altLang="en-US">
                <a:solidFill>
                  <a:srgbClr val="F3EFE6"/>
                </a:solidFill>
                <a:latin typeface="IBM Plex Sans Arabic" pitchFamily="34" charset="0"/>
                <a:ea typeface="IBM Plex Sans Arabic" pitchFamily="34" charset="-122"/>
                <a:cs typeface="IBM Plex Sans Arabic" pitchFamily="34" charset="-120"/>
              </a:rPr>
              <a:t> كتابة سياسة لجمعية أو نادٍ</a:t>
            </a:r>
            <a:endParaRPr lang="ar-SA" sz="1200" dirty="0" altLang="en-US"/>
          </a:p>
        </p:txBody>
      </p:sp>
      <p:pic>
        <p:nvPicPr>
          <p:cNvPr id="12" name="Image 2" descr="Check">    </p:cNvPr>
          <p:cNvPicPr>
            <a:picLocks noChangeAspect="1"/>
          </p:cNvPicPr>
          <p:nvPr/>
        </p:nvPicPr>
        <p:blipFill>
          <a:blip r:embed="rId3"/>
          <a:srcRect l="0" r="0" t="0" b="0"/>
          <a:stretch/>
        </p:blipFill>
        <p:spPr>
          <a:xfrm>
            <a:off x="4972050" y="2966641"/>
            <a:ext cx="177800" cy="177800"/>
          </a:xfrm>
          <a:prstGeom prst="rect">
            <a:avLst/>
          </a:prstGeom>
        </p:spPr>
      </p:pic>
      <p:sp>
        <p:nvSpPr>
          <p:cNvPr id="13" name="Text 8"/>
          <p:cNvSpPr/>
          <p:nvPr/>
        </p:nvSpPr>
        <p:spPr>
          <a:xfrm>
            <a:off x="873443" y="3276501"/>
            <a:ext cx="402240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
            </a:r>
            <a:r>
              <a:rPr lang="ar-SA" sz="1200" b="1" dirty="0" altLang="en-US">
                <a:solidFill>
                  <a:srgbClr val="F3EFE6"/>
                </a:solidFill>
                <a:latin typeface="IBM Plex Sans Arabic" pitchFamily="34" charset="0"/>
                <a:ea typeface="IBM Plex Sans Arabic" pitchFamily="34" charset="-122"/>
                <a:cs typeface="IBM Plex Sans Arabic" pitchFamily="34" charset="-120"/>
              </a:rPr>
              <a:t>Capstone:</a:t>
            </a:r>
            <a:r>
              <a:rPr lang="ar-SA" sz="1200" dirty="0" altLang="en-US">
                <a:solidFill>
                  <a:srgbClr val="F3EFE6"/>
                </a:solidFill>
                <a:latin typeface="IBM Plex Sans Arabic" pitchFamily="34" charset="0"/>
                <a:ea typeface="IBM Plex Sans Arabic" pitchFamily="34" charset="-122"/>
                <a:cs typeface="IBM Plex Sans Arabic" pitchFamily="34" charset="-120"/>
              </a:rPr>
              <a:t> مشروع التخرج إن كان قريباً</a:t>
            </a:r>
            <a:endParaRPr lang="ar-SA" sz="1200" dirty="0" altLang="en-US"/>
          </a:p>
        </p:txBody>
      </p:sp>
      <p:pic>
        <p:nvPicPr>
          <p:cNvPr id="14" name="Image 3" descr="Check">    </p:cNvPr>
          <p:cNvPicPr>
            <a:picLocks noChangeAspect="1"/>
          </p:cNvPicPr>
          <p:nvPr/>
        </p:nvPicPr>
        <p:blipFill>
          <a:blip r:embed="rId4"/>
          <a:srcRect l="0" r="0" t="0" b="0"/>
          <a:stretch/>
        </p:blipFill>
        <p:spPr>
          <a:xfrm>
            <a:off x="4972050" y="3276501"/>
            <a:ext cx="177800" cy="177800"/>
          </a:xfrm>
          <a:prstGeom prst="rect">
            <a:avLst/>
          </a:prstGeom>
        </p:spPr>
      </p:pic>
      <p:sp>
        <p:nvSpPr>
          <p:cNvPr id="15" name="Shape 9"/>
          <p:cNvSpPr/>
          <p:nvPr/>
        </p:nvSpPr>
        <p:spPr>
          <a:xfrm>
            <a:off x="990600" y="3896618"/>
            <a:ext cx="4159250" cy="0"/>
          </a:xfrm>
          <a:prstGeom prst="line">
            <a:avLst/>
          </a:prstGeom>
          <a:noFill/>
          <a:ln w="6350">
            <a:solidFill>
              <a:srgbClr val="34485F"/>
            </a:solidFill>
            <a:prstDash val="solid"/>
          </a:ln>
        </p:spPr>
      </p:sp>
      <p:sp>
        <p:nvSpPr>
          <p:cNvPr id="16" name="Text 10"/>
          <p:cNvSpPr/>
          <p:nvPr/>
        </p:nvSpPr>
        <p:spPr>
          <a:xfrm>
            <a:off x="865822" y="3975993"/>
            <a:ext cx="428402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B9C4CC"/>
                </a:solidFill>
                <a:latin typeface="IBM Plex Sans Arabic" pitchFamily="34" charset="0"/>
                <a:ea typeface="IBM Plex Sans Arabic" pitchFamily="34" charset="-122"/>
                <a:cs typeface="IBM Plex Sans Arabic" pitchFamily="34" charset="-120"/>
              </a:rPr>
              <a:t>كل ما تكتبه حقيقي وتستطيع شرحه في المقابلة.</a:t>
            </a:r>
            <a:endParaRPr lang="ar-SA" sz="1200" dirty="0" altLang="en-US"/>
          </a:p>
        </p:txBody>
      </p:sp>
      <p:sp>
        <p:nvSpPr>
          <p:cNvPr id="17" name="Text 11"/>
          <p:cNvSpPr/>
          <p:nvPr/>
        </p:nvSpPr>
        <p:spPr>
          <a:xfrm>
            <a:off x="5381562" y="1832570"/>
            <a:ext cx="5997639"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0E7C6B"/>
                </a:solidFill>
                <a:latin typeface="Readex Pro" pitchFamily="34" charset="0"/>
                <a:ea typeface="Readex Pro" pitchFamily="34" charset="-122"/>
                <a:cs typeface="Readex Pro" pitchFamily="34" charset="-120"/>
              </a:rPr>
              <a:t>ترجم خلفيتك إلى لغة GRC</a:t>
            </a:r>
            <a:endParaRPr lang="ar-SA" sz="1600" dirty="0" altLang="en-US"/>
          </a:p>
        </p:txBody>
      </p:sp>
      <p:sp>
        <p:nvSpPr>
          <p:cNvPr id="18" name="Shape 12"/>
          <p:cNvSpPr/>
          <p:nvPr/>
        </p:nvSpPr>
        <p:spPr>
          <a:xfrm>
            <a:off x="5559425" y="2176066"/>
            <a:ext cx="5816600" cy="373063"/>
          </a:xfrm>
          <a:prstGeom prst="roundRect">
            <a:avLst>
              <a:gd name="adj" fmla="val 19574"/>
            </a:avLst>
          </a:prstGeom>
          <a:solidFill>
            <a:srgbClr val="FFFDF8"/>
          </a:solidFill>
          <a:ln w="6350">
            <a:solidFill>
              <a:srgbClr val="E1DBCD"/>
            </a:solidFill>
            <a:prstDash val="solid"/>
          </a:ln>
        </p:spPr>
      </p:sp>
      <p:sp>
        <p:nvSpPr>
          <p:cNvPr id="19" name="Text 13"/>
          <p:cNvSpPr/>
          <p:nvPr/>
        </p:nvSpPr>
        <p:spPr>
          <a:xfrm>
            <a:off x="5576589" y="2255937"/>
            <a:ext cx="3880049"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طلبات الصلاحيات، وسير الموافقات، والبلاغات</a:t>
            </a:r>
            <a:endParaRPr lang="ar-SA" sz="1200" dirty="0" altLang="en-US"/>
          </a:p>
        </p:txBody>
      </p:sp>
      <p:sp>
        <p:nvSpPr>
          <p:cNvPr id="20" name="Text 14"/>
          <p:cNvSpPr/>
          <p:nvPr/>
        </p:nvSpPr>
        <p:spPr>
          <a:xfrm>
            <a:off x="9494738" y="2280047"/>
            <a:ext cx="201712" cy="190500"/>
          </a:xfrm>
          <a:prstGeom prst="rect">
            <a:avLst/>
          </a:prstGeom>
          <a:noFill/>
          <a:ln/>
        </p:spPr>
        <p:txBody>
          <a:bodyPr wrap="square" lIns="0" tIns="0" rIns="0" bIns="0" rtlCol="0" anchor="t">
            <a:normAutofit/>
          </a:bodyPr>
          <a:lstStyle/>
          <a:p>
            <a:pPr algn="r" indent="0" marL="0">
              <a:lnSpc>
                <a:spcPts val="1300"/>
              </a:lnSpc>
              <a:buNone/>
            </a:pPr>
            <a:r>
              <a:rPr lang="en-US" sz="1300" dirty="0">
                <a:solidFill>
                  <a:srgbClr val="93A3B1"/>
                </a:solidFill>
                <a:latin typeface="IBM Plex Sans Arabic" pitchFamily="34" charset="0"/>
                <a:ea typeface="IBM Plex Sans Arabic" pitchFamily="34" charset="-122"/>
                <a:cs typeface="IBM Plex Sans Arabic" pitchFamily="34" charset="-120"/>
              </a:rPr>
              <a:t>←</a:t>
            </a:r>
            <a:endParaRPr lang="en-US" sz="1300" dirty="0"/>
          </a:p>
        </p:txBody>
      </p:sp>
      <p:sp>
        <p:nvSpPr>
          <p:cNvPr id="21" name="Text 15"/>
          <p:cNvSpPr/>
          <p:nvPr/>
        </p:nvSpPr>
        <p:spPr>
          <a:xfrm>
            <a:off x="9734550" y="2255441"/>
            <a:ext cx="1511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الدعم الفني</a:t>
            </a:r>
            <a:endParaRPr lang="ar-SA" sz="1250" dirty="0" altLang="en-US"/>
          </a:p>
        </p:txBody>
      </p:sp>
      <p:sp>
        <p:nvSpPr>
          <p:cNvPr id="22" name="Shape 16"/>
          <p:cNvSpPr/>
          <p:nvPr/>
        </p:nvSpPr>
        <p:spPr>
          <a:xfrm>
            <a:off x="5559425" y="2631678"/>
            <a:ext cx="5816600" cy="373063"/>
          </a:xfrm>
          <a:prstGeom prst="roundRect">
            <a:avLst>
              <a:gd name="adj" fmla="val 19574"/>
            </a:avLst>
          </a:prstGeom>
          <a:solidFill>
            <a:srgbClr val="FFFDF8"/>
          </a:solidFill>
          <a:ln w="6350">
            <a:solidFill>
              <a:srgbClr val="E1DBCD"/>
            </a:solidFill>
            <a:prstDash val="solid"/>
          </a:ln>
        </p:spPr>
      </p:sp>
      <p:sp>
        <p:nvSpPr>
          <p:cNvPr id="23" name="Text 17"/>
          <p:cNvSpPr/>
          <p:nvPr/>
        </p:nvSpPr>
        <p:spPr>
          <a:xfrm>
            <a:off x="5576589" y="2711549"/>
            <a:ext cx="3880049"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الرقابة الداخلية، والأدلة، والعينات</a:t>
            </a:r>
            <a:endParaRPr lang="ar-SA" sz="1200" dirty="0" altLang="en-US"/>
          </a:p>
        </p:txBody>
      </p:sp>
      <p:sp>
        <p:nvSpPr>
          <p:cNvPr id="24" name="Text 18"/>
          <p:cNvSpPr/>
          <p:nvPr/>
        </p:nvSpPr>
        <p:spPr>
          <a:xfrm>
            <a:off x="9494738" y="2735659"/>
            <a:ext cx="201712" cy="190500"/>
          </a:xfrm>
          <a:prstGeom prst="rect">
            <a:avLst/>
          </a:prstGeom>
          <a:noFill/>
          <a:ln/>
        </p:spPr>
        <p:txBody>
          <a:bodyPr wrap="square" lIns="0" tIns="0" rIns="0" bIns="0" rtlCol="0" anchor="t">
            <a:normAutofit/>
          </a:bodyPr>
          <a:lstStyle/>
          <a:p>
            <a:pPr algn="r" indent="0" marL="0">
              <a:lnSpc>
                <a:spcPts val="1300"/>
              </a:lnSpc>
              <a:buNone/>
            </a:pPr>
            <a:r>
              <a:rPr lang="en-US" sz="1300" dirty="0">
                <a:solidFill>
                  <a:srgbClr val="93A3B1"/>
                </a:solidFill>
                <a:latin typeface="IBM Plex Sans Arabic" pitchFamily="34" charset="0"/>
                <a:ea typeface="IBM Plex Sans Arabic" pitchFamily="34" charset="-122"/>
                <a:cs typeface="IBM Plex Sans Arabic" pitchFamily="34" charset="-120"/>
              </a:rPr>
              <a:t>←</a:t>
            </a:r>
            <a:endParaRPr lang="en-US" sz="1300" dirty="0"/>
          </a:p>
        </p:txBody>
      </p:sp>
      <p:sp>
        <p:nvSpPr>
          <p:cNvPr id="25" name="Text 19"/>
          <p:cNvSpPr/>
          <p:nvPr/>
        </p:nvSpPr>
        <p:spPr>
          <a:xfrm>
            <a:off x="9734550" y="2711053"/>
            <a:ext cx="1511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المحاسبة والتدقيق</a:t>
            </a:r>
            <a:endParaRPr lang="ar-SA" sz="1250" dirty="0" altLang="en-US"/>
          </a:p>
        </p:txBody>
      </p:sp>
      <p:sp>
        <p:nvSpPr>
          <p:cNvPr id="26" name="Shape 20"/>
          <p:cNvSpPr/>
          <p:nvPr/>
        </p:nvSpPr>
        <p:spPr>
          <a:xfrm>
            <a:off x="5559425" y="3087291"/>
            <a:ext cx="5816600" cy="373063"/>
          </a:xfrm>
          <a:prstGeom prst="roundRect">
            <a:avLst>
              <a:gd name="adj" fmla="val 19574"/>
            </a:avLst>
          </a:prstGeom>
          <a:solidFill>
            <a:srgbClr val="FFFDF8"/>
          </a:solidFill>
          <a:ln w="6350">
            <a:solidFill>
              <a:srgbClr val="E1DBCD"/>
            </a:solidFill>
            <a:prstDash val="solid"/>
          </a:ln>
        </p:spPr>
      </p:sp>
      <p:sp>
        <p:nvSpPr>
          <p:cNvPr id="27" name="Text 21"/>
          <p:cNvSpPr/>
          <p:nvPr/>
        </p:nvSpPr>
        <p:spPr>
          <a:xfrm>
            <a:off x="5576589" y="3167162"/>
            <a:ext cx="3880049"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الأنظمة واللوائح، والعقود، والخصوصية</a:t>
            </a:r>
            <a:endParaRPr lang="ar-SA" sz="1200" dirty="0" altLang="en-US"/>
          </a:p>
        </p:txBody>
      </p:sp>
      <p:sp>
        <p:nvSpPr>
          <p:cNvPr id="28" name="Text 22"/>
          <p:cNvSpPr/>
          <p:nvPr/>
        </p:nvSpPr>
        <p:spPr>
          <a:xfrm>
            <a:off x="9494738" y="3191272"/>
            <a:ext cx="201712" cy="190500"/>
          </a:xfrm>
          <a:prstGeom prst="rect">
            <a:avLst/>
          </a:prstGeom>
          <a:noFill/>
          <a:ln/>
        </p:spPr>
        <p:txBody>
          <a:bodyPr wrap="square" lIns="0" tIns="0" rIns="0" bIns="0" rtlCol="0" anchor="t">
            <a:normAutofit/>
          </a:bodyPr>
          <a:lstStyle/>
          <a:p>
            <a:pPr algn="r" indent="0" marL="0">
              <a:lnSpc>
                <a:spcPts val="1300"/>
              </a:lnSpc>
              <a:buNone/>
            </a:pPr>
            <a:r>
              <a:rPr lang="en-US" sz="1300" dirty="0">
                <a:solidFill>
                  <a:srgbClr val="93A3B1"/>
                </a:solidFill>
                <a:latin typeface="IBM Plex Sans Arabic" pitchFamily="34" charset="0"/>
                <a:ea typeface="IBM Plex Sans Arabic" pitchFamily="34" charset="-122"/>
                <a:cs typeface="IBM Plex Sans Arabic" pitchFamily="34" charset="-120"/>
              </a:rPr>
              <a:t>←</a:t>
            </a:r>
            <a:endParaRPr lang="en-US" sz="1300" dirty="0"/>
          </a:p>
        </p:txBody>
      </p:sp>
      <p:sp>
        <p:nvSpPr>
          <p:cNvPr id="29" name="Text 23"/>
          <p:cNvSpPr/>
          <p:nvPr/>
        </p:nvSpPr>
        <p:spPr>
          <a:xfrm>
            <a:off x="9734550" y="3166666"/>
            <a:ext cx="1511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القانون</a:t>
            </a:r>
            <a:endParaRPr lang="ar-SA" sz="1250" dirty="0" altLang="en-US"/>
          </a:p>
        </p:txBody>
      </p:sp>
      <p:sp>
        <p:nvSpPr>
          <p:cNvPr id="30" name="Shape 24"/>
          <p:cNvSpPr/>
          <p:nvPr/>
        </p:nvSpPr>
        <p:spPr>
          <a:xfrm>
            <a:off x="5559425" y="3542903"/>
            <a:ext cx="5816600" cy="373063"/>
          </a:xfrm>
          <a:prstGeom prst="roundRect">
            <a:avLst>
              <a:gd name="adj" fmla="val 19574"/>
            </a:avLst>
          </a:prstGeom>
          <a:solidFill>
            <a:srgbClr val="FFFDF8"/>
          </a:solidFill>
          <a:ln w="6350">
            <a:solidFill>
              <a:srgbClr val="E1DBCD"/>
            </a:solidFill>
            <a:prstDash val="solid"/>
          </a:ln>
        </p:spPr>
      </p:sp>
      <p:sp>
        <p:nvSpPr>
          <p:cNvPr id="31" name="Text 25"/>
          <p:cNvSpPr/>
          <p:nvPr/>
        </p:nvSpPr>
        <p:spPr>
          <a:xfrm>
            <a:off x="5576589" y="3622774"/>
            <a:ext cx="3880049"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أنظمة الإدارة، والتدقيق الداخلي، والإجراءات</a:t>
            </a:r>
            <a:endParaRPr lang="ar-SA" sz="1200" dirty="0" altLang="en-US"/>
          </a:p>
        </p:txBody>
      </p:sp>
      <p:sp>
        <p:nvSpPr>
          <p:cNvPr id="32" name="Text 26"/>
          <p:cNvSpPr/>
          <p:nvPr/>
        </p:nvSpPr>
        <p:spPr>
          <a:xfrm>
            <a:off x="9494738" y="3646884"/>
            <a:ext cx="201712" cy="190500"/>
          </a:xfrm>
          <a:prstGeom prst="rect">
            <a:avLst/>
          </a:prstGeom>
          <a:noFill/>
          <a:ln/>
        </p:spPr>
        <p:txBody>
          <a:bodyPr wrap="square" lIns="0" tIns="0" rIns="0" bIns="0" rtlCol="0" anchor="t">
            <a:normAutofit/>
          </a:bodyPr>
          <a:lstStyle/>
          <a:p>
            <a:pPr algn="r" indent="0" marL="0">
              <a:lnSpc>
                <a:spcPts val="1300"/>
              </a:lnSpc>
              <a:buNone/>
            </a:pPr>
            <a:r>
              <a:rPr lang="en-US" sz="1300" dirty="0">
                <a:solidFill>
                  <a:srgbClr val="93A3B1"/>
                </a:solidFill>
                <a:latin typeface="IBM Plex Sans Arabic" pitchFamily="34" charset="0"/>
                <a:ea typeface="IBM Plex Sans Arabic" pitchFamily="34" charset="-122"/>
                <a:cs typeface="IBM Plex Sans Arabic" pitchFamily="34" charset="-120"/>
              </a:rPr>
              <a:t>←</a:t>
            </a:r>
            <a:endParaRPr lang="en-US" sz="1300" dirty="0"/>
          </a:p>
        </p:txBody>
      </p:sp>
      <p:sp>
        <p:nvSpPr>
          <p:cNvPr id="33" name="Text 27"/>
          <p:cNvSpPr/>
          <p:nvPr/>
        </p:nvSpPr>
        <p:spPr>
          <a:xfrm>
            <a:off x="9734550" y="3622278"/>
            <a:ext cx="1511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إدارة الجودة</a:t>
            </a:r>
            <a:endParaRPr lang="ar-SA" sz="1250" dirty="0" altLang="en-US"/>
          </a:p>
        </p:txBody>
      </p:sp>
      <p:sp>
        <p:nvSpPr>
          <p:cNvPr id="34" name="Shape 28"/>
          <p:cNvSpPr/>
          <p:nvPr/>
        </p:nvSpPr>
        <p:spPr>
          <a:xfrm>
            <a:off x="5559425" y="3998516"/>
            <a:ext cx="5816600" cy="373063"/>
          </a:xfrm>
          <a:prstGeom prst="roundRect">
            <a:avLst>
              <a:gd name="adj" fmla="val 19574"/>
            </a:avLst>
          </a:prstGeom>
          <a:solidFill>
            <a:srgbClr val="FFFDF8"/>
          </a:solidFill>
          <a:ln w="6350">
            <a:solidFill>
              <a:srgbClr val="E1DBCD"/>
            </a:solidFill>
            <a:prstDash val="solid"/>
          </a:ln>
        </p:spPr>
      </p:sp>
      <p:sp>
        <p:nvSpPr>
          <p:cNvPr id="35" name="Text 29"/>
          <p:cNvSpPr/>
          <p:nvPr/>
        </p:nvSpPr>
        <p:spPr>
          <a:xfrm>
            <a:off x="5576589" y="4078387"/>
            <a:ext cx="3880049"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متابعة المعالجة بمالك وموعد، وتقارير الحالة</a:t>
            </a:r>
            <a:endParaRPr lang="ar-SA" sz="1200" dirty="0" altLang="en-US"/>
          </a:p>
        </p:txBody>
      </p:sp>
      <p:sp>
        <p:nvSpPr>
          <p:cNvPr id="36" name="Text 30"/>
          <p:cNvSpPr/>
          <p:nvPr/>
        </p:nvSpPr>
        <p:spPr>
          <a:xfrm>
            <a:off x="9494738" y="4102497"/>
            <a:ext cx="201712" cy="190500"/>
          </a:xfrm>
          <a:prstGeom prst="rect">
            <a:avLst/>
          </a:prstGeom>
          <a:noFill/>
          <a:ln/>
        </p:spPr>
        <p:txBody>
          <a:bodyPr wrap="square" lIns="0" tIns="0" rIns="0" bIns="0" rtlCol="0" anchor="t">
            <a:normAutofit/>
          </a:bodyPr>
          <a:lstStyle/>
          <a:p>
            <a:pPr algn="r" indent="0" marL="0">
              <a:lnSpc>
                <a:spcPts val="1300"/>
              </a:lnSpc>
              <a:buNone/>
            </a:pPr>
            <a:r>
              <a:rPr lang="en-US" sz="1300" dirty="0">
                <a:solidFill>
                  <a:srgbClr val="93A3B1"/>
                </a:solidFill>
                <a:latin typeface="IBM Plex Sans Arabic" pitchFamily="34" charset="0"/>
                <a:ea typeface="IBM Plex Sans Arabic" pitchFamily="34" charset="-122"/>
                <a:cs typeface="IBM Plex Sans Arabic" pitchFamily="34" charset="-120"/>
              </a:rPr>
              <a:t>←</a:t>
            </a:r>
            <a:endParaRPr lang="en-US" sz="1300" dirty="0"/>
          </a:p>
        </p:txBody>
      </p:sp>
      <p:sp>
        <p:nvSpPr>
          <p:cNvPr id="37" name="Text 31"/>
          <p:cNvSpPr/>
          <p:nvPr/>
        </p:nvSpPr>
        <p:spPr>
          <a:xfrm>
            <a:off x="9734550" y="4077891"/>
            <a:ext cx="1511300"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إدارة المشاريع</a:t>
            </a:r>
            <a:endParaRPr lang="ar-SA" sz="1250" dirty="0" altLang="en-US"/>
          </a:p>
        </p:txBody>
      </p:sp>
      <p:sp>
        <p:nvSpPr>
          <p:cNvPr id="38" name="Text 32"/>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47</a:t>
            </a:r>
            <a:endParaRPr lang="en-US" sz="1200" dirty="0"/>
          </a:p>
        </p:txBody>
      </p:sp>
      <p:sp>
        <p:nvSpPr>
          <p:cNvPr id="39" name="Text 33"/>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06 · السيرة الذاتية</a:t>
            </a:r>
            <a:endParaRPr lang="ar-SA" sz="1200" dirty="0"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789807" cy="289520"/>
          </a:xfrm>
          <a:custGeom>
            <a:avLst/>
            <a:gdLst/>
            <a:ahLst/>
            <a:cxnLst/>
            <a:rect l="l" t="t" r="r" b="b"/>
            <a:pathLst>
              <a:path w="1789807" h="289520">
                <a:moveTo>
                  <a:pt x="144760" y="0"/>
                </a:moveTo>
                <a:lnTo>
                  <a:pt x="1645047" y="0"/>
                </a:lnTo>
                <a:arcTo hR="144760" wR="144760" stAng="16200000" swAng="5400000"/>
                <a:lnTo>
                  <a:pt x="1789807"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06 · السيرة الذاتية</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ثمانية أخطاء شائعة، وتصحيح كل منها</a:t>
            </a:r>
            <a:endParaRPr lang="ar-SA" sz="3000" dirty="0" altLang="en-US"/>
          </a:p>
        </p:txBody>
      </p:sp>
      <p:sp>
        <p:nvSpPr>
          <p:cNvPr id="5" name="Shape 3"/>
          <p:cNvSpPr/>
          <p:nvPr/>
        </p:nvSpPr>
        <p:spPr>
          <a:xfrm>
            <a:off x="11376025" y="1832570"/>
            <a:ext cx="0" cy="3013174"/>
          </a:xfrm>
          <a:prstGeom prst="line">
            <a:avLst/>
          </a:prstGeom>
          <a:noFill/>
          <a:ln w="6350">
            <a:solidFill>
              <a:srgbClr val="D9D2C2"/>
            </a:solidFill>
            <a:prstDash val="solid"/>
          </a:ln>
        </p:spPr>
      </p:sp>
      <p:sp>
        <p:nvSpPr>
          <p:cNvPr id="6" name="Shape 4"/>
          <p:cNvSpPr/>
          <p:nvPr/>
        </p:nvSpPr>
        <p:spPr>
          <a:xfrm>
            <a:off x="812800" y="4842570"/>
            <a:ext cx="10566400" cy="0"/>
          </a:xfrm>
          <a:prstGeom prst="line">
            <a:avLst/>
          </a:prstGeom>
          <a:noFill/>
          <a:ln w="6350">
            <a:solidFill>
              <a:srgbClr val="D9D2C2"/>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45270"/>
          <a:ext cx="10547350" cy="2994124"/>
        </p:xfrm>
        <a:graphic>
          <a:graphicData uri="http://schemas.openxmlformats.org/drawingml/2006/table">
            <a:tbl>
              <a:tblPr/>
              <a:tblGrid>
                <a:gridCol w="5484622"/>
                <a:gridCol w="5062728"/>
              </a:tblGrid>
              <a:tr h="332680">
                <a:tc>
                  <a:txBody>
                    <a:bodyPr/>
                    <a:lstStyle/>
                    <a:p>
                      <a:pPr algn="r" indent="0" marL="0" rtl="1">
                        <a:lnSpc>
                          <a:spcPts val="1680"/>
                        </a:lnSpc>
                        <a:buNone/>
                      </a:pPr>
                      <a:r>
                        <a:rPr lang="ar-SA" sz="1200" b="1" dirty="0" altLang="en-US">
                          <a:solidFill>
                            <a:srgbClr val="F3EFE6"/>
                          </a:solidFill>
                          <a:latin typeface="IBM Plex Sans Arabic" pitchFamily="34" charset="0"/>
                          <a:ea typeface="IBM Plex Sans Arabic" pitchFamily="34" charset="-122"/>
                          <a:cs typeface="IBM Plex Sans Arabic" pitchFamily="34" charset="-120"/>
                        </a:rPr>
                        <a:t>التصحيح</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c>
                  <a:txBody>
                    <a:bodyPr/>
                    <a:lstStyle/>
                    <a:p>
                      <a:pPr algn="r" indent="0" marL="0" rtl="1">
                        <a:lnSpc>
                          <a:spcPts val="1680"/>
                        </a:lnSpc>
                        <a:buNone/>
                      </a:pPr>
                      <a:r>
                        <a:rPr lang="ar-SA" sz="1200" b="1" dirty="0" altLang="en-US">
                          <a:solidFill>
                            <a:srgbClr val="F3EFE6"/>
                          </a:solidFill>
                          <a:latin typeface="IBM Plex Sans Arabic" pitchFamily="34" charset="0"/>
                          <a:ea typeface="IBM Plex Sans Arabic" pitchFamily="34" charset="-122"/>
                          <a:cs typeface="IBM Plex Sans Arabic" pitchFamily="34" charset="-120"/>
                        </a:rPr>
                        <a:t>الخطأ</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16202C"/>
                      </a:solidFill>
                      <a:prstDash val="solid"/>
                      <a:round/>
                      <a:headEnd type="none" w="med" len="med"/>
                      <a:tailEnd type="none" w="med" len="med"/>
                    </a:lnL>
                    <a:lnR w="12700" cap="flat" cmpd="sng" algn="ctr">
                      <a:solidFill>
                        <a:srgbClr val="16202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6202C"/>
                      </a:solidFill>
                      <a:prstDash val="solid"/>
                      <a:round/>
                      <a:headEnd type="none" w="med" len="med"/>
                      <a:tailEnd type="none" w="med" len="med"/>
                    </a:lnB>
                    <a:solidFill>
                      <a:srgbClr val="172433"/>
                    </a:solidFill>
                  </a:tcPr>
                </a:tc>
              </a:tr>
              <a:tr h="332680">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صفحة واحدة للمبتدئ، وصفحتان كحد أقصى مع الخبرة</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سيرة من ثلاث صفحات أو أكثر</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20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2680">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فعل + ما فعلت + طريقة + نتيجة</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«Responsible for…» في كل سطر</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r>
              <a:tr h="332680">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مدقق إملائي، ثم قراءة شخص آخر</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أخطاء إملائية في وظيفة تقوم على الدقة</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2680">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عدّل الملخص والمهارات لكل إعلان مهم</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نسخة واحدة لكل الإعلانات</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r>
              <a:tr h="332680">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ما حصلت عليه فقط، أو «قيد الدراسة» مع موعد</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شهادة لم تحصل عليها</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2680">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مهارة مع دليل: مشروع، أو رقم، أو نتيجة</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«Team player, hard worker» بلا دليل</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r>
              <a:tr h="332680">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بريد باسمك، ورابط LinkedIn مخصص</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بريد غير مهني أو قديم</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2680">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الاسم والمدينة ووسائل التواصل تكفي</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c>
                  <a:txBody>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رقم الهوية أو الجواز في السيرة</a:t>
                      </a:r>
                      <a:endParaRPr lang="ar-SA" sz="1200" dirty="0" altLang="en-US">
                        <a:latin typeface="IBM Plex Sans Arabic" charset="0"/>
                        <a:ea typeface="IBM Plex Sans Arabic" charset="0"/>
                        <a:cs typeface="IBM Plex Sans Arabic" charset="0"/>
                      </a:endParaRPr>
                    </a:p>
                  </a:txBody>
                  <a:tcPr marL="53340" marR="53340" marT="53340" marB="5334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1"/>
                    </a:solidFill>
                  </a:tcPr>
                </a:tc>
              </a:tr>
            </a:tbl>
          </a:graphicData>
        </a:graphic>
      </p:graphicFrame>
      <p:sp>
        <p:nvSpPr>
          <p:cNvPr id="8" name="Text 5"/>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48</a:t>
            </a:r>
            <a:endParaRPr lang="en-US" sz="1200" dirty="0"/>
          </a:p>
        </p:txBody>
      </p:sp>
      <p:sp>
        <p:nvSpPr>
          <p:cNvPr id="9" name="Text 6"/>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06 · السيرة الذاتية</a:t>
            </a:r>
            <a:endParaRPr lang="ar-SA" sz="1200" dirty="0"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72433"/>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0E7C6B"/>
          </a:solidFill>
          <a:ln/>
        </p:spPr>
      </p:sp>
      <p:sp>
        <p:nvSpPr>
          <p:cNvPr id="3" name="Text 1"/>
          <p:cNvSpPr/>
          <p:nvPr>
            <p:ph type="title"/>
          </p:nvPr>
        </p:nvSpPr>
        <p:spPr>
          <a:xfrm>
            <a:off x="251480" y="2677170"/>
            <a:ext cx="3367921" cy="756890"/>
          </a:xfrm>
          <a:prstGeom prst="rect">
            <a:avLst/>
          </a:prstGeom>
          <a:noFill/>
          <a:ln/>
        </p:spPr>
        <p:txBody>
          <a:bodyPr wrap="square" lIns="0" tIns="0" rIns="0" bIns="0" rtlCol="0" anchor="t">
            <a:normAutofit/>
          </a:bodyPr>
          <a:lstStyle/>
          <a:p>
            <a:pPr algn="r" indent="0" marL="0">
              <a:lnSpc>
                <a:spcPts val="5760"/>
              </a:lnSpc>
              <a:buNone/>
            </a:pPr>
            <a:r>
              <a:rPr lang="en-US" sz="4800" b="1" i="0" dirty="0">
                <a:solidFill>
                  <a:srgbClr val="F3EFE6"/>
                </a:solidFill>
                <a:latin typeface="Readex Pro" pitchFamily="34" charset="0"/>
                <a:ea typeface="Readex Pro" pitchFamily="34" charset="-122"/>
                <a:cs typeface="Readex Pro" pitchFamily="34" charset="-120"/>
              </a:rPr>
              <a:t>LinkedIn</a:t>
            </a:r>
            <a:endParaRPr lang="en-US" sz="4800" dirty="0"/>
          </a:p>
        </p:txBody>
      </p:sp>
      <p:sp>
        <p:nvSpPr>
          <p:cNvPr id="4" name="Text 2"/>
          <p:cNvSpPr/>
          <p:nvPr/>
        </p:nvSpPr>
        <p:spPr>
          <a:xfrm>
            <a:off x="3619401" y="2138660"/>
            <a:ext cx="181233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0E7C6B"/>
                </a:solidFill>
                <a:latin typeface="Readex Pro" pitchFamily="34" charset="0"/>
                <a:ea typeface="Readex Pro" pitchFamily="34" charset="-122"/>
                <a:cs typeface="Readex Pro" pitchFamily="34" charset="-120"/>
              </a:rPr>
              <a:t>07</a:t>
            </a:r>
            <a:endParaRPr lang="en-US" sz="10000" dirty="0"/>
          </a:p>
        </p:txBody>
      </p:sp>
      <p:sp>
        <p:nvSpPr>
          <p:cNvPr id="5" name="Text 3"/>
          <p:cNvSpPr/>
          <p:nvPr/>
        </p:nvSpPr>
        <p:spPr>
          <a:xfrm>
            <a:off x="546100" y="3611860"/>
            <a:ext cx="9156700" cy="368300"/>
          </a:xfrm>
          <a:prstGeom prst="rect">
            <a:avLst/>
          </a:prstGeom>
          <a:noFill/>
          <a:ln/>
        </p:spPr>
        <p:txBody>
          <a:bodyPr wrap="square" lIns="0" tIns="0" rIns="0" bIns="0" rtlCol="0" anchor="t">
            <a:normAutofit/>
          </a:bodyPr>
          <a:lstStyle/>
          <a:p>
            <a:pPr algn="r" indent="0" marL="0" rtl="1">
              <a:lnSpc>
                <a:spcPts val="2700"/>
              </a:lnSpc>
              <a:buNone/>
            </a:pPr>
            <a:r>
              <a:rPr lang="ar-SA" sz="1800" dirty="0" altLang="en-US">
                <a:solidFill>
                  <a:srgbClr val="D9E2E6"/>
                </a:solidFill>
                <a:latin typeface="IBM Plex Sans Arabic" pitchFamily="34" charset="0"/>
                <a:ea typeface="IBM Plex Sans Arabic" pitchFamily="34" charset="-122"/>
                <a:cs typeface="IBM Plex Sans Arabic" pitchFamily="34" charset="-120"/>
              </a:rPr>
              <a:t>ملفك على LinkedIn يعمل وأنت نائم: يجده مسؤول التوظيف حين يبحث، ويقرؤه قبل أن يتصل بك.</a:t>
            </a:r>
            <a:endParaRPr lang="ar-SA" sz="1800" dirty="0" altLang="en-US"/>
          </a:p>
        </p:txBody>
      </p:sp>
      <p:sp>
        <p:nvSpPr>
          <p:cNvPr id="6" name="Text 4"/>
          <p:cNvSpPr/>
          <p:nvPr/>
        </p:nvSpPr>
        <p:spPr>
          <a:xfrm>
            <a:off x="812800" y="4157960"/>
            <a:ext cx="1487438"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البحث عن الوظائف</a:t>
            </a:r>
            <a:endParaRPr lang="ar-SA" sz="1300" dirty="0" altLang="en-US"/>
          </a:p>
        </p:txBody>
      </p:sp>
      <p:sp>
        <p:nvSpPr>
          <p:cNvPr id="7" name="Text 5"/>
          <p:cNvSpPr/>
          <p:nvPr/>
        </p:nvSpPr>
        <p:spPr>
          <a:xfrm>
            <a:off x="2401838" y="4157960"/>
            <a:ext cx="1383903"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بناء الشبكة والنشر</a:t>
            </a:r>
            <a:endParaRPr lang="ar-SA" sz="1300" dirty="0" altLang="en-US"/>
          </a:p>
        </p:txBody>
      </p:sp>
      <p:sp>
        <p:nvSpPr>
          <p:cNvPr id="8" name="Text 6"/>
          <p:cNvSpPr/>
          <p:nvPr/>
        </p:nvSpPr>
        <p:spPr>
          <a:xfrm>
            <a:off x="3887341" y="4157960"/>
            <a:ext cx="1044178"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نبذة About</a:t>
            </a:r>
            <a:endParaRPr lang="ar-SA" sz="1300" dirty="0" altLang="en-US"/>
          </a:p>
        </p:txBody>
      </p:sp>
      <p:sp>
        <p:nvSpPr>
          <p:cNvPr id="9" name="Text 7"/>
          <p:cNvSpPr/>
          <p:nvPr/>
        </p:nvSpPr>
        <p:spPr>
          <a:xfrm>
            <a:off x="5033119" y="4157960"/>
            <a:ext cx="1167160"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العنوان المهني</a:t>
            </a:r>
            <a:endParaRPr lang="ar-SA" sz="1300" dirty="0" altLang="en-US"/>
          </a:p>
        </p:txBody>
      </p:sp>
      <p:sp>
        <p:nvSpPr>
          <p:cNvPr id="10" name="Text 8"/>
          <p:cNvSpPr/>
          <p:nvPr/>
        </p:nvSpPr>
        <p:spPr>
          <a:xfrm>
            <a:off x="6301879" y="4157960"/>
            <a:ext cx="1096814"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تشريح الملف</a:t>
            </a:r>
            <a:endParaRPr lang="ar-SA" sz="1300" dirty="0" altLang="en-US"/>
          </a:p>
        </p:txBody>
      </p:sp>
      <p:sp>
        <p:nvSpPr>
          <p:cNvPr id="11" name="Text 9"/>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3A3B1"/>
                </a:solidFill>
                <a:latin typeface="IBM Plex Sans Arabic" pitchFamily="34" charset="0"/>
                <a:ea typeface="IBM Plex Sans Arabic" pitchFamily="34" charset="-122"/>
                <a:cs typeface="IBM Plex Sans Arabic" pitchFamily="34" charset="-120"/>
              </a:rPr>
              <a:t>49</a:t>
            </a:r>
            <a:endParaRPr lang="en-US" sz="1200" dirty="0"/>
          </a:p>
        </p:txBody>
      </p:sp>
      <p:sp>
        <p:nvSpPr>
          <p:cNvPr id="12" name="Text 10"/>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93A3B1"/>
                </a:solidFill>
                <a:latin typeface="IBM Plex Sans Arabic" pitchFamily="34" charset="0"/>
                <a:ea typeface="IBM Plex Sans Arabic" pitchFamily="34" charset="-122"/>
                <a:cs typeface="IBM Plex Sans Arabic" pitchFamily="34" charset="-120"/>
              </a:rPr>
              <a:t>كيف تبدأ في GRC · الوحدة 07</a:t>
            </a:r>
            <a:endParaRPr lang="ar-SA" sz="1200" dirty="0"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633339" cy="289520"/>
          </a:xfrm>
          <a:custGeom>
            <a:avLst/>
            <a:gdLst/>
            <a:ahLst/>
            <a:cxnLst/>
            <a:rect l="l" t="t" r="r" b="b"/>
            <a:pathLst>
              <a:path w="1633339" h="289520">
                <a:moveTo>
                  <a:pt x="144760" y="0"/>
                </a:moveTo>
                <a:lnTo>
                  <a:pt x="1488579" y="0"/>
                </a:lnTo>
                <a:arcTo hR="144760" wR="144760" stAng="16200000" swAng="5400000"/>
                <a:lnTo>
                  <a:pt x="1633339"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07 · LinkedIn</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تشريح ملف مكتمل</a:t>
            </a:r>
            <a:endParaRPr lang="ar-SA" sz="3000" dirty="0" altLang="en-US"/>
          </a:p>
        </p:txBody>
      </p:sp>
      <p:sp>
        <p:nvSpPr>
          <p:cNvPr id="5" name="Shape 3"/>
          <p:cNvSpPr/>
          <p:nvPr/>
        </p:nvSpPr>
        <p:spPr>
          <a:xfrm>
            <a:off x="815975" y="1784945"/>
            <a:ext cx="6775450" cy="3725366"/>
          </a:xfrm>
          <a:prstGeom prst="roundRect">
            <a:avLst>
              <a:gd name="adj" fmla="val 2301"/>
            </a:avLst>
          </a:prstGeom>
          <a:solidFill>
            <a:srgbClr val="FFFFFF"/>
          </a:solidFill>
          <a:ln w="6350">
            <a:solidFill>
              <a:srgbClr val="D9D2C2"/>
            </a:solidFill>
            <a:prstDash val="solid"/>
          </a:ln>
        </p:spPr>
      </p:sp>
      <p:sp>
        <p:nvSpPr>
          <p:cNvPr id="6" name="Shape 4"/>
          <p:cNvSpPr/>
          <p:nvPr/>
        </p:nvSpPr>
        <p:spPr>
          <a:xfrm>
            <a:off x="819150" y="1788120"/>
            <a:ext cx="6769100" cy="952500"/>
          </a:xfrm>
          <a:custGeom>
            <a:avLst/>
            <a:gdLst/>
            <a:ahLst/>
            <a:cxnLst/>
            <a:rect l="l" t="t" r="r" b="b"/>
            <a:pathLst>
              <a:path w="6769100" h="952500">
                <a:moveTo>
                  <a:pt x="0" y="82550"/>
                </a:moveTo>
                <a:arcTo hR="82550" wR="82550" stAng="10800000" swAng="5400000"/>
                <a:lnTo>
                  <a:pt x="6686550" y="0"/>
                </a:lnTo>
                <a:arcTo hR="82550" wR="82550" stAng="16200000" swAng="5400000"/>
                <a:lnTo>
                  <a:pt x="6769100" y="952500"/>
                </a:lnTo>
                <a:lnTo>
                  <a:pt x="0" y="952500"/>
                </a:lnTo>
                <a:close/>
              </a:path>
            </a:pathLst>
          </a:custGeom>
          <a:gradFill rotWithShape="1">
            <a:gsLst>
              <a:gs pos="0">
                <a:srgbClr val="172433"/>
              </a:gs>
              <a:gs pos="100000">
                <a:srgbClr val="0E7C6B"/>
              </a:gs>
            </a:gsLst>
            <a:lin ang="0" scaled="0"/>
          </a:gradFill>
          <a:ln/>
        </p:spPr>
      </p:sp>
      <p:sp>
        <p:nvSpPr>
          <p:cNvPr id="7" name="Text 5"/>
          <p:cNvSpPr/>
          <p:nvPr/>
        </p:nvSpPr>
        <p:spPr>
          <a:xfrm>
            <a:off x="4034572" y="2157065"/>
            <a:ext cx="3083778"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F3EFE6"/>
                </a:solidFill>
                <a:latin typeface="Readex Pro" pitchFamily="34" charset="0"/>
                <a:ea typeface="Readex Pro" pitchFamily="34" charset="-122"/>
                <a:cs typeface="Readex Pro" pitchFamily="34" charset="-120"/>
              </a:rPr>
              <a:t>Governance · Risk · Compliance</a:t>
            </a:r>
            <a:endParaRPr lang="en-US" sz="1300" dirty="0"/>
          </a:p>
        </p:txBody>
      </p:sp>
      <p:sp>
        <p:nvSpPr>
          <p:cNvPr id="8" name="Text 6"/>
          <p:cNvSpPr/>
          <p:nvPr/>
        </p:nvSpPr>
        <p:spPr>
          <a:xfrm>
            <a:off x="7194550" y="2169120"/>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F2C46D"/>
          </a:solidFill>
          <a:ln/>
        </p:spPr>
        <p:txBody>
          <a:bodyPr wrap="square" lIns="0" tIns="0" rIns="0" bIns="0" rtlCol="0" anchor="t">
            <a:normAutofit/>
          </a:bodyPr>
          <a:lstStyle/>
          <a:p>
            <a:pPr algn="ctr" indent="0" marL="0">
              <a:lnSpc>
                <a:spcPts val="1500"/>
              </a:lnSpc>
              <a:buNone/>
            </a:pPr>
            <a:r>
              <a:rPr lang="en-US" sz="1200" b="1" dirty="0">
                <a:solidFill>
                  <a:srgbClr val="172433"/>
                </a:solidFill>
                <a:latin typeface="IBM Plex Sans Arabic" pitchFamily="34" charset="0"/>
                <a:ea typeface="IBM Plex Sans Arabic" pitchFamily="34" charset="-122"/>
                <a:cs typeface="IBM Plex Sans Arabic" pitchFamily="34" charset="-120"/>
              </a:rPr>
              <a:t>2</a:t>
            </a:r>
            <a:endParaRPr lang="en-US" sz="1200" dirty="0"/>
          </a:p>
        </p:txBody>
      </p:sp>
      <p:sp>
        <p:nvSpPr>
          <p:cNvPr id="9" name="Text 7"/>
          <p:cNvSpPr/>
          <p:nvPr/>
        </p:nvSpPr>
        <p:spPr>
          <a:xfrm>
            <a:off x="1047750" y="3312120"/>
            <a:ext cx="6501257"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E2A36"/>
                </a:solidFill>
                <a:latin typeface="Readex Pro" pitchFamily="34" charset="0"/>
                <a:ea typeface="Readex Pro" pitchFamily="34" charset="-122"/>
                <a:cs typeface="Readex Pro" pitchFamily="34" charset="-120"/>
              </a:rPr>
              <a:t>Sara Ahmed</a:t>
            </a:r>
            <a:endParaRPr lang="en-US" sz="1700" dirty="0"/>
          </a:p>
        </p:txBody>
      </p:sp>
      <p:sp>
        <p:nvSpPr>
          <p:cNvPr id="10" name="Text 8"/>
          <p:cNvSpPr/>
          <p:nvPr/>
        </p:nvSpPr>
        <p:spPr>
          <a:xfrm>
            <a:off x="1047750" y="3632795"/>
            <a:ext cx="467528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Entry-Level GRC Analyst | Risk Assessment · ISO 27001 · NCA ECC</a:t>
            </a:r>
            <a:endParaRPr lang="en-US" sz="1200" dirty="0"/>
          </a:p>
        </p:txBody>
      </p:sp>
      <p:sp>
        <p:nvSpPr>
          <p:cNvPr id="11" name="Text 9"/>
          <p:cNvSpPr/>
          <p:nvPr/>
        </p:nvSpPr>
        <p:spPr>
          <a:xfrm>
            <a:off x="5650359" y="3636566"/>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0E7C6B"/>
          </a:solidFill>
          <a:ln/>
        </p:spPr>
        <p:txBody>
          <a:bodyPr wrap="square" lIns="0" tIns="0" rIns="0" bIns="0" rtlCol="0" anchor="t">
            <a:normAutofit/>
          </a:bodyPr>
          <a:lstStyle/>
          <a:p>
            <a:pPr algn="ctr" indent="0" marL="0">
              <a:lnSpc>
                <a:spcPts val="1500"/>
              </a:lnSpc>
              <a:buNone/>
            </a:pPr>
            <a:r>
              <a:rPr lang="en-US" sz="1200" b="1" dirty="0">
                <a:solidFill>
                  <a:srgbClr val="FFFFFF"/>
                </a:solidFill>
                <a:latin typeface="IBM Plex Sans Arabic" pitchFamily="34" charset="0"/>
                <a:ea typeface="IBM Plex Sans Arabic" pitchFamily="34" charset="-122"/>
                <a:cs typeface="IBM Plex Sans Arabic" pitchFamily="34" charset="-120"/>
              </a:rPr>
              <a:t>3</a:t>
            </a:r>
            <a:endParaRPr lang="en-US" sz="1200" dirty="0"/>
          </a:p>
        </p:txBody>
      </p:sp>
      <p:sp>
        <p:nvSpPr>
          <p:cNvPr id="12" name="Text 10"/>
          <p:cNvSpPr/>
          <p:nvPr/>
        </p:nvSpPr>
        <p:spPr>
          <a:xfrm>
            <a:off x="1047750" y="3881686"/>
            <a:ext cx="2886098"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75"/>
                </a:solidFill>
                <a:latin typeface="IBM Plex Sans Arabic" pitchFamily="34" charset="0"/>
                <a:ea typeface="IBM Plex Sans Arabic" pitchFamily="34" charset="-122"/>
                <a:cs typeface="IBM Plex Sans Arabic" pitchFamily="34" charset="-120"/>
              </a:rPr>
              <a:t>Riyadh · linkedin.com/in/sara-ahmed-grc</a:t>
            </a:r>
            <a:endParaRPr lang="en-US" sz="1200" dirty="0"/>
          </a:p>
        </p:txBody>
      </p:sp>
      <p:sp>
        <p:nvSpPr>
          <p:cNvPr id="13" name="Text 11"/>
          <p:cNvSpPr/>
          <p:nvPr/>
        </p:nvSpPr>
        <p:spPr>
          <a:xfrm>
            <a:off x="3913287" y="3885456"/>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0E7C6B"/>
          </a:solidFill>
          <a:ln/>
        </p:spPr>
        <p:txBody>
          <a:bodyPr wrap="square" lIns="0" tIns="0" rIns="0" bIns="0" rtlCol="0" anchor="t">
            <a:normAutofit/>
          </a:bodyPr>
          <a:lstStyle/>
          <a:p>
            <a:pPr algn="ctr" indent="0" marL="0">
              <a:lnSpc>
                <a:spcPts val="1500"/>
              </a:lnSpc>
              <a:buNone/>
            </a:pPr>
            <a:r>
              <a:rPr lang="en-US" sz="1200" b="1" dirty="0">
                <a:solidFill>
                  <a:srgbClr val="FFFFFF"/>
                </a:solidFill>
                <a:latin typeface="IBM Plex Sans Arabic" pitchFamily="34" charset="0"/>
                <a:ea typeface="IBM Plex Sans Arabic" pitchFamily="34" charset="-122"/>
                <a:cs typeface="IBM Plex Sans Arabic" pitchFamily="34" charset="-120"/>
              </a:rPr>
              <a:t>4</a:t>
            </a:r>
            <a:endParaRPr lang="en-US" sz="1200" dirty="0"/>
          </a:p>
        </p:txBody>
      </p:sp>
      <p:sp>
        <p:nvSpPr>
          <p:cNvPr id="14" name="Text 12"/>
          <p:cNvSpPr/>
          <p:nvPr/>
        </p:nvSpPr>
        <p:spPr>
          <a:xfrm>
            <a:off x="1047750" y="4181376"/>
            <a:ext cx="70757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36"/>
                </a:solidFill>
                <a:latin typeface="IBM Plex Sans Arabic" pitchFamily="34" charset="0"/>
                <a:ea typeface="IBM Plex Sans Arabic" pitchFamily="34" charset="-122"/>
                <a:cs typeface="IBM Plex Sans Arabic" pitchFamily="34" charset="-120"/>
              </a:rPr>
              <a:t>Featured</a:t>
            </a:r>
            <a:endParaRPr lang="en-US" sz="1200" dirty="0"/>
          </a:p>
        </p:txBody>
      </p:sp>
      <p:sp>
        <p:nvSpPr>
          <p:cNvPr id="15" name="Text 13"/>
          <p:cNvSpPr/>
          <p:nvPr/>
        </p:nvSpPr>
        <p:spPr>
          <a:xfrm>
            <a:off x="1755329" y="4185146"/>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0E7C6B"/>
          </a:solidFill>
          <a:ln/>
        </p:spPr>
        <p:txBody>
          <a:bodyPr wrap="square" lIns="0" tIns="0" rIns="0" bIns="0" rtlCol="0" anchor="t">
            <a:normAutofit/>
          </a:bodyPr>
          <a:lstStyle/>
          <a:p>
            <a:pPr algn="ctr" indent="0" marL="0">
              <a:lnSpc>
                <a:spcPts val="1500"/>
              </a:lnSpc>
              <a:buNone/>
            </a:pPr>
            <a:r>
              <a:rPr lang="en-US" sz="1200" b="1" dirty="0">
                <a:solidFill>
                  <a:srgbClr val="FFFFFF"/>
                </a:solidFill>
                <a:latin typeface="IBM Plex Sans Arabic" pitchFamily="34" charset="0"/>
                <a:ea typeface="IBM Plex Sans Arabic" pitchFamily="34" charset="-122"/>
                <a:cs typeface="IBM Plex Sans Arabic" pitchFamily="34" charset="-120"/>
              </a:rPr>
              <a:t>5</a:t>
            </a:r>
            <a:endParaRPr lang="en-US" sz="1200" dirty="0"/>
          </a:p>
        </p:txBody>
      </p:sp>
      <p:sp>
        <p:nvSpPr>
          <p:cNvPr id="16" name="Shape 14"/>
          <p:cNvSpPr/>
          <p:nvPr/>
        </p:nvSpPr>
        <p:spPr>
          <a:xfrm>
            <a:off x="1047750" y="4430266"/>
            <a:ext cx="3111500" cy="561280"/>
          </a:xfrm>
          <a:prstGeom prst="roundRect">
            <a:avLst>
              <a:gd name="adj" fmla="val 11313"/>
            </a:avLst>
          </a:prstGeom>
          <a:solidFill>
            <a:srgbClr val="F1ECE1"/>
          </a:solidFill>
          <a:ln/>
        </p:spPr>
      </p:sp>
      <p:sp>
        <p:nvSpPr>
          <p:cNvPr id="17" name="Text 15"/>
          <p:cNvSpPr/>
          <p:nvPr/>
        </p:nvSpPr>
        <p:spPr>
          <a:xfrm>
            <a:off x="1149350" y="4506466"/>
            <a:ext cx="299554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36"/>
                </a:solidFill>
                <a:latin typeface="IBM Plex Sans Arabic" pitchFamily="34" charset="0"/>
                <a:ea typeface="IBM Plex Sans Arabic" pitchFamily="34" charset="-122"/>
                <a:cs typeface="IBM Plex Sans Arabic" pitchFamily="34" charset="-120"/>
              </a:rPr>
              <a:t>Risk Register · PDF</a:t>
            </a:r>
            <a:endParaRPr lang="en-US" sz="1200" dirty="0"/>
          </a:p>
        </p:txBody>
      </p:sp>
      <p:sp>
        <p:nvSpPr>
          <p:cNvPr id="18" name="Text 16"/>
          <p:cNvSpPr/>
          <p:nvPr/>
        </p:nvSpPr>
        <p:spPr>
          <a:xfrm>
            <a:off x="1149350" y="4717256"/>
            <a:ext cx="299554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75"/>
                </a:solidFill>
                <a:latin typeface="IBM Plex Sans Arabic" pitchFamily="34" charset="0"/>
                <a:ea typeface="IBM Plex Sans Arabic" pitchFamily="34" charset="-122"/>
                <a:cs typeface="IBM Plex Sans Arabic" pitchFamily="34" charset="-120"/>
              </a:rPr>
              <a:t>20 risks, fictional company</a:t>
            </a:r>
            <a:endParaRPr lang="en-US" sz="1200" dirty="0"/>
          </a:p>
        </p:txBody>
      </p:sp>
      <p:sp>
        <p:nvSpPr>
          <p:cNvPr id="19" name="Shape 17"/>
          <p:cNvSpPr/>
          <p:nvPr/>
        </p:nvSpPr>
        <p:spPr>
          <a:xfrm>
            <a:off x="4248150" y="4430266"/>
            <a:ext cx="3111500" cy="561280"/>
          </a:xfrm>
          <a:prstGeom prst="roundRect">
            <a:avLst>
              <a:gd name="adj" fmla="val 11313"/>
            </a:avLst>
          </a:prstGeom>
          <a:solidFill>
            <a:srgbClr val="F1ECE1"/>
          </a:solidFill>
          <a:ln/>
        </p:spPr>
      </p:sp>
      <p:sp>
        <p:nvSpPr>
          <p:cNvPr id="20" name="Text 18"/>
          <p:cNvSpPr/>
          <p:nvPr/>
        </p:nvSpPr>
        <p:spPr>
          <a:xfrm>
            <a:off x="4349750" y="4506466"/>
            <a:ext cx="299554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36"/>
                </a:solidFill>
                <a:latin typeface="IBM Plex Sans Arabic" pitchFamily="34" charset="0"/>
                <a:ea typeface="IBM Plex Sans Arabic" pitchFamily="34" charset="-122"/>
                <a:cs typeface="IBM Plex Sans Arabic" pitchFamily="34" charset="-120"/>
              </a:rPr>
              <a:t>ECC Gap Assessment</a:t>
            </a:r>
            <a:endParaRPr lang="en-US" sz="1200" dirty="0"/>
          </a:p>
        </p:txBody>
      </p:sp>
      <p:sp>
        <p:nvSpPr>
          <p:cNvPr id="21" name="Text 19"/>
          <p:cNvSpPr/>
          <p:nvPr/>
        </p:nvSpPr>
        <p:spPr>
          <a:xfrm>
            <a:off x="4349750" y="4717256"/>
            <a:ext cx="299554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75"/>
                </a:solidFill>
                <a:latin typeface="IBM Plex Sans Arabic" pitchFamily="34" charset="0"/>
                <a:ea typeface="IBM Plex Sans Arabic" pitchFamily="34" charset="-122"/>
                <a:cs typeface="IBM Plex Sans Arabic" pitchFamily="34" charset="-120"/>
              </a:rPr>
              <a:t>Post · 5 findings explained</a:t>
            </a:r>
            <a:endParaRPr lang="en-US" sz="1200" dirty="0"/>
          </a:p>
        </p:txBody>
      </p:sp>
      <p:sp>
        <p:nvSpPr>
          <p:cNvPr id="22" name="Text 20"/>
          <p:cNvSpPr/>
          <p:nvPr/>
        </p:nvSpPr>
        <p:spPr>
          <a:xfrm>
            <a:off x="1047750" y="5128667"/>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0E7C6B"/>
          </a:solidFill>
          <a:ln/>
        </p:spPr>
        <p:txBody>
          <a:bodyPr wrap="square" lIns="0" tIns="0" rIns="0" bIns="0" rtlCol="0" anchor="t">
            <a:normAutofit/>
          </a:bodyPr>
          <a:lstStyle/>
          <a:p>
            <a:pPr algn="ctr" indent="0" marL="0">
              <a:lnSpc>
                <a:spcPts val="1500"/>
              </a:lnSpc>
              <a:buNone/>
            </a:pPr>
            <a:r>
              <a:rPr lang="en-US" sz="1200" b="1" dirty="0">
                <a:solidFill>
                  <a:srgbClr val="FFFFFF"/>
                </a:solidFill>
                <a:latin typeface="IBM Plex Sans Arabic" pitchFamily="34" charset="0"/>
                <a:ea typeface="IBM Plex Sans Arabic" pitchFamily="34" charset="-122"/>
                <a:cs typeface="IBM Plex Sans Arabic" pitchFamily="34" charset="-120"/>
              </a:rPr>
              <a:t>6</a:t>
            </a:r>
            <a:endParaRPr lang="en-US" sz="1200" dirty="0"/>
          </a:p>
        </p:txBody>
      </p:sp>
      <p:sp>
        <p:nvSpPr>
          <p:cNvPr id="23" name="Text 21"/>
          <p:cNvSpPr/>
          <p:nvPr/>
        </p:nvSpPr>
        <p:spPr>
          <a:xfrm>
            <a:off x="1304925" y="5096321"/>
            <a:ext cx="1343471" cy="255240"/>
          </a:xfrm>
          <a:custGeom>
            <a:avLst/>
            <a:gdLst/>
            <a:ahLst/>
            <a:cxnLst/>
            <a:rect l="l" t="t" r="r" b="b"/>
            <a:pathLst>
              <a:path w="1343471" h="255240">
                <a:moveTo>
                  <a:pt x="127620" y="0"/>
                </a:moveTo>
                <a:lnTo>
                  <a:pt x="1215851" y="0"/>
                </a:lnTo>
                <a:arcTo hR="127620" wR="127620" stAng="16200000" swAng="5400000"/>
                <a:lnTo>
                  <a:pt x="1343471" y="127620"/>
                </a:lnTo>
                <a:arcTo hR="127620" wR="127620" stAng="0" swAng="5400000"/>
                <a:lnTo>
                  <a:pt x="127620" y="255240"/>
                </a:lnTo>
                <a:arcTo hR="127620" wR="127620" stAng="5400000" swAng="5400000"/>
                <a:lnTo>
                  <a:pt x="0" y="127620"/>
                </a:lnTo>
                <a:arcTo hR="127620" wR="127620" stAng="10800000" swAng="5400000"/>
                <a:close/>
              </a:path>
            </a:pathLst>
          </a:custGeom>
          <a:noFill/>
          <a:ln w="6350">
            <a:solidFill>
              <a:srgbClr val="9FD1C5"/>
            </a:solidFill>
            <a:prstDash val="solid"/>
          </a:ln>
        </p:spPr>
        <p:txBody>
          <a:bodyPr wrap="none" lIns="0" tIns="0" rIns="0" bIns="0" rtlCol="0" anchor="ctr">
            <a:normAutofit/>
          </a:bodyPr>
          <a:lstStyle/>
          <a:p>
            <a:pPr algn="ctr"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Risk Assessment</a:t>
            </a:r>
            <a:endParaRPr lang="en-US" sz="1200" dirty="0"/>
          </a:p>
        </p:txBody>
      </p:sp>
      <p:sp>
        <p:nvSpPr>
          <p:cNvPr id="24" name="Text 22"/>
          <p:cNvSpPr/>
          <p:nvPr/>
        </p:nvSpPr>
        <p:spPr>
          <a:xfrm>
            <a:off x="2718246" y="5096321"/>
            <a:ext cx="934740" cy="255240"/>
          </a:xfrm>
          <a:custGeom>
            <a:avLst/>
            <a:gdLst/>
            <a:ahLst/>
            <a:cxnLst/>
            <a:rect l="l" t="t" r="r" b="b"/>
            <a:pathLst>
              <a:path w="934740" h="255240">
                <a:moveTo>
                  <a:pt x="127620" y="0"/>
                </a:moveTo>
                <a:lnTo>
                  <a:pt x="807120" y="0"/>
                </a:lnTo>
                <a:arcTo hR="127620" wR="127620" stAng="16200000" swAng="5400000"/>
                <a:lnTo>
                  <a:pt x="934740" y="127620"/>
                </a:lnTo>
                <a:arcTo hR="127620" wR="127620" stAng="0" swAng="5400000"/>
                <a:lnTo>
                  <a:pt x="127620" y="255240"/>
                </a:lnTo>
                <a:arcTo hR="127620" wR="127620" stAng="5400000" swAng="5400000"/>
                <a:lnTo>
                  <a:pt x="0" y="127620"/>
                </a:lnTo>
                <a:arcTo hR="127620" wR="127620" stAng="10800000" swAng="5400000"/>
                <a:close/>
              </a:path>
            </a:pathLst>
          </a:custGeom>
          <a:noFill/>
          <a:ln w="6350">
            <a:solidFill>
              <a:srgbClr val="9FD1C5"/>
            </a:solidFill>
            <a:prstDash val="solid"/>
          </a:ln>
        </p:spPr>
        <p:txBody>
          <a:bodyPr wrap="none" lIns="0" tIns="0" rIns="0" bIns="0" rtlCol="0" anchor="ctr">
            <a:normAutofit/>
          </a:bodyPr>
          <a:lstStyle/>
          <a:p>
            <a:pPr algn="ctr"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ISO 27001</a:t>
            </a:r>
            <a:endParaRPr lang="en-US" sz="1200" dirty="0"/>
          </a:p>
        </p:txBody>
      </p:sp>
      <p:sp>
        <p:nvSpPr>
          <p:cNvPr id="25" name="Text 23"/>
          <p:cNvSpPr/>
          <p:nvPr/>
        </p:nvSpPr>
        <p:spPr>
          <a:xfrm>
            <a:off x="3722836" y="5096321"/>
            <a:ext cx="830957" cy="255240"/>
          </a:xfrm>
          <a:custGeom>
            <a:avLst/>
            <a:gdLst/>
            <a:ahLst/>
            <a:cxnLst/>
            <a:rect l="l" t="t" r="r" b="b"/>
            <a:pathLst>
              <a:path w="830957" h="255240">
                <a:moveTo>
                  <a:pt x="127620" y="0"/>
                </a:moveTo>
                <a:lnTo>
                  <a:pt x="703337" y="0"/>
                </a:lnTo>
                <a:arcTo hR="127620" wR="127620" stAng="16200000" swAng="5400000"/>
                <a:lnTo>
                  <a:pt x="830957" y="127620"/>
                </a:lnTo>
                <a:arcTo hR="127620" wR="127620" stAng="0" swAng="5400000"/>
                <a:lnTo>
                  <a:pt x="127620" y="255240"/>
                </a:lnTo>
                <a:arcTo hR="127620" wR="127620" stAng="5400000" swAng="5400000"/>
                <a:lnTo>
                  <a:pt x="0" y="127620"/>
                </a:lnTo>
                <a:arcTo hR="127620" wR="127620" stAng="10800000" swAng="5400000"/>
                <a:close/>
              </a:path>
            </a:pathLst>
          </a:custGeom>
          <a:noFill/>
          <a:ln w="6350">
            <a:solidFill>
              <a:srgbClr val="9FD1C5"/>
            </a:solidFill>
            <a:prstDash val="solid"/>
          </a:ln>
        </p:spPr>
        <p:txBody>
          <a:bodyPr wrap="none" lIns="0" tIns="0" rIns="0" bIns="0" rtlCol="0" anchor="ctr">
            <a:normAutofit/>
          </a:bodyPr>
          <a:lstStyle/>
          <a:p>
            <a:pPr algn="ctr"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NIST CSF</a:t>
            </a:r>
            <a:endParaRPr lang="en-US" sz="1200" dirty="0"/>
          </a:p>
        </p:txBody>
      </p:sp>
      <p:sp>
        <p:nvSpPr>
          <p:cNvPr id="26" name="Text 24"/>
          <p:cNvSpPr/>
          <p:nvPr/>
        </p:nvSpPr>
        <p:spPr>
          <a:xfrm>
            <a:off x="4623643" y="5096321"/>
            <a:ext cx="796379" cy="255240"/>
          </a:xfrm>
          <a:custGeom>
            <a:avLst/>
            <a:gdLst/>
            <a:ahLst/>
            <a:cxnLst/>
            <a:rect l="l" t="t" r="r" b="b"/>
            <a:pathLst>
              <a:path w="796379" h="255240">
                <a:moveTo>
                  <a:pt x="127620" y="0"/>
                </a:moveTo>
                <a:lnTo>
                  <a:pt x="668759" y="0"/>
                </a:lnTo>
                <a:arcTo hR="127620" wR="127620" stAng="16200000" swAng="5400000"/>
                <a:lnTo>
                  <a:pt x="796379" y="127620"/>
                </a:lnTo>
                <a:arcTo hR="127620" wR="127620" stAng="0" swAng="5400000"/>
                <a:lnTo>
                  <a:pt x="127620" y="255240"/>
                </a:lnTo>
                <a:arcTo hR="127620" wR="127620" stAng="5400000" swAng="5400000"/>
                <a:lnTo>
                  <a:pt x="0" y="127620"/>
                </a:lnTo>
                <a:arcTo hR="127620" wR="127620" stAng="10800000" swAng="5400000"/>
                <a:close/>
              </a:path>
            </a:pathLst>
          </a:custGeom>
          <a:noFill/>
          <a:ln w="6350">
            <a:solidFill>
              <a:srgbClr val="9FD1C5"/>
            </a:solidFill>
            <a:prstDash val="solid"/>
          </a:ln>
        </p:spPr>
        <p:txBody>
          <a:bodyPr wrap="none" lIns="0" tIns="0" rIns="0" bIns="0" rtlCol="0" anchor="ctr">
            <a:normAutofit/>
          </a:bodyPr>
          <a:lstStyle/>
          <a:p>
            <a:pPr algn="ctr" indent="0" marL="0">
              <a:lnSpc>
                <a:spcPts val="1560"/>
              </a:lnSpc>
              <a:buNone/>
            </a:pPr>
            <a:r>
              <a:rPr lang="en-US" sz="1200" dirty="0">
                <a:solidFill>
                  <a:srgbClr val="1E2A36"/>
                </a:solidFill>
                <a:latin typeface="IBM Plex Sans Arabic" pitchFamily="34" charset="0"/>
                <a:ea typeface="IBM Plex Sans Arabic" pitchFamily="34" charset="-122"/>
                <a:cs typeface="IBM Plex Sans Arabic" pitchFamily="34" charset="-120"/>
              </a:rPr>
              <a:t>NCA ECC</a:t>
            </a:r>
            <a:endParaRPr lang="en-US" sz="1200" dirty="0"/>
          </a:p>
        </p:txBody>
      </p:sp>
      <p:sp>
        <p:nvSpPr>
          <p:cNvPr id="27" name="Text 25"/>
          <p:cNvSpPr/>
          <p:nvPr/>
        </p:nvSpPr>
        <p:spPr>
          <a:xfrm>
            <a:off x="1060450" y="2308820"/>
            <a:ext cx="825500" cy="825500"/>
          </a:xfrm>
          <a:prstGeom prst="roundRect">
            <a:avLst>
              <a:gd name="adj" fmla="val 50000"/>
            </a:avLst>
          </a:prstGeom>
          <a:solidFill>
            <a:srgbClr val="DCEFEA"/>
          </a:solidFill>
          <a:ln w="38100">
            <a:solidFill>
              <a:srgbClr val="FFFFFF"/>
            </a:solidFill>
            <a:prstDash val="solid"/>
          </a:ln>
        </p:spPr>
        <p:txBody>
          <a:bodyPr wrap="square" lIns="0" tIns="0" rIns="0" bIns="0" rtlCol="0" anchor="ctr">
            <a:normAutofit/>
          </a:bodyPr>
          <a:lstStyle/>
          <a:p>
            <a:pPr algn="ctr" indent="0" marL="0">
              <a:lnSpc>
                <a:spcPts val="2200"/>
              </a:lnSpc>
              <a:buNone/>
            </a:pPr>
            <a:r>
              <a:rPr lang="en-US" sz="2200" b="1" dirty="0">
                <a:solidFill>
                  <a:srgbClr val="0E7C6B"/>
                </a:solidFill>
                <a:latin typeface="Readex Pro" pitchFamily="34" charset="0"/>
                <a:ea typeface="Readex Pro" pitchFamily="34" charset="-122"/>
                <a:cs typeface="Readex Pro" pitchFamily="34" charset="-120"/>
              </a:rPr>
              <a:t>SA</a:t>
            </a:r>
            <a:endParaRPr lang="en-US" sz="2200" dirty="0"/>
          </a:p>
        </p:txBody>
      </p:sp>
      <p:sp>
        <p:nvSpPr>
          <p:cNvPr id="28" name="Text 26"/>
          <p:cNvSpPr/>
          <p:nvPr/>
        </p:nvSpPr>
        <p:spPr>
          <a:xfrm>
            <a:off x="1765300" y="2899370"/>
            <a:ext cx="190500" cy="190500"/>
          </a:xfrm>
          <a:custGeom>
            <a:avLst/>
            <a:gdLst/>
            <a:ahLst/>
            <a:cxnLst/>
            <a:rect l="l" t="t" r="r" b="b"/>
            <a:pathLst>
              <a:path w="190500" h="190500">
                <a:moveTo>
                  <a:pt x="95250" y="0"/>
                </a:moveTo>
                <a:lnTo>
                  <a:pt x="95250" y="0"/>
                </a:lnTo>
                <a:arcTo hR="95250" wR="95250" stAng="16200000" swAng="5400000"/>
                <a:lnTo>
                  <a:pt x="190500" y="95250"/>
                </a:lnTo>
                <a:arcTo hR="95250" wR="95250" stAng="0" swAng="5400000"/>
                <a:lnTo>
                  <a:pt x="95250" y="190500"/>
                </a:lnTo>
                <a:arcTo hR="95250" wR="95250" stAng="5400000" swAng="5400000"/>
                <a:lnTo>
                  <a:pt x="0" y="95250"/>
                </a:lnTo>
                <a:arcTo hR="95250" wR="95250" stAng="10800000" swAng="5400000"/>
                <a:close/>
              </a:path>
            </a:pathLst>
          </a:custGeom>
          <a:solidFill>
            <a:srgbClr val="F2C46D"/>
          </a:solidFill>
          <a:ln/>
        </p:spPr>
        <p:txBody>
          <a:bodyPr wrap="square" lIns="0" tIns="0" rIns="0" bIns="0" rtlCol="0" anchor="t">
            <a:normAutofit/>
          </a:bodyPr>
          <a:lstStyle/>
          <a:p>
            <a:pPr algn="ctr" indent="0" marL="0">
              <a:lnSpc>
                <a:spcPts val="1500"/>
              </a:lnSpc>
              <a:buNone/>
            </a:pPr>
            <a:r>
              <a:rPr lang="en-US" sz="1200" b="1" dirty="0">
                <a:solidFill>
                  <a:srgbClr val="172433"/>
                </a:solidFill>
                <a:latin typeface="IBM Plex Sans Arabic" pitchFamily="34" charset="0"/>
                <a:ea typeface="IBM Plex Sans Arabic" pitchFamily="34" charset="-122"/>
                <a:cs typeface="IBM Plex Sans Arabic" pitchFamily="34" charset="-120"/>
              </a:rPr>
              <a:t>1</a:t>
            </a:r>
            <a:endParaRPr lang="en-US" sz="1200" dirty="0"/>
          </a:p>
        </p:txBody>
      </p:sp>
      <p:sp>
        <p:nvSpPr>
          <p:cNvPr id="29" name="Text 27"/>
          <p:cNvSpPr/>
          <p:nvPr/>
        </p:nvSpPr>
        <p:spPr>
          <a:xfrm>
            <a:off x="7725283" y="1781770"/>
            <a:ext cx="336181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الصورة:</a:t>
            </a:r>
            <a:r>
              <a:rPr lang="ar-SA" sz="1200" dirty="0" altLang="en-US">
                <a:solidFill>
                  <a:srgbClr val="172433"/>
                </a:solidFill>
                <a:latin typeface="IBM Plex Sans Arabic" pitchFamily="34" charset="0"/>
                <a:ea typeface="IBM Plex Sans Arabic" pitchFamily="34" charset="-122"/>
                <a:cs typeface="IBM Plex Sans Arabic" pitchFamily="34" charset="-120"/>
              </a:rPr>
              <a:t> وجه واضح وخلفية بسيطة. من 400×400 بكسل، حتى 8 ميغابايت.</a:t>
            </a:r>
            <a:endParaRPr lang="ar-SA" sz="1200" dirty="0" altLang="en-US"/>
          </a:p>
        </p:txBody>
      </p:sp>
      <p:sp>
        <p:nvSpPr>
          <p:cNvPr id="30" name="Text 28"/>
          <p:cNvSpPr/>
          <p:nvPr/>
        </p:nvSpPr>
        <p:spPr>
          <a:xfrm>
            <a:off x="11163300" y="1781770"/>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1</a:t>
            </a:r>
            <a:endParaRPr lang="en-US" sz="1200" dirty="0"/>
          </a:p>
        </p:txBody>
      </p:sp>
      <p:sp>
        <p:nvSpPr>
          <p:cNvPr id="31" name="Text 29"/>
          <p:cNvSpPr/>
          <p:nvPr/>
        </p:nvSpPr>
        <p:spPr>
          <a:xfrm>
            <a:off x="7725283" y="2299891"/>
            <a:ext cx="3361817"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الخلفية:</a:t>
            </a:r>
            <a:r>
              <a:rPr lang="ar-SA" sz="1200" dirty="0" altLang="en-US">
                <a:solidFill>
                  <a:srgbClr val="172433"/>
                </a:solidFill>
                <a:latin typeface="IBM Plex Sans Arabic" pitchFamily="34" charset="0"/>
                <a:ea typeface="IBM Plex Sans Arabic" pitchFamily="34" charset="-122"/>
                <a:cs typeface="IBM Plex Sans Arabic" pitchFamily="34" charset="-120"/>
              </a:rPr>
              <a:t> المقاس الموصى به 1584×396 بكسل.</a:t>
            </a:r>
            <a:endParaRPr lang="ar-SA" sz="1200" dirty="0" altLang="en-US"/>
          </a:p>
        </p:txBody>
      </p:sp>
      <p:sp>
        <p:nvSpPr>
          <p:cNvPr id="32" name="Text 30"/>
          <p:cNvSpPr/>
          <p:nvPr/>
        </p:nvSpPr>
        <p:spPr>
          <a:xfrm>
            <a:off x="11163300" y="2299891"/>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2</a:t>
            </a:r>
            <a:endParaRPr lang="en-US" sz="1200" dirty="0"/>
          </a:p>
        </p:txBody>
      </p:sp>
      <p:sp>
        <p:nvSpPr>
          <p:cNvPr id="33" name="Text 31"/>
          <p:cNvSpPr/>
          <p:nvPr/>
        </p:nvSpPr>
        <p:spPr>
          <a:xfrm>
            <a:off x="7725283" y="2597051"/>
            <a:ext cx="3361817"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العنوان المهني:</a:t>
            </a:r>
            <a:r>
              <a:rPr lang="ar-SA" sz="1200" dirty="0" altLang="en-US">
                <a:solidFill>
                  <a:srgbClr val="172433"/>
                </a:solidFill>
                <a:latin typeface="IBM Plex Sans Arabic" pitchFamily="34" charset="0"/>
                <a:ea typeface="IBM Plex Sans Arabic" pitchFamily="34" charset="-122"/>
                <a:cs typeface="IBM Plex Sans Arabic" pitchFamily="34" charset="-120"/>
              </a:rPr>
              <a:t> الوظيفة المستهدفة وكلماتها، لا «طالب» فقط.</a:t>
            </a:r>
            <a:endParaRPr lang="ar-SA" sz="1200" dirty="0" altLang="en-US"/>
          </a:p>
        </p:txBody>
      </p:sp>
      <p:sp>
        <p:nvSpPr>
          <p:cNvPr id="34" name="Text 32"/>
          <p:cNvSpPr/>
          <p:nvPr/>
        </p:nvSpPr>
        <p:spPr>
          <a:xfrm>
            <a:off x="11163300" y="2597051"/>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3</a:t>
            </a:r>
            <a:endParaRPr lang="en-US" sz="1200" dirty="0"/>
          </a:p>
        </p:txBody>
      </p:sp>
      <p:sp>
        <p:nvSpPr>
          <p:cNvPr id="35" name="Text 33"/>
          <p:cNvSpPr/>
          <p:nvPr/>
        </p:nvSpPr>
        <p:spPr>
          <a:xfrm>
            <a:off x="7594600" y="3115171"/>
            <a:ext cx="349250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رابط مخصص:</a:t>
            </a:r>
            <a:r>
              <a:rPr lang="ar-SA" sz="1200" dirty="0" altLang="en-US">
                <a:solidFill>
                  <a:srgbClr val="172433"/>
                </a:solidFill>
                <a:latin typeface="IBM Plex Sans Arabic" pitchFamily="34" charset="0"/>
                <a:ea typeface="IBM Plex Sans Arabic" pitchFamily="34" charset="-122"/>
                <a:cs typeface="IBM Plex Sans Arabic" pitchFamily="34" charset="-120"/>
              </a:rPr>
              <a:t> من 3 إلى 100 حرف، بلا مسافات ولا رموز.</a:t>
            </a:r>
            <a:endParaRPr lang="ar-SA" sz="1200" dirty="0" altLang="en-US"/>
          </a:p>
        </p:txBody>
      </p:sp>
      <p:sp>
        <p:nvSpPr>
          <p:cNvPr id="36" name="Text 34"/>
          <p:cNvSpPr/>
          <p:nvPr/>
        </p:nvSpPr>
        <p:spPr>
          <a:xfrm>
            <a:off x="11163300" y="3115171"/>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4</a:t>
            </a:r>
            <a:endParaRPr lang="en-US" sz="1200" dirty="0"/>
          </a:p>
        </p:txBody>
      </p:sp>
      <p:sp>
        <p:nvSpPr>
          <p:cNvPr id="37" name="Text 35"/>
          <p:cNvSpPr/>
          <p:nvPr/>
        </p:nvSpPr>
        <p:spPr>
          <a:xfrm>
            <a:off x="7725283" y="3412331"/>
            <a:ext cx="3361817"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Featured:</a:t>
            </a:r>
            <a:r>
              <a:rPr lang="ar-SA" sz="1200" dirty="0" altLang="en-US">
                <a:solidFill>
                  <a:srgbClr val="172433"/>
                </a:solidFill>
                <a:latin typeface="IBM Plex Sans Arabic" pitchFamily="34" charset="0"/>
                <a:ea typeface="IBM Plex Sans Arabic" pitchFamily="34" charset="-122"/>
                <a:cs typeface="IBM Plex Sans Arabic" pitchFamily="34" charset="-120"/>
              </a:rPr>
              <a:t> مشاريعك من الوحدة 5 أعلى الملف.</a:t>
            </a:r>
            <a:endParaRPr lang="ar-SA" sz="1200" dirty="0" altLang="en-US"/>
          </a:p>
        </p:txBody>
      </p:sp>
      <p:sp>
        <p:nvSpPr>
          <p:cNvPr id="38" name="Text 36"/>
          <p:cNvSpPr/>
          <p:nvPr/>
        </p:nvSpPr>
        <p:spPr>
          <a:xfrm>
            <a:off x="11163300" y="3412331"/>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5</a:t>
            </a:r>
            <a:endParaRPr lang="en-US" sz="1200" dirty="0"/>
          </a:p>
        </p:txBody>
      </p:sp>
      <p:sp>
        <p:nvSpPr>
          <p:cNvPr id="39" name="Text 37"/>
          <p:cNvSpPr/>
          <p:nvPr/>
        </p:nvSpPr>
        <p:spPr>
          <a:xfrm>
            <a:off x="7725283" y="3709491"/>
            <a:ext cx="3361817"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
            </a:r>
            <a:r>
              <a:rPr lang="ar-SA" sz="1200" b="1" dirty="0" altLang="en-US">
                <a:solidFill>
                  <a:srgbClr val="172433"/>
                </a:solidFill>
                <a:latin typeface="IBM Plex Sans Arabic" pitchFamily="34" charset="0"/>
                <a:ea typeface="IBM Plex Sans Arabic" pitchFamily="34" charset="-122"/>
                <a:cs typeface="IBM Plex Sans Arabic" pitchFamily="34" charset="-120"/>
              </a:rPr>
              <a:t>المهارات:</a:t>
            </a:r>
            <a:r>
              <a:rPr lang="ar-SA" sz="1200" dirty="0" altLang="en-US">
                <a:solidFill>
                  <a:srgbClr val="172433"/>
                </a:solidFill>
                <a:latin typeface="IBM Plex Sans Arabic" pitchFamily="34" charset="0"/>
                <a:ea typeface="IBM Plex Sans Arabic" pitchFamily="34" charset="-122"/>
                <a:cs typeface="IBM Plex Sans Arabic" pitchFamily="34" charset="-120"/>
              </a:rPr>
              <a:t> حتى 100 مهارة. ضع أهمها في الأعلى.</a:t>
            </a:r>
            <a:endParaRPr lang="ar-SA" sz="1200" dirty="0" altLang="en-US"/>
          </a:p>
        </p:txBody>
      </p:sp>
      <p:sp>
        <p:nvSpPr>
          <p:cNvPr id="40" name="Text 38"/>
          <p:cNvSpPr/>
          <p:nvPr/>
        </p:nvSpPr>
        <p:spPr>
          <a:xfrm>
            <a:off x="11163300" y="3709491"/>
            <a:ext cx="215900" cy="215900"/>
          </a:xfrm>
          <a:custGeom>
            <a:avLst/>
            <a:gdLst/>
            <a:ahLst/>
            <a:cxnLst/>
            <a:rect l="l" t="t" r="r" b="b"/>
            <a:pathLst>
              <a:path w="215900" h="215900">
                <a:moveTo>
                  <a:pt x="107950" y="0"/>
                </a:moveTo>
                <a:lnTo>
                  <a:pt x="107950" y="0"/>
                </a:lnTo>
                <a:arcTo hR="107950" wR="107950" stAng="16200000" swAng="5400000"/>
                <a:lnTo>
                  <a:pt x="215900" y="107950"/>
                </a:lnTo>
                <a:arcTo hR="107950" wR="107950" stAng="0" swAng="5400000"/>
                <a:lnTo>
                  <a:pt x="107950" y="215900"/>
                </a:lnTo>
                <a:arcTo hR="107950" wR="107950" stAng="5400000" swAng="5400000"/>
                <a:lnTo>
                  <a:pt x="0" y="107950"/>
                </a:lnTo>
                <a:arcTo hR="107950" wR="107950" stAng="10800000" swAng="5400000"/>
                <a:close/>
              </a:path>
            </a:pathLst>
          </a:custGeom>
          <a:solidFill>
            <a:srgbClr val="0E7C6B"/>
          </a:solidFill>
          <a:ln/>
        </p:spPr>
        <p:txBody>
          <a:bodyPr wrap="square" lIns="0" tIns="0" rIns="0" bIns="0" rtlCol="0" anchor="t">
            <a:normAutofit/>
          </a:bodyPr>
          <a:lstStyle/>
          <a:p>
            <a:pPr algn="ctr" indent="0" marL="0">
              <a:lnSpc>
                <a:spcPts val="1704"/>
              </a:lnSpc>
              <a:buNone/>
            </a:pPr>
            <a:r>
              <a:rPr lang="en-US" sz="1200" b="1" dirty="0">
                <a:solidFill>
                  <a:srgbClr val="FFFFFF"/>
                </a:solidFill>
                <a:latin typeface="Readex Pro" pitchFamily="34" charset="0"/>
                <a:ea typeface="Readex Pro" pitchFamily="34" charset="-122"/>
                <a:cs typeface="Readex Pro" pitchFamily="34" charset="-120"/>
              </a:rPr>
              <a:t>6</a:t>
            </a:r>
            <a:endParaRPr lang="en-US" sz="1200" dirty="0"/>
          </a:p>
        </p:txBody>
      </p:sp>
      <p:sp>
        <p:nvSpPr>
          <p:cNvPr id="41" name="Text 39"/>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50</a:t>
            </a:r>
            <a:endParaRPr lang="en-US" sz="1200" dirty="0"/>
          </a:p>
        </p:txBody>
      </p:sp>
      <p:sp>
        <p:nvSpPr>
          <p:cNvPr id="42" name="Text 40"/>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07 · LinkedIn</a:t>
            </a:r>
            <a:endParaRPr lang="ar-SA" sz="1200" dirty="0"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633339" cy="289520"/>
          </a:xfrm>
          <a:custGeom>
            <a:avLst/>
            <a:gdLst/>
            <a:ahLst/>
            <a:cxnLst/>
            <a:rect l="l" t="t" r="r" b="b"/>
            <a:pathLst>
              <a:path w="1633339" h="289520">
                <a:moveTo>
                  <a:pt x="144760" y="0"/>
                </a:moveTo>
                <a:lnTo>
                  <a:pt x="1488579" y="0"/>
                </a:lnTo>
                <a:arcTo hR="144760" wR="144760" stAng="16200000" swAng="5400000"/>
                <a:lnTo>
                  <a:pt x="1633339"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07 · LinkedIn</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العنوان المهني: أهم سطر في ملفك</a:t>
            </a:r>
            <a:endParaRPr lang="ar-SA" sz="3000" dirty="0" altLang="en-US"/>
          </a:p>
        </p:txBody>
      </p:sp>
      <p:sp>
        <p:nvSpPr>
          <p:cNvPr id="5" name="Shape 3"/>
          <p:cNvSpPr/>
          <p:nvPr/>
        </p:nvSpPr>
        <p:spPr>
          <a:xfrm>
            <a:off x="812800" y="1832570"/>
            <a:ext cx="10566400" cy="501650"/>
          </a:xfrm>
          <a:prstGeom prst="roundRect">
            <a:avLst>
              <a:gd name="adj" fmla="val 17722"/>
            </a:avLst>
          </a:prstGeom>
          <a:solidFill>
            <a:srgbClr val="172433"/>
          </a:solidFill>
          <a:ln/>
        </p:spPr>
      </p:sp>
      <p:sp>
        <p:nvSpPr>
          <p:cNvPr id="6" name="Text 4"/>
          <p:cNvSpPr/>
          <p:nvPr/>
        </p:nvSpPr>
        <p:spPr>
          <a:xfrm>
            <a:off x="977900" y="1946870"/>
            <a:ext cx="1510060" cy="273050"/>
          </a:xfrm>
          <a:prstGeom prst="roundRect">
            <a:avLst>
              <a:gd name="adj" fmla="val 18605"/>
            </a:avLst>
          </a:prstGeom>
          <a:solidFill>
            <a:srgbClr val="F2C46D"/>
          </a:solidFill>
          <a:ln/>
        </p:spPr>
        <p:txBody>
          <a:bodyPr wrap="none" lIns="0" tIns="0" rIns="0" bIns="0" rtlCol="0" anchor="ctr">
            <a:normAutofit/>
          </a:bodyPr>
          <a:lstStyle/>
          <a:p>
            <a:pPr algn="ctr" indent="0" marL="0" rtl="1">
              <a:lnSpc>
                <a:spcPts val="1750"/>
              </a:lnSpc>
              <a:buNone/>
            </a:pPr>
            <a:r>
              <a:rPr lang="ar-SA" sz="1250" dirty="0" altLang="en-US">
                <a:solidFill>
                  <a:srgbClr val="172433"/>
                </a:solidFill>
                <a:latin typeface="IBM Plex Sans Arabic" pitchFamily="34" charset="0"/>
                <a:ea typeface="IBM Plex Sans Arabic" pitchFamily="34" charset="-122"/>
                <a:cs typeface="IBM Plex Sans Arabic" pitchFamily="34" charset="-120"/>
              </a:rPr>
              <a:t>دليل: شهادة أو مشروع</a:t>
            </a:r>
            <a:endParaRPr lang="ar-SA" sz="1250" dirty="0" altLang="en-US"/>
          </a:p>
        </p:txBody>
      </p:sp>
      <p:sp>
        <p:nvSpPr>
          <p:cNvPr id="7" name="Text 5"/>
          <p:cNvSpPr/>
          <p:nvPr/>
        </p:nvSpPr>
        <p:spPr>
          <a:xfrm>
            <a:off x="2513360" y="1964333"/>
            <a:ext cx="100657" cy="263525"/>
          </a:xfrm>
          <a:prstGeom prst="rect">
            <a:avLst/>
          </a:prstGeom>
          <a:noFill/>
          <a:ln/>
        </p:spPr>
        <p:txBody>
          <a:bodyPr wrap="square" lIns="0" tIns="0" rIns="0" bIns="0" rtlCol="0" anchor="t">
            <a:normAutofit/>
          </a:bodyPr>
          <a:lstStyle/>
          <a:p>
            <a:pPr algn="r" indent="0" marL="0">
              <a:lnSpc>
                <a:spcPts val="1875"/>
              </a:lnSpc>
              <a:buNone/>
            </a:pPr>
            <a:r>
              <a:rPr lang="en-US" sz="1250" dirty="0">
                <a:solidFill>
                  <a:srgbClr val="93A3B1"/>
                </a:solidFill>
                <a:latin typeface="IBM Plex Sans Arabic" pitchFamily="34" charset="0"/>
                <a:ea typeface="IBM Plex Sans Arabic" pitchFamily="34" charset="-122"/>
                <a:cs typeface="IBM Plex Sans Arabic" pitchFamily="34" charset="-120"/>
              </a:rPr>
              <a:t>|</a:t>
            </a:r>
            <a:endParaRPr lang="en-US" sz="1250" dirty="0"/>
          </a:p>
        </p:txBody>
      </p:sp>
      <p:sp>
        <p:nvSpPr>
          <p:cNvPr id="8" name="Text 6"/>
          <p:cNvSpPr/>
          <p:nvPr/>
        </p:nvSpPr>
        <p:spPr>
          <a:xfrm>
            <a:off x="2690217" y="1946870"/>
            <a:ext cx="1017290" cy="273050"/>
          </a:xfrm>
          <a:prstGeom prst="roundRect">
            <a:avLst>
              <a:gd name="adj" fmla="val 18605"/>
            </a:avLst>
          </a:prstGeom>
          <a:solidFill>
            <a:srgbClr val="22344A"/>
          </a:solidFill>
          <a:ln/>
        </p:spPr>
        <p:txBody>
          <a:bodyPr wrap="none" lIns="0" tIns="0" rIns="0" bIns="0" rtlCol="0" anchor="ctr">
            <a:normAutofit/>
          </a:bodyPr>
          <a:lstStyle/>
          <a:p>
            <a:pPr algn="ctr" indent="0" marL="0" rtl="1">
              <a:lnSpc>
                <a:spcPts val="1750"/>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مجالان أو ثلاثة</a:t>
            </a:r>
            <a:endParaRPr lang="ar-SA" sz="1250" dirty="0" altLang="en-US"/>
          </a:p>
        </p:txBody>
      </p:sp>
      <p:sp>
        <p:nvSpPr>
          <p:cNvPr id="9" name="Text 7"/>
          <p:cNvSpPr/>
          <p:nvPr/>
        </p:nvSpPr>
        <p:spPr>
          <a:xfrm>
            <a:off x="3732907" y="1964333"/>
            <a:ext cx="100657" cy="263525"/>
          </a:xfrm>
          <a:prstGeom prst="rect">
            <a:avLst/>
          </a:prstGeom>
          <a:noFill/>
          <a:ln/>
        </p:spPr>
        <p:txBody>
          <a:bodyPr wrap="square" lIns="0" tIns="0" rIns="0" bIns="0" rtlCol="0" anchor="t">
            <a:normAutofit/>
          </a:bodyPr>
          <a:lstStyle/>
          <a:p>
            <a:pPr algn="r" indent="0" marL="0">
              <a:lnSpc>
                <a:spcPts val="1875"/>
              </a:lnSpc>
              <a:buNone/>
            </a:pPr>
            <a:r>
              <a:rPr lang="en-US" sz="1250" dirty="0">
                <a:solidFill>
                  <a:srgbClr val="93A3B1"/>
                </a:solidFill>
                <a:latin typeface="IBM Plex Sans Arabic" pitchFamily="34" charset="0"/>
                <a:ea typeface="IBM Plex Sans Arabic" pitchFamily="34" charset="-122"/>
                <a:cs typeface="IBM Plex Sans Arabic" pitchFamily="34" charset="-120"/>
              </a:rPr>
              <a:t>|</a:t>
            </a:r>
            <a:endParaRPr lang="en-US" sz="1250" dirty="0"/>
          </a:p>
        </p:txBody>
      </p:sp>
      <p:sp>
        <p:nvSpPr>
          <p:cNvPr id="10" name="Text 8"/>
          <p:cNvSpPr/>
          <p:nvPr/>
        </p:nvSpPr>
        <p:spPr>
          <a:xfrm>
            <a:off x="3909764" y="1946870"/>
            <a:ext cx="1315889" cy="273050"/>
          </a:xfrm>
          <a:prstGeom prst="roundRect">
            <a:avLst>
              <a:gd name="adj" fmla="val 18605"/>
            </a:avLst>
          </a:prstGeom>
          <a:solidFill>
            <a:srgbClr val="22344A"/>
          </a:solidFill>
          <a:ln/>
        </p:spPr>
        <p:txBody>
          <a:bodyPr wrap="none" lIns="0" tIns="0" rIns="0" bIns="0" rtlCol="0" anchor="ctr">
            <a:normAutofit/>
          </a:bodyPr>
          <a:lstStyle/>
          <a:p>
            <a:pPr algn="ctr" indent="0" marL="0" rtl="1">
              <a:lnSpc>
                <a:spcPts val="1750"/>
              </a:lnSpc>
              <a:buNone/>
            </a:pPr>
            <a:r>
              <a:rPr lang="ar-SA" sz="1250" dirty="0" altLang="en-US">
                <a:solidFill>
                  <a:srgbClr val="F3EFE6"/>
                </a:solidFill>
                <a:latin typeface="IBM Plex Sans Arabic" pitchFamily="34" charset="0"/>
                <a:ea typeface="IBM Plex Sans Arabic" pitchFamily="34" charset="-122"/>
                <a:cs typeface="IBM Plex Sans Arabic" pitchFamily="34" charset="-120"/>
              </a:rPr>
              <a:t>الوظيفة المستهدفة</a:t>
            </a:r>
            <a:endParaRPr lang="ar-SA" sz="1250" dirty="0" altLang="en-US"/>
          </a:p>
        </p:txBody>
      </p:sp>
      <p:sp>
        <p:nvSpPr>
          <p:cNvPr id="11" name="Text 9"/>
          <p:cNvSpPr/>
          <p:nvPr/>
        </p:nvSpPr>
        <p:spPr>
          <a:xfrm>
            <a:off x="5225653" y="1972270"/>
            <a:ext cx="631031" cy="247650"/>
          </a:xfrm>
          <a:prstGeom prst="rect">
            <a:avLst/>
          </a:prstGeom>
          <a:noFill/>
          <a:ln/>
        </p:spPr>
        <p:txBody>
          <a:bodyPr wrap="square" lIns="0" tIns="0" rIns="0" bIns="0" rtlCol="0" anchor="t">
            <a:normAutofit/>
          </a:bodyPr>
          <a:lstStyle/>
          <a:p>
            <a:pPr algn="r" indent="0" marL="0" rtl="1">
              <a:lnSpc>
                <a:spcPts val="1750"/>
              </a:lnSpc>
              <a:buNone/>
            </a:pPr>
            <a:r>
              <a:rPr lang="ar-SA" sz="1250" b="1" dirty="0" altLang="en-US">
                <a:solidFill>
                  <a:srgbClr val="F2C46D"/>
                </a:solidFill>
                <a:latin typeface="IBM Plex Sans Arabic" pitchFamily="34" charset="0"/>
                <a:ea typeface="IBM Plex Sans Arabic" pitchFamily="34" charset="-122"/>
                <a:cs typeface="IBM Plex Sans Arabic" pitchFamily="34" charset="-120"/>
              </a:rPr>
              <a:t>المعادلة:</a:t>
            </a:r>
            <a:endParaRPr lang="ar-SA" sz="1250" dirty="0" altLang="en-US"/>
          </a:p>
        </p:txBody>
      </p:sp>
      <p:sp>
        <p:nvSpPr>
          <p:cNvPr id="12" name="Text 10"/>
          <p:cNvSpPr/>
          <p:nvPr/>
        </p:nvSpPr>
        <p:spPr>
          <a:xfrm>
            <a:off x="621011" y="2512020"/>
            <a:ext cx="6584751"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0E7C6B"/>
                </a:solidFill>
                <a:latin typeface="Readex Pro" pitchFamily="34" charset="0"/>
                <a:ea typeface="Readex Pro" pitchFamily="34" charset="-122"/>
                <a:cs typeface="Readex Pro" pitchFamily="34" charset="-120"/>
              </a:rPr>
              <a:t>قوي</a:t>
            </a:r>
            <a:endParaRPr lang="ar-SA" sz="1400" dirty="0" altLang="en-US"/>
          </a:p>
        </p:txBody>
      </p:sp>
      <p:sp>
        <p:nvSpPr>
          <p:cNvPr id="13" name="Text 11"/>
          <p:cNvSpPr/>
          <p:nvPr/>
        </p:nvSpPr>
        <p:spPr>
          <a:xfrm>
            <a:off x="815975" y="2822525"/>
            <a:ext cx="6386612" cy="397470"/>
          </a:xfrm>
          <a:prstGeom prst="roundRect">
            <a:avLst>
              <a:gd name="adj" fmla="val 18372"/>
            </a:avLst>
          </a:prstGeom>
          <a:solidFill>
            <a:srgbClr val="E3F1ED"/>
          </a:solidFill>
          <a:ln w="6350">
            <a:solidFill>
              <a:srgbClr val="9FD1C5"/>
            </a:solidFill>
            <a:prstDash val="solid"/>
          </a:ln>
        </p:spPr>
        <p:txBody>
          <a:bodyPr wrap="square" lIns="108787" tIns="70687" rIns="0" bIns="45287"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Entry-Level GRC Analyst | Risk Assessment · ISO 27001 · NCA ECC | ISC2 CC</a:t>
            </a:r>
            <a:endParaRPr lang="en-US" sz="1200" dirty="0"/>
          </a:p>
        </p:txBody>
      </p:sp>
      <p:sp>
        <p:nvSpPr>
          <p:cNvPr id="14" name="Text 12"/>
          <p:cNvSpPr/>
          <p:nvPr/>
        </p:nvSpPr>
        <p:spPr>
          <a:xfrm>
            <a:off x="815975" y="3302546"/>
            <a:ext cx="6386612" cy="397470"/>
          </a:xfrm>
          <a:prstGeom prst="roundRect">
            <a:avLst>
              <a:gd name="adj" fmla="val 18372"/>
            </a:avLst>
          </a:prstGeom>
          <a:solidFill>
            <a:srgbClr val="E3F1ED"/>
          </a:solidFill>
          <a:ln w="6350">
            <a:solidFill>
              <a:srgbClr val="9FD1C5"/>
            </a:solidFill>
            <a:prstDash val="solid"/>
          </a:ln>
        </p:spPr>
        <p:txBody>
          <a:bodyPr wrap="square" lIns="108787" tIns="70687" rIns="0" bIns="45287"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IT Support → GRC | Access Management · NIST CSF 2.0 | Security+</a:t>
            </a:r>
            <a:endParaRPr lang="en-US" sz="1200" dirty="0"/>
          </a:p>
        </p:txBody>
      </p:sp>
      <p:sp>
        <p:nvSpPr>
          <p:cNvPr id="15" name="Text 13"/>
          <p:cNvSpPr/>
          <p:nvPr/>
        </p:nvSpPr>
        <p:spPr>
          <a:xfrm>
            <a:off x="815975" y="3782566"/>
            <a:ext cx="6386612" cy="397470"/>
          </a:xfrm>
          <a:prstGeom prst="roundRect">
            <a:avLst>
              <a:gd name="adj" fmla="val 18372"/>
            </a:avLst>
          </a:prstGeom>
          <a:solidFill>
            <a:srgbClr val="E3F1ED"/>
          </a:solidFill>
          <a:ln w="6350">
            <a:solidFill>
              <a:srgbClr val="9FD1C5"/>
            </a:solidFill>
            <a:prstDash val="solid"/>
          </a:ln>
        </p:spPr>
        <p:txBody>
          <a:bodyPr wrap="square" lIns="0" tIns="70687" rIns="108787" bIns="45287"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محلل حوكمة ومخاطر وامتثال | ECC · ISO 27001 | مشروعا تقييم فجوات</a:t>
            </a:r>
            <a:endParaRPr lang="ar-SA" sz="1200" dirty="0" altLang="en-US"/>
          </a:p>
        </p:txBody>
      </p:sp>
      <p:sp>
        <p:nvSpPr>
          <p:cNvPr id="16" name="Text 14"/>
          <p:cNvSpPr/>
          <p:nvPr/>
        </p:nvSpPr>
        <p:spPr>
          <a:xfrm>
            <a:off x="621011" y="4259411"/>
            <a:ext cx="6584751"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الكلمات المهمة في البداية، وكل كلمة صادقة عنك.</a:t>
            </a:r>
            <a:endParaRPr lang="ar-SA" sz="1200" dirty="0" altLang="en-US"/>
          </a:p>
        </p:txBody>
      </p:sp>
      <p:sp>
        <p:nvSpPr>
          <p:cNvPr id="17" name="Text 15"/>
          <p:cNvSpPr/>
          <p:nvPr/>
        </p:nvSpPr>
        <p:spPr>
          <a:xfrm>
            <a:off x="7263693" y="2512020"/>
            <a:ext cx="4115507"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B4412C"/>
                </a:solidFill>
                <a:latin typeface="Readex Pro" pitchFamily="34" charset="0"/>
                <a:ea typeface="Readex Pro" pitchFamily="34" charset="-122"/>
                <a:cs typeface="Readex Pro" pitchFamily="34" charset="-120"/>
              </a:rPr>
              <a:t>ضعيف</a:t>
            </a:r>
            <a:endParaRPr lang="ar-SA" sz="1400" dirty="0" altLang="en-US"/>
          </a:p>
        </p:txBody>
      </p:sp>
      <p:sp>
        <p:nvSpPr>
          <p:cNvPr id="18" name="Text 16"/>
          <p:cNvSpPr/>
          <p:nvPr/>
        </p:nvSpPr>
        <p:spPr>
          <a:xfrm>
            <a:off x="7386737" y="2822525"/>
            <a:ext cx="3989288" cy="397470"/>
          </a:xfrm>
          <a:prstGeom prst="roundRect">
            <a:avLst>
              <a:gd name="adj" fmla="val 18372"/>
            </a:avLst>
          </a:prstGeom>
          <a:solidFill>
            <a:srgbClr val="FBEAE5"/>
          </a:solidFill>
          <a:ln w="6350">
            <a:solidFill>
              <a:srgbClr val="E7B8AC"/>
            </a:solidFill>
            <a:prstDash val="solid"/>
          </a:ln>
        </p:spPr>
        <p:txBody>
          <a:bodyPr wrap="square" lIns="108787" tIns="70687" rIns="0" bIns="45287"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Computer Science Student</a:t>
            </a:r>
            <a:endParaRPr lang="en-US" sz="1200" dirty="0"/>
          </a:p>
        </p:txBody>
      </p:sp>
      <p:sp>
        <p:nvSpPr>
          <p:cNvPr id="19" name="Text 17"/>
          <p:cNvSpPr/>
          <p:nvPr/>
        </p:nvSpPr>
        <p:spPr>
          <a:xfrm>
            <a:off x="7386737" y="3302546"/>
            <a:ext cx="3989288" cy="397470"/>
          </a:xfrm>
          <a:prstGeom prst="roundRect">
            <a:avLst>
              <a:gd name="adj" fmla="val 18372"/>
            </a:avLst>
          </a:prstGeom>
          <a:solidFill>
            <a:srgbClr val="FBEAE5"/>
          </a:solidFill>
          <a:ln w="6350">
            <a:solidFill>
              <a:srgbClr val="E7B8AC"/>
            </a:solidFill>
            <a:prstDash val="solid"/>
          </a:ln>
        </p:spPr>
        <p:txBody>
          <a:bodyPr wrap="square" lIns="108787" tIns="70687" rIns="0" bIns="45287"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Looking for opportunities</a:t>
            </a:r>
            <a:endParaRPr lang="en-US" sz="1200" dirty="0"/>
          </a:p>
        </p:txBody>
      </p:sp>
      <p:sp>
        <p:nvSpPr>
          <p:cNvPr id="20" name="Text 18"/>
          <p:cNvSpPr/>
          <p:nvPr/>
        </p:nvSpPr>
        <p:spPr>
          <a:xfrm>
            <a:off x="7386737" y="3782566"/>
            <a:ext cx="3989288" cy="397470"/>
          </a:xfrm>
          <a:prstGeom prst="roundRect">
            <a:avLst>
              <a:gd name="adj" fmla="val 18372"/>
            </a:avLst>
          </a:prstGeom>
          <a:solidFill>
            <a:srgbClr val="FBEAE5"/>
          </a:solidFill>
          <a:ln w="6350">
            <a:solidFill>
              <a:srgbClr val="E7B8AC"/>
            </a:solidFill>
            <a:prstDash val="solid"/>
          </a:ln>
        </p:spPr>
        <p:txBody>
          <a:bodyPr wrap="square" lIns="108787" tIns="70687" rIns="0" bIns="45287" rtlCol="0" anchor="t">
            <a:normAutofit/>
          </a:bodyPr>
          <a:lstStyle/>
          <a:p>
            <a:pPr algn="l" indent="0" marL="0">
              <a:lnSpc>
                <a:spcPts val="1680"/>
              </a:lnSpc>
              <a:buNone/>
            </a:pPr>
            <a:r>
              <a:rPr lang="en-US" sz="1200" dirty="0">
                <a:solidFill>
                  <a:srgbClr val="172433"/>
                </a:solidFill>
                <a:latin typeface="IBM Plex Sans Arabic" pitchFamily="34" charset="0"/>
                <a:ea typeface="IBM Plex Sans Arabic" pitchFamily="34" charset="-122"/>
                <a:cs typeface="IBM Plex Sans Arabic" pitchFamily="34" charset="-120"/>
              </a:rPr>
              <a:t>Cybersecurity enthusiast | Hard worker</a:t>
            </a:r>
            <a:endParaRPr lang="en-US" sz="1200" dirty="0"/>
          </a:p>
        </p:txBody>
      </p:sp>
      <p:sp>
        <p:nvSpPr>
          <p:cNvPr id="21" name="Text 19"/>
          <p:cNvSpPr/>
          <p:nvPr/>
        </p:nvSpPr>
        <p:spPr>
          <a:xfrm>
            <a:off x="7263693" y="4259411"/>
            <a:ext cx="411550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لا يحتوي كلمة يبحث بها مسؤول التوظيف.</a:t>
            </a:r>
            <a:endParaRPr lang="ar-SA" sz="1200" dirty="0" altLang="en-US"/>
          </a:p>
        </p:txBody>
      </p:sp>
      <p:sp>
        <p:nvSpPr>
          <p:cNvPr id="22" name="Text 20"/>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51</a:t>
            </a:r>
            <a:endParaRPr lang="en-US" sz="1200" dirty="0"/>
          </a:p>
        </p:txBody>
      </p:sp>
      <p:sp>
        <p:nvSpPr>
          <p:cNvPr id="23" name="Text 21"/>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07 · LinkedIn</a:t>
            </a:r>
            <a:endParaRPr lang="ar-SA" sz="1200" dirty="0"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633339" cy="289520"/>
          </a:xfrm>
          <a:custGeom>
            <a:avLst/>
            <a:gdLst/>
            <a:ahLst/>
            <a:cxnLst/>
            <a:rect l="l" t="t" r="r" b="b"/>
            <a:pathLst>
              <a:path w="1633339" h="289520">
                <a:moveTo>
                  <a:pt x="144760" y="0"/>
                </a:moveTo>
                <a:lnTo>
                  <a:pt x="1488579" y="0"/>
                </a:lnTo>
                <a:arcTo hR="144760" wR="144760" stAng="16200000" swAng="5400000"/>
                <a:lnTo>
                  <a:pt x="1633339"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07 · LinkedIn</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نبذة About: أربعة أجزاء في فقرات قصيرة</a:t>
            </a:r>
            <a:endParaRPr lang="ar-SA" sz="3000" dirty="0" altLang="en-US"/>
          </a:p>
        </p:txBody>
      </p:sp>
      <p:sp>
        <p:nvSpPr>
          <p:cNvPr id="5" name="Shape 3"/>
          <p:cNvSpPr/>
          <p:nvPr/>
        </p:nvSpPr>
        <p:spPr>
          <a:xfrm>
            <a:off x="815975" y="1835745"/>
            <a:ext cx="6775450" cy="2716361"/>
          </a:xfrm>
          <a:prstGeom prst="roundRect">
            <a:avLst>
              <a:gd name="adj" fmla="val 3156"/>
            </a:avLst>
          </a:prstGeom>
          <a:solidFill>
            <a:srgbClr val="FFFFFF"/>
          </a:solidFill>
          <a:ln w="6350">
            <a:solidFill>
              <a:srgbClr val="D9D2C2"/>
            </a:solidFill>
            <a:prstDash val="solid"/>
          </a:ln>
        </p:spPr>
      </p:sp>
      <p:sp>
        <p:nvSpPr>
          <p:cNvPr id="6" name="Text 4"/>
          <p:cNvSpPr/>
          <p:nvPr/>
        </p:nvSpPr>
        <p:spPr>
          <a:xfrm>
            <a:off x="1035050" y="2016720"/>
            <a:ext cx="652741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E2A36"/>
                </a:solidFill>
                <a:latin typeface="Readex Pro" pitchFamily="34" charset="0"/>
                <a:ea typeface="Readex Pro" pitchFamily="34" charset="-122"/>
                <a:cs typeface="Readex Pro" pitchFamily="34" charset="-120"/>
              </a:rPr>
              <a:t>About</a:t>
            </a:r>
            <a:endParaRPr lang="en-US" sz="1400" dirty="0"/>
          </a:p>
        </p:txBody>
      </p:sp>
      <p:sp>
        <p:nvSpPr>
          <p:cNvPr id="7" name="Shape 5"/>
          <p:cNvSpPr/>
          <p:nvPr/>
        </p:nvSpPr>
        <p:spPr>
          <a:xfrm>
            <a:off x="1054100" y="2336750"/>
            <a:ext cx="0" cy="441920"/>
          </a:xfrm>
          <a:prstGeom prst="line">
            <a:avLst/>
          </a:prstGeom>
          <a:noFill/>
          <a:ln w="38100">
            <a:solidFill>
              <a:srgbClr val="0E7C6B"/>
            </a:solidFill>
            <a:prstDash val="solid"/>
          </a:ln>
        </p:spPr>
      </p:sp>
      <p:sp>
        <p:nvSpPr>
          <p:cNvPr id="8" name="Text 6"/>
          <p:cNvSpPr/>
          <p:nvPr/>
        </p:nvSpPr>
        <p:spPr>
          <a:xfrm>
            <a:off x="1162050" y="2336750"/>
            <a:ext cx="639660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2A36"/>
                </a:solidFill>
                <a:latin typeface="IBM Plex Sans Arabic" pitchFamily="34" charset="0"/>
                <a:ea typeface="IBM Plex Sans Arabic" pitchFamily="34" charset="-122"/>
                <a:cs typeface="IBM Plex Sans Arabic" pitchFamily="34" charset="-120"/>
              </a:rPr>
              <a:t>Entry-level GRC analyst focused on turning security requirements into clear, testable controls.</a:t>
            </a:r>
            <a:endParaRPr lang="en-US" sz="1200" dirty="0"/>
          </a:p>
        </p:txBody>
      </p:sp>
      <p:sp>
        <p:nvSpPr>
          <p:cNvPr id="9" name="Shape 7"/>
          <p:cNvSpPr/>
          <p:nvPr/>
        </p:nvSpPr>
        <p:spPr>
          <a:xfrm>
            <a:off x="1054100" y="2867571"/>
            <a:ext cx="0" cy="441920"/>
          </a:xfrm>
          <a:prstGeom prst="line">
            <a:avLst/>
          </a:prstGeom>
          <a:noFill/>
          <a:ln w="38100">
            <a:solidFill>
              <a:srgbClr val="24506B"/>
            </a:solidFill>
            <a:prstDash val="solid"/>
          </a:ln>
        </p:spPr>
      </p:sp>
      <p:sp>
        <p:nvSpPr>
          <p:cNvPr id="10" name="Text 8"/>
          <p:cNvSpPr/>
          <p:nvPr/>
        </p:nvSpPr>
        <p:spPr>
          <a:xfrm>
            <a:off x="1162050" y="2867571"/>
            <a:ext cx="639660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2A36"/>
                </a:solidFill>
                <a:latin typeface="IBM Plex Sans Arabic" pitchFamily="34" charset="0"/>
                <a:ea typeface="IBM Plex Sans Arabic" pitchFamily="34" charset="-122"/>
                <a:cs typeface="IBM Plex Sans Arabic" pitchFamily="34" charset="-120"/>
              </a:rPr>
              <a:t>Recent work: a 20-risk register for a fictional logistics company, and an NCA ECC-2:2024 gap assessment with 5 documented findings and owners.</a:t>
            </a:r>
            <a:endParaRPr lang="en-US" sz="1200" dirty="0"/>
          </a:p>
        </p:txBody>
      </p:sp>
      <p:sp>
        <p:nvSpPr>
          <p:cNvPr id="11" name="Shape 9"/>
          <p:cNvSpPr/>
          <p:nvPr/>
        </p:nvSpPr>
        <p:spPr>
          <a:xfrm>
            <a:off x="1054100" y="3398391"/>
            <a:ext cx="0" cy="441920"/>
          </a:xfrm>
          <a:prstGeom prst="line">
            <a:avLst/>
          </a:prstGeom>
          <a:noFill/>
          <a:ln w="38100">
            <a:solidFill>
              <a:srgbClr val="6B4E9B"/>
            </a:solidFill>
            <a:prstDash val="solid"/>
          </a:ln>
        </p:spPr>
      </p:sp>
      <p:sp>
        <p:nvSpPr>
          <p:cNvPr id="12" name="Text 10"/>
          <p:cNvSpPr/>
          <p:nvPr/>
        </p:nvSpPr>
        <p:spPr>
          <a:xfrm>
            <a:off x="1162050" y="3398391"/>
            <a:ext cx="639660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2A36"/>
                </a:solidFill>
                <a:latin typeface="IBM Plex Sans Arabic" pitchFamily="34" charset="0"/>
                <a:ea typeface="IBM Plex Sans Arabic" pitchFamily="34" charset="-122"/>
                <a:cs typeface="IBM Plex Sans Arabic" pitchFamily="34" charset="-120"/>
              </a:rPr>
              <a:t>Focus: risk assessment · ISO/IEC 27001 · NIST CSF 2.0 · policy writing · ISC2 CC · Arabic and English.</a:t>
            </a:r>
            <a:endParaRPr lang="en-US" sz="1200" dirty="0"/>
          </a:p>
        </p:txBody>
      </p:sp>
      <p:sp>
        <p:nvSpPr>
          <p:cNvPr id="13" name="Shape 11"/>
          <p:cNvSpPr/>
          <p:nvPr/>
        </p:nvSpPr>
        <p:spPr>
          <a:xfrm>
            <a:off x="1054100" y="3929211"/>
            <a:ext cx="0" cy="441920"/>
          </a:xfrm>
          <a:prstGeom prst="line">
            <a:avLst/>
          </a:prstGeom>
          <a:noFill/>
          <a:ln w="38100">
            <a:solidFill>
              <a:srgbClr val="C27A16"/>
            </a:solidFill>
            <a:prstDash val="solid"/>
          </a:ln>
        </p:spPr>
      </p:sp>
      <p:sp>
        <p:nvSpPr>
          <p:cNvPr id="14" name="Text 12"/>
          <p:cNvSpPr/>
          <p:nvPr/>
        </p:nvSpPr>
        <p:spPr>
          <a:xfrm>
            <a:off x="1162050" y="3929211"/>
            <a:ext cx="639660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2A36"/>
                </a:solidFill>
                <a:latin typeface="IBM Plex Sans Arabic" pitchFamily="34" charset="0"/>
                <a:ea typeface="IBM Plex Sans Arabic" pitchFamily="34" charset="-122"/>
                <a:cs typeface="IBM Plex Sans Arabic" pitchFamily="34" charset="-120"/>
              </a:rPr>
              <a:t>Open to entry-level GRC and compliance roles in Riyadh. Message me or see my projects in Featured.</a:t>
            </a:r>
            <a:endParaRPr lang="en-US" sz="1200" dirty="0"/>
          </a:p>
        </p:txBody>
      </p:sp>
      <p:sp>
        <p:nvSpPr>
          <p:cNvPr id="15" name="Text 13"/>
          <p:cNvSpPr/>
          <p:nvPr/>
        </p:nvSpPr>
        <p:spPr>
          <a:xfrm>
            <a:off x="7721092" y="1832570"/>
            <a:ext cx="3505708"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1. الافتتاح</a:t>
            </a:r>
            <a:endParaRPr lang="ar-SA" sz="1300" dirty="0" altLang="en-US"/>
          </a:p>
        </p:txBody>
      </p:sp>
      <p:sp>
        <p:nvSpPr>
          <p:cNvPr id="16" name="Text 14"/>
          <p:cNvSpPr/>
          <p:nvPr/>
        </p:nvSpPr>
        <p:spPr>
          <a:xfrm>
            <a:off x="7721092" y="2059880"/>
            <a:ext cx="350570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من أنت، وما الذي تركز عليه.</a:t>
            </a:r>
            <a:endParaRPr lang="ar-SA" sz="1200" dirty="0" altLang="en-US"/>
          </a:p>
        </p:txBody>
      </p:sp>
      <p:sp>
        <p:nvSpPr>
          <p:cNvPr id="17" name="Shape 15"/>
          <p:cNvSpPr/>
          <p:nvPr/>
        </p:nvSpPr>
        <p:spPr>
          <a:xfrm>
            <a:off x="11315700" y="1832570"/>
            <a:ext cx="63500" cy="440630"/>
          </a:xfrm>
          <a:prstGeom prst="roundRect">
            <a:avLst>
              <a:gd name="adj" fmla="val 50000"/>
            </a:avLst>
          </a:prstGeom>
          <a:solidFill>
            <a:srgbClr val="0E7C6B"/>
          </a:solidFill>
          <a:ln/>
        </p:spPr>
      </p:sp>
      <p:sp>
        <p:nvSpPr>
          <p:cNvPr id="18" name="Text 16"/>
          <p:cNvSpPr/>
          <p:nvPr/>
        </p:nvSpPr>
        <p:spPr>
          <a:xfrm>
            <a:off x="7721092" y="2362101"/>
            <a:ext cx="3505708"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2. الدليل</a:t>
            </a:r>
            <a:endParaRPr lang="ar-SA" sz="1300" dirty="0" altLang="en-US"/>
          </a:p>
        </p:txBody>
      </p:sp>
      <p:sp>
        <p:nvSpPr>
          <p:cNvPr id="19" name="Text 17"/>
          <p:cNvSpPr/>
          <p:nvPr/>
        </p:nvSpPr>
        <p:spPr>
          <a:xfrm>
            <a:off x="7721092" y="2589411"/>
            <a:ext cx="350570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مشروعان بنتائج محددة.</a:t>
            </a:r>
            <a:endParaRPr lang="ar-SA" sz="1200" dirty="0" altLang="en-US"/>
          </a:p>
        </p:txBody>
      </p:sp>
      <p:sp>
        <p:nvSpPr>
          <p:cNvPr id="20" name="Shape 18"/>
          <p:cNvSpPr/>
          <p:nvPr/>
        </p:nvSpPr>
        <p:spPr>
          <a:xfrm>
            <a:off x="11315700" y="2362101"/>
            <a:ext cx="63500" cy="440630"/>
          </a:xfrm>
          <a:prstGeom prst="roundRect">
            <a:avLst>
              <a:gd name="adj" fmla="val 50000"/>
            </a:avLst>
          </a:prstGeom>
          <a:solidFill>
            <a:srgbClr val="24506B"/>
          </a:solidFill>
          <a:ln/>
        </p:spPr>
      </p:sp>
      <p:sp>
        <p:nvSpPr>
          <p:cNvPr id="21" name="Text 19"/>
          <p:cNvSpPr/>
          <p:nvPr/>
        </p:nvSpPr>
        <p:spPr>
          <a:xfrm>
            <a:off x="7721092" y="2891631"/>
            <a:ext cx="3505708"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3. المجالات والأطر</a:t>
            </a:r>
            <a:endParaRPr lang="ar-SA" sz="1300" dirty="0" altLang="en-US"/>
          </a:p>
        </p:txBody>
      </p:sp>
      <p:sp>
        <p:nvSpPr>
          <p:cNvPr id="22" name="Text 20"/>
          <p:cNvSpPr/>
          <p:nvPr/>
        </p:nvSpPr>
        <p:spPr>
          <a:xfrm>
            <a:off x="7721092" y="3118941"/>
            <a:ext cx="350570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كلمات البحث التي تريد أن تظهر بها.</a:t>
            </a:r>
            <a:endParaRPr lang="ar-SA" sz="1200" dirty="0" altLang="en-US"/>
          </a:p>
        </p:txBody>
      </p:sp>
      <p:sp>
        <p:nvSpPr>
          <p:cNvPr id="23" name="Shape 21"/>
          <p:cNvSpPr/>
          <p:nvPr/>
        </p:nvSpPr>
        <p:spPr>
          <a:xfrm>
            <a:off x="11315700" y="2891631"/>
            <a:ext cx="63500" cy="440630"/>
          </a:xfrm>
          <a:prstGeom prst="roundRect">
            <a:avLst>
              <a:gd name="adj" fmla="val 50000"/>
            </a:avLst>
          </a:prstGeom>
          <a:solidFill>
            <a:srgbClr val="6B4E9B"/>
          </a:solidFill>
          <a:ln/>
        </p:spPr>
      </p:sp>
      <p:sp>
        <p:nvSpPr>
          <p:cNvPr id="24" name="Text 22"/>
          <p:cNvSpPr/>
          <p:nvPr/>
        </p:nvSpPr>
        <p:spPr>
          <a:xfrm>
            <a:off x="7721092" y="3421162"/>
            <a:ext cx="3505708"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4. الدعوة</a:t>
            </a:r>
            <a:endParaRPr lang="ar-SA" sz="1300" dirty="0" altLang="en-US"/>
          </a:p>
        </p:txBody>
      </p:sp>
      <p:sp>
        <p:nvSpPr>
          <p:cNvPr id="25" name="Text 23"/>
          <p:cNvSpPr/>
          <p:nvPr/>
        </p:nvSpPr>
        <p:spPr>
          <a:xfrm>
            <a:off x="7721092" y="3648472"/>
            <a:ext cx="350570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ماذا تبحث عنه، وكيف يتواصلون معك.</a:t>
            </a:r>
            <a:endParaRPr lang="ar-SA" sz="1200" dirty="0" altLang="en-US"/>
          </a:p>
        </p:txBody>
      </p:sp>
      <p:sp>
        <p:nvSpPr>
          <p:cNvPr id="26" name="Shape 24"/>
          <p:cNvSpPr/>
          <p:nvPr/>
        </p:nvSpPr>
        <p:spPr>
          <a:xfrm>
            <a:off x="11315700" y="3421162"/>
            <a:ext cx="63500" cy="440630"/>
          </a:xfrm>
          <a:prstGeom prst="roundRect">
            <a:avLst>
              <a:gd name="adj" fmla="val 50000"/>
            </a:avLst>
          </a:prstGeom>
          <a:solidFill>
            <a:srgbClr val="C27A16"/>
          </a:solidFill>
          <a:ln/>
        </p:spPr>
      </p:sp>
      <p:sp>
        <p:nvSpPr>
          <p:cNvPr id="27" name="Shape 25"/>
          <p:cNvSpPr/>
          <p:nvPr/>
        </p:nvSpPr>
        <p:spPr>
          <a:xfrm>
            <a:off x="7823200" y="3950692"/>
            <a:ext cx="3556000" cy="398760"/>
          </a:xfrm>
          <a:prstGeom prst="roundRect">
            <a:avLst>
              <a:gd name="adj" fmla="val 19109"/>
            </a:avLst>
          </a:prstGeom>
          <a:solidFill>
            <a:srgbClr val="172433"/>
          </a:solidFill>
          <a:ln/>
        </p:spPr>
      </p:sp>
      <p:sp>
        <p:nvSpPr>
          <p:cNvPr id="28" name="Text 26"/>
          <p:cNvSpPr/>
          <p:nvPr/>
        </p:nvSpPr>
        <p:spPr>
          <a:xfrm>
            <a:off x="7823200" y="4039592"/>
            <a:ext cx="3187700"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الحد 2,600 حرف، لكن 150 إلى 250 كلمة تكفي غالباً.</a:t>
            </a:r>
            <a:endParaRPr lang="ar-SA" sz="1200" dirty="0" altLang="en-US"/>
          </a:p>
        </p:txBody>
      </p:sp>
      <p:pic>
        <p:nvPicPr>
          <p:cNvPr id="29" name="Image 0" descr="Book">    </p:cNvPr>
          <p:cNvPicPr>
            <a:picLocks noChangeAspect="1"/>
          </p:cNvPicPr>
          <p:nvPr/>
        </p:nvPicPr>
        <p:blipFill>
          <a:blip r:embed="rId1"/>
          <a:srcRect l="0" r="0" t="0" b="0"/>
          <a:stretch/>
        </p:blipFill>
        <p:spPr>
          <a:xfrm>
            <a:off x="11087100" y="4039592"/>
            <a:ext cx="177800" cy="177800"/>
          </a:xfrm>
          <a:prstGeom prst="rect">
            <a:avLst/>
          </a:prstGeom>
        </p:spPr>
      </p:pic>
      <p:sp>
        <p:nvSpPr>
          <p:cNvPr id="30" name="Text 27"/>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52</a:t>
            </a:r>
            <a:endParaRPr lang="en-US" sz="1200" dirty="0"/>
          </a:p>
        </p:txBody>
      </p:sp>
      <p:sp>
        <p:nvSpPr>
          <p:cNvPr id="31" name="Text 28"/>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07 · LinkedIn</a:t>
            </a:r>
            <a:endParaRPr lang="ar-SA" sz="1200" dirty="0"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633339" cy="289520"/>
          </a:xfrm>
          <a:custGeom>
            <a:avLst/>
            <a:gdLst/>
            <a:ahLst/>
            <a:cxnLst/>
            <a:rect l="l" t="t" r="r" b="b"/>
            <a:pathLst>
              <a:path w="1633339" h="289520">
                <a:moveTo>
                  <a:pt x="144760" y="0"/>
                </a:moveTo>
                <a:lnTo>
                  <a:pt x="1488579" y="0"/>
                </a:lnTo>
                <a:arcTo hR="144760" wR="144760" stAng="16200000" swAng="5400000"/>
                <a:lnTo>
                  <a:pt x="1633339"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07 · LinkedIn</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الشبكة والنشر: كن مرئياً في مجالك</a:t>
            </a:r>
            <a:endParaRPr lang="ar-SA" sz="3000" dirty="0" altLang="en-US"/>
          </a:p>
        </p:txBody>
      </p:sp>
      <p:sp>
        <p:nvSpPr>
          <p:cNvPr id="5" name="Text 3"/>
          <p:cNvSpPr/>
          <p:nvPr/>
        </p:nvSpPr>
        <p:spPr>
          <a:xfrm>
            <a:off x="657352" y="1832570"/>
            <a:ext cx="5337048"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9A5F0F"/>
                </a:solidFill>
                <a:latin typeface="Readex Pro" pitchFamily="34" charset="0"/>
                <a:ea typeface="Readex Pro" pitchFamily="34" charset="-122"/>
                <a:cs typeface="Readex Pro" pitchFamily="34" charset="-120"/>
              </a:rPr>
              <a:t>ماذا تنشر</a:t>
            </a:r>
            <a:endParaRPr lang="ar-SA" sz="1600" dirty="0" altLang="en-US"/>
          </a:p>
        </p:txBody>
      </p:sp>
      <p:sp>
        <p:nvSpPr>
          <p:cNvPr id="6" name="Shape 4"/>
          <p:cNvSpPr/>
          <p:nvPr/>
        </p:nvSpPr>
        <p:spPr>
          <a:xfrm>
            <a:off x="815975" y="2188766"/>
            <a:ext cx="5175250" cy="379710"/>
          </a:xfrm>
          <a:prstGeom prst="roundRect">
            <a:avLst>
              <a:gd name="adj" fmla="val 19232"/>
            </a:avLst>
          </a:prstGeom>
          <a:solidFill>
            <a:srgbClr val="FFFDF8"/>
          </a:solidFill>
          <a:ln w="6350">
            <a:solidFill>
              <a:srgbClr val="E1DBCD"/>
            </a:solidFill>
            <a:prstDash val="solid"/>
          </a:ln>
        </p:spPr>
      </p:sp>
      <p:sp>
        <p:nvSpPr>
          <p:cNvPr id="7" name="Text 5"/>
          <p:cNvSpPr/>
          <p:nvPr/>
        </p:nvSpPr>
        <p:spPr>
          <a:xfrm>
            <a:off x="794766" y="2268141"/>
            <a:ext cx="476148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ضابط واحد شرحته بمثال من الواقع</a:t>
            </a:r>
            <a:endParaRPr lang="ar-SA" sz="1200" dirty="0" altLang="en-US"/>
          </a:p>
        </p:txBody>
      </p:sp>
      <p:sp>
        <p:nvSpPr>
          <p:cNvPr id="8" name="Text 6"/>
          <p:cNvSpPr/>
          <p:nvPr/>
        </p:nvSpPr>
        <p:spPr>
          <a:xfrm>
            <a:off x="5594350" y="2289721"/>
            <a:ext cx="279400" cy="203200"/>
          </a:xfrm>
          <a:prstGeom prst="rect">
            <a:avLst/>
          </a:prstGeom>
          <a:noFill/>
          <a:ln/>
        </p:spPr>
        <p:txBody>
          <a:bodyPr wrap="square" lIns="0" tIns="0" rIns="0" bIns="0" rtlCol="0" anchor="t">
            <a:normAutofit/>
          </a:bodyPr>
          <a:lstStyle/>
          <a:p>
            <a:pPr algn="r" indent="0" marL="0">
              <a:lnSpc>
                <a:spcPts val="1400"/>
              </a:lnSpc>
              <a:buNone/>
            </a:pPr>
            <a:r>
              <a:rPr lang="en-US" sz="1400" b="1" dirty="0">
                <a:solidFill>
                  <a:srgbClr val="9A5F0F"/>
                </a:solidFill>
                <a:latin typeface="Readex Pro" pitchFamily="34" charset="0"/>
                <a:ea typeface="Readex Pro" pitchFamily="34" charset="-122"/>
                <a:cs typeface="Readex Pro" pitchFamily="34" charset="-120"/>
              </a:rPr>
              <a:t>1</a:t>
            </a:r>
            <a:endParaRPr lang="en-US" sz="1400" dirty="0"/>
          </a:p>
        </p:txBody>
      </p:sp>
      <p:sp>
        <p:nvSpPr>
          <p:cNvPr id="9" name="Shape 7"/>
          <p:cNvSpPr/>
          <p:nvPr/>
        </p:nvSpPr>
        <p:spPr>
          <a:xfrm>
            <a:off x="815975" y="2663726"/>
            <a:ext cx="5175250" cy="379710"/>
          </a:xfrm>
          <a:prstGeom prst="roundRect">
            <a:avLst>
              <a:gd name="adj" fmla="val 19232"/>
            </a:avLst>
          </a:prstGeom>
          <a:solidFill>
            <a:srgbClr val="FFFDF8"/>
          </a:solidFill>
          <a:ln w="6350">
            <a:solidFill>
              <a:srgbClr val="E1DBCD"/>
            </a:solidFill>
            <a:prstDash val="solid"/>
          </a:ln>
        </p:spPr>
      </p:sp>
      <p:sp>
        <p:nvSpPr>
          <p:cNvPr id="10" name="Text 8"/>
          <p:cNvSpPr/>
          <p:nvPr/>
        </p:nvSpPr>
        <p:spPr>
          <a:xfrm>
            <a:off x="794766" y="2743101"/>
            <a:ext cx="476148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مشروع من ملف أعمالك مع ما تعلمته منه</a:t>
            </a:r>
            <a:endParaRPr lang="ar-SA" sz="1200" dirty="0" altLang="en-US"/>
          </a:p>
        </p:txBody>
      </p:sp>
      <p:sp>
        <p:nvSpPr>
          <p:cNvPr id="11" name="Text 9"/>
          <p:cNvSpPr/>
          <p:nvPr/>
        </p:nvSpPr>
        <p:spPr>
          <a:xfrm>
            <a:off x="5594350" y="2764681"/>
            <a:ext cx="279400" cy="203200"/>
          </a:xfrm>
          <a:prstGeom prst="rect">
            <a:avLst/>
          </a:prstGeom>
          <a:noFill/>
          <a:ln/>
        </p:spPr>
        <p:txBody>
          <a:bodyPr wrap="square" lIns="0" tIns="0" rIns="0" bIns="0" rtlCol="0" anchor="t">
            <a:normAutofit/>
          </a:bodyPr>
          <a:lstStyle/>
          <a:p>
            <a:pPr algn="r" indent="0" marL="0">
              <a:lnSpc>
                <a:spcPts val="1400"/>
              </a:lnSpc>
              <a:buNone/>
            </a:pPr>
            <a:r>
              <a:rPr lang="en-US" sz="1400" b="1" dirty="0">
                <a:solidFill>
                  <a:srgbClr val="9A5F0F"/>
                </a:solidFill>
                <a:latin typeface="Readex Pro" pitchFamily="34" charset="0"/>
                <a:ea typeface="Readex Pro" pitchFamily="34" charset="-122"/>
                <a:cs typeface="Readex Pro" pitchFamily="34" charset="-120"/>
              </a:rPr>
              <a:t>2</a:t>
            </a:r>
            <a:endParaRPr lang="en-US" sz="1400" dirty="0"/>
          </a:p>
        </p:txBody>
      </p:sp>
      <p:sp>
        <p:nvSpPr>
          <p:cNvPr id="12" name="Shape 10"/>
          <p:cNvSpPr/>
          <p:nvPr/>
        </p:nvSpPr>
        <p:spPr>
          <a:xfrm>
            <a:off x="815975" y="3138686"/>
            <a:ext cx="5175250" cy="379710"/>
          </a:xfrm>
          <a:prstGeom prst="roundRect">
            <a:avLst>
              <a:gd name="adj" fmla="val 19232"/>
            </a:avLst>
          </a:prstGeom>
          <a:solidFill>
            <a:srgbClr val="FFFDF8"/>
          </a:solidFill>
          <a:ln w="6350">
            <a:solidFill>
              <a:srgbClr val="E1DBCD"/>
            </a:solidFill>
            <a:prstDash val="solid"/>
          </a:ln>
        </p:spPr>
      </p:sp>
      <p:sp>
        <p:nvSpPr>
          <p:cNvPr id="13" name="Text 11"/>
          <p:cNvSpPr/>
          <p:nvPr/>
        </p:nvSpPr>
        <p:spPr>
          <a:xfrm>
            <a:off x="794766" y="3218061"/>
            <a:ext cx="476148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خلاصة فعالية أو ورشة حضرتها</a:t>
            </a:r>
            <a:endParaRPr lang="ar-SA" sz="1200" dirty="0" altLang="en-US"/>
          </a:p>
        </p:txBody>
      </p:sp>
      <p:sp>
        <p:nvSpPr>
          <p:cNvPr id="14" name="Text 12"/>
          <p:cNvSpPr/>
          <p:nvPr/>
        </p:nvSpPr>
        <p:spPr>
          <a:xfrm>
            <a:off x="5594350" y="3239641"/>
            <a:ext cx="279400" cy="203200"/>
          </a:xfrm>
          <a:prstGeom prst="rect">
            <a:avLst/>
          </a:prstGeom>
          <a:noFill/>
          <a:ln/>
        </p:spPr>
        <p:txBody>
          <a:bodyPr wrap="square" lIns="0" tIns="0" rIns="0" bIns="0" rtlCol="0" anchor="t">
            <a:normAutofit/>
          </a:bodyPr>
          <a:lstStyle/>
          <a:p>
            <a:pPr algn="r" indent="0" marL="0">
              <a:lnSpc>
                <a:spcPts val="1400"/>
              </a:lnSpc>
              <a:buNone/>
            </a:pPr>
            <a:r>
              <a:rPr lang="en-US" sz="1400" b="1" dirty="0">
                <a:solidFill>
                  <a:srgbClr val="9A5F0F"/>
                </a:solidFill>
                <a:latin typeface="Readex Pro" pitchFamily="34" charset="0"/>
                <a:ea typeface="Readex Pro" pitchFamily="34" charset="-122"/>
                <a:cs typeface="Readex Pro" pitchFamily="34" charset="-120"/>
              </a:rPr>
              <a:t>3</a:t>
            </a:r>
            <a:endParaRPr lang="en-US" sz="1400" dirty="0"/>
          </a:p>
        </p:txBody>
      </p:sp>
      <p:sp>
        <p:nvSpPr>
          <p:cNvPr id="15" name="Shape 13"/>
          <p:cNvSpPr/>
          <p:nvPr/>
        </p:nvSpPr>
        <p:spPr>
          <a:xfrm>
            <a:off x="815975" y="3613646"/>
            <a:ext cx="5175250" cy="379710"/>
          </a:xfrm>
          <a:prstGeom prst="roundRect">
            <a:avLst>
              <a:gd name="adj" fmla="val 19232"/>
            </a:avLst>
          </a:prstGeom>
          <a:solidFill>
            <a:srgbClr val="FFFDF8"/>
          </a:solidFill>
          <a:ln w="6350">
            <a:solidFill>
              <a:srgbClr val="E1DBCD"/>
            </a:solidFill>
            <a:prstDash val="solid"/>
          </a:ln>
        </p:spPr>
      </p:sp>
      <p:sp>
        <p:nvSpPr>
          <p:cNvPr id="16" name="Text 14"/>
          <p:cNvSpPr/>
          <p:nvPr/>
        </p:nvSpPr>
        <p:spPr>
          <a:xfrm>
            <a:off x="794766" y="3693021"/>
            <a:ext cx="476148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تعليق مفيد على منشور مختص، لا «شكراً» فقط</a:t>
            </a:r>
            <a:endParaRPr lang="ar-SA" sz="1200" dirty="0" altLang="en-US"/>
          </a:p>
        </p:txBody>
      </p:sp>
      <p:sp>
        <p:nvSpPr>
          <p:cNvPr id="17" name="Text 15"/>
          <p:cNvSpPr/>
          <p:nvPr/>
        </p:nvSpPr>
        <p:spPr>
          <a:xfrm>
            <a:off x="5594350" y="3714601"/>
            <a:ext cx="279400" cy="203200"/>
          </a:xfrm>
          <a:prstGeom prst="rect">
            <a:avLst/>
          </a:prstGeom>
          <a:noFill/>
          <a:ln/>
        </p:spPr>
        <p:txBody>
          <a:bodyPr wrap="square" lIns="0" tIns="0" rIns="0" bIns="0" rtlCol="0" anchor="t">
            <a:normAutofit/>
          </a:bodyPr>
          <a:lstStyle/>
          <a:p>
            <a:pPr algn="r" indent="0" marL="0">
              <a:lnSpc>
                <a:spcPts val="1400"/>
              </a:lnSpc>
              <a:buNone/>
            </a:pPr>
            <a:r>
              <a:rPr lang="en-US" sz="1400" b="1" dirty="0">
                <a:solidFill>
                  <a:srgbClr val="9A5F0F"/>
                </a:solidFill>
                <a:latin typeface="Readex Pro" pitchFamily="34" charset="0"/>
                <a:ea typeface="Readex Pro" pitchFamily="34" charset="-122"/>
                <a:cs typeface="Readex Pro" pitchFamily="34" charset="-120"/>
              </a:rPr>
              <a:t>4</a:t>
            </a:r>
            <a:endParaRPr lang="en-US" sz="1400" dirty="0"/>
          </a:p>
        </p:txBody>
      </p:sp>
      <p:sp>
        <p:nvSpPr>
          <p:cNvPr id="18" name="Shape 16"/>
          <p:cNvSpPr/>
          <p:nvPr/>
        </p:nvSpPr>
        <p:spPr>
          <a:xfrm>
            <a:off x="815975" y="4088606"/>
            <a:ext cx="5175250" cy="379710"/>
          </a:xfrm>
          <a:prstGeom prst="roundRect">
            <a:avLst>
              <a:gd name="adj" fmla="val 19232"/>
            </a:avLst>
          </a:prstGeom>
          <a:solidFill>
            <a:srgbClr val="FBEAE5"/>
          </a:solidFill>
          <a:ln w="6350">
            <a:solidFill>
              <a:srgbClr val="E7B8AC"/>
            </a:solidFill>
            <a:prstDash val="solid"/>
          </a:ln>
        </p:spPr>
      </p:sp>
      <p:sp>
        <p:nvSpPr>
          <p:cNvPr id="19" name="Text 17"/>
          <p:cNvSpPr/>
          <p:nvPr/>
        </p:nvSpPr>
        <p:spPr>
          <a:xfrm>
            <a:off x="792861" y="4167981"/>
            <a:ext cx="4826889"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لا تنشر أي تفصيل عن ضوابط أو ثغرات جهة عملت أو تدربت فيها.</a:t>
            </a:r>
            <a:endParaRPr lang="ar-SA" sz="1200" dirty="0" altLang="en-US"/>
          </a:p>
        </p:txBody>
      </p:sp>
      <p:pic>
        <p:nvPicPr>
          <p:cNvPr id="20" name="Image 0" descr="Warning">    </p:cNvPr>
          <p:cNvPicPr>
            <a:picLocks noChangeAspect="1"/>
          </p:cNvPicPr>
          <p:nvPr/>
        </p:nvPicPr>
        <p:blipFill>
          <a:blip r:embed="rId1"/>
          <a:srcRect l="0" r="0" t="0" b="0"/>
          <a:stretch/>
        </p:blipFill>
        <p:spPr>
          <a:xfrm>
            <a:off x="5695950" y="4167981"/>
            <a:ext cx="177800" cy="177800"/>
          </a:xfrm>
          <a:prstGeom prst="rect">
            <a:avLst/>
          </a:prstGeom>
        </p:spPr>
      </p:pic>
      <p:sp>
        <p:nvSpPr>
          <p:cNvPr id="21" name="Text 18"/>
          <p:cNvSpPr/>
          <p:nvPr/>
        </p:nvSpPr>
        <p:spPr>
          <a:xfrm>
            <a:off x="6042152" y="1832570"/>
            <a:ext cx="5337048"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0E7C6B"/>
                </a:solidFill>
                <a:latin typeface="Readex Pro" pitchFamily="34" charset="0"/>
                <a:ea typeface="Readex Pro" pitchFamily="34" charset="-122"/>
                <a:cs typeface="Readex Pro" pitchFamily="34" charset="-120"/>
              </a:rPr>
              <a:t>من تضيف، وكيف</a:t>
            </a:r>
            <a:endParaRPr lang="ar-SA" sz="1600" dirty="0" altLang="en-US"/>
          </a:p>
        </p:txBody>
      </p:sp>
      <p:sp>
        <p:nvSpPr>
          <p:cNvPr id="22" name="Text 19"/>
          <p:cNvSpPr/>
          <p:nvPr/>
        </p:nvSpPr>
        <p:spPr>
          <a:xfrm>
            <a:off x="6049772" y="2185591"/>
            <a:ext cx="507542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مختصو GRC في الجهات التي تستهدفها</a:t>
            </a:r>
            <a:endParaRPr lang="ar-SA" sz="1200" dirty="0" altLang="en-US"/>
          </a:p>
        </p:txBody>
      </p:sp>
      <p:pic>
        <p:nvPicPr>
          <p:cNvPr id="23" name="Image 1" descr="Users">    </p:cNvPr>
          <p:cNvPicPr>
            <a:picLocks noChangeAspect="1"/>
          </p:cNvPicPr>
          <p:nvPr/>
        </p:nvPicPr>
        <p:blipFill>
          <a:blip r:embed="rId2"/>
          <a:srcRect l="0" r="0" t="0" b="0"/>
          <a:stretch/>
        </p:blipFill>
        <p:spPr>
          <a:xfrm>
            <a:off x="11201400" y="2185591"/>
            <a:ext cx="177800" cy="177800"/>
          </a:xfrm>
          <a:prstGeom prst="rect">
            <a:avLst/>
          </a:prstGeom>
        </p:spPr>
      </p:pic>
      <p:sp>
        <p:nvSpPr>
          <p:cNvPr id="24" name="Text 20"/>
          <p:cNvSpPr/>
          <p:nvPr/>
        </p:nvSpPr>
        <p:spPr>
          <a:xfrm>
            <a:off x="6049772" y="2495451"/>
            <a:ext cx="507542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مسؤولو التوظيف في الأمن السيبراني</a:t>
            </a:r>
            <a:endParaRPr lang="ar-SA" sz="1200" dirty="0" altLang="en-US"/>
          </a:p>
        </p:txBody>
      </p:sp>
      <p:pic>
        <p:nvPicPr>
          <p:cNvPr id="25" name="Image 2" descr="Search">    </p:cNvPr>
          <p:cNvPicPr>
            <a:picLocks noChangeAspect="1"/>
          </p:cNvPicPr>
          <p:nvPr/>
        </p:nvPicPr>
        <p:blipFill>
          <a:blip r:embed="rId3"/>
          <a:srcRect l="0" r="0" t="0" b="0"/>
          <a:stretch/>
        </p:blipFill>
        <p:spPr>
          <a:xfrm>
            <a:off x="11201400" y="2495451"/>
            <a:ext cx="177800" cy="177800"/>
          </a:xfrm>
          <a:prstGeom prst="rect">
            <a:avLst/>
          </a:prstGeom>
        </p:spPr>
      </p:pic>
      <p:sp>
        <p:nvSpPr>
          <p:cNvPr id="26" name="Text 21"/>
          <p:cNvSpPr/>
          <p:nvPr/>
        </p:nvSpPr>
        <p:spPr>
          <a:xfrm>
            <a:off x="6049772" y="2805311"/>
            <a:ext cx="507542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زملاء الدراسة والدورات والفعاليات</a:t>
            </a:r>
            <a:endParaRPr lang="ar-SA" sz="1200" dirty="0" altLang="en-US"/>
          </a:p>
        </p:txBody>
      </p:sp>
      <p:pic>
        <p:nvPicPr>
          <p:cNvPr id="27" name="Image 3" descr="GraduationCap">    </p:cNvPr>
          <p:cNvPicPr>
            <a:picLocks noChangeAspect="1"/>
          </p:cNvPicPr>
          <p:nvPr/>
        </p:nvPicPr>
        <p:blipFill>
          <a:blip r:embed="rId4"/>
          <a:srcRect l="0" r="0" t="0" b="0"/>
          <a:stretch/>
        </p:blipFill>
        <p:spPr>
          <a:xfrm>
            <a:off x="11201400" y="2805311"/>
            <a:ext cx="177800" cy="177800"/>
          </a:xfrm>
          <a:prstGeom prst="rect">
            <a:avLst/>
          </a:prstGeom>
        </p:spPr>
      </p:pic>
      <p:sp>
        <p:nvSpPr>
          <p:cNvPr id="28" name="Shape 22"/>
          <p:cNvSpPr/>
          <p:nvPr/>
        </p:nvSpPr>
        <p:spPr>
          <a:xfrm>
            <a:off x="6200775" y="3118346"/>
            <a:ext cx="5175250" cy="956270"/>
          </a:xfrm>
          <a:prstGeom prst="roundRect">
            <a:avLst>
              <a:gd name="adj" fmla="val 8965"/>
            </a:avLst>
          </a:prstGeom>
          <a:solidFill>
            <a:srgbClr val="FFFDF8"/>
          </a:solidFill>
          <a:ln w="6350">
            <a:solidFill>
              <a:srgbClr val="E1DBCD"/>
            </a:solidFill>
            <a:prstDash val="solid"/>
          </a:ln>
        </p:spPr>
      </p:sp>
      <p:sp>
        <p:nvSpPr>
          <p:cNvPr id="29" name="Text 23"/>
          <p:cNvSpPr/>
          <p:nvPr/>
        </p:nvSpPr>
        <p:spPr>
          <a:xfrm>
            <a:off x="6196965" y="3235821"/>
            <a:ext cx="5036185" cy="238720"/>
          </a:xfrm>
          <a:prstGeom prst="rect">
            <a:avLst/>
          </a:prstGeom>
          <a:noFill/>
          <a:ln/>
        </p:spPr>
        <p:txBody>
          <a:bodyPr wrap="square" lIns="0" tIns="0" rIns="0" bIns="0" rtlCol="0" anchor="t">
            <a:normAutofit/>
          </a:bodyPr>
          <a:lstStyle/>
          <a:p>
            <a:pPr algn="r" indent="0" marL="0" rtl="1">
              <a:lnSpc>
                <a:spcPts val="1680"/>
              </a:lnSpc>
              <a:buNone/>
            </a:pPr>
            <a:r>
              <a:rPr lang="ar-SA" sz="1200" b="1" dirty="0" altLang="en-US">
                <a:solidFill>
                  <a:srgbClr val="5E6A75"/>
                </a:solidFill>
                <a:latin typeface="IBM Plex Sans Arabic" pitchFamily="34" charset="0"/>
                <a:ea typeface="IBM Plex Sans Arabic" pitchFamily="34" charset="-122"/>
                <a:cs typeface="IBM Plex Sans Arabic" pitchFamily="34" charset="-120"/>
              </a:rPr>
              <a:t>رسالة طلب تواصل قصيرة</a:t>
            </a:r>
            <a:endParaRPr lang="ar-SA" sz="1200" dirty="0" altLang="en-US"/>
          </a:p>
        </p:txBody>
      </p:sp>
      <p:sp>
        <p:nvSpPr>
          <p:cNvPr id="30" name="Text 24"/>
          <p:cNvSpPr/>
          <p:nvPr/>
        </p:nvSpPr>
        <p:spPr>
          <a:xfrm>
            <a:off x="6196965" y="3499941"/>
            <a:ext cx="5036185" cy="482600"/>
          </a:xfrm>
          <a:prstGeom prst="rect">
            <a:avLst/>
          </a:prstGeom>
          <a:noFill/>
          <a:ln/>
        </p:spPr>
        <p:txBody>
          <a:bodyPr wrap="square" lIns="0" tIns="0" rIns="0" bIns="0" rtlCol="0" anchor="t">
            <a:normAutofit/>
          </a:bodyPr>
          <a:lstStyle/>
          <a:p>
            <a:pPr algn="r" indent="0" marL="0" rtl="1">
              <a:lnSpc>
                <a:spcPts val="180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 نورة، قرأت منشورك عن تقييم الموردين واستفدت منه. أنا في بداية مساري في GRC وأعمل على مشروع سجل مخاطر، ويسعدني التواصل.»</a:t>
            </a:r>
            <a:endParaRPr lang="ar-SA" sz="1200" dirty="0" altLang="en-US"/>
          </a:p>
        </p:txBody>
      </p:sp>
      <p:sp>
        <p:nvSpPr>
          <p:cNvPr id="31" name="Text 25"/>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53</a:t>
            </a:r>
            <a:endParaRPr lang="en-US" sz="1200" dirty="0"/>
          </a:p>
        </p:txBody>
      </p:sp>
      <p:sp>
        <p:nvSpPr>
          <p:cNvPr id="32" name="Text 26"/>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07 · LinkedIn</a:t>
            </a:r>
            <a:endParaRPr lang="ar-SA" sz="1200" dirty="0"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1633339" cy="289520"/>
          </a:xfrm>
          <a:custGeom>
            <a:avLst/>
            <a:gdLst/>
            <a:ahLst/>
            <a:cxnLst/>
            <a:rect l="l" t="t" r="r" b="b"/>
            <a:pathLst>
              <a:path w="1633339" h="289520">
                <a:moveTo>
                  <a:pt x="144760" y="0"/>
                </a:moveTo>
                <a:lnTo>
                  <a:pt x="1488579" y="0"/>
                </a:lnTo>
                <a:arcTo hR="144760" wR="144760" stAng="16200000" swAng="5400000"/>
                <a:lnTo>
                  <a:pt x="1633339"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07 · LinkedIn</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البحث عن الوظائف: «Open to Work» والكلمات الصحيحة</a:t>
            </a:r>
            <a:endParaRPr lang="ar-SA" sz="3000" dirty="0" altLang="en-US"/>
          </a:p>
        </p:txBody>
      </p:sp>
      <p:sp>
        <p:nvSpPr>
          <p:cNvPr id="5" name="Text 3"/>
          <p:cNvSpPr/>
          <p:nvPr/>
        </p:nvSpPr>
        <p:spPr>
          <a:xfrm>
            <a:off x="657352" y="1832570"/>
            <a:ext cx="5337048"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9A5F0F"/>
                </a:solidFill>
                <a:latin typeface="Readex Pro" pitchFamily="34" charset="0"/>
                <a:ea typeface="Readex Pro" pitchFamily="34" charset="-122"/>
                <a:cs typeface="Readex Pro" pitchFamily="34" charset="-120"/>
              </a:rPr>
              <a:t>ابحث بأكثر من مسمى</a:t>
            </a:r>
            <a:endParaRPr lang="ar-SA" sz="1600" dirty="0" altLang="en-US"/>
          </a:p>
        </p:txBody>
      </p:sp>
      <p:sp>
        <p:nvSpPr>
          <p:cNvPr id="6" name="Text 4"/>
          <p:cNvSpPr/>
          <p:nvPr/>
        </p:nvSpPr>
        <p:spPr>
          <a:xfrm>
            <a:off x="815975" y="2188766"/>
            <a:ext cx="1416893"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rtl="1">
              <a:lnSpc>
                <a:spcPts val="156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محلل حوكمة ومخاطر</a:t>
            </a:r>
            <a:endParaRPr lang="ar-SA" sz="1200" dirty="0" altLang="en-US"/>
          </a:p>
        </p:txBody>
      </p:sp>
      <p:sp>
        <p:nvSpPr>
          <p:cNvPr id="7" name="Text 5"/>
          <p:cNvSpPr/>
          <p:nvPr/>
        </p:nvSpPr>
        <p:spPr>
          <a:xfrm>
            <a:off x="2302718" y="2188766"/>
            <a:ext cx="2090787"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Cybersecurity Policy Officer</a:t>
            </a:r>
            <a:endParaRPr lang="en-US" sz="1200" dirty="0"/>
          </a:p>
        </p:txBody>
      </p:sp>
      <p:sp>
        <p:nvSpPr>
          <p:cNvPr id="8" name="Text 6"/>
          <p:cNvSpPr/>
          <p:nvPr/>
        </p:nvSpPr>
        <p:spPr>
          <a:xfrm>
            <a:off x="815975" y="2539256"/>
            <a:ext cx="2034431"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Security Controls Assessor</a:t>
            </a:r>
            <a:endParaRPr lang="en-US" sz="1200" dirty="0"/>
          </a:p>
        </p:txBody>
      </p:sp>
      <p:sp>
        <p:nvSpPr>
          <p:cNvPr id="9" name="Text 7"/>
          <p:cNvSpPr/>
          <p:nvPr/>
        </p:nvSpPr>
        <p:spPr>
          <a:xfrm>
            <a:off x="2920256" y="2539256"/>
            <a:ext cx="897533"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IT Auditor</a:t>
            </a:r>
            <a:endParaRPr lang="en-US" sz="1200" dirty="0"/>
          </a:p>
        </p:txBody>
      </p:sp>
      <p:sp>
        <p:nvSpPr>
          <p:cNvPr id="10" name="Text 8"/>
          <p:cNvSpPr/>
          <p:nvPr/>
        </p:nvSpPr>
        <p:spPr>
          <a:xfrm>
            <a:off x="3887639" y="2539256"/>
            <a:ext cx="1226393"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IT Risk Analyst</a:t>
            </a:r>
            <a:endParaRPr lang="en-US" sz="1200" dirty="0"/>
          </a:p>
        </p:txBody>
      </p:sp>
      <p:sp>
        <p:nvSpPr>
          <p:cNvPr id="11" name="Text 9"/>
          <p:cNvSpPr/>
          <p:nvPr/>
        </p:nvSpPr>
        <p:spPr>
          <a:xfrm>
            <a:off x="815975" y="2889746"/>
            <a:ext cx="1997224"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Cybersecurity Compliance</a:t>
            </a:r>
            <a:endParaRPr lang="en-US" sz="1200" dirty="0"/>
          </a:p>
        </p:txBody>
      </p:sp>
      <p:sp>
        <p:nvSpPr>
          <p:cNvPr id="12" name="Text 10"/>
          <p:cNvSpPr/>
          <p:nvPr/>
        </p:nvSpPr>
        <p:spPr>
          <a:xfrm>
            <a:off x="2883049" y="2889746"/>
            <a:ext cx="1049734" cy="280640"/>
          </a:xfrm>
          <a:prstGeom prst="roundRect">
            <a:avLst>
              <a:gd name="adj" fmla="val 50000"/>
            </a:avLst>
          </a:prstGeom>
          <a:solidFill>
            <a:srgbClr val="FFFDF8"/>
          </a:solidFill>
          <a:ln w="6350">
            <a:solidFill>
              <a:srgbClr val="E1DBCD"/>
            </a:solidFill>
            <a:prstDash val="solid"/>
          </a:ln>
        </p:spPr>
        <p:txBody>
          <a:bodyPr wrap="none" lIns="0" tIns="0" rIns="0" bIns="0" rtlCol="0" anchor="ctr">
            <a:normAutofit/>
          </a:bodyPr>
          <a:lstStyle/>
          <a:p>
            <a:pPr algn="ctr" indent="0" marL="0">
              <a:lnSpc>
                <a:spcPts val="1560"/>
              </a:lnSpc>
              <a:buNone/>
            </a:pPr>
            <a:r>
              <a:rPr lang="en-US" sz="1200" dirty="0">
                <a:solidFill>
                  <a:srgbClr val="172433"/>
                </a:solidFill>
                <a:latin typeface="IBM Plex Sans Arabic" pitchFamily="34" charset="0"/>
                <a:ea typeface="IBM Plex Sans Arabic" pitchFamily="34" charset="-122"/>
                <a:cs typeface="IBM Plex Sans Arabic" pitchFamily="34" charset="-120"/>
              </a:rPr>
              <a:t>GRC Analyst</a:t>
            </a:r>
            <a:endParaRPr lang="en-US" sz="1200" dirty="0"/>
          </a:p>
        </p:txBody>
      </p:sp>
      <p:sp>
        <p:nvSpPr>
          <p:cNvPr id="13" name="Text 11"/>
          <p:cNvSpPr/>
          <p:nvPr/>
        </p:nvSpPr>
        <p:spPr>
          <a:xfrm>
            <a:off x="664972" y="3262461"/>
            <a:ext cx="507542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فعّل تنبيه وظائف لكل مسمى، وقدّم مبكراً.</a:t>
            </a:r>
            <a:endParaRPr lang="ar-SA" sz="1200" dirty="0" altLang="en-US"/>
          </a:p>
        </p:txBody>
      </p:sp>
      <p:pic>
        <p:nvPicPr>
          <p:cNvPr id="14" name="Image 0" descr="Clock">    </p:cNvPr>
          <p:cNvPicPr>
            <a:picLocks noChangeAspect="1"/>
          </p:cNvPicPr>
          <p:nvPr/>
        </p:nvPicPr>
        <p:blipFill>
          <a:blip r:embed="rId1"/>
          <a:srcRect l="0" r="0" t="0" b="0"/>
          <a:stretch/>
        </p:blipFill>
        <p:spPr>
          <a:xfrm>
            <a:off x="5816600" y="3262461"/>
            <a:ext cx="177800" cy="177800"/>
          </a:xfrm>
          <a:prstGeom prst="rect">
            <a:avLst/>
          </a:prstGeom>
        </p:spPr>
      </p:pic>
      <p:sp>
        <p:nvSpPr>
          <p:cNvPr id="15" name="Text 12"/>
          <p:cNvSpPr/>
          <p:nvPr/>
        </p:nvSpPr>
        <p:spPr>
          <a:xfrm>
            <a:off x="664972" y="3572321"/>
            <a:ext cx="507542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تابع صفحات الجهات المستهدفة، وقدّم أيضاً من مواقعها مباشرة.</a:t>
            </a:r>
            <a:endParaRPr lang="ar-SA" sz="1200" dirty="0" altLang="en-US"/>
          </a:p>
        </p:txBody>
      </p:sp>
      <p:pic>
        <p:nvPicPr>
          <p:cNvPr id="16" name="Image 1" descr="Star">    </p:cNvPr>
          <p:cNvPicPr>
            <a:picLocks noChangeAspect="1"/>
          </p:cNvPicPr>
          <p:nvPr/>
        </p:nvPicPr>
        <p:blipFill>
          <a:blip r:embed="rId2"/>
          <a:srcRect l="0" r="0" t="0" b="0"/>
          <a:stretch/>
        </p:blipFill>
        <p:spPr>
          <a:xfrm>
            <a:off x="5816600" y="3572321"/>
            <a:ext cx="177800" cy="177800"/>
          </a:xfrm>
          <a:prstGeom prst="rect">
            <a:avLst/>
          </a:prstGeom>
        </p:spPr>
      </p:pic>
      <p:sp>
        <p:nvSpPr>
          <p:cNvPr id="17" name="Text 13"/>
          <p:cNvSpPr/>
          <p:nvPr/>
        </p:nvSpPr>
        <p:spPr>
          <a:xfrm>
            <a:off x="664972" y="3882182"/>
            <a:ext cx="507542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بعد التقديم، رسالة قصيرة لمختص في الفريق نفسه.</a:t>
            </a:r>
            <a:endParaRPr lang="ar-SA" sz="1200" dirty="0" altLang="en-US"/>
          </a:p>
        </p:txBody>
      </p:sp>
      <p:pic>
        <p:nvPicPr>
          <p:cNvPr id="18" name="Image 2" descr="Chat">    </p:cNvPr>
          <p:cNvPicPr>
            <a:picLocks noChangeAspect="1"/>
          </p:cNvPicPr>
          <p:nvPr/>
        </p:nvPicPr>
        <p:blipFill>
          <a:blip r:embed="rId3"/>
          <a:srcRect l="0" r="0" t="0" b="0"/>
          <a:stretch/>
        </p:blipFill>
        <p:spPr>
          <a:xfrm>
            <a:off x="5816600" y="3882182"/>
            <a:ext cx="177800" cy="177800"/>
          </a:xfrm>
          <a:prstGeom prst="rect">
            <a:avLst/>
          </a:prstGeom>
        </p:spPr>
      </p:pic>
      <p:sp>
        <p:nvSpPr>
          <p:cNvPr id="19" name="Text 14"/>
          <p:cNvSpPr/>
          <p:nvPr/>
        </p:nvSpPr>
        <p:spPr>
          <a:xfrm>
            <a:off x="6042152" y="1832570"/>
            <a:ext cx="5337048"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0E7C6B"/>
                </a:solidFill>
                <a:latin typeface="Readex Pro" pitchFamily="34" charset="0"/>
                <a:ea typeface="Readex Pro" pitchFamily="34" charset="-122"/>
                <a:cs typeface="Readex Pro" pitchFamily="34" charset="-120"/>
              </a:rPr>
              <a:t>فعّل «Open to Work»</a:t>
            </a:r>
            <a:endParaRPr lang="ar-SA" sz="1600" dirty="0" altLang="en-US"/>
          </a:p>
        </p:txBody>
      </p:sp>
      <p:sp>
        <p:nvSpPr>
          <p:cNvPr id="20" name="Text 15"/>
          <p:cNvSpPr/>
          <p:nvPr/>
        </p:nvSpPr>
        <p:spPr>
          <a:xfrm>
            <a:off x="6197600" y="2185591"/>
            <a:ext cx="533704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E5A66"/>
                </a:solidFill>
                <a:latin typeface="IBM Plex Sans Arabic" pitchFamily="34" charset="0"/>
                <a:ea typeface="IBM Plex Sans Arabic" pitchFamily="34" charset="-122"/>
                <a:cs typeface="IBM Plex Sans Arabic" pitchFamily="34" charset="-120"/>
              </a:rPr>
              <a:t>Me → View profile → Open to → Finding a new job</a:t>
            </a:r>
            <a:endParaRPr lang="en-US" sz="1200" dirty="0"/>
          </a:p>
        </p:txBody>
      </p:sp>
      <p:sp>
        <p:nvSpPr>
          <p:cNvPr id="21" name="Shape 16"/>
          <p:cNvSpPr/>
          <p:nvPr/>
        </p:nvSpPr>
        <p:spPr>
          <a:xfrm>
            <a:off x="6200775" y="2498626"/>
            <a:ext cx="2540000" cy="888603"/>
          </a:xfrm>
          <a:prstGeom prst="roundRect">
            <a:avLst>
              <a:gd name="adj" fmla="val 8218"/>
            </a:avLst>
          </a:prstGeom>
          <a:solidFill>
            <a:srgbClr val="FFFDF8"/>
          </a:solidFill>
          <a:ln w="6350">
            <a:solidFill>
              <a:srgbClr val="E1DBCD"/>
            </a:solidFill>
            <a:prstDash val="solid"/>
          </a:ln>
        </p:spPr>
      </p:sp>
      <p:sp>
        <p:nvSpPr>
          <p:cNvPr id="22" name="Text 17"/>
          <p:cNvSpPr/>
          <p:nvPr/>
        </p:nvSpPr>
        <p:spPr>
          <a:xfrm>
            <a:off x="6249099" y="2603401"/>
            <a:ext cx="2374202"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مسؤولو التوظيف فقط</a:t>
            </a:r>
            <a:endParaRPr lang="ar-SA" sz="1250" dirty="0" altLang="en-US"/>
          </a:p>
        </p:txBody>
      </p:sp>
      <p:sp>
        <p:nvSpPr>
          <p:cNvPr id="23" name="Text 18"/>
          <p:cNvSpPr/>
          <p:nvPr/>
        </p:nvSpPr>
        <p:spPr>
          <a:xfrm>
            <a:off x="6249099" y="2855813"/>
            <a:ext cx="2374202"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لا تضمن LinkedIn إخفاءه تماماً عن جهتك الحالية.</a:t>
            </a:r>
            <a:endParaRPr lang="ar-SA" sz="1200" dirty="0" altLang="en-US"/>
          </a:p>
        </p:txBody>
      </p:sp>
      <p:sp>
        <p:nvSpPr>
          <p:cNvPr id="24" name="Shape 19"/>
          <p:cNvSpPr/>
          <p:nvPr/>
        </p:nvSpPr>
        <p:spPr>
          <a:xfrm>
            <a:off x="8836025" y="2498626"/>
            <a:ext cx="2540000" cy="888603"/>
          </a:xfrm>
          <a:prstGeom prst="roundRect">
            <a:avLst>
              <a:gd name="adj" fmla="val 8218"/>
            </a:avLst>
          </a:prstGeom>
          <a:solidFill>
            <a:srgbClr val="FFFDF8"/>
          </a:solidFill>
          <a:ln w="6350">
            <a:solidFill>
              <a:srgbClr val="E1DBCD"/>
            </a:solidFill>
            <a:prstDash val="solid"/>
          </a:ln>
        </p:spPr>
      </p:sp>
      <p:sp>
        <p:nvSpPr>
          <p:cNvPr id="25" name="Text 20"/>
          <p:cNvSpPr/>
          <p:nvPr/>
        </p:nvSpPr>
        <p:spPr>
          <a:xfrm>
            <a:off x="8884348" y="2603401"/>
            <a:ext cx="2374202" cy="239713"/>
          </a:xfrm>
          <a:prstGeom prst="rect">
            <a:avLst/>
          </a:prstGeom>
          <a:noFill/>
          <a:ln/>
        </p:spPr>
        <p:txBody>
          <a:bodyPr wrap="square" lIns="0" tIns="0" rIns="0" bIns="0" rtlCol="0" anchor="t">
            <a:normAutofit/>
          </a:bodyPr>
          <a:lstStyle/>
          <a:p>
            <a:pPr algn="r" indent="0" marL="0" rtl="1">
              <a:lnSpc>
                <a:spcPts val="1688"/>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كل الأعضاء</a:t>
            </a:r>
            <a:endParaRPr lang="ar-SA" sz="1250" dirty="0" altLang="en-US"/>
          </a:p>
        </p:txBody>
      </p:sp>
      <p:sp>
        <p:nvSpPr>
          <p:cNvPr id="26" name="Text 21"/>
          <p:cNvSpPr/>
          <p:nvPr/>
        </p:nvSpPr>
        <p:spPr>
          <a:xfrm>
            <a:off x="8884348" y="2855813"/>
            <a:ext cx="2374202"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4E5A66"/>
                </a:solidFill>
                <a:latin typeface="IBM Plex Sans Arabic" pitchFamily="34" charset="0"/>
                <a:ea typeface="IBM Plex Sans Arabic" pitchFamily="34" charset="-122"/>
                <a:cs typeface="IBM Plex Sans Arabic" pitchFamily="34" charset="-120"/>
              </a:rPr>
              <a:t>يراه الجميع، ويضيف إطار #OpenToWork على صورتك.</a:t>
            </a:r>
            <a:endParaRPr lang="ar-SA" sz="1200" dirty="0" altLang="en-US"/>
          </a:p>
        </p:txBody>
      </p:sp>
      <p:sp>
        <p:nvSpPr>
          <p:cNvPr id="27" name="Text 22"/>
          <p:cNvSpPr/>
          <p:nvPr/>
        </p:nvSpPr>
        <p:spPr>
          <a:xfrm>
            <a:off x="6042152" y="3479304"/>
            <a:ext cx="5337048"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حدد المسميات، والمدن، ونوع العمل: حضوري أو عن بعد.</a:t>
            </a:r>
            <a:endParaRPr lang="ar-SA" sz="1200" dirty="0" altLang="en-US"/>
          </a:p>
        </p:txBody>
      </p:sp>
      <p:sp>
        <p:nvSpPr>
          <p:cNvPr id="28" name="Text 2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54</a:t>
            </a:r>
            <a:endParaRPr lang="en-US" sz="1200" dirty="0"/>
          </a:p>
        </p:txBody>
      </p:sp>
      <p:sp>
        <p:nvSpPr>
          <p:cNvPr id="29" name="Text 2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07 · LinkedIn</a:t>
            </a:r>
            <a:endParaRPr lang="ar-SA" sz="1200" dirty="0"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72433"/>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0E7C6B"/>
          </a:solidFill>
          <a:ln/>
        </p:spPr>
      </p:sp>
      <p:sp>
        <p:nvSpPr>
          <p:cNvPr id="3" name="Text 1"/>
          <p:cNvSpPr/>
          <p:nvPr>
            <p:ph type="title"/>
          </p:nvPr>
        </p:nvSpPr>
        <p:spPr>
          <a:xfrm>
            <a:off x="0" y="2677170"/>
            <a:ext cx="5665837" cy="756890"/>
          </a:xfrm>
          <a:prstGeom prst="rect">
            <a:avLst/>
          </a:prstGeom>
          <a:noFill/>
          <a:ln/>
        </p:spPr>
        <p:txBody>
          <a:bodyPr wrap="square" lIns="0" tIns="0" rIns="0" bIns="0" rtlCol="0" anchor="t">
            <a:normAutofit/>
          </a:bodyPr>
          <a:lstStyle/>
          <a:p>
            <a:pPr algn="r" indent="0" marL="0" rtl="1">
              <a:lnSpc>
                <a:spcPts val="5760"/>
              </a:lnSpc>
              <a:buNone/>
            </a:pPr>
            <a:r>
              <a:rPr lang="ar-SA" sz="4800" b="1" i="0" dirty="0" altLang="en-US">
                <a:solidFill>
                  <a:srgbClr val="F3EFE6"/>
                </a:solidFill>
                <a:latin typeface="Readex Pro" pitchFamily="34" charset="0"/>
                <a:ea typeface="Readex Pro" pitchFamily="34" charset="-122"/>
                <a:cs typeface="Readex Pro" pitchFamily="34" charset="-120"/>
              </a:rPr>
              <a:t>المقابلة والانطلاق</a:t>
            </a:r>
            <a:endParaRPr lang="ar-SA" sz="4800" dirty="0" altLang="en-US"/>
          </a:p>
        </p:txBody>
      </p:sp>
      <p:sp>
        <p:nvSpPr>
          <p:cNvPr id="4" name="Text 2"/>
          <p:cNvSpPr/>
          <p:nvPr/>
        </p:nvSpPr>
        <p:spPr>
          <a:xfrm>
            <a:off x="5665837" y="2138660"/>
            <a:ext cx="186690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0E7C6B"/>
                </a:solidFill>
                <a:latin typeface="Readex Pro" pitchFamily="34" charset="0"/>
                <a:ea typeface="Readex Pro" pitchFamily="34" charset="-122"/>
                <a:cs typeface="Readex Pro" pitchFamily="34" charset="-120"/>
              </a:rPr>
              <a:t>08</a:t>
            </a:r>
            <a:endParaRPr lang="en-US" sz="10000" dirty="0"/>
          </a:p>
        </p:txBody>
      </p:sp>
      <p:sp>
        <p:nvSpPr>
          <p:cNvPr id="5" name="Text 3"/>
          <p:cNvSpPr/>
          <p:nvPr/>
        </p:nvSpPr>
        <p:spPr>
          <a:xfrm>
            <a:off x="546100" y="3611860"/>
            <a:ext cx="9156700" cy="368300"/>
          </a:xfrm>
          <a:prstGeom prst="rect">
            <a:avLst/>
          </a:prstGeom>
          <a:noFill/>
          <a:ln/>
        </p:spPr>
        <p:txBody>
          <a:bodyPr wrap="square" lIns="0" tIns="0" rIns="0" bIns="0" rtlCol="0" anchor="t">
            <a:normAutofit/>
          </a:bodyPr>
          <a:lstStyle/>
          <a:p>
            <a:pPr algn="r" indent="0" marL="0" rtl="1">
              <a:lnSpc>
                <a:spcPts val="2700"/>
              </a:lnSpc>
              <a:buNone/>
            </a:pPr>
            <a:r>
              <a:rPr lang="ar-SA" sz="1800" dirty="0" altLang="en-US">
                <a:solidFill>
                  <a:srgbClr val="D9E2E6"/>
                </a:solidFill>
                <a:latin typeface="IBM Plex Sans Arabic" pitchFamily="34" charset="0"/>
                <a:ea typeface="IBM Plex Sans Arabic" pitchFamily="34" charset="-122"/>
                <a:cs typeface="IBM Plex Sans Arabic" pitchFamily="34" charset="-120"/>
              </a:rPr>
              <a:t>كل ما تعلمته يُختبر في ساعة واحدة. استعد لها كما تستعد لاختبار الشهادة.</a:t>
            </a:r>
            <a:endParaRPr lang="ar-SA" sz="1800" dirty="0" altLang="en-US"/>
          </a:p>
        </p:txBody>
      </p:sp>
      <p:sp>
        <p:nvSpPr>
          <p:cNvPr id="6" name="Text 4"/>
          <p:cNvSpPr/>
          <p:nvPr/>
        </p:nvSpPr>
        <p:spPr>
          <a:xfrm>
            <a:off x="812800" y="4157960"/>
            <a:ext cx="1148011"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الخطوة التالية</a:t>
            </a:r>
            <a:endParaRPr lang="ar-SA" sz="1300" dirty="0" altLang="en-US"/>
          </a:p>
        </p:txBody>
      </p:sp>
      <p:sp>
        <p:nvSpPr>
          <p:cNvPr id="7" name="Text 5"/>
          <p:cNvSpPr/>
          <p:nvPr/>
        </p:nvSpPr>
        <p:spPr>
          <a:xfrm>
            <a:off x="2062411" y="4157960"/>
            <a:ext cx="1189434"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قائمة المراجعة</a:t>
            </a:r>
            <a:endParaRPr lang="ar-SA" sz="1300" dirty="0" altLang="en-US"/>
          </a:p>
        </p:txBody>
      </p:sp>
      <p:sp>
        <p:nvSpPr>
          <p:cNvPr id="8" name="Text 6"/>
          <p:cNvSpPr/>
          <p:nvPr/>
        </p:nvSpPr>
        <p:spPr>
          <a:xfrm>
            <a:off x="3353445" y="4157960"/>
            <a:ext cx="1106239"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طريقة STAR</a:t>
            </a:r>
            <a:endParaRPr lang="ar-SA" sz="1300" dirty="0" altLang="en-US"/>
          </a:p>
        </p:txBody>
      </p:sp>
      <p:sp>
        <p:nvSpPr>
          <p:cNvPr id="9" name="Text 7"/>
          <p:cNvSpPr/>
          <p:nvPr/>
        </p:nvSpPr>
        <p:spPr>
          <a:xfrm>
            <a:off x="4561284" y="4157960"/>
            <a:ext cx="1143695" cy="358130"/>
          </a:xfrm>
          <a:prstGeom prst="roundRect">
            <a:avLst>
              <a:gd name="adj" fmla="val 50000"/>
            </a:avLst>
          </a:prstGeom>
          <a:solidFill>
            <a:srgbClr val="22344A"/>
          </a:solidFill>
          <a:ln/>
        </p:spPr>
        <p:txBody>
          <a:bodyPr wrap="none" lIns="0" tIns="0" rIns="0" bIns="0" rtlCol="0" anchor="ctr">
            <a:normAutofit/>
          </a:bodyPr>
          <a:lstStyle/>
          <a:p>
            <a:pPr algn="ctr" indent="0" marL="0" rtl="1">
              <a:lnSpc>
                <a:spcPts val="1820"/>
              </a:lnSpc>
              <a:buNone/>
            </a:pPr>
            <a:r>
              <a:rPr lang="ar-SA" sz="1300" dirty="0" altLang="en-US">
                <a:solidFill>
                  <a:srgbClr val="F3EFE6"/>
                </a:solidFill>
                <a:latin typeface="IBM Plex Sans Arabic" pitchFamily="34" charset="0"/>
                <a:ea typeface="IBM Plex Sans Arabic" pitchFamily="34" charset="-122"/>
                <a:cs typeface="IBM Plex Sans Arabic" pitchFamily="34" charset="-120"/>
              </a:rPr>
              <a:t>أسئلة المقابلة</a:t>
            </a:r>
            <a:endParaRPr lang="ar-SA" sz="1300" dirty="0" altLang="en-US"/>
          </a:p>
        </p:txBody>
      </p:sp>
      <p:sp>
        <p:nvSpPr>
          <p:cNvPr id="10" name="Text 8"/>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3A3B1"/>
                </a:solidFill>
                <a:latin typeface="IBM Plex Sans Arabic" pitchFamily="34" charset="0"/>
                <a:ea typeface="IBM Plex Sans Arabic" pitchFamily="34" charset="-122"/>
                <a:cs typeface="IBM Plex Sans Arabic" pitchFamily="34" charset="-120"/>
              </a:rPr>
              <a:t>55</a:t>
            </a:r>
            <a:endParaRPr lang="en-US" sz="1200" dirty="0"/>
          </a:p>
        </p:txBody>
      </p:sp>
      <p:sp>
        <p:nvSpPr>
          <p:cNvPr id="11" name="Text 9"/>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93A3B1"/>
                </a:solidFill>
                <a:latin typeface="IBM Plex Sans Arabic" pitchFamily="34" charset="0"/>
                <a:ea typeface="IBM Plex Sans Arabic" pitchFamily="34" charset="-122"/>
                <a:cs typeface="IBM Plex Sans Arabic" pitchFamily="34" charset="-120"/>
              </a:rPr>
              <a:t>كيف تبدأ في GRC · الوحدة 08</a:t>
            </a:r>
            <a:endParaRPr lang="ar-SA" sz="1200" dirty="0"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45246" cy="289520"/>
          </a:xfrm>
          <a:custGeom>
            <a:avLst/>
            <a:gdLst/>
            <a:ahLst/>
            <a:cxnLst/>
            <a:rect l="l" t="t" r="r" b="b"/>
            <a:pathLst>
              <a:path w="2045246" h="289520">
                <a:moveTo>
                  <a:pt x="144760" y="0"/>
                </a:moveTo>
                <a:lnTo>
                  <a:pt x="1900486" y="0"/>
                </a:lnTo>
                <a:arcTo hR="144760" wR="144760" stAng="16200000" swAng="5400000"/>
                <a:lnTo>
                  <a:pt x="2045246"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08 · المقابلة والانطلاق</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ثمانية أسئلة متوقعة، وأين جوابها في الكورس</a:t>
            </a:r>
            <a:endParaRPr lang="ar-SA" sz="3000" dirty="0" altLang="en-US"/>
          </a:p>
        </p:txBody>
      </p:sp>
      <p:sp>
        <p:nvSpPr>
          <p:cNvPr id="5" name="Shape 3"/>
          <p:cNvSpPr/>
          <p:nvPr/>
        </p:nvSpPr>
        <p:spPr>
          <a:xfrm>
            <a:off x="815975" y="1835745"/>
            <a:ext cx="5213350" cy="683220"/>
          </a:xfrm>
          <a:prstGeom prst="roundRect">
            <a:avLst>
              <a:gd name="adj" fmla="val 12547"/>
            </a:avLst>
          </a:prstGeom>
          <a:solidFill>
            <a:srgbClr val="FFFDF8"/>
          </a:solidFill>
          <a:ln w="6350">
            <a:solidFill>
              <a:srgbClr val="E1DBCD"/>
            </a:solidFill>
            <a:prstDash val="solid"/>
          </a:ln>
        </p:spPr>
      </p:sp>
      <p:sp>
        <p:nvSpPr>
          <p:cNvPr id="6" name="Text 4"/>
          <p:cNvSpPr/>
          <p:nvPr/>
        </p:nvSpPr>
        <p:spPr>
          <a:xfrm>
            <a:off x="811022" y="1940520"/>
            <a:ext cx="5075428" cy="247650"/>
          </a:xfrm>
          <a:prstGeom prst="rect">
            <a:avLst/>
          </a:prstGeom>
          <a:noFill/>
          <a:ln/>
        </p:spPr>
        <p:txBody>
          <a:bodyPr wrap="square" lIns="0" tIns="0" rIns="0" bIns="0" rtlCol="0" anchor="t">
            <a:normAutofit/>
          </a:bodyPr>
          <a:lstStyle/>
          <a:p>
            <a:pPr algn="r" indent="0" marL="0" rtl="1">
              <a:lnSpc>
                <a:spcPts val="1750"/>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«كيف تقيّم خطراً وترتبه مع غيره؟»</a:t>
            </a:r>
            <a:endParaRPr lang="ar-SA" sz="1250" dirty="0" altLang="en-US"/>
          </a:p>
        </p:txBody>
      </p:sp>
      <p:sp>
        <p:nvSpPr>
          <p:cNvPr id="7" name="Text 5"/>
          <p:cNvSpPr/>
          <p:nvPr/>
        </p:nvSpPr>
        <p:spPr>
          <a:xfrm>
            <a:off x="819150" y="2208461"/>
            <a:ext cx="842764"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الشريحة 13</a:t>
            </a:r>
            <a:endParaRPr lang="ar-SA" sz="1200" dirty="0" altLang="en-US"/>
          </a:p>
        </p:txBody>
      </p:sp>
      <p:sp>
        <p:nvSpPr>
          <p:cNvPr id="8" name="Text 6"/>
          <p:cNvSpPr/>
          <p:nvPr/>
        </p:nvSpPr>
        <p:spPr>
          <a:xfrm>
            <a:off x="3800832" y="2200870"/>
            <a:ext cx="208561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يختبر: الاحتمال والأثر والمنهجية</a:t>
            </a:r>
            <a:endParaRPr lang="ar-SA" sz="1200" dirty="0" altLang="en-US"/>
          </a:p>
        </p:txBody>
      </p:sp>
      <p:sp>
        <p:nvSpPr>
          <p:cNvPr id="9" name="Shape 7"/>
          <p:cNvSpPr/>
          <p:nvPr/>
        </p:nvSpPr>
        <p:spPr>
          <a:xfrm>
            <a:off x="6162675" y="1835745"/>
            <a:ext cx="5213350" cy="683220"/>
          </a:xfrm>
          <a:prstGeom prst="roundRect">
            <a:avLst>
              <a:gd name="adj" fmla="val 12547"/>
            </a:avLst>
          </a:prstGeom>
          <a:solidFill>
            <a:srgbClr val="FFFDF8"/>
          </a:solidFill>
          <a:ln w="6350">
            <a:solidFill>
              <a:srgbClr val="E1DBCD"/>
            </a:solidFill>
            <a:prstDash val="solid"/>
          </a:ln>
        </p:spPr>
      </p:sp>
      <p:sp>
        <p:nvSpPr>
          <p:cNvPr id="10" name="Text 8"/>
          <p:cNvSpPr/>
          <p:nvPr/>
        </p:nvSpPr>
        <p:spPr>
          <a:xfrm>
            <a:off x="6157722" y="1940520"/>
            <a:ext cx="5075428" cy="247650"/>
          </a:xfrm>
          <a:prstGeom prst="rect">
            <a:avLst/>
          </a:prstGeom>
          <a:noFill/>
          <a:ln/>
        </p:spPr>
        <p:txBody>
          <a:bodyPr wrap="square" lIns="0" tIns="0" rIns="0" bIns="0" rtlCol="0" anchor="t">
            <a:normAutofit/>
          </a:bodyPr>
          <a:lstStyle/>
          <a:p>
            <a:pPr algn="r" indent="0" marL="0" rtl="1">
              <a:lnSpc>
                <a:spcPts val="1750"/>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«ما الفرق بين التهديد والثغرة والخطر؟»</a:t>
            </a:r>
            <a:endParaRPr lang="ar-SA" sz="1250" dirty="0" altLang="en-US"/>
          </a:p>
        </p:txBody>
      </p:sp>
      <p:sp>
        <p:nvSpPr>
          <p:cNvPr id="11" name="Text 9"/>
          <p:cNvSpPr/>
          <p:nvPr/>
        </p:nvSpPr>
        <p:spPr>
          <a:xfrm>
            <a:off x="6165850" y="2208461"/>
            <a:ext cx="842764"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الشريحة 12</a:t>
            </a:r>
            <a:endParaRPr lang="ar-SA" sz="1200" dirty="0" altLang="en-US"/>
          </a:p>
        </p:txBody>
      </p:sp>
      <p:sp>
        <p:nvSpPr>
          <p:cNvPr id="12" name="Text 10"/>
          <p:cNvSpPr/>
          <p:nvPr/>
        </p:nvSpPr>
        <p:spPr>
          <a:xfrm>
            <a:off x="9555738" y="2200870"/>
            <a:ext cx="1677412"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يختبر: المفاهيم الأساسية</a:t>
            </a:r>
            <a:endParaRPr lang="ar-SA" sz="1200" dirty="0" altLang="en-US"/>
          </a:p>
        </p:txBody>
      </p:sp>
      <p:sp>
        <p:nvSpPr>
          <p:cNvPr id="13" name="Shape 11"/>
          <p:cNvSpPr/>
          <p:nvPr/>
        </p:nvSpPr>
        <p:spPr>
          <a:xfrm>
            <a:off x="815975" y="2614216"/>
            <a:ext cx="5213350" cy="683220"/>
          </a:xfrm>
          <a:prstGeom prst="roundRect">
            <a:avLst>
              <a:gd name="adj" fmla="val 12547"/>
            </a:avLst>
          </a:prstGeom>
          <a:solidFill>
            <a:srgbClr val="FFFDF8"/>
          </a:solidFill>
          <a:ln w="6350">
            <a:solidFill>
              <a:srgbClr val="E1DBCD"/>
            </a:solidFill>
            <a:prstDash val="solid"/>
          </a:ln>
        </p:spPr>
      </p:sp>
      <p:sp>
        <p:nvSpPr>
          <p:cNvPr id="14" name="Text 12"/>
          <p:cNvSpPr/>
          <p:nvPr/>
        </p:nvSpPr>
        <p:spPr>
          <a:xfrm>
            <a:off x="811022" y="2718991"/>
            <a:ext cx="5075428" cy="247650"/>
          </a:xfrm>
          <a:prstGeom prst="rect">
            <a:avLst/>
          </a:prstGeom>
          <a:noFill/>
          <a:ln/>
        </p:spPr>
        <p:txBody>
          <a:bodyPr wrap="square" lIns="0" tIns="0" rIns="0" bIns="0" rtlCol="0" anchor="t">
            <a:normAutofit/>
          </a:bodyPr>
          <a:lstStyle/>
          <a:p>
            <a:pPr algn="r" indent="0" marL="0" rtl="1">
              <a:lnSpc>
                <a:spcPts val="1750"/>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«كيف تتأكد أن ضابطاً مطبق فعلاً؟»</a:t>
            </a:r>
            <a:endParaRPr lang="ar-SA" sz="1250" dirty="0" altLang="en-US"/>
          </a:p>
        </p:txBody>
      </p:sp>
      <p:sp>
        <p:nvSpPr>
          <p:cNvPr id="15" name="Text 13"/>
          <p:cNvSpPr/>
          <p:nvPr/>
        </p:nvSpPr>
        <p:spPr>
          <a:xfrm>
            <a:off x="819150" y="2986931"/>
            <a:ext cx="842764"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الشريحة 18</a:t>
            </a:r>
            <a:endParaRPr lang="ar-SA" sz="1200" dirty="0" altLang="en-US"/>
          </a:p>
        </p:txBody>
      </p:sp>
      <p:sp>
        <p:nvSpPr>
          <p:cNvPr id="16" name="Text 14"/>
          <p:cNvSpPr/>
          <p:nvPr/>
        </p:nvSpPr>
        <p:spPr>
          <a:xfrm>
            <a:off x="4482822" y="2979341"/>
            <a:ext cx="140362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يختبر: الأدلة والعينات</a:t>
            </a:r>
            <a:endParaRPr lang="ar-SA" sz="1200" dirty="0" altLang="en-US"/>
          </a:p>
        </p:txBody>
      </p:sp>
      <p:sp>
        <p:nvSpPr>
          <p:cNvPr id="17" name="Shape 15"/>
          <p:cNvSpPr/>
          <p:nvPr/>
        </p:nvSpPr>
        <p:spPr>
          <a:xfrm>
            <a:off x="6162675" y="2614216"/>
            <a:ext cx="5213350" cy="683220"/>
          </a:xfrm>
          <a:prstGeom prst="roundRect">
            <a:avLst>
              <a:gd name="adj" fmla="val 12547"/>
            </a:avLst>
          </a:prstGeom>
          <a:solidFill>
            <a:srgbClr val="FFFDF8"/>
          </a:solidFill>
          <a:ln w="6350">
            <a:solidFill>
              <a:srgbClr val="E1DBCD"/>
            </a:solidFill>
            <a:prstDash val="solid"/>
          </a:ln>
        </p:spPr>
      </p:sp>
      <p:sp>
        <p:nvSpPr>
          <p:cNvPr id="18" name="Text 16"/>
          <p:cNvSpPr/>
          <p:nvPr/>
        </p:nvSpPr>
        <p:spPr>
          <a:xfrm>
            <a:off x="6157722" y="2718991"/>
            <a:ext cx="5075428" cy="247650"/>
          </a:xfrm>
          <a:prstGeom prst="rect">
            <a:avLst/>
          </a:prstGeom>
          <a:noFill/>
          <a:ln/>
        </p:spPr>
        <p:txBody>
          <a:bodyPr wrap="square" lIns="0" tIns="0" rIns="0" bIns="0" rtlCol="0" anchor="t">
            <a:normAutofit/>
          </a:bodyPr>
          <a:lstStyle/>
          <a:p>
            <a:pPr algn="r" indent="0" marL="0" rtl="1">
              <a:lnSpc>
                <a:spcPts val="1750"/>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«ما الفرق بين السياسة والمعيار والإجراء؟»</a:t>
            </a:r>
            <a:endParaRPr lang="ar-SA" sz="1250" dirty="0" altLang="en-US"/>
          </a:p>
        </p:txBody>
      </p:sp>
      <p:sp>
        <p:nvSpPr>
          <p:cNvPr id="19" name="Text 17"/>
          <p:cNvSpPr/>
          <p:nvPr/>
        </p:nvSpPr>
        <p:spPr>
          <a:xfrm>
            <a:off x="6165850" y="2986931"/>
            <a:ext cx="842764"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الشريحة 16</a:t>
            </a:r>
            <a:endParaRPr lang="ar-SA" sz="1200" dirty="0" altLang="en-US"/>
          </a:p>
        </p:txBody>
      </p:sp>
      <p:sp>
        <p:nvSpPr>
          <p:cNvPr id="20" name="Text 18"/>
          <p:cNvSpPr/>
          <p:nvPr/>
        </p:nvSpPr>
        <p:spPr>
          <a:xfrm>
            <a:off x="10045144" y="2979341"/>
            <a:ext cx="118800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يختبر: هرم الوثائق</a:t>
            </a:r>
            <a:endParaRPr lang="ar-SA" sz="1200" dirty="0" altLang="en-US"/>
          </a:p>
        </p:txBody>
      </p:sp>
      <p:sp>
        <p:nvSpPr>
          <p:cNvPr id="21" name="Shape 19"/>
          <p:cNvSpPr/>
          <p:nvPr/>
        </p:nvSpPr>
        <p:spPr>
          <a:xfrm>
            <a:off x="815975" y="3392686"/>
            <a:ext cx="5213350" cy="683220"/>
          </a:xfrm>
          <a:prstGeom prst="roundRect">
            <a:avLst>
              <a:gd name="adj" fmla="val 12547"/>
            </a:avLst>
          </a:prstGeom>
          <a:solidFill>
            <a:srgbClr val="FFFDF8"/>
          </a:solidFill>
          <a:ln w="6350">
            <a:solidFill>
              <a:srgbClr val="E1DBCD"/>
            </a:solidFill>
            <a:prstDash val="solid"/>
          </a:ln>
        </p:spPr>
      </p:sp>
      <p:sp>
        <p:nvSpPr>
          <p:cNvPr id="22" name="Text 20"/>
          <p:cNvSpPr/>
          <p:nvPr/>
        </p:nvSpPr>
        <p:spPr>
          <a:xfrm>
            <a:off x="811022" y="3497461"/>
            <a:ext cx="5075428" cy="247650"/>
          </a:xfrm>
          <a:prstGeom prst="rect">
            <a:avLst/>
          </a:prstGeom>
          <a:noFill/>
          <a:ln/>
        </p:spPr>
        <p:txBody>
          <a:bodyPr wrap="square" lIns="0" tIns="0" rIns="0" bIns="0" rtlCol="0" anchor="t">
            <a:normAutofit/>
          </a:bodyPr>
          <a:lstStyle/>
          <a:p>
            <a:pPr algn="r" indent="0" marL="0" rtl="1">
              <a:lnSpc>
                <a:spcPts val="1750"/>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«اشرح ECC أو ISO 27001 لمدير غير تقني»</a:t>
            </a:r>
            <a:endParaRPr lang="ar-SA" sz="1250" dirty="0" altLang="en-US"/>
          </a:p>
        </p:txBody>
      </p:sp>
      <p:sp>
        <p:nvSpPr>
          <p:cNvPr id="23" name="Text 21"/>
          <p:cNvSpPr/>
          <p:nvPr/>
        </p:nvSpPr>
        <p:spPr>
          <a:xfrm>
            <a:off x="819150" y="3765401"/>
            <a:ext cx="1252339"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9A5F0F"/>
                </a:solidFill>
                <a:latin typeface="IBM Plex Sans Arabic" pitchFamily="34" charset="0"/>
                <a:ea typeface="IBM Plex Sans Arabic" pitchFamily="34" charset="-122"/>
                <a:cs typeface="IBM Plex Sans Arabic" pitchFamily="34" charset="-120"/>
              </a:rPr>
              <a:t>الشريحتان 24 و26</a:t>
            </a:r>
            <a:endParaRPr lang="ar-SA" sz="1200" dirty="0" altLang="en-US"/>
          </a:p>
        </p:txBody>
      </p:sp>
      <p:sp>
        <p:nvSpPr>
          <p:cNvPr id="24" name="Text 22"/>
          <p:cNvSpPr/>
          <p:nvPr/>
        </p:nvSpPr>
        <p:spPr>
          <a:xfrm>
            <a:off x="4404003" y="3757811"/>
            <a:ext cx="148244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يختبر: التبسيط والفهم</a:t>
            </a:r>
            <a:endParaRPr lang="ar-SA" sz="1200" dirty="0" altLang="en-US"/>
          </a:p>
        </p:txBody>
      </p:sp>
      <p:sp>
        <p:nvSpPr>
          <p:cNvPr id="25" name="Shape 23"/>
          <p:cNvSpPr/>
          <p:nvPr/>
        </p:nvSpPr>
        <p:spPr>
          <a:xfrm>
            <a:off x="6162675" y="3392686"/>
            <a:ext cx="5213350" cy="683220"/>
          </a:xfrm>
          <a:prstGeom prst="roundRect">
            <a:avLst>
              <a:gd name="adj" fmla="val 12547"/>
            </a:avLst>
          </a:prstGeom>
          <a:solidFill>
            <a:srgbClr val="FFFDF8"/>
          </a:solidFill>
          <a:ln w="6350">
            <a:solidFill>
              <a:srgbClr val="E1DBCD"/>
            </a:solidFill>
            <a:prstDash val="solid"/>
          </a:ln>
        </p:spPr>
      </p:sp>
      <p:sp>
        <p:nvSpPr>
          <p:cNvPr id="26" name="Text 24"/>
          <p:cNvSpPr/>
          <p:nvPr/>
        </p:nvSpPr>
        <p:spPr>
          <a:xfrm>
            <a:off x="6157722" y="3497461"/>
            <a:ext cx="5075428" cy="247650"/>
          </a:xfrm>
          <a:prstGeom prst="rect">
            <a:avLst/>
          </a:prstGeom>
          <a:noFill/>
          <a:ln/>
        </p:spPr>
        <p:txBody>
          <a:bodyPr wrap="square" lIns="0" tIns="0" rIns="0" bIns="0" rtlCol="0" anchor="t">
            <a:normAutofit/>
          </a:bodyPr>
          <a:lstStyle/>
          <a:p>
            <a:pPr algn="r" indent="0" marL="0" rtl="1">
              <a:lnSpc>
                <a:spcPts val="1750"/>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«مالك نظام يرفض تطبيق ضابط. ماذا تفعل؟»</a:t>
            </a:r>
            <a:endParaRPr lang="ar-SA" sz="1250" dirty="0" altLang="en-US"/>
          </a:p>
        </p:txBody>
      </p:sp>
      <p:sp>
        <p:nvSpPr>
          <p:cNvPr id="27" name="Text 25"/>
          <p:cNvSpPr/>
          <p:nvPr/>
        </p:nvSpPr>
        <p:spPr>
          <a:xfrm>
            <a:off x="6165850" y="3765401"/>
            <a:ext cx="1252339"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9A5F0F"/>
                </a:solidFill>
                <a:latin typeface="IBM Plex Sans Arabic" pitchFamily="34" charset="0"/>
                <a:ea typeface="IBM Plex Sans Arabic" pitchFamily="34" charset="-122"/>
                <a:cs typeface="IBM Plex Sans Arabic" pitchFamily="34" charset="-120"/>
              </a:rPr>
              <a:t>الشريحتان 15 و21</a:t>
            </a:r>
            <a:endParaRPr lang="ar-SA" sz="1200" dirty="0" altLang="en-US"/>
          </a:p>
        </p:txBody>
      </p:sp>
      <p:sp>
        <p:nvSpPr>
          <p:cNvPr id="28" name="Text 26"/>
          <p:cNvSpPr/>
          <p:nvPr/>
        </p:nvSpPr>
        <p:spPr>
          <a:xfrm>
            <a:off x="8999061" y="3757811"/>
            <a:ext cx="2234089"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يختبر: الإقناع، والبدائل، والاستثناء</a:t>
            </a:r>
            <a:endParaRPr lang="ar-SA" sz="1200" dirty="0" altLang="en-US"/>
          </a:p>
        </p:txBody>
      </p:sp>
      <p:sp>
        <p:nvSpPr>
          <p:cNvPr id="29" name="Shape 27"/>
          <p:cNvSpPr/>
          <p:nvPr/>
        </p:nvSpPr>
        <p:spPr>
          <a:xfrm>
            <a:off x="815975" y="4171156"/>
            <a:ext cx="5213350" cy="683220"/>
          </a:xfrm>
          <a:prstGeom prst="roundRect">
            <a:avLst>
              <a:gd name="adj" fmla="val 12547"/>
            </a:avLst>
          </a:prstGeom>
          <a:solidFill>
            <a:srgbClr val="FFFDF8"/>
          </a:solidFill>
          <a:ln w="6350">
            <a:solidFill>
              <a:srgbClr val="E1DBCD"/>
            </a:solidFill>
            <a:prstDash val="solid"/>
          </a:ln>
        </p:spPr>
      </p:sp>
      <p:sp>
        <p:nvSpPr>
          <p:cNvPr id="30" name="Text 28"/>
          <p:cNvSpPr/>
          <p:nvPr/>
        </p:nvSpPr>
        <p:spPr>
          <a:xfrm>
            <a:off x="811022" y="4275931"/>
            <a:ext cx="5075428" cy="247650"/>
          </a:xfrm>
          <a:prstGeom prst="rect">
            <a:avLst/>
          </a:prstGeom>
          <a:noFill/>
          <a:ln/>
        </p:spPr>
        <p:txBody>
          <a:bodyPr wrap="square" lIns="0" tIns="0" rIns="0" bIns="0" rtlCol="0" anchor="t">
            <a:normAutofit/>
          </a:bodyPr>
          <a:lstStyle/>
          <a:p>
            <a:pPr algn="r" indent="0" marL="0" rtl="1">
              <a:lnSpc>
                <a:spcPts val="1750"/>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«لماذا GRC؟ ولماذا جهتنا تحديداً؟»</a:t>
            </a:r>
            <a:endParaRPr lang="ar-SA" sz="1250" dirty="0" altLang="en-US"/>
          </a:p>
        </p:txBody>
      </p:sp>
      <p:sp>
        <p:nvSpPr>
          <p:cNvPr id="31" name="Text 29"/>
          <p:cNvSpPr/>
          <p:nvPr/>
        </p:nvSpPr>
        <p:spPr>
          <a:xfrm>
            <a:off x="819150" y="4543871"/>
            <a:ext cx="909786"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24506B"/>
                </a:solidFill>
                <a:latin typeface="IBM Plex Sans Arabic" pitchFamily="34" charset="0"/>
                <a:ea typeface="IBM Plex Sans Arabic" pitchFamily="34" charset="-122"/>
                <a:cs typeface="IBM Plex Sans Arabic" pitchFamily="34" charset="-120"/>
              </a:rPr>
              <a:t>جهّزه بنفسك</a:t>
            </a:r>
            <a:endParaRPr lang="ar-SA" sz="1200" dirty="0" altLang="en-US"/>
          </a:p>
        </p:txBody>
      </p:sp>
      <p:sp>
        <p:nvSpPr>
          <p:cNvPr id="32" name="Text 30"/>
          <p:cNvSpPr/>
          <p:nvPr/>
        </p:nvSpPr>
        <p:spPr>
          <a:xfrm>
            <a:off x="3788807" y="4536281"/>
            <a:ext cx="209764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يختبر: دافعك وبحثك عن الجهة</a:t>
            </a:r>
            <a:endParaRPr lang="ar-SA" sz="1200" dirty="0" altLang="en-US"/>
          </a:p>
        </p:txBody>
      </p:sp>
      <p:sp>
        <p:nvSpPr>
          <p:cNvPr id="33" name="Shape 31"/>
          <p:cNvSpPr/>
          <p:nvPr/>
        </p:nvSpPr>
        <p:spPr>
          <a:xfrm>
            <a:off x="6162675" y="4171156"/>
            <a:ext cx="5213350" cy="683220"/>
          </a:xfrm>
          <a:prstGeom prst="roundRect">
            <a:avLst>
              <a:gd name="adj" fmla="val 12547"/>
            </a:avLst>
          </a:prstGeom>
          <a:solidFill>
            <a:srgbClr val="FFFDF8"/>
          </a:solidFill>
          <a:ln w="6350">
            <a:solidFill>
              <a:srgbClr val="E1DBCD"/>
            </a:solidFill>
            <a:prstDash val="solid"/>
          </a:ln>
        </p:spPr>
      </p:sp>
      <p:sp>
        <p:nvSpPr>
          <p:cNvPr id="34" name="Text 32"/>
          <p:cNvSpPr/>
          <p:nvPr/>
        </p:nvSpPr>
        <p:spPr>
          <a:xfrm>
            <a:off x="6157722" y="4275931"/>
            <a:ext cx="5075428" cy="247650"/>
          </a:xfrm>
          <a:prstGeom prst="rect">
            <a:avLst/>
          </a:prstGeom>
          <a:noFill/>
          <a:ln/>
        </p:spPr>
        <p:txBody>
          <a:bodyPr wrap="square" lIns="0" tIns="0" rIns="0" bIns="0" rtlCol="0" anchor="t">
            <a:normAutofit/>
          </a:bodyPr>
          <a:lstStyle/>
          <a:p>
            <a:pPr algn="r" indent="0" marL="0" rtl="1">
              <a:lnSpc>
                <a:spcPts val="1750"/>
              </a:lnSpc>
              <a:buNone/>
            </a:pPr>
            <a:r>
              <a:rPr lang="ar-SA" sz="1250" b="1" dirty="0" altLang="en-US">
                <a:solidFill>
                  <a:srgbClr val="172433"/>
                </a:solidFill>
                <a:latin typeface="IBM Plex Sans Arabic" pitchFamily="34" charset="0"/>
                <a:ea typeface="IBM Plex Sans Arabic" pitchFamily="34" charset="-122"/>
                <a:cs typeface="IBM Plex Sans Arabic" pitchFamily="34" charset="-120"/>
              </a:rPr>
              <a:t>«ما الفرق بين الامتثال والمراجعة الداخلية؟»</a:t>
            </a:r>
            <a:endParaRPr lang="ar-SA" sz="1250" dirty="0" altLang="en-US"/>
          </a:p>
        </p:txBody>
      </p:sp>
      <p:sp>
        <p:nvSpPr>
          <p:cNvPr id="35" name="Text 33"/>
          <p:cNvSpPr/>
          <p:nvPr/>
        </p:nvSpPr>
        <p:spPr>
          <a:xfrm>
            <a:off x="6165850" y="4543871"/>
            <a:ext cx="842764" cy="223490"/>
          </a:xfrm>
          <a:prstGeom prst="rect">
            <a:avLst/>
          </a:prstGeom>
          <a:noFill/>
          <a:ln/>
        </p:spPr>
        <p:txBody>
          <a:bodyPr wrap="square" lIns="0" tIns="0" rIns="0" bIns="0" rtlCol="0" anchor="t">
            <a:normAutofit/>
          </a:bodyPr>
          <a:lstStyle/>
          <a:p>
            <a:pPr algn="r" indent="0" marL="0" rtl="1">
              <a:lnSpc>
                <a:spcPts val="1560"/>
              </a:lnSpc>
              <a:buNone/>
            </a:pPr>
            <a:r>
              <a:rPr lang="ar-SA" sz="1200" b="1" dirty="0" altLang="en-US">
                <a:solidFill>
                  <a:srgbClr val="24506B"/>
                </a:solidFill>
                <a:latin typeface="IBM Plex Sans Arabic" pitchFamily="34" charset="0"/>
                <a:ea typeface="IBM Plex Sans Arabic" pitchFamily="34" charset="-122"/>
                <a:cs typeface="IBM Plex Sans Arabic" pitchFamily="34" charset="-120"/>
              </a:rPr>
              <a:t>الشريحة 17</a:t>
            </a:r>
            <a:endParaRPr lang="ar-SA" sz="1200" dirty="0" altLang="en-US"/>
          </a:p>
        </p:txBody>
      </p:sp>
      <p:sp>
        <p:nvSpPr>
          <p:cNvPr id="36" name="Text 34"/>
          <p:cNvSpPr/>
          <p:nvPr/>
        </p:nvSpPr>
        <p:spPr>
          <a:xfrm>
            <a:off x="9357142" y="4536281"/>
            <a:ext cx="1876008"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يختبر: نموذج الخطوط الثلاثة</a:t>
            </a:r>
            <a:endParaRPr lang="ar-SA" sz="1200" dirty="0" altLang="en-US"/>
          </a:p>
        </p:txBody>
      </p:sp>
      <p:sp>
        <p:nvSpPr>
          <p:cNvPr id="37" name="Text 35"/>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56</a:t>
            </a:r>
            <a:endParaRPr lang="en-US" sz="1200" dirty="0"/>
          </a:p>
        </p:txBody>
      </p:sp>
      <p:sp>
        <p:nvSpPr>
          <p:cNvPr id="38" name="Text 36"/>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08 · المقابلة والانطلاق</a:t>
            </a:r>
            <a:endParaRPr lang="ar-SA" sz="1200" dirty="0"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45246" cy="289520"/>
          </a:xfrm>
          <a:custGeom>
            <a:avLst/>
            <a:gdLst/>
            <a:ahLst/>
            <a:cxnLst/>
            <a:rect l="l" t="t" r="r" b="b"/>
            <a:pathLst>
              <a:path w="2045246" h="289520">
                <a:moveTo>
                  <a:pt x="144760" y="0"/>
                </a:moveTo>
                <a:lnTo>
                  <a:pt x="1900486" y="0"/>
                </a:lnTo>
                <a:arcTo hR="144760" wR="144760" stAng="16200000" swAng="5400000"/>
                <a:lnTo>
                  <a:pt x="2045246"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08 · المقابلة والانطلاق</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طريقة STAR: قصة قصيرة بنتيجة واضحة</a:t>
            </a:r>
            <a:endParaRPr lang="ar-SA" sz="3000" dirty="0" altLang="en-US"/>
          </a:p>
        </p:txBody>
      </p:sp>
      <p:sp>
        <p:nvSpPr>
          <p:cNvPr id="5" name="Text 3"/>
          <p:cNvSpPr/>
          <p:nvPr/>
        </p:nvSpPr>
        <p:spPr>
          <a:xfrm>
            <a:off x="495808" y="1832570"/>
            <a:ext cx="10883392" cy="264765"/>
          </a:xfrm>
          <a:prstGeom prst="rect">
            <a:avLst/>
          </a:prstGeom>
          <a:noFill/>
          <a:ln/>
        </p:spPr>
        <p:txBody>
          <a:bodyPr wrap="square" lIns="0" tIns="0" rIns="0" bIns="0" rtlCol="0" anchor="t">
            <a:normAutofit/>
          </a:bodyPr>
          <a:lstStyle/>
          <a:p>
            <a:pPr algn="r" indent="0" marL="0" rtl="1">
              <a:lnSpc>
                <a:spcPts val="1885"/>
              </a:lnSpc>
              <a:buNone/>
            </a:pPr>
            <a:r>
              <a:rPr lang="ar-SA" sz="1300" dirty="0" altLang="en-US">
                <a:solidFill>
                  <a:srgbClr val="4E5A66"/>
                </a:solidFill>
                <a:latin typeface="IBM Plex Sans Arabic" pitchFamily="34" charset="0"/>
                <a:ea typeface="IBM Plex Sans Arabic" pitchFamily="34" charset="-122"/>
                <a:cs typeface="IBM Plex Sans Arabic" pitchFamily="34" charset="-120"/>
              </a:rPr>
              <a:t>السؤال: «حدثنا عن مرة اكتشفت فيها مشكلة لم ينتبه لها أحد.» والجواب مثال توضيحي.</a:t>
            </a:r>
            <a:endParaRPr lang="ar-SA" sz="1300" dirty="0" altLang="en-US"/>
          </a:p>
        </p:txBody>
      </p:sp>
      <p:sp>
        <p:nvSpPr>
          <p:cNvPr id="6" name="Shape 4"/>
          <p:cNvSpPr/>
          <p:nvPr/>
        </p:nvSpPr>
        <p:spPr>
          <a:xfrm>
            <a:off x="819150" y="2256086"/>
            <a:ext cx="2403822" cy="1372791"/>
          </a:xfrm>
          <a:prstGeom prst="roundRect">
            <a:avLst>
              <a:gd name="adj" fmla="val 6938"/>
            </a:avLst>
          </a:prstGeom>
          <a:solidFill>
            <a:srgbClr val="E3F1ED"/>
          </a:solidFill>
          <a:ln w="12700">
            <a:solidFill>
              <a:srgbClr val="0E7C6B"/>
            </a:solidFill>
            <a:prstDash val="solid"/>
          </a:ln>
        </p:spPr>
      </p:sp>
      <p:sp>
        <p:nvSpPr>
          <p:cNvPr id="7" name="Text 5"/>
          <p:cNvSpPr/>
          <p:nvPr/>
        </p:nvSpPr>
        <p:spPr>
          <a:xfrm>
            <a:off x="875417" y="2554536"/>
            <a:ext cx="538698"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النتيجة</a:t>
            </a:r>
            <a:endParaRPr lang="ar-SA" sz="1300" dirty="0" altLang="en-US"/>
          </a:p>
        </p:txBody>
      </p:sp>
      <p:sp>
        <p:nvSpPr>
          <p:cNvPr id="8" name="Text 6"/>
          <p:cNvSpPr/>
          <p:nvPr/>
        </p:nvSpPr>
        <p:spPr>
          <a:xfrm>
            <a:off x="1439515" y="2402136"/>
            <a:ext cx="301179" cy="381000"/>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9A5F0F"/>
                </a:solidFill>
                <a:latin typeface="Readex Pro" pitchFamily="34" charset="0"/>
                <a:ea typeface="Readex Pro" pitchFamily="34" charset="-122"/>
                <a:cs typeface="Readex Pro" pitchFamily="34" charset="-120"/>
              </a:rPr>
              <a:t>R</a:t>
            </a:r>
            <a:endParaRPr lang="en-US" sz="2800" dirty="0"/>
          </a:p>
        </p:txBody>
      </p:sp>
      <p:sp>
        <p:nvSpPr>
          <p:cNvPr id="9" name="Text 7"/>
          <p:cNvSpPr/>
          <p:nvPr/>
        </p:nvSpPr>
        <p:spPr>
          <a:xfrm>
            <a:off x="901848" y="2832646"/>
            <a:ext cx="2175074"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أُلغيت الحسابات الستة خلال أسبوع، واعتُمدت مراجعة ربع سنوية.</a:t>
            </a:r>
            <a:endParaRPr lang="ar-SA" sz="1200" dirty="0" altLang="en-US"/>
          </a:p>
        </p:txBody>
      </p:sp>
      <p:sp>
        <p:nvSpPr>
          <p:cNvPr id="10" name="Shape 8"/>
          <p:cNvSpPr/>
          <p:nvPr/>
        </p:nvSpPr>
        <p:spPr>
          <a:xfrm>
            <a:off x="3334097" y="2252911"/>
            <a:ext cx="3031034" cy="1379141"/>
          </a:xfrm>
          <a:prstGeom prst="roundRect">
            <a:avLst>
              <a:gd name="adj" fmla="val 7137"/>
            </a:avLst>
          </a:prstGeom>
          <a:solidFill>
            <a:srgbClr val="FFFDF8"/>
          </a:solidFill>
          <a:ln w="6350">
            <a:solidFill>
              <a:srgbClr val="E1DBCD"/>
            </a:solidFill>
            <a:prstDash val="solid"/>
          </a:ln>
        </p:spPr>
      </p:sp>
      <p:sp>
        <p:nvSpPr>
          <p:cNvPr id="11" name="Text 9"/>
          <p:cNvSpPr/>
          <p:nvPr/>
        </p:nvSpPr>
        <p:spPr>
          <a:xfrm>
            <a:off x="3337272" y="2548186"/>
            <a:ext cx="848668"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ما فعلته أنا</a:t>
            </a:r>
            <a:endParaRPr lang="ar-SA" sz="1300" dirty="0" altLang="en-US"/>
          </a:p>
        </p:txBody>
      </p:sp>
      <p:sp>
        <p:nvSpPr>
          <p:cNvPr id="12" name="Text 10"/>
          <p:cNvSpPr/>
          <p:nvPr/>
        </p:nvSpPr>
        <p:spPr>
          <a:xfrm>
            <a:off x="4211340" y="2395786"/>
            <a:ext cx="298698" cy="381000"/>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0E7C6B"/>
                </a:solidFill>
                <a:latin typeface="Readex Pro" pitchFamily="34" charset="0"/>
                <a:ea typeface="Readex Pro" pitchFamily="34" charset="-122"/>
                <a:cs typeface="Readex Pro" pitchFamily="34" charset="-120"/>
              </a:rPr>
              <a:t>A</a:t>
            </a:r>
            <a:endParaRPr lang="en-US" sz="2800" dirty="0"/>
          </a:p>
        </p:txBody>
      </p:sp>
      <p:sp>
        <p:nvSpPr>
          <p:cNvPr id="13" name="Text 11"/>
          <p:cNvSpPr/>
          <p:nvPr/>
        </p:nvSpPr>
        <p:spPr>
          <a:xfrm>
            <a:off x="3394614" y="2826296"/>
            <a:ext cx="2827642" cy="68828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صدّرت القائمة من النظام، وقارنتها بسجل الموارد البشرية، فوجدت 6 حسابات لموظفين غادروا، ورفعتها لمالك النظام مع مقترح.</a:t>
            </a:r>
            <a:endParaRPr lang="ar-SA" sz="1200" dirty="0" altLang="en-US"/>
          </a:p>
        </p:txBody>
      </p:sp>
      <p:sp>
        <p:nvSpPr>
          <p:cNvPr id="14" name="Shape 12"/>
          <p:cNvSpPr/>
          <p:nvPr/>
        </p:nvSpPr>
        <p:spPr>
          <a:xfrm>
            <a:off x="6473081" y="2252911"/>
            <a:ext cx="2397522" cy="1379141"/>
          </a:xfrm>
          <a:prstGeom prst="roundRect">
            <a:avLst>
              <a:gd name="adj" fmla="val 7137"/>
            </a:avLst>
          </a:prstGeom>
          <a:solidFill>
            <a:srgbClr val="FFFDF8"/>
          </a:solidFill>
          <a:ln w="6350">
            <a:solidFill>
              <a:srgbClr val="E1DBCD"/>
            </a:solidFill>
            <a:prstDash val="solid"/>
          </a:ln>
        </p:spPr>
      </p:sp>
      <p:sp>
        <p:nvSpPr>
          <p:cNvPr id="15" name="Text 13"/>
          <p:cNvSpPr/>
          <p:nvPr/>
        </p:nvSpPr>
        <p:spPr>
          <a:xfrm>
            <a:off x="6523990" y="2548186"/>
            <a:ext cx="551795"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المهمة</a:t>
            </a:r>
            <a:endParaRPr lang="ar-SA" sz="1300" dirty="0" altLang="en-US"/>
          </a:p>
        </p:txBody>
      </p:sp>
      <p:sp>
        <p:nvSpPr>
          <p:cNvPr id="16" name="Text 14"/>
          <p:cNvSpPr/>
          <p:nvPr/>
        </p:nvSpPr>
        <p:spPr>
          <a:xfrm>
            <a:off x="7101185" y="2395786"/>
            <a:ext cx="283766" cy="381000"/>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5A3F87"/>
                </a:solidFill>
                <a:latin typeface="Readex Pro" pitchFamily="34" charset="0"/>
                <a:ea typeface="Readex Pro" pitchFamily="34" charset="-122"/>
                <a:cs typeface="Readex Pro" pitchFamily="34" charset="-120"/>
              </a:rPr>
              <a:t>T</a:t>
            </a:r>
            <a:endParaRPr lang="en-US" sz="2800" dirty="0"/>
          </a:p>
        </p:txBody>
      </p:sp>
      <p:sp>
        <p:nvSpPr>
          <p:cNvPr id="17" name="Text 15"/>
          <p:cNvSpPr/>
          <p:nvPr/>
        </p:nvSpPr>
        <p:spPr>
          <a:xfrm>
            <a:off x="6552603" y="2826296"/>
            <a:ext cx="2175125" cy="46732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كُلفت بتجهيز قائمة المستخدمين للمراجعة.</a:t>
            </a:r>
            <a:endParaRPr lang="ar-SA" sz="1200" dirty="0" altLang="en-US"/>
          </a:p>
        </p:txBody>
      </p:sp>
      <p:sp>
        <p:nvSpPr>
          <p:cNvPr id="18" name="Shape 16"/>
          <p:cNvSpPr/>
          <p:nvPr/>
        </p:nvSpPr>
        <p:spPr>
          <a:xfrm>
            <a:off x="8978553" y="2252911"/>
            <a:ext cx="2397472" cy="1379141"/>
          </a:xfrm>
          <a:prstGeom prst="roundRect">
            <a:avLst>
              <a:gd name="adj" fmla="val 7137"/>
            </a:avLst>
          </a:prstGeom>
          <a:solidFill>
            <a:srgbClr val="FFFDF8"/>
          </a:solidFill>
          <a:ln w="6350">
            <a:solidFill>
              <a:srgbClr val="E1DBCD"/>
            </a:solidFill>
            <a:prstDash val="solid"/>
          </a:ln>
        </p:spPr>
      </p:sp>
      <p:sp>
        <p:nvSpPr>
          <p:cNvPr id="19" name="Text 17"/>
          <p:cNvSpPr/>
          <p:nvPr/>
        </p:nvSpPr>
        <p:spPr>
          <a:xfrm>
            <a:off x="9017109" y="2548186"/>
            <a:ext cx="625912" cy="240010"/>
          </a:xfrm>
          <a:prstGeom prst="rect">
            <a:avLst/>
          </a:prstGeom>
          <a:noFill/>
          <a:ln/>
        </p:spPr>
        <p:txBody>
          <a:bodyPr wrap="square" lIns="0" tIns="0" rIns="0" bIns="0" rtlCol="0" anchor="t">
            <a:normAutofit/>
          </a:bodyPr>
          <a:lstStyle/>
          <a:p>
            <a:pPr algn="r" indent="0" marL="0" rtl="1">
              <a:lnSpc>
                <a:spcPts val="1690"/>
              </a:lnSpc>
              <a:buNone/>
            </a:pPr>
            <a:r>
              <a:rPr lang="ar-SA" sz="1300" b="1" dirty="0" altLang="en-US">
                <a:solidFill>
                  <a:srgbClr val="172433"/>
                </a:solidFill>
                <a:latin typeface="IBM Plex Sans Arabic" pitchFamily="34" charset="0"/>
                <a:ea typeface="IBM Plex Sans Arabic" pitchFamily="34" charset="-122"/>
                <a:cs typeface="IBM Plex Sans Arabic" pitchFamily="34" charset="-120"/>
              </a:rPr>
              <a:t>الموقف</a:t>
            </a:r>
            <a:endParaRPr lang="ar-SA" sz="1300" dirty="0" altLang="en-US"/>
          </a:p>
        </p:txBody>
      </p:sp>
      <p:sp>
        <p:nvSpPr>
          <p:cNvPr id="20" name="Text 18"/>
          <p:cNvSpPr/>
          <p:nvPr/>
        </p:nvSpPr>
        <p:spPr>
          <a:xfrm>
            <a:off x="9668421" y="2395786"/>
            <a:ext cx="276622" cy="381000"/>
          </a:xfrm>
          <a:prstGeom prst="rect">
            <a:avLst/>
          </a:prstGeom>
          <a:noFill/>
          <a:ln/>
        </p:spPr>
        <p:txBody>
          <a:bodyPr wrap="square" lIns="0" tIns="0" rIns="0" bIns="0" rtlCol="0" anchor="t">
            <a:normAutofit/>
          </a:bodyPr>
          <a:lstStyle/>
          <a:p>
            <a:pPr algn="r" indent="0" marL="0">
              <a:lnSpc>
                <a:spcPts val="2800"/>
              </a:lnSpc>
              <a:buNone/>
            </a:pPr>
            <a:r>
              <a:rPr lang="en-US" sz="2800" b="1" dirty="0">
                <a:solidFill>
                  <a:srgbClr val="24506B"/>
                </a:solidFill>
                <a:latin typeface="Readex Pro" pitchFamily="34" charset="0"/>
                <a:ea typeface="Readex Pro" pitchFamily="34" charset="-122"/>
                <a:cs typeface="Readex Pro" pitchFamily="34" charset="-120"/>
              </a:rPr>
              <a:t>S</a:t>
            </a:r>
            <a:endParaRPr lang="en-US" sz="2800" dirty="0"/>
          </a:p>
        </p:txBody>
      </p:sp>
      <p:sp>
        <p:nvSpPr>
          <p:cNvPr id="21" name="Text 19"/>
          <p:cNvSpPr/>
          <p:nvPr/>
        </p:nvSpPr>
        <p:spPr>
          <a:xfrm>
            <a:off x="9058076" y="2826296"/>
            <a:ext cx="2175074" cy="68828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في تدريبي التعاوني، كانت مراجعة صلاحيات نظام المالية متأخرة ثمانية أشهر.</a:t>
            </a:r>
            <a:endParaRPr lang="ar-SA" sz="1200" dirty="0" altLang="en-US"/>
          </a:p>
        </p:txBody>
      </p:sp>
      <p:sp>
        <p:nvSpPr>
          <p:cNvPr id="22" name="Shape 20"/>
          <p:cNvSpPr/>
          <p:nvPr/>
        </p:nvSpPr>
        <p:spPr>
          <a:xfrm>
            <a:off x="812800" y="3813026"/>
            <a:ext cx="3454400" cy="416520"/>
          </a:xfrm>
          <a:prstGeom prst="roundRect">
            <a:avLst>
              <a:gd name="adj" fmla="val 21344"/>
            </a:avLst>
          </a:prstGeom>
          <a:solidFill>
            <a:srgbClr val="172433"/>
          </a:solidFill>
          <a:ln/>
        </p:spPr>
      </p:sp>
      <p:sp>
        <p:nvSpPr>
          <p:cNvPr id="23" name="Text 21"/>
          <p:cNvSpPr/>
          <p:nvPr/>
        </p:nvSpPr>
        <p:spPr>
          <a:xfrm>
            <a:off x="864870" y="3914626"/>
            <a:ext cx="3008630"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جهّز 5 قصص مسبقاً</a:t>
            </a:r>
            <a:endParaRPr lang="ar-SA" sz="1200" dirty="0" altLang="en-US"/>
          </a:p>
        </p:txBody>
      </p:sp>
      <p:pic>
        <p:nvPicPr>
          <p:cNvPr id="24" name="Image 0" descr="Book">    </p:cNvPr>
          <p:cNvPicPr>
            <a:picLocks noChangeAspect="1"/>
          </p:cNvPicPr>
          <p:nvPr/>
        </p:nvPicPr>
        <p:blipFill>
          <a:blip r:embed="rId1"/>
          <a:srcRect l="0" r="0" t="0" b="0"/>
          <a:stretch/>
        </p:blipFill>
        <p:spPr>
          <a:xfrm>
            <a:off x="3949700" y="3932386"/>
            <a:ext cx="177800" cy="177800"/>
          </a:xfrm>
          <a:prstGeom prst="rect">
            <a:avLst/>
          </a:prstGeom>
        </p:spPr>
      </p:pic>
      <p:sp>
        <p:nvSpPr>
          <p:cNvPr id="25" name="Shape 22"/>
          <p:cNvSpPr/>
          <p:nvPr/>
        </p:nvSpPr>
        <p:spPr>
          <a:xfrm>
            <a:off x="4368800" y="3813026"/>
            <a:ext cx="3454400" cy="416520"/>
          </a:xfrm>
          <a:prstGeom prst="roundRect">
            <a:avLst>
              <a:gd name="adj" fmla="val 21344"/>
            </a:avLst>
          </a:prstGeom>
          <a:solidFill>
            <a:srgbClr val="172433"/>
          </a:solidFill>
          <a:ln/>
        </p:spPr>
      </p:sp>
      <p:sp>
        <p:nvSpPr>
          <p:cNvPr id="26" name="Text 23"/>
          <p:cNvSpPr/>
          <p:nvPr/>
        </p:nvSpPr>
        <p:spPr>
          <a:xfrm>
            <a:off x="4420870" y="3914626"/>
            <a:ext cx="3008630"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«أنا» في الإجراء، لا «نحن»</a:t>
            </a:r>
            <a:endParaRPr lang="ar-SA" sz="1200" dirty="0" altLang="en-US"/>
          </a:p>
        </p:txBody>
      </p:sp>
      <p:pic>
        <p:nvPicPr>
          <p:cNvPr id="27" name="Image 1" descr="Users">    </p:cNvPr>
          <p:cNvPicPr>
            <a:picLocks noChangeAspect="1"/>
          </p:cNvPicPr>
          <p:nvPr/>
        </p:nvPicPr>
        <p:blipFill>
          <a:blip r:embed="rId2"/>
          <a:srcRect l="0" r="0" t="0" b="0"/>
          <a:stretch/>
        </p:blipFill>
        <p:spPr>
          <a:xfrm>
            <a:off x="7505700" y="3932386"/>
            <a:ext cx="177800" cy="177800"/>
          </a:xfrm>
          <a:prstGeom prst="rect">
            <a:avLst/>
          </a:prstGeom>
        </p:spPr>
      </p:pic>
      <p:sp>
        <p:nvSpPr>
          <p:cNvPr id="28" name="Shape 24"/>
          <p:cNvSpPr/>
          <p:nvPr/>
        </p:nvSpPr>
        <p:spPr>
          <a:xfrm>
            <a:off x="7924800" y="3813026"/>
            <a:ext cx="3454400" cy="416520"/>
          </a:xfrm>
          <a:prstGeom prst="roundRect">
            <a:avLst>
              <a:gd name="adj" fmla="val 21344"/>
            </a:avLst>
          </a:prstGeom>
          <a:solidFill>
            <a:srgbClr val="172433"/>
          </a:solidFill>
          <a:ln/>
        </p:spPr>
      </p:sp>
      <p:sp>
        <p:nvSpPr>
          <p:cNvPr id="29" name="Text 25"/>
          <p:cNvSpPr/>
          <p:nvPr/>
        </p:nvSpPr>
        <p:spPr>
          <a:xfrm>
            <a:off x="7976870" y="3914626"/>
            <a:ext cx="3008630"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F3EFE6"/>
                </a:solidFill>
                <a:latin typeface="IBM Plex Sans Arabic" pitchFamily="34" charset="0"/>
                <a:ea typeface="IBM Plex Sans Arabic" pitchFamily="34" charset="-122"/>
                <a:cs typeface="IBM Plex Sans Arabic" pitchFamily="34" charset="-120"/>
              </a:rPr>
              <a:t>دقيقة إلى دقيقتين لكل إجابة</a:t>
            </a:r>
            <a:endParaRPr lang="ar-SA" sz="1200" dirty="0" altLang="en-US"/>
          </a:p>
        </p:txBody>
      </p:sp>
      <p:pic>
        <p:nvPicPr>
          <p:cNvPr id="30" name="Image 2" descr="Clock">    </p:cNvPr>
          <p:cNvPicPr>
            <a:picLocks noChangeAspect="1"/>
          </p:cNvPicPr>
          <p:nvPr/>
        </p:nvPicPr>
        <p:blipFill>
          <a:blip r:embed="rId3"/>
          <a:srcRect l="0" r="0" t="0" b="0"/>
          <a:stretch/>
        </p:blipFill>
        <p:spPr>
          <a:xfrm>
            <a:off x="11061700" y="3932386"/>
            <a:ext cx="177800" cy="177800"/>
          </a:xfrm>
          <a:prstGeom prst="rect">
            <a:avLst/>
          </a:prstGeom>
        </p:spPr>
      </p:pic>
      <p:sp>
        <p:nvSpPr>
          <p:cNvPr id="31" name="Text 26"/>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57</a:t>
            </a:r>
            <a:endParaRPr lang="en-US" sz="1200" dirty="0"/>
          </a:p>
        </p:txBody>
      </p:sp>
      <p:sp>
        <p:nvSpPr>
          <p:cNvPr id="32" name="Text 27"/>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08 · المقابلة والانطلاق</a:t>
            </a:r>
            <a:endParaRPr lang="ar-SA" sz="1200" dirty="0"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0E7C6B"/>
          </a:solidFill>
          <a:ln/>
        </p:spPr>
      </p:sp>
      <p:sp>
        <p:nvSpPr>
          <p:cNvPr id="3" name="Text 1"/>
          <p:cNvSpPr/>
          <p:nvPr/>
        </p:nvSpPr>
        <p:spPr>
          <a:xfrm>
            <a:off x="812800" y="812800"/>
            <a:ext cx="2045246" cy="289520"/>
          </a:xfrm>
          <a:custGeom>
            <a:avLst/>
            <a:gdLst/>
            <a:ahLst/>
            <a:cxnLst/>
            <a:rect l="l" t="t" r="r" b="b"/>
            <a:pathLst>
              <a:path w="2045246" h="289520">
                <a:moveTo>
                  <a:pt x="144760" y="0"/>
                </a:moveTo>
                <a:lnTo>
                  <a:pt x="1900486" y="0"/>
                </a:lnTo>
                <a:arcTo hR="144760" wR="144760" stAng="16200000" swAng="5400000"/>
                <a:lnTo>
                  <a:pt x="2045246"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rtl="1">
              <a:lnSpc>
                <a:spcPts val="1680"/>
              </a:lnSpc>
              <a:buNone/>
            </a:pPr>
            <a:r>
              <a:rPr lang="ar-SA" sz="1200" b="1" dirty="0" altLang="en-US">
                <a:solidFill>
                  <a:srgbClr val="0E7C6B"/>
                </a:solidFill>
                <a:latin typeface="IBM Plex Sans Arabic" pitchFamily="34" charset="0"/>
                <a:ea typeface="IBM Plex Sans Arabic" pitchFamily="34" charset="-122"/>
                <a:cs typeface="IBM Plex Sans Arabic" pitchFamily="34" charset="-120"/>
              </a:rPr>
              <a:t>الوحدة 08 · المقابلة والانطلاق</a:t>
            </a:r>
            <a:endParaRPr lang="ar-SA" sz="1200" dirty="0" altLang="en-US"/>
          </a:p>
        </p:txBody>
      </p:sp>
      <p:sp>
        <p:nvSpPr>
          <p:cNvPr id="4" name="Text 2"/>
          <p:cNvSpPr/>
          <p:nvPr>
            <p:ph type="title"/>
          </p:nvPr>
        </p:nvSpPr>
        <p:spPr>
          <a:xfrm>
            <a:off x="495808" y="1178520"/>
            <a:ext cx="10883392" cy="501650"/>
          </a:xfrm>
          <a:prstGeom prst="rect">
            <a:avLst/>
          </a:prstGeom>
          <a:noFill/>
          <a:ln/>
        </p:spPr>
        <p:txBody>
          <a:bodyPr wrap="square" lIns="0" tIns="0" rIns="0" bIns="0" rtlCol="0" anchor="t">
            <a:normAutofit/>
          </a:bodyPr>
          <a:lstStyle/>
          <a:p>
            <a:pPr algn="r" indent="0" marL="0" rtl="1">
              <a:lnSpc>
                <a:spcPts val="3750"/>
              </a:lnSpc>
              <a:buNone/>
            </a:pPr>
            <a:r>
              <a:rPr lang="ar-SA" sz="3000" b="1" i="0" dirty="0" altLang="en-US">
                <a:solidFill>
                  <a:srgbClr val="172433"/>
                </a:solidFill>
                <a:latin typeface="Readex Pro" pitchFamily="34" charset="0"/>
                <a:ea typeface="Readex Pro" pitchFamily="34" charset="-122"/>
                <a:cs typeface="Readex Pro" pitchFamily="34" charset="-120"/>
              </a:rPr>
              <a:t>قائمة المراجعة: هل أنت جاهز للتقديم؟</a:t>
            </a:r>
            <a:endParaRPr lang="ar-SA" sz="3000" dirty="0" altLang="en-US"/>
          </a:p>
        </p:txBody>
      </p:sp>
      <p:sp>
        <p:nvSpPr>
          <p:cNvPr id="5" name="Shape 3"/>
          <p:cNvSpPr/>
          <p:nvPr/>
        </p:nvSpPr>
        <p:spPr>
          <a:xfrm>
            <a:off x="815975" y="1835745"/>
            <a:ext cx="2540000" cy="1939082"/>
          </a:xfrm>
          <a:prstGeom prst="roundRect">
            <a:avLst>
              <a:gd name="adj" fmla="val 5076"/>
            </a:avLst>
          </a:prstGeom>
          <a:solidFill>
            <a:srgbClr val="FFFDF8"/>
          </a:solidFill>
          <a:ln w="6350">
            <a:solidFill>
              <a:srgbClr val="E1DBCD"/>
            </a:solidFill>
            <a:prstDash val="solid"/>
          </a:ln>
        </p:spPr>
      </p:sp>
      <p:sp>
        <p:nvSpPr>
          <p:cNvPr id="6" name="Text 4"/>
          <p:cNvSpPr/>
          <p:nvPr/>
        </p:nvSpPr>
        <p:spPr>
          <a:xfrm>
            <a:off x="891222" y="1978620"/>
            <a:ext cx="2321877"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9A5F0F"/>
                </a:solidFill>
                <a:latin typeface="Readex Pro" pitchFamily="34" charset="0"/>
                <a:ea typeface="Readex Pro" pitchFamily="34" charset="-122"/>
                <a:cs typeface="Readex Pro" pitchFamily="34" charset="-120"/>
              </a:rPr>
              <a:t>السوق</a:t>
            </a:r>
            <a:endParaRPr lang="ar-SA" sz="1400" dirty="0" altLang="en-US"/>
          </a:p>
        </p:txBody>
      </p:sp>
      <p:sp>
        <p:nvSpPr>
          <p:cNvPr id="7" name="Text 5"/>
          <p:cNvSpPr/>
          <p:nvPr/>
        </p:nvSpPr>
        <p:spPr>
          <a:xfrm>
            <a:off x="898843" y="2298650"/>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سيرة صفحة واحدة بإنجازات</a:t>
            </a:r>
            <a:endParaRPr lang="ar-SA" sz="1200" dirty="0" altLang="en-US"/>
          </a:p>
        </p:txBody>
      </p:sp>
      <p:sp>
        <p:nvSpPr>
          <p:cNvPr id="8" name="Shape 6"/>
          <p:cNvSpPr/>
          <p:nvPr/>
        </p:nvSpPr>
        <p:spPr>
          <a:xfrm>
            <a:off x="3041650" y="2305000"/>
            <a:ext cx="165100" cy="165100"/>
          </a:xfrm>
          <a:prstGeom prst="roundRect">
            <a:avLst>
              <a:gd name="adj" fmla="val 19231"/>
            </a:avLst>
          </a:prstGeom>
          <a:noFill/>
          <a:ln w="12700">
            <a:solidFill>
              <a:srgbClr val="C27A16"/>
            </a:solidFill>
            <a:prstDash val="solid"/>
          </a:ln>
        </p:spPr>
      </p:sp>
      <p:sp>
        <p:nvSpPr>
          <p:cNvPr id="9" name="Text 7"/>
          <p:cNvSpPr/>
          <p:nvPr/>
        </p:nvSpPr>
        <p:spPr>
          <a:xfrm>
            <a:off x="898843" y="2600871"/>
            <a:ext cx="206025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LinkedIn: صورة، وعنوان، ونبذة، وFeatured</a:t>
            </a:r>
            <a:endParaRPr lang="ar-SA" sz="1200" dirty="0" altLang="en-US"/>
          </a:p>
        </p:txBody>
      </p:sp>
      <p:sp>
        <p:nvSpPr>
          <p:cNvPr id="10" name="Shape 8"/>
          <p:cNvSpPr/>
          <p:nvPr/>
        </p:nvSpPr>
        <p:spPr>
          <a:xfrm>
            <a:off x="3041650" y="2607221"/>
            <a:ext cx="165100" cy="165100"/>
          </a:xfrm>
          <a:prstGeom prst="roundRect">
            <a:avLst>
              <a:gd name="adj" fmla="val 19231"/>
            </a:avLst>
          </a:prstGeom>
          <a:noFill/>
          <a:ln w="12700">
            <a:solidFill>
              <a:srgbClr val="C27A16"/>
            </a:solidFill>
            <a:prstDash val="solid"/>
          </a:ln>
        </p:spPr>
      </p:sp>
      <p:sp>
        <p:nvSpPr>
          <p:cNvPr id="11" name="Text 9"/>
          <p:cNvSpPr/>
          <p:nvPr/>
        </p:nvSpPr>
        <p:spPr>
          <a:xfrm>
            <a:off x="898843" y="3116411"/>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5 قصص STAR جاهزة</a:t>
            </a:r>
            <a:endParaRPr lang="ar-SA" sz="1200" dirty="0" altLang="en-US"/>
          </a:p>
        </p:txBody>
      </p:sp>
      <p:sp>
        <p:nvSpPr>
          <p:cNvPr id="12" name="Shape 10"/>
          <p:cNvSpPr/>
          <p:nvPr/>
        </p:nvSpPr>
        <p:spPr>
          <a:xfrm>
            <a:off x="3041650" y="3122761"/>
            <a:ext cx="165100" cy="165100"/>
          </a:xfrm>
          <a:prstGeom prst="roundRect">
            <a:avLst>
              <a:gd name="adj" fmla="val 19231"/>
            </a:avLst>
          </a:prstGeom>
          <a:noFill/>
          <a:ln w="12700">
            <a:solidFill>
              <a:srgbClr val="C27A16"/>
            </a:solidFill>
            <a:prstDash val="solid"/>
          </a:ln>
        </p:spPr>
      </p:sp>
      <p:sp>
        <p:nvSpPr>
          <p:cNvPr id="13" name="Text 11"/>
          <p:cNvSpPr/>
          <p:nvPr/>
        </p:nvSpPr>
        <p:spPr>
          <a:xfrm>
            <a:off x="898843" y="3418632"/>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قائمة بعشرين جهة تستهدفها</a:t>
            </a:r>
            <a:endParaRPr lang="ar-SA" sz="1200" dirty="0" altLang="en-US"/>
          </a:p>
        </p:txBody>
      </p:sp>
      <p:sp>
        <p:nvSpPr>
          <p:cNvPr id="14" name="Shape 12"/>
          <p:cNvSpPr/>
          <p:nvPr/>
        </p:nvSpPr>
        <p:spPr>
          <a:xfrm>
            <a:off x="3041650" y="3424982"/>
            <a:ext cx="165100" cy="165100"/>
          </a:xfrm>
          <a:prstGeom prst="roundRect">
            <a:avLst>
              <a:gd name="adj" fmla="val 19231"/>
            </a:avLst>
          </a:prstGeom>
          <a:noFill/>
          <a:ln w="12700">
            <a:solidFill>
              <a:srgbClr val="C27A16"/>
            </a:solidFill>
            <a:prstDash val="solid"/>
          </a:ln>
        </p:spPr>
      </p:sp>
      <p:sp>
        <p:nvSpPr>
          <p:cNvPr id="15" name="Shape 13"/>
          <p:cNvSpPr/>
          <p:nvPr/>
        </p:nvSpPr>
        <p:spPr>
          <a:xfrm>
            <a:off x="3489325" y="1835745"/>
            <a:ext cx="2540000" cy="1939082"/>
          </a:xfrm>
          <a:prstGeom prst="roundRect">
            <a:avLst>
              <a:gd name="adj" fmla="val 5076"/>
            </a:avLst>
          </a:prstGeom>
          <a:solidFill>
            <a:srgbClr val="FFFDF8"/>
          </a:solidFill>
          <a:ln w="6350">
            <a:solidFill>
              <a:srgbClr val="E1DBCD"/>
            </a:solidFill>
            <a:prstDash val="solid"/>
          </a:ln>
        </p:spPr>
      </p:sp>
      <p:sp>
        <p:nvSpPr>
          <p:cNvPr id="16" name="Text 14"/>
          <p:cNvSpPr/>
          <p:nvPr/>
        </p:nvSpPr>
        <p:spPr>
          <a:xfrm>
            <a:off x="3564573" y="1978620"/>
            <a:ext cx="2321877"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5A3F87"/>
                </a:solidFill>
                <a:latin typeface="Readex Pro" pitchFamily="34" charset="0"/>
                <a:ea typeface="Readex Pro" pitchFamily="34" charset="-122"/>
                <a:cs typeface="Readex Pro" pitchFamily="34" charset="-120"/>
              </a:rPr>
              <a:t>الدليل</a:t>
            </a:r>
            <a:endParaRPr lang="ar-SA" sz="1400" dirty="0" altLang="en-US"/>
          </a:p>
        </p:txBody>
      </p:sp>
      <p:sp>
        <p:nvSpPr>
          <p:cNvPr id="17" name="Text 15"/>
          <p:cNvSpPr/>
          <p:nvPr/>
        </p:nvSpPr>
        <p:spPr>
          <a:xfrm>
            <a:off x="3572193" y="2298650"/>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مشروعان منشوران على الأقل</a:t>
            </a:r>
            <a:endParaRPr lang="ar-SA" sz="1200" dirty="0" altLang="en-US"/>
          </a:p>
        </p:txBody>
      </p:sp>
      <p:sp>
        <p:nvSpPr>
          <p:cNvPr id="18" name="Shape 16"/>
          <p:cNvSpPr/>
          <p:nvPr/>
        </p:nvSpPr>
        <p:spPr>
          <a:xfrm>
            <a:off x="5715000" y="2305000"/>
            <a:ext cx="165100" cy="165100"/>
          </a:xfrm>
          <a:prstGeom prst="roundRect">
            <a:avLst>
              <a:gd name="adj" fmla="val 19231"/>
            </a:avLst>
          </a:prstGeom>
          <a:noFill/>
          <a:ln w="12700">
            <a:solidFill>
              <a:srgbClr val="6B4E9B"/>
            </a:solidFill>
            <a:prstDash val="solid"/>
          </a:ln>
        </p:spPr>
      </p:sp>
      <p:sp>
        <p:nvSpPr>
          <p:cNvPr id="19" name="Text 17"/>
          <p:cNvSpPr/>
          <p:nvPr/>
        </p:nvSpPr>
        <p:spPr>
          <a:xfrm>
            <a:off x="3572193" y="2600871"/>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صفحة «ماذا تعلمت» لكل مشروع</a:t>
            </a:r>
            <a:endParaRPr lang="ar-SA" sz="1200" dirty="0" altLang="en-US"/>
          </a:p>
        </p:txBody>
      </p:sp>
      <p:sp>
        <p:nvSpPr>
          <p:cNvPr id="20" name="Shape 18"/>
          <p:cNvSpPr/>
          <p:nvPr/>
        </p:nvSpPr>
        <p:spPr>
          <a:xfrm>
            <a:off x="5715000" y="2607221"/>
            <a:ext cx="165100" cy="165100"/>
          </a:xfrm>
          <a:prstGeom prst="roundRect">
            <a:avLst>
              <a:gd name="adj" fmla="val 19231"/>
            </a:avLst>
          </a:prstGeom>
          <a:noFill/>
          <a:ln w="12700">
            <a:solidFill>
              <a:srgbClr val="6B4E9B"/>
            </a:solidFill>
            <a:prstDash val="solid"/>
          </a:ln>
        </p:spPr>
      </p:sp>
      <p:sp>
        <p:nvSpPr>
          <p:cNvPr id="21" name="Text 19"/>
          <p:cNvSpPr/>
          <p:nvPr/>
        </p:nvSpPr>
        <p:spPr>
          <a:xfrm>
            <a:off x="3572193" y="2903091"/>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لا بيانات لجهة حقيقية فيها</a:t>
            </a:r>
            <a:endParaRPr lang="ar-SA" sz="1200" dirty="0" altLang="en-US"/>
          </a:p>
        </p:txBody>
      </p:sp>
      <p:sp>
        <p:nvSpPr>
          <p:cNvPr id="22" name="Shape 20"/>
          <p:cNvSpPr/>
          <p:nvPr/>
        </p:nvSpPr>
        <p:spPr>
          <a:xfrm>
            <a:off x="5715000" y="2909441"/>
            <a:ext cx="165100" cy="165100"/>
          </a:xfrm>
          <a:prstGeom prst="roundRect">
            <a:avLst>
              <a:gd name="adj" fmla="val 19231"/>
            </a:avLst>
          </a:prstGeom>
          <a:noFill/>
          <a:ln w="12700">
            <a:solidFill>
              <a:srgbClr val="6B4E9B"/>
            </a:solidFill>
            <a:prstDash val="solid"/>
          </a:ln>
        </p:spPr>
      </p:sp>
      <p:sp>
        <p:nvSpPr>
          <p:cNvPr id="23" name="Text 21"/>
          <p:cNvSpPr/>
          <p:nvPr/>
        </p:nvSpPr>
        <p:spPr>
          <a:xfrm>
            <a:off x="3492500" y="3205311"/>
            <a:ext cx="2139950"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أستطيع شرح كل مشروع في دقيقتين</a:t>
            </a:r>
            <a:endParaRPr lang="ar-SA" sz="1200" dirty="0" altLang="en-US"/>
          </a:p>
        </p:txBody>
      </p:sp>
      <p:sp>
        <p:nvSpPr>
          <p:cNvPr id="24" name="Shape 22"/>
          <p:cNvSpPr/>
          <p:nvPr/>
        </p:nvSpPr>
        <p:spPr>
          <a:xfrm>
            <a:off x="5715000" y="3211661"/>
            <a:ext cx="165100" cy="165100"/>
          </a:xfrm>
          <a:prstGeom prst="roundRect">
            <a:avLst>
              <a:gd name="adj" fmla="val 19231"/>
            </a:avLst>
          </a:prstGeom>
          <a:noFill/>
          <a:ln w="12700">
            <a:solidFill>
              <a:srgbClr val="6B4E9B"/>
            </a:solidFill>
            <a:prstDash val="solid"/>
          </a:ln>
        </p:spPr>
      </p:sp>
      <p:sp>
        <p:nvSpPr>
          <p:cNvPr id="25" name="Shape 23"/>
          <p:cNvSpPr/>
          <p:nvPr/>
        </p:nvSpPr>
        <p:spPr>
          <a:xfrm>
            <a:off x="6162675" y="1835745"/>
            <a:ext cx="2540000" cy="1939082"/>
          </a:xfrm>
          <a:prstGeom prst="roundRect">
            <a:avLst>
              <a:gd name="adj" fmla="val 5076"/>
            </a:avLst>
          </a:prstGeom>
          <a:solidFill>
            <a:srgbClr val="FFFDF8"/>
          </a:solidFill>
          <a:ln w="6350">
            <a:solidFill>
              <a:srgbClr val="E1DBCD"/>
            </a:solidFill>
            <a:prstDash val="solid"/>
          </a:ln>
        </p:spPr>
      </p:sp>
      <p:sp>
        <p:nvSpPr>
          <p:cNvPr id="26" name="Text 24"/>
          <p:cNvSpPr/>
          <p:nvPr/>
        </p:nvSpPr>
        <p:spPr>
          <a:xfrm>
            <a:off x="6237923" y="1978620"/>
            <a:ext cx="2321877"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24506B"/>
                </a:solidFill>
                <a:latin typeface="Readex Pro" pitchFamily="34" charset="0"/>
                <a:ea typeface="Readex Pro" pitchFamily="34" charset="-122"/>
                <a:cs typeface="Readex Pro" pitchFamily="34" charset="-120"/>
              </a:rPr>
              <a:t>الشهادة</a:t>
            </a:r>
            <a:endParaRPr lang="ar-SA" sz="1400" dirty="0" altLang="en-US"/>
          </a:p>
        </p:txBody>
      </p:sp>
      <p:sp>
        <p:nvSpPr>
          <p:cNvPr id="27" name="Text 25"/>
          <p:cNvSpPr/>
          <p:nvPr/>
        </p:nvSpPr>
        <p:spPr>
          <a:xfrm>
            <a:off x="6245543" y="2298650"/>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اخترت شهادة مدخل واحدة</a:t>
            </a:r>
            <a:endParaRPr lang="ar-SA" sz="1200" dirty="0" altLang="en-US"/>
          </a:p>
        </p:txBody>
      </p:sp>
      <p:sp>
        <p:nvSpPr>
          <p:cNvPr id="28" name="Shape 26"/>
          <p:cNvSpPr/>
          <p:nvPr/>
        </p:nvSpPr>
        <p:spPr>
          <a:xfrm>
            <a:off x="8388350" y="2305000"/>
            <a:ext cx="165100" cy="165100"/>
          </a:xfrm>
          <a:prstGeom prst="roundRect">
            <a:avLst>
              <a:gd name="adj" fmla="val 19231"/>
            </a:avLst>
          </a:prstGeom>
          <a:noFill/>
          <a:ln w="12700">
            <a:solidFill>
              <a:srgbClr val="24506B"/>
            </a:solidFill>
            <a:prstDash val="solid"/>
          </a:ln>
        </p:spPr>
      </p:sp>
      <p:sp>
        <p:nvSpPr>
          <p:cNvPr id="29" name="Text 27"/>
          <p:cNvSpPr/>
          <p:nvPr/>
        </p:nvSpPr>
        <p:spPr>
          <a:xfrm>
            <a:off x="6245543" y="2600871"/>
            <a:ext cx="206025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قرأت مخطط اختبارها الرسمي الحالي</a:t>
            </a:r>
            <a:endParaRPr lang="ar-SA" sz="1200" dirty="0" altLang="en-US"/>
          </a:p>
        </p:txBody>
      </p:sp>
      <p:sp>
        <p:nvSpPr>
          <p:cNvPr id="30" name="Shape 28"/>
          <p:cNvSpPr/>
          <p:nvPr/>
        </p:nvSpPr>
        <p:spPr>
          <a:xfrm>
            <a:off x="8388350" y="2607221"/>
            <a:ext cx="165100" cy="165100"/>
          </a:xfrm>
          <a:prstGeom prst="roundRect">
            <a:avLst>
              <a:gd name="adj" fmla="val 19231"/>
            </a:avLst>
          </a:prstGeom>
          <a:noFill/>
          <a:ln w="12700">
            <a:solidFill>
              <a:srgbClr val="24506B"/>
            </a:solidFill>
            <a:prstDash val="solid"/>
          </a:ln>
        </p:spPr>
      </p:sp>
      <p:sp>
        <p:nvSpPr>
          <p:cNvPr id="31" name="Text 29"/>
          <p:cNvSpPr/>
          <p:nvPr/>
        </p:nvSpPr>
        <p:spPr>
          <a:xfrm>
            <a:off x="6245543" y="3116411"/>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تحققت من الرسوم في موقعها</a:t>
            </a:r>
            <a:endParaRPr lang="ar-SA" sz="1200" dirty="0" altLang="en-US"/>
          </a:p>
        </p:txBody>
      </p:sp>
      <p:sp>
        <p:nvSpPr>
          <p:cNvPr id="32" name="Shape 30"/>
          <p:cNvSpPr/>
          <p:nvPr/>
        </p:nvSpPr>
        <p:spPr>
          <a:xfrm>
            <a:off x="8388350" y="3122761"/>
            <a:ext cx="165100" cy="165100"/>
          </a:xfrm>
          <a:prstGeom prst="roundRect">
            <a:avLst>
              <a:gd name="adj" fmla="val 19231"/>
            </a:avLst>
          </a:prstGeom>
          <a:noFill/>
          <a:ln w="12700">
            <a:solidFill>
              <a:srgbClr val="24506B"/>
            </a:solidFill>
            <a:prstDash val="solid"/>
          </a:ln>
        </p:spPr>
      </p:sp>
      <p:sp>
        <p:nvSpPr>
          <p:cNvPr id="33" name="Text 31"/>
          <p:cNvSpPr/>
          <p:nvPr/>
        </p:nvSpPr>
        <p:spPr>
          <a:xfrm>
            <a:off x="6245543" y="3418632"/>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حجزت موعداً أو حصلت عليها</a:t>
            </a:r>
            <a:endParaRPr lang="ar-SA" sz="1200" dirty="0" altLang="en-US"/>
          </a:p>
        </p:txBody>
      </p:sp>
      <p:sp>
        <p:nvSpPr>
          <p:cNvPr id="34" name="Shape 32"/>
          <p:cNvSpPr/>
          <p:nvPr/>
        </p:nvSpPr>
        <p:spPr>
          <a:xfrm>
            <a:off x="8388350" y="3424982"/>
            <a:ext cx="165100" cy="165100"/>
          </a:xfrm>
          <a:prstGeom prst="roundRect">
            <a:avLst>
              <a:gd name="adj" fmla="val 19231"/>
            </a:avLst>
          </a:prstGeom>
          <a:noFill/>
          <a:ln w="12700">
            <a:solidFill>
              <a:srgbClr val="24506B"/>
            </a:solidFill>
            <a:prstDash val="solid"/>
          </a:ln>
        </p:spPr>
      </p:sp>
      <p:sp>
        <p:nvSpPr>
          <p:cNvPr id="35" name="Shape 33"/>
          <p:cNvSpPr/>
          <p:nvPr/>
        </p:nvSpPr>
        <p:spPr>
          <a:xfrm>
            <a:off x="8836025" y="1835745"/>
            <a:ext cx="2540000" cy="1939082"/>
          </a:xfrm>
          <a:prstGeom prst="roundRect">
            <a:avLst>
              <a:gd name="adj" fmla="val 5076"/>
            </a:avLst>
          </a:prstGeom>
          <a:solidFill>
            <a:srgbClr val="FFFDF8"/>
          </a:solidFill>
          <a:ln w="6350">
            <a:solidFill>
              <a:srgbClr val="E1DBCD"/>
            </a:solidFill>
            <a:prstDash val="solid"/>
          </a:ln>
        </p:spPr>
      </p:sp>
      <p:sp>
        <p:nvSpPr>
          <p:cNvPr id="36" name="Text 34"/>
          <p:cNvSpPr/>
          <p:nvPr/>
        </p:nvSpPr>
        <p:spPr>
          <a:xfrm>
            <a:off x="8911273" y="1978620"/>
            <a:ext cx="2321877" cy="256530"/>
          </a:xfrm>
          <a:prstGeom prst="rect">
            <a:avLst/>
          </a:prstGeom>
          <a:noFill/>
          <a:ln/>
        </p:spPr>
        <p:txBody>
          <a:bodyPr wrap="square" lIns="0" tIns="0" rIns="0" bIns="0" rtlCol="0" anchor="t">
            <a:normAutofit/>
          </a:bodyPr>
          <a:lstStyle/>
          <a:p>
            <a:pPr algn="r" indent="0" marL="0" rtl="1">
              <a:lnSpc>
                <a:spcPts val="1820"/>
              </a:lnSpc>
              <a:buNone/>
            </a:pPr>
            <a:r>
              <a:rPr lang="ar-SA" sz="1400" b="1" dirty="0" altLang="en-US">
                <a:solidFill>
                  <a:srgbClr val="0E7C6B"/>
                </a:solidFill>
                <a:latin typeface="Readex Pro" pitchFamily="34" charset="0"/>
                <a:ea typeface="Readex Pro" pitchFamily="34" charset="-122"/>
                <a:cs typeface="Readex Pro" pitchFamily="34" charset="-120"/>
              </a:rPr>
              <a:t>المعرفة</a:t>
            </a:r>
            <a:endParaRPr lang="ar-SA" sz="1400" dirty="0" altLang="en-US"/>
          </a:p>
        </p:txBody>
      </p:sp>
      <p:sp>
        <p:nvSpPr>
          <p:cNvPr id="37" name="Text 35"/>
          <p:cNvSpPr/>
          <p:nvPr/>
        </p:nvSpPr>
        <p:spPr>
          <a:xfrm>
            <a:off x="8918893" y="2298650"/>
            <a:ext cx="2060257" cy="452041"/>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أشرح مصطلحات المخاطر الستة بمثال</a:t>
            </a:r>
            <a:endParaRPr lang="ar-SA" sz="1200" dirty="0" altLang="en-US"/>
          </a:p>
        </p:txBody>
      </p:sp>
      <p:sp>
        <p:nvSpPr>
          <p:cNvPr id="38" name="Shape 36"/>
          <p:cNvSpPr/>
          <p:nvPr/>
        </p:nvSpPr>
        <p:spPr>
          <a:xfrm>
            <a:off x="11061700" y="2305000"/>
            <a:ext cx="165100" cy="165100"/>
          </a:xfrm>
          <a:prstGeom prst="roundRect">
            <a:avLst>
              <a:gd name="adj" fmla="val 19231"/>
            </a:avLst>
          </a:prstGeom>
          <a:noFill/>
          <a:ln w="12700">
            <a:solidFill>
              <a:srgbClr val="0E7C6B"/>
            </a:solidFill>
            <a:prstDash val="solid"/>
          </a:ln>
        </p:spPr>
      </p:sp>
      <p:sp>
        <p:nvSpPr>
          <p:cNvPr id="39" name="Text 37"/>
          <p:cNvSpPr/>
          <p:nvPr/>
        </p:nvSpPr>
        <p:spPr>
          <a:xfrm>
            <a:off x="8918893" y="2814191"/>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أفرق بين السياسة والمعيار والإجراء</a:t>
            </a:r>
            <a:endParaRPr lang="ar-SA" sz="1200" dirty="0" altLang="en-US"/>
          </a:p>
        </p:txBody>
      </p:sp>
      <p:sp>
        <p:nvSpPr>
          <p:cNvPr id="40" name="Shape 38"/>
          <p:cNvSpPr/>
          <p:nvPr/>
        </p:nvSpPr>
        <p:spPr>
          <a:xfrm>
            <a:off x="11061700" y="2820541"/>
            <a:ext cx="165100" cy="165100"/>
          </a:xfrm>
          <a:prstGeom prst="roundRect">
            <a:avLst>
              <a:gd name="adj" fmla="val 19231"/>
            </a:avLst>
          </a:prstGeom>
          <a:noFill/>
          <a:ln w="12700">
            <a:solidFill>
              <a:srgbClr val="0E7C6B"/>
            </a:solidFill>
            <a:prstDash val="solid"/>
          </a:ln>
        </p:spPr>
      </p:sp>
      <p:sp>
        <p:nvSpPr>
          <p:cNvPr id="41" name="Text 39"/>
          <p:cNvSpPr/>
          <p:nvPr/>
        </p:nvSpPr>
        <p:spPr>
          <a:xfrm>
            <a:off x="8918893" y="3116411"/>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قرأت NIST CSF 2.0 كاملاً</a:t>
            </a:r>
            <a:endParaRPr lang="ar-SA" sz="1200" dirty="0" altLang="en-US"/>
          </a:p>
        </p:txBody>
      </p:sp>
      <p:sp>
        <p:nvSpPr>
          <p:cNvPr id="42" name="Shape 40"/>
          <p:cNvSpPr/>
          <p:nvPr/>
        </p:nvSpPr>
        <p:spPr>
          <a:xfrm>
            <a:off x="11061700" y="3122761"/>
            <a:ext cx="165100" cy="165100"/>
          </a:xfrm>
          <a:prstGeom prst="roundRect">
            <a:avLst>
              <a:gd name="adj" fmla="val 19231"/>
            </a:avLst>
          </a:prstGeom>
          <a:noFill/>
          <a:ln w="12700">
            <a:solidFill>
              <a:srgbClr val="0E7C6B"/>
            </a:solidFill>
            <a:prstDash val="solid"/>
          </a:ln>
        </p:spPr>
      </p:sp>
      <p:sp>
        <p:nvSpPr>
          <p:cNvPr id="43" name="Text 41"/>
          <p:cNvSpPr/>
          <p:nvPr/>
        </p:nvSpPr>
        <p:spPr>
          <a:xfrm>
            <a:off x="8918893" y="3418632"/>
            <a:ext cx="2060257"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172433"/>
                </a:solidFill>
                <a:latin typeface="IBM Plex Sans Arabic" pitchFamily="34" charset="0"/>
                <a:ea typeface="IBM Plex Sans Arabic" pitchFamily="34" charset="-122"/>
                <a:cs typeface="IBM Plex Sans Arabic" pitchFamily="34" charset="-120"/>
              </a:rPr>
              <a:t>أعرف الأطر التي تنطبق على قطاعي</a:t>
            </a:r>
            <a:endParaRPr lang="ar-SA" sz="1200" dirty="0" altLang="en-US"/>
          </a:p>
        </p:txBody>
      </p:sp>
      <p:sp>
        <p:nvSpPr>
          <p:cNvPr id="44" name="Shape 42"/>
          <p:cNvSpPr/>
          <p:nvPr/>
        </p:nvSpPr>
        <p:spPr>
          <a:xfrm>
            <a:off x="11061700" y="3424982"/>
            <a:ext cx="165100" cy="165100"/>
          </a:xfrm>
          <a:prstGeom prst="roundRect">
            <a:avLst>
              <a:gd name="adj" fmla="val 19231"/>
            </a:avLst>
          </a:prstGeom>
          <a:noFill/>
          <a:ln w="12700">
            <a:solidFill>
              <a:srgbClr val="0E7C6B"/>
            </a:solidFill>
            <a:prstDash val="solid"/>
          </a:ln>
        </p:spPr>
      </p:sp>
      <p:sp>
        <p:nvSpPr>
          <p:cNvPr id="45" name="Text 43"/>
          <p:cNvSpPr/>
          <p:nvPr/>
        </p:nvSpPr>
        <p:spPr>
          <a:xfrm>
            <a:off x="76200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75"/>
                </a:solidFill>
                <a:latin typeface="IBM Plex Sans Arabic" pitchFamily="34" charset="0"/>
                <a:ea typeface="IBM Plex Sans Arabic" pitchFamily="34" charset="-122"/>
                <a:cs typeface="IBM Plex Sans Arabic" pitchFamily="34" charset="-120"/>
              </a:rPr>
              <a:t>58</a:t>
            </a:r>
            <a:endParaRPr lang="en-US" sz="1200" dirty="0"/>
          </a:p>
        </p:txBody>
      </p:sp>
      <p:sp>
        <p:nvSpPr>
          <p:cNvPr id="46" name="Text 44"/>
          <p:cNvSpPr/>
          <p:nvPr/>
        </p:nvSpPr>
        <p:spPr>
          <a:xfrm>
            <a:off x="841177" y="6238280"/>
            <a:ext cx="10538023"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5E6A75"/>
                </a:solidFill>
                <a:latin typeface="IBM Plex Sans Arabic" pitchFamily="34" charset="0"/>
                <a:ea typeface="IBM Plex Sans Arabic" pitchFamily="34" charset="-122"/>
                <a:cs typeface="IBM Plex Sans Arabic" pitchFamily="34" charset="-120"/>
              </a:rPr>
              <a:t>كيف تبدأ في GRC · الوحدة 08 · المقابلة والانطلاق</a:t>
            </a:r>
            <a:endParaRPr lang="ar-SA" sz="1200" dirty="0"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72433"/>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0E7C6B"/>
          </a:solidFill>
          <a:ln/>
        </p:spPr>
      </p:sp>
      <p:sp>
        <p:nvSpPr>
          <p:cNvPr id="3" name="Shape 1"/>
          <p:cNvSpPr/>
          <p:nvPr/>
        </p:nvSpPr>
        <p:spPr>
          <a:xfrm>
            <a:off x="812800" y="2014339"/>
            <a:ext cx="3810000" cy="858441"/>
          </a:xfrm>
          <a:prstGeom prst="roundRect">
            <a:avLst>
              <a:gd name="adj" fmla="val 14794"/>
            </a:avLst>
          </a:prstGeom>
          <a:solidFill>
            <a:srgbClr val="22344A"/>
          </a:solidFill>
          <a:ln/>
        </p:spPr>
      </p:sp>
      <p:sp>
        <p:nvSpPr>
          <p:cNvPr id="4" name="Shape 2"/>
          <p:cNvSpPr/>
          <p:nvPr/>
        </p:nvSpPr>
        <p:spPr>
          <a:xfrm>
            <a:off x="812800" y="2014339"/>
            <a:ext cx="3810000" cy="858441"/>
          </a:xfrm>
          <a:custGeom>
            <a:avLst/>
            <a:gdLst/>
            <a:ahLst/>
            <a:cxnLst/>
            <a:rect l="l" t="t" r="r" b="b"/>
            <a:pathLst>
              <a:path w="3810000" h="858441">
                <a:moveTo>
                  <a:pt x="3683000" y="0"/>
                </a:moveTo>
                <a:lnTo>
                  <a:pt x="3683000" y="0"/>
                </a:lnTo>
                <a:arcTo hR="127000" wR="127000" stAng="16200000" swAng="5400000"/>
                <a:lnTo>
                  <a:pt x="3810000" y="731441"/>
                </a:lnTo>
                <a:arcTo hR="127000" wR="127000" stAng="0" swAng="5400000"/>
                <a:lnTo>
                  <a:pt x="3683000" y="858441"/>
                </a:lnTo>
                <a:arcTo hR="127000" wR="76200" stAng="5400000" swAng="-5400000"/>
                <a:lnTo>
                  <a:pt x="3759200" y="127000"/>
                </a:lnTo>
                <a:arcTo hR="127000" wR="76200" stAng="0" swAng="-5400000"/>
                <a:close/>
              </a:path>
            </a:pathLst>
          </a:custGeom>
          <a:solidFill>
            <a:srgbClr val="0E7C6B"/>
          </a:solidFill>
          <a:ln/>
        </p:spPr>
      </p:sp>
      <p:sp>
        <p:nvSpPr>
          <p:cNvPr id="5" name="Text 3"/>
          <p:cNvSpPr/>
          <p:nvPr/>
        </p:nvSpPr>
        <p:spPr>
          <a:xfrm>
            <a:off x="933704" y="2192139"/>
            <a:ext cx="2825496"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F3EFE6"/>
                </a:solidFill>
                <a:latin typeface="Readex Pro" pitchFamily="34" charset="0"/>
                <a:ea typeface="Readex Pro" pitchFamily="34" charset="-122"/>
                <a:cs typeface="Readex Pro" pitchFamily="34" charset="-120"/>
              </a:rPr>
              <a:t>اختر شهادة المدخل</a:t>
            </a:r>
            <a:endParaRPr lang="ar-SA" sz="1600" dirty="0" altLang="en-US"/>
          </a:p>
        </p:txBody>
      </p:sp>
      <p:sp>
        <p:nvSpPr>
          <p:cNvPr id="6" name="Text 4"/>
          <p:cNvSpPr/>
          <p:nvPr/>
        </p:nvSpPr>
        <p:spPr>
          <a:xfrm>
            <a:off x="933704" y="2481659"/>
            <a:ext cx="28254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B9C4CC"/>
                </a:solidFill>
                <a:latin typeface="IBM Plex Sans Arabic" pitchFamily="34" charset="0"/>
                <a:ea typeface="IBM Plex Sans Arabic" pitchFamily="34" charset="-122"/>
                <a:cs typeface="IBM Plex Sans Arabic" pitchFamily="34" charset="-120"/>
              </a:rPr>
              <a:t>واقرأ مخطط اختبارها الرسمي</a:t>
            </a:r>
            <a:endParaRPr lang="ar-SA" sz="1200" dirty="0" altLang="en-US"/>
          </a:p>
        </p:txBody>
      </p:sp>
      <p:sp>
        <p:nvSpPr>
          <p:cNvPr id="7" name="Text 5"/>
          <p:cNvSpPr/>
          <p:nvPr/>
        </p:nvSpPr>
        <p:spPr>
          <a:xfrm>
            <a:off x="3886200" y="2240359"/>
            <a:ext cx="5080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7FD3C3"/>
                </a:solidFill>
                <a:latin typeface="Readex Pro" pitchFamily="34" charset="0"/>
                <a:ea typeface="Readex Pro" pitchFamily="34" charset="-122"/>
                <a:cs typeface="Readex Pro" pitchFamily="34" charset="-120"/>
              </a:rPr>
              <a:t>1</a:t>
            </a:r>
            <a:endParaRPr lang="en-US" sz="3200" dirty="0"/>
          </a:p>
        </p:txBody>
      </p:sp>
      <p:sp>
        <p:nvSpPr>
          <p:cNvPr id="8" name="Shape 6"/>
          <p:cNvSpPr/>
          <p:nvPr/>
        </p:nvSpPr>
        <p:spPr>
          <a:xfrm>
            <a:off x="812800" y="2999780"/>
            <a:ext cx="3810000" cy="858441"/>
          </a:xfrm>
          <a:prstGeom prst="roundRect">
            <a:avLst>
              <a:gd name="adj" fmla="val 14794"/>
            </a:avLst>
          </a:prstGeom>
          <a:solidFill>
            <a:srgbClr val="22344A"/>
          </a:solidFill>
          <a:ln/>
        </p:spPr>
      </p:sp>
      <p:sp>
        <p:nvSpPr>
          <p:cNvPr id="9" name="Shape 7"/>
          <p:cNvSpPr/>
          <p:nvPr/>
        </p:nvSpPr>
        <p:spPr>
          <a:xfrm>
            <a:off x="812800" y="2999780"/>
            <a:ext cx="3810000" cy="858441"/>
          </a:xfrm>
          <a:custGeom>
            <a:avLst/>
            <a:gdLst/>
            <a:ahLst/>
            <a:cxnLst/>
            <a:rect l="l" t="t" r="r" b="b"/>
            <a:pathLst>
              <a:path w="3810000" h="858441">
                <a:moveTo>
                  <a:pt x="3683000" y="0"/>
                </a:moveTo>
                <a:lnTo>
                  <a:pt x="3683000" y="0"/>
                </a:lnTo>
                <a:arcTo hR="127000" wR="127000" stAng="16200000" swAng="5400000"/>
                <a:lnTo>
                  <a:pt x="3810000" y="731441"/>
                </a:lnTo>
                <a:arcTo hR="127000" wR="127000" stAng="0" swAng="5400000"/>
                <a:lnTo>
                  <a:pt x="3683000" y="858441"/>
                </a:lnTo>
                <a:arcTo hR="127000" wR="76200" stAng="5400000" swAng="-5400000"/>
                <a:lnTo>
                  <a:pt x="3759200" y="127000"/>
                </a:lnTo>
                <a:arcTo hR="127000" wR="76200" stAng="0" swAng="-5400000"/>
                <a:close/>
              </a:path>
            </a:pathLst>
          </a:custGeom>
          <a:solidFill>
            <a:srgbClr val="E0A33A"/>
          </a:solidFill>
          <a:ln/>
        </p:spPr>
      </p:sp>
      <p:sp>
        <p:nvSpPr>
          <p:cNvPr id="10" name="Text 8"/>
          <p:cNvSpPr/>
          <p:nvPr/>
        </p:nvSpPr>
        <p:spPr>
          <a:xfrm>
            <a:off x="933704" y="3177580"/>
            <a:ext cx="2825496"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F3EFE6"/>
                </a:solidFill>
                <a:latin typeface="Readex Pro" pitchFamily="34" charset="0"/>
                <a:ea typeface="Readex Pro" pitchFamily="34" charset="-122"/>
                <a:cs typeface="Readex Pro" pitchFamily="34" charset="-120"/>
              </a:rPr>
              <a:t>ابدأ سجل المخاطر</a:t>
            </a:r>
            <a:endParaRPr lang="ar-SA" sz="1600" dirty="0" altLang="en-US"/>
          </a:p>
        </p:txBody>
      </p:sp>
      <p:sp>
        <p:nvSpPr>
          <p:cNvPr id="11" name="Text 9"/>
          <p:cNvSpPr/>
          <p:nvPr/>
        </p:nvSpPr>
        <p:spPr>
          <a:xfrm>
            <a:off x="933704" y="3467100"/>
            <a:ext cx="28254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B9C4CC"/>
                </a:solidFill>
                <a:latin typeface="IBM Plex Sans Arabic" pitchFamily="34" charset="0"/>
                <a:ea typeface="IBM Plex Sans Arabic" pitchFamily="34" charset="-122"/>
                <a:cs typeface="IBM Plex Sans Arabic" pitchFamily="34" charset="-120"/>
              </a:rPr>
              <a:t>أول مشروع في ملف أعمالك</a:t>
            </a:r>
            <a:endParaRPr lang="ar-SA" sz="1200" dirty="0" altLang="en-US"/>
          </a:p>
        </p:txBody>
      </p:sp>
      <p:sp>
        <p:nvSpPr>
          <p:cNvPr id="12" name="Text 10"/>
          <p:cNvSpPr/>
          <p:nvPr/>
        </p:nvSpPr>
        <p:spPr>
          <a:xfrm>
            <a:off x="3886200" y="3225800"/>
            <a:ext cx="5080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F2C46D"/>
                </a:solidFill>
                <a:latin typeface="Readex Pro" pitchFamily="34" charset="0"/>
                <a:ea typeface="Readex Pro" pitchFamily="34" charset="-122"/>
                <a:cs typeface="Readex Pro" pitchFamily="34" charset="-120"/>
              </a:rPr>
              <a:t>2</a:t>
            </a:r>
            <a:endParaRPr lang="en-US" sz="3200" dirty="0"/>
          </a:p>
        </p:txBody>
      </p:sp>
      <p:sp>
        <p:nvSpPr>
          <p:cNvPr id="13" name="Shape 11"/>
          <p:cNvSpPr/>
          <p:nvPr/>
        </p:nvSpPr>
        <p:spPr>
          <a:xfrm>
            <a:off x="812800" y="3985220"/>
            <a:ext cx="3810000" cy="858441"/>
          </a:xfrm>
          <a:prstGeom prst="roundRect">
            <a:avLst>
              <a:gd name="adj" fmla="val 14794"/>
            </a:avLst>
          </a:prstGeom>
          <a:solidFill>
            <a:srgbClr val="22344A"/>
          </a:solidFill>
          <a:ln/>
        </p:spPr>
      </p:sp>
      <p:sp>
        <p:nvSpPr>
          <p:cNvPr id="14" name="Shape 12"/>
          <p:cNvSpPr/>
          <p:nvPr/>
        </p:nvSpPr>
        <p:spPr>
          <a:xfrm>
            <a:off x="812800" y="3985220"/>
            <a:ext cx="3810000" cy="858441"/>
          </a:xfrm>
          <a:custGeom>
            <a:avLst/>
            <a:gdLst/>
            <a:ahLst/>
            <a:cxnLst/>
            <a:rect l="l" t="t" r="r" b="b"/>
            <a:pathLst>
              <a:path w="3810000" h="858441">
                <a:moveTo>
                  <a:pt x="3683000" y="0"/>
                </a:moveTo>
                <a:lnTo>
                  <a:pt x="3683000" y="0"/>
                </a:lnTo>
                <a:arcTo hR="127000" wR="127000" stAng="16200000" swAng="5400000"/>
                <a:lnTo>
                  <a:pt x="3810000" y="731441"/>
                </a:lnTo>
                <a:arcTo hR="127000" wR="127000" stAng="0" swAng="5400000"/>
                <a:lnTo>
                  <a:pt x="3683000" y="858441"/>
                </a:lnTo>
                <a:arcTo hR="127000" wR="76200" stAng="5400000" swAng="-5400000"/>
                <a:lnTo>
                  <a:pt x="3759200" y="127000"/>
                </a:lnTo>
                <a:arcTo hR="127000" wR="76200" stAng="0" swAng="-5400000"/>
                <a:close/>
              </a:path>
            </a:pathLst>
          </a:custGeom>
          <a:solidFill>
            <a:srgbClr val="6E9BD1"/>
          </a:solidFill>
          <a:ln/>
        </p:spPr>
      </p:sp>
      <p:sp>
        <p:nvSpPr>
          <p:cNvPr id="15" name="Text 13"/>
          <p:cNvSpPr/>
          <p:nvPr/>
        </p:nvSpPr>
        <p:spPr>
          <a:xfrm>
            <a:off x="933704" y="4163020"/>
            <a:ext cx="2825496" cy="289520"/>
          </a:xfrm>
          <a:prstGeom prst="rect">
            <a:avLst/>
          </a:prstGeom>
          <a:noFill/>
          <a:ln/>
        </p:spPr>
        <p:txBody>
          <a:bodyPr wrap="square" lIns="0" tIns="0" rIns="0" bIns="0" rtlCol="0" anchor="t">
            <a:normAutofit/>
          </a:bodyPr>
          <a:lstStyle/>
          <a:p>
            <a:pPr algn="r" indent="0" marL="0" rtl="1">
              <a:lnSpc>
                <a:spcPts val="2080"/>
              </a:lnSpc>
              <a:buNone/>
            </a:pPr>
            <a:r>
              <a:rPr lang="ar-SA" sz="1600" b="1" dirty="0" altLang="en-US">
                <a:solidFill>
                  <a:srgbClr val="F3EFE6"/>
                </a:solidFill>
                <a:latin typeface="Readex Pro" pitchFamily="34" charset="0"/>
                <a:ea typeface="Readex Pro" pitchFamily="34" charset="-122"/>
                <a:cs typeface="Readex Pro" pitchFamily="34" charset="-120"/>
              </a:rPr>
              <a:t>حدّث عنوانك في LinkedIn</a:t>
            </a:r>
            <a:endParaRPr lang="ar-SA" sz="1600" dirty="0" altLang="en-US"/>
          </a:p>
        </p:txBody>
      </p:sp>
      <p:sp>
        <p:nvSpPr>
          <p:cNvPr id="16" name="Text 14"/>
          <p:cNvSpPr/>
          <p:nvPr/>
        </p:nvSpPr>
        <p:spPr>
          <a:xfrm>
            <a:off x="933704" y="4452541"/>
            <a:ext cx="2825496" cy="238720"/>
          </a:xfrm>
          <a:prstGeom prst="rect">
            <a:avLst/>
          </a:prstGeom>
          <a:noFill/>
          <a:ln/>
        </p:spPr>
        <p:txBody>
          <a:bodyPr wrap="square" lIns="0" tIns="0" rIns="0" bIns="0" rtlCol="0" anchor="t">
            <a:normAutofit/>
          </a:bodyPr>
          <a:lstStyle/>
          <a:p>
            <a:pPr algn="r" indent="0" marL="0" rtl="1">
              <a:lnSpc>
                <a:spcPts val="1680"/>
              </a:lnSpc>
              <a:buNone/>
            </a:pPr>
            <a:r>
              <a:rPr lang="ar-SA" sz="1200" dirty="0" altLang="en-US">
                <a:solidFill>
                  <a:srgbClr val="B9C4CC"/>
                </a:solidFill>
                <a:latin typeface="IBM Plex Sans Arabic" pitchFamily="34" charset="0"/>
                <a:ea typeface="IBM Plex Sans Arabic" pitchFamily="34" charset="-122"/>
                <a:cs typeface="IBM Plex Sans Arabic" pitchFamily="34" charset="-120"/>
              </a:rPr>
              <a:t>بالمعادلة من الشريحة 51</a:t>
            </a:r>
            <a:endParaRPr lang="ar-SA" sz="1200" dirty="0" altLang="en-US"/>
          </a:p>
        </p:txBody>
      </p:sp>
      <p:sp>
        <p:nvSpPr>
          <p:cNvPr id="17" name="Text 15"/>
          <p:cNvSpPr/>
          <p:nvPr/>
        </p:nvSpPr>
        <p:spPr>
          <a:xfrm>
            <a:off x="3886200" y="4211241"/>
            <a:ext cx="508000" cy="431800"/>
          </a:xfrm>
          <a:prstGeom prst="rect">
            <a:avLst/>
          </a:prstGeom>
          <a:noFill/>
          <a:ln/>
        </p:spPr>
        <p:txBody>
          <a:bodyPr wrap="square" lIns="0" tIns="0" rIns="0" bIns="0" rtlCol="0" anchor="t">
            <a:normAutofit/>
          </a:bodyPr>
          <a:lstStyle/>
          <a:p>
            <a:pPr algn="ctr" indent="0" marL="0">
              <a:lnSpc>
                <a:spcPts val="3200"/>
              </a:lnSpc>
              <a:buNone/>
            </a:pPr>
            <a:r>
              <a:rPr lang="en-US" sz="3200" b="1" dirty="0">
                <a:solidFill>
                  <a:srgbClr val="A9C6EA"/>
                </a:solidFill>
                <a:latin typeface="Readex Pro" pitchFamily="34" charset="0"/>
                <a:ea typeface="Readex Pro" pitchFamily="34" charset="-122"/>
                <a:cs typeface="Readex Pro" pitchFamily="34" charset="-120"/>
              </a:rPr>
              <a:t>3</a:t>
            </a:r>
            <a:endParaRPr lang="en-US" sz="3200" dirty="0"/>
          </a:p>
        </p:txBody>
      </p:sp>
      <p:sp>
        <p:nvSpPr>
          <p:cNvPr id="18" name="Text 16"/>
          <p:cNvSpPr/>
          <p:nvPr/>
        </p:nvSpPr>
        <p:spPr>
          <a:xfrm>
            <a:off x="5047996" y="1976785"/>
            <a:ext cx="6331204" cy="256530"/>
          </a:xfrm>
          <a:prstGeom prst="rect">
            <a:avLst/>
          </a:prstGeom>
          <a:noFill/>
          <a:ln/>
        </p:spPr>
        <p:txBody>
          <a:bodyPr wrap="square" lIns="0" tIns="0" rIns="0" bIns="0" rtlCol="0" anchor="t">
            <a:normAutofit/>
          </a:bodyPr>
          <a:lstStyle/>
          <a:p>
            <a:pPr algn="r" indent="0" marL="0" rtl="1">
              <a:lnSpc>
                <a:spcPts val="1820"/>
              </a:lnSpc>
              <a:buNone/>
            </a:pPr>
            <a:r>
              <a:rPr lang="ar-SA" sz="1300" b="1" dirty="0" altLang="en-US">
                <a:solidFill>
                  <a:srgbClr val="7FD3C3"/>
                </a:solidFill>
                <a:latin typeface="IBM Plex Sans Arabic" pitchFamily="34" charset="0"/>
                <a:ea typeface="IBM Plex Sans Arabic" pitchFamily="34" charset="-122"/>
                <a:cs typeface="IBM Plex Sans Arabic" pitchFamily="34" charset="-120"/>
              </a:rPr>
              <a:t>نهاية الكورس، وبداية المسار</a:t>
            </a:r>
            <a:endParaRPr lang="ar-SA" sz="1300" dirty="0" altLang="en-US"/>
          </a:p>
        </p:txBody>
      </p:sp>
      <p:sp>
        <p:nvSpPr>
          <p:cNvPr id="19" name="Text 17"/>
          <p:cNvSpPr/>
          <p:nvPr>
            <p:ph type="title"/>
          </p:nvPr>
        </p:nvSpPr>
        <p:spPr>
          <a:xfrm>
            <a:off x="5047996" y="2411115"/>
            <a:ext cx="6331204" cy="1544241"/>
          </a:xfrm>
          <a:prstGeom prst="rect">
            <a:avLst/>
          </a:prstGeom>
          <a:noFill/>
          <a:ln/>
        </p:spPr>
        <p:txBody>
          <a:bodyPr wrap="square" lIns="0" tIns="0" rIns="0" bIns="0" rtlCol="0" anchor="t">
            <a:normAutofit/>
          </a:bodyPr>
          <a:lstStyle/>
          <a:p>
            <a:pPr algn="r" indent="0" marL="0" rtl="1">
              <a:lnSpc>
                <a:spcPts val="5980"/>
              </a:lnSpc>
              <a:buNone/>
            </a:pPr>
            <a:r>
              <a:rPr lang="ar-SA" sz="5200" b="1" i="0" dirty="0" altLang="en-US">
                <a:solidFill>
                  <a:srgbClr val="F3EFE6"/>
                </a:solidFill>
                <a:latin typeface="Readex Pro" pitchFamily="34" charset="0"/>
                <a:ea typeface="Readex Pro" pitchFamily="34" charset="-122"/>
                <a:cs typeface="Readex Pro" pitchFamily="34" charset="-120"/>
              </a:rPr>
              <a:t>ابدأ هذا الأسبوع بثلاث خطوات</a:t>
            </a:r>
            <a:endParaRPr lang="ar-SA" sz="5200" dirty="0" altLang="en-US"/>
          </a:p>
        </p:txBody>
      </p:sp>
      <p:sp>
        <p:nvSpPr>
          <p:cNvPr id="20" name="Text 18"/>
          <p:cNvSpPr/>
          <p:nvPr/>
        </p:nvSpPr>
        <p:spPr>
          <a:xfrm>
            <a:off x="5047996" y="4133155"/>
            <a:ext cx="6331204" cy="349250"/>
          </a:xfrm>
          <a:prstGeom prst="rect">
            <a:avLst/>
          </a:prstGeom>
          <a:noFill/>
          <a:ln/>
        </p:spPr>
        <p:txBody>
          <a:bodyPr wrap="square" lIns="0" tIns="0" rIns="0" bIns="0" rtlCol="0" anchor="t">
            <a:normAutofit/>
          </a:bodyPr>
          <a:lstStyle/>
          <a:p>
            <a:pPr algn="r" indent="0" marL="0" rtl="1">
              <a:lnSpc>
                <a:spcPts val="2550"/>
              </a:lnSpc>
              <a:buNone/>
            </a:pPr>
            <a:r>
              <a:rPr lang="ar-SA" sz="1700" dirty="0" altLang="en-US">
                <a:solidFill>
                  <a:srgbClr val="D9E2E6"/>
                </a:solidFill>
                <a:latin typeface="IBM Plex Sans Arabic" pitchFamily="34" charset="0"/>
                <a:ea typeface="IBM Plex Sans Arabic" pitchFamily="34" charset="-122"/>
                <a:cs typeface="IBM Plex Sans Arabic" pitchFamily="34" charset="-120"/>
              </a:rPr>
              <a:t>لا تنتظر أن تكتمل الصورة. خطوة صغيرة كل أسبوع، ودليل تراه أنت وغيرك.</a:t>
            </a:r>
            <a:endParaRPr lang="ar-SA" sz="1700" dirty="0" altLang="en-US"/>
          </a:p>
        </p:txBody>
      </p:sp>
      <p:sp>
        <p:nvSpPr>
          <p:cNvPr id="21" name="Text 19"/>
          <p:cNvSpPr/>
          <p:nvPr/>
        </p:nvSpPr>
        <p:spPr>
          <a:xfrm>
            <a:off x="5047996" y="4660205"/>
            <a:ext cx="6331204" cy="246360"/>
          </a:xfrm>
          <a:prstGeom prst="rect">
            <a:avLst/>
          </a:prstGeom>
          <a:noFill/>
          <a:ln/>
        </p:spPr>
        <p:txBody>
          <a:bodyPr wrap="square" lIns="0" tIns="0" rIns="0" bIns="0" rtlCol="0" anchor="t">
            <a:normAutofit/>
          </a:bodyPr>
          <a:lstStyle/>
          <a:p>
            <a:pPr algn="r" indent="0" marL="0" rtl="1">
              <a:lnSpc>
                <a:spcPts val="1740"/>
              </a:lnSpc>
              <a:buNone/>
            </a:pPr>
            <a:r>
              <a:rPr lang="ar-SA" sz="1200" dirty="0" altLang="en-US">
                <a:solidFill>
                  <a:srgbClr val="93A3B1"/>
                </a:solidFill>
                <a:latin typeface="IBM Plex Sans Arabic" pitchFamily="34" charset="0"/>
                <a:ea typeface="IBM Plex Sans Arabic" pitchFamily="34" charset="-122"/>
                <a:cs typeface="IBM Plex Sans Arabic" pitchFamily="34" charset="-120"/>
              </a:rPr>
              <a:t>الأسعار والشروط والإصدارات كما في 27 أكتوبر 2026. تحقق منها في المواقع الرسمية قبل التسجيل.</a:t>
            </a:r>
            <a:endParaRPr lang="ar-SA" sz="1200" dirty="0" altLang="en-US"/>
          </a:p>
        </p:txBody>
      </p:sp>
    </p:spTree>
  </p:cSld>
  <p:clrMapOvr>
    <a:masterClrMapping/>
  </p:clrMapOvr>
</p:sld>
</file>

<file path=ppt/theme/theme1.xml><?xml version="1.0" encoding="utf-8"?>
<a:theme xmlns:a="http://schemas.openxmlformats.org/drawingml/2006/main" name="كيف تبدأ في GRC">
  <a:themeElements>
    <a:clrScheme name="كيف تبدأ في GRC">
      <a:dk1>
        <a:srgbClr val="172433"/>
      </a:dk1>
      <a:lt1>
        <a:srgbClr val="F7F4EC"/>
      </a:lt1>
      <a:dk2>
        <a:srgbClr val="4F5861"/>
      </a:dk2>
      <a:lt2>
        <a:srgbClr val="E1DFDA"/>
      </a:lt2>
      <a:accent1>
        <a:srgbClr val="0E7C6B"/>
      </a:accent1>
      <a:accent2>
        <a:srgbClr val="9A5F0F"/>
      </a:accent2>
      <a:accent3>
        <a:srgbClr val="24506B"/>
      </a:accent3>
      <a:accent4>
        <a:srgbClr val="F2C46D"/>
      </a:accent4>
      <a:accent5>
        <a:srgbClr val="0E6B5C"/>
      </a:accent5>
      <a:accent6>
        <a:srgbClr val="5A3F87"/>
      </a:accent6>
      <a:hlink>
        <a:srgbClr val="0563C1"/>
      </a:hlink>
      <a:folHlink>
        <a:srgbClr val="954F72"/>
      </a:folHlink>
    </a:clrScheme>
    <a:fontScheme name="كيف تبدأ في GRC">
      <a:majorFont>
        <a:latin typeface="Readex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كيف تبدأ في GRC</dc:title>
  <dc:subject/>
  <dc:creator/>
  <cp:lastModifiedBy/>
  <cp:revision>1</cp:revision>
  <dcterms:created xsi:type="dcterms:W3CDTF">2026-10-27T22:33:44Z</dcterms:created>
  <dcterms:modified xsi:type="dcterms:W3CDTF">2026-10-27T22:33:44Z</dcterms:modified>
</cp:coreProperties>
</file>